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4"/>
  </p:notesMasterIdLst>
  <p:sldIdLst>
    <p:sldId id="283" r:id="rId2"/>
    <p:sldId id="513" r:id="rId3"/>
    <p:sldId id="352" r:id="rId4"/>
    <p:sldId id="319" r:id="rId5"/>
    <p:sldId id="326" r:id="rId6"/>
    <p:sldId id="353" r:id="rId7"/>
    <p:sldId id="500" r:id="rId8"/>
    <p:sldId id="502" r:id="rId9"/>
    <p:sldId id="503" r:id="rId10"/>
    <p:sldId id="504" r:id="rId11"/>
    <p:sldId id="505" r:id="rId12"/>
    <p:sldId id="506" r:id="rId13"/>
    <p:sldId id="507" r:id="rId14"/>
    <p:sldId id="508" r:id="rId15"/>
    <p:sldId id="509" r:id="rId16"/>
    <p:sldId id="510" r:id="rId17"/>
    <p:sldId id="528" r:id="rId18"/>
    <p:sldId id="497" r:id="rId19"/>
    <p:sldId id="498" r:id="rId20"/>
    <p:sldId id="532" r:id="rId21"/>
    <p:sldId id="533" r:id="rId22"/>
    <p:sldId id="356" r:id="rId23"/>
    <p:sldId id="514" r:id="rId24"/>
    <p:sldId id="357" r:id="rId25"/>
    <p:sldId id="348" r:id="rId26"/>
    <p:sldId id="333" r:id="rId27"/>
    <p:sldId id="349" r:id="rId28"/>
    <p:sldId id="358" r:id="rId29"/>
    <p:sldId id="432" r:id="rId30"/>
    <p:sldId id="433" r:id="rId31"/>
    <p:sldId id="350" r:id="rId32"/>
    <p:sldId id="379" r:id="rId33"/>
    <p:sldId id="409" r:id="rId34"/>
    <p:sldId id="410" r:id="rId35"/>
    <p:sldId id="359" r:id="rId36"/>
    <p:sldId id="411" r:id="rId37"/>
    <p:sldId id="534" r:id="rId38"/>
    <p:sldId id="389" r:id="rId39"/>
    <p:sldId id="412" r:id="rId40"/>
    <p:sldId id="515" r:id="rId41"/>
    <p:sldId id="516" r:id="rId42"/>
    <p:sldId id="517" r:id="rId43"/>
    <p:sldId id="529" r:id="rId44"/>
    <p:sldId id="518" r:id="rId45"/>
    <p:sldId id="519" r:id="rId46"/>
    <p:sldId id="524" r:id="rId47"/>
    <p:sldId id="531" r:id="rId48"/>
    <p:sldId id="511" r:id="rId49"/>
    <p:sldId id="329" r:id="rId50"/>
    <p:sldId id="488" r:id="rId51"/>
    <p:sldId id="520" r:id="rId52"/>
    <p:sldId id="490" r:id="rId53"/>
    <p:sldId id="491" r:id="rId54"/>
    <p:sldId id="492" r:id="rId55"/>
    <p:sldId id="493" r:id="rId56"/>
    <p:sldId id="495" r:id="rId57"/>
    <p:sldId id="496" r:id="rId58"/>
    <p:sldId id="476" r:id="rId59"/>
    <p:sldId id="477" r:id="rId60"/>
    <p:sldId id="478" r:id="rId61"/>
    <p:sldId id="479" r:id="rId62"/>
    <p:sldId id="450" r:id="rId63"/>
    <p:sldId id="526" r:id="rId64"/>
    <p:sldId id="527" r:id="rId65"/>
    <p:sldId id="453" r:id="rId66"/>
    <p:sldId id="483" r:id="rId67"/>
    <p:sldId id="484" r:id="rId68"/>
    <p:sldId id="523" r:id="rId69"/>
    <p:sldId id="485" r:id="rId70"/>
    <p:sldId id="487" r:id="rId71"/>
    <p:sldId id="530" r:id="rId72"/>
    <p:sldId id="284" r:id="rId73"/>
  </p:sldIdLst>
  <p:sldSz cx="12192000" cy="6858000"/>
  <p:notesSz cx="6858000" cy="9144000"/>
  <p:embeddedFontLst>
    <p:embeddedFont>
      <p:font typeface="Roboto Condensed Light" panose="02000000000000000000" pitchFamily="2" charset="0"/>
      <p:regular r:id="rId75"/>
      <p:italic r:id="rId76"/>
    </p:embeddedFont>
    <p:embeddedFont>
      <p:font typeface="Wingdings 3" panose="05040102010807070707" pitchFamily="18" charset="2"/>
      <p:regular r:id="rId77"/>
    </p:embeddedFont>
    <p:embeddedFont>
      <p:font typeface="Roboto Condensed" panose="02000000000000000000" pitchFamily="2" charset="0"/>
      <p:regular r:id="rId78"/>
      <p:bold r:id="rId79"/>
      <p:italic r:id="rId80"/>
      <p:boldItalic r:id="rId81"/>
    </p:embeddedFont>
    <p:embeddedFont>
      <p:font typeface="Wingdings 2" panose="05020102010507070707" pitchFamily="18" charset="2"/>
      <p:regular r:id="rId82"/>
    </p:embeddedFont>
    <p:embeddedFont>
      <p:font typeface="Segoe UI Black" panose="020B0A02040204020203" pitchFamily="34" charset="0"/>
      <p:bold r:id="rId83"/>
      <p:boldItalic r:id="rId84"/>
    </p:embeddedFont>
    <p:embeddedFont>
      <p:font typeface="Calibri" panose="020F0502020204030204" pitchFamily="34" charset="0"/>
      <p:regular r:id="rId85"/>
      <p:bold r:id="rId86"/>
      <p:italic r:id="rId87"/>
      <p:boldItalic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RZ69FagwzrjiTcT5fnHtQ==" hashData="gfw/4NCbokdMopTGiHStf0eWwD/pryBoShSCrT+Qi8Z55Goghb5KX+lsXwuEs2jsKDUEFGEjkn3PBahnv7wgLQ=="/>
  <p:extLst>
    <p:ext uri="{521415D9-36F7-43E2-AB2F-B90AF26B5E84}">
      <p14:sectionLst xmlns:p14="http://schemas.microsoft.com/office/powerpoint/2010/main">
        <p14:section name="Default Section" id="{1390711D-F853-48E3-A520-8D024CB230CB}">
          <p14:sldIdLst>
            <p14:sldId id="283"/>
            <p14:sldId id="513"/>
          </p14:sldIdLst>
        </p14:section>
        <p14:section name="Operating Systems - Definitions" id="{937D796F-8F30-491F-8004-598AC9D97A0A}">
          <p14:sldIdLst>
            <p14:sldId id="352"/>
            <p14:sldId id="319"/>
            <p14:sldId id="326"/>
            <p14:sldId id="353"/>
          </p14:sldIdLst>
        </p14:section>
        <p14:section name="features of Operating Systems" id="{068158EC-B098-49D4-A816-40DD80B6EDBB}">
          <p14:sldIdLst>
            <p14:sldId id="500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28"/>
          </p14:sldIdLst>
        </p14:section>
        <p14:section name="Features of Operating system" id="{16E586DD-6442-4D77-8653-FBF8619E518C}">
          <p14:sldIdLst>
            <p14:sldId id="497"/>
            <p14:sldId id="498"/>
            <p14:sldId id="532"/>
            <p14:sldId id="533"/>
          </p14:sldIdLst>
        </p14:section>
        <p14:section name="Types of Operating System" id="{46F51DCE-3740-49DE-8DBF-6153FC46FFB4}">
          <p14:sldIdLst>
            <p14:sldId id="356"/>
            <p14:sldId id="514"/>
            <p14:sldId id="357"/>
            <p14:sldId id="348"/>
            <p14:sldId id="333"/>
            <p14:sldId id="349"/>
            <p14:sldId id="358"/>
            <p14:sldId id="432"/>
            <p14:sldId id="433"/>
            <p14:sldId id="350"/>
            <p14:sldId id="379"/>
            <p14:sldId id="409"/>
            <p14:sldId id="410"/>
            <p14:sldId id="359"/>
            <p14:sldId id="411"/>
            <p14:sldId id="534"/>
            <p14:sldId id="389"/>
            <p14:sldId id="412"/>
            <p14:sldId id="515"/>
            <p14:sldId id="516"/>
            <p14:sldId id="517"/>
            <p14:sldId id="529"/>
            <p14:sldId id="518"/>
            <p14:sldId id="519"/>
            <p14:sldId id="524"/>
            <p14:sldId id="531"/>
          </p14:sldIdLst>
        </p14:section>
        <p14:section name="Components" id="{472FB78C-3080-4276-A09A-2CD464F605CD}">
          <p14:sldIdLst>
            <p14:sldId id="511"/>
            <p14:sldId id="329"/>
          </p14:sldIdLst>
        </p14:section>
        <p14:section name="Operating System Services" id="{A65555D3-2DCA-44C9-9948-D88BBACC5FA8}">
          <p14:sldIdLst>
            <p14:sldId id="488"/>
            <p14:sldId id="520"/>
            <p14:sldId id="490"/>
            <p14:sldId id="491"/>
            <p14:sldId id="492"/>
            <p14:sldId id="493"/>
            <p14:sldId id="495"/>
            <p14:sldId id="496"/>
          </p14:sldIdLst>
        </p14:section>
        <p14:section name=" System Calls" id="{101315A9-9CDA-4FEB-B681-F43D038543C3}">
          <p14:sldIdLst>
            <p14:sldId id="476"/>
            <p14:sldId id="477"/>
            <p14:sldId id="478"/>
            <p14:sldId id="479"/>
          </p14:sldIdLst>
        </p14:section>
        <p14:section name="Programs" id="{01D51183-D1CB-4864-9AB9-D73D5CCF7E47}">
          <p14:sldIdLst>
            <p14:sldId id="450"/>
            <p14:sldId id="526"/>
            <p14:sldId id="527"/>
          </p14:sldIdLst>
        </p14:section>
        <p14:section name="System structure" id="{19D67AC7-A591-4F46-AE12-155166A73585}">
          <p14:sldIdLst>
            <p14:sldId id="453"/>
            <p14:sldId id="483"/>
            <p14:sldId id="484"/>
            <p14:sldId id="523"/>
            <p14:sldId id="485"/>
            <p14:sldId id="487"/>
            <p14:sldId id="530"/>
          </p14:sldIdLst>
        </p14:section>
        <p14:section name="Untitled Section" id="{CA0A226C-002B-4AE4-BC13-6204542C68A1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0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1E2D6-1091-437A-A66F-4FBA1A7E708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251221-90D6-4DE4-A322-BA427ABD796F}">
      <dgm:prSet phldrT="[Text]" custT="1"/>
      <dgm:spPr>
        <a:solidFill>
          <a:srgbClr val="FFC000">
            <a:tint val="66000"/>
            <a:satMod val="160000"/>
          </a:srgbClr>
        </a:solidFill>
        <a:ln>
          <a:solidFill>
            <a:schemeClr val="bg1"/>
          </a:solidFill>
        </a:ln>
        <a:effectLst>
          <a:outerShdw blurRad="50800" dist="38100" dir="10800000" algn="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2400" b="1" dirty="0">
              <a:solidFill>
                <a:srgbClr val="C00000"/>
              </a:solidFill>
            </a:rPr>
            <a:t>Central Computer OS</a:t>
          </a:r>
        </a:p>
      </dgm:t>
    </dgm:pt>
    <dgm:pt modelId="{B4A61A7E-250B-41F7-8396-31DB42590C0F}" type="parTrans" cxnId="{73413F61-4AF8-43AC-8CAF-953AD7E564BE}">
      <dgm:prSet/>
      <dgm:spPr/>
      <dgm:t>
        <a:bodyPr/>
        <a:lstStyle/>
        <a:p>
          <a:endParaRPr lang="en-IN"/>
        </a:p>
      </dgm:t>
    </dgm:pt>
    <dgm:pt modelId="{DB27894A-B233-45F1-BA3E-35C6518BA657}" type="sibTrans" cxnId="{73413F61-4AF8-43AC-8CAF-953AD7E564BE}">
      <dgm:prSet/>
      <dgm:spPr/>
      <dgm:t>
        <a:bodyPr/>
        <a:lstStyle/>
        <a:p>
          <a:endParaRPr lang="en-IN"/>
        </a:p>
      </dgm:t>
    </dgm:pt>
    <dgm:pt modelId="{490EA97F-F5B8-43E6-8002-70331AEF89A7}">
      <dgm:prSet phldrT="[Text]" custT="1"/>
      <dgm:spPr>
        <a:gradFill flip="none" rotWithShape="0">
          <a:gsLst>
            <a:gs pos="0">
              <a:schemeClr val="tx2">
                <a:lumMod val="60000"/>
                <a:lumOff val="40000"/>
                <a:tint val="66000"/>
                <a:satMod val="160000"/>
              </a:schemeClr>
            </a:gs>
            <a:gs pos="50000">
              <a:schemeClr val="tx2">
                <a:lumMod val="60000"/>
                <a:lumOff val="40000"/>
                <a:tint val="44500"/>
                <a:satMod val="160000"/>
              </a:schemeClr>
            </a:gs>
            <a:gs pos="100000">
              <a:schemeClr val="tx2">
                <a:lumMod val="60000"/>
                <a:lumOff val="40000"/>
                <a:tint val="23500"/>
                <a:satMod val="160000"/>
              </a:schemeClr>
            </a:gs>
          </a:gsLst>
          <a:lin ang="2700000" scaled="1"/>
          <a:tileRect/>
        </a:gradFill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2000" b="1" dirty="0">
              <a:solidFill>
                <a:schemeClr val="tx1"/>
              </a:solidFill>
            </a:rPr>
            <a:t>Client 1</a:t>
          </a:r>
        </a:p>
      </dgm:t>
    </dgm:pt>
    <dgm:pt modelId="{7F5E2583-6528-47C0-971D-A1AAC22A00E5}" type="parTrans" cxnId="{BC3F291F-2CBE-4919-93D8-EBCBE113C666}">
      <dgm:prSet/>
      <dgm:spPr/>
      <dgm:t>
        <a:bodyPr/>
        <a:lstStyle/>
        <a:p>
          <a:endParaRPr lang="en-IN"/>
        </a:p>
      </dgm:t>
    </dgm:pt>
    <dgm:pt modelId="{2B504919-7C31-493C-B80E-191B1B5B73E5}" type="sibTrans" cxnId="{BC3F291F-2CBE-4919-93D8-EBCBE113C666}">
      <dgm:prSet/>
      <dgm:spPr/>
      <dgm:t>
        <a:bodyPr/>
        <a:lstStyle/>
        <a:p>
          <a:endParaRPr lang="en-IN"/>
        </a:p>
      </dgm:t>
    </dgm:pt>
    <dgm:pt modelId="{63518181-F231-4616-A90A-188A14E94DD5}">
      <dgm:prSet phldrT="[Text]" custT="1"/>
      <dgm:spPr>
        <a:gradFill flip="none" rotWithShape="0">
          <a:gsLst>
            <a:gs pos="0">
              <a:srgbClr val="C00000">
                <a:tint val="66000"/>
                <a:satMod val="160000"/>
              </a:srgbClr>
            </a:gs>
            <a:gs pos="50000">
              <a:srgbClr val="C00000">
                <a:tint val="44500"/>
                <a:satMod val="160000"/>
              </a:srgbClr>
            </a:gs>
            <a:gs pos="100000">
              <a:srgbClr val="C00000">
                <a:tint val="23500"/>
                <a:satMod val="160000"/>
              </a:srgbClr>
            </a:gs>
          </a:gsLst>
          <a:lin ang="2700000" scaled="1"/>
          <a:tileRect/>
        </a:gradFill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2000" b="1" dirty="0">
              <a:solidFill>
                <a:schemeClr val="tx1"/>
              </a:solidFill>
            </a:rPr>
            <a:t>Client 2</a:t>
          </a:r>
        </a:p>
      </dgm:t>
    </dgm:pt>
    <dgm:pt modelId="{AC2768C4-40C3-4719-8E07-FB0DA4204649}" type="parTrans" cxnId="{9AE195D5-0E82-4914-9E7F-57209C61598C}">
      <dgm:prSet/>
      <dgm:spPr/>
      <dgm:t>
        <a:bodyPr/>
        <a:lstStyle/>
        <a:p>
          <a:endParaRPr lang="en-IN"/>
        </a:p>
      </dgm:t>
    </dgm:pt>
    <dgm:pt modelId="{796EADD8-C751-4632-89B3-E907B1A95853}" type="sibTrans" cxnId="{9AE195D5-0E82-4914-9E7F-57209C61598C}">
      <dgm:prSet/>
      <dgm:spPr/>
      <dgm:t>
        <a:bodyPr/>
        <a:lstStyle/>
        <a:p>
          <a:endParaRPr lang="en-IN"/>
        </a:p>
      </dgm:t>
    </dgm:pt>
    <dgm:pt modelId="{33865ECB-6242-471D-BD2A-232BEBFAF85D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3">
            <a:alpha val="50000"/>
          </a:schemeClr>
        </a:solidFill>
        <a:ln>
          <a:noFill/>
        </a:ln>
      </dgm:spPr>
      <dgm:t>
        <a:bodyPr/>
        <a:lstStyle/>
        <a:p>
          <a:r>
            <a:rPr lang="en-IN" sz="2000" b="1" dirty="0">
              <a:solidFill>
                <a:schemeClr val="tx1"/>
              </a:solidFill>
            </a:rPr>
            <a:t>Client 3</a:t>
          </a:r>
        </a:p>
      </dgm:t>
    </dgm:pt>
    <dgm:pt modelId="{EFB2901C-2A87-4820-A715-FB3719DE68B3}" type="parTrans" cxnId="{406DB8F6-DFDA-4147-8CD1-0FDE7DB15D91}">
      <dgm:prSet/>
      <dgm:spPr/>
      <dgm:t>
        <a:bodyPr/>
        <a:lstStyle/>
        <a:p>
          <a:endParaRPr lang="en-IN"/>
        </a:p>
      </dgm:t>
    </dgm:pt>
    <dgm:pt modelId="{428928C5-B75A-4C97-A813-E668EEC790E4}" type="sibTrans" cxnId="{406DB8F6-DFDA-4147-8CD1-0FDE7DB15D91}">
      <dgm:prSet/>
      <dgm:spPr/>
      <dgm:t>
        <a:bodyPr/>
        <a:lstStyle/>
        <a:p>
          <a:endParaRPr lang="en-IN"/>
        </a:p>
      </dgm:t>
    </dgm:pt>
    <dgm:pt modelId="{F0969720-AC97-493F-9495-108C59B0BF9C}" type="pres">
      <dgm:prSet presAssocID="{7251E2D6-1091-437A-A66F-4FBA1A7E708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58EE138-906F-442B-8847-15A26149AD7B}" type="pres">
      <dgm:prSet presAssocID="{AA251221-90D6-4DE4-A322-BA427ABD796F}" presName="hierRoot1" presStyleCnt="0">
        <dgm:presLayoutVars>
          <dgm:hierBranch val="init"/>
        </dgm:presLayoutVars>
      </dgm:prSet>
      <dgm:spPr/>
    </dgm:pt>
    <dgm:pt modelId="{01FAA89C-BBA3-4CA4-99FB-293C6C955B3D}" type="pres">
      <dgm:prSet presAssocID="{AA251221-90D6-4DE4-A322-BA427ABD796F}" presName="rootComposite1" presStyleCnt="0"/>
      <dgm:spPr/>
    </dgm:pt>
    <dgm:pt modelId="{762112FA-3544-4E18-881A-43940169BBFE}" type="pres">
      <dgm:prSet presAssocID="{AA251221-90D6-4DE4-A322-BA427ABD796F}" presName="rootText1" presStyleLbl="node0" presStyleIdx="0" presStyleCnt="1" custScaleX="101016" custScaleY="75060" custLinFactNeighborY="-11581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EC4C9B0-7052-43B3-BC71-6D8F210ADE6E}" type="pres">
      <dgm:prSet presAssocID="{AA251221-90D6-4DE4-A322-BA427ABD796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8DB6B970-C185-42D4-8D02-9CE7658A35BD}" type="pres">
      <dgm:prSet presAssocID="{AA251221-90D6-4DE4-A322-BA427ABD796F}" presName="hierChild2" presStyleCnt="0"/>
      <dgm:spPr/>
    </dgm:pt>
    <dgm:pt modelId="{0457B6FA-E94E-4D80-937C-97ADB335433E}" type="pres">
      <dgm:prSet presAssocID="{7F5E2583-6528-47C0-971D-A1AAC22A00E5}" presName="Name37" presStyleLbl="parChTrans1D2" presStyleIdx="0" presStyleCnt="3"/>
      <dgm:spPr/>
      <dgm:t>
        <a:bodyPr/>
        <a:lstStyle/>
        <a:p>
          <a:endParaRPr lang="en-US"/>
        </a:p>
      </dgm:t>
    </dgm:pt>
    <dgm:pt modelId="{2B0E94D6-800D-4257-9393-338440ED4A90}" type="pres">
      <dgm:prSet presAssocID="{490EA97F-F5B8-43E6-8002-70331AEF89A7}" presName="hierRoot2" presStyleCnt="0">
        <dgm:presLayoutVars>
          <dgm:hierBranch val="init"/>
        </dgm:presLayoutVars>
      </dgm:prSet>
      <dgm:spPr/>
    </dgm:pt>
    <dgm:pt modelId="{530E69A8-4724-4525-9E0A-24BAAC6E8827}" type="pres">
      <dgm:prSet presAssocID="{490EA97F-F5B8-43E6-8002-70331AEF89A7}" presName="rootComposite" presStyleCnt="0"/>
      <dgm:spPr/>
    </dgm:pt>
    <dgm:pt modelId="{617E6604-B513-4442-B2F0-63BC68434378}" type="pres">
      <dgm:prSet presAssocID="{490EA97F-F5B8-43E6-8002-70331AEF89A7}" presName="rootText" presStyleLbl="node2" presStyleIdx="0" presStyleCnt="3" custScaleX="61755" custScaleY="38204" custLinFactNeighborX="428" custLinFactNeighborY="1525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F4E1FA14-4F1D-4B7D-AFDA-B9D2002C5C76}" type="pres">
      <dgm:prSet presAssocID="{490EA97F-F5B8-43E6-8002-70331AEF89A7}" presName="rootConnector" presStyleLbl="node2" presStyleIdx="0" presStyleCnt="3"/>
      <dgm:spPr/>
      <dgm:t>
        <a:bodyPr/>
        <a:lstStyle/>
        <a:p>
          <a:endParaRPr lang="en-US"/>
        </a:p>
      </dgm:t>
    </dgm:pt>
    <dgm:pt modelId="{26F10C87-9700-4516-8525-36B2A6193678}" type="pres">
      <dgm:prSet presAssocID="{490EA97F-F5B8-43E6-8002-70331AEF89A7}" presName="hierChild4" presStyleCnt="0"/>
      <dgm:spPr/>
    </dgm:pt>
    <dgm:pt modelId="{7871AEB2-BF33-4883-B42E-0F6C5371DD32}" type="pres">
      <dgm:prSet presAssocID="{490EA97F-F5B8-43E6-8002-70331AEF89A7}" presName="hierChild5" presStyleCnt="0"/>
      <dgm:spPr/>
    </dgm:pt>
    <dgm:pt modelId="{F06D4703-C44F-4AE8-834E-8060974A29A7}" type="pres">
      <dgm:prSet presAssocID="{AC2768C4-40C3-4719-8E07-FB0DA4204649}" presName="Name37" presStyleLbl="parChTrans1D2" presStyleIdx="1" presStyleCnt="3"/>
      <dgm:spPr/>
      <dgm:t>
        <a:bodyPr/>
        <a:lstStyle/>
        <a:p>
          <a:endParaRPr lang="en-US"/>
        </a:p>
      </dgm:t>
    </dgm:pt>
    <dgm:pt modelId="{DB386062-66D1-41DB-AAB2-FAD6E56E7562}" type="pres">
      <dgm:prSet presAssocID="{63518181-F231-4616-A90A-188A14E94DD5}" presName="hierRoot2" presStyleCnt="0">
        <dgm:presLayoutVars>
          <dgm:hierBranch val="init"/>
        </dgm:presLayoutVars>
      </dgm:prSet>
      <dgm:spPr/>
    </dgm:pt>
    <dgm:pt modelId="{0238A48E-DC96-48B8-B395-7118A6A6F3DB}" type="pres">
      <dgm:prSet presAssocID="{63518181-F231-4616-A90A-188A14E94DD5}" presName="rootComposite" presStyleCnt="0"/>
      <dgm:spPr/>
    </dgm:pt>
    <dgm:pt modelId="{92C5E824-6655-4AEA-8248-6C1B23117B2C}" type="pres">
      <dgm:prSet presAssocID="{63518181-F231-4616-A90A-188A14E94DD5}" presName="rootText" presStyleLbl="node2" presStyleIdx="1" presStyleCnt="3" custScaleX="61755" custScaleY="38204" custLinFactNeighborY="15145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CE66D798-6781-4044-B673-1742C9938A33}" type="pres">
      <dgm:prSet presAssocID="{63518181-F231-4616-A90A-188A14E94DD5}" presName="rootConnector" presStyleLbl="node2" presStyleIdx="1" presStyleCnt="3"/>
      <dgm:spPr/>
      <dgm:t>
        <a:bodyPr/>
        <a:lstStyle/>
        <a:p>
          <a:endParaRPr lang="en-US"/>
        </a:p>
      </dgm:t>
    </dgm:pt>
    <dgm:pt modelId="{B2F12D5D-041C-4D36-A8D8-09CA08490F1D}" type="pres">
      <dgm:prSet presAssocID="{63518181-F231-4616-A90A-188A14E94DD5}" presName="hierChild4" presStyleCnt="0"/>
      <dgm:spPr/>
    </dgm:pt>
    <dgm:pt modelId="{42664D16-3EEF-415E-9263-FC1E3CD4E991}" type="pres">
      <dgm:prSet presAssocID="{63518181-F231-4616-A90A-188A14E94DD5}" presName="hierChild5" presStyleCnt="0"/>
      <dgm:spPr/>
    </dgm:pt>
    <dgm:pt modelId="{337034E0-46CF-4F31-8E52-7FD6881A64B0}" type="pres">
      <dgm:prSet presAssocID="{EFB2901C-2A87-4820-A715-FB3719DE68B3}" presName="Name37" presStyleLbl="parChTrans1D2" presStyleIdx="2" presStyleCnt="3"/>
      <dgm:spPr/>
      <dgm:t>
        <a:bodyPr/>
        <a:lstStyle/>
        <a:p>
          <a:endParaRPr lang="en-US"/>
        </a:p>
      </dgm:t>
    </dgm:pt>
    <dgm:pt modelId="{4ECC065A-C7C6-4263-973D-9B0641C8AFF3}" type="pres">
      <dgm:prSet presAssocID="{33865ECB-6242-471D-BD2A-232BEBFAF85D}" presName="hierRoot2" presStyleCnt="0">
        <dgm:presLayoutVars>
          <dgm:hierBranch val="init"/>
        </dgm:presLayoutVars>
      </dgm:prSet>
      <dgm:spPr/>
    </dgm:pt>
    <dgm:pt modelId="{C62A4E3B-2D1C-4742-B3DC-1DF111995A8F}" type="pres">
      <dgm:prSet presAssocID="{33865ECB-6242-471D-BD2A-232BEBFAF85D}" presName="rootComposite" presStyleCnt="0"/>
      <dgm:spPr/>
    </dgm:pt>
    <dgm:pt modelId="{93BDBAEB-F4FC-434D-95A4-4BA89C98E53A}" type="pres">
      <dgm:prSet presAssocID="{33865ECB-6242-471D-BD2A-232BEBFAF85D}" presName="rootText" presStyleLbl="node2" presStyleIdx="2" presStyleCnt="3" custScaleX="61755" custScaleY="38204" custLinFactNeighborY="15145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74C8CC3-CCC7-4A8E-AAC0-F3F518E390D0}" type="pres">
      <dgm:prSet presAssocID="{33865ECB-6242-471D-BD2A-232BEBFAF85D}" presName="rootConnector" presStyleLbl="node2" presStyleIdx="2" presStyleCnt="3"/>
      <dgm:spPr/>
      <dgm:t>
        <a:bodyPr/>
        <a:lstStyle/>
        <a:p>
          <a:endParaRPr lang="en-US"/>
        </a:p>
      </dgm:t>
    </dgm:pt>
    <dgm:pt modelId="{D7EBD716-7660-4DB9-B47A-D3FBDB31CC4A}" type="pres">
      <dgm:prSet presAssocID="{33865ECB-6242-471D-BD2A-232BEBFAF85D}" presName="hierChild4" presStyleCnt="0"/>
      <dgm:spPr/>
    </dgm:pt>
    <dgm:pt modelId="{5E7C89AD-3EFF-4005-B74B-0D7595959F0C}" type="pres">
      <dgm:prSet presAssocID="{33865ECB-6242-471D-BD2A-232BEBFAF85D}" presName="hierChild5" presStyleCnt="0"/>
      <dgm:spPr/>
    </dgm:pt>
    <dgm:pt modelId="{063CB792-ABA6-42CB-B2A8-B6E06107C53D}" type="pres">
      <dgm:prSet presAssocID="{AA251221-90D6-4DE4-A322-BA427ABD796F}" presName="hierChild3" presStyleCnt="0"/>
      <dgm:spPr/>
    </dgm:pt>
  </dgm:ptLst>
  <dgm:cxnLst>
    <dgm:cxn modelId="{FFE03E6C-C13F-421E-89FE-4FB22C18E026}" type="presOf" srcId="{63518181-F231-4616-A90A-188A14E94DD5}" destId="{92C5E824-6655-4AEA-8248-6C1B23117B2C}" srcOrd="0" destOrd="0" presId="urn:microsoft.com/office/officeart/2005/8/layout/orgChart1"/>
    <dgm:cxn modelId="{9E25D628-13CC-4CE0-B541-4804C54D0191}" type="presOf" srcId="{AC2768C4-40C3-4719-8E07-FB0DA4204649}" destId="{F06D4703-C44F-4AE8-834E-8060974A29A7}" srcOrd="0" destOrd="0" presId="urn:microsoft.com/office/officeart/2005/8/layout/orgChart1"/>
    <dgm:cxn modelId="{6F437E19-B3A3-4D5C-AF3B-AF79D5DFB9A5}" type="presOf" srcId="{63518181-F231-4616-A90A-188A14E94DD5}" destId="{CE66D798-6781-4044-B673-1742C9938A33}" srcOrd="1" destOrd="0" presId="urn:microsoft.com/office/officeart/2005/8/layout/orgChart1"/>
    <dgm:cxn modelId="{9AE195D5-0E82-4914-9E7F-57209C61598C}" srcId="{AA251221-90D6-4DE4-A322-BA427ABD796F}" destId="{63518181-F231-4616-A90A-188A14E94DD5}" srcOrd="1" destOrd="0" parTransId="{AC2768C4-40C3-4719-8E07-FB0DA4204649}" sibTransId="{796EADD8-C751-4632-89B3-E907B1A95853}"/>
    <dgm:cxn modelId="{8330F979-CFD7-455F-BABB-49615C964DBD}" type="presOf" srcId="{33865ECB-6242-471D-BD2A-232BEBFAF85D}" destId="{93BDBAEB-F4FC-434D-95A4-4BA89C98E53A}" srcOrd="0" destOrd="0" presId="urn:microsoft.com/office/officeart/2005/8/layout/orgChart1"/>
    <dgm:cxn modelId="{6ABA139D-D727-4BE0-BE4D-F6AAD6A7068F}" type="presOf" srcId="{490EA97F-F5B8-43E6-8002-70331AEF89A7}" destId="{F4E1FA14-4F1D-4B7D-AFDA-B9D2002C5C76}" srcOrd="1" destOrd="0" presId="urn:microsoft.com/office/officeart/2005/8/layout/orgChart1"/>
    <dgm:cxn modelId="{406DB8F6-DFDA-4147-8CD1-0FDE7DB15D91}" srcId="{AA251221-90D6-4DE4-A322-BA427ABD796F}" destId="{33865ECB-6242-471D-BD2A-232BEBFAF85D}" srcOrd="2" destOrd="0" parTransId="{EFB2901C-2A87-4820-A715-FB3719DE68B3}" sibTransId="{428928C5-B75A-4C97-A813-E668EEC790E4}"/>
    <dgm:cxn modelId="{6F7F00BB-88D0-4897-810F-28090B334F1A}" type="presOf" srcId="{EFB2901C-2A87-4820-A715-FB3719DE68B3}" destId="{337034E0-46CF-4F31-8E52-7FD6881A64B0}" srcOrd="0" destOrd="0" presId="urn:microsoft.com/office/officeart/2005/8/layout/orgChart1"/>
    <dgm:cxn modelId="{58F83C71-7D6D-4347-BBEF-EA7AFB86CBD9}" type="presOf" srcId="{7F5E2583-6528-47C0-971D-A1AAC22A00E5}" destId="{0457B6FA-E94E-4D80-937C-97ADB335433E}" srcOrd="0" destOrd="0" presId="urn:microsoft.com/office/officeart/2005/8/layout/orgChart1"/>
    <dgm:cxn modelId="{1B361777-4FAB-44C7-A4B2-6B5A6CE5E7FA}" type="presOf" srcId="{7251E2D6-1091-437A-A66F-4FBA1A7E708E}" destId="{F0969720-AC97-493F-9495-108C59B0BF9C}" srcOrd="0" destOrd="0" presId="urn:microsoft.com/office/officeart/2005/8/layout/orgChart1"/>
    <dgm:cxn modelId="{BC3F291F-2CBE-4919-93D8-EBCBE113C666}" srcId="{AA251221-90D6-4DE4-A322-BA427ABD796F}" destId="{490EA97F-F5B8-43E6-8002-70331AEF89A7}" srcOrd="0" destOrd="0" parTransId="{7F5E2583-6528-47C0-971D-A1AAC22A00E5}" sibTransId="{2B504919-7C31-493C-B80E-191B1B5B73E5}"/>
    <dgm:cxn modelId="{AE9B37BA-2495-4AB6-8F75-6E8C3ACA07E4}" type="presOf" srcId="{490EA97F-F5B8-43E6-8002-70331AEF89A7}" destId="{617E6604-B513-4442-B2F0-63BC68434378}" srcOrd="0" destOrd="0" presId="urn:microsoft.com/office/officeart/2005/8/layout/orgChart1"/>
    <dgm:cxn modelId="{F28B7FD2-EB44-41FE-825E-301F0531E77A}" type="presOf" srcId="{AA251221-90D6-4DE4-A322-BA427ABD796F}" destId="{1EC4C9B0-7052-43B3-BC71-6D8F210ADE6E}" srcOrd="1" destOrd="0" presId="urn:microsoft.com/office/officeart/2005/8/layout/orgChart1"/>
    <dgm:cxn modelId="{1286BCC3-62A3-45F8-8EE2-07065554ABAE}" type="presOf" srcId="{AA251221-90D6-4DE4-A322-BA427ABD796F}" destId="{762112FA-3544-4E18-881A-43940169BBFE}" srcOrd="0" destOrd="0" presId="urn:microsoft.com/office/officeart/2005/8/layout/orgChart1"/>
    <dgm:cxn modelId="{6B574658-29B9-4452-8440-F9D77B8725C9}" type="presOf" srcId="{33865ECB-6242-471D-BD2A-232BEBFAF85D}" destId="{974C8CC3-CCC7-4A8E-AAC0-F3F518E390D0}" srcOrd="1" destOrd="0" presId="urn:microsoft.com/office/officeart/2005/8/layout/orgChart1"/>
    <dgm:cxn modelId="{73413F61-4AF8-43AC-8CAF-953AD7E564BE}" srcId="{7251E2D6-1091-437A-A66F-4FBA1A7E708E}" destId="{AA251221-90D6-4DE4-A322-BA427ABD796F}" srcOrd="0" destOrd="0" parTransId="{B4A61A7E-250B-41F7-8396-31DB42590C0F}" sibTransId="{DB27894A-B233-45F1-BA3E-35C6518BA657}"/>
    <dgm:cxn modelId="{B324BB6F-3FCD-4A4B-8A6B-1A8B6F85E756}" type="presParOf" srcId="{F0969720-AC97-493F-9495-108C59B0BF9C}" destId="{858EE138-906F-442B-8847-15A26149AD7B}" srcOrd="0" destOrd="0" presId="urn:microsoft.com/office/officeart/2005/8/layout/orgChart1"/>
    <dgm:cxn modelId="{B75BF815-7F21-4506-AA5C-F82363F6CA8D}" type="presParOf" srcId="{858EE138-906F-442B-8847-15A26149AD7B}" destId="{01FAA89C-BBA3-4CA4-99FB-293C6C955B3D}" srcOrd="0" destOrd="0" presId="urn:microsoft.com/office/officeart/2005/8/layout/orgChart1"/>
    <dgm:cxn modelId="{4EAE5BDD-B203-4062-A23C-49295189CF1C}" type="presParOf" srcId="{01FAA89C-BBA3-4CA4-99FB-293C6C955B3D}" destId="{762112FA-3544-4E18-881A-43940169BBFE}" srcOrd="0" destOrd="0" presId="urn:microsoft.com/office/officeart/2005/8/layout/orgChart1"/>
    <dgm:cxn modelId="{F866ED24-F4DE-4C49-871A-43B59CC8E1A6}" type="presParOf" srcId="{01FAA89C-BBA3-4CA4-99FB-293C6C955B3D}" destId="{1EC4C9B0-7052-43B3-BC71-6D8F210ADE6E}" srcOrd="1" destOrd="0" presId="urn:microsoft.com/office/officeart/2005/8/layout/orgChart1"/>
    <dgm:cxn modelId="{D8ECB1AD-3210-479D-AC48-576E19D5F252}" type="presParOf" srcId="{858EE138-906F-442B-8847-15A26149AD7B}" destId="{8DB6B970-C185-42D4-8D02-9CE7658A35BD}" srcOrd="1" destOrd="0" presId="urn:microsoft.com/office/officeart/2005/8/layout/orgChart1"/>
    <dgm:cxn modelId="{3620F717-2266-42D5-84B1-908987B6B07B}" type="presParOf" srcId="{8DB6B970-C185-42D4-8D02-9CE7658A35BD}" destId="{0457B6FA-E94E-4D80-937C-97ADB335433E}" srcOrd="0" destOrd="0" presId="urn:microsoft.com/office/officeart/2005/8/layout/orgChart1"/>
    <dgm:cxn modelId="{C5FF7305-9A9D-49A2-8F7E-7238469C94BC}" type="presParOf" srcId="{8DB6B970-C185-42D4-8D02-9CE7658A35BD}" destId="{2B0E94D6-800D-4257-9393-338440ED4A90}" srcOrd="1" destOrd="0" presId="urn:microsoft.com/office/officeart/2005/8/layout/orgChart1"/>
    <dgm:cxn modelId="{494A3861-8C7E-4694-AB48-CFDF93080609}" type="presParOf" srcId="{2B0E94D6-800D-4257-9393-338440ED4A90}" destId="{530E69A8-4724-4525-9E0A-24BAAC6E8827}" srcOrd="0" destOrd="0" presId="urn:microsoft.com/office/officeart/2005/8/layout/orgChart1"/>
    <dgm:cxn modelId="{40BD47A1-4206-476F-A6EB-A3D7FC59F6EC}" type="presParOf" srcId="{530E69A8-4724-4525-9E0A-24BAAC6E8827}" destId="{617E6604-B513-4442-B2F0-63BC68434378}" srcOrd="0" destOrd="0" presId="urn:microsoft.com/office/officeart/2005/8/layout/orgChart1"/>
    <dgm:cxn modelId="{2D7843B1-3285-4E04-AC6A-F0EC1B05308A}" type="presParOf" srcId="{530E69A8-4724-4525-9E0A-24BAAC6E8827}" destId="{F4E1FA14-4F1D-4B7D-AFDA-B9D2002C5C76}" srcOrd="1" destOrd="0" presId="urn:microsoft.com/office/officeart/2005/8/layout/orgChart1"/>
    <dgm:cxn modelId="{590957E2-71EF-4CD4-B7FD-AC130C7139BC}" type="presParOf" srcId="{2B0E94D6-800D-4257-9393-338440ED4A90}" destId="{26F10C87-9700-4516-8525-36B2A6193678}" srcOrd="1" destOrd="0" presId="urn:microsoft.com/office/officeart/2005/8/layout/orgChart1"/>
    <dgm:cxn modelId="{F0D31260-3B1C-4644-AA70-5D1537FEEF2C}" type="presParOf" srcId="{2B0E94D6-800D-4257-9393-338440ED4A90}" destId="{7871AEB2-BF33-4883-B42E-0F6C5371DD32}" srcOrd="2" destOrd="0" presId="urn:microsoft.com/office/officeart/2005/8/layout/orgChart1"/>
    <dgm:cxn modelId="{75E8113A-D891-4CF5-BB31-E8A601FFFC2E}" type="presParOf" srcId="{8DB6B970-C185-42D4-8D02-9CE7658A35BD}" destId="{F06D4703-C44F-4AE8-834E-8060974A29A7}" srcOrd="2" destOrd="0" presId="urn:microsoft.com/office/officeart/2005/8/layout/orgChart1"/>
    <dgm:cxn modelId="{B18B0881-CAD8-49A2-9009-CD2413682F39}" type="presParOf" srcId="{8DB6B970-C185-42D4-8D02-9CE7658A35BD}" destId="{DB386062-66D1-41DB-AAB2-FAD6E56E7562}" srcOrd="3" destOrd="0" presId="urn:microsoft.com/office/officeart/2005/8/layout/orgChart1"/>
    <dgm:cxn modelId="{73E49FAE-8C40-444D-988E-E87910FCE30A}" type="presParOf" srcId="{DB386062-66D1-41DB-AAB2-FAD6E56E7562}" destId="{0238A48E-DC96-48B8-B395-7118A6A6F3DB}" srcOrd="0" destOrd="0" presId="urn:microsoft.com/office/officeart/2005/8/layout/orgChart1"/>
    <dgm:cxn modelId="{D3A2F3FB-D61C-4D66-8FD9-986C5B5BBFEA}" type="presParOf" srcId="{0238A48E-DC96-48B8-B395-7118A6A6F3DB}" destId="{92C5E824-6655-4AEA-8248-6C1B23117B2C}" srcOrd="0" destOrd="0" presId="urn:microsoft.com/office/officeart/2005/8/layout/orgChart1"/>
    <dgm:cxn modelId="{6E0F24C5-3387-41C1-A58F-B87AD864583A}" type="presParOf" srcId="{0238A48E-DC96-48B8-B395-7118A6A6F3DB}" destId="{CE66D798-6781-4044-B673-1742C9938A33}" srcOrd="1" destOrd="0" presId="urn:microsoft.com/office/officeart/2005/8/layout/orgChart1"/>
    <dgm:cxn modelId="{A0643D42-80EE-4495-8605-226BFA51FA95}" type="presParOf" srcId="{DB386062-66D1-41DB-AAB2-FAD6E56E7562}" destId="{B2F12D5D-041C-4D36-A8D8-09CA08490F1D}" srcOrd="1" destOrd="0" presId="urn:microsoft.com/office/officeart/2005/8/layout/orgChart1"/>
    <dgm:cxn modelId="{A1FAA8ED-F6E1-47E9-9D25-423FA0C24572}" type="presParOf" srcId="{DB386062-66D1-41DB-AAB2-FAD6E56E7562}" destId="{42664D16-3EEF-415E-9263-FC1E3CD4E991}" srcOrd="2" destOrd="0" presId="urn:microsoft.com/office/officeart/2005/8/layout/orgChart1"/>
    <dgm:cxn modelId="{E9C83412-9C0E-47FA-8E4A-CB87EEB6C74B}" type="presParOf" srcId="{8DB6B970-C185-42D4-8D02-9CE7658A35BD}" destId="{337034E0-46CF-4F31-8E52-7FD6881A64B0}" srcOrd="4" destOrd="0" presId="urn:microsoft.com/office/officeart/2005/8/layout/orgChart1"/>
    <dgm:cxn modelId="{E74153AD-3ADE-4C5A-8AEC-4CB3D34B970F}" type="presParOf" srcId="{8DB6B970-C185-42D4-8D02-9CE7658A35BD}" destId="{4ECC065A-C7C6-4263-973D-9B0641C8AFF3}" srcOrd="5" destOrd="0" presId="urn:microsoft.com/office/officeart/2005/8/layout/orgChart1"/>
    <dgm:cxn modelId="{C670F7AF-D7C8-4099-8D62-AD510D85E5DF}" type="presParOf" srcId="{4ECC065A-C7C6-4263-973D-9B0641C8AFF3}" destId="{C62A4E3B-2D1C-4742-B3DC-1DF111995A8F}" srcOrd="0" destOrd="0" presId="urn:microsoft.com/office/officeart/2005/8/layout/orgChart1"/>
    <dgm:cxn modelId="{D37774C2-A584-4BF5-8EFE-AAF28B881AF4}" type="presParOf" srcId="{C62A4E3B-2D1C-4742-B3DC-1DF111995A8F}" destId="{93BDBAEB-F4FC-434D-95A4-4BA89C98E53A}" srcOrd="0" destOrd="0" presId="urn:microsoft.com/office/officeart/2005/8/layout/orgChart1"/>
    <dgm:cxn modelId="{B1FD90F3-EBAD-417B-A5B2-6CE0EBFDB053}" type="presParOf" srcId="{C62A4E3B-2D1C-4742-B3DC-1DF111995A8F}" destId="{974C8CC3-CCC7-4A8E-AAC0-F3F518E390D0}" srcOrd="1" destOrd="0" presId="urn:microsoft.com/office/officeart/2005/8/layout/orgChart1"/>
    <dgm:cxn modelId="{0708FFE6-3F56-4077-AAFA-D2B275798251}" type="presParOf" srcId="{4ECC065A-C7C6-4263-973D-9B0641C8AFF3}" destId="{D7EBD716-7660-4DB9-B47A-D3FBDB31CC4A}" srcOrd="1" destOrd="0" presId="urn:microsoft.com/office/officeart/2005/8/layout/orgChart1"/>
    <dgm:cxn modelId="{F0951930-D9A0-4C7B-A3E2-ECAAB1B603F1}" type="presParOf" srcId="{4ECC065A-C7C6-4263-973D-9B0641C8AFF3}" destId="{5E7C89AD-3EFF-4005-B74B-0D7595959F0C}" srcOrd="2" destOrd="0" presId="urn:microsoft.com/office/officeart/2005/8/layout/orgChart1"/>
    <dgm:cxn modelId="{B04C6C68-8822-4D71-AA74-827BA2FE9EF4}" type="presParOf" srcId="{858EE138-906F-442B-8847-15A26149AD7B}" destId="{063CB792-ABA6-42CB-B2A8-B6E06107C53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034E0-46CF-4F31-8E52-7FD6881A64B0}">
      <dsp:nvSpPr>
        <dsp:cNvPr id="0" name=""/>
        <dsp:cNvSpPr/>
      </dsp:nvSpPr>
      <dsp:spPr>
        <a:xfrm>
          <a:off x="2643218" y="871874"/>
          <a:ext cx="1922515" cy="487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045"/>
              </a:lnTo>
              <a:lnTo>
                <a:pt x="1922515" y="244045"/>
              </a:lnTo>
              <a:lnTo>
                <a:pt x="1922515" y="4879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6D4703-C44F-4AE8-834E-8060974A29A7}">
      <dsp:nvSpPr>
        <dsp:cNvPr id="0" name=""/>
        <dsp:cNvSpPr/>
      </dsp:nvSpPr>
      <dsp:spPr>
        <a:xfrm>
          <a:off x="2597498" y="871874"/>
          <a:ext cx="91440" cy="4879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79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7B6FA-E94E-4D80-937C-97ADB335433E}">
      <dsp:nvSpPr>
        <dsp:cNvPr id="0" name=""/>
        <dsp:cNvSpPr/>
      </dsp:nvSpPr>
      <dsp:spPr>
        <a:xfrm>
          <a:off x="730645" y="871874"/>
          <a:ext cx="1912572" cy="487975"/>
        </a:xfrm>
        <a:custGeom>
          <a:avLst/>
          <a:gdLst/>
          <a:ahLst/>
          <a:cxnLst/>
          <a:rect l="0" t="0" r="0" b="0"/>
          <a:pathLst>
            <a:path>
              <a:moveTo>
                <a:pt x="1912572" y="0"/>
              </a:moveTo>
              <a:lnTo>
                <a:pt x="1912572" y="244045"/>
              </a:lnTo>
              <a:lnTo>
                <a:pt x="0" y="244045"/>
              </a:lnTo>
              <a:lnTo>
                <a:pt x="0" y="4879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112FA-3544-4E18-881A-43940169BBFE}">
      <dsp:nvSpPr>
        <dsp:cNvPr id="0" name=""/>
        <dsp:cNvSpPr/>
      </dsp:nvSpPr>
      <dsp:spPr>
        <a:xfrm>
          <a:off x="1469846" y="0"/>
          <a:ext cx="2346744" cy="871874"/>
        </a:xfrm>
        <a:prstGeom prst="roundRect">
          <a:avLst/>
        </a:prstGeom>
        <a:solidFill>
          <a:srgbClr val="FFC000">
            <a:tint val="66000"/>
            <a:satMod val="160000"/>
          </a:srgbClr>
        </a:solidFill>
        <a:ln w="127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10800000" algn="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 dirty="0">
              <a:solidFill>
                <a:srgbClr val="C00000"/>
              </a:solidFill>
            </a:rPr>
            <a:t>Central Computer OS</a:t>
          </a:r>
        </a:p>
      </dsp:txBody>
      <dsp:txXfrm>
        <a:off x="1512407" y="42561"/>
        <a:ext cx="2261622" cy="786752"/>
      </dsp:txXfrm>
    </dsp:sp>
    <dsp:sp modelId="{617E6604-B513-4442-B2F0-63BC68434378}">
      <dsp:nvSpPr>
        <dsp:cNvPr id="0" name=""/>
        <dsp:cNvSpPr/>
      </dsp:nvSpPr>
      <dsp:spPr>
        <a:xfrm>
          <a:off x="13318" y="1359850"/>
          <a:ext cx="1434655" cy="443766"/>
        </a:xfrm>
        <a:prstGeom prst="roundRect">
          <a:avLst/>
        </a:prstGeom>
        <a:gradFill flip="none" rotWithShape="0">
          <a:gsLst>
            <a:gs pos="0">
              <a:schemeClr val="tx2">
                <a:lumMod val="60000"/>
                <a:lumOff val="40000"/>
                <a:tint val="66000"/>
                <a:satMod val="160000"/>
              </a:schemeClr>
            </a:gs>
            <a:gs pos="50000">
              <a:schemeClr val="tx2">
                <a:lumMod val="60000"/>
                <a:lumOff val="40000"/>
                <a:tint val="44500"/>
                <a:satMod val="160000"/>
              </a:schemeClr>
            </a:gs>
            <a:gs pos="100000">
              <a:schemeClr val="tx2">
                <a:lumMod val="60000"/>
                <a:lumOff val="40000"/>
                <a:tint val="23500"/>
                <a:satMod val="160000"/>
              </a:schemeClr>
            </a:gs>
          </a:gsLst>
          <a:lin ang="27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solidFill>
                <a:schemeClr val="tx1"/>
              </a:solidFill>
            </a:rPr>
            <a:t>Client 1</a:t>
          </a:r>
        </a:p>
      </dsp:txBody>
      <dsp:txXfrm>
        <a:off x="34981" y="1381513"/>
        <a:ext cx="1391329" cy="400440"/>
      </dsp:txXfrm>
    </dsp:sp>
    <dsp:sp modelId="{92C5E824-6655-4AEA-8248-6C1B23117B2C}">
      <dsp:nvSpPr>
        <dsp:cNvPr id="0" name=""/>
        <dsp:cNvSpPr/>
      </dsp:nvSpPr>
      <dsp:spPr>
        <a:xfrm>
          <a:off x="1925890" y="1359850"/>
          <a:ext cx="1434655" cy="443766"/>
        </a:xfrm>
        <a:prstGeom prst="roundRect">
          <a:avLst/>
        </a:prstGeom>
        <a:gradFill flip="none" rotWithShape="0">
          <a:gsLst>
            <a:gs pos="0">
              <a:srgbClr val="C00000">
                <a:tint val="66000"/>
                <a:satMod val="160000"/>
              </a:srgbClr>
            </a:gs>
            <a:gs pos="50000">
              <a:srgbClr val="C00000">
                <a:tint val="44500"/>
                <a:satMod val="160000"/>
              </a:srgbClr>
            </a:gs>
            <a:gs pos="100000">
              <a:srgbClr val="C00000">
                <a:tint val="23500"/>
                <a:satMod val="160000"/>
              </a:srgbClr>
            </a:gs>
          </a:gsLst>
          <a:lin ang="27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solidFill>
                <a:schemeClr val="tx1"/>
              </a:solidFill>
            </a:rPr>
            <a:t>Client 2</a:t>
          </a:r>
        </a:p>
      </dsp:txBody>
      <dsp:txXfrm>
        <a:off x="1947553" y="1381513"/>
        <a:ext cx="1391329" cy="400440"/>
      </dsp:txXfrm>
    </dsp:sp>
    <dsp:sp modelId="{93BDBAEB-F4FC-434D-95A4-4BA89C98E53A}">
      <dsp:nvSpPr>
        <dsp:cNvPr id="0" name=""/>
        <dsp:cNvSpPr/>
      </dsp:nvSpPr>
      <dsp:spPr>
        <a:xfrm>
          <a:off x="3848406" y="1359850"/>
          <a:ext cx="1434655" cy="443766"/>
        </a:xfrm>
        <a:prstGeom prst="roundRect">
          <a:avLst/>
        </a:prstGeom>
        <a:solidFill>
          <a:schemeClr val="accent3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solidFill>
                <a:schemeClr val="tx1"/>
              </a:solidFill>
            </a:rPr>
            <a:t>Client 3</a:t>
          </a:r>
        </a:p>
      </dsp:txBody>
      <dsp:txXfrm>
        <a:off x="3870069" y="1381513"/>
        <a:ext cx="1391329" cy="400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5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#2304CS205 (OS)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Operating System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285419" y="983643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#2304CS205 (OS)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Operating System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2304CS422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Relational Database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7019" y="5869049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H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#2304CS205 (OS)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Operating System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53395" y="1794986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8737" y="307556"/>
            <a:ext cx="270809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60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4B302A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solidFill>
            <a:srgbClr val="4B3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93477C7-FE49-4FB9-9AE0-0169DC1D0A6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26880" y="58321"/>
            <a:ext cx="2801872" cy="119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1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4800" b="0" dirty="0"/>
              <a:t>Unit-1 </a:t>
            </a:r>
            <a:br>
              <a:rPr lang="en-US" sz="4800" b="0" dirty="0"/>
            </a:br>
            <a:r>
              <a:rPr lang="en-US" sz="5500" dirty="0"/>
              <a:t>Introduction of Operating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umesh.thoriya@darshan.ac.in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9714233355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400" dirty="0"/>
              <a:t>Computer Science &amp; Engineering Department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85B2E-33FC-6B45-7B2E-92B4F7EF4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Operating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="1" dirty="0"/>
              <a:t>System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2304CS205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9D2D46-64B7-7EB1-5FBC-8717156BEC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Prof.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Umesh</a:t>
            </a:r>
            <a:r>
              <a:rPr lang="en-US" dirty="0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Thoriya</a:t>
            </a:r>
            <a:endParaRPr lang="en-US" dirty="0">
              <a:gradFill flip="none" rotWithShape="1">
                <a:gsLst>
                  <a:gs pos="10000">
                    <a:srgbClr val="B71B1C"/>
                  </a:gs>
                  <a:gs pos="95000">
                    <a:srgbClr val="ED524F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6FCF4A-F975-C0C2-C25F-D81555564E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8" name="Picture Placeholder 23">
            <a:extLst>
              <a:ext uri="{FF2B5EF4-FFF2-40B4-BE49-F238E27FC236}">
                <a16:creationId xmlns:a16="http://schemas.microsoft.com/office/drawing/2014/main" id="{3EBBF228-CC66-ED4A-A378-9975D9DE9B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3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5A495B-DAE9-5019-9130-36A13F711C42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CO1: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discuss</a:t>
            </a:r>
            <a:r>
              <a:rPr lang="en-US" dirty="0"/>
              <a:t> the basics of Operating System fundamentals. 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-102641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80265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054827"/>
            <a:ext cx="0" cy="51873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AC9BCC-6D7A-4119-BBFE-F1E0245720C7}"/>
              </a:ext>
            </a:extLst>
          </p:cNvPr>
          <p:cNvSpPr txBox="1"/>
          <p:nvPr/>
        </p:nvSpPr>
        <p:spPr>
          <a:xfrm>
            <a:off x="1458963" y="629065"/>
            <a:ext cx="9956750" cy="646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Operating System – Definition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Functions of Operating System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Features of Operating System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Types of Operating System 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Batch Operating System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Multiprogramming Operating System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Time-Sharing Operating System</a:t>
            </a:r>
          </a:p>
          <a:p>
            <a:pPr marL="1257300" lvl="2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Single user and Multiuser Operating System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Components of Operating System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Operating System Services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System Calls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Programs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System Structure</a:t>
            </a:r>
            <a:r>
              <a:rPr lang="en-US" sz="2200" b="1" dirty="0"/>
              <a:t> 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5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</a:rPr>
              <a:t>Operating System – Definition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204177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 need Operating System?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Computer System consists of various hardware such as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48" y="1744925"/>
            <a:ext cx="3272552" cy="775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60536" y="1744925"/>
            <a:ext cx="2587707" cy="1085851"/>
          </a:xfrm>
          <a:prstGeom prst="rect">
            <a:avLst/>
          </a:prstGeom>
        </p:spPr>
      </p:pic>
      <p:pic>
        <p:nvPicPr>
          <p:cNvPr id="7" name="Picture 12" descr="Image result for hard disk driv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39" y="3861139"/>
            <a:ext cx="184882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Image result for display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2"/>
          <a:stretch/>
        </p:blipFill>
        <p:spPr bwMode="auto">
          <a:xfrm>
            <a:off x="4646513" y="3906281"/>
            <a:ext cx="161122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2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273" y="3843706"/>
            <a:ext cx="1826232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280579" y="3065367"/>
            <a:ext cx="1144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	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889383" y="3065367"/>
            <a:ext cx="837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913450" y="3059668"/>
            <a:ext cx="199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Keyboard &amp; Mouse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967069" y="5480188"/>
            <a:ext cx="1144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 Disk	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4985654" y="5410201"/>
            <a:ext cx="99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Monitor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9477837" y="5384075"/>
            <a:ext cx="92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Printer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2066677" y="6053009"/>
            <a:ext cx="6165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Who manages these hardwares???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83" y="5367588"/>
            <a:ext cx="1230177" cy="12301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07974">
            <a:off x="1103170" y="1571392"/>
            <a:ext cx="1367360" cy="13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Operating System (OS) is a program/software that </a:t>
            </a:r>
          </a:p>
          <a:p>
            <a:pPr lvl="1"/>
            <a:r>
              <a:rPr lang="en-IN" sz="2200" b="1" dirty="0">
                <a:solidFill>
                  <a:schemeClr val="accent6"/>
                </a:solidFill>
              </a:rPr>
              <a:t>Manages computer hardware</a:t>
            </a:r>
          </a:p>
          <a:p>
            <a:pPr lvl="1"/>
            <a:r>
              <a:rPr lang="en-IN" sz="2200" dirty="0"/>
              <a:t>Provides </a:t>
            </a:r>
            <a:r>
              <a:rPr lang="en-IN" sz="2200" b="1" dirty="0">
                <a:solidFill>
                  <a:schemeClr val="accent6"/>
                </a:solidFill>
              </a:rPr>
              <a:t>simple interface </a:t>
            </a:r>
            <a:r>
              <a:rPr lang="en-US" dirty="0"/>
              <a:t>between </a:t>
            </a:r>
            <a:r>
              <a:rPr lang="en-US" sz="2200" b="1" dirty="0">
                <a:solidFill>
                  <a:schemeClr val="accent6"/>
                </a:solidFill>
              </a:rPr>
              <a:t>user</a:t>
            </a:r>
            <a:r>
              <a:rPr lang="en-US" sz="2200" dirty="0"/>
              <a:t> and the </a:t>
            </a:r>
            <a:r>
              <a:rPr lang="en-US" sz="2200" b="1" dirty="0">
                <a:solidFill>
                  <a:schemeClr val="accent6"/>
                </a:solidFill>
              </a:rPr>
              <a:t>hardware</a:t>
            </a:r>
            <a:r>
              <a:rPr lang="en-US" sz="2200" dirty="0"/>
              <a:t>.</a:t>
            </a:r>
            <a:endParaRPr lang="en-IN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360" y="2421906"/>
            <a:ext cx="10506609" cy="2470262"/>
            <a:chOff x="131179" y="3264111"/>
            <a:chExt cx="10506609" cy="2470262"/>
          </a:xfrm>
        </p:grpSpPr>
        <p:sp>
          <p:nvSpPr>
            <p:cNvPr id="6" name="Rectangle 5"/>
            <p:cNvSpPr/>
            <p:nvPr/>
          </p:nvSpPr>
          <p:spPr>
            <a:xfrm>
              <a:off x="131179" y="3264111"/>
              <a:ext cx="10190691" cy="2470262"/>
            </a:xfrm>
            <a:prstGeom prst="rect">
              <a:avLst/>
            </a:prstGeom>
            <a:solidFill>
              <a:srgbClr val="DCEFD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375" y="3687968"/>
              <a:ext cx="1472778" cy="141489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92623" y="5130329"/>
              <a:ext cx="784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User</a:t>
              </a:r>
              <a:endParaRPr lang="en-IN" b="1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744" y="3450481"/>
              <a:ext cx="2303792" cy="1679848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292133" y="5127980"/>
              <a:ext cx="3345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Computer Hardware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95445" y="3349860"/>
              <a:ext cx="3345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Operating System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2972666" y="3873160"/>
              <a:ext cx="3780838" cy="1550438"/>
              <a:chOff x="2724588" y="3818407"/>
              <a:chExt cx="3780838" cy="1550438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66962" y="3818407"/>
                <a:ext cx="1338464" cy="155043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24588" y="3938108"/>
                <a:ext cx="1245558" cy="124555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41662" y="4036939"/>
                <a:ext cx="1053783" cy="1047896"/>
              </a:xfrm>
              <a:prstGeom prst="rect">
                <a:avLst/>
              </a:prstGeom>
            </p:spPr>
          </p:pic>
        </p:grpSp>
        <p:cxnSp>
          <p:nvCxnSpPr>
            <p:cNvPr id="14" name="Straight Arrow Connector 13"/>
            <p:cNvCxnSpPr/>
            <p:nvPr/>
          </p:nvCxnSpPr>
          <p:spPr>
            <a:xfrm>
              <a:off x="2038348" y="4355163"/>
              <a:ext cx="9283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6667617" y="4355163"/>
              <a:ext cx="9283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0800000">
              <a:off x="2038348" y="4802031"/>
              <a:ext cx="9283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10800000">
              <a:off x="6667617" y="4797004"/>
              <a:ext cx="9283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158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Examples of Operating System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079768" y="1397000"/>
            <a:ext cx="4032463" cy="4064000"/>
            <a:chOff x="1031768" y="0"/>
            <a:chExt cx="4032463" cy="4064000"/>
          </a:xfrm>
        </p:grpSpPr>
        <p:sp>
          <p:nvSpPr>
            <p:cNvPr id="5" name="Oval 4"/>
            <p:cNvSpPr/>
            <p:nvPr/>
          </p:nvSpPr>
          <p:spPr>
            <a:xfrm>
              <a:off x="1031768" y="0"/>
              <a:ext cx="4032463" cy="406400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" name="Oval 4"/>
            <p:cNvSpPr/>
            <p:nvPr/>
          </p:nvSpPr>
          <p:spPr>
            <a:xfrm>
              <a:off x="1622309" y="595159"/>
              <a:ext cx="2851381" cy="28736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55880" tIns="55880" rIns="55880" bIns="55880" numCol="1" spcCol="1270" anchor="ctr" anchorCtr="0">
              <a:noAutofit/>
            </a:bodyPr>
            <a:lstStyle/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/>
                <a:t>Examples </a:t>
              </a:r>
            </a:p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/>
                <a:t>of </a:t>
              </a:r>
            </a:p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>
                  <a:solidFill>
                    <a:srgbClr val="C00000"/>
                  </a:solidFill>
                </a:rPr>
                <a:t>Operating System</a:t>
              </a: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265" y="857000"/>
            <a:ext cx="1220260" cy="1080000"/>
          </a:xfrm>
          <a:prstGeom prst="ellipse">
            <a:avLst/>
          </a:prstGeom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1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90" y="1894831"/>
            <a:ext cx="1201247" cy="1192237"/>
          </a:xfrm>
          <a:prstGeom prst="ellipse">
            <a:avLst/>
          </a:prstGeom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90" y="3813471"/>
            <a:ext cx="1241706" cy="1293931"/>
          </a:xfrm>
          <a:prstGeom prst="ellipse">
            <a:avLst/>
          </a:prstGeom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8" descr="C:\Users\GNWEBSOFT\Desktop\ubuntu_logo (1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265" y="5107402"/>
            <a:ext cx="1220260" cy="1080000"/>
          </a:xfrm>
          <a:prstGeom prst="ellipse">
            <a:avLst/>
          </a:prstGeom>
          <a:ln w="1905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5" t="15993" r="26975" b="13452"/>
          <a:stretch/>
        </p:blipFill>
        <p:spPr bwMode="auto">
          <a:xfrm>
            <a:off x="3451785" y="3813470"/>
            <a:ext cx="1255965" cy="1293931"/>
          </a:xfrm>
          <a:prstGeom prst="ellipse">
            <a:avLst/>
          </a:prstGeom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" name="Picture 14" descr="C:\Users\GNWEBSOFT\Desktop\585px-MacOS-Logo.svg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3" r="12825" b="29915"/>
          <a:stretch/>
        </p:blipFill>
        <p:spPr bwMode="auto">
          <a:xfrm>
            <a:off x="3492437" y="1895538"/>
            <a:ext cx="1241705" cy="1191530"/>
          </a:xfrm>
          <a:prstGeom prst="ellipse">
            <a:avLst/>
          </a:prstGeom>
          <a:ln w="1905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7214702" y="994114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7343922" y="964504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568" y="2126552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9054367" y="2113431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Android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568" y="4257507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9222814" y="4240887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Linux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3588" y="5493613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7195285" y="5482222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Ubuntu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81826" y="4392357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1918803" y="4380731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Fedora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81826" y="2141335"/>
            <a:ext cx="1538904" cy="405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1820671" y="2126495"/>
            <a:ext cx="13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Mac OS</a:t>
            </a:r>
          </a:p>
        </p:txBody>
      </p:sp>
    </p:spTree>
    <p:extLst>
      <p:ext uri="{BB962C8B-B14F-4D97-AF65-F5344CB8AC3E}">
        <p14:creationId xmlns:p14="http://schemas.microsoft.com/office/powerpoint/2010/main" val="237276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2" grpId="0"/>
      <p:bldP spid="23" grpId="0" animBg="1"/>
      <p:bldP spid="24" grpId="0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Functions of Operating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85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Program development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chemeClr val="accent6"/>
                </a:solidFill>
              </a:rPr>
              <a:t>provides editors and debuggers </a:t>
            </a:r>
            <a:r>
              <a:rPr lang="en-US" dirty="0"/>
              <a:t>to assist (help) the programmer in creating programs. </a:t>
            </a:r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444" y="1743636"/>
            <a:ext cx="6467368" cy="432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Straight Connector 8"/>
          <p:cNvCxnSpPr/>
          <p:nvPr/>
        </p:nvCxnSpPr>
        <p:spPr>
          <a:xfrm>
            <a:off x="704886" y="6499676"/>
            <a:ext cx="63093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04886" y="611169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803815" y="6102803"/>
          <a:ext cx="530352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Give the name of any five code editor for windows?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3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Program execution</a:t>
            </a:r>
          </a:p>
          <a:p>
            <a:pPr lvl="1"/>
            <a:r>
              <a:rPr lang="en-US" dirty="0"/>
              <a:t>Following tasks need to be perform to execute a program:</a:t>
            </a:r>
          </a:p>
          <a:p>
            <a:pPr lvl="2"/>
            <a:r>
              <a:rPr lang="en-US" b="1" dirty="0">
                <a:solidFill>
                  <a:schemeClr val="accent6"/>
                </a:solidFill>
              </a:rPr>
              <a:t>Instructions and data </a:t>
            </a:r>
            <a:r>
              <a:rPr lang="en-US" dirty="0"/>
              <a:t>must be </a:t>
            </a:r>
            <a:r>
              <a:rPr lang="en-US" b="1" dirty="0">
                <a:solidFill>
                  <a:schemeClr val="accent6"/>
                </a:solidFill>
              </a:rPr>
              <a:t>loaded</a:t>
            </a:r>
            <a:r>
              <a:rPr lang="en-US" dirty="0"/>
              <a:t> into </a:t>
            </a:r>
            <a:r>
              <a:rPr lang="en-US" b="1" dirty="0">
                <a:solidFill>
                  <a:schemeClr val="accent6"/>
                </a:solidFill>
              </a:rPr>
              <a:t>main memory</a:t>
            </a:r>
            <a:r>
              <a:rPr lang="en-US" dirty="0"/>
              <a:t>.</a:t>
            </a:r>
          </a:p>
          <a:p>
            <a:pPr lvl="2"/>
            <a:r>
              <a:rPr lang="en-US" b="1" dirty="0">
                <a:solidFill>
                  <a:schemeClr val="accent6"/>
                </a:solidFill>
              </a:rPr>
              <a:t>I/O devices </a:t>
            </a:r>
            <a:r>
              <a:rPr lang="en-US" dirty="0"/>
              <a:t>and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files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chemeClr val="accent6"/>
                </a:solidFill>
              </a:rPr>
              <a:t>initialized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OS handles all these duties for the user.</a:t>
            </a:r>
            <a:endParaRPr lang="en-IN" dirty="0"/>
          </a:p>
        </p:txBody>
      </p:sp>
      <p:pic>
        <p:nvPicPr>
          <p:cNvPr id="12" name="Picture 2" descr="Image result for program execution ste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2681236"/>
            <a:ext cx="9520936" cy="388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94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99896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Access to I/O devices (Resource allocation)</a:t>
            </a:r>
          </a:p>
          <a:p>
            <a:pPr lvl="1"/>
            <a:r>
              <a:rPr lang="en-US" dirty="0"/>
              <a:t>A running program may require I/O, which may involve file or an I/O device.</a:t>
            </a:r>
          </a:p>
          <a:p>
            <a:pPr lvl="1"/>
            <a:r>
              <a:rPr lang="en-US" dirty="0"/>
              <a:t>For efficiency and protection, users cannot control I/O devices directly.</a:t>
            </a:r>
          </a:p>
          <a:p>
            <a:pPr lvl="1"/>
            <a:r>
              <a:rPr lang="en-US" dirty="0"/>
              <a:t>Therefore, the </a:t>
            </a:r>
            <a:r>
              <a:rPr lang="en-US" b="1" dirty="0">
                <a:solidFill>
                  <a:schemeClr val="accent6"/>
                </a:solidFill>
              </a:rPr>
              <a:t>OS controls these I/O devices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provides to program</a:t>
            </a:r>
            <a:r>
              <a:rPr lang="en-US" b="1" dirty="0"/>
              <a:t> </a:t>
            </a:r>
            <a:r>
              <a:rPr lang="en-US" dirty="0"/>
              <a:t>as per requirement.</a:t>
            </a:r>
            <a:endParaRPr lang="en-IN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257" y="966243"/>
            <a:ext cx="472440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04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11959219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/>
              <a:t>Memory management</a:t>
            </a:r>
          </a:p>
          <a:p>
            <a:pPr lvl="1"/>
            <a:r>
              <a:rPr lang="en-US" dirty="0"/>
              <a:t>OS </a:t>
            </a:r>
            <a:r>
              <a:rPr lang="en-US" b="1" dirty="0">
                <a:solidFill>
                  <a:schemeClr val="accent6"/>
                </a:solidFill>
              </a:rPr>
              <a:t>manages memory </a:t>
            </a:r>
            <a:r>
              <a:rPr lang="en-US" dirty="0"/>
              <a:t>hierarchy.</a:t>
            </a:r>
          </a:p>
          <a:p>
            <a:pPr lvl="1"/>
            <a:r>
              <a:rPr lang="en-US" dirty="0"/>
              <a:t>OS </a:t>
            </a:r>
            <a:r>
              <a:rPr lang="en-US" b="1" dirty="0">
                <a:solidFill>
                  <a:schemeClr val="accent6"/>
                </a:solidFill>
              </a:rPr>
              <a:t>keeps the track </a:t>
            </a:r>
            <a:r>
              <a:rPr lang="en-US" dirty="0"/>
              <a:t>of which part of memory area in use and free memory.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chemeClr val="accent6"/>
                </a:solidFill>
              </a:rPr>
              <a:t>allocates memory </a:t>
            </a:r>
            <a:r>
              <a:rPr lang="en-US" dirty="0"/>
              <a:t>to program when they need it.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chemeClr val="accent6"/>
                </a:solidFill>
              </a:rPr>
              <a:t>de-allocate the memory </a:t>
            </a:r>
            <a:r>
              <a:rPr lang="en-US" dirty="0"/>
              <a:t>when the program finish execution.</a:t>
            </a:r>
            <a:endParaRPr lang="en-IN" dirty="0"/>
          </a:p>
        </p:txBody>
      </p:sp>
      <p:sp>
        <p:nvSpPr>
          <p:cNvPr id="6" name="Flowchart: Process 5"/>
          <p:cNvSpPr/>
          <p:nvPr/>
        </p:nvSpPr>
        <p:spPr>
          <a:xfrm>
            <a:off x="1487714" y="2859314"/>
            <a:ext cx="6324600" cy="1600200"/>
          </a:xfrm>
          <a:prstGeom prst="flowChartProcess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6" idx="0"/>
            <a:endCxn id="6" idx="2"/>
          </p:cNvCxnSpPr>
          <p:nvPr/>
        </p:nvCxnSpPr>
        <p:spPr>
          <a:xfrm>
            <a:off x="46500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2883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117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87964" y="4688113"/>
            <a:ext cx="685800" cy="6858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11" name="Oval 10"/>
          <p:cNvSpPr/>
          <p:nvPr/>
        </p:nvSpPr>
        <p:spPr>
          <a:xfrm>
            <a:off x="1868714" y="3316514"/>
            <a:ext cx="685800" cy="6858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5964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0144 -0.2002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7851676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/>
              <a:t>Controlled access to file</a:t>
            </a:r>
          </a:p>
          <a:p>
            <a:pPr lvl="1"/>
            <a:r>
              <a:rPr lang="en-US" dirty="0"/>
              <a:t>In case of file access, </a:t>
            </a:r>
            <a:r>
              <a:rPr lang="en-US" b="1" dirty="0">
                <a:solidFill>
                  <a:schemeClr val="accent6"/>
                </a:solidFill>
              </a:rPr>
              <a:t>OS provides a directory hierarchy </a:t>
            </a:r>
            <a:r>
              <a:rPr lang="en-US" dirty="0"/>
              <a:t>for easy access and management of file.</a:t>
            </a:r>
          </a:p>
          <a:p>
            <a:pPr lvl="1"/>
            <a:r>
              <a:rPr lang="en-US" dirty="0"/>
              <a:t>OS </a:t>
            </a:r>
            <a:r>
              <a:rPr lang="en-US" b="1" dirty="0">
                <a:solidFill>
                  <a:schemeClr val="accent6"/>
                </a:solidFill>
              </a:rPr>
              <a:t>provides various file handling commands </a:t>
            </a:r>
            <a:r>
              <a:rPr lang="en-US" dirty="0"/>
              <a:t>using which user can easily read, write and modify file.</a:t>
            </a:r>
            <a:endParaRPr lang="en-IN" dirty="0"/>
          </a:p>
        </p:txBody>
      </p:sp>
      <p:pic>
        <p:nvPicPr>
          <p:cNvPr id="12" name="Picture 4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r="13296"/>
          <a:stretch/>
        </p:blipFill>
        <p:spPr bwMode="auto">
          <a:xfrm>
            <a:off x="7982858" y="863444"/>
            <a:ext cx="4020457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05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/>
              <a:t>Communication</a:t>
            </a:r>
          </a:p>
          <a:p>
            <a:pPr lvl="1"/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multitasking</a:t>
            </a:r>
            <a:r>
              <a:rPr lang="en-US" dirty="0"/>
              <a:t> environment, the </a:t>
            </a:r>
            <a:r>
              <a:rPr lang="en-US" b="1" dirty="0">
                <a:solidFill>
                  <a:schemeClr val="accent6"/>
                </a:solidFill>
              </a:rPr>
              <a:t>processes need to communicate with each other </a:t>
            </a:r>
            <a:r>
              <a:rPr lang="en-US" dirty="0"/>
              <a:t>and to exchange their information.</a:t>
            </a:r>
          </a:p>
          <a:p>
            <a:pPr lvl="1"/>
            <a:r>
              <a:rPr lang="en-US" dirty="0"/>
              <a:t>Operating system </a:t>
            </a:r>
            <a:r>
              <a:rPr lang="en-US" b="1" dirty="0">
                <a:solidFill>
                  <a:schemeClr val="accent6"/>
                </a:solidFill>
              </a:rPr>
              <a:t>performs the communication among various types of processes </a:t>
            </a:r>
            <a:r>
              <a:rPr lang="en-US" dirty="0"/>
              <a:t>in the form of shared memory.</a:t>
            </a:r>
            <a:endParaRPr lang="en-IN" dirty="0"/>
          </a:p>
        </p:txBody>
      </p:sp>
      <p:pic>
        <p:nvPicPr>
          <p:cNvPr id="5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75" y="2394556"/>
            <a:ext cx="5612903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93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/>
              <a:t>Error detection and response</a:t>
            </a:r>
          </a:p>
          <a:p>
            <a:pPr lvl="1"/>
            <a:r>
              <a:rPr lang="en-US" dirty="0"/>
              <a:t>An error may occur in CPU, in I/O devices or in the memory hardware. </a:t>
            </a:r>
          </a:p>
          <a:p>
            <a:pPr lvl="1"/>
            <a:r>
              <a:rPr lang="en-US" dirty="0"/>
              <a:t>Following are the major activities of an operating system with respect to error handling −</a:t>
            </a:r>
          </a:p>
          <a:p>
            <a:pPr lvl="2"/>
            <a:r>
              <a:rPr lang="en-US" dirty="0"/>
              <a:t>The OS </a:t>
            </a:r>
            <a:r>
              <a:rPr lang="en-US" b="1" dirty="0">
                <a:solidFill>
                  <a:schemeClr val="accent6"/>
                </a:solidFill>
              </a:rPr>
              <a:t>constantly checks for possible errors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OS </a:t>
            </a:r>
            <a:r>
              <a:rPr lang="en-US" b="1" dirty="0">
                <a:solidFill>
                  <a:schemeClr val="accent6"/>
                </a:solidFill>
              </a:rPr>
              <a:t>takes an appropriate action </a:t>
            </a:r>
            <a:r>
              <a:rPr lang="en-US" dirty="0"/>
              <a:t>to ensure correct and consistent computing.</a:t>
            </a:r>
            <a:endParaRPr lang="en-IN" dirty="0"/>
          </a:p>
        </p:txBody>
      </p:sp>
      <p:pic>
        <p:nvPicPr>
          <p:cNvPr id="6" name="Picture 2" descr="Image result for error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22" y="2890294"/>
            <a:ext cx="4302120" cy="28800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printer not available ms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252" y="2890294"/>
            <a:ext cx="2657475" cy="24669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8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n-IN" dirty="0"/>
              <a:t>Accounting</a:t>
            </a:r>
            <a:endParaRPr lang="en-US" dirty="0"/>
          </a:p>
          <a:p>
            <a:pPr lvl="1"/>
            <a:r>
              <a:rPr lang="en-US" dirty="0"/>
              <a:t>It keeps </a:t>
            </a:r>
            <a:r>
              <a:rPr lang="en-US" b="1" dirty="0">
                <a:solidFill>
                  <a:schemeClr val="accent6"/>
                </a:solidFill>
              </a:rPr>
              <a:t>track of time </a:t>
            </a:r>
            <a:r>
              <a:rPr lang="en-US" dirty="0"/>
              <a:t>&amp; </a:t>
            </a:r>
            <a:r>
              <a:rPr lang="en-US" b="1" dirty="0">
                <a:solidFill>
                  <a:schemeClr val="accent6"/>
                </a:solidFill>
              </a:rPr>
              <a:t>resources</a:t>
            </a:r>
            <a:r>
              <a:rPr lang="en-US" dirty="0"/>
              <a:t> used by various jobs and users.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8C3D9-6DBE-B21E-F581-74D55B10E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588" y="2450909"/>
            <a:ext cx="5467350" cy="36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2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9"/>
            </a:pPr>
            <a:r>
              <a:rPr lang="en-IN" dirty="0"/>
              <a:t>Protection &amp; Security</a:t>
            </a:r>
          </a:p>
          <a:p>
            <a:pPr lvl="1"/>
            <a:r>
              <a:rPr lang="en-US" dirty="0"/>
              <a:t>Protection involves ensuring that </a:t>
            </a:r>
            <a:r>
              <a:rPr lang="en-US" b="1" dirty="0">
                <a:solidFill>
                  <a:schemeClr val="accent6"/>
                </a:solidFill>
              </a:rPr>
              <a:t>all accesses to system resources is controlled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dirty="0"/>
              <a:t>make a </a:t>
            </a:r>
            <a:r>
              <a:rPr lang="en-US" b="1" dirty="0">
                <a:solidFill>
                  <a:schemeClr val="accent6"/>
                </a:solidFill>
              </a:rPr>
              <a:t>system secure</a:t>
            </a:r>
            <a:r>
              <a:rPr lang="en-US" dirty="0"/>
              <a:t>, the </a:t>
            </a:r>
            <a:r>
              <a:rPr lang="en-US" b="1" dirty="0">
                <a:solidFill>
                  <a:schemeClr val="accent6"/>
                </a:solidFill>
              </a:rPr>
              <a:t>user needs to authenticate himself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/>
                </a:solidFill>
              </a:rPr>
              <a:t>herself to the system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DE7F8-A15B-79F8-A119-A753CE610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051" y="2150346"/>
            <a:ext cx="3392157" cy="3392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E74E04-D981-998A-911E-916693CC6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25" y="2271059"/>
            <a:ext cx="2220267" cy="277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7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9CBE-DBB0-C2DB-4512-521E9E05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9EB7-39EF-7539-6BC1-683AF743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OS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47A8-AB0C-AD2F-6DC6-DBF7A152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Program Development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Program 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Access to I/O Devices (Resource Allocation)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Memory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Controlled Access to File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Communication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Error Detection and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Accounting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Protection &amp; Security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93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Features of Operating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431165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307679-690F-B64A-25E6-97D21FCD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Operating system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10DB1-BBEF-4BFC-BA00-2F694BB3B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Interface between user and the computer </a:t>
            </a:r>
          </a:p>
          <a:p>
            <a:pPr lvl="1"/>
            <a:r>
              <a:rPr lang="en-US" dirty="0"/>
              <a:t>An OS provides a very easy way to interact with the computer. </a:t>
            </a:r>
          </a:p>
          <a:p>
            <a:pPr lvl="1"/>
            <a:r>
              <a:rPr lang="en-US" dirty="0"/>
              <a:t>It provides different features and GUI so that we can easily work on a computer. </a:t>
            </a:r>
          </a:p>
          <a:p>
            <a:pPr lvl="1"/>
            <a:r>
              <a:rPr lang="en-US" dirty="0"/>
              <a:t>We have to interact just by clicking the mouse or through the keyboard. </a:t>
            </a:r>
          </a:p>
          <a:p>
            <a:pPr lvl="1"/>
            <a:r>
              <a:rPr lang="en-US" dirty="0"/>
              <a:t>Thus, we can say that an </a:t>
            </a:r>
            <a:r>
              <a:rPr lang="en-US" b="1" dirty="0">
                <a:solidFill>
                  <a:schemeClr val="accent6"/>
                </a:solidFill>
              </a:rPr>
              <a:t>OS makes working very easy and efficient</a:t>
            </a:r>
            <a:r>
              <a:rPr lang="en-US" dirty="0"/>
              <a:t>.</a:t>
            </a:r>
          </a:p>
          <a:p>
            <a:r>
              <a:rPr lang="en-US" b="1" dirty="0"/>
              <a:t>Managing the Input / Output Device </a:t>
            </a:r>
          </a:p>
          <a:p>
            <a:pPr lvl="1"/>
            <a:r>
              <a:rPr lang="en-US" dirty="0"/>
              <a:t>The OS helps to </a:t>
            </a:r>
            <a:r>
              <a:rPr lang="en-US" b="1" dirty="0">
                <a:solidFill>
                  <a:schemeClr val="accent6"/>
                </a:solidFill>
              </a:rPr>
              <a:t>operate the different input/output devices. </a:t>
            </a:r>
          </a:p>
          <a:p>
            <a:pPr lvl="1"/>
            <a:r>
              <a:rPr lang="en-US" dirty="0"/>
              <a:t>The OS decides which program or process can use which device. Moreover, it decides the time for usage. </a:t>
            </a:r>
          </a:p>
          <a:p>
            <a:pPr lvl="1"/>
            <a:r>
              <a:rPr lang="en-US" dirty="0"/>
              <a:t>In addition to this, it controls the allocation and deallocation of devices. </a:t>
            </a:r>
          </a:p>
        </p:txBody>
      </p:sp>
    </p:spTree>
    <p:extLst>
      <p:ext uri="{BB962C8B-B14F-4D97-AF65-F5344CB8AC3E}">
        <p14:creationId xmlns:p14="http://schemas.microsoft.com/office/powerpoint/2010/main" val="426554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ECAC-E6EF-9E59-C86B-213393CC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B6A080-7902-1368-BB0F-ECE65E57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Operating system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F8BD05-BA31-C124-CB86-7B4ABDB6C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Multitasking </a:t>
            </a:r>
          </a:p>
          <a:p>
            <a:pPr lvl="1"/>
            <a:r>
              <a:rPr lang="en-US" dirty="0"/>
              <a:t>The OS helps to </a:t>
            </a:r>
            <a:r>
              <a:rPr lang="en-US" b="1" dirty="0">
                <a:solidFill>
                  <a:schemeClr val="accent6"/>
                </a:solidFill>
              </a:rPr>
              <a:t>run more than one application at a time on the computer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plays an important role while multitasking. </a:t>
            </a:r>
          </a:p>
          <a:p>
            <a:pPr lvl="1"/>
            <a:r>
              <a:rPr lang="en-US" dirty="0"/>
              <a:t>Since it </a:t>
            </a:r>
            <a:r>
              <a:rPr lang="en-US" b="1" dirty="0">
                <a:solidFill>
                  <a:schemeClr val="accent6"/>
                </a:solidFill>
              </a:rPr>
              <a:t>manages memory and other devices </a:t>
            </a:r>
            <a:r>
              <a:rPr lang="en-US" dirty="0"/>
              <a:t>during multitasking. Therefore, it provides </a:t>
            </a:r>
            <a:r>
              <a:rPr lang="en-US" b="1" dirty="0">
                <a:solidFill>
                  <a:schemeClr val="accent6"/>
                </a:solidFill>
              </a:rPr>
              <a:t>smooth multitasking </a:t>
            </a:r>
            <a:r>
              <a:rPr lang="en-US" dirty="0"/>
              <a:t>on the system. </a:t>
            </a:r>
            <a:endParaRPr lang="en-IN" dirty="0"/>
          </a:p>
          <a:p>
            <a:r>
              <a:rPr lang="en-US" b="1" dirty="0"/>
              <a:t>Manages the Memory </a:t>
            </a:r>
          </a:p>
          <a:p>
            <a:pPr lvl="1"/>
            <a:r>
              <a:rPr lang="en-US" dirty="0"/>
              <a:t>It helps in </a:t>
            </a:r>
            <a:r>
              <a:rPr lang="en-US" b="1" dirty="0">
                <a:solidFill>
                  <a:schemeClr val="accent6"/>
                </a:solidFill>
              </a:rPr>
              <a:t>managing the main memory </a:t>
            </a:r>
            <a:r>
              <a:rPr lang="en-US" dirty="0"/>
              <a:t>of the computer. </a:t>
            </a:r>
          </a:p>
          <a:p>
            <a:pPr lvl="1"/>
            <a:r>
              <a:rPr lang="en-US" dirty="0"/>
              <a:t>Moreover, It </a:t>
            </a:r>
            <a:r>
              <a:rPr lang="en-US" b="1" dirty="0">
                <a:solidFill>
                  <a:schemeClr val="accent6"/>
                </a:solidFill>
              </a:rPr>
              <a:t>allocates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deallocates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memory</a:t>
            </a:r>
            <a:r>
              <a:rPr lang="en-US" dirty="0"/>
              <a:t> to all the applications/tasks.</a:t>
            </a:r>
          </a:p>
          <a:p>
            <a:r>
              <a:rPr lang="en-US" b="1" dirty="0"/>
              <a:t>Manages the system files </a:t>
            </a:r>
          </a:p>
          <a:p>
            <a:pPr lvl="1"/>
            <a:r>
              <a:rPr lang="en-US" dirty="0"/>
              <a:t>It helps to </a:t>
            </a:r>
            <a:r>
              <a:rPr lang="en-US" b="1" dirty="0">
                <a:solidFill>
                  <a:schemeClr val="accent6"/>
                </a:solidFill>
              </a:rPr>
              <a:t>manage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files</a:t>
            </a:r>
            <a:r>
              <a:rPr lang="en-US" dirty="0"/>
              <a:t> on the system. </a:t>
            </a:r>
          </a:p>
          <a:p>
            <a:pPr lvl="1"/>
            <a:r>
              <a:rPr lang="en-US" dirty="0"/>
              <a:t>As we know, all the data on the system is in the form of files. It </a:t>
            </a:r>
            <a:r>
              <a:rPr lang="en-US" b="1" dirty="0">
                <a:solidFill>
                  <a:schemeClr val="accent6"/>
                </a:solidFill>
              </a:rPr>
              <a:t>makes interaction </a:t>
            </a:r>
            <a:r>
              <a:rPr lang="en-US" dirty="0"/>
              <a:t>with the files easy.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6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834C78-D4F1-A41C-C75E-92FDFF31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Features of Operating system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0BA2BD-7A03-6109-E5D2-4E9FDA065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/>
              <a:t>Provides Security </a:t>
            </a:r>
          </a:p>
          <a:p>
            <a:pPr lvl="1"/>
            <a:r>
              <a:rPr lang="en-US" dirty="0"/>
              <a:t>It keeps the system and applications safe through </a:t>
            </a:r>
            <a:r>
              <a:rPr lang="en-US" b="1" dirty="0">
                <a:solidFill>
                  <a:schemeClr val="accent6"/>
                </a:solidFill>
              </a:rPr>
              <a:t>authorization</a:t>
            </a:r>
            <a:r>
              <a:rPr lang="en-US" dirty="0"/>
              <a:t>. Thus, the OS provides security to the system.</a:t>
            </a:r>
          </a:p>
          <a:p>
            <a:r>
              <a:rPr lang="en-US" b="1" dirty="0"/>
              <a:t>Booting </a:t>
            </a:r>
          </a:p>
          <a:p>
            <a:pPr lvl="1"/>
            <a:r>
              <a:rPr lang="en-US" dirty="0"/>
              <a:t>Booting</a:t>
            </a:r>
            <a:r>
              <a:rPr lang="en-US" b="1" dirty="0"/>
              <a:t> </a:t>
            </a:r>
            <a:r>
              <a:rPr lang="en-US" dirty="0"/>
              <a:t>is basically the </a:t>
            </a:r>
            <a:r>
              <a:rPr lang="en-US" b="1" dirty="0">
                <a:solidFill>
                  <a:schemeClr val="accent6"/>
                </a:solidFill>
              </a:rPr>
              <a:t>process</a:t>
            </a:r>
            <a:r>
              <a:rPr lang="en-US" dirty="0"/>
              <a:t> of </a:t>
            </a:r>
            <a:r>
              <a:rPr lang="en-US" b="1" dirty="0">
                <a:solidFill>
                  <a:schemeClr val="accent6"/>
                </a:solidFill>
              </a:rPr>
              <a:t>starting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/>
                </a:solidFill>
              </a:rPr>
              <a:t>computer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When the CPU is first switched ON it has nothing inside the memory. So, to start the computer, we load the operating system into the main memory. </a:t>
            </a:r>
          </a:p>
          <a:p>
            <a:pPr lvl="1"/>
            <a:r>
              <a:rPr lang="en-US" dirty="0"/>
              <a:t>Therefore, loading the OS to the main memory to start the computer is booting. Hence, the OS helps to start the computer when the power is switched 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54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Types of Operating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18219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Types of Operating Systems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Multiprogramming </a:t>
            </a:r>
            <a:r>
              <a:rPr lang="en-US" dirty="0"/>
              <a:t>Operating System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Batch </a:t>
            </a:r>
            <a:r>
              <a:rPr lang="en-US" dirty="0"/>
              <a:t>Operating System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Time Sharing</a:t>
            </a:r>
            <a:r>
              <a:rPr lang="en-US" dirty="0"/>
              <a:t> Operating System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Single user</a:t>
            </a:r>
            <a:r>
              <a:rPr lang="en-US" dirty="0"/>
              <a:t> Operating System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Multiuser</a:t>
            </a:r>
            <a:r>
              <a:rPr lang="en-US" dirty="0"/>
              <a:t> Operating System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9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Batch Operating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4.1</a:t>
            </a:r>
          </a:p>
        </p:txBody>
      </p:sp>
    </p:spTree>
    <p:extLst>
      <p:ext uri="{BB962C8B-B14F-4D97-AF65-F5344CB8AC3E}">
        <p14:creationId xmlns:p14="http://schemas.microsoft.com/office/powerpoint/2010/main" val="3062812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past, computer were large machines. </a:t>
            </a:r>
          </a:p>
          <a:p>
            <a:r>
              <a:rPr lang="en-IN" b="1" dirty="0">
                <a:solidFill>
                  <a:schemeClr val="accent6"/>
                </a:solidFill>
              </a:rPr>
              <a:t>Input devices</a:t>
            </a:r>
            <a:r>
              <a:rPr lang="en-IN" dirty="0"/>
              <a:t>: Card readers, Tap drives</a:t>
            </a:r>
          </a:p>
          <a:p>
            <a:r>
              <a:rPr lang="en-IN" b="1" dirty="0">
                <a:solidFill>
                  <a:schemeClr val="accent6"/>
                </a:solidFill>
              </a:rPr>
              <a:t>Output devices</a:t>
            </a:r>
            <a:r>
              <a:rPr lang="en-IN" dirty="0"/>
              <a:t>: Line printers, Punch cards and Tap drives</a:t>
            </a:r>
          </a:p>
          <a:p>
            <a:pPr lvl="0"/>
            <a:r>
              <a:rPr lang="en-US" dirty="0"/>
              <a:t>The OS was very simple and always reside in main memory.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87" y="2975016"/>
            <a:ext cx="2612020" cy="17025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854911" y="5478848"/>
            <a:ext cx="221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Card Reader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641" y="3111965"/>
            <a:ext cx="2067409" cy="17025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3536253" y="5478848"/>
            <a:ext cx="221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Tap Drives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951" y="3288541"/>
            <a:ext cx="3449994" cy="17994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1" name="TextBox 10"/>
          <p:cNvSpPr txBox="1"/>
          <p:nvPr/>
        </p:nvSpPr>
        <p:spPr>
          <a:xfrm>
            <a:off x="6096000" y="5479444"/>
            <a:ext cx="221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Punch Card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945" y="3482489"/>
            <a:ext cx="2565520" cy="17025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3" name="TextBox 12"/>
          <p:cNvSpPr txBox="1"/>
          <p:nvPr/>
        </p:nvSpPr>
        <p:spPr>
          <a:xfrm>
            <a:off x="9242426" y="5479444"/>
            <a:ext cx="221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Line Printer</a:t>
            </a:r>
          </a:p>
        </p:txBody>
      </p:sp>
    </p:spTree>
    <p:extLst>
      <p:ext uri="{BB962C8B-B14F-4D97-AF65-F5344CB8AC3E}">
        <p14:creationId xmlns:p14="http://schemas.microsoft.com/office/powerpoint/2010/main" val="29475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Batch Operating System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4372" y="1033670"/>
            <a:ext cx="1573462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4373" y="2376554"/>
            <a:ext cx="1573462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7322" y="3719439"/>
            <a:ext cx="1550512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7322" y="5062324"/>
            <a:ext cx="1550511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5242" y="1074133"/>
            <a:ext cx="16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4842" y="2650435"/>
            <a:ext cx="1948069" cy="1069004"/>
          </a:xfrm>
          <a:prstGeom prst="rect">
            <a:avLst/>
          </a:prstGeom>
          <a:ln w="57150">
            <a:solidFill>
              <a:schemeClr val="bg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57335" y="2921338"/>
            <a:ext cx="21700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Operator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1016" y="1841113"/>
            <a:ext cx="1285461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70772" y="4175700"/>
            <a:ext cx="1285461" cy="516835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 w="38100">
                <a:solidFill>
                  <a:srgbClr val="212121"/>
                </a:solidFill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16543" y="1868697"/>
            <a:ext cx="135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922" y="4203284"/>
            <a:ext cx="135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Batch</a:t>
            </a:r>
          </a:p>
        </p:txBody>
      </p:sp>
      <p:sp>
        <p:nvSpPr>
          <p:cNvPr id="19" name="Frame 18"/>
          <p:cNvSpPr/>
          <p:nvPr/>
        </p:nvSpPr>
        <p:spPr>
          <a:xfrm>
            <a:off x="9229051" y="2531166"/>
            <a:ext cx="2478156" cy="1188274"/>
          </a:xfrm>
          <a:prstGeom prst="frame">
            <a:avLst/>
          </a:prstGeom>
          <a:solidFill>
            <a:schemeClr val="bg2">
              <a:lumMod val="95000"/>
            </a:schemeClr>
          </a:solidFill>
          <a:ln w="38100"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72998" y="2835027"/>
            <a:ext cx="1590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Computer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807833" y="1550505"/>
            <a:ext cx="1577009" cy="1241979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 rot="2285944">
            <a:off x="2195739" y="1817066"/>
            <a:ext cx="589161" cy="34333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 rot="2362224">
            <a:off x="2169395" y="1779107"/>
            <a:ext cx="59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807833" y="2650435"/>
            <a:ext cx="1577009" cy="41542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 rot="855459">
            <a:off x="2236739" y="2665897"/>
            <a:ext cx="719197" cy="31627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 rot="782004">
            <a:off x="2272132" y="2644296"/>
            <a:ext cx="59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1807833" y="3296692"/>
            <a:ext cx="1577009" cy="726273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 rot="20047551">
            <a:off x="2249576" y="3521604"/>
            <a:ext cx="696624" cy="332374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 rot="20125963">
            <a:off x="2275142" y="3511765"/>
            <a:ext cx="59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807833" y="3685316"/>
            <a:ext cx="1577009" cy="1635425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 rot="18908847">
            <a:off x="2215721" y="4484884"/>
            <a:ext cx="649526" cy="30393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 rot="18964578">
            <a:off x="2245155" y="4422648"/>
            <a:ext cx="59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596337" y="4692535"/>
            <a:ext cx="35018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Input Devices :Card Readers , Tap Drives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Programmer Prepared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Input Job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program, data and some control information.)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Submit to Operator.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9286" y="4721769"/>
            <a:ext cx="35018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Operator would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sort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them in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batches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with similar requirements, and as computer available, run them batch wise.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332911" y="2228244"/>
            <a:ext cx="1398105" cy="81847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16" idx="1"/>
          </p:cNvCxnSpPr>
          <p:nvPr/>
        </p:nvCxnSpPr>
        <p:spPr>
          <a:xfrm>
            <a:off x="5332911" y="3405906"/>
            <a:ext cx="1437861" cy="102821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9" idx="1"/>
          </p:cNvCxnSpPr>
          <p:nvPr/>
        </p:nvCxnSpPr>
        <p:spPr>
          <a:xfrm>
            <a:off x="8016476" y="2294551"/>
            <a:ext cx="1212575" cy="83075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8036355" y="3296692"/>
            <a:ext cx="1192695" cy="926927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 rot="19500933">
            <a:off x="5603465" y="2434997"/>
            <a:ext cx="852122" cy="415424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 rot="2117084">
            <a:off x="5663261" y="3772244"/>
            <a:ext cx="852122" cy="415424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 rot="19664916">
            <a:off x="5645609" y="2392653"/>
            <a:ext cx="87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 rot="2004939">
            <a:off x="5677175" y="3811398"/>
            <a:ext cx="87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Jobs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D6FA9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2821" y="2454916"/>
            <a:ext cx="1627777" cy="8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Programmer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597" y="3765679"/>
            <a:ext cx="16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Programmer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653" y="5120686"/>
            <a:ext cx="16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Programmer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2509" y="4028079"/>
            <a:ext cx="26267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Batches are processed through computer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At some later time (Hours/Days), output appeared. The output consist of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result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of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program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error information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3" grpId="0" animBg="1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39" grpId="0" animBg="1"/>
      <p:bldP spid="40" grpId="0"/>
      <p:bldP spid="44" grpId="0" animBg="1"/>
      <p:bldP spid="45" grpId="0"/>
      <p:bldP spid="48" grpId="0" animBg="1"/>
      <p:bldP spid="49" grpId="0"/>
      <p:bldP spid="52" grpId="0" animBg="1"/>
      <p:bldP spid="53" grpId="0"/>
      <p:bldP spid="54" grpId="0"/>
      <p:bldP spid="54" grpId="1"/>
      <p:bldP spid="33" grpId="0"/>
      <p:bldP spid="33" grpId="1"/>
      <p:bldP spid="35" grpId="0" animBg="1"/>
      <p:bldP spid="57" grpId="0" animBg="1"/>
      <p:bldP spid="37" grpId="0"/>
      <p:bldP spid="58" grpId="0"/>
      <p:bldP spid="46" grpId="0"/>
      <p:bldP spid="50" grpId="0"/>
      <p:bldP spid="55" grpId="0"/>
      <p:bldP spid="5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</a:t>
            </a:r>
            <a:r>
              <a:rPr lang="en-IN"/>
              <a:t>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  <a:p>
            <a:pPr lvl="1"/>
            <a:r>
              <a:rPr lang="en-IN" dirty="0"/>
              <a:t>Multiple users can </a:t>
            </a:r>
            <a:r>
              <a:rPr lang="en-IN" b="1" dirty="0">
                <a:solidFill>
                  <a:schemeClr val="accent6"/>
                </a:solidFill>
              </a:rPr>
              <a:t>share</a:t>
            </a:r>
            <a:r>
              <a:rPr lang="en-IN" dirty="0"/>
              <a:t> the batch systems.</a:t>
            </a:r>
          </a:p>
          <a:p>
            <a:pPr lvl="1"/>
            <a:r>
              <a:rPr lang="en-IN" dirty="0"/>
              <a:t>It is easy to </a:t>
            </a:r>
            <a:r>
              <a:rPr lang="en-IN" b="1" dirty="0">
                <a:solidFill>
                  <a:schemeClr val="accent6"/>
                </a:solidFill>
              </a:rPr>
              <a:t>manage large work repeatedly </a:t>
            </a:r>
            <a:r>
              <a:rPr lang="en-IN" dirty="0"/>
              <a:t>in batch systems.</a:t>
            </a:r>
          </a:p>
          <a:p>
            <a:pPr lvl="1"/>
            <a:endParaRPr lang="en-IN" dirty="0"/>
          </a:p>
          <a:p>
            <a:r>
              <a:rPr lang="en-IN" b="1" dirty="0"/>
              <a:t>Disadvantages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Low throughput</a:t>
            </a:r>
            <a:r>
              <a:rPr lang="en-IN" dirty="0"/>
              <a:t>- CPU remain idle when I/O is going on.</a:t>
            </a:r>
          </a:p>
          <a:p>
            <a:pPr lvl="1"/>
            <a:r>
              <a:rPr lang="en-IN" dirty="0"/>
              <a:t>Programmers </a:t>
            </a:r>
            <a:r>
              <a:rPr lang="en-IN" b="1" dirty="0">
                <a:solidFill>
                  <a:schemeClr val="accent6"/>
                </a:solidFill>
              </a:rPr>
              <a:t>do not have direct interaction </a:t>
            </a:r>
            <a:r>
              <a:rPr lang="en-IN" dirty="0"/>
              <a:t>with job.</a:t>
            </a:r>
          </a:p>
          <a:p>
            <a:pPr lvl="1"/>
            <a:r>
              <a:rPr lang="en-IN" dirty="0"/>
              <a:t>Debugging is possible only offline, after output appears.</a:t>
            </a:r>
          </a:p>
          <a:p>
            <a:pPr lvl="1"/>
            <a:r>
              <a:rPr lang="en-IN" dirty="0"/>
              <a:t>Operations were </a:t>
            </a:r>
            <a:r>
              <a:rPr lang="en-IN" b="1" dirty="0">
                <a:solidFill>
                  <a:schemeClr val="accent6"/>
                </a:solidFill>
              </a:rPr>
              <a:t>too much time consuming</a:t>
            </a:r>
            <a:r>
              <a:rPr lang="en-IN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81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Multiprogramming Operating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4.2</a:t>
            </a:r>
          </a:p>
        </p:txBody>
      </p:sp>
    </p:spTree>
    <p:extLst>
      <p:ext uri="{BB962C8B-B14F-4D97-AF65-F5344CB8AC3E}">
        <p14:creationId xmlns:p14="http://schemas.microsoft.com/office/powerpoint/2010/main" val="3999097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multiprogramming OS provides the </a:t>
            </a:r>
            <a:r>
              <a:rPr lang="en-IN" b="1" dirty="0">
                <a:solidFill>
                  <a:schemeClr val="accent6"/>
                </a:solidFill>
              </a:rPr>
              <a:t>ability to run more than one program concurrently</a:t>
            </a:r>
            <a:r>
              <a:rPr lang="en-IN" dirty="0"/>
              <a:t>.</a:t>
            </a:r>
          </a:p>
          <a:p>
            <a:r>
              <a:rPr lang="en-IN" dirty="0"/>
              <a:t>Here more than one program(or Job) can be loaded in </a:t>
            </a:r>
            <a:r>
              <a:rPr lang="en-IN" b="1" dirty="0">
                <a:solidFill>
                  <a:schemeClr val="accent6"/>
                </a:solidFill>
              </a:rPr>
              <a:t>main memory simultaneously</a:t>
            </a:r>
            <a:r>
              <a:rPr lang="en-IN" dirty="0"/>
              <a:t>.</a:t>
            </a:r>
          </a:p>
          <a:p>
            <a:r>
              <a:rPr lang="en-IN" dirty="0"/>
              <a:t>These programs can be executed concurrently.</a:t>
            </a:r>
          </a:p>
        </p:txBody>
      </p:sp>
      <p:sp>
        <p:nvSpPr>
          <p:cNvPr id="44" name="Oval 43"/>
          <p:cNvSpPr/>
          <p:nvPr/>
        </p:nvSpPr>
        <p:spPr>
          <a:xfrm>
            <a:off x="8446576" y="2635053"/>
            <a:ext cx="2459066" cy="795751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443994" y="3831078"/>
            <a:ext cx="2464231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8446576" y="4322052"/>
            <a:ext cx="2459066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8443994" y="4814786"/>
            <a:ext cx="2461648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/>
          <p:cNvCxnSpPr>
            <a:stCxn id="44" idx="2"/>
          </p:cNvCxnSpPr>
          <p:nvPr/>
        </p:nvCxnSpPr>
        <p:spPr>
          <a:xfrm>
            <a:off x="8446576" y="3032929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905642" y="3031811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142660" y="5281970"/>
            <a:ext cx="3146155" cy="11453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/>
          <p:cNvSpPr txBox="1"/>
          <p:nvPr/>
        </p:nvSpPr>
        <p:spPr>
          <a:xfrm>
            <a:off x="4680488" y="5656881"/>
            <a:ext cx="206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926" y="2490105"/>
            <a:ext cx="1976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Main Memory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3994" y="2077412"/>
            <a:ext cx="270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Secondary 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19033" y="3047775"/>
            <a:ext cx="261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Job 1 ‘s Execution is in Progress  in CPU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08529" y="5517397"/>
            <a:ext cx="883959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Job 1</a:t>
            </a:r>
          </a:p>
        </p:txBody>
      </p:sp>
      <p:cxnSp>
        <p:nvCxnSpPr>
          <p:cNvPr id="82" name="Elbow Connector 81"/>
          <p:cNvCxnSpPr/>
          <p:nvPr/>
        </p:nvCxnSpPr>
        <p:spPr>
          <a:xfrm>
            <a:off x="3052413" y="4045875"/>
            <a:ext cx="12700" cy="552354"/>
          </a:xfrm>
          <a:prstGeom prst="bentConnector3">
            <a:avLst>
              <a:gd name="adj1" fmla="val 3630504"/>
            </a:avLst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661559" y="5677994"/>
            <a:ext cx="131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Both are in </a:t>
            </a:r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Wait state </a:t>
            </a:r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3376323" y="4609306"/>
            <a:ext cx="0" cy="9750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402" y="3113184"/>
          <a:ext cx="2803471" cy="2417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Operating</a:t>
                      </a:r>
                      <a:r>
                        <a:rPr lang="en-IN" b="1" baseline="0" dirty="0"/>
                        <a:t> System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060054" y="3687968"/>
            <a:ext cx="16204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80488" y="3687968"/>
            <a:ext cx="0" cy="17812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26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52" grpId="0" animBg="1"/>
      <p:bldP spid="53" grpId="0"/>
      <p:bldP spid="54" grpId="0"/>
      <p:bldP spid="55" grpId="0"/>
      <p:bldP spid="61" grpId="0"/>
      <p:bldP spid="65" grpId="0" animBg="1"/>
      <p:bldP spid="9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multiprogramming OS provides the </a:t>
            </a:r>
            <a:r>
              <a:rPr lang="en-IN" b="1" dirty="0">
                <a:solidFill>
                  <a:schemeClr val="accent6"/>
                </a:solidFill>
              </a:rPr>
              <a:t>ability to run more than one program concurrently</a:t>
            </a:r>
            <a:r>
              <a:rPr lang="en-IN" dirty="0"/>
              <a:t>.</a:t>
            </a:r>
          </a:p>
          <a:p>
            <a:r>
              <a:rPr lang="en-IN" dirty="0"/>
              <a:t>Here more than one program(or Job) can be loaded in </a:t>
            </a:r>
            <a:r>
              <a:rPr lang="en-IN" b="1" dirty="0">
                <a:solidFill>
                  <a:schemeClr val="accent6"/>
                </a:solidFill>
              </a:rPr>
              <a:t>main memory simultaneously</a:t>
            </a:r>
            <a:r>
              <a:rPr lang="en-IN" dirty="0"/>
              <a:t>.</a:t>
            </a:r>
          </a:p>
          <a:p>
            <a:r>
              <a:rPr lang="en-IN" dirty="0"/>
              <a:t>These programs can be executed concurrently.</a:t>
            </a:r>
          </a:p>
        </p:txBody>
      </p:sp>
      <p:sp>
        <p:nvSpPr>
          <p:cNvPr id="44" name="Oval 43"/>
          <p:cNvSpPr/>
          <p:nvPr/>
        </p:nvSpPr>
        <p:spPr>
          <a:xfrm>
            <a:off x="8446576" y="2635053"/>
            <a:ext cx="2459066" cy="795751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443994" y="3831078"/>
            <a:ext cx="2464231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8446576" y="4322052"/>
            <a:ext cx="2459066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8443994" y="4814786"/>
            <a:ext cx="2461648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/>
          <p:cNvCxnSpPr>
            <a:stCxn id="44" idx="2"/>
          </p:cNvCxnSpPr>
          <p:nvPr/>
        </p:nvCxnSpPr>
        <p:spPr>
          <a:xfrm>
            <a:off x="8446576" y="3032929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905642" y="3031811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142660" y="5281970"/>
            <a:ext cx="3146155" cy="11453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/>
          <p:cNvSpPr txBox="1"/>
          <p:nvPr/>
        </p:nvSpPr>
        <p:spPr>
          <a:xfrm>
            <a:off x="4680488" y="5656881"/>
            <a:ext cx="206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926" y="2490105"/>
            <a:ext cx="1976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Main Memory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3994" y="2077412"/>
            <a:ext cx="270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Secondary Storage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08529" y="5517397"/>
            <a:ext cx="883959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Job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9750" y="3645130"/>
            <a:ext cx="299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When Execution is Completed </a:t>
            </a:r>
          </a:p>
        </p:txBody>
      </p:sp>
      <p:cxnSp>
        <p:nvCxnSpPr>
          <p:cNvPr id="82" name="Elbow Connector 81"/>
          <p:cNvCxnSpPr/>
          <p:nvPr/>
        </p:nvCxnSpPr>
        <p:spPr>
          <a:xfrm>
            <a:off x="3052413" y="4045875"/>
            <a:ext cx="12700" cy="552354"/>
          </a:xfrm>
          <a:prstGeom prst="bentConnector3">
            <a:avLst>
              <a:gd name="adj1" fmla="val 3630504"/>
            </a:avLst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661559" y="5677994"/>
            <a:ext cx="131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Both are in </a:t>
            </a:r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Wait state </a:t>
            </a:r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3376323" y="4609306"/>
            <a:ext cx="0" cy="9750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402" y="3113184"/>
          <a:ext cx="2803471" cy="2417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Operating</a:t>
                      </a:r>
                      <a:r>
                        <a:rPr lang="en-IN" b="1" baseline="0" dirty="0"/>
                        <a:t> System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060054" y="3687968"/>
            <a:ext cx="16204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80488" y="3687968"/>
            <a:ext cx="0" cy="17812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229797" y="3894971"/>
            <a:ext cx="883959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Job 1</a:t>
            </a:r>
          </a:p>
        </p:txBody>
      </p:sp>
    </p:spTree>
    <p:extLst>
      <p:ext uri="{BB962C8B-B14F-4D97-AF65-F5344CB8AC3E}">
        <p14:creationId xmlns:p14="http://schemas.microsoft.com/office/powerpoint/2010/main" val="362103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70" grpId="0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multiprogramming OS provides the </a:t>
            </a:r>
            <a:r>
              <a:rPr lang="en-IN" b="1" dirty="0">
                <a:solidFill>
                  <a:schemeClr val="accent6"/>
                </a:solidFill>
              </a:rPr>
              <a:t>ability to run more than one program concurrently</a:t>
            </a:r>
            <a:r>
              <a:rPr lang="en-IN" dirty="0"/>
              <a:t>.</a:t>
            </a:r>
          </a:p>
          <a:p>
            <a:r>
              <a:rPr lang="en-IN" dirty="0"/>
              <a:t>Here more than one program(or Job) can be loaded in </a:t>
            </a:r>
            <a:r>
              <a:rPr lang="en-IN" b="1" dirty="0">
                <a:solidFill>
                  <a:schemeClr val="accent6"/>
                </a:solidFill>
              </a:rPr>
              <a:t>main memory simultaneously</a:t>
            </a:r>
            <a:r>
              <a:rPr lang="en-IN" dirty="0"/>
              <a:t>.</a:t>
            </a:r>
          </a:p>
          <a:p>
            <a:r>
              <a:rPr lang="en-IN" dirty="0"/>
              <a:t>These programs can be executed concurrently.</a:t>
            </a:r>
          </a:p>
        </p:txBody>
      </p:sp>
      <p:sp>
        <p:nvSpPr>
          <p:cNvPr id="44" name="Oval 43"/>
          <p:cNvSpPr/>
          <p:nvPr/>
        </p:nvSpPr>
        <p:spPr>
          <a:xfrm>
            <a:off x="8446576" y="2635053"/>
            <a:ext cx="2459066" cy="795751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443994" y="3831078"/>
            <a:ext cx="2464231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8446576" y="4322052"/>
            <a:ext cx="2459066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8443994" y="4814786"/>
            <a:ext cx="2461648" cy="493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/>
          <p:cNvCxnSpPr>
            <a:stCxn id="44" idx="2"/>
          </p:cNvCxnSpPr>
          <p:nvPr/>
        </p:nvCxnSpPr>
        <p:spPr>
          <a:xfrm>
            <a:off x="8446576" y="3032929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905642" y="3031811"/>
            <a:ext cx="0" cy="797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142660" y="5281970"/>
            <a:ext cx="3146155" cy="11453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/>
          <p:cNvSpPr txBox="1"/>
          <p:nvPr/>
        </p:nvSpPr>
        <p:spPr>
          <a:xfrm>
            <a:off x="4680488" y="5656881"/>
            <a:ext cx="206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926" y="2490105"/>
            <a:ext cx="1976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Main Memory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3994" y="2077412"/>
            <a:ext cx="270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Secondary Storage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74260" y="3876598"/>
            <a:ext cx="883959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Job 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838246" y="3968963"/>
            <a:ext cx="2608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Job 1 goes to write o/p data in secondary storage </a:t>
            </a:r>
          </a:p>
          <a:p>
            <a:endParaRPr lang="en-IN" dirty="0"/>
          </a:p>
        </p:txBody>
      </p:sp>
      <p:sp>
        <p:nvSpPr>
          <p:cNvPr id="127" name="TextBox 126"/>
          <p:cNvSpPr txBox="1"/>
          <p:nvPr/>
        </p:nvSpPr>
        <p:spPr>
          <a:xfrm>
            <a:off x="3102795" y="3031811"/>
            <a:ext cx="2608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At the same time Job 2’s Execution is in Progress in CPU </a:t>
            </a:r>
          </a:p>
          <a:p>
            <a:endParaRPr lang="en-IN" dirty="0"/>
          </a:p>
        </p:txBody>
      </p:sp>
      <p:cxnSp>
        <p:nvCxnSpPr>
          <p:cNvPr id="129" name="Straight Connector 128"/>
          <p:cNvCxnSpPr/>
          <p:nvPr/>
        </p:nvCxnSpPr>
        <p:spPr>
          <a:xfrm>
            <a:off x="3060054" y="4135885"/>
            <a:ext cx="1387174" cy="1226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>
            <a:off x="4447228" y="4149032"/>
            <a:ext cx="0" cy="13202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238508" y="5495030"/>
            <a:ext cx="883959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Job 2</a:t>
            </a:r>
          </a:p>
        </p:txBody>
      </p:sp>
      <p:cxnSp>
        <p:nvCxnSpPr>
          <p:cNvPr id="135" name="Straight Arrow Connector 134"/>
          <p:cNvCxnSpPr/>
          <p:nvPr/>
        </p:nvCxnSpPr>
        <p:spPr>
          <a:xfrm>
            <a:off x="3642786" y="4589931"/>
            <a:ext cx="14515" cy="9640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865618" y="5531479"/>
            <a:ext cx="131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Job 3 is in </a:t>
            </a:r>
          </a:p>
          <a:p>
            <a:pPr algn="ctr"/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Wait state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402" y="3113184"/>
          <a:ext cx="2803471" cy="2417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Operating</a:t>
                      </a:r>
                      <a:r>
                        <a:rPr lang="en-IN" b="1" baseline="0" dirty="0"/>
                        <a:t> System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9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065113" y="4569027"/>
            <a:ext cx="581416" cy="95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96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25" grpId="0"/>
      <p:bldP spid="127" grpId="0"/>
      <p:bldP spid="133" grpId="0" animBg="1"/>
      <p:bldP spid="1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Multiprogramming OS works in </a:t>
            </a:r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non-preemptive way</a:t>
            </a:r>
            <a:r>
              <a:rPr lang="en-US" dirty="0"/>
              <a:t>, any other process which enters the queue has to wait until the current process finishes its CPU cycle. </a:t>
            </a:r>
          </a:p>
          <a:p>
            <a:r>
              <a:rPr lang="en-IN" dirty="0"/>
              <a:t>Program is allowed to execute until it </a:t>
            </a:r>
            <a:r>
              <a:rPr lang="en-IN" b="1" dirty="0">
                <a:solidFill>
                  <a:schemeClr val="accent6"/>
                </a:solidFill>
              </a:rPr>
              <a:t>voluntarily gives up </a:t>
            </a:r>
            <a:r>
              <a:rPr lang="en-IN" dirty="0"/>
              <a:t>the CPU.</a:t>
            </a:r>
          </a:p>
          <a:p>
            <a:r>
              <a:rPr lang="en-IN" dirty="0"/>
              <a:t>A program voluntarily gives up the CPU in following two conditions</a:t>
            </a:r>
          </a:p>
          <a:p>
            <a:pPr lvl="1"/>
            <a:r>
              <a:rPr lang="en-IN" dirty="0"/>
              <a:t>It waits for some events like I/O operations, Memory read/write, etc.</a:t>
            </a:r>
          </a:p>
          <a:p>
            <a:pPr lvl="1"/>
            <a:r>
              <a:rPr lang="en-IN" dirty="0"/>
              <a:t>It terminates after successful completion.</a:t>
            </a:r>
          </a:p>
          <a:p>
            <a:r>
              <a:rPr lang="en-IN" dirty="0"/>
              <a:t>Once CPU becomes free, It can be allocated to some other programme.</a:t>
            </a:r>
          </a:p>
          <a:p>
            <a:r>
              <a:rPr lang="en-IN" dirty="0"/>
              <a:t>Objective of multiprogramming OS : </a:t>
            </a:r>
            <a:r>
              <a:rPr lang="en-IN" b="1" dirty="0">
                <a:solidFill>
                  <a:schemeClr val="accent6"/>
                </a:solidFill>
              </a:rPr>
              <a:t>Maximize CPU usage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175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588000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lnSpc>
                <a:spcPct val="120000"/>
              </a:lnSpc>
            </a:pPr>
            <a:r>
              <a:rPr lang="en-US" sz="3200" b="1" dirty="0"/>
              <a:t>Example of Multiprogramming with three programs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At a time when CPU has been allocated to Program A, So now </a:t>
            </a:r>
            <a:r>
              <a:rPr lang="en-US" b="1" dirty="0">
                <a:solidFill>
                  <a:srgbClr val="92D050"/>
                </a:solidFill>
              </a:rPr>
              <a:t>Program A is executing</a:t>
            </a:r>
            <a:r>
              <a:rPr lang="en-US" dirty="0"/>
              <a:t>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At the same time </a:t>
            </a:r>
            <a:r>
              <a:rPr lang="en-US" b="1" dirty="0">
                <a:solidFill>
                  <a:srgbClr val="FF0000"/>
                </a:solidFill>
              </a:rPr>
              <a:t>Program B and Program C is in Waiting state</a:t>
            </a:r>
            <a:r>
              <a:rPr lang="en-US" b="1" dirty="0"/>
              <a:t>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Now Program A requires some I/O operation so it will go to secondary memory.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At that time CPU has been allocated to </a:t>
            </a:r>
            <a:r>
              <a:rPr lang="en-US" b="1" dirty="0">
                <a:solidFill>
                  <a:srgbClr val="92D050"/>
                </a:solidFill>
              </a:rPr>
              <a:t>Program B which was ready to execute next.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At the same time </a:t>
            </a:r>
            <a:r>
              <a:rPr lang="en-US" b="1" dirty="0">
                <a:solidFill>
                  <a:srgbClr val="FF0000"/>
                </a:solidFill>
              </a:rPr>
              <a:t>Program A and Program C is in Waiting state</a:t>
            </a:r>
            <a:r>
              <a:rPr lang="en-US" b="1" dirty="0"/>
              <a:t>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Like wise once CPU become free, it can be allocated to another program which is ready to execute next.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sz="3200" b="1" dirty="0"/>
              <a:t> </a:t>
            </a:r>
          </a:p>
          <a:p>
            <a:pPr algn="l">
              <a:lnSpc>
                <a:spcPct val="120000"/>
              </a:lnSpc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88160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 A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2082" y="1481685"/>
            <a:ext cx="4680487" cy="309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-18080" y="2573421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3585" y="3890767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673" y="5097039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Combined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190790" y="2911755"/>
            <a:ext cx="4680487" cy="309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90789" y="4118749"/>
            <a:ext cx="4680487" cy="309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90788" y="5387674"/>
            <a:ext cx="4680487" cy="309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93364" y="1072668"/>
            <a:ext cx="805912" cy="40011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5365" y="4850969"/>
            <a:ext cx="371957" cy="488996"/>
          </a:xfrm>
          <a:prstGeom prst="rect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865" y="2450472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781" y="3734133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10714" y="4866467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6063" y="4866467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68" y="2402932"/>
            <a:ext cx="805912" cy="40011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3812" y="4864776"/>
            <a:ext cx="371957" cy="488996"/>
          </a:xfrm>
          <a:prstGeom prst="rect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0480" y="4874824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9149" y="4862052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8164" y="1022045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2667" y="3672254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0461" y="3640201"/>
            <a:ext cx="805912" cy="40011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5956" y="2367813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0208" y="1033866"/>
            <a:ext cx="805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4145" y="4874824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568" y="4881727"/>
            <a:ext cx="371957" cy="488996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9367" y="4876607"/>
            <a:ext cx="371957" cy="488996"/>
          </a:xfrm>
          <a:prstGeom prst="rect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0476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6" grpId="0" animBg="1"/>
      <p:bldP spid="16" grpId="1" animBg="1"/>
      <p:bldP spid="16" grpId="2" animBg="1"/>
      <p:bldP spid="17" grpId="0" animBg="1"/>
      <p:bldP spid="17" grpId="1" animBg="1"/>
      <p:bldP spid="18" grpId="0"/>
      <p:bldP spid="18" grpId="1"/>
      <p:bldP spid="19" grpId="0"/>
      <p:bldP spid="19" grpId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  <p:bldP spid="26" grpId="1"/>
      <p:bldP spid="27" grpId="0"/>
      <p:bldP spid="27" grpId="1"/>
      <p:bldP spid="28" grpId="0" animBg="1"/>
      <p:bldP spid="28" grpId="1" animBg="1"/>
      <p:bldP spid="29" grpId="0"/>
      <p:bldP spid="30" grpId="0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 </a:t>
            </a:r>
          </a:p>
          <a:p>
            <a:pPr lvl="1"/>
            <a:r>
              <a:rPr lang="en-IN" dirty="0"/>
              <a:t>Multiprogramming significantly </a:t>
            </a:r>
            <a:r>
              <a:rPr lang="en-IN" b="1" dirty="0">
                <a:solidFill>
                  <a:schemeClr val="accent6"/>
                </a:solidFill>
              </a:rPr>
              <a:t>improves system throughput and resource utilization.</a:t>
            </a:r>
          </a:p>
          <a:p>
            <a:pPr lvl="1"/>
            <a:r>
              <a:rPr lang="en-IN" dirty="0"/>
              <a:t>Various resource such as CPU, can be utilized as much as possible among various simultaneously executing programs.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r>
              <a:rPr lang="en-IN" b="1" dirty="0"/>
              <a:t>Disadvantages</a:t>
            </a:r>
          </a:p>
          <a:p>
            <a:pPr lvl="1"/>
            <a:r>
              <a:rPr lang="en-IN" dirty="0"/>
              <a:t>Hardware and OS become significantly more complex for handling and scheduling multiple jobs.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Large memory </a:t>
            </a:r>
            <a:r>
              <a:rPr lang="en-IN" dirty="0"/>
              <a:t>needed.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19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Time-Sharing Operating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4.3</a:t>
            </a:r>
          </a:p>
        </p:txBody>
      </p:sp>
    </p:spTree>
    <p:extLst>
      <p:ext uri="{BB962C8B-B14F-4D97-AF65-F5344CB8AC3E}">
        <p14:creationId xmlns:p14="http://schemas.microsoft.com/office/powerpoint/2010/main" val="1199597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Sharing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 Sharing OS is a </a:t>
            </a:r>
            <a:r>
              <a:rPr lang="en-IN" b="1" dirty="0">
                <a:solidFill>
                  <a:schemeClr val="accent6"/>
                </a:solidFill>
              </a:rPr>
              <a:t>logical extension</a:t>
            </a:r>
            <a:r>
              <a:rPr lang="en-IN" dirty="0">
                <a:solidFill>
                  <a:schemeClr val="accent6"/>
                </a:solidFill>
              </a:rPr>
              <a:t> </a:t>
            </a:r>
            <a:r>
              <a:rPr lang="en-IN" dirty="0"/>
              <a:t>of the Multiprogramming OS.</a:t>
            </a:r>
          </a:p>
          <a:p>
            <a:r>
              <a:rPr lang="en-US" dirty="0"/>
              <a:t>The CPU shares its time between different programs stored in the main memory.</a:t>
            </a:r>
          </a:p>
          <a:p>
            <a:r>
              <a:rPr lang="en-IN" dirty="0"/>
              <a:t>It works in </a:t>
            </a:r>
            <a:r>
              <a:rPr lang="en-IN" b="1" dirty="0" err="1">
                <a:solidFill>
                  <a:schemeClr val="accent6"/>
                </a:solidFill>
              </a:rPr>
              <a:t>Preemptive</a:t>
            </a:r>
            <a:r>
              <a:rPr lang="en-IN" dirty="0"/>
              <a:t> manner.</a:t>
            </a:r>
          </a:p>
          <a:p>
            <a:pPr lvl="1"/>
            <a:r>
              <a:rPr lang="en-IN" dirty="0"/>
              <a:t>A program is allowed to execute only for some </a:t>
            </a:r>
            <a:r>
              <a:rPr lang="en-IN" b="1" dirty="0">
                <a:solidFill>
                  <a:schemeClr val="accent6"/>
                </a:solidFill>
              </a:rPr>
              <a:t>maximum time duration</a:t>
            </a:r>
            <a:r>
              <a:rPr lang="en-IN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IN" dirty="0"/>
              <a:t>After this, CPU is </a:t>
            </a:r>
            <a:r>
              <a:rPr lang="en-IN" b="1" dirty="0">
                <a:solidFill>
                  <a:schemeClr val="accent6"/>
                </a:solidFill>
              </a:rPr>
              <a:t>forcibly</a:t>
            </a:r>
            <a:r>
              <a:rPr lang="en-IN" dirty="0"/>
              <a:t> taken away from that program and allocated to another program.</a:t>
            </a:r>
          </a:p>
          <a:p>
            <a:r>
              <a:rPr lang="en-IN" dirty="0"/>
              <a:t>Smaller programs need not to wait for other large program to finish its execution.</a:t>
            </a:r>
          </a:p>
          <a:p>
            <a:r>
              <a:rPr lang="en-IN" dirty="0"/>
              <a:t>So it minimize the </a:t>
            </a:r>
            <a:r>
              <a:rPr lang="en-IN" b="1" dirty="0">
                <a:solidFill>
                  <a:schemeClr val="accent6"/>
                </a:solidFill>
              </a:rPr>
              <a:t>response time for user</a:t>
            </a:r>
            <a:r>
              <a:rPr lang="en-IN" dirty="0">
                <a:solidFill>
                  <a:schemeClr val="accent6"/>
                </a:solidFill>
              </a:rPr>
              <a:t>.</a:t>
            </a:r>
          </a:p>
          <a:p>
            <a:r>
              <a:rPr lang="en-IN" dirty="0"/>
              <a:t>Suitable for interactive programs in which user can directly interact with program.</a:t>
            </a:r>
          </a:p>
          <a:p>
            <a:r>
              <a:rPr lang="en-IN" dirty="0"/>
              <a:t>Such type of system also referred as </a:t>
            </a:r>
            <a:r>
              <a:rPr lang="en-IN" b="1" dirty="0">
                <a:solidFill>
                  <a:schemeClr val="accent6"/>
                </a:solidFill>
              </a:rPr>
              <a:t>multitasking</a:t>
            </a:r>
            <a:r>
              <a:rPr lang="en-IN" dirty="0"/>
              <a:t> system.</a:t>
            </a:r>
          </a:p>
          <a:p>
            <a:r>
              <a:rPr lang="en-IN" dirty="0"/>
              <a:t>User can perform more than one task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15243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BEB0-81DA-EE14-E83D-764FFAFA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97C1-3684-DD8F-C53C-BBA82CF0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Sharing Operating System: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Example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B8BE-89FB-901F-2638-0F877DCAF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48"/>
            <a:ext cx="11929641" cy="5590565"/>
          </a:xfrm>
        </p:spPr>
        <p:txBody>
          <a:bodyPr/>
          <a:lstStyle/>
          <a:p>
            <a:r>
              <a:rPr lang="en-IN" dirty="0"/>
              <a:t>User can execute program like </a:t>
            </a:r>
            <a:r>
              <a:rPr lang="en-IN" b="1" dirty="0">
                <a:solidFill>
                  <a:schemeClr val="accent6"/>
                </a:solidFill>
              </a:rPr>
              <a:t>MS-Word</a:t>
            </a:r>
            <a:r>
              <a:rPr lang="en-IN" dirty="0"/>
              <a:t> to prepare document as well as can run other program like </a:t>
            </a:r>
            <a:r>
              <a:rPr lang="en-IN" b="1" dirty="0" err="1">
                <a:solidFill>
                  <a:schemeClr val="accent6"/>
                </a:solidFill>
              </a:rPr>
              <a:t>php</a:t>
            </a:r>
            <a:r>
              <a:rPr lang="en-IN" dirty="0"/>
              <a:t>, </a:t>
            </a:r>
            <a:r>
              <a:rPr lang="en-IN" b="1" dirty="0">
                <a:solidFill>
                  <a:schemeClr val="accent6"/>
                </a:solidFill>
              </a:rPr>
              <a:t>C++ </a:t>
            </a:r>
            <a:r>
              <a:rPr lang="en-IN" dirty="0"/>
              <a:t>and windows </a:t>
            </a:r>
            <a:r>
              <a:rPr lang="en-IN" b="1" dirty="0">
                <a:solidFill>
                  <a:schemeClr val="accent6"/>
                </a:solidFill>
              </a:rPr>
              <a:t>media player </a:t>
            </a:r>
            <a:r>
              <a:rPr lang="en-IN" dirty="0"/>
              <a:t>to play a song.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9DCE10-0FDE-FD9D-D656-1CEB3A77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29" y="1659294"/>
            <a:ext cx="4489580" cy="44895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914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588000"/>
          </a:xfrm>
          <a:prstGeom prst="rect">
            <a:avLst/>
          </a:prstGeom>
          <a:solidFill>
            <a:srgbClr val="4B30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lnSpc>
                <a:spcPct val="120000"/>
              </a:lnSpc>
            </a:pPr>
            <a:r>
              <a:rPr lang="en-US" sz="3000" b="1" dirty="0"/>
              <a:t>Example of Time-Sharing Operating System</a:t>
            </a:r>
            <a:endParaRPr lang="en-IN" sz="3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FFFF00"/>
                </a:solidFill>
              </a:rPr>
              <a:t>More than one processes</a:t>
            </a:r>
            <a:r>
              <a:rPr lang="en-IN" sz="2400" dirty="0"/>
              <a:t> are being executed at a particular time with the help of the time-sharing concept.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In this example there are total 4 process are being executed.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When the process starts its execution then the execution continues for only that amount of time.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After that, other processes will be given chance for that amount of time only.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This process will </a:t>
            </a:r>
            <a:r>
              <a:rPr lang="en-IN" sz="2400" b="1" dirty="0">
                <a:solidFill>
                  <a:srgbClr val="FFFF00"/>
                </a:solidFill>
              </a:rPr>
              <a:t>continue.</a:t>
            </a:r>
            <a:r>
              <a:rPr lang="en-IN" sz="2400" dirty="0"/>
              <a:t> </a:t>
            </a:r>
          </a:p>
          <a:p>
            <a:pPr>
              <a:lnSpc>
                <a:spcPct val="120000"/>
              </a:lnSpc>
            </a:pP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1420968" y="1849302"/>
            <a:ext cx="2889394" cy="2889395"/>
          </a:xfrm>
          <a:prstGeom prst="ellips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2352388" y="3083303"/>
            <a:ext cx="1026553" cy="421392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2352388" y="3135363"/>
            <a:ext cx="1026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CPU</a:t>
            </a:r>
          </a:p>
        </p:txBody>
      </p:sp>
      <p:cxnSp>
        <p:nvCxnSpPr>
          <p:cNvPr id="24" name="Straight Connector 23"/>
          <p:cNvCxnSpPr>
            <a:stCxn id="20" idx="3"/>
          </p:cNvCxnSpPr>
          <p:nvPr/>
        </p:nvCxnSpPr>
        <p:spPr>
          <a:xfrm flipV="1">
            <a:off x="1844110" y="3504696"/>
            <a:ext cx="508278" cy="81085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375609" y="2246749"/>
            <a:ext cx="508278" cy="826823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0" idx="1"/>
          </p:cNvCxnSpPr>
          <p:nvPr/>
        </p:nvCxnSpPr>
        <p:spPr>
          <a:xfrm>
            <a:off x="1844110" y="2272444"/>
            <a:ext cx="508278" cy="813761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0" idx="5"/>
          </p:cNvCxnSpPr>
          <p:nvPr/>
        </p:nvCxnSpPr>
        <p:spPr>
          <a:xfrm flipH="1" flipV="1">
            <a:off x="3375609" y="3480416"/>
            <a:ext cx="511611" cy="83513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48614" y="5344732"/>
            <a:ext cx="1468192" cy="476518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335428" y="5397737"/>
            <a:ext cx="146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Process 1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1082710" y="4316360"/>
            <a:ext cx="761400" cy="1028372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593304" y="4067206"/>
            <a:ext cx="523569" cy="55136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/>
          <p:cNvCxnSpPr/>
          <p:nvPr/>
        </p:nvCxnSpPr>
        <p:spPr>
          <a:xfrm>
            <a:off x="1249251" y="1339663"/>
            <a:ext cx="594859" cy="931504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593303" y="2020063"/>
            <a:ext cx="523569" cy="55136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375918" y="836643"/>
            <a:ext cx="1468192" cy="476518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375919" y="887074"/>
            <a:ext cx="142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Process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99643" y="836643"/>
            <a:ext cx="1468192" cy="476518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3865588" y="1313161"/>
            <a:ext cx="616491" cy="915363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592826" y="2045125"/>
            <a:ext cx="523569" cy="5012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/>
          <p:cNvSpPr txBox="1"/>
          <p:nvPr/>
        </p:nvSpPr>
        <p:spPr>
          <a:xfrm>
            <a:off x="4199643" y="887074"/>
            <a:ext cx="145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Process 3</a:t>
            </a:r>
          </a:p>
          <a:p>
            <a:pPr algn="ctr"/>
            <a:endParaRPr lang="en-IN" b="1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3884049" y="4315555"/>
            <a:ext cx="598030" cy="959283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199643" y="5290551"/>
            <a:ext cx="1468192" cy="476518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/>
          <p:cNvSpPr/>
          <p:nvPr/>
        </p:nvSpPr>
        <p:spPr>
          <a:xfrm>
            <a:off x="3640726" y="4067206"/>
            <a:ext cx="523569" cy="55136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/>
          <p:cNvSpPr txBox="1"/>
          <p:nvPr/>
        </p:nvSpPr>
        <p:spPr>
          <a:xfrm>
            <a:off x="4226947" y="5344732"/>
            <a:ext cx="14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Process  4</a:t>
            </a:r>
          </a:p>
        </p:txBody>
      </p:sp>
    </p:spTree>
    <p:extLst>
      <p:ext uri="{BB962C8B-B14F-4D97-AF65-F5344CB8AC3E}">
        <p14:creationId xmlns:p14="http://schemas.microsoft.com/office/powerpoint/2010/main" val="152634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35" grpId="0" animBg="1"/>
      <p:bldP spid="36" grpId="0"/>
      <p:bldP spid="39" grpId="0" animBg="1"/>
      <p:bldP spid="39" grpId="1" animBg="1"/>
      <p:bldP spid="43" grpId="0" animBg="1"/>
      <p:bldP spid="43" grpId="1" animBg="1"/>
      <p:bldP spid="44" grpId="0" animBg="1"/>
      <p:bldP spid="45" grpId="0"/>
      <p:bldP spid="49" grpId="0" animBg="1"/>
      <p:bldP spid="52" grpId="0" animBg="1"/>
      <p:bldP spid="52" grpId="1" animBg="1"/>
      <p:bldP spid="53" grpId="0"/>
      <p:bldP spid="56" grpId="0" animBg="1"/>
      <p:bldP spid="58" grpId="0" animBg="1"/>
      <p:bldP spid="5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Sharing </a:t>
            </a:r>
            <a:r>
              <a:rPr lang="en-US"/>
              <a:t>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  <a:p>
            <a:pPr lvl="1"/>
            <a:r>
              <a:rPr lang="en-IN" dirty="0"/>
              <a:t>Improvement in </a:t>
            </a:r>
            <a:r>
              <a:rPr lang="en-IN" b="1" dirty="0">
                <a:solidFill>
                  <a:schemeClr val="accent6"/>
                </a:solidFill>
              </a:rPr>
              <a:t>system throughput </a:t>
            </a:r>
            <a:r>
              <a:rPr lang="en-IN" dirty="0"/>
              <a:t>and </a:t>
            </a:r>
            <a:r>
              <a:rPr lang="en-IN" b="1" dirty="0">
                <a:solidFill>
                  <a:schemeClr val="accent6"/>
                </a:solidFill>
              </a:rPr>
              <a:t>resource utilization.</a:t>
            </a:r>
          </a:p>
          <a:p>
            <a:pPr lvl="1"/>
            <a:r>
              <a:rPr lang="en-IN" dirty="0"/>
              <a:t>Allows </a:t>
            </a:r>
            <a:r>
              <a:rPr lang="en-IN" b="1" dirty="0">
                <a:solidFill>
                  <a:schemeClr val="accent6"/>
                </a:solidFill>
              </a:rPr>
              <a:t>sharing </a:t>
            </a:r>
            <a:r>
              <a:rPr lang="en-IN" dirty="0"/>
              <a:t>of computer among multiple users simultaneously.</a:t>
            </a:r>
          </a:p>
          <a:p>
            <a:pPr lvl="1"/>
            <a:r>
              <a:rPr lang="en-IN" dirty="0"/>
              <a:t>Gives impression to each user as if the entire computer resources are available to him only.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r>
              <a:rPr lang="en-IN" b="1" dirty="0"/>
              <a:t>Required features</a:t>
            </a:r>
          </a:p>
          <a:p>
            <a:pPr lvl="1"/>
            <a:r>
              <a:rPr lang="en-IN" dirty="0"/>
              <a:t>Memory management &amp; Protection</a:t>
            </a:r>
          </a:p>
          <a:p>
            <a:pPr lvl="1"/>
            <a:r>
              <a:rPr lang="en-IN" dirty="0"/>
              <a:t>Swapping and virtual memory</a:t>
            </a:r>
          </a:p>
          <a:p>
            <a:pPr lvl="1"/>
            <a:r>
              <a:rPr lang="en-IN" dirty="0"/>
              <a:t>CPU scheduling </a:t>
            </a:r>
          </a:p>
          <a:p>
            <a:pPr lvl="1"/>
            <a:r>
              <a:rPr lang="en-IN" dirty="0"/>
              <a:t>Disk management</a:t>
            </a:r>
          </a:p>
          <a:p>
            <a:pPr lvl="1"/>
            <a:r>
              <a:rPr lang="en-IN" dirty="0"/>
              <a:t>Synchronization &amp;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5608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Single User Operating System</a:t>
            </a:r>
            <a:endParaRPr lang="en-US" dirty="0">
              <a:solidFill>
                <a:srgbClr val="62423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4.4</a:t>
            </a:r>
          </a:p>
        </p:txBody>
      </p:sp>
    </p:spTree>
    <p:extLst>
      <p:ext uri="{BB962C8B-B14F-4D97-AF65-F5344CB8AC3E}">
        <p14:creationId xmlns:p14="http://schemas.microsoft.com/office/powerpoint/2010/main" val="35198770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User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63445"/>
            <a:ext cx="11913184" cy="5649046"/>
          </a:xfrm>
        </p:spPr>
        <p:txBody>
          <a:bodyPr/>
          <a:lstStyle/>
          <a:p>
            <a:r>
              <a:rPr lang="en-US" dirty="0"/>
              <a:t>A single-user operating system is a type of operating system developed for use on a computer or similar machine that will only have a </a:t>
            </a:r>
            <a:r>
              <a:rPr lang="en-US" b="1" dirty="0">
                <a:solidFill>
                  <a:schemeClr val="accent6"/>
                </a:solidFill>
              </a:rPr>
              <a:t>single user at any given time</a:t>
            </a:r>
            <a:r>
              <a:rPr lang="en-US" dirty="0"/>
              <a:t>. </a:t>
            </a:r>
          </a:p>
          <a:p>
            <a:r>
              <a:rPr lang="en-US" dirty="0"/>
              <a:t>This type of OS is typically used on devices like </a:t>
            </a:r>
            <a:r>
              <a:rPr lang="en-US" b="1" dirty="0">
                <a:solidFill>
                  <a:schemeClr val="accent6"/>
                </a:solidFill>
              </a:rPr>
              <a:t>wireless phones and two-way messaging </a:t>
            </a:r>
            <a:r>
              <a:rPr lang="en-US" dirty="0"/>
              <a:t>devices.</a:t>
            </a:r>
          </a:p>
          <a:p>
            <a:r>
              <a:rPr lang="en-US" dirty="0"/>
              <a:t>Single user operating system </a:t>
            </a:r>
            <a:r>
              <a:rPr lang="en-US" b="1" dirty="0">
                <a:solidFill>
                  <a:schemeClr val="accent6"/>
                </a:solidFill>
              </a:rPr>
              <a:t>can only run one program </a:t>
            </a:r>
            <a:r>
              <a:rPr lang="en-US" dirty="0"/>
              <a:t>or application at a time. </a:t>
            </a:r>
          </a:p>
          <a:p>
            <a:r>
              <a:rPr lang="en-US" dirty="0"/>
              <a:t>So, it is not as useful for a computer or other device intended to run multiple programs at once.</a:t>
            </a:r>
          </a:p>
          <a:p>
            <a:endParaRPr lang="en-IN" dirty="0"/>
          </a:p>
        </p:txBody>
      </p:sp>
      <p:pic>
        <p:nvPicPr>
          <p:cNvPr id="1026" name="Picture 2" descr="Different Types of Operating System: Explained with Examples">
            <a:extLst>
              <a:ext uri="{FF2B5EF4-FFF2-40B4-BE49-F238E27FC236}">
                <a16:creationId xmlns:a16="http://schemas.microsoft.com/office/drawing/2014/main" id="{18ADCF04-3466-EAD5-52A9-84DB9151E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595" y="3348616"/>
            <a:ext cx="5682343" cy="319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8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User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  <a:p>
            <a:pPr lvl="1"/>
            <a:r>
              <a:rPr lang="en-US" dirty="0"/>
              <a:t>This OS occupies </a:t>
            </a:r>
            <a:r>
              <a:rPr lang="en-US" b="1" dirty="0">
                <a:solidFill>
                  <a:schemeClr val="accent6"/>
                </a:solidFill>
              </a:rPr>
              <a:t>less space </a:t>
            </a:r>
            <a:r>
              <a:rPr lang="en-US" dirty="0"/>
              <a:t>in memory.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Easy</a:t>
            </a:r>
            <a:r>
              <a:rPr lang="en-US" dirty="0"/>
              <a:t> to maintain.</a:t>
            </a:r>
          </a:p>
          <a:p>
            <a:pPr lvl="1"/>
            <a:r>
              <a:rPr lang="en-US" dirty="0"/>
              <a:t>Less chance of damage. </a:t>
            </a:r>
          </a:p>
          <a:p>
            <a:pPr lvl="1"/>
            <a:r>
              <a:rPr lang="en-US" dirty="0"/>
              <a:t>In this operating system only one user work at a time, so there will be </a:t>
            </a:r>
            <a:r>
              <a:rPr lang="en-US" b="1" dirty="0">
                <a:solidFill>
                  <a:schemeClr val="accent6"/>
                </a:solidFill>
              </a:rPr>
              <a:t>no interruption </a:t>
            </a:r>
            <a:r>
              <a:rPr lang="en-US" dirty="0"/>
              <a:t>of others.</a:t>
            </a:r>
            <a:endParaRPr lang="en-IN" dirty="0"/>
          </a:p>
          <a:p>
            <a:r>
              <a:rPr lang="en-IN" b="1" dirty="0"/>
              <a:t>Disadvantages</a:t>
            </a:r>
          </a:p>
          <a:p>
            <a:pPr lvl="1"/>
            <a:r>
              <a:rPr lang="en-US" dirty="0"/>
              <a:t>It can </a:t>
            </a:r>
            <a:r>
              <a:rPr lang="en-US" b="1" dirty="0">
                <a:solidFill>
                  <a:schemeClr val="accent6"/>
                </a:solidFill>
              </a:rPr>
              <a:t>perform</a:t>
            </a:r>
            <a:r>
              <a:rPr lang="en-US" dirty="0"/>
              <a:t> only a </a:t>
            </a:r>
            <a:r>
              <a:rPr lang="en-US" b="1" dirty="0">
                <a:solidFill>
                  <a:schemeClr val="accent6"/>
                </a:solidFill>
              </a:rPr>
              <a:t>single task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main drawback is, the </a:t>
            </a:r>
            <a:r>
              <a:rPr lang="en-US" b="1" dirty="0">
                <a:solidFill>
                  <a:schemeClr val="accent6"/>
                </a:solidFill>
              </a:rPr>
              <a:t>OS remains idle </a:t>
            </a:r>
            <a:r>
              <a:rPr lang="en-US" dirty="0"/>
              <a:t>for most of the time and is not utilized to its maximum.</a:t>
            </a:r>
          </a:p>
          <a:p>
            <a:pPr lvl="1"/>
            <a:r>
              <a:rPr lang="en-US" dirty="0"/>
              <a:t>Tasks take longer to complete.</a:t>
            </a:r>
          </a:p>
          <a:p>
            <a:pPr lvl="1"/>
            <a:r>
              <a:rPr lang="en-US" dirty="0"/>
              <a:t>It has a </a:t>
            </a:r>
            <a:r>
              <a:rPr lang="en-US" b="1" dirty="0">
                <a:solidFill>
                  <a:schemeClr val="accent6"/>
                </a:solidFill>
              </a:rPr>
              <a:t>high response time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24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CA2B-7765-FED1-9698-329D1E75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B2AF-5C2E-BD6D-E5E5-305B9BE7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Single User Operating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C785-CE03-1255-06B7-2CD16276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3445"/>
            <a:ext cx="11913184" cy="5649046"/>
          </a:xfrm>
        </p:spPr>
        <p:txBody>
          <a:bodyPr/>
          <a:lstStyle/>
          <a:p>
            <a:r>
              <a:rPr lang="en-US" dirty="0"/>
              <a:t>A single-user operating system is categorized into two parts: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E725A-3881-16A5-A1D7-625BD442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117" y="1419263"/>
            <a:ext cx="2901066" cy="19723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B8FB26-0105-6D29-2340-B0FB843EBFB3}"/>
              </a:ext>
            </a:extLst>
          </p:cNvPr>
          <p:cNvCxnSpPr>
            <a:cxnSpLocks/>
          </p:cNvCxnSpPr>
          <p:nvPr/>
        </p:nvCxnSpPr>
        <p:spPr>
          <a:xfrm>
            <a:off x="5531618" y="3391633"/>
            <a:ext cx="0" cy="3894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B412EA-1F61-BA9C-3617-DDC2FFE74F0A}"/>
              </a:ext>
            </a:extLst>
          </p:cNvPr>
          <p:cNvCxnSpPr>
            <a:cxnSpLocks/>
          </p:cNvCxnSpPr>
          <p:nvPr/>
        </p:nvCxnSpPr>
        <p:spPr>
          <a:xfrm flipH="1">
            <a:off x="4432643" y="3781082"/>
            <a:ext cx="952483" cy="5703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6AE73A-2912-1AA5-7564-FEDCA4E1DF44}"/>
              </a:ext>
            </a:extLst>
          </p:cNvPr>
          <p:cNvCxnSpPr>
            <a:cxnSpLocks/>
          </p:cNvCxnSpPr>
          <p:nvPr/>
        </p:nvCxnSpPr>
        <p:spPr>
          <a:xfrm>
            <a:off x="5731355" y="3781082"/>
            <a:ext cx="929028" cy="5703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CBDE4-BE6D-D0EA-1012-84076466B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810" y="4452552"/>
            <a:ext cx="2068221" cy="16418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EC55BF-2FB9-E49E-1599-2FBF5CB25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53" y="4452551"/>
            <a:ext cx="1966644" cy="16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3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Multiuser Operating System</a:t>
            </a:r>
            <a:endParaRPr lang="en-US" dirty="0">
              <a:solidFill>
                <a:srgbClr val="62423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4.5</a:t>
            </a:r>
          </a:p>
        </p:txBody>
      </p:sp>
    </p:spTree>
    <p:extLst>
      <p:ext uri="{BB962C8B-B14F-4D97-AF65-F5344CB8AC3E}">
        <p14:creationId xmlns:p14="http://schemas.microsoft.com/office/powerpoint/2010/main" val="4169910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Multiuser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63445"/>
            <a:ext cx="6681603" cy="5649046"/>
          </a:xfrm>
        </p:spPr>
        <p:txBody>
          <a:bodyPr/>
          <a:lstStyle/>
          <a:p>
            <a:r>
              <a:rPr lang="en-US" dirty="0"/>
              <a:t>In a multiuser operating system, </a:t>
            </a:r>
            <a:r>
              <a:rPr lang="en-US" b="1" dirty="0">
                <a:solidFill>
                  <a:schemeClr val="accent6"/>
                </a:solidFill>
              </a:rPr>
              <a:t>multiple users </a:t>
            </a:r>
            <a:r>
              <a:rPr lang="en-US" dirty="0"/>
              <a:t>can access </a:t>
            </a:r>
            <a:r>
              <a:rPr lang="en-US" b="1" dirty="0">
                <a:solidFill>
                  <a:schemeClr val="accent6"/>
                </a:solidFill>
              </a:rPr>
              <a:t>different resources </a:t>
            </a:r>
            <a:r>
              <a:rPr lang="en-US" dirty="0"/>
              <a:t>of a computer at the </a:t>
            </a:r>
            <a:r>
              <a:rPr lang="en-US" b="1" dirty="0">
                <a:solidFill>
                  <a:schemeClr val="accent6"/>
                </a:solidFill>
              </a:rPr>
              <a:t>same time</a:t>
            </a:r>
            <a:r>
              <a:rPr lang="en-US" dirty="0"/>
              <a:t>. </a:t>
            </a:r>
          </a:p>
          <a:p>
            <a:r>
              <a:rPr lang="en-US" dirty="0"/>
              <a:t>A multi-user operating system allows the </a:t>
            </a:r>
            <a:r>
              <a:rPr lang="en-US" b="1" dirty="0">
                <a:solidFill>
                  <a:schemeClr val="accent6"/>
                </a:solidFill>
              </a:rPr>
              <a:t>permission</a:t>
            </a:r>
            <a:r>
              <a:rPr lang="en-US" dirty="0"/>
              <a:t> of </a:t>
            </a:r>
            <a:r>
              <a:rPr lang="en-US" b="1" dirty="0">
                <a:solidFill>
                  <a:schemeClr val="accent6"/>
                </a:solidFill>
              </a:rPr>
              <a:t>multiple users </a:t>
            </a:r>
            <a:r>
              <a:rPr lang="en-US" dirty="0"/>
              <a:t>for </a:t>
            </a:r>
            <a:r>
              <a:rPr lang="en-US" b="1" dirty="0">
                <a:solidFill>
                  <a:schemeClr val="accent6"/>
                </a:solidFill>
              </a:rPr>
              <a:t>accessing a single machine at a time</a:t>
            </a:r>
            <a:r>
              <a:rPr lang="en-US" dirty="0"/>
              <a:t>. </a:t>
            </a:r>
          </a:p>
          <a:p>
            <a:r>
              <a:rPr lang="en-US" dirty="0"/>
              <a:t>The various personal computers can send and receive information to the </a:t>
            </a:r>
            <a:r>
              <a:rPr lang="en-US" b="1" dirty="0">
                <a:solidFill>
                  <a:schemeClr val="accent6"/>
                </a:solidFill>
              </a:rPr>
              <a:t>mainframe computer system</a:t>
            </a:r>
            <a:r>
              <a:rPr lang="en-US" dirty="0"/>
              <a:t>. </a:t>
            </a:r>
          </a:p>
          <a:p>
            <a:r>
              <a:rPr lang="en-US" dirty="0"/>
              <a:t>Thus, the mainframe computer acts as the </a:t>
            </a:r>
            <a:r>
              <a:rPr lang="en-US" b="1" dirty="0">
                <a:solidFill>
                  <a:schemeClr val="accent6"/>
                </a:solidFill>
              </a:rPr>
              <a:t>server</a:t>
            </a:r>
            <a:r>
              <a:rPr lang="en-US" dirty="0"/>
              <a:t> and other personal computers act as </a:t>
            </a:r>
            <a:r>
              <a:rPr lang="en-US" b="1" dirty="0">
                <a:solidFill>
                  <a:schemeClr val="accent6"/>
                </a:solidFill>
              </a:rPr>
              <a:t>clients</a:t>
            </a:r>
            <a:r>
              <a:rPr lang="en-US" dirty="0"/>
              <a:t> for that server.</a:t>
            </a:r>
          </a:p>
          <a:p>
            <a:r>
              <a:rPr lang="en-US" dirty="0"/>
              <a:t>Users will usually sit at terminals or computers connected to the system via a network and other system machines like printers.</a:t>
            </a:r>
          </a:p>
          <a:p>
            <a:endParaRPr lang="en-US" dirty="0"/>
          </a:p>
          <a:p>
            <a:endParaRPr lang="en-US" b="1" dirty="0">
              <a:solidFill>
                <a:schemeClr val="accent6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A029E7B-5F30-662B-0779-50B9FC515A34}"/>
              </a:ext>
            </a:extLst>
          </p:cNvPr>
          <p:cNvGraphicFramePr/>
          <p:nvPr/>
        </p:nvGraphicFramePr>
        <p:xfrm>
          <a:off x="6812782" y="2276014"/>
          <a:ext cx="5286437" cy="1803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912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2112FA-3544-4E18-881A-43940169B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57B6FA-E94E-4D80-937C-97ADB33543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7E6604-B513-4442-B2F0-63BC68434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6D4703-C44F-4AE8-834E-8060974A29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C5E824-6655-4AEA-8248-6C1B23117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7034E0-46CF-4F31-8E52-7FD6881A64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BDBAEB-F4FC-434D-95A4-4BA89C98E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7" grpId="0">
        <p:bldSub>
          <a:bldDgm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Multiuser Operating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63445"/>
            <a:ext cx="11913184" cy="5649046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IN" b="1" dirty="0"/>
              <a:t>Advantages</a:t>
            </a:r>
          </a:p>
          <a:p>
            <a:pPr lvl="1" fontAlgn="base"/>
            <a:r>
              <a:rPr lang="en-US" dirty="0"/>
              <a:t>It helps in </a:t>
            </a:r>
            <a:r>
              <a:rPr lang="en-US" b="1" dirty="0">
                <a:solidFill>
                  <a:schemeClr val="accent6"/>
                </a:solidFill>
              </a:rPr>
              <a:t>the sharing of data</a:t>
            </a:r>
            <a:r>
              <a:rPr lang="en-US" dirty="0"/>
              <a:t> and information among different users.</a:t>
            </a:r>
          </a:p>
          <a:p>
            <a:pPr lvl="1" fontAlgn="base"/>
            <a:r>
              <a:rPr lang="en-US" dirty="0"/>
              <a:t>It also helps in the sharing of hardware resources such as </a:t>
            </a:r>
            <a:r>
              <a:rPr lang="en-US" b="1" dirty="0">
                <a:solidFill>
                  <a:schemeClr val="accent6"/>
                </a:solidFill>
              </a:rPr>
              <a:t>printers.</a:t>
            </a:r>
          </a:p>
          <a:p>
            <a:pPr lvl="1" fontAlgn="base"/>
            <a:r>
              <a:rPr lang="en-US" dirty="0"/>
              <a:t>Users can share their work with other users.</a:t>
            </a:r>
          </a:p>
          <a:p>
            <a:pPr marL="457200" lvl="1" indent="0" fontAlgn="base">
              <a:buNone/>
            </a:pPr>
            <a:endParaRPr lang="en-US" sz="1500" dirty="0"/>
          </a:p>
          <a:p>
            <a:pPr fontAlgn="base"/>
            <a:r>
              <a:rPr lang="en-IN" b="1" dirty="0"/>
              <a:t>Disadvantages</a:t>
            </a:r>
          </a:p>
          <a:p>
            <a:pPr lvl="1" fontAlgn="base"/>
            <a:r>
              <a:rPr lang="en-US" dirty="0"/>
              <a:t>It requires </a:t>
            </a:r>
            <a:r>
              <a:rPr lang="en-US" b="1" dirty="0">
                <a:solidFill>
                  <a:schemeClr val="accent6"/>
                </a:solidFill>
              </a:rPr>
              <a:t>expensive hardware </a:t>
            </a:r>
            <a:r>
              <a:rPr lang="en-US" dirty="0"/>
              <a:t>to set up a mainframe computer </a:t>
            </a:r>
          </a:p>
          <a:p>
            <a:pPr lvl="1" fontAlgn="base"/>
            <a:r>
              <a:rPr lang="en-US" dirty="0"/>
              <a:t>When multiple users log on or work on the same system it </a:t>
            </a:r>
            <a:r>
              <a:rPr lang="en-US" b="1" dirty="0">
                <a:solidFill>
                  <a:schemeClr val="accent6"/>
                </a:solidFill>
              </a:rPr>
              <a:t>reduces the overall performance </a:t>
            </a:r>
            <a:r>
              <a:rPr lang="en-US" dirty="0"/>
              <a:t>of the system.</a:t>
            </a:r>
          </a:p>
          <a:p>
            <a:pPr lvl="1" fontAlgn="base"/>
            <a:r>
              <a:rPr lang="en-US" dirty="0"/>
              <a:t>Information is shared with the public so </a:t>
            </a:r>
            <a:r>
              <a:rPr lang="en-US" b="1" dirty="0">
                <a:solidFill>
                  <a:schemeClr val="accent6"/>
                </a:solidFill>
              </a:rPr>
              <a:t>privacy loss.</a:t>
            </a:r>
          </a:p>
        </p:txBody>
      </p:sp>
    </p:spTree>
    <p:extLst>
      <p:ext uri="{BB962C8B-B14F-4D97-AF65-F5344CB8AC3E}">
        <p14:creationId xmlns:p14="http://schemas.microsoft.com/office/powerpoint/2010/main" val="259896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9B04-A1F1-0339-2F21-891544C6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BFAE-C0A1-0376-878F-54783B57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Types of Operating System with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549C-08CE-AF79-3D6D-0306A6E3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3445"/>
            <a:ext cx="11913184" cy="5649046"/>
          </a:xfrm>
        </p:spPr>
        <p:txBody>
          <a:bodyPr/>
          <a:lstStyle/>
          <a:p>
            <a:r>
              <a:rPr lang="en-IN" b="1" dirty="0"/>
              <a:t>Types of OS with example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Multiprogramming </a:t>
            </a:r>
            <a:r>
              <a:rPr lang="en-US" b="1" dirty="0">
                <a:solidFill>
                  <a:schemeClr val="accent6"/>
                </a:solidFill>
              </a:rPr>
              <a:t>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</a:t>
            </a:r>
            <a:r>
              <a:rPr lang="en-US" dirty="0"/>
              <a:t>Example: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IN" dirty="0"/>
              <a:t>Mainframe Environments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Batch </a:t>
            </a:r>
            <a:r>
              <a:rPr lang="en-US" b="1" dirty="0">
                <a:solidFill>
                  <a:schemeClr val="accent6"/>
                </a:solidFill>
              </a:rPr>
              <a:t>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Payroll Processing, Billing System</a:t>
            </a:r>
            <a:endParaRPr lang="en-IN" dirty="0"/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Time Sharing</a:t>
            </a:r>
            <a:r>
              <a:rPr lang="en-US" b="1" dirty="0">
                <a:solidFill>
                  <a:schemeClr val="accent6"/>
                </a:solidFill>
              </a:rPr>
              <a:t>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Mac OS, Latest Windows OS</a:t>
            </a:r>
            <a:endParaRPr lang="en-IN" dirty="0"/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Single user</a:t>
            </a:r>
            <a:r>
              <a:rPr lang="en-US" b="1" dirty="0">
                <a:solidFill>
                  <a:schemeClr val="accent6"/>
                </a:solidFill>
              </a:rPr>
              <a:t>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MS-DOS, Windows 95/98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Multiuser</a:t>
            </a:r>
            <a:r>
              <a:rPr lang="en-US" b="1" dirty="0">
                <a:solidFill>
                  <a:schemeClr val="accent6"/>
                </a:solidFill>
              </a:rPr>
              <a:t>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Unix, Linux, </a:t>
            </a:r>
            <a:r>
              <a:rPr lang="en-IN" dirty="0"/>
              <a:t>Windows Server</a:t>
            </a:r>
            <a:endParaRPr lang="en-US" dirty="0"/>
          </a:p>
          <a:p>
            <a:pPr lvl="1"/>
            <a:r>
              <a:rPr lang="en-US" dirty="0"/>
              <a:t>Real-Time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Online reservation, Airbag Deployment in Car</a:t>
            </a:r>
          </a:p>
          <a:p>
            <a:pPr lvl="1"/>
            <a:r>
              <a:rPr lang="en-US" dirty="0"/>
              <a:t>Distributed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Microsoft </a:t>
            </a:r>
            <a:r>
              <a:rPr lang="en-IN" dirty="0"/>
              <a:t>Windows Server</a:t>
            </a:r>
            <a:endParaRPr lang="en-US" dirty="0"/>
          </a:p>
          <a:p>
            <a:pPr lvl="1"/>
            <a:r>
              <a:rPr lang="en-US" dirty="0"/>
              <a:t>Multi-Processing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Unix, Linux</a:t>
            </a:r>
            <a:r>
              <a:rPr lang="en-IN" dirty="0"/>
              <a:t>, Windows Server</a:t>
            </a:r>
            <a:endParaRPr lang="en-US" dirty="0"/>
          </a:p>
          <a:p>
            <a:pPr lvl="1"/>
            <a:r>
              <a:rPr lang="en-US" dirty="0"/>
              <a:t>Network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</a:t>
            </a:r>
            <a:r>
              <a:rPr lang="en-IN" dirty="0"/>
              <a:t>Any Server, i.e. Web Server, Mail Server, etc.</a:t>
            </a:r>
            <a:endParaRPr lang="en-US" dirty="0"/>
          </a:p>
          <a:p>
            <a:pPr lvl="1"/>
            <a:r>
              <a:rPr lang="en-US" dirty="0"/>
              <a:t>Mobile Operating System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dirty="0"/>
              <a:t>Example : Android, iOS</a:t>
            </a:r>
          </a:p>
        </p:txBody>
      </p:sp>
    </p:spTree>
    <p:extLst>
      <p:ext uri="{BB962C8B-B14F-4D97-AF65-F5344CB8AC3E}">
        <p14:creationId xmlns:p14="http://schemas.microsoft.com/office/powerpoint/2010/main" val="364793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Components of Operating System</a:t>
            </a:r>
            <a:endParaRPr lang="en-US" dirty="0">
              <a:solidFill>
                <a:srgbClr val="62423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5</a:t>
            </a:r>
          </a:p>
        </p:txBody>
      </p:sp>
    </p:spTree>
    <p:extLst>
      <p:ext uri="{BB962C8B-B14F-4D97-AF65-F5344CB8AC3E}">
        <p14:creationId xmlns:p14="http://schemas.microsoft.com/office/powerpoint/2010/main" val="26958110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456" y="1245515"/>
            <a:ext cx="3048000" cy="781878"/>
          </a:xfrm>
          <a:prstGeom prst="roundRect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9611" y="1358536"/>
            <a:ext cx="99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USER</a:t>
            </a:r>
            <a:endParaRPr lang="en-IN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835456" y="2562811"/>
            <a:ext cx="3048000" cy="781878"/>
          </a:xfrm>
          <a:prstGeom prst="roundRect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9552" y="2677885"/>
            <a:ext cx="3097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Application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456" y="3880107"/>
            <a:ext cx="3048000" cy="781878"/>
          </a:xfrm>
          <a:prstGeom prst="roundRect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0344" y="4036422"/>
            <a:ext cx="2991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Operating System</a:t>
            </a:r>
            <a:endParaRPr lang="en-IN" sz="1600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835456" y="5159129"/>
            <a:ext cx="3048000" cy="781878"/>
          </a:xfrm>
          <a:prstGeom prst="roundRect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58989" y="5342708"/>
            <a:ext cx="1371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Hardware</a:t>
            </a:r>
            <a:endParaRPr lang="en-IN" b="1" dirty="0"/>
          </a:p>
        </p:txBody>
      </p:sp>
      <p:sp>
        <p:nvSpPr>
          <p:cNvPr id="26" name="Down Arrow 25"/>
          <p:cNvSpPr/>
          <p:nvPr/>
        </p:nvSpPr>
        <p:spPr>
          <a:xfrm>
            <a:off x="1449977" y="4661985"/>
            <a:ext cx="483326" cy="496419"/>
          </a:xfrm>
          <a:prstGeom prst="down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Up Arrow 29"/>
          <p:cNvSpPr/>
          <p:nvPr/>
        </p:nvSpPr>
        <p:spPr>
          <a:xfrm>
            <a:off x="2666719" y="4663439"/>
            <a:ext cx="483321" cy="491521"/>
          </a:xfrm>
          <a:prstGeom prst="up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4671462" y="4840937"/>
            <a:ext cx="7296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6"/>
                </a:solidFill>
              </a:rPr>
              <a:t>Hardware</a:t>
            </a:r>
            <a:r>
              <a:rPr lang="en-IN" sz="2400" dirty="0"/>
              <a:t> comes at </a:t>
            </a:r>
            <a:r>
              <a:rPr lang="en-IN" sz="2400" b="1" dirty="0">
                <a:solidFill>
                  <a:schemeClr val="accent6"/>
                </a:solidFill>
              </a:rPr>
              <a:t>lowest level</a:t>
            </a:r>
            <a:r>
              <a:rPr lang="en-IN" sz="24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/>
              <a:t>Contains Physical devices like Keyboard, Mouse, Monitor etc.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444" y="4980156"/>
            <a:ext cx="3513906" cy="1162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Down Arrow 18"/>
          <p:cNvSpPr/>
          <p:nvPr/>
        </p:nvSpPr>
        <p:spPr>
          <a:xfrm>
            <a:off x="1449977" y="3367594"/>
            <a:ext cx="483326" cy="502877"/>
          </a:xfrm>
          <a:prstGeom prst="down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Up Arrow 19"/>
          <p:cNvSpPr/>
          <p:nvPr/>
        </p:nvSpPr>
        <p:spPr>
          <a:xfrm>
            <a:off x="2637579" y="3340423"/>
            <a:ext cx="483321" cy="504630"/>
          </a:xfrm>
          <a:prstGeom prst="up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562444" y="3709772"/>
            <a:ext cx="3513906" cy="1162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690871" y="3833910"/>
            <a:ext cx="7384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/>
              <a:t>Controls and coordinates use of hardware among various applications and users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449977" y="2038374"/>
            <a:ext cx="483326" cy="502877"/>
          </a:xfrm>
          <a:prstGeom prst="down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Up Arrow 23"/>
          <p:cNvSpPr/>
          <p:nvPr/>
        </p:nvSpPr>
        <p:spPr>
          <a:xfrm>
            <a:off x="2637579" y="2027393"/>
            <a:ext cx="483321" cy="504630"/>
          </a:xfrm>
          <a:prstGeom prst="upArrow">
            <a:avLst/>
          </a:prstGeom>
          <a:ln w="38100">
            <a:solidFill>
              <a:srgbClr val="4B302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562444" y="2393580"/>
            <a:ext cx="3513906" cy="1162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4634556" y="2539385"/>
            <a:ext cx="7458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/>
              <a:t>Define the ways in which the system resources are used to solve the computing problems of the users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6"/>
                </a:solidFill>
              </a:rPr>
              <a:t>Ex.</a:t>
            </a:r>
            <a:r>
              <a:rPr lang="en-IN" sz="2400" dirty="0"/>
              <a:t> MS office, Web browsers, video games etc.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70" y="1053627"/>
            <a:ext cx="3513906" cy="1162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4671462" y="901723"/>
            <a:ext cx="7403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6"/>
                </a:solidFill>
              </a:rPr>
              <a:t>User</a:t>
            </a:r>
            <a:r>
              <a:rPr lang="en-IN" sz="2400" dirty="0"/>
              <a:t> comes at </a:t>
            </a:r>
            <a:r>
              <a:rPr lang="en-IN" sz="2400" b="1" dirty="0">
                <a:solidFill>
                  <a:schemeClr val="accent6"/>
                </a:solidFill>
              </a:rPr>
              <a:t>top level</a:t>
            </a:r>
            <a:r>
              <a:rPr lang="en-IN" sz="24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/>
              <a:t>Interacts with the system by using Application program to perform tasks.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6"/>
                </a:solidFill>
              </a:rPr>
              <a:t>Ex.</a:t>
            </a:r>
            <a:r>
              <a:rPr lang="en-IN" sz="2400" dirty="0"/>
              <a:t>  People, machines, other computers</a:t>
            </a:r>
          </a:p>
        </p:txBody>
      </p:sp>
    </p:spTree>
    <p:extLst>
      <p:ext uri="{BB962C8B-B14F-4D97-AF65-F5344CB8AC3E}">
        <p14:creationId xmlns:p14="http://schemas.microsoft.com/office/powerpoint/2010/main" val="158376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26" grpId="0" animBg="1"/>
      <p:bldP spid="30" grpId="0" animBg="1"/>
      <p:bldP spid="32" grpId="0"/>
      <p:bldP spid="34" grpId="0" animBg="1"/>
      <p:bldP spid="34" grpId="1" animBg="1"/>
      <p:bldP spid="34" grpId="2" animBg="1"/>
      <p:bldP spid="19" grpId="0" animBg="1"/>
      <p:bldP spid="20" grpId="0" animBg="1"/>
      <p:bldP spid="21" grpId="0" animBg="1"/>
      <p:bldP spid="21" grpId="1" animBg="1"/>
      <p:bldP spid="21" grpId="2" animBg="1"/>
      <p:bldP spid="22" grpId="0"/>
      <p:bldP spid="23" grpId="0" animBg="1"/>
      <p:bldP spid="24" grpId="0" animBg="1"/>
      <p:bldP spid="25" grpId="0" animBg="1"/>
      <p:bldP spid="25" grpId="1" animBg="1"/>
      <p:bldP spid="25" grpId="2" animBg="1"/>
      <p:bldP spid="27" grpId="0"/>
      <p:bldP spid="28" grpId="0" animBg="1"/>
      <p:bldP spid="28" grpId="1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Operating System Services</a:t>
            </a:r>
            <a:endParaRPr lang="en-US" dirty="0">
              <a:solidFill>
                <a:srgbClr val="62423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6</a:t>
            </a:r>
          </a:p>
        </p:txBody>
      </p:sp>
    </p:spTree>
    <p:extLst>
      <p:ext uri="{BB962C8B-B14F-4D97-AF65-F5344CB8AC3E}">
        <p14:creationId xmlns:p14="http://schemas.microsoft.com/office/powerpoint/2010/main" val="1960857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Operating System Provides Two Types of Services: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Point of View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System Point of View</a:t>
            </a:r>
            <a:endParaRPr lang="en-US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US" sz="2400" dirty="0"/>
              <a:t>User Point of View </a:t>
            </a:r>
            <a:endParaRPr lang="en-US" sz="2200" dirty="0"/>
          </a:p>
          <a:p>
            <a:pPr lvl="1"/>
            <a:r>
              <a:rPr lang="en-US" dirty="0"/>
              <a:t>This is a </a:t>
            </a:r>
            <a:r>
              <a:rPr lang="en-US" b="1" dirty="0">
                <a:solidFill>
                  <a:schemeClr val="accent6"/>
                </a:solidFill>
              </a:rPr>
              <a:t>top-down view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OS hides all the details of the hardware,</a:t>
            </a:r>
            <a:r>
              <a:rPr lang="en-IN" dirty="0"/>
              <a:t> providing a user-friendly environment.</a:t>
            </a:r>
            <a:endParaRPr lang="en-US" dirty="0"/>
          </a:p>
          <a:p>
            <a:pPr lvl="1"/>
            <a:r>
              <a:rPr lang="en-US" dirty="0"/>
              <a:t>For example, running a text editor without worrying about the hardware specifics.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US" sz="2400" dirty="0"/>
              <a:t>System Point of view</a:t>
            </a:r>
          </a:p>
          <a:p>
            <a:pPr lvl="1"/>
            <a:r>
              <a:rPr lang="en-US" dirty="0"/>
              <a:t>This is a </a:t>
            </a:r>
            <a:r>
              <a:rPr lang="en-US" b="1" dirty="0">
                <a:solidFill>
                  <a:schemeClr val="accent6"/>
                </a:solidFill>
              </a:rPr>
              <a:t>bottom-up view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OS acts as a </a:t>
            </a:r>
            <a:r>
              <a:rPr lang="en-US" b="1" dirty="0">
                <a:solidFill>
                  <a:schemeClr val="accent6"/>
                </a:solidFill>
              </a:rPr>
              <a:t>Resource Manager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OS manages all the resources such as </a:t>
            </a:r>
          </a:p>
          <a:p>
            <a:pPr lvl="2"/>
            <a:r>
              <a:rPr lang="en-US" dirty="0"/>
              <a:t>CPU</a:t>
            </a:r>
          </a:p>
          <a:p>
            <a:pPr lvl="2"/>
            <a:r>
              <a:rPr lang="en-US" dirty="0"/>
              <a:t>Memory</a:t>
            </a:r>
          </a:p>
          <a:p>
            <a:pPr lvl="2"/>
            <a:r>
              <a:rPr lang="en-US" dirty="0"/>
              <a:t>I/O devices.</a:t>
            </a:r>
          </a:p>
          <a:p>
            <a:pPr lvl="1"/>
            <a:r>
              <a:rPr lang="en-US" dirty="0"/>
              <a:t>For example, the OS allocates memory for applications like browsers and ensures efficient </a:t>
            </a:r>
          </a:p>
          <a:p>
            <a:pPr marL="457200" lvl="1" indent="0">
              <a:buNone/>
            </a:pPr>
            <a:r>
              <a:rPr lang="en-US" dirty="0"/>
              <a:t>      CPU scheduling.</a:t>
            </a:r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lvl="1"/>
            <a:endParaRPr lang="en-IN" dirty="0"/>
          </a:p>
          <a:p>
            <a:pPr marL="544512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88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User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Program Execution </a:t>
            </a:r>
            <a:endParaRPr lang="en-IN" dirty="0"/>
          </a:p>
          <a:p>
            <a:pPr lvl="1"/>
            <a:r>
              <a:rPr lang="en-IN" dirty="0"/>
              <a:t>Provides an </a:t>
            </a:r>
            <a:r>
              <a:rPr lang="en-IN" b="1" dirty="0">
                <a:solidFill>
                  <a:schemeClr val="accent6"/>
                </a:solidFill>
              </a:rPr>
              <a:t>efficient</a:t>
            </a:r>
            <a:r>
              <a:rPr lang="en-IN" dirty="0"/>
              <a:t> and </a:t>
            </a:r>
            <a:r>
              <a:rPr lang="en-IN" b="1" dirty="0">
                <a:solidFill>
                  <a:schemeClr val="accent6"/>
                </a:solidFill>
              </a:rPr>
              <a:t>convenient environment </a:t>
            </a:r>
            <a:r>
              <a:rPr lang="en-IN" dirty="0"/>
              <a:t>for the </a:t>
            </a:r>
            <a:r>
              <a:rPr lang="en-IN" b="1" dirty="0">
                <a:solidFill>
                  <a:schemeClr val="accent6"/>
                </a:solidFill>
              </a:rPr>
              <a:t>execution of programs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So, an OS must provide functions for </a:t>
            </a:r>
            <a:r>
              <a:rPr lang="en-IN" b="1" dirty="0">
                <a:solidFill>
                  <a:schemeClr val="accent6"/>
                </a:solidFill>
              </a:rPr>
              <a:t>Load</a:t>
            </a:r>
            <a:r>
              <a:rPr lang="en-IN" dirty="0"/>
              <a:t> program into main memory, </a:t>
            </a:r>
            <a:r>
              <a:rPr lang="en-IN" b="1" dirty="0">
                <a:solidFill>
                  <a:schemeClr val="accent6"/>
                </a:solidFill>
              </a:rPr>
              <a:t>Execute</a:t>
            </a:r>
            <a:r>
              <a:rPr lang="en-IN" dirty="0"/>
              <a:t> it and after execution, </a:t>
            </a:r>
            <a:r>
              <a:rPr lang="en-IN" b="1" dirty="0">
                <a:solidFill>
                  <a:schemeClr val="accent6"/>
                </a:solidFill>
              </a:rPr>
              <a:t>Terminate</a:t>
            </a:r>
            <a:r>
              <a:rPr lang="en-IN" dirty="0"/>
              <a:t> it.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877887" lvl="2" indent="0">
              <a:buNone/>
            </a:pPr>
            <a:endParaRPr lang="en-IN" dirty="0"/>
          </a:p>
          <a:p>
            <a:pPr marL="877887" lvl="2" indent="0">
              <a:buNone/>
            </a:pPr>
            <a:endParaRPr lang="en-IN" dirty="0"/>
          </a:p>
          <a:p>
            <a:pPr marL="877887" lvl="2" indent="0">
              <a:buNone/>
            </a:pPr>
            <a:endParaRPr lang="en-IN" dirty="0"/>
          </a:p>
          <a:p>
            <a:pPr marL="877887" lvl="2" indent="0">
              <a:buNone/>
            </a:pPr>
            <a:endParaRPr lang="en-IN" dirty="0"/>
          </a:p>
          <a:p>
            <a:pPr marL="877887" lvl="2" indent="0">
              <a:buNone/>
            </a:pPr>
            <a:endParaRPr lang="en-IN" dirty="0"/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1226624" y="2970190"/>
            <a:ext cx="2293749" cy="852407"/>
          </a:xfrm>
          <a:prstGeom prst="roundRect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5002878" y="2970190"/>
            <a:ext cx="2293749" cy="852407"/>
          </a:xfrm>
          <a:prstGeom prst="roundRect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869129" y="2958860"/>
            <a:ext cx="2293749" cy="852407"/>
          </a:xfrm>
          <a:prstGeom prst="roundRect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241145" y="3192869"/>
            <a:ext cx="2264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1921" y="3192869"/>
            <a:ext cx="226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Execute 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948841" y="3154230"/>
            <a:ext cx="221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Terminate</a:t>
            </a:r>
            <a:r>
              <a:rPr lang="en-IN" dirty="0"/>
              <a:t> </a:t>
            </a:r>
          </a:p>
        </p:txBody>
      </p:sp>
      <p:cxnSp>
        <p:nvCxnSpPr>
          <p:cNvPr id="13" name="Straight Arrow Connector 12"/>
          <p:cNvCxnSpPr>
            <a:endCxn id="6" idx="1"/>
          </p:cNvCxnSpPr>
          <p:nvPr/>
        </p:nvCxnSpPr>
        <p:spPr>
          <a:xfrm flipV="1">
            <a:off x="7275386" y="3385064"/>
            <a:ext cx="1593743" cy="1133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41188" y="3030079"/>
            <a:ext cx="129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After execution</a:t>
            </a:r>
          </a:p>
        </p:txBody>
      </p:sp>
      <p:cxnSp>
        <p:nvCxnSpPr>
          <p:cNvPr id="23" name="Straight Arrow Connector 22"/>
          <p:cNvCxnSpPr>
            <a:stCxn id="4" idx="3"/>
            <a:endCxn id="5" idx="1"/>
          </p:cNvCxnSpPr>
          <p:nvPr/>
        </p:nvCxnSpPr>
        <p:spPr>
          <a:xfrm>
            <a:off x="3520373" y="3396394"/>
            <a:ext cx="1482505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00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User Point </a:t>
            </a:r>
            <a:r>
              <a:rPr lang="en-IN"/>
              <a:t>of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Input / Output Operations:</a:t>
            </a:r>
            <a:endParaRPr lang="en-IN" b="1" dirty="0"/>
          </a:p>
          <a:p>
            <a:pPr lvl="1"/>
            <a:r>
              <a:rPr lang="en-IN" dirty="0"/>
              <a:t>A running program needs </a:t>
            </a:r>
            <a:r>
              <a:rPr lang="en-IN" b="1" dirty="0">
                <a:solidFill>
                  <a:schemeClr val="accent6"/>
                </a:solidFill>
              </a:rPr>
              <a:t>I/O operations </a:t>
            </a:r>
            <a:r>
              <a:rPr lang="en-IN" dirty="0"/>
              <a:t>for </a:t>
            </a:r>
            <a:r>
              <a:rPr lang="en-IN" b="1" dirty="0">
                <a:solidFill>
                  <a:schemeClr val="accent6"/>
                </a:solidFill>
              </a:rPr>
              <a:t>reading</a:t>
            </a:r>
            <a:r>
              <a:rPr lang="en-IN" dirty="0"/>
              <a:t> input data, and for </a:t>
            </a:r>
            <a:r>
              <a:rPr lang="en-IN" b="1" dirty="0">
                <a:solidFill>
                  <a:schemeClr val="accent6"/>
                </a:solidFill>
              </a:rPr>
              <a:t>outputting</a:t>
            </a:r>
            <a:r>
              <a:rPr lang="en-IN" dirty="0"/>
              <a:t> the </a:t>
            </a:r>
            <a:r>
              <a:rPr lang="en-IN" b="1" dirty="0">
                <a:solidFill>
                  <a:schemeClr val="accent6"/>
                </a:solidFill>
              </a:rPr>
              <a:t>results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This I/O may be with a </a:t>
            </a:r>
            <a:r>
              <a:rPr lang="en-IN" b="1" dirty="0">
                <a:solidFill>
                  <a:schemeClr val="accent6"/>
                </a:solidFill>
              </a:rPr>
              <a:t>file</a:t>
            </a:r>
            <a:r>
              <a:rPr lang="en-IN" dirty="0"/>
              <a:t> or with </a:t>
            </a:r>
            <a:r>
              <a:rPr lang="en-IN" b="1" dirty="0"/>
              <a:t>device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 :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020" y="2645986"/>
            <a:ext cx="5635895" cy="304801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/>
          <p:cNvSpPr/>
          <p:nvPr/>
        </p:nvSpPr>
        <p:spPr>
          <a:xfrm>
            <a:off x="7501180" y="5439905"/>
            <a:ext cx="480447" cy="15498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175716" y="5693998"/>
            <a:ext cx="743918" cy="17234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5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User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Communication :</a:t>
            </a:r>
          </a:p>
          <a:p>
            <a:pPr lvl="1"/>
            <a:r>
              <a:rPr lang="en-IN" dirty="0"/>
              <a:t>In </a:t>
            </a:r>
            <a:r>
              <a:rPr lang="en-IN" b="1" dirty="0">
                <a:solidFill>
                  <a:schemeClr val="accent6"/>
                </a:solidFill>
              </a:rPr>
              <a:t>multitasking</a:t>
            </a:r>
            <a:r>
              <a:rPr lang="en-IN" dirty="0"/>
              <a:t> OS more than one processes are running simultaneously.</a:t>
            </a:r>
          </a:p>
          <a:p>
            <a:pPr lvl="1"/>
            <a:r>
              <a:rPr lang="en-IN" dirty="0"/>
              <a:t>Sometimes there is a need to exchanging information among processes.</a:t>
            </a:r>
          </a:p>
          <a:p>
            <a:pPr lvl="1"/>
            <a:r>
              <a:rPr lang="en-IN" dirty="0"/>
              <a:t>The OS provide </a:t>
            </a:r>
            <a:r>
              <a:rPr lang="en-IN" b="1" dirty="0">
                <a:solidFill>
                  <a:schemeClr val="accent6"/>
                </a:solidFill>
              </a:rPr>
              <a:t>communications</a:t>
            </a:r>
            <a:r>
              <a:rPr lang="en-IN" dirty="0"/>
              <a:t> for such internal processes.</a:t>
            </a:r>
          </a:p>
          <a:p>
            <a:pPr lvl="1"/>
            <a:r>
              <a:rPr lang="en-IN" dirty="0"/>
              <a:t>Example: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37" y="2899155"/>
            <a:ext cx="3016455" cy="355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9837" y="6143159"/>
            <a:ext cx="128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9933" y="6143159"/>
            <a:ext cx="128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8254" y="3911313"/>
            <a:ext cx="128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OS</a:t>
            </a:r>
          </a:p>
        </p:txBody>
      </p:sp>
    </p:spTree>
    <p:extLst>
      <p:ext uri="{BB962C8B-B14F-4D97-AF65-F5344CB8AC3E}">
        <p14:creationId xmlns:p14="http://schemas.microsoft.com/office/powerpoint/2010/main" val="145873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User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751668"/>
          </a:xfrm>
        </p:spPr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File system manipulation:</a:t>
            </a:r>
          </a:p>
          <a:p>
            <a:pPr lvl="1"/>
            <a:r>
              <a:rPr lang="en-IN" dirty="0"/>
              <a:t>Program needs to read a file or write a file.</a:t>
            </a:r>
          </a:p>
          <a:p>
            <a:pPr lvl="1"/>
            <a:r>
              <a:rPr lang="en-IN" dirty="0"/>
              <a:t>OS provide file system manipulation functionalities like create, read, write and delete a file.</a:t>
            </a:r>
          </a:p>
          <a:p>
            <a:pPr lvl="1"/>
            <a:r>
              <a:rPr lang="en-IN" dirty="0"/>
              <a:t>OS gives permission to the program for operation on file.</a:t>
            </a:r>
          </a:p>
          <a:p>
            <a:pPr lvl="1"/>
            <a:r>
              <a:rPr lang="en-IN" dirty="0"/>
              <a:t>Permission varies from read only, read-write, and denied.</a:t>
            </a:r>
          </a:p>
          <a:p>
            <a:pPr lvl="1"/>
            <a:r>
              <a:rPr lang="en-IN" dirty="0"/>
              <a:t>OS provides an interface to the user to create/delete files.</a:t>
            </a:r>
          </a:p>
          <a:p>
            <a:pPr lvl="1"/>
            <a:r>
              <a:rPr lang="en-IN" dirty="0"/>
              <a:t>OS provides an interface to the user to create/delete directories.</a:t>
            </a:r>
          </a:p>
          <a:p>
            <a:pPr lvl="1"/>
            <a:r>
              <a:rPr lang="en-IN" dirty="0"/>
              <a:t>OS provides an interface to create the backup of file system.</a:t>
            </a:r>
          </a:p>
          <a:p>
            <a:pPr lvl="2"/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US" sz="2400" b="1" dirty="0"/>
              <a:t>Error Detection: </a:t>
            </a:r>
            <a:endParaRPr lang="en-IN" sz="2400" b="1" dirty="0"/>
          </a:p>
          <a:p>
            <a:pPr lvl="1"/>
            <a:r>
              <a:rPr lang="en-IN" dirty="0"/>
              <a:t>Errors may be in user programs. CPU and memory hardware, or in I/O devices. </a:t>
            </a:r>
          </a:p>
          <a:p>
            <a:pPr lvl="1"/>
            <a:r>
              <a:rPr lang="en-IN" dirty="0"/>
              <a:t>OS detects such errors and makes user aware from them.</a:t>
            </a:r>
          </a:p>
        </p:txBody>
      </p:sp>
    </p:spTree>
    <p:extLst>
      <p:ext uri="{BB962C8B-B14F-4D97-AF65-F5344CB8AC3E}">
        <p14:creationId xmlns:p14="http://schemas.microsoft.com/office/powerpoint/2010/main" val="58897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System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Resource Allocation :</a:t>
            </a:r>
            <a:endParaRPr lang="en-IN" dirty="0"/>
          </a:p>
          <a:p>
            <a:pPr lvl="1"/>
            <a:r>
              <a:rPr lang="en-IN" dirty="0"/>
              <a:t>When multiple user are sharing the same machine or when multiple jobs are running simultaneously, there is a need of fair allocation of resources among them.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Accounting :</a:t>
            </a:r>
            <a:endParaRPr lang="en-IN" dirty="0"/>
          </a:p>
          <a:p>
            <a:pPr lvl="1"/>
            <a:r>
              <a:rPr lang="en-IN" dirty="0"/>
              <a:t>OS keeps information about the users uses which resources, and for what duration of time.</a:t>
            </a:r>
          </a:p>
          <a:p>
            <a:pPr lvl="1"/>
            <a:r>
              <a:rPr lang="en-IN" dirty="0"/>
              <a:t>Such information can be used to bill the users in multi-user environment, or to get information of future usage of resources.</a:t>
            </a:r>
          </a:p>
          <a:p>
            <a:pPr marL="1335087" lvl="2" indent="-457200"/>
            <a:endParaRPr lang="en-IN" dirty="0"/>
          </a:p>
          <a:p>
            <a:pPr marL="1335087" lvl="2" indent="-45720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7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Services- System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Security :</a:t>
            </a:r>
            <a:endParaRPr lang="en-IN" dirty="0"/>
          </a:p>
          <a:p>
            <a:pPr lvl="1"/>
            <a:r>
              <a:rPr lang="en-IN" dirty="0"/>
              <a:t>OS ensures that all access to system resources is controlled.</a:t>
            </a:r>
          </a:p>
          <a:p>
            <a:pPr lvl="1"/>
            <a:r>
              <a:rPr lang="en-IN" dirty="0"/>
              <a:t>Also security from outsiders is important.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61" y="2209628"/>
            <a:ext cx="5068592" cy="29566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227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System Calls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8780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System calls?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 call is a </a:t>
            </a:r>
            <a:r>
              <a:rPr lang="en-US" b="1" dirty="0">
                <a:solidFill>
                  <a:schemeClr val="accent6"/>
                </a:solidFill>
              </a:rPr>
              <a:t>mechanism </a:t>
            </a:r>
            <a:r>
              <a:rPr lang="en-US" dirty="0"/>
              <a:t>that provides the </a:t>
            </a:r>
            <a:r>
              <a:rPr lang="en-US" b="1" dirty="0">
                <a:solidFill>
                  <a:schemeClr val="accent6"/>
                </a:solidFill>
              </a:rPr>
              <a:t>interface between a process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the operating system</a:t>
            </a:r>
            <a:r>
              <a:rPr lang="en-US" dirty="0"/>
              <a:t>.</a:t>
            </a:r>
          </a:p>
          <a:p>
            <a:r>
              <a:rPr lang="en-US" dirty="0"/>
              <a:t>A computer program makes a system call </a:t>
            </a:r>
            <a:r>
              <a:rPr lang="en-US" b="1" dirty="0">
                <a:solidFill>
                  <a:schemeClr val="accent6"/>
                </a:solidFill>
              </a:rPr>
              <a:t>when it makes a request to the operating system's kernel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kernel</a:t>
            </a:r>
            <a:r>
              <a:rPr lang="en-US" dirty="0"/>
              <a:t> is a core component of an operating system (OS) that acts as a </a:t>
            </a:r>
            <a:r>
              <a:rPr lang="en-US" b="1" dirty="0">
                <a:solidFill>
                  <a:schemeClr val="accent6"/>
                </a:solidFill>
              </a:rPr>
              <a:t>bridge</a:t>
            </a:r>
            <a:r>
              <a:rPr lang="en-US" dirty="0"/>
              <a:t> between the </a:t>
            </a:r>
            <a:r>
              <a:rPr lang="en-US" b="1" dirty="0">
                <a:solidFill>
                  <a:schemeClr val="accent6"/>
                </a:solidFill>
              </a:rPr>
              <a:t>OS</a:t>
            </a:r>
            <a:r>
              <a:rPr lang="en-US" dirty="0"/>
              <a:t> and the </a:t>
            </a:r>
            <a:r>
              <a:rPr lang="en-US" b="1" dirty="0">
                <a:solidFill>
                  <a:schemeClr val="accent6"/>
                </a:solidFill>
              </a:rPr>
              <a:t>computer's hardware</a:t>
            </a:r>
            <a:r>
              <a:rPr lang="en-US" dirty="0"/>
              <a:t>.</a:t>
            </a:r>
          </a:p>
          <a:p>
            <a:r>
              <a:rPr lang="en-US" dirty="0"/>
              <a:t>When the application requests the help of the operating system that time system call occurs.</a:t>
            </a:r>
          </a:p>
          <a:p>
            <a:r>
              <a:rPr lang="en-US" dirty="0"/>
              <a:t>When it will require hardware then only it will come to kernel mode.</a:t>
            </a:r>
          </a:p>
          <a:p>
            <a:r>
              <a:rPr lang="en-US" dirty="0"/>
              <a:t>After compilation of the work of hardware resources it will again come back to user mode.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4435545"/>
            <a:ext cx="9029700" cy="20859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3835" y="4564133"/>
            <a:ext cx="356778" cy="685799"/>
          </a:xfrm>
          <a:prstGeom prst="downArrow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222286" y="6030743"/>
            <a:ext cx="392702" cy="490776"/>
          </a:xfrm>
          <a:prstGeom prst="upArrow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04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/>
              <a:t>Process Control</a:t>
            </a:r>
            <a:r>
              <a:rPr lang="en-US" sz="2200" dirty="0"/>
              <a:t>: This system calls perform the task of </a:t>
            </a:r>
            <a:r>
              <a:rPr lang="en-US" sz="2200" b="1" dirty="0">
                <a:solidFill>
                  <a:schemeClr val="accent6"/>
                </a:solidFill>
              </a:rPr>
              <a:t>process creation, process termination</a:t>
            </a:r>
            <a:r>
              <a:rPr lang="en-US" sz="2200" dirty="0"/>
              <a:t>, etc.</a:t>
            </a:r>
          </a:p>
          <a:p>
            <a:pPr lvl="1"/>
            <a:r>
              <a:rPr lang="en-US" sz="2200" dirty="0"/>
              <a:t>Functions:</a:t>
            </a:r>
          </a:p>
          <a:p>
            <a:pPr lvl="2"/>
            <a:r>
              <a:rPr lang="en-US" sz="2200" dirty="0"/>
              <a:t>End and abort</a:t>
            </a:r>
          </a:p>
          <a:p>
            <a:pPr lvl="2"/>
            <a:r>
              <a:rPr lang="en-US" sz="2200" dirty="0"/>
              <a:t>Load and execute</a:t>
            </a:r>
          </a:p>
          <a:p>
            <a:pPr lvl="2"/>
            <a:r>
              <a:rPr lang="en-US" sz="2200" dirty="0"/>
              <a:t>Create process and terminate process</a:t>
            </a:r>
          </a:p>
          <a:p>
            <a:pPr lvl="2"/>
            <a:r>
              <a:rPr lang="en-US" sz="2200" dirty="0"/>
              <a:t>Wait and signed event</a:t>
            </a:r>
          </a:p>
          <a:p>
            <a:pPr lvl="2"/>
            <a:r>
              <a:rPr lang="en-US" sz="2200" dirty="0"/>
              <a:t>Allocate and free memory</a:t>
            </a:r>
          </a:p>
          <a:p>
            <a:r>
              <a:rPr lang="en-US" sz="2200" b="1" dirty="0"/>
              <a:t>File Management</a:t>
            </a:r>
            <a:r>
              <a:rPr lang="en-US" sz="2200" dirty="0"/>
              <a:t>: File management system calls handle </a:t>
            </a:r>
            <a:r>
              <a:rPr lang="en-US" sz="2200" b="1" dirty="0">
                <a:solidFill>
                  <a:schemeClr val="accent6"/>
                </a:solidFill>
              </a:rPr>
              <a:t>file manipulation jobs like creating a file, reading, and writing</a:t>
            </a:r>
            <a:r>
              <a:rPr lang="en-US" sz="2200" dirty="0"/>
              <a:t>, etc.</a:t>
            </a:r>
          </a:p>
          <a:p>
            <a:pPr lvl="1"/>
            <a:r>
              <a:rPr lang="en-US" sz="2200" dirty="0"/>
              <a:t>Functions:</a:t>
            </a:r>
          </a:p>
          <a:p>
            <a:pPr lvl="2"/>
            <a:r>
              <a:rPr lang="en-US" sz="2200" dirty="0"/>
              <a:t>Create a file</a:t>
            </a:r>
          </a:p>
          <a:p>
            <a:pPr lvl="2"/>
            <a:r>
              <a:rPr lang="en-US" sz="2200" dirty="0"/>
              <a:t>Delete file</a:t>
            </a:r>
          </a:p>
          <a:p>
            <a:pPr lvl="2"/>
            <a:r>
              <a:rPr lang="en-US" sz="2200" dirty="0"/>
              <a:t>Open and close file</a:t>
            </a:r>
          </a:p>
          <a:p>
            <a:pPr lvl="2"/>
            <a:r>
              <a:rPr lang="en-US" sz="2200" dirty="0"/>
              <a:t>Read, write and reposition</a:t>
            </a:r>
          </a:p>
          <a:p>
            <a:pPr lvl="2"/>
            <a:r>
              <a:rPr lang="en-US" sz="2200" dirty="0"/>
              <a:t>Get and set file attributes</a:t>
            </a:r>
          </a:p>
        </p:txBody>
      </p:sp>
    </p:spTree>
    <p:extLst>
      <p:ext uri="{BB962C8B-B14F-4D97-AF65-F5344CB8AC3E}">
        <p14:creationId xmlns:p14="http://schemas.microsoft.com/office/powerpoint/2010/main" val="52781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Device Management</a:t>
            </a:r>
            <a:r>
              <a:rPr lang="en-US" dirty="0"/>
              <a:t>: Device management does the job of </a:t>
            </a:r>
            <a:r>
              <a:rPr lang="en-US" b="1" dirty="0">
                <a:solidFill>
                  <a:schemeClr val="accent6"/>
                </a:solidFill>
              </a:rPr>
              <a:t>device manipulation like reading from device buffers, writing into device buffers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Functions</a:t>
            </a:r>
          </a:p>
          <a:p>
            <a:pPr lvl="2"/>
            <a:r>
              <a:rPr lang="en-US" dirty="0"/>
              <a:t>Request and release device</a:t>
            </a:r>
          </a:p>
          <a:p>
            <a:pPr lvl="2"/>
            <a:r>
              <a:rPr lang="en-US" dirty="0"/>
              <a:t>Logically attach/ detach devices</a:t>
            </a:r>
          </a:p>
          <a:p>
            <a:pPr lvl="2"/>
            <a:r>
              <a:rPr lang="en-US" dirty="0"/>
              <a:t>Get and Set device attributes</a:t>
            </a:r>
          </a:p>
          <a:p>
            <a:r>
              <a:rPr lang="en-US" b="1" dirty="0"/>
              <a:t>Information Maintenance</a:t>
            </a:r>
            <a:r>
              <a:rPr lang="en-US" dirty="0"/>
              <a:t>: It </a:t>
            </a:r>
            <a:r>
              <a:rPr lang="en-US" b="1" dirty="0">
                <a:solidFill>
                  <a:schemeClr val="accent6"/>
                </a:solidFill>
              </a:rPr>
              <a:t>handles information </a:t>
            </a:r>
            <a:r>
              <a:rPr lang="en-US" dirty="0"/>
              <a:t>and its </a:t>
            </a:r>
            <a:r>
              <a:rPr lang="en-US" b="1" dirty="0">
                <a:solidFill>
                  <a:schemeClr val="accent6"/>
                </a:solidFill>
              </a:rPr>
              <a:t>transfer between the OS and user program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Functions:</a:t>
            </a:r>
          </a:p>
          <a:p>
            <a:pPr lvl="2"/>
            <a:r>
              <a:rPr lang="en-US" dirty="0"/>
              <a:t>Get or set time and date</a:t>
            </a:r>
          </a:p>
          <a:p>
            <a:pPr lvl="2"/>
            <a:r>
              <a:rPr lang="en-US" dirty="0"/>
              <a:t>Get process and device attributes</a:t>
            </a:r>
          </a:p>
        </p:txBody>
      </p:sp>
    </p:spTree>
    <p:extLst>
      <p:ext uri="{BB962C8B-B14F-4D97-AF65-F5344CB8AC3E}">
        <p14:creationId xmlns:p14="http://schemas.microsoft.com/office/powerpoint/2010/main" val="149148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Programs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8</a:t>
            </a:r>
          </a:p>
        </p:txBody>
      </p:sp>
    </p:spTree>
    <p:extLst>
      <p:ext uri="{BB962C8B-B14F-4D97-AF65-F5344CB8AC3E}">
        <p14:creationId xmlns:p14="http://schemas.microsoft.com/office/powerpoint/2010/main" val="34672099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System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operating system a user is able to use different types of system programs and the system program is </a:t>
            </a:r>
            <a:r>
              <a:rPr lang="en-US" b="1" dirty="0">
                <a:solidFill>
                  <a:schemeClr val="accent6"/>
                </a:solidFill>
              </a:rPr>
              <a:t>responsible</a:t>
            </a:r>
            <a:r>
              <a:rPr lang="en-US" dirty="0"/>
              <a:t> for all the application</a:t>
            </a:r>
            <a:r>
              <a:rPr lang="en-US" b="1" dirty="0">
                <a:solidFill>
                  <a:schemeClr val="accent6"/>
                </a:solidFill>
              </a:rPr>
              <a:t> software performance </a:t>
            </a:r>
            <a:r>
              <a:rPr lang="en-US" dirty="0"/>
              <a:t>of the computer.</a:t>
            </a:r>
          </a:p>
          <a:p>
            <a:r>
              <a:rPr lang="en-US" dirty="0"/>
              <a:t>The system programs are responsible for the </a:t>
            </a:r>
            <a:r>
              <a:rPr lang="en-US" b="1" dirty="0">
                <a:solidFill>
                  <a:schemeClr val="accent6"/>
                </a:solidFill>
              </a:rPr>
              <a:t>development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execution</a:t>
            </a:r>
            <a:r>
              <a:rPr lang="en-US" dirty="0"/>
              <a:t> of a </a:t>
            </a:r>
            <a:r>
              <a:rPr lang="en-US" b="1" dirty="0">
                <a:solidFill>
                  <a:schemeClr val="accent6"/>
                </a:solidFill>
              </a:rPr>
              <a:t>program</a:t>
            </a:r>
            <a:r>
              <a:rPr lang="en-US" dirty="0"/>
              <a:t>.</a:t>
            </a:r>
          </a:p>
          <a:p>
            <a:r>
              <a:rPr lang="en-US" dirty="0"/>
              <a:t>System programs communicate and coordinate the activities and functions of hardware and software of a system and also controls the operations of the hardware. </a:t>
            </a:r>
          </a:p>
          <a:p>
            <a:r>
              <a:rPr lang="en-US" dirty="0"/>
              <a:t>Following are various types of task perform by programs: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File management 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Status information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Programming language supports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Programming Loading and execution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Communication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Background services</a:t>
            </a:r>
            <a:endParaRPr lang="en-US" dirty="0"/>
          </a:p>
          <a:p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1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Types of System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Utility Program</a:t>
            </a:r>
          </a:p>
          <a:p>
            <a:pPr lvl="1"/>
            <a:r>
              <a:rPr lang="en-US" dirty="0"/>
              <a:t>It manages, maintains and controls various computer resources. 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Example</a:t>
            </a:r>
            <a:r>
              <a:rPr lang="en-IN" dirty="0"/>
              <a:t> − antivirus software, backup software.</a:t>
            </a:r>
            <a:endParaRPr lang="en-US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Device Drivers</a:t>
            </a:r>
          </a:p>
          <a:p>
            <a:pPr lvl="1"/>
            <a:r>
              <a:rPr lang="en-US" dirty="0"/>
              <a:t>It controls the particular device connected to a computer system. Device drivers basically act as a translator between the operating system and device connected to the system.</a:t>
            </a:r>
          </a:p>
          <a:p>
            <a:pPr lvl="1"/>
            <a:r>
              <a:rPr lang="en-IN" b="1" dirty="0">
                <a:solidFill>
                  <a:schemeClr val="accent6"/>
                </a:solidFill>
              </a:rPr>
              <a:t>Example</a:t>
            </a:r>
            <a:r>
              <a:rPr lang="en-IN" dirty="0"/>
              <a:t> − printer driver, scanner driver, storage device driver etc.</a:t>
            </a:r>
          </a:p>
          <a:p>
            <a:pPr marL="598488" lvl="2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200" dirty="0"/>
          </a:p>
          <a:p>
            <a:pPr marL="457200" lvl="1" indent="0">
              <a:buNone/>
            </a:pP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4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System</a:t>
            </a:r>
            <a:r>
              <a:rPr lang="en-US" dirty="0"/>
              <a:t> </a:t>
            </a: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9</a:t>
            </a:r>
          </a:p>
        </p:txBody>
      </p:sp>
    </p:spTree>
    <p:extLst>
      <p:ext uri="{BB962C8B-B14F-4D97-AF65-F5344CB8AC3E}">
        <p14:creationId xmlns:p14="http://schemas.microsoft.com/office/powerpoint/2010/main" val="28236639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operating system is a structure that allows the </a:t>
            </a:r>
            <a:r>
              <a:rPr lang="en-US" b="1" dirty="0">
                <a:solidFill>
                  <a:schemeClr val="accent6"/>
                </a:solidFill>
              </a:rPr>
              <a:t>user</a:t>
            </a:r>
            <a:r>
              <a:rPr lang="en-US" dirty="0"/>
              <a:t> application programs to </a:t>
            </a:r>
            <a:r>
              <a:rPr lang="en-US" b="1" dirty="0">
                <a:solidFill>
                  <a:schemeClr val="accent6"/>
                </a:solidFill>
              </a:rPr>
              <a:t>interact</a:t>
            </a:r>
            <a:r>
              <a:rPr lang="en-US" dirty="0"/>
              <a:t> with the system </a:t>
            </a:r>
            <a:r>
              <a:rPr lang="en-US" b="1" dirty="0">
                <a:solidFill>
                  <a:schemeClr val="accent6"/>
                </a:solidFill>
              </a:rPr>
              <a:t>hardware</a:t>
            </a:r>
            <a:r>
              <a:rPr lang="en-US" dirty="0"/>
              <a:t>.</a:t>
            </a:r>
          </a:p>
          <a:p>
            <a:r>
              <a:rPr lang="en-US" dirty="0"/>
              <a:t>Following are various popular implementations of Operating System structures.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Monolithic systems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Layered systems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Client-server model</a:t>
            </a:r>
          </a:p>
        </p:txBody>
      </p:sp>
    </p:spTree>
    <p:extLst>
      <p:ext uri="{BB962C8B-B14F-4D97-AF65-F5344CB8AC3E}">
        <p14:creationId xmlns:p14="http://schemas.microsoft.com/office/powerpoint/2010/main" val="13502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5"/>
            <a:ext cx="7164970" cy="5649046"/>
          </a:xfrm>
        </p:spPr>
        <p:txBody>
          <a:bodyPr/>
          <a:lstStyle/>
          <a:p>
            <a:r>
              <a:rPr lang="en-US" dirty="0"/>
              <a:t>In monolith structured operating system, a </a:t>
            </a:r>
            <a:r>
              <a:rPr lang="en-US" b="1" dirty="0">
                <a:solidFill>
                  <a:schemeClr val="accent6"/>
                </a:solidFill>
              </a:rPr>
              <a:t>central piece of code called kernel</a:t>
            </a:r>
            <a:r>
              <a:rPr lang="en-US" dirty="0"/>
              <a:t> is responsible for all major operations of an operating system. </a:t>
            </a:r>
          </a:p>
          <a:p>
            <a:r>
              <a:rPr lang="en-US" dirty="0"/>
              <a:t>Such operations includes file management, memory management, device management and so on. </a:t>
            </a:r>
          </a:p>
          <a:p>
            <a:r>
              <a:rPr lang="en-US" dirty="0"/>
              <a:t>The kernel is the main component of an operating system and </a:t>
            </a:r>
            <a:r>
              <a:rPr lang="en-US" b="1" dirty="0">
                <a:solidFill>
                  <a:schemeClr val="accent6"/>
                </a:solidFill>
              </a:rPr>
              <a:t>it provides all the services of an operating system.</a:t>
            </a:r>
          </a:p>
          <a:p>
            <a:r>
              <a:rPr lang="en-US" dirty="0"/>
              <a:t>The kernel has access to the all the resources and it acts as an </a:t>
            </a:r>
            <a:r>
              <a:rPr lang="en-US" b="1" dirty="0">
                <a:solidFill>
                  <a:schemeClr val="accent6"/>
                </a:solidFill>
              </a:rPr>
              <a:t>interface</a:t>
            </a:r>
            <a:r>
              <a:rPr lang="en-US" dirty="0"/>
              <a:t> with </a:t>
            </a:r>
            <a:r>
              <a:rPr lang="en-US" b="1" dirty="0">
                <a:solidFill>
                  <a:schemeClr val="accent6"/>
                </a:solidFill>
              </a:rPr>
              <a:t>application programs </a:t>
            </a:r>
            <a:r>
              <a:rPr lang="en-US" dirty="0"/>
              <a:t>and the </a:t>
            </a:r>
            <a:r>
              <a:rPr lang="en-US" b="1" dirty="0">
                <a:solidFill>
                  <a:schemeClr val="accent6"/>
                </a:solidFill>
              </a:rPr>
              <a:t>underlying hardware</a:t>
            </a:r>
            <a:r>
              <a:rPr lang="en-US" dirty="0"/>
              <a:t>. </a:t>
            </a:r>
          </a:p>
          <a:p>
            <a:r>
              <a:rPr lang="en-US" dirty="0"/>
              <a:t>A monolithic kernel structure promotes </a:t>
            </a:r>
            <a:r>
              <a:rPr lang="en-US" b="1" dirty="0">
                <a:solidFill>
                  <a:schemeClr val="accent6"/>
                </a:solidFill>
              </a:rPr>
              <a:t>timesharing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multiprogramming</a:t>
            </a:r>
            <a:r>
              <a:rPr lang="en-US" dirty="0"/>
              <a:t> model and was used in old banking systems.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6345703" y="863445"/>
            <a:ext cx="5541497" cy="564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43" name="Content Placeholder 2"/>
          <p:cNvSpPr txBox="1">
            <a:spLocks/>
          </p:cNvSpPr>
          <p:nvPr/>
        </p:nvSpPr>
        <p:spPr>
          <a:xfrm>
            <a:off x="5783428" y="863445"/>
            <a:ext cx="5422454" cy="564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0" y="863445"/>
            <a:ext cx="4895850" cy="494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systems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  <a:p>
            <a:pPr lvl="1"/>
            <a:r>
              <a:rPr lang="en-IN" b="1" dirty="0"/>
              <a:t>Easy Development :</a:t>
            </a:r>
          </a:p>
          <a:p>
            <a:pPr lvl="2"/>
            <a:r>
              <a:rPr lang="en-US" dirty="0"/>
              <a:t>As kernel is the only layer to develop with all major functionalities, it is easier to design and develop.</a:t>
            </a:r>
            <a:endParaRPr lang="en-IN" dirty="0"/>
          </a:p>
          <a:p>
            <a:pPr lvl="1"/>
            <a:r>
              <a:rPr lang="en-IN" b="1" dirty="0"/>
              <a:t>Performance:</a:t>
            </a:r>
          </a:p>
          <a:p>
            <a:pPr lvl="2"/>
            <a:r>
              <a:rPr lang="en-US" dirty="0"/>
              <a:t>As Kernel is responsible for memory management, other operations and have direct access to the hardware, it performs better.</a:t>
            </a:r>
            <a:endParaRPr lang="en-IN" dirty="0"/>
          </a:p>
          <a:p>
            <a:r>
              <a:rPr lang="en-IN" b="1" dirty="0"/>
              <a:t>Disadvantages</a:t>
            </a:r>
          </a:p>
          <a:p>
            <a:pPr lvl="1"/>
            <a:r>
              <a:rPr lang="en-IN" b="1" dirty="0"/>
              <a:t>Crash Prone:</a:t>
            </a:r>
          </a:p>
          <a:p>
            <a:pPr lvl="2"/>
            <a:r>
              <a:rPr lang="en-US" dirty="0"/>
              <a:t> As Kernel is responsible for all functions, if one function fails entire operating system fails.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56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systems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2D7EFE-F920-FF89-298D-38BB6EDD8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116784" cy="5590565"/>
          </a:xfrm>
        </p:spPr>
        <p:txBody>
          <a:bodyPr/>
          <a:lstStyle/>
          <a:p>
            <a:r>
              <a:rPr lang="en-US" dirty="0"/>
              <a:t>In this system, the OS is organized as a </a:t>
            </a:r>
            <a:r>
              <a:rPr lang="en-US" b="1" dirty="0">
                <a:solidFill>
                  <a:schemeClr val="accent6"/>
                </a:solidFill>
              </a:rPr>
              <a:t>hierarchy of layers</a:t>
            </a:r>
            <a:r>
              <a:rPr lang="en-US" dirty="0"/>
              <a:t>.</a:t>
            </a:r>
          </a:p>
          <a:p>
            <a:r>
              <a:rPr lang="en-US" dirty="0"/>
              <a:t>In this structure, the OS is broken into a number of layers (levels). The bottom layer (</a:t>
            </a:r>
            <a:r>
              <a:rPr lang="en-US" b="1" dirty="0">
                <a:solidFill>
                  <a:schemeClr val="accent6"/>
                </a:solidFill>
              </a:rPr>
              <a:t>layer 0</a:t>
            </a:r>
            <a:r>
              <a:rPr lang="en-US" dirty="0"/>
              <a:t>) is the hardware, and the topmost layer (</a:t>
            </a:r>
            <a:r>
              <a:rPr lang="en-US" b="1" dirty="0">
                <a:solidFill>
                  <a:schemeClr val="accent6"/>
                </a:solidFill>
              </a:rPr>
              <a:t>layer N</a:t>
            </a:r>
            <a:r>
              <a:rPr lang="en-US" dirty="0"/>
              <a:t>) is the user interface. </a:t>
            </a:r>
          </a:p>
          <a:p>
            <a:r>
              <a:rPr lang="en-US" dirty="0"/>
              <a:t>The functionalities of each layer are separated in this method.</a:t>
            </a:r>
          </a:p>
          <a:p>
            <a:r>
              <a:rPr lang="en-US" dirty="0"/>
              <a:t>This simplifies the </a:t>
            </a:r>
            <a:r>
              <a:rPr lang="en-US" b="1" dirty="0">
                <a:solidFill>
                  <a:schemeClr val="accent6"/>
                </a:solidFill>
              </a:rPr>
              <a:t>debugging process</a:t>
            </a:r>
            <a:r>
              <a:rPr lang="en-US" dirty="0"/>
              <a:t>, if lower-level layers are debugged and an error occurs during debugging, then the error must be on that layer only, as the lower-level layers have already been debugged. 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68A0AD"/>
              </a:clrFrom>
              <a:clrTo>
                <a:srgbClr val="68A0A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6211" y="1369358"/>
            <a:ext cx="3810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2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are divided into two categories: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Servers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/>
              <a:t>Provide services 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Clients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/>
              <a:t>Uses services</a:t>
            </a:r>
          </a:p>
          <a:p>
            <a:r>
              <a:rPr lang="en-US" dirty="0"/>
              <a:t>Client and server </a:t>
            </a:r>
            <a:r>
              <a:rPr lang="en-US" b="1" dirty="0">
                <a:solidFill>
                  <a:schemeClr val="accent6"/>
                </a:solidFill>
              </a:rPr>
              <a:t>run on different computers, connected by LAN or WAN and communicate via message passing</a:t>
            </a:r>
            <a:r>
              <a:rPr lang="en-US" dirty="0"/>
              <a:t>.</a:t>
            </a:r>
          </a:p>
          <a:p>
            <a:r>
              <a:rPr lang="en-US" dirty="0"/>
              <a:t>To obtain a service, </a:t>
            </a:r>
            <a:r>
              <a:rPr lang="en-US" b="1" dirty="0">
                <a:solidFill>
                  <a:schemeClr val="accent6"/>
                </a:solidFill>
              </a:rPr>
              <a:t>a client construct a message </a:t>
            </a:r>
            <a:r>
              <a:rPr lang="en-US" dirty="0"/>
              <a:t>saying </a:t>
            </a:r>
            <a:r>
              <a:rPr lang="en-US" b="1" dirty="0">
                <a:solidFill>
                  <a:schemeClr val="accent6"/>
                </a:solidFill>
              </a:rPr>
              <a:t>what it wants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send it to server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server then does the work and send reply back to the client</a:t>
            </a:r>
            <a:r>
              <a:rPr lang="en-US" dirty="0"/>
              <a:t>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8F23307-BE56-EDA6-B4BB-C5A7B702B74D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4314687"/>
          <a:ext cx="1572126" cy="7416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72126">
                  <a:extLst>
                    <a:ext uri="{9D8B030D-6E8A-4147-A177-3AD203B41FA5}">
                      <a16:colId xmlns:a16="http://schemas.microsoft.com/office/drawing/2014/main" val="322444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Client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4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Kernel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87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18855D-642D-04E0-A255-83A340917F63}"/>
              </a:ext>
            </a:extLst>
          </p:cNvPr>
          <p:cNvGraphicFramePr>
            <a:graphicFrameLocks noGrp="1"/>
          </p:cNvGraphicFramePr>
          <p:nvPr/>
        </p:nvGraphicFramePr>
        <p:xfrm>
          <a:off x="3248526" y="4314687"/>
          <a:ext cx="1572126" cy="7416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72126">
                  <a:extLst>
                    <a:ext uri="{9D8B030D-6E8A-4147-A177-3AD203B41FA5}">
                      <a16:colId xmlns:a16="http://schemas.microsoft.com/office/drawing/2014/main" val="322444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Server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4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Kernel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87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4812D9-10D2-E241-DDFB-31C5402F0029}"/>
              </a:ext>
            </a:extLst>
          </p:cNvPr>
          <p:cNvGraphicFramePr>
            <a:graphicFrameLocks noGrp="1"/>
          </p:cNvGraphicFramePr>
          <p:nvPr/>
        </p:nvGraphicFramePr>
        <p:xfrm>
          <a:off x="5418406" y="4314687"/>
          <a:ext cx="1696268" cy="7416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96268">
                  <a:extLst>
                    <a:ext uri="{9D8B030D-6E8A-4147-A177-3AD203B41FA5}">
                      <a16:colId xmlns:a16="http://schemas.microsoft.com/office/drawing/2014/main" val="322444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 Server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4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Kernel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875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D313FBD-A0A0-7D75-A11D-B55AD263EC44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4314687"/>
          <a:ext cx="1753276" cy="7416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753276">
                  <a:extLst>
                    <a:ext uri="{9D8B030D-6E8A-4147-A177-3AD203B41FA5}">
                      <a16:colId xmlns:a16="http://schemas.microsoft.com/office/drawing/2014/main" val="322444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Terminal Server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4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Kernel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875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094D0C-5ACF-1E60-1948-D17170D6192C}"/>
              </a:ext>
            </a:extLst>
          </p:cNvPr>
          <p:cNvCxnSpPr>
            <a:cxnSpLocks/>
          </p:cNvCxnSpPr>
          <p:nvPr/>
        </p:nvCxnSpPr>
        <p:spPr>
          <a:xfrm>
            <a:off x="842211" y="5590674"/>
            <a:ext cx="941223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B9A7AC-8970-3BD4-77B7-D4F12054E859}"/>
              </a:ext>
            </a:extLst>
          </p:cNvPr>
          <p:cNvCxnSpPr>
            <a:cxnSpLocks/>
          </p:cNvCxnSpPr>
          <p:nvPr/>
        </p:nvCxnSpPr>
        <p:spPr>
          <a:xfrm flipV="1">
            <a:off x="1864424" y="5056367"/>
            <a:ext cx="0" cy="53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BD9872-4A16-EAA5-58AD-00E6E9805BB4}"/>
              </a:ext>
            </a:extLst>
          </p:cNvPr>
          <p:cNvCxnSpPr>
            <a:cxnSpLocks/>
          </p:cNvCxnSpPr>
          <p:nvPr/>
        </p:nvCxnSpPr>
        <p:spPr>
          <a:xfrm flipV="1">
            <a:off x="4038129" y="5056367"/>
            <a:ext cx="0" cy="53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F9F81D-4826-3BC1-B377-C6582B093FFD}"/>
              </a:ext>
            </a:extLst>
          </p:cNvPr>
          <p:cNvCxnSpPr>
            <a:cxnSpLocks/>
          </p:cNvCxnSpPr>
          <p:nvPr/>
        </p:nvCxnSpPr>
        <p:spPr>
          <a:xfrm flipV="1">
            <a:off x="6288505" y="5056367"/>
            <a:ext cx="0" cy="53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8715E1-D47B-675D-5253-7EB3494090D8}"/>
              </a:ext>
            </a:extLst>
          </p:cNvPr>
          <p:cNvCxnSpPr>
            <a:cxnSpLocks/>
          </p:cNvCxnSpPr>
          <p:nvPr/>
        </p:nvCxnSpPr>
        <p:spPr>
          <a:xfrm flipV="1">
            <a:off x="8674298" y="5056367"/>
            <a:ext cx="0" cy="53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3E4CCFD-F07F-9106-2138-FD4745C59318}"/>
              </a:ext>
            </a:extLst>
          </p:cNvPr>
          <p:cNvSpPr/>
          <p:nvPr/>
        </p:nvSpPr>
        <p:spPr>
          <a:xfrm>
            <a:off x="1769119" y="5534535"/>
            <a:ext cx="167488" cy="112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9B42F43-A94D-3227-4282-25AB8A348986}"/>
              </a:ext>
            </a:extLst>
          </p:cNvPr>
          <p:cNvSpPr/>
          <p:nvPr/>
        </p:nvSpPr>
        <p:spPr>
          <a:xfrm>
            <a:off x="3954385" y="5534535"/>
            <a:ext cx="167488" cy="112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55689F-B1DF-98BE-8001-20E3C1A91052}"/>
              </a:ext>
            </a:extLst>
          </p:cNvPr>
          <p:cNvSpPr/>
          <p:nvPr/>
        </p:nvSpPr>
        <p:spPr>
          <a:xfrm>
            <a:off x="6230597" y="5534535"/>
            <a:ext cx="167488" cy="112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11DE87-0724-DAB8-47F4-42A97EBE72E2}"/>
              </a:ext>
            </a:extLst>
          </p:cNvPr>
          <p:cNvSpPr/>
          <p:nvPr/>
        </p:nvSpPr>
        <p:spPr>
          <a:xfrm>
            <a:off x="8590554" y="5534535"/>
            <a:ext cx="167488" cy="112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41336-EAE0-6F71-7C4B-0F0C0017A29D}"/>
              </a:ext>
            </a:extLst>
          </p:cNvPr>
          <p:cNvSpPr txBox="1"/>
          <p:nvPr/>
        </p:nvSpPr>
        <p:spPr>
          <a:xfrm>
            <a:off x="1270860" y="4008367"/>
            <a:ext cx="12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1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928818-2D42-6C9F-8D68-CD97516C57FD}"/>
              </a:ext>
            </a:extLst>
          </p:cNvPr>
          <p:cNvSpPr txBox="1"/>
          <p:nvPr/>
        </p:nvSpPr>
        <p:spPr>
          <a:xfrm>
            <a:off x="3416822" y="4006414"/>
            <a:ext cx="12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2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2CF41-AC71-DD71-7D41-EEBFB6D19A2B}"/>
              </a:ext>
            </a:extLst>
          </p:cNvPr>
          <p:cNvSpPr txBox="1"/>
          <p:nvPr/>
        </p:nvSpPr>
        <p:spPr>
          <a:xfrm>
            <a:off x="5699031" y="4006414"/>
            <a:ext cx="12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3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DC55-33E9-9BFE-E7FF-3CDA1A411066}"/>
              </a:ext>
            </a:extLst>
          </p:cNvPr>
          <p:cNvSpPr txBox="1"/>
          <p:nvPr/>
        </p:nvSpPr>
        <p:spPr>
          <a:xfrm>
            <a:off x="8024593" y="4006414"/>
            <a:ext cx="12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4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0B0223-D099-7AF3-D9D0-90E0D76757F7}"/>
              </a:ext>
            </a:extLst>
          </p:cNvPr>
          <p:cNvSpPr txBox="1"/>
          <p:nvPr/>
        </p:nvSpPr>
        <p:spPr>
          <a:xfrm>
            <a:off x="9609420" y="4573232"/>
            <a:ext cx="1299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. . . 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AFBBB4-703B-7352-DDBB-5E1DEB10D946}"/>
              </a:ext>
            </a:extLst>
          </p:cNvPr>
          <p:cNvSpPr txBox="1"/>
          <p:nvPr/>
        </p:nvSpPr>
        <p:spPr>
          <a:xfrm>
            <a:off x="6867922" y="5538927"/>
            <a:ext cx="12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AE44C7-D6AE-6238-430B-E70DF58503C2}"/>
              </a:ext>
            </a:extLst>
          </p:cNvPr>
          <p:cNvSpPr txBox="1"/>
          <p:nvPr/>
        </p:nvSpPr>
        <p:spPr>
          <a:xfrm>
            <a:off x="2974432" y="5772055"/>
            <a:ext cx="174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from Client to Server</a:t>
            </a:r>
            <a:endParaRPr lang="en-I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886BD7B-20BD-BB79-CF7E-FE13DC7E5B2F}"/>
              </a:ext>
            </a:extLst>
          </p:cNvPr>
          <p:cNvCxnSpPr/>
          <p:nvPr/>
        </p:nvCxnSpPr>
        <p:spPr>
          <a:xfrm flipH="1" flipV="1">
            <a:off x="3248526" y="5342021"/>
            <a:ext cx="465221" cy="3689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row: U-Turn 39">
            <a:extLst>
              <a:ext uri="{FF2B5EF4-FFF2-40B4-BE49-F238E27FC236}">
                <a16:creationId xmlns:a16="http://schemas.microsoft.com/office/drawing/2014/main" id="{B2BADAE2-B7AE-3D0C-83C7-5A23227EBB5C}"/>
              </a:ext>
            </a:extLst>
          </p:cNvPr>
          <p:cNvSpPr/>
          <p:nvPr/>
        </p:nvSpPr>
        <p:spPr>
          <a:xfrm rot="10800000" flipH="1">
            <a:off x="2397149" y="4375746"/>
            <a:ext cx="1200519" cy="1094606"/>
          </a:xfrm>
          <a:prstGeom prst="uturnArrow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5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4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A191-C599-C8D9-80ED-87D90336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29C2A8A-1220-D5EB-491B-30C23A1A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Frequently asked Questions in Exam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BE06B1B-BD6B-6B73-9C8D-DF5BA4EB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6789"/>
            <a:ext cx="11929641" cy="559056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Define Operating System and discuss functions of Operating System.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Describe features of Operating System in brief.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Batch Operating System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Describe Multiprogramming Operating System with suitable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Discuss Time-Sharing Operating System with proper example.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Write a short note on Single User and Multiuser Operating System.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Discuss services of Operating System.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What is System Call? Explain types of System Calls.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Explain System Program with its types.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Describe different types of Operating System Structures with proper diagram.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9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</a:t>
            </a:r>
            <a:r>
              <a:rPr lang="en-US" dirty="0" smtClean="0"/>
              <a:t>mesh.thoriya@darshan.ac.in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9714233355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400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283884-0326-C47B-1F6B-60B10599E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Prof.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Umesh</a:t>
            </a:r>
            <a:r>
              <a:rPr lang="en-US" dirty="0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 </a:t>
            </a:r>
            <a:r>
              <a:rPr lang="en-US" dirty="0" err="1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Thoriya</a:t>
            </a:r>
            <a:endParaRPr lang="en-US" dirty="0">
              <a:gradFill flip="none" rotWithShape="1">
                <a:gsLst>
                  <a:gs pos="10000">
                    <a:srgbClr val="B71B1C"/>
                  </a:gs>
                  <a:gs pos="95000">
                    <a:srgbClr val="ED524F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F77176-AD0A-BB46-F2E7-9F5B86D3FA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20293" y="20384"/>
            <a:ext cx="4646358" cy="73465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Operating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="1" dirty="0"/>
              <a:t>System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2304CS205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E6A818-F69B-CD7F-6278-AF751628F0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5" name="Picture Placeholder 23">
            <a:extLst>
              <a:ext uri="{FF2B5EF4-FFF2-40B4-BE49-F238E27FC236}">
                <a16:creationId xmlns:a16="http://schemas.microsoft.com/office/drawing/2014/main" id="{3F3F50B8-ED61-2110-7E0B-7F324C1DDDC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3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14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18927</TotalTime>
  <Words>3585</Words>
  <Application>Microsoft Office PowerPoint</Application>
  <PresentationFormat>Widescreen</PresentationFormat>
  <Paragraphs>606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Roboto Condensed,Bold</vt:lpstr>
      <vt:lpstr>Arial</vt:lpstr>
      <vt:lpstr>Roboto Condensed Light</vt:lpstr>
      <vt:lpstr>Wingdings 3</vt:lpstr>
      <vt:lpstr>Roboto Condensed</vt:lpstr>
      <vt:lpstr>Wingdings 2</vt:lpstr>
      <vt:lpstr>Segoe UI Black</vt:lpstr>
      <vt:lpstr>Wingdings</vt:lpstr>
      <vt:lpstr>Calibri</vt:lpstr>
      <vt:lpstr>Office Theme</vt:lpstr>
      <vt:lpstr>Unit-1  Introduction of Operating System</vt:lpstr>
      <vt:lpstr>PowerPoint Presentation</vt:lpstr>
      <vt:lpstr>Operating System – Definition</vt:lpstr>
      <vt:lpstr>Why we need Operating System?</vt:lpstr>
      <vt:lpstr>Definition of Operating System</vt:lpstr>
      <vt:lpstr>Examples of Operating System</vt:lpstr>
      <vt:lpstr>Functions of Operating System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Summary of OS Functions</vt:lpstr>
      <vt:lpstr>Features of Operating System</vt:lpstr>
      <vt:lpstr>Features of Operating system</vt:lpstr>
      <vt:lpstr>Features of Operating system</vt:lpstr>
      <vt:lpstr>Features of Operating system</vt:lpstr>
      <vt:lpstr>Types of Operating System</vt:lpstr>
      <vt:lpstr>Types of Operating System</vt:lpstr>
      <vt:lpstr>Batch Operating System</vt:lpstr>
      <vt:lpstr>Batch Operating System</vt:lpstr>
      <vt:lpstr>Batch Operating System Working</vt:lpstr>
      <vt:lpstr>Batch Operating System</vt:lpstr>
      <vt:lpstr>Multiprogramming Operating System</vt:lpstr>
      <vt:lpstr>Multiprogramming Operating System</vt:lpstr>
      <vt:lpstr>Multiprogramming Operating System</vt:lpstr>
      <vt:lpstr>Multiprogramming Operating System</vt:lpstr>
      <vt:lpstr>Multiprogramming Operating System</vt:lpstr>
      <vt:lpstr>PowerPoint Presentation</vt:lpstr>
      <vt:lpstr>Multiprogramming Operating System</vt:lpstr>
      <vt:lpstr>Time-Sharing Operating System</vt:lpstr>
      <vt:lpstr>Time Sharing Operating System</vt:lpstr>
      <vt:lpstr>Time Sharing Operating System: Example</vt:lpstr>
      <vt:lpstr>PowerPoint Presentation</vt:lpstr>
      <vt:lpstr>Time Sharing Operating System</vt:lpstr>
      <vt:lpstr>Single User Operating System</vt:lpstr>
      <vt:lpstr>Single User Operating System</vt:lpstr>
      <vt:lpstr>Single User Operating System</vt:lpstr>
      <vt:lpstr>Types of Single User Operating System</vt:lpstr>
      <vt:lpstr>Multiuser Operating System</vt:lpstr>
      <vt:lpstr>Multiuser Operating System</vt:lpstr>
      <vt:lpstr>Multiuser Operating System</vt:lpstr>
      <vt:lpstr>Summary of Types of Operating System with Example</vt:lpstr>
      <vt:lpstr>Components of Operating System</vt:lpstr>
      <vt:lpstr>Components of OS</vt:lpstr>
      <vt:lpstr>Operating System Services</vt:lpstr>
      <vt:lpstr>Operating System Services</vt:lpstr>
      <vt:lpstr>Operating System Services- User Point of View</vt:lpstr>
      <vt:lpstr>Operating System Services- User Point of View</vt:lpstr>
      <vt:lpstr>Operating System Services- User Point of View</vt:lpstr>
      <vt:lpstr>Operating System Services- User Point of View</vt:lpstr>
      <vt:lpstr>Operating System Services- System Point of View</vt:lpstr>
      <vt:lpstr>Operating System Services- System Point of View</vt:lpstr>
      <vt:lpstr>System Calls</vt:lpstr>
      <vt:lpstr>What is System calls?</vt:lpstr>
      <vt:lpstr>Types of system calls</vt:lpstr>
      <vt:lpstr>Types of system calls</vt:lpstr>
      <vt:lpstr>Programs</vt:lpstr>
      <vt:lpstr>System Programs</vt:lpstr>
      <vt:lpstr>Types of System programs</vt:lpstr>
      <vt:lpstr>System Structure</vt:lpstr>
      <vt:lpstr>Operating Systems Structure</vt:lpstr>
      <vt:lpstr>Monolithic systems</vt:lpstr>
      <vt:lpstr>Monolithic systems </vt:lpstr>
      <vt:lpstr>Layered systems</vt:lpstr>
      <vt:lpstr>Client-Server model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1534</cp:revision>
  <dcterms:created xsi:type="dcterms:W3CDTF">2020-05-01T05:09:15Z</dcterms:created>
  <dcterms:modified xsi:type="dcterms:W3CDTF">2025-12-22T02:50:15Z</dcterms:modified>
</cp:coreProperties>
</file>