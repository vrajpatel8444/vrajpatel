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92" r:id="rId2"/>
    <p:sldMasterId id="2147483761" r:id="rId3"/>
    <p:sldMasterId id="2147483830" r:id="rId4"/>
    <p:sldMasterId id="2147483853" r:id="rId5"/>
  </p:sldMasterIdLst>
  <p:notesMasterIdLst>
    <p:notesMasterId r:id="rId73"/>
  </p:notesMasterIdLst>
  <p:sldIdLst>
    <p:sldId id="308" r:id="rId6"/>
    <p:sldId id="352" r:id="rId7"/>
    <p:sldId id="564" r:id="rId8"/>
    <p:sldId id="567" r:id="rId9"/>
    <p:sldId id="566" r:id="rId10"/>
    <p:sldId id="568" r:id="rId11"/>
    <p:sldId id="348" r:id="rId12"/>
    <p:sldId id="570" r:id="rId13"/>
    <p:sldId id="569" r:id="rId14"/>
    <p:sldId id="565" r:id="rId15"/>
    <p:sldId id="578" r:id="rId16"/>
    <p:sldId id="577" r:id="rId17"/>
    <p:sldId id="579" r:id="rId18"/>
    <p:sldId id="576" r:id="rId19"/>
    <p:sldId id="575" r:id="rId20"/>
    <p:sldId id="580" r:id="rId21"/>
    <p:sldId id="574" r:id="rId22"/>
    <p:sldId id="583" r:id="rId23"/>
    <p:sldId id="581" r:id="rId24"/>
    <p:sldId id="582" r:id="rId25"/>
    <p:sldId id="573" r:id="rId26"/>
    <p:sldId id="584" r:id="rId27"/>
    <p:sldId id="572" r:id="rId28"/>
    <p:sldId id="588" r:id="rId29"/>
    <p:sldId id="587" r:id="rId30"/>
    <p:sldId id="586" r:id="rId31"/>
    <p:sldId id="591" r:id="rId32"/>
    <p:sldId id="589" r:id="rId33"/>
    <p:sldId id="594" r:id="rId34"/>
    <p:sldId id="590" r:id="rId35"/>
    <p:sldId id="593" r:id="rId36"/>
    <p:sldId id="596" r:id="rId37"/>
    <p:sldId id="592" r:id="rId38"/>
    <p:sldId id="595" r:id="rId39"/>
    <p:sldId id="585" r:id="rId40"/>
    <p:sldId id="571" r:id="rId41"/>
    <p:sldId id="601" r:id="rId42"/>
    <p:sldId id="600" r:id="rId43"/>
    <p:sldId id="599" r:id="rId44"/>
    <p:sldId id="598" r:id="rId45"/>
    <p:sldId id="627" r:id="rId46"/>
    <p:sldId id="597" r:id="rId47"/>
    <p:sldId id="604" r:id="rId48"/>
    <p:sldId id="603" r:id="rId49"/>
    <p:sldId id="606" r:id="rId50"/>
    <p:sldId id="605" r:id="rId51"/>
    <p:sldId id="608" r:id="rId52"/>
    <p:sldId id="607" r:id="rId53"/>
    <p:sldId id="602" r:id="rId54"/>
    <p:sldId id="610" r:id="rId55"/>
    <p:sldId id="609" r:id="rId56"/>
    <p:sldId id="612" r:id="rId57"/>
    <p:sldId id="611" r:id="rId58"/>
    <p:sldId id="615" r:id="rId59"/>
    <p:sldId id="614" r:id="rId60"/>
    <p:sldId id="619" r:id="rId61"/>
    <p:sldId id="613" r:id="rId62"/>
    <p:sldId id="618" r:id="rId63"/>
    <p:sldId id="617" r:id="rId64"/>
    <p:sldId id="616" r:id="rId65"/>
    <p:sldId id="621" r:id="rId66"/>
    <p:sldId id="620" r:id="rId67"/>
    <p:sldId id="624" r:id="rId68"/>
    <p:sldId id="623" r:id="rId69"/>
    <p:sldId id="626" r:id="rId70"/>
    <p:sldId id="622" r:id="rId71"/>
    <p:sldId id="358" r:id="rId72"/>
  </p:sldIdLst>
  <p:sldSz cx="12192000" cy="6858000"/>
  <p:notesSz cx="6858000" cy="9144000"/>
  <p:embeddedFontLst>
    <p:embeddedFont>
      <p:font typeface="Roboto Condensed Light" panose="02000000000000000000" pitchFamily="2" charset="0"/>
      <p:regular r:id="rId74"/>
      <p:italic r:id="rId75"/>
    </p:embeddedFont>
    <p:embeddedFont>
      <p:font typeface="Calibri" panose="020F0502020204030204" pitchFamily="34" charset="0"/>
      <p:regular r:id="rId76"/>
      <p:bold r:id="rId77"/>
      <p:italic r:id="rId78"/>
      <p:boldItalic r:id="rId79"/>
    </p:embeddedFont>
    <p:embeddedFont>
      <p:font typeface="Consolas" panose="020B0609020204030204" pitchFamily="49" charset="0"/>
      <p:regular r:id="rId80"/>
      <p:bold r:id="rId81"/>
      <p:italic r:id="rId82"/>
      <p:boldItalic r:id="rId83"/>
    </p:embeddedFont>
    <p:embeddedFont>
      <p:font typeface="Verdana" panose="020B0604030504040204" pitchFamily="34" charset="0"/>
      <p:regular r:id="rId84"/>
      <p:bold r:id="rId85"/>
      <p:italic r:id="rId86"/>
      <p:boldItalic r:id="rId87"/>
    </p:embeddedFont>
    <p:embeddedFont>
      <p:font typeface="Segoe UI Black" panose="020B0A02040204020203" pitchFamily="34" charset="0"/>
      <p:bold r:id="rId88"/>
      <p:boldItalic r:id="rId89"/>
    </p:embeddedFont>
    <p:embeddedFont>
      <p:font typeface="Wingdings 3" panose="05040102010807070707" pitchFamily="18" charset="2"/>
      <p:regular r:id="rId90"/>
    </p:embeddedFont>
    <p:embeddedFont>
      <p:font typeface="Roboto Condensed" panose="02000000000000000000" pitchFamily="2" charset="0"/>
      <p:regular r:id="rId91"/>
      <p:bold r:id="rId92"/>
      <p:italic r:id="rId93"/>
      <p:boldItalic r:id="rId94"/>
    </p:embeddedFont>
    <p:embeddedFont>
      <p:font typeface="Wingdings 2" panose="05020102010507070707" pitchFamily="18" charset="2"/>
      <p:regular r:id="rId9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FgIlzFA1FmYY4IKK1SfVXA==" hashData="DDJ8uaZi6Uq5UQVvjTyJwfh1qG9lXC6V60oLTDCFDI6WwZcpy+uBpzf1/UWUTxDDUcG3zPbFYrW+jDWcwfQ5xw=="/>
  <p:extLst>
    <p:ext uri="{521415D9-36F7-43E2-AB2F-B90AF26B5E84}">
      <p14:sectionLst xmlns:p14="http://schemas.microsoft.com/office/powerpoint/2010/main">
        <p14:section name="Unit-05 Bootstrap" id="{6F98277B-3FE4-4DB6-9DF4-04A9EE7CB27D}">
          <p14:sldIdLst>
            <p14:sldId id="308"/>
          </p14:sldIdLst>
        </p14:section>
        <p14:section name="Outline" id="{C5B49A7B-0240-414D-82A2-AEBCCFBF15D4}">
          <p14:sldIdLst>
            <p14:sldId id="352"/>
          </p14:sldIdLst>
        </p14:section>
        <p14:section name="Introduction to Bootstrap" id="{3C329440-0C3D-4A8F-B481-D50DCFE25AF6}">
          <p14:sldIdLst>
            <p14:sldId id="564"/>
            <p14:sldId id="567"/>
            <p14:sldId id="566"/>
          </p14:sldIdLst>
        </p14:section>
        <p14:section name="Download and Load Bootstrap" id="{0080F9E1-2C93-4E7A-B713-F54DF249ABCC}">
          <p14:sldIdLst>
            <p14:sldId id="568"/>
            <p14:sldId id="348"/>
            <p14:sldId id="570"/>
            <p14:sldId id="569"/>
          </p14:sldIdLst>
        </p14:section>
        <p14:section name="Important Globals" id="{CDB321E0-1C90-4E3E-B478-967F7CA3DFB9}">
          <p14:sldIdLst>
            <p14:sldId id="565"/>
            <p14:sldId id="578"/>
            <p14:sldId id="577"/>
          </p14:sldIdLst>
        </p14:section>
        <p14:section name="Typography" id="{D10DDB7E-CA25-4C74-89E0-06941ACF813A}">
          <p14:sldIdLst>
            <p14:sldId id="579"/>
            <p14:sldId id="576"/>
            <p14:sldId id="575"/>
          </p14:sldIdLst>
        </p14:section>
        <p14:section name="Breakpoins" id="{E88AF4A8-D289-46B8-B51C-1A59785B3E43}">
          <p14:sldIdLst>
            <p14:sldId id="580"/>
            <p14:sldId id="574"/>
          </p14:sldIdLst>
        </p14:section>
        <p14:section name="Container" id="{F1F45917-5CFB-475A-B224-1C3216517821}">
          <p14:sldIdLst>
            <p14:sldId id="583"/>
            <p14:sldId id="581"/>
            <p14:sldId id="582"/>
            <p14:sldId id="573"/>
          </p14:sldIdLst>
        </p14:section>
        <p14:section name="Grid System" id="{57D80DB7-3EFE-402C-AC39-C379A6BC4DD3}">
          <p14:sldIdLst>
            <p14:sldId id="584"/>
            <p14:sldId id="572"/>
            <p14:sldId id="588"/>
            <p14:sldId id="587"/>
            <p14:sldId id="586"/>
          </p14:sldIdLst>
        </p14:section>
        <p14:section name="Gutter space" id="{A195848E-4284-4327-82D7-A35E3297FD17}">
          <p14:sldIdLst>
            <p14:sldId id="591"/>
            <p14:sldId id="589"/>
          </p14:sldIdLst>
        </p14:section>
        <p14:section name="Table" id="{1DDEFE4B-8915-4AE8-9210-857E5453C9C2}">
          <p14:sldIdLst>
            <p14:sldId id="594"/>
            <p14:sldId id="590"/>
            <p14:sldId id="593"/>
          </p14:sldIdLst>
        </p14:section>
        <p14:section name="Utility classes" id="{7BAA3011-E8FA-4374-8AD7-11E1E9C3DBDB}">
          <p14:sldIdLst>
            <p14:sldId id="596"/>
            <p14:sldId id="592"/>
          </p14:sldIdLst>
        </p14:section>
        <p14:section name="Color Utility Classes" id="{60A4DCA2-44C0-46BE-8CD9-A4B30AB299B6}">
          <p14:sldIdLst>
            <p14:sldId id="595"/>
          </p14:sldIdLst>
        </p14:section>
        <p14:section name="Background Utility Classes" id="{9CDBB221-A556-4863-8C98-CE278946BB29}">
          <p14:sldIdLst>
            <p14:sldId id="585"/>
          </p14:sldIdLst>
        </p14:section>
        <p14:section name="Text Utility Classes" id="{D6F99E41-830D-4FD6-A1F1-D20DB61A469C}">
          <p14:sldIdLst>
            <p14:sldId id="571"/>
            <p14:sldId id="601"/>
          </p14:sldIdLst>
        </p14:section>
        <p14:section name="Border Utility Classes" id="{972F1DDF-55AD-4515-91C9-442097EA0E80}">
          <p14:sldIdLst>
            <p14:sldId id="600"/>
            <p14:sldId id="599"/>
          </p14:sldIdLst>
        </p14:section>
        <p14:section name="Spacing Utility Classes" id="{B2361A5F-4AE7-46FF-887B-122E516AC32D}">
          <p14:sldIdLst>
            <p14:sldId id="598"/>
            <p14:sldId id="627"/>
            <p14:sldId id="597"/>
          </p14:sldIdLst>
        </p14:section>
        <p14:section name="Float Utility Classes" id="{8FBAF3DF-646E-4C0C-BF0A-D6BE68029B0F}">
          <p14:sldIdLst>
            <p14:sldId id="604"/>
          </p14:sldIdLst>
        </p14:section>
        <p14:section name="Shadow Utility Classes" id="{90C202B5-6CFC-4C56-85B2-4AFC40B79F29}">
          <p14:sldIdLst>
            <p14:sldId id="603"/>
          </p14:sldIdLst>
        </p14:section>
        <p14:section name="Sizing Utility Classes" id="{C73EA22E-F6D5-4266-91E1-E4C6937CF599}">
          <p14:sldIdLst>
            <p14:sldId id="606"/>
          </p14:sldIdLst>
        </p14:section>
        <p14:section name="Vertical Alignment Utility Classes" id="{2F2E29B6-9031-4985-8166-DE250DB8DC04}">
          <p14:sldIdLst>
            <p14:sldId id="605"/>
          </p14:sldIdLst>
        </p14:section>
        <p14:section name="Position Utility Classes" id="{F15C8D9E-C498-4AE6-AEEE-2AE502F446A0}">
          <p14:sldIdLst>
            <p14:sldId id="608"/>
          </p14:sldIdLst>
        </p14:section>
        <p14:section name="Display Utility Classes" id="{7E244E92-40E4-4969-AA4D-17051738DE6D}">
          <p14:sldIdLst>
            <p14:sldId id="607"/>
          </p14:sldIdLst>
        </p14:section>
        <p14:section name="Flex Utility Classes" id="{6885925F-C1C6-42EE-8EC6-7CE082E2A9C4}">
          <p14:sldIdLst>
            <p14:sldId id="602"/>
          </p14:sldIdLst>
        </p14:section>
        <p14:section name="Interactions Utility Classes" id="{0E1764CD-0010-49A5-A1A5-22ED939200DF}">
          <p14:sldIdLst>
            <p14:sldId id="610"/>
          </p14:sldIdLst>
        </p14:section>
        <p14:section name="Opacity Utility Classes" id="{694D6F8A-CD47-48C3-A3B6-53C838004AF9}">
          <p14:sldIdLst>
            <p14:sldId id="609"/>
          </p14:sldIdLst>
        </p14:section>
        <p14:section name="Overflow Utility Classes" id="{33A39B8F-B34C-4263-8326-6690D56041A2}">
          <p14:sldIdLst>
            <p14:sldId id="612"/>
          </p14:sldIdLst>
        </p14:section>
        <p14:section name="Visibility Utility Classes" id="{44B1D848-A056-4324-A805-6E2EF7CB3ADE}">
          <p14:sldIdLst>
            <p14:sldId id="611"/>
          </p14:sldIdLst>
        </p14:section>
        <p14:section name="Components" id="{D115D612-B788-435E-92E8-DA208F21405A}">
          <p14:sldIdLst>
            <p14:sldId id="615"/>
            <p14:sldId id="614"/>
          </p14:sldIdLst>
        </p14:section>
        <p14:section name="Forms" id="{45DAF8A8-6E71-4EA1-BF2F-1BD4AA302DEC}">
          <p14:sldIdLst>
            <p14:sldId id="619"/>
            <p14:sldId id="613"/>
            <p14:sldId id="618"/>
            <p14:sldId id="617"/>
            <p14:sldId id="616"/>
            <p14:sldId id="621"/>
            <p14:sldId id="620"/>
          </p14:sldIdLst>
        </p14:section>
        <p14:section name="Helper classes" id="{024E55A6-FAF0-4801-B0FE-94CF68670E12}">
          <p14:sldIdLst>
            <p14:sldId id="624"/>
            <p14:sldId id="623"/>
          </p14:sldIdLst>
        </p14:section>
        <p14:section name="Loading Icon library like font" id="{3C970855-0B82-40AA-A406-E6CE260484ED}">
          <p14:sldIdLst>
            <p14:sldId id="626"/>
            <p14:sldId id="622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BDBDB"/>
    <a:srgbClr val="ED524F"/>
    <a:srgbClr val="301B92"/>
    <a:srgbClr val="673BB7"/>
    <a:srgbClr val="607D8B"/>
    <a:srgbClr val="B71B1C"/>
    <a:srgbClr val="F54337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9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font" Target="fonts/font11.fntdata"/><Relationship Id="rId89" Type="http://schemas.openxmlformats.org/officeDocument/2006/relationships/font" Target="fonts/font16.fntdata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font" Target="fonts/font1.fntdata"/><Relationship Id="rId79" Type="http://schemas.openxmlformats.org/officeDocument/2006/relationships/font" Target="fonts/font6.fntdata"/><Relationship Id="rId5" Type="http://schemas.openxmlformats.org/officeDocument/2006/relationships/slideMaster" Target="slideMasters/slideMaster5.xml"/><Relationship Id="rId90" Type="http://schemas.openxmlformats.org/officeDocument/2006/relationships/font" Target="fonts/font17.fntdata"/><Relationship Id="rId95" Type="http://schemas.openxmlformats.org/officeDocument/2006/relationships/font" Target="fonts/font22.fntdata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font" Target="fonts/font7.fntdata"/><Relationship Id="rId85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font" Target="fonts/font2.fntdata"/><Relationship Id="rId83" Type="http://schemas.openxmlformats.org/officeDocument/2006/relationships/font" Target="fonts/font10.fntdata"/><Relationship Id="rId88" Type="http://schemas.openxmlformats.org/officeDocument/2006/relationships/font" Target="fonts/font15.fntdata"/><Relationship Id="rId91" Type="http://schemas.openxmlformats.org/officeDocument/2006/relationships/font" Target="fonts/font18.fntdata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notesMaster" Target="notesMasters/notesMaster1.xml"/><Relationship Id="rId78" Type="http://schemas.openxmlformats.org/officeDocument/2006/relationships/font" Target="fonts/font5.fntdata"/><Relationship Id="rId81" Type="http://schemas.openxmlformats.org/officeDocument/2006/relationships/font" Target="fonts/font8.fntdata"/><Relationship Id="rId86" Type="http://schemas.openxmlformats.org/officeDocument/2006/relationships/font" Target="fonts/font13.fntdata"/><Relationship Id="rId94" Type="http://schemas.openxmlformats.org/officeDocument/2006/relationships/font" Target="fonts/font21.fntdata"/><Relationship Id="rId9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font" Target="fonts/font3.fntdata"/><Relationship Id="rId97" Type="http://schemas.openxmlformats.org/officeDocument/2006/relationships/viewProps" Target="view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font" Target="fonts/font19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font" Target="fonts/font14.fntdata"/><Relationship Id="rId61" Type="http://schemas.openxmlformats.org/officeDocument/2006/relationships/slide" Target="slides/slide56.xml"/><Relationship Id="rId82" Type="http://schemas.openxmlformats.org/officeDocument/2006/relationships/font" Target="fonts/font9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font" Target="fonts/font4.fntdata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font" Target="fonts/font20.fntdata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jpeg"/><Relationship Id="rId4" Type="http://schemas.openxmlformats.org/officeDocument/2006/relationships/image" Target="../media/image20.png"/><Relationship Id="rId9" Type="http://schemas.openxmlformats.org/officeDocument/2006/relationships/image" Target="../media/image8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microsoft.com/office/2007/relationships/hdphoto" Target="../media/hdphoto5.wdp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0.png"/><Relationship Id="rId4" Type="http://schemas.openxmlformats.org/officeDocument/2006/relationships/image" Target="../media/image21.png"/><Relationship Id="rId9" Type="http://schemas.openxmlformats.org/officeDocument/2006/relationships/image" Target="../media/image29.png"/></Relationships>
</file>

<file path=ppt/slideLayouts/_rels/slideLayout5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9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0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jpeg"/><Relationship Id="rId4" Type="http://schemas.openxmlformats.org/officeDocument/2006/relationships/image" Target="../media/image20.png"/><Relationship Id="rId9" Type="http://schemas.openxmlformats.org/officeDocument/2006/relationships/image" Target="../media/image31.jpeg"/></Relationships>
</file>

<file path=ppt/slideLayouts/_rels/slideLayout6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4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1.png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281410" y="6601747"/>
            <a:ext cx="5629178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#2304CS202 (WD-II)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05 – 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Bootstrap 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425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8436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</a:t>
            </a:r>
            <a:r>
              <a:rPr lang="en-US" dirty="0">
                <a:solidFill>
                  <a:schemeClr val="tx1"/>
                </a:solidFill>
              </a:rPr>
              <a:t>2304CS401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84386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62193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D460D7-CBA5-99E2-F433-668EED5BA8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42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21696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76088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85988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2524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10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647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385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29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342919-84EE-7CD7-3200-521AA2069B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647" y="1506250"/>
            <a:ext cx="3333106" cy="302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826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99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383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70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37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872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568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46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54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05CEC62-96B4-E0C4-A41B-5B4A2656814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0267" y="8759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43281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00F4D-C4C2-91C4-F722-0307E0E98124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733820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54325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What is Data Structure?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Section-1 </a:t>
            </a:r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A03F2-936E-50E5-4A31-21E62AB22966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071652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0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837455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53529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673753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2760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305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7811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325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8766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BCBD36D-80E5-2938-4F3C-399C4FEF220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89" y="1335005"/>
            <a:ext cx="2520000" cy="252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AD27D4-D354-4363-989F-4442C30D6B8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1354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180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7341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10173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46174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8484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88076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3292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E99718">
                        <a:shade val="30000"/>
                        <a:satMod val="115000"/>
                      </a:srgbClr>
                    </a:gs>
                    <a:gs pos="50000">
                      <a:srgbClr val="E99718">
                        <a:shade val="67500"/>
                        <a:satMod val="115000"/>
                      </a:srgbClr>
                    </a:gs>
                    <a:gs pos="100000">
                      <a:srgbClr val="E99718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IN" dirty="0" err="1"/>
              <a:t>Prof.</a:t>
            </a:r>
            <a:r>
              <a:rPr lang="en-IN" dirty="0"/>
              <a:t> Vishal K </a:t>
            </a:r>
            <a:r>
              <a:rPr lang="en-IN" dirty="0" err="1"/>
              <a:t>Makwana</a:t>
            </a:r>
            <a:endParaRPr lang="en-IN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Thank</a:t>
            </a:r>
          </a:p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D81706-03FD-5011-BE52-6B8AB641A2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546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320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542950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</a:t>
            </a:r>
            <a:r>
              <a:rPr lang="en-US" dirty="0">
                <a:solidFill>
                  <a:schemeClr val="tx1"/>
                </a:solidFill>
              </a:rPr>
              <a:t>2304CS401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53349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61894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D38499-9301-48B7-BA27-7E1A5AFCBF53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5D07C2-5660-042B-0965-458E2E2784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94CD80-6289-4C5A-EED6-04FC7A55318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1519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155838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79858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264320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6304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83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063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676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3990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9759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0761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8599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0693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0093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0708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1837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028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</a:t>
            </a:r>
            <a:r>
              <a:rPr lang="en-IN" sz="1600" dirty="0"/>
              <a:t>Applications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61478442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488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05 –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BootStrap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3657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Chirag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Sakhrani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2304CS202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05 –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BootStrap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78287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05 –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BootStrap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752222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58359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05 –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BootStrap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883593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05 –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BootStrap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227938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05 –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BootStrap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9534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52742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7846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6722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110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1291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5779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586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689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6763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5784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88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4086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8770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72790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85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9.xml"/><Relationship Id="rId18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1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102.xml"/><Relationship Id="rId20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slideLayout" Target="../slideLayouts/slideLayout101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96.xml"/><Relationship Id="rId19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100.xml"/><Relationship Id="rId22" Type="http://schemas.openxmlformats.org/officeDocument/2006/relationships/slideLayout" Target="../slideLayouts/slideLayout1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0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8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6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  <p:sldLayoutId id="2147483849" r:id="rId19"/>
    <p:sldLayoutId id="2147483850" r:id="rId20"/>
    <p:sldLayoutId id="2147483851" r:id="rId21"/>
    <p:sldLayoutId id="214748385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1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  <p:sldLayoutId id="2147483867" r:id="rId14"/>
    <p:sldLayoutId id="2147483868" r:id="rId15"/>
    <p:sldLayoutId id="2147483869" r:id="rId16"/>
    <p:sldLayoutId id="2147483870" r:id="rId17"/>
    <p:sldLayoutId id="2147483871" r:id="rId18"/>
    <p:sldLayoutId id="2147483872" r:id="rId19"/>
    <p:sldLayoutId id="2147483873" r:id="rId20"/>
    <p:sldLayoutId id="2147483874" r:id="rId21"/>
    <p:sldLayoutId id="2147483875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wbs/bootstrap/releases/download/v5.1.3/bootstrap-5.1.3-dist.zip" TargetMode="External"/><Relationship Id="rId2" Type="http://schemas.openxmlformats.org/officeDocument/2006/relationships/hyperlink" Target="http://getbootstrap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twbs/bootstrap/archive/v5.1.3.zip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dharmikkumar.aghera@darshan.ac.in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9898205621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Dharmikkumar</a:t>
            </a:r>
            <a:r>
              <a:rPr lang="en-IN" dirty="0"/>
              <a:t> G. Aghera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Designing - II (WD-II) (2304CS202)</a:t>
            </a:r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197789"/>
            <a:ext cx="1353599" cy="1353599"/>
          </a:xfr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400" y="1778606"/>
            <a:ext cx="7726094" cy="257878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5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Unit-05</a:t>
            </a:r>
            <a:r>
              <a:rPr lang="en-US" sz="5400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IN" dirty="0"/>
              <a:t>Bootstrap</a:t>
            </a:r>
            <a:r>
              <a:rPr lang="en-US" sz="6000" dirty="0"/>
              <a:t/>
            </a:r>
            <a:br>
              <a:rPr lang="en-US" sz="6000" dirty="0"/>
            </a:br>
            <a:endParaRPr lang="en-US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8AE13-A5CE-5C97-DAC2-01C58CA8436C}"/>
              </a:ext>
            </a:extLst>
          </p:cNvPr>
          <p:cNvSpPr txBox="1">
            <a:spLocks/>
          </p:cNvSpPr>
          <p:nvPr/>
        </p:nvSpPr>
        <p:spPr>
          <a:xfrm>
            <a:off x="867400" y="4132880"/>
            <a:ext cx="9330959" cy="87601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200" i="1" dirty="0">
                <a:effectLst/>
              </a:rPr>
              <a:t>CO5 : At the end of this chapter, students will be able to,</a:t>
            </a:r>
          </a:p>
          <a:p>
            <a:pPr>
              <a:spcBef>
                <a:spcPts val="0"/>
              </a:spcBef>
            </a:pPr>
            <a:r>
              <a:rPr lang="en-US" sz="2200" b="0" dirty="0">
                <a:effectLst/>
              </a:rPr>
              <a:t>          </a:t>
            </a:r>
            <a:r>
              <a:rPr lang="en-US" sz="2200" b="0" i="1" dirty="0">
                <a:effectLst/>
              </a:rPr>
              <a:t>develop responsive website using bootstrap</a:t>
            </a:r>
            <a:r>
              <a:rPr lang="en-US" sz="2200" b="0" dirty="0"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  <a:sym typeface="Wingdings 2" panose="05020102010507070707" pitchFamily="18" charset="2"/>
              </a:rPr>
              <a:t>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12385"/>
            <a:ext cx="977886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Outline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lvl="0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Introduction to Bootstrap</a:t>
            </a:r>
          </a:p>
          <a:p>
            <a:pPr lvl="0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Download and Load Bootstrap</a:t>
            </a:r>
          </a:p>
          <a:p>
            <a:pPr lvl="0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Important </a:t>
            </a:r>
            <a:r>
              <a:rPr lang="en-US" sz="2400" dirty="0" err="1">
                <a:solidFill>
                  <a:srgbClr val="212121"/>
                </a:solidFill>
              </a:rPr>
              <a:t>Globals</a:t>
            </a:r>
            <a:endParaRPr lang="en-US" sz="2400" dirty="0">
              <a:solidFill>
                <a:srgbClr val="212121"/>
              </a:solidFill>
            </a:endParaRPr>
          </a:p>
          <a:p>
            <a:pPr lvl="1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HTML5 doctype</a:t>
            </a:r>
          </a:p>
          <a:p>
            <a:pPr lvl="1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Responsive meta tag</a:t>
            </a:r>
          </a:p>
          <a:p>
            <a:pPr lvl="1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Box Sizing</a:t>
            </a:r>
          </a:p>
          <a:p>
            <a:pPr lvl="1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Reboot</a:t>
            </a:r>
          </a:p>
          <a:p>
            <a:pPr lvl="0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Layout</a:t>
            </a:r>
          </a:p>
          <a:p>
            <a:pPr lvl="1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Breakpoints</a:t>
            </a:r>
          </a:p>
          <a:p>
            <a:pPr lvl="1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Containers</a:t>
            </a:r>
          </a:p>
          <a:p>
            <a:pPr lvl="1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Grid System</a:t>
            </a:r>
          </a:p>
          <a:p>
            <a:pPr lvl="1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Gutters</a:t>
            </a:r>
          </a:p>
          <a:p>
            <a:pPr lvl="0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Typography</a:t>
            </a:r>
          </a:p>
          <a:p>
            <a:pPr lvl="0" indent="446088"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212121"/>
                </a:solidFill>
              </a:rPr>
              <a:t>Images / Figures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8033F9-FF49-DCDD-B533-E4D993231849}"/>
              </a:ext>
            </a:extLst>
          </p:cNvPr>
          <p:cNvSpPr txBox="1"/>
          <p:nvPr/>
        </p:nvSpPr>
        <p:spPr>
          <a:xfrm>
            <a:off x="6348396" y="1330647"/>
            <a:ext cx="57521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4460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Tables</a:t>
            </a:r>
          </a:p>
          <a:p>
            <a:pPr marL="0" marR="0" lvl="0" indent="4460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Utilities</a:t>
            </a:r>
          </a:p>
          <a:p>
            <a:pPr marL="0" marR="0" lvl="0" indent="4460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Components</a:t>
            </a:r>
          </a:p>
          <a:p>
            <a:pPr marL="0" marR="0" lvl="0" indent="4460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Forms</a:t>
            </a:r>
          </a:p>
          <a:p>
            <a:pPr marL="0" marR="0" lvl="0" indent="4460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Helper Classes</a:t>
            </a:r>
          </a:p>
          <a:p>
            <a:pPr marL="0" marR="0" lvl="0" indent="4460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Loading Icon Library like Font awesome</a:t>
            </a:r>
          </a:p>
          <a:p>
            <a:pPr marL="457200" marR="0" lvl="1" indent="4460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1020-097C-C904-1FCD-E550B3A1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E2A3-5AD6-F569-196A-F829B033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Introduction to 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41E7C-2CDB-E476-7A3F-614623ABC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429222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767DF-E7B3-43B3-34E5-CD691AE94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B08F-2C8C-CAFC-FA3B-1EE2EFD7C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09889-17E5-3843-2690-C40D65C60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Bootstrap is a free and open-source tool collection for creating responsive web applications. </a:t>
            </a:r>
          </a:p>
          <a:p>
            <a:r>
              <a:rPr lang="en-US" dirty="0"/>
              <a:t>It is the most popular HTML, CSS, and JavaScript framework for developing responsive, mobile-first websites. </a:t>
            </a:r>
          </a:p>
          <a:p>
            <a:r>
              <a:rPr lang="en-US" dirty="0"/>
              <a:t>It solves many problems which we had once, one of which is the cross-browser compatibility issue. </a:t>
            </a:r>
          </a:p>
          <a:p>
            <a:r>
              <a:rPr lang="en-US" dirty="0"/>
              <a:t>Nowadays, the websites are perfect for all the browsers (IE, Firefox, Chrome, etc.) and for all sizes of screens (Desktop, Tablets, Phablets, and Phones). </a:t>
            </a:r>
          </a:p>
          <a:p>
            <a:r>
              <a:rPr lang="en-US" dirty="0"/>
              <a:t>All thanks to </a:t>
            </a:r>
            <a:r>
              <a:rPr lang="en-US" dirty="0">
                <a:solidFill>
                  <a:srgbClr val="C00000"/>
                </a:solidFill>
              </a:rPr>
              <a:t>Bootstrap developers -Mark Otto and Jacob Thornton of Twitter</a:t>
            </a:r>
            <a:r>
              <a:rPr lang="en-US" dirty="0"/>
              <a:t>, though it was later declared to be an open-source project.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92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CF988-2ADC-CD7F-2AFB-0322D22D7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8028-93DA-763F-78A0-3FA8405E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D6222-DD57-038C-FA1D-68DF9DC2D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Why Bootstrap?</a:t>
            </a:r>
          </a:p>
          <a:p>
            <a:pPr lvl="1" fontAlgn="base"/>
            <a:r>
              <a:rPr lang="en-US" sz="2200" b="1" dirty="0"/>
              <a:t>Faster</a:t>
            </a:r>
            <a:r>
              <a:rPr lang="en-US" sz="2200" dirty="0"/>
              <a:t> and </a:t>
            </a:r>
            <a:r>
              <a:rPr lang="en-US" sz="2200" b="1" dirty="0"/>
              <a:t>Easier</a:t>
            </a:r>
            <a:r>
              <a:rPr lang="en-US" sz="2200" dirty="0"/>
              <a:t> Web Development.</a:t>
            </a:r>
          </a:p>
          <a:p>
            <a:pPr lvl="1" fontAlgn="base"/>
            <a:r>
              <a:rPr lang="en-US" sz="2200" dirty="0"/>
              <a:t>It creates </a:t>
            </a:r>
            <a:r>
              <a:rPr lang="en-US" sz="2200" b="1" dirty="0"/>
              <a:t>Platform-independent</a:t>
            </a:r>
            <a:r>
              <a:rPr lang="en-US" sz="2200" dirty="0"/>
              <a:t> web pages.</a:t>
            </a:r>
          </a:p>
          <a:p>
            <a:pPr lvl="1" fontAlgn="base"/>
            <a:r>
              <a:rPr lang="en-US" sz="2200" dirty="0"/>
              <a:t>It creates </a:t>
            </a:r>
            <a:r>
              <a:rPr lang="en-US" sz="2200" b="1" dirty="0"/>
              <a:t>Responsive</a:t>
            </a:r>
            <a:r>
              <a:rPr lang="en-US" sz="2200" dirty="0"/>
              <a:t> Web-pages.</a:t>
            </a:r>
          </a:p>
          <a:p>
            <a:pPr lvl="1" fontAlgn="base"/>
            <a:r>
              <a:rPr lang="en-US" sz="2200" dirty="0"/>
              <a:t>It is designed to be responsive to </a:t>
            </a:r>
            <a:r>
              <a:rPr lang="en-US" sz="2200" b="1" dirty="0"/>
              <a:t>mobile devices </a:t>
            </a:r>
            <a:r>
              <a:rPr lang="en-US" sz="2200" dirty="0"/>
              <a:t>too.</a:t>
            </a:r>
          </a:p>
          <a:p>
            <a:pPr lvl="1" fontAlgn="base"/>
            <a:r>
              <a:rPr lang="en-US" sz="2200" dirty="0"/>
              <a:t>It is </a:t>
            </a:r>
            <a:r>
              <a:rPr lang="en-US" sz="2200" b="1" dirty="0">
                <a:solidFill>
                  <a:srgbClr val="C00000"/>
                </a:solidFill>
              </a:rPr>
              <a:t>Free</a:t>
            </a:r>
            <a:r>
              <a:rPr lang="en-US" sz="2200" dirty="0"/>
              <a:t>! Available on www.getbootstrap.com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50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DC7A-11B0-6A77-D137-CCB07AD0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CA6E-8AED-FE86-F108-40FA1636F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Download and Load 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C24CC-D3A4-72C3-D792-68585E59C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2693798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3574CCE-41C7-7B46-94AB-67D34BBE5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Download Bootstrap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C315AFB-E403-25F4-2688-4D7004712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You can download bootstrap from </a:t>
            </a:r>
            <a:r>
              <a:rPr lang="en-US" dirty="0">
                <a:hlinkClick r:id="rId2"/>
              </a:rPr>
              <a:t>http://getbootstrap.com</a:t>
            </a:r>
            <a:endParaRPr lang="en-US" dirty="0"/>
          </a:p>
          <a:p>
            <a:r>
              <a:rPr lang="en-US" dirty="0"/>
              <a:t>You can download compiled CSS &amp; JS, Source Code or include it with package managers like </a:t>
            </a:r>
            <a:r>
              <a:rPr lang="en-US" dirty="0" err="1"/>
              <a:t>npm</a:t>
            </a:r>
            <a:r>
              <a:rPr lang="en-US" dirty="0"/>
              <a:t>, </a:t>
            </a:r>
            <a:r>
              <a:rPr lang="en-US" dirty="0" err="1"/>
              <a:t>RubyGems</a:t>
            </a:r>
            <a:r>
              <a:rPr lang="en-US" dirty="0"/>
              <a:t> and more.</a:t>
            </a:r>
          </a:p>
          <a:p>
            <a:r>
              <a:rPr lang="en-US" dirty="0"/>
              <a:t>Download</a:t>
            </a:r>
          </a:p>
          <a:p>
            <a:pPr lvl="1"/>
            <a:r>
              <a:rPr lang="en-US" dirty="0"/>
              <a:t>Compiled CSS &amp; JS</a:t>
            </a:r>
          </a:p>
          <a:p>
            <a:pPr marL="457200" lvl="1" indent="0">
              <a:buNone/>
            </a:pPr>
            <a:r>
              <a:rPr lang="en-US" dirty="0"/>
              <a:t>	     </a:t>
            </a:r>
            <a:r>
              <a:rPr lang="en-US" b="1" dirty="0"/>
              <a:t>OR</a:t>
            </a:r>
          </a:p>
          <a:p>
            <a:pPr lvl="1"/>
            <a:r>
              <a:rPr lang="en-US" dirty="0"/>
              <a:t>Source Code</a:t>
            </a:r>
          </a:p>
          <a:p>
            <a:pPr marL="457200" lvl="1" indent="0">
              <a:buNone/>
            </a:pPr>
            <a:r>
              <a:rPr lang="en-US" dirty="0"/>
              <a:t>	     </a:t>
            </a:r>
            <a:r>
              <a:rPr lang="en-US" b="1" dirty="0"/>
              <a:t>OR</a:t>
            </a:r>
          </a:p>
          <a:p>
            <a:pPr lvl="1"/>
            <a:r>
              <a:rPr lang="en-US" dirty="0"/>
              <a:t>NPM</a:t>
            </a:r>
          </a:p>
          <a:p>
            <a:pPr marL="457200" lvl="1" indent="0">
              <a:buNone/>
            </a:pPr>
            <a:r>
              <a:rPr lang="en-US" dirty="0"/>
              <a:t>	     </a:t>
            </a:r>
            <a:r>
              <a:rPr lang="en-US" b="1" dirty="0"/>
              <a:t>OR</a:t>
            </a:r>
          </a:p>
          <a:p>
            <a:pPr lvl="1"/>
            <a:r>
              <a:rPr lang="en-US" dirty="0"/>
              <a:t>Composer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And many more …..</a:t>
            </a:r>
          </a:p>
          <a:p>
            <a:r>
              <a:rPr lang="en-US" dirty="0"/>
              <a:t>We can also load the bootstrap directly via </a:t>
            </a:r>
            <a:r>
              <a:rPr lang="en-US" b="1" dirty="0"/>
              <a:t>C</a:t>
            </a:r>
            <a:r>
              <a:rPr lang="en-US" dirty="0"/>
              <a:t>ontent </a:t>
            </a:r>
            <a:r>
              <a:rPr lang="en-US" b="1" dirty="0"/>
              <a:t>D</a:t>
            </a:r>
            <a:r>
              <a:rPr lang="en-US" dirty="0"/>
              <a:t>elivery </a:t>
            </a:r>
            <a:r>
              <a:rPr lang="en-US" b="1" dirty="0"/>
              <a:t>N</a:t>
            </a:r>
            <a:r>
              <a:rPr lang="en-US" dirty="0"/>
              <a:t>etwork (CDN).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Rectangle 9">
            <a:hlinkClick r:id="rId3"/>
            <a:extLst>
              <a:ext uri="{FF2B5EF4-FFF2-40B4-BE49-F238E27FC236}">
                <a16:creationId xmlns:a16="http://schemas.microsoft.com/office/drawing/2014/main" id="{67FFA37E-108E-78ED-B315-E78F57CD0925}"/>
              </a:ext>
            </a:extLst>
          </p:cNvPr>
          <p:cNvSpPr/>
          <p:nvPr/>
        </p:nvSpPr>
        <p:spPr>
          <a:xfrm>
            <a:off x="3366654" y="2468879"/>
            <a:ext cx="1429789" cy="4156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Download</a:t>
            </a:r>
          </a:p>
        </p:txBody>
      </p:sp>
      <p:sp>
        <p:nvSpPr>
          <p:cNvPr id="11" name="Rectangle 10">
            <a:hlinkClick r:id="rId4"/>
            <a:extLst>
              <a:ext uri="{FF2B5EF4-FFF2-40B4-BE49-F238E27FC236}">
                <a16:creationId xmlns:a16="http://schemas.microsoft.com/office/drawing/2014/main" id="{BECE765D-49E2-662C-4C1F-8984403147C4}"/>
              </a:ext>
            </a:extLst>
          </p:cNvPr>
          <p:cNvSpPr/>
          <p:nvPr/>
        </p:nvSpPr>
        <p:spPr>
          <a:xfrm>
            <a:off x="3366654" y="3161088"/>
            <a:ext cx="1429789" cy="4156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Download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1CC07D-5ED9-8FB2-91C1-89FF38437A1D}"/>
              </a:ext>
            </a:extLst>
          </p:cNvPr>
          <p:cNvSpPr txBox="1"/>
          <p:nvPr/>
        </p:nvSpPr>
        <p:spPr>
          <a:xfrm>
            <a:off x="3366655" y="3853297"/>
            <a:ext cx="4264430" cy="33855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npm</a:t>
            </a:r>
            <a:r>
              <a:rPr lang="en-US" sz="1600" dirty="0"/>
              <a:t> install bootstrap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392D17-E458-B5A6-F8F9-013DDBCB2ACD}"/>
              </a:ext>
            </a:extLst>
          </p:cNvPr>
          <p:cNvSpPr txBox="1"/>
          <p:nvPr/>
        </p:nvSpPr>
        <p:spPr>
          <a:xfrm>
            <a:off x="3366654" y="4495628"/>
            <a:ext cx="4264430" cy="33855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composer require </a:t>
            </a:r>
            <a:r>
              <a:rPr lang="en-US" sz="1600" dirty="0" err="1"/>
              <a:t>twbs</a:t>
            </a:r>
            <a:r>
              <a:rPr lang="en-US" sz="1600" dirty="0"/>
              <a:t>/bootstrap:5.1.3</a:t>
            </a:r>
          </a:p>
        </p:txBody>
      </p:sp>
    </p:spTree>
    <p:extLst>
      <p:ext uri="{BB962C8B-B14F-4D97-AF65-F5344CB8AC3E}">
        <p14:creationId xmlns:p14="http://schemas.microsoft.com/office/powerpoint/2010/main" val="415431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0" grpId="0" animBg="1"/>
      <p:bldP spid="11" grpId="0" animBg="1"/>
      <p:bldP spid="12" grpId="0" uiExpand="1" build="allAtOnce" animBg="1"/>
      <p:bldP spid="13" grpId="0" uiExpand="1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E75C0-9D48-8CA6-FDF7-E6C6E96C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1511-0D91-86CC-398E-3AA8FE383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Load 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7D3B5-B61F-BE1E-F17B-86F2167C9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After downloading the bootstrap we need to load the bootstrap in our web page, we need to load CSS and JS files provided in the downloaded folder.</a:t>
            </a:r>
          </a:p>
          <a:p>
            <a:r>
              <a:rPr lang="en-US" dirty="0"/>
              <a:t>As we have not explored Java Script in this course, we will skip some details of how to load bootstrap differently according to your need.</a:t>
            </a:r>
          </a:p>
          <a:p>
            <a:r>
              <a:rPr lang="en-US" dirty="0"/>
              <a:t>In this course we will load whole bundle for the simplicity, but later we will explore some more detailed loading techniques.</a:t>
            </a:r>
          </a:p>
          <a:p>
            <a:r>
              <a:rPr lang="en-US" dirty="0"/>
              <a:t>To load downloaded </a:t>
            </a:r>
            <a:r>
              <a:rPr lang="en-US" dirty="0" err="1"/>
              <a:t>BootStrap</a:t>
            </a:r>
            <a:r>
              <a:rPr lang="en-US" dirty="0"/>
              <a:t> we need to extract the ZIP file and copy </a:t>
            </a:r>
            <a:r>
              <a:rPr lang="en-US" b="1" dirty="0" err="1"/>
              <a:t>css</a:t>
            </a:r>
            <a:r>
              <a:rPr lang="en-US" dirty="0"/>
              <a:t> and </a:t>
            </a:r>
            <a:r>
              <a:rPr lang="en-US" b="1" dirty="0" err="1"/>
              <a:t>js</a:t>
            </a:r>
            <a:r>
              <a:rPr lang="en-US" dirty="0"/>
              <a:t> folder and paste it in our project folder, then we need to load CSS and JS in our web page using link and script tag. </a:t>
            </a:r>
          </a:p>
          <a:p>
            <a:pPr lvl="1"/>
            <a:r>
              <a:rPr lang="en-US" sz="2200" dirty="0"/>
              <a:t>(ideally CSS should be loaded in head section and JS should be loaded just before end of body tag)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AB7AE-359E-06B7-C975-877A9CA608CE}"/>
              </a:ext>
            </a:extLst>
          </p:cNvPr>
          <p:cNvSpPr txBox="1"/>
          <p:nvPr/>
        </p:nvSpPr>
        <p:spPr>
          <a:xfrm>
            <a:off x="556953" y="4923905"/>
            <a:ext cx="10008523" cy="70788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&lt;link </a:t>
            </a:r>
            <a:r>
              <a:rPr lang="en-US" sz="2000" dirty="0" err="1"/>
              <a:t>rel</a:t>
            </a:r>
            <a:r>
              <a:rPr lang="en-US" sz="2000" dirty="0"/>
              <a:t>=“stylesheet” </a:t>
            </a:r>
            <a:r>
              <a:rPr lang="en-US" sz="2000" dirty="0" err="1"/>
              <a:t>href</a:t>
            </a:r>
            <a:r>
              <a:rPr lang="en-US" sz="2000" dirty="0"/>
              <a:t>=“</a:t>
            </a:r>
            <a:r>
              <a:rPr lang="en-US" sz="2000" dirty="0" err="1"/>
              <a:t>css</a:t>
            </a:r>
            <a:r>
              <a:rPr lang="en-US" sz="2000" dirty="0"/>
              <a:t>/bootstrap.min.css” /&gt;</a:t>
            </a:r>
          </a:p>
          <a:p>
            <a:r>
              <a:rPr lang="en-US" sz="2000" dirty="0"/>
              <a:t>&lt;script </a:t>
            </a:r>
            <a:r>
              <a:rPr lang="en-US" sz="2000" dirty="0" err="1"/>
              <a:t>src</a:t>
            </a:r>
            <a:r>
              <a:rPr lang="en-US" sz="2000" dirty="0"/>
              <a:t>=“</a:t>
            </a:r>
            <a:r>
              <a:rPr lang="en-US" sz="2000" dirty="0" err="1"/>
              <a:t>js</a:t>
            </a:r>
            <a:r>
              <a:rPr lang="en-US" sz="2000" dirty="0"/>
              <a:t>/bootstrap.bundle.min.js”&gt;&lt;/script&gt;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76787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122E2-2AB3-BBA6-A551-E22C7DE3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50FE-7D19-5CDC-855C-0C1DDF82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Load 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25CA1-D833-CEAB-71A4-FEE688C77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lvl="0">
              <a:buClr>
                <a:srgbClr val="B84742"/>
              </a:buClr>
            </a:pPr>
            <a:r>
              <a:rPr lang="en-US" dirty="0">
                <a:solidFill>
                  <a:srgbClr val="212121"/>
                </a:solidFill>
              </a:rPr>
              <a:t>To load CDN </a:t>
            </a:r>
            <a:r>
              <a:rPr lang="en-US" dirty="0" err="1">
                <a:solidFill>
                  <a:srgbClr val="212121"/>
                </a:solidFill>
              </a:rPr>
              <a:t>BootStrap</a:t>
            </a:r>
            <a:r>
              <a:rPr lang="en-US" dirty="0">
                <a:solidFill>
                  <a:srgbClr val="212121"/>
                </a:solidFill>
              </a:rPr>
              <a:t> we need not to download any thing, just load bootstrap from the Content Delivery Network like this,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F97D0-5E15-1FB2-FDDE-C1A166F5CB6B}"/>
              </a:ext>
            </a:extLst>
          </p:cNvPr>
          <p:cNvSpPr txBox="1"/>
          <p:nvPr/>
        </p:nvSpPr>
        <p:spPr>
          <a:xfrm>
            <a:off x="565266" y="1809403"/>
            <a:ext cx="11226684" cy="193899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&lt;link </a:t>
            </a:r>
            <a:r>
              <a:rPr lang="en-US" sz="2000" dirty="0" err="1"/>
              <a:t>href</a:t>
            </a:r>
            <a:r>
              <a:rPr lang="en-US" sz="2000" dirty="0"/>
              <a:t>="https://cdn.jsdelivr.net/</a:t>
            </a:r>
            <a:r>
              <a:rPr lang="en-US" sz="2000" dirty="0" err="1"/>
              <a:t>npm</a:t>
            </a:r>
            <a:r>
              <a:rPr lang="en-US" sz="2000" dirty="0"/>
              <a:t>/bootstrap@5.3.3/</a:t>
            </a:r>
            <a:r>
              <a:rPr lang="en-US" sz="2000" dirty="0" err="1"/>
              <a:t>dist</a:t>
            </a:r>
            <a:r>
              <a:rPr lang="en-US" sz="2000" dirty="0"/>
              <a:t>/</a:t>
            </a:r>
            <a:r>
              <a:rPr lang="en-US" sz="2000" dirty="0" err="1"/>
              <a:t>css</a:t>
            </a:r>
            <a:r>
              <a:rPr lang="en-US" sz="2000" dirty="0"/>
              <a:t>/bootstrap.min.css" </a:t>
            </a:r>
            <a:r>
              <a:rPr lang="en-US" sz="2000" dirty="0" err="1"/>
              <a:t>rel</a:t>
            </a:r>
            <a:r>
              <a:rPr lang="en-US" sz="2000" dirty="0"/>
              <a:t>="stylesheet" integrity="sha384-QWTKZyjpPEjISv5WaRU9OFeRpok6YctnYmDr5pNlyT2bRjXh0JMhjY6hW+ALEwIH" </a:t>
            </a:r>
            <a:r>
              <a:rPr lang="en-US" sz="2000" dirty="0" err="1"/>
              <a:t>crossorigin</a:t>
            </a:r>
            <a:r>
              <a:rPr lang="en-US" sz="2000" dirty="0"/>
              <a:t>="anonymous"&gt;</a:t>
            </a:r>
          </a:p>
          <a:p>
            <a:r>
              <a:rPr lang="en-US" sz="2000" dirty="0"/>
              <a:t>&lt;script </a:t>
            </a:r>
            <a:r>
              <a:rPr lang="en-US" sz="2000" dirty="0" err="1"/>
              <a:t>src</a:t>
            </a:r>
            <a:r>
              <a:rPr lang="en-US" sz="2000" dirty="0"/>
              <a:t>="https://cdn.jsdelivr.net/</a:t>
            </a:r>
            <a:r>
              <a:rPr lang="en-US" sz="2000" dirty="0" err="1"/>
              <a:t>npm</a:t>
            </a:r>
            <a:r>
              <a:rPr lang="en-US" sz="2000" dirty="0"/>
              <a:t>/bootstrap@5.3.3/</a:t>
            </a:r>
            <a:r>
              <a:rPr lang="en-US" sz="2000" dirty="0" err="1"/>
              <a:t>dist</a:t>
            </a:r>
            <a:r>
              <a:rPr lang="en-US" sz="2000" dirty="0"/>
              <a:t>/</a:t>
            </a:r>
            <a:r>
              <a:rPr lang="en-US" sz="2000" dirty="0" err="1"/>
              <a:t>js</a:t>
            </a:r>
            <a:r>
              <a:rPr lang="en-US" sz="2000" dirty="0"/>
              <a:t>/bootstrap.bundle.min.js" integrity="sha384-YvpcrYf0tY3lHB60NNkmXc5s9fDVZLESaAA55NDzOxhy9GkcIdslK1eN7N6jIeHz" </a:t>
            </a:r>
            <a:r>
              <a:rPr lang="en-US" sz="2000" dirty="0" err="1"/>
              <a:t>crossorigin</a:t>
            </a:r>
            <a:r>
              <a:rPr lang="en-US" sz="2000" dirty="0"/>
              <a:t>="anonymous"&gt;&lt;/script&gt;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81492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46578-B4E3-6CBC-F8C9-1AAE16D34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F0528-CB02-8EDF-9D05-9DD6749E6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Important </a:t>
            </a:r>
            <a:r>
              <a:rPr lang="en-US" dirty="0" err="1"/>
              <a:t>Globals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ECB00-ED61-3C9E-A180-781F4966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HTML5 </a:t>
            </a:r>
            <a:r>
              <a:rPr lang="en-US" dirty="0" err="1"/>
              <a:t>doctype</a:t>
            </a:r>
            <a:endParaRPr lang="en-US" dirty="0"/>
          </a:p>
          <a:p>
            <a:pPr lvl="1"/>
            <a:r>
              <a:rPr lang="en-US" dirty="0"/>
              <a:t>Bootstrap requires the use of the HTML5 </a:t>
            </a:r>
            <a:r>
              <a:rPr lang="en-US" dirty="0" err="1"/>
              <a:t>doctype</a:t>
            </a:r>
            <a:r>
              <a:rPr lang="en-US" dirty="0"/>
              <a:t>. Without it, you’ll see some incomplete styling, but including it shouldn’t cause any considerable problems.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Responsive meta tag</a:t>
            </a:r>
          </a:p>
          <a:p>
            <a:pPr lvl="1"/>
            <a:r>
              <a:rPr lang="en-US" dirty="0"/>
              <a:t>Bootstrap is developed mobile first, a strategy in which we optimize code for mobile devices first and then scale up components as necessary using CSS media queries. </a:t>
            </a:r>
          </a:p>
          <a:p>
            <a:pPr lvl="1"/>
            <a:r>
              <a:rPr lang="en-US" dirty="0"/>
              <a:t>To ensure proper rendering and touch zooming for all devices, add the responsive viewport meta tag to your &lt;head&gt;.</a:t>
            </a:r>
          </a:p>
          <a:p>
            <a:pPr lvl="1"/>
            <a:endParaRPr lang="en-US" dirty="0"/>
          </a:p>
          <a:p>
            <a:r>
              <a:rPr lang="en-US" dirty="0"/>
              <a:t>Box Sizing</a:t>
            </a:r>
          </a:p>
          <a:p>
            <a:pPr lvl="1"/>
            <a:r>
              <a:rPr lang="en-US" dirty="0"/>
              <a:t>For more straightforward sizing in CSS, they switch the global box-sizing value from content-box to </a:t>
            </a:r>
            <a:r>
              <a:rPr lang="en-US" b="1" dirty="0"/>
              <a:t>border-box</a:t>
            </a:r>
            <a:r>
              <a:rPr lang="en-US" dirty="0"/>
              <a:t>. This ensures padding does not affect the final computed width of an element.</a:t>
            </a:r>
          </a:p>
          <a:p>
            <a:r>
              <a:rPr lang="en-US" dirty="0"/>
              <a:t>Reboot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7975-DB2D-D197-F43C-7A06B88CEED7}"/>
              </a:ext>
            </a:extLst>
          </p:cNvPr>
          <p:cNvSpPr txBox="1"/>
          <p:nvPr/>
        </p:nvSpPr>
        <p:spPr>
          <a:xfrm>
            <a:off x="6835100" y="1630505"/>
            <a:ext cx="2360659" cy="107721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&lt;!</a:t>
            </a:r>
            <a:r>
              <a:rPr lang="en-US" sz="1600" b="1" dirty="0" err="1">
                <a:solidFill>
                  <a:srgbClr val="FF0000"/>
                </a:solidFill>
              </a:rPr>
              <a:t>doctype</a:t>
            </a:r>
            <a:r>
              <a:rPr lang="en-US" sz="1600" b="1" dirty="0">
                <a:solidFill>
                  <a:srgbClr val="FF0000"/>
                </a:solidFill>
              </a:rPr>
              <a:t> html&gt;</a:t>
            </a:r>
          </a:p>
          <a:p>
            <a:r>
              <a:rPr lang="en-US" sz="1600" dirty="0"/>
              <a:t>&lt;html </a:t>
            </a:r>
            <a:r>
              <a:rPr lang="en-US" sz="1600" dirty="0" err="1"/>
              <a:t>lang</a:t>
            </a:r>
            <a:r>
              <a:rPr lang="en-US" sz="1600" dirty="0"/>
              <a:t>="</a:t>
            </a:r>
            <a:r>
              <a:rPr lang="en-US" sz="1600" dirty="0" err="1"/>
              <a:t>en</a:t>
            </a:r>
            <a:r>
              <a:rPr lang="en-US" sz="1600" dirty="0"/>
              <a:t>"&gt;</a:t>
            </a:r>
          </a:p>
          <a:p>
            <a:r>
              <a:rPr lang="en-US" sz="1600" dirty="0"/>
              <a:t>  ...</a:t>
            </a:r>
          </a:p>
          <a:p>
            <a:r>
              <a:rPr lang="en-US" sz="1600" dirty="0"/>
              <a:t>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F4D28C-59D9-6630-A900-26110D2A1892}"/>
              </a:ext>
            </a:extLst>
          </p:cNvPr>
          <p:cNvSpPr txBox="1"/>
          <p:nvPr/>
        </p:nvSpPr>
        <p:spPr>
          <a:xfrm>
            <a:off x="2004308" y="4073035"/>
            <a:ext cx="6251172" cy="33855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&lt;meta name="viewport" content="width=device-width, initial-scale=1"&gt;</a:t>
            </a:r>
          </a:p>
        </p:txBody>
      </p:sp>
    </p:spTree>
    <p:extLst>
      <p:ext uri="{BB962C8B-B14F-4D97-AF65-F5344CB8AC3E}">
        <p14:creationId xmlns:p14="http://schemas.microsoft.com/office/powerpoint/2010/main" val="193570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allAtOnce" animBg="1"/>
      <p:bldP spid="5" grpId="0" uiExpand="1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6FA53-6868-FFCE-E1B0-66DA200E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4F9A-CFDE-3C90-5B81-7D980C05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Reboot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CA050-E288-2086-EE88-8349E0616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It’s a reset CSS from bootstrap, included from bootstrap 4.</a:t>
            </a:r>
          </a:p>
          <a:p>
            <a:r>
              <a:rPr lang="en-US" dirty="0"/>
              <a:t>Reboot builds upon Normalize, providing many HTML elements with somewhat opinionated styles using only element selectors. </a:t>
            </a:r>
          </a:p>
          <a:p>
            <a:r>
              <a:rPr lang="en-US" dirty="0"/>
              <a:t>Additional styling is done only with classes. For example, we reboot some &lt;table&gt; styles for a simpler baseline and later provide .table, .table-bordered, and more.</a:t>
            </a:r>
          </a:p>
        </p:txBody>
      </p:sp>
    </p:spTree>
    <p:extLst>
      <p:ext uri="{BB962C8B-B14F-4D97-AF65-F5344CB8AC3E}">
        <p14:creationId xmlns:p14="http://schemas.microsoft.com/office/powerpoint/2010/main" val="301907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5693E-033A-E638-84B4-7C3D91321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278B-8CC5-131C-BE49-426B61ED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Starter Template using CDN </a:t>
            </a:r>
            <a:r>
              <a:rPr lang="en-US" sz="1800" dirty="0"/>
              <a:t>(just for reference)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C898E-D80F-5FFD-BC22-7106ED70FB33}"/>
              </a:ext>
            </a:extLst>
          </p:cNvPr>
          <p:cNvSpPr txBox="1"/>
          <p:nvPr/>
        </p:nvSpPr>
        <p:spPr>
          <a:xfrm>
            <a:off x="273979" y="844090"/>
            <a:ext cx="9513833" cy="5586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FF0000"/>
                </a:solidFill>
              </a:rPr>
              <a:t>&lt;!</a:t>
            </a:r>
            <a:r>
              <a:rPr lang="en-US" sz="1700" dirty="0" err="1">
                <a:solidFill>
                  <a:srgbClr val="FF0000"/>
                </a:solidFill>
              </a:rPr>
              <a:t>doctype</a:t>
            </a:r>
            <a:r>
              <a:rPr lang="en-US" sz="1700" dirty="0">
                <a:solidFill>
                  <a:srgbClr val="FF0000"/>
                </a:solidFill>
              </a:rPr>
              <a:t> html&gt;</a:t>
            </a:r>
          </a:p>
          <a:p>
            <a:r>
              <a:rPr lang="en-US" sz="1700" dirty="0">
                <a:solidFill>
                  <a:schemeClr val="tx1"/>
                </a:solidFill>
              </a:rPr>
              <a:t>&lt;html </a:t>
            </a:r>
            <a:r>
              <a:rPr lang="en-US" sz="1700" dirty="0" err="1">
                <a:solidFill>
                  <a:schemeClr val="tx1"/>
                </a:solidFill>
              </a:rPr>
              <a:t>lang</a:t>
            </a:r>
            <a:r>
              <a:rPr lang="en-US" sz="1700" dirty="0">
                <a:solidFill>
                  <a:schemeClr val="tx1"/>
                </a:solidFill>
              </a:rPr>
              <a:t>="</a:t>
            </a:r>
            <a:r>
              <a:rPr lang="en-US" sz="1700" dirty="0" err="1">
                <a:solidFill>
                  <a:schemeClr val="tx1"/>
                </a:solidFill>
              </a:rPr>
              <a:t>en</a:t>
            </a:r>
            <a:r>
              <a:rPr lang="en-US" sz="1700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700" dirty="0">
                <a:solidFill>
                  <a:schemeClr val="tx1"/>
                </a:solidFill>
              </a:rPr>
              <a:t>  &lt;head&gt;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&lt;meta charset="utf-8"&gt;</a:t>
            </a:r>
          </a:p>
          <a:p>
            <a:pPr lvl="1"/>
            <a:r>
              <a:rPr lang="en-US" sz="1700" dirty="0">
                <a:solidFill>
                  <a:srgbClr val="FF0000"/>
                </a:solidFill>
              </a:rPr>
              <a:t>&lt;meta name="viewport" content="width=device-width, initial-scale=1"&gt;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&lt;title&gt;Bootstrap demo&lt;/title&gt;</a:t>
            </a:r>
          </a:p>
          <a:p>
            <a:endParaRPr lang="en-US" sz="1700" dirty="0">
              <a:solidFill>
                <a:schemeClr val="tx1"/>
              </a:solidFill>
            </a:endParaRP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&lt;!-- Bootstrap CSS --&gt;</a:t>
            </a:r>
          </a:p>
          <a:p>
            <a:pPr lvl="1"/>
            <a:r>
              <a:rPr lang="en-US" sz="1700" dirty="0">
                <a:solidFill>
                  <a:srgbClr val="FF0000"/>
                </a:solidFill>
              </a:rPr>
              <a:t>&lt;link </a:t>
            </a:r>
            <a:r>
              <a:rPr lang="en-US" sz="1700" dirty="0" err="1">
                <a:solidFill>
                  <a:srgbClr val="FF0000"/>
                </a:solidFill>
              </a:rPr>
              <a:t>href</a:t>
            </a:r>
            <a:r>
              <a:rPr lang="en-US" sz="1700" dirty="0">
                <a:solidFill>
                  <a:srgbClr val="FF0000"/>
                </a:solidFill>
              </a:rPr>
              <a:t>="https://cdn.jsdelivr.net/</a:t>
            </a:r>
            <a:r>
              <a:rPr lang="en-US" sz="1700" dirty="0" err="1">
                <a:solidFill>
                  <a:srgbClr val="FF0000"/>
                </a:solidFill>
              </a:rPr>
              <a:t>npm</a:t>
            </a:r>
            <a:r>
              <a:rPr lang="en-US" sz="1700" dirty="0">
                <a:solidFill>
                  <a:srgbClr val="FF0000"/>
                </a:solidFill>
              </a:rPr>
              <a:t>/bootstrap@5.3.3/</a:t>
            </a:r>
            <a:r>
              <a:rPr lang="en-US" sz="1700" dirty="0" err="1">
                <a:solidFill>
                  <a:srgbClr val="FF0000"/>
                </a:solidFill>
              </a:rPr>
              <a:t>dist</a:t>
            </a:r>
            <a:r>
              <a:rPr lang="en-US" sz="1700" dirty="0">
                <a:solidFill>
                  <a:srgbClr val="FF0000"/>
                </a:solidFill>
              </a:rPr>
              <a:t>/</a:t>
            </a:r>
            <a:r>
              <a:rPr lang="en-US" sz="1700" dirty="0" err="1">
                <a:solidFill>
                  <a:srgbClr val="FF0000"/>
                </a:solidFill>
              </a:rPr>
              <a:t>css</a:t>
            </a:r>
            <a:r>
              <a:rPr lang="en-US" sz="1700" dirty="0">
                <a:solidFill>
                  <a:srgbClr val="FF0000"/>
                </a:solidFill>
              </a:rPr>
              <a:t>/bootstrap.min.css" </a:t>
            </a:r>
            <a:r>
              <a:rPr lang="en-US" sz="1700" dirty="0" err="1">
                <a:solidFill>
                  <a:srgbClr val="FF0000"/>
                </a:solidFill>
              </a:rPr>
              <a:t>rel</a:t>
            </a:r>
            <a:r>
              <a:rPr lang="en-US" sz="1700" dirty="0">
                <a:solidFill>
                  <a:srgbClr val="FF0000"/>
                </a:solidFill>
              </a:rPr>
              <a:t>="stylesheet" integrity="sha384-QWTKZyjpPEjISv5WaRU9OFeRpok6YctnYmDr5pNlyT2bRjXh0JMhjY6hW+ALEwIH" </a:t>
            </a:r>
            <a:r>
              <a:rPr lang="en-US" sz="1700" dirty="0" err="1">
                <a:solidFill>
                  <a:srgbClr val="FF0000"/>
                </a:solidFill>
              </a:rPr>
              <a:t>crossorigin</a:t>
            </a:r>
            <a:r>
              <a:rPr lang="en-US" sz="1700" dirty="0">
                <a:solidFill>
                  <a:srgbClr val="FF0000"/>
                </a:solidFill>
              </a:rPr>
              <a:t>="anonymous"&gt;</a:t>
            </a:r>
          </a:p>
          <a:p>
            <a:r>
              <a:rPr lang="en-US" sz="1700" dirty="0">
                <a:solidFill>
                  <a:schemeClr val="tx1"/>
                </a:solidFill>
              </a:rPr>
              <a:t>  &lt;/head&gt;</a:t>
            </a:r>
          </a:p>
          <a:p>
            <a:r>
              <a:rPr lang="en-US" sz="1700" dirty="0">
                <a:solidFill>
                  <a:schemeClr val="tx1"/>
                </a:solidFill>
              </a:rPr>
              <a:t>  &lt;body&gt;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&lt;h1&gt;Hello, world!&lt;/h1&gt;</a:t>
            </a:r>
          </a:p>
          <a:p>
            <a:endParaRPr lang="en-US" sz="1700" dirty="0">
              <a:solidFill>
                <a:schemeClr val="tx1"/>
              </a:solidFill>
            </a:endParaRP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&lt;!-- Bootstrap Bundle with Popper --&gt;</a:t>
            </a:r>
          </a:p>
          <a:p>
            <a:pPr lvl="1"/>
            <a:r>
              <a:rPr lang="en-US" sz="1700" dirty="0">
                <a:solidFill>
                  <a:srgbClr val="FF0000"/>
                </a:solidFill>
              </a:rPr>
              <a:t>&lt;script </a:t>
            </a:r>
            <a:r>
              <a:rPr lang="en-US" sz="1700" dirty="0" err="1">
                <a:solidFill>
                  <a:srgbClr val="FF0000"/>
                </a:solidFill>
              </a:rPr>
              <a:t>src</a:t>
            </a:r>
            <a:r>
              <a:rPr lang="en-US" sz="1700" dirty="0">
                <a:solidFill>
                  <a:srgbClr val="FF0000"/>
                </a:solidFill>
              </a:rPr>
              <a:t>="https://cdn.jsdelivr.net/</a:t>
            </a:r>
            <a:r>
              <a:rPr lang="en-US" sz="1700" dirty="0" err="1">
                <a:solidFill>
                  <a:srgbClr val="FF0000"/>
                </a:solidFill>
              </a:rPr>
              <a:t>npm</a:t>
            </a:r>
            <a:r>
              <a:rPr lang="en-US" sz="1700" dirty="0">
                <a:solidFill>
                  <a:srgbClr val="FF0000"/>
                </a:solidFill>
              </a:rPr>
              <a:t>/bootstrap@5.3.3/</a:t>
            </a:r>
            <a:r>
              <a:rPr lang="en-US" sz="1700" dirty="0" err="1">
                <a:solidFill>
                  <a:srgbClr val="FF0000"/>
                </a:solidFill>
              </a:rPr>
              <a:t>dist</a:t>
            </a:r>
            <a:r>
              <a:rPr lang="en-US" sz="1700" dirty="0">
                <a:solidFill>
                  <a:srgbClr val="FF0000"/>
                </a:solidFill>
              </a:rPr>
              <a:t>/</a:t>
            </a:r>
            <a:r>
              <a:rPr lang="en-US" sz="1700" dirty="0" err="1">
                <a:solidFill>
                  <a:srgbClr val="FF0000"/>
                </a:solidFill>
              </a:rPr>
              <a:t>js</a:t>
            </a:r>
            <a:r>
              <a:rPr lang="en-US" sz="1700" dirty="0">
                <a:solidFill>
                  <a:srgbClr val="FF0000"/>
                </a:solidFill>
              </a:rPr>
              <a:t>/bootstrap.bundle.min.js" integrity="sha384-YvpcrYf0tY3lHB60NNkmXc5s9fDVZLESaAA55NDzOxhy9GkcIdslK1eN7N6jIeHz" </a:t>
            </a:r>
            <a:r>
              <a:rPr lang="en-US" sz="1700" dirty="0" err="1">
                <a:solidFill>
                  <a:srgbClr val="FF0000"/>
                </a:solidFill>
              </a:rPr>
              <a:t>crossorigin</a:t>
            </a:r>
            <a:r>
              <a:rPr lang="en-US" sz="1700" dirty="0">
                <a:solidFill>
                  <a:srgbClr val="FF0000"/>
                </a:solidFill>
              </a:rPr>
              <a:t>="anonymous"&gt;&lt;/script&gt;</a:t>
            </a:r>
          </a:p>
          <a:p>
            <a:r>
              <a:rPr lang="en-US" sz="1700" dirty="0">
                <a:solidFill>
                  <a:schemeClr val="tx1"/>
                </a:solidFill>
              </a:rPr>
              <a:t>  &lt;/body&gt;</a:t>
            </a:r>
          </a:p>
          <a:p>
            <a:r>
              <a:rPr lang="en-US" sz="1700" dirty="0">
                <a:solidFill>
                  <a:schemeClr val="tx1"/>
                </a:solidFill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76031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10FA3-7EAB-DEAD-2A65-75288331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28DA-E8B6-7758-CA03-BA66D8A6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Typography, Images 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4DA83-7B0F-BD3B-0127-D004BAE52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2460384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979ED-44E5-CC4E-6B7A-58DE59D8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8BCC-56D4-CEE0-F81C-6616BF45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Typography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592B2-CF6A-6B72-A06C-D599C6467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Headings</a:t>
            </a:r>
          </a:p>
          <a:p>
            <a:r>
              <a:rPr lang="en-US" dirty="0"/>
              <a:t>Display Headings</a:t>
            </a:r>
          </a:p>
          <a:p>
            <a:r>
              <a:rPr lang="en-US" dirty="0"/>
              <a:t>Lead</a:t>
            </a:r>
          </a:p>
          <a:p>
            <a:r>
              <a:rPr lang="en-US" dirty="0"/>
              <a:t>Inline Text Elements</a:t>
            </a:r>
          </a:p>
          <a:p>
            <a:r>
              <a:rPr lang="en-US" dirty="0"/>
              <a:t>Block quotes</a:t>
            </a:r>
          </a:p>
          <a:p>
            <a:r>
              <a:rPr lang="en-US" dirty="0"/>
              <a:t>Alignment</a:t>
            </a:r>
          </a:p>
          <a:p>
            <a:r>
              <a:rPr lang="en-US" dirty="0"/>
              <a:t>List</a:t>
            </a:r>
          </a:p>
          <a:p>
            <a:r>
              <a:rPr lang="en-US" dirty="0"/>
              <a:t>Color Utilities</a:t>
            </a:r>
          </a:p>
          <a:p>
            <a:r>
              <a:rPr lang="en-US" dirty="0"/>
              <a:t>Text Utilities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12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E8983-3061-6E4A-D1D6-D0C64D42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19D42-C49A-75C5-55BA-3F95C8DBB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18B3-41DF-6206-5511-51950E01E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Responsive Image</a:t>
            </a:r>
          </a:p>
          <a:p>
            <a:r>
              <a:rPr lang="en-US" dirty="0"/>
              <a:t>Image shapes : Rounded, Circle, Thumbnail</a:t>
            </a:r>
          </a:p>
          <a:p>
            <a:r>
              <a:rPr lang="en-US" dirty="0"/>
              <a:t>Alignment</a:t>
            </a:r>
          </a:p>
          <a:p>
            <a:r>
              <a:rPr lang="en-US" dirty="0"/>
              <a:t>Figure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1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885C1-2924-602A-02CF-97A5E2D0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A30E-D3AF-4D30-A0F6-B698551A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Breakpoints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FA9A0-2551-6366-BB6E-47AD906A0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4148918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A92D-CAB4-1246-828A-98694CAF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3A45-E633-310B-FEEF-39CE9100B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Breakpoints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9E653-A6D7-E9A5-9CD3-1AFEB0718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Breakpoints are widths that determine how your responsive layout behaves across device or viewport sizes in Bootstrap.</a:t>
            </a:r>
          </a:p>
          <a:p>
            <a:r>
              <a:rPr lang="en-US" b="1" dirty="0"/>
              <a:t>Breakpoints are the building blocks of responsive design.</a:t>
            </a:r>
            <a:r>
              <a:rPr lang="en-US" dirty="0"/>
              <a:t> Use them to control when your layout can be adapted at a particular viewport or device size.</a:t>
            </a:r>
          </a:p>
          <a:p>
            <a:r>
              <a:rPr lang="en-US" dirty="0"/>
              <a:t>Available Breakpoints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89A6EA-BB60-BC37-B3FC-4C290D905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244048"/>
              </p:ext>
            </p:extLst>
          </p:nvPr>
        </p:nvGraphicFramePr>
        <p:xfrm>
          <a:off x="502458" y="2842229"/>
          <a:ext cx="8127999" cy="2595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04616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140733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25997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Breakpoint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</a:t>
                      </a:r>
                      <a:r>
                        <a:rPr lang="en-US" baseline="0" dirty="0"/>
                        <a:t> infix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Dimensions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636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Extra 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&lt;576px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514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≥576px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55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≥768px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297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≥992px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409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Extra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≥1200px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81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Extra</a:t>
                      </a:r>
                      <a:r>
                        <a:rPr lang="en-US" baseline="0" dirty="0"/>
                        <a:t> Extra Large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xxl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≥1400px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890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71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82167-28B6-7BC9-FFE9-FABB5D0C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1882-0B26-95E1-D5B1-0CA62E25D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Container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54B95-F99A-2CF5-C50C-D73DF3D4B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1274687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B3437-8D91-E091-D168-7CD0E0A7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4E074-0CCD-9812-3C7E-2456EB53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FB7F-9A89-67DA-E4A3-CF5C68B2C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Containers are a fundamental building block of Bootstrap that contain, pad, and align your content within a given device or viewport.</a:t>
            </a:r>
          </a:p>
          <a:p>
            <a:r>
              <a:rPr lang="en-US" dirty="0"/>
              <a:t>Containers are </a:t>
            </a:r>
            <a:r>
              <a:rPr lang="en-US" b="1" dirty="0"/>
              <a:t>required when using bootstrap default grid system</a:t>
            </a:r>
            <a:r>
              <a:rPr lang="en-US" dirty="0"/>
              <a:t>.</a:t>
            </a:r>
          </a:p>
          <a:p>
            <a:r>
              <a:rPr lang="en-US" dirty="0"/>
              <a:t>Containers </a:t>
            </a:r>
            <a:r>
              <a:rPr lang="en-US" i="1" dirty="0"/>
              <a:t>can</a:t>
            </a:r>
            <a:r>
              <a:rPr lang="en-US" dirty="0"/>
              <a:t> be nested, most layouts do not require a nested container.</a:t>
            </a:r>
          </a:p>
          <a:p>
            <a:r>
              <a:rPr lang="en-US" dirty="0"/>
              <a:t>Bootstrap comes with three different containers:</a:t>
            </a:r>
          </a:p>
          <a:p>
            <a:pPr lvl="1"/>
            <a:r>
              <a:rPr lang="en-US" sz="2200" dirty="0"/>
              <a:t>.container, which sets a max-width at each responsive breakpoint</a:t>
            </a:r>
          </a:p>
          <a:p>
            <a:pPr lvl="1"/>
            <a:r>
              <a:rPr lang="en-US" sz="2200" dirty="0"/>
              <a:t>.container-fluid, which is width: 100% at all breakpoints</a:t>
            </a:r>
          </a:p>
          <a:p>
            <a:pPr lvl="1"/>
            <a:r>
              <a:rPr lang="en-US" sz="2200" dirty="0"/>
              <a:t>.container-{breakpoint}, which is width: 100% until the specified breakpoint</a:t>
            </a:r>
          </a:p>
        </p:txBody>
      </p:sp>
    </p:spTree>
    <p:extLst>
      <p:ext uri="{BB962C8B-B14F-4D97-AF65-F5344CB8AC3E}">
        <p14:creationId xmlns:p14="http://schemas.microsoft.com/office/powerpoint/2010/main" val="186207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8118-D465-AB59-B9DC-9D9C33F0A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F8494-827C-B59C-C5DD-BF7135237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Containers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C44CF46-C5A6-B61C-D111-8593502E1A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5037059"/>
              </p:ext>
            </p:extLst>
          </p:nvPr>
        </p:nvGraphicFramePr>
        <p:xfrm>
          <a:off x="1058033" y="1218338"/>
          <a:ext cx="10075934" cy="39135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7321">
                  <a:extLst>
                    <a:ext uri="{9D8B030D-6E8A-4147-A177-3AD203B41FA5}">
                      <a16:colId xmlns:a16="http://schemas.microsoft.com/office/drawing/2014/main" val="3860468279"/>
                    </a:ext>
                  </a:extLst>
                </a:gridCol>
                <a:gridCol w="1201518">
                  <a:extLst>
                    <a:ext uri="{9D8B030D-6E8A-4147-A177-3AD203B41FA5}">
                      <a16:colId xmlns:a16="http://schemas.microsoft.com/office/drawing/2014/main" val="1292326849"/>
                    </a:ext>
                  </a:extLst>
                </a:gridCol>
                <a:gridCol w="1439419">
                  <a:extLst>
                    <a:ext uri="{9D8B030D-6E8A-4147-A177-3AD203B41FA5}">
                      <a16:colId xmlns:a16="http://schemas.microsoft.com/office/drawing/2014/main" val="3200623834"/>
                    </a:ext>
                  </a:extLst>
                </a:gridCol>
                <a:gridCol w="1439419">
                  <a:extLst>
                    <a:ext uri="{9D8B030D-6E8A-4147-A177-3AD203B41FA5}">
                      <a16:colId xmlns:a16="http://schemas.microsoft.com/office/drawing/2014/main" val="578794238"/>
                    </a:ext>
                  </a:extLst>
                </a:gridCol>
                <a:gridCol w="1439419">
                  <a:extLst>
                    <a:ext uri="{9D8B030D-6E8A-4147-A177-3AD203B41FA5}">
                      <a16:colId xmlns:a16="http://schemas.microsoft.com/office/drawing/2014/main" val="387499948"/>
                    </a:ext>
                  </a:extLst>
                </a:gridCol>
                <a:gridCol w="1439419">
                  <a:extLst>
                    <a:ext uri="{9D8B030D-6E8A-4147-A177-3AD203B41FA5}">
                      <a16:colId xmlns:a16="http://schemas.microsoft.com/office/drawing/2014/main" val="3959085054"/>
                    </a:ext>
                  </a:extLst>
                </a:gridCol>
                <a:gridCol w="1439419">
                  <a:extLst>
                    <a:ext uri="{9D8B030D-6E8A-4147-A177-3AD203B41FA5}">
                      <a16:colId xmlns:a16="http://schemas.microsoft.com/office/drawing/2014/main" val="2784256947"/>
                    </a:ext>
                  </a:extLst>
                </a:gridCol>
              </a:tblGrid>
              <a:tr h="78487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Extra</a:t>
                      </a:r>
                      <a:r>
                        <a:rPr lang="en-US" sz="1800" baseline="0" dirty="0">
                          <a:effectLst/>
                        </a:rPr>
                        <a:t> small</a:t>
                      </a:r>
                      <a:r>
                        <a:rPr lang="en-US" sz="1800" dirty="0">
                          <a:effectLst/>
                        </a:rPr>
                        <a:t/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&lt;576px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Small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≥576px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Medium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≥768px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Large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≥992px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X-Large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≥1200px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XX-Large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≥1400px</a:t>
                      </a:r>
                    </a:p>
                  </a:txBody>
                  <a:tcPr marL="73751" marR="73751" marT="36876" marB="36876"/>
                </a:tc>
                <a:extLst>
                  <a:ext uri="{0D108BD9-81ED-4DB2-BD59-A6C34878D82A}">
                    <a16:rowId xmlns:a16="http://schemas.microsoft.com/office/drawing/2014/main" val="3105834741"/>
                  </a:ext>
                </a:extLst>
              </a:tr>
              <a:tr h="446947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.container</a:t>
                      </a:r>
                      <a:endParaRPr lang="en-US" sz="1800" b="0"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100%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540px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720px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960px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1140px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1320px</a:t>
                      </a:r>
                    </a:p>
                  </a:txBody>
                  <a:tcPr marL="73751" marR="73751" marT="36876" marB="36876"/>
                </a:tc>
                <a:extLst>
                  <a:ext uri="{0D108BD9-81ED-4DB2-BD59-A6C34878D82A}">
                    <a16:rowId xmlns:a16="http://schemas.microsoft.com/office/drawing/2014/main" val="3247916006"/>
                  </a:ext>
                </a:extLst>
              </a:tr>
              <a:tr h="44694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.container-</a:t>
                      </a:r>
                      <a:r>
                        <a:rPr lang="en-US" sz="1800" dirty="0" err="1">
                          <a:effectLst/>
                        </a:rPr>
                        <a:t>sm</a:t>
                      </a:r>
                      <a:endParaRPr lang="en-US" sz="1800" b="0" dirty="0"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100%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540px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720px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960px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1140px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1320px</a:t>
                      </a:r>
                    </a:p>
                  </a:txBody>
                  <a:tcPr marL="73751" marR="73751" marT="36876" marB="36876"/>
                </a:tc>
                <a:extLst>
                  <a:ext uri="{0D108BD9-81ED-4DB2-BD59-A6C34878D82A}">
                    <a16:rowId xmlns:a16="http://schemas.microsoft.com/office/drawing/2014/main" val="1554812905"/>
                  </a:ext>
                </a:extLst>
              </a:tr>
              <a:tr h="446947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.container-md</a:t>
                      </a:r>
                      <a:endParaRPr lang="en-US" sz="1800" b="0"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100%</a:t>
                      </a:r>
                      <a:endParaRPr lang="en-US" sz="180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100%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720px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960px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1140px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1320px</a:t>
                      </a:r>
                    </a:p>
                  </a:txBody>
                  <a:tcPr marL="73751" marR="73751" marT="36876" marB="36876"/>
                </a:tc>
                <a:extLst>
                  <a:ext uri="{0D108BD9-81ED-4DB2-BD59-A6C34878D82A}">
                    <a16:rowId xmlns:a16="http://schemas.microsoft.com/office/drawing/2014/main" val="2867095000"/>
                  </a:ext>
                </a:extLst>
              </a:tr>
              <a:tr h="446947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.container-lg</a:t>
                      </a:r>
                      <a:endParaRPr lang="en-US" sz="1800" b="0"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100%</a:t>
                      </a:r>
                      <a:endParaRPr lang="en-US" sz="180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100%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100%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960px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1140px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1320px</a:t>
                      </a:r>
                    </a:p>
                  </a:txBody>
                  <a:tcPr marL="73751" marR="73751" marT="36876" marB="36876"/>
                </a:tc>
                <a:extLst>
                  <a:ext uri="{0D108BD9-81ED-4DB2-BD59-A6C34878D82A}">
                    <a16:rowId xmlns:a16="http://schemas.microsoft.com/office/drawing/2014/main" val="93031008"/>
                  </a:ext>
                </a:extLst>
              </a:tr>
              <a:tr h="446947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.container-xl</a:t>
                      </a:r>
                      <a:endParaRPr lang="en-US" sz="1800" b="0"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100%</a:t>
                      </a:r>
                      <a:endParaRPr lang="en-US" sz="180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100%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100%</a:t>
                      </a:r>
                      <a:endParaRPr lang="en-US" sz="180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100%</a:t>
                      </a:r>
                      <a:endParaRPr lang="en-US" sz="180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1140px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1320px</a:t>
                      </a:r>
                    </a:p>
                  </a:txBody>
                  <a:tcPr marL="73751" marR="73751" marT="36876" marB="36876"/>
                </a:tc>
                <a:extLst>
                  <a:ext uri="{0D108BD9-81ED-4DB2-BD59-A6C34878D82A}">
                    <a16:rowId xmlns:a16="http://schemas.microsoft.com/office/drawing/2014/main" val="135093946"/>
                  </a:ext>
                </a:extLst>
              </a:tr>
              <a:tr h="446947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.container-xxl</a:t>
                      </a:r>
                      <a:endParaRPr lang="en-US" sz="1800" b="0"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100%</a:t>
                      </a:r>
                      <a:endParaRPr lang="en-US" sz="180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100%</a:t>
                      </a:r>
                      <a:endParaRPr lang="en-US" sz="180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100%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100%</a:t>
                      </a:r>
                      <a:endParaRPr lang="en-US" sz="180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100%</a:t>
                      </a:r>
                      <a:endParaRPr lang="en-US" sz="180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1320px</a:t>
                      </a:r>
                    </a:p>
                  </a:txBody>
                  <a:tcPr marL="73751" marR="73751" marT="36876" marB="36876"/>
                </a:tc>
                <a:extLst>
                  <a:ext uri="{0D108BD9-81ED-4DB2-BD59-A6C34878D82A}">
                    <a16:rowId xmlns:a16="http://schemas.microsoft.com/office/drawing/2014/main" val="2991272351"/>
                  </a:ext>
                </a:extLst>
              </a:tr>
              <a:tr h="446947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.container-fluid</a:t>
                      </a:r>
                      <a:endParaRPr lang="en-US" sz="1800" b="0"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100%</a:t>
                      </a:r>
                      <a:endParaRPr lang="en-US" sz="180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100%</a:t>
                      </a:r>
                      <a:endParaRPr lang="en-US" sz="180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100%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100%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100%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100%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extLst>
                  <a:ext uri="{0D108BD9-81ED-4DB2-BD59-A6C34878D82A}">
                    <a16:rowId xmlns:a16="http://schemas.microsoft.com/office/drawing/2014/main" val="3356298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95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F13BD-ADD2-3CBD-ADE8-8776787B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77E7-CB24-8588-F91D-9140F03FA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Container (Example)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FEFE8-5BD4-9AA2-8089-9E0BC11E15DA}"/>
              </a:ext>
            </a:extLst>
          </p:cNvPr>
          <p:cNvSpPr txBox="1"/>
          <p:nvPr/>
        </p:nvSpPr>
        <p:spPr>
          <a:xfrm>
            <a:off x="124689" y="844090"/>
            <a:ext cx="10474038" cy="526297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&lt;div class="</a:t>
            </a:r>
            <a:r>
              <a:rPr lang="en-US" sz="1600" b="1" dirty="0">
                <a:solidFill>
                  <a:srgbClr val="FF0000"/>
                </a:solidFill>
              </a:rPr>
              <a:t>container</a:t>
            </a:r>
            <a:r>
              <a:rPr lang="en-US" sz="1600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	100% wide until small breakpoint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&lt;/div&gt;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&lt;div class="</a:t>
            </a:r>
            <a:r>
              <a:rPr lang="en-US" sz="1600" b="1" dirty="0">
                <a:solidFill>
                  <a:srgbClr val="FF0000"/>
                </a:solidFill>
              </a:rPr>
              <a:t>container-</a:t>
            </a:r>
            <a:r>
              <a:rPr lang="en-US" sz="1600" b="1" dirty="0" err="1">
                <a:solidFill>
                  <a:srgbClr val="FF0000"/>
                </a:solidFill>
              </a:rPr>
              <a:t>sm</a:t>
            </a:r>
            <a:r>
              <a:rPr lang="en-US" sz="1600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	100% wide until small breakpoint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&lt;/div&gt;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&lt;div class="</a:t>
            </a:r>
            <a:r>
              <a:rPr lang="en-US" sz="1600" b="1" dirty="0">
                <a:solidFill>
                  <a:srgbClr val="FF0000"/>
                </a:solidFill>
              </a:rPr>
              <a:t>container-md</a:t>
            </a:r>
            <a:r>
              <a:rPr lang="en-US" sz="1600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	100% wide until medium breakpoint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&lt;/div&gt;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&lt;div class="</a:t>
            </a:r>
            <a:r>
              <a:rPr lang="en-US" sz="1600" b="1" dirty="0">
                <a:solidFill>
                  <a:srgbClr val="FF0000"/>
                </a:solidFill>
              </a:rPr>
              <a:t>container-</a:t>
            </a:r>
            <a:r>
              <a:rPr lang="en-US" sz="1600" b="1" dirty="0" err="1">
                <a:solidFill>
                  <a:srgbClr val="FF0000"/>
                </a:solidFill>
              </a:rPr>
              <a:t>lg</a:t>
            </a:r>
            <a:r>
              <a:rPr lang="en-US" sz="1600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	100% wide until large breakpoint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&lt;/div&gt;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&lt;div class="</a:t>
            </a:r>
            <a:r>
              <a:rPr lang="en-US" sz="1600" b="1" dirty="0">
                <a:solidFill>
                  <a:srgbClr val="FF0000"/>
                </a:solidFill>
              </a:rPr>
              <a:t>container-xl</a:t>
            </a:r>
            <a:r>
              <a:rPr lang="en-US" sz="1600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	100% wide until extra large breakpoint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&lt;/div&gt;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&lt;div class="</a:t>
            </a:r>
            <a:r>
              <a:rPr lang="en-US" sz="1600" b="1" dirty="0">
                <a:solidFill>
                  <a:srgbClr val="FF0000"/>
                </a:solidFill>
              </a:rPr>
              <a:t>container-</a:t>
            </a:r>
            <a:r>
              <a:rPr lang="en-US" sz="1600" b="1" dirty="0" err="1">
                <a:solidFill>
                  <a:srgbClr val="FF0000"/>
                </a:solidFill>
              </a:rPr>
              <a:t>xxl</a:t>
            </a:r>
            <a:r>
              <a:rPr lang="en-US" sz="1600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	100% wide until extra </a:t>
            </a:r>
            <a:r>
              <a:rPr lang="en-US" sz="1600" dirty="0" err="1">
                <a:solidFill>
                  <a:schemeClr val="tx1"/>
                </a:solidFill>
              </a:rPr>
              <a:t>extra</a:t>
            </a:r>
            <a:r>
              <a:rPr lang="en-US" sz="1600" dirty="0">
                <a:solidFill>
                  <a:schemeClr val="tx1"/>
                </a:solidFill>
              </a:rPr>
              <a:t> large breakpoint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&lt;/div&gt;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&lt;div class="</a:t>
            </a:r>
            <a:r>
              <a:rPr lang="en-US" sz="1600" b="1" dirty="0">
                <a:solidFill>
                  <a:srgbClr val="FF0000"/>
                </a:solidFill>
              </a:rPr>
              <a:t>container-fluid</a:t>
            </a:r>
            <a:r>
              <a:rPr lang="en-US" sz="1600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600" dirty="0">
                <a:solidFill>
                  <a:schemeClr val="tx1"/>
                </a:solidFill>
              </a:rPr>
              <a:t>	100% wide in all screen size</a:t>
            </a:r>
          </a:p>
          <a:p>
            <a:r>
              <a:rPr lang="en-US" sz="1600" dirty="0">
                <a:solidFill>
                  <a:schemeClr val="tx1"/>
                </a:solidFill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364390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BD498-AD54-3ED3-16F9-0A7F860C8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6C47-408C-C415-D330-DE93854F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Grid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2523C-2032-F897-4371-53C7C4DA0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</p:txBody>
      </p:sp>
    </p:spTree>
    <p:extLst>
      <p:ext uri="{BB962C8B-B14F-4D97-AF65-F5344CB8AC3E}">
        <p14:creationId xmlns:p14="http://schemas.microsoft.com/office/powerpoint/2010/main" val="3257771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19A1-5A01-658A-9F4B-606F45E80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CA69-3FE9-A671-D5D3-91BF33EA7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Grid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3DA39-A4FC-0702-431F-0F142849D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Bootstrap Grid System is used for layout, specifically Responsive Layouts. </a:t>
            </a:r>
          </a:p>
          <a:p>
            <a:r>
              <a:rPr lang="en-US" dirty="0"/>
              <a:t>Understanding how it works is vital to understanding Bootstrap. </a:t>
            </a:r>
          </a:p>
          <a:p>
            <a:r>
              <a:rPr lang="en-US" dirty="0"/>
              <a:t>The Grid is made up of groupings of Rows &amp; Columns inside Containers.</a:t>
            </a:r>
          </a:p>
          <a:p>
            <a:r>
              <a:rPr lang="en-US" dirty="0"/>
              <a:t>There are main three components in Grid System</a:t>
            </a:r>
          </a:p>
          <a:p>
            <a:pPr lvl="1"/>
            <a:r>
              <a:rPr lang="en-US" dirty="0"/>
              <a:t>Container</a:t>
            </a:r>
          </a:p>
          <a:p>
            <a:pPr lvl="1"/>
            <a:r>
              <a:rPr lang="en-US" dirty="0"/>
              <a:t>Row(s)</a:t>
            </a:r>
          </a:p>
          <a:p>
            <a:pPr lvl="1"/>
            <a:r>
              <a:rPr lang="en-US" dirty="0"/>
              <a:t>Column(s)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323C47-DF7F-8534-7D12-9AF1F59C66BC}"/>
              </a:ext>
            </a:extLst>
          </p:cNvPr>
          <p:cNvSpPr/>
          <p:nvPr/>
        </p:nvSpPr>
        <p:spPr>
          <a:xfrm>
            <a:off x="706580" y="3749040"/>
            <a:ext cx="9784081" cy="2576944"/>
          </a:xfrm>
          <a:prstGeom prst="rect">
            <a:avLst/>
          </a:prstGeom>
          <a:noFill/>
          <a:ln w="38100">
            <a:solidFill>
              <a:srgbClr val="F543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5760"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0133BD-B994-88CA-77A4-2D61D180D705}"/>
              </a:ext>
            </a:extLst>
          </p:cNvPr>
          <p:cNvSpPr/>
          <p:nvPr/>
        </p:nvSpPr>
        <p:spPr>
          <a:xfrm>
            <a:off x="906085" y="4046642"/>
            <a:ext cx="9385069" cy="8229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Row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62C598-DCE3-7C87-BF4A-1BF6F1E92169}"/>
              </a:ext>
            </a:extLst>
          </p:cNvPr>
          <p:cNvSpPr/>
          <p:nvPr/>
        </p:nvSpPr>
        <p:spPr>
          <a:xfrm>
            <a:off x="906085" y="5186313"/>
            <a:ext cx="9385069" cy="8229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Row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0BD5B6-59EE-54BC-2DD5-2A2A7F8B401F}"/>
              </a:ext>
            </a:extLst>
          </p:cNvPr>
          <p:cNvSpPr/>
          <p:nvPr/>
        </p:nvSpPr>
        <p:spPr>
          <a:xfrm>
            <a:off x="947658" y="4137602"/>
            <a:ext cx="3034138" cy="648393"/>
          </a:xfrm>
          <a:prstGeom prst="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Column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D1E8E-C108-247D-FB6A-B61D8D2D3B96}"/>
              </a:ext>
            </a:extLst>
          </p:cNvPr>
          <p:cNvSpPr/>
          <p:nvPr/>
        </p:nvSpPr>
        <p:spPr>
          <a:xfrm>
            <a:off x="4014743" y="4137602"/>
            <a:ext cx="3150817" cy="64839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Column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970C3-90FA-707F-FDA0-080D74485573}"/>
              </a:ext>
            </a:extLst>
          </p:cNvPr>
          <p:cNvSpPr/>
          <p:nvPr/>
        </p:nvSpPr>
        <p:spPr>
          <a:xfrm>
            <a:off x="7198817" y="4137602"/>
            <a:ext cx="3059081" cy="648393"/>
          </a:xfrm>
          <a:prstGeom prst="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Column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07F872-4C27-CA97-CB29-6B63C2103541}"/>
              </a:ext>
            </a:extLst>
          </p:cNvPr>
          <p:cNvSpPr/>
          <p:nvPr/>
        </p:nvSpPr>
        <p:spPr>
          <a:xfrm>
            <a:off x="947657" y="5254271"/>
            <a:ext cx="2327571" cy="687044"/>
          </a:xfrm>
          <a:prstGeom prst="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Column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D82AF3-9C5C-721A-7CAE-17A213AD3529}"/>
              </a:ext>
            </a:extLst>
          </p:cNvPr>
          <p:cNvSpPr/>
          <p:nvPr/>
        </p:nvSpPr>
        <p:spPr>
          <a:xfrm>
            <a:off x="3316787" y="5254271"/>
            <a:ext cx="4638488" cy="68704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Column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D91711-C7D4-0641-C687-118CBC437297}"/>
              </a:ext>
            </a:extLst>
          </p:cNvPr>
          <p:cNvSpPr/>
          <p:nvPr/>
        </p:nvSpPr>
        <p:spPr>
          <a:xfrm>
            <a:off x="9168952" y="5254271"/>
            <a:ext cx="1088946" cy="687044"/>
          </a:xfrm>
          <a:prstGeom prst="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Column 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FBD582-942C-A8DD-15D6-B3B2548F6DE9}"/>
              </a:ext>
            </a:extLst>
          </p:cNvPr>
          <p:cNvSpPr/>
          <p:nvPr/>
        </p:nvSpPr>
        <p:spPr>
          <a:xfrm>
            <a:off x="7983415" y="5254271"/>
            <a:ext cx="1152281" cy="687044"/>
          </a:xfrm>
          <a:prstGeom prst="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Column 3</a:t>
            </a:r>
          </a:p>
        </p:txBody>
      </p:sp>
    </p:spTree>
    <p:extLst>
      <p:ext uri="{BB962C8B-B14F-4D97-AF65-F5344CB8AC3E}">
        <p14:creationId xmlns:p14="http://schemas.microsoft.com/office/powerpoint/2010/main" val="242717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74171-4FC8-1ACC-D9FF-6DF80524A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290A-B2A6-4628-47EB-86C0F1B6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Grid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A704E-2014-CAB9-02E9-D63AE6FC9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761800"/>
          </a:xfrm>
        </p:spPr>
        <p:txBody>
          <a:bodyPr/>
          <a:lstStyle/>
          <a:p>
            <a:r>
              <a:rPr lang="en-US" b="1" dirty="0"/>
              <a:t>Grid supports six responsive breakpoints</a:t>
            </a:r>
            <a:r>
              <a:rPr lang="en-US" dirty="0"/>
              <a:t>, this means you can control container and column sizing and behavior by each breakpoint.</a:t>
            </a:r>
          </a:p>
          <a:p>
            <a:r>
              <a:rPr lang="en-US" b="1" dirty="0"/>
              <a:t>Containers center and horizontally pad your content</a:t>
            </a:r>
            <a:r>
              <a:rPr lang="en-US" dirty="0"/>
              <a:t>, .container for a responsive pixel width, .container-fluid for width: 100% across all viewports and devices, or a responsive container (e.g., .container-md) for a combination of fluid and pixel widths.</a:t>
            </a:r>
          </a:p>
          <a:p>
            <a:r>
              <a:rPr lang="en-US" b="1" dirty="0"/>
              <a:t>Rows are wrappers for columns</a:t>
            </a:r>
            <a:r>
              <a:rPr lang="en-US" dirty="0"/>
              <a:t>, each column has horizontal padding (called a gutter) for controlling the space between them.</a:t>
            </a:r>
          </a:p>
          <a:p>
            <a:r>
              <a:rPr lang="en-US" b="1" dirty="0"/>
              <a:t>Columns are incredibly flexible</a:t>
            </a:r>
            <a:r>
              <a:rPr lang="en-US" dirty="0"/>
              <a:t>, there are </a:t>
            </a:r>
            <a:r>
              <a:rPr lang="en-US" b="1" dirty="0"/>
              <a:t>12 template columns</a:t>
            </a:r>
            <a:r>
              <a:rPr lang="en-US" dirty="0"/>
              <a:t> available per row, allowing you to create different combinations of elements that span any number of columns. Column classes indicate the number of template columns to span (e.g., col-4 spans four). widths are set in percentages so you always have the same relative sizing.</a:t>
            </a:r>
          </a:p>
        </p:txBody>
      </p:sp>
    </p:spTree>
    <p:extLst>
      <p:ext uri="{BB962C8B-B14F-4D97-AF65-F5344CB8AC3E}">
        <p14:creationId xmlns:p14="http://schemas.microsoft.com/office/powerpoint/2010/main" val="352249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A0F90-E034-66C7-C7E0-B3BCC150E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40F18-35CE-B651-2FBA-1828463E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Grid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02CA9-A36E-0890-01BF-01A57F3CD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Bootstrap’s grid system can adapt across all six default breakpoints. </a:t>
            </a:r>
          </a:p>
          <a:p>
            <a:r>
              <a:rPr lang="en-US" dirty="0"/>
              <a:t>The six default grid tiers are as follow:</a:t>
            </a:r>
          </a:p>
          <a:p>
            <a:pPr lvl="1"/>
            <a:r>
              <a:rPr lang="en-US" dirty="0"/>
              <a:t>Extra small (</a:t>
            </a:r>
            <a:r>
              <a:rPr lang="en-US" dirty="0" err="1"/>
              <a:t>xs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Small (</a:t>
            </a:r>
            <a:r>
              <a:rPr lang="en-US" dirty="0" err="1"/>
              <a:t>sm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Medium (md)</a:t>
            </a:r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8C95A5-10DA-D009-D7EC-7DCEF2EC1615}"/>
              </a:ext>
            </a:extLst>
          </p:cNvPr>
          <p:cNvSpPr txBox="1">
            <a:spLocks/>
          </p:cNvSpPr>
          <p:nvPr/>
        </p:nvSpPr>
        <p:spPr>
          <a:xfrm>
            <a:off x="3367454" y="1736814"/>
            <a:ext cx="4334608" cy="1094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Large (</a:t>
            </a:r>
            <a:r>
              <a:rPr lang="en-US" dirty="0" err="1"/>
              <a:t>lg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Extra large (xl)</a:t>
            </a:r>
          </a:p>
          <a:p>
            <a:pPr lvl="1"/>
            <a:r>
              <a:rPr lang="en-US" dirty="0"/>
              <a:t>Extra </a:t>
            </a:r>
            <a:r>
              <a:rPr lang="en-US" dirty="0" err="1"/>
              <a:t>extra</a:t>
            </a:r>
            <a:r>
              <a:rPr lang="en-US" dirty="0"/>
              <a:t> large (</a:t>
            </a:r>
            <a:r>
              <a:rPr lang="en-US" dirty="0" err="1"/>
              <a:t>xxl</a:t>
            </a:r>
            <a:r>
              <a:rPr lang="en-US" dirty="0"/>
              <a:t>)</a:t>
            </a:r>
          </a:p>
          <a:p>
            <a:endParaRPr lang="en-US" sz="20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86AE6B5-3355-1936-C76F-FE2FD3E842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0759654"/>
              </p:ext>
            </p:extLst>
          </p:nvPr>
        </p:nvGraphicFramePr>
        <p:xfrm>
          <a:off x="554911" y="3219929"/>
          <a:ext cx="11059727" cy="2563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41091">
                  <a:extLst>
                    <a:ext uri="{9D8B030D-6E8A-4147-A177-3AD203B41FA5}">
                      <a16:colId xmlns:a16="http://schemas.microsoft.com/office/drawing/2014/main" val="3860468279"/>
                    </a:ext>
                  </a:extLst>
                </a:gridCol>
                <a:gridCol w="1318831">
                  <a:extLst>
                    <a:ext uri="{9D8B030D-6E8A-4147-A177-3AD203B41FA5}">
                      <a16:colId xmlns:a16="http://schemas.microsoft.com/office/drawing/2014/main" val="1292326849"/>
                    </a:ext>
                  </a:extLst>
                </a:gridCol>
                <a:gridCol w="1579961">
                  <a:extLst>
                    <a:ext uri="{9D8B030D-6E8A-4147-A177-3AD203B41FA5}">
                      <a16:colId xmlns:a16="http://schemas.microsoft.com/office/drawing/2014/main" val="3200623834"/>
                    </a:ext>
                  </a:extLst>
                </a:gridCol>
                <a:gridCol w="1579961">
                  <a:extLst>
                    <a:ext uri="{9D8B030D-6E8A-4147-A177-3AD203B41FA5}">
                      <a16:colId xmlns:a16="http://schemas.microsoft.com/office/drawing/2014/main" val="578794238"/>
                    </a:ext>
                  </a:extLst>
                </a:gridCol>
                <a:gridCol w="1579961">
                  <a:extLst>
                    <a:ext uri="{9D8B030D-6E8A-4147-A177-3AD203B41FA5}">
                      <a16:colId xmlns:a16="http://schemas.microsoft.com/office/drawing/2014/main" val="387499948"/>
                    </a:ext>
                  </a:extLst>
                </a:gridCol>
                <a:gridCol w="1579961">
                  <a:extLst>
                    <a:ext uri="{9D8B030D-6E8A-4147-A177-3AD203B41FA5}">
                      <a16:colId xmlns:a16="http://schemas.microsoft.com/office/drawing/2014/main" val="3959085054"/>
                    </a:ext>
                  </a:extLst>
                </a:gridCol>
                <a:gridCol w="1579961">
                  <a:extLst>
                    <a:ext uri="{9D8B030D-6E8A-4147-A177-3AD203B41FA5}">
                      <a16:colId xmlns:a16="http://schemas.microsoft.com/office/drawing/2014/main" val="2784256947"/>
                    </a:ext>
                  </a:extLst>
                </a:gridCol>
              </a:tblGrid>
              <a:tr h="18365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Extra</a:t>
                      </a:r>
                      <a:r>
                        <a:rPr lang="en-US" sz="1800" baseline="0" dirty="0">
                          <a:effectLst/>
                        </a:rPr>
                        <a:t> small</a:t>
                      </a:r>
                      <a:r>
                        <a:rPr lang="en-US" sz="1800" dirty="0">
                          <a:effectLst/>
                        </a:rPr>
                        <a:t/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&lt;576px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Small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≥576px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Medium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≥768px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Large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≥992px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X-Large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≥1200px</a:t>
                      </a: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XX-Large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≥1400px</a:t>
                      </a:r>
                    </a:p>
                  </a:txBody>
                  <a:tcPr marL="73751" marR="73751" marT="36876" marB="36876"/>
                </a:tc>
                <a:extLst>
                  <a:ext uri="{0D108BD9-81ED-4DB2-BD59-A6C34878D82A}">
                    <a16:rowId xmlns:a16="http://schemas.microsoft.com/office/drawing/2014/main" val="3105834741"/>
                  </a:ext>
                </a:extLst>
              </a:tr>
              <a:tr h="128274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Container max-width</a:t>
                      </a:r>
                      <a:endParaRPr lang="en-US" sz="1800" b="0" dirty="0"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None (auto)	</a:t>
                      </a:r>
                      <a:endParaRPr lang="en-US" sz="18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540px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720px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960px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1140px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1320px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916006"/>
                  </a:ext>
                </a:extLst>
              </a:tr>
              <a:tr h="128274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Class prefix	</a:t>
                      </a:r>
                      <a:endParaRPr lang="en-US" sz="1800" b="0" dirty="0">
                        <a:effectLst/>
                      </a:endParaRPr>
                    </a:p>
                  </a:txBody>
                  <a:tcPr marL="73751" marR="73751" marT="36876" marB="36876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.col-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.col-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sm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.col-md-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.col-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lg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.col-xl-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.col-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xxl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812905"/>
                  </a:ext>
                </a:extLst>
              </a:tr>
              <a:tr h="128274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No. of columns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751" marR="73751" marT="36876" marB="36876"/>
                </a:tc>
                <a:tc gridSpan="6"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12 (for all)</a:t>
                      </a:r>
                    </a:p>
                  </a:txBody>
                  <a:tcPr marL="73751" marR="73751" marT="36876" marB="36876"/>
                </a:tc>
                <a:tc hMerge="1">
                  <a:txBody>
                    <a:bodyPr/>
                    <a:lstStyle/>
                    <a:p>
                      <a:endParaRPr lang="en-US" sz="15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 hMerge="1">
                  <a:txBody>
                    <a:bodyPr/>
                    <a:lstStyle/>
                    <a:p>
                      <a:endParaRPr lang="en-US" sz="1500">
                        <a:effectLst/>
                      </a:endParaRPr>
                    </a:p>
                  </a:txBody>
                  <a:tcPr marL="73751" marR="73751" marT="36876" marB="36876"/>
                </a:tc>
                <a:tc hMerge="1">
                  <a:txBody>
                    <a:bodyPr/>
                    <a:lstStyle/>
                    <a:p>
                      <a:endParaRPr lang="en-US" sz="1500" dirty="0">
                        <a:effectLst/>
                      </a:endParaRPr>
                    </a:p>
                  </a:txBody>
                  <a:tcPr marL="73751" marR="73751" marT="36876" marB="36876"/>
                </a:tc>
                <a:tc hMerge="1">
                  <a:txBody>
                    <a:bodyPr/>
                    <a:lstStyle/>
                    <a:p>
                      <a:endParaRPr lang="en-US" sz="1500" dirty="0">
                        <a:effectLst/>
                      </a:endParaRPr>
                    </a:p>
                  </a:txBody>
                  <a:tcPr marL="73751" marR="73751" marT="36876" marB="36876"/>
                </a:tc>
                <a:tc hMerge="1">
                  <a:txBody>
                    <a:bodyPr/>
                    <a:lstStyle/>
                    <a:p>
                      <a:endParaRPr lang="en-US" sz="1500" dirty="0">
                        <a:effectLst/>
                      </a:endParaRPr>
                    </a:p>
                  </a:txBody>
                  <a:tcPr marL="73751" marR="73751" marT="36876" marB="36876"/>
                </a:tc>
                <a:extLst>
                  <a:ext uri="{0D108BD9-81ED-4DB2-BD59-A6C34878D82A}">
                    <a16:rowId xmlns:a16="http://schemas.microsoft.com/office/drawing/2014/main" val="2867095000"/>
                  </a:ext>
                </a:extLst>
              </a:tr>
              <a:tr h="128274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Gutter width</a:t>
                      </a:r>
                      <a:endParaRPr lang="en-US" sz="1800" b="0" dirty="0">
                        <a:effectLst/>
                      </a:endParaRPr>
                    </a:p>
                  </a:txBody>
                  <a:tcPr marL="73751" marR="73751" marT="36876" marB="36876"/>
                </a:tc>
                <a:tc gridSpan="6"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1.5rem (.75rem on left and right)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751" marR="73751" marT="36876" marB="36876"/>
                </a:tc>
                <a:tc hMerge="1">
                  <a:txBody>
                    <a:bodyPr/>
                    <a:lstStyle/>
                    <a:p>
                      <a:endParaRPr lang="en-US" sz="15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 hMerge="1">
                  <a:txBody>
                    <a:bodyPr/>
                    <a:lstStyle/>
                    <a:p>
                      <a:endParaRPr lang="en-US" sz="1500" dirty="0">
                        <a:solidFill>
                          <a:srgbClr val="6C757D"/>
                        </a:solidFill>
                        <a:effectLst/>
                      </a:endParaRPr>
                    </a:p>
                  </a:txBody>
                  <a:tcPr marL="73751" marR="73751" marT="36876" marB="36876"/>
                </a:tc>
                <a:tc hMerge="1">
                  <a:txBody>
                    <a:bodyPr/>
                    <a:lstStyle/>
                    <a:p>
                      <a:endParaRPr lang="en-US" sz="1500" dirty="0">
                        <a:effectLst/>
                      </a:endParaRPr>
                    </a:p>
                  </a:txBody>
                  <a:tcPr marL="73751" marR="73751" marT="36876" marB="36876"/>
                </a:tc>
                <a:tc hMerge="1">
                  <a:txBody>
                    <a:bodyPr/>
                    <a:lstStyle/>
                    <a:p>
                      <a:endParaRPr lang="en-US" sz="1500" dirty="0">
                        <a:effectLst/>
                      </a:endParaRPr>
                    </a:p>
                  </a:txBody>
                  <a:tcPr marL="73751" marR="73751" marT="36876" marB="36876"/>
                </a:tc>
                <a:tc hMerge="1">
                  <a:txBody>
                    <a:bodyPr/>
                    <a:lstStyle/>
                    <a:p>
                      <a:endParaRPr lang="en-US" sz="1500" dirty="0">
                        <a:effectLst/>
                      </a:endParaRPr>
                    </a:p>
                  </a:txBody>
                  <a:tcPr marL="73751" marR="73751" marT="36876" marB="36876"/>
                </a:tc>
                <a:extLst>
                  <a:ext uri="{0D108BD9-81ED-4DB2-BD59-A6C34878D82A}">
                    <a16:rowId xmlns:a16="http://schemas.microsoft.com/office/drawing/2014/main" val="93031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33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E1D5-9031-8D08-1E22-923B87B6B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02A1-E51F-C78E-F1D3-BC1DC766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Grid System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372DC9-7DDC-15B3-7B36-90DA1426289E}"/>
              </a:ext>
            </a:extLst>
          </p:cNvPr>
          <p:cNvGrpSpPr/>
          <p:nvPr/>
        </p:nvGrpSpPr>
        <p:grpSpPr>
          <a:xfrm>
            <a:off x="413238" y="949575"/>
            <a:ext cx="9671532" cy="5398466"/>
            <a:chOff x="413238" y="949575"/>
            <a:chExt cx="9671532" cy="539846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57F0151-5E36-E6A0-CF76-8D0B0AD51AE4}"/>
                </a:ext>
              </a:extLst>
            </p:cNvPr>
            <p:cNvSpPr/>
            <p:nvPr/>
          </p:nvSpPr>
          <p:spPr>
            <a:xfrm>
              <a:off x="413238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057A01-3402-3E4C-BB22-8895DC22F74E}"/>
                </a:ext>
              </a:extLst>
            </p:cNvPr>
            <p:cNvSpPr/>
            <p:nvPr/>
          </p:nvSpPr>
          <p:spPr>
            <a:xfrm>
              <a:off x="1222130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8552F8-D527-D24B-E0EE-49026D3B44D6}"/>
                </a:ext>
              </a:extLst>
            </p:cNvPr>
            <p:cNvSpPr/>
            <p:nvPr/>
          </p:nvSpPr>
          <p:spPr>
            <a:xfrm>
              <a:off x="2022229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E8C5EE-006B-D3C9-1537-1EE65CDF1A27}"/>
                </a:ext>
              </a:extLst>
            </p:cNvPr>
            <p:cNvSpPr/>
            <p:nvPr/>
          </p:nvSpPr>
          <p:spPr>
            <a:xfrm>
              <a:off x="2831121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4CC33-257F-7EDF-DC7C-07448F7F962B}"/>
                </a:ext>
              </a:extLst>
            </p:cNvPr>
            <p:cNvSpPr/>
            <p:nvPr/>
          </p:nvSpPr>
          <p:spPr>
            <a:xfrm>
              <a:off x="3622426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75055C-7C98-C12C-54F3-AC5C934A62FE}"/>
                </a:ext>
              </a:extLst>
            </p:cNvPr>
            <p:cNvSpPr/>
            <p:nvPr/>
          </p:nvSpPr>
          <p:spPr>
            <a:xfrm>
              <a:off x="4440112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0C9509E-4B28-9424-837E-49EB8924400E}"/>
                </a:ext>
              </a:extLst>
            </p:cNvPr>
            <p:cNvSpPr/>
            <p:nvPr/>
          </p:nvSpPr>
          <p:spPr>
            <a:xfrm>
              <a:off x="5249004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9FACD1-CD19-399B-7DC3-561EC640DF0D}"/>
                </a:ext>
              </a:extLst>
            </p:cNvPr>
            <p:cNvSpPr/>
            <p:nvPr/>
          </p:nvSpPr>
          <p:spPr>
            <a:xfrm>
              <a:off x="6057896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F7F729-70AD-4A24-E3F9-98606BCFD7B0}"/>
                </a:ext>
              </a:extLst>
            </p:cNvPr>
            <p:cNvSpPr/>
            <p:nvPr/>
          </p:nvSpPr>
          <p:spPr>
            <a:xfrm>
              <a:off x="6857995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B64E0E-6F44-54AF-BB70-F32A01024502}"/>
                </a:ext>
              </a:extLst>
            </p:cNvPr>
            <p:cNvSpPr/>
            <p:nvPr/>
          </p:nvSpPr>
          <p:spPr>
            <a:xfrm>
              <a:off x="7666887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11F34F-1CE2-CB36-DAC4-C986803CC393}"/>
                </a:ext>
              </a:extLst>
            </p:cNvPr>
            <p:cNvSpPr/>
            <p:nvPr/>
          </p:nvSpPr>
          <p:spPr>
            <a:xfrm>
              <a:off x="8458192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0DDFD7-4578-6FE3-CF73-6140F81576A2}"/>
                </a:ext>
              </a:extLst>
            </p:cNvPr>
            <p:cNvSpPr/>
            <p:nvPr/>
          </p:nvSpPr>
          <p:spPr>
            <a:xfrm>
              <a:off x="9275878" y="94957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AE49E6-9DDD-B6AA-9B7D-7549A48867DC}"/>
                </a:ext>
              </a:extLst>
            </p:cNvPr>
            <p:cNvSpPr/>
            <p:nvPr/>
          </p:nvSpPr>
          <p:spPr>
            <a:xfrm>
              <a:off x="413238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2548967-DB1A-F763-7401-83F17E41AEB0}"/>
                </a:ext>
              </a:extLst>
            </p:cNvPr>
            <p:cNvSpPr/>
            <p:nvPr/>
          </p:nvSpPr>
          <p:spPr>
            <a:xfrm>
              <a:off x="1222130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8365E5E-383D-7FC2-6704-CC6E501669DD}"/>
                </a:ext>
              </a:extLst>
            </p:cNvPr>
            <p:cNvSpPr/>
            <p:nvPr/>
          </p:nvSpPr>
          <p:spPr>
            <a:xfrm>
              <a:off x="2022229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13710C5-2410-5450-18B1-622BDDAB8507}"/>
                </a:ext>
              </a:extLst>
            </p:cNvPr>
            <p:cNvSpPr/>
            <p:nvPr/>
          </p:nvSpPr>
          <p:spPr>
            <a:xfrm>
              <a:off x="2831121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0FC0C2-1917-5276-AD53-94CE5D0D6797}"/>
                </a:ext>
              </a:extLst>
            </p:cNvPr>
            <p:cNvSpPr/>
            <p:nvPr/>
          </p:nvSpPr>
          <p:spPr>
            <a:xfrm>
              <a:off x="3622426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F036099-62AC-5952-50BF-78261AFF35E9}"/>
                </a:ext>
              </a:extLst>
            </p:cNvPr>
            <p:cNvSpPr/>
            <p:nvPr/>
          </p:nvSpPr>
          <p:spPr>
            <a:xfrm>
              <a:off x="4440112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C400EFA-8ADB-BAC9-DC2E-B72AC70CE1DB}"/>
                </a:ext>
              </a:extLst>
            </p:cNvPr>
            <p:cNvSpPr/>
            <p:nvPr/>
          </p:nvSpPr>
          <p:spPr>
            <a:xfrm>
              <a:off x="5249004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417BD34-79DE-78E7-F81E-CAC135030D63}"/>
                </a:ext>
              </a:extLst>
            </p:cNvPr>
            <p:cNvSpPr/>
            <p:nvPr/>
          </p:nvSpPr>
          <p:spPr>
            <a:xfrm>
              <a:off x="6057896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A5A899-8405-7445-A693-44191D782634}"/>
                </a:ext>
              </a:extLst>
            </p:cNvPr>
            <p:cNvSpPr/>
            <p:nvPr/>
          </p:nvSpPr>
          <p:spPr>
            <a:xfrm>
              <a:off x="6857995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9186F39-E918-CC93-A0B8-538C527FC534}"/>
                </a:ext>
              </a:extLst>
            </p:cNvPr>
            <p:cNvSpPr/>
            <p:nvPr/>
          </p:nvSpPr>
          <p:spPr>
            <a:xfrm>
              <a:off x="7666887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7599B58-649B-68FD-42CC-922A4603F191}"/>
                </a:ext>
              </a:extLst>
            </p:cNvPr>
            <p:cNvSpPr/>
            <p:nvPr/>
          </p:nvSpPr>
          <p:spPr>
            <a:xfrm>
              <a:off x="8458192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EB377E7-3020-AEE2-7145-FE94459BCACD}"/>
                </a:ext>
              </a:extLst>
            </p:cNvPr>
            <p:cNvSpPr/>
            <p:nvPr/>
          </p:nvSpPr>
          <p:spPr>
            <a:xfrm>
              <a:off x="9275878" y="1397982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EB8CC83-EBA1-FF3C-7F05-1C79A67C5C0D}"/>
                </a:ext>
              </a:extLst>
            </p:cNvPr>
            <p:cNvSpPr/>
            <p:nvPr/>
          </p:nvSpPr>
          <p:spPr>
            <a:xfrm>
              <a:off x="413238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9A05BC5-74CA-9F7C-6943-49A4783C01D8}"/>
                </a:ext>
              </a:extLst>
            </p:cNvPr>
            <p:cNvSpPr/>
            <p:nvPr/>
          </p:nvSpPr>
          <p:spPr>
            <a:xfrm>
              <a:off x="1222130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18132CF-13AD-2A21-45EC-3C156C851332}"/>
                </a:ext>
              </a:extLst>
            </p:cNvPr>
            <p:cNvSpPr/>
            <p:nvPr/>
          </p:nvSpPr>
          <p:spPr>
            <a:xfrm>
              <a:off x="2022229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1077757-A1C7-903D-98DD-40EB802EEFB7}"/>
                </a:ext>
              </a:extLst>
            </p:cNvPr>
            <p:cNvSpPr/>
            <p:nvPr/>
          </p:nvSpPr>
          <p:spPr>
            <a:xfrm>
              <a:off x="2831121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800E3AF-1BCE-53A1-AB7A-493DDECFB05F}"/>
                </a:ext>
              </a:extLst>
            </p:cNvPr>
            <p:cNvSpPr/>
            <p:nvPr/>
          </p:nvSpPr>
          <p:spPr>
            <a:xfrm>
              <a:off x="3622426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6C87082-3F0B-139B-99E0-E609750BD17D}"/>
                </a:ext>
              </a:extLst>
            </p:cNvPr>
            <p:cNvSpPr/>
            <p:nvPr/>
          </p:nvSpPr>
          <p:spPr>
            <a:xfrm>
              <a:off x="4440112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83CAFAF-A44B-84E6-CAD4-21E19AADE612}"/>
                </a:ext>
              </a:extLst>
            </p:cNvPr>
            <p:cNvSpPr/>
            <p:nvPr/>
          </p:nvSpPr>
          <p:spPr>
            <a:xfrm>
              <a:off x="5249004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C6053B4-DDE7-EC38-E4A9-80DFBB336E61}"/>
                </a:ext>
              </a:extLst>
            </p:cNvPr>
            <p:cNvSpPr/>
            <p:nvPr/>
          </p:nvSpPr>
          <p:spPr>
            <a:xfrm>
              <a:off x="6057896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3699899-9AEC-9A08-FE9D-7F6453AB30A1}"/>
                </a:ext>
              </a:extLst>
            </p:cNvPr>
            <p:cNvSpPr/>
            <p:nvPr/>
          </p:nvSpPr>
          <p:spPr>
            <a:xfrm>
              <a:off x="6857995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40F3882-FF84-687E-BD94-9CACCF42409E}"/>
                </a:ext>
              </a:extLst>
            </p:cNvPr>
            <p:cNvSpPr/>
            <p:nvPr/>
          </p:nvSpPr>
          <p:spPr>
            <a:xfrm>
              <a:off x="7666887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1F87518-0F2C-D650-3AEC-0367B2462CCC}"/>
                </a:ext>
              </a:extLst>
            </p:cNvPr>
            <p:cNvSpPr/>
            <p:nvPr/>
          </p:nvSpPr>
          <p:spPr>
            <a:xfrm>
              <a:off x="8458192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643F7A8-2F8D-14CB-F44D-1A8EBE5827B0}"/>
                </a:ext>
              </a:extLst>
            </p:cNvPr>
            <p:cNvSpPr/>
            <p:nvPr/>
          </p:nvSpPr>
          <p:spPr>
            <a:xfrm>
              <a:off x="9275878" y="185518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2C83C59-696E-ED98-9C84-D664957C706B}"/>
                </a:ext>
              </a:extLst>
            </p:cNvPr>
            <p:cNvSpPr/>
            <p:nvPr/>
          </p:nvSpPr>
          <p:spPr>
            <a:xfrm>
              <a:off x="413238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ED8C8A-D95F-5C22-B629-A6EF465D6DA2}"/>
                </a:ext>
              </a:extLst>
            </p:cNvPr>
            <p:cNvSpPr/>
            <p:nvPr/>
          </p:nvSpPr>
          <p:spPr>
            <a:xfrm>
              <a:off x="1222130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A7B871A-7296-C428-33CD-0C4CBAE3ECFD}"/>
                </a:ext>
              </a:extLst>
            </p:cNvPr>
            <p:cNvSpPr/>
            <p:nvPr/>
          </p:nvSpPr>
          <p:spPr>
            <a:xfrm>
              <a:off x="2022229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0668624-A30F-4C90-3BEA-A5B2F51FA894}"/>
                </a:ext>
              </a:extLst>
            </p:cNvPr>
            <p:cNvSpPr/>
            <p:nvPr/>
          </p:nvSpPr>
          <p:spPr>
            <a:xfrm>
              <a:off x="2831121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9F1036A-7C12-487E-AC81-E4B7D1D4EC58}"/>
                </a:ext>
              </a:extLst>
            </p:cNvPr>
            <p:cNvSpPr/>
            <p:nvPr/>
          </p:nvSpPr>
          <p:spPr>
            <a:xfrm>
              <a:off x="3622426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03C9C01-F3EC-FA77-0D6E-AA83410F6363}"/>
                </a:ext>
              </a:extLst>
            </p:cNvPr>
            <p:cNvSpPr/>
            <p:nvPr/>
          </p:nvSpPr>
          <p:spPr>
            <a:xfrm>
              <a:off x="4440112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4816161-FEED-1C46-01A4-F894BA34D8B1}"/>
                </a:ext>
              </a:extLst>
            </p:cNvPr>
            <p:cNvSpPr/>
            <p:nvPr/>
          </p:nvSpPr>
          <p:spPr>
            <a:xfrm>
              <a:off x="5249004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4CDDFAB-43E4-0338-EE23-81189A45409E}"/>
                </a:ext>
              </a:extLst>
            </p:cNvPr>
            <p:cNvSpPr/>
            <p:nvPr/>
          </p:nvSpPr>
          <p:spPr>
            <a:xfrm>
              <a:off x="6057896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7246E14-C83C-9D37-FF23-5DA7EF7CD4D3}"/>
                </a:ext>
              </a:extLst>
            </p:cNvPr>
            <p:cNvSpPr/>
            <p:nvPr/>
          </p:nvSpPr>
          <p:spPr>
            <a:xfrm>
              <a:off x="6857995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D1C6D54-E1E4-2C52-FD34-57C4B1FE7E47}"/>
                </a:ext>
              </a:extLst>
            </p:cNvPr>
            <p:cNvSpPr/>
            <p:nvPr/>
          </p:nvSpPr>
          <p:spPr>
            <a:xfrm>
              <a:off x="7666887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CB27A21-9225-E832-AE8D-ACFE5312F291}"/>
                </a:ext>
              </a:extLst>
            </p:cNvPr>
            <p:cNvSpPr/>
            <p:nvPr/>
          </p:nvSpPr>
          <p:spPr>
            <a:xfrm>
              <a:off x="8458192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B2F458A-9007-59AE-3D28-9B6AAFC23DA6}"/>
                </a:ext>
              </a:extLst>
            </p:cNvPr>
            <p:cNvSpPr/>
            <p:nvPr/>
          </p:nvSpPr>
          <p:spPr>
            <a:xfrm>
              <a:off x="9275878" y="230358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C1D54F9-F466-553D-35B2-A43F9B89A5E6}"/>
                </a:ext>
              </a:extLst>
            </p:cNvPr>
            <p:cNvSpPr/>
            <p:nvPr/>
          </p:nvSpPr>
          <p:spPr>
            <a:xfrm>
              <a:off x="413238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28BB6C9-02FB-D084-D849-645AC3EE3077}"/>
                </a:ext>
              </a:extLst>
            </p:cNvPr>
            <p:cNvSpPr/>
            <p:nvPr/>
          </p:nvSpPr>
          <p:spPr>
            <a:xfrm>
              <a:off x="1222130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6C5530B-9726-BD97-1F69-8F33303EB357}"/>
                </a:ext>
              </a:extLst>
            </p:cNvPr>
            <p:cNvSpPr/>
            <p:nvPr/>
          </p:nvSpPr>
          <p:spPr>
            <a:xfrm>
              <a:off x="2022229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ED94132-BE38-D72E-310F-F59924A8C3FA}"/>
                </a:ext>
              </a:extLst>
            </p:cNvPr>
            <p:cNvSpPr/>
            <p:nvPr/>
          </p:nvSpPr>
          <p:spPr>
            <a:xfrm>
              <a:off x="2831121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CD4B555-0B3D-FF1E-7807-3341F49BF1AE}"/>
                </a:ext>
              </a:extLst>
            </p:cNvPr>
            <p:cNvSpPr/>
            <p:nvPr/>
          </p:nvSpPr>
          <p:spPr>
            <a:xfrm>
              <a:off x="3622426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9DBD47F-6E91-F5A7-61BB-8A4E477DBCE5}"/>
                </a:ext>
              </a:extLst>
            </p:cNvPr>
            <p:cNvSpPr/>
            <p:nvPr/>
          </p:nvSpPr>
          <p:spPr>
            <a:xfrm>
              <a:off x="4440112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74E293B-2894-FC71-2A5E-9DA1C14FDD5C}"/>
                </a:ext>
              </a:extLst>
            </p:cNvPr>
            <p:cNvSpPr/>
            <p:nvPr/>
          </p:nvSpPr>
          <p:spPr>
            <a:xfrm>
              <a:off x="5249004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E2EFD53-2E0D-F66E-CC91-D5F9E0F03658}"/>
                </a:ext>
              </a:extLst>
            </p:cNvPr>
            <p:cNvSpPr/>
            <p:nvPr/>
          </p:nvSpPr>
          <p:spPr>
            <a:xfrm>
              <a:off x="6057896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78CAE6C-89FA-A900-C848-B2A07CB10AA9}"/>
                </a:ext>
              </a:extLst>
            </p:cNvPr>
            <p:cNvSpPr/>
            <p:nvPr/>
          </p:nvSpPr>
          <p:spPr>
            <a:xfrm>
              <a:off x="6857995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501E755-4DDB-9F57-FCF5-3CE93D914BF9}"/>
                </a:ext>
              </a:extLst>
            </p:cNvPr>
            <p:cNvSpPr/>
            <p:nvPr/>
          </p:nvSpPr>
          <p:spPr>
            <a:xfrm>
              <a:off x="7666887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5CC75A8-B097-2AFF-F635-643E8B55C7CE}"/>
                </a:ext>
              </a:extLst>
            </p:cNvPr>
            <p:cNvSpPr/>
            <p:nvPr/>
          </p:nvSpPr>
          <p:spPr>
            <a:xfrm>
              <a:off x="8458192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82B58C9-1917-6678-D3B7-15EA007AD302}"/>
                </a:ext>
              </a:extLst>
            </p:cNvPr>
            <p:cNvSpPr/>
            <p:nvPr/>
          </p:nvSpPr>
          <p:spPr>
            <a:xfrm>
              <a:off x="9275878" y="275199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38E9439-C8ED-0BE3-2F04-0CCDBC6D7E16}"/>
                </a:ext>
              </a:extLst>
            </p:cNvPr>
            <p:cNvSpPr/>
            <p:nvPr/>
          </p:nvSpPr>
          <p:spPr>
            <a:xfrm>
              <a:off x="413238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5F6E68A-2D12-7FD7-C962-402F4CC5C8CB}"/>
                </a:ext>
              </a:extLst>
            </p:cNvPr>
            <p:cNvSpPr/>
            <p:nvPr/>
          </p:nvSpPr>
          <p:spPr>
            <a:xfrm>
              <a:off x="1222130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464BB7E-CF9E-7622-4D9A-675CF3993561}"/>
                </a:ext>
              </a:extLst>
            </p:cNvPr>
            <p:cNvSpPr/>
            <p:nvPr/>
          </p:nvSpPr>
          <p:spPr>
            <a:xfrm>
              <a:off x="2022229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CAB31D9-B688-F76D-DDD4-D6BF705BB512}"/>
                </a:ext>
              </a:extLst>
            </p:cNvPr>
            <p:cNvSpPr/>
            <p:nvPr/>
          </p:nvSpPr>
          <p:spPr>
            <a:xfrm>
              <a:off x="2831121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DF7CC23-0BCE-6E58-7835-3FF146353012}"/>
                </a:ext>
              </a:extLst>
            </p:cNvPr>
            <p:cNvSpPr/>
            <p:nvPr/>
          </p:nvSpPr>
          <p:spPr>
            <a:xfrm>
              <a:off x="3622426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BD5E956-7853-BC6E-CF82-2B013A8B4578}"/>
                </a:ext>
              </a:extLst>
            </p:cNvPr>
            <p:cNvSpPr/>
            <p:nvPr/>
          </p:nvSpPr>
          <p:spPr>
            <a:xfrm>
              <a:off x="4440112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AB5D5FF-0B35-98B8-CD96-DF50CF12C475}"/>
                </a:ext>
              </a:extLst>
            </p:cNvPr>
            <p:cNvSpPr/>
            <p:nvPr/>
          </p:nvSpPr>
          <p:spPr>
            <a:xfrm>
              <a:off x="5249004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578894F-38C4-634F-0602-66B09DA7ACD2}"/>
                </a:ext>
              </a:extLst>
            </p:cNvPr>
            <p:cNvSpPr/>
            <p:nvPr/>
          </p:nvSpPr>
          <p:spPr>
            <a:xfrm>
              <a:off x="6057896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35C4545-D55A-E4FA-7C0F-E1A86A3F47BA}"/>
                </a:ext>
              </a:extLst>
            </p:cNvPr>
            <p:cNvSpPr/>
            <p:nvPr/>
          </p:nvSpPr>
          <p:spPr>
            <a:xfrm>
              <a:off x="6857995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5AE4A66-24D4-68C3-6AAA-C3100C756D14}"/>
                </a:ext>
              </a:extLst>
            </p:cNvPr>
            <p:cNvSpPr/>
            <p:nvPr/>
          </p:nvSpPr>
          <p:spPr>
            <a:xfrm>
              <a:off x="7666887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C96E2DD-D985-6DFF-B735-B3BB1397FF65}"/>
                </a:ext>
              </a:extLst>
            </p:cNvPr>
            <p:cNvSpPr/>
            <p:nvPr/>
          </p:nvSpPr>
          <p:spPr>
            <a:xfrm>
              <a:off x="8458192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AD9B5B2-84F5-D0A0-82F7-5C9E9E7FCC6D}"/>
                </a:ext>
              </a:extLst>
            </p:cNvPr>
            <p:cNvSpPr/>
            <p:nvPr/>
          </p:nvSpPr>
          <p:spPr>
            <a:xfrm>
              <a:off x="9275878" y="3200401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80F2CD9-5C14-04E7-4D03-C124569AC0F4}"/>
                </a:ext>
              </a:extLst>
            </p:cNvPr>
            <p:cNvSpPr/>
            <p:nvPr/>
          </p:nvSpPr>
          <p:spPr>
            <a:xfrm>
              <a:off x="413238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6D9EF6C-4B9F-DE10-7003-BBE1E81EE552}"/>
                </a:ext>
              </a:extLst>
            </p:cNvPr>
            <p:cNvSpPr/>
            <p:nvPr/>
          </p:nvSpPr>
          <p:spPr>
            <a:xfrm>
              <a:off x="1222130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0FA94E6-022B-282D-8A3E-BA28073714DB}"/>
                </a:ext>
              </a:extLst>
            </p:cNvPr>
            <p:cNvSpPr/>
            <p:nvPr/>
          </p:nvSpPr>
          <p:spPr>
            <a:xfrm>
              <a:off x="2022229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B9D896E-35EB-D749-0B32-EB421D358FE7}"/>
                </a:ext>
              </a:extLst>
            </p:cNvPr>
            <p:cNvSpPr/>
            <p:nvPr/>
          </p:nvSpPr>
          <p:spPr>
            <a:xfrm>
              <a:off x="2831121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A453D3B-5648-9D2B-3A48-762A84B1C228}"/>
                </a:ext>
              </a:extLst>
            </p:cNvPr>
            <p:cNvSpPr/>
            <p:nvPr/>
          </p:nvSpPr>
          <p:spPr>
            <a:xfrm>
              <a:off x="3622426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2FC710C-D790-1C70-3A45-D0D0026D4E27}"/>
                </a:ext>
              </a:extLst>
            </p:cNvPr>
            <p:cNvSpPr/>
            <p:nvPr/>
          </p:nvSpPr>
          <p:spPr>
            <a:xfrm>
              <a:off x="4440112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266A8C8-046E-A8BD-1669-952DAFCDFA3B}"/>
                </a:ext>
              </a:extLst>
            </p:cNvPr>
            <p:cNvSpPr/>
            <p:nvPr/>
          </p:nvSpPr>
          <p:spPr>
            <a:xfrm>
              <a:off x="5249004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07A7A3D-113A-95EB-7673-1DCB6D229A3D}"/>
                </a:ext>
              </a:extLst>
            </p:cNvPr>
            <p:cNvSpPr/>
            <p:nvPr/>
          </p:nvSpPr>
          <p:spPr>
            <a:xfrm>
              <a:off x="6057896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422E9F7-6029-C92F-6CC9-B132C79B6DA4}"/>
                </a:ext>
              </a:extLst>
            </p:cNvPr>
            <p:cNvSpPr/>
            <p:nvPr/>
          </p:nvSpPr>
          <p:spPr>
            <a:xfrm>
              <a:off x="6857995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452D1A2-0B69-A38C-B7D5-BF988D09E28E}"/>
                </a:ext>
              </a:extLst>
            </p:cNvPr>
            <p:cNvSpPr/>
            <p:nvPr/>
          </p:nvSpPr>
          <p:spPr>
            <a:xfrm>
              <a:off x="7666887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5C94493-9710-C452-B3D9-89DE812B33DE}"/>
                </a:ext>
              </a:extLst>
            </p:cNvPr>
            <p:cNvSpPr/>
            <p:nvPr/>
          </p:nvSpPr>
          <p:spPr>
            <a:xfrm>
              <a:off x="8458192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D27A60D-D1A0-F72A-3E62-C1EC2CE58BC0}"/>
                </a:ext>
              </a:extLst>
            </p:cNvPr>
            <p:cNvSpPr/>
            <p:nvPr/>
          </p:nvSpPr>
          <p:spPr>
            <a:xfrm>
              <a:off x="9275878" y="3648808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0C526E8-4525-2661-64F5-391CA5045EEA}"/>
                </a:ext>
              </a:extLst>
            </p:cNvPr>
            <p:cNvSpPr/>
            <p:nvPr/>
          </p:nvSpPr>
          <p:spPr>
            <a:xfrm>
              <a:off x="413238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45F976F-BDA0-FA72-E97E-78BEFD56C640}"/>
                </a:ext>
              </a:extLst>
            </p:cNvPr>
            <p:cNvSpPr/>
            <p:nvPr/>
          </p:nvSpPr>
          <p:spPr>
            <a:xfrm>
              <a:off x="1222130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A7F0D69-3DFC-4BA1-FB00-3EE7133824A7}"/>
                </a:ext>
              </a:extLst>
            </p:cNvPr>
            <p:cNvSpPr/>
            <p:nvPr/>
          </p:nvSpPr>
          <p:spPr>
            <a:xfrm>
              <a:off x="2022229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DCCBF4A-984D-87A5-9339-B25EFE1D37BE}"/>
                </a:ext>
              </a:extLst>
            </p:cNvPr>
            <p:cNvSpPr/>
            <p:nvPr/>
          </p:nvSpPr>
          <p:spPr>
            <a:xfrm>
              <a:off x="2831121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BF95E62-BB99-ABA6-595F-F50D06DE4F14}"/>
                </a:ext>
              </a:extLst>
            </p:cNvPr>
            <p:cNvSpPr/>
            <p:nvPr/>
          </p:nvSpPr>
          <p:spPr>
            <a:xfrm>
              <a:off x="3622426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4340E65-621E-B36D-6F6F-9C5D59CE8933}"/>
                </a:ext>
              </a:extLst>
            </p:cNvPr>
            <p:cNvSpPr/>
            <p:nvPr/>
          </p:nvSpPr>
          <p:spPr>
            <a:xfrm>
              <a:off x="4440112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AA890A9-4CA7-E2B3-15C0-7794CAA57F88}"/>
                </a:ext>
              </a:extLst>
            </p:cNvPr>
            <p:cNvSpPr/>
            <p:nvPr/>
          </p:nvSpPr>
          <p:spPr>
            <a:xfrm>
              <a:off x="5249004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BB1C62A-22E5-97DE-1AE9-E51295B8B92A}"/>
                </a:ext>
              </a:extLst>
            </p:cNvPr>
            <p:cNvSpPr/>
            <p:nvPr/>
          </p:nvSpPr>
          <p:spPr>
            <a:xfrm>
              <a:off x="6057896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228B20AD-0451-93BD-1D8C-961EB3E595A7}"/>
                </a:ext>
              </a:extLst>
            </p:cNvPr>
            <p:cNvSpPr/>
            <p:nvPr/>
          </p:nvSpPr>
          <p:spPr>
            <a:xfrm>
              <a:off x="6857995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66FFA7E-6F03-459D-1FC5-219BD01AB170}"/>
                </a:ext>
              </a:extLst>
            </p:cNvPr>
            <p:cNvSpPr/>
            <p:nvPr/>
          </p:nvSpPr>
          <p:spPr>
            <a:xfrm>
              <a:off x="7666887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74133C8-8C7A-53AD-F80C-EF023CFE2135}"/>
                </a:ext>
              </a:extLst>
            </p:cNvPr>
            <p:cNvSpPr/>
            <p:nvPr/>
          </p:nvSpPr>
          <p:spPr>
            <a:xfrm>
              <a:off x="8458192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8DF8D00-9490-E2A4-407F-AA9C1972F8D8}"/>
                </a:ext>
              </a:extLst>
            </p:cNvPr>
            <p:cNvSpPr/>
            <p:nvPr/>
          </p:nvSpPr>
          <p:spPr>
            <a:xfrm>
              <a:off x="9275878" y="4097215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441EA03-4C28-6991-DEFA-47B1849702DE}"/>
                </a:ext>
              </a:extLst>
            </p:cNvPr>
            <p:cNvSpPr/>
            <p:nvPr/>
          </p:nvSpPr>
          <p:spPr>
            <a:xfrm>
              <a:off x="413238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C0C8E75-A942-DE78-18C1-849E5EECFD22}"/>
                </a:ext>
              </a:extLst>
            </p:cNvPr>
            <p:cNvSpPr/>
            <p:nvPr/>
          </p:nvSpPr>
          <p:spPr>
            <a:xfrm>
              <a:off x="1222130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A547E3A-396A-0AD8-9AB8-3B419E5350A9}"/>
                </a:ext>
              </a:extLst>
            </p:cNvPr>
            <p:cNvSpPr/>
            <p:nvPr/>
          </p:nvSpPr>
          <p:spPr>
            <a:xfrm>
              <a:off x="2022229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38C96FC-7077-920D-DC30-0E03027C12D4}"/>
                </a:ext>
              </a:extLst>
            </p:cNvPr>
            <p:cNvSpPr/>
            <p:nvPr/>
          </p:nvSpPr>
          <p:spPr>
            <a:xfrm>
              <a:off x="2831121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B9FF08D-F4F1-7BDD-2DC6-83870821DF47}"/>
                </a:ext>
              </a:extLst>
            </p:cNvPr>
            <p:cNvSpPr/>
            <p:nvPr/>
          </p:nvSpPr>
          <p:spPr>
            <a:xfrm>
              <a:off x="3622426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7BF9C5A-451A-3EE8-BBC7-6DECFFAF0112}"/>
                </a:ext>
              </a:extLst>
            </p:cNvPr>
            <p:cNvSpPr/>
            <p:nvPr/>
          </p:nvSpPr>
          <p:spPr>
            <a:xfrm>
              <a:off x="4440112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6E70DBC-5D9C-22E7-1A92-01D02FB6D421}"/>
                </a:ext>
              </a:extLst>
            </p:cNvPr>
            <p:cNvSpPr/>
            <p:nvPr/>
          </p:nvSpPr>
          <p:spPr>
            <a:xfrm>
              <a:off x="5249004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33A222A-EDB3-DB79-FE3A-4C7DC6D2AE9E}"/>
                </a:ext>
              </a:extLst>
            </p:cNvPr>
            <p:cNvSpPr/>
            <p:nvPr/>
          </p:nvSpPr>
          <p:spPr>
            <a:xfrm>
              <a:off x="6057896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63F2001-834E-7430-AAD4-491F187C7A5D}"/>
                </a:ext>
              </a:extLst>
            </p:cNvPr>
            <p:cNvSpPr/>
            <p:nvPr/>
          </p:nvSpPr>
          <p:spPr>
            <a:xfrm>
              <a:off x="6857995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6FFCC50-A8F8-99A1-2586-B9D7C342377E}"/>
                </a:ext>
              </a:extLst>
            </p:cNvPr>
            <p:cNvSpPr/>
            <p:nvPr/>
          </p:nvSpPr>
          <p:spPr>
            <a:xfrm>
              <a:off x="7666887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ACF4D49-4457-58D1-BDD4-7F3BB3729EFE}"/>
                </a:ext>
              </a:extLst>
            </p:cNvPr>
            <p:cNvSpPr/>
            <p:nvPr/>
          </p:nvSpPr>
          <p:spPr>
            <a:xfrm>
              <a:off x="8458192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6967F03-1610-EA76-526F-4C4E20FF52DE}"/>
                </a:ext>
              </a:extLst>
            </p:cNvPr>
            <p:cNvSpPr/>
            <p:nvPr/>
          </p:nvSpPr>
          <p:spPr>
            <a:xfrm>
              <a:off x="9275878" y="4554413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FF19017-CD4B-E6AC-0D3E-3D818ADF1466}"/>
                </a:ext>
              </a:extLst>
            </p:cNvPr>
            <p:cNvSpPr/>
            <p:nvPr/>
          </p:nvSpPr>
          <p:spPr>
            <a:xfrm>
              <a:off x="413238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6596A70-3F20-9219-8386-BE3F0D25FF98}"/>
                </a:ext>
              </a:extLst>
            </p:cNvPr>
            <p:cNvSpPr/>
            <p:nvPr/>
          </p:nvSpPr>
          <p:spPr>
            <a:xfrm>
              <a:off x="1222130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5B4279E-E169-F845-8DCB-39CCCCBE28D1}"/>
                </a:ext>
              </a:extLst>
            </p:cNvPr>
            <p:cNvSpPr/>
            <p:nvPr/>
          </p:nvSpPr>
          <p:spPr>
            <a:xfrm>
              <a:off x="2022229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39DB825-4E7C-1555-EC4B-8FEA84C68AC7}"/>
                </a:ext>
              </a:extLst>
            </p:cNvPr>
            <p:cNvSpPr/>
            <p:nvPr/>
          </p:nvSpPr>
          <p:spPr>
            <a:xfrm>
              <a:off x="2831121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6B79FE9-DF6F-E380-561C-DC3183E696D0}"/>
                </a:ext>
              </a:extLst>
            </p:cNvPr>
            <p:cNvSpPr/>
            <p:nvPr/>
          </p:nvSpPr>
          <p:spPr>
            <a:xfrm>
              <a:off x="3622426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113FE51F-759F-81FA-06B2-DB7BD6A252AE}"/>
                </a:ext>
              </a:extLst>
            </p:cNvPr>
            <p:cNvSpPr/>
            <p:nvPr/>
          </p:nvSpPr>
          <p:spPr>
            <a:xfrm>
              <a:off x="4440112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33CA29E-18E5-B779-BB49-3B3CA8D3E4BD}"/>
                </a:ext>
              </a:extLst>
            </p:cNvPr>
            <p:cNvSpPr/>
            <p:nvPr/>
          </p:nvSpPr>
          <p:spPr>
            <a:xfrm>
              <a:off x="5249004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1010262-73B0-DEDE-6033-FFB96A169E36}"/>
                </a:ext>
              </a:extLst>
            </p:cNvPr>
            <p:cNvSpPr/>
            <p:nvPr/>
          </p:nvSpPr>
          <p:spPr>
            <a:xfrm>
              <a:off x="6057896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F3A19BA-8C57-6972-D077-FDE950943D35}"/>
                </a:ext>
              </a:extLst>
            </p:cNvPr>
            <p:cNvSpPr/>
            <p:nvPr/>
          </p:nvSpPr>
          <p:spPr>
            <a:xfrm>
              <a:off x="6857995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5C23A11-89D9-02FB-68BA-A3FDBE945140}"/>
                </a:ext>
              </a:extLst>
            </p:cNvPr>
            <p:cNvSpPr/>
            <p:nvPr/>
          </p:nvSpPr>
          <p:spPr>
            <a:xfrm>
              <a:off x="7666887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3A301E1-B37E-0C67-7C3B-CFE28811DABC}"/>
                </a:ext>
              </a:extLst>
            </p:cNvPr>
            <p:cNvSpPr/>
            <p:nvPr/>
          </p:nvSpPr>
          <p:spPr>
            <a:xfrm>
              <a:off x="8458192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13572C87-21C9-A14B-0CAA-1CBFE8D1A549}"/>
                </a:ext>
              </a:extLst>
            </p:cNvPr>
            <p:cNvSpPr/>
            <p:nvPr/>
          </p:nvSpPr>
          <p:spPr>
            <a:xfrm>
              <a:off x="9275878" y="5002820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DEEC4AC-8D6C-9992-5F73-B686EFBDB3B9}"/>
                </a:ext>
              </a:extLst>
            </p:cNvPr>
            <p:cNvSpPr/>
            <p:nvPr/>
          </p:nvSpPr>
          <p:spPr>
            <a:xfrm>
              <a:off x="413238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EA44450-5B20-E473-8435-24683010A122}"/>
                </a:ext>
              </a:extLst>
            </p:cNvPr>
            <p:cNvSpPr/>
            <p:nvPr/>
          </p:nvSpPr>
          <p:spPr>
            <a:xfrm>
              <a:off x="1222130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BAC31C0-36B7-F3BF-92C8-AC03DEDDCB77}"/>
                </a:ext>
              </a:extLst>
            </p:cNvPr>
            <p:cNvSpPr/>
            <p:nvPr/>
          </p:nvSpPr>
          <p:spPr>
            <a:xfrm>
              <a:off x="2022229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54E37BBE-7BBA-6CAF-2888-49DD010208BC}"/>
                </a:ext>
              </a:extLst>
            </p:cNvPr>
            <p:cNvSpPr/>
            <p:nvPr/>
          </p:nvSpPr>
          <p:spPr>
            <a:xfrm>
              <a:off x="2831121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80DED22-31BA-9ECF-6490-E02FCC4048A0}"/>
                </a:ext>
              </a:extLst>
            </p:cNvPr>
            <p:cNvSpPr/>
            <p:nvPr/>
          </p:nvSpPr>
          <p:spPr>
            <a:xfrm>
              <a:off x="3622426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78904FC2-6B76-1FB1-CF12-C9B365E01EAA}"/>
                </a:ext>
              </a:extLst>
            </p:cNvPr>
            <p:cNvSpPr/>
            <p:nvPr/>
          </p:nvSpPr>
          <p:spPr>
            <a:xfrm>
              <a:off x="4440112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8C0B220-F11E-25CF-33FB-07F98168C91D}"/>
                </a:ext>
              </a:extLst>
            </p:cNvPr>
            <p:cNvSpPr/>
            <p:nvPr/>
          </p:nvSpPr>
          <p:spPr>
            <a:xfrm>
              <a:off x="5249004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A58F67F-3F20-096E-06D7-1171E95CE87A}"/>
                </a:ext>
              </a:extLst>
            </p:cNvPr>
            <p:cNvSpPr/>
            <p:nvPr/>
          </p:nvSpPr>
          <p:spPr>
            <a:xfrm>
              <a:off x="6057896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4E82B18-1EF7-A686-BA13-7419E782F898}"/>
                </a:ext>
              </a:extLst>
            </p:cNvPr>
            <p:cNvSpPr/>
            <p:nvPr/>
          </p:nvSpPr>
          <p:spPr>
            <a:xfrm>
              <a:off x="6857995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E5E66EB-FA47-700F-6616-673314D00687}"/>
                </a:ext>
              </a:extLst>
            </p:cNvPr>
            <p:cNvSpPr/>
            <p:nvPr/>
          </p:nvSpPr>
          <p:spPr>
            <a:xfrm>
              <a:off x="7666887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FDA1F497-3326-6625-37DC-80C0B311DE1E}"/>
                </a:ext>
              </a:extLst>
            </p:cNvPr>
            <p:cNvSpPr/>
            <p:nvPr/>
          </p:nvSpPr>
          <p:spPr>
            <a:xfrm>
              <a:off x="8458192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88263797-5C2A-F85D-F242-39B17E8550D9}"/>
                </a:ext>
              </a:extLst>
            </p:cNvPr>
            <p:cNvSpPr/>
            <p:nvPr/>
          </p:nvSpPr>
          <p:spPr>
            <a:xfrm>
              <a:off x="9275878" y="5451227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72461063-6BFD-2C44-A2E9-737EE52EA5FA}"/>
                </a:ext>
              </a:extLst>
            </p:cNvPr>
            <p:cNvSpPr/>
            <p:nvPr/>
          </p:nvSpPr>
          <p:spPr>
            <a:xfrm>
              <a:off x="413238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C257558-AC18-0113-CCFF-66C838571D5F}"/>
                </a:ext>
              </a:extLst>
            </p:cNvPr>
            <p:cNvSpPr/>
            <p:nvPr/>
          </p:nvSpPr>
          <p:spPr>
            <a:xfrm>
              <a:off x="1222130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F0F9C58-F1B4-AFFF-CDCB-FFA3B86EC0CC}"/>
                </a:ext>
              </a:extLst>
            </p:cNvPr>
            <p:cNvSpPr/>
            <p:nvPr/>
          </p:nvSpPr>
          <p:spPr>
            <a:xfrm>
              <a:off x="2022229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72AD538-8388-F6A3-7C46-3DE1BA11383E}"/>
                </a:ext>
              </a:extLst>
            </p:cNvPr>
            <p:cNvSpPr/>
            <p:nvPr/>
          </p:nvSpPr>
          <p:spPr>
            <a:xfrm>
              <a:off x="2831121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473C3401-0516-286E-B8D9-024F70CFCB64}"/>
                </a:ext>
              </a:extLst>
            </p:cNvPr>
            <p:cNvSpPr/>
            <p:nvPr/>
          </p:nvSpPr>
          <p:spPr>
            <a:xfrm>
              <a:off x="3622426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25FA9E41-554D-FEC9-179B-7B079258350E}"/>
                </a:ext>
              </a:extLst>
            </p:cNvPr>
            <p:cNvSpPr/>
            <p:nvPr/>
          </p:nvSpPr>
          <p:spPr>
            <a:xfrm>
              <a:off x="4440112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9014AFAB-12DB-B823-3C7F-E190FE6E754D}"/>
                </a:ext>
              </a:extLst>
            </p:cNvPr>
            <p:cNvSpPr/>
            <p:nvPr/>
          </p:nvSpPr>
          <p:spPr>
            <a:xfrm>
              <a:off x="5249004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C984EF79-63E6-4AFC-676F-D12D67193F04}"/>
                </a:ext>
              </a:extLst>
            </p:cNvPr>
            <p:cNvSpPr/>
            <p:nvPr/>
          </p:nvSpPr>
          <p:spPr>
            <a:xfrm>
              <a:off x="6057896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5D194B64-5805-9BDD-D271-87BC51165C18}"/>
                </a:ext>
              </a:extLst>
            </p:cNvPr>
            <p:cNvSpPr/>
            <p:nvPr/>
          </p:nvSpPr>
          <p:spPr>
            <a:xfrm>
              <a:off x="6857995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953A6DE-79F5-3357-BB74-4A0EDCCEE8B6}"/>
                </a:ext>
              </a:extLst>
            </p:cNvPr>
            <p:cNvSpPr/>
            <p:nvPr/>
          </p:nvSpPr>
          <p:spPr>
            <a:xfrm>
              <a:off x="7666887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B5946203-555C-90A6-151A-6BA8E265A524}"/>
                </a:ext>
              </a:extLst>
            </p:cNvPr>
            <p:cNvSpPr/>
            <p:nvPr/>
          </p:nvSpPr>
          <p:spPr>
            <a:xfrm>
              <a:off x="8458192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58ED4D9-648B-AFB5-A5C4-8F2CF33067FD}"/>
                </a:ext>
              </a:extLst>
            </p:cNvPr>
            <p:cNvSpPr/>
            <p:nvPr/>
          </p:nvSpPr>
          <p:spPr>
            <a:xfrm>
              <a:off x="9275878" y="5899634"/>
              <a:ext cx="808892" cy="44840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0525467-BB05-F636-4916-95447783911B}"/>
              </a:ext>
            </a:extLst>
          </p:cNvPr>
          <p:cNvSpPr/>
          <p:nvPr/>
        </p:nvSpPr>
        <p:spPr>
          <a:xfrm>
            <a:off x="417467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F24524F-5ECA-591C-AD22-6659070DFAA4}"/>
              </a:ext>
            </a:extLst>
          </p:cNvPr>
          <p:cNvSpPr/>
          <p:nvPr/>
        </p:nvSpPr>
        <p:spPr>
          <a:xfrm>
            <a:off x="1219927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1575C58-8D4A-EA2F-46EE-F2C851FB97AA}"/>
              </a:ext>
            </a:extLst>
          </p:cNvPr>
          <p:cNvSpPr/>
          <p:nvPr/>
        </p:nvSpPr>
        <p:spPr>
          <a:xfrm>
            <a:off x="2020018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F84AAEDC-C845-7CBF-8C2B-279D34298462}"/>
              </a:ext>
            </a:extLst>
          </p:cNvPr>
          <p:cNvSpPr/>
          <p:nvPr/>
        </p:nvSpPr>
        <p:spPr>
          <a:xfrm>
            <a:off x="2826736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F66C40C-828C-F8AA-C771-BBCC7DA8E842}"/>
              </a:ext>
            </a:extLst>
          </p:cNvPr>
          <p:cNvSpPr/>
          <p:nvPr/>
        </p:nvSpPr>
        <p:spPr>
          <a:xfrm>
            <a:off x="3637822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2F27139-3BC4-B043-D6E8-2878129A9D34}"/>
              </a:ext>
            </a:extLst>
          </p:cNvPr>
          <p:cNvSpPr/>
          <p:nvPr/>
        </p:nvSpPr>
        <p:spPr>
          <a:xfrm>
            <a:off x="4437913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F9E6BA0-2062-DF30-FBEA-D64C3A8A89D5}"/>
              </a:ext>
            </a:extLst>
          </p:cNvPr>
          <p:cNvSpPr/>
          <p:nvPr/>
        </p:nvSpPr>
        <p:spPr>
          <a:xfrm>
            <a:off x="5246818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F1E7831-22A1-BD8C-8A37-AE98FF0C142F}"/>
              </a:ext>
            </a:extLst>
          </p:cNvPr>
          <p:cNvSpPr/>
          <p:nvPr/>
        </p:nvSpPr>
        <p:spPr>
          <a:xfrm>
            <a:off x="6057904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31C92E4-4673-573C-C573-F18C79AC0395}"/>
              </a:ext>
            </a:extLst>
          </p:cNvPr>
          <p:cNvSpPr/>
          <p:nvPr/>
        </p:nvSpPr>
        <p:spPr>
          <a:xfrm>
            <a:off x="6857995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0C85AF8-58E6-4C47-9995-09A892210CF4}"/>
              </a:ext>
            </a:extLst>
          </p:cNvPr>
          <p:cNvSpPr/>
          <p:nvPr/>
        </p:nvSpPr>
        <p:spPr>
          <a:xfrm>
            <a:off x="7655907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DF9D5B0-22BF-55D9-93EB-FA1C8EF09AA1}"/>
              </a:ext>
            </a:extLst>
          </p:cNvPr>
          <p:cNvSpPr/>
          <p:nvPr/>
        </p:nvSpPr>
        <p:spPr>
          <a:xfrm>
            <a:off x="8466993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F165FB0-85E4-4A4B-2AD9-E306FC267244}"/>
              </a:ext>
            </a:extLst>
          </p:cNvPr>
          <p:cNvSpPr/>
          <p:nvPr/>
        </p:nvSpPr>
        <p:spPr>
          <a:xfrm>
            <a:off x="9267084" y="94517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8DDC35D-0C5D-1929-9014-EAE4C5656EB4}"/>
              </a:ext>
            </a:extLst>
          </p:cNvPr>
          <p:cNvSpPr/>
          <p:nvPr/>
        </p:nvSpPr>
        <p:spPr>
          <a:xfrm>
            <a:off x="414160" y="1383335"/>
            <a:ext cx="1605689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col-md-2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4677C47-477D-357C-DF05-159EDAAEFCBD}"/>
              </a:ext>
            </a:extLst>
          </p:cNvPr>
          <p:cNvSpPr/>
          <p:nvPr/>
        </p:nvSpPr>
        <p:spPr>
          <a:xfrm>
            <a:off x="2023293" y="1383335"/>
            <a:ext cx="1605689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col-md-2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8C54B93-BB3A-DABA-3F0B-045EEDE04F6A}"/>
              </a:ext>
            </a:extLst>
          </p:cNvPr>
          <p:cNvSpPr/>
          <p:nvPr/>
        </p:nvSpPr>
        <p:spPr>
          <a:xfrm>
            <a:off x="3632368" y="1383335"/>
            <a:ext cx="1605689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col-md-2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D12E345-E803-1F59-E3AA-4520B8DFB600}"/>
              </a:ext>
            </a:extLst>
          </p:cNvPr>
          <p:cNvSpPr/>
          <p:nvPr/>
        </p:nvSpPr>
        <p:spPr>
          <a:xfrm>
            <a:off x="5250127" y="1383335"/>
            <a:ext cx="1605689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col-md-2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B8A8429-A4BA-1855-4A98-60E64A2D4B6A}"/>
              </a:ext>
            </a:extLst>
          </p:cNvPr>
          <p:cNvSpPr/>
          <p:nvPr/>
        </p:nvSpPr>
        <p:spPr>
          <a:xfrm>
            <a:off x="6858020" y="1383335"/>
            <a:ext cx="1605689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col-md-2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74B89A04-67BE-A6DE-44FB-6EB88D154172}"/>
              </a:ext>
            </a:extLst>
          </p:cNvPr>
          <p:cNvSpPr/>
          <p:nvPr/>
        </p:nvSpPr>
        <p:spPr>
          <a:xfrm>
            <a:off x="8467153" y="1383335"/>
            <a:ext cx="1605689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col-md-2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485A5E7-6443-3D22-8D9F-9E27DE123780}"/>
              </a:ext>
            </a:extLst>
          </p:cNvPr>
          <p:cNvSpPr/>
          <p:nvPr/>
        </p:nvSpPr>
        <p:spPr>
          <a:xfrm>
            <a:off x="417467" y="1833217"/>
            <a:ext cx="2410151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col-md-3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D218326-7A86-C3F3-E2A3-09BDDA3925ED}"/>
              </a:ext>
            </a:extLst>
          </p:cNvPr>
          <p:cNvSpPr/>
          <p:nvPr/>
        </p:nvSpPr>
        <p:spPr>
          <a:xfrm>
            <a:off x="2825467" y="1833217"/>
            <a:ext cx="2410151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col-md-3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369CFAA-C4E7-1D54-2E8F-46CE8AD68EBE}"/>
              </a:ext>
            </a:extLst>
          </p:cNvPr>
          <p:cNvSpPr/>
          <p:nvPr/>
        </p:nvSpPr>
        <p:spPr>
          <a:xfrm>
            <a:off x="5244666" y="1833217"/>
            <a:ext cx="2410151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col-md-3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9F94B92-E054-BBE7-A60D-519E76BF5A8C}"/>
              </a:ext>
            </a:extLst>
          </p:cNvPr>
          <p:cNvSpPr/>
          <p:nvPr/>
        </p:nvSpPr>
        <p:spPr>
          <a:xfrm>
            <a:off x="7664342" y="1833217"/>
            <a:ext cx="2410151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col-md-3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6A57AE43-ED11-21BE-A472-B425DE317241}"/>
              </a:ext>
            </a:extLst>
          </p:cNvPr>
          <p:cNvSpPr/>
          <p:nvPr/>
        </p:nvSpPr>
        <p:spPr>
          <a:xfrm>
            <a:off x="412009" y="2284890"/>
            <a:ext cx="3219043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col-md-4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7C2742E-CB49-E4C6-3372-A5FA1DA38D9D}"/>
              </a:ext>
            </a:extLst>
          </p:cNvPr>
          <p:cNvSpPr/>
          <p:nvPr/>
        </p:nvSpPr>
        <p:spPr>
          <a:xfrm>
            <a:off x="3642223" y="2284890"/>
            <a:ext cx="3219043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col-md-4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946AF84-87AD-D26B-3484-BA177BBCAE30}"/>
              </a:ext>
            </a:extLst>
          </p:cNvPr>
          <p:cNvSpPr/>
          <p:nvPr/>
        </p:nvSpPr>
        <p:spPr>
          <a:xfrm>
            <a:off x="6857296" y="2284890"/>
            <a:ext cx="3219043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col-md-4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FB80AD4-32EC-8400-0EF5-79B8A4DD4063}"/>
              </a:ext>
            </a:extLst>
          </p:cNvPr>
          <p:cNvSpPr/>
          <p:nvPr/>
        </p:nvSpPr>
        <p:spPr>
          <a:xfrm>
            <a:off x="415777" y="2745828"/>
            <a:ext cx="4816170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col-md-6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FAC41905-01BE-C3D0-E94F-6C7614A81E84}"/>
              </a:ext>
            </a:extLst>
          </p:cNvPr>
          <p:cNvSpPr/>
          <p:nvPr/>
        </p:nvSpPr>
        <p:spPr>
          <a:xfrm>
            <a:off x="5248836" y="2745828"/>
            <a:ext cx="4816170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col-md-6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47113B4-FE2F-7D10-A034-5C8F08A7EF34}"/>
              </a:ext>
            </a:extLst>
          </p:cNvPr>
          <p:cNvSpPr/>
          <p:nvPr/>
        </p:nvSpPr>
        <p:spPr>
          <a:xfrm>
            <a:off x="4446714" y="5875346"/>
            <a:ext cx="2410151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1CCF56A6-AE7B-8DC1-AFD5-50AF13224E16}"/>
              </a:ext>
            </a:extLst>
          </p:cNvPr>
          <p:cNvSpPr/>
          <p:nvPr/>
        </p:nvSpPr>
        <p:spPr>
          <a:xfrm>
            <a:off x="417003" y="5874085"/>
            <a:ext cx="4028940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col-md-5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BAC7B5B-146D-D5CD-D418-28034EEAE182}"/>
              </a:ext>
            </a:extLst>
          </p:cNvPr>
          <p:cNvSpPr/>
          <p:nvPr/>
        </p:nvSpPr>
        <p:spPr>
          <a:xfrm>
            <a:off x="6848409" y="5879741"/>
            <a:ext cx="3219043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col-md-4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6714A1C-C5A0-6D06-B857-F19A8AC05BD2}"/>
              </a:ext>
            </a:extLst>
          </p:cNvPr>
          <p:cNvSpPr/>
          <p:nvPr/>
        </p:nvSpPr>
        <p:spPr>
          <a:xfrm>
            <a:off x="416851" y="3204306"/>
            <a:ext cx="5631050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col-md-7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CB7ACFE-D14D-F8A1-3D75-09F16AC857D5}"/>
              </a:ext>
            </a:extLst>
          </p:cNvPr>
          <p:cNvSpPr/>
          <p:nvPr/>
        </p:nvSpPr>
        <p:spPr>
          <a:xfrm>
            <a:off x="6038410" y="3204306"/>
            <a:ext cx="4028940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col-md-5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7305AF6-DC99-CF62-3529-F7C40B88D0B9}"/>
              </a:ext>
            </a:extLst>
          </p:cNvPr>
          <p:cNvSpPr/>
          <p:nvPr/>
        </p:nvSpPr>
        <p:spPr>
          <a:xfrm>
            <a:off x="412621" y="3645858"/>
            <a:ext cx="6426221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col-md-8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F10529B-B44A-7B84-C228-ACFB943F8F33}"/>
              </a:ext>
            </a:extLst>
          </p:cNvPr>
          <p:cNvSpPr/>
          <p:nvPr/>
        </p:nvSpPr>
        <p:spPr>
          <a:xfrm>
            <a:off x="6847106" y="3652713"/>
            <a:ext cx="3219043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col-md-4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BE29FB29-3114-5DF4-8B9E-65E01F3655DB}"/>
              </a:ext>
            </a:extLst>
          </p:cNvPr>
          <p:cNvSpPr/>
          <p:nvPr/>
        </p:nvSpPr>
        <p:spPr>
          <a:xfrm>
            <a:off x="412621" y="4104994"/>
            <a:ext cx="7232369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col-md-9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C558EF8-617E-5591-9537-8394DF31A819}"/>
              </a:ext>
            </a:extLst>
          </p:cNvPr>
          <p:cNvSpPr/>
          <p:nvPr/>
        </p:nvSpPr>
        <p:spPr>
          <a:xfrm>
            <a:off x="7653616" y="4108466"/>
            <a:ext cx="2410151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col-md-3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7FF98038-C113-1915-3AC8-6000220BBE89}"/>
              </a:ext>
            </a:extLst>
          </p:cNvPr>
          <p:cNvSpPr/>
          <p:nvPr/>
        </p:nvSpPr>
        <p:spPr>
          <a:xfrm>
            <a:off x="421247" y="4556329"/>
            <a:ext cx="801594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col-md-10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CEA70C4-C8A4-427E-643A-A6956B014FAA}"/>
              </a:ext>
            </a:extLst>
          </p:cNvPr>
          <p:cNvSpPr/>
          <p:nvPr/>
        </p:nvSpPr>
        <p:spPr>
          <a:xfrm>
            <a:off x="8452028" y="4550468"/>
            <a:ext cx="1605689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col-md-2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10CF075-E33C-0C3D-B37B-7BF3193C7A1F}"/>
              </a:ext>
            </a:extLst>
          </p:cNvPr>
          <p:cNvSpPr/>
          <p:nvPr/>
        </p:nvSpPr>
        <p:spPr>
          <a:xfrm>
            <a:off x="415645" y="4995947"/>
            <a:ext cx="8835564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col-md-11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6B3D84A-16B0-09EB-F7C4-CC5469EF9CD2}"/>
              </a:ext>
            </a:extLst>
          </p:cNvPr>
          <p:cNvSpPr/>
          <p:nvPr/>
        </p:nvSpPr>
        <p:spPr>
          <a:xfrm>
            <a:off x="9247312" y="4991549"/>
            <a:ext cx="808892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B7FBFF0F-D5B1-DF4F-AAB0-8570DACA8686}"/>
              </a:ext>
            </a:extLst>
          </p:cNvPr>
          <p:cNvSpPr/>
          <p:nvPr/>
        </p:nvSpPr>
        <p:spPr>
          <a:xfrm>
            <a:off x="411748" y="5426225"/>
            <a:ext cx="9643394" cy="4484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col-md-12</a:t>
            </a:r>
          </a:p>
        </p:txBody>
      </p:sp>
    </p:spTree>
    <p:extLst>
      <p:ext uri="{BB962C8B-B14F-4D97-AF65-F5344CB8AC3E}">
        <p14:creationId xmlns:p14="http://schemas.microsoft.com/office/powerpoint/2010/main" val="71346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458B9-A95D-2D29-9034-3F50E2D8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BB245-4F51-2DCD-B186-73494F0D9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Gutter space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D10BB-8D4C-8075-7AF6-F42E4580A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</p:txBody>
      </p:sp>
    </p:spTree>
    <p:extLst>
      <p:ext uri="{BB962C8B-B14F-4D97-AF65-F5344CB8AC3E}">
        <p14:creationId xmlns:p14="http://schemas.microsoft.com/office/powerpoint/2010/main" val="1575358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7814-D43E-A558-524F-EB411896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E1DF-FF15-1AD4-9A3F-FF3FDA97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Gutters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91941-EFCF-CEA0-19CF-C99082AB9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Gutters are the padding between your columns, used to responsively space and align content in the Bootstrap grid system.</a:t>
            </a:r>
          </a:p>
          <a:p>
            <a:pPr lvl="1"/>
            <a:r>
              <a:rPr lang="en-US" sz="2200" dirty="0"/>
              <a:t>Horizontal Gutters (e.g. </a:t>
            </a:r>
            <a:r>
              <a:rPr lang="en-US" sz="2200" dirty="0">
                <a:solidFill>
                  <a:schemeClr val="tx2"/>
                </a:solidFill>
              </a:rPr>
              <a:t>gx-5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Vertical Gutters (e.g. </a:t>
            </a:r>
            <a:r>
              <a:rPr lang="en-US" sz="2200" dirty="0">
                <a:solidFill>
                  <a:schemeClr val="tx2"/>
                </a:solidFill>
              </a:rPr>
              <a:t>gy-5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Horizontal &amp; Vertical Gutters (e.g. </a:t>
            </a:r>
            <a:r>
              <a:rPr lang="en-US" sz="2200" dirty="0">
                <a:solidFill>
                  <a:schemeClr val="tx2"/>
                </a:solidFill>
              </a:rPr>
              <a:t>g-5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Row Columns Gutters (e.g. </a:t>
            </a:r>
            <a:r>
              <a:rPr lang="en-US" sz="2200" dirty="0">
                <a:solidFill>
                  <a:schemeClr val="tx2"/>
                </a:solidFill>
              </a:rPr>
              <a:t>g-lg-5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No gutters (e.g. </a:t>
            </a:r>
            <a:r>
              <a:rPr lang="en-US" sz="2200" dirty="0">
                <a:solidFill>
                  <a:schemeClr val="tx2"/>
                </a:solidFill>
              </a:rPr>
              <a:t>g-0</a:t>
            </a:r>
            <a:r>
              <a:rPr lang="en-US" sz="2200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09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F0516-F913-7722-6929-B465B624F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E528-2778-237D-A8A6-91AA09F65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1DB37-5051-CB33-58FF-C00CD99A5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- 8</a:t>
            </a:r>
          </a:p>
        </p:txBody>
      </p:sp>
    </p:spTree>
    <p:extLst>
      <p:ext uri="{BB962C8B-B14F-4D97-AF65-F5344CB8AC3E}">
        <p14:creationId xmlns:p14="http://schemas.microsoft.com/office/powerpoint/2010/main" val="3379909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FE313-6C43-3403-94FF-03FDE11B1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D314E-0954-1305-35A1-08CE692CE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CAE8B-E773-5AC2-61D1-37B460D60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Due to the widespread use of &lt;table&gt; elements across third-party widgets like calendars and date pickers, Bootstrap’s tables are not loaded default in reboot.</a:t>
            </a:r>
          </a:p>
          <a:p>
            <a:r>
              <a:rPr lang="en-US" dirty="0"/>
              <a:t>Add the base class .table to any &lt;table&gt;, then extend with our optional modifier classes or custom styles. </a:t>
            </a:r>
          </a:p>
          <a:p>
            <a:r>
              <a:rPr lang="en-US" dirty="0"/>
              <a:t>All table styles are not inherited in Bootstrap, meaning any nested tables can be styled independent from the parent.</a:t>
            </a:r>
          </a:p>
          <a:p>
            <a:r>
              <a:rPr lang="en-US" dirty="0"/>
              <a:t>Table Styles:</a:t>
            </a:r>
          </a:p>
          <a:p>
            <a:pPr lvl="1"/>
            <a:r>
              <a:rPr lang="en-US" dirty="0"/>
              <a:t>Striped Rows 		:	table-striped</a:t>
            </a:r>
          </a:p>
          <a:p>
            <a:pPr lvl="1"/>
            <a:r>
              <a:rPr lang="en-US" dirty="0"/>
              <a:t>Bordered Table		:	table-bordered</a:t>
            </a:r>
          </a:p>
          <a:p>
            <a:pPr lvl="1"/>
            <a:r>
              <a:rPr lang="en-US" dirty="0"/>
              <a:t>Hover Rows		:	table-hover</a:t>
            </a:r>
          </a:p>
          <a:p>
            <a:pPr lvl="1"/>
            <a:r>
              <a:rPr lang="en-US" dirty="0"/>
              <a:t>Black/Dark Table		: 	table-dark</a:t>
            </a:r>
          </a:p>
          <a:p>
            <a:pPr lvl="1"/>
            <a:r>
              <a:rPr lang="en-US" dirty="0"/>
              <a:t>Dark Striped Table		:	table-dark table-striped</a:t>
            </a:r>
          </a:p>
          <a:p>
            <a:pPr lvl="1"/>
            <a:r>
              <a:rPr lang="en-US" dirty="0"/>
              <a:t>Borderless Table		:	table-borderless</a:t>
            </a:r>
          </a:p>
          <a:p>
            <a:pPr lvl="1"/>
            <a:r>
              <a:rPr lang="en-US" dirty="0"/>
              <a:t>Responsive Table		:	table-responsive (on parent div)</a:t>
            </a:r>
          </a:p>
          <a:p>
            <a:pPr lvl="1"/>
            <a:r>
              <a:rPr lang="en-US" dirty="0"/>
              <a:t>Small Table 		:	table-</a:t>
            </a:r>
            <a:r>
              <a:rPr lang="en-US" dirty="0" err="1"/>
              <a:t>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54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4014-FD4B-72EB-4D69-0CC840E88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45472-89C2-80D6-F31B-004F0FA81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A3B27-AD9E-367A-5030-57E755E54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Along with the previously explained styles, we can also use many Contextual Classes with the </a:t>
            </a:r>
            <a:r>
              <a:rPr lang="en-US" b="1" dirty="0"/>
              <a:t>table</a:t>
            </a:r>
            <a:r>
              <a:rPr lang="en-US" dirty="0"/>
              <a:t>, </a:t>
            </a:r>
            <a:r>
              <a:rPr lang="en-US" b="1" dirty="0" err="1"/>
              <a:t>tr</a:t>
            </a:r>
            <a:r>
              <a:rPr lang="en-US" dirty="0"/>
              <a:t> and </a:t>
            </a:r>
            <a:r>
              <a:rPr lang="en-US" b="1" dirty="0"/>
              <a:t>td</a:t>
            </a:r>
            <a:r>
              <a:rPr lang="en-US" dirty="0"/>
              <a:t> tag.</a:t>
            </a:r>
          </a:p>
          <a:p>
            <a:r>
              <a:rPr lang="en-US" dirty="0"/>
              <a:t>Contextual classes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8038CF-0FD3-DBD3-8A20-749F9F77D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865591"/>
              </p:ext>
            </p:extLst>
          </p:nvPr>
        </p:nvGraphicFramePr>
        <p:xfrm>
          <a:off x="521980" y="2070294"/>
          <a:ext cx="1125616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5796">
                  <a:extLst>
                    <a:ext uri="{9D8B030D-6E8A-4147-A177-3AD203B41FA5}">
                      <a16:colId xmlns:a16="http://schemas.microsoft.com/office/drawing/2014/main" val="1296519726"/>
                    </a:ext>
                  </a:extLst>
                </a:gridCol>
                <a:gridCol w="7340366">
                  <a:extLst>
                    <a:ext uri="{9D8B030D-6E8A-4147-A177-3AD203B41FA5}">
                      <a16:colId xmlns:a16="http://schemas.microsoft.com/office/drawing/2014/main" val="1278540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922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effectLst/>
                        </a:rPr>
                        <a:t>.table-primary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effectLst/>
                        </a:rPr>
                        <a:t>Blue: Indicates an important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5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.table-success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Green: Indicates a successful or positive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053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.table-danger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Red: Indicates a dangerous or potentially negative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34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F0"/>
                          </a:solidFill>
                          <a:effectLst/>
                        </a:rPr>
                        <a:t>.table-info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F0"/>
                          </a:solidFill>
                          <a:effectLst/>
                        </a:rPr>
                        <a:t>Light blue: Indicates a neutral informative change or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441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  <a:effectLst/>
                        </a:rPr>
                        <a:t>.table-warning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  <a:effectLst/>
                        </a:rPr>
                        <a:t>Orange: Indicates a warning that might need attention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09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effectLst/>
                        </a:rPr>
                        <a:t>.table-active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effectLst/>
                        </a:rPr>
                        <a:t>Grey: Applies the hover color to the table row or table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083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effectLst/>
                        </a:rPr>
                        <a:t>.table-secondary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effectLst/>
                        </a:rPr>
                        <a:t>Grey: Indicates a slightly less important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04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effectLst/>
                        </a:rPr>
                        <a:t>.table-light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effectLst/>
                        </a:rPr>
                        <a:t>Light grey table or table row background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577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</a:rPr>
                        <a:t>.table-dark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</a:rPr>
                        <a:t>Dark grey table or table row background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03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25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8CCBC-8B98-0B9F-FD72-1833E337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D72F-CD8C-22DF-8DB0-AF61214A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Utility classes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508EC-5D8E-3525-DC82-8C41BD6A2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- 9</a:t>
            </a:r>
          </a:p>
        </p:txBody>
      </p:sp>
    </p:spTree>
    <p:extLst>
      <p:ext uri="{BB962C8B-B14F-4D97-AF65-F5344CB8AC3E}">
        <p14:creationId xmlns:p14="http://schemas.microsoft.com/office/powerpoint/2010/main" val="3432647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1D87B-BF29-BD9B-2C96-69AB9E42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B0719-3122-35ED-2910-35EE4C7B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Utility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CA74-E097-AE67-0302-7DA1FF09D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069994" cy="5590565"/>
          </a:xfrm>
        </p:spPr>
        <p:txBody>
          <a:bodyPr/>
          <a:lstStyle/>
          <a:p>
            <a:r>
              <a:rPr lang="en-US" dirty="0"/>
              <a:t>Colors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Borders</a:t>
            </a:r>
          </a:p>
          <a:p>
            <a:r>
              <a:rPr lang="en-US" dirty="0"/>
              <a:t>Spacing</a:t>
            </a:r>
          </a:p>
          <a:p>
            <a:r>
              <a:rPr lang="en-US" dirty="0"/>
              <a:t>Float</a:t>
            </a:r>
          </a:p>
          <a:p>
            <a:r>
              <a:rPr lang="en-US" dirty="0"/>
              <a:t>Shadows</a:t>
            </a:r>
          </a:p>
          <a:p>
            <a:r>
              <a:rPr lang="en-US" dirty="0"/>
              <a:t>Sizing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63A235-A6BE-B407-2705-73A66C5C8EB7}"/>
              </a:ext>
            </a:extLst>
          </p:cNvPr>
          <p:cNvSpPr txBox="1">
            <a:spLocks/>
          </p:cNvSpPr>
          <p:nvPr/>
        </p:nvSpPr>
        <p:spPr>
          <a:xfrm>
            <a:off x="2898692" y="887133"/>
            <a:ext cx="506999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Vertical Alignment</a:t>
            </a:r>
          </a:p>
          <a:p>
            <a:r>
              <a:rPr lang="en-US" dirty="0"/>
              <a:t>Position</a:t>
            </a:r>
          </a:p>
          <a:p>
            <a:r>
              <a:rPr lang="en-US" dirty="0"/>
              <a:t>Display</a:t>
            </a:r>
          </a:p>
          <a:p>
            <a:r>
              <a:rPr lang="en-US" dirty="0"/>
              <a:t>Flex</a:t>
            </a:r>
          </a:p>
          <a:p>
            <a:r>
              <a:rPr lang="en-US" dirty="0"/>
              <a:t>Interactions</a:t>
            </a:r>
          </a:p>
          <a:p>
            <a:r>
              <a:rPr lang="en-US" dirty="0"/>
              <a:t>Opacity</a:t>
            </a:r>
          </a:p>
          <a:p>
            <a:r>
              <a:rPr lang="en-US" dirty="0"/>
              <a:t>Overflow</a:t>
            </a:r>
          </a:p>
          <a:p>
            <a:r>
              <a:rPr lang="en-US" dirty="0"/>
              <a:t>Visibility</a:t>
            </a:r>
          </a:p>
        </p:txBody>
      </p:sp>
    </p:spTree>
    <p:extLst>
      <p:ext uri="{BB962C8B-B14F-4D97-AF65-F5344CB8AC3E}">
        <p14:creationId xmlns:p14="http://schemas.microsoft.com/office/powerpoint/2010/main" val="128147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448C9-EBFF-9371-5843-A3CA8EC0C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BA67-896B-8B5A-F59F-9BEDE3ACE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Color Utility Classes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306F0A21-5788-F970-3E73-71AB9A0A55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555310"/>
              </p:ext>
            </p:extLst>
          </p:nvPr>
        </p:nvGraphicFramePr>
        <p:xfrm>
          <a:off x="131763" y="863600"/>
          <a:ext cx="11555932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455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8279477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007BFF"/>
                          </a:solidFill>
                          <a:effectLst/>
                        </a:rPr>
                        <a:t>.text-primary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007BFF"/>
                          </a:solidFill>
                          <a:effectLst/>
                        </a:rPr>
                        <a:t>Apply blue color (</a:t>
                      </a:r>
                      <a:r>
                        <a:rPr lang="en-US" dirty="0">
                          <a:solidFill>
                            <a:srgbClr val="007BFF"/>
                          </a:solidFill>
                          <a:effectLst/>
                          <a:latin typeface="Courier New" panose="02070309020205020404" pitchFamily="49" charset="0"/>
                        </a:rPr>
                        <a:t>#007bff</a:t>
                      </a:r>
                      <a:r>
                        <a:rPr lang="en-US" dirty="0">
                          <a:solidFill>
                            <a:srgbClr val="007BFF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6C757D"/>
                          </a:solidFill>
                          <a:effectLst/>
                        </a:rPr>
                        <a:t>.text-secondary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6C757D"/>
                          </a:solidFill>
                          <a:effectLst/>
                        </a:rPr>
                        <a:t>Apply grey color (</a:t>
                      </a:r>
                      <a:r>
                        <a:rPr lang="en-US" dirty="0">
                          <a:solidFill>
                            <a:srgbClr val="6C757D"/>
                          </a:solidFill>
                          <a:effectLst/>
                          <a:latin typeface="Courier New" panose="02070309020205020404" pitchFamily="49" charset="0"/>
                        </a:rPr>
                        <a:t>#6c757d</a:t>
                      </a:r>
                      <a:r>
                        <a:rPr lang="en-US" dirty="0">
                          <a:solidFill>
                            <a:srgbClr val="6C757D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28A745"/>
                          </a:solidFill>
                          <a:effectLst/>
                        </a:rPr>
                        <a:t>.text-success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28A745"/>
                          </a:solidFill>
                          <a:effectLst/>
                        </a:rPr>
                        <a:t>Apply green color (</a:t>
                      </a:r>
                      <a:r>
                        <a:rPr lang="en-US" dirty="0">
                          <a:solidFill>
                            <a:srgbClr val="28A745"/>
                          </a:solidFill>
                          <a:effectLst/>
                          <a:latin typeface="Courier New" panose="02070309020205020404" pitchFamily="49" charset="0"/>
                        </a:rPr>
                        <a:t>#28a745</a:t>
                      </a:r>
                      <a:r>
                        <a:rPr lang="en-US" dirty="0">
                          <a:solidFill>
                            <a:srgbClr val="28A745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E43142"/>
                          </a:solidFill>
                          <a:effectLst/>
                        </a:rPr>
                        <a:t>.text-danger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E43142"/>
                          </a:solidFill>
                          <a:effectLst/>
                        </a:rPr>
                        <a:t>Apply red color (</a:t>
                      </a:r>
                      <a:r>
                        <a:rPr lang="en-US" dirty="0">
                          <a:solidFill>
                            <a:srgbClr val="E43142"/>
                          </a:solidFill>
                          <a:effectLst/>
                          <a:latin typeface="Courier New" panose="02070309020205020404" pitchFamily="49" charset="0"/>
                        </a:rPr>
                        <a:t>#dc3545</a:t>
                      </a:r>
                      <a:r>
                        <a:rPr lang="en-US" dirty="0">
                          <a:solidFill>
                            <a:srgbClr val="E43142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2356437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FFC107"/>
                          </a:solidFill>
                          <a:effectLst/>
                        </a:rPr>
                        <a:t>.text-warning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FFC107"/>
                          </a:solidFill>
                          <a:effectLst/>
                        </a:rPr>
                        <a:t>Apply yellow color (</a:t>
                      </a:r>
                      <a:r>
                        <a:rPr lang="en-US" dirty="0">
                          <a:solidFill>
                            <a:srgbClr val="FFC107"/>
                          </a:solidFill>
                          <a:effectLst/>
                          <a:latin typeface="Courier New" panose="02070309020205020404" pitchFamily="49" charset="0"/>
                        </a:rPr>
                        <a:t>#ffc107</a:t>
                      </a:r>
                      <a:r>
                        <a:rPr lang="en-US" dirty="0">
                          <a:solidFill>
                            <a:srgbClr val="FFC107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3797071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17A2B8"/>
                          </a:solidFill>
                          <a:effectLst/>
                        </a:rPr>
                        <a:t>.text-info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17A2B8"/>
                          </a:solidFill>
                          <a:effectLst/>
                        </a:rPr>
                        <a:t>Apply teal color (</a:t>
                      </a:r>
                      <a:r>
                        <a:rPr lang="en-US" dirty="0">
                          <a:solidFill>
                            <a:srgbClr val="17A2B8"/>
                          </a:solidFill>
                          <a:effectLst/>
                          <a:latin typeface="Courier New" panose="02070309020205020404" pitchFamily="49" charset="0"/>
                        </a:rPr>
                        <a:t>#17a2b8</a:t>
                      </a:r>
                      <a:r>
                        <a:rPr lang="en-US" dirty="0">
                          <a:solidFill>
                            <a:srgbClr val="17A2B8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2093545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F8F9FA"/>
                          </a:solidFill>
                          <a:effectLst/>
                        </a:rPr>
                        <a:t>.text-light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F8F9FA"/>
                          </a:solidFill>
                          <a:effectLst/>
                        </a:rPr>
                        <a:t>Apply very light grey color (</a:t>
                      </a:r>
                      <a:r>
                        <a:rPr lang="en-US" dirty="0">
                          <a:solidFill>
                            <a:srgbClr val="F8F9FA"/>
                          </a:solidFill>
                          <a:effectLst/>
                          <a:latin typeface="Courier New" panose="02070309020205020404" pitchFamily="49" charset="0"/>
                        </a:rPr>
                        <a:t>#f8f9fa</a:t>
                      </a:r>
                      <a:r>
                        <a:rPr lang="en-US" dirty="0">
                          <a:solidFill>
                            <a:srgbClr val="F8F9FA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260884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343A40"/>
                          </a:solidFill>
                          <a:effectLst/>
                        </a:rPr>
                        <a:t>.text-dark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343A40"/>
                          </a:solidFill>
                          <a:effectLst/>
                        </a:rPr>
                        <a:t>Apply dark grey color (</a:t>
                      </a:r>
                      <a:r>
                        <a:rPr lang="en-US" dirty="0">
                          <a:solidFill>
                            <a:srgbClr val="343A40"/>
                          </a:solidFill>
                          <a:effectLst/>
                          <a:latin typeface="Courier New" panose="02070309020205020404" pitchFamily="49" charset="0"/>
                        </a:rPr>
                        <a:t>#343a40</a:t>
                      </a:r>
                      <a:r>
                        <a:rPr lang="en-US" dirty="0">
                          <a:solidFill>
                            <a:srgbClr val="343A40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3493186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.text-body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Apply Bootstrap's default body text color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#212529</a:t>
                      </a:r>
                      <a:r>
                        <a:rPr lang="en-US" dirty="0"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40036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6C757D"/>
                          </a:solidFill>
                          <a:effectLst/>
                        </a:rPr>
                        <a:t>.text-muted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6C757D"/>
                          </a:solidFill>
                          <a:effectLst/>
                        </a:rPr>
                        <a:t>Apply light grey color (</a:t>
                      </a:r>
                      <a:r>
                        <a:rPr lang="en-US" dirty="0">
                          <a:solidFill>
                            <a:srgbClr val="6C757D"/>
                          </a:solidFill>
                          <a:effectLst/>
                          <a:latin typeface="Courier New" panose="02070309020205020404" pitchFamily="49" charset="0"/>
                        </a:rPr>
                        <a:t>#6c757d</a:t>
                      </a:r>
                      <a:r>
                        <a:rPr lang="en-US" dirty="0">
                          <a:solidFill>
                            <a:srgbClr val="6C757D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1133053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</a:rPr>
                        <a:t>.text-white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</a:rPr>
                        <a:t>Apply white color (</a:t>
                      </a:r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</a:rPr>
                        <a:t>#</a:t>
                      </a:r>
                      <a:r>
                        <a:rPr lang="en-US" dirty="0" err="1"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</a:rPr>
                        <a:t>fff</a:t>
                      </a:r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4004120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7F7F7F"/>
                          </a:solidFill>
                          <a:effectLst/>
                        </a:rPr>
                        <a:t>.text-black-50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7F7F7F"/>
                          </a:solidFill>
                          <a:effectLst/>
                        </a:rPr>
                        <a:t>Apply 50% transparent black color (</a:t>
                      </a:r>
                      <a:r>
                        <a:rPr lang="en-US" dirty="0" err="1"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</a:rPr>
                        <a:t>rgba</a:t>
                      </a:r>
                      <a:r>
                        <a:rPr lang="en-US" dirty="0"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</a:rPr>
                        <a:t>(0,0,0,.5)</a:t>
                      </a:r>
                      <a:r>
                        <a:rPr lang="en-US" dirty="0">
                          <a:solidFill>
                            <a:srgbClr val="7F7F7F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1438510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FCFCFC"/>
                          </a:solidFill>
                          <a:effectLst/>
                        </a:rPr>
                        <a:t>.text-white-50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FCFCFC"/>
                          </a:solidFill>
                          <a:effectLst/>
                        </a:rPr>
                        <a:t>Apply 50% transparent white color (</a:t>
                      </a:r>
                      <a:r>
                        <a:rPr lang="en-US" dirty="0" err="1">
                          <a:solidFill>
                            <a:srgbClr val="FCFCFC"/>
                          </a:solidFill>
                          <a:effectLst/>
                          <a:latin typeface="Courier New" panose="02070309020205020404" pitchFamily="49" charset="0"/>
                        </a:rPr>
                        <a:t>rgba</a:t>
                      </a:r>
                      <a:r>
                        <a:rPr lang="en-US" dirty="0">
                          <a:solidFill>
                            <a:srgbClr val="FCFCFC"/>
                          </a:solidFill>
                          <a:effectLst/>
                          <a:latin typeface="Courier New" panose="02070309020205020404" pitchFamily="49" charset="0"/>
                        </a:rPr>
                        <a:t>(255,255,255,.5)</a:t>
                      </a:r>
                      <a:r>
                        <a:rPr lang="en-US" dirty="0">
                          <a:solidFill>
                            <a:srgbClr val="FCFCFC"/>
                          </a:solidFill>
                          <a:effectLst/>
                        </a:rPr>
                        <a:t>) on text.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699511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63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FA160-B9F8-C2E3-38A3-17CFD4C44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9140-3E43-ABED-E5C0-D2BC48D7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Background Utility Classes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F4C50312-CBBA-A1FB-DB12-1D6E04BA5F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558324"/>
              </p:ext>
            </p:extLst>
          </p:nvPr>
        </p:nvGraphicFramePr>
        <p:xfrm>
          <a:off x="131763" y="863600"/>
          <a:ext cx="1155593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455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8279477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bg</a:t>
                      </a:r>
                      <a:r>
                        <a:rPr lang="en-US" dirty="0">
                          <a:effectLst/>
                        </a:rPr>
                        <a:t>-primary</a:t>
                      </a:r>
                    </a:p>
                  </a:txBody>
                  <a:tcPr marL="95250" marR="95250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Apply blue background-color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#007bff</a:t>
                      </a:r>
                      <a:r>
                        <a:rPr lang="en-US" dirty="0">
                          <a:effectLst/>
                        </a:rPr>
                        <a:t>) on an element.</a:t>
                      </a:r>
                    </a:p>
                  </a:txBody>
                  <a:tcPr marL="95250" marR="95250" marT="36576" marB="36576">
                    <a:solidFill>
                      <a:srgbClr val="007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bg</a:t>
                      </a:r>
                      <a:r>
                        <a:rPr lang="en-US" dirty="0">
                          <a:effectLst/>
                        </a:rPr>
                        <a:t>-secondary</a:t>
                      </a:r>
                    </a:p>
                  </a:txBody>
                  <a:tcPr marL="95250" marR="95250" marT="36576" marB="36576">
                    <a:solidFill>
                      <a:srgbClr val="6C757D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Apply grey background-color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#6c757d</a:t>
                      </a:r>
                      <a:r>
                        <a:rPr lang="en-US" dirty="0">
                          <a:effectLst/>
                        </a:rPr>
                        <a:t>) on an element.</a:t>
                      </a:r>
                    </a:p>
                  </a:txBody>
                  <a:tcPr marL="95250" marR="95250" marT="36576" marB="36576">
                    <a:solidFill>
                      <a:srgbClr val="6C75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bg</a:t>
                      </a:r>
                      <a:r>
                        <a:rPr lang="en-US" dirty="0">
                          <a:effectLst/>
                        </a:rPr>
                        <a:t>-success</a:t>
                      </a:r>
                    </a:p>
                  </a:txBody>
                  <a:tcPr marL="95250" marR="95250" marT="36576" marB="36576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Apply green background-color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#28a745</a:t>
                      </a:r>
                      <a:r>
                        <a:rPr lang="en-US" dirty="0">
                          <a:effectLst/>
                        </a:rPr>
                        <a:t>) on an element.</a:t>
                      </a:r>
                    </a:p>
                  </a:txBody>
                  <a:tcPr marL="95250" marR="95250" marT="36576" marB="36576">
                    <a:solidFill>
                      <a:srgbClr val="28A7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bg</a:t>
                      </a:r>
                      <a:r>
                        <a:rPr lang="en-US" dirty="0">
                          <a:effectLst/>
                        </a:rPr>
                        <a:t>-danger</a:t>
                      </a:r>
                    </a:p>
                  </a:txBody>
                  <a:tcPr marL="95250" marR="95250" marT="36576" marB="36576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Apply red background-color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#dc3545</a:t>
                      </a:r>
                      <a:r>
                        <a:rPr lang="en-US" dirty="0">
                          <a:effectLst/>
                        </a:rPr>
                        <a:t>) on an element.</a:t>
                      </a:r>
                    </a:p>
                  </a:txBody>
                  <a:tcPr marL="95250" marR="95250" marT="36576" marB="36576">
                    <a:solidFill>
                      <a:srgbClr val="DC3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437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bg</a:t>
                      </a:r>
                      <a:r>
                        <a:rPr lang="en-US" dirty="0">
                          <a:effectLst/>
                        </a:rPr>
                        <a:t>-warning</a:t>
                      </a:r>
                    </a:p>
                  </a:txBody>
                  <a:tcPr marL="95250" marR="95250" marT="36576" marB="36576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Apply yellow background-color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#ffc107</a:t>
                      </a:r>
                      <a:r>
                        <a:rPr lang="en-US" dirty="0">
                          <a:effectLst/>
                        </a:rPr>
                        <a:t>) on an element.</a:t>
                      </a:r>
                    </a:p>
                  </a:txBody>
                  <a:tcPr marL="95250" marR="95250" marT="36576" marB="36576">
                    <a:solidFill>
                      <a:srgbClr val="FFC1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071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bg</a:t>
                      </a:r>
                      <a:r>
                        <a:rPr lang="en-US" dirty="0">
                          <a:effectLst/>
                        </a:rPr>
                        <a:t>-info</a:t>
                      </a:r>
                    </a:p>
                  </a:txBody>
                  <a:tcPr marL="95250" marR="95250" marT="36576" marB="36576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Apply teal background-color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#17a2b8</a:t>
                      </a:r>
                      <a:r>
                        <a:rPr lang="en-US" dirty="0">
                          <a:effectLst/>
                        </a:rPr>
                        <a:t>) on an element.</a:t>
                      </a:r>
                    </a:p>
                  </a:txBody>
                  <a:tcPr marL="95250" marR="95250" marT="36576" marB="36576">
                    <a:solidFill>
                      <a:srgbClr val="17A2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545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bg</a:t>
                      </a:r>
                      <a:r>
                        <a:rPr lang="en-US" dirty="0">
                          <a:effectLst/>
                        </a:rPr>
                        <a:t>-light</a:t>
                      </a:r>
                    </a:p>
                  </a:txBody>
                  <a:tcPr marL="95250" marR="95250" marT="36576" marB="36576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Apply very light grey background-color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#f8f9fa</a:t>
                      </a:r>
                      <a:r>
                        <a:rPr lang="en-US" dirty="0">
                          <a:effectLst/>
                        </a:rPr>
                        <a:t>) on an element.</a:t>
                      </a:r>
                    </a:p>
                  </a:txBody>
                  <a:tcPr marL="95250" marR="95250" marT="36576" marB="36576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84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</a:rPr>
                        <a:t>.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  <a:effectLst/>
                        </a:rPr>
                        <a:t>bg</a:t>
                      </a:r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</a:rPr>
                        <a:t>-dark</a:t>
                      </a:r>
                    </a:p>
                  </a:txBody>
                  <a:tcPr marL="95250" marR="95250" marT="36576" marB="36576"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</a:rPr>
                        <a:t>Apply dark grey background-color (</a:t>
                      </a:r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  <a:latin typeface="Courier New" panose="02070309020205020404" pitchFamily="49" charset="0"/>
                        </a:rPr>
                        <a:t>#343a40</a:t>
                      </a:r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</a:rPr>
                        <a:t>) on an element.</a:t>
                      </a:r>
                    </a:p>
                  </a:txBody>
                  <a:tcPr marL="95250" marR="95250" marT="36576" marB="36576">
                    <a:solidFill>
                      <a:srgbClr val="343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186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bg</a:t>
                      </a:r>
                      <a:r>
                        <a:rPr lang="en-US" dirty="0">
                          <a:effectLst/>
                        </a:rPr>
                        <a:t>-white</a:t>
                      </a:r>
                    </a:p>
                  </a:txBody>
                  <a:tcPr marL="95250" marR="9525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Apply white background-color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</a:t>
                      </a:r>
                      <a:r>
                        <a:rPr lang="en-US" dirty="0" err="1">
                          <a:effectLst/>
                          <a:latin typeface="Courier New" panose="02070309020205020404" pitchFamily="49" charset="0"/>
                        </a:rPr>
                        <a:t>fff</a:t>
                      </a:r>
                      <a:r>
                        <a:rPr lang="en-US" dirty="0">
                          <a:effectLst/>
                        </a:rPr>
                        <a:t>) on an element.</a:t>
                      </a:r>
                    </a:p>
                  </a:txBody>
                  <a:tcPr marL="95250" marR="9525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6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bg</a:t>
                      </a:r>
                      <a:r>
                        <a:rPr lang="en-US" dirty="0">
                          <a:effectLst/>
                        </a:rPr>
                        <a:t>-transparent</a:t>
                      </a:r>
                    </a:p>
                  </a:txBody>
                  <a:tcPr marL="95250" marR="9525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Apply transparent background-color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transparent</a:t>
                      </a:r>
                      <a:r>
                        <a:rPr lang="en-US" dirty="0">
                          <a:effectLst/>
                        </a:rPr>
                        <a:t>) on an element.</a:t>
                      </a:r>
                    </a:p>
                  </a:txBody>
                  <a:tcPr marL="95250" marR="9525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053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51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5017-F4AA-35C5-382A-9EC514183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9C88D-A495-669E-CA71-B37B878C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Text Utility Classes (1/2)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7C0B58AB-B08A-3643-0DF0-C9A9539598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43758"/>
              </p:ext>
            </p:extLst>
          </p:nvPr>
        </p:nvGraphicFramePr>
        <p:xfrm>
          <a:off x="131763" y="863600"/>
          <a:ext cx="11555932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455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8279477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29556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95564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.text-start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Align the text to the left.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95564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.text-center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Align the text to the center.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295564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.text-end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Align the text to the right.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  <a:tr h="295564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.text-wrap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Wrap the overflowing text.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2356437649"/>
                  </a:ext>
                </a:extLst>
              </a:tr>
              <a:tr h="295564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</a:t>
                      </a:r>
                      <a:r>
                        <a:rPr lang="en-US" dirty="0" err="1">
                          <a:effectLst/>
                        </a:rPr>
                        <a:t>nowrap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Prevent text from wrapping.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3797071425"/>
                  </a:ext>
                </a:extLst>
              </a:tr>
              <a:tr h="295564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.text-truncate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Truncate the text with an ellipsis.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2093545994"/>
                  </a:ext>
                </a:extLst>
              </a:tr>
              <a:tr h="295564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.text-break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Break the long words to prevent overflow.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260884724"/>
                  </a:ext>
                </a:extLst>
              </a:tr>
              <a:tr h="295564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.text-lowercase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Transform the text to lowercase.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3493186379"/>
                  </a:ext>
                </a:extLst>
              </a:tr>
              <a:tr h="295564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.text-uppercase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Transform the text to uppercase.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400360890"/>
                  </a:ext>
                </a:extLst>
              </a:tr>
              <a:tr h="295564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.text-capitalize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Capitalize the first letter of each word.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1133053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0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7235-C237-9E79-9D8E-9AB3F084A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4A9A-9B32-3019-CC24-89514C9F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Text Utility Classes (2/2)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12C1BDF4-9992-BCD7-5E1D-56D516D109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3180155"/>
              </p:ext>
            </p:extLst>
          </p:nvPr>
        </p:nvGraphicFramePr>
        <p:xfrm>
          <a:off x="131763" y="863600"/>
          <a:ext cx="11555932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455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8279477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264972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36576" marB="365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36576" marB="36576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fw</a:t>
                      </a:r>
                      <a:r>
                        <a:rPr lang="en-US" dirty="0">
                          <a:effectLst/>
                        </a:rPr>
                        <a:t>-bold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font-weight of an element to </a:t>
                      </a:r>
                      <a:r>
                        <a:rPr lang="en-US" b="1" dirty="0">
                          <a:effectLst/>
                        </a:rPr>
                        <a:t>bold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fw</a:t>
                      </a:r>
                      <a:r>
                        <a:rPr lang="en-US" dirty="0">
                          <a:effectLst/>
                        </a:rPr>
                        <a:t>-bolder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font-weight of an element to </a:t>
                      </a:r>
                      <a:r>
                        <a:rPr lang="en-US" b="1">
                          <a:effectLst/>
                        </a:rPr>
                        <a:t>bolder</a:t>
                      </a:r>
                      <a:r>
                        <a:rPr lang="en-US">
                          <a:effectLst/>
                        </a:rPr>
                        <a:t> (relative to the parent).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fw</a:t>
                      </a:r>
                      <a:r>
                        <a:rPr lang="en-US" dirty="0">
                          <a:effectLst/>
                        </a:rPr>
                        <a:t>-normal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font-weight of an element to </a:t>
                      </a:r>
                      <a:r>
                        <a:rPr lang="en-US" b="0">
                          <a:effectLst/>
                        </a:rPr>
                        <a:t>normal</a:t>
                      </a:r>
                      <a:r>
                        <a:rPr lang="en-US">
                          <a:effectLst/>
                        </a:rPr>
                        <a:t>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.fw-light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 </a:t>
                      </a:r>
                      <a:r>
                        <a:rPr lang="en-US" b="0">
                          <a:effectLst/>
                        </a:rPr>
                        <a:t>light</a:t>
                      </a:r>
                      <a:r>
                        <a:rPr lang="en-US">
                          <a:effectLst/>
                        </a:rPr>
                        <a:t> font-weight for an element.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.fw-lighter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 </a:t>
                      </a:r>
                      <a:r>
                        <a:rPr lang="en-US" b="0">
                          <a:effectLst/>
                        </a:rPr>
                        <a:t>lighter</a:t>
                      </a:r>
                      <a:r>
                        <a:rPr lang="en-US">
                          <a:effectLst/>
                        </a:rPr>
                        <a:t> font-weight for an element (relative to the parent).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2356437649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.fst-italic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font-style of an element to </a:t>
                      </a:r>
                      <a:r>
                        <a:rPr lang="en-US" i="1">
                          <a:effectLst/>
                        </a:rPr>
                        <a:t>italic</a:t>
                      </a:r>
                      <a:r>
                        <a:rPr lang="en-US">
                          <a:effectLst/>
                        </a:rPr>
                        <a:t>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3797071425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fst</a:t>
                      </a:r>
                      <a:r>
                        <a:rPr lang="en-US" dirty="0">
                          <a:effectLst/>
                        </a:rPr>
                        <a:t>-normal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font-style of an element to normal.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2093545994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.font-</a:t>
                      </a:r>
                      <a:r>
                        <a:rPr lang="en-US" dirty="0" err="1">
                          <a:effectLst/>
                        </a:rPr>
                        <a:t>monospace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font-family of an element to monospace font (fixed-width)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260884724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.text-reset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Reset the color of a text or link (inherits the color from its parent).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3493186379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.text-decoration-none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Remove the text decoration such as underline from a text.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400360890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.text-decoration-underline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Add underline to text.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1133053023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.text-decoration-line-through</a:t>
                      </a: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Add line through the middle of text.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4004120714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fs-1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36576" marB="365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Set the font-</a:t>
                      </a:r>
                      <a:r>
                        <a:rPr lang="en-IN" dirty="0"/>
                        <a:t>size</a:t>
                      </a:r>
                      <a:r>
                        <a:rPr lang="en-US" dirty="0">
                          <a:effectLst/>
                        </a:rPr>
                        <a:t> of an element to </a:t>
                      </a:r>
                      <a:r>
                        <a:rPr lang="en-US" b="0" dirty="0">
                          <a:effectLst/>
                        </a:rPr>
                        <a:t>predefine size (we have 1 to 6 predefine sizes)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95250" marR="95250" marT="36576" marB="36576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04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9F9DF-688E-AC42-12FF-BA2FB0E1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DE48-0542-6F00-3BCB-5CDA46C60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Border Utility Classes (1/2)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CACC0DF4-37B5-6C09-8D52-83D735A6D1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9793410"/>
              </p:ext>
            </p:extLst>
          </p:nvPr>
        </p:nvGraphicFramePr>
        <p:xfrm>
          <a:off x="131763" y="863600"/>
          <a:ext cx="11555932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455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8279477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251916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Add a border on all sides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.border-top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Add a border on the top side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.border-end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Add a border on the right side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.border-bottom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Add a border on the bottom side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.border-start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Add a border on the left side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2356437649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.border-primary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Change the border-color of an element to blue (</a:t>
                      </a:r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#007bff</a:t>
                      </a:r>
                      <a:r>
                        <a:rPr lang="en-US">
                          <a:effectLst/>
                        </a:rPr>
                        <a:t>).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3797071425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.border-secondary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Change the border-color of an element to grey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#6c757d</a:t>
                      </a:r>
                      <a:r>
                        <a:rPr lang="en-US" dirty="0">
                          <a:effectLst/>
                        </a:rPr>
                        <a:t>).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2093545994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.border-success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Change the border-color of an element to green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#28a745</a:t>
                      </a:r>
                      <a:r>
                        <a:rPr lang="en-US" dirty="0">
                          <a:effectLst/>
                        </a:rPr>
                        <a:t>).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260884724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.border-danger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Change the border-color of an element to red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#dc3545</a:t>
                      </a:r>
                      <a:r>
                        <a:rPr lang="en-US" dirty="0">
                          <a:effectLst/>
                        </a:rPr>
                        <a:t>).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3493186379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.border-warning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Change the border-color of an element to yellow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#ffc107</a:t>
                      </a:r>
                      <a:r>
                        <a:rPr lang="en-US" dirty="0">
                          <a:effectLst/>
                        </a:rPr>
                        <a:t>).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400360890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.border-info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Change the border-color of an element to teal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#17a2b8</a:t>
                      </a:r>
                      <a:r>
                        <a:rPr lang="en-US" dirty="0">
                          <a:effectLst/>
                        </a:rPr>
                        <a:t>).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1133053023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.border-light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Change the border-color of an element to very light grey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#f8f9fa</a:t>
                      </a:r>
                      <a:r>
                        <a:rPr lang="en-US" dirty="0">
                          <a:effectLst/>
                        </a:rPr>
                        <a:t>).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4004120714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.border-dark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Change the border-color of an element to dark grey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#343a40</a:t>
                      </a:r>
                      <a:r>
                        <a:rPr lang="en-US" dirty="0">
                          <a:effectLst/>
                        </a:rPr>
                        <a:t>).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1744103759"/>
                  </a:ext>
                </a:extLst>
              </a:tr>
              <a:tr h="25191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.border-white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Change the border-color of an element to white (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#</a:t>
                      </a:r>
                      <a:r>
                        <a:rPr lang="en-US" dirty="0" err="1">
                          <a:effectLst/>
                          <a:latin typeface="Courier New" panose="02070309020205020404" pitchFamily="49" charset="0"/>
                        </a:rPr>
                        <a:t>fff</a:t>
                      </a:r>
                      <a:r>
                        <a:rPr lang="en-US" dirty="0">
                          <a:effectLst/>
                        </a:rPr>
                        <a:t>).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735502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92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E17E-651A-BCF2-8F42-EB28C4F69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2E490-DB2F-57B0-2BD3-ED408120C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Border Utility Classes (2/2)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2444969-079A-8C21-BC19-B3A3C5CC3A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3613370"/>
              </p:ext>
            </p:extLst>
          </p:nvPr>
        </p:nvGraphicFramePr>
        <p:xfrm>
          <a:off x="131763" y="863600"/>
          <a:ext cx="9777347" cy="5619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173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7005174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.border-0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Remove the border from all sides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.border-top-0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Remove the border from top side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.border-end-0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Remove the border from right side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.border-bottom-0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Remove the border from bottom side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.border-start-0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Remove the border from left side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2356437649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</a:t>
                      </a:r>
                      <a:r>
                        <a:rPr lang="en-I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border-1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border-width (We have value 1 to 5)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.rounded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Round all corners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379707142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.rounded-top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Round top-left and top-right corners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209354599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.rounded-end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Round top-right and bottom-right corners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26088472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.rounded-bottom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Round bottom-left and bottom-right corners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3493186379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.rounded-start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Round top-left and bottom-left corners of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4003608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.rounded-circle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Round an element into circle shape.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1133053023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.rounded-pill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Round an element into pill shape.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400412071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.rounded-0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Remove round corners from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1744103759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.rounded-1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border-radius of 0.2rem for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735502958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.rounded-2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border-radius of 0.25rem for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1595521775"/>
                  </a:ext>
                </a:extLst>
              </a:tr>
              <a:tr h="322804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.rounded-3</a:t>
                      </a:r>
                    </a:p>
                  </a:txBody>
                  <a:tcPr marL="95250" marR="95250" marT="18288" marB="182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border-radius of 0.3rem for an element.</a:t>
                      </a:r>
                    </a:p>
                  </a:txBody>
                  <a:tcPr marL="95250" marR="95250" marT="18288" marB="18288"/>
                </a:tc>
                <a:extLst>
                  <a:ext uri="{0D108BD9-81ED-4DB2-BD59-A6C34878D82A}">
                    <a16:rowId xmlns:a16="http://schemas.microsoft.com/office/drawing/2014/main" val="369073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60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B86E-C6AD-8C1A-A500-11536B9C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16E2-38C0-3893-122B-CAE67BCAF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Spacing Utility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D5A4A-DC0A-B728-211F-774BE486D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43158"/>
            <a:ext cx="11929641" cy="5912204"/>
          </a:xfrm>
        </p:spPr>
        <p:txBody>
          <a:bodyPr/>
          <a:lstStyle/>
          <a:p>
            <a:r>
              <a:rPr lang="en-US" dirty="0"/>
              <a:t>The classes are named using the format {property}{sides}-{breakpoint}-{size}.</a:t>
            </a:r>
          </a:p>
          <a:p>
            <a:r>
              <a:rPr lang="en-US" dirty="0"/>
              <a:t>Property is one of:</a:t>
            </a:r>
          </a:p>
          <a:p>
            <a:pPr lvl="1"/>
            <a:r>
              <a:rPr lang="en-US" sz="2200" dirty="0"/>
              <a:t>m – for classes that sets margin</a:t>
            </a:r>
          </a:p>
          <a:p>
            <a:pPr lvl="1"/>
            <a:r>
              <a:rPr lang="en-US" sz="2200" dirty="0"/>
              <a:t>p – for classes that sets padding</a:t>
            </a:r>
          </a:p>
          <a:p>
            <a:r>
              <a:rPr lang="en-US" dirty="0"/>
              <a:t>Sides is one of:</a:t>
            </a:r>
          </a:p>
          <a:p>
            <a:pPr lvl="1"/>
            <a:r>
              <a:rPr lang="en-US" sz="2200" dirty="0"/>
              <a:t>t – for classes that set margin-top or padding-top</a:t>
            </a:r>
          </a:p>
          <a:p>
            <a:pPr lvl="1"/>
            <a:r>
              <a:rPr lang="en-US" sz="2200" dirty="0"/>
              <a:t>b – for classes that set margin-bottom or padding-bottom</a:t>
            </a:r>
          </a:p>
          <a:p>
            <a:pPr lvl="1"/>
            <a:r>
              <a:rPr lang="en-US" sz="2200" dirty="0"/>
              <a:t>s – (start) for classes that set margin-left or padding-left</a:t>
            </a:r>
          </a:p>
          <a:p>
            <a:pPr lvl="1"/>
            <a:r>
              <a:rPr lang="en-US" sz="2200" dirty="0"/>
              <a:t>e – (end) for classes that set margin-right or padding-right</a:t>
            </a:r>
          </a:p>
          <a:p>
            <a:pPr lvl="1"/>
            <a:r>
              <a:rPr lang="en-US" sz="2200" dirty="0"/>
              <a:t>x – for classes that set both *-left and *-right</a:t>
            </a:r>
          </a:p>
          <a:p>
            <a:pPr lvl="1"/>
            <a:r>
              <a:rPr lang="en-US" sz="2200" dirty="0"/>
              <a:t>y – for classes that set both *-top and *-bottom</a:t>
            </a:r>
          </a:p>
          <a:p>
            <a:pPr lvl="1"/>
            <a:r>
              <a:rPr lang="en-US" sz="2200" dirty="0"/>
              <a:t>blank – for  classes that set a margin or padding on all side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50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BE6DB-C6CA-F07F-C49F-5B9EA554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F8B0-108E-30FD-5859-4DDF1489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Spacing Utility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09D2D-D520-FD5B-D1CA-C7F173D87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19832"/>
            <a:ext cx="11929641" cy="5912204"/>
          </a:xfrm>
        </p:spPr>
        <p:txBody>
          <a:bodyPr/>
          <a:lstStyle/>
          <a:p>
            <a:pPr>
              <a:buClr>
                <a:srgbClr val="B84D3D"/>
              </a:buClr>
            </a:pPr>
            <a:r>
              <a:rPr lang="en-US" dirty="0"/>
              <a:t>Size is one of: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0 – set the margin or padding to be 0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1 – set the margin or padding to be spacer*0.25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2 – set the margin or padding to be spacer*0.50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3 – set the margin or padding to be spacer*1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4 – set the margin or padding to be spacer*1.5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5 – set the margin or padding to be spacer*3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auto - for classes that set the margin to auto</a:t>
            </a:r>
          </a:p>
          <a:p>
            <a:pPr lvl="1">
              <a:buClr>
                <a:srgbClr val="B84D3D"/>
              </a:buClr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49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1AAFC-D357-790B-CF89-36060719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9210423-B6C2-06DB-F510-5B67E219B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Spacing Utility Classes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22F96492-EC09-E9C2-8431-F8EFB9B918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0576483"/>
              </p:ext>
            </p:extLst>
          </p:nvPr>
        </p:nvGraphicFramePr>
        <p:xfrm>
          <a:off x="330113" y="1070659"/>
          <a:ext cx="7964801" cy="4857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470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6788331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76607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.m-#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margin to all the sides.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243174254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mt</a:t>
                      </a:r>
                      <a:r>
                        <a:rPr lang="en-US" dirty="0">
                          <a:effectLst/>
                        </a:rPr>
                        <a:t>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top margin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.mb-#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bottom margin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.ms-#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left margin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.me-#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right margin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.mx-#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left and right margin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2356437649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.my-#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top and bottom margin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3797071425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.p-#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padding to all the sides.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1356034630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pt</a:t>
                      </a:r>
                      <a:r>
                        <a:rPr lang="en-US" dirty="0">
                          <a:effectLst/>
                        </a:rPr>
                        <a:t>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top padding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2093545994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.pb-#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bottom padding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260884724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.ps-#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left padding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3493186379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.pe-#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right padding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400360890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.px-#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left and right padding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1133053023"/>
                  </a:ext>
                </a:extLst>
              </a:tr>
              <a:tr h="32004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.py-#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top and bottom padding of an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4004120714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C2BF1F-E45E-2C5E-EAE6-EAE9F3222F3C}"/>
              </a:ext>
            </a:extLst>
          </p:cNvPr>
          <p:cNvSpPr txBox="1">
            <a:spLocks/>
          </p:cNvSpPr>
          <p:nvPr/>
        </p:nvSpPr>
        <p:spPr>
          <a:xfrm>
            <a:off x="5255178" y="5226308"/>
            <a:ext cx="5871036" cy="14030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09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9E3EC-8125-90FA-645D-DAF244DB2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74EB-C264-ECB6-A275-9EC59AEA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Float Utility Classes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FEF4F4B3-EB70-09C8-46B4-917BC2F24B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9992051"/>
              </p:ext>
            </p:extLst>
          </p:nvPr>
        </p:nvGraphicFramePr>
        <p:xfrm>
          <a:off x="131763" y="863600"/>
          <a:ext cx="11555932" cy="3309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455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8279477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.float-start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Float an element to the left.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.float-end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Float an element to the right.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.float-none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Disable floating from an element.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</a:t>
                      </a:r>
                      <a:r>
                        <a:rPr lang="en-US" dirty="0" err="1">
                          <a:effectLst/>
                        </a:rPr>
                        <a:t>clearfix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Clear floats to prevent parent element from collapsing.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.float-{breakpoint}-start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Float an element to the left on based on the viewport size.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2356437649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.float-{breakpoint}-end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Float an element to the right on based on the viewport size.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379707142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.float-{breakpoint}-none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Disable floating from an element on based on the viewport size.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2093545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7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7C22E-35B6-E114-D2E8-BDB352EC8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61C3-3001-DFD4-A037-71DB439BC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Shadow Utility Classes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FB3736B9-B4B1-D21D-D54D-3E15D20D3E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9174535"/>
              </p:ext>
            </p:extLst>
          </p:nvPr>
        </p:nvGraphicFramePr>
        <p:xfrm>
          <a:off x="131763" y="863600"/>
          <a:ext cx="11555932" cy="2029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455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8279477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.shadow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Add a shadow to an element.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.shadow-sm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Add a small shadow to an element.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.shadow-lg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Add a larger shadow to an element.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.shadow-none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Remove shadow from an element.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90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52FDC-B6E8-6DE6-6C29-77B11E9D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DEB04-DB02-47DA-49BC-78BB58330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Sizing Utility Classes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80B1E7A0-CB55-4EEC-4AFE-58187F8270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2596600"/>
              </p:ext>
            </p:extLst>
          </p:nvPr>
        </p:nvGraphicFramePr>
        <p:xfrm>
          <a:off x="131761" y="863600"/>
          <a:ext cx="11965164" cy="4711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015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10298149">
                  <a:extLst>
                    <a:ext uri="{9D8B030D-6E8A-4147-A177-3AD203B41FA5}">
                      <a16:colId xmlns:a16="http://schemas.microsoft.com/office/drawing/2014/main" val="2410393870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.w-25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width of an element to 25% of its parent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427042419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.w-50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width of an element to 50% of its parent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4126756369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.w-75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width of an element to 75% of its parent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34878905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.w-100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width of an element to 100% of its parent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556702278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.w-auto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width of an element to auto, i.e. the browser will calculate and select a width for the specified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850120237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.mw-100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max-width of an element to 100%.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203546975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.h-25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height of an element to 25% of its parent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99531070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.h-50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height of an element to 50% of its parent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3160834883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.h-75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height of an element to 75% of its parent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3248637277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.h-100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height of an element to 100% of its parent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16737669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.h-auto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height of an element to auto, i.e. the browser will calculate and select a height for the specified element.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384142618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.mh-100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max-height of an element to 100%.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34778172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.vw-100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width of an element to 100% of the width of the viewport.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1362856179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.min-vw-100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min-width of an element to 100% of the width of the viewport.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4281635027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.vh-100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height of an element to 100% of the height of the viewport.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2205075532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.min-vh-100</a:t>
                      </a: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min-height of an element to 100% of the height of the viewport.</a:t>
                      </a: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2775482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75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49C46-127C-46A4-725B-E193F99D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4884-7AE2-8F09-888F-3841B4D7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Vertical Alignment Utility Classes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35A0B68F-2620-7D50-3BF4-BECA8F946B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7675464"/>
              </p:ext>
            </p:extLst>
          </p:nvPr>
        </p:nvGraphicFramePr>
        <p:xfrm>
          <a:off x="131763" y="863600"/>
          <a:ext cx="11555932" cy="2883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455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8279477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.align-baseline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Align the baseline of the element with the baseline of its parent.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.align-top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Align the top of the element with the top of the entire line.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.align-middle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Align the element in the middle of the parent element.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.align-bottom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Align the bottom of the element with the bottom of the entire line.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.align-text-top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Align the top of the element with the top of the parent element's font.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25520974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.align-text-bottom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Align the bottom of the element with the bottom of the parent element's font.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3792430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6F8C-1C95-6A33-DFDB-0A830E2A2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93F63-BA32-DF09-B9C2-6806944CC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Position Utility Classes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56A214CC-E6E9-79EC-9F81-1F68E1944D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0936587"/>
              </p:ext>
            </p:extLst>
          </p:nvPr>
        </p:nvGraphicFramePr>
        <p:xfrm>
          <a:off x="131763" y="863600"/>
          <a:ext cx="11555932" cy="4010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455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8279477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.position-static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position of element to static.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.position-relative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position of element to relative.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.position-absolute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position of element to absolute.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.position-fixed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position of element to fixed.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.position-sticky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Set the position of element to sticky.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25520974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.fixed-top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Position an element at the top of the viewport, from edge to edge.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3792430117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.fixed-bottom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Position an element at the bottom of the viewport, from edge to edge.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5307402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.sticky-top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Position an element at the top of the viewport, from edge to edge, but that will only happen after you scroll past it.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3337374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63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3C2A-231A-7075-F776-41C6C0507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2716-7701-0182-D892-3F72F2B7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Display Utility Classes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2C004F01-37F4-1361-1FE5-A780D2F0F4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8552109"/>
              </p:ext>
            </p:extLst>
          </p:nvPr>
        </p:nvGraphicFramePr>
        <p:xfrm>
          <a:off x="131763" y="863600"/>
          <a:ext cx="11555932" cy="443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455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8279477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{breakpoint}</a:t>
                      </a:r>
                      <a:r>
                        <a:rPr lang="en-US" dirty="0">
                          <a:effectLst/>
                        </a:rPr>
                        <a:t>-none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Hide an element. It does not take up any space in the layout.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{breakpoint}</a:t>
                      </a:r>
                      <a:r>
                        <a:rPr lang="en-US" dirty="0">
                          <a:effectLst/>
                        </a:rPr>
                        <a:t>-inline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Force an element to generate an inline-level box.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{breakpoint}</a:t>
                      </a:r>
                      <a:r>
                        <a:rPr lang="en-US" dirty="0">
                          <a:effectLst/>
                        </a:rPr>
                        <a:t>-inline-block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Force an element to generate a block box that will be flowed with surrounding content i.e. in the same line as adjacent content like inline box.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210406847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{breakpoint}</a:t>
                      </a:r>
                      <a:r>
                        <a:rPr lang="en-US" dirty="0">
                          <a:effectLst/>
                        </a:rPr>
                        <a:t>-block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Force an element to generate a block-level box.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58286974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{breakpoint}</a:t>
                      </a:r>
                      <a:r>
                        <a:rPr lang="en-US" dirty="0">
                          <a:effectLst/>
                        </a:rPr>
                        <a:t>-table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Force an element to behave like a </a:t>
                      </a:r>
                      <a:r>
                        <a:rPr lang="en-US" u="none" strike="noStrike" dirty="0">
                          <a:solidFill>
                            <a:srgbClr val="1DB79F"/>
                          </a:solidFill>
                          <a:effectLst/>
                        </a:rPr>
                        <a:t>&lt;table&gt;</a:t>
                      </a:r>
                      <a:r>
                        <a:rPr lang="en-US" dirty="0">
                          <a:effectLst/>
                        </a:rPr>
                        <a:t> element.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25520974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{breakpoint}</a:t>
                      </a:r>
                      <a:r>
                        <a:rPr lang="en-US" dirty="0">
                          <a:effectLst/>
                        </a:rPr>
                        <a:t>-table-row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Force an element to behave like a </a:t>
                      </a:r>
                      <a:r>
                        <a:rPr lang="en-US" u="none" strike="noStrike" dirty="0">
                          <a:solidFill>
                            <a:srgbClr val="1DB79F"/>
                          </a:solidFill>
                          <a:effectLst/>
                        </a:rPr>
                        <a:t>&lt;</a:t>
                      </a:r>
                      <a:r>
                        <a:rPr lang="en-US" u="none" strike="noStrike" dirty="0" err="1">
                          <a:solidFill>
                            <a:srgbClr val="1DB79F"/>
                          </a:solidFill>
                          <a:effectLst/>
                        </a:rPr>
                        <a:t>tr</a:t>
                      </a:r>
                      <a:r>
                        <a:rPr lang="en-US" u="none" strike="noStrike" dirty="0">
                          <a:solidFill>
                            <a:srgbClr val="1DB79F"/>
                          </a:solidFill>
                          <a:effectLst/>
                        </a:rPr>
                        <a:t>&gt;</a:t>
                      </a:r>
                      <a:r>
                        <a:rPr lang="en-US" dirty="0">
                          <a:effectLst/>
                        </a:rPr>
                        <a:t> element.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3792430117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{breakpoint}</a:t>
                      </a:r>
                      <a:r>
                        <a:rPr lang="en-US" dirty="0">
                          <a:effectLst/>
                        </a:rPr>
                        <a:t>-table-cell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Force an element to behave like a </a:t>
                      </a:r>
                      <a:r>
                        <a:rPr lang="en-US" u="none" strike="noStrike" dirty="0">
                          <a:solidFill>
                            <a:srgbClr val="1DB79F"/>
                          </a:solidFill>
                          <a:effectLst/>
                        </a:rPr>
                        <a:t>&lt;td&gt;</a:t>
                      </a:r>
                      <a:r>
                        <a:rPr lang="en-US" dirty="0">
                          <a:effectLst/>
                        </a:rPr>
                        <a:t> element.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5307402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{breakpoint}</a:t>
                      </a:r>
                      <a:r>
                        <a:rPr lang="en-US" dirty="0">
                          <a:effectLst/>
                        </a:rPr>
                        <a:t>-flex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Force an element to generate a block-level </a:t>
                      </a:r>
                      <a:r>
                        <a:rPr lang="en-US" u="none" strike="noStrike" dirty="0">
                          <a:solidFill>
                            <a:srgbClr val="1DB79F"/>
                          </a:solidFill>
                          <a:effectLst/>
                        </a:rPr>
                        <a:t>flex container box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333737472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{breakpoint}</a:t>
                      </a:r>
                      <a:r>
                        <a:rPr lang="en-US" dirty="0">
                          <a:effectLst/>
                        </a:rPr>
                        <a:t>-inline-flex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Force an element to generate an inline-level flex container box.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797380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34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D80B-E8D1-0810-8D7E-F083ECF72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2ACD-C5CB-C807-1215-109A00920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Flex </a:t>
            </a:r>
            <a:r>
              <a:rPr lang="en-US" dirty="0"/>
              <a:t>Utility Classes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1B4FE-B80C-BA80-1EB0-451522F56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Apply display utilities to create a </a:t>
            </a:r>
            <a:r>
              <a:rPr lang="en-US" dirty="0" err="1"/>
              <a:t>flexbox</a:t>
            </a:r>
            <a:r>
              <a:rPr lang="en-US" dirty="0"/>
              <a:t> container and transform direct children elements into flex items. </a:t>
            </a:r>
          </a:p>
          <a:p>
            <a:r>
              <a:rPr lang="en-US" dirty="0"/>
              <a:t>Flex containers and items are able to be modified further with additional flex properties Like </a:t>
            </a:r>
            <a:r>
              <a:rPr lang="en-IN" dirty="0"/>
              <a:t>Direction, Justify content, Align items, Align self, Fill, Grow and shrink, With align-items, Wrap, Order and Align content.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9E4598-A2F7-A03C-F1B3-E06DB8311E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456744"/>
              </p:ext>
            </p:extLst>
          </p:nvPr>
        </p:nvGraphicFramePr>
        <p:xfrm>
          <a:off x="495657" y="2792209"/>
          <a:ext cx="9954629" cy="3736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437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7132192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.d-flex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Flax box container occupy parents width.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.d-inline-flex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Flax box container occupy content width.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{breakpoint}</a:t>
                      </a:r>
                      <a:r>
                        <a:rPr lang="en-US" dirty="0">
                          <a:effectLst/>
                        </a:rPr>
                        <a:t>-flex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Flax box container occupy parents width based on the viewport size.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.d-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{breakpoint}</a:t>
                      </a:r>
                      <a:r>
                        <a:rPr lang="en-US" dirty="0">
                          <a:effectLst/>
                        </a:rPr>
                        <a:t>-inline-flex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Flax box container occupy content width based on the viewport size.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.flex-row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Set a horizontal direction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.flex-row-reverse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start the horizontal direction from the opposite side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.flex-column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set a vertical direction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.flex-column-reverse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start the vertical direction from the opposite side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15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368A-2469-77AC-5CE2-DCB90353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C59B-46F3-8A59-350B-F778E5B3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Interactions </a:t>
            </a:r>
            <a:r>
              <a:rPr lang="en-US" dirty="0"/>
              <a:t>Utility Classes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66B1E-4D1A-297A-72AB-B6BC72C77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Utility classes that change how users interact with contents of a website.</a:t>
            </a:r>
          </a:p>
          <a:p>
            <a:pPr lvl="1"/>
            <a:r>
              <a:rPr lang="en-US" sz="2200" dirty="0"/>
              <a:t>Text selection</a:t>
            </a:r>
          </a:p>
          <a:p>
            <a:pPr lvl="2"/>
            <a:r>
              <a:rPr lang="en-US" sz="2000" dirty="0"/>
              <a:t>Change the way in which the content is selected when the user interacts with it.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sz="2200" dirty="0"/>
              <a:t>Pointer events</a:t>
            </a:r>
          </a:p>
          <a:p>
            <a:pPr lvl="2"/>
            <a:r>
              <a:rPr lang="en-US" sz="2000" dirty="0"/>
              <a:t>Bootstrap provides .</a:t>
            </a:r>
            <a:r>
              <a:rPr lang="en-US" sz="2000" dirty="0" err="1"/>
              <a:t>pe</a:t>
            </a:r>
            <a:r>
              <a:rPr lang="en-US" sz="2000" dirty="0"/>
              <a:t>-none and .</a:t>
            </a:r>
            <a:r>
              <a:rPr lang="en-US" sz="2000" dirty="0" err="1"/>
              <a:t>pe</a:t>
            </a:r>
            <a:r>
              <a:rPr lang="en-US" sz="2000" dirty="0"/>
              <a:t>-auto classes to prevent or add element interactions respectively.</a:t>
            </a:r>
          </a:p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4838F6-0E03-BA3A-7A55-61EB3B7C6C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6691948"/>
              </p:ext>
            </p:extLst>
          </p:nvPr>
        </p:nvGraphicFramePr>
        <p:xfrm>
          <a:off x="1042192" y="2055762"/>
          <a:ext cx="9221481" cy="1602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567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6606914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.user-select-all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Entire</a:t>
                      </a:r>
                      <a:r>
                        <a:rPr lang="en-US" baseline="0" dirty="0">
                          <a:effectLst/>
                        </a:rPr>
                        <a:t> text</a:t>
                      </a:r>
                      <a:r>
                        <a:rPr lang="en-US" dirty="0">
                          <a:effectLst/>
                        </a:rPr>
                        <a:t> selected when clicked by the user.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.user-select-auto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Entire</a:t>
                      </a:r>
                      <a:r>
                        <a:rPr lang="en-US" baseline="0" dirty="0">
                          <a:effectLst/>
                        </a:rPr>
                        <a:t> text</a:t>
                      </a:r>
                      <a:r>
                        <a:rPr lang="en-US" dirty="0">
                          <a:effectLst/>
                        </a:rPr>
                        <a:t> has default select behavior.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.user-select-none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Text will not be selectable when clicked by the user.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9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E7905-1AF2-B7BB-6014-58645F694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5CA2-8A99-3C91-408A-CD66BC846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Opacity </a:t>
            </a:r>
            <a:r>
              <a:rPr lang="en-US" dirty="0"/>
              <a:t>Utility Classes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5AE56-E79B-9127-0940-E3F3EEF5A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opacity property sets the opacity level for an element. </a:t>
            </a:r>
          </a:p>
          <a:p>
            <a:r>
              <a:rPr lang="en-US" dirty="0"/>
              <a:t>The opacity level describes the transparency level, where 1 is not transparent at all, .5 is 50% visible, and 0 is completely transparent.</a:t>
            </a:r>
          </a:p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4BA670-9603-D663-94FA-A39D747552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1254629"/>
              </p:ext>
            </p:extLst>
          </p:nvPr>
        </p:nvGraphicFramePr>
        <p:xfrm>
          <a:off x="514318" y="2303842"/>
          <a:ext cx="8564368" cy="245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56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6136112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.opacity-100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opacity of an element to 1.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.opacity-75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opacity of an element to 0.75.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.opacity-50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opacity of an element to 0.5.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.opacity-25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opacity of an element to 0.25.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.opacity-0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Set the opacity of an element to 0.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32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0D1DD-BB06-84A1-3B13-D1B97D72C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C4B42-F810-3A66-3B7F-5A5E67A23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Overflow </a:t>
            </a:r>
            <a:r>
              <a:rPr lang="en-US" dirty="0"/>
              <a:t>Utility Classes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C5E40-AE77-D905-58C2-06D639849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Adjust the overflow property on the fly with four default values and classes. </a:t>
            </a:r>
          </a:p>
          <a:p>
            <a:r>
              <a:rPr lang="en-US" dirty="0"/>
              <a:t>These classes are not responsive by default.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4C71DD-A7D1-5DCF-8541-C62AA9E8E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0624850"/>
              </p:ext>
            </p:extLst>
          </p:nvPr>
        </p:nvGraphicFramePr>
        <p:xfrm>
          <a:off x="514318" y="1958610"/>
          <a:ext cx="10953004" cy="2029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506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7847498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.overflow-auto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Automatically</a:t>
                      </a:r>
                      <a:r>
                        <a:rPr lang="en-US" baseline="0" dirty="0">
                          <a:effectLst/>
                        </a:rPr>
                        <a:t> gives vertical scrollbar if content overflow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.overflow-hidden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Automatically</a:t>
                      </a:r>
                      <a:r>
                        <a:rPr lang="en-US" baseline="0" dirty="0">
                          <a:effectLst/>
                        </a:rPr>
                        <a:t> hide overflow content if content overflow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.overflow-visible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aseline="0" dirty="0">
                          <a:effectLst/>
                        </a:rPr>
                        <a:t>Shows overflow content though it is outside of container if content overflow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 overflow-scroll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Automatically</a:t>
                      </a:r>
                      <a:r>
                        <a:rPr lang="en-US" baseline="0" dirty="0">
                          <a:effectLst/>
                        </a:rPr>
                        <a:t> gives horizontal and vertical scrollbars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80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D4DD7-C195-CBFB-80A6-DA81F5644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27F0-2BB0-9BF1-D12D-E73AC12D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Visibility </a:t>
            </a:r>
            <a:r>
              <a:rPr lang="en-US" dirty="0"/>
              <a:t>Utility Classes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2AB19-2DF2-EA66-8677-FB79C68BD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It control the visibility of elements, without modifying their display.</a:t>
            </a:r>
          </a:p>
          <a:p>
            <a:r>
              <a:rPr lang="en-US" dirty="0"/>
              <a:t>These utility classes do not modify the display value at all and do not affect layout. E.g. .invisible elements still take up space in the page.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CAD66A-77BE-99EA-8968-2DDA1421B2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682464"/>
              </p:ext>
            </p:extLst>
          </p:nvPr>
        </p:nvGraphicFramePr>
        <p:xfrm>
          <a:off x="532980" y="2373034"/>
          <a:ext cx="9842661" cy="1176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691">
                  <a:extLst>
                    <a:ext uri="{9D8B030D-6E8A-4147-A177-3AD203B41FA5}">
                      <a16:colId xmlns:a16="http://schemas.microsoft.com/office/drawing/2014/main" val="1425683094"/>
                    </a:ext>
                  </a:extLst>
                </a:gridCol>
                <a:gridCol w="7051970">
                  <a:extLst>
                    <a:ext uri="{9D8B030D-6E8A-4147-A177-3AD203B41FA5}">
                      <a16:colId xmlns:a16="http://schemas.microsoft.com/office/drawing/2014/main" val="1407229535"/>
                    </a:ext>
                  </a:extLst>
                </a:gridCol>
              </a:tblGrid>
              <a:tr h="3228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</a:p>
                  </a:txBody>
                  <a:tcPr marR="9525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R="95250" marT="0" marB="0"/>
                </a:tc>
                <a:extLst>
                  <a:ext uri="{0D108BD9-81ED-4DB2-BD59-A6C34878D82A}">
                    <a16:rowId xmlns:a16="http://schemas.microsoft.com/office/drawing/2014/main" val="268911295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.visible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Unhide an element, and take up its space in the layout.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702915190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.invisible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Hide an element, but it take up its space in the layout.</a:t>
                      </a: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1127043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94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7207-7682-28AE-2401-246150E9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D763-FC5E-BDBE-117A-2D6073A6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8E0A0-2932-A3F9-11EB-985B9D3F3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- 10</a:t>
            </a:r>
          </a:p>
        </p:txBody>
      </p:sp>
    </p:spTree>
    <p:extLst>
      <p:ext uri="{BB962C8B-B14F-4D97-AF65-F5344CB8AC3E}">
        <p14:creationId xmlns:p14="http://schemas.microsoft.com/office/powerpoint/2010/main" val="14578854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6E25-221F-4155-C4E2-D36B2756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29D1-93B5-E4A1-C5A3-A042957C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C1F2D-8BE6-11B2-A200-BFC0A77F7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Bootstrap comes with lots of ready components, in this section we will explore those components.</a:t>
            </a:r>
          </a:p>
          <a:p>
            <a:r>
              <a:rPr lang="en-US" dirty="0"/>
              <a:t>Here is the list of components from bootstrap 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E29C63-B427-3290-8D44-0FF535CB916E}"/>
              </a:ext>
            </a:extLst>
          </p:cNvPr>
          <p:cNvSpPr txBox="1">
            <a:spLocks/>
          </p:cNvSpPr>
          <p:nvPr/>
        </p:nvSpPr>
        <p:spPr>
          <a:xfrm>
            <a:off x="349135" y="2128518"/>
            <a:ext cx="3535706" cy="43254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/>
              <a:t>Accordion</a:t>
            </a:r>
          </a:p>
          <a:p>
            <a:pPr lvl="1"/>
            <a:r>
              <a:rPr lang="en-US" sz="2200" dirty="0"/>
              <a:t>Alerts</a:t>
            </a:r>
          </a:p>
          <a:p>
            <a:pPr lvl="1"/>
            <a:r>
              <a:rPr lang="en-US" sz="2200" dirty="0"/>
              <a:t>Badge</a:t>
            </a:r>
          </a:p>
          <a:p>
            <a:pPr lvl="1"/>
            <a:r>
              <a:rPr lang="en-US" sz="2200" dirty="0"/>
              <a:t>Breadcrumb</a:t>
            </a:r>
          </a:p>
          <a:p>
            <a:pPr lvl="1"/>
            <a:r>
              <a:rPr lang="en-US" sz="2200" dirty="0"/>
              <a:t>Buttons</a:t>
            </a:r>
          </a:p>
          <a:p>
            <a:pPr lvl="1"/>
            <a:r>
              <a:rPr lang="en-US" sz="2200" dirty="0"/>
              <a:t>Button Group</a:t>
            </a:r>
          </a:p>
          <a:p>
            <a:pPr lvl="1"/>
            <a:r>
              <a:rPr lang="en-US" sz="2200" dirty="0"/>
              <a:t>Card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7A0016-20A5-7286-77C3-EDD469F197B5}"/>
              </a:ext>
            </a:extLst>
          </p:cNvPr>
          <p:cNvSpPr txBox="1">
            <a:spLocks/>
          </p:cNvSpPr>
          <p:nvPr/>
        </p:nvSpPr>
        <p:spPr>
          <a:xfrm>
            <a:off x="3884841" y="2128516"/>
            <a:ext cx="3535706" cy="43254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/>
              <a:t>Carousel</a:t>
            </a:r>
          </a:p>
          <a:p>
            <a:pPr lvl="1"/>
            <a:r>
              <a:rPr lang="en-US" sz="2200" dirty="0"/>
              <a:t>Dropdowns</a:t>
            </a:r>
          </a:p>
          <a:p>
            <a:pPr lvl="1"/>
            <a:r>
              <a:rPr lang="en-US" sz="2200" dirty="0"/>
              <a:t>List group</a:t>
            </a:r>
          </a:p>
          <a:p>
            <a:pPr lvl="1"/>
            <a:r>
              <a:rPr lang="en-US" sz="2200" dirty="0"/>
              <a:t>Modal</a:t>
            </a:r>
          </a:p>
          <a:p>
            <a:pPr lvl="1"/>
            <a:r>
              <a:rPr lang="en-US" sz="2200" dirty="0" err="1"/>
              <a:t>Nav</a:t>
            </a:r>
            <a:r>
              <a:rPr lang="en-US" sz="2200" dirty="0"/>
              <a:t>, tabs and </a:t>
            </a:r>
            <a:r>
              <a:rPr lang="en-US" sz="2200" dirty="0" err="1"/>
              <a:t>Navbar</a:t>
            </a:r>
            <a:endParaRPr lang="en-US" sz="2200" dirty="0"/>
          </a:p>
          <a:p>
            <a:pPr lvl="1"/>
            <a:r>
              <a:rPr lang="en-US" sz="2200" dirty="0" err="1"/>
              <a:t>Offcanvas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Pagination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48ED712-7B32-3B45-7D3D-906C17BC33C8}"/>
              </a:ext>
            </a:extLst>
          </p:cNvPr>
          <p:cNvSpPr txBox="1">
            <a:spLocks/>
          </p:cNvSpPr>
          <p:nvPr/>
        </p:nvSpPr>
        <p:spPr>
          <a:xfrm>
            <a:off x="7420547" y="2128516"/>
            <a:ext cx="3535706" cy="43254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/>
              <a:t>Placeholders</a:t>
            </a:r>
          </a:p>
          <a:p>
            <a:pPr lvl="1"/>
            <a:r>
              <a:rPr lang="en-US" sz="2200" dirty="0"/>
              <a:t>Popovers</a:t>
            </a:r>
          </a:p>
          <a:p>
            <a:pPr lvl="1"/>
            <a:r>
              <a:rPr lang="en-US" sz="2200" dirty="0"/>
              <a:t>Progress</a:t>
            </a:r>
          </a:p>
          <a:p>
            <a:pPr lvl="1"/>
            <a:r>
              <a:rPr lang="en-US" sz="2200" dirty="0" err="1"/>
              <a:t>Scrollspy</a:t>
            </a:r>
            <a:endParaRPr lang="en-US" sz="2200" dirty="0"/>
          </a:p>
          <a:p>
            <a:pPr lvl="1"/>
            <a:r>
              <a:rPr lang="en-US" sz="2200" dirty="0"/>
              <a:t>Spinners</a:t>
            </a:r>
          </a:p>
          <a:p>
            <a:pPr lvl="1"/>
            <a:r>
              <a:rPr lang="en-US" sz="2200" dirty="0"/>
              <a:t>Toasts</a:t>
            </a:r>
          </a:p>
          <a:p>
            <a:pPr lvl="1"/>
            <a:r>
              <a:rPr lang="en-US" sz="2200" dirty="0"/>
              <a:t>Tooltips</a:t>
            </a:r>
          </a:p>
        </p:txBody>
      </p:sp>
    </p:spTree>
    <p:extLst>
      <p:ext uri="{BB962C8B-B14F-4D97-AF65-F5344CB8AC3E}">
        <p14:creationId xmlns:p14="http://schemas.microsoft.com/office/powerpoint/2010/main" val="132537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B588-8682-191F-C426-089EB51D2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E9718-0ACF-B5C3-A741-EE32DC52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Forms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3175C-0E0B-E42D-823C-129758196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- 11</a:t>
            </a:r>
          </a:p>
        </p:txBody>
      </p:sp>
    </p:spTree>
    <p:extLst>
      <p:ext uri="{BB962C8B-B14F-4D97-AF65-F5344CB8AC3E}">
        <p14:creationId xmlns:p14="http://schemas.microsoft.com/office/powerpoint/2010/main" val="34890250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2257F-8F6E-14B4-AD22-F1A0BD40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12DFC-6DC8-DC93-3798-4026C5DE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A3EC8-BFCC-0901-44CB-151137863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Bootstrap provides three types of form layouts:</a:t>
            </a:r>
          </a:p>
          <a:p>
            <a:pPr lvl="1"/>
            <a:r>
              <a:rPr lang="en-US" sz="2200" dirty="0"/>
              <a:t>Vertical form (default)</a:t>
            </a:r>
          </a:p>
          <a:p>
            <a:pPr lvl="1"/>
            <a:r>
              <a:rPr lang="en-US" sz="2200" dirty="0"/>
              <a:t>Horizontal form</a:t>
            </a:r>
          </a:p>
          <a:p>
            <a:pPr lvl="1"/>
            <a:r>
              <a:rPr lang="en-US" sz="2200" dirty="0"/>
              <a:t>Inline form</a:t>
            </a:r>
          </a:p>
          <a:p>
            <a:r>
              <a:rPr lang="en-US" dirty="0"/>
              <a:t>Standard rules for all three form layouts:</a:t>
            </a:r>
          </a:p>
          <a:p>
            <a:pPr lvl="1"/>
            <a:r>
              <a:rPr lang="en-US" sz="2200" dirty="0"/>
              <a:t>Wrap labels and form controls in &lt;div class="form-group"&gt; (needed for optimum spacing)</a:t>
            </a:r>
          </a:p>
          <a:p>
            <a:pPr lvl="1"/>
            <a:r>
              <a:rPr lang="en-US" sz="2200" dirty="0"/>
              <a:t>Add class from below table to all textual elements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C09CF6-9818-69E7-F0BB-57EEBC6D6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685134"/>
              </p:ext>
            </p:extLst>
          </p:nvPr>
        </p:nvGraphicFramePr>
        <p:xfrm>
          <a:off x="1016831" y="383448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3925475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11262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Form</a:t>
                      </a:r>
                      <a:r>
                        <a:rPr lang="en-US" baseline="0" dirty="0"/>
                        <a:t> Element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Bootstrap</a:t>
                      </a:r>
                      <a:r>
                        <a:rPr lang="en-US" baseline="0" dirty="0"/>
                        <a:t> Class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885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Text, Password, File, Color, etc…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form-control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582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form-select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67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Checkbox, Radio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form-check-input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597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form-range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343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59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10C07-9F75-BD4A-7D93-9286F722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7FF7-F412-8D36-E9F0-2C17932B0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Vertical 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61C8C-8AB9-8FFD-C643-5E00D2472656}"/>
              </a:ext>
            </a:extLst>
          </p:cNvPr>
          <p:cNvSpPr txBox="1"/>
          <p:nvPr/>
        </p:nvSpPr>
        <p:spPr>
          <a:xfrm>
            <a:off x="257692" y="885653"/>
            <a:ext cx="9717580" cy="35394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form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action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="#"&gt;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&lt;!-- vertical is the default layout so no need to specify class --&gt;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="form-group"&gt;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label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for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txtEmailAddress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Email address: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/label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="email"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id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txtEmailAddress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/div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="form-group"&gt;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label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for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txtPassword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Password: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/label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="password"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id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txtPassword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/div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="checkbox"&gt;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label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="checkbox"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="form-check-input"&gt;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Remember me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/label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/div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="submit"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btn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btn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-primary"&gt;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Submit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/button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/form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768279-4258-533A-5637-8546F0423A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05"/>
          <a:stretch/>
        </p:blipFill>
        <p:spPr>
          <a:xfrm>
            <a:off x="257692" y="4599535"/>
            <a:ext cx="4886325" cy="190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5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6E7B6-920C-3498-18D5-8B07520E5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C7EBE-7421-8392-5A67-2B008938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Inline Form (BS-3, BS-4)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957380-15D1-F456-EEFC-6285C4BE3177}"/>
              </a:ext>
            </a:extLst>
          </p:cNvPr>
          <p:cNvSpPr txBox="1"/>
          <p:nvPr/>
        </p:nvSpPr>
        <p:spPr>
          <a:xfrm>
            <a:off x="257692" y="885653"/>
            <a:ext cx="9717580" cy="35394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form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action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="#"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="form-inline"&gt;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&lt;!-- this class is not available in BS5 --&gt;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="form-group"&gt;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label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for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txtEmailAddress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Email address: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/label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="email"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id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txtEmailAddress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/div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="form-group"&gt;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label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for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txtPassword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Password: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/label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="password"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id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txtPassword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/div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="checkbox"&gt;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label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="checkbox"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="form-check-input"&gt;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Remember me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/label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/div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="submit"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btn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btn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-primary"&gt;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Submit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/button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/form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0C97E-7698-E5A4-DDD1-D4663D222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92" y="4599535"/>
            <a:ext cx="783907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7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478E3-0F36-0D2E-6653-FB92285E8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A790-FB5B-3E59-66C9-AEA714E14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Inline Form (BS-5)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3C03A-981D-1A59-357B-CB6EFD0F2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923970" cy="5005341"/>
          </a:xfrm>
        </p:spPr>
        <p:txBody>
          <a:bodyPr/>
          <a:lstStyle/>
          <a:p>
            <a:r>
              <a:rPr lang="en-US" dirty="0"/>
              <a:t>Use the .row-cols-* classes to create responsive horizontal layouts.</a:t>
            </a:r>
          </a:p>
          <a:p>
            <a:r>
              <a:rPr lang="en-US" dirty="0"/>
              <a:t>the .col-12 helps stack the form controls.</a:t>
            </a:r>
          </a:p>
          <a:p>
            <a:r>
              <a:rPr lang="en-US" dirty="0"/>
              <a:t>The .align-items-center aligns the form elements to the middle, making the .form-checkbox align properly.</a:t>
            </a:r>
          </a:p>
        </p:txBody>
      </p:sp>
    </p:spTree>
    <p:extLst>
      <p:ext uri="{BB962C8B-B14F-4D97-AF65-F5344CB8AC3E}">
        <p14:creationId xmlns:p14="http://schemas.microsoft.com/office/powerpoint/2010/main" val="60109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F936-3A01-40B5-8C0A-0352A4C2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F90A-9DC8-EB6D-EA09-A59036397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Inline Form (BS-5)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BA2B7-39CA-0599-4AA1-1279A704DEDF}"/>
              </a:ext>
            </a:extLst>
          </p:cNvPr>
          <p:cNvSpPr txBox="1"/>
          <p:nvPr/>
        </p:nvSpPr>
        <p:spPr>
          <a:xfrm>
            <a:off x="227156" y="818865"/>
            <a:ext cx="7517251" cy="563231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&lt;form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"row row-cols-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lg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-auto g-3 align-items-center"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"col-12"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"text"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"form-control“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"Username"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"col-12"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&lt;select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"form-select"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&lt;option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selected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Choose...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&lt;/option&gt;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&lt;option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"1"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One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&lt;/option&gt;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&lt;option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"2"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Two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&lt;/option&gt;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&lt;option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"3"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Three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&lt;/option&gt;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&lt;/select&gt;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"col-12"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"form-check"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"form-check-input"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"checkbox"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cbRem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&lt;label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"form-check-label"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cbRem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Remember me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&lt;/label&gt;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"col-12"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"submit"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-primary"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Submit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&lt;/form&gt;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187512-E1DA-4F7F-BE40-805A47C7F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911" y="1710285"/>
            <a:ext cx="4320089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9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4DB4-17E4-98EF-BCE4-42D4614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97E00-F849-7FB3-D033-D8269E33B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Horizontal 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85DD1-014C-AE66-30AF-F369E164E9E1}"/>
              </a:ext>
            </a:extLst>
          </p:cNvPr>
          <p:cNvSpPr txBox="1"/>
          <p:nvPr/>
        </p:nvSpPr>
        <p:spPr>
          <a:xfrm>
            <a:off x="42471" y="711201"/>
            <a:ext cx="8495608" cy="5863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&lt;form&gt;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"row mb-3"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&lt;label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txtMail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"col-sm-2 col-form-label"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&lt;/label&gt;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"col-sm-10"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"email"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"form-control"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txtMail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"row mb-3"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&lt;label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txtPass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"col-sm-2 col-form-label"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Password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&lt;/label&gt;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"col-sm-10"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"password"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"form-control"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txtPass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"row mb-3"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"col-sm-10 offset-sm-2"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"form-check"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"form-check-input"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"checkbox"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"gridCheck1"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&lt;label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"form-check-label"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"gridCheck1"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Example checkbox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&lt;/label&gt;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"submit"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-primary"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Sign in</a:t>
            </a:r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800000"/>
                </a:solidFill>
                <a:latin typeface="Consolas" panose="020B0609020204030204" pitchFamily="49" charset="0"/>
              </a:rPr>
              <a:t>&lt;/form&gt;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C8AED1-D897-DB41-8D43-B5B7D0CB9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550" y="2659291"/>
            <a:ext cx="3568979" cy="153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5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69655-58D2-72FB-87CC-FCB489A7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94C8-8002-706F-A25B-BDC993F73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Helper classes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D4FFB-8472-1508-D528-EF8B92544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- 12</a:t>
            </a:r>
          </a:p>
        </p:txBody>
      </p:sp>
    </p:spTree>
    <p:extLst>
      <p:ext uri="{BB962C8B-B14F-4D97-AF65-F5344CB8AC3E}">
        <p14:creationId xmlns:p14="http://schemas.microsoft.com/office/powerpoint/2010/main" val="33348651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212E9-D1D4-FFB4-0F66-4E15272E7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A329-20EE-5A37-DF29-CA1E129C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Helpers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AEA0F-00DA-4CC4-EFEA-6BF7A94BF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dirty="0" err="1"/>
              <a:t>Clearfix</a:t>
            </a:r>
            <a:endParaRPr lang="en-IN" dirty="0"/>
          </a:p>
          <a:p>
            <a:r>
              <a:rPr lang="en-US" dirty="0"/>
              <a:t>Colored links</a:t>
            </a:r>
          </a:p>
          <a:p>
            <a:r>
              <a:rPr lang="en-US" dirty="0"/>
              <a:t>Ratio</a:t>
            </a:r>
          </a:p>
          <a:p>
            <a:r>
              <a:rPr lang="en-US" dirty="0"/>
              <a:t>Position</a:t>
            </a:r>
          </a:p>
          <a:p>
            <a:r>
              <a:rPr lang="en-US" dirty="0"/>
              <a:t>Stacks</a:t>
            </a:r>
          </a:p>
          <a:p>
            <a:r>
              <a:rPr lang="en-US" dirty="0"/>
              <a:t>Visually hidden</a:t>
            </a:r>
          </a:p>
          <a:p>
            <a:r>
              <a:rPr lang="en-US" dirty="0"/>
              <a:t>Stretched link</a:t>
            </a:r>
          </a:p>
          <a:p>
            <a:r>
              <a:rPr lang="en-US" dirty="0"/>
              <a:t>Text truncation</a:t>
            </a:r>
          </a:p>
          <a:p>
            <a:r>
              <a:rPr lang="en-US" dirty="0"/>
              <a:t>Vertical rule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86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93AC-501F-667C-A85C-CE6758D28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F0C7-79C3-8C26-A4BC-8C094FF5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Loading Icon library like font</a:t>
            </a:r>
            <a:b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</a:br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awesome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BEA78-A610-8FB1-0403-754D0B6D9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- 13</a:t>
            </a:r>
          </a:p>
        </p:txBody>
      </p:sp>
    </p:spTree>
    <p:extLst>
      <p:ext uri="{BB962C8B-B14F-4D97-AF65-F5344CB8AC3E}">
        <p14:creationId xmlns:p14="http://schemas.microsoft.com/office/powerpoint/2010/main" val="22487827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A59B2-FED7-FCC9-45AB-E1EB5FE5D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C4112-7120-0A38-FF02-9A7F5EC11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Loading Font-awesome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0BC4F-D277-E648-0A25-9A9168DEE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609A70-6CB8-44EE-8B3E-05E8717C1CD5}"/>
              </a:ext>
            </a:extLst>
          </p:cNvPr>
          <p:cNvSpPr txBox="1"/>
          <p:nvPr/>
        </p:nvSpPr>
        <p:spPr>
          <a:xfrm>
            <a:off x="257691" y="885653"/>
            <a:ext cx="11803129" cy="501675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&lt;!DOCTYPE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html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&lt;head&gt;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&lt;meta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charset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"utf-8"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&lt;meta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"viewport"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content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"width=device-width, initial-scale=1"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&lt;title&gt;&lt;/title&gt;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&lt;link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href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"./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css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/bootstrap.min.css"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rel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"stylesheet"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&lt;link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rel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"stylesheet"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href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"https://cdnjs.cloudflare.com/ajax/libs/font-	awesome/6.5.1/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css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/all.min.css"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integrity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"sha512-	DTOQO9RWCH3ppGqcWaEA1BIZOC6xxalwEsw9c2QQeAIftl+Vegovlnee1c9QX4TctnWMn13TZye+giMm8e2LwA=="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	</a:t>
            </a:r>
            <a:r>
              <a:rPr lang="en-IN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crossorigin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"anonymous"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referrerpolicy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"no-referrer"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&lt;/head&gt;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600" dirty="0" err="1">
                <a:solidFill>
                  <a:srgbClr val="800000"/>
                </a:solidFill>
                <a:latin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"fa-solid fa-house-chimney"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&gt;&lt;/</a:t>
            </a:r>
            <a:r>
              <a:rPr lang="en-IN" sz="1600" dirty="0" err="1">
                <a:solidFill>
                  <a:srgbClr val="800000"/>
                </a:solidFill>
                <a:latin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&lt;script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src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"./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js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/bootstrap.bundle.min.js"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&gt;&lt;/script&gt;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I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78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dharmikkumar.aghera@darshan.ac.in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9898205621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Dharmikkumar</a:t>
            </a:r>
            <a:r>
              <a:rPr lang="en-IN" dirty="0"/>
              <a:t> G. Aghera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Designing - II (WD-II) (2304CS202)</a:t>
            </a:r>
          </a:p>
        </p:txBody>
      </p:sp>
      <p:pic>
        <p:nvPicPr>
          <p:cNvPr id="12" name="Picture Placeholder 15">
            <a:extLst>
              <a:ext uri="{FF2B5EF4-FFF2-40B4-BE49-F238E27FC236}">
                <a16:creationId xmlns:a16="http://schemas.microsoft.com/office/drawing/2014/main" id="{8326CB1F-C926-33A4-F25C-8132B367DA2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478" y="5216366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6447</TotalTime>
  <Words>4572</Words>
  <Application>Microsoft Office PowerPoint</Application>
  <PresentationFormat>Widescreen</PresentationFormat>
  <Paragraphs>980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67</vt:i4>
      </vt:variant>
    </vt:vector>
  </HeadingPairs>
  <TitlesOfParts>
    <vt:vector size="84" baseType="lpstr">
      <vt:lpstr>Times New Roman</vt:lpstr>
      <vt:lpstr>Wingdings</vt:lpstr>
      <vt:lpstr>Roboto Condensed Light</vt:lpstr>
      <vt:lpstr>Calibri</vt:lpstr>
      <vt:lpstr>Consolas</vt:lpstr>
      <vt:lpstr>Arial</vt:lpstr>
      <vt:lpstr>Verdana</vt:lpstr>
      <vt:lpstr>Segoe UI Black</vt:lpstr>
      <vt:lpstr>Wingdings 3</vt:lpstr>
      <vt:lpstr>Roboto Condensed</vt:lpstr>
      <vt:lpstr>Wingdings 2</vt:lpstr>
      <vt:lpstr>Courier New</vt:lpstr>
      <vt:lpstr>Office Theme</vt:lpstr>
      <vt:lpstr>1_Office Theme</vt:lpstr>
      <vt:lpstr>4_Office Theme</vt:lpstr>
      <vt:lpstr>2_Office Theme</vt:lpstr>
      <vt:lpstr>3_Office Theme</vt:lpstr>
      <vt:lpstr>Unit-05  Bootstrap </vt:lpstr>
      <vt:lpstr>PowerPoint Presentation</vt:lpstr>
      <vt:lpstr>Introduction to Bootstrap</vt:lpstr>
      <vt:lpstr>Bootstrap</vt:lpstr>
      <vt:lpstr>Bootstrap</vt:lpstr>
      <vt:lpstr>Download and Load Bootstrap</vt:lpstr>
      <vt:lpstr>Download Bootstrap</vt:lpstr>
      <vt:lpstr>Load Bootstrap</vt:lpstr>
      <vt:lpstr>Load Bootstrap</vt:lpstr>
      <vt:lpstr>Important Globals</vt:lpstr>
      <vt:lpstr>Reboot</vt:lpstr>
      <vt:lpstr>Starter Template using CDN (just for reference)</vt:lpstr>
      <vt:lpstr>Typography, Images </vt:lpstr>
      <vt:lpstr>Typography</vt:lpstr>
      <vt:lpstr>Images</vt:lpstr>
      <vt:lpstr>Breakpoints</vt:lpstr>
      <vt:lpstr>Breakpoints</vt:lpstr>
      <vt:lpstr>Container</vt:lpstr>
      <vt:lpstr>Containers</vt:lpstr>
      <vt:lpstr>Containers</vt:lpstr>
      <vt:lpstr>Container (Example)</vt:lpstr>
      <vt:lpstr>Grid System</vt:lpstr>
      <vt:lpstr>Grid System</vt:lpstr>
      <vt:lpstr>Grid System</vt:lpstr>
      <vt:lpstr>Grid System</vt:lpstr>
      <vt:lpstr>Grid System</vt:lpstr>
      <vt:lpstr>Gutter space</vt:lpstr>
      <vt:lpstr>Gutters</vt:lpstr>
      <vt:lpstr>Table</vt:lpstr>
      <vt:lpstr>Table</vt:lpstr>
      <vt:lpstr>Table</vt:lpstr>
      <vt:lpstr>Utility classes</vt:lpstr>
      <vt:lpstr>Utility Classes</vt:lpstr>
      <vt:lpstr>Color Utility Classes</vt:lpstr>
      <vt:lpstr>Background Utility Classes</vt:lpstr>
      <vt:lpstr>Text Utility Classes (1/2)</vt:lpstr>
      <vt:lpstr>Text Utility Classes (2/2)</vt:lpstr>
      <vt:lpstr>Border Utility Classes (1/2)</vt:lpstr>
      <vt:lpstr>Border Utility Classes (2/2)</vt:lpstr>
      <vt:lpstr>Spacing Utility Classes</vt:lpstr>
      <vt:lpstr>Spacing Utility Classes</vt:lpstr>
      <vt:lpstr>Spacing Utility Classes</vt:lpstr>
      <vt:lpstr>Float Utility Classes</vt:lpstr>
      <vt:lpstr>Shadow Utility Classes</vt:lpstr>
      <vt:lpstr>Sizing Utility Classes</vt:lpstr>
      <vt:lpstr>Vertical Alignment Utility Classes</vt:lpstr>
      <vt:lpstr>Position Utility Classes</vt:lpstr>
      <vt:lpstr>Display Utility Classes</vt:lpstr>
      <vt:lpstr>Flex Utility Classes </vt:lpstr>
      <vt:lpstr>Interactions Utility Classes </vt:lpstr>
      <vt:lpstr>Opacity Utility Classes </vt:lpstr>
      <vt:lpstr>Overflow Utility Classes </vt:lpstr>
      <vt:lpstr>Visibility Utility Classes </vt:lpstr>
      <vt:lpstr>Components</vt:lpstr>
      <vt:lpstr>Components</vt:lpstr>
      <vt:lpstr>Forms</vt:lpstr>
      <vt:lpstr>Forms</vt:lpstr>
      <vt:lpstr>Vertical Form</vt:lpstr>
      <vt:lpstr>Inline Form (BS-3, BS-4)</vt:lpstr>
      <vt:lpstr>Inline Form (BS-5)</vt:lpstr>
      <vt:lpstr>Inline Form (BS-5)</vt:lpstr>
      <vt:lpstr>Horizontal Form</vt:lpstr>
      <vt:lpstr>Helper classes</vt:lpstr>
      <vt:lpstr>Helpers</vt:lpstr>
      <vt:lpstr>Loading Icon library like font awesome</vt:lpstr>
      <vt:lpstr>Loading Font-awesome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1206</cp:revision>
  <dcterms:created xsi:type="dcterms:W3CDTF">2020-05-01T05:09:15Z</dcterms:created>
  <dcterms:modified xsi:type="dcterms:W3CDTF">2026-02-18T16:16:33Z</dcterms:modified>
</cp:coreProperties>
</file>