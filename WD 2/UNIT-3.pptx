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2" r:id="rId2"/>
    <p:sldMasterId id="2147483761" r:id="rId3"/>
    <p:sldMasterId id="2147483830" r:id="rId4"/>
  </p:sldMasterIdLst>
  <p:notesMasterIdLst>
    <p:notesMasterId r:id="rId44"/>
  </p:notesMasterIdLst>
  <p:sldIdLst>
    <p:sldId id="308" r:id="rId5"/>
    <p:sldId id="352" r:id="rId6"/>
    <p:sldId id="564" r:id="rId7"/>
    <p:sldId id="348" r:id="rId8"/>
    <p:sldId id="569" r:id="rId9"/>
    <p:sldId id="568" r:id="rId10"/>
    <p:sldId id="570" r:id="rId11"/>
    <p:sldId id="567" r:id="rId12"/>
    <p:sldId id="566" r:id="rId13"/>
    <p:sldId id="565" r:id="rId14"/>
    <p:sldId id="574" r:id="rId15"/>
    <p:sldId id="575" r:id="rId16"/>
    <p:sldId id="573" r:id="rId17"/>
    <p:sldId id="577" r:id="rId18"/>
    <p:sldId id="576" r:id="rId19"/>
    <p:sldId id="578" r:id="rId20"/>
    <p:sldId id="572" r:id="rId21"/>
    <p:sldId id="581" r:id="rId22"/>
    <p:sldId id="580" r:id="rId23"/>
    <p:sldId id="579" r:id="rId24"/>
    <p:sldId id="571" r:id="rId25"/>
    <p:sldId id="585" r:id="rId26"/>
    <p:sldId id="596" r:id="rId27"/>
    <p:sldId id="584" r:id="rId28"/>
    <p:sldId id="597" r:id="rId29"/>
    <p:sldId id="583" r:id="rId30"/>
    <p:sldId id="598" r:id="rId31"/>
    <p:sldId id="587" r:id="rId32"/>
    <p:sldId id="589" r:id="rId33"/>
    <p:sldId id="588" r:id="rId34"/>
    <p:sldId id="590" r:id="rId35"/>
    <p:sldId id="595" r:id="rId36"/>
    <p:sldId id="586" r:id="rId37"/>
    <p:sldId id="594" r:id="rId38"/>
    <p:sldId id="582" r:id="rId39"/>
    <p:sldId id="593" r:id="rId40"/>
    <p:sldId id="599" r:id="rId41"/>
    <p:sldId id="592" r:id="rId42"/>
    <p:sldId id="358" r:id="rId43"/>
  </p:sldIdLst>
  <p:sldSz cx="12192000" cy="6858000"/>
  <p:notesSz cx="6858000" cy="9144000"/>
  <p:embeddedFontLst>
    <p:embeddedFont>
      <p:font typeface="Wingdings 2" panose="05020102010507070707" pitchFamily="18" charset="2"/>
      <p:regular r:id="rId45"/>
    </p:embeddedFont>
    <p:embeddedFont>
      <p:font typeface="Roboto Condensed Light" panose="02000000000000000000" pitchFamily="2" charset="0"/>
      <p:regular r:id="rId46"/>
      <p:italic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Segoe UI Black" panose="020B0A02040204020203" pitchFamily="34" charset="0"/>
      <p:bold r:id="rId52"/>
      <p:boldItalic r:id="rId53"/>
    </p:embeddedFont>
    <p:embeddedFont>
      <p:font typeface="Wingdings 3" panose="05040102010807070707" pitchFamily="18" charset="2"/>
      <p:regular r:id="rId54"/>
    </p:embeddedFont>
    <p:embeddedFont>
      <p:font typeface="Roboto Condensed" panose="02000000000000000000" pitchFamily="2" charset="0"/>
      <p:regular r:id="rId55"/>
      <p:bold r:id="rId56"/>
      <p:italic r:id="rId57"/>
      <p:boldItalic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4grOWXnYciGQJ4b4dbfBZw==" hashData="0XTsc+pldRbaQv6QLl6VAjzRchNIkCbl9vNb5ouLl9U0l4Ysx4TY6r7FVMcHidrwqTRzJ/asZ3E7cz5qEEKiLw=="/>
  <p:extLst>
    <p:ext uri="{521415D9-36F7-43E2-AB2F-B90AF26B5E84}">
      <p14:sectionLst xmlns:p14="http://schemas.microsoft.com/office/powerpoint/2010/main">
        <p14:section name="Unit-03 Properties of CSS" id="{6F98277B-3FE4-4DB6-9DF4-04A9EE7CB27D}">
          <p14:sldIdLst>
            <p14:sldId id="308"/>
          </p14:sldIdLst>
        </p14:section>
        <p14:section name="Outline" id="{C5B49A7B-0240-414D-82A2-AEBCCFBF15D4}">
          <p14:sldIdLst>
            <p14:sldId id="352"/>
          </p14:sldIdLst>
        </p14:section>
        <p14:section name="The Box Model" id="{3C329440-0C3D-4A8F-B481-D50DCFE25AF6}">
          <p14:sldIdLst>
            <p14:sldId id="564"/>
            <p14:sldId id="348"/>
            <p14:sldId id="569"/>
            <p14:sldId id="568"/>
          </p14:sldIdLst>
        </p14:section>
        <p14:section name="CSS Text Property" id="{D383D3FB-A99D-4BF7-B1FD-D534E961FADD}">
          <p14:sldIdLst>
            <p14:sldId id="570"/>
            <p14:sldId id="567"/>
            <p14:sldId id="566"/>
            <p14:sldId id="565"/>
            <p14:sldId id="574"/>
          </p14:sldIdLst>
        </p14:section>
        <p14:section name="CSS Font Property" id="{B4E54289-351D-4291-BEA9-31F59810F5E2}">
          <p14:sldIdLst>
            <p14:sldId id="575"/>
            <p14:sldId id="573"/>
            <p14:sldId id="577"/>
            <p14:sldId id="576"/>
          </p14:sldIdLst>
        </p14:section>
        <p14:section name="Background Properties" id="{89CB1F86-02FA-46C7-B73E-39F3A9430DAB}">
          <p14:sldIdLst>
            <p14:sldId id="578"/>
            <p14:sldId id="572"/>
            <p14:sldId id="581"/>
            <p14:sldId id="580"/>
            <p14:sldId id="579"/>
            <p14:sldId id="571"/>
            <p14:sldId id="585"/>
          </p14:sldIdLst>
        </p14:section>
        <p14:section name="CSS Padding" id="{0F0E6562-6DF8-43A3-91CF-D918DC7B16E7}">
          <p14:sldIdLst>
            <p14:sldId id="596"/>
            <p14:sldId id="584"/>
          </p14:sldIdLst>
        </p14:section>
        <p14:section name="CSS Border" id="{A8A581D0-E2A5-4C9A-80F3-C359E1856A20}">
          <p14:sldIdLst>
            <p14:sldId id="597"/>
            <p14:sldId id="583"/>
          </p14:sldIdLst>
        </p14:section>
        <p14:section name="CSS Margin" id="{E9833C51-F3B0-48CB-ADDC-527F41E80555}">
          <p14:sldIdLst>
            <p14:sldId id="598"/>
            <p14:sldId id="587"/>
          </p14:sldIdLst>
        </p14:section>
        <p14:section name="Styling list" id="{216C1463-1793-4ADE-A527-A622F01B4099}">
          <p14:sldIdLst>
            <p14:sldId id="589"/>
            <p14:sldId id="588"/>
            <p14:sldId id="590"/>
          </p14:sldIdLst>
        </p14:section>
        <p14:section name="CSS Float Property" id="{A98A0BFE-2919-4C96-8043-A2594DFEC866}">
          <p14:sldIdLst>
            <p14:sldId id="595"/>
            <p14:sldId id="586"/>
          </p14:sldIdLst>
        </p14:section>
        <p14:section name="CSS Positioning" id="{26EF1321-D813-42E2-86EC-24825F94A118}">
          <p14:sldIdLst>
            <p14:sldId id="594"/>
            <p14:sldId id="582"/>
            <p14:sldId id="593"/>
          </p14:sldIdLst>
        </p14:section>
        <p14:section name="CSS Layers" id="{992F5226-23F6-448C-A10F-8C24F90B6FF1}">
          <p14:sldIdLst>
            <p14:sldId id="599"/>
            <p14:sldId id="592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BDBDB"/>
    <a:srgbClr val="ED524F"/>
    <a:srgbClr val="301B92"/>
    <a:srgbClr val="673BB7"/>
    <a:srgbClr val="607D8B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0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8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microsoft.com/office/2007/relationships/hdphoto" Target="../media/hdphoto5.wdp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31.jpeg"/></Relationships>
</file>

<file path=ppt/slideLayouts/_rels/slideLayout6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281410" y="6601747"/>
            <a:ext cx="5629178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#2304CS202 (WD-II)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Properties of CSS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42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843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8438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6219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460D7-CBA5-99E2-F433-668EED5BA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42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2169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608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85988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252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0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47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385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9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0A502E-20E2-F6D8-11DA-9E31300B528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937" y="1773829"/>
            <a:ext cx="2534446" cy="25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26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9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383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70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3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872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568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46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54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3281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33820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5432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07165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37455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5352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673753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760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305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811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325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8766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35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180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341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1017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617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484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880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3292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546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320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54295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53349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1894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51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5583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79858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264320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6304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8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063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676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99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75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076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8599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069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009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070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183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028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</a:t>
            </a:r>
            <a:r>
              <a:rPr lang="en-IN" sz="1600" dirty="0"/>
              <a:t>Applications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1478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0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8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6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400" y="1778606"/>
            <a:ext cx="7726094" cy="257878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5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Unit-03</a:t>
            </a:r>
            <a:r>
              <a:rPr lang="en-US" sz="54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Properties of CSS</a:t>
            </a:r>
            <a:r>
              <a:rPr lang="en-US" sz="6000" dirty="0"/>
              <a:t/>
            </a:r>
            <a:br>
              <a:rPr lang="en-US" sz="6000" dirty="0"/>
            </a:b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8AE13-A5CE-5C97-DAC2-01C58CA8436C}"/>
              </a:ext>
            </a:extLst>
          </p:cNvPr>
          <p:cNvSpPr txBox="1">
            <a:spLocks/>
          </p:cNvSpPr>
          <p:nvPr/>
        </p:nvSpPr>
        <p:spPr>
          <a:xfrm>
            <a:off x="867400" y="4132880"/>
            <a:ext cx="9330959" cy="87601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200" i="1" dirty="0">
                <a:effectLst/>
              </a:rPr>
              <a:t>CO3 : At the end of this chapter, students will be able to,</a:t>
            </a:r>
          </a:p>
          <a:p>
            <a:pPr>
              <a:spcBef>
                <a:spcPts val="0"/>
              </a:spcBef>
            </a:pPr>
            <a:r>
              <a:rPr lang="en-US" sz="2200" b="0" dirty="0">
                <a:effectLst/>
              </a:rPr>
              <a:t>          </a:t>
            </a:r>
            <a:r>
              <a:rPr lang="en-US" sz="2200" b="0" i="1" dirty="0">
                <a:effectLst/>
              </a:rPr>
              <a:t>apply CSS properties for web page design</a:t>
            </a:r>
            <a:r>
              <a:rPr lang="en-US" sz="2200" b="0" dirty="0"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  <a:sym typeface="Wingdings 2" panose="05020102010507070707" pitchFamily="18" charset="2"/>
              </a:rPr>
              <a:t>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Outline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The Box Model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Text </a:t>
            </a:r>
            <a:r>
              <a:rPr lang="en-US" sz="2400" dirty="0"/>
              <a:t>Properties</a:t>
            </a:r>
            <a:endParaRPr lang="en-IN" sz="2400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Font </a:t>
            </a:r>
            <a:r>
              <a:rPr lang="en-US" sz="2400" dirty="0"/>
              <a:t>Properties</a:t>
            </a:r>
            <a:endParaRPr lang="en-IN" sz="2400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Background </a:t>
            </a:r>
            <a:r>
              <a:rPr lang="en-US" sz="2400" dirty="0"/>
              <a:t>Properties</a:t>
            </a:r>
            <a:endParaRPr lang="en-IN" sz="2400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Border </a:t>
            </a:r>
            <a:r>
              <a:rPr lang="en-US" sz="2400" dirty="0"/>
              <a:t>Properties</a:t>
            </a:r>
            <a:endParaRPr lang="en-IN" sz="2400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Link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Float Properties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CSS Positioning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CSS Layer 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1020-097C-C904-1FCD-E550B3A1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E2A3-5AD6-F569-196A-F829B033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The Box Model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41E7C-2CDB-E476-7A3F-614623ABC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429222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01DAF8-5FA9-F495-FF28-90A3343B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The Box Model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89C26-0CCC-5516-7AAD-B54F2722F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All HTML elements can be considered as boxes. In CSS, the term "box model" is used when talking about design and layout.</a:t>
            </a:r>
          </a:p>
          <a:p>
            <a:r>
              <a:rPr lang="en-US" dirty="0"/>
              <a:t>The CSS box model is essentially a box that wraps around HTML elements, and it consists of: </a:t>
            </a:r>
            <a:r>
              <a:rPr lang="en-US" dirty="0">
                <a:solidFill>
                  <a:srgbClr val="C00000"/>
                </a:solidFill>
              </a:rPr>
              <a:t>margins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borders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padding</a:t>
            </a:r>
            <a:r>
              <a:rPr lang="en-US" dirty="0"/>
              <a:t> and the actual </a:t>
            </a:r>
            <a:r>
              <a:rPr lang="en-US" dirty="0">
                <a:solidFill>
                  <a:srgbClr val="C00000"/>
                </a:solidFill>
              </a:rPr>
              <a:t>content</a:t>
            </a:r>
            <a:r>
              <a:rPr lang="en-US" dirty="0"/>
              <a:t>.</a:t>
            </a:r>
          </a:p>
          <a:p>
            <a:r>
              <a:rPr lang="en-US" dirty="0"/>
              <a:t>The box model allows us to place a border around elements and space elements in relation to other elements.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3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6E2B2-5B49-E75E-56B4-99580550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62C7-E320-5850-372E-561A476A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The 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1AF1C-971F-AEC3-69BC-0B4E1EBCA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image below illustrates the box model: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62A2-CE4D-1208-0B43-728A70E08146}"/>
              </a:ext>
            </a:extLst>
          </p:cNvPr>
          <p:cNvSpPr/>
          <p:nvPr/>
        </p:nvSpPr>
        <p:spPr>
          <a:xfrm>
            <a:off x="890848" y="1508760"/>
            <a:ext cx="8001000" cy="472440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Margin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609D91-BB0F-D6DB-815A-1049E526D063}"/>
              </a:ext>
            </a:extLst>
          </p:cNvPr>
          <p:cNvSpPr/>
          <p:nvPr/>
        </p:nvSpPr>
        <p:spPr>
          <a:xfrm>
            <a:off x="1271848" y="1889760"/>
            <a:ext cx="7162800" cy="3886200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F5AAE-4214-75A3-64E3-5F741B35A2DB}"/>
              </a:ext>
            </a:extLst>
          </p:cNvPr>
          <p:cNvSpPr/>
          <p:nvPr/>
        </p:nvSpPr>
        <p:spPr>
          <a:xfrm>
            <a:off x="1652848" y="2270760"/>
            <a:ext cx="6477000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Padding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AD8EB1-3AA2-B908-AB76-A4451237D0B5}"/>
              </a:ext>
            </a:extLst>
          </p:cNvPr>
          <p:cNvSpPr/>
          <p:nvPr/>
        </p:nvSpPr>
        <p:spPr>
          <a:xfrm>
            <a:off x="2186248" y="2651760"/>
            <a:ext cx="5410200" cy="243840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98219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2A58-C1C4-9375-4AB0-926CFCF2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5D5C-980A-256D-AEC8-C21D2E11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The Box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FEB8A-A44F-C573-005C-9B6EA653D15A}"/>
              </a:ext>
            </a:extLst>
          </p:cNvPr>
          <p:cNvSpPr/>
          <p:nvPr/>
        </p:nvSpPr>
        <p:spPr>
          <a:xfrm>
            <a:off x="533400" y="1371600"/>
            <a:ext cx="8001000" cy="472440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F1354-EF4F-D8B5-D0E1-B71AED24EC0E}"/>
              </a:ext>
            </a:extLst>
          </p:cNvPr>
          <p:cNvSpPr/>
          <p:nvPr/>
        </p:nvSpPr>
        <p:spPr>
          <a:xfrm>
            <a:off x="914400" y="1752600"/>
            <a:ext cx="7239000" cy="3962400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483BE-14AA-382E-A853-E1CE9EF9B2CD}"/>
              </a:ext>
            </a:extLst>
          </p:cNvPr>
          <p:cNvSpPr/>
          <p:nvPr/>
        </p:nvSpPr>
        <p:spPr>
          <a:xfrm>
            <a:off x="1295400" y="2133600"/>
            <a:ext cx="6477000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97BED-C221-F2CC-591C-9FC77FE6BCFA}"/>
              </a:ext>
            </a:extLst>
          </p:cNvPr>
          <p:cNvSpPr/>
          <p:nvPr/>
        </p:nvSpPr>
        <p:spPr>
          <a:xfrm>
            <a:off x="1828800" y="2514600"/>
            <a:ext cx="5410200" cy="243840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5FFD3-8D0E-6E31-11F0-78352832F653}"/>
              </a:ext>
            </a:extLst>
          </p:cNvPr>
          <p:cNvSpPr txBox="1"/>
          <p:nvPr/>
        </p:nvSpPr>
        <p:spPr>
          <a:xfrm>
            <a:off x="3505200" y="2133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padding-top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79BD1-DC87-E402-FB64-21B3DDBAFBD3}"/>
              </a:ext>
            </a:extLst>
          </p:cNvPr>
          <p:cNvSpPr txBox="1"/>
          <p:nvPr/>
        </p:nvSpPr>
        <p:spPr>
          <a:xfrm>
            <a:off x="3505200" y="49646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padding-bottom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A01C6-87E5-C312-1FBA-FE3C0FE59031}"/>
              </a:ext>
            </a:extLst>
          </p:cNvPr>
          <p:cNvSpPr txBox="1"/>
          <p:nvPr/>
        </p:nvSpPr>
        <p:spPr>
          <a:xfrm rot="5400000">
            <a:off x="6559034" y="35491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padding-right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A8514-1EBA-A744-3307-A0718DB34291}"/>
              </a:ext>
            </a:extLst>
          </p:cNvPr>
          <p:cNvSpPr txBox="1"/>
          <p:nvPr/>
        </p:nvSpPr>
        <p:spPr>
          <a:xfrm rot="16200000">
            <a:off x="451366" y="35491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padding-left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3D98F9-221C-19A6-2F76-3469E7BDBE01}"/>
              </a:ext>
            </a:extLst>
          </p:cNvPr>
          <p:cNvSpPr txBox="1"/>
          <p:nvPr/>
        </p:nvSpPr>
        <p:spPr>
          <a:xfrm>
            <a:off x="3505200" y="1752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border-top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DC9F3-3DAC-C529-5C1F-14AABE3689B1}"/>
              </a:ext>
            </a:extLst>
          </p:cNvPr>
          <p:cNvSpPr txBox="1"/>
          <p:nvPr/>
        </p:nvSpPr>
        <p:spPr>
          <a:xfrm>
            <a:off x="3505200" y="1371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margin-top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DDF06-254E-2F39-5030-ED966B8FE86B}"/>
              </a:ext>
            </a:extLst>
          </p:cNvPr>
          <p:cNvSpPr txBox="1"/>
          <p:nvPr/>
        </p:nvSpPr>
        <p:spPr>
          <a:xfrm rot="5400000">
            <a:off x="6940034" y="35110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border-right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EBDCD4-7BEC-A7D3-A589-4CA8EAE9865C}"/>
              </a:ext>
            </a:extLst>
          </p:cNvPr>
          <p:cNvSpPr txBox="1"/>
          <p:nvPr/>
        </p:nvSpPr>
        <p:spPr>
          <a:xfrm rot="5400000">
            <a:off x="7321034" y="35110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margin-right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B2479A-8630-1D3B-F924-45DD7B586AD6}"/>
              </a:ext>
            </a:extLst>
          </p:cNvPr>
          <p:cNvSpPr txBox="1"/>
          <p:nvPr/>
        </p:nvSpPr>
        <p:spPr>
          <a:xfrm>
            <a:off x="3505200" y="53456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border-bottom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C29CD7-F9BA-805E-C769-B086C1938985}"/>
              </a:ext>
            </a:extLst>
          </p:cNvPr>
          <p:cNvSpPr txBox="1"/>
          <p:nvPr/>
        </p:nvSpPr>
        <p:spPr>
          <a:xfrm>
            <a:off x="3505200" y="57266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margin-bottom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9C7B83-FFA0-DB7F-A2E8-E81C7CE66F8B}"/>
              </a:ext>
            </a:extLst>
          </p:cNvPr>
          <p:cNvSpPr txBox="1"/>
          <p:nvPr/>
        </p:nvSpPr>
        <p:spPr>
          <a:xfrm rot="16200000">
            <a:off x="70367" y="35872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border-left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DA8D4-291B-E4B8-3B5F-31A5DD790D52}"/>
              </a:ext>
            </a:extLst>
          </p:cNvPr>
          <p:cNvSpPr txBox="1"/>
          <p:nvPr/>
        </p:nvSpPr>
        <p:spPr>
          <a:xfrm rot="16200000">
            <a:off x="-310633" y="35872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margin-left</a:t>
            </a:r>
          </a:p>
        </p:txBody>
      </p:sp>
    </p:spTree>
    <p:extLst>
      <p:ext uri="{BB962C8B-B14F-4D97-AF65-F5344CB8AC3E}">
        <p14:creationId xmlns:p14="http://schemas.microsoft.com/office/powerpoint/2010/main" val="170241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D51C-D942-6DD3-6FFD-19661C8C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9E50-BF87-3850-28C9-CF74D23A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Text Property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C633-9C82-F70D-65DA-7CFC894B8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415133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7E04-6F09-3D5E-8E84-BA0E07A9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56E6-079B-5E70-F03A-41C1545C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Text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368A5-9192-982D-CACF-B19064E79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While CSS Font covers most of the traditional ways to format your text, CSS Text allows you to control the spacing, decoration, and alignment of your text.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Text Decoration			(text-decoration)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Text Indent			(text-indent)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Text Align			(text-align)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Text Transform			(text-transform)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White Space			(white-space)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Word Spacing			(word-spacing)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Letter Spacing			(letter-spacing)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Line Height			(line-height)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0DAA2-B4D7-C6BD-4C10-DF14B1215769}"/>
              </a:ext>
            </a:extLst>
          </p:cNvPr>
          <p:cNvSpPr txBox="1"/>
          <p:nvPr/>
        </p:nvSpPr>
        <p:spPr>
          <a:xfrm>
            <a:off x="4628492" y="1760290"/>
            <a:ext cx="205740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Property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7E94-D8E1-312F-88F7-9E46AE21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DCA7-DA20-4208-402B-4009BE58F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Text Property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EB7DC-344E-6226-9E70-CA25F8DD8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989363" cy="5590565"/>
          </a:xfrm>
        </p:spPr>
        <p:txBody>
          <a:bodyPr/>
          <a:lstStyle/>
          <a:p>
            <a:pPr lvl="0"/>
            <a:r>
              <a:rPr lang="en-US" b="1" dirty="0"/>
              <a:t>Text Decoration</a:t>
            </a:r>
          </a:p>
          <a:p>
            <a:pPr lvl="1" hangingPunct="0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text-decoration</a:t>
            </a:r>
            <a:r>
              <a:rPr lang="en-US" sz="2200" dirty="0"/>
              <a:t> property is used to </a:t>
            </a:r>
            <a:r>
              <a:rPr lang="en-US" sz="2200" dirty="0">
                <a:solidFill>
                  <a:srgbClr val="C00000"/>
                </a:solidFill>
              </a:rPr>
              <a:t>set</a:t>
            </a:r>
            <a:r>
              <a:rPr lang="en-US" sz="2200" dirty="0"/>
              <a:t> or </a:t>
            </a:r>
            <a:r>
              <a:rPr lang="en-US" sz="2200" dirty="0">
                <a:solidFill>
                  <a:srgbClr val="C00000"/>
                </a:solidFill>
              </a:rPr>
              <a:t>remove</a:t>
            </a:r>
            <a:r>
              <a:rPr lang="en-US" sz="2200" dirty="0"/>
              <a:t> decorations from text.</a:t>
            </a:r>
          </a:p>
          <a:p>
            <a:pPr lvl="1" hangingPunct="0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text-decoration</a:t>
            </a:r>
            <a:r>
              <a:rPr lang="en-US" sz="2200" dirty="0"/>
              <a:t> property is mostly used to </a:t>
            </a:r>
            <a:r>
              <a:rPr lang="en-US" sz="2200" dirty="0">
                <a:solidFill>
                  <a:srgbClr val="C00000"/>
                </a:solidFill>
              </a:rPr>
              <a:t>remove underlines</a:t>
            </a:r>
            <a:r>
              <a:rPr lang="en-US" sz="2200" dirty="0"/>
              <a:t> from </a:t>
            </a:r>
            <a:r>
              <a:rPr lang="en-US" sz="2200" dirty="0">
                <a:solidFill>
                  <a:srgbClr val="C00000"/>
                </a:solidFill>
              </a:rPr>
              <a:t>links</a:t>
            </a:r>
            <a:r>
              <a:rPr lang="en-US" sz="2200" dirty="0"/>
              <a:t> for design purposes.</a:t>
            </a:r>
          </a:p>
          <a:p>
            <a:pPr lvl="0"/>
            <a:r>
              <a:rPr lang="en-US" b="1" dirty="0"/>
              <a:t>Text Indent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text-indentation</a:t>
            </a:r>
            <a:r>
              <a:rPr lang="en-US" sz="2200" dirty="0"/>
              <a:t> property is used to specify the</a:t>
            </a:r>
            <a:r>
              <a:rPr lang="en-US" sz="2200" dirty="0">
                <a:solidFill>
                  <a:srgbClr val="C00000"/>
                </a:solidFill>
              </a:rPr>
              <a:t> indentation </a:t>
            </a:r>
            <a:r>
              <a:rPr lang="en-US" sz="2200" dirty="0"/>
              <a:t>of the </a:t>
            </a:r>
            <a:r>
              <a:rPr lang="en-US" sz="2200" dirty="0">
                <a:solidFill>
                  <a:srgbClr val="C00000"/>
                </a:solidFill>
              </a:rPr>
              <a:t>first line </a:t>
            </a:r>
            <a:r>
              <a:rPr lang="en-US" sz="2200" dirty="0"/>
              <a:t>of a</a:t>
            </a:r>
            <a:r>
              <a:rPr lang="en-US" sz="2200" dirty="0">
                <a:solidFill>
                  <a:srgbClr val="C00000"/>
                </a:solidFill>
              </a:rPr>
              <a:t> text</a:t>
            </a:r>
            <a:r>
              <a:rPr lang="en-US" sz="2200" dirty="0"/>
              <a:t>.</a:t>
            </a:r>
          </a:p>
          <a:p>
            <a:pPr lvl="0"/>
            <a:r>
              <a:rPr lang="en-US" b="1" dirty="0"/>
              <a:t>Text Align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text-align</a:t>
            </a:r>
            <a:r>
              <a:rPr lang="en-US" sz="2200" dirty="0"/>
              <a:t> property is used to set the </a:t>
            </a:r>
            <a:r>
              <a:rPr lang="en-US" sz="2200" dirty="0">
                <a:solidFill>
                  <a:srgbClr val="C00000"/>
                </a:solidFill>
              </a:rPr>
              <a:t>horizontal alignment </a:t>
            </a:r>
            <a:r>
              <a:rPr lang="en-US" sz="2200" dirty="0"/>
              <a:t>of a </a:t>
            </a:r>
            <a:r>
              <a:rPr lang="en-US" sz="2200" dirty="0">
                <a:solidFill>
                  <a:srgbClr val="C00000"/>
                </a:solidFill>
              </a:rPr>
              <a:t>text</a:t>
            </a:r>
            <a:r>
              <a:rPr lang="en-US" sz="2200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C1C23-C4F1-E9F3-2E9C-70C13E5609BA}"/>
              </a:ext>
            </a:extLst>
          </p:cNvPr>
          <p:cNvSpPr txBox="1"/>
          <p:nvPr/>
        </p:nvSpPr>
        <p:spPr>
          <a:xfrm>
            <a:off x="8303703" y="863444"/>
            <a:ext cx="3505200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        text-decoration : line-through;</a:t>
            </a:r>
          </a:p>
          <a:p>
            <a:r>
              <a:rPr lang="en-US" dirty="0"/>
              <a:t>        text-decoration : </a:t>
            </a:r>
            <a:r>
              <a:rPr lang="en-US" dirty="0" err="1"/>
              <a:t>overline</a:t>
            </a:r>
            <a:r>
              <a:rPr lang="en-US" dirty="0"/>
              <a:t>;</a:t>
            </a:r>
          </a:p>
          <a:p>
            <a:r>
              <a:rPr lang="en-US" dirty="0"/>
              <a:t>        text-decoration : underline;</a:t>
            </a:r>
          </a:p>
          <a:p>
            <a:r>
              <a:rPr lang="en-US" dirty="0"/>
              <a:t>        text-decoration : none;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EFD69-9DBC-9FB4-0D85-ED4741E7CCB1}"/>
              </a:ext>
            </a:extLst>
          </p:cNvPr>
          <p:cNvSpPr txBox="1"/>
          <p:nvPr/>
        </p:nvSpPr>
        <p:spPr>
          <a:xfrm>
            <a:off x="8303703" y="2707248"/>
            <a:ext cx="3505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text-indent : 20px;</a:t>
            </a:r>
          </a:p>
          <a:p>
            <a:r>
              <a:rPr lang="en-US" dirty="0"/>
              <a:t>	text-indent : 30%;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5A205-4B96-90E9-89CE-D2F8D584A7CD}"/>
              </a:ext>
            </a:extLst>
          </p:cNvPr>
          <p:cNvSpPr txBox="1"/>
          <p:nvPr/>
        </p:nvSpPr>
        <p:spPr>
          <a:xfrm>
            <a:off x="8303703" y="3997055"/>
            <a:ext cx="3505200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</a:t>
            </a:r>
          </a:p>
          <a:p>
            <a:r>
              <a:rPr lang="en-US" dirty="0"/>
              <a:t>	text-align : right;</a:t>
            </a:r>
          </a:p>
          <a:p>
            <a:r>
              <a:rPr lang="en-US" dirty="0"/>
              <a:t>	text-align : justify;</a:t>
            </a:r>
          </a:p>
          <a:p>
            <a:r>
              <a:rPr lang="en-US" dirty="0"/>
              <a:t>	text-align : left;</a:t>
            </a:r>
          </a:p>
          <a:p>
            <a:r>
              <a:rPr lang="en-US" dirty="0"/>
              <a:t>	text-align : center;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180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B78C-71E7-8A81-F150-D6ED8854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F581-E9A4-F6BE-9DAD-448045ED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Text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E0FD-AD16-3A25-9D4B-7815B6B8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939029" cy="5590565"/>
          </a:xfrm>
        </p:spPr>
        <p:txBody>
          <a:bodyPr/>
          <a:lstStyle/>
          <a:p>
            <a:pPr lvl="0"/>
            <a:r>
              <a:rPr lang="en-US" b="1" dirty="0"/>
              <a:t>Text Transform</a:t>
            </a:r>
          </a:p>
          <a:p>
            <a:pPr lvl="1" hangingPunct="0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text-transform</a:t>
            </a:r>
            <a:r>
              <a:rPr lang="en-US" sz="2200" dirty="0"/>
              <a:t> property is used to specify </a:t>
            </a:r>
            <a:r>
              <a:rPr lang="en-US" sz="2200" dirty="0">
                <a:solidFill>
                  <a:srgbClr val="C00000"/>
                </a:solidFill>
              </a:rPr>
              <a:t>uppercase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lowercase letters </a:t>
            </a:r>
            <a:r>
              <a:rPr lang="en-US" sz="2200" dirty="0"/>
              <a:t>in a </a:t>
            </a:r>
            <a:r>
              <a:rPr lang="en-US" sz="2200" dirty="0">
                <a:solidFill>
                  <a:srgbClr val="C00000"/>
                </a:solidFill>
              </a:rPr>
              <a:t>text</a:t>
            </a:r>
            <a:r>
              <a:rPr lang="en-US" sz="2200" dirty="0"/>
              <a:t>.</a:t>
            </a:r>
          </a:p>
          <a:p>
            <a:pPr lvl="1" hangingPunct="0"/>
            <a:endParaRPr lang="en-US" dirty="0"/>
          </a:p>
          <a:p>
            <a:pPr lvl="0"/>
            <a:r>
              <a:rPr lang="en-US" b="1" dirty="0"/>
              <a:t>White Space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white-space</a:t>
            </a:r>
            <a:r>
              <a:rPr lang="en-US" sz="2200" dirty="0"/>
              <a:t> attribute allows you to </a:t>
            </a:r>
            <a:r>
              <a:rPr lang="en-US" sz="2200" dirty="0">
                <a:solidFill>
                  <a:srgbClr val="C00000"/>
                </a:solidFill>
              </a:rPr>
              <a:t>prevent text </a:t>
            </a:r>
            <a:r>
              <a:rPr lang="en-US" sz="2200" dirty="0"/>
              <a:t>from </a:t>
            </a:r>
            <a:r>
              <a:rPr lang="en-US" sz="2200" dirty="0">
                <a:solidFill>
                  <a:srgbClr val="C00000"/>
                </a:solidFill>
              </a:rPr>
              <a:t>wrapping</a:t>
            </a:r>
            <a:r>
              <a:rPr lang="en-US" sz="2200" dirty="0"/>
              <a:t> until you </a:t>
            </a:r>
            <a:r>
              <a:rPr lang="en-US" sz="2200" dirty="0">
                <a:solidFill>
                  <a:srgbClr val="C00000"/>
                </a:solidFill>
              </a:rPr>
              <a:t>place a break </a:t>
            </a:r>
            <a:r>
              <a:rPr lang="en-US" sz="2200" dirty="0"/>
              <a:t>&lt;</a:t>
            </a:r>
            <a:r>
              <a:rPr lang="en-US" sz="2200" dirty="0" err="1"/>
              <a:t>br</a:t>
            </a:r>
            <a:r>
              <a:rPr lang="en-US" sz="2200" dirty="0"/>
              <a:t> /&gt; into your </a:t>
            </a:r>
            <a:r>
              <a:rPr lang="en-US" sz="2200" dirty="0">
                <a:solidFill>
                  <a:srgbClr val="C00000"/>
                </a:solidFill>
              </a:rPr>
              <a:t>text</a:t>
            </a:r>
            <a:r>
              <a:rPr lang="en-US" sz="2200" dirty="0"/>
              <a:t>.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Word Spacing</a:t>
            </a:r>
          </a:p>
          <a:p>
            <a:pPr lvl="1"/>
            <a:r>
              <a:rPr lang="en-US" sz="2200" dirty="0"/>
              <a:t>With the CSS attribute </a:t>
            </a:r>
            <a:r>
              <a:rPr lang="en-US" sz="2200" dirty="0">
                <a:solidFill>
                  <a:srgbClr val="C00000"/>
                </a:solidFill>
              </a:rPr>
              <a:t>word-spacing</a:t>
            </a:r>
            <a:r>
              <a:rPr lang="en-US" sz="2200" dirty="0"/>
              <a:t> you are able to specify the </a:t>
            </a:r>
            <a:r>
              <a:rPr lang="en-US" sz="2200" dirty="0">
                <a:solidFill>
                  <a:srgbClr val="C00000"/>
                </a:solidFill>
              </a:rPr>
              <a:t>exact value </a:t>
            </a:r>
            <a:r>
              <a:rPr lang="en-US" sz="2200" dirty="0"/>
              <a:t>of the </a:t>
            </a:r>
            <a:r>
              <a:rPr lang="en-US" sz="2200" dirty="0">
                <a:solidFill>
                  <a:srgbClr val="C00000"/>
                </a:solidFill>
              </a:rPr>
              <a:t>spacing</a:t>
            </a:r>
            <a:r>
              <a:rPr lang="en-US" sz="2200" dirty="0"/>
              <a:t> between your </a:t>
            </a:r>
            <a:r>
              <a:rPr lang="en-US" sz="2200" dirty="0">
                <a:solidFill>
                  <a:srgbClr val="C00000"/>
                </a:solidFill>
              </a:rPr>
              <a:t>words</a:t>
            </a:r>
            <a:r>
              <a:rPr lang="en-US" sz="2200" dirty="0"/>
              <a:t>. Word-spacing should be defined with exact values.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489AB-B779-7CC2-A2D1-C437157E1126}"/>
              </a:ext>
            </a:extLst>
          </p:cNvPr>
          <p:cNvSpPr txBox="1"/>
          <p:nvPr/>
        </p:nvSpPr>
        <p:spPr>
          <a:xfrm>
            <a:off x="8253369" y="937303"/>
            <a:ext cx="3505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        text-transform : capitalize;</a:t>
            </a:r>
          </a:p>
          <a:p>
            <a:r>
              <a:rPr lang="en-US" dirty="0"/>
              <a:t>        text-transform : uppercase;</a:t>
            </a:r>
          </a:p>
          <a:p>
            <a:r>
              <a:rPr lang="en-US" dirty="0"/>
              <a:t>        text-transform : lowercase;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AF47A-4600-5255-3F38-955E95814FB3}"/>
              </a:ext>
            </a:extLst>
          </p:cNvPr>
          <p:cNvSpPr txBox="1"/>
          <p:nvPr/>
        </p:nvSpPr>
        <p:spPr>
          <a:xfrm>
            <a:off x="8253369" y="2643231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white-space : </a:t>
            </a:r>
            <a:r>
              <a:rPr lang="en-US" dirty="0" err="1"/>
              <a:t>nowrap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24BB8-6C8B-B2AC-6624-4CAF4F3BCFD7}"/>
              </a:ext>
            </a:extLst>
          </p:cNvPr>
          <p:cNvSpPr txBox="1"/>
          <p:nvPr/>
        </p:nvSpPr>
        <p:spPr>
          <a:xfrm>
            <a:off x="8253369" y="4089305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</a:t>
            </a:r>
          </a:p>
          <a:p>
            <a:r>
              <a:rPr lang="en-US" dirty="0"/>
              <a:t>	word-spacing : 10px;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27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C325-A3CA-8D5A-03F2-494B1652F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EA42-BB69-8EAD-1F91-D65F740E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Text Property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9D248-0A72-D8B6-C0F8-261E0F9EC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7930640" cy="5590565"/>
          </a:xfrm>
        </p:spPr>
        <p:txBody>
          <a:bodyPr/>
          <a:lstStyle/>
          <a:p>
            <a:pPr lvl="0"/>
            <a:r>
              <a:rPr lang="en-US" b="1" dirty="0"/>
              <a:t>Letter Spacing</a:t>
            </a:r>
          </a:p>
          <a:p>
            <a:pPr lvl="1" hangingPunct="0"/>
            <a:r>
              <a:rPr lang="en-US" sz="2200" dirty="0"/>
              <a:t>With the CSS attribute </a:t>
            </a:r>
            <a:r>
              <a:rPr lang="en-US" sz="2200" dirty="0">
                <a:solidFill>
                  <a:srgbClr val="C00000"/>
                </a:solidFill>
              </a:rPr>
              <a:t>letter-spacing</a:t>
            </a:r>
            <a:r>
              <a:rPr lang="en-US" sz="2200" dirty="0"/>
              <a:t> you are able to specify the </a:t>
            </a:r>
            <a:r>
              <a:rPr lang="en-US" sz="2200" dirty="0">
                <a:solidFill>
                  <a:srgbClr val="C00000"/>
                </a:solidFill>
              </a:rPr>
              <a:t>exact value </a:t>
            </a:r>
            <a:r>
              <a:rPr lang="en-US" sz="2200" dirty="0"/>
              <a:t>of the </a:t>
            </a:r>
            <a:r>
              <a:rPr lang="en-US" sz="2200" dirty="0">
                <a:solidFill>
                  <a:srgbClr val="C00000"/>
                </a:solidFill>
              </a:rPr>
              <a:t>spacing </a:t>
            </a:r>
            <a:r>
              <a:rPr lang="en-US" sz="2200" dirty="0"/>
              <a:t>between your </a:t>
            </a:r>
            <a:r>
              <a:rPr lang="en-US" sz="2200" dirty="0">
                <a:solidFill>
                  <a:srgbClr val="C00000"/>
                </a:solidFill>
              </a:rPr>
              <a:t>letters</a:t>
            </a:r>
            <a:r>
              <a:rPr lang="en-US" sz="2200" dirty="0"/>
              <a:t>. Letter-spacing should be defined with exact values.</a:t>
            </a:r>
          </a:p>
          <a:p>
            <a:pPr lvl="0"/>
            <a:r>
              <a:rPr lang="en-US" b="1" dirty="0"/>
              <a:t>Line Height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line-height</a:t>
            </a:r>
            <a:r>
              <a:rPr lang="en-US" sz="2200" dirty="0"/>
              <a:t> attribute will </a:t>
            </a:r>
            <a:r>
              <a:rPr lang="en-US" sz="2200" dirty="0">
                <a:solidFill>
                  <a:srgbClr val="C00000"/>
                </a:solidFill>
              </a:rPr>
              <a:t>set</a:t>
            </a:r>
            <a:r>
              <a:rPr lang="en-US" sz="2200" dirty="0"/>
              <a:t> the </a:t>
            </a:r>
            <a:r>
              <a:rPr lang="en-US" sz="2200" dirty="0">
                <a:solidFill>
                  <a:srgbClr val="C00000"/>
                </a:solidFill>
              </a:rPr>
              <a:t>height</a:t>
            </a:r>
            <a:r>
              <a:rPr lang="en-US" sz="2200" dirty="0"/>
              <a:t> of the </a:t>
            </a:r>
            <a:r>
              <a:rPr lang="en-US" sz="2200" dirty="0">
                <a:solidFill>
                  <a:srgbClr val="C00000"/>
                </a:solidFill>
              </a:rPr>
              <a:t>line</a:t>
            </a:r>
            <a:r>
              <a:rPr lang="en-US" sz="2200" dirty="0"/>
              <a:t> in the page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43A9A-73EA-F02F-B5D1-8C4698ABC2AC}"/>
              </a:ext>
            </a:extLst>
          </p:cNvPr>
          <p:cNvSpPr txBox="1"/>
          <p:nvPr/>
        </p:nvSpPr>
        <p:spPr>
          <a:xfrm>
            <a:off x="8404371" y="8634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       	letter-spacing : 3px;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679E0-7688-BBB4-C8EF-15FF7303D180}"/>
              </a:ext>
            </a:extLst>
          </p:cNvPr>
          <p:cNvSpPr txBox="1"/>
          <p:nvPr/>
        </p:nvSpPr>
        <p:spPr>
          <a:xfrm>
            <a:off x="8404371" y="2505670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line-height : 10px;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694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64F6-DA7D-2328-2A0B-B905C3A6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4287-8444-DB76-C5A1-B82B6456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Font Property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9D49C-2530-BD0C-0708-C5D9362AE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1613301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5DE8F-2A5E-FD8C-DEDB-0C9A5AD4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7D9C-737A-2A87-F219-5DEEB6430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Font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168BD-20CD-9F5B-224E-43E7904AA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lvl="0"/>
            <a:r>
              <a:rPr lang="en-US" dirty="0"/>
              <a:t>CSS font properties define the font family, boldness, size, and the style of a text.</a:t>
            </a:r>
          </a:p>
          <a:p>
            <a:pPr lvl="0"/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Font Color		(color)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Font Family		(font-family)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Font Size		(font-size)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Font Style		(font-style)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Font Weight		(font-weight)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Font Variant		(font-variant)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A9D63-A255-BA08-0823-A2580A7CFC2D}"/>
              </a:ext>
            </a:extLst>
          </p:cNvPr>
          <p:cNvSpPr txBox="1"/>
          <p:nvPr/>
        </p:nvSpPr>
        <p:spPr>
          <a:xfrm>
            <a:off x="3547160" y="1525160"/>
            <a:ext cx="205740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Property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28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6E623-06FC-8EA1-DC86-E7DE9122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E0F7-6E5C-F7A5-CD5E-E48801E8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Font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18E15-70C4-00E6-80EE-C8C0C588F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/>
          <a:lstStyle/>
          <a:p>
            <a:pPr lvl="0"/>
            <a:r>
              <a:rPr lang="en-US" b="1" dirty="0"/>
              <a:t>Font Color</a:t>
            </a:r>
          </a:p>
          <a:p>
            <a:pPr lvl="1" hangingPunct="0"/>
            <a:r>
              <a:rPr lang="en-US" sz="2200" dirty="0"/>
              <a:t>Set the </a:t>
            </a:r>
            <a:r>
              <a:rPr lang="en-US" sz="2200" dirty="0">
                <a:solidFill>
                  <a:srgbClr val="C00000"/>
                </a:solidFill>
              </a:rPr>
              <a:t>text-color</a:t>
            </a:r>
            <a:r>
              <a:rPr lang="en-US" sz="2200" dirty="0"/>
              <a:t> for different elements</a:t>
            </a:r>
          </a:p>
          <a:p>
            <a:pPr lvl="1" hangingPunct="0"/>
            <a:endParaRPr lang="en-US" dirty="0"/>
          </a:p>
          <a:p>
            <a:pPr lvl="0"/>
            <a:r>
              <a:rPr lang="en-US" b="1" dirty="0"/>
              <a:t>Font Family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font family </a:t>
            </a:r>
            <a:r>
              <a:rPr lang="en-US" sz="2200" dirty="0"/>
              <a:t>of a text is set with the </a:t>
            </a:r>
            <a:r>
              <a:rPr lang="en-US" sz="2200" dirty="0">
                <a:solidFill>
                  <a:srgbClr val="C00000"/>
                </a:solidFill>
              </a:rPr>
              <a:t>font-family </a:t>
            </a:r>
            <a:r>
              <a:rPr lang="en-US" sz="2200" dirty="0"/>
              <a:t>property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lvl="0"/>
            <a:r>
              <a:rPr lang="en-US" b="1" dirty="0"/>
              <a:t>Font Size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font-size</a:t>
            </a:r>
            <a:r>
              <a:rPr lang="en-US" sz="2200" dirty="0"/>
              <a:t> property sets the </a:t>
            </a:r>
            <a:r>
              <a:rPr lang="en-US" sz="2200" dirty="0">
                <a:solidFill>
                  <a:srgbClr val="C00000"/>
                </a:solidFill>
              </a:rPr>
              <a:t>size</a:t>
            </a:r>
            <a:r>
              <a:rPr lang="en-US" sz="2200" dirty="0"/>
              <a:t> of the </a:t>
            </a:r>
            <a:r>
              <a:rPr lang="en-US" sz="2200" dirty="0">
                <a:solidFill>
                  <a:srgbClr val="C00000"/>
                </a:solidFill>
              </a:rPr>
              <a:t>text</a:t>
            </a:r>
            <a:r>
              <a:rPr lang="en-US" sz="2200" dirty="0"/>
              <a:t>.</a:t>
            </a:r>
          </a:p>
          <a:p>
            <a:pPr lvl="2"/>
            <a:r>
              <a:rPr lang="en-US" sz="2000" dirty="0"/>
              <a:t>font-size : 120%</a:t>
            </a:r>
          </a:p>
          <a:p>
            <a:pPr lvl="2"/>
            <a:r>
              <a:rPr lang="en-US" sz="2000" dirty="0"/>
              <a:t>font-size : 10px;</a:t>
            </a:r>
          </a:p>
          <a:p>
            <a:pPr lvl="2"/>
            <a:r>
              <a:rPr lang="en-US" sz="2000" dirty="0"/>
              <a:t>font-size : x-large;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AF891-5ED9-7446-9AF7-29AE43C48718}"/>
              </a:ext>
            </a:extLst>
          </p:cNvPr>
          <p:cNvSpPr txBox="1"/>
          <p:nvPr/>
        </p:nvSpPr>
        <p:spPr>
          <a:xfrm>
            <a:off x="8119145" y="727357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color : red; 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B6E40-79B7-B26E-49CF-D91775291C09}"/>
              </a:ext>
            </a:extLst>
          </p:cNvPr>
          <p:cNvSpPr txBox="1"/>
          <p:nvPr/>
        </p:nvSpPr>
        <p:spPr>
          <a:xfrm>
            <a:off x="8119145" y="1691929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font-family : </a:t>
            </a:r>
            <a:r>
              <a:rPr lang="en-US" i="1" dirty="0"/>
              <a:t>sans-serif;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34E73-6B8E-587E-2D65-21132BB178C7}"/>
              </a:ext>
            </a:extLst>
          </p:cNvPr>
          <p:cNvSpPr txBox="1"/>
          <p:nvPr/>
        </p:nvSpPr>
        <p:spPr>
          <a:xfrm>
            <a:off x="8119145" y="2687974"/>
            <a:ext cx="3505200" cy="369331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font-size: 120%;</a:t>
            </a:r>
          </a:p>
          <a:p>
            <a:r>
              <a:rPr lang="en-US" dirty="0"/>
              <a:t>	</a:t>
            </a:r>
            <a:r>
              <a:rPr lang="fr-FR" dirty="0"/>
              <a:t>font-size : 10px;</a:t>
            </a:r>
          </a:p>
          <a:p>
            <a:pPr lvl="2"/>
            <a:r>
              <a:rPr lang="fr-FR" dirty="0"/>
              <a:t>font-size : </a:t>
            </a:r>
            <a:r>
              <a:rPr lang="fr-FR" dirty="0" err="1"/>
              <a:t>small</a:t>
            </a:r>
            <a:r>
              <a:rPr lang="fr-FR" dirty="0"/>
              <a:t>;</a:t>
            </a:r>
          </a:p>
          <a:p>
            <a:r>
              <a:rPr lang="en-US" dirty="0"/>
              <a:t>	font-size : smaller;</a:t>
            </a:r>
          </a:p>
          <a:p>
            <a:r>
              <a:rPr lang="en-US" dirty="0"/>
              <a:t>	</a:t>
            </a:r>
            <a:r>
              <a:rPr lang="fr-FR" dirty="0"/>
              <a:t>font-size : x-</a:t>
            </a:r>
            <a:r>
              <a:rPr lang="fr-FR" dirty="0" err="1"/>
              <a:t>small</a:t>
            </a:r>
            <a:r>
              <a:rPr lang="fr-FR" dirty="0"/>
              <a:t>;</a:t>
            </a:r>
          </a:p>
          <a:p>
            <a:pPr lvl="2"/>
            <a:r>
              <a:rPr lang="fr-FR" dirty="0"/>
              <a:t>font-size : xx-</a:t>
            </a:r>
            <a:r>
              <a:rPr lang="fr-FR" dirty="0" err="1"/>
              <a:t>small</a:t>
            </a:r>
            <a:r>
              <a:rPr lang="fr-FR" dirty="0"/>
              <a:t>;</a:t>
            </a:r>
          </a:p>
          <a:p>
            <a:pPr lvl="2"/>
            <a:r>
              <a:rPr lang="fr-FR" dirty="0"/>
              <a:t>font-size : large;</a:t>
            </a:r>
          </a:p>
          <a:p>
            <a:pPr lvl="2"/>
            <a:r>
              <a:rPr lang="fr-FR" dirty="0"/>
              <a:t>font-size : </a:t>
            </a:r>
            <a:r>
              <a:rPr lang="fr-FR" dirty="0" err="1"/>
              <a:t>larger</a:t>
            </a:r>
            <a:r>
              <a:rPr lang="fr-FR" dirty="0"/>
              <a:t>;</a:t>
            </a:r>
          </a:p>
          <a:p>
            <a:pPr lvl="2"/>
            <a:r>
              <a:rPr lang="fr-FR" dirty="0"/>
              <a:t>font-size : x-large;</a:t>
            </a:r>
          </a:p>
          <a:p>
            <a:pPr lvl="2"/>
            <a:r>
              <a:rPr lang="fr-FR" dirty="0"/>
              <a:t>font-size : xx-large;</a:t>
            </a:r>
          </a:p>
          <a:p>
            <a:pPr lvl="2"/>
            <a:r>
              <a:rPr lang="fr-FR" dirty="0"/>
              <a:t>font-size : medium;</a:t>
            </a:r>
            <a:endParaRPr lang="en-US" dirty="0"/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386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6CE8C-8D15-492D-CB99-8FC36592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825C-29D6-CA8D-B3EC-037417AF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Font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FA1B-C657-7180-FE88-72D423C23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7913862" cy="5590565"/>
          </a:xfrm>
        </p:spPr>
        <p:txBody>
          <a:bodyPr/>
          <a:lstStyle/>
          <a:p>
            <a:pPr lvl="0"/>
            <a:r>
              <a:rPr lang="en-US" b="1" dirty="0"/>
              <a:t>Font Style</a:t>
            </a:r>
          </a:p>
          <a:p>
            <a:pPr lvl="1" hangingPunct="0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font-style</a:t>
            </a:r>
            <a:r>
              <a:rPr lang="en-US" sz="2200" dirty="0"/>
              <a:t> property is mostly used to specify </a:t>
            </a:r>
            <a:r>
              <a:rPr lang="en-US" sz="2200" dirty="0">
                <a:solidFill>
                  <a:srgbClr val="C00000"/>
                </a:solidFill>
              </a:rPr>
              <a:t>italic text</a:t>
            </a:r>
            <a:r>
              <a:rPr lang="en-US" sz="2200" dirty="0"/>
              <a:t>.</a:t>
            </a:r>
          </a:p>
          <a:p>
            <a:pPr lvl="1" hangingPunct="0"/>
            <a:endParaRPr lang="en-US" dirty="0"/>
          </a:p>
          <a:p>
            <a:pPr lvl="0"/>
            <a:r>
              <a:rPr lang="en-US" b="1" dirty="0"/>
              <a:t>Font Weight</a:t>
            </a:r>
          </a:p>
          <a:p>
            <a:pPr lvl="1" hangingPunct="0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font-weight</a:t>
            </a:r>
            <a:r>
              <a:rPr lang="en-US" sz="2200" dirty="0"/>
              <a:t> property sets how </a:t>
            </a:r>
            <a:r>
              <a:rPr lang="en-US" sz="2200" dirty="0">
                <a:solidFill>
                  <a:srgbClr val="C00000"/>
                </a:solidFill>
              </a:rPr>
              <a:t>thick</a:t>
            </a:r>
            <a:r>
              <a:rPr lang="en-US" sz="2200" dirty="0"/>
              <a:t> or </a:t>
            </a:r>
            <a:r>
              <a:rPr lang="en-US" sz="2200" dirty="0">
                <a:solidFill>
                  <a:srgbClr val="C00000"/>
                </a:solidFill>
              </a:rPr>
              <a:t>thin</a:t>
            </a:r>
            <a:r>
              <a:rPr lang="en-US" sz="2200" dirty="0"/>
              <a:t> characters in text should be displayed.</a:t>
            </a:r>
          </a:p>
          <a:p>
            <a:pPr marL="457200" lvl="1" indent="0" hangingPunct="0">
              <a:buNone/>
            </a:pPr>
            <a:endParaRPr lang="en-US" dirty="0"/>
          </a:p>
          <a:p>
            <a:pPr lvl="0"/>
            <a:r>
              <a:rPr lang="en-US" b="1" dirty="0"/>
              <a:t>Font Variant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font-variant</a:t>
            </a:r>
            <a:r>
              <a:rPr lang="en-US" sz="2200" dirty="0"/>
              <a:t> property specifies whether or not a text should be displayed in a </a:t>
            </a:r>
            <a:r>
              <a:rPr lang="en-US" sz="2200" dirty="0">
                <a:solidFill>
                  <a:srgbClr val="C00000"/>
                </a:solidFill>
              </a:rPr>
              <a:t>small-caps</a:t>
            </a:r>
            <a:r>
              <a:rPr lang="en-US" sz="2200" dirty="0"/>
              <a:t> font.</a:t>
            </a:r>
          </a:p>
          <a:p>
            <a:pPr lvl="2"/>
            <a:r>
              <a:rPr lang="en-US" sz="2000" dirty="0"/>
              <a:t>font-variant : small-caps;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1217E-5AA8-8796-5657-433526E0675B}"/>
              </a:ext>
            </a:extLst>
          </p:cNvPr>
          <p:cNvSpPr txBox="1"/>
          <p:nvPr/>
        </p:nvSpPr>
        <p:spPr>
          <a:xfrm>
            <a:off x="8194646" y="8634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font-style: italic ; 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C9DE0-3388-3464-31FA-F0B2F9B76C9A}"/>
              </a:ext>
            </a:extLst>
          </p:cNvPr>
          <p:cNvSpPr txBox="1"/>
          <p:nvPr/>
        </p:nvSpPr>
        <p:spPr>
          <a:xfrm>
            <a:off x="8194646" y="2045434"/>
            <a:ext cx="3505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font-weight : </a:t>
            </a:r>
            <a:r>
              <a:rPr lang="en-US" i="1" dirty="0"/>
              <a:t>300;</a:t>
            </a:r>
          </a:p>
          <a:p>
            <a:r>
              <a:rPr lang="en-US" i="1" dirty="0"/>
              <a:t>	</a:t>
            </a:r>
            <a:r>
              <a:rPr lang="en-US" dirty="0"/>
              <a:t>font-weight : bolder;</a:t>
            </a:r>
          </a:p>
          <a:p>
            <a:r>
              <a:rPr lang="en-US" dirty="0"/>
              <a:t>	font-weight : lighter;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CA148-A365-1BB4-78E6-7050F881C40D}"/>
              </a:ext>
            </a:extLst>
          </p:cNvPr>
          <p:cNvSpPr txBox="1"/>
          <p:nvPr/>
        </p:nvSpPr>
        <p:spPr>
          <a:xfrm>
            <a:off x="8194646" y="3781422"/>
            <a:ext cx="3505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font-variant: small-caps;</a:t>
            </a:r>
          </a:p>
          <a:p>
            <a:r>
              <a:rPr lang="en-US" dirty="0"/>
              <a:t>	</a:t>
            </a:r>
            <a:endParaRPr lang="fr-FR" dirty="0"/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715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4AE8-1D27-91F0-117F-6BD1C41E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79AA-5AC5-01E7-CF2C-FB991BC6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Background </a:t>
            </a:r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Properties 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F1415-6455-CFE6-DBC6-6A3B15CB3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582240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42B7-2C23-194F-0996-953FD0B7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7D7-9F37-175D-EBA8-58015507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Background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1245-47C0-A2FB-8F85-2EB77188F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r>
              <a:rPr lang="en-US" dirty="0"/>
              <a:t>Background Color				</a:t>
            </a:r>
            <a:r>
              <a:rPr lang="en-US" sz="2200" dirty="0"/>
              <a:t>(background-color)</a:t>
            </a:r>
          </a:p>
          <a:p>
            <a:r>
              <a:rPr lang="en-US" dirty="0"/>
              <a:t>Background Image				</a:t>
            </a:r>
            <a:r>
              <a:rPr lang="en-US" sz="2200" dirty="0"/>
              <a:t>(background-image)</a:t>
            </a:r>
          </a:p>
          <a:p>
            <a:r>
              <a:rPr lang="en-US" dirty="0"/>
              <a:t>Background Image Repeat			</a:t>
            </a:r>
            <a:r>
              <a:rPr lang="en-US" sz="2200" dirty="0"/>
              <a:t>(background-repeat)</a:t>
            </a:r>
          </a:p>
          <a:p>
            <a:r>
              <a:rPr lang="en-US" dirty="0"/>
              <a:t>Fixed Background Image			</a:t>
            </a:r>
            <a:r>
              <a:rPr lang="en-US" sz="2200" dirty="0"/>
              <a:t>(background-attachment)</a:t>
            </a:r>
          </a:p>
          <a:p>
            <a:r>
              <a:rPr lang="en-US" dirty="0"/>
              <a:t>Background Image Positioning		</a:t>
            </a:r>
            <a:r>
              <a:rPr lang="en-US" sz="2200" dirty="0"/>
              <a:t>(background-position)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CC624-1948-651E-E69E-79610BBB628E}"/>
              </a:ext>
            </a:extLst>
          </p:cNvPr>
          <p:cNvSpPr txBox="1"/>
          <p:nvPr/>
        </p:nvSpPr>
        <p:spPr>
          <a:xfrm>
            <a:off x="5734397" y="863444"/>
            <a:ext cx="205740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Property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0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BFEE6-037D-CA1D-8951-5D87860B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A4F7-A17F-28C4-DAE2-C6623EF6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Background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0CF5-6F2F-FEF6-B384-2C427447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hangingPunct="0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background-color</a:t>
            </a:r>
            <a:r>
              <a:rPr lang="en-US" dirty="0"/>
              <a:t> property specifies the background color of an element.</a:t>
            </a:r>
          </a:p>
          <a:p>
            <a:pPr hangingPunct="0"/>
            <a:r>
              <a:rPr lang="en-US" dirty="0"/>
              <a:t>The background color of a page is defined in the body selector:</a:t>
            </a:r>
          </a:p>
          <a:p>
            <a:pPr hangingPunct="0"/>
            <a:r>
              <a:rPr lang="en-US" dirty="0"/>
              <a:t>Below is example of CSS backgrounds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85A02-558E-A333-EF18-0A191DE40285}"/>
              </a:ext>
            </a:extLst>
          </p:cNvPr>
          <p:cNvSpPr txBox="1"/>
          <p:nvPr/>
        </p:nvSpPr>
        <p:spPr>
          <a:xfrm>
            <a:off x="642733" y="2771434"/>
            <a:ext cx="4809061" cy="203132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dirty="0"/>
              <a:t>body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background-color : red; </a:t>
            </a:r>
          </a:p>
          <a:p>
            <a:r>
              <a:rPr lang="en-US" dirty="0"/>
              <a:t>	background-color : #FF0000;</a:t>
            </a:r>
          </a:p>
          <a:p>
            <a:r>
              <a:rPr lang="en-US" dirty="0"/>
              <a:t>	background-color : </a:t>
            </a:r>
            <a:r>
              <a:rPr lang="en-US" dirty="0" err="1"/>
              <a:t>rgb</a:t>
            </a:r>
            <a:r>
              <a:rPr lang="en-US" dirty="0"/>
              <a:t>(255,0,0);</a:t>
            </a:r>
          </a:p>
          <a:p>
            <a:r>
              <a:rPr lang="en-US" dirty="0"/>
              <a:t>}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D721506-DC0B-CD3E-2820-93B0343DC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69012" y="2771434"/>
            <a:ext cx="4962822" cy="279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3494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B0C1-EC93-3274-70F0-C1EEF68F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339B-F98E-B5AF-DF85-C93CCC47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Background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6F9DF-B76E-3CCC-1258-6A9B6D5EB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hangingPunct="0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background-image</a:t>
            </a:r>
            <a:r>
              <a:rPr lang="en-US" dirty="0"/>
              <a:t> property specifies an image to use as the background of an element.</a:t>
            </a:r>
            <a:endParaRPr lang="en-US" sz="3600" dirty="0"/>
          </a:p>
          <a:p>
            <a:r>
              <a:rPr lang="en-US" dirty="0"/>
              <a:t>For Example,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3C338-8E83-C14F-C190-E337E4CC049D}"/>
              </a:ext>
            </a:extLst>
          </p:cNvPr>
          <p:cNvSpPr txBox="1"/>
          <p:nvPr/>
        </p:nvSpPr>
        <p:spPr>
          <a:xfrm>
            <a:off x="510330" y="1781962"/>
            <a:ext cx="79248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dirty="0"/>
              <a:t>body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background-image : </a:t>
            </a:r>
            <a:r>
              <a:rPr lang="en-US" dirty="0" err="1"/>
              <a:t>url</a:t>
            </a:r>
            <a:r>
              <a:rPr lang="en-US" dirty="0"/>
              <a:t>(‘pathToImage.jpg’);</a:t>
            </a:r>
          </a:p>
          <a:p>
            <a:r>
              <a:rPr lang="en-US" dirty="0"/>
              <a:t>}</a:t>
            </a:r>
          </a:p>
        </p:txBody>
      </p:sp>
      <p:pic>
        <p:nvPicPr>
          <p:cNvPr id="5" name="Picture 3" descr="C:\Users\admin\Desktop\UnderWaterCable.png">
            <a:extLst>
              <a:ext uri="{FF2B5EF4-FFF2-40B4-BE49-F238E27FC236}">
                <a16:creationId xmlns:a16="http://schemas.microsoft.com/office/drawing/2014/main" id="{FA747021-4574-F172-ED66-E469EF923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4316" y="1749101"/>
            <a:ext cx="2944813" cy="1543050"/>
          </a:xfrm>
          <a:prstGeom prst="rect">
            <a:avLst/>
          </a:prstGeom>
          <a:noFill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85D3B9F-EAF7-1A2A-AA93-813A3928B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6767" y="3498979"/>
            <a:ext cx="5943600" cy="2881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9414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053C-D24C-A26B-63F2-0EF856E54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6E1E-B92F-6C27-2081-5956B3BC4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Background Image Repeat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5942D-D1B6-3D71-5C9D-DD0A526FC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hangingPunct="0"/>
            <a:r>
              <a:rPr lang="en-US" dirty="0"/>
              <a:t>You can have a background image repeat </a:t>
            </a:r>
            <a:r>
              <a:rPr lang="en-US" dirty="0">
                <a:solidFill>
                  <a:srgbClr val="C00000"/>
                </a:solidFill>
              </a:rPr>
              <a:t>vertically</a:t>
            </a:r>
            <a:r>
              <a:rPr lang="en-US" dirty="0"/>
              <a:t> (y-axis), </a:t>
            </a:r>
            <a:r>
              <a:rPr lang="en-US" dirty="0">
                <a:solidFill>
                  <a:srgbClr val="C00000"/>
                </a:solidFill>
              </a:rPr>
              <a:t>horizontally</a:t>
            </a:r>
            <a:r>
              <a:rPr lang="en-US" dirty="0"/>
              <a:t> (x-axis), in both directions, or in neither direction.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5E6DB-D329-E563-215A-ADDCE59790BB}"/>
              </a:ext>
            </a:extLst>
          </p:cNvPr>
          <p:cNvSpPr txBox="1"/>
          <p:nvPr/>
        </p:nvSpPr>
        <p:spPr>
          <a:xfrm>
            <a:off x="517564" y="2011417"/>
            <a:ext cx="5295408" cy="258532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dirty="0"/>
              <a:t>body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background-image : </a:t>
            </a:r>
            <a:r>
              <a:rPr lang="en-US" dirty="0" err="1"/>
              <a:t>url</a:t>
            </a:r>
            <a:r>
              <a:rPr lang="en-US" dirty="0"/>
              <a:t>(‘pathToImage.jpg’);</a:t>
            </a:r>
          </a:p>
          <a:p>
            <a:r>
              <a:rPr lang="en-US" dirty="0"/>
              <a:t>	background-repeat : repeat; </a:t>
            </a:r>
          </a:p>
          <a:p>
            <a:r>
              <a:rPr lang="en-US" dirty="0"/>
              <a:t>	background-repeat : repeat-x;</a:t>
            </a:r>
          </a:p>
          <a:p>
            <a:r>
              <a:rPr lang="en-US" dirty="0"/>
              <a:t>	background-repeat : repeat-y;</a:t>
            </a:r>
          </a:p>
          <a:p>
            <a:r>
              <a:rPr lang="en-US" dirty="0"/>
              <a:t>	background-repeat : no-repeat;</a:t>
            </a:r>
          </a:p>
          <a:p>
            <a:r>
              <a:rPr lang="en-US" dirty="0"/>
              <a:t>}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0065DD-6C74-2887-9FAC-4E910FEB8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9030" y="1886923"/>
            <a:ext cx="4506257" cy="3756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756F6361-DAE9-6B7C-44DB-87196F0D2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9030" y="1886923"/>
            <a:ext cx="4702200" cy="375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3802E60-9A8D-9C2E-B445-83F81415B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3696" y="1886921"/>
            <a:ext cx="4697533" cy="375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4747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14FE9-A6ED-FE7E-FF45-935A503E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76CA-0EC2-39EF-CFC1-1A5177BC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Fixed Background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86B5-66EA-2F21-6B91-6AF0CEB4B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hangingPunct="0"/>
            <a:r>
              <a:rPr lang="en-US" dirty="0"/>
              <a:t>The background-attachment property sets whether a </a:t>
            </a:r>
            <a:r>
              <a:rPr lang="en-US" dirty="0">
                <a:solidFill>
                  <a:srgbClr val="C00000"/>
                </a:solidFill>
              </a:rPr>
              <a:t>background image </a:t>
            </a:r>
            <a:r>
              <a:rPr lang="en-US" dirty="0"/>
              <a:t>is </a:t>
            </a:r>
            <a:r>
              <a:rPr lang="en-US" dirty="0">
                <a:solidFill>
                  <a:srgbClr val="C00000"/>
                </a:solidFill>
              </a:rPr>
              <a:t>fixed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scrolls</a:t>
            </a:r>
            <a:r>
              <a:rPr lang="en-US" dirty="0"/>
              <a:t> with the rest of the page.</a:t>
            </a:r>
          </a:p>
          <a:p>
            <a:pPr hangingPunct="0"/>
            <a:r>
              <a:rPr lang="en-US" dirty="0"/>
              <a:t>For Example,</a:t>
            </a:r>
          </a:p>
          <a:p>
            <a:pPr hangingPunct="0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3A559-14EA-DA19-88D0-F3960F7DEE9A}"/>
              </a:ext>
            </a:extLst>
          </p:cNvPr>
          <p:cNvSpPr txBox="1"/>
          <p:nvPr/>
        </p:nvSpPr>
        <p:spPr>
          <a:xfrm>
            <a:off x="499844" y="2281763"/>
            <a:ext cx="7924800" cy="203132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dirty="0"/>
              <a:t>body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background-image : </a:t>
            </a:r>
            <a:r>
              <a:rPr lang="en-US" dirty="0" err="1"/>
              <a:t>url</a:t>
            </a:r>
            <a:r>
              <a:rPr lang="en-US" dirty="0"/>
              <a:t>(‘pathToImage.jpg’);</a:t>
            </a:r>
          </a:p>
          <a:p>
            <a:r>
              <a:rPr lang="en-US" dirty="0"/>
              <a:t>	background-repeat : no-repeat;</a:t>
            </a:r>
          </a:p>
          <a:p>
            <a:r>
              <a:rPr lang="en-US" dirty="0"/>
              <a:t>	background-attachment : fixed;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087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099E-793A-C0CC-FF7A-49EDE31B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31D5-6A2B-E679-332D-52625EFE4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Background Image Positioning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286EC-3EC1-4BD2-A350-4E12EBB5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lvl="0"/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C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background-position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 property sets the starting position of a background image.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5D145-AFB8-2A23-BC69-C087BD115264}"/>
              </a:ext>
            </a:extLst>
          </p:cNvPr>
          <p:cNvSpPr txBox="1"/>
          <p:nvPr/>
        </p:nvSpPr>
        <p:spPr>
          <a:xfrm>
            <a:off x="533400" y="1587270"/>
            <a:ext cx="5028966" cy="258532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dirty="0"/>
              <a:t>body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background-image : </a:t>
            </a:r>
            <a:r>
              <a:rPr lang="en-US" dirty="0" err="1"/>
              <a:t>url</a:t>
            </a:r>
            <a:r>
              <a:rPr lang="en-US" dirty="0"/>
              <a:t>(‘pathToImage.jpg’);</a:t>
            </a:r>
          </a:p>
          <a:p>
            <a:r>
              <a:rPr lang="en-US" dirty="0"/>
              <a:t>	background-repeat : no-repeat;</a:t>
            </a:r>
          </a:p>
          <a:p>
            <a:r>
              <a:rPr lang="en-US" dirty="0"/>
              <a:t>	background-position: 20px 10px;</a:t>
            </a:r>
          </a:p>
          <a:p>
            <a:r>
              <a:rPr lang="en-US" dirty="0"/>
              <a:t>	background-position: 30%30%;</a:t>
            </a:r>
          </a:p>
          <a:p>
            <a:r>
              <a:rPr lang="en-US" dirty="0"/>
              <a:t>	background-position: top center;</a:t>
            </a:r>
          </a:p>
          <a:p>
            <a:r>
              <a:rPr lang="en-US" dirty="0"/>
              <a:t>}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C882B9-3B59-7256-023B-EA5118AA1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35701" y="1587270"/>
            <a:ext cx="6107484" cy="3653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7289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70DB1-8D49-21D1-278F-2620296DA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1C87-AABA-B895-15C6-F283BB87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Padding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1F0A9-7265-3037-B867-56E5A7134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914401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CA5C-3E61-6DC9-57E6-D072857D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86DC-EDFB-13D6-CEAF-2582D6DA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E2B1B-C817-355F-4DC9-B7050CC9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8106809" cy="5590565"/>
          </a:xfrm>
        </p:spPr>
        <p:txBody>
          <a:bodyPr/>
          <a:lstStyle/>
          <a:p>
            <a:r>
              <a:rPr lang="en-US" dirty="0"/>
              <a:t>The CSS </a:t>
            </a:r>
            <a:r>
              <a:rPr lang="en-US" dirty="0">
                <a:solidFill>
                  <a:srgbClr val="C00000"/>
                </a:solidFill>
              </a:rPr>
              <a:t>padding</a:t>
            </a:r>
            <a:r>
              <a:rPr lang="en-US" dirty="0"/>
              <a:t> properties define the </a:t>
            </a:r>
            <a:r>
              <a:rPr lang="en-US" dirty="0">
                <a:solidFill>
                  <a:srgbClr val="C00000"/>
                </a:solidFill>
              </a:rPr>
              <a:t>space</a:t>
            </a:r>
            <a:r>
              <a:rPr lang="en-US" dirty="0"/>
              <a:t> between the element </a:t>
            </a:r>
            <a:r>
              <a:rPr lang="en-US" dirty="0">
                <a:solidFill>
                  <a:srgbClr val="C00000"/>
                </a:solidFill>
              </a:rPr>
              <a:t>border</a:t>
            </a:r>
            <a:r>
              <a:rPr lang="en-US" dirty="0"/>
              <a:t> and the element </a:t>
            </a:r>
            <a:r>
              <a:rPr lang="en-US" dirty="0">
                <a:solidFill>
                  <a:srgbClr val="C00000"/>
                </a:solidFill>
              </a:rPr>
              <a:t>content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top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right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bottom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left</a:t>
            </a:r>
            <a:r>
              <a:rPr lang="en-US" dirty="0"/>
              <a:t> padding can be changed independently using separate properties.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shorthand padding </a:t>
            </a:r>
            <a:r>
              <a:rPr lang="en-US" dirty="0"/>
              <a:t>property can also be used, to </a:t>
            </a:r>
            <a:r>
              <a:rPr lang="en-US" dirty="0">
                <a:solidFill>
                  <a:srgbClr val="C00000"/>
                </a:solidFill>
              </a:rPr>
              <a:t>change all padding at once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BC2CA-2B6E-A385-E07E-3825688817A0}"/>
              </a:ext>
            </a:extLst>
          </p:cNvPr>
          <p:cNvSpPr txBox="1"/>
          <p:nvPr/>
        </p:nvSpPr>
        <p:spPr>
          <a:xfrm>
            <a:off x="8362426" y="8634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        	padding : 10px;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489A6-2278-4E06-FA7B-16AB887B5C09}"/>
              </a:ext>
            </a:extLst>
          </p:cNvPr>
          <p:cNvSpPr txBox="1"/>
          <p:nvPr/>
        </p:nvSpPr>
        <p:spPr>
          <a:xfrm>
            <a:off x="8362426" y="2110446"/>
            <a:ext cx="3505200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padding-top : 10px;</a:t>
            </a:r>
          </a:p>
          <a:p>
            <a:r>
              <a:rPr lang="en-US" dirty="0"/>
              <a:t>	padding-right : 20px;</a:t>
            </a:r>
          </a:p>
          <a:p>
            <a:r>
              <a:rPr lang="en-US" dirty="0"/>
              <a:t>	padding-bottom : 30 </a:t>
            </a:r>
            <a:r>
              <a:rPr lang="en-US" dirty="0" err="1"/>
              <a:t>px</a:t>
            </a:r>
            <a:r>
              <a:rPr lang="en-US" dirty="0"/>
              <a:t>;</a:t>
            </a:r>
          </a:p>
          <a:p>
            <a:r>
              <a:rPr lang="en-US" dirty="0"/>
              <a:t>	padding-left : 40 </a:t>
            </a:r>
            <a:r>
              <a:rPr lang="en-US" dirty="0" err="1"/>
              <a:t>px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074441-0D36-948F-0D3D-8DDE5A429DD0}"/>
              </a:ext>
            </a:extLst>
          </p:cNvPr>
          <p:cNvSpPr txBox="1"/>
          <p:nvPr/>
        </p:nvSpPr>
        <p:spPr>
          <a:xfrm>
            <a:off x="8362426" y="41884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</a:t>
            </a:r>
          </a:p>
          <a:p>
            <a:r>
              <a:rPr lang="en-US" dirty="0"/>
              <a:t>      padding : 10px 20px 30px 40px;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409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D38C7-9211-22F2-CF00-95CF75DE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5D5F-56A4-6ED5-DAB7-C66274A1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Border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C30D-8B5A-410F-6890-0400F3B9E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2999135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F463-C94F-13BF-23DD-DB5D13FB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9665-EAD2-E244-0918-E2F130EE7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Border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80218-61F1-2B9E-AEB4-BC1E653B8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8282978" cy="5590565"/>
          </a:xfrm>
        </p:spPr>
        <p:txBody>
          <a:bodyPr/>
          <a:lstStyle/>
          <a:p>
            <a:r>
              <a:rPr lang="en-US" dirty="0"/>
              <a:t>The CSS </a:t>
            </a:r>
            <a:r>
              <a:rPr lang="en-US" dirty="0">
                <a:solidFill>
                  <a:srgbClr val="C00000"/>
                </a:solidFill>
              </a:rPr>
              <a:t>border</a:t>
            </a:r>
            <a:r>
              <a:rPr lang="en-US" dirty="0"/>
              <a:t> properties allow you to specify the </a:t>
            </a:r>
            <a:r>
              <a:rPr lang="en-US" dirty="0">
                <a:solidFill>
                  <a:srgbClr val="C00000"/>
                </a:solidFill>
              </a:rPr>
              <a:t>style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color</a:t>
            </a:r>
            <a:r>
              <a:rPr lang="en-US" dirty="0"/>
              <a:t> of an element's </a:t>
            </a:r>
            <a:r>
              <a:rPr lang="en-US" dirty="0">
                <a:solidFill>
                  <a:srgbClr val="C00000"/>
                </a:solidFill>
              </a:rPr>
              <a:t>border</a:t>
            </a:r>
            <a:r>
              <a:rPr lang="en-US" dirty="0"/>
              <a:t>.</a:t>
            </a:r>
          </a:p>
          <a:p>
            <a:r>
              <a:rPr lang="en-US" dirty="0"/>
              <a:t>Border Style Types 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border-style</a:t>
            </a:r>
            <a:r>
              <a:rPr lang="en-US" sz="2200" dirty="0"/>
              <a:t> property </a:t>
            </a:r>
            <a:r>
              <a:rPr lang="en-US" sz="2200" dirty="0">
                <a:solidFill>
                  <a:srgbClr val="C00000"/>
                </a:solidFill>
              </a:rPr>
              <a:t>specifies what kind</a:t>
            </a:r>
            <a:r>
              <a:rPr lang="en-US" sz="2200" dirty="0"/>
              <a:t> of </a:t>
            </a:r>
            <a:r>
              <a:rPr lang="en-US" sz="2200" dirty="0">
                <a:solidFill>
                  <a:srgbClr val="C00000"/>
                </a:solidFill>
              </a:rPr>
              <a:t>border</a:t>
            </a:r>
            <a:r>
              <a:rPr lang="en-US" sz="2200" dirty="0"/>
              <a:t> to display.</a:t>
            </a:r>
          </a:p>
          <a:p>
            <a:r>
              <a:rPr lang="en-US" dirty="0"/>
              <a:t>Border Width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border-width</a:t>
            </a:r>
            <a:r>
              <a:rPr lang="en-US" sz="2200" dirty="0"/>
              <a:t> property is used to </a:t>
            </a:r>
            <a:r>
              <a:rPr lang="en-US" sz="2200" dirty="0">
                <a:solidFill>
                  <a:srgbClr val="C00000"/>
                </a:solidFill>
              </a:rPr>
              <a:t>set</a:t>
            </a:r>
            <a:r>
              <a:rPr lang="en-US" sz="2200" dirty="0"/>
              <a:t> the </a:t>
            </a:r>
            <a:r>
              <a:rPr lang="en-US" sz="2200" dirty="0">
                <a:solidFill>
                  <a:srgbClr val="C00000"/>
                </a:solidFill>
              </a:rPr>
              <a:t>width</a:t>
            </a:r>
            <a:r>
              <a:rPr lang="en-US" sz="2200" dirty="0"/>
              <a:t> of the border.</a:t>
            </a:r>
          </a:p>
          <a:p>
            <a:r>
              <a:rPr lang="en-US" dirty="0"/>
              <a:t>Border Color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border-color</a:t>
            </a:r>
            <a:r>
              <a:rPr lang="en-US" sz="2200" dirty="0"/>
              <a:t> property is used to </a:t>
            </a:r>
            <a:r>
              <a:rPr lang="en-US" sz="2200" dirty="0">
                <a:solidFill>
                  <a:srgbClr val="C00000"/>
                </a:solidFill>
              </a:rPr>
              <a:t>set </a:t>
            </a:r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color</a:t>
            </a:r>
            <a:r>
              <a:rPr lang="en-US" sz="2200" dirty="0"/>
              <a:t> of the border.</a:t>
            </a:r>
          </a:p>
          <a:p>
            <a:pPr lvl="1"/>
            <a:r>
              <a:rPr lang="en-US" sz="2200" dirty="0"/>
              <a:t>Border colors can be any color defined by RGB, hexadecimal, or key terms. Below is an example of each of these types.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top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right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bottom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left</a:t>
            </a:r>
            <a:r>
              <a:rPr lang="en-US" dirty="0"/>
              <a:t> border can be changed independently using separate properties.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92BF7-2751-0A4C-84AB-7FB8C12FA8E7}"/>
              </a:ext>
            </a:extLst>
          </p:cNvPr>
          <p:cNvSpPr txBox="1"/>
          <p:nvPr/>
        </p:nvSpPr>
        <p:spPr>
          <a:xfrm>
            <a:off x="8546983" y="8634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border : 1px solid red;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64E66-2756-9C17-2F54-3404090FBD46}"/>
              </a:ext>
            </a:extLst>
          </p:cNvPr>
          <p:cNvSpPr txBox="1"/>
          <p:nvPr/>
        </p:nvSpPr>
        <p:spPr>
          <a:xfrm>
            <a:off x="8546983" y="1854044"/>
            <a:ext cx="3505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border-style : solid;</a:t>
            </a:r>
          </a:p>
          <a:p>
            <a:r>
              <a:rPr lang="en-US" dirty="0"/>
              <a:t>	border-style : dotted;</a:t>
            </a:r>
          </a:p>
          <a:p>
            <a:r>
              <a:rPr lang="en-US" dirty="0"/>
              <a:t>	border-style : double;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042FF-FF22-5963-3EBF-5D13C0881254}"/>
              </a:ext>
            </a:extLst>
          </p:cNvPr>
          <p:cNvSpPr txBox="1"/>
          <p:nvPr/>
        </p:nvSpPr>
        <p:spPr>
          <a:xfrm>
            <a:off x="8546983" y="33780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</a:t>
            </a:r>
          </a:p>
          <a:p>
            <a:r>
              <a:rPr lang="en-US" dirty="0"/>
              <a:t>	border-width : 7px; 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6A161-8CAC-B807-EBEB-5F18E2325085}"/>
              </a:ext>
            </a:extLst>
          </p:cNvPr>
          <p:cNvSpPr txBox="1"/>
          <p:nvPr/>
        </p:nvSpPr>
        <p:spPr>
          <a:xfrm>
            <a:off x="8546983" y="43686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</a:t>
            </a:r>
          </a:p>
          <a:p>
            <a:r>
              <a:rPr lang="en-US" dirty="0"/>
              <a:t>	border-color : red; 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1631D-BECF-3369-A5FA-BC36872F1561}"/>
              </a:ext>
            </a:extLst>
          </p:cNvPr>
          <p:cNvSpPr txBox="1"/>
          <p:nvPr/>
        </p:nvSpPr>
        <p:spPr>
          <a:xfrm>
            <a:off x="8546983" y="535031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</a:t>
            </a:r>
          </a:p>
          <a:p>
            <a:r>
              <a:rPr lang="en-US" dirty="0"/>
              <a:t>            border-top : 1px solid red;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980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3FE1E-CB90-2D3A-2C0D-EF4DE847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BAB7-F886-1840-17B3-29033A52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Margin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07658-132A-B75A-7520-E97A5FE8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4015877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EC26-3EE7-5670-F71C-773B141F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3B7A-1B9E-6690-8EA5-F8D92236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Margin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EC79-6C45-17D7-4197-897F67203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712526" cy="5590565"/>
          </a:xfrm>
        </p:spPr>
        <p:txBody>
          <a:bodyPr/>
          <a:lstStyle/>
          <a:p>
            <a:r>
              <a:rPr lang="en-US" dirty="0"/>
              <a:t>The CSS </a:t>
            </a:r>
            <a:r>
              <a:rPr lang="en-US" dirty="0">
                <a:solidFill>
                  <a:srgbClr val="C00000"/>
                </a:solidFill>
              </a:rPr>
              <a:t>margin</a:t>
            </a:r>
            <a:r>
              <a:rPr lang="en-US" dirty="0"/>
              <a:t> properties define the </a:t>
            </a:r>
            <a:r>
              <a:rPr lang="en-US" dirty="0">
                <a:solidFill>
                  <a:srgbClr val="C00000"/>
                </a:solidFill>
              </a:rPr>
              <a:t>space</a:t>
            </a:r>
            <a:r>
              <a:rPr lang="en-US" dirty="0"/>
              <a:t> around </a:t>
            </a:r>
            <a:r>
              <a:rPr lang="en-US" dirty="0">
                <a:solidFill>
                  <a:srgbClr val="C00000"/>
                </a:solidFill>
              </a:rPr>
              <a:t>elements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top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right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bottom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left</a:t>
            </a:r>
            <a:r>
              <a:rPr lang="en-US" dirty="0"/>
              <a:t> margin can be changed independently using separate properties.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shorthand margin </a:t>
            </a:r>
            <a:r>
              <a:rPr lang="en-US" dirty="0"/>
              <a:t>property can also be used, to </a:t>
            </a:r>
            <a:r>
              <a:rPr lang="en-US" dirty="0">
                <a:solidFill>
                  <a:srgbClr val="C00000"/>
                </a:solidFill>
              </a:rPr>
              <a:t>change all margins at once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60AD7-249B-AC41-867C-E137FA1E934B}"/>
              </a:ext>
            </a:extLst>
          </p:cNvPr>
          <p:cNvSpPr txBox="1"/>
          <p:nvPr/>
        </p:nvSpPr>
        <p:spPr>
          <a:xfrm>
            <a:off x="8312091" y="8634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margin: 10px;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1C054-609E-8E5E-CDFA-6D92DD2B8363}"/>
              </a:ext>
            </a:extLst>
          </p:cNvPr>
          <p:cNvSpPr txBox="1"/>
          <p:nvPr/>
        </p:nvSpPr>
        <p:spPr>
          <a:xfrm>
            <a:off x="8312091" y="2110446"/>
            <a:ext cx="3505200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 </a:t>
            </a:r>
          </a:p>
          <a:p>
            <a:r>
              <a:rPr lang="en-US" dirty="0"/>
              <a:t>	margin -top : 10px;</a:t>
            </a:r>
          </a:p>
          <a:p>
            <a:r>
              <a:rPr lang="en-US" dirty="0"/>
              <a:t>	margin -right : 20px;</a:t>
            </a:r>
          </a:p>
          <a:p>
            <a:r>
              <a:rPr lang="en-US" dirty="0"/>
              <a:t>	margin -bottom : 30 </a:t>
            </a:r>
            <a:r>
              <a:rPr lang="en-US" dirty="0" err="1"/>
              <a:t>px</a:t>
            </a:r>
            <a:r>
              <a:rPr lang="en-US" dirty="0"/>
              <a:t>;</a:t>
            </a:r>
          </a:p>
          <a:p>
            <a:r>
              <a:rPr lang="en-US" dirty="0"/>
              <a:t>	margin -left : 40 </a:t>
            </a:r>
            <a:r>
              <a:rPr lang="en-US" dirty="0" err="1"/>
              <a:t>px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61020-0A1D-654D-A749-81CF8865C085}"/>
              </a:ext>
            </a:extLst>
          </p:cNvPr>
          <p:cNvSpPr txBox="1"/>
          <p:nvPr/>
        </p:nvSpPr>
        <p:spPr>
          <a:xfrm>
            <a:off x="8312091" y="4188444"/>
            <a:ext cx="3505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h4{</a:t>
            </a:r>
          </a:p>
          <a:p>
            <a:r>
              <a:rPr lang="en-US" dirty="0"/>
              <a:t>      margin : 10px 20px 30px 40px;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955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FD25-11DA-203B-87C7-23F3D6B0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5B63-DA38-C476-6617-A874DEC26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Styling list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4E5BA-71D0-622C-C0D0-1BE3161DC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4210990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65BB-DD32-2519-3BC4-C36DD3EC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34BA-2D68-CB2C-68E8-7958AFBF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Styling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5EA62-AB08-9647-383A-E328B6BB4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/>
          <a:lstStyle/>
          <a:p>
            <a:r>
              <a:rPr lang="en-IN" dirty="0"/>
              <a:t>List Item Markers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an image as a List Item Marker</a:t>
            </a:r>
          </a:p>
          <a:p>
            <a:endParaRPr lang="en-US" dirty="0"/>
          </a:p>
          <a:p>
            <a:r>
              <a:rPr lang="en-US" dirty="0"/>
              <a:t>List Item Markers position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A7EDD-BEBC-2CAE-3D56-337CA147A833}"/>
              </a:ext>
            </a:extLst>
          </p:cNvPr>
          <p:cNvSpPr txBox="1"/>
          <p:nvPr/>
        </p:nvSpPr>
        <p:spPr>
          <a:xfrm>
            <a:off x="8272732" y="863444"/>
            <a:ext cx="3779451" cy="258532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ul</a:t>
            </a:r>
            <a:r>
              <a:rPr lang="en-US" dirty="0"/>
              <a:t>{ </a:t>
            </a:r>
          </a:p>
          <a:p>
            <a:r>
              <a:rPr lang="en-US" dirty="0"/>
              <a:t>	list-style-type: square;</a:t>
            </a:r>
          </a:p>
          <a:p>
            <a:r>
              <a:rPr lang="en-US" dirty="0"/>
              <a:t>	list-style-type: circle;</a:t>
            </a:r>
          </a:p>
          <a:p>
            <a:r>
              <a:rPr lang="en-US" dirty="0"/>
              <a:t>	list-style-type: none;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ol</a:t>
            </a:r>
            <a:r>
              <a:rPr lang="en-US" dirty="0"/>
              <a:t> {</a:t>
            </a:r>
          </a:p>
          <a:p>
            <a:r>
              <a:rPr lang="en-US" dirty="0"/>
              <a:t>  	list-style-type: upper-roman;</a:t>
            </a:r>
          </a:p>
          <a:p>
            <a:r>
              <a:rPr lang="en-US" dirty="0"/>
              <a:t>	list-style-type: lower-alpha;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47508-E058-B4DE-8EC4-F198B9A33CD8}"/>
              </a:ext>
            </a:extLst>
          </p:cNvPr>
          <p:cNvSpPr txBox="1"/>
          <p:nvPr/>
        </p:nvSpPr>
        <p:spPr>
          <a:xfrm>
            <a:off x="8281370" y="3572268"/>
            <a:ext cx="3779451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ul</a:t>
            </a:r>
            <a:r>
              <a:rPr lang="en-US" dirty="0"/>
              <a:t>{ </a:t>
            </a:r>
          </a:p>
          <a:p>
            <a:r>
              <a:rPr lang="en-US" dirty="0"/>
              <a:t>	list-style-image: </a:t>
            </a:r>
            <a:r>
              <a:rPr lang="en-US" dirty="0" err="1"/>
              <a:t>url</a:t>
            </a:r>
            <a:r>
              <a:rPr lang="en-US" dirty="0"/>
              <a:t>(‘abc.gif');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7D2E1-3D36-2987-81CB-C324CEDE9747}"/>
              </a:ext>
            </a:extLst>
          </p:cNvPr>
          <p:cNvSpPr txBox="1"/>
          <p:nvPr/>
        </p:nvSpPr>
        <p:spPr>
          <a:xfrm>
            <a:off x="8281370" y="4619099"/>
            <a:ext cx="3779451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ul</a:t>
            </a:r>
            <a:r>
              <a:rPr lang="en-US" dirty="0"/>
              <a:t>{ </a:t>
            </a:r>
          </a:p>
          <a:p>
            <a:r>
              <a:rPr lang="en-US" dirty="0"/>
              <a:t>	list-style-position: outside;</a:t>
            </a:r>
          </a:p>
          <a:p>
            <a:r>
              <a:rPr lang="en-US" dirty="0"/>
              <a:t>	list-style-position: inside;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055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DF09-11EA-A194-4942-C573845E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7834-BBEF-94F2-6E56-1D4FE4BC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Style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EEB6-124C-F64F-D6C6-889DA52E3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We can use many properties with Images like,</a:t>
            </a:r>
          </a:p>
          <a:p>
            <a:pPr lvl="1"/>
            <a:r>
              <a:rPr lang="en-US" sz="2200" dirty="0"/>
              <a:t>opacity</a:t>
            </a:r>
          </a:p>
          <a:p>
            <a:pPr lvl="1"/>
            <a:r>
              <a:rPr lang="en-US" sz="2200" dirty="0"/>
              <a:t>border-radius</a:t>
            </a:r>
          </a:p>
          <a:p>
            <a:pPr lvl="1"/>
            <a:r>
              <a:rPr lang="en-US" sz="2200" dirty="0"/>
              <a:t>margin-left, margin-right to be auto and display to be block (to make it aligned center)</a:t>
            </a:r>
          </a:p>
          <a:p>
            <a:pPr lvl="1"/>
            <a:r>
              <a:rPr lang="en-US" sz="2200" dirty="0"/>
              <a:t>max-width to be 100% and height to be auto (to make it responsive)</a:t>
            </a:r>
          </a:p>
          <a:p>
            <a:pPr lvl="1"/>
            <a:r>
              <a:rPr lang="en-US" sz="2200" dirty="0"/>
              <a:t>filter : blur, brightness, contrast, drop-shadow, grayscale </a:t>
            </a:r>
            <a:r>
              <a:rPr lang="en-US" sz="2200" dirty="0" err="1"/>
              <a:t>etc</a:t>
            </a:r>
            <a:r>
              <a:rPr lang="en-US" sz="2200" dirty="0"/>
              <a:t>…</a:t>
            </a:r>
          </a:p>
          <a:p>
            <a:pPr lvl="1"/>
            <a:r>
              <a:rPr lang="en-US" sz="2200" dirty="0"/>
              <a:t>etc… </a:t>
            </a:r>
          </a:p>
        </p:txBody>
      </p:sp>
    </p:spTree>
    <p:extLst>
      <p:ext uri="{BB962C8B-B14F-4D97-AF65-F5344CB8AC3E}">
        <p14:creationId xmlns:p14="http://schemas.microsoft.com/office/powerpoint/2010/main" val="130460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18F2-CBAC-CFE8-6059-CAF9EC66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8283-0854-5C39-C183-A6DEA5C5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Float Properties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E28C7-23F9-77B1-73AF-AEA2EF10B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1305843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930F-C529-8521-B18F-401997AD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F88F-FFE6-3908-CADD-40D851CD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Float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9BF7B-DA72-FA11-20C6-4C72225B9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CSS float property </a:t>
            </a:r>
            <a:r>
              <a:rPr lang="en-US" dirty="0"/>
              <a:t>defines that an </a:t>
            </a:r>
            <a:r>
              <a:rPr lang="en-US" dirty="0">
                <a:solidFill>
                  <a:srgbClr val="C00000"/>
                </a:solidFill>
              </a:rPr>
              <a:t>element </a:t>
            </a:r>
            <a:r>
              <a:rPr lang="en-US" dirty="0"/>
              <a:t>should be </a:t>
            </a:r>
            <a:r>
              <a:rPr lang="en-US" dirty="0">
                <a:solidFill>
                  <a:srgbClr val="C00000"/>
                </a:solidFill>
              </a:rPr>
              <a:t>taken out of the normal flow </a:t>
            </a:r>
            <a:r>
              <a:rPr lang="en-US" dirty="0"/>
              <a:t>of the </a:t>
            </a:r>
            <a:r>
              <a:rPr lang="en-US" dirty="0">
                <a:solidFill>
                  <a:srgbClr val="C00000"/>
                </a:solidFill>
              </a:rPr>
              <a:t>document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placed </a:t>
            </a:r>
            <a:r>
              <a:rPr lang="en-US" dirty="0"/>
              <a:t>along the </a:t>
            </a:r>
            <a:r>
              <a:rPr lang="en-US" dirty="0">
                <a:solidFill>
                  <a:srgbClr val="C00000"/>
                </a:solidFill>
              </a:rPr>
              <a:t>left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right</a:t>
            </a:r>
            <a:r>
              <a:rPr lang="en-US" dirty="0"/>
              <a:t> side of its </a:t>
            </a:r>
            <a:r>
              <a:rPr lang="en-US" dirty="0">
                <a:solidFill>
                  <a:srgbClr val="C00000"/>
                </a:solidFill>
              </a:rPr>
              <a:t>containing block</a:t>
            </a:r>
            <a:r>
              <a:rPr lang="en-US" dirty="0"/>
              <a:t>. </a:t>
            </a:r>
          </a:p>
          <a:p>
            <a:r>
              <a:rPr lang="en-US" dirty="0"/>
              <a:t>Text and inline elements will then wrap around this element.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25A005-DC42-4F2B-61BE-93BD7C78459A}"/>
              </a:ext>
            </a:extLst>
          </p:cNvPr>
          <p:cNvSpPr txBox="1"/>
          <p:nvPr/>
        </p:nvSpPr>
        <p:spPr>
          <a:xfrm>
            <a:off x="479181" y="2808906"/>
            <a:ext cx="2527501" cy="230832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/>
              <a:t>&lt;div id="division1"&gt;</a:t>
            </a:r>
          </a:p>
          <a:p>
            <a:r>
              <a:rPr lang="en-US" dirty="0"/>
              <a:t>	ABC Content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&lt;div id="division2"&gt;</a:t>
            </a:r>
          </a:p>
          <a:p>
            <a:r>
              <a:rPr lang="en-US" dirty="0"/>
              <a:t>	XYZ Content</a:t>
            </a:r>
          </a:p>
          <a:p>
            <a:r>
              <a:rPr lang="en-US" dirty="0"/>
              <a:t>&lt;/div&gt;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B64BF-282B-0392-07E2-76BD69BA2482}"/>
              </a:ext>
            </a:extLst>
          </p:cNvPr>
          <p:cNvSpPr txBox="1"/>
          <p:nvPr/>
        </p:nvSpPr>
        <p:spPr>
          <a:xfrm>
            <a:off x="3073904" y="2808906"/>
            <a:ext cx="4267200" cy="313932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/>
              <a:t>#division1{</a:t>
            </a:r>
          </a:p>
          <a:p>
            <a:r>
              <a:rPr lang="en-US" dirty="0"/>
              <a:t>	background-color : red;</a:t>
            </a:r>
          </a:p>
          <a:p>
            <a:r>
              <a:rPr lang="en-US" dirty="0"/>
              <a:t>	float : left;</a:t>
            </a:r>
          </a:p>
          <a:p>
            <a:r>
              <a:rPr lang="en-IN" dirty="0"/>
              <a:t>	width: 40%;</a:t>
            </a:r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/>
              <a:t>#division2{</a:t>
            </a:r>
          </a:p>
          <a:p>
            <a:r>
              <a:rPr lang="en-US" dirty="0"/>
              <a:t>	 background-color : blue;</a:t>
            </a:r>
          </a:p>
          <a:p>
            <a:r>
              <a:rPr lang="en-US" dirty="0"/>
              <a:t>	float : right;</a:t>
            </a:r>
          </a:p>
          <a:p>
            <a:r>
              <a:rPr lang="en-IN" dirty="0"/>
              <a:t>	width: 40%;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2717880-F038-6B9A-5682-8570329C4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08326" y="2808906"/>
            <a:ext cx="4698539" cy="2513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7814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C157-806C-E7FE-E4EF-997679D1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F98B-9EB6-F94C-8E0A-CAFCBB82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Positioning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E55FF-FA47-1E64-9E28-31910DC78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</p:txBody>
      </p:sp>
    </p:spTree>
    <p:extLst>
      <p:ext uri="{BB962C8B-B14F-4D97-AF65-F5344CB8AC3E}">
        <p14:creationId xmlns:p14="http://schemas.microsoft.com/office/powerpoint/2010/main" val="2209307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F623-09BD-9137-2F3C-6EEB06CC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E364-B421-6E92-1FA3-0769AD6B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D4C9-286E-4AF3-4E51-7992494DC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519579" cy="5590565"/>
          </a:xfrm>
        </p:spPr>
        <p:txBody>
          <a:bodyPr/>
          <a:lstStyle/>
          <a:p>
            <a:r>
              <a:rPr lang="en-US" b="1" dirty="0"/>
              <a:t>Absolute Positioning</a:t>
            </a:r>
          </a:p>
          <a:p>
            <a:pPr lvl="1" hangingPunct="0"/>
            <a:r>
              <a:rPr lang="en-US" sz="2200" dirty="0"/>
              <a:t>With </a:t>
            </a:r>
            <a:r>
              <a:rPr lang="en-US" sz="2200" dirty="0">
                <a:solidFill>
                  <a:srgbClr val="C00000"/>
                </a:solidFill>
              </a:rPr>
              <a:t>absolute positioning</a:t>
            </a:r>
            <a:r>
              <a:rPr lang="en-US" sz="2200" dirty="0"/>
              <a:t>, you define the </a:t>
            </a:r>
            <a:r>
              <a:rPr lang="en-US" sz="2200" dirty="0">
                <a:solidFill>
                  <a:srgbClr val="C00000"/>
                </a:solidFill>
              </a:rPr>
              <a:t>exact pixel </a:t>
            </a:r>
            <a:r>
              <a:rPr lang="en-US" sz="2200" dirty="0"/>
              <a:t>value where the </a:t>
            </a:r>
            <a:r>
              <a:rPr lang="en-US" sz="2200" dirty="0">
                <a:solidFill>
                  <a:srgbClr val="C00000"/>
                </a:solidFill>
              </a:rPr>
              <a:t>specified HTML element </a:t>
            </a:r>
            <a:r>
              <a:rPr lang="en-US" sz="2200" dirty="0"/>
              <a:t>will </a:t>
            </a:r>
            <a:r>
              <a:rPr lang="en-US" sz="2200" dirty="0">
                <a:solidFill>
                  <a:srgbClr val="C00000"/>
                </a:solidFill>
              </a:rPr>
              <a:t>appear</a:t>
            </a:r>
            <a:r>
              <a:rPr lang="en-US" sz="2200" dirty="0"/>
              <a:t>. </a:t>
            </a:r>
          </a:p>
          <a:p>
            <a:pPr lvl="1" hangingPunct="0"/>
            <a:r>
              <a:rPr lang="en-US" sz="2200" dirty="0"/>
              <a:t>The point of origin is the top-left of the browser's viewable area, so be sure you are measuring from that point.</a:t>
            </a:r>
          </a:p>
          <a:p>
            <a:pPr marL="457200" lvl="1" indent="0" hangingPunct="0">
              <a:buNone/>
            </a:pPr>
            <a:endParaRPr lang="en-US" sz="2200" dirty="0"/>
          </a:p>
          <a:p>
            <a:pPr hangingPunct="0"/>
            <a:r>
              <a:rPr lang="en-US" b="1" dirty="0"/>
              <a:t>Relative Positioning</a:t>
            </a:r>
          </a:p>
          <a:p>
            <a:pPr lvl="1" hangingPunct="0"/>
            <a:r>
              <a:rPr lang="en-US" sz="2200" dirty="0">
                <a:solidFill>
                  <a:srgbClr val="C00000"/>
                </a:solidFill>
              </a:rPr>
              <a:t>Relative positioning </a:t>
            </a:r>
            <a:r>
              <a:rPr lang="en-US" sz="2200" dirty="0"/>
              <a:t>changes the </a:t>
            </a:r>
            <a:r>
              <a:rPr lang="en-US" sz="2200" dirty="0">
                <a:solidFill>
                  <a:srgbClr val="C00000"/>
                </a:solidFill>
              </a:rPr>
              <a:t>position</a:t>
            </a:r>
            <a:r>
              <a:rPr lang="en-US" sz="2200" dirty="0"/>
              <a:t> of the HTML element </a:t>
            </a:r>
            <a:r>
              <a:rPr lang="en-US" sz="2200" dirty="0">
                <a:solidFill>
                  <a:srgbClr val="C00000"/>
                </a:solidFill>
              </a:rPr>
              <a:t>relative</a:t>
            </a:r>
            <a:r>
              <a:rPr lang="en-US" sz="2200" dirty="0"/>
              <a:t> to where it </a:t>
            </a:r>
            <a:r>
              <a:rPr lang="en-US" sz="2200" dirty="0">
                <a:solidFill>
                  <a:srgbClr val="C00000"/>
                </a:solidFill>
              </a:rPr>
              <a:t>normally appears</a:t>
            </a:r>
          </a:p>
          <a:p>
            <a:pPr lvl="1" hangingPunct="0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E3BEF-9D18-FE22-F6FF-379E1BA43EF9}"/>
              </a:ext>
            </a:extLst>
          </p:cNvPr>
          <p:cNvSpPr txBox="1"/>
          <p:nvPr/>
        </p:nvSpPr>
        <p:spPr>
          <a:xfrm>
            <a:off x="8228201" y="1017703"/>
            <a:ext cx="3505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h1{ </a:t>
            </a:r>
          </a:p>
          <a:p>
            <a:r>
              <a:rPr lang="en-US" dirty="0"/>
              <a:t>	position : absolute;</a:t>
            </a:r>
          </a:p>
          <a:p>
            <a:r>
              <a:rPr lang="en-US" dirty="0"/>
              <a:t>	left : 50px;</a:t>
            </a:r>
          </a:p>
          <a:p>
            <a:r>
              <a:rPr lang="en-US" dirty="0"/>
              <a:t>	top : 100px; 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91421-FA3C-6B38-57D0-0D83C4B3BF88}"/>
              </a:ext>
            </a:extLst>
          </p:cNvPr>
          <p:cNvSpPr txBox="1"/>
          <p:nvPr/>
        </p:nvSpPr>
        <p:spPr>
          <a:xfrm>
            <a:off x="8228201" y="3073532"/>
            <a:ext cx="3505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h1{ </a:t>
            </a:r>
          </a:p>
          <a:p>
            <a:r>
              <a:rPr lang="en-US" dirty="0"/>
              <a:t>	position : relative;</a:t>
            </a:r>
          </a:p>
          <a:p>
            <a:r>
              <a:rPr lang="en-US" dirty="0"/>
              <a:t>	left : 50px;</a:t>
            </a:r>
          </a:p>
          <a:p>
            <a:r>
              <a:rPr lang="en-US" dirty="0"/>
              <a:t>	top : 100px;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289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4B4FF-F396-7045-BE0D-3B758631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D40F-ADFB-0638-18C3-E96F1A89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5417-197A-E99C-5A31-EAE590445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519579" cy="5590565"/>
          </a:xfrm>
        </p:spPr>
        <p:txBody>
          <a:bodyPr/>
          <a:lstStyle/>
          <a:p>
            <a:pPr hangingPunct="0"/>
            <a:r>
              <a:rPr lang="en-US" b="1" dirty="0"/>
              <a:t>Fixed Positioning</a:t>
            </a:r>
          </a:p>
          <a:p>
            <a:pPr lvl="1" hangingPunct="0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element</a:t>
            </a:r>
            <a:r>
              <a:rPr lang="en-US" sz="2200" dirty="0"/>
              <a:t> is </a:t>
            </a:r>
            <a:r>
              <a:rPr lang="en-US" sz="2200" dirty="0">
                <a:solidFill>
                  <a:srgbClr val="C00000"/>
                </a:solidFill>
              </a:rPr>
              <a:t>positioned relative </a:t>
            </a:r>
            <a:r>
              <a:rPr lang="en-US" sz="2200" dirty="0"/>
              <a:t>to the browser window, in </a:t>
            </a:r>
            <a:r>
              <a:rPr lang="en-US" sz="2200" dirty="0">
                <a:solidFill>
                  <a:srgbClr val="C00000"/>
                </a:solidFill>
              </a:rPr>
              <a:t>fixed position</a:t>
            </a:r>
            <a:r>
              <a:rPr lang="en-US" sz="2200" dirty="0"/>
              <a:t>, element will be in the same place even we scroll the screen.</a:t>
            </a:r>
          </a:p>
          <a:p>
            <a:pPr lvl="1" hangingPunct="0"/>
            <a:endParaRPr lang="en-US" sz="2200" dirty="0"/>
          </a:p>
          <a:p>
            <a:pPr hangingPunct="0"/>
            <a:r>
              <a:rPr lang="en-US" b="1" dirty="0"/>
              <a:t>Sticky Positioning</a:t>
            </a:r>
          </a:p>
          <a:p>
            <a:pPr lvl="1" hangingPunct="0"/>
            <a:r>
              <a:rPr lang="en-US" sz="2200" dirty="0"/>
              <a:t>An element with position : sticky; is positioned based on the </a:t>
            </a:r>
            <a:r>
              <a:rPr lang="en-US" sz="2200" dirty="0">
                <a:solidFill>
                  <a:srgbClr val="C00000"/>
                </a:solidFill>
              </a:rPr>
              <a:t>user's scroll </a:t>
            </a:r>
            <a:r>
              <a:rPr lang="en-US" sz="2200" dirty="0"/>
              <a:t>position.</a:t>
            </a:r>
          </a:p>
          <a:p>
            <a:pPr lvl="1" hangingPunct="0"/>
            <a:r>
              <a:rPr lang="en-US" sz="2200" dirty="0"/>
              <a:t>A </a:t>
            </a:r>
            <a:r>
              <a:rPr lang="en-US" sz="2200" dirty="0">
                <a:solidFill>
                  <a:srgbClr val="C00000"/>
                </a:solidFill>
              </a:rPr>
              <a:t>sticky element </a:t>
            </a:r>
            <a:r>
              <a:rPr lang="en-US" sz="2200" dirty="0"/>
              <a:t>toggles between </a:t>
            </a:r>
            <a:r>
              <a:rPr lang="en-US" sz="2200" dirty="0">
                <a:solidFill>
                  <a:srgbClr val="C00000"/>
                </a:solidFill>
              </a:rPr>
              <a:t>relative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fixed</a:t>
            </a:r>
            <a:r>
              <a:rPr lang="en-US" sz="2200" dirty="0"/>
              <a:t>, depending on the </a:t>
            </a:r>
            <a:r>
              <a:rPr lang="en-US" sz="2200" dirty="0">
                <a:solidFill>
                  <a:srgbClr val="C00000"/>
                </a:solidFill>
              </a:rPr>
              <a:t>scroll position</a:t>
            </a:r>
            <a:r>
              <a:rPr lang="en-US" sz="2200" dirty="0"/>
              <a:t>.</a:t>
            </a:r>
          </a:p>
          <a:p>
            <a:pPr lvl="1" hangingPunct="0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B7E94-59D9-02F2-BAB5-0D3333255192}"/>
              </a:ext>
            </a:extLst>
          </p:cNvPr>
          <p:cNvSpPr txBox="1"/>
          <p:nvPr/>
        </p:nvSpPr>
        <p:spPr>
          <a:xfrm>
            <a:off x="8228201" y="863444"/>
            <a:ext cx="3505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h1{ </a:t>
            </a:r>
          </a:p>
          <a:p>
            <a:r>
              <a:rPr lang="en-US" dirty="0"/>
              <a:t>	position : fixed;</a:t>
            </a:r>
          </a:p>
          <a:p>
            <a:r>
              <a:rPr lang="en-US" dirty="0"/>
              <a:t>	top : 50px;</a:t>
            </a:r>
          </a:p>
          <a:p>
            <a:r>
              <a:rPr lang="en-US" dirty="0"/>
              <a:t>	left : 100px; 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56841-F553-782D-1885-D78140AF92F2}"/>
              </a:ext>
            </a:extLst>
          </p:cNvPr>
          <p:cNvSpPr txBox="1"/>
          <p:nvPr/>
        </p:nvSpPr>
        <p:spPr>
          <a:xfrm>
            <a:off x="8228201" y="3058561"/>
            <a:ext cx="3505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h1{ </a:t>
            </a:r>
          </a:p>
          <a:p>
            <a:r>
              <a:rPr lang="en-US" dirty="0"/>
              <a:t>	position : sticky;</a:t>
            </a:r>
          </a:p>
          <a:p>
            <a:r>
              <a:rPr lang="en-US" dirty="0"/>
              <a:t>	top : 0px;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922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5F35-6491-F98A-EC9B-42619E7E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F5E7-6B55-59D5-77AA-C5987A4C6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Layers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BED53-29E3-E781-79EB-E147F7349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- 9</a:t>
            </a:r>
          </a:p>
        </p:txBody>
      </p:sp>
    </p:spTree>
    <p:extLst>
      <p:ext uri="{BB962C8B-B14F-4D97-AF65-F5344CB8AC3E}">
        <p14:creationId xmlns:p14="http://schemas.microsoft.com/office/powerpoint/2010/main" val="3279657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7320-6D42-648B-EFF0-CCA9FBCD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D4827-578D-0AB7-9C04-32514E9B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F15C-52C7-F661-1CD8-7A20BE374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957517" cy="5590565"/>
          </a:xfrm>
        </p:spPr>
        <p:txBody>
          <a:bodyPr/>
          <a:lstStyle/>
          <a:p>
            <a:r>
              <a:rPr lang="en-US" dirty="0"/>
              <a:t>CSS allows you to control which item will appear on top with the use of layers.</a:t>
            </a:r>
          </a:p>
          <a:p>
            <a:r>
              <a:rPr lang="en-US" dirty="0"/>
              <a:t>In CSS, each element is given a priority. </a:t>
            </a:r>
          </a:p>
          <a:p>
            <a:r>
              <a:rPr lang="en-US" dirty="0"/>
              <a:t>If there are two overlapping CSS positioned elements, the element with the higher priority will appear on top of the other. </a:t>
            </a:r>
          </a:p>
          <a:p>
            <a:r>
              <a:rPr lang="en-US" dirty="0"/>
              <a:t>To manually define a priority, set the z-index value. The larger the value, the higher the priority the element will have.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EBA15-9D09-3C98-BAB1-5F86E7D2F7EE}"/>
              </a:ext>
            </a:extLst>
          </p:cNvPr>
          <p:cNvSpPr txBox="1"/>
          <p:nvPr/>
        </p:nvSpPr>
        <p:spPr>
          <a:xfrm>
            <a:off x="8379203" y="863444"/>
            <a:ext cx="3505200" cy="535531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/>
              <a:t>#division1{ </a:t>
            </a:r>
          </a:p>
          <a:p>
            <a:r>
              <a:rPr lang="en-US" dirty="0"/>
              <a:t>	position : absolute;</a:t>
            </a:r>
          </a:p>
          <a:p>
            <a:r>
              <a:rPr lang="en-US" dirty="0"/>
              <a:t>	height : 100px;</a:t>
            </a:r>
          </a:p>
          <a:p>
            <a:r>
              <a:rPr lang="en-US" dirty="0"/>
              <a:t>	width : 100px;</a:t>
            </a:r>
          </a:p>
          <a:p>
            <a:r>
              <a:rPr lang="en-US" dirty="0"/>
              <a:t>	left : 100px;</a:t>
            </a:r>
          </a:p>
          <a:p>
            <a:r>
              <a:rPr lang="en-US" dirty="0"/>
              <a:t>	top : 150px; </a:t>
            </a:r>
          </a:p>
          <a:p>
            <a:r>
              <a:rPr lang="en-US" dirty="0"/>
              <a:t>	background-color : red;</a:t>
            </a:r>
          </a:p>
          <a:p>
            <a:r>
              <a:rPr lang="en-US" dirty="0"/>
              <a:t>	z-index : 5;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#division2{</a:t>
            </a:r>
          </a:p>
          <a:p>
            <a:r>
              <a:rPr lang="en-US" dirty="0"/>
              <a:t>	position : absolute;</a:t>
            </a:r>
          </a:p>
          <a:p>
            <a:r>
              <a:rPr lang="en-US" dirty="0"/>
              <a:t>	height : 200px;</a:t>
            </a:r>
          </a:p>
          <a:p>
            <a:r>
              <a:rPr lang="en-US" dirty="0"/>
              <a:t>	width : 200px;</a:t>
            </a:r>
          </a:p>
          <a:p>
            <a:r>
              <a:rPr lang="en-US" dirty="0"/>
              <a:t>	left : 50px;</a:t>
            </a:r>
          </a:p>
          <a:p>
            <a:r>
              <a:rPr lang="en-US" dirty="0"/>
              <a:t>	top : 100px;</a:t>
            </a:r>
          </a:p>
          <a:p>
            <a:r>
              <a:rPr lang="en-US" dirty="0"/>
              <a:t>	background-color : blue;</a:t>
            </a:r>
          </a:p>
          <a:p>
            <a:r>
              <a:rPr lang="en-US" dirty="0"/>
              <a:t>	 z-index : 2;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B3796-01C1-E4DA-7BA3-42BC02500127}"/>
              </a:ext>
            </a:extLst>
          </p:cNvPr>
          <p:cNvSpPr txBox="1"/>
          <p:nvPr/>
        </p:nvSpPr>
        <p:spPr>
          <a:xfrm>
            <a:off x="1652237" y="4307973"/>
            <a:ext cx="3358302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/>
              <a:t>&lt;div id="division1"&gt;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&lt;div id="division2"&gt;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AAF37B7-307F-9AF1-5D56-405C6938A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4186" y="4082284"/>
            <a:ext cx="24098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2821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2" name="Picture Placeholder 15">
            <a:extLst>
              <a:ext uri="{FF2B5EF4-FFF2-40B4-BE49-F238E27FC236}">
                <a16:creationId xmlns:a16="http://schemas.microsoft.com/office/drawing/2014/main" id="{8326CB1F-C926-33A4-F25C-8132B367DA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478" y="5216366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6388</TotalTime>
  <Words>1446</Words>
  <Application>Microsoft Office PowerPoint</Application>
  <PresentationFormat>Widescreen</PresentationFormat>
  <Paragraphs>449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Wingdings 2</vt:lpstr>
      <vt:lpstr>Roboto Condensed Light</vt:lpstr>
      <vt:lpstr>Calibri</vt:lpstr>
      <vt:lpstr>Wingdings</vt:lpstr>
      <vt:lpstr>Segoe UI Black</vt:lpstr>
      <vt:lpstr>Arial</vt:lpstr>
      <vt:lpstr>Times New Roman</vt:lpstr>
      <vt:lpstr>Wingdings 3</vt:lpstr>
      <vt:lpstr>Roboto Condensed</vt:lpstr>
      <vt:lpstr>Office Theme</vt:lpstr>
      <vt:lpstr>1_Office Theme</vt:lpstr>
      <vt:lpstr>4_Office Theme</vt:lpstr>
      <vt:lpstr>2_Office Theme</vt:lpstr>
      <vt:lpstr>Unit-03  Properties of CSS </vt:lpstr>
      <vt:lpstr>PowerPoint Presentation</vt:lpstr>
      <vt:lpstr>The Box Model</vt:lpstr>
      <vt:lpstr>The Box Model</vt:lpstr>
      <vt:lpstr>The Box Model</vt:lpstr>
      <vt:lpstr>The Box Model</vt:lpstr>
      <vt:lpstr>CSS Text Property</vt:lpstr>
      <vt:lpstr>CSS Text Property</vt:lpstr>
      <vt:lpstr>CSS Text Property </vt:lpstr>
      <vt:lpstr>CSS Text Property</vt:lpstr>
      <vt:lpstr>CSS Text Property </vt:lpstr>
      <vt:lpstr>CSS Font Property</vt:lpstr>
      <vt:lpstr>CSS Font</vt:lpstr>
      <vt:lpstr>CSS Font</vt:lpstr>
      <vt:lpstr>CSS Font</vt:lpstr>
      <vt:lpstr>Background Properties </vt:lpstr>
      <vt:lpstr>Background Property</vt:lpstr>
      <vt:lpstr>Background Color</vt:lpstr>
      <vt:lpstr>Background Image</vt:lpstr>
      <vt:lpstr>Background Image Repeat</vt:lpstr>
      <vt:lpstr>Fixed Background Image</vt:lpstr>
      <vt:lpstr>Background Image Positioning </vt:lpstr>
      <vt:lpstr>CSS Padding</vt:lpstr>
      <vt:lpstr>CSS Padding</vt:lpstr>
      <vt:lpstr>CSS Border</vt:lpstr>
      <vt:lpstr>CSS Border</vt:lpstr>
      <vt:lpstr>CSS Margin</vt:lpstr>
      <vt:lpstr>CSS Margin</vt:lpstr>
      <vt:lpstr>Styling list</vt:lpstr>
      <vt:lpstr>Styling List</vt:lpstr>
      <vt:lpstr>Style Images</vt:lpstr>
      <vt:lpstr>Float Properties</vt:lpstr>
      <vt:lpstr>CSS Float Property</vt:lpstr>
      <vt:lpstr>CSS Positioning</vt:lpstr>
      <vt:lpstr>CSS Positioning</vt:lpstr>
      <vt:lpstr>CSS Positioning</vt:lpstr>
      <vt:lpstr>CSS Layers</vt:lpstr>
      <vt:lpstr>CSS Layers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1140</cp:revision>
  <dcterms:created xsi:type="dcterms:W3CDTF">2020-05-01T05:09:15Z</dcterms:created>
  <dcterms:modified xsi:type="dcterms:W3CDTF">2026-01-24T06:36:02Z</dcterms:modified>
</cp:coreProperties>
</file>