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  <p:sldMasterId id="2147483761" r:id="rId3"/>
    <p:sldMasterId id="2147483830" r:id="rId4"/>
  </p:sldMasterIdLst>
  <p:notesMasterIdLst>
    <p:notesMasterId r:id="rId26"/>
  </p:notesMasterIdLst>
  <p:sldIdLst>
    <p:sldId id="308" r:id="rId5"/>
    <p:sldId id="352" r:id="rId6"/>
    <p:sldId id="564" r:id="rId7"/>
    <p:sldId id="348" r:id="rId8"/>
    <p:sldId id="570" r:id="rId9"/>
    <p:sldId id="569" r:id="rId10"/>
    <p:sldId id="568" r:id="rId11"/>
    <p:sldId id="566" r:id="rId12"/>
    <p:sldId id="571" r:id="rId13"/>
    <p:sldId id="572" r:id="rId14"/>
    <p:sldId id="567" r:id="rId15"/>
    <p:sldId id="576" r:id="rId16"/>
    <p:sldId id="575" r:id="rId17"/>
    <p:sldId id="577" r:id="rId18"/>
    <p:sldId id="578" r:id="rId19"/>
    <p:sldId id="574" r:id="rId20"/>
    <p:sldId id="581" r:id="rId21"/>
    <p:sldId id="580" r:id="rId22"/>
    <p:sldId id="582" r:id="rId23"/>
    <p:sldId id="579" r:id="rId24"/>
    <p:sldId id="358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Roboto Condensed" panose="02000000000000000000" pitchFamily="2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  <p:embeddedFont>
      <p:font typeface="Segoe UI Black" panose="020B0A02040204020203" pitchFamily="34" charset="0"/>
      <p:bold r:id="rId37"/>
      <p:boldItalic r:id="rId38"/>
    </p:embeddedFont>
    <p:embeddedFont>
      <p:font typeface="Wingdings 3" panose="05040102010807070707" pitchFamily="18" charset="2"/>
      <p:regular r:id="rId39"/>
    </p:embeddedFont>
    <p:embeddedFont>
      <p:font typeface="Wingdings 2" panose="05020102010507070707" pitchFamily="18" charset="2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Vdw0EaT5QTyayl/2mCPJg==" hashData="MULKKgNfpSfc9Zccko2FxfQeFRoyKzuiTcCSrHyT0V/NC9RXbiXcwHgirIfd8Osncq/3ILgUJzs8S1kUUEp7Hw=="/>
  <p:extLst>
    <p:ext uri="{521415D9-36F7-43E2-AB2F-B90AF26B5E84}">
      <p14:sectionLst xmlns:p14="http://schemas.microsoft.com/office/powerpoint/2010/main">
        <p14:section name="Unit-01 Introduction to Web Designing" id="{6F98277B-3FE4-4DB6-9DF4-04A9EE7CB27D}">
          <p14:sldIdLst>
            <p14:sldId id="308"/>
          </p14:sldIdLst>
        </p14:section>
        <p14:section name="Outline" id="{C5B49A7B-0240-414D-82A2-AEBCCFBF15D4}">
          <p14:sldIdLst>
            <p14:sldId id="352"/>
          </p14:sldIdLst>
        </p14:section>
        <p14:section name="Concept of effective web design" id="{3C329440-0C3D-4A8F-B481-D50DCFE25AF6}">
          <p14:sldIdLst>
            <p14:sldId id="564"/>
            <p14:sldId id="348"/>
          </p14:sldIdLst>
        </p14:section>
        <p14:section name="Web Design Issues" id="{1C04D0E5-6808-44D1-9525-C99F219331A2}">
          <p14:sldIdLst>
            <p14:sldId id="570"/>
            <p14:sldId id="569"/>
            <p14:sldId id="568"/>
            <p14:sldId id="566"/>
            <p14:sldId id="571"/>
            <p14:sldId id="572"/>
            <p14:sldId id="567"/>
            <p14:sldId id="576"/>
            <p14:sldId id="575"/>
            <p14:sldId id="577"/>
          </p14:sldIdLst>
        </p14:section>
        <p14:section name="Planning a Website" id="{0A9F45B2-F520-4FCC-B2F6-B3E987083FC7}">
          <p14:sldIdLst>
            <p14:sldId id="578"/>
            <p14:sldId id="574"/>
          </p14:sldIdLst>
        </p14:section>
        <p14:section name="Designing effective navigation" id="{D8D3D6C9-80CD-4774-B43E-B0B88FB95691}">
          <p14:sldIdLst>
            <p14:sldId id="581"/>
            <p14:sldId id="580"/>
          </p14:sldIdLst>
        </p14:section>
        <p14:section name="Scripting Languages" id="{84730A4B-3CC6-418F-86CD-FA312F7C4A4F}">
          <p14:sldIdLst>
            <p14:sldId id="582"/>
            <p14:sldId id="579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BDBDB"/>
    <a:srgbClr val="ED524F"/>
    <a:srgbClr val="301B92"/>
    <a:srgbClr val="673BB7"/>
    <a:srgbClr val="607D8B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jpeg"/><Relationship Id="rId4" Type="http://schemas.openxmlformats.org/officeDocument/2006/relationships/image" Target="../media/image19.png"/><Relationship Id="rId9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5.png"/><Relationship Id="rId4" Type="http://schemas.microsoft.com/office/2007/relationships/hdphoto" Target="../media/hdphoto5.wdp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5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5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5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6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jpeg"/><Relationship Id="rId4" Type="http://schemas.openxmlformats.org/officeDocument/2006/relationships/image" Target="../media/image19.png"/><Relationship Id="rId9" Type="http://schemas.openxmlformats.org/officeDocument/2006/relationships/image" Target="../media/image30.jpeg"/></Relationships>
</file>

<file path=ppt/slideLayouts/_rels/slideLayout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281410" y="6601747"/>
            <a:ext cx="562917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#2304CS202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Web Designing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2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843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43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6219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460D7-CBA5-99E2-F433-668EED5BA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4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169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608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8598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52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8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26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9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38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70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7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8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4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28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33820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43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71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37455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5352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67375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0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81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2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180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01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17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484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880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29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4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20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54295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5334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1894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1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583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9858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26432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630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6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76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99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7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07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599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9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0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70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8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28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1478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400" y="1207325"/>
            <a:ext cx="7726094" cy="257878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5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sz="5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Introduction to Web Designing</a:t>
            </a:r>
            <a:r>
              <a:rPr lang="en-US" sz="6000" dirty="0"/>
              <a:t/>
            </a:r>
            <a:br>
              <a:rPr lang="en-US" sz="6000" dirty="0"/>
            </a:br>
            <a:endParaRPr lang="en-US" b="0" dirty="0"/>
          </a:p>
        </p:txBody>
      </p:sp>
      <p:pic>
        <p:nvPicPr>
          <p:cNvPr id="2056" name="Picture 8" descr="professional-web-design-social-ink-professional-web-design-png-1000_813 -  Norderberg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379" y="1778606"/>
            <a:ext cx="2585588" cy="210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B8AE13-A5CE-5C97-DAC2-01C58CA8436C}"/>
              </a:ext>
            </a:extLst>
          </p:cNvPr>
          <p:cNvSpPr txBox="1">
            <a:spLocks/>
          </p:cNvSpPr>
          <p:nvPr/>
        </p:nvSpPr>
        <p:spPr>
          <a:xfrm>
            <a:off x="867400" y="4132880"/>
            <a:ext cx="9330959" cy="8760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200" i="1" dirty="0">
                <a:effectLst/>
              </a:rPr>
              <a:t>CO1 : At the end of this chapter, students will be able to,</a:t>
            </a:r>
          </a:p>
          <a:p>
            <a:pPr>
              <a:spcBef>
                <a:spcPts val="0"/>
              </a:spcBef>
            </a:pPr>
            <a:r>
              <a:rPr lang="en-US" sz="2200" b="0" dirty="0">
                <a:effectLst/>
              </a:rPr>
              <a:t>          </a:t>
            </a:r>
            <a:r>
              <a:rPr lang="en-US" sz="2200" b="0" i="1" dirty="0">
                <a:effectLst/>
              </a:rPr>
              <a:t>understand basics of web designing</a:t>
            </a:r>
            <a:r>
              <a:rPr lang="en-US" sz="2200" b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Concepts of Effective Web Design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Web Design Issues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Planning of Good Website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Designing Effective Navigation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Scripting Languages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1020-097C-C904-1FCD-E550B3A1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2A3-5AD6-F569-196A-F829B03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Concept of effective web design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41E7C-2CDB-E476-7A3F-614623ABC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92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5513EE7-DF3A-CE8D-B507-B65DDEDA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Concept of Effective Web Design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8D63C7D-8AB2-9B3B-3910-476102A33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It's a good idea to first think about and design your site. That way, you'll give yourself direction and you'll need to reorganize less later.</a:t>
            </a:r>
            <a:endParaRPr lang="en-IN" dirty="0"/>
          </a:p>
          <a:p>
            <a:r>
              <a:rPr lang="en-US" dirty="0"/>
              <a:t>To design your site:</a:t>
            </a: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Figure out </a:t>
            </a:r>
            <a:r>
              <a:rPr lang="en-US" sz="2200" dirty="0">
                <a:solidFill>
                  <a:srgbClr val="C00000"/>
                </a:solidFill>
              </a:rPr>
              <a:t>why you're creating this site</a:t>
            </a:r>
            <a:r>
              <a:rPr lang="en-US" sz="2200" dirty="0"/>
              <a:t>. What do you want to convey?</a:t>
            </a:r>
            <a:endParaRPr lang="en-IN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Think about your </a:t>
            </a:r>
            <a:r>
              <a:rPr lang="en-US" sz="2200" dirty="0">
                <a:solidFill>
                  <a:srgbClr val="C00000"/>
                </a:solidFill>
              </a:rPr>
              <a:t>audience</a:t>
            </a:r>
            <a:r>
              <a:rPr lang="en-US" sz="2200" dirty="0"/>
              <a:t>. How can you tailor your content to appeal to this audience? For example, should you add lots of graphics or is it more important that your page download quickly?</a:t>
            </a:r>
            <a:endParaRPr lang="en-IN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>
                <a:solidFill>
                  <a:srgbClr val="C00000"/>
                </a:solidFill>
              </a:rPr>
              <a:t>How many pages will you need? </a:t>
            </a:r>
            <a:r>
              <a:rPr lang="en-US" sz="2200" dirty="0"/>
              <a:t>What sort of structure would you like it to have? Do you want visitors to go through your site in a particular direction, or do you want to make it easy for them to explore in any direction?</a:t>
            </a:r>
            <a:endParaRPr lang="en-IN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Sketch out </a:t>
            </a:r>
            <a:r>
              <a:rPr lang="en-US" sz="2200" dirty="0">
                <a:solidFill>
                  <a:srgbClr val="C00000"/>
                </a:solidFill>
              </a:rPr>
              <a:t>your site on paper</a:t>
            </a:r>
            <a:r>
              <a:rPr lang="en-US" sz="2200" dirty="0"/>
              <a:t>.</a:t>
            </a:r>
            <a:endParaRPr lang="en-IN" sz="2200" dirty="0"/>
          </a:p>
          <a:p>
            <a:r>
              <a:rPr lang="en-US" dirty="0"/>
              <a:t> Devise a simple, consistent naming system for your pages, images and other external files.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1869-CADC-F804-C15C-F4515765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DD26-0121-C747-131B-DE394CF5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Web Design Issues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72B35-06C9-942F-D89A-50F7896B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172645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CAF9-0788-AED8-E8F7-8E92ECEC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2A0A-2D7E-FDE0-CC59-831C63EF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Web Design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63EF-07BA-EF31-821F-D993031E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Browser &amp; Operating Systems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Bandwidth and Cache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Display Resolution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Look &amp; Feel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Page Layout and Linking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Locating Information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Making Design user-Centric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Sitemap</a:t>
            </a:r>
          </a:p>
        </p:txBody>
      </p:sp>
    </p:spTree>
    <p:extLst>
      <p:ext uri="{BB962C8B-B14F-4D97-AF65-F5344CB8AC3E}">
        <p14:creationId xmlns:p14="http://schemas.microsoft.com/office/powerpoint/2010/main" val="303978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0C6A-0A8F-BE71-5624-C1F75D55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061C-0792-3F54-00A6-48AF36F5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a) Browser &amp; Operating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22EA-B9F5-60D9-EEAB-6A5543A2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Web pages </a:t>
            </a:r>
            <a:r>
              <a:rPr lang="en-US" dirty="0"/>
              <a:t>are </a:t>
            </a:r>
            <a:r>
              <a:rPr lang="en-US" dirty="0">
                <a:solidFill>
                  <a:srgbClr val="C00000"/>
                </a:solidFill>
              </a:rPr>
              <a:t>written</a:t>
            </a:r>
            <a:r>
              <a:rPr lang="en-US" dirty="0"/>
              <a:t> using </a:t>
            </a:r>
            <a:r>
              <a:rPr lang="en-US" dirty="0">
                <a:solidFill>
                  <a:srgbClr val="C00000"/>
                </a:solidFill>
              </a:rPr>
              <a:t>different HTML tags </a:t>
            </a:r>
            <a:r>
              <a:rPr lang="en-US" dirty="0"/>
              <a:t>and viewed in browser window.</a:t>
            </a:r>
          </a:p>
          <a:p>
            <a:r>
              <a:rPr lang="en-US" dirty="0"/>
              <a:t>The different browsers and their versions greatly affect the way a page is rendered, as different browsers sometimes interpret same HTML tag in a different way.</a:t>
            </a:r>
          </a:p>
          <a:p>
            <a:r>
              <a:rPr lang="en-US" dirty="0"/>
              <a:t>Different versions of HTML also support different sets of tags.</a:t>
            </a:r>
          </a:p>
          <a:p>
            <a:r>
              <a:rPr lang="en-US" dirty="0"/>
              <a:t>The support for different tags also varies across the different browsers and their versions.</a:t>
            </a:r>
          </a:p>
          <a:p>
            <a:r>
              <a:rPr lang="en-US" dirty="0"/>
              <a:t>Same browser may work </a:t>
            </a:r>
            <a:r>
              <a:rPr lang="en-US" dirty="0">
                <a:solidFill>
                  <a:srgbClr val="C00000"/>
                </a:solidFill>
              </a:rPr>
              <a:t>slightly different </a:t>
            </a:r>
            <a:r>
              <a:rPr lang="en-US" dirty="0"/>
              <a:t>on </a:t>
            </a:r>
            <a:r>
              <a:rPr lang="en-US" dirty="0">
                <a:solidFill>
                  <a:srgbClr val="C00000"/>
                </a:solidFill>
              </a:rPr>
              <a:t>different operating system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hardware platform</a:t>
            </a:r>
            <a:r>
              <a:rPr lang="en-US" dirty="0"/>
              <a:t>.</a:t>
            </a:r>
          </a:p>
          <a:p>
            <a:r>
              <a:rPr lang="en-US" dirty="0"/>
              <a:t>To make a web page portable, test it on different browsers on different operating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ACF61-4417-92C5-A352-F0B0FC25E22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78" y="4450700"/>
            <a:ext cx="649912" cy="494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A7B71-985D-7A20-FAB4-C01C815FF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343" y="5097467"/>
            <a:ext cx="908182" cy="558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32CCC2-7CCF-70AC-CF41-0D513269957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678" y="5808590"/>
            <a:ext cx="489512" cy="489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505DB-A9CD-6859-BF6B-CE36CBB3B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586" y="4607131"/>
            <a:ext cx="1539552" cy="1539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751EE-C4B7-A5BE-0E56-D6F205EDD14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51" y="4389328"/>
            <a:ext cx="617268" cy="617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E6EAEC-17C2-7050-D16D-4D197B37934E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495" y="5068008"/>
            <a:ext cx="536528" cy="555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7C3019-2C73-B098-E68E-548B9B37012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437" y="5808590"/>
            <a:ext cx="442496" cy="442496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0F2CF53-3910-31B5-A071-25DD7DC291CA}"/>
              </a:ext>
            </a:extLst>
          </p:cNvPr>
          <p:cNvSpPr/>
          <p:nvPr/>
        </p:nvSpPr>
        <p:spPr>
          <a:xfrm>
            <a:off x="4646839" y="5006596"/>
            <a:ext cx="550506" cy="71112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B35C31A5-4B1C-15DD-C727-3ABEFDDBBF9D}"/>
              </a:ext>
            </a:extLst>
          </p:cNvPr>
          <p:cNvSpPr/>
          <p:nvPr/>
        </p:nvSpPr>
        <p:spPr>
          <a:xfrm flipH="1">
            <a:off x="7221379" y="5006596"/>
            <a:ext cx="550506" cy="711123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69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1D22-AB86-3814-6F66-0F2A0FDD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89C3-0224-65F0-7689-AB82092A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b) Bandwidth and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0691C-47A2-E564-21EF-D80B86EF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Users have </a:t>
            </a:r>
            <a:r>
              <a:rPr lang="en-US" dirty="0">
                <a:solidFill>
                  <a:srgbClr val="C00000"/>
                </a:solidFill>
              </a:rPr>
              <a:t>different connection speed</a:t>
            </a:r>
            <a:r>
              <a:rPr lang="en-US" dirty="0"/>
              <a:t>, i.e. </a:t>
            </a:r>
            <a:r>
              <a:rPr lang="en-US" dirty="0">
                <a:solidFill>
                  <a:srgbClr val="C00000"/>
                </a:solidFill>
              </a:rPr>
              <a:t>bandwidth</a:t>
            </a:r>
            <a:r>
              <a:rPr lang="en-US" dirty="0"/>
              <a:t>, to access the Web sites.</a:t>
            </a:r>
          </a:p>
          <a:p>
            <a:r>
              <a:rPr lang="en-US" dirty="0"/>
              <a:t>Connection speed plays an important role in designing web pages, if user has </a:t>
            </a:r>
            <a:r>
              <a:rPr lang="en-US" dirty="0">
                <a:solidFill>
                  <a:srgbClr val="C00000"/>
                </a:solidFill>
              </a:rPr>
              <a:t>low bandwidth connection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web page contains too many images</a:t>
            </a:r>
            <a:r>
              <a:rPr lang="en-US" dirty="0"/>
              <a:t>, it takes more time to download.</a:t>
            </a:r>
          </a:p>
          <a:p>
            <a:r>
              <a:rPr lang="en-US" dirty="0"/>
              <a:t>Generally, users have no patience to wait for longer time than 10-15 seconds and move to other site without looking at contents of your web page.</a:t>
            </a:r>
          </a:p>
          <a:p>
            <a:r>
              <a:rPr lang="en-US" dirty="0"/>
              <a:t>Browser provides </a:t>
            </a:r>
            <a:r>
              <a:rPr lang="en-US" dirty="0">
                <a:solidFill>
                  <a:srgbClr val="C00000"/>
                </a:solidFill>
              </a:rPr>
              <a:t>temporary memory </a:t>
            </a:r>
            <a:r>
              <a:rPr lang="en-US" dirty="0"/>
              <a:t>called </a:t>
            </a:r>
            <a:r>
              <a:rPr lang="en-US" dirty="0">
                <a:solidFill>
                  <a:srgbClr val="C00000"/>
                </a:solidFill>
              </a:rPr>
              <a:t>cache</a:t>
            </a:r>
            <a:r>
              <a:rPr lang="en-US" dirty="0"/>
              <a:t> to store the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C00000"/>
                </a:solidFill>
              </a:rPr>
              <a:t>graphics</a:t>
            </a:r>
            <a:r>
              <a:rPr lang="en-US" dirty="0"/>
              <a:t>.</a:t>
            </a:r>
          </a:p>
          <a:p>
            <a:r>
              <a:rPr lang="en-US" dirty="0"/>
              <a:t>When user gives the URL of the web page for the first time,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HTML file together with all the graphics files referred in a page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is downloaded and displayed.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7A3FC-E178-E9B7-D184-DB81729C7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723" y="2671756"/>
            <a:ext cx="3322800" cy="33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3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DE1E-EF7C-22D0-D68B-EB555316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FBDB2-2960-CE97-711A-9FDD7926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c) Display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6BCA-45AF-BDAA-6C58-5E74460A5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Display resolution is another important factor affecting the Web page design, as we do not have any control on display resolution of the monitors on which user views our pages.</a:t>
            </a:r>
          </a:p>
          <a:p>
            <a:r>
              <a:rPr lang="en-US" dirty="0"/>
              <a:t>Display or screen resolution is measured in terms of pixels and common resolutions are </a:t>
            </a:r>
            <a:r>
              <a:rPr lang="en-US" dirty="0">
                <a:solidFill>
                  <a:srgbClr val="C00000"/>
                </a:solidFill>
              </a:rPr>
              <a:t>800 X 600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1024 X 786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We have three choices for Web page design.</a:t>
            </a:r>
          </a:p>
          <a:p>
            <a:pPr lvl="1"/>
            <a:r>
              <a:rPr lang="en-US" sz="2200" dirty="0"/>
              <a:t>Design a web page with </a:t>
            </a:r>
            <a:r>
              <a:rPr lang="en-US" sz="2200" dirty="0">
                <a:solidFill>
                  <a:srgbClr val="C00000"/>
                </a:solidFill>
              </a:rPr>
              <a:t>fixed resolution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Make a </a:t>
            </a:r>
            <a:r>
              <a:rPr lang="en-US" sz="2200" dirty="0">
                <a:solidFill>
                  <a:srgbClr val="C00000"/>
                </a:solidFill>
              </a:rPr>
              <a:t>flexible design </a:t>
            </a:r>
            <a:r>
              <a:rPr lang="en-US" sz="2200" dirty="0"/>
              <a:t>using </a:t>
            </a:r>
            <a:r>
              <a:rPr lang="en-US" sz="2200" dirty="0">
                <a:solidFill>
                  <a:srgbClr val="C00000"/>
                </a:solidFill>
              </a:rPr>
              <a:t>HTML table </a:t>
            </a:r>
            <a:r>
              <a:rPr lang="en-US" sz="2200" dirty="0"/>
              <a:t>to fit into </a:t>
            </a:r>
            <a:r>
              <a:rPr lang="en-US" sz="2200" dirty="0">
                <a:solidFill>
                  <a:srgbClr val="C00000"/>
                </a:solidFill>
              </a:rPr>
              <a:t>different resolution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If the page is displayed on a monitor with a higher resolution, the page is displayed on left hand side and some part on the right-hand side remains blank. We can use centered design to display page properly.</a:t>
            </a:r>
          </a:p>
          <a:p>
            <a:pPr lvl="1"/>
            <a:r>
              <a:rPr lang="en-US" sz="2200" dirty="0"/>
              <a:t>Ideally we should use some frameworks for designing like </a:t>
            </a:r>
            <a:r>
              <a:rPr lang="en-US" sz="2200" dirty="0">
                <a:solidFill>
                  <a:srgbClr val="C00000"/>
                </a:solidFill>
              </a:rPr>
              <a:t>Bootstrap</a:t>
            </a:r>
            <a:r>
              <a:rPr lang="en-US" sz="2200" dirty="0"/>
              <a:t>/</a:t>
            </a:r>
            <a:r>
              <a:rPr lang="en-US" sz="2200" dirty="0">
                <a:solidFill>
                  <a:srgbClr val="C00000"/>
                </a:solidFill>
              </a:rPr>
              <a:t>Material design</a:t>
            </a:r>
            <a:r>
              <a:rPr lang="en-US" sz="2200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FEF36-209E-1630-21AB-547052257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770" y="1933099"/>
            <a:ext cx="3446108" cy="2581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993269-48AF-C949-1E99-ED77009F3144}"/>
              </a:ext>
            </a:extLst>
          </p:cNvPr>
          <p:cNvSpPr txBox="1"/>
          <p:nvPr/>
        </p:nvSpPr>
        <p:spPr>
          <a:xfrm>
            <a:off x="8969052" y="4343430"/>
            <a:ext cx="2880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>
                <a:solidFill>
                  <a:srgbClr val="00B050"/>
                </a:solidFill>
              </a:rPr>
              <a:t>https://www.ingeniumweb.com/Themes/inGeniumWeb/Upload/Responsive%20Web%20Design%20-%20Screen%20Resolutions.png</a:t>
            </a:r>
          </a:p>
        </p:txBody>
      </p:sp>
    </p:spTree>
    <p:extLst>
      <p:ext uri="{BB962C8B-B14F-4D97-AF65-F5344CB8AC3E}">
        <p14:creationId xmlns:p14="http://schemas.microsoft.com/office/powerpoint/2010/main" val="11617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548E-1893-08D4-857B-7D909A60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4551-E8C5-10A5-AA1E-C0881BB4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d) Look &amp; Feel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7B12-B021-7328-154B-E8F9BB9BE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Look &amp; Feel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Look and feel </a:t>
            </a:r>
            <a:r>
              <a:rPr lang="en-US" sz="2200" dirty="0"/>
              <a:t>of the </a:t>
            </a:r>
            <a:r>
              <a:rPr lang="en-US" sz="2200" dirty="0">
                <a:solidFill>
                  <a:srgbClr val="C00000"/>
                </a:solidFill>
              </a:rPr>
              <a:t>website</a:t>
            </a:r>
            <a:r>
              <a:rPr lang="en-US" sz="2200" dirty="0"/>
              <a:t> decides the overall </a:t>
            </a:r>
            <a:r>
              <a:rPr lang="en-US" sz="2200" dirty="0">
                <a:solidFill>
                  <a:srgbClr val="C00000"/>
                </a:solidFill>
              </a:rPr>
              <a:t>appearance</a:t>
            </a:r>
            <a:r>
              <a:rPr lang="en-US" sz="2200" dirty="0"/>
              <a:t> of the website.</a:t>
            </a:r>
          </a:p>
          <a:p>
            <a:pPr lvl="1"/>
            <a:r>
              <a:rPr lang="en-US" sz="2200" dirty="0"/>
              <a:t>It includes all the design aspects such as</a:t>
            </a:r>
          </a:p>
          <a:p>
            <a:pPr lvl="2"/>
            <a:r>
              <a:rPr lang="en-US" sz="2000" dirty="0"/>
              <a:t>Web site theme</a:t>
            </a:r>
          </a:p>
          <a:p>
            <a:pPr lvl="2"/>
            <a:r>
              <a:rPr lang="en-US" sz="2000" dirty="0"/>
              <a:t>Web typography</a:t>
            </a:r>
          </a:p>
          <a:p>
            <a:pPr lvl="2"/>
            <a:r>
              <a:rPr lang="en-US" sz="2000" dirty="0"/>
              <a:t>Graphics</a:t>
            </a:r>
          </a:p>
          <a:p>
            <a:pPr lvl="2"/>
            <a:r>
              <a:rPr lang="en-US" sz="2000" dirty="0"/>
              <a:t>Visual structure</a:t>
            </a:r>
          </a:p>
          <a:p>
            <a:pPr lvl="2"/>
            <a:r>
              <a:rPr lang="en-US" sz="2000" dirty="0"/>
              <a:t>Navigation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0C778-7530-574D-FF85-0E16C24E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805" y="2084985"/>
            <a:ext cx="3464766" cy="2202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DF6052-C37E-4C1F-BE99-7966361D98AF}"/>
              </a:ext>
            </a:extLst>
          </p:cNvPr>
          <p:cNvSpPr txBox="1"/>
          <p:nvPr/>
        </p:nvSpPr>
        <p:spPr>
          <a:xfrm>
            <a:off x="8291805" y="4440066"/>
            <a:ext cx="3464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>
                <a:solidFill>
                  <a:srgbClr val="00B050"/>
                </a:solidFill>
              </a:rPr>
              <a:t>https://miro.medium.com/v2/resize:fit:828/format:webp/1*10r3LL1F17Vr_8nR03GCiw.png</a:t>
            </a:r>
          </a:p>
        </p:txBody>
      </p:sp>
    </p:spTree>
    <p:extLst>
      <p:ext uri="{BB962C8B-B14F-4D97-AF65-F5344CB8AC3E}">
        <p14:creationId xmlns:p14="http://schemas.microsoft.com/office/powerpoint/2010/main" val="130100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83CE-FDFE-63F8-81CC-AF72099C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34CC-442F-6EFC-A6D0-8E17C7A8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e) Page Layout and Linking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C53CA-4808-4861-F7C2-C416116FC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Page Layout and Linking</a:t>
            </a:r>
          </a:p>
          <a:p>
            <a:pPr lvl="1"/>
            <a:r>
              <a:rPr lang="en-US" sz="2200" dirty="0"/>
              <a:t>Website contains of </a:t>
            </a:r>
            <a:r>
              <a:rPr lang="en-US" sz="2200" dirty="0">
                <a:solidFill>
                  <a:srgbClr val="C00000"/>
                </a:solidFill>
              </a:rPr>
              <a:t>individual web pages </a:t>
            </a:r>
            <a:r>
              <a:rPr lang="en-US" sz="2200" dirty="0"/>
              <a:t>that are </a:t>
            </a:r>
            <a:r>
              <a:rPr lang="en-US" sz="2200" dirty="0">
                <a:solidFill>
                  <a:srgbClr val="C00000"/>
                </a:solidFill>
              </a:rPr>
              <a:t>linked together </a:t>
            </a:r>
            <a:r>
              <a:rPr lang="en-US" sz="2200" dirty="0"/>
              <a:t>using various </a:t>
            </a:r>
            <a:r>
              <a:rPr lang="en-US" sz="2200" dirty="0">
                <a:solidFill>
                  <a:srgbClr val="C00000"/>
                </a:solidFill>
              </a:rPr>
              <a:t>navigational links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Page layout defines the visual structure of the page and divides the page area into different parts to present the information of varying importance.</a:t>
            </a:r>
          </a:p>
          <a:p>
            <a:pPr lvl="1"/>
            <a:r>
              <a:rPr lang="en-US" sz="2200" dirty="0"/>
              <a:t>Page layout allows the designer to distribute the contents on a page such that visitor can view it easily and find necessary details.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856FF-7110-D81B-CB7F-3FE717AB4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004" y="2862942"/>
            <a:ext cx="3837992" cy="38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7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DF60-0117-0464-AFAD-B2BAA772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5FC2-BD6F-80CB-25E8-963263822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f) Locating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59D8-D5DE-A711-E3BB-9CBA56A31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Locating Information</a:t>
            </a:r>
          </a:p>
          <a:p>
            <a:pPr lvl="1"/>
            <a:r>
              <a:rPr lang="en-US" sz="2200" dirty="0"/>
              <a:t>Webpage is viewed on a </a:t>
            </a:r>
            <a:r>
              <a:rPr lang="en-US" sz="2200" dirty="0">
                <a:solidFill>
                  <a:srgbClr val="C00000"/>
                </a:solidFill>
              </a:rPr>
              <a:t>computer screen </a:t>
            </a:r>
            <a:r>
              <a:rPr lang="en-US" sz="2200" dirty="0"/>
              <a:t>and the </a:t>
            </a:r>
            <a:r>
              <a:rPr lang="en-US" sz="2200" dirty="0">
                <a:solidFill>
                  <a:srgbClr val="C00000"/>
                </a:solidFill>
              </a:rPr>
              <a:t>screen</a:t>
            </a:r>
            <a:r>
              <a:rPr lang="en-US" sz="2200" dirty="0"/>
              <a:t> can be divided into </a:t>
            </a:r>
            <a:r>
              <a:rPr lang="en-US" sz="2200" dirty="0">
                <a:solidFill>
                  <a:srgbClr val="C00000"/>
                </a:solidFill>
              </a:rPr>
              <a:t>five major areas </a:t>
            </a:r>
            <a:r>
              <a:rPr lang="en-US" sz="2200" dirty="0"/>
              <a:t>such as </a:t>
            </a:r>
            <a:r>
              <a:rPr lang="en-US" sz="2200" dirty="0">
                <a:solidFill>
                  <a:srgbClr val="C00000"/>
                </a:solidFill>
              </a:rPr>
              <a:t>center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top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right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bottom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C00000"/>
                </a:solidFill>
              </a:rPr>
              <a:t>left</a:t>
            </a:r>
            <a:r>
              <a:rPr lang="en-US" sz="2200" dirty="0"/>
              <a:t> in this particular order.</a:t>
            </a:r>
          </a:p>
          <a:p>
            <a:pPr lvl="1"/>
            <a:r>
              <a:rPr lang="en-US" sz="2200" dirty="0"/>
              <a:t>The first major area of importance in terms of users viewing pattern is the center, then top, right, bottom and left in this particular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9B449-0D78-8999-B966-B0FE0ACAA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140" y="3051165"/>
            <a:ext cx="3743720" cy="2491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054C0-357D-C57F-A389-B6C71C6986C9}"/>
              </a:ext>
            </a:extLst>
          </p:cNvPr>
          <p:cNvSpPr txBox="1"/>
          <p:nvPr/>
        </p:nvSpPr>
        <p:spPr>
          <a:xfrm>
            <a:off x="4224141" y="5707022"/>
            <a:ext cx="3743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>
                <a:solidFill>
                  <a:srgbClr val="00B050"/>
                </a:solidFill>
              </a:rPr>
              <a:t>https://pngtree.com/freepng/laptop-web-design-situation-diagram_7456385.html</a:t>
            </a:r>
          </a:p>
        </p:txBody>
      </p:sp>
    </p:spTree>
    <p:extLst>
      <p:ext uri="{BB962C8B-B14F-4D97-AF65-F5344CB8AC3E}">
        <p14:creationId xmlns:p14="http://schemas.microsoft.com/office/powerpoint/2010/main" val="335088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E4DD-51D9-330E-1902-9C892DFA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83CC-7E3B-DD6A-62DC-1B3EC148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g) Making Design User-Centric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78AAA-1739-5A1D-F7AF-CE78D94D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Making Design User-Centric</a:t>
            </a:r>
          </a:p>
          <a:p>
            <a:pPr lvl="1"/>
            <a:r>
              <a:rPr lang="en-US" sz="2200" dirty="0"/>
              <a:t>It is very difficult for any </a:t>
            </a:r>
            <a:r>
              <a:rPr lang="en-US" sz="2200" dirty="0">
                <a:solidFill>
                  <a:srgbClr val="C00000"/>
                </a:solidFill>
              </a:rPr>
              <a:t>Web designer </a:t>
            </a:r>
            <a:r>
              <a:rPr lang="en-US" sz="2200" dirty="0"/>
              <a:t>to </a:t>
            </a:r>
            <a:r>
              <a:rPr lang="en-US" sz="2200" dirty="0">
                <a:solidFill>
                  <a:srgbClr val="C00000"/>
                </a:solidFill>
              </a:rPr>
              <a:t>predict </a:t>
            </a:r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exact behavior </a:t>
            </a:r>
            <a:r>
              <a:rPr lang="en-US" sz="2200" dirty="0"/>
              <a:t>of the </a:t>
            </a:r>
            <a:r>
              <a:rPr lang="en-US" sz="2200" dirty="0">
                <a:solidFill>
                  <a:srgbClr val="C00000"/>
                </a:solidFill>
              </a:rPr>
              <a:t>Web site users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However, idea of general behavior of common user helps in making design of the Web site user centric.</a:t>
            </a:r>
          </a:p>
          <a:p>
            <a:pPr lvl="1"/>
            <a:r>
              <a:rPr lang="en-US" sz="2200" dirty="0"/>
              <a:t>Users either scan the information on the web page to find the section of their interest or read the information to get details.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5931C-1053-C9AD-C2EC-61F3EFA54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472" y="2941176"/>
            <a:ext cx="4771054" cy="35803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87E73-8A87-E715-67CE-5C66117CCF56}"/>
              </a:ext>
            </a:extLst>
          </p:cNvPr>
          <p:cNvSpPr txBox="1"/>
          <p:nvPr/>
        </p:nvSpPr>
        <p:spPr>
          <a:xfrm>
            <a:off x="4718819" y="5994556"/>
            <a:ext cx="2754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dirty="0">
                <a:solidFill>
                  <a:srgbClr val="00B050"/>
                </a:solidFill>
              </a:rPr>
              <a:t>https://baxture.com/content/images/size/w2000/2023/07/user-centric-design.png</a:t>
            </a:r>
          </a:p>
        </p:txBody>
      </p:sp>
    </p:spTree>
    <p:extLst>
      <p:ext uri="{BB962C8B-B14F-4D97-AF65-F5344CB8AC3E}">
        <p14:creationId xmlns:p14="http://schemas.microsoft.com/office/powerpoint/2010/main" val="142770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DF7D3-FE86-119D-772E-CE08FB7C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A30A-EFF4-1C7D-E594-3118005F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h) Sitemap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CF1F1-FCD3-1C00-24EF-FD777286B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Sitemap is a </a:t>
            </a:r>
            <a:r>
              <a:rPr lang="en-US" dirty="0">
                <a:solidFill>
                  <a:srgbClr val="C00000"/>
                </a:solidFill>
              </a:rPr>
              <a:t>model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website's content </a:t>
            </a:r>
            <a:r>
              <a:rPr lang="en-US" dirty="0"/>
              <a:t>designed to help both </a:t>
            </a:r>
            <a:r>
              <a:rPr lang="en-US" dirty="0">
                <a:solidFill>
                  <a:srgbClr val="C0000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search engines</a:t>
            </a:r>
            <a:r>
              <a:rPr lang="en-US" dirty="0"/>
              <a:t> navigate the site.</a:t>
            </a:r>
          </a:p>
          <a:p>
            <a:r>
              <a:rPr lang="en-US" dirty="0"/>
              <a:t>Many a times Web sites are too complex as there are a large number of sections and each section contains many pages.</a:t>
            </a:r>
          </a:p>
          <a:p>
            <a:r>
              <a:rPr lang="en-US" dirty="0"/>
              <a:t>It becomes difficult for visitors to quickly move from one part to other.</a:t>
            </a:r>
          </a:p>
          <a:p>
            <a:r>
              <a:rPr lang="en-US" dirty="0"/>
              <a:t>Once the user selects a particular section and pages in that section, user gets confused about where he/she is and where to go from there.</a:t>
            </a:r>
          </a:p>
          <a:p>
            <a:r>
              <a:rPr lang="en-US" dirty="0"/>
              <a:t>To make it simple, keep your </a:t>
            </a:r>
            <a:r>
              <a:rPr lang="en-US" dirty="0">
                <a:solidFill>
                  <a:srgbClr val="C00000"/>
                </a:solidFill>
              </a:rPr>
              <a:t>hierarchy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information</a:t>
            </a:r>
            <a:r>
              <a:rPr lang="en-US" dirty="0"/>
              <a:t> to few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levels or provide the navigation bar on each page to jump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directly to a particular section.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75DCE-17CA-EFF9-DC53-F2CE1BAF7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514" y="3388204"/>
            <a:ext cx="2606352" cy="260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6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5A05-BE41-5C1D-6DAB-B01184FE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1B32-1A19-E4DB-8536-88A8F791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Planning of Good Website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ED61A-C241-7FF7-FA6B-C417146EB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1357530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11F4-2CCF-2916-141F-56E2A88E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48F4-91AB-ACA1-673B-0A7FE359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Planning a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EE30-AB4C-3BFE-F553-5F521C65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most important activity in a </a:t>
            </a:r>
            <a:r>
              <a:rPr lang="en-US" dirty="0">
                <a:solidFill>
                  <a:srgbClr val="C00000"/>
                </a:solidFill>
              </a:rPr>
              <a:t>website development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planning</a:t>
            </a:r>
            <a:r>
              <a:rPr lang="en-US" dirty="0"/>
              <a:t>.</a:t>
            </a:r>
          </a:p>
          <a:p>
            <a:r>
              <a:rPr lang="en-US" dirty="0"/>
              <a:t>To achieve </a:t>
            </a:r>
            <a:r>
              <a:rPr lang="en-US" dirty="0">
                <a:solidFill>
                  <a:srgbClr val="C00000"/>
                </a:solidFill>
              </a:rPr>
              <a:t>higher success </a:t>
            </a:r>
            <a:r>
              <a:rPr lang="en-US" dirty="0"/>
              <a:t>of the website in terms of </a:t>
            </a:r>
            <a:r>
              <a:rPr lang="en-US" dirty="0">
                <a:solidFill>
                  <a:srgbClr val="C00000"/>
                </a:solidFill>
              </a:rPr>
              <a:t>user satisfaction</a:t>
            </a:r>
            <a:r>
              <a:rPr lang="en-US" dirty="0"/>
              <a:t>, better planning is needed.</a:t>
            </a:r>
          </a:p>
          <a:p>
            <a:r>
              <a:rPr lang="en-US" dirty="0"/>
              <a:t>Before we start developing a website, we should ask question such as,</a:t>
            </a:r>
          </a:p>
          <a:p>
            <a:pPr lvl="1"/>
            <a:r>
              <a:rPr lang="en-US" sz="2200" dirty="0"/>
              <a:t>Why are we developing this website?</a:t>
            </a:r>
          </a:p>
          <a:p>
            <a:pPr lvl="1"/>
            <a:r>
              <a:rPr lang="en-US" sz="2200" dirty="0"/>
              <a:t>What do we achieve by developing this website?</a:t>
            </a:r>
          </a:p>
          <a:p>
            <a:pPr lvl="1"/>
            <a:r>
              <a:rPr lang="en-US" sz="2200" dirty="0"/>
              <a:t>Who are the people who will use this website?</a:t>
            </a:r>
          </a:p>
          <a:p>
            <a:pPr lvl="1"/>
            <a:r>
              <a:rPr lang="en-US" sz="2200" dirty="0"/>
              <a:t>What are the information contents?</a:t>
            </a:r>
          </a:p>
          <a:p>
            <a:pPr lvl="1"/>
            <a:r>
              <a:rPr lang="en-US" sz="2200" dirty="0"/>
              <a:t>How are these contents organized? What are the possible ways?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1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7BF0-8279-BB2A-AC6D-32D61FDB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3C53-4D14-F14C-0170-29D83451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Designing effective navigation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76DC9-6E28-01B9-0314-0D9F495A9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92267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8934-AF92-39D2-2114-85EA6BD0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978C-90A4-32EF-6856-8122BDEC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Effective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703E-E47E-A1E6-89A7-09DE664F9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465"/>
            <a:ext cx="11929641" cy="5590565"/>
          </a:xfrm>
        </p:spPr>
        <p:txBody>
          <a:bodyPr/>
          <a:lstStyle/>
          <a:p>
            <a:r>
              <a:rPr lang="en-US" dirty="0"/>
              <a:t>The most important design element in the web design after page layout is navigation design.</a:t>
            </a:r>
          </a:p>
          <a:p>
            <a:r>
              <a:rPr lang="en-US" dirty="0"/>
              <a:t>Navigation means the ways to move from one page to another page in a Web site using hyperlinks provided on the page.</a:t>
            </a:r>
          </a:p>
          <a:p>
            <a:r>
              <a:rPr lang="en-US" dirty="0"/>
              <a:t>If navigation design is not proper then user feels the problem in moving around the pages in your site in a desired manner or gets confused and leaves the site.</a:t>
            </a:r>
          </a:p>
          <a:p>
            <a:r>
              <a:rPr lang="en-US" dirty="0"/>
              <a:t>Tips for Effective Navigation:</a:t>
            </a:r>
          </a:p>
          <a:p>
            <a:pPr lvl="1"/>
            <a:r>
              <a:rPr lang="en-US" dirty="0"/>
              <a:t>Navigation links are either </a:t>
            </a:r>
            <a:r>
              <a:rPr lang="en-US" dirty="0">
                <a:solidFill>
                  <a:srgbClr val="C00000"/>
                </a:solidFill>
              </a:rPr>
              <a:t>text based</a:t>
            </a:r>
            <a:r>
              <a:rPr lang="en-US" dirty="0"/>
              <a:t>, i.e. a word or a phrase, or </a:t>
            </a:r>
            <a:r>
              <a:rPr lang="en-US" dirty="0">
                <a:solidFill>
                  <a:srgbClr val="C00000"/>
                </a:solidFill>
              </a:rPr>
              <a:t>graphical</a:t>
            </a:r>
            <a:r>
              <a:rPr lang="en-US" dirty="0"/>
              <a:t>, i.e. an image.</a:t>
            </a:r>
          </a:p>
          <a:p>
            <a:pPr lvl="1"/>
            <a:r>
              <a:rPr lang="en-US" dirty="0"/>
              <a:t>Navigation links should be </a:t>
            </a:r>
            <a:r>
              <a:rPr lang="en-US" dirty="0">
                <a:solidFill>
                  <a:srgbClr val="C00000"/>
                </a:solidFill>
              </a:rPr>
              <a:t>clear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meaningful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should be </a:t>
            </a:r>
            <a:r>
              <a:rPr lang="en-US" dirty="0">
                <a:solidFill>
                  <a:srgbClr val="C00000"/>
                </a:solidFill>
              </a:rPr>
              <a:t>consistent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Link should be </a:t>
            </a:r>
            <a:r>
              <a:rPr lang="en-US" dirty="0">
                <a:solidFill>
                  <a:srgbClr val="C00000"/>
                </a:solidFill>
              </a:rPr>
              <a:t>understandable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Organize the links such that contents are </a:t>
            </a:r>
            <a:r>
              <a:rPr lang="en-US" dirty="0">
                <a:solidFill>
                  <a:srgbClr val="C00000"/>
                </a:solidFill>
              </a:rPr>
              <a:t>grouped logically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Provide </a:t>
            </a:r>
            <a:r>
              <a:rPr lang="en-US" dirty="0">
                <a:solidFill>
                  <a:srgbClr val="C00000"/>
                </a:solidFill>
              </a:rPr>
              <a:t>search</a:t>
            </a:r>
            <a:r>
              <a:rPr lang="en-US" b="1" dirty="0"/>
              <a:t> </a:t>
            </a:r>
            <a:r>
              <a:rPr lang="en-US" dirty="0"/>
              <a:t>link, if necessary, usually on top of the page. 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common links </a:t>
            </a:r>
            <a:r>
              <a:rPr lang="en-US" dirty="0"/>
              <a:t>such as ‘about us’ or ‘Contact us’.</a:t>
            </a:r>
          </a:p>
          <a:p>
            <a:pPr lvl="1"/>
            <a:r>
              <a:rPr lang="en-US" dirty="0"/>
              <a:t>Provide the way to </a:t>
            </a:r>
            <a:r>
              <a:rPr lang="en-US" dirty="0">
                <a:solidFill>
                  <a:srgbClr val="C00000"/>
                </a:solidFill>
              </a:rPr>
              <a:t>return to first page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Provide the user with </a:t>
            </a:r>
            <a:r>
              <a:rPr lang="en-US" dirty="0">
                <a:solidFill>
                  <a:srgbClr val="C00000"/>
                </a:solidFill>
              </a:rPr>
              <a:t>information</a:t>
            </a:r>
            <a:r>
              <a:rPr lang="en-US" b="1" dirty="0"/>
              <a:t> </a:t>
            </a:r>
            <a:r>
              <a:rPr lang="en-US" dirty="0"/>
              <a:t>regarding </a:t>
            </a:r>
            <a:r>
              <a:rPr lang="en-US" dirty="0">
                <a:solidFill>
                  <a:srgbClr val="C00000"/>
                </a:solidFill>
              </a:rPr>
              <a:t>location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Horizontal navigation bar </a:t>
            </a:r>
            <a:r>
              <a:rPr lang="en-US" dirty="0"/>
              <a:t>can be provided on each page to directly jump to any section.</a:t>
            </a:r>
          </a:p>
        </p:txBody>
      </p:sp>
    </p:spTree>
    <p:extLst>
      <p:ext uri="{BB962C8B-B14F-4D97-AF65-F5344CB8AC3E}">
        <p14:creationId xmlns:p14="http://schemas.microsoft.com/office/powerpoint/2010/main" val="97159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48CD-37CB-B24F-AFE1-EE6E66D6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3034-4805-669B-866C-12A46050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Scripting Languages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FE73B-25BC-2164-5227-2604FD8AA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3558041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B206-85A1-F42B-FE40-AF4BD3B6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9C9D-EBE8-196D-2165-7E862495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Scripting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158C-318A-44F5-D4AC-C5E520957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>
              <a:buClr>
                <a:srgbClr val="B84D3D"/>
              </a:buClr>
            </a:pPr>
            <a:r>
              <a:rPr lang="en-US" dirty="0">
                <a:solidFill>
                  <a:srgbClr val="C00000"/>
                </a:solidFill>
              </a:rPr>
              <a:t>Scripting languages </a:t>
            </a:r>
            <a:r>
              <a:rPr lang="en-US" dirty="0"/>
              <a:t>are </a:t>
            </a:r>
            <a:r>
              <a:rPr lang="en-US" dirty="0">
                <a:solidFill>
                  <a:srgbClr val="C00000"/>
                </a:solidFill>
              </a:rPr>
              <a:t>light-weighted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interpreted programming languages </a:t>
            </a:r>
            <a:r>
              <a:rPr lang="en-US" dirty="0"/>
              <a:t>designed for automating task, data manipulation and rapid development.</a:t>
            </a:r>
          </a:p>
          <a:p>
            <a:pPr>
              <a:buClr>
                <a:srgbClr val="B84D3D"/>
              </a:buClr>
            </a:pPr>
            <a:r>
              <a:rPr lang="en-US" dirty="0"/>
              <a:t>Characteristics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Interpreted: Code is </a:t>
            </a:r>
            <a:r>
              <a:rPr lang="en-US" sz="2200" dirty="0">
                <a:solidFill>
                  <a:srgbClr val="C00000"/>
                </a:solidFill>
              </a:rPr>
              <a:t>executed line by line </a:t>
            </a:r>
            <a:r>
              <a:rPr lang="en-US" sz="2200" dirty="0"/>
              <a:t>without </a:t>
            </a:r>
            <a:r>
              <a:rPr lang="en-US" sz="2200" dirty="0">
                <a:solidFill>
                  <a:srgbClr val="C00000"/>
                </a:solidFill>
              </a:rPr>
              <a:t>prior compilation</a:t>
            </a:r>
            <a:r>
              <a:rPr lang="en-US" sz="2200" dirty="0"/>
              <a:t>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High-level: Abstraction from </a:t>
            </a:r>
            <a:r>
              <a:rPr lang="en-US" sz="2200" dirty="0">
                <a:solidFill>
                  <a:srgbClr val="C00000"/>
                </a:solidFill>
              </a:rPr>
              <a:t>machine code </a:t>
            </a:r>
            <a:r>
              <a:rPr lang="en-US" sz="2200" dirty="0"/>
              <a:t>for </a:t>
            </a:r>
            <a:r>
              <a:rPr lang="en-US" sz="2200" dirty="0">
                <a:solidFill>
                  <a:srgbClr val="C00000"/>
                </a:solidFill>
              </a:rPr>
              <a:t>human friendly coding</a:t>
            </a:r>
            <a:r>
              <a:rPr lang="en-US" sz="2200" dirty="0"/>
              <a:t>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Dynamic-typing: Variable </a:t>
            </a:r>
            <a:r>
              <a:rPr lang="en-US" sz="2200" dirty="0">
                <a:solidFill>
                  <a:srgbClr val="C00000"/>
                </a:solidFill>
              </a:rPr>
              <a:t>types determined </a:t>
            </a:r>
            <a:r>
              <a:rPr lang="en-US" sz="2200" dirty="0"/>
              <a:t>at </a:t>
            </a:r>
            <a:r>
              <a:rPr lang="en-US" sz="2200" dirty="0">
                <a:solidFill>
                  <a:srgbClr val="C00000"/>
                </a:solidFill>
              </a:rPr>
              <a:t>runtime</a:t>
            </a:r>
            <a:r>
              <a:rPr lang="en-US" sz="2200" dirty="0"/>
              <a:t>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Rapid development: Quick </a:t>
            </a:r>
            <a:r>
              <a:rPr lang="en-US" sz="2200" dirty="0">
                <a:solidFill>
                  <a:srgbClr val="C00000"/>
                </a:solidFill>
              </a:rPr>
              <a:t>coding </a:t>
            </a:r>
            <a:r>
              <a:rPr lang="en-US" sz="2200" dirty="0"/>
              <a:t>and </a:t>
            </a:r>
            <a:r>
              <a:rPr lang="en-US" sz="2200" dirty="0">
                <a:solidFill>
                  <a:srgbClr val="C00000"/>
                </a:solidFill>
              </a:rPr>
              <a:t>testing</a:t>
            </a:r>
            <a:r>
              <a:rPr lang="en-US" sz="2200" dirty="0"/>
              <a:t> cycles.</a:t>
            </a:r>
          </a:p>
          <a:p>
            <a:pPr>
              <a:buClr>
                <a:srgbClr val="B84D3D"/>
              </a:buClr>
            </a:pPr>
            <a:r>
              <a:rPr lang="en-US" dirty="0"/>
              <a:t>Examples of Scripting Languages: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Python: Versatile and readable.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JavaScript: Predominantly used for web scripting.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Ruby: Emphasizes simplicity and productivity.</a:t>
            </a:r>
          </a:p>
          <a:p>
            <a:pPr lvl="1">
              <a:buClr>
                <a:srgbClr val="B84D3D"/>
              </a:buClr>
            </a:pPr>
            <a:r>
              <a:rPr lang="en-US" sz="2200" dirty="0"/>
              <a:t>Bash: Shell scripting for system administration.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01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2" name="Picture Placeholder 15">
            <a:extLst>
              <a:ext uri="{FF2B5EF4-FFF2-40B4-BE49-F238E27FC236}">
                <a16:creationId xmlns:a16="http://schemas.microsoft.com/office/drawing/2014/main" id="{8326CB1F-C926-33A4-F25C-8132B367DA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8" y="5216366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6345</TotalTime>
  <Words>1421</Words>
  <Application>Microsoft Office PowerPoint</Application>
  <PresentationFormat>Widescreen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Wingdings</vt:lpstr>
      <vt:lpstr>Calibri</vt:lpstr>
      <vt:lpstr>Roboto Condensed</vt:lpstr>
      <vt:lpstr>Roboto Condensed Light</vt:lpstr>
      <vt:lpstr>Segoe UI Black</vt:lpstr>
      <vt:lpstr>Arial</vt:lpstr>
      <vt:lpstr>Wingdings 3</vt:lpstr>
      <vt:lpstr>Wingdings 2</vt:lpstr>
      <vt:lpstr>Office Theme</vt:lpstr>
      <vt:lpstr>1_Office Theme</vt:lpstr>
      <vt:lpstr>4_Office Theme</vt:lpstr>
      <vt:lpstr>2_Office Theme</vt:lpstr>
      <vt:lpstr>Unit-01  Introduction to Web Designing </vt:lpstr>
      <vt:lpstr>PowerPoint Presentation</vt:lpstr>
      <vt:lpstr>Concept of effective web design </vt:lpstr>
      <vt:lpstr>Concept of Effective Web Design</vt:lpstr>
      <vt:lpstr>Web Design Issues </vt:lpstr>
      <vt:lpstr>Web Design Issues</vt:lpstr>
      <vt:lpstr>a) Browser &amp; Operating Systems</vt:lpstr>
      <vt:lpstr>b) Bandwidth and Cache</vt:lpstr>
      <vt:lpstr>c) Display Resolution</vt:lpstr>
      <vt:lpstr>d) Look &amp; Feel</vt:lpstr>
      <vt:lpstr>e) Page Layout and Linking</vt:lpstr>
      <vt:lpstr>f) Locating Information</vt:lpstr>
      <vt:lpstr>g) Making Design User-Centric</vt:lpstr>
      <vt:lpstr>h) Sitemap </vt:lpstr>
      <vt:lpstr>Planning of Good Website</vt:lpstr>
      <vt:lpstr>Planning a Website</vt:lpstr>
      <vt:lpstr>Designing effective navigation</vt:lpstr>
      <vt:lpstr>Effective Navigation</vt:lpstr>
      <vt:lpstr>Scripting Languages</vt:lpstr>
      <vt:lpstr>Scripting Languages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1078</cp:revision>
  <dcterms:created xsi:type="dcterms:W3CDTF">2020-05-01T05:09:15Z</dcterms:created>
  <dcterms:modified xsi:type="dcterms:W3CDTF">2025-12-15T07:38:06Z</dcterms:modified>
</cp:coreProperties>
</file>