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  <p:sldMasterId id="2147483761" r:id="rId3"/>
    <p:sldMasterId id="2147483830" r:id="rId4"/>
  </p:sldMasterIdLst>
  <p:notesMasterIdLst>
    <p:notesMasterId r:id="rId38"/>
  </p:notesMasterIdLst>
  <p:sldIdLst>
    <p:sldId id="308" r:id="rId5"/>
    <p:sldId id="352" r:id="rId6"/>
    <p:sldId id="564" r:id="rId7"/>
    <p:sldId id="348" r:id="rId8"/>
    <p:sldId id="568" r:id="rId9"/>
    <p:sldId id="569" r:id="rId10"/>
    <p:sldId id="567" r:id="rId11"/>
    <p:sldId id="566" r:id="rId12"/>
    <p:sldId id="565" r:id="rId13"/>
    <p:sldId id="573" r:id="rId14"/>
    <p:sldId id="572" r:id="rId15"/>
    <p:sldId id="578" r:id="rId16"/>
    <p:sldId id="571" r:id="rId17"/>
    <p:sldId id="577" r:id="rId18"/>
    <p:sldId id="579" r:id="rId19"/>
    <p:sldId id="576" r:id="rId20"/>
    <p:sldId id="575" r:id="rId21"/>
    <p:sldId id="581" r:id="rId22"/>
    <p:sldId id="580" r:id="rId23"/>
    <p:sldId id="570" r:id="rId24"/>
    <p:sldId id="585" r:id="rId25"/>
    <p:sldId id="574" r:id="rId26"/>
    <p:sldId id="586" r:id="rId27"/>
    <p:sldId id="584" r:id="rId28"/>
    <p:sldId id="583" r:id="rId29"/>
    <p:sldId id="589" r:id="rId30"/>
    <p:sldId id="588" r:id="rId31"/>
    <p:sldId id="587" r:id="rId32"/>
    <p:sldId id="593" r:id="rId33"/>
    <p:sldId id="582" r:id="rId34"/>
    <p:sldId id="592" r:id="rId35"/>
    <p:sldId id="591" r:id="rId36"/>
    <p:sldId id="358" r:id="rId37"/>
  </p:sldIdLst>
  <p:sldSz cx="12192000" cy="6858000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Roboto Condensed Light" panose="02000000000000000000" pitchFamily="2" charset="0"/>
      <p:regular r:id="rId43"/>
      <p:italic r:id="rId44"/>
    </p:embeddedFon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Roboto Condensed" panose="02000000000000000000" pitchFamily="2" charset="0"/>
      <p:regular r:id="rId49"/>
      <p:bold r:id="rId50"/>
      <p:italic r:id="rId51"/>
      <p:boldItalic r:id="rId52"/>
    </p:embeddedFont>
    <p:embeddedFont>
      <p:font typeface="Wingdings 3" panose="05040102010807070707" pitchFamily="18" charset="2"/>
      <p:regular r:id="rId53"/>
    </p:embeddedFont>
    <p:embeddedFont>
      <p:font typeface="Segoe UI Black" panose="020B0A02040204020203" pitchFamily="34" charset="0"/>
      <p:bold r:id="rId54"/>
      <p:boldItalic r:id="rId55"/>
    </p:embeddedFont>
    <p:embeddedFont>
      <p:font typeface="Wingdings 2" panose="05020102010507070707" pitchFamily="18" charset="2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JZMAgZGMDtIVmm1sQVYDIA==" hashData="nJ8rWxsEg2zSVA2Nw3fNHSdISobnyr+AUzWZocYjleZcOtBpc66/QoeRxppyFjXrudi8MLl70/lBipOoRH7EOw=="/>
  <p:extLst>
    <p:ext uri="{521415D9-36F7-43E2-AB2F-B90AF26B5E84}">
      <p14:sectionLst xmlns:p14="http://schemas.microsoft.com/office/powerpoint/2010/main">
        <p14:section name="Unit-04 Properties of CSS3" id="{6F98277B-3FE4-4DB6-9DF4-04A9EE7CB27D}">
          <p14:sldIdLst>
            <p14:sldId id="308"/>
          </p14:sldIdLst>
        </p14:section>
        <p14:section name="Outline" id="{C5B49A7B-0240-414D-82A2-AEBCCFBF15D4}">
          <p14:sldIdLst>
            <p14:sldId id="352"/>
          </p14:sldIdLst>
        </p14:section>
        <p14:section name="Introduction to CSS3" id="{3C329440-0C3D-4A8F-B481-D50DCFE25AF6}">
          <p14:sldIdLst>
            <p14:sldId id="564"/>
            <p14:sldId id="348"/>
            <p14:sldId id="568"/>
          </p14:sldIdLst>
        </p14:section>
        <p14:section name="CSS3 Animation" id="{9CFA5B2A-3ABB-436A-B422-F0BB39785108}">
          <p14:sldIdLst>
            <p14:sldId id="569"/>
            <p14:sldId id="567"/>
            <p14:sldId id="566"/>
            <p14:sldId id="565"/>
            <p14:sldId id="573"/>
            <p14:sldId id="572"/>
          </p14:sldIdLst>
        </p14:section>
        <p14:section name="CSS Variables" id="{FF7ABDB9-A2EC-4947-B42A-E8A74C53865B}">
          <p14:sldIdLst>
            <p14:sldId id="578"/>
            <p14:sldId id="571"/>
            <p14:sldId id="577"/>
          </p14:sldIdLst>
        </p14:section>
        <p14:section name="Media Queries" id="{641BBCF3-7932-4D89-9852-14F710F27EC2}">
          <p14:sldIdLst>
            <p14:sldId id="579"/>
            <p14:sldId id="576"/>
            <p14:sldId id="575"/>
            <p14:sldId id="581"/>
            <p14:sldId id="580"/>
            <p14:sldId id="570"/>
          </p14:sldIdLst>
        </p14:section>
        <p14:section name="Wild Card Selectors" id="{8BFB7BB4-8F7B-413D-9116-90A3E33EF306}">
          <p14:sldIdLst>
            <p14:sldId id="585"/>
            <p14:sldId id="574"/>
          </p14:sldIdLst>
        </p14:section>
        <p14:section name="Gradients" id="{39BC0114-70B4-4B99-B34F-4B2B18D00390}">
          <p14:sldIdLst>
            <p14:sldId id="586"/>
            <p14:sldId id="584"/>
            <p14:sldId id="583"/>
            <p14:sldId id="589"/>
            <p14:sldId id="588"/>
            <p14:sldId id="587"/>
          </p14:sldIdLst>
        </p14:section>
        <p14:section name="Pseudo Classes" id="{9E70260D-68C6-412F-A83E-4B1C97271429}">
          <p14:sldIdLst>
            <p14:sldId id="593"/>
            <p14:sldId id="582"/>
          </p14:sldIdLst>
        </p14:section>
        <p14:section name="Pseudo Elements" id="{CA843F48-6EB5-417D-A8F4-730DDE04EE09}">
          <p14:sldIdLst>
            <p14:sldId id="592"/>
          </p14:sldIdLst>
        </p14:section>
        <p14:section name="Tooltip" id="{3FD8A927-A357-49A2-AB30-4631C828C321}">
          <p14:sldIdLst>
            <p14:sldId id="591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BDBDB"/>
    <a:srgbClr val="ED524F"/>
    <a:srgbClr val="301B92"/>
    <a:srgbClr val="673BB7"/>
    <a:srgbClr val="607D8B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4.xml"/><Relationship Id="rId51" Type="http://schemas.openxmlformats.org/officeDocument/2006/relationships/font" Target="fonts/font1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microsoft.com/office/2007/relationships/hdphoto" Target="../media/hdphoto5.wdp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31.jpeg"/></Relationships>
</file>

<file path=ppt/slideLayouts/_rels/slideLayout6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281410" y="6601747"/>
            <a:ext cx="562917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#2304CS202 (WD-II)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 Properties of CSS3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2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843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438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6219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460D7-CBA5-99E2-F433-668EED5BA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42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2169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608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8598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52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7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8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9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0A502E-20E2-F6D8-11DA-9E31300B528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937" y="1773829"/>
            <a:ext cx="2534446" cy="2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26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9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38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70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72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568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46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4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3281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33820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5432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071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37455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5352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67375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76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30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81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325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76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35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180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34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017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617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484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880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3292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46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320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54295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53349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1894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51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5583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9858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26432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6304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8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6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676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99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75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07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8599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69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009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070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183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28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1478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8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6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400" y="1778606"/>
            <a:ext cx="7726094" cy="257878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5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</a:t>
            </a:r>
            <a:r>
              <a:rPr lang="en-US" sz="5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Properties of CSS3</a:t>
            </a:r>
            <a:r>
              <a:rPr lang="en-US" sz="6000" dirty="0"/>
              <a:t/>
            </a:r>
            <a:br>
              <a:rPr lang="en-US" sz="6000" dirty="0"/>
            </a:b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8AE13-A5CE-5C97-DAC2-01C58CA8436C}"/>
              </a:ext>
            </a:extLst>
          </p:cNvPr>
          <p:cNvSpPr txBox="1">
            <a:spLocks/>
          </p:cNvSpPr>
          <p:nvPr/>
        </p:nvSpPr>
        <p:spPr>
          <a:xfrm>
            <a:off x="867400" y="4132880"/>
            <a:ext cx="9330959" cy="87601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200" i="1" dirty="0">
                <a:effectLst/>
              </a:rPr>
              <a:t>CO4 : At the end of this chapter, students will be able to,</a:t>
            </a:r>
          </a:p>
          <a:p>
            <a:pPr>
              <a:spcBef>
                <a:spcPts val="0"/>
              </a:spcBef>
            </a:pPr>
            <a:r>
              <a:rPr lang="en-US" sz="2200" b="0" dirty="0">
                <a:effectLst/>
              </a:rPr>
              <a:t>          </a:t>
            </a:r>
            <a:r>
              <a:rPr lang="en-US" sz="2200" b="0" i="1" dirty="0">
                <a:effectLst/>
              </a:rPr>
              <a:t> implement CSS3 concepts to design modern web pages</a:t>
            </a:r>
            <a:r>
              <a:rPr lang="en-US" sz="2200" b="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  <a:sym typeface="Wingdings 2" panose="05020102010507070707" pitchFamily="18" charset="2"/>
              </a:rPr>
              <a:t>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Outline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Introduction to CSS3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CSS3 Animations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CSS 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Media Queries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Wild Card Selectors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Gradients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Flexible Box Layout Model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Pseudo Classes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Pseudo Element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Tooltip</a:t>
            </a:r>
          </a:p>
          <a:p>
            <a:pPr indent="446088">
              <a:buFont typeface="Wingdings" pitchFamily="2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1020-097C-C904-1FCD-E550B3A1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E2A3-5AD6-F569-196A-F829B03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 to CSS3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41E7C-2CDB-E476-7A3F-614623ABC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429222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5B03C85-F0FD-A3A2-C127-6DF2FC61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Introduction to CSS3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8CD65C-7EFC-9490-C444-944623681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CSS3 is the </a:t>
            </a:r>
            <a:r>
              <a:rPr lang="en-US" dirty="0">
                <a:solidFill>
                  <a:srgbClr val="C00000"/>
                </a:solidFill>
              </a:rPr>
              <a:t>latest standard </a:t>
            </a:r>
            <a:r>
              <a:rPr lang="en-US" dirty="0"/>
              <a:t>for CSS.</a:t>
            </a:r>
          </a:p>
          <a:p>
            <a:r>
              <a:rPr lang="en-US" dirty="0"/>
              <a:t>CSS3 is completely </a:t>
            </a:r>
            <a:r>
              <a:rPr lang="en-US" dirty="0">
                <a:solidFill>
                  <a:srgbClr val="C00000"/>
                </a:solidFill>
              </a:rPr>
              <a:t>backwards-compatible</a:t>
            </a:r>
            <a:r>
              <a:rPr lang="en-US" dirty="0"/>
              <a:t> with earlier versions of CSS.</a:t>
            </a:r>
          </a:p>
          <a:p>
            <a:r>
              <a:rPr lang="en-US" dirty="0"/>
              <a:t>CSS3 has been split into "modules". It contains the "old CSS specification" (which has been split into smaller pieces). In addition, new modules are added.</a:t>
            </a:r>
          </a:p>
          <a:p>
            <a:r>
              <a:rPr lang="en-US" dirty="0"/>
              <a:t>CSS3 Transitions are a presentational effect which allow property changes in CSS values, such as those that may be defined to occur on :hover or :focus, to occur smoothly over a specified duration – rather than happening instantaneously as is the normal behavior.</a:t>
            </a:r>
          </a:p>
          <a:p>
            <a:r>
              <a:rPr lang="en-US" dirty="0"/>
              <a:t>Transition effects can be applied to a wide variety of CSS properties, including background-color, width, height, opacity, and many more.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3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6E59-461A-E04F-4A25-3528FC89D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7BF29F-B476-406B-D14E-300C285F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Introduction to CSS3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CCDF82-639E-AD58-A2BD-D7ACABBD9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CSS3 is the </a:t>
            </a:r>
            <a:r>
              <a:rPr lang="en-US" dirty="0">
                <a:solidFill>
                  <a:srgbClr val="C00000"/>
                </a:solidFill>
              </a:rPr>
              <a:t>latest standard </a:t>
            </a:r>
            <a:r>
              <a:rPr lang="en-US" dirty="0"/>
              <a:t>for CSS.</a:t>
            </a:r>
          </a:p>
          <a:p>
            <a:r>
              <a:rPr lang="en-US" dirty="0"/>
              <a:t>CSS3 is completely </a:t>
            </a:r>
            <a:r>
              <a:rPr lang="en-US" dirty="0">
                <a:solidFill>
                  <a:srgbClr val="C00000"/>
                </a:solidFill>
              </a:rPr>
              <a:t>backwards-compatible</a:t>
            </a:r>
            <a:r>
              <a:rPr lang="en-US" dirty="0"/>
              <a:t> with earlier versions of CSS.</a:t>
            </a:r>
          </a:p>
          <a:p>
            <a:r>
              <a:rPr lang="en-US" dirty="0"/>
              <a:t>CSS3 has been split into "modules". It contains the "old CSS specification" (which has been split into smaller pieces). In addition, new modules are added.</a:t>
            </a:r>
          </a:p>
          <a:p>
            <a:r>
              <a:rPr lang="en-US" dirty="0"/>
              <a:t>CSS3 Transitions are a presentational effect which allow property changes in CSS values, such as those that may be defined to occur on :hover or :focus, to occur smoothly over a specified duration – rather than happening instantaneously as is the normal behavior.</a:t>
            </a:r>
          </a:p>
          <a:p>
            <a:r>
              <a:rPr lang="en-US" dirty="0"/>
              <a:t>Transition effects can be applied to a wide variety of CSS properties, including background-color, width, height, opacity, and many more.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6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0F3A-DFCC-34C8-6B07-05E5F79A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70F0-B264-4D25-BE0B-F9EAD1A6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CSS3 Animation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E61D1-F101-6E6B-4A04-1D0C4227C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85462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B0C3-8EE6-5700-C6A4-93EF17F3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4620-C097-9F0F-2D39-AFACDCA0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CSS3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5CE0D-E5FD-9F25-0C33-B454FAF7A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CSS animations make it possible to </a:t>
            </a:r>
            <a:r>
              <a:rPr lang="en-US" dirty="0">
                <a:solidFill>
                  <a:srgbClr val="C00000"/>
                </a:solidFill>
              </a:rPr>
              <a:t>animate transitions </a:t>
            </a:r>
            <a:r>
              <a:rPr lang="en-US" dirty="0"/>
              <a:t>from one CSS style configuration to another. </a:t>
            </a:r>
          </a:p>
          <a:p>
            <a:r>
              <a:rPr lang="en-US" dirty="0"/>
              <a:t>Animations consist of two components, </a:t>
            </a:r>
          </a:p>
          <a:p>
            <a:pPr lvl="1"/>
            <a:r>
              <a:rPr lang="en-US" sz="2200" dirty="0"/>
              <a:t>a style describing the CSS</a:t>
            </a:r>
            <a:r>
              <a:rPr lang="en-US" sz="2200" dirty="0">
                <a:solidFill>
                  <a:srgbClr val="C00000"/>
                </a:solidFill>
              </a:rPr>
              <a:t> animation</a:t>
            </a:r>
          </a:p>
          <a:p>
            <a:pPr lvl="1"/>
            <a:r>
              <a:rPr lang="en-US" sz="2200" dirty="0"/>
              <a:t>a set of </a:t>
            </a:r>
            <a:r>
              <a:rPr lang="en-US" sz="2200" dirty="0" err="1">
                <a:solidFill>
                  <a:srgbClr val="C00000"/>
                </a:solidFill>
              </a:rPr>
              <a:t>keyframes</a:t>
            </a:r>
            <a:r>
              <a:rPr lang="en-US" sz="2200" dirty="0"/>
              <a:t> that indicate the start and end states of the animation’s style, as well as possible intermediate waypoints.</a:t>
            </a:r>
          </a:p>
          <a:p>
            <a:r>
              <a:rPr lang="en-US" dirty="0"/>
              <a:t>There are three key advantages to CSS animations over traditional script-driven animation techniques:</a:t>
            </a:r>
          </a:p>
          <a:p>
            <a:pPr lvl="1"/>
            <a:r>
              <a:rPr lang="en-US" sz="2100" dirty="0"/>
              <a:t>They’re easy to use for simple animations; you can create them without even having to know JavaScript.</a:t>
            </a:r>
          </a:p>
          <a:p>
            <a:pPr lvl="1"/>
            <a:r>
              <a:rPr lang="en-US" sz="2100" dirty="0"/>
              <a:t>The animations run well, even under moderate system load. Simple animations can often perform poorly in JavaScript. The rendering engine can use frame-skipping and other techniques to keep the performance as smooth as possible.</a:t>
            </a:r>
          </a:p>
          <a:p>
            <a:pPr lvl="1"/>
            <a:r>
              <a:rPr lang="en-US" sz="2100" dirty="0"/>
              <a:t>Letting the browser control the animation sequence lets the browser optimize performance and efficiency by, for example, reducing the update frequency of animations running in tabs that aren't currently visible.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06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91D8-9FBC-199F-446C-65E5F9EC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AF9F-33F6-DF9E-1E56-D8AF1714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Configuring the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B81D-0A4C-6DBF-6277-7510D2BF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2141"/>
            <a:ext cx="11929641" cy="5590565"/>
          </a:xfrm>
        </p:spPr>
        <p:txBody>
          <a:bodyPr/>
          <a:lstStyle/>
          <a:p>
            <a:r>
              <a:rPr lang="en-US" dirty="0"/>
              <a:t>To create a CSS animation sequence, you style the element you want to animate with the animation property or its sub-properties. This lets you configure the timing, duration, and other details of how the animation sequence should progress. </a:t>
            </a:r>
          </a:p>
          <a:p>
            <a:pPr lvl="1"/>
            <a:r>
              <a:rPr lang="en-US" sz="2200" dirty="0"/>
              <a:t>Note: This does not configure the actual appearance of the animation, which is done using the </a:t>
            </a:r>
            <a:r>
              <a:rPr lang="en-US" sz="2200" dirty="0">
                <a:solidFill>
                  <a:srgbClr val="C00000"/>
                </a:solidFill>
              </a:rPr>
              <a:t>@</a:t>
            </a:r>
            <a:r>
              <a:rPr lang="en-US" sz="2200" dirty="0" err="1">
                <a:solidFill>
                  <a:srgbClr val="C00000"/>
                </a:solidFill>
              </a:rPr>
              <a:t>keyframes</a:t>
            </a:r>
            <a:endParaRPr lang="en-US" sz="2200" dirty="0">
              <a:solidFill>
                <a:srgbClr val="C00000"/>
              </a:solidFill>
            </a:endParaRPr>
          </a:p>
          <a:p>
            <a:r>
              <a:rPr lang="en-US" dirty="0"/>
              <a:t>The sub-properties of the animation property are:</a:t>
            </a:r>
          </a:p>
          <a:p>
            <a:pPr lvl="1"/>
            <a:r>
              <a:rPr lang="en-US" sz="2200" b="1" dirty="0"/>
              <a:t>animation-name :</a:t>
            </a:r>
            <a:r>
              <a:rPr lang="en-US" sz="2200" dirty="0"/>
              <a:t> Specifies the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 of the </a:t>
            </a:r>
            <a:r>
              <a:rPr lang="en-US" sz="2200" dirty="0">
                <a:solidFill>
                  <a:srgbClr val="C00000"/>
                </a:solidFill>
              </a:rPr>
              <a:t>@</a:t>
            </a:r>
            <a:r>
              <a:rPr lang="en-US" sz="2200" dirty="0" err="1">
                <a:solidFill>
                  <a:srgbClr val="C00000"/>
                </a:solidFill>
              </a:rPr>
              <a:t>keyframes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at-rule describing the </a:t>
            </a:r>
            <a:r>
              <a:rPr lang="en-US" sz="2200" dirty="0">
                <a:solidFill>
                  <a:srgbClr val="C00000"/>
                </a:solidFill>
              </a:rPr>
              <a:t>animation’s </a:t>
            </a:r>
            <a:r>
              <a:rPr lang="en-US" sz="2200" dirty="0" err="1">
                <a:solidFill>
                  <a:srgbClr val="C00000"/>
                </a:solidFill>
              </a:rPr>
              <a:t>keyframes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/>
              <a:t>animation-duration :</a:t>
            </a:r>
            <a:r>
              <a:rPr lang="en-US" sz="2200" dirty="0"/>
              <a:t> Configures the </a:t>
            </a:r>
            <a:r>
              <a:rPr lang="en-US" sz="2200" dirty="0">
                <a:solidFill>
                  <a:srgbClr val="C00000"/>
                </a:solidFill>
              </a:rPr>
              <a:t>length of time </a:t>
            </a:r>
            <a:r>
              <a:rPr lang="en-US" sz="2200" dirty="0"/>
              <a:t>that an </a:t>
            </a:r>
            <a:r>
              <a:rPr lang="en-US" sz="2200" dirty="0">
                <a:solidFill>
                  <a:srgbClr val="C00000"/>
                </a:solidFill>
              </a:rPr>
              <a:t>animation</a:t>
            </a:r>
            <a:r>
              <a:rPr lang="en-US" sz="2200" dirty="0"/>
              <a:t> should </a:t>
            </a:r>
            <a:r>
              <a:rPr lang="en-US" sz="2200" dirty="0">
                <a:solidFill>
                  <a:srgbClr val="C00000"/>
                </a:solidFill>
              </a:rPr>
              <a:t>take</a:t>
            </a:r>
            <a:r>
              <a:rPr lang="en-US" sz="2200" dirty="0"/>
              <a:t> to </a:t>
            </a:r>
            <a:r>
              <a:rPr lang="en-US" sz="2200" dirty="0">
                <a:solidFill>
                  <a:srgbClr val="C00000"/>
                </a:solidFill>
              </a:rPr>
              <a:t>complete one cycle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/>
              <a:t>animation-timing-function :</a:t>
            </a:r>
            <a:r>
              <a:rPr lang="en-US" sz="2200" dirty="0"/>
              <a:t> Configures the </a:t>
            </a:r>
            <a:r>
              <a:rPr lang="en-US" sz="2200" dirty="0">
                <a:solidFill>
                  <a:srgbClr val="C00000"/>
                </a:solidFill>
              </a:rPr>
              <a:t>timing</a:t>
            </a:r>
            <a:r>
              <a:rPr lang="en-US" sz="2200" dirty="0"/>
              <a:t> of the </a:t>
            </a:r>
            <a:r>
              <a:rPr lang="en-US" sz="2200" dirty="0">
                <a:solidFill>
                  <a:srgbClr val="C00000"/>
                </a:solidFill>
              </a:rPr>
              <a:t>animation</a:t>
            </a:r>
            <a:r>
              <a:rPr lang="en-US" sz="2200" dirty="0"/>
              <a:t> that is, how the </a:t>
            </a:r>
            <a:r>
              <a:rPr lang="en-US" sz="2200" dirty="0">
                <a:solidFill>
                  <a:srgbClr val="C00000"/>
                </a:solidFill>
              </a:rPr>
              <a:t>animation transitions</a:t>
            </a:r>
            <a:r>
              <a:rPr lang="en-US" sz="2200" dirty="0"/>
              <a:t> through </a:t>
            </a:r>
            <a:r>
              <a:rPr lang="en-US" sz="2200" dirty="0">
                <a:solidFill>
                  <a:srgbClr val="C00000"/>
                </a:solidFill>
              </a:rPr>
              <a:t>keyframes</a:t>
            </a:r>
            <a:r>
              <a:rPr lang="en-US" sz="2200" dirty="0"/>
              <a:t>, by </a:t>
            </a:r>
            <a:r>
              <a:rPr lang="en-US" sz="2200" dirty="0">
                <a:solidFill>
                  <a:srgbClr val="C00000"/>
                </a:solidFill>
              </a:rPr>
              <a:t>establishing acceleration curves</a:t>
            </a:r>
            <a:r>
              <a:rPr lang="en-US" sz="2200" dirty="0"/>
              <a:t>.</a:t>
            </a:r>
          </a:p>
          <a:p>
            <a:pPr lvl="2"/>
            <a:r>
              <a:rPr lang="en-US" sz="2000" dirty="0"/>
              <a:t>linear</a:t>
            </a:r>
          </a:p>
          <a:p>
            <a:pPr lvl="2"/>
            <a:r>
              <a:rPr lang="en-US" sz="2000" dirty="0"/>
              <a:t>ease</a:t>
            </a:r>
          </a:p>
          <a:p>
            <a:pPr lvl="2"/>
            <a:r>
              <a:rPr lang="en-US" sz="2000" dirty="0"/>
              <a:t>ease-in</a:t>
            </a:r>
          </a:p>
          <a:p>
            <a:pPr lvl="2"/>
            <a:r>
              <a:rPr lang="en-US" sz="2000" dirty="0"/>
              <a:t>ease-out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1646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377A-7434-B9BF-BBE8-76681AE6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01D1-27D6-5E32-767E-8BC530E6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Configuring the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AA26-B8ED-3391-0A39-66A7076A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2141"/>
            <a:ext cx="11929641" cy="5590565"/>
          </a:xfrm>
        </p:spPr>
        <p:txBody>
          <a:bodyPr/>
          <a:lstStyle/>
          <a:p>
            <a:r>
              <a:rPr lang="en-US" dirty="0"/>
              <a:t>The sub-properties of the animation property are:</a:t>
            </a:r>
          </a:p>
          <a:p>
            <a:pPr lvl="1"/>
            <a:r>
              <a:rPr lang="en-US" sz="2200" b="1" dirty="0"/>
              <a:t>animation-delay :</a:t>
            </a:r>
            <a:r>
              <a:rPr lang="en-US" sz="2200" dirty="0"/>
              <a:t> Configures the </a:t>
            </a:r>
            <a:r>
              <a:rPr lang="en-US" sz="2200" dirty="0">
                <a:solidFill>
                  <a:srgbClr val="C00000"/>
                </a:solidFill>
              </a:rPr>
              <a:t>delay</a:t>
            </a:r>
            <a:r>
              <a:rPr lang="en-US" sz="2200" dirty="0"/>
              <a:t> between the </a:t>
            </a:r>
            <a:r>
              <a:rPr lang="en-US" sz="2200" dirty="0">
                <a:solidFill>
                  <a:srgbClr val="C00000"/>
                </a:solidFill>
              </a:rPr>
              <a:t>time</a:t>
            </a:r>
            <a:r>
              <a:rPr lang="en-US" sz="2200" dirty="0"/>
              <a:t> the </a:t>
            </a:r>
            <a:r>
              <a:rPr lang="en-US" sz="2200" dirty="0">
                <a:solidFill>
                  <a:srgbClr val="C00000"/>
                </a:solidFill>
              </a:rPr>
              <a:t>element is loaded </a:t>
            </a:r>
            <a:r>
              <a:rPr lang="en-US" sz="2200" dirty="0"/>
              <a:t>and the </a:t>
            </a:r>
            <a:r>
              <a:rPr lang="en-US" sz="2200" dirty="0">
                <a:solidFill>
                  <a:srgbClr val="C00000"/>
                </a:solidFill>
              </a:rPr>
              <a:t>beginning of the animation sequence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/>
              <a:t>animation-iteration-count :</a:t>
            </a:r>
            <a:r>
              <a:rPr lang="en-US" sz="2200" dirty="0"/>
              <a:t> Configures the </a:t>
            </a:r>
            <a:r>
              <a:rPr lang="en-US" sz="2200" dirty="0">
                <a:solidFill>
                  <a:srgbClr val="C00000"/>
                </a:solidFill>
              </a:rPr>
              <a:t>number of times </a:t>
            </a:r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animation should repeat</a:t>
            </a:r>
            <a:r>
              <a:rPr lang="en-US" sz="2200" dirty="0"/>
              <a:t>. you can specify infinite to repeat the animation indefinitely.</a:t>
            </a:r>
          </a:p>
          <a:p>
            <a:pPr lvl="1"/>
            <a:r>
              <a:rPr lang="en-US" sz="2200" b="1" dirty="0"/>
              <a:t>animation-direction : </a:t>
            </a:r>
            <a:r>
              <a:rPr lang="en-US" sz="2200" dirty="0"/>
              <a:t>Configures whether or not the animation should </a:t>
            </a:r>
            <a:r>
              <a:rPr lang="en-US" sz="2200" dirty="0">
                <a:solidFill>
                  <a:srgbClr val="C00000"/>
                </a:solidFill>
              </a:rPr>
              <a:t>alternate direction </a:t>
            </a:r>
            <a:r>
              <a:rPr lang="en-US" sz="2200" dirty="0"/>
              <a:t>on </a:t>
            </a:r>
            <a:r>
              <a:rPr lang="en-US" sz="2200" dirty="0">
                <a:solidFill>
                  <a:srgbClr val="C00000"/>
                </a:solidFill>
              </a:rPr>
              <a:t>each run </a:t>
            </a:r>
            <a:r>
              <a:rPr lang="en-US" sz="2200" dirty="0"/>
              <a:t>through the </a:t>
            </a:r>
            <a:r>
              <a:rPr lang="en-US" sz="2200" dirty="0">
                <a:solidFill>
                  <a:srgbClr val="C00000"/>
                </a:solidFill>
              </a:rPr>
              <a:t>sequence</a:t>
            </a:r>
            <a:r>
              <a:rPr lang="en-US" sz="2200" dirty="0"/>
              <a:t> or </a:t>
            </a:r>
            <a:r>
              <a:rPr lang="en-US" sz="2200" dirty="0">
                <a:solidFill>
                  <a:srgbClr val="C00000"/>
                </a:solidFill>
              </a:rPr>
              <a:t>reset</a:t>
            </a:r>
            <a:r>
              <a:rPr lang="en-US" sz="2200" dirty="0"/>
              <a:t> to the </a:t>
            </a:r>
            <a:r>
              <a:rPr lang="en-US" sz="2200" dirty="0">
                <a:solidFill>
                  <a:srgbClr val="C00000"/>
                </a:solidFill>
              </a:rPr>
              <a:t>start point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repeat itself</a:t>
            </a:r>
            <a:r>
              <a:rPr lang="en-US" sz="2200" dirty="0"/>
              <a:t>. </a:t>
            </a:r>
          </a:p>
          <a:p>
            <a:pPr lvl="2"/>
            <a:r>
              <a:rPr lang="en-US" sz="2000" dirty="0"/>
              <a:t>normal</a:t>
            </a:r>
          </a:p>
          <a:p>
            <a:pPr lvl="2"/>
            <a:r>
              <a:rPr lang="en-US" sz="2000" dirty="0"/>
              <a:t>reverse</a:t>
            </a:r>
          </a:p>
          <a:p>
            <a:pPr lvl="2"/>
            <a:r>
              <a:rPr lang="en-US" sz="2000" dirty="0"/>
              <a:t>alternate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lvl="1"/>
            <a:r>
              <a:rPr lang="en-US" sz="2200" b="1" dirty="0"/>
              <a:t>animation-fill-mode : </a:t>
            </a:r>
            <a:r>
              <a:rPr lang="en-US" sz="2200" dirty="0"/>
              <a:t>Configures what </a:t>
            </a:r>
            <a:r>
              <a:rPr lang="en-US" sz="2200" dirty="0">
                <a:solidFill>
                  <a:srgbClr val="C00000"/>
                </a:solidFill>
              </a:rPr>
              <a:t>values </a:t>
            </a:r>
            <a:r>
              <a:rPr lang="en-US" sz="2200" dirty="0"/>
              <a:t>are </a:t>
            </a:r>
            <a:r>
              <a:rPr lang="en-US" sz="2200" dirty="0">
                <a:solidFill>
                  <a:srgbClr val="C00000"/>
                </a:solidFill>
              </a:rPr>
              <a:t>applied</a:t>
            </a:r>
            <a:r>
              <a:rPr lang="en-US" sz="2200" dirty="0"/>
              <a:t> by the animation </a:t>
            </a:r>
            <a:r>
              <a:rPr lang="en-US" sz="2200" dirty="0">
                <a:solidFill>
                  <a:srgbClr val="C00000"/>
                </a:solidFill>
              </a:rPr>
              <a:t>before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after</a:t>
            </a:r>
            <a:r>
              <a:rPr lang="en-US" sz="2200" dirty="0"/>
              <a:t> it is </a:t>
            </a:r>
            <a:r>
              <a:rPr lang="en-US" sz="2200" dirty="0">
                <a:solidFill>
                  <a:srgbClr val="C00000"/>
                </a:solidFill>
              </a:rPr>
              <a:t>executing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/>
              <a:t>animation-play-state :</a:t>
            </a:r>
            <a:r>
              <a:rPr lang="en-US" sz="2200" dirty="0"/>
              <a:t> Lets you </a:t>
            </a:r>
            <a:r>
              <a:rPr lang="en-US" sz="2200" dirty="0">
                <a:solidFill>
                  <a:srgbClr val="C00000"/>
                </a:solidFill>
              </a:rPr>
              <a:t>pause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resume</a:t>
            </a:r>
            <a:r>
              <a:rPr lang="en-US" sz="2200" dirty="0"/>
              <a:t> the animation </a:t>
            </a:r>
            <a:r>
              <a:rPr lang="en-US" sz="2200" dirty="0">
                <a:solidFill>
                  <a:srgbClr val="C00000"/>
                </a:solidFill>
              </a:rPr>
              <a:t>sequence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488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93597-1B1D-4391-9EAB-16BF25ED8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0D7D-B386-3913-4B47-22D9C925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Defining the animation sequence using </a:t>
            </a:r>
            <a:r>
              <a:rPr lang="en-US" dirty="0" err="1"/>
              <a:t>keyframes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2F126-C1B9-993B-4AEF-9C8B55C27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Once you’ve configured the animation’s timing, you need to define the appearance of the animation. This is done by establishing </a:t>
            </a:r>
            <a:r>
              <a:rPr lang="en-US" dirty="0">
                <a:solidFill>
                  <a:srgbClr val="C00000"/>
                </a:solidFill>
              </a:rPr>
              <a:t>two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more </a:t>
            </a:r>
            <a:r>
              <a:rPr lang="en-US" dirty="0" err="1">
                <a:solidFill>
                  <a:srgbClr val="C00000"/>
                </a:solidFill>
              </a:rPr>
              <a:t>keyframes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using the </a:t>
            </a:r>
            <a:r>
              <a:rPr lang="en-US" dirty="0">
                <a:solidFill>
                  <a:srgbClr val="C00000"/>
                </a:solidFill>
              </a:rPr>
              <a:t>@</a:t>
            </a:r>
            <a:r>
              <a:rPr lang="en-US" dirty="0" err="1">
                <a:solidFill>
                  <a:srgbClr val="C00000"/>
                </a:solidFill>
              </a:rPr>
              <a:t>keyframes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at-rule. </a:t>
            </a:r>
          </a:p>
          <a:p>
            <a:r>
              <a:rPr lang="en-US" dirty="0"/>
              <a:t>Each </a:t>
            </a:r>
            <a:r>
              <a:rPr lang="en-US" dirty="0" err="1"/>
              <a:t>keyframe</a:t>
            </a:r>
            <a:r>
              <a:rPr lang="en-US" dirty="0"/>
              <a:t> describes how the animated element should render at a given time during the animation sequence.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D361D-B7FB-DDC6-B005-356C010D78F0}"/>
              </a:ext>
            </a:extLst>
          </p:cNvPr>
          <p:cNvSpPr txBox="1"/>
          <p:nvPr/>
        </p:nvSpPr>
        <p:spPr>
          <a:xfrm>
            <a:off x="5134308" y="2022508"/>
            <a:ext cx="3917659" cy="452431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animation-duration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animation-name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slidein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keyframes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slidein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from {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/* or 0% */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margin-left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to {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/* or 100% */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margin-left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B7D47-1DDE-7FFF-8EF0-C76A5A63E54F}"/>
              </a:ext>
            </a:extLst>
          </p:cNvPr>
          <p:cNvSpPr txBox="1"/>
          <p:nvPr/>
        </p:nvSpPr>
        <p:spPr>
          <a:xfrm>
            <a:off x="499144" y="2872612"/>
            <a:ext cx="4267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HTML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E40524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&lt;p&gt;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    Hello 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65974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994C-C3D5-DC6C-262D-4A4B8BCF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5A25CA3-25BC-D24A-11F3-97A784FAD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We can specify </a:t>
            </a:r>
            <a:r>
              <a:rPr lang="en-US" dirty="0">
                <a:solidFill>
                  <a:srgbClr val="C00000"/>
                </a:solidFill>
              </a:rPr>
              <a:t>intermediate steps </a:t>
            </a:r>
            <a:r>
              <a:rPr lang="en-US" dirty="0"/>
              <a:t>using </a:t>
            </a:r>
            <a:r>
              <a:rPr lang="en-US" dirty="0">
                <a:solidFill>
                  <a:srgbClr val="C00000"/>
                </a:solidFill>
              </a:rPr>
              <a:t>percentage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time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@</a:t>
            </a:r>
            <a:r>
              <a:rPr lang="en-US" dirty="0" err="1">
                <a:solidFill>
                  <a:srgbClr val="C00000"/>
                </a:solidFill>
              </a:rPr>
              <a:t>keyframes</a:t>
            </a:r>
            <a:r>
              <a:rPr lang="en-US" dirty="0"/>
              <a:t>, similar to the example given below.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B36B76-C431-BAE9-912A-FEEEEBC7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Specifying Intermediate steps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A83A5-4DB8-5A73-A0F6-FEBA182FDB4A}"/>
              </a:ext>
            </a:extLst>
          </p:cNvPr>
          <p:cNvSpPr txBox="1"/>
          <p:nvPr/>
        </p:nvSpPr>
        <p:spPr>
          <a:xfrm>
            <a:off x="6096000" y="1714931"/>
            <a:ext cx="5419043" cy="34163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animation-duration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animation-name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changeColors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keyframes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changeColors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0%   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yellow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25%  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50%  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green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100% 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15311-B06D-99B4-2793-9B7C9D508F06}"/>
              </a:ext>
            </a:extLst>
          </p:cNvPr>
          <p:cNvSpPr txBox="1"/>
          <p:nvPr/>
        </p:nvSpPr>
        <p:spPr>
          <a:xfrm>
            <a:off x="541089" y="1714931"/>
            <a:ext cx="4267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HTML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E40524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&lt;p&gt;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    Hello 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97744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B1DE-B5A5-1118-3A2A-D44BBE0C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7BCC-5EA7-A13B-CCC3-F31456C7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 Variables / Custom Properties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C2DC7-4B6D-6F1D-0061-9934565DD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227230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8159-641D-1FA1-57C0-28839D56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A507-AD8F-2565-25EB-F7D3B825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CSS Variables / Custom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A7E5-5E66-DFC0-D4D0-E74C0676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Custom properties (sometimes referred to as CSS variables or cascading variables) are entities defined by CSS authors that contain specific values to be reused throughout a document.</a:t>
            </a:r>
          </a:p>
          <a:p>
            <a:pPr>
              <a:buClr>
                <a:srgbClr val="B84D3D"/>
              </a:buClr>
            </a:pPr>
            <a:r>
              <a:rPr lang="en-US" dirty="0"/>
              <a:t>Advantages of using CSS variables are: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makes the code easier to read (more understandable)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makes it much easier to change.</a:t>
            </a:r>
          </a:p>
          <a:p>
            <a:pPr>
              <a:buClr>
                <a:srgbClr val="B84D3D"/>
              </a:buClr>
            </a:pPr>
            <a:r>
              <a:rPr lang="en-US" dirty="0"/>
              <a:t>CSS variables can have a global or local scope.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Global variables can be accessed/used through the entire document.</a:t>
            </a:r>
          </a:p>
          <a:p>
            <a:pPr lvl="2">
              <a:buClr>
                <a:srgbClr val="B84D3D"/>
              </a:buClr>
            </a:pPr>
            <a:r>
              <a:rPr lang="en-US" sz="2000" dirty="0"/>
              <a:t>To create a variable with global scope, declare it inside the </a:t>
            </a:r>
            <a:r>
              <a:rPr lang="en-US" sz="2000" b="1" dirty="0"/>
              <a:t>:root </a:t>
            </a:r>
            <a:r>
              <a:rPr lang="en-US" sz="2000" dirty="0"/>
              <a:t>selector. The :root selector matches the document's root element.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local variables can be used only inside the selector where it is declared.</a:t>
            </a:r>
          </a:p>
          <a:p>
            <a:pPr lvl="2">
              <a:buClr>
                <a:srgbClr val="B84D3D"/>
              </a:buClr>
            </a:pPr>
            <a:r>
              <a:rPr lang="en-US" sz="2000" dirty="0"/>
              <a:t>To create a variable with local scope, declare it inside the selector that is going to use it.</a:t>
            </a:r>
          </a:p>
          <a:p>
            <a:pPr>
              <a:buClr>
                <a:srgbClr val="B84D3D"/>
              </a:buClr>
            </a:pPr>
            <a:r>
              <a:rPr lang="en-US" dirty="0"/>
              <a:t>We can use </a:t>
            </a:r>
            <a:r>
              <a:rPr lang="en-US" b="1" dirty="0"/>
              <a:t>var()</a:t>
            </a:r>
            <a:r>
              <a:rPr lang="en-US" dirty="0"/>
              <a:t> function in order to access the variable set in the CSS.</a:t>
            </a:r>
          </a:p>
        </p:txBody>
      </p:sp>
    </p:spTree>
    <p:extLst>
      <p:ext uri="{BB962C8B-B14F-4D97-AF65-F5344CB8AC3E}">
        <p14:creationId xmlns:p14="http://schemas.microsoft.com/office/powerpoint/2010/main" val="309847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3952-3C2F-066B-E805-F4FF06D4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0638-656D-E661-708F-BABDB8A0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CSS Variables (Example)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20D11-DD0E-9C3D-B686-7BCE67F75127}"/>
              </a:ext>
            </a:extLst>
          </p:cNvPr>
          <p:cNvSpPr txBox="1"/>
          <p:nvPr/>
        </p:nvSpPr>
        <p:spPr>
          <a:xfrm>
            <a:off x="633369" y="1087710"/>
            <a:ext cx="4267200" cy="280076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sz="2200" b="1" dirty="0">
              <a:solidFill>
                <a:srgbClr val="E40524"/>
              </a:solidFill>
            </a:endParaRPr>
          </a:p>
          <a:p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   Hello World</a:t>
            </a:r>
          </a:p>
          <a:p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&lt;div&gt;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   How are you?</a:t>
            </a:r>
          </a:p>
          <a:p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0921C-6F11-52EB-AEBB-D5B701E700AF}"/>
              </a:ext>
            </a:extLst>
          </p:cNvPr>
          <p:cNvSpPr txBox="1"/>
          <p:nvPr/>
        </p:nvSpPr>
        <p:spPr>
          <a:xfrm>
            <a:off x="5581720" y="1087710"/>
            <a:ext cx="6003477" cy="440120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:root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myFavColor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sz="2000" dirty="0">
                <a:solidFill>
                  <a:srgbClr val="0451A5"/>
                </a:solidFill>
                <a:latin typeface="Consolas" panose="020B0609020204030204" pitchFamily="49" charset="0"/>
              </a:rPr>
              <a:t>orange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myNextFacColor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sz="2000" dirty="0">
                <a:solidFill>
                  <a:srgbClr val="0451A5"/>
                </a:solidFill>
                <a:latin typeface="Consolas" panose="020B0609020204030204" pitchFamily="49" charset="0"/>
              </a:rPr>
              <a:t>green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myFavColor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myNextFacColor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myNextFacColor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myFavColor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78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6D0C-655E-DA85-F5BB-22D730B9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01C6-3CC9-0E84-3312-1434D3C9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Media Queries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5F829-57C4-AEA5-7E51-92FF5D2D4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1983071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7C0A-8E0D-77A1-18A4-5756BD25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95B2-0C14-1BD0-F8B9-10983699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Media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446E5-BD4E-C2FB-AE19-A57F9BF2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Media queries are a way to target browser by certain characteristics, features, and user preferences, then apply styles or run other code based on those things.</a:t>
            </a:r>
          </a:p>
          <a:p>
            <a:pPr>
              <a:buClr>
                <a:srgbClr val="B84D3D"/>
              </a:buClr>
            </a:pPr>
            <a:r>
              <a:rPr lang="en-US" dirty="0"/>
              <a:t>Perhaps the most common media queries in the world are those that target particular viewport ranges and apply custom styles, which is the whole idea of responsive design.</a:t>
            </a:r>
          </a:p>
          <a:p>
            <a:pPr>
              <a:buClr>
                <a:srgbClr val="B84D3D"/>
              </a:buClr>
            </a:pPr>
            <a:r>
              <a:rPr lang="en-US" dirty="0"/>
              <a:t>General syntax for the media queries in CSS is,</a:t>
            </a:r>
          </a:p>
          <a:p>
            <a:pPr>
              <a:buClr>
                <a:srgbClr val="B84D3D"/>
              </a:buClr>
            </a:pPr>
            <a:endParaRPr lang="en-US" dirty="0"/>
          </a:p>
          <a:p>
            <a:pPr>
              <a:buClr>
                <a:srgbClr val="B84D3D"/>
              </a:buClr>
            </a:pPr>
            <a:endParaRPr lang="en-US" dirty="0"/>
          </a:p>
          <a:p>
            <a:pPr>
              <a:buClr>
                <a:srgbClr val="B84D3D"/>
              </a:buClr>
            </a:pPr>
            <a:endParaRPr lang="en-US" dirty="0"/>
          </a:p>
          <a:p>
            <a:pPr>
              <a:buClr>
                <a:srgbClr val="B84D3D"/>
              </a:buClr>
            </a:pPr>
            <a:r>
              <a:rPr lang="en-US" dirty="0"/>
              <a:t>It consists of: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A </a:t>
            </a:r>
            <a:r>
              <a:rPr lang="en-US" sz="2200" b="1" dirty="0"/>
              <a:t>media type</a:t>
            </a:r>
            <a:r>
              <a:rPr lang="en-US" sz="2200" dirty="0"/>
              <a:t>, which tells the browser what kind of media this code is for (e.g. print, screen etc…).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A </a:t>
            </a:r>
            <a:r>
              <a:rPr lang="en-US" sz="2200" b="1" dirty="0"/>
              <a:t>media feature</a:t>
            </a:r>
            <a:r>
              <a:rPr lang="en-US" sz="2200" dirty="0"/>
              <a:t>, which is a rule, or test that must be passed for the contained CSS to be applied.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A set of CSS rules that will be applied if the test passes and the media type is correct.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415AE-E452-9B45-B763-543B720C04EC}"/>
              </a:ext>
            </a:extLst>
          </p:cNvPr>
          <p:cNvSpPr txBox="1"/>
          <p:nvPr/>
        </p:nvSpPr>
        <p:spPr>
          <a:xfrm>
            <a:off x="506381" y="2899170"/>
            <a:ext cx="6003477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[media-type] ([media-feature])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 Styles! 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398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05E7-525B-77BC-18EF-585DE92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AA88-41BE-341E-188A-F0B662B7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Media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AF1D4-EF95-1183-1656-B86D25D4D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Media Types: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all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print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screen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speech</a:t>
            </a:r>
          </a:p>
          <a:p>
            <a:pPr>
              <a:buClr>
                <a:srgbClr val="B84D3D"/>
              </a:buClr>
            </a:pPr>
            <a:r>
              <a:rPr lang="en-US" dirty="0"/>
              <a:t>Media Features: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width &amp; height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min-width, min-height, max-width &amp; max-height 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orientation</a:t>
            </a:r>
          </a:p>
        </p:txBody>
      </p:sp>
    </p:spTree>
    <p:extLst>
      <p:ext uri="{BB962C8B-B14F-4D97-AF65-F5344CB8AC3E}">
        <p14:creationId xmlns:p14="http://schemas.microsoft.com/office/powerpoint/2010/main" val="241423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0A37-9889-30F3-059C-29599F58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F5542-CB52-F7D8-44F2-671036BF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Media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4DE2B-12B4-08E7-CED4-082D24D79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The viewport meta tag:</a:t>
            </a:r>
          </a:p>
          <a:p>
            <a:pPr marL="544512" lvl="1" indent="0">
              <a:buNone/>
            </a:pP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 initial-scale=1.0"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buClr>
                <a:srgbClr val="B84D3D"/>
              </a:buClr>
            </a:pPr>
            <a:r>
              <a:rPr lang="en-US" sz="2200" dirty="0"/>
              <a:t>This is needed because by default, most mobile browsers lie about their viewport width. 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Non-responsive sites commonly look really bad when rendered in a narrow viewport, so mobile browsers usually render the site with a viewport width wider than the real device width by default (usually 960 pixels), and then shrink the rendered result so that it fits in the display.</a:t>
            </a:r>
          </a:p>
        </p:txBody>
      </p:sp>
    </p:spTree>
    <p:extLst>
      <p:ext uri="{BB962C8B-B14F-4D97-AF65-F5344CB8AC3E}">
        <p14:creationId xmlns:p14="http://schemas.microsoft.com/office/powerpoint/2010/main" val="422168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99AD-CFD5-AFFD-41B4-66A103EC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E657-35C4-5E0F-F8F9-C41101BCD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Media Query (Example)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D1271-F304-1AF7-56F6-ED161380FD44}"/>
              </a:ext>
            </a:extLst>
          </p:cNvPr>
          <p:cNvSpPr txBox="1"/>
          <p:nvPr/>
        </p:nvSpPr>
        <p:spPr>
          <a:xfrm>
            <a:off x="7368253" y="871912"/>
            <a:ext cx="4267200" cy="25853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"div1"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Hello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"div2"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World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485CC-DD91-195E-AA13-227E02EF370D}"/>
              </a:ext>
            </a:extLst>
          </p:cNvPr>
          <p:cNvSpPr txBox="1"/>
          <p:nvPr/>
        </p:nvSpPr>
        <p:spPr>
          <a:xfrm>
            <a:off x="594852" y="871912"/>
            <a:ext cx="6003477" cy="535531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max-width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AFE03-B3C4-6685-BD29-679141DEB530}"/>
              </a:ext>
            </a:extLst>
          </p:cNvPr>
          <p:cNvSpPr txBox="1"/>
          <p:nvPr/>
        </p:nvSpPr>
        <p:spPr>
          <a:xfrm>
            <a:off x="6598329" y="3617946"/>
            <a:ext cx="56316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you have to add viewport meta tag in the head section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 initial-scale=1.0"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3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5921-3A2A-597B-377D-642D4DCC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57F7-E722-A118-E45D-DBAD09C4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Media Query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29E7-C459-4959-FF0B-C8681C85E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We can also use </a:t>
            </a:r>
            <a:r>
              <a:rPr lang="en-US" b="1" dirty="0"/>
              <a:t>and/or </a:t>
            </a:r>
            <a:r>
              <a:rPr lang="en-US" dirty="0"/>
              <a:t>logic in media query, for example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We can use </a:t>
            </a:r>
            <a:r>
              <a:rPr lang="en-US" sz="2200" b="1" dirty="0"/>
              <a:t>and</a:t>
            </a:r>
            <a:r>
              <a:rPr lang="en-US" sz="2200" dirty="0"/>
              <a:t> as a separator if we want two condition to satisfy before applying the CSS.</a:t>
            </a:r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>
              <a:buClr>
                <a:srgbClr val="B84D3D"/>
              </a:buClr>
            </a:pPr>
            <a:endParaRPr lang="en-US" dirty="0"/>
          </a:p>
          <a:p>
            <a:pPr lvl="1">
              <a:buClr>
                <a:srgbClr val="B84D3D"/>
              </a:buClr>
            </a:pPr>
            <a:r>
              <a:rPr lang="en-US" sz="2200" dirty="0"/>
              <a:t>We can use </a:t>
            </a:r>
            <a:r>
              <a:rPr lang="en-US" sz="2200" b="1" dirty="0"/>
              <a:t>, </a:t>
            </a:r>
            <a:r>
              <a:rPr lang="en-US" sz="2200" dirty="0"/>
              <a:t>(comma) as a separator if we want anyone of the condition to satisfy before applying the CSS.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5F6CA-C9FD-53EE-9F18-0C6E15E5C2C0}"/>
              </a:ext>
            </a:extLst>
          </p:cNvPr>
          <p:cNvSpPr txBox="1"/>
          <p:nvPr/>
        </p:nvSpPr>
        <p:spPr>
          <a:xfrm>
            <a:off x="1077452" y="1611883"/>
            <a:ext cx="8701549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screen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and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min-width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and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max-width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83DAB-B289-6EEC-E71D-58F4C507635E}"/>
              </a:ext>
            </a:extLst>
          </p:cNvPr>
          <p:cNvSpPr txBox="1"/>
          <p:nvPr/>
        </p:nvSpPr>
        <p:spPr>
          <a:xfrm>
            <a:off x="1077453" y="4368954"/>
            <a:ext cx="8701548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min-width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orientation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landscape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96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0B84-F540-C17D-657C-BEDD619F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9EB3-1918-FA60-10A6-69D487C0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Wild Card Selectors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E23A9-545D-7197-CDE3-2CC079649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2357659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3548-CAFF-8BFA-5C53-1C8FFC1D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5BD-3A58-9FFF-A003-25A9591E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Wild Card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79FD4-8F1C-B4DB-AC5F-4868F993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/>
              <a:t>Wildcard selector is used to select multiple elements simultaneously. </a:t>
            </a:r>
          </a:p>
          <a:p>
            <a:pPr>
              <a:buClr>
                <a:srgbClr val="B84D3D"/>
              </a:buClr>
            </a:pPr>
            <a:r>
              <a:rPr lang="en-US" dirty="0"/>
              <a:t>It selects similar type of class name or attribute and apply CSS property.</a:t>
            </a:r>
          </a:p>
          <a:p>
            <a:pPr>
              <a:buClr>
                <a:srgbClr val="B84D3D"/>
              </a:buClr>
            </a:pPr>
            <a:r>
              <a:rPr lang="en-US" dirty="0"/>
              <a:t>Some of the wild card selector are,</a:t>
            </a:r>
          </a:p>
          <a:p>
            <a:pPr lvl="1">
              <a:buClr>
                <a:srgbClr val="B84D3D"/>
              </a:buClr>
            </a:pPr>
            <a:r>
              <a:rPr lang="en-US" sz="2200" b="1" dirty="0"/>
              <a:t>[attribute*=”</a:t>
            </a:r>
            <a:r>
              <a:rPr lang="en-US" sz="2200" b="1" dirty="0" err="1"/>
              <a:t>str</a:t>
            </a:r>
            <a:r>
              <a:rPr lang="en-US" sz="2200" b="1" dirty="0"/>
              <a:t>”] Selector</a:t>
            </a:r>
          </a:p>
          <a:p>
            <a:pPr lvl="2">
              <a:buClr>
                <a:srgbClr val="B84D3D"/>
              </a:buClr>
            </a:pPr>
            <a:r>
              <a:rPr lang="en-US" sz="2000" dirty="0"/>
              <a:t>It will select all the elements with the given attribute </a:t>
            </a:r>
            <a:r>
              <a:rPr lang="en-US" sz="2000" b="1" dirty="0"/>
              <a:t>containing</a:t>
            </a:r>
            <a:r>
              <a:rPr lang="en-US" sz="2000" dirty="0"/>
              <a:t> the str.</a:t>
            </a:r>
          </a:p>
          <a:p>
            <a:pPr lvl="1">
              <a:buClr>
                <a:srgbClr val="B84D3D"/>
              </a:buClr>
            </a:pPr>
            <a:r>
              <a:rPr lang="en-US" sz="2200" b="1" dirty="0"/>
              <a:t>[attribute^=”</a:t>
            </a:r>
            <a:r>
              <a:rPr lang="en-US" sz="2200" b="1" dirty="0" err="1"/>
              <a:t>str</a:t>
            </a:r>
            <a:r>
              <a:rPr lang="en-US" sz="2200" b="1" dirty="0"/>
              <a:t>”] Selector</a:t>
            </a:r>
          </a:p>
          <a:p>
            <a:pPr lvl="2">
              <a:buClr>
                <a:srgbClr val="B84D3D"/>
              </a:buClr>
            </a:pPr>
            <a:r>
              <a:rPr lang="en-US" sz="2000" dirty="0"/>
              <a:t>It will select all the elements with the given attribute </a:t>
            </a:r>
            <a:r>
              <a:rPr lang="en-US" sz="2000" b="1" dirty="0"/>
              <a:t>starts</a:t>
            </a:r>
            <a:r>
              <a:rPr lang="en-US" sz="2000" dirty="0"/>
              <a:t> with the str.</a:t>
            </a:r>
            <a:endParaRPr lang="en-US" sz="2000" b="1" dirty="0"/>
          </a:p>
          <a:p>
            <a:pPr lvl="1">
              <a:buClr>
                <a:srgbClr val="B84D3D"/>
              </a:buClr>
            </a:pPr>
            <a:r>
              <a:rPr lang="en-US" sz="2200" b="1" dirty="0"/>
              <a:t>[attribute$=”</a:t>
            </a:r>
            <a:r>
              <a:rPr lang="en-US" sz="2200" b="1" dirty="0" err="1"/>
              <a:t>str</a:t>
            </a:r>
            <a:r>
              <a:rPr lang="en-US" sz="2200" b="1" dirty="0"/>
              <a:t>”] Selector</a:t>
            </a:r>
          </a:p>
          <a:p>
            <a:pPr lvl="2">
              <a:buClr>
                <a:srgbClr val="B84D3D"/>
              </a:buClr>
            </a:pPr>
            <a:r>
              <a:rPr lang="en-US" sz="2000" dirty="0"/>
              <a:t>It will select all the elements with the given attribute </a:t>
            </a:r>
            <a:r>
              <a:rPr lang="en-US" sz="2000" b="1" dirty="0"/>
              <a:t>ends</a:t>
            </a:r>
            <a:r>
              <a:rPr lang="en-US" sz="2000" dirty="0"/>
              <a:t> with the str.</a:t>
            </a:r>
          </a:p>
        </p:txBody>
      </p:sp>
    </p:spTree>
    <p:extLst>
      <p:ext uri="{BB962C8B-B14F-4D97-AF65-F5344CB8AC3E}">
        <p14:creationId xmlns:p14="http://schemas.microsoft.com/office/powerpoint/2010/main" val="172851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1F75-2318-151A-869A-9EB2A759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B9AB-3C56-DC81-8D57-B7E8FCA7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CSS3 Gradient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6F948-A9FF-1D43-97AB-A01451DBF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1216874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B29D-F4F1-79D6-4143-E7CDCC4E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2B6D-FA9A-A2FF-DEBF-57E560B9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28A83-EF2B-1A97-7AD8-5B1F5AB75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CSS </a:t>
            </a:r>
            <a:r>
              <a:rPr lang="en-US" dirty="0">
                <a:solidFill>
                  <a:srgbClr val="C00000"/>
                </a:solidFill>
              </a:rPr>
              <a:t>gradients</a:t>
            </a:r>
            <a:r>
              <a:rPr lang="en-US" dirty="0"/>
              <a:t> let you </a:t>
            </a:r>
            <a:r>
              <a:rPr lang="en-US" dirty="0">
                <a:solidFill>
                  <a:srgbClr val="C00000"/>
                </a:solidFill>
              </a:rPr>
              <a:t>display smooth transitions </a:t>
            </a:r>
            <a:r>
              <a:rPr lang="en-US" dirty="0"/>
              <a:t>between </a:t>
            </a:r>
            <a:r>
              <a:rPr lang="en-US" dirty="0">
                <a:solidFill>
                  <a:srgbClr val="C00000"/>
                </a:solidFill>
              </a:rPr>
              <a:t>two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more specified </a:t>
            </a:r>
            <a:r>
              <a:rPr lang="en-US" dirty="0"/>
              <a:t>colors.</a:t>
            </a:r>
          </a:p>
          <a:p>
            <a:r>
              <a:rPr lang="en-US" dirty="0"/>
              <a:t>CSS defines two types of gradients:</a:t>
            </a:r>
          </a:p>
          <a:p>
            <a:pPr lvl="1"/>
            <a:r>
              <a:rPr lang="en-US" sz="2200" b="1" dirty="0"/>
              <a:t>Linear Gradients </a:t>
            </a:r>
            <a:r>
              <a:rPr lang="en-US" sz="2200" dirty="0"/>
              <a:t>(goes down/up/left/right/diagonally)</a:t>
            </a:r>
          </a:p>
          <a:p>
            <a:pPr lvl="2"/>
            <a:r>
              <a:rPr lang="en-US" sz="2000" dirty="0"/>
              <a:t>To create a linear gradient you must define at least two color stops. </a:t>
            </a:r>
          </a:p>
          <a:p>
            <a:pPr lvl="2"/>
            <a:r>
              <a:rPr lang="en-US" sz="2000" dirty="0"/>
              <a:t>Color stops are the colors you want to render smooth transitions among. </a:t>
            </a:r>
          </a:p>
          <a:p>
            <a:pPr lvl="2"/>
            <a:r>
              <a:rPr lang="en-US" sz="2000" dirty="0"/>
              <a:t>You can also set a starting point and a direction (or an angle) along with the gradient effect.</a:t>
            </a:r>
          </a:p>
          <a:p>
            <a:pPr lvl="1"/>
            <a:r>
              <a:rPr lang="en-US" sz="2200" b="1" dirty="0"/>
              <a:t>Radial Gradients </a:t>
            </a:r>
            <a:r>
              <a:rPr lang="en-US" sz="2200" dirty="0"/>
              <a:t>(defined by their center)</a:t>
            </a:r>
          </a:p>
          <a:p>
            <a:pPr lvl="2"/>
            <a:r>
              <a:rPr lang="en-US" sz="2000" dirty="0"/>
              <a:t>The radial-gradient() function sets a radial gradient as the background image.</a:t>
            </a:r>
          </a:p>
          <a:p>
            <a:pPr lvl="2"/>
            <a:r>
              <a:rPr lang="en-US" sz="2000" dirty="0"/>
              <a:t>A radial gradient is defined by its center.</a:t>
            </a:r>
          </a:p>
          <a:p>
            <a:pPr lvl="2"/>
            <a:r>
              <a:rPr lang="en-US" sz="2000" dirty="0"/>
              <a:t>To create a radial gradient you must define at least two color stops.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9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22E1-3A13-3D14-807D-D3C8A60C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871B-941D-5F1E-6229-A5D27984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Linear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03134-5C43-DA06-2282-9A08EE20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To create a </a:t>
            </a:r>
            <a:r>
              <a:rPr lang="en-US" dirty="0">
                <a:solidFill>
                  <a:srgbClr val="C00000"/>
                </a:solidFill>
              </a:rPr>
              <a:t>linear gradient </a:t>
            </a:r>
            <a:r>
              <a:rPr lang="en-US" dirty="0"/>
              <a:t>you must define </a:t>
            </a:r>
            <a:r>
              <a:rPr lang="en-US" dirty="0">
                <a:solidFill>
                  <a:srgbClr val="C00000"/>
                </a:solidFill>
              </a:rPr>
              <a:t>at least two color </a:t>
            </a:r>
            <a:r>
              <a:rPr lang="en-US" dirty="0"/>
              <a:t>stops. </a:t>
            </a:r>
          </a:p>
          <a:p>
            <a:r>
              <a:rPr lang="en-US" dirty="0"/>
              <a:t>Color stops are the colors you want to render smooth transitions among. </a:t>
            </a:r>
          </a:p>
          <a:p>
            <a:r>
              <a:rPr lang="en-US" dirty="0"/>
              <a:t>You can also set a </a:t>
            </a:r>
            <a:r>
              <a:rPr lang="en-US" dirty="0">
                <a:solidFill>
                  <a:srgbClr val="C00000"/>
                </a:solidFill>
              </a:rPr>
              <a:t>starting point </a:t>
            </a:r>
            <a:r>
              <a:rPr lang="en-US" dirty="0"/>
              <a:t>and a </a:t>
            </a:r>
            <a:r>
              <a:rPr lang="en-US" dirty="0">
                <a:solidFill>
                  <a:srgbClr val="C00000"/>
                </a:solidFill>
              </a:rPr>
              <a:t>direction</a:t>
            </a:r>
            <a:r>
              <a:rPr lang="en-US" dirty="0"/>
              <a:t> (or an angle) along with the </a:t>
            </a:r>
            <a:r>
              <a:rPr lang="en-US" dirty="0">
                <a:solidFill>
                  <a:srgbClr val="C00000"/>
                </a:solidFill>
              </a:rPr>
              <a:t>gradient effect</a:t>
            </a:r>
            <a:r>
              <a:rPr lang="en-US" dirty="0"/>
              <a:t>.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200" dirty="0"/>
              <a:t>direction: </a:t>
            </a:r>
          </a:p>
          <a:p>
            <a:pPr lvl="2"/>
            <a:r>
              <a:rPr lang="en-US" sz="2000" dirty="0"/>
              <a:t>to bottom</a:t>
            </a:r>
          </a:p>
          <a:p>
            <a:pPr lvl="2"/>
            <a:r>
              <a:rPr lang="en-US" sz="2000" dirty="0"/>
              <a:t>to top</a:t>
            </a:r>
          </a:p>
          <a:p>
            <a:pPr lvl="2"/>
            <a:r>
              <a:rPr lang="en-US" sz="2000" dirty="0"/>
              <a:t>to right</a:t>
            </a:r>
          </a:p>
          <a:p>
            <a:pPr lvl="2"/>
            <a:r>
              <a:rPr lang="en-US" sz="2000" dirty="0"/>
              <a:t>to left</a:t>
            </a:r>
          </a:p>
          <a:p>
            <a:pPr lvl="2"/>
            <a:r>
              <a:rPr lang="en-US" sz="2000" dirty="0"/>
              <a:t>to bottom left</a:t>
            </a:r>
          </a:p>
          <a:p>
            <a:pPr lvl="2"/>
            <a:r>
              <a:rPr lang="en-US" sz="2000" dirty="0"/>
              <a:t>180deg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3EBBD-4044-B580-C646-A24E6FDDAD62}"/>
              </a:ext>
            </a:extLst>
          </p:cNvPr>
          <p:cNvSpPr txBox="1"/>
          <p:nvPr/>
        </p:nvSpPr>
        <p:spPr>
          <a:xfrm>
            <a:off x="531318" y="2358843"/>
            <a:ext cx="1007572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linear-gradient(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direction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color-stop1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color-stop2, ...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7172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1DC59-8528-0660-2265-CED6C53C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A8A5-E1B2-4324-2C8D-D4C2BC72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Linear Gradients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0C6F-CE98-5F3A-C20B-3FADE6BD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A68D5-32C8-2142-C7A5-D15EFDF05C71}"/>
              </a:ext>
            </a:extLst>
          </p:cNvPr>
          <p:cNvSpPr txBox="1"/>
          <p:nvPr/>
        </p:nvSpPr>
        <p:spPr>
          <a:xfrm>
            <a:off x="487775" y="1330153"/>
            <a:ext cx="1007572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linear-gradient(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yellow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F5122-06A4-CBC4-D925-485C5E50A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5" y="2670629"/>
            <a:ext cx="7437025" cy="376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7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0830-2183-5FB7-102F-6B3F69F4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5FF7-97AE-B096-6957-487AC43E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Radial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9048D-E309-61F2-7929-01EC07E38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To create a </a:t>
            </a:r>
            <a:r>
              <a:rPr lang="en-US" dirty="0">
                <a:solidFill>
                  <a:srgbClr val="C00000"/>
                </a:solidFill>
              </a:rPr>
              <a:t>radial gradient </a:t>
            </a:r>
            <a:r>
              <a:rPr lang="en-US" dirty="0"/>
              <a:t>you must define </a:t>
            </a:r>
            <a:r>
              <a:rPr lang="en-US" dirty="0">
                <a:solidFill>
                  <a:srgbClr val="C00000"/>
                </a:solidFill>
              </a:rPr>
              <a:t>at least two color </a:t>
            </a:r>
            <a:r>
              <a:rPr lang="en-US" dirty="0"/>
              <a:t>stops. </a:t>
            </a:r>
          </a:p>
          <a:p>
            <a:r>
              <a:rPr lang="en-US" dirty="0"/>
              <a:t>Color stops are the colors you want to render smooth transitions among. </a:t>
            </a:r>
          </a:p>
          <a:p>
            <a:r>
              <a:rPr lang="en-US" dirty="0"/>
              <a:t>You can also set a </a:t>
            </a:r>
            <a:r>
              <a:rPr lang="en-US" dirty="0">
                <a:solidFill>
                  <a:srgbClr val="C00000"/>
                </a:solidFill>
              </a:rPr>
              <a:t>starting point </a:t>
            </a:r>
            <a:r>
              <a:rPr lang="en-US" dirty="0"/>
              <a:t>and a </a:t>
            </a:r>
            <a:r>
              <a:rPr lang="en-US" dirty="0">
                <a:solidFill>
                  <a:srgbClr val="C00000"/>
                </a:solidFill>
              </a:rPr>
              <a:t>direction</a:t>
            </a:r>
            <a:r>
              <a:rPr lang="en-US" dirty="0"/>
              <a:t> (or an angle) along with the </a:t>
            </a:r>
            <a:r>
              <a:rPr lang="en-US" dirty="0">
                <a:solidFill>
                  <a:srgbClr val="C00000"/>
                </a:solidFill>
              </a:rPr>
              <a:t>gradient effect</a:t>
            </a:r>
            <a:r>
              <a:rPr lang="en-US" dirty="0"/>
              <a:t>.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11E8D-41F6-6068-0E73-C1E2799D41B6}"/>
              </a:ext>
            </a:extLst>
          </p:cNvPr>
          <p:cNvSpPr txBox="1"/>
          <p:nvPr/>
        </p:nvSpPr>
        <p:spPr>
          <a:xfrm>
            <a:off x="531318" y="2184671"/>
            <a:ext cx="1138491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background-image: radial-gradient(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shape size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at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position, start-color, ..., last-color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3E3FE-8D24-C92A-3045-549436EF02DB}"/>
              </a:ext>
            </a:extLst>
          </p:cNvPr>
          <p:cNvSpPr txBox="1"/>
          <p:nvPr/>
        </p:nvSpPr>
        <p:spPr>
          <a:xfrm>
            <a:off x="0" y="3166033"/>
            <a:ext cx="6134876" cy="28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shape: 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Ellipse (default)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Circle</a:t>
            </a:r>
          </a:p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size: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farthest-corner (default)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closest-corner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farthest-side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closest-side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F7863-F3D0-339B-D38B-5794DBA39A40}"/>
              </a:ext>
            </a:extLst>
          </p:cNvPr>
          <p:cNvSpPr txBox="1"/>
          <p:nvPr/>
        </p:nvSpPr>
        <p:spPr>
          <a:xfrm>
            <a:off x="6134876" y="3166033"/>
            <a:ext cx="6134876" cy="1079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9625" marR="0" lvl="1" indent="-352425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 3" panose="05040102010807070707" pitchFamily="18" charset="2"/>
              <a:buChar char="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position: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Center (default)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84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Etc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1505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B695-29D3-0459-9255-2ECFF3E3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2AD3-5582-C134-259F-02B5ED74F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Radial Gradients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9264-7776-0C23-44C2-98DA3E0F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A7297-B1EF-E86E-C697-210B1E12965A}"/>
              </a:ext>
            </a:extLst>
          </p:cNvPr>
          <p:cNvSpPr txBox="1"/>
          <p:nvPr/>
        </p:nvSpPr>
        <p:spPr>
          <a:xfrm>
            <a:off x="487775" y="1330153"/>
            <a:ext cx="1007572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 radial-gradient(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green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yellow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52396-E60E-4EB0-DC26-7EEF1DB9A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6" y="2731652"/>
            <a:ext cx="7476354" cy="376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1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16CE3-ABA5-265C-1EAB-6AB30B03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60AE-D622-D434-FEEC-563D18EE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IN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Pseudo class and elements</a:t>
            </a:r>
            <a:endParaRPr lang="en-US" dirty="0">
              <a:gradFill flip="none" rotWithShape="1">
                <a:gsLst>
                  <a:gs pos="0">
                    <a:srgbClr val="88570A"/>
                  </a:gs>
                  <a:gs pos="53000">
                    <a:srgbClr val="E99718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948A6-3AE7-5575-C443-AEA6E3619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3698338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225A-5D00-D856-19FD-054B5A37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64CC-A9B4-D646-8AB8-63A6CF27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Pseudo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59AE-2E98-EBD9-280F-9E1603F9E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pseudo-class</a:t>
            </a:r>
            <a:r>
              <a:rPr lang="en-US" dirty="0"/>
              <a:t> is used to </a:t>
            </a:r>
            <a:r>
              <a:rPr lang="en-US" dirty="0">
                <a:solidFill>
                  <a:srgbClr val="C00000"/>
                </a:solidFill>
              </a:rPr>
              <a:t>define</a:t>
            </a:r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special state </a:t>
            </a:r>
            <a:r>
              <a:rPr lang="en-US" dirty="0"/>
              <a:t>of an </a:t>
            </a:r>
            <a:r>
              <a:rPr lang="en-US" dirty="0">
                <a:solidFill>
                  <a:srgbClr val="C00000"/>
                </a:solidFill>
              </a:rPr>
              <a:t>element</a:t>
            </a:r>
            <a:r>
              <a:rPr lang="en-US" dirty="0"/>
              <a:t>.</a:t>
            </a:r>
          </a:p>
          <a:p>
            <a:r>
              <a:rPr lang="en-US" dirty="0"/>
              <a:t>For example, it can be used to:</a:t>
            </a:r>
          </a:p>
          <a:p>
            <a:pPr lvl="1"/>
            <a:r>
              <a:rPr lang="en-US" sz="2200" dirty="0"/>
              <a:t>Style an element when a user mouse over it</a:t>
            </a:r>
          </a:p>
          <a:p>
            <a:pPr lvl="1"/>
            <a:r>
              <a:rPr lang="en-US" sz="2200" dirty="0"/>
              <a:t>Style visited and unvisited links differently</a:t>
            </a:r>
          </a:p>
          <a:p>
            <a:pPr lvl="1"/>
            <a:r>
              <a:rPr lang="en-US" sz="2200" dirty="0"/>
              <a:t>Style an element when it gets focus</a:t>
            </a:r>
          </a:p>
          <a:p>
            <a:r>
              <a:rPr lang="en-US" dirty="0"/>
              <a:t>Some important pseudo classes are:</a:t>
            </a:r>
          </a:p>
          <a:p>
            <a:pPr lvl="1"/>
            <a:r>
              <a:rPr lang="en-US" sz="2200" dirty="0"/>
              <a:t>active</a:t>
            </a:r>
          </a:p>
          <a:p>
            <a:pPr lvl="1"/>
            <a:r>
              <a:rPr lang="en-US" sz="2200" dirty="0"/>
              <a:t>disabled</a:t>
            </a:r>
          </a:p>
          <a:p>
            <a:pPr lvl="1"/>
            <a:r>
              <a:rPr lang="en-US" sz="2200" dirty="0"/>
              <a:t>first-child</a:t>
            </a:r>
          </a:p>
          <a:p>
            <a:pPr lvl="1"/>
            <a:r>
              <a:rPr lang="en-US" sz="2200" dirty="0"/>
              <a:t>nth-child</a:t>
            </a:r>
          </a:p>
          <a:p>
            <a:pPr lvl="1"/>
            <a:r>
              <a:rPr lang="en-US" sz="2200" dirty="0"/>
              <a:t>focus</a:t>
            </a:r>
          </a:p>
          <a:p>
            <a:pPr lvl="1"/>
            <a:r>
              <a:rPr lang="en-US" sz="2200" dirty="0"/>
              <a:t>hover</a:t>
            </a:r>
          </a:p>
          <a:p>
            <a:pPr lvl="1"/>
            <a:r>
              <a:rPr lang="en-US" sz="2200" dirty="0"/>
              <a:t>visited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4E51B-5BF2-D101-D85A-8D67874F68D8}"/>
              </a:ext>
            </a:extLst>
          </p:cNvPr>
          <p:cNvSpPr txBox="1"/>
          <p:nvPr/>
        </p:nvSpPr>
        <p:spPr>
          <a:xfrm>
            <a:off x="7644355" y="2705725"/>
            <a:ext cx="3779424" cy="14465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selector</a:t>
            </a:r>
            <a:r>
              <a:rPr lang="en-US" sz="2200" b="1" dirty="0" err="1">
                <a:solidFill>
                  <a:srgbClr val="A52A2A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pseudo-class</a:t>
            </a:r>
            <a:r>
              <a:rPr lang="en-US" sz="2200" dirty="0">
                <a:solidFill>
                  <a:srgbClr val="A52A2A"/>
                </a:solidFill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  property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0000CD"/>
                </a:solidFill>
                <a:latin typeface="Consolas" panose="020B0609020204030204" pitchFamily="49" charset="0"/>
              </a:rPr>
              <a:t> 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27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FB31-F461-9BF7-A28E-9549B6EC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7F0A-7D4A-9020-CBC4-DA59795F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Pseudo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45329-906C-E168-18E1-38C85D844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CSS </a:t>
            </a:r>
            <a:r>
              <a:rPr lang="en-US" dirty="0">
                <a:solidFill>
                  <a:srgbClr val="C00000"/>
                </a:solidFill>
              </a:rPr>
              <a:t>pseudo-element</a:t>
            </a:r>
            <a:r>
              <a:rPr lang="en-US" dirty="0"/>
              <a:t> is used to </a:t>
            </a:r>
            <a:r>
              <a:rPr lang="en-US" dirty="0">
                <a:solidFill>
                  <a:srgbClr val="C00000"/>
                </a:solidFill>
              </a:rPr>
              <a:t>style</a:t>
            </a:r>
            <a:r>
              <a:rPr lang="en-US" dirty="0"/>
              <a:t> specified </a:t>
            </a:r>
            <a:r>
              <a:rPr lang="en-US" dirty="0">
                <a:solidFill>
                  <a:srgbClr val="C00000"/>
                </a:solidFill>
              </a:rPr>
              <a:t>parts</a:t>
            </a:r>
            <a:r>
              <a:rPr lang="en-US" dirty="0"/>
              <a:t> of an </a:t>
            </a:r>
            <a:r>
              <a:rPr lang="en-US" dirty="0">
                <a:solidFill>
                  <a:srgbClr val="C00000"/>
                </a:solidFill>
              </a:rPr>
              <a:t>element</a:t>
            </a:r>
            <a:r>
              <a:rPr lang="en-US" dirty="0"/>
              <a:t>.</a:t>
            </a:r>
          </a:p>
          <a:p>
            <a:r>
              <a:rPr lang="en-US" dirty="0"/>
              <a:t>For example, it can be used to:</a:t>
            </a:r>
          </a:p>
          <a:p>
            <a:pPr lvl="1"/>
            <a:r>
              <a:rPr lang="en-US" sz="2200" dirty="0"/>
              <a:t>Style the first letter, or line, of an element</a:t>
            </a:r>
          </a:p>
          <a:p>
            <a:pPr lvl="1"/>
            <a:r>
              <a:rPr lang="en-US" sz="2200" dirty="0"/>
              <a:t>Insert content before, or after, the content of an element</a:t>
            </a:r>
          </a:p>
          <a:p>
            <a:r>
              <a:rPr lang="en-US" dirty="0"/>
              <a:t>pseudo elements are,</a:t>
            </a:r>
          </a:p>
          <a:p>
            <a:pPr lvl="1"/>
            <a:r>
              <a:rPr lang="en-US" sz="2200" dirty="0"/>
              <a:t>after</a:t>
            </a:r>
          </a:p>
          <a:p>
            <a:pPr lvl="1"/>
            <a:r>
              <a:rPr lang="en-US" sz="2200" dirty="0"/>
              <a:t>before</a:t>
            </a:r>
          </a:p>
          <a:p>
            <a:pPr lvl="1"/>
            <a:r>
              <a:rPr lang="en-US" sz="2200" dirty="0"/>
              <a:t>first-letter</a:t>
            </a:r>
          </a:p>
          <a:p>
            <a:pPr lvl="1"/>
            <a:r>
              <a:rPr lang="en-US" sz="2200" dirty="0"/>
              <a:t>first-line</a:t>
            </a:r>
          </a:p>
          <a:p>
            <a:pPr lvl="1"/>
            <a:r>
              <a:rPr lang="en-US" sz="2200" dirty="0"/>
              <a:t>selection </a:t>
            </a:r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3B546-04FB-E0E3-8F4A-17AED16F1132}"/>
              </a:ext>
            </a:extLst>
          </p:cNvPr>
          <p:cNvSpPr txBox="1"/>
          <p:nvPr/>
        </p:nvSpPr>
        <p:spPr>
          <a:xfrm>
            <a:off x="7644354" y="2705725"/>
            <a:ext cx="4242845" cy="14465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</a:rPr>
              <a:t>selector</a:t>
            </a:r>
            <a:r>
              <a:rPr lang="en-US" sz="2200" b="1" dirty="0">
                <a:solidFill>
                  <a:srgbClr val="A52A2A"/>
                </a:solidFill>
                <a:latin typeface="Consolas" panose="020B0609020204030204" pitchFamily="49" charset="0"/>
              </a:rPr>
              <a:t>::</a:t>
            </a: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</a:rPr>
              <a:t>pseudo-element</a:t>
            </a:r>
            <a:r>
              <a:rPr lang="en-US" sz="2200" dirty="0">
                <a:solidFill>
                  <a:srgbClr val="A52A2A"/>
                </a:solidFill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  property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solidFill>
                  <a:srgbClr val="0000CD"/>
                </a:solidFill>
                <a:latin typeface="Consolas" panose="020B0609020204030204" pitchFamily="49" charset="0"/>
              </a:rPr>
              <a:t> 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920B-44C9-F78C-8410-2CDE7D21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4D4C-A7C5-47F7-724A-23F51F5B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Tooltip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85C70-3FB9-6CCC-E78A-F7FEF1F15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tooltip is often used to specify extra information about something when the user moves the mouse pointer over an element.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1D32C-C8B7-02D1-AC10-7DD6B8C5969D}"/>
              </a:ext>
            </a:extLst>
          </p:cNvPr>
          <p:cNvSpPr txBox="1"/>
          <p:nvPr/>
        </p:nvSpPr>
        <p:spPr>
          <a:xfrm>
            <a:off x="692139" y="4756679"/>
            <a:ext cx="5419043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.tooltip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position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relative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inline-block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border-bottom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1px dotted black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AF93C-D1E6-964C-64BF-44E2C5C827F4}"/>
              </a:ext>
            </a:extLst>
          </p:cNvPr>
          <p:cNvSpPr txBox="1"/>
          <p:nvPr/>
        </p:nvSpPr>
        <p:spPr>
          <a:xfrm>
            <a:off x="692139" y="1714931"/>
            <a:ext cx="4488111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HTML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E40524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&lt;div class="tooltip"&gt;Hover here to see tooltip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 &lt;span class="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tooltiptext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"&gt;Tooltip text&lt;/span&gt;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E28AA-682E-378F-7BD7-8FB6E1E780B7}"/>
              </a:ext>
            </a:extLst>
          </p:cNvPr>
          <p:cNvSpPr txBox="1"/>
          <p:nvPr/>
        </p:nvSpPr>
        <p:spPr>
          <a:xfrm>
            <a:off x="6111183" y="1714931"/>
            <a:ext cx="4488112" cy="480131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40524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.tooltip 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tooltiptext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visibility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hidden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120px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black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color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text-align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center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border-radius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6px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padding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5px 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position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absolute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z-index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tooltip:hover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tooltiptext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visibility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177F4-251E-62DB-EC95-EF1439EF6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1" y="3779287"/>
            <a:ext cx="569595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7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2" name="Picture Placeholder 15">
            <a:extLst>
              <a:ext uri="{FF2B5EF4-FFF2-40B4-BE49-F238E27FC236}">
                <a16:creationId xmlns:a16="http://schemas.microsoft.com/office/drawing/2014/main" id="{8326CB1F-C926-33A4-F25C-8132B367DA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78" y="5216366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6406</TotalTime>
  <Words>1990</Words>
  <Application>Microsoft Office PowerPoint</Application>
  <PresentationFormat>Widescreen</PresentationFormat>
  <Paragraphs>369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Wingdings</vt:lpstr>
      <vt:lpstr>Calibri</vt:lpstr>
      <vt:lpstr>Roboto Condensed Light</vt:lpstr>
      <vt:lpstr>Consolas</vt:lpstr>
      <vt:lpstr>Roboto Condensed</vt:lpstr>
      <vt:lpstr>Arial</vt:lpstr>
      <vt:lpstr>Wingdings 3</vt:lpstr>
      <vt:lpstr>Segoe UI Black</vt:lpstr>
      <vt:lpstr>Wingdings 2</vt:lpstr>
      <vt:lpstr>Office Theme</vt:lpstr>
      <vt:lpstr>1_Office Theme</vt:lpstr>
      <vt:lpstr>4_Office Theme</vt:lpstr>
      <vt:lpstr>2_Office Theme</vt:lpstr>
      <vt:lpstr>Unit-04  Properties of CSS3 </vt:lpstr>
      <vt:lpstr>PowerPoint Presentation</vt:lpstr>
      <vt:lpstr>Introduction to CSS3</vt:lpstr>
      <vt:lpstr>Introduction to CSS3</vt:lpstr>
      <vt:lpstr>Introduction to CSS3</vt:lpstr>
      <vt:lpstr>CSS3 Animation</vt:lpstr>
      <vt:lpstr>CSS3 Animations</vt:lpstr>
      <vt:lpstr>Configuring the animation</vt:lpstr>
      <vt:lpstr>Configuring the animation</vt:lpstr>
      <vt:lpstr>Defining the animation sequence using keyframes</vt:lpstr>
      <vt:lpstr>Specifying Intermediate steps </vt:lpstr>
      <vt:lpstr>CSS Variables / Custom Properties</vt:lpstr>
      <vt:lpstr>CSS Variables / Custom Properties</vt:lpstr>
      <vt:lpstr>CSS Variables (Example)</vt:lpstr>
      <vt:lpstr>Media Queries</vt:lpstr>
      <vt:lpstr>Media Queries</vt:lpstr>
      <vt:lpstr>Media Queries</vt:lpstr>
      <vt:lpstr>Media Queries</vt:lpstr>
      <vt:lpstr>Media Query (Example)</vt:lpstr>
      <vt:lpstr>Media Query (Example)</vt:lpstr>
      <vt:lpstr>Wild Card Selectors</vt:lpstr>
      <vt:lpstr>Wild Card Selectors</vt:lpstr>
      <vt:lpstr>CSS3 Gradient</vt:lpstr>
      <vt:lpstr>Gradients</vt:lpstr>
      <vt:lpstr>Linear Gradients</vt:lpstr>
      <vt:lpstr>Linear Gradients (Example)</vt:lpstr>
      <vt:lpstr>Radial Gradients</vt:lpstr>
      <vt:lpstr>Radial Gradients (Example)</vt:lpstr>
      <vt:lpstr>Pseudo class and elements</vt:lpstr>
      <vt:lpstr>Pseudo Classes</vt:lpstr>
      <vt:lpstr>Pseudo Elements</vt:lpstr>
      <vt:lpstr>Tooltip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1172</cp:revision>
  <dcterms:created xsi:type="dcterms:W3CDTF">2020-05-01T05:09:15Z</dcterms:created>
  <dcterms:modified xsi:type="dcterms:W3CDTF">2026-02-02T08:58:55Z</dcterms:modified>
</cp:coreProperties>
</file>