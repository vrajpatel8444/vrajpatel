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92" r:id="rId2"/>
    <p:sldMasterId id="2147483761" r:id="rId3"/>
    <p:sldMasterId id="2147483830" r:id="rId4"/>
  </p:sldMasterIdLst>
  <p:notesMasterIdLst>
    <p:notesMasterId r:id="rId27"/>
  </p:notesMasterIdLst>
  <p:sldIdLst>
    <p:sldId id="308" r:id="rId5"/>
    <p:sldId id="352" r:id="rId6"/>
    <p:sldId id="564" r:id="rId7"/>
    <p:sldId id="348" r:id="rId8"/>
    <p:sldId id="570" r:id="rId9"/>
    <p:sldId id="571" r:id="rId10"/>
    <p:sldId id="569" r:id="rId11"/>
    <p:sldId id="572" r:id="rId12"/>
    <p:sldId id="568" r:id="rId13"/>
    <p:sldId id="567" r:id="rId14"/>
    <p:sldId id="574" r:id="rId15"/>
    <p:sldId id="573" r:id="rId16"/>
    <p:sldId id="566" r:id="rId17"/>
    <p:sldId id="578" r:id="rId18"/>
    <p:sldId id="565" r:id="rId19"/>
    <p:sldId id="577" r:id="rId20"/>
    <p:sldId id="576" r:id="rId21"/>
    <p:sldId id="580" r:id="rId22"/>
    <p:sldId id="579" r:id="rId23"/>
    <p:sldId id="575" r:id="rId24"/>
    <p:sldId id="581" r:id="rId25"/>
    <p:sldId id="358" r:id="rId26"/>
  </p:sldIdLst>
  <p:sldSz cx="12192000" cy="6858000"/>
  <p:notesSz cx="6858000" cy="9144000"/>
  <p:embeddedFontLst>
    <p:embeddedFont>
      <p:font typeface="Wingdings 3" panose="05040102010807070707" pitchFamily="18" charset="2"/>
      <p:regular r:id="rId28"/>
    </p:embeddedFont>
    <p:embeddedFont>
      <p:font typeface="Wingdings 2" panose="05020102010507070707" pitchFamily="18" charset="2"/>
      <p:regular r:id="rId29"/>
    </p:embeddedFont>
    <p:embeddedFont>
      <p:font typeface="Roboto Condensed" panose="02000000000000000000" pitchFamily="2" charset="0"/>
      <p:regular r:id="rId30"/>
      <p:bold r:id="rId31"/>
      <p:italic r:id="rId32"/>
      <p:boldItalic r:id="rId33"/>
    </p:embeddedFont>
    <p:embeddedFont>
      <p:font typeface="Roboto Condensed Light" panose="02000000000000000000" pitchFamily="2" charset="0"/>
      <p:regular r:id="rId34"/>
      <p:italic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Segoe UI Black" panose="020B0A02040204020203" pitchFamily="34" charset="0"/>
      <p:bold r:id="rId40"/>
      <p:bold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xptwItIke+HKsVateXhRng==" hashData="t0J5ZAxUzHyyAUHI7h4hom21nRhNB8vRdP1y6JRCNqsvfLu8he4ZzUjwnI5bY4aVm8s0VWT0etZpjf+QJDuuhA=="/>
  <p:extLst>
    <p:ext uri="{521415D9-36F7-43E2-AB2F-B90AF26B5E84}">
      <p14:sectionLst xmlns:p14="http://schemas.microsoft.com/office/powerpoint/2010/main">
        <p14:section name="Unit-02 Basics of CSS" id="{6F98277B-3FE4-4DB6-9DF4-04A9EE7CB27D}">
          <p14:sldIdLst>
            <p14:sldId id="308"/>
          </p14:sldIdLst>
        </p14:section>
        <p14:section name="Outline" id="{C5B49A7B-0240-414D-82A2-AEBCCFBF15D4}">
          <p14:sldIdLst>
            <p14:sldId id="352"/>
          </p14:sldIdLst>
        </p14:section>
        <p14:section name="Introduction to CSS" id="{3C329440-0C3D-4A8F-B481-D50DCFE25AF6}">
          <p14:sldIdLst>
            <p14:sldId id="564"/>
            <p14:sldId id="348"/>
            <p14:sldId id="570"/>
          </p14:sldIdLst>
        </p14:section>
        <p14:section name="Basic Syntax and structure of CSS" id="{4B6B90C8-384B-4741-BCFD-A731A99ADBB9}">
          <p14:sldIdLst>
            <p14:sldId id="571"/>
            <p14:sldId id="569"/>
          </p14:sldIdLst>
        </p14:section>
        <p14:section name="Types of CSS" id="{9CEF5FA6-2238-4CEF-B9BF-D84683811A2B}">
          <p14:sldIdLst>
            <p14:sldId id="572"/>
            <p14:sldId id="568"/>
            <p14:sldId id="567"/>
            <p14:sldId id="574"/>
            <p14:sldId id="573"/>
            <p14:sldId id="566"/>
          </p14:sldIdLst>
        </p14:section>
        <p14:section name="Targeting using CSS" id="{5252691B-72D5-4D96-9AFA-0BCBA9EF9F7E}">
          <p14:sldIdLst>
            <p14:sldId id="578"/>
            <p14:sldId id="565"/>
            <p14:sldId id="577"/>
            <p14:sldId id="576"/>
            <p14:sldId id="580"/>
          </p14:sldIdLst>
        </p14:section>
        <p14:section name="Assign Multiple Classes" id="{B29EF612-7085-4836-B005-F0D74A6556D7}">
          <p14:sldIdLst>
            <p14:sldId id="579"/>
          </p14:sldIdLst>
        </p14:section>
        <p14:section name="Multiple Selection" id="{52E1F91B-72C6-4611-8210-B1F146281EC7}">
          <p14:sldIdLst>
            <p14:sldId id="575"/>
          </p14:sldIdLst>
        </p14:section>
        <p14:section name="Multi-level Selection" id="{6B2D9938-4D89-4408-B168-31C60A172473}">
          <p14:sldIdLst>
            <p14:sldId id="581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DBDBDB"/>
    <a:srgbClr val="ED524F"/>
    <a:srgbClr val="301B92"/>
    <a:srgbClr val="673BB7"/>
    <a:srgbClr val="607D8B"/>
    <a:srgbClr val="B71B1C"/>
    <a:srgbClr val="F54337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4660"/>
  </p:normalViewPr>
  <p:slideViewPr>
    <p:cSldViewPr snapToGrid="0">
      <p:cViewPr varScale="1">
        <p:scale>
          <a:sx n="83" d="100"/>
          <a:sy n="83" d="100"/>
        </p:scale>
        <p:origin x="79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2.fntdata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0" Type="http://schemas.openxmlformats.org/officeDocument/2006/relationships/slide" Target="slides/slide16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3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8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3.jpe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4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jpeg"/><Relationship Id="rId4" Type="http://schemas.openxmlformats.org/officeDocument/2006/relationships/image" Target="../media/image20.png"/><Relationship Id="rId9" Type="http://schemas.openxmlformats.org/officeDocument/2006/relationships/image" Target="../media/image8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6.png"/><Relationship Id="rId4" Type="http://schemas.microsoft.com/office/2007/relationships/hdphoto" Target="../media/hdphoto5.wdp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5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png"/><Relationship Id="rId7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30.png"/><Relationship Id="rId4" Type="http://schemas.openxmlformats.org/officeDocument/2006/relationships/image" Target="../media/image21.png"/><Relationship Id="rId9" Type="http://schemas.openxmlformats.org/officeDocument/2006/relationships/image" Target="../media/image29.png"/></Relationships>
</file>

<file path=ppt/slideLayouts/_rels/slideLayout5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8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59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0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1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24.jpeg"/><Relationship Id="rId4" Type="http://schemas.openxmlformats.org/officeDocument/2006/relationships/image" Target="../media/image20.png"/><Relationship Id="rId9" Type="http://schemas.openxmlformats.org/officeDocument/2006/relationships/image" Target="../media/image31.jpeg"/></Relationships>
</file>

<file path=ppt/slideLayouts/_rels/slideLayout6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jpe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4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png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3.jpeg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281410" y="6601747"/>
            <a:ext cx="5629178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#2304CS202 (WD-II)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02 – Basics of CSS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2101CS104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(WD)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HTML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425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84364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</a:t>
            </a:r>
            <a:r>
              <a:rPr lang="en-US" dirty="0">
                <a:solidFill>
                  <a:schemeClr val="tx1"/>
                </a:solidFill>
              </a:rPr>
              <a:t>2304CS401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01 – Introduction to Python 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8F5C0B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8F5C0B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8F5C0B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84386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62193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30B7341-5BA2-81CD-42A2-48D505BD3869}"/>
              </a:ext>
            </a:extLst>
          </p:cNvPr>
          <p:cNvSpPr>
            <a:spLocks/>
          </p:cNvSpPr>
          <p:nvPr userDrawn="1"/>
        </p:nvSpPr>
        <p:spPr bwMode="auto">
          <a:xfrm>
            <a:off x="0" y="5914567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D460D7-CBA5-99E2-F433-668EED5BA8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642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21696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76088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85988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2524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10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647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385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29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0A502E-20E2-F6D8-11DA-9E31300B528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937" y="1773829"/>
            <a:ext cx="2534446" cy="253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826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99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383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700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37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872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568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46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54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05CEC62-96B4-E0C4-A41B-5B4A2656814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0267" y="87591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43281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00F4D-C4C2-91C4-F722-0307E0E98124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733820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354325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What is Data Structure?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Section-1 </a:t>
            </a:r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A03F2-936E-50E5-4A31-21E62AB22966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071652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0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837455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253529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673753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2760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8305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7811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7325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87664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07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BCBD36D-80E5-2938-4F3C-399C4FEF220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89" y="1335005"/>
            <a:ext cx="2520000" cy="252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AD27D4-D354-4363-989F-4442C30D6B8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1354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2180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7341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10173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46174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8484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88076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3292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2038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E99718">
                        <a:shade val="30000"/>
                        <a:satMod val="115000"/>
                      </a:srgbClr>
                    </a:gs>
                    <a:gs pos="50000">
                      <a:srgbClr val="E99718">
                        <a:shade val="67500"/>
                        <a:satMod val="115000"/>
                      </a:srgbClr>
                    </a:gs>
                    <a:gs pos="100000">
                      <a:srgbClr val="E99718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IN" dirty="0" err="1"/>
              <a:t>Prof.</a:t>
            </a:r>
            <a:r>
              <a:rPr lang="en-IN" dirty="0"/>
              <a:t> Vishal K </a:t>
            </a:r>
            <a:r>
              <a:rPr lang="en-IN" dirty="0" err="1"/>
              <a:t>Makwana</a:t>
            </a:r>
            <a:endParaRPr lang="en-IN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Thank</a:t>
            </a:r>
          </a:p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D81706-03FD-5011-BE52-6B8AB641A22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546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3203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542950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</a:t>
            </a:r>
            <a:r>
              <a:rPr lang="en-US" dirty="0">
                <a:solidFill>
                  <a:schemeClr val="tx1"/>
                </a:solidFill>
              </a:rPr>
              <a:t>2304CS401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01 – Introduction to Python 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8F5C0B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8F5C0B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8F5C0B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533492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61894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D38499-9301-48B7-BA27-7E1A5AFCBF53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5D07C2-5660-042B-0965-458E2E2784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94CD80-6289-4C5A-EED6-04FC7A55318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eeform 17">
            <a:extLst>
              <a:ext uri="{FF2B5EF4-FFF2-40B4-BE49-F238E27FC236}">
                <a16:creationId xmlns:a16="http://schemas.microsoft.com/office/drawing/2014/main" id="{030B7341-5BA2-81CD-42A2-48D505BD3869}"/>
              </a:ext>
            </a:extLst>
          </p:cNvPr>
          <p:cNvSpPr>
            <a:spLocks/>
          </p:cNvSpPr>
          <p:nvPr userDrawn="1"/>
        </p:nvSpPr>
        <p:spPr bwMode="auto">
          <a:xfrm>
            <a:off x="0" y="5914567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1519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155838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79858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264320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63048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83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063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676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3990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9759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60761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8599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0693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0093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0708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1837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0281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</a:t>
            </a:r>
            <a:r>
              <a:rPr lang="en-IN" sz="1600" dirty="0"/>
              <a:t>Applications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61478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85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3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0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8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6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  <p:sldLayoutId id="2147483849" r:id="rId19"/>
    <p:sldLayoutId id="2147483850" r:id="rId20"/>
    <p:sldLayoutId id="2147483851" r:id="rId21"/>
    <p:sldLayoutId id="214748385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dharmikkumar.aghera@darshan.ac.in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9898205621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Dharmikkumar</a:t>
            </a:r>
            <a:r>
              <a:rPr lang="en-IN" dirty="0"/>
              <a:t> G. Aghera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Web Designing - II (WD-II) (2304CS202)</a:t>
            </a:r>
          </a:p>
        </p:txBody>
      </p:sp>
      <p:pic>
        <p:nvPicPr>
          <p:cNvPr id="16" name="Picture Placeholder 15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197789"/>
            <a:ext cx="1353599" cy="1353599"/>
          </a:xfr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400" y="1778606"/>
            <a:ext cx="7726094" cy="2578780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sz="5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Unit-02</a:t>
            </a:r>
            <a:r>
              <a:rPr lang="en-US" sz="5400" dirty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Basics of CSS</a:t>
            </a:r>
            <a:r>
              <a:rPr lang="en-US" sz="6000" dirty="0"/>
              <a:t/>
            </a:r>
            <a:br>
              <a:rPr lang="en-US" sz="6000" dirty="0"/>
            </a:br>
            <a:endParaRPr lang="en-US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B8AE13-A5CE-5C97-DAC2-01C58CA8436C}"/>
              </a:ext>
            </a:extLst>
          </p:cNvPr>
          <p:cNvSpPr txBox="1">
            <a:spLocks/>
          </p:cNvSpPr>
          <p:nvPr/>
        </p:nvSpPr>
        <p:spPr>
          <a:xfrm>
            <a:off x="867400" y="4132880"/>
            <a:ext cx="9330959" cy="87601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200" i="1" dirty="0">
                <a:effectLst/>
              </a:rPr>
              <a:t>CO2 : At the end of this chapter, students will be able to,</a:t>
            </a:r>
          </a:p>
          <a:p>
            <a:pPr>
              <a:spcBef>
                <a:spcPts val="0"/>
              </a:spcBef>
            </a:pPr>
            <a:r>
              <a:rPr lang="en-US" sz="2200" b="0" dirty="0">
                <a:effectLst/>
              </a:rPr>
              <a:t>          </a:t>
            </a:r>
            <a:r>
              <a:rPr lang="en-US" sz="2200" b="0" i="1" dirty="0">
                <a:effectLst/>
              </a:rPr>
              <a:t>practice the basic concept of CSS to make design attractive</a:t>
            </a:r>
            <a:r>
              <a:rPr lang="en-US" sz="2200" b="0" dirty="0"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  <a:sym typeface="Wingdings 2" panose="05020102010507070707" pitchFamily="18" charset="2"/>
              </a:rPr>
              <a:t>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7005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12385"/>
            <a:ext cx="97788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6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Outline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Introduction to CSS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Basic Syntax of CSS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Types of CSS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CSS Selector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1020-097C-C904-1FCD-E550B3A13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E2A3-5AD6-F569-196A-F829B033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Introduction to CSS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41E7C-2CDB-E476-7A3F-614623ABC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4292221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E2E4E81-E306-F742-B7C6-61C0920A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What is CSS?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5ED312D-A065-A1B4-AE88-D62D8EC5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b="1" dirty="0"/>
              <a:t>C</a:t>
            </a:r>
            <a:r>
              <a:rPr lang="en-US" dirty="0">
                <a:solidFill>
                  <a:srgbClr val="C00000"/>
                </a:solidFill>
              </a:rPr>
              <a:t>ascading</a:t>
            </a:r>
            <a:r>
              <a:rPr lang="en-US" dirty="0"/>
              <a:t> </a:t>
            </a:r>
            <a:r>
              <a:rPr lang="en-US" b="1" dirty="0"/>
              <a:t>S</a:t>
            </a:r>
            <a:r>
              <a:rPr lang="en-US" dirty="0">
                <a:solidFill>
                  <a:srgbClr val="C00000"/>
                </a:solidFill>
              </a:rPr>
              <a:t>tyle</a:t>
            </a:r>
            <a:r>
              <a:rPr lang="en-US" dirty="0"/>
              <a:t> </a:t>
            </a:r>
            <a:r>
              <a:rPr lang="en-US" b="1" dirty="0"/>
              <a:t>S</a:t>
            </a:r>
            <a:r>
              <a:rPr lang="en-US" dirty="0">
                <a:solidFill>
                  <a:srgbClr val="C00000"/>
                </a:solidFill>
              </a:rPr>
              <a:t>heets</a:t>
            </a:r>
            <a:r>
              <a:rPr lang="en-US" dirty="0"/>
              <a:t>, fondly referred to as </a:t>
            </a:r>
            <a:r>
              <a:rPr lang="en-US" dirty="0">
                <a:solidFill>
                  <a:srgbClr val="C00000"/>
                </a:solidFill>
              </a:rPr>
              <a:t>CSS</a:t>
            </a:r>
            <a:r>
              <a:rPr lang="en-US" dirty="0"/>
              <a:t>, is a simple design language intended to </a:t>
            </a:r>
            <a:r>
              <a:rPr lang="en-US" dirty="0">
                <a:solidFill>
                  <a:srgbClr val="C00000"/>
                </a:solidFill>
              </a:rPr>
              <a:t>simplify</a:t>
            </a:r>
            <a:r>
              <a:rPr lang="en-US" dirty="0"/>
              <a:t> the process of making web pages </a:t>
            </a:r>
            <a:r>
              <a:rPr lang="en-US" dirty="0">
                <a:solidFill>
                  <a:srgbClr val="C00000"/>
                </a:solidFill>
              </a:rPr>
              <a:t>presentable</a:t>
            </a:r>
            <a:r>
              <a:rPr lang="en-US" dirty="0"/>
              <a:t>.</a:t>
            </a:r>
          </a:p>
          <a:p>
            <a:r>
              <a:rPr lang="en-US" dirty="0"/>
              <a:t>CSS defines </a:t>
            </a:r>
            <a:r>
              <a:rPr lang="en-US" dirty="0">
                <a:solidFill>
                  <a:srgbClr val="C00000"/>
                </a:solidFill>
              </a:rPr>
              <a:t>layout of HTML </a:t>
            </a:r>
            <a:r>
              <a:rPr lang="en-US" dirty="0"/>
              <a:t>documents. </a:t>
            </a:r>
          </a:p>
          <a:p>
            <a:r>
              <a:rPr lang="en-US" dirty="0"/>
              <a:t>For example, CSS covers </a:t>
            </a:r>
            <a:r>
              <a:rPr lang="en-IN" dirty="0"/>
              <a:t>following things :</a:t>
            </a:r>
            <a:endParaRPr lang="en-US" dirty="0"/>
          </a:p>
          <a:p>
            <a:pPr lvl="1"/>
            <a:r>
              <a:rPr lang="en-US" sz="2200" dirty="0"/>
              <a:t>fonts</a:t>
            </a:r>
          </a:p>
          <a:p>
            <a:pPr lvl="1"/>
            <a:r>
              <a:rPr lang="en-US" sz="2200" dirty="0"/>
              <a:t>colors</a:t>
            </a:r>
          </a:p>
          <a:p>
            <a:pPr lvl="1"/>
            <a:r>
              <a:rPr lang="en-US" sz="2200" dirty="0"/>
              <a:t>margins</a:t>
            </a:r>
          </a:p>
          <a:p>
            <a:pPr lvl="1"/>
            <a:r>
              <a:rPr lang="en-US" sz="2200" dirty="0"/>
              <a:t>lines</a:t>
            </a:r>
          </a:p>
          <a:p>
            <a:pPr lvl="1"/>
            <a:r>
              <a:rPr lang="en-US" sz="2200" dirty="0"/>
              <a:t>height</a:t>
            </a:r>
          </a:p>
          <a:p>
            <a:pPr lvl="1"/>
            <a:r>
              <a:rPr lang="en-US" sz="2200" dirty="0"/>
              <a:t>width</a:t>
            </a:r>
          </a:p>
          <a:p>
            <a:pPr lvl="1"/>
            <a:r>
              <a:rPr lang="en-US" sz="2200" dirty="0"/>
              <a:t>background images</a:t>
            </a:r>
          </a:p>
          <a:p>
            <a:pPr lvl="1"/>
            <a:r>
              <a:rPr lang="en-US" sz="2200" dirty="0"/>
              <a:t>advanced positions and many other things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31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6A028-1155-6F55-5719-2687377DA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269DE-0710-9DFA-3777-60FF4D51F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Importance, Advantages and </a:t>
            </a:r>
            <a:r>
              <a:rPr lang="en-IN" dirty="0"/>
              <a:t>Disadvantages of CSS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991C8-0F38-FD10-5945-D54DB303F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lvl="0">
              <a:buClr>
                <a:srgbClr val="B84742"/>
              </a:buClr>
            </a:pPr>
            <a:r>
              <a:rPr lang="en-US" b="1" dirty="0">
                <a:solidFill>
                  <a:srgbClr val="212121"/>
                </a:solidFill>
              </a:rPr>
              <a:t>Importance of CSS :</a:t>
            </a:r>
          </a:p>
          <a:p>
            <a:pPr lvl="1">
              <a:buClr>
                <a:srgbClr val="B84742"/>
              </a:buClr>
            </a:pPr>
            <a:r>
              <a:rPr lang="en-US" sz="2200" dirty="0">
                <a:solidFill>
                  <a:srgbClr val="212121"/>
                </a:solidFill>
              </a:rPr>
              <a:t>CSS defines HOW HTML elements are to be displayed.</a:t>
            </a:r>
          </a:p>
          <a:p>
            <a:pPr lvl="1">
              <a:buClr>
                <a:srgbClr val="B84742"/>
              </a:buClr>
            </a:pPr>
            <a:r>
              <a:rPr lang="en-US" sz="2200" dirty="0">
                <a:solidFill>
                  <a:srgbClr val="212121"/>
                </a:solidFill>
              </a:rPr>
              <a:t>Styles are normally saved in </a:t>
            </a:r>
            <a:r>
              <a:rPr lang="en-US" sz="2200" dirty="0">
                <a:solidFill>
                  <a:srgbClr val="C00000"/>
                </a:solidFill>
              </a:rPr>
              <a:t>external .</a:t>
            </a:r>
            <a:r>
              <a:rPr lang="en-US" sz="2200" dirty="0" err="1">
                <a:solidFill>
                  <a:srgbClr val="C00000"/>
                </a:solidFill>
              </a:rPr>
              <a:t>css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>
                <a:solidFill>
                  <a:srgbClr val="212121"/>
                </a:solidFill>
              </a:rPr>
              <a:t>files. </a:t>
            </a:r>
          </a:p>
          <a:p>
            <a:pPr lvl="1">
              <a:buClr>
                <a:srgbClr val="B84742"/>
              </a:buClr>
            </a:pPr>
            <a:r>
              <a:rPr lang="en-US" sz="2200" dirty="0">
                <a:solidFill>
                  <a:srgbClr val="212121"/>
                </a:solidFill>
              </a:rPr>
              <a:t>External style sheets enable you to change the appearance and layout of all the pages in a Web site, just by editing one single file.</a:t>
            </a:r>
          </a:p>
          <a:p>
            <a:pPr marL="457200" lvl="1" indent="0">
              <a:buClr>
                <a:srgbClr val="B84742"/>
              </a:buClr>
              <a:buNone/>
            </a:pPr>
            <a:endParaRPr lang="en-US" sz="2200" dirty="0">
              <a:solidFill>
                <a:srgbClr val="212121"/>
              </a:solidFill>
            </a:endParaRPr>
          </a:p>
          <a:p>
            <a:r>
              <a:rPr lang="en-US" b="1" dirty="0"/>
              <a:t>Advantages :</a:t>
            </a:r>
          </a:p>
          <a:p>
            <a:pPr lvl="1"/>
            <a:r>
              <a:rPr lang="en-US" sz="2200" dirty="0"/>
              <a:t>Improves Website Presentation</a:t>
            </a:r>
          </a:p>
          <a:p>
            <a:pPr lvl="1"/>
            <a:r>
              <a:rPr lang="en-US" sz="2200" dirty="0"/>
              <a:t>External CSS makes Updates Easier and Smoother</a:t>
            </a:r>
          </a:p>
          <a:p>
            <a:pPr lvl="1"/>
            <a:r>
              <a:rPr lang="en-US" sz="2200" dirty="0"/>
              <a:t>External CSS helps Web Pages Load Faster</a:t>
            </a:r>
          </a:p>
          <a:p>
            <a:pPr marL="457200" lvl="1" indent="0">
              <a:buNone/>
            </a:pPr>
            <a:endParaRPr lang="en-US" dirty="0"/>
          </a:p>
          <a:p>
            <a:pPr lvl="0">
              <a:buClr>
                <a:srgbClr val="B84742"/>
              </a:buClr>
            </a:pPr>
            <a:r>
              <a:rPr lang="en-US" b="1" dirty="0">
                <a:solidFill>
                  <a:srgbClr val="212121"/>
                </a:solidFill>
              </a:rPr>
              <a:t>Disadvantages :</a:t>
            </a:r>
          </a:p>
          <a:p>
            <a:pPr lvl="1">
              <a:buClr>
                <a:srgbClr val="B84742"/>
              </a:buClr>
            </a:pPr>
            <a:r>
              <a:rPr lang="en-US" sz="2200" dirty="0"/>
              <a:t>Browser Dependent</a:t>
            </a:r>
          </a:p>
          <a:p>
            <a:pPr lvl="1">
              <a:buClr>
                <a:srgbClr val="B84742"/>
              </a:buClr>
            </a:pPr>
            <a:r>
              <a:rPr lang="en-US" sz="2200" dirty="0"/>
              <a:t>Difficult to retrofit in old websites</a:t>
            </a:r>
          </a:p>
          <a:p>
            <a:pPr lvl="1">
              <a:buClr>
                <a:srgbClr val="B84742"/>
              </a:buClr>
            </a:pPr>
            <a:endParaRPr lang="en-US" dirty="0"/>
          </a:p>
          <a:p>
            <a:pPr lvl="1">
              <a:buClr>
                <a:srgbClr val="B84742"/>
              </a:buClr>
            </a:pPr>
            <a:endParaRPr lang="en-US" dirty="0">
              <a:solidFill>
                <a:srgbClr val="212121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64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E80B7-E30E-F914-20A3-C8A303A2F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B109-03E5-D270-5798-A94FB824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Basic Syntax and structure of CSS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B354D-D51C-4AE2-645B-CDCE01C4B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2786256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B250D-BF69-97F0-B783-229BA0A0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92156-1B92-694B-9CC1-2D5427CC1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Basic Syntax of CSS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BB863-B505-AC7E-22F0-84D781A67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A CSS rule has two main parts: a </a:t>
            </a:r>
            <a:r>
              <a:rPr lang="en-US" dirty="0">
                <a:solidFill>
                  <a:srgbClr val="C00000"/>
                </a:solidFill>
              </a:rPr>
              <a:t>selector</a:t>
            </a:r>
            <a:r>
              <a:rPr lang="en-US" dirty="0"/>
              <a:t>, and one or more </a:t>
            </a:r>
            <a:r>
              <a:rPr lang="en-US" dirty="0">
                <a:solidFill>
                  <a:srgbClr val="C00000"/>
                </a:solidFill>
              </a:rPr>
              <a:t>declarations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selector</a:t>
            </a:r>
            <a:r>
              <a:rPr lang="en-US" b="1" dirty="0"/>
              <a:t> </a:t>
            </a:r>
            <a:r>
              <a:rPr lang="en-US" dirty="0"/>
              <a:t>can be HTML element, id or class.</a:t>
            </a:r>
          </a:p>
          <a:p>
            <a:r>
              <a:rPr lang="en-US" dirty="0"/>
              <a:t>Each </a:t>
            </a:r>
            <a:r>
              <a:rPr lang="en-US" dirty="0">
                <a:solidFill>
                  <a:srgbClr val="C00000"/>
                </a:solidFill>
              </a:rPr>
              <a:t>declaration</a:t>
            </a:r>
            <a:r>
              <a:rPr lang="en-US" dirty="0"/>
              <a:t> consists of a </a:t>
            </a:r>
            <a:r>
              <a:rPr lang="en-US" dirty="0">
                <a:solidFill>
                  <a:srgbClr val="C00000"/>
                </a:solidFill>
              </a:rPr>
              <a:t>property</a:t>
            </a:r>
            <a:r>
              <a:rPr lang="en-US" dirty="0"/>
              <a:t> and a </a:t>
            </a:r>
            <a:r>
              <a:rPr lang="en-US" dirty="0">
                <a:solidFill>
                  <a:srgbClr val="C00000"/>
                </a:solidFill>
              </a:rPr>
              <a:t>value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property </a:t>
            </a:r>
            <a:r>
              <a:rPr lang="en-US" dirty="0"/>
              <a:t>is the style attribute you want to change. Each property has a </a:t>
            </a:r>
            <a:r>
              <a:rPr lang="en-US" dirty="0">
                <a:solidFill>
                  <a:srgbClr val="C00000"/>
                </a:solidFill>
              </a:rPr>
              <a:t>value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DA1AC03-3B46-FC62-7EE5-62555D33F521}"/>
              </a:ext>
            </a:extLst>
          </p:cNvPr>
          <p:cNvSpPr/>
          <p:nvPr/>
        </p:nvSpPr>
        <p:spPr>
          <a:xfrm>
            <a:off x="732201" y="1807778"/>
            <a:ext cx="1219200" cy="1143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h1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CB8A5-C886-ACBA-A022-E33CDA0148BD}"/>
              </a:ext>
            </a:extLst>
          </p:cNvPr>
          <p:cNvSpPr/>
          <p:nvPr/>
        </p:nvSpPr>
        <p:spPr>
          <a:xfrm>
            <a:off x="622883" y="1253780"/>
            <a:ext cx="1480918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Selector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435B60A-FE22-ABB3-C103-4FEA3F4834F3}"/>
              </a:ext>
            </a:extLst>
          </p:cNvPr>
          <p:cNvSpPr/>
          <p:nvPr/>
        </p:nvSpPr>
        <p:spPr>
          <a:xfrm>
            <a:off x="2223083" y="1807778"/>
            <a:ext cx="70866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{</a:t>
            </a:r>
            <a:r>
              <a:rPr lang="en-US" sz="4400" b="1" dirty="0" err="1"/>
              <a:t>color:blue</a:t>
            </a:r>
            <a:r>
              <a:rPr lang="en-US" sz="4400" b="1" dirty="0"/>
              <a:t>; font-size: 12px;}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487824-0A42-0C5C-D218-B28AD8231915}"/>
              </a:ext>
            </a:extLst>
          </p:cNvPr>
          <p:cNvSpPr/>
          <p:nvPr/>
        </p:nvSpPr>
        <p:spPr>
          <a:xfrm>
            <a:off x="2729748" y="1253780"/>
            <a:ext cx="2301399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Declaration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A60023-B6EC-C5F9-5F28-22FD11E7A43F}"/>
              </a:ext>
            </a:extLst>
          </p:cNvPr>
          <p:cNvSpPr/>
          <p:nvPr/>
        </p:nvSpPr>
        <p:spPr>
          <a:xfrm>
            <a:off x="6044420" y="1233182"/>
            <a:ext cx="2301399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Declaration 2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93645CC-BFDF-869D-7EEA-28E88BA03138}"/>
              </a:ext>
            </a:extLst>
          </p:cNvPr>
          <p:cNvSpPr/>
          <p:nvPr/>
        </p:nvSpPr>
        <p:spPr>
          <a:xfrm rot="16200000">
            <a:off x="2927933" y="2814332"/>
            <a:ext cx="685800" cy="419100"/>
          </a:xfrm>
          <a:prstGeom prst="rightArrow">
            <a:avLst>
              <a:gd name="adj1" fmla="val 50000"/>
              <a:gd name="adj2" fmla="val 7014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04288B-1D1F-A61B-D3F4-1C0AC37FB7C9}"/>
              </a:ext>
            </a:extLst>
          </p:cNvPr>
          <p:cNvSpPr/>
          <p:nvPr/>
        </p:nvSpPr>
        <p:spPr>
          <a:xfrm>
            <a:off x="2604083" y="3346928"/>
            <a:ext cx="1322413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</a:rPr>
              <a:t>property</a:t>
            </a:r>
            <a:endParaRPr lang="en-US" sz="2500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CE2F03-2806-096C-E7EF-7C80DA277876}"/>
              </a:ext>
            </a:extLst>
          </p:cNvPr>
          <p:cNvSpPr/>
          <p:nvPr/>
        </p:nvSpPr>
        <p:spPr>
          <a:xfrm>
            <a:off x="4085785" y="3366782"/>
            <a:ext cx="880498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</a:rPr>
              <a:t>value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0A047BE7-2712-4967-F83C-F138371DD744}"/>
              </a:ext>
            </a:extLst>
          </p:cNvPr>
          <p:cNvSpPr/>
          <p:nvPr/>
        </p:nvSpPr>
        <p:spPr>
          <a:xfrm rot="16200000">
            <a:off x="4185233" y="2814333"/>
            <a:ext cx="685800" cy="419100"/>
          </a:xfrm>
          <a:prstGeom prst="rightArrow">
            <a:avLst>
              <a:gd name="adj1" fmla="val 50000"/>
              <a:gd name="adj2" fmla="val 7014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D39DCEBE-A0F7-1FB7-2517-4D1698F6C934}"/>
              </a:ext>
            </a:extLst>
          </p:cNvPr>
          <p:cNvSpPr/>
          <p:nvPr/>
        </p:nvSpPr>
        <p:spPr>
          <a:xfrm rot="16200000">
            <a:off x="6356933" y="2814333"/>
            <a:ext cx="685800" cy="419100"/>
          </a:xfrm>
          <a:prstGeom prst="rightArrow">
            <a:avLst>
              <a:gd name="adj1" fmla="val 50000"/>
              <a:gd name="adj2" fmla="val 7014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2599A370-95BF-EC22-E3B1-BB3557C2DB57}"/>
              </a:ext>
            </a:extLst>
          </p:cNvPr>
          <p:cNvSpPr/>
          <p:nvPr/>
        </p:nvSpPr>
        <p:spPr>
          <a:xfrm rot="16200000">
            <a:off x="7614233" y="2814334"/>
            <a:ext cx="685800" cy="419100"/>
          </a:xfrm>
          <a:prstGeom prst="rightArrow">
            <a:avLst>
              <a:gd name="adj1" fmla="val 50000"/>
              <a:gd name="adj2" fmla="val 7014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2CF029-6B7B-92AC-A2AF-F32581132960}"/>
              </a:ext>
            </a:extLst>
          </p:cNvPr>
          <p:cNvSpPr/>
          <p:nvPr/>
        </p:nvSpPr>
        <p:spPr>
          <a:xfrm>
            <a:off x="6033083" y="3366782"/>
            <a:ext cx="1322413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</a:rPr>
              <a:t>property</a:t>
            </a:r>
            <a:endParaRPr lang="en-US" sz="2500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2A7C77-749E-BA19-2A7B-2F0743B6BDA2}"/>
              </a:ext>
            </a:extLst>
          </p:cNvPr>
          <p:cNvSpPr/>
          <p:nvPr/>
        </p:nvSpPr>
        <p:spPr>
          <a:xfrm>
            <a:off x="7514785" y="3386636"/>
            <a:ext cx="880498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</a:rPr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161631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animBg="1"/>
      <p:bldP spid="5" grpId="0" uiExpand="1"/>
      <p:bldP spid="6" grpId="0" uiExpand="1" animBg="1"/>
      <p:bldP spid="7" grpId="0" uiExpand="1"/>
      <p:bldP spid="8" grpId="0" uiExpand="1"/>
      <p:bldP spid="9" grpId="0" uiExpand="1" animBg="1"/>
      <p:bldP spid="10" grpId="0" uiExpand="1"/>
      <p:bldP spid="11" grpId="0" uiExpand="1"/>
      <p:bldP spid="12" grpId="0" uiExpand="1" animBg="1"/>
      <p:bldP spid="13" grpId="0" uiExpand="1" animBg="1"/>
      <p:bldP spid="14" grpId="0" uiExpand="1" animBg="1"/>
      <p:bldP spid="15" grpId="0" uiExpand="1"/>
      <p:bldP spid="16" grpId="0" uiExpan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46BF9-83D0-E515-E569-997B7A46E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9B12D-C655-9CBD-5217-EB19FE645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Types of CSS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F381C-0DB2-3FDE-F973-E4E917FB0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3353861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E106F-C1DB-29EE-C23B-71B058CEC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6C4D8-E0F0-A6F8-B8B1-8EA40DCCD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Different ways to write CSS / </a:t>
            </a:r>
            <a:r>
              <a:rPr lang="en-US" sz="3600" dirty="0"/>
              <a:t>Types of CSS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9915A-A64E-9B84-937E-348F43C82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lvl="0"/>
            <a:r>
              <a:rPr lang="en-US" sz="2800" dirty="0"/>
              <a:t>There are three ways of writing a style sheet: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Inline Style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Internal/Embedded Style sheet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External Style Sheet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69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BDDF-C19B-243A-857F-8D30521E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ABC8E-03CA-6FD0-80E5-CABA24E9F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1) Inline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2C15D-4574-9454-26DE-488AE31E4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hangingPunct="0"/>
            <a:r>
              <a:rPr lang="en-US" dirty="0"/>
              <a:t>It is possible to place CSS right in your HTML code, and this method of CSS usage is referred to as </a:t>
            </a:r>
            <a:r>
              <a:rPr lang="en-US" dirty="0">
                <a:solidFill>
                  <a:srgbClr val="C00000"/>
                </a:solidFill>
              </a:rPr>
              <a:t>inline </a:t>
            </a:r>
            <a:r>
              <a:rPr lang="en-US" dirty="0" err="1">
                <a:solidFill>
                  <a:srgbClr val="C00000"/>
                </a:solidFill>
              </a:rPr>
              <a:t>css</a:t>
            </a:r>
            <a:r>
              <a:rPr lang="en-US" dirty="0"/>
              <a:t>. </a:t>
            </a:r>
          </a:p>
          <a:p>
            <a:pPr hangingPunct="0"/>
            <a:r>
              <a:rPr lang="en-US" dirty="0"/>
              <a:t>Inline CSS has the </a:t>
            </a:r>
            <a:r>
              <a:rPr lang="en-US" dirty="0">
                <a:solidFill>
                  <a:srgbClr val="C00000"/>
                </a:solidFill>
              </a:rPr>
              <a:t>highest priority </a:t>
            </a:r>
            <a:r>
              <a:rPr lang="en-US" dirty="0"/>
              <a:t>out of external, internal, and inline CSS. </a:t>
            </a:r>
          </a:p>
          <a:p>
            <a:pPr hangingPunct="0"/>
            <a:r>
              <a:rPr lang="en-US" dirty="0"/>
              <a:t>This means that you can </a:t>
            </a:r>
            <a:r>
              <a:rPr lang="en-US" dirty="0">
                <a:solidFill>
                  <a:srgbClr val="C00000"/>
                </a:solidFill>
              </a:rPr>
              <a:t>override styles </a:t>
            </a:r>
            <a:r>
              <a:rPr lang="en-US" dirty="0"/>
              <a:t>that are defined in external or internal by using inline CSS. </a:t>
            </a:r>
          </a:p>
          <a:p>
            <a:r>
              <a:rPr lang="en-US" dirty="0"/>
              <a:t>If you want to add a style inside an HTML element all you have to do is specify the desired CSS properties with the </a:t>
            </a:r>
            <a:r>
              <a:rPr lang="en-US" dirty="0">
                <a:solidFill>
                  <a:srgbClr val="C00000"/>
                </a:solidFill>
              </a:rPr>
              <a:t>style </a:t>
            </a:r>
            <a:r>
              <a:rPr lang="en-US" dirty="0"/>
              <a:t>HTML attribute. 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B00D14-A687-9874-B9E5-FE34C0076B22}"/>
              </a:ext>
            </a:extLst>
          </p:cNvPr>
          <p:cNvSpPr txBox="1"/>
          <p:nvPr/>
        </p:nvSpPr>
        <p:spPr>
          <a:xfrm>
            <a:off x="519418" y="4275494"/>
            <a:ext cx="7467600" cy="64633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endParaRPr lang="en-US" dirty="0"/>
          </a:p>
          <a:p>
            <a:pPr lvl="1">
              <a:buNone/>
            </a:pPr>
            <a:r>
              <a:rPr lang="en-US" i="1" dirty="0"/>
              <a:t>&lt;p </a:t>
            </a:r>
            <a:r>
              <a:rPr lang="en-US" b="1" i="1" dirty="0"/>
              <a:t>style</a:t>
            </a:r>
            <a:r>
              <a:rPr lang="en-US" i="1" dirty="0"/>
              <a:t>="background: blue; color: white;"&gt; My Inline CSS &lt;/p&gt;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C0A04-7417-1190-00DE-34876B4CF534}"/>
              </a:ext>
            </a:extLst>
          </p:cNvPr>
          <p:cNvSpPr txBox="1"/>
          <p:nvPr/>
        </p:nvSpPr>
        <p:spPr>
          <a:xfrm>
            <a:off x="8452447" y="4275493"/>
            <a:ext cx="3285463" cy="64633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Output</a:t>
            </a:r>
            <a:endParaRPr lang="en-US" dirty="0"/>
          </a:p>
          <a:p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 My Inline CSS</a:t>
            </a:r>
            <a:r>
              <a:rPr lang="en-US" dirty="0">
                <a:solidFill>
                  <a:srgbClr val="0000CC"/>
                </a:solidFill>
                <a:highlight>
                  <a:srgbClr val="0000FF"/>
                </a:highlight>
              </a:rPr>
              <a:t>………………………………….</a:t>
            </a:r>
          </a:p>
        </p:txBody>
      </p:sp>
    </p:spTree>
    <p:extLst>
      <p:ext uri="{BB962C8B-B14F-4D97-AF65-F5344CB8AC3E}">
        <p14:creationId xmlns:p14="http://schemas.microsoft.com/office/powerpoint/2010/main" val="64010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66D22-23BC-F1BB-935A-E1F7DE65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86B11-1050-E7FF-400C-41AD8B4F4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2) Internal Style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7572F-09D4-7888-3EA7-F93D08B05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hangingPunct="0"/>
            <a:r>
              <a:rPr lang="en-US" dirty="0"/>
              <a:t>This type of CSS is only for </a:t>
            </a:r>
            <a:r>
              <a:rPr lang="en-US" dirty="0">
                <a:solidFill>
                  <a:srgbClr val="C00000"/>
                </a:solidFill>
              </a:rPr>
              <a:t>Single Web Page</a:t>
            </a:r>
            <a:r>
              <a:rPr lang="en-US" dirty="0"/>
              <a:t>.</a:t>
            </a:r>
          </a:p>
          <a:p>
            <a:r>
              <a:rPr lang="en-US" dirty="0"/>
              <a:t>When using internal CSS, we must add a new tag, </a:t>
            </a:r>
            <a:r>
              <a:rPr lang="en-US" dirty="0">
                <a:solidFill>
                  <a:srgbClr val="C00000"/>
                </a:solidFill>
              </a:rPr>
              <a:t>&lt;style&gt; </a:t>
            </a:r>
            <a:r>
              <a:rPr lang="en-US" dirty="0"/>
              <a:t>inside the </a:t>
            </a:r>
            <a:r>
              <a:rPr lang="en-US" dirty="0">
                <a:solidFill>
                  <a:srgbClr val="C00000"/>
                </a:solidFill>
              </a:rPr>
              <a:t>&lt;head&gt; </a:t>
            </a:r>
            <a:r>
              <a:rPr lang="en-US" dirty="0"/>
              <a:t>tag. </a:t>
            </a:r>
          </a:p>
          <a:p>
            <a:r>
              <a:rPr lang="en-US" dirty="0"/>
              <a:t>The HTML code below contains an example of &lt;style&gt;'s usage.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14554-D792-C072-E286-3C4CFFCC786D}"/>
              </a:ext>
            </a:extLst>
          </p:cNvPr>
          <p:cNvSpPr txBox="1"/>
          <p:nvPr/>
        </p:nvSpPr>
        <p:spPr>
          <a:xfrm>
            <a:off x="550411" y="2610494"/>
            <a:ext cx="7239000" cy="295465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endParaRPr lang="en-US" dirty="0"/>
          </a:p>
          <a:p>
            <a:pPr lvl="2">
              <a:buNone/>
            </a:pPr>
            <a:r>
              <a:rPr lang="en-US" sz="2400" i="1" dirty="0"/>
              <a:t>&lt;html&gt;&lt;head&gt;</a:t>
            </a:r>
            <a:endParaRPr lang="en-US" sz="2400" dirty="0"/>
          </a:p>
          <a:p>
            <a:pPr lvl="2">
              <a:buNone/>
            </a:pPr>
            <a:r>
              <a:rPr lang="en-US" sz="2400" i="1" dirty="0"/>
              <a:t>	&lt;style type="text/</a:t>
            </a:r>
            <a:r>
              <a:rPr lang="en-US" sz="2400" i="1" dirty="0" err="1"/>
              <a:t>css</a:t>
            </a:r>
            <a:r>
              <a:rPr lang="en-US" sz="2400" i="1" dirty="0"/>
              <a:t>"&gt;</a:t>
            </a:r>
          </a:p>
          <a:p>
            <a:pPr lvl="2">
              <a:buNone/>
            </a:pPr>
            <a:r>
              <a:rPr lang="en-US" sz="2400" i="1" dirty="0"/>
              <a:t>		p{ color: red;}</a:t>
            </a:r>
          </a:p>
          <a:p>
            <a:pPr lvl="2">
              <a:buNone/>
            </a:pPr>
            <a:r>
              <a:rPr lang="en-US" sz="2400" i="1" dirty="0"/>
              <a:t>	&lt;/style&gt;</a:t>
            </a:r>
            <a:endParaRPr lang="en-US" sz="2400" dirty="0"/>
          </a:p>
          <a:p>
            <a:pPr lvl="2">
              <a:buNone/>
            </a:pPr>
            <a:r>
              <a:rPr lang="en-US" sz="2400" i="1" dirty="0"/>
              <a:t>&lt;/head&gt;&lt;body&gt;</a:t>
            </a:r>
            <a:endParaRPr lang="en-US" sz="2400" dirty="0"/>
          </a:p>
          <a:p>
            <a:pPr lvl="2">
              <a:buNone/>
            </a:pPr>
            <a:r>
              <a:rPr lang="en-US" sz="2400" i="1" dirty="0"/>
              <a:t>	&lt;p&gt;Your page's content!&lt;/p&gt;&lt;/body&gt;</a:t>
            </a:r>
            <a:endParaRPr lang="en-US" sz="2400" dirty="0"/>
          </a:p>
          <a:p>
            <a:pPr lvl="2">
              <a:buNone/>
            </a:pPr>
            <a:r>
              <a:rPr lang="en-US" sz="2400" i="1" dirty="0"/>
              <a:t>&lt;/html&gt;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57843-4B91-5063-AF16-0CAE739D36A3}"/>
              </a:ext>
            </a:extLst>
          </p:cNvPr>
          <p:cNvSpPr txBox="1"/>
          <p:nvPr/>
        </p:nvSpPr>
        <p:spPr>
          <a:xfrm>
            <a:off x="7971908" y="2610494"/>
            <a:ext cx="3906416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Output</a:t>
            </a:r>
            <a:endParaRPr lang="en-US" dirty="0"/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Your page’s content!</a:t>
            </a:r>
          </a:p>
        </p:txBody>
      </p:sp>
    </p:spTree>
    <p:extLst>
      <p:ext uri="{BB962C8B-B14F-4D97-AF65-F5344CB8AC3E}">
        <p14:creationId xmlns:p14="http://schemas.microsoft.com/office/powerpoint/2010/main" val="280880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allAtOnce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150BD-9956-040A-C4DA-E5AB0309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B96C-E85A-C367-17F6-35594760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3) External Style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D904A-E061-A9A6-F858-98F50C608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When using CSS it is preferable to keep the </a:t>
            </a:r>
            <a:r>
              <a:rPr lang="en-US" dirty="0">
                <a:solidFill>
                  <a:srgbClr val="C00000"/>
                </a:solidFill>
              </a:rPr>
              <a:t>CSS separate from your HTML</a:t>
            </a:r>
            <a:r>
              <a:rPr lang="en-US" dirty="0"/>
              <a:t>. </a:t>
            </a:r>
          </a:p>
          <a:p>
            <a:r>
              <a:rPr lang="en-US" dirty="0"/>
              <a:t>Placing CSS in a separate file allows the web designer to completely differentiate between </a:t>
            </a:r>
            <a:r>
              <a:rPr lang="en-US" dirty="0">
                <a:solidFill>
                  <a:srgbClr val="C00000"/>
                </a:solidFill>
              </a:rPr>
              <a:t>content</a:t>
            </a:r>
            <a:r>
              <a:rPr lang="en-US" dirty="0"/>
              <a:t> (HTML) and </a:t>
            </a:r>
            <a:r>
              <a:rPr lang="en-US" dirty="0">
                <a:solidFill>
                  <a:srgbClr val="C00000"/>
                </a:solidFill>
              </a:rPr>
              <a:t>design</a:t>
            </a:r>
            <a:r>
              <a:rPr lang="en-US" dirty="0"/>
              <a:t> (CSS). </a:t>
            </a:r>
          </a:p>
          <a:p>
            <a:r>
              <a:rPr lang="en-US" dirty="0"/>
              <a:t>External CSS is a file that contains </a:t>
            </a:r>
            <a:r>
              <a:rPr lang="en-US" dirty="0">
                <a:solidFill>
                  <a:srgbClr val="C00000"/>
                </a:solidFill>
              </a:rPr>
              <a:t>only CSS </a:t>
            </a:r>
            <a:r>
              <a:rPr lang="en-US" dirty="0"/>
              <a:t>code and is saved with a "</a:t>
            </a:r>
            <a:r>
              <a:rPr lang="en-US" dirty="0">
                <a:solidFill>
                  <a:srgbClr val="C00000"/>
                </a:solidFill>
              </a:rPr>
              <a:t>.</a:t>
            </a:r>
            <a:r>
              <a:rPr lang="en-US" dirty="0" err="1">
                <a:solidFill>
                  <a:srgbClr val="C00000"/>
                </a:solidFill>
              </a:rPr>
              <a:t>css</a:t>
            </a:r>
            <a:r>
              <a:rPr lang="en-US" dirty="0"/>
              <a:t>" file extension. </a:t>
            </a:r>
          </a:p>
          <a:p>
            <a:pPr hangingPunct="0"/>
            <a:r>
              <a:rPr lang="en-US" dirty="0"/>
              <a:t>This CSS file is then referenced in your HTML using the </a:t>
            </a:r>
            <a:r>
              <a:rPr lang="en-US" dirty="0">
                <a:solidFill>
                  <a:srgbClr val="C00000"/>
                </a:solidFill>
              </a:rPr>
              <a:t>&lt;link&gt; instead of &lt;style&gt;</a:t>
            </a:r>
            <a:r>
              <a:rPr lang="en-US" dirty="0"/>
              <a:t>.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C1DEAA-3315-6AC1-BF78-EF7F415B1B5E}"/>
              </a:ext>
            </a:extLst>
          </p:cNvPr>
          <p:cNvSpPr txBox="1"/>
          <p:nvPr/>
        </p:nvSpPr>
        <p:spPr>
          <a:xfrm>
            <a:off x="541867" y="3164681"/>
            <a:ext cx="3810000" cy="313932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Demo.html</a:t>
            </a:r>
            <a:endParaRPr lang="en-US" dirty="0"/>
          </a:p>
          <a:p>
            <a:r>
              <a:rPr lang="en-US" dirty="0"/>
              <a:t>&lt;html&gt;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&lt;link </a:t>
            </a:r>
            <a:r>
              <a:rPr lang="en-US" dirty="0" err="1"/>
              <a:t>rel</a:t>
            </a:r>
            <a:r>
              <a:rPr lang="en-US" dirty="0"/>
              <a:t>=“</a:t>
            </a:r>
            <a:r>
              <a:rPr lang="en-US" dirty="0" err="1"/>
              <a:t>stylesheet</a:t>
            </a:r>
            <a:r>
              <a:rPr lang="en-US" dirty="0"/>
              <a:t>” type=“text/</a:t>
            </a:r>
            <a:r>
              <a:rPr lang="en-US" dirty="0" err="1"/>
              <a:t>css</a:t>
            </a:r>
            <a:r>
              <a:rPr lang="en-US" dirty="0"/>
              <a:t>” </a:t>
            </a:r>
            <a:r>
              <a:rPr lang="en-US" dirty="0" err="1"/>
              <a:t>href</a:t>
            </a:r>
            <a:r>
              <a:rPr lang="en-US" dirty="0"/>
              <a:t>=“test.css”&gt;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pPr lvl="1"/>
            <a:r>
              <a:rPr lang="en-US" dirty="0"/>
              <a:t>&lt;p&gt; Hello Friends &lt;/p&gt;</a:t>
            </a:r>
          </a:p>
          <a:p>
            <a:pPr lvl="1"/>
            <a:r>
              <a:rPr lang="en-US" dirty="0"/>
              <a:t>&lt;p id=“para1”&gt; How are you? &lt;/p&gt;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E40B9-D42D-1054-FB7E-4262C06D0383}"/>
              </a:ext>
            </a:extLst>
          </p:cNvPr>
          <p:cNvSpPr txBox="1"/>
          <p:nvPr/>
        </p:nvSpPr>
        <p:spPr>
          <a:xfrm>
            <a:off x="4809067" y="3164681"/>
            <a:ext cx="4267200" cy="230832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test.css</a:t>
            </a:r>
            <a:endParaRPr lang="en-US" dirty="0"/>
          </a:p>
          <a:p>
            <a:r>
              <a:rPr lang="en-US" dirty="0"/>
              <a:t>#para1{</a:t>
            </a:r>
          </a:p>
          <a:p>
            <a:r>
              <a:rPr lang="en-US" dirty="0"/>
              <a:t>	 text-align: center;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p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color : blue;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E2D7A-A607-CC89-481B-3F4E8B222BCC}"/>
              </a:ext>
            </a:extLst>
          </p:cNvPr>
          <p:cNvSpPr txBox="1"/>
          <p:nvPr/>
        </p:nvSpPr>
        <p:spPr>
          <a:xfrm>
            <a:off x="4809067" y="5559516"/>
            <a:ext cx="4267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Output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Hello Friends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How are you?</a:t>
            </a:r>
          </a:p>
        </p:txBody>
      </p:sp>
      <p:cxnSp>
        <p:nvCxnSpPr>
          <p:cNvPr id="7" name="Shape 8">
            <a:extLst>
              <a:ext uri="{FF2B5EF4-FFF2-40B4-BE49-F238E27FC236}">
                <a16:creationId xmlns:a16="http://schemas.microsoft.com/office/drawing/2014/main" id="{51748A1A-18D7-595E-1781-D35750B45595}"/>
              </a:ext>
            </a:extLst>
          </p:cNvPr>
          <p:cNvCxnSpPr>
            <a:stCxn id="5" idx="0"/>
          </p:cNvCxnSpPr>
          <p:nvPr/>
        </p:nvCxnSpPr>
        <p:spPr>
          <a:xfrm rot="16200000" flipH="1" flipV="1">
            <a:off x="4656667" y="1716881"/>
            <a:ext cx="838200" cy="3733800"/>
          </a:xfrm>
          <a:prstGeom prst="curvedConnector4">
            <a:avLst>
              <a:gd name="adj1" fmla="val -27273"/>
              <a:gd name="adj2" fmla="val 9979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86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allAtOnce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85638-BF80-C8A7-45F0-088DDE619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4467D-D275-57B4-902F-815B05E7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3) External Style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9AE55-894C-C0F3-C5F3-5BC0C76B9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b="1" dirty="0"/>
              <a:t>Advantages:</a:t>
            </a:r>
          </a:p>
          <a:p>
            <a:pPr lvl="1" hangingPunct="0"/>
            <a:r>
              <a:rPr lang="en-US" sz="2200" dirty="0"/>
              <a:t>It keeps your website design and content separate. </a:t>
            </a:r>
          </a:p>
          <a:p>
            <a:pPr lvl="1" hangingPunct="0"/>
            <a:r>
              <a:rPr lang="en-US" sz="2200" dirty="0"/>
              <a:t>It's much easier to reuse your CSS code if you have it in a separate file. Instead of typing the same CSS code on every web page you have, simply have many pages refer to a single CSS file with the "link" tag. </a:t>
            </a:r>
          </a:p>
          <a:p>
            <a:pPr lvl="1" hangingPunct="0"/>
            <a:r>
              <a:rPr lang="en-US" sz="2200" dirty="0"/>
              <a:t>You can make drastic changes to your web pages with just a few changes in a single CSS file.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90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34761-D9D3-A9C4-781B-1E9F5C752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6EEF-1A38-657F-700E-831B55A28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Targeting using CSS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B17EF-FEC1-E93D-D95D-877F504A5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2807864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31DF-A16A-441E-B5C9-1A804EB89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412CC-045F-740C-F860-83E8209CA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sz="3600" dirty="0"/>
              <a:t>Targeting using CSS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42962-DA20-8C2F-D1C0-EBD2450AE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Targeting by Tag name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Targeting by id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Targeting by class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30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B0FDE-5FE5-79AA-A748-E18FF90EA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26DE-E6A2-3D49-8862-DB0A4CA30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Targeting by Tag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DA5BF-044E-B7E0-5E5A-B786A11BF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Tag name </a:t>
            </a:r>
            <a:r>
              <a:rPr lang="en-US" dirty="0"/>
              <a:t>is used to specify style for </a:t>
            </a:r>
            <a:r>
              <a:rPr lang="en-US" dirty="0">
                <a:solidFill>
                  <a:srgbClr val="C00000"/>
                </a:solidFill>
              </a:rPr>
              <a:t>specific Tag</a:t>
            </a:r>
            <a:r>
              <a:rPr lang="en-US" dirty="0"/>
              <a:t>.</a:t>
            </a:r>
          </a:p>
          <a:p>
            <a:r>
              <a:rPr lang="en-US" dirty="0"/>
              <a:t>The style rule below will be applied to the element with </a:t>
            </a:r>
            <a:r>
              <a:rPr lang="en-US" dirty="0">
                <a:solidFill>
                  <a:srgbClr val="C00000"/>
                </a:solidFill>
              </a:rPr>
              <a:t>&lt;h1&gt; </a:t>
            </a:r>
            <a:r>
              <a:rPr lang="en-US" dirty="0"/>
              <a:t>Tag: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A1424-C56F-9BAA-B508-415737B9F3CD}"/>
              </a:ext>
            </a:extLst>
          </p:cNvPr>
          <p:cNvSpPr txBox="1"/>
          <p:nvPr/>
        </p:nvSpPr>
        <p:spPr>
          <a:xfrm>
            <a:off x="514525" y="2485937"/>
            <a:ext cx="3810000" cy="341632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endParaRPr lang="en-US" dirty="0"/>
          </a:p>
          <a:p>
            <a:r>
              <a:rPr lang="en-US" dirty="0"/>
              <a:t>&lt;h1&gt;</a:t>
            </a:r>
          </a:p>
          <a:p>
            <a:r>
              <a:rPr lang="en-US" dirty="0"/>
              <a:t>	Hello Friends</a:t>
            </a:r>
          </a:p>
          <a:p>
            <a:r>
              <a:rPr lang="en-US" dirty="0"/>
              <a:t>&lt;/h1&gt;</a:t>
            </a:r>
          </a:p>
          <a:p>
            <a:endParaRPr lang="en-US" dirty="0"/>
          </a:p>
          <a:p>
            <a:r>
              <a:rPr lang="en-US" dirty="0"/>
              <a:t>&lt;h2&gt;</a:t>
            </a:r>
          </a:p>
          <a:p>
            <a:r>
              <a:rPr lang="en-US" dirty="0"/>
              <a:t>	Hello Friends</a:t>
            </a:r>
          </a:p>
          <a:p>
            <a:r>
              <a:rPr lang="en-US" dirty="0"/>
              <a:t>&lt;/h2&gt;</a:t>
            </a:r>
          </a:p>
          <a:p>
            <a:endParaRPr lang="en-US" dirty="0"/>
          </a:p>
          <a:p>
            <a:r>
              <a:rPr lang="en-US" dirty="0"/>
              <a:t>&lt;h1&gt;</a:t>
            </a:r>
          </a:p>
          <a:p>
            <a:r>
              <a:rPr lang="en-US" dirty="0"/>
              <a:t>	Have a Nice Day</a:t>
            </a:r>
          </a:p>
          <a:p>
            <a:r>
              <a:rPr lang="en-US" dirty="0"/>
              <a:t>&lt;/h1&gt;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DC3D9-D6AE-8C67-6101-E502ACA02318}"/>
              </a:ext>
            </a:extLst>
          </p:cNvPr>
          <p:cNvSpPr txBox="1"/>
          <p:nvPr/>
        </p:nvSpPr>
        <p:spPr>
          <a:xfrm>
            <a:off x="4781725" y="2485937"/>
            <a:ext cx="4267200" cy="12003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CSS</a:t>
            </a:r>
            <a:endParaRPr lang="en-US" dirty="0"/>
          </a:p>
          <a:p>
            <a:r>
              <a:rPr lang="en-US" dirty="0"/>
              <a:t>h1{</a:t>
            </a:r>
          </a:p>
          <a:p>
            <a:r>
              <a:rPr lang="en-US" dirty="0"/>
              <a:t>	color: blue;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0B244E-CAF2-2EFD-24A1-1EB350220AE2}"/>
              </a:ext>
            </a:extLst>
          </p:cNvPr>
          <p:cNvSpPr txBox="1"/>
          <p:nvPr/>
        </p:nvSpPr>
        <p:spPr>
          <a:xfrm>
            <a:off x="4781725" y="3848607"/>
            <a:ext cx="4267200" cy="12003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Output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Hello Friends</a:t>
            </a:r>
          </a:p>
          <a:p>
            <a:r>
              <a:rPr lang="en-US" sz="1600" dirty="0"/>
              <a:t>How are you</a:t>
            </a:r>
          </a:p>
          <a:p>
            <a:r>
              <a:rPr lang="en-US" dirty="0">
                <a:solidFill>
                  <a:srgbClr val="0070C0"/>
                </a:solidFill>
              </a:rPr>
              <a:t>Have a Nice Day</a:t>
            </a:r>
          </a:p>
        </p:txBody>
      </p:sp>
    </p:spTree>
    <p:extLst>
      <p:ext uri="{BB962C8B-B14F-4D97-AF65-F5344CB8AC3E}">
        <p14:creationId xmlns:p14="http://schemas.microsoft.com/office/powerpoint/2010/main" val="423230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55C20-C6B4-27FB-415F-CF873C94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7220-E9A1-C571-80FF-FDC842152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/>
              <a:t>The “id”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7DD87-28BD-DB90-81ED-DFE85C0D0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The id selector is used to specify a style for a </a:t>
            </a:r>
            <a:r>
              <a:rPr lang="en-US" dirty="0">
                <a:solidFill>
                  <a:srgbClr val="C00000"/>
                </a:solidFill>
              </a:rPr>
              <a:t>single, unique </a:t>
            </a:r>
            <a:r>
              <a:rPr lang="en-US" dirty="0"/>
              <a:t>element.</a:t>
            </a:r>
          </a:p>
          <a:p>
            <a:r>
              <a:rPr lang="en-US" dirty="0"/>
              <a:t>The id selector uses the id attribute of the HTML element, and is defined with a "</a:t>
            </a:r>
            <a:r>
              <a:rPr lang="en-US" dirty="0">
                <a:solidFill>
                  <a:srgbClr val="C00000"/>
                </a:solidFill>
              </a:rPr>
              <a:t>#</a:t>
            </a:r>
            <a:r>
              <a:rPr lang="en-US" dirty="0"/>
              <a:t>" in </a:t>
            </a:r>
            <a:r>
              <a:rPr lang="en-US" dirty="0" err="1"/>
              <a:t>css</a:t>
            </a:r>
            <a:r>
              <a:rPr lang="en-US" dirty="0"/>
              <a:t>.</a:t>
            </a:r>
          </a:p>
          <a:p>
            <a:r>
              <a:rPr lang="en-US" dirty="0"/>
              <a:t>The style rule below will be applied to the element with </a:t>
            </a:r>
            <a:r>
              <a:rPr lang="en-US" dirty="0">
                <a:solidFill>
                  <a:srgbClr val="C00000"/>
                </a:solidFill>
              </a:rPr>
              <a:t>id</a:t>
            </a:r>
            <a:r>
              <a:rPr lang="en-US" dirty="0"/>
              <a:t>="</a:t>
            </a:r>
            <a:r>
              <a:rPr lang="en-US" dirty="0">
                <a:solidFill>
                  <a:srgbClr val="C00000"/>
                </a:solidFill>
              </a:rPr>
              <a:t>para1</a:t>
            </a:r>
            <a:r>
              <a:rPr lang="en-US" dirty="0"/>
              <a:t>":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73158E-0410-5640-7951-1FB0C2BAB733}"/>
              </a:ext>
            </a:extLst>
          </p:cNvPr>
          <p:cNvSpPr txBox="1"/>
          <p:nvPr/>
        </p:nvSpPr>
        <p:spPr>
          <a:xfrm>
            <a:off x="514525" y="2485937"/>
            <a:ext cx="3810000" cy="230832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endParaRPr lang="en-US" dirty="0"/>
          </a:p>
          <a:p>
            <a:r>
              <a:rPr lang="en-US" dirty="0"/>
              <a:t>&lt;h1 id=“para1”&gt;</a:t>
            </a:r>
          </a:p>
          <a:p>
            <a:r>
              <a:rPr lang="en-US" dirty="0"/>
              <a:t>	Hello Friends</a:t>
            </a:r>
          </a:p>
          <a:p>
            <a:r>
              <a:rPr lang="en-US" dirty="0"/>
              <a:t>&lt;/h1&gt;</a:t>
            </a:r>
          </a:p>
          <a:p>
            <a:endParaRPr lang="en-US" dirty="0"/>
          </a:p>
          <a:p>
            <a:r>
              <a:rPr lang="en-US" dirty="0"/>
              <a:t>&lt;h1&gt;</a:t>
            </a:r>
          </a:p>
          <a:p>
            <a:r>
              <a:rPr lang="en-US" dirty="0"/>
              <a:t>	How are you</a:t>
            </a:r>
          </a:p>
          <a:p>
            <a:r>
              <a:rPr lang="en-US" dirty="0"/>
              <a:t>&lt;/h1&gt;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F2D48-9CF7-07B9-EE43-3C2EF4D4B2BD}"/>
              </a:ext>
            </a:extLst>
          </p:cNvPr>
          <p:cNvSpPr txBox="1"/>
          <p:nvPr/>
        </p:nvSpPr>
        <p:spPr>
          <a:xfrm>
            <a:off x="4781725" y="2485937"/>
            <a:ext cx="4267200" cy="12003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CSS</a:t>
            </a:r>
            <a:endParaRPr lang="en-US" dirty="0"/>
          </a:p>
          <a:p>
            <a:r>
              <a:rPr lang="en-US" dirty="0"/>
              <a:t>#para1{</a:t>
            </a:r>
          </a:p>
          <a:p>
            <a:r>
              <a:rPr lang="en-US" dirty="0"/>
              <a:t>	color: blue;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221F9-0AAB-4871-A7F5-93E4D2A537FD}"/>
              </a:ext>
            </a:extLst>
          </p:cNvPr>
          <p:cNvSpPr txBox="1"/>
          <p:nvPr/>
        </p:nvSpPr>
        <p:spPr>
          <a:xfrm>
            <a:off x="4781725" y="3941913"/>
            <a:ext cx="4267200" cy="92333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Output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Hello Friends</a:t>
            </a:r>
          </a:p>
          <a:p>
            <a:r>
              <a:rPr lang="en-US" dirty="0"/>
              <a:t>How are you</a:t>
            </a:r>
          </a:p>
        </p:txBody>
      </p:sp>
    </p:spTree>
    <p:extLst>
      <p:ext uri="{BB962C8B-B14F-4D97-AF65-F5344CB8AC3E}">
        <p14:creationId xmlns:p14="http://schemas.microsoft.com/office/powerpoint/2010/main" val="33168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31CB-E03E-360E-B0B9-5A433CE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EA23F-6011-F26E-1DC0-869E244F4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The “class”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57D79-6A35-83A4-4A10-849DE68C0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pPr lvl="0"/>
            <a:r>
              <a:rPr lang="en-US" dirty="0"/>
              <a:t>The class selector is used to specify a style for a </a:t>
            </a:r>
            <a:r>
              <a:rPr lang="en-US" dirty="0">
                <a:solidFill>
                  <a:srgbClr val="C00000"/>
                </a:solidFill>
              </a:rPr>
              <a:t>group</a:t>
            </a:r>
            <a:r>
              <a:rPr lang="en-US" dirty="0"/>
              <a:t> of elements. </a:t>
            </a:r>
          </a:p>
          <a:p>
            <a:pPr lvl="0"/>
            <a:r>
              <a:rPr lang="en-US" dirty="0"/>
              <a:t>The class selector uses the HTML class attribute, and is defined with a </a:t>
            </a:r>
            <a:r>
              <a:rPr lang="en-US" b="1" dirty="0"/>
              <a:t>"</a:t>
            </a:r>
            <a:r>
              <a:rPr lang="en-US" b="1" dirty="0">
                <a:solidFill>
                  <a:srgbClr val="C00000"/>
                </a:solidFill>
              </a:rPr>
              <a:t>.</a:t>
            </a:r>
            <a:r>
              <a:rPr lang="en-US" b="1" dirty="0"/>
              <a:t>"</a:t>
            </a:r>
            <a:r>
              <a:rPr lang="en-US" dirty="0"/>
              <a:t> in </a:t>
            </a:r>
            <a:r>
              <a:rPr lang="en-US" dirty="0" err="1"/>
              <a:t>css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3D9F06-1B36-D093-45C1-52F583C6039A}"/>
              </a:ext>
            </a:extLst>
          </p:cNvPr>
          <p:cNvSpPr txBox="1"/>
          <p:nvPr/>
        </p:nvSpPr>
        <p:spPr>
          <a:xfrm>
            <a:off x="539692" y="2026812"/>
            <a:ext cx="3810000" cy="286232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HTML</a:t>
            </a:r>
            <a:endParaRPr lang="en-US" dirty="0"/>
          </a:p>
          <a:p>
            <a:r>
              <a:rPr lang="en-US" dirty="0"/>
              <a:t>&lt;h1 class=“</a:t>
            </a:r>
            <a:r>
              <a:rPr lang="en-US" dirty="0" err="1"/>
              <a:t>myClass</a:t>
            </a:r>
            <a:r>
              <a:rPr lang="en-US" dirty="0"/>
              <a:t>”&gt;</a:t>
            </a:r>
          </a:p>
          <a:p>
            <a:r>
              <a:rPr lang="en-US" dirty="0"/>
              <a:t>	Hello Friends</a:t>
            </a:r>
          </a:p>
          <a:p>
            <a:r>
              <a:rPr lang="en-US" dirty="0"/>
              <a:t>&lt;/h1&gt;</a:t>
            </a:r>
          </a:p>
          <a:p>
            <a:r>
              <a:rPr lang="en-US" dirty="0"/>
              <a:t>&lt;h1&gt;</a:t>
            </a:r>
          </a:p>
          <a:p>
            <a:r>
              <a:rPr lang="en-US" dirty="0"/>
              <a:t>	How are you</a:t>
            </a:r>
          </a:p>
          <a:p>
            <a:r>
              <a:rPr lang="en-US" dirty="0"/>
              <a:t>&lt;/h1&gt;</a:t>
            </a:r>
          </a:p>
          <a:p>
            <a:r>
              <a:rPr lang="en-US" dirty="0"/>
              <a:t>&lt;h1 class=“</a:t>
            </a:r>
            <a:r>
              <a:rPr lang="en-US" dirty="0" err="1"/>
              <a:t>myClass</a:t>
            </a:r>
            <a:r>
              <a:rPr lang="en-US" dirty="0"/>
              <a:t>”&gt;</a:t>
            </a:r>
          </a:p>
          <a:p>
            <a:r>
              <a:rPr lang="en-US" dirty="0"/>
              <a:t>	How are you</a:t>
            </a:r>
          </a:p>
          <a:p>
            <a:r>
              <a:rPr lang="en-US" dirty="0"/>
              <a:t>&lt;/h1&gt;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F45A6-F566-8728-5D26-DFF7546344EF}"/>
              </a:ext>
            </a:extLst>
          </p:cNvPr>
          <p:cNvSpPr txBox="1"/>
          <p:nvPr/>
        </p:nvSpPr>
        <p:spPr>
          <a:xfrm>
            <a:off x="4806892" y="2026812"/>
            <a:ext cx="4267200" cy="12003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CSS</a:t>
            </a:r>
            <a:endParaRPr lang="en-US" dirty="0"/>
          </a:p>
          <a:p>
            <a:r>
              <a:rPr lang="en-US" dirty="0"/>
              <a:t>.</a:t>
            </a:r>
            <a:r>
              <a:rPr lang="en-US" dirty="0" err="1"/>
              <a:t>myClass</a:t>
            </a:r>
            <a:r>
              <a:rPr lang="en-US" dirty="0"/>
              <a:t>{</a:t>
            </a:r>
          </a:p>
          <a:p>
            <a:r>
              <a:rPr lang="en-US" dirty="0"/>
              <a:t>	color: blue;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E4D76-39D9-5250-BC4C-B641344EF1CC}"/>
              </a:ext>
            </a:extLst>
          </p:cNvPr>
          <p:cNvSpPr txBox="1"/>
          <p:nvPr/>
        </p:nvSpPr>
        <p:spPr>
          <a:xfrm>
            <a:off x="4806892" y="3618082"/>
            <a:ext cx="4267200" cy="120032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Output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Hello Friends</a:t>
            </a:r>
          </a:p>
          <a:p>
            <a:r>
              <a:rPr lang="en-US" dirty="0"/>
              <a:t>How are you</a:t>
            </a:r>
          </a:p>
          <a:p>
            <a:r>
              <a:rPr lang="en-US" dirty="0">
                <a:solidFill>
                  <a:srgbClr val="0070C0"/>
                </a:solidFill>
              </a:rPr>
              <a:t>How are you</a:t>
            </a:r>
          </a:p>
        </p:txBody>
      </p:sp>
    </p:spTree>
    <p:extLst>
      <p:ext uri="{BB962C8B-B14F-4D97-AF65-F5344CB8AC3E}">
        <p14:creationId xmlns:p14="http://schemas.microsoft.com/office/powerpoint/2010/main" val="275354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C7C16-804F-19B1-AD3B-85529D885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AB60-7B43-4CFE-F63D-9552A812F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Assign Multiple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93FB-1D89-47C2-F1F3-FA9D7FFDB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We can apply </a:t>
            </a:r>
            <a:r>
              <a:rPr lang="en-US" dirty="0">
                <a:solidFill>
                  <a:srgbClr val="C00000"/>
                </a:solidFill>
              </a:rPr>
              <a:t>different class </a:t>
            </a:r>
            <a:r>
              <a:rPr lang="en-US" dirty="0"/>
              <a:t>to </a:t>
            </a:r>
            <a:r>
              <a:rPr lang="en-US" dirty="0">
                <a:solidFill>
                  <a:srgbClr val="C00000"/>
                </a:solidFill>
              </a:rPr>
              <a:t>same html element </a:t>
            </a:r>
            <a:r>
              <a:rPr lang="en-US" dirty="0"/>
              <a:t>by giving </a:t>
            </a:r>
            <a:r>
              <a:rPr lang="en-US" dirty="0">
                <a:solidFill>
                  <a:srgbClr val="C00000"/>
                </a:solidFill>
              </a:rPr>
              <a:t>space separated class names </a:t>
            </a:r>
            <a:r>
              <a:rPr lang="en-US" dirty="0"/>
              <a:t>in the </a:t>
            </a:r>
            <a:r>
              <a:rPr lang="en-US" dirty="0">
                <a:solidFill>
                  <a:srgbClr val="C00000"/>
                </a:solidFill>
              </a:rPr>
              <a:t>class attribute</a:t>
            </a:r>
            <a:r>
              <a:rPr lang="en-US" dirty="0"/>
              <a:t>:</a:t>
            </a:r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62613-AACF-DCD7-9384-40B266988145}"/>
              </a:ext>
            </a:extLst>
          </p:cNvPr>
          <p:cNvSpPr txBox="1"/>
          <p:nvPr/>
        </p:nvSpPr>
        <p:spPr>
          <a:xfrm>
            <a:off x="515467" y="1882520"/>
            <a:ext cx="3810000" cy="412420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Demo.html</a:t>
            </a:r>
            <a:endParaRPr lang="en-US" dirty="0"/>
          </a:p>
          <a:p>
            <a:r>
              <a:rPr lang="en-US" dirty="0"/>
              <a:t>&lt;html&gt;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&lt;link </a:t>
            </a:r>
            <a:r>
              <a:rPr lang="en-US" dirty="0" err="1"/>
              <a:t>rel</a:t>
            </a:r>
            <a:r>
              <a:rPr lang="en-US" dirty="0"/>
              <a:t>=“</a:t>
            </a:r>
            <a:r>
              <a:rPr lang="en-US" dirty="0" err="1"/>
              <a:t>stylesheet</a:t>
            </a:r>
            <a:r>
              <a:rPr lang="en-US" dirty="0"/>
              <a:t>” type=“text/</a:t>
            </a:r>
            <a:r>
              <a:rPr lang="en-US" dirty="0" err="1"/>
              <a:t>css</a:t>
            </a:r>
            <a:r>
              <a:rPr lang="en-US" dirty="0"/>
              <a:t>” </a:t>
            </a:r>
            <a:r>
              <a:rPr lang="en-US" dirty="0" err="1"/>
              <a:t>href</a:t>
            </a:r>
            <a:r>
              <a:rPr lang="en-US" dirty="0"/>
              <a:t>=“test.css”&gt;</a:t>
            </a:r>
          </a:p>
          <a:p>
            <a:r>
              <a:rPr lang="en-US" dirty="0"/>
              <a:t>&lt;/head&gt;</a:t>
            </a:r>
            <a:r>
              <a:rPr lang="en-US" dirty="0">
                <a:solidFill>
                  <a:srgbClr val="0070C0"/>
                </a:solidFill>
              </a:rPr>
              <a:t>                  </a:t>
            </a:r>
            <a:endParaRPr lang="en-US" dirty="0"/>
          </a:p>
          <a:p>
            <a:r>
              <a:rPr lang="en-US" dirty="0"/>
              <a:t>&lt;body&gt;</a:t>
            </a:r>
          </a:p>
          <a:p>
            <a:endParaRPr lang="en-US" dirty="0"/>
          </a:p>
          <a:p>
            <a:r>
              <a:rPr lang="en-US" dirty="0"/>
              <a:t>&lt;h1 class=“</a:t>
            </a:r>
            <a:r>
              <a:rPr lang="en-US" b="1" dirty="0"/>
              <a:t>class1 class2</a:t>
            </a:r>
            <a:r>
              <a:rPr lang="en-US" dirty="0"/>
              <a:t>”&gt; </a:t>
            </a:r>
          </a:p>
          <a:p>
            <a:r>
              <a:rPr lang="en-US" dirty="0"/>
              <a:t>	How are you?</a:t>
            </a:r>
          </a:p>
          <a:p>
            <a:r>
              <a:rPr lang="en-US" dirty="0"/>
              <a:t>&lt;/h1&gt;</a:t>
            </a:r>
          </a:p>
          <a:p>
            <a:endParaRPr lang="en-US" dirty="0"/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D7910-1C2F-F396-C501-71D28B7ACF94}"/>
              </a:ext>
            </a:extLst>
          </p:cNvPr>
          <p:cNvSpPr txBox="1"/>
          <p:nvPr/>
        </p:nvSpPr>
        <p:spPr>
          <a:xfrm>
            <a:off x="4782667" y="1882520"/>
            <a:ext cx="4267200" cy="258532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test.css</a:t>
            </a:r>
            <a:endParaRPr lang="en-US" dirty="0"/>
          </a:p>
          <a:p>
            <a:r>
              <a:rPr lang="en-US" dirty="0"/>
              <a:t>. class1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color : blue;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. class2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text-align : center;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928CDF-257A-2C1C-B2A7-F440744CAE12}"/>
              </a:ext>
            </a:extLst>
          </p:cNvPr>
          <p:cNvSpPr txBox="1"/>
          <p:nvPr/>
        </p:nvSpPr>
        <p:spPr>
          <a:xfrm>
            <a:off x="4782667" y="4801799"/>
            <a:ext cx="4267200" cy="80021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Output</a:t>
            </a:r>
            <a:endParaRPr lang="en-US" dirty="0">
              <a:solidFill>
                <a:srgbClr val="0070C0"/>
              </a:solidFill>
            </a:endParaRPr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How are you?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7" name="Shape 8">
            <a:extLst>
              <a:ext uri="{FF2B5EF4-FFF2-40B4-BE49-F238E27FC236}">
                <a16:creationId xmlns:a16="http://schemas.microsoft.com/office/drawing/2014/main" id="{E3313A07-D4AD-E8D0-12A7-03E2142310E0}"/>
              </a:ext>
            </a:extLst>
          </p:cNvPr>
          <p:cNvCxnSpPr>
            <a:cxnSpLocks/>
          </p:cNvCxnSpPr>
          <p:nvPr/>
        </p:nvCxnSpPr>
        <p:spPr>
          <a:xfrm rot="5400000">
            <a:off x="2219328" y="3564788"/>
            <a:ext cx="682987" cy="588692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173CBD1-D970-3649-429C-1BE71CB2FD2B}"/>
              </a:ext>
            </a:extLst>
          </p:cNvPr>
          <p:cNvSpPr txBox="1"/>
          <p:nvPr/>
        </p:nvSpPr>
        <p:spPr>
          <a:xfrm>
            <a:off x="2382180" y="3155694"/>
            <a:ext cx="1714549" cy="36933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space separated</a:t>
            </a:r>
          </a:p>
        </p:txBody>
      </p:sp>
    </p:spTree>
    <p:extLst>
      <p:ext uri="{BB962C8B-B14F-4D97-AF65-F5344CB8AC3E}">
        <p14:creationId xmlns:p14="http://schemas.microsoft.com/office/powerpoint/2010/main" val="378418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  <p:bldP spid="5" grpId="0" animBg="1"/>
      <p:bldP spid="6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F99ED-BD12-D27C-D6DF-9F047B34B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DC99-13A5-8334-7CF6-A4AC1FC7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Multiple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D3E12-FC10-BA78-174F-82AED458B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We can apply </a:t>
            </a:r>
            <a:r>
              <a:rPr lang="en-US" dirty="0">
                <a:solidFill>
                  <a:srgbClr val="C00000"/>
                </a:solidFill>
              </a:rPr>
              <a:t>same </a:t>
            </a:r>
            <a:r>
              <a:rPr lang="en-US" dirty="0" err="1">
                <a:solidFill>
                  <a:srgbClr val="C00000"/>
                </a:solidFill>
              </a:rPr>
              <a:t>css</a:t>
            </a:r>
            <a:r>
              <a:rPr lang="en-US" dirty="0"/>
              <a:t> to </a:t>
            </a:r>
            <a:r>
              <a:rPr lang="en-US" dirty="0">
                <a:solidFill>
                  <a:srgbClr val="C00000"/>
                </a:solidFill>
              </a:rPr>
              <a:t>multiple selectors </a:t>
            </a:r>
            <a:r>
              <a:rPr lang="en-US" dirty="0"/>
              <a:t>using </a:t>
            </a:r>
            <a:r>
              <a:rPr lang="en-US" dirty="0">
                <a:solidFill>
                  <a:srgbClr val="C00000"/>
                </a:solidFill>
              </a:rPr>
              <a:t>comma separated </a:t>
            </a:r>
            <a:r>
              <a:rPr lang="en-US" dirty="0"/>
              <a:t>selector list, for example.</a:t>
            </a:r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9D3CF-4AF1-FBAC-B5D6-3F72555122C4}"/>
              </a:ext>
            </a:extLst>
          </p:cNvPr>
          <p:cNvSpPr txBox="1"/>
          <p:nvPr/>
        </p:nvSpPr>
        <p:spPr>
          <a:xfrm>
            <a:off x="555647" y="1812066"/>
            <a:ext cx="3810000" cy="369331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Demo.html</a:t>
            </a:r>
            <a:endParaRPr lang="en-US" dirty="0"/>
          </a:p>
          <a:p>
            <a:r>
              <a:rPr lang="en-US" dirty="0"/>
              <a:t>&lt;html&gt;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&lt;link </a:t>
            </a:r>
            <a:r>
              <a:rPr lang="en-US" dirty="0" err="1"/>
              <a:t>rel</a:t>
            </a:r>
            <a:r>
              <a:rPr lang="en-US" dirty="0"/>
              <a:t>=“</a:t>
            </a:r>
            <a:r>
              <a:rPr lang="en-US" dirty="0" err="1"/>
              <a:t>stylesheet</a:t>
            </a:r>
            <a:r>
              <a:rPr lang="en-US" dirty="0"/>
              <a:t>” type=“text/</a:t>
            </a:r>
            <a:r>
              <a:rPr lang="en-US" dirty="0" err="1"/>
              <a:t>css</a:t>
            </a:r>
            <a:r>
              <a:rPr lang="en-US" dirty="0"/>
              <a:t>” </a:t>
            </a:r>
            <a:r>
              <a:rPr lang="en-US" dirty="0" err="1"/>
              <a:t>href</a:t>
            </a:r>
            <a:r>
              <a:rPr lang="en-US" dirty="0"/>
              <a:t>=“test.css”&gt;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endParaRPr lang="en-US" dirty="0"/>
          </a:p>
          <a:p>
            <a:r>
              <a:rPr lang="en-US" dirty="0"/>
              <a:t>&lt;p&gt; Hello Friends &lt;/p&gt;</a:t>
            </a:r>
          </a:p>
          <a:p>
            <a:r>
              <a:rPr lang="en-US" dirty="0"/>
              <a:t>&lt;h1&gt; How are you? &lt;/h1&gt;</a:t>
            </a:r>
          </a:p>
          <a:p>
            <a:endParaRPr lang="en-US" dirty="0"/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E2FCF-D4F8-7FE8-C11F-1173EA9E9BE4}"/>
              </a:ext>
            </a:extLst>
          </p:cNvPr>
          <p:cNvSpPr txBox="1"/>
          <p:nvPr/>
        </p:nvSpPr>
        <p:spPr>
          <a:xfrm>
            <a:off x="4790114" y="1812066"/>
            <a:ext cx="4267200" cy="156966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test.css</a:t>
            </a:r>
            <a:endParaRPr lang="en-US" dirty="0"/>
          </a:p>
          <a:p>
            <a:r>
              <a:rPr lang="en-US" sz="2400" b="1" dirty="0"/>
              <a:t>p</a:t>
            </a:r>
            <a:r>
              <a:rPr lang="en-US" sz="2400" b="1" dirty="0">
                <a:solidFill>
                  <a:srgbClr val="FF0000"/>
                </a:solidFill>
              </a:rPr>
              <a:t>,</a:t>
            </a:r>
            <a:r>
              <a:rPr lang="en-US" sz="2400" b="1" dirty="0"/>
              <a:t> h1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color : blue;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C76E2-50B1-5EE0-F585-3CA0B8C400A0}"/>
              </a:ext>
            </a:extLst>
          </p:cNvPr>
          <p:cNvSpPr txBox="1"/>
          <p:nvPr/>
        </p:nvSpPr>
        <p:spPr>
          <a:xfrm>
            <a:off x="4790114" y="4000973"/>
            <a:ext cx="4267200" cy="107721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Output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Hello Friends</a:t>
            </a:r>
          </a:p>
          <a:p>
            <a:r>
              <a:rPr lang="en-US" sz="2800" dirty="0">
                <a:solidFill>
                  <a:srgbClr val="0070C0"/>
                </a:solidFill>
              </a:rPr>
              <a:t>How are you?</a:t>
            </a:r>
          </a:p>
        </p:txBody>
      </p:sp>
    </p:spTree>
    <p:extLst>
      <p:ext uri="{BB962C8B-B14F-4D97-AF65-F5344CB8AC3E}">
        <p14:creationId xmlns:p14="http://schemas.microsoft.com/office/powerpoint/2010/main" val="314009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uiExpand="1" build="allAtOnce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22352-632F-EBE6-9A18-5915C6358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A012B-ACE4-1C82-9A3B-3EAC6A76D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Multi-level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F2FB8-5442-B2E3-4B46-8E2D031C4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We can use hierarchical path to target html element  by </a:t>
            </a:r>
            <a:r>
              <a:rPr lang="en-US" dirty="0">
                <a:solidFill>
                  <a:srgbClr val="C00000"/>
                </a:solidFill>
              </a:rPr>
              <a:t>space separated </a:t>
            </a:r>
            <a:r>
              <a:rPr lang="en-US" dirty="0"/>
              <a:t>element/class/id names, for example :</a:t>
            </a:r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AF547-3726-7DE4-FBD3-717A7977732E}"/>
              </a:ext>
            </a:extLst>
          </p:cNvPr>
          <p:cNvSpPr txBox="1"/>
          <p:nvPr/>
        </p:nvSpPr>
        <p:spPr>
          <a:xfrm>
            <a:off x="468813" y="1929173"/>
            <a:ext cx="3810000" cy="397031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Demo.html</a:t>
            </a:r>
            <a:endParaRPr lang="en-US" dirty="0"/>
          </a:p>
          <a:p>
            <a:r>
              <a:rPr lang="en-US" dirty="0"/>
              <a:t>&lt;html&gt;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&lt;link </a:t>
            </a:r>
            <a:r>
              <a:rPr lang="en-US" dirty="0" err="1"/>
              <a:t>rel</a:t>
            </a:r>
            <a:r>
              <a:rPr lang="en-US" dirty="0"/>
              <a:t>=“</a:t>
            </a:r>
            <a:r>
              <a:rPr lang="en-US" dirty="0" err="1"/>
              <a:t>stylesheet</a:t>
            </a:r>
            <a:r>
              <a:rPr lang="en-US" dirty="0"/>
              <a:t>” type=“text/</a:t>
            </a:r>
            <a:r>
              <a:rPr lang="en-US" dirty="0" err="1"/>
              <a:t>css</a:t>
            </a:r>
            <a:r>
              <a:rPr lang="en-US" dirty="0"/>
              <a:t>” </a:t>
            </a:r>
            <a:r>
              <a:rPr lang="en-US" dirty="0" err="1"/>
              <a:t>href</a:t>
            </a:r>
            <a:r>
              <a:rPr lang="en-US" dirty="0"/>
              <a:t>=“test.css”&gt;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&lt;h1&gt;Hello Friends…&lt;/h1&gt;</a:t>
            </a:r>
          </a:p>
          <a:p>
            <a:r>
              <a:rPr lang="en-US" dirty="0"/>
              <a:t>&lt;div&gt;</a:t>
            </a:r>
          </a:p>
          <a:p>
            <a:r>
              <a:rPr lang="en-US" dirty="0"/>
              <a:t>	&lt;h1&gt;How are you?&lt;/h1&gt;</a:t>
            </a:r>
          </a:p>
          <a:p>
            <a:r>
              <a:rPr lang="en-US" dirty="0"/>
              <a:t>&lt;/div&gt;</a:t>
            </a:r>
          </a:p>
          <a:p>
            <a:endParaRPr lang="en-US" dirty="0"/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3CBD9-4E18-C788-D834-D4767F6E3874}"/>
              </a:ext>
            </a:extLst>
          </p:cNvPr>
          <p:cNvSpPr txBox="1"/>
          <p:nvPr/>
        </p:nvSpPr>
        <p:spPr>
          <a:xfrm>
            <a:off x="5510455" y="2013149"/>
            <a:ext cx="4267200" cy="156966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test.css</a:t>
            </a:r>
            <a:endParaRPr lang="en-US" dirty="0"/>
          </a:p>
          <a:p>
            <a:pPr marL="360000"/>
            <a:r>
              <a:rPr lang="en-US" sz="2400" b="1" dirty="0"/>
              <a:t>div h1</a:t>
            </a:r>
          </a:p>
          <a:p>
            <a:pPr marL="360000"/>
            <a:r>
              <a:rPr lang="en-US" dirty="0"/>
              <a:t>{</a:t>
            </a:r>
          </a:p>
          <a:p>
            <a:pPr marL="360000"/>
            <a:r>
              <a:rPr lang="en-US" dirty="0"/>
              <a:t>	color : blue;</a:t>
            </a:r>
          </a:p>
          <a:p>
            <a:pPr marL="360000"/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C23A7C-6BAC-6C30-EA94-3E1B45502C84}"/>
              </a:ext>
            </a:extLst>
          </p:cNvPr>
          <p:cNvSpPr txBox="1"/>
          <p:nvPr/>
        </p:nvSpPr>
        <p:spPr>
          <a:xfrm>
            <a:off x="5510455" y="4272160"/>
            <a:ext cx="4267200" cy="104644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Output</a:t>
            </a:r>
            <a:endParaRPr lang="en-US" dirty="0"/>
          </a:p>
          <a:p>
            <a:r>
              <a:rPr lang="en-US" sz="2200" dirty="0"/>
              <a:t>Hello Friends…</a:t>
            </a:r>
          </a:p>
          <a:p>
            <a:r>
              <a:rPr lang="en-US" sz="2200" dirty="0">
                <a:solidFill>
                  <a:srgbClr val="0070C0"/>
                </a:solidFill>
              </a:rPr>
              <a:t>How are you?</a:t>
            </a:r>
          </a:p>
        </p:txBody>
      </p:sp>
    </p:spTree>
    <p:extLst>
      <p:ext uri="{BB962C8B-B14F-4D97-AF65-F5344CB8AC3E}">
        <p14:creationId xmlns:p14="http://schemas.microsoft.com/office/powerpoint/2010/main" val="219748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uiExpand="1" build="allAtOnce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dharmikkumar.aghera@darshan.ac.in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9898205621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Dharmikkumar</a:t>
            </a:r>
            <a:r>
              <a:rPr lang="en-IN" dirty="0"/>
              <a:t> G. Aghera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Web Designing - II (WD-II) (2304CS202)</a:t>
            </a:r>
          </a:p>
        </p:txBody>
      </p:sp>
      <p:pic>
        <p:nvPicPr>
          <p:cNvPr id="12" name="Picture Placeholder 15">
            <a:extLst>
              <a:ext uri="{FF2B5EF4-FFF2-40B4-BE49-F238E27FC236}">
                <a16:creationId xmlns:a16="http://schemas.microsoft.com/office/drawing/2014/main" id="{8326CB1F-C926-33A4-F25C-8132B367DA2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6478" y="5216366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2189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6360</TotalTime>
  <Words>1186</Words>
  <Application>Microsoft Office PowerPoint</Application>
  <PresentationFormat>Widescreen</PresentationFormat>
  <Paragraphs>278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Arial</vt:lpstr>
      <vt:lpstr>Times New Roman</vt:lpstr>
      <vt:lpstr>Wingdings 3</vt:lpstr>
      <vt:lpstr>Wingdings 2</vt:lpstr>
      <vt:lpstr>Roboto Condensed</vt:lpstr>
      <vt:lpstr>Roboto Condensed Light</vt:lpstr>
      <vt:lpstr>Calibri</vt:lpstr>
      <vt:lpstr>Wingdings</vt:lpstr>
      <vt:lpstr>Segoe UI Black</vt:lpstr>
      <vt:lpstr>Office Theme</vt:lpstr>
      <vt:lpstr>1_Office Theme</vt:lpstr>
      <vt:lpstr>4_Office Theme</vt:lpstr>
      <vt:lpstr>2_Office Theme</vt:lpstr>
      <vt:lpstr>Unit-02  Basics of CSS </vt:lpstr>
      <vt:lpstr>PowerPoint Presentation</vt:lpstr>
      <vt:lpstr>Introduction to CSS</vt:lpstr>
      <vt:lpstr>What is CSS?</vt:lpstr>
      <vt:lpstr>Importance, Advantages and Disadvantages of CSS</vt:lpstr>
      <vt:lpstr>Basic Syntax and structure of CSS</vt:lpstr>
      <vt:lpstr>Basic Syntax of CSS</vt:lpstr>
      <vt:lpstr>Types of CSS</vt:lpstr>
      <vt:lpstr>Different ways to write CSS / Types of CSS</vt:lpstr>
      <vt:lpstr>1) Inline Style</vt:lpstr>
      <vt:lpstr>2) Internal Style Sheet</vt:lpstr>
      <vt:lpstr>3) External Style Sheet</vt:lpstr>
      <vt:lpstr>3) External Style Sheet</vt:lpstr>
      <vt:lpstr>Targeting using CSS</vt:lpstr>
      <vt:lpstr>Targeting using CSS</vt:lpstr>
      <vt:lpstr>Targeting by Tag name</vt:lpstr>
      <vt:lpstr>The “id” selector</vt:lpstr>
      <vt:lpstr>The “class” selector</vt:lpstr>
      <vt:lpstr>Assign Multiple Classes</vt:lpstr>
      <vt:lpstr>Multiple Selection</vt:lpstr>
      <vt:lpstr>Multi-level Selection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1101</cp:revision>
  <dcterms:created xsi:type="dcterms:W3CDTF">2020-05-01T05:09:15Z</dcterms:created>
  <dcterms:modified xsi:type="dcterms:W3CDTF">2025-12-24T02:53:43Z</dcterms:modified>
</cp:coreProperties>
</file>