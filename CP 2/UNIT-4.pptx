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554" r:id="rId2"/>
    <p:sldId id="555" r:id="rId3"/>
    <p:sldId id="286" r:id="rId4"/>
    <p:sldId id="287" r:id="rId5"/>
    <p:sldId id="535" r:id="rId6"/>
    <p:sldId id="536" r:id="rId7"/>
    <p:sldId id="538" r:id="rId8"/>
    <p:sldId id="540" r:id="rId9"/>
    <p:sldId id="539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49" r:id="rId19"/>
    <p:sldId id="550" r:id="rId20"/>
    <p:sldId id="551" r:id="rId21"/>
    <p:sldId id="553" r:id="rId22"/>
    <p:sldId id="552" r:id="rId23"/>
    <p:sldId id="556" r:id="rId24"/>
  </p:sldIdLst>
  <p:sldSz cx="12192000" cy="6858000"/>
  <p:notesSz cx="6858000" cy="9144000"/>
  <p:embeddedFontLst>
    <p:embeddedFont>
      <p:font typeface="Roboto Condensed" panose="02000000000000000000" pitchFamily="2" charset="0"/>
      <p:regular r:id="rId27"/>
      <p:bold r:id="rId28"/>
      <p:italic r:id="rId29"/>
      <p:boldItalic r:id="rId30"/>
    </p:embeddedFont>
    <p:embeddedFont>
      <p:font typeface="Wingdings 3" panose="05040102010807070707" pitchFamily="18" charset="2"/>
      <p:regular r:id="rId31"/>
    </p:embeddedFont>
    <p:embeddedFont>
      <p:font typeface="Segoe UI Black" panose="020B0A02040204020203" pitchFamily="34" charset="0"/>
      <p:bold r:id="rId32"/>
      <p:boldItalic r:id="rId33"/>
    </p:embeddedFont>
    <p:embeddedFont>
      <p:font typeface="Wingdings 2" panose="05020102010507070707" pitchFamily="18" charset="2"/>
      <p:regular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Roboto Condensed Light" panose="02000000000000000000" pitchFamily="2" charset="0"/>
      <p:regular r:id="rId39"/>
      <p: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cEZZJnFh9Jtp0wCUoxHZg==" hashData="rXyZZ3Q0hX9FAiwHJxbJw7JkAvHM4/nB9g3DcZm8FR0FBYInVg9Isds1ox/bvyOMgESapljd4Ov6b3Z2A8XIuQ=="/>
  <p:extLst>
    <p:ext uri="{521415D9-36F7-43E2-AB2F-B90AF26B5E84}">
      <p14:sectionLst xmlns:p14="http://schemas.microsoft.com/office/powerpoint/2010/main">
        <p14:section name="Default Section" id="{66779A29-97DC-4E92-A70E-5FA0C5AFE649}">
          <p14:sldIdLst>
            <p14:sldId id="554"/>
            <p14:sldId id="555"/>
          </p14:sldIdLst>
        </p14:section>
        <p14:section name="Introduction of Pre-processor Directives" id="{E452BCBE-BE13-469C-9023-F77F574D6FB4}">
          <p14:sldIdLst>
            <p14:sldId id="286"/>
            <p14:sldId id="287"/>
            <p14:sldId id="535"/>
          </p14:sldIdLst>
        </p14:section>
        <p14:section name="Macros" id="{22846297-BDF0-4B6C-96D3-43CF401F057A}">
          <p14:sldIdLst>
            <p14:sldId id="536"/>
            <p14:sldId id="538"/>
            <p14:sldId id="540"/>
            <p14:sldId id="539"/>
            <p14:sldId id="541"/>
          </p14:sldIdLst>
        </p14:section>
        <p14:section name="File Inclusion Directives" id="{3309E077-EF96-4C03-AFC2-72393D6F3D6F}">
          <p14:sldIdLst>
            <p14:sldId id="542"/>
            <p14:sldId id="543"/>
            <p14:sldId id="544"/>
          </p14:sldIdLst>
        </p14:section>
        <p14:section name="Compiler Control Directives" id="{C5EFA6CA-532C-4C60-9F48-DE294C506A14}">
          <p14:sldIdLst>
            <p14:sldId id="545"/>
            <p14:sldId id="546"/>
            <p14:sldId id="547"/>
            <p14:sldId id="548"/>
          </p14:sldIdLst>
        </p14:section>
        <p14:section name="Other Directives" id="{E2CBCF62-0E5A-4629-8D51-48EE627B2BDA}">
          <p14:sldIdLst>
            <p14:sldId id="549"/>
            <p14:sldId id="550"/>
            <p14:sldId id="551"/>
            <p14:sldId id="553"/>
            <p14:sldId id="552"/>
            <p14:sldId id="5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71E3F"/>
    <a:srgbClr val="607D8B"/>
    <a:srgbClr val="1D6BA5"/>
    <a:srgbClr val="ED524F"/>
    <a:srgbClr val="1D3064"/>
    <a:srgbClr val="301B92"/>
    <a:srgbClr val="673BB7"/>
    <a:srgbClr val="B71B1C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394" autoAdjust="0"/>
  </p:normalViewPr>
  <p:slideViewPr>
    <p:cSldViewPr snapToGrid="0">
      <p:cViewPr varScale="1">
        <p:scale>
          <a:sx n="78" d="100"/>
          <a:sy n="78" d="100"/>
        </p:scale>
        <p:origin x="6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218C1C-969C-4E59-8027-1BA3F0D38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ADB10-FD95-4CEB-98E7-4FA837CE41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433-EE2A-41B9-BA56-D2396856AE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D3071-CA2D-4040-8804-09E92AEBFB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E4A6F-F650-4C9C-829F-3B9F190B18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52D4-162F-44F0-919A-0F008E6096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972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12.png"/><Relationship Id="rId9" Type="http://schemas.openxmlformats.org/officeDocument/2006/relationships/image" Target="../media/image14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5CFAC-3AD3-4F0A-9168-2613BFEAE06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5672" y="2062801"/>
            <a:ext cx="1786910" cy="1786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F738263-46D4-4D28-9615-BF958908128D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834F009-928D-4C38-9AD3-82B36C109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7822" y="57877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397" y="1708494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D71E3F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7DBD9FF3-DB58-439A-9C3F-981DC0699B89}"/>
              </a:ext>
            </a:extLst>
          </p:cNvPr>
          <p:cNvSpPr>
            <a:spLocks/>
          </p:cNvSpPr>
          <p:nvPr userDrawn="1"/>
        </p:nvSpPr>
        <p:spPr bwMode="auto">
          <a:xfrm>
            <a:off x="2736224" y="-2949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55B1926-C5B6-4865-B639-303A5A9FEE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3466" y="1743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7C639A-5CC9-4FBB-A197-82D7D8F34BCB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DCC7DC-434D-4ADE-9AA5-73DBFABF63FB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F1B25E3-830F-4191-9F6A-E15558F3AD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8445" y="56450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5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Pre-processor Directives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8836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AF378B-2717-4CC6-8D60-EB80E7F49B9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EA2FD03-1C76-A6B5-504F-3BC33734AAA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Pre-processor Directives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E06D2F-EE6F-49DE-8EB6-A96F88CA571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79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6A62F5E-0CA8-090F-69C0-57EE42463D3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Pre-processor Directives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127DF-19C1-4A8F-B876-99D5A90C0F01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9175" y="620443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6EFF2C-1636-48DB-9A77-5FC33CF265D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6067" y="251748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B446E-295B-105F-8FDA-E59960D70E5A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Pre-processor Directives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C3A39-E5FB-4C14-8A43-2D8FDDB0AED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2620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85530-1529-DF31-0C1F-2B01D953485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Pre-processor Directives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2A07D-EEE5-4EBD-8B95-4427C001AF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257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EBD40-4BED-DCB5-3BB4-C21AAAAF105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Pre-processor Directives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16723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0C19C1-CCA6-41F8-A349-518437B526D1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70BA9B2-A383-4E11-A930-79C7DB84C0F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8632C7-07EE-4F9C-8233-02B02E8C89FC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54D06A-C8AF-409A-8F19-BD778E4BEE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2825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7B3427B-188B-4900-B48F-E5B9881624A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93E28D-CBE0-4383-909A-4B382FCB3BB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3230D6A-1241-4E5B-AD95-3F0026D5E34F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61CFAB5-CC50-4C38-A8CE-5AC7B6E8E1C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78922" cy="3167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191BDD-BF92-4D48-981F-D834B1E0038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74553B-F83C-4887-85F5-95F2B31139E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9"/>
            <a:ext cx="3978922" cy="2760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A71190-A77B-4209-A80E-DB5A272B680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25EBB8-3E85-4844-8CD8-558634DD557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D1D986-F272-40AD-8E4B-CBC6109210A2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45C481-A049-4E89-826C-ECC2C2D424F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054B27E-47BE-45D8-88E7-9B920FD79C18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5063E3-29C7-4F1C-940C-E84E1B1B8D9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66222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4F4DA2-7990-4DAE-B9F6-ADB27BC53AD4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799D394-A04E-49DA-BC5A-159DB5374EA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CA93B0-CE72-48B1-821C-85BCEA5255C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84C881B-3C61-4232-9E01-4D5A6453447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74" r:id="rId11"/>
    <p:sldLayoutId id="2147483677" r:id="rId12"/>
    <p:sldLayoutId id="2147483678" r:id="rId13"/>
    <p:sldLayoutId id="2147483679" r:id="rId14"/>
    <p:sldLayoutId id="2147483681" r:id="rId15"/>
    <p:sldLayoutId id="2147483683" r:id="rId16"/>
    <p:sldLayoutId id="2147483682" r:id="rId17"/>
    <p:sldLayoutId id="2147483684" r:id="rId18"/>
    <p:sldLayoutId id="2147483685" r:id="rId19"/>
    <p:sldLayoutId id="214748368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54438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Unit-4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dirty="0"/>
              <a:t>Pre-processor Directives</a:t>
            </a:r>
            <a:endParaRPr lang="en-US" sz="413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82206" y="0"/>
            <a:ext cx="4646358" cy="734653"/>
          </a:xfrm>
        </p:spPr>
        <p:txBody>
          <a:bodyPr/>
          <a:lstStyle/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– I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7B1F5C9-B8D4-46F1-9C51-0EB595CDD8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7BEC-5E94-41D6-95AB-3D2BFB0D5E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580756" y="3531825"/>
            <a:ext cx="7670110" cy="110866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IN" sz="3200" dirty="0" smtClean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CO-4: </a:t>
            </a:r>
            <a:r>
              <a:rPr lang="en-US" sz="320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implement macro and compiler control directive in C programming language.</a:t>
            </a: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970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91446" y="-17287"/>
            <a:ext cx="0" cy="54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34989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009551"/>
            <a:ext cx="0" cy="5029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28727" y="629393"/>
            <a:ext cx="682442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 smtClean="0">
                <a:solidFill>
                  <a:srgbClr val="AD1457"/>
                </a:solidFill>
              </a:rPr>
              <a:t>Outline</a:t>
            </a:r>
            <a:endParaRPr lang="en-US" sz="2100" dirty="0">
              <a:solidFill>
                <a:srgbClr val="424242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Introduction of Pre-processor Directives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Macros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File Inclusion Directives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Compiler Control Directives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Other Directives</a:t>
            </a:r>
          </a:p>
        </p:txBody>
      </p:sp>
    </p:spTree>
    <p:extLst>
      <p:ext uri="{BB962C8B-B14F-4D97-AF65-F5344CB8AC3E}">
        <p14:creationId xmlns:p14="http://schemas.microsoft.com/office/powerpoint/2010/main" val="154737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Introduction of Pre-processor Directives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</a:t>
            </a:r>
          </a:p>
        </p:txBody>
      </p:sp>
    </p:spTree>
    <p:extLst>
      <p:ext uri="{BB962C8B-B14F-4D97-AF65-F5344CB8AC3E}">
        <p14:creationId xmlns:p14="http://schemas.microsoft.com/office/powerpoint/2010/main" val="118000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Pre-processor Directives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Pre-processors </a:t>
            </a:r>
            <a:r>
              <a:rPr lang="en-GB" dirty="0"/>
              <a:t>are programs that process the source code before compilation</a:t>
            </a:r>
            <a:r>
              <a:rPr lang="en-US" dirty="0"/>
              <a:t>.</a:t>
            </a:r>
          </a:p>
          <a:p>
            <a:pPr lvl="0"/>
            <a:r>
              <a:rPr lang="en-GB" dirty="0"/>
              <a:t>Several steps are involved between writing a program and executing a program in C</a:t>
            </a:r>
            <a:r>
              <a:rPr lang="en-US" dirty="0"/>
              <a:t>.</a:t>
            </a:r>
            <a:endParaRPr lang="en-US" sz="2600" b="1" dirty="0"/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F33976-FBB4-D855-31E7-B6EB90A2613F}"/>
              </a:ext>
            </a:extLst>
          </p:cNvPr>
          <p:cNvSpPr/>
          <p:nvPr/>
        </p:nvSpPr>
        <p:spPr>
          <a:xfrm>
            <a:off x="1910685" y="1897588"/>
            <a:ext cx="2620371" cy="6823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 Program </a:t>
            </a:r>
            <a:r>
              <a:rPr lang="en-US" dirty="0"/>
              <a:t>(Source Code)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28BC4E-19E3-238C-8EF9-A2EF1BA90CD6}"/>
              </a:ext>
            </a:extLst>
          </p:cNvPr>
          <p:cNvCxnSpPr>
            <a:cxnSpLocks/>
          </p:cNvCxnSpPr>
          <p:nvPr/>
        </p:nvCxnSpPr>
        <p:spPr>
          <a:xfrm>
            <a:off x="3220870" y="2579976"/>
            <a:ext cx="0" cy="64208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amond 6">
            <a:extLst>
              <a:ext uri="{FF2B5EF4-FFF2-40B4-BE49-F238E27FC236}">
                <a16:creationId xmlns:a16="http://schemas.microsoft.com/office/drawing/2014/main" id="{CB815D59-1088-42AC-780A-B43BBAC9FD95}"/>
              </a:ext>
            </a:extLst>
          </p:cNvPr>
          <p:cNvSpPr/>
          <p:nvPr/>
        </p:nvSpPr>
        <p:spPr>
          <a:xfrm>
            <a:off x="1910685" y="3235709"/>
            <a:ext cx="2620371" cy="194821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Are there pre-processor directives?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13F783-4AD4-54A1-8ECF-0279F8CA1B62}"/>
              </a:ext>
            </a:extLst>
          </p:cNvPr>
          <p:cNvCxnSpPr>
            <a:cxnSpLocks/>
          </p:cNvCxnSpPr>
          <p:nvPr/>
        </p:nvCxnSpPr>
        <p:spPr>
          <a:xfrm>
            <a:off x="3220870" y="5170279"/>
            <a:ext cx="0" cy="64208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4EE3FC-5F8B-6314-B51B-014CA23164CA}"/>
              </a:ext>
            </a:extLst>
          </p:cNvPr>
          <p:cNvSpPr/>
          <p:nvPr/>
        </p:nvSpPr>
        <p:spPr>
          <a:xfrm>
            <a:off x="1910685" y="5830103"/>
            <a:ext cx="2620371" cy="6823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Pre-processor action performed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DE051-EF49-BA76-78C4-D6524A348797}"/>
              </a:ext>
            </a:extLst>
          </p:cNvPr>
          <p:cNvSpPr txBox="1"/>
          <p:nvPr/>
        </p:nvSpPr>
        <p:spPr>
          <a:xfrm>
            <a:off x="2238232" y="5308875"/>
            <a:ext cx="79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YES</a:t>
            </a:r>
            <a:endParaRPr lang="en-IN" b="1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4C9310-44FD-A527-D7E8-5F5AAA253BE8}"/>
              </a:ext>
            </a:extLst>
          </p:cNvPr>
          <p:cNvCxnSpPr>
            <a:cxnSpLocks/>
          </p:cNvCxnSpPr>
          <p:nvPr/>
        </p:nvCxnSpPr>
        <p:spPr>
          <a:xfrm>
            <a:off x="4531056" y="4209870"/>
            <a:ext cx="77565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D87698-1702-545D-3AB5-DDE1DF99690F}"/>
              </a:ext>
            </a:extLst>
          </p:cNvPr>
          <p:cNvSpPr txBox="1"/>
          <p:nvPr/>
        </p:nvSpPr>
        <p:spPr>
          <a:xfrm>
            <a:off x="4317989" y="3764416"/>
            <a:ext cx="79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NO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9A1A51-898F-8A10-6D8A-DCAE9E106CAD}"/>
              </a:ext>
            </a:extLst>
          </p:cNvPr>
          <p:cNvSpPr/>
          <p:nvPr/>
        </p:nvSpPr>
        <p:spPr>
          <a:xfrm>
            <a:off x="5306706" y="3868624"/>
            <a:ext cx="1271515" cy="6823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Compiler</a:t>
            </a:r>
            <a:endParaRPr lang="en-IN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DB91FA8-5C6A-82A7-A20A-5938BEC7BC3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531056" y="4530732"/>
            <a:ext cx="1455566" cy="1640565"/>
          </a:xfrm>
          <a:prstGeom prst="bent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11C9A1-ECB8-B299-827B-72C0A0731F2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6578221" y="4209818"/>
            <a:ext cx="938641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7CBF7AA-95AC-E989-BE9E-FABB70A607AD}"/>
              </a:ext>
            </a:extLst>
          </p:cNvPr>
          <p:cNvSpPr/>
          <p:nvPr/>
        </p:nvSpPr>
        <p:spPr>
          <a:xfrm>
            <a:off x="7516862" y="3868624"/>
            <a:ext cx="1521348" cy="6823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Linker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B4BFFD-CBDF-1FE5-AEE6-19280B125E44}"/>
              </a:ext>
            </a:extLst>
          </p:cNvPr>
          <p:cNvSpPr txBox="1"/>
          <p:nvPr/>
        </p:nvSpPr>
        <p:spPr>
          <a:xfrm>
            <a:off x="6638109" y="3498320"/>
            <a:ext cx="791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Object Code</a:t>
            </a:r>
            <a:endParaRPr lang="en-IN" b="1" dirty="0">
              <a:solidFill>
                <a:srgbClr val="C0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DC986E-7AB8-C9BD-300B-9C14DD5F21E5}"/>
              </a:ext>
            </a:extLst>
          </p:cNvPr>
          <p:cNvCxnSpPr>
            <a:cxnSpLocks/>
          </p:cNvCxnSpPr>
          <p:nvPr/>
        </p:nvCxnSpPr>
        <p:spPr>
          <a:xfrm>
            <a:off x="9049996" y="4209818"/>
            <a:ext cx="938641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7AFD9F2-D61C-220A-BF9D-655CDE0692D4}"/>
              </a:ext>
            </a:extLst>
          </p:cNvPr>
          <p:cNvSpPr txBox="1"/>
          <p:nvPr/>
        </p:nvSpPr>
        <p:spPr>
          <a:xfrm>
            <a:off x="9109884" y="3498320"/>
            <a:ext cx="1521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Executable Code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107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1" grpId="0" animBg="1"/>
      <p:bldP spid="12" grpId="0"/>
      <p:bldP spid="15" grpId="0"/>
      <p:bldP spid="16" grpId="0" animBg="1"/>
      <p:bldP spid="25" grpId="0" animBg="1"/>
      <p:bldP spid="27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Pre-processor Directives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Preprocessor programs provide preprocessor directives that tell the compiler to preprocess the source code before compiling.</a:t>
            </a:r>
            <a:endParaRPr lang="en-US" dirty="0"/>
          </a:p>
          <a:p>
            <a:pPr lvl="0"/>
            <a:r>
              <a:rPr lang="en-GB" dirty="0"/>
              <a:t>All of these preprocessor directives begin with a ‘#’ (hash) symbol.</a:t>
            </a:r>
          </a:p>
          <a:p>
            <a:pPr lvl="0"/>
            <a:r>
              <a:rPr lang="en-GB" dirty="0"/>
              <a:t>The ‘#’ symbol indicates that whatever statement starts with a ‘#’ will go to the preprocessor program to get executed.</a:t>
            </a:r>
          </a:p>
          <a:p>
            <a:pPr lvl="0"/>
            <a:r>
              <a:rPr lang="en-GB" b="1" dirty="0">
                <a:solidFill>
                  <a:srgbClr val="C00000"/>
                </a:solidFill>
              </a:rPr>
              <a:t>#</a:t>
            </a:r>
            <a:r>
              <a:rPr lang="en-GB" dirty="0"/>
              <a:t> symbol only provides a path to the preprocessor, and a command such as </a:t>
            </a:r>
            <a:r>
              <a:rPr lang="en-GB" b="1" dirty="0">
                <a:solidFill>
                  <a:srgbClr val="C00000"/>
                </a:solidFill>
              </a:rPr>
              <a:t>include </a:t>
            </a:r>
            <a:r>
              <a:rPr lang="en-GB" dirty="0"/>
              <a:t>is processed by the preprocessor program.</a:t>
            </a:r>
          </a:p>
          <a:p>
            <a:pPr lvl="0"/>
            <a:r>
              <a:rPr lang="en-GB" dirty="0"/>
              <a:t>There are mainly </a:t>
            </a:r>
            <a:r>
              <a:rPr lang="en-GB" b="1" dirty="0">
                <a:solidFill>
                  <a:srgbClr val="C00000"/>
                </a:solidFill>
              </a:rPr>
              <a:t>4 types </a:t>
            </a:r>
            <a:r>
              <a:rPr lang="en-GB" dirty="0"/>
              <a:t>of preprocessor directives;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b="1" dirty="0"/>
              <a:t>Macros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b="1" dirty="0"/>
              <a:t>File inclusion </a:t>
            </a:r>
            <a:r>
              <a:rPr lang="en-US" b="1" dirty="0"/>
              <a:t>Directives</a:t>
            </a:r>
            <a:endParaRPr lang="en-GB" b="1" dirty="0"/>
          </a:p>
          <a:p>
            <a:pPr marL="457200" lvl="0" indent="-457200">
              <a:buFont typeface="+mj-lt"/>
              <a:buAutoNum type="arabicPeriod"/>
            </a:pPr>
            <a:r>
              <a:rPr lang="en-US" b="1" dirty="0"/>
              <a:t>Compiler Control Directives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b="1" dirty="0"/>
              <a:t>Other Directives</a:t>
            </a:r>
            <a:endParaRPr lang="en-GB" b="1" dirty="0"/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32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Macro Directives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</a:t>
            </a:r>
          </a:p>
        </p:txBody>
      </p:sp>
    </p:spTree>
    <p:extLst>
      <p:ext uri="{BB962C8B-B14F-4D97-AF65-F5344CB8AC3E}">
        <p14:creationId xmlns:p14="http://schemas.microsoft.com/office/powerpoint/2010/main" val="2186746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Macro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Macros are pieces of code in a program that is given some name.</a:t>
            </a:r>
            <a:endParaRPr lang="en-US" dirty="0"/>
          </a:p>
          <a:p>
            <a:pPr lvl="0"/>
            <a:r>
              <a:rPr lang="en-GB" dirty="0"/>
              <a:t>Whenever this name is encountered by the compiler, the compiler replaces the name with the actual piece of code.</a:t>
            </a:r>
          </a:p>
          <a:p>
            <a:pPr lvl="0"/>
            <a:r>
              <a:rPr lang="en-GB" dirty="0"/>
              <a:t>‘#define’ directive is used to define a macro.</a:t>
            </a:r>
          </a:p>
          <a:p>
            <a:pPr lvl="0"/>
            <a:r>
              <a:rPr lang="en-GB" b="1" dirty="0">
                <a:solidFill>
                  <a:srgbClr val="C00000"/>
                </a:solidFill>
              </a:rPr>
              <a:t>Syntax;</a:t>
            </a:r>
            <a:endParaRPr lang="en-US" dirty="0"/>
          </a:p>
          <a:p>
            <a:r>
              <a:rPr lang="en-GB" dirty="0"/>
              <a:t>There is no semi-colon (;) at the end of the macro definition. Macro definitions do not need a semi-colon to end.</a:t>
            </a:r>
          </a:p>
          <a:p>
            <a:r>
              <a:rPr lang="en-GB" dirty="0"/>
              <a:t>There are also some </a:t>
            </a:r>
            <a:r>
              <a:rPr lang="en-GB" b="1" dirty="0"/>
              <a:t>Predefined Macros in C </a:t>
            </a:r>
            <a:r>
              <a:rPr lang="en-GB" dirty="0"/>
              <a:t>which are useful in providing various functionalities.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86C3CB-4AA4-7B65-CA2B-85E1A95BDA9E}"/>
              </a:ext>
            </a:extLst>
          </p:cNvPr>
          <p:cNvSpPr txBox="1"/>
          <p:nvPr/>
        </p:nvSpPr>
        <p:spPr>
          <a:xfrm>
            <a:off x="1473959" y="2582838"/>
            <a:ext cx="2811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#define </a:t>
            </a:r>
            <a:r>
              <a:rPr lang="en-US" sz="2000" b="1" dirty="0"/>
              <a:t>value</a:t>
            </a:r>
            <a:endParaRPr lang="en-IN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00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Macro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Predefined Macros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F4891E-4A1E-BA3D-7D99-D2377FA39C63}"/>
              </a:ext>
            </a:extLst>
          </p:cNvPr>
          <p:cNvSpPr txBox="1"/>
          <p:nvPr/>
        </p:nvSpPr>
        <p:spPr>
          <a:xfrm>
            <a:off x="887104" y="14876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265AD-0506-40BB-AF12-8607A3A72951}"/>
              </a:ext>
            </a:extLst>
          </p:cNvPr>
          <p:cNvSpPr txBox="1"/>
          <p:nvPr/>
        </p:nvSpPr>
        <p:spPr>
          <a:xfrm>
            <a:off x="887104" y="188735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CDFA8-B4E8-35A0-3BE1-E9CE9E8F4CDF}"/>
              </a:ext>
            </a:extLst>
          </p:cNvPr>
          <p:cNvSpPr txBox="1"/>
          <p:nvPr/>
        </p:nvSpPr>
        <p:spPr>
          <a:xfrm>
            <a:off x="887104" y="232131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82708-5235-8AE1-F76F-03D71D9B7FC0}"/>
              </a:ext>
            </a:extLst>
          </p:cNvPr>
          <p:cNvSpPr txBox="1"/>
          <p:nvPr/>
        </p:nvSpPr>
        <p:spPr>
          <a:xfrm>
            <a:off x="887104" y="481639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B1B3B-60CB-12D7-D4C8-49B80F48FB11}"/>
              </a:ext>
            </a:extLst>
          </p:cNvPr>
          <p:cNvSpPr txBox="1"/>
          <p:nvPr/>
        </p:nvSpPr>
        <p:spPr>
          <a:xfrm>
            <a:off x="1367050" y="276556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("Line no. is:%</a:t>
            </a:r>
            <a:r>
              <a:rPr lang="en-GB" dirty="0" err="1"/>
              <a:t>d",__LINE</a:t>
            </a:r>
            <a:r>
              <a:rPr lang="en-GB" dirty="0"/>
              <a:t>__);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585CD-4115-3A1C-B176-4D603D97AD1E}"/>
              </a:ext>
            </a:extLst>
          </p:cNvPr>
          <p:cNvSpPr txBox="1"/>
          <p:nvPr/>
        </p:nvSpPr>
        <p:spPr>
          <a:xfrm>
            <a:off x="1367049" y="3229936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("\</a:t>
            </a:r>
            <a:r>
              <a:rPr lang="en-GB" dirty="0" err="1"/>
              <a:t>nFile</a:t>
            </a:r>
            <a:r>
              <a:rPr lang="en-GB" dirty="0"/>
              <a:t> name is:%</a:t>
            </a:r>
            <a:r>
              <a:rPr lang="en-GB" dirty="0" err="1"/>
              <a:t>s",__FILE</a:t>
            </a:r>
            <a:r>
              <a:rPr lang="en-GB" dirty="0"/>
              <a:t>__);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F827F-626E-9F1B-D309-52DF0EF3DD9E}"/>
              </a:ext>
            </a:extLst>
          </p:cNvPr>
          <p:cNvSpPr txBox="1"/>
          <p:nvPr/>
        </p:nvSpPr>
        <p:spPr>
          <a:xfrm>
            <a:off x="1367048" y="3763537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("\</a:t>
            </a:r>
            <a:r>
              <a:rPr lang="en-GB" dirty="0" err="1"/>
              <a:t>nDate</a:t>
            </a:r>
            <a:r>
              <a:rPr lang="en-GB" dirty="0"/>
              <a:t> is:%</a:t>
            </a:r>
            <a:r>
              <a:rPr lang="en-GB" dirty="0" err="1"/>
              <a:t>s",__DATE</a:t>
            </a:r>
            <a:r>
              <a:rPr lang="en-GB" dirty="0"/>
              <a:t>__);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61197C-ABA7-8474-3377-B07482927FEC}"/>
              </a:ext>
            </a:extLst>
          </p:cNvPr>
          <p:cNvSpPr txBox="1"/>
          <p:nvPr/>
        </p:nvSpPr>
        <p:spPr>
          <a:xfrm>
            <a:off x="1367048" y="426969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("\</a:t>
            </a:r>
            <a:r>
              <a:rPr lang="en-GB" dirty="0" err="1"/>
              <a:t>nTime</a:t>
            </a:r>
            <a:r>
              <a:rPr lang="en-GB" dirty="0"/>
              <a:t> is:%</a:t>
            </a:r>
            <a:r>
              <a:rPr lang="en-GB" dirty="0" err="1"/>
              <a:t>s",__TIME</a:t>
            </a:r>
            <a:r>
              <a:rPr lang="en-GB" dirty="0"/>
              <a:t>__);</a:t>
            </a:r>
            <a:endParaRPr lang="en-IN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AE439E23-1A6C-3B98-37C3-3BF82323A981}"/>
              </a:ext>
            </a:extLst>
          </p:cNvPr>
          <p:cNvSpPr/>
          <p:nvPr/>
        </p:nvSpPr>
        <p:spPr>
          <a:xfrm>
            <a:off x="4258101" y="1364668"/>
            <a:ext cx="6605518" cy="838850"/>
          </a:xfrm>
          <a:prstGeom prst="wedgeRoundRectCallout">
            <a:avLst>
              <a:gd name="adj1" fmla="val -49711"/>
              <a:gd name="adj2" fmla="val 11903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rgbClr val="C00000"/>
                </a:solidFill>
              </a:rPr>
              <a:t>__LINE__ </a:t>
            </a:r>
            <a:r>
              <a:rPr lang="en-GB" dirty="0">
                <a:solidFill>
                  <a:schemeClr val="tx1"/>
                </a:solidFill>
              </a:rPr>
              <a:t>macro contains the current line number of the program in the compilation. It gives the line number where it is called.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F7968B08-0826-23EC-75C8-64A2D4F521C9}"/>
              </a:ext>
            </a:extLst>
          </p:cNvPr>
          <p:cNvSpPr/>
          <p:nvPr/>
        </p:nvSpPr>
        <p:spPr>
          <a:xfrm>
            <a:off x="5013278" y="2559510"/>
            <a:ext cx="6605518" cy="838850"/>
          </a:xfrm>
          <a:prstGeom prst="wedgeRoundRectCallout">
            <a:avLst>
              <a:gd name="adj1" fmla="val -54670"/>
              <a:gd name="adj2" fmla="val 4907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rgbClr val="C00000"/>
                </a:solidFill>
              </a:rPr>
              <a:t>__FILE__ </a:t>
            </a:r>
            <a:r>
              <a:rPr lang="en-GB" dirty="0">
                <a:solidFill>
                  <a:schemeClr val="tx1"/>
                </a:solidFill>
              </a:rPr>
              <a:t>macro holds the file name of the currently executing program in the computer.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C6BA7832-1DC5-8C93-DD9D-7D1F4280D73F}"/>
              </a:ext>
            </a:extLst>
          </p:cNvPr>
          <p:cNvSpPr/>
          <p:nvPr/>
        </p:nvSpPr>
        <p:spPr>
          <a:xfrm>
            <a:off x="5013278" y="3547022"/>
            <a:ext cx="6605518" cy="838850"/>
          </a:xfrm>
          <a:prstGeom prst="wedgeRoundRectCallout">
            <a:avLst>
              <a:gd name="adj1" fmla="val -59009"/>
              <a:gd name="adj2" fmla="val 515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rgbClr val="C00000"/>
                </a:solidFill>
              </a:rPr>
              <a:t>__DATE__</a:t>
            </a:r>
            <a:r>
              <a:rPr lang="en-GB" dirty="0">
                <a:solidFill>
                  <a:schemeClr val="tx1"/>
                </a:solidFill>
              </a:rPr>
              <a:t> macro gives the date at which source code of this program is converted into object code.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Simply put, it returns the date at which the program was compiled. Date is in the format mmm dd </a:t>
            </a:r>
            <a:r>
              <a:rPr lang="en-GB" dirty="0" err="1">
                <a:solidFill>
                  <a:schemeClr val="tx1"/>
                </a:solidFill>
              </a:rPr>
              <a:t>yyyy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EAE588FE-2147-91F5-F52F-AA3A0AE77C75}"/>
              </a:ext>
            </a:extLst>
          </p:cNvPr>
          <p:cNvSpPr/>
          <p:nvPr/>
        </p:nvSpPr>
        <p:spPr>
          <a:xfrm>
            <a:off x="4078780" y="4702958"/>
            <a:ext cx="6605518" cy="783442"/>
          </a:xfrm>
          <a:prstGeom prst="wedgeRoundRectCallout">
            <a:avLst>
              <a:gd name="adj1" fmla="val -45579"/>
              <a:gd name="adj2" fmla="val -8142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rgbClr val="C00000"/>
                </a:solidFill>
              </a:rPr>
              <a:t>__TIME__</a:t>
            </a:r>
            <a:r>
              <a:rPr lang="en-GB" dirty="0">
                <a:solidFill>
                  <a:schemeClr val="tx1"/>
                </a:solidFill>
              </a:rPr>
              <a:t> macro gives the time at which program was compiled. Time is in the format </a:t>
            </a:r>
            <a:r>
              <a:rPr lang="en-GB" dirty="0" err="1">
                <a:solidFill>
                  <a:schemeClr val="tx1"/>
                </a:solidFill>
              </a:rPr>
              <a:t>hour:minute:second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794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1" grpId="0"/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Macro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235F74-580A-FEC2-A430-A311B0C21426}"/>
              </a:ext>
            </a:extLst>
          </p:cNvPr>
          <p:cNvSpPr txBox="1"/>
          <p:nvPr/>
        </p:nvSpPr>
        <p:spPr>
          <a:xfrm>
            <a:off x="887104" y="14876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636BB-C9A6-D5D3-C0FE-A61E8B77DBC1}"/>
              </a:ext>
            </a:extLst>
          </p:cNvPr>
          <p:cNvSpPr txBox="1"/>
          <p:nvPr/>
        </p:nvSpPr>
        <p:spPr>
          <a:xfrm>
            <a:off x="887104" y="244134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A1C12-6BBB-94D5-3D1F-FCA51609AD82}"/>
              </a:ext>
            </a:extLst>
          </p:cNvPr>
          <p:cNvSpPr txBox="1"/>
          <p:nvPr/>
        </p:nvSpPr>
        <p:spPr>
          <a:xfrm>
            <a:off x="887104" y="287531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04F8D-01A7-1684-C90A-D072517654FE}"/>
              </a:ext>
            </a:extLst>
          </p:cNvPr>
          <p:cNvSpPr txBox="1"/>
          <p:nvPr/>
        </p:nvSpPr>
        <p:spPr>
          <a:xfrm>
            <a:off x="887104" y="472769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CA237-A665-7FF4-4FF0-9C0DBD91CC0C}"/>
              </a:ext>
            </a:extLst>
          </p:cNvPr>
          <p:cNvSpPr txBox="1"/>
          <p:nvPr/>
        </p:nvSpPr>
        <p:spPr>
          <a:xfrm>
            <a:off x="1367050" y="331955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i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83D8F-1669-1276-2419-0D8DDC6167E9}"/>
              </a:ext>
            </a:extLst>
          </p:cNvPr>
          <p:cNvSpPr txBox="1"/>
          <p:nvPr/>
        </p:nvSpPr>
        <p:spPr>
          <a:xfrm>
            <a:off x="1367049" y="378393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for(</a:t>
            </a:r>
            <a:r>
              <a:rPr lang="en-GB" dirty="0" err="1"/>
              <a:t>i</a:t>
            </a:r>
            <a:r>
              <a:rPr lang="en-GB" dirty="0"/>
              <a:t>=1;i&lt;=</a:t>
            </a:r>
            <a:r>
              <a:rPr lang="en-GB" dirty="0" err="1"/>
              <a:t>LIMIT;i</a:t>
            </a:r>
            <a:r>
              <a:rPr lang="en-GB" dirty="0"/>
              <a:t>++)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9213C-8CA9-7C85-6005-675C362E2ECC}"/>
              </a:ext>
            </a:extLst>
          </p:cNvPr>
          <p:cNvSpPr txBox="1"/>
          <p:nvPr/>
        </p:nvSpPr>
        <p:spPr>
          <a:xfrm>
            <a:off x="2017593" y="424830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("\</a:t>
            </a:r>
            <a:r>
              <a:rPr lang="en-GB" dirty="0" err="1"/>
              <a:t>n%d</a:t>
            </a:r>
            <a:r>
              <a:rPr lang="en-GB" dirty="0"/>
              <a:t>",</a:t>
            </a:r>
            <a:r>
              <a:rPr lang="en-GB" dirty="0" err="1"/>
              <a:t>i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CE62F-0A8F-9DAC-CC9A-A62EBF36E909}"/>
              </a:ext>
            </a:extLst>
          </p:cNvPr>
          <p:cNvSpPr txBox="1"/>
          <p:nvPr/>
        </p:nvSpPr>
        <p:spPr>
          <a:xfrm>
            <a:off x="887104" y="191197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#define LIMIT 3</a:t>
            </a:r>
            <a:endParaRPr lang="en-IN" dirty="0"/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F02754A4-20D6-8158-51FB-BE498E1705EA}"/>
              </a:ext>
            </a:extLst>
          </p:cNvPr>
          <p:cNvSpPr/>
          <p:nvPr/>
        </p:nvSpPr>
        <p:spPr>
          <a:xfrm>
            <a:off x="3694743" y="1514607"/>
            <a:ext cx="7610153" cy="838850"/>
          </a:xfrm>
          <a:prstGeom prst="wedgeRoundRectCallout">
            <a:avLst>
              <a:gd name="adj1" fmla="val -66462"/>
              <a:gd name="adj2" fmla="val 1979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chemeClr val="tx1"/>
                </a:solidFill>
              </a:rPr>
              <a:t>In this program, when the compiler executes the word LIMIT, it replaces it with 3. The word</a:t>
            </a:r>
            <a:r>
              <a:rPr lang="en-GB" b="1" dirty="0">
                <a:solidFill>
                  <a:schemeClr val="tx1"/>
                </a:solidFill>
              </a:rPr>
              <a:t> ‘LIMIT’ </a:t>
            </a:r>
            <a:r>
              <a:rPr lang="en-GB" dirty="0">
                <a:solidFill>
                  <a:schemeClr val="tx1"/>
                </a:solidFill>
              </a:rPr>
              <a:t>in the macro definition is called a </a:t>
            </a:r>
            <a:r>
              <a:rPr lang="en-GB" b="1" dirty="0">
                <a:solidFill>
                  <a:srgbClr val="C00000"/>
                </a:solidFill>
              </a:rPr>
              <a:t>macro template</a:t>
            </a:r>
            <a:r>
              <a:rPr lang="en-GB" dirty="0">
                <a:solidFill>
                  <a:srgbClr val="C00000"/>
                </a:solidFill>
              </a:rPr>
              <a:t> </a:t>
            </a:r>
            <a:r>
              <a:rPr lang="en-GB" dirty="0">
                <a:solidFill>
                  <a:schemeClr val="tx1"/>
                </a:solidFill>
              </a:rPr>
              <a:t>and </a:t>
            </a:r>
            <a:r>
              <a:rPr lang="en-GB" b="1" dirty="0">
                <a:solidFill>
                  <a:schemeClr val="tx1"/>
                </a:solidFill>
              </a:rPr>
              <a:t>‘3’ </a:t>
            </a:r>
            <a:r>
              <a:rPr lang="en-GB" dirty="0">
                <a:solidFill>
                  <a:schemeClr val="tx1"/>
                </a:solidFill>
              </a:rPr>
              <a:t>is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>
                <a:solidFill>
                  <a:srgbClr val="C00000"/>
                </a:solidFill>
              </a:rPr>
              <a:t>macro expansion</a:t>
            </a:r>
            <a:r>
              <a:rPr lang="en-GB" b="1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25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2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Macro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Macro with Arguments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235F74-580A-FEC2-A430-A311B0C21426}"/>
              </a:ext>
            </a:extLst>
          </p:cNvPr>
          <p:cNvSpPr txBox="1"/>
          <p:nvPr/>
        </p:nvSpPr>
        <p:spPr>
          <a:xfrm>
            <a:off x="887104" y="14876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636BB-C9A6-D5D3-C0FE-A61E8B77DBC1}"/>
              </a:ext>
            </a:extLst>
          </p:cNvPr>
          <p:cNvSpPr txBox="1"/>
          <p:nvPr/>
        </p:nvSpPr>
        <p:spPr>
          <a:xfrm>
            <a:off x="887104" y="244134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A1C12-6BBB-94D5-3D1F-FCA51609AD82}"/>
              </a:ext>
            </a:extLst>
          </p:cNvPr>
          <p:cNvSpPr txBox="1"/>
          <p:nvPr/>
        </p:nvSpPr>
        <p:spPr>
          <a:xfrm>
            <a:off x="887104" y="287531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04F8D-01A7-1684-C90A-D072517654FE}"/>
              </a:ext>
            </a:extLst>
          </p:cNvPr>
          <p:cNvSpPr txBox="1"/>
          <p:nvPr/>
        </p:nvSpPr>
        <p:spPr>
          <a:xfrm>
            <a:off x="887104" y="472769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CA237-A665-7FF4-4FF0-9C0DBD91CC0C}"/>
              </a:ext>
            </a:extLst>
          </p:cNvPr>
          <p:cNvSpPr txBox="1"/>
          <p:nvPr/>
        </p:nvSpPr>
        <p:spPr>
          <a:xfrm>
            <a:off x="1367050" y="331955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a=8,b=8,total;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83D8F-1669-1276-2419-0D8DDC6167E9}"/>
              </a:ext>
            </a:extLst>
          </p:cNvPr>
          <p:cNvSpPr txBox="1"/>
          <p:nvPr/>
        </p:nvSpPr>
        <p:spPr>
          <a:xfrm>
            <a:off x="1367049" y="378393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total = addition(</a:t>
            </a:r>
            <a:r>
              <a:rPr lang="en-GB" dirty="0" err="1"/>
              <a:t>a,b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9213C-8CA9-7C85-6005-675C362E2ECC}"/>
              </a:ext>
            </a:extLst>
          </p:cNvPr>
          <p:cNvSpPr txBox="1"/>
          <p:nvPr/>
        </p:nvSpPr>
        <p:spPr>
          <a:xfrm>
            <a:off x="1367048" y="424830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("Total is:%</a:t>
            </a:r>
            <a:r>
              <a:rPr lang="en-GB" dirty="0" err="1"/>
              <a:t>d",total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CE62F-0A8F-9DAC-CC9A-A62EBF36E909}"/>
              </a:ext>
            </a:extLst>
          </p:cNvPr>
          <p:cNvSpPr txBox="1"/>
          <p:nvPr/>
        </p:nvSpPr>
        <p:spPr>
          <a:xfrm>
            <a:off x="887105" y="191197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#define addition(</a:t>
            </a:r>
            <a:r>
              <a:rPr lang="en-GB" dirty="0" err="1"/>
              <a:t>a,b</a:t>
            </a:r>
            <a:r>
              <a:rPr lang="en-GB" dirty="0"/>
              <a:t>) </a:t>
            </a:r>
            <a:r>
              <a:rPr lang="en-GB" dirty="0" err="1"/>
              <a:t>a+b</a:t>
            </a:r>
            <a:endParaRPr lang="en-IN" dirty="0"/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F02754A4-20D6-8158-51FB-BE498E1705EA}"/>
              </a:ext>
            </a:extLst>
          </p:cNvPr>
          <p:cNvSpPr/>
          <p:nvPr/>
        </p:nvSpPr>
        <p:spPr>
          <a:xfrm>
            <a:off x="4189862" y="1514863"/>
            <a:ext cx="5176302" cy="838850"/>
          </a:xfrm>
          <a:prstGeom prst="wedgeRoundRectCallout">
            <a:avLst>
              <a:gd name="adj1" fmla="val -66462"/>
              <a:gd name="adj2" fmla="val 1979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chemeClr val="tx1"/>
                </a:solidFill>
              </a:rPr>
              <a:t>We can also pass arguments to macros. Macros defined with arguments work similarly to functions.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42CB4992-DA38-96E1-5A57-1F1FDFB5DEC2}"/>
              </a:ext>
            </a:extLst>
          </p:cNvPr>
          <p:cNvSpPr/>
          <p:nvPr/>
        </p:nvSpPr>
        <p:spPr>
          <a:xfrm>
            <a:off x="4477588" y="2810681"/>
            <a:ext cx="7260610" cy="1437628"/>
          </a:xfrm>
          <a:prstGeom prst="wedgeRoundRectCallout">
            <a:avLst>
              <a:gd name="adj1" fmla="val -65522"/>
              <a:gd name="adj2" fmla="val 3116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Whenever compiler finds </a:t>
            </a:r>
            <a:r>
              <a:rPr lang="en-GB" dirty="0">
                <a:solidFill>
                  <a:srgbClr val="C00000"/>
                </a:solidFill>
              </a:rPr>
              <a:t>addition(</a:t>
            </a:r>
            <a:r>
              <a:rPr lang="en-GB" dirty="0" err="1">
                <a:solidFill>
                  <a:srgbClr val="C00000"/>
                </a:solidFill>
              </a:rPr>
              <a:t>a,b</a:t>
            </a:r>
            <a:r>
              <a:rPr lang="en-GB" dirty="0">
                <a:solidFill>
                  <a:srgbClr val="C00000"/>
                </a:solidFill>
              </a:rPr>
              <a:t>)</a:t>
            </a:r>
            <a:r>
              <a:rPr lang="en-GB" dirty="0">
                <a:solidFill>
                  <a:schemeClr val="tx1"/>
                </a:solidFill>
              </a:rPr>
              <a:t> in the program, it </a:t>
            </a:r>
            <a:r>
              <a:rPr lang="en-GB" dirty="0">
                <a:solidFill>
                  <a:srgbClr val="C00000"/>
                </a:solidFill>
              </a:rPr>
              <a:t>replaces</a:t>
            </a:r>
            <a:r>
              <a:rPr lang="en-GB" dirty="0">
                <a:solidFill>
                  <a:schemeClr val="tx1"/>
                </a:solidFill>
              </a:rPr>
              <a:t> it with the statement </a:t>
            </a:r>
            <a:r>
              <a:rPr lang="en-GB" dirty="0">
                <a:solidFill>
                  <a:srgbClr val="C00000"/>
                </a:solidFill>
              </a:rPr>
              <a:t>(</a:t>
            </a:r>
            <a:r>
              <a:rPr lang="en-GB" dirty="0" err="1">
                <a:solidFill>
                  <a:srgbClr val="C00000"/>
                </a:solidFill>
              </a:rPr>
              <a:t>a+b</a:t>
            </a:r>
            <a:r>
              <a:rPr lang="en-GB" dirty="0">
                <a:solidFill>
                  <a:srgbClr val="C00000"/>
                </a:solidFill>
              </a:rPr>
              <a:t>)</a:t>
            </a:r>
            <a:r>
              <a:rPr lang="en-GB" dirty="0">
                <a:solidFill>
                  <a:schemeClr val="tx1"/>
                </a:solidFill>
              </a:rPr>
              <a:t>.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Not only this, but the values passed to the macro template addition(</a:t>
            </a:r>
            <a:r>
              <a:rPr lang="en-GB" dirty="0" err="1">
                <a:solidFill>
                  <a:schemeClr val="tx1"/>
                </a:solidFill>
              </a:rPr>
              <a:t>a,b</a:t>
            </a:r>
            <a:r>
              <a:rPr lang="en-GB" dirty="0">
                <a:solidFill>
                  <a:schemeClr val="tx1"/>
                </a:solidFill>
              </a:rPr>
              <a:t>) will also be replaced in the statement (</a:t>
            </a:r>
            <a:r>
              <a:rPr lang="en-GB" dirty="0" err="1">
                <a:solidFill>
                  <a:schemeClr val="tx1"/>
                </a:solidFill>
              </a:rPr>
              <a:t>a+b</a:t>
            </a:r>
            <a:r>
              <a:rPr lang="en-GB" dirty="0">
                <a:solidFill>
                  <a:schemeClr val="tx1"/>
                </a:solidFill>
              </a:rPr>
              <a:t>).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Therefore addition(8,8) will be equal to 8+8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647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2" grpId="0"/>
      <p:bldP spid="13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File Inclusion Directives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</a:t>
            </a:r>
          </a:p>
        </p:txBody>
      </p:sp>
    </p:spTree>
    <p:extLst>
      <p:ext uri="{BB962C8B-B14F-4D97-AF65-F5344CB8AC3E}">
        <p14:creationId xmlns:p14="http://schemas.microsoft.com/office/powerpoint/2010/main" val="386205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File Inclusion Directives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This type of preprocessor directive tells the compiler to include a file in the source code program.</a:t>
            </a:r>
            <a:endParaRPr lang="en-US" dirty="0"/>
          </a:p>
          <a:p>
            <a:pPr lvl="0"/>
            <a:r>
              <a:rPr lang="en-GB" dirty="0"/>
              <a:t>The </a:t>
            </a:r>
            <a:r>
              <a:rPr lang="en-GB" b="1" dirty="0"/>
              <a:t>#include preprocessor </a:t>
            </a:r>
            <a:r>
              <a:rPr lang="en-GB" dirty="0"/>
              <a:t>directive is used to include the header files in the C program.</a:t>
            </a:r>
          </a:p>
          <a:p>
            <a:pPr lvl="0"/>
            <a:r>
              <a:rPr lang="en-GB" dirty="0"/>
              <a:t>There are two types of files that can be included by the user in the program;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b="1" dirty="0"/>
              <a:t>Standard Header Files</a:t>
            </a:r>
          </a:p>
          <a:p>
            <a:pPr lvl="1"/>
            <a:r>
              <a:rPr lang="en-GB" dirty="0"/>
              <a:t>The standard header files contain definitions of pre-defined functions like </a:t>
            </a:r>
            <a:r>
              <a:rPr lang="en-GB" dirty="0" err="1"/>
              <a:t>printf</a:t>
            </a:r>
            <a:r>
              <a:rPr lang="en-GB" dirty="0"/>
              <a:t>(), scanf(), etc.</a:t>
            </a:r>
          </a:p>
          <a:p>
            <a:pPr lvl="1"/>
            <a:r>
              <a:rPr lang="en-GB" dirty="0"/>
              <a:t>These files must be included to work with these functions. Different functions are declared in different header files.</a:t>
            </a:r>
          </a:p>
          <a:p>
            <a:pPr lvl="1"/>
            <a:r>
              <a:rPr lang="en-GB" b="1" dirty="0" smtClean="0">
                <a:solidFill>
                  <a:srgbClr val="C00000"/>
                </a:solidFill>
              </a:rPr>
              <a:t>Syntax</a:t>
            </a:r>
            <a:r>
              <a:rPr lang="en-GB" b="1" dirty="0">
                <a:solidFill>
                  <a:srgbClr val="C00000"/>
                </a:solidFill>
              </a:rPr>
              <a:t>;</a:t>
            </a:r>
            <a:r>
              <a:rPr lang="en-GB" dirty="0"/>
              <a:t> #include &lt;</a:t>
            </a:r>
            <a:r>
              <a:rPr lang="en-GB" i="1" dirty="0"/>
              <a:t>filename</a:t>
            </a:r>
            <a:r>
              <a:rPr lang="en-GB" dirty="0"/>
              <a:t>&gt;</a:t>
            </a:r>
          </a:p>
          <a:p>
            <a:pPr lvl="1"/>
            <a:r>
              <a:rPr lang="en-GB" dirty="0"/>
              <a:t>where </a:t>
            </a:r>
            <a:r>
              <a:rPr lang="en-GB" i="1" dirty="0"/>
              <a:t>filename</a:t>
            </a:r>
            <a:r>
              <a:rPr lang="en-GB" dirty="0"/>
              <a:t> is the name of the header file to be included. The ‘&lt;‘ and ‘&gt;’ brackets tell the compiler to look for the file in the standard directory.</a:t>
            </a:r>
            <a:endParaRPr lang="en-US" dirty="0"/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917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File Inclusion Directives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 startAt="2"/>
            </a:pPr>
            <a:r>
              <a:rPr lang="en-US" b="1" dirty="0"/>
              <a:t>User-defined Header Files</a:t>
            </a:r>
          </a:p>
          <a:p>
            <a:pPr lvl="1"/>
            <a:r>
              <a:rPr lang="en-GB" dirty="0"/>
              <a:t>When a program becomes very large, it is a good practice to divide it into smaller files and include them whenever needed.</a:t>
            </a:r>
          </a:p>
          <a:p>
            <a:pPr lvl="1"/>
            <a:r>
              <a:rPr lang="en-GB" dirty="0"/>
              <a:t>These types of files are user-defined header files.</a:t>
            </a:r>
          </a:p>
          <a:p>
            <a:pPr lvl="1"/>
            <a:r>
              <a:rPr lang="en-GB" b="1" dirty="0">
                <a:solidFill>
                  <a:srgbClr val="C00000"/>
                </a:solidFill>
              </a:rPr>
              <a:t>Syntax:</a:t>
            </a:r>
            <a:r>
              <a:rPr lang="en-GB" dirty="0"/>
              <a:t> #include “</a:t>
            </a:r>
            <a:r>
              <a:rPr lang="en-GB" i="1" dirty="0"/>
              <a:t>filename</a:t>
            </a:r>
            <a:r>
              <a:rPr lang="en-GB" dirty="0"/>
              <a:t>”</a:t>
            </a:r>
          </a:p>
          <a:p>
            <a:pPr lvl="1"/>
            <a:r>
              <a:rPr lang="en-GB" dirty="0"/>
              <a:t>The double quotes ( ” ” ) tell the compiler to search for the header file in the source file’s directory.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859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Compiler Control Directives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</a:t>
            </a:r>
          </a:p>
        </p:txBody>
      </p:sp>
    </p:spTree>
    <p:extLst>
      <p:ext uri="{BB962C8B-B14F-4D97-AF65-F5344CB8AC3E}">
        <p14:creationId xmlns:p14="http://schemas.microsoft.com/office/powerpoint/2010/main" val="2259540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Compiler Control Directives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This type of directive helps to </a:t>
            </a:r>
            <a:r>
              <a:rPr lang="en-GB" b="1" dirty="0"/>
              <a:t>compile</a:t>
            </a:r>
            <a:r>
              <a:rPr lang="en-GB" dirty="0"/>
              <a:t> a </a:t>
            </a:r>
            <a:r>
              <a:rPr lang="en-GB" b="1" dirty="0"/>
              <a:t>specific portion of the program </a:t>
            </a:r>
            <a:r>
              <a:rPr lang="en-GB" dirty="0"/>
              <a:t>or </a:t>
            </a:r>
            <a:r>
              <a:rPr lang="en-GB" b="1" dirty="0"/>
              <a:t>to skip the compilation of some specific part of the program </a:t>
            </a:r>
            <a:r>
              <a:rPr lang="en-GB" dirty="0"/>
              <a:t>based on some conditions.</a:t>
            </a:r>
          </a:p>
          <a:p>
            <a:pPr lvl="0"/>
            <a:r>
              <a:rPr lang="en-GB" dirty="0"/>
              <a:t>There are the following preprocessor directives that are used to insert conditional code;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#if</a:t>
            </a:r>
            <a:r>
              <a:rPr lang="en-GB" dirty="0"/>
              <a:t> directive</a:t>
            </a:r>
          </a:p>
          <a:p>
            <a:pPr lvl="1"/>
            <a:r>
              <a:rPr lang="en-GB" b="1" dirty="0"/>
              <a:t>Syntax: #if </a:t>
            </a:r>
            <a:r>
              <a:rPr lang="en-GB" i="1" dirty="0"/>
              <a:t>constant_expression</a:t>
            </a:r>
          </a:p>
          <a:p>
            <a:pPr lvl="1"/>
            <a:r>
              <a:rPr lang="en-GB" dirty="0"/>
              <a:t>Code to be executed if constant_expression is true.</a:t>
            </a:r>
          </a:p>
          <a:p>
            <a:pPr lvl="0"/>
            <a:endParaRPr lang="en-GB" dirty="0"/>
          </a:p>
          <a:p>
            <a:pPr marL="457200" lvl="0" indent="-457200">
              <a:buFont typeface="+mj-lt"/>
              <a:buAutoNum type="arabicPeriod" startAt="2"/>
            </a:pPr>
            <a:r>
              <a:rPr lang="en-GB" b="1" dirty="0">
                <a:solidFill>
                  <a:srgbClr val="C00000"/>
                </a:solidFill>
              </a:rPr>
              <a:t>#ifdef </a:t>
            </a:r>
            <a:r>
              <a:rPr lang="en-GB" dirty="0"/>
              <a:t>Directive</a:t>
            </a:r>
          </a:p>
          <a:p>
            <a:pPr lvl="1"/>
            <a:r>
              <a:rPr lang="en-GB" b="1" dirty="0"/>
              <a:t>Syntax: #ifdef </a:t>
            </a:r>
            <a:r>
              <a:rPr lang="en-GB" i="1" dirty="0" err="1"/>
              <a:t>macro_name</a:t>
            </a:r>
            <a:endParaRPr lang="en-GB" i="1" dirty="0"/>
          </a:p>
          <a:p>
            <a:pPr lvl="1"/>
            <a:r>
              <a:rPr lang="en-GB" dirty="0"/>
              <a:t>Code to be executed if </a:t>
            </a:r>
            <a:r>
              <a:rPr lang="en-GB" dirty="0" err="1"/>
              <a:t>macro_name</a:t>
            </a:r>
            <a:r>
              <a:rPr lang="en-GB" dirty="0"/>
              <a:t> is defined.</a:t>
            </a:r>
          </a:p>
          <a:p>
            <a:pPr lvl="1"/>
            <a:endParaRPr lang="en-GB" dirty="0"/>
          </a:p>
          <a:p>
            <a:pPr marL="457200" indent="-457200">
              <a:buFont typeface="+mj-lt"/>
              <a:buAutoNum type="arabicPeriod" startAt="3"/>
            </a:pPr>
            <a:r>
              <a:rPr lang="en-GB" b="1" dirty="0">
                <a:solidFill>
                  <a:srgbClr val="C00000"/>
                </a:solidFill>
              </a:rPr>
              <a:t>#ifndef </a:t>
            </a:r>
            <a:r>
              <a:rPr lang="en-GB" dirty="0"/>
              <a:t>Directive</a:t>
            </a:r>
          </a:p>
          <a:p>
            <a:pPr lvl="1"/>
            <a:r>
              <a:rPr lang="en-GB" b="1" dirty="0"/>
              <a:t>Syntax: #ifndef </a:t>
            </a:r>
            <a:r>
              <a:rPr lang="en-GB" i="1" dirty="0" err="1"/>
              <a:t>macro_name</a:t>
            </a:r>
            <a:endParaRPr lang="en-GB" i="1" dirty="0"/>
          </a:p>
          <a:p>
            <a:pPr lvl="1"/>
            <a:r>
              <a:rPr lang="en-GB" dirty="0"/>
              <a:t>Code to be executed if </a:t>
            </a:r>
            <a:r>
              <a:rPr lang="en-GB" dirty="0" err="1"/>
              <a:t>macro_name</a:t>
            </a:r>
            <a:r>
              <a:rPr lang="en-GB" dirty="0"/>
              <a:t> is not defined.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838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Compiler Control Directives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 startAt="4"/>
            </a:pPr>
            <a:r>
              <a:rPr lang="en-GB" b="1" dirty="0">
                <a:solidFill>
                  <a:srgbClr val="C00000"/>
                </a:solidFill>
              </a:rPr>
              <a:t>#else</a:t>
            </a:r>
            <a:r>
              <a:rPr lang="en-GB" dirty="0"/>
              <a:t> directive</a:t>
            </a:r>
          </a:p>
          <a:p>
            <a:pPr lvl="1"/>
            <a:r>
              <a:rPr lang="en-GB" b="1" dirty="0"/>
              <a:t>Syntax: #else</a:t>
            </a:r>
            <a:endParaRPr lang="en-GB" i="1" dirty="0"/>
          </a:p>
          <a:p>
            <a:pPr lvl="1"/>
            <a:r>
              <a:rPr lang="en-GB" dirty="0"/>
              <a:t>Code to be executed if none of the above conditions are true.</a:t>
            </a:r>
          </a:p>
          <a:p>
            <a:pPr lvl="0"/>
            <a:endParaRPr lang="en-GB" dirty="0"/>
          </a:p>
          <a:p>
            <a:pPr marL="457200" lvl="0" indent="-457200">
              <a:buFont typeface="+mj-lt"/>
              <a:buAutoNum type="arabicPeriod" startAt="5"/>
            </a:pPr>
            <a:r>
              <a:rPr lang="en-GB" b="1" dirty="0">
                <a:solidFill>
                  <a:srgbClr val="C00000"/>
                </a:solidFill>
              </a:rPr>
              <a:t>#elif </a:t>
            </a:r>
            <a:r>
              <a:rPr lang="en-GB" dirty="0"/>
              <a:t>Directive</a:t>
            </a:r>
          </a:p>
          <a:p>
            <a:pPr lvl="1"/>
            <a:r>
              <a:rPr lang="en-GB" b="1" dirty="0"/>
              <a:t>Syntax: #</a:t>
            </a:r>
            <a:r>
              <a:rPr lang="en-GB" b="1" dirty="0" err="1"/>
              <a:t>elif</a:t>
            </a:r>
            <a:r>
              <a:rPr lang="en-GB" b="1" dirty="0"/>
              <a:t> </a:t>
            </a:r>
            <a:r>
              <a:rPr lang="en-GB" i="1" dirty="0" err="1"/>
              <a:t>another_constant_expression</a:t>
            </a:r>
            <a:endParaRPr lang="en-GB" i="1" dirty="0"/>
          </a:p>
          <a:p>
            <a:pPr lvl="1"/>
            <a:r>
              <a:rPr lang="en-GB" dirty="0"/>
              <a:t>Code to be </a:t>
            </a:r>
            <a:r>
              <a:rPr lang="en-GB" dirty="0" err="1"/>
              <a:t>excuted</a:t>
            </a:r>
            <a:r>
              <a:rPr lang="en-GB" dirty="0"/>
              <a:t> if </a:t>
            </a:r>
            <a:r>
              <a:rPr lang="en-GB" dirty="0" err="1"/>
              <a:t>another_constant_expression</a:t>
            </a:r>
            <a:r>
              <a:rPr lang="en-GB" dirty="0"/>
              <a:t> is true.</a:t>
            </a:r>
          </a:p>
          <a:p>
            <a:pPr lvl="1"/>
            <a:endParaRPr lang="en-GB" dirty="0"/>
          </a:p>
          <a:p>
            <a:pPr marL="457200" indent="-457200">
              <a:buFont typeface="+mj-lt"/>
              <a:buAutoNum type="arabicPeriod" startAt="6"/>
            </a:pPr>
            <a:r>
              <a:rPr lang="en-GB" b="1" dirty="0">
                <a:solidFill>
                  <a:srgbClr val="C00000"/>
                </a:solidFill>
              </a:rPr>
              <a:t>#endif </a:t>
            </a:r>
            <a:r>
              <a:rPr lang="en-GB" dirty="0"/>
              <a:t>Directive</a:t>
            </a:r>
          </a:p>
          <a:p>
            <a:pPr lvl="1"/>
            <a:r>
              <a:rPr lang="en-GB" b="1" dirty="0"/>
              <a:t>Syntax: #endif</a:t>
            </a:r>
            <a:endParaRPr lang="en-GB" i="1" dirty="0"/>
          </a:p>
          <a:p>
            <a:pPr lvl="1"/>
            <a:r>
              <a:rPr lang="en-GB" dirty="0"/>
              <a:t>It is used to close off the #if, #ifdef, and #ifndef opening directives which means the preprocessing of these directives is completed.</a:t>
            </a:r>
          </a:p>
          <a:p>
            <a:endParaRPr lang="en-GB" dirty="0"/>
          </a:p>
          <a:p>
            <a:r>
              <a:rPr lang="en-GB" dirty="0"/>
              <a:t>If the macro with the name ‘</a:t>
            </a:r>
            <a:r>
              <a:rPr lang="en-GB" dirty="0" err="1"/>
              <a:t>macro_name</a:t>
            </a:r>
            <a:r>
              <a:rPr lang="en-GB" dirty="0"/>
              <a:t>‘ is defined, then the block of statements will execute normally, but if it is not defined, the compiler will simply skip this block of statements.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161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Compiler Control Directives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C00000"/>
                </a:solidFill>
              </a:rPr>
              <a:t>Example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78C17D-4C5D-DE05-DAD0-83D5002E0092}"/>
              </a:ext>
            </a:extLst>
          </p:cNvPr>
          <p:cNvSpPr txBox="1"/>
          <p:nvPr/>
        </p:nvSpPr>
        <p:spPr>
          <a:xfrm>
            <a:off x="941696" y="1389953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14AF20-34D1-460C-EA38-A4190164226B}"/>
              </a:ext>
            </a:extLst>
          </p:cNvPr>
          <p:cNvSpPr txBox="1"/>
          <p:nvPr/>
        </p:nvSpPr>
        <p:spPr>
          <a:xfrm>
            <a:off x="941695" y="1732832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#define PI 3.14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3A1D5-8880-B8D6-CCC3-D496BD82E281}"/>
              </a:ext>
            </a:extLst>
          </p:cNvPr>
          <p:cNvSpPr txBox="1"/>
          <p:nvPr/>
        </p:nvSpPr>
        <p:spPr>
          <a:xfrm>
            <a:off x="941695" y="2082328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#define SQUARE (a*a)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BD48A-479A-F8C9-FC22-5313BC58361A}"/>
              </a:ext>
            </a:extLst>
          </p:cNvPr>
          <p:cNvSpPr txBox="1"/>
          <p:nvPr/>
        </p:nvSpPr>
        <p:spPr>
          <a:xfrm>
            <a:off x="941694" y="2451660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CB759-815D-590E-A063-8A8A6C0F306C}"/>
              </a:ext>
            </a:extLst>
          </p:cNvPr>
          <p:cNvSpPr txBox="1"/>
          <p:nvPr/>
        </p:nvSpPr>
        <p:spPr>
          <a:xfrm>
            <a:off x="941694" y="2820992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AF3F6-CD98-0EFC-DEDF-33B2ACFC68B9}"/>
              </a:ext>
            </a:extLst>
          </p:cNvPr>
          <p:cNvSpPr txBox="1"/>
          <p:nvPr/>
        </p:nvSpPr>
        <p:spPr>
          <a:xfrm>
            <a:off x="6073262" y="5292801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DEFCB7-7EA5-7793-DCFC-04A94894EDB2}"/>
              </a:ext>
            </a:extLst>
          </p:cNvPr>
          <p:cNvSpPr txBox="1"/>
          <p:nvPr/>
        </p:nvSpPr>
        <p:spPr>
          <a:xfrm>
            <a:off x="1230571" y="3213959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#ifdef </a:t>
            </a:r>
            <a:r>
              <a:rPr lang="en-GB" dirty="0"/>
              <a:t>PI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91176-3043-7A65-D74B-D5F6AB9DBC22}"/>
              </a:ext>
            </a:extLst>
          </p:cNvPr>
          <p:cNvSpPr txBox="1"/>
          <p:nvPr/>
        </p:nvSpPr>
        <p:spPr>
          <a:xfrm>
            <a:off x="1628631" y="3583555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("PI is defined\n");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A5D731-680B-E5D1-F2A0-18E6EBDEAE60}"/>
              </a:ext>
            </a:extLst>
          </p:cNvPr>
          <p:cNvSpPr txBox="1"/>
          <p:nvPr/>
        </p:nvSpPr>
        <p:spPr>
          <a:xfrm>
            <a:off x="1230571" y="4063246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#elif </a:t>
            </a:r>
            <a:r>
              <a:rPr lang="en-GB" dirty="0"/>
              <a:t>defined(SQUARE)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4A08E-1597-B026-A8F1-6745B310C53F}"/>
              </a:ext>
            </a:extLst>
          </p:cNvPr>
          <p:cNvSpPr txBox="1"/>
          <p:nvPr/>
        </p:nvSpPr>
        <p:spPr>
          <a:xfrm>
            <a:off x="1628631" y="4432842"/>
            <a:ext cx="313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("Square is defined\n");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9E70B4-1201-1F61-164B-6C8172126EC7}"/>
              </a:ext>
            </a:extLst>
          </p:cNvPr>
          <p:cNvSpPr txBox="1"/>
          <p:nvPr/>
        </p:nvSpPr>
        <p:spPr>
          <a:xfrm>
            <a:off x="1260139" y="4801910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#else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E20922-D09F-555D-B2DF-A4C570AC53F8}"/>
              </a:ext>
            </a:extLst>
          </p:cNvPr>
          <p:cNvSpPr txBox="1"/>
          <p:nvPr/>
        </p:nvSpPr>
        <p:spPr>
          <a:xfrm>
            <a:off x="1658199" y="5171506"/>
            <a:ext cx="426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("Neither PI nor SQUARE is defined\n");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58ACB2-65FF-F0A8-9990-A2F2824D7257}"/>
              </a:ext>
            </a:extLst>
          </p:cNvPr>
          <p:cNvSpPr txBox="1"/>
          <p:nvPr/>
        </p:nvSpPr>
        <p:spPr>
          <a:xfrm>
            <a:off x="1260138" y="5588897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#endif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C17AC4-E72C-8427-9310-7E9C0D6B5627}"/>
              </a:ext>
            </a:extLst>
          </p:cNvPr>
          <p:cNvSpPr txBox="1"/>
          <p:nvPr/>
        </p:nvSpPr>
        <p:spPr>
          <a:xfrm>
            <a:off x="6321189" y="3190324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#ifndef </a:t>
            </a:r>
            <a:r>
              <a:rPr lang="en-GB" dirty="0"/>
              <a:t>SQUARE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381E7C-F4AE-A89F-5F0C-403BE76856CF}"/>
              </a:ext>
            </a:extLst>
          </p:cNvPr>
          <p:cNvSpPr txBox="1"/>
          <p:nvPr/>
        </p:nvSpPr>
        <p:spPr>
          <a:xfrm>
            <a:off x="6719249" y="3559920"/>
            <a:ext cx="4021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("Square is not defined"); 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1D1FCC-73C9-3285-354A-BC39EE9F08DC}"/>
              </a:ext>
            </a:extLst>
          </p:cNvPr>
          <p:cNvSpPr txBox="1"/>
          <p:nvPr/>
        </p:nvSpPr>
        <p:spPr>
          <a:xfrm>
            <a:off x="6321189" y="4039611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#else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906BD0-EBE3-CC6F-227F-02DDD7C9F98A}"/>
              </a:ext>
            </a:extLst>
          </p:cNvPr>
          <p:cNvSpPr txBox="1"/>
          <p:nvPr/>
        </p:nvSpPr>
        <p:spPr>
          <a:xfrm>
            <a:off x="6719249" y="4409207"/>
            <a:ext cx="316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("Square is defined");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89F552-5C6E-6311-A273-FD42C66FBACA}"/>
              </a:ext>
            </a:extLst>
          </p:cNvPr>
          <p:cNvSpPr txBox="1"/>
          <p:nvPr/>
        </p:nvSpPr>
        <p:spPr>
          <a:xfrm>
            <a:off x="6321188" y="4888898"/>
            <a:ext cx="24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#endif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E2A93B-4D63-11D7-7D96-906259E69B43}"/>
              </a:ext>
            </a:extLst>
          </p:cNvPr>
          <p:cNvSpPr txBox="1"/>
          <p:nvPr/>
        </p:nvSpPr>
        <p:spPr>
          <a:xfrm>
            <a:off x="6719249" y="1173707"/>
            <a:ext cx="4690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</a:p>
          <a:p>
            <a:r>
              <a:rPr lang="en-GB" dirty="0"/>
              <a:t>PI is defined</a:t>
            </a:r>
          </a:p>
          <a:p>
            <a:r>
              <a:rPr lang="en-GB" dirty="0"/>
              <a:t>Square is defined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045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5" grpId="0"/>
      <p:bldP spid="16" grpId="0"/>
      <p:bldP spid="27" grpId="0"/>
      <p:bldP spid="28" grpId="0"/>
      <p:bldP spid="29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Other Directives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 </a:t>
            </a:r>
          </a:p>
        </p:txBody>
      </p:sp>
    </p:spTree>
    <p:extLst>
      <p:ext uri="{BB962C8B-B14F-4D97-AF65-F5344CB8AC3E}">
        <p14:creationId xmlns:p14="http://schemas.microsoft.com/office/powerpoint/2010/main" val="1160521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Other Directives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There are two more directives that are not commonly used. </a:t>
            </a:r>
          </a:p>
          <a:p>
            <a:pPr lvl="0"/>
            <a:r>
              <a:rPr lang="en-GB" dirty="0"/>
              <a:t>These are;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#undef</a:t>
            </a:r>
            <a:r>
              <a:rPr lang="en-GB" dirty="0"/>
              <a:t> Directive</a:t>
            </a:r>
          </a:p>
          <a:p>
            <a:pPr lvl="1"/>
            <a:r>
              <a:rPr lang="en-GB" dirty="0"/>
              <a:t>The #undef directive is used to undefine an existing macro.</a:t>
            </a:r>
          </a:p>
          <a:p>
            <a:pPr lvl="1"/>
            <a:r>
              <a:rPr lang="en-GB" b="1" dirty="0"/>
              <a:t>Syntax: #undef </a:t>
            </a:r>
            <a:r>
              <a:rPr lang="en-GB" i="1" dirty="0"/>
              <a:t>Directive</a:t>
            </a:r>
          </a:p>
          <a:p>
            <a:pPr lvl="1"/>
            <a:r>
              <a:rPr lang="en-GB" dirty="0" smtClean="0"/>
              <a:t>Above statement </a:t>
            </a:r>
            <a:r>
              <a:rPr lang="en-GB" dirty="0"/>
              <a:t>will undefine the existing macro directive.</a:t>
            </a:r>
          </a:p>
          <a:p>
            <a:pPr lvl="1"/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087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Other Directives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C00000"/>
                </a:solidFill>
              </a:rPr>
              <a:t>#undef</a:t>
            </a:r>
            <a:r>
              <a:rPr lang="en-GB" b="1" dirty="0"/>
              <a:t> Directive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235F74-580A-FEC2-A430-A311B0C21426}"/>
              </a:ext>
            </a:extLst>
          </p:cNvPr>
          <p:cNvSpPr txBox="1"/>
          <p:nvPr/>
        </p:nvSpPr>
        <p:spPr>
          <a:xfrm>
            <a:off x="887104" y="14876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636BB-C9A6-D5D3-C0FE-A61E8B77DBC1}"/>
              </a:ext>
            </a:extLst>
          </p:cNvPr>
          <p:cNvSpPr txBox="1"/>
          <p:nvPr/>
        </p:nvSpPr>
        <p:spPr>
          <a:xfrm>
            <a:off x="887104" y="244134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A1C12-6BBB-94D5-3D1F-FCA51609AD82}"/>
              </a:ext>
            </a:extLst>
          </p:cNvPr>
          <p:cNvSpPr txBox="1"/>
          <p:nvPr/>
        </p:nvSpPr>
        <p:spPr>
          <a:xfrm>
            <a:off x="887104" y="287531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04F8D-01A7-1684-C90A-D072517654FE}"/>
              </a:ext>
            </a:extLst>
          </p:cNvPr>
          <p:cNvSpPr txBox="1"/>
          <p:nvPr/>
        </p:nvSpPr>
        <p:spPr>
          <a:xfrm>
            <a:off x="887104" y="472769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CA237-A665-7FF4-4FF0-9C0DBD91CC0C}"/>
              </a:ext>
            </a:extLst>
          </p:cNvPr>
          <p:cNvSpPr txBox="1"/>
          <p:nvPr/>
        </p:nvSpPr>
        <p:spPr>
          <a:xfrm>
            <a:off x="1367050" y="331955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(“\</a:t>
            </a:r>
            <a:r>
              <a:rPr lang="en-GB" dirty="0" err="1"/>
              <a:t>nValue</a:t>
            </a:r>
            <a:r>
              <a:rPr lang="en-GB" dirty="0"/>
              <a:t> is :%d\n”, VALUE);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83D8F-1669-1276-2419-0D8DDC6167E9}"/>
              </a:ext>
            </a:extLst>
          </p:cNvPr>
          <p:cNvSpPr txBox="1"/>
          <p:nvPr/>
        </p:nvSpPr>
        <p:spPr>
          <a:xfrm>
            <a:off x="1367049" y="378393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#undef VALUE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9213C-8CA9-7C85-6005-675C362E2ECC}"/>
              </a:ext>
            </a:extLst>
          </p:cNvPr>
          <p:cNvSpPr txBox="1"/>
          <p:nvPr/>
        </p:nvSpPr>
        <p:spPr>
          <a:xfrm>
            <a:off x="1367048" y="4248308"/>
            <a:ext cx="424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rgbClr val="C00000"/>
                </a:solidFill>
              </a:rPr>
              <a:t>printf</a:t>
            </a:r>
            <a:r>
              <a:rPr lang="en-GB" b="1" dirty="0">
                <a:solidFill>
                  <a:srgbClr val="C00000"/>
                </a:solidFill>
              </a:rPr>
              <a:t>(“\</a:t>
            </a:r>
            <a:r>
              <a:rPr lang="en-GB" b="1" dirty="0" err="1">
                <a:solidFill>
                  <a:srgbClr val="C00000"/>
                </a:solidFill>
              </a:rPr>
              <a:t>nValue</a:t>
            </a:r>
            <a:r>
              <a:rPr lang="en-GB" b="1" dirty="0">
                <a:solidFill>
                  <a:srgbClr val="C00000"/>
                </a:solidFill>
              </a:rPr>
              <a:t> is :%d\n”, VALUE); //ERROR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CE62F-0A8F-9DAC-CC9A-A62EBF36E909}"/>
              </a:ext>
            </a:extLst>
          </p:cNvPr>
          <p:cNvSpPr txBox="1"/>
          <p:nvPr/>
        </p:nvSpPr>
        <p:spPr>
          <a:xfrm>
            <a:off x="887105" y="191197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#define VALUE 10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506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8" grpId="4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Other Directives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888" indent="-457200">
              <a:buFont typeface="+mj-lt"/>
              <a:buAutoNum type="arabicPeriod" startAt="2"/>
            </a:pPr>
            <a:r>
              <a:rPr lang="en-GB" b="1" dirty="0">
                <a:solidFill>
                  <a:srgbClr val="C00000"/>
                </a:solidFill>
              </a:rPr>
              <a:t>#pragma</a:t>
            </a:r>
            <a:r>
              <a:rPr lang="en-GB" dirty="0"/>
              <a:t> Directive</a:t>
            </a:r>
          </a:p>
          <a:p>
            <a:pPr lvl="1"/>
            <a:r>
              <a:rPr lang="en-GB" dirty="0"/>
              <a:t>This directive is a special purpose directive and is used to turn on or off some features. These types of directives are compiler-specific.</a:t>
            </a:r>
          </a:p>
          <a:p>
            <a:pPr lvl="1"/>
            <a:r>
              <a:rPr lang="en-GB" b="1" dirty="0"/>
              <a:t>Syntax: #pragma </a:t>
            </a:r>
            <a:r>
              <a:rPr lang="en-GB" i="1" dirty="0"/>
              <a:t>Directive</a:t>
            </a:r>
          </a:p>
          <a:p>
            <a:pPr lvl="2"/>
            <a:r>
              <a:rPr lang="en-GB" i="1" dirty="0"/>
              <a:t>#pragma startup: </a:t>
            </a:r>
            <a:r>
              <a:rPr lang="en-GB" dirty="0"/>
              <a:t>These directives help us to specify the functions that are needed to run before program startup (before the control passes to main()).</a:t>
            </a:r>
          </a:p>
          <a:p>
            <a:pPr lvl="2"/>
            <a:r>
              <a:rPr lang="en-GB" i="1" dirty="0"/>
              <a:t>#pragma exit: </a:t>
            </a:r>
            <a:r>
              <a:rPr lang="en-GB" dirty="0"/>
              <a:t>These directives help us to specify the functions that are needed to run just before the program exit (just before the control returns from main()).</a:t>
            </a:r>
          </a:p>
          <a:p>
            <a:pPr lvl="1"/>
            <a:r>
              <a:rPr lang="en-GB" b="1" i="1" dirty="0">
                <a:solidFill>
                  <a:srgbClr val="C00000"/>
                </a:solidFill>
              </a:rPr>
              <a:t>NOTE: #pragma Directive does not support by GCC or Dev C++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017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Other Directives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C00000"/>
                </a:solidFill>
              </a:rPr>
              <a:t>#pragma</a:t>
            </a:r>
            <a:r>
              <a:rPr lang="en-GB" b="1" dirty="0"/>
              <a:t> Directive Example </a:t>
            </a:r>
            <a:r>
              <a:rPr lang="en-GB" b="1" dirty="0">
                <a:solidFill>
                  <a:srgbClr val="C00000"/>
                </a:solidFill>
              </a:rPr>
              <a:t>(It doesn’t support by GCC or DEV C++)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235F74-580A-FEC2-A430-A311B0C21426}"/>
              </a:ext>
            </a:extLst>
          </p:cNvPr>
          <p:cNvSpPr txBox="1"/>
          <p:nvPr/>
        </p:nvSpPr>
        <p:spPr>
          <a:xfrm>
            <a:off x="887104" y="14876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636BB-C9A6-D5D3-C0FE-A61E8B77DBC1}"/>
              </a:ext>
            </a:extLst>
          </p:cNvPr>
          <p:cNvSpPr txBox="1"/>
          <p:nvPr/>
        </p:nvSpPr>
        <p:spPr>
          <a:xfrm>
            <a:off x="887103" y="385680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A1C12-6BBB-94D5-3D1F-FCA51609AD82}"/>
              </a:ext>
            </a:extLst>
          </p:cNvPr>
          <p:cNvSpPr txBox="1"/>
          <p:nvPr/>
        </p:nvSpPr>
        <p:spPr>
          <a:xfrm>
            <a:off x="887103" y="429077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04F8D-01A7-1684-C90A-D072517654FE}"/>
              </a:ext>
            </a:extLst>
          </p:cNvPr>
          <p:cNvSpPr txBox="1"/>
          <p:nvPr/>
        </p:nvSpPr>
        <p:spPr>
          <a:xfrm>
            <a:off x="887103" y="614315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CA237-A665-7FF4-4FF0-9C0DBD91CC0C}"/>
              </a:ext>
            </a:extLst>
          </p:cNvPr>
          <p:cNvSpPr txBox="1"/>
          <p:nvPr/>
        </p:nvSpPr>
        <p:spPr>
          <a:xfrm>
            <a:off x="1367049" y="473501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func1();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83D8F-1669-1276-2419-0D8DDC6167E9}"/>
              </a:ext>
            </a:extLst>
          </p:cNvPr>
          <p:cNvSpPr txBox="1"/>
          <p:nvPr/>
        </p:nvSpPr>
        <p:spPr>
          <a:xfrm>
            <a:off x="1367048" y="519939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func2();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CE62F-0A8F-9DAC-CC9A-A62EBF36E909}"/>
              </a:ext>
            </a:extLst>
          </p:cNvPr>
          <p:cNvSpPr txBox="1"/>
          <p:nvPr/>
        </p:nvSpPr>
        <p:spPr>
          <a:xfrm>
            <a:off x="887105" y="191197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func1();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79815B-25FF-8010-25E1-17F8E093755D}"/>
              </a:ext>
            </a:extLst>
          </p:cNvPr>
          <p:cNvSpPr txBox="1"/>
          <p:nvPr/>
        </p:nvSpPr>
        <p:spPr>
          <a:xfrm>
            <a:off x="887105" y="233634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func2();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8551D4-7D35-ACF2-A330-F681C77EABAF}"/>
              </a:ext>
            </a:extLst>
          </p:cNvPr>
          <p:cNvSpPr txBox="1"/>
          <p:nvPr/>
        </p:nvSpPr>
        <p:spPr>
          <a:xfrm>
            <a:off x="887103" y="283057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#pragma </a:t>
            </a:r>
            <a:r>
              <a:rPr lang="en-GB" b="1" dirty="0"/>
              <a:t>startup</a:t>
            </a:r>
            <a:r>
              <a:rPr lang="en-GB" dirty="0"/>
              <a:t> func1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9127F-794A-E025-84AB-1AC2BBE77F26}"/>
              </a:ext>
            </a:extLst>
          </p:cNvPr>
          <p:cNvSpPr txBox="1"/>
          <p:nvPr/>
        </p:nvSpPr>
        <p:spPr>
          <a:xfrm>
            <a:off x="887103" y="325494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#pragma </a:t>
            </a:r>
            <a:r>
              <a:rPr lang="en-GB" b="1" dirty="0"/>
              <a:t>exit</a:t>
            </a:r>
            <a:r>
              <a:rPr lang="en-GB" dirty="0"/>
              <a:t> func2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676804-9E85-8F93-27A4-57B87365135C}"/>
              </a:ext>
            </a:extLst>
          </p:cNvPr>
          <p:cNvSpPr txBox="1"/>
          <p:nvPr/>
        </p:nvSpPr>
        <p:spPr>
          <a:xfrm>
            <a:off x="1367048" y="563930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(“Inside Main Function\n”);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D741E-EE1E-013A-3404-0E43F74183DD}"/>
              </a:ext>
            </a:extLst>
          </p:cNvPr>
          <p:cNvSpPr txBox="1"/>
          <p:nvPr/>
        </p:nvSpPr>
        <p:spPr>
          <a:xfrm>
            <a:off x="5884458" y="130294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func1()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3FCB2-BCEE-C067-B233-49D82AD3D2DD}"/>
              </a:ext>
            </a:extLst>
          </p:cNvPr>
          <p:cNvSpPr txBox="1"/>
          <p:nvPr/>
        </p:nvSpPr>
        <p:spPr>
          <a:xfrm>
            <a:off x="5884458" y="173690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0A49B7-920D-CB7E-4318-A4DBD30987CE}"/>
              </a:ext>
            </a:extLst>
          </p:cNvPr>
          <p:cNvSpPr txBox="1"/>
          <p:nvPr/>
        </p:nvSpPr>
        <p:spPr>
          <a:xfrm>
            <a:off x="5916301" y="258539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62193C-8352-4264-C85F-C746B801649E}"/>
              </a:ext>
            </a:extLst>
          </p:cNvPr>
          <p:cNvSpPr txBox="1"/>
          <p:nvPr/>
        </p:nvSpPr>
        <p:spPr>
          <a:xfrm>
            <a:off x="6364404" y="218115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(“Inside Function-1\n”);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4BFB51-E2C2-D65E-9F47-C6D24AC36F5F}"/>
              </a:ext>
            </a:extLst>
          </p:cNvPr>
          <p:cNvSpPr txBox="1"/>
          <p:nvPr/>
        </p:nvSpPr>
        <p:spPr>
          <a:xfrm>
            <a:off x="5884458" y="310955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func2()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3FF455-7F09-1E5A-A220-E0F8C930573B}"/>
              </a:ext>
            </a:extLst>
          </p:cNvPr>
          <p:cNvSpPr txBox="1"/>
          <p:nvPr/>
        </p:nvSpPr>
        <p:spPr>
          <a:xfrm>
            <a:off x="5884458" y="354351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14FBDD-4C34-B644-6DDB-079D26393084}"/>
              </a:ext>
            </a:extLst>
          </p:cNvPr>
          <p:cNvSpPr txBox="1"/>
          <p:nvPr/>
        </p:nvSpPr>
        <p:spPr>
          <a:xfrm>
            <a:off x="5916301" y="439200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14FC9A-3AED-1904-F67E-D61212554BE9}"/>
              </a:ext>
            </a:extLst>
          </p:cNvPr>
          <p:cNvSpPr txBox="1"/>
          <p:nvPr/>
        </p:nvSpPr>
        <p:spPr>
          <a:xfrm>
            <a:off x="6364404" y="3987762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(“Inside </a:t>
            </a:r>
            <a:r>
              <a:rPr lang="en-GB" dirty="0" smtClean="0"/>
              <a:t>Function-2\n</a:t>
            </a:r>
            <a:r>
              <a:rPr lang="en-GB" dirty="0"/>
              <a:t>”);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7BB76D-732F-77C5-F458-6B57AFFFA310}"/>
              </a:ext>
            </a:extLst>
          </p:cNvPr>
          <p:cNvSpPr txBox="1"/>
          <p:nvPr/>
        </p:nvSpPr>
        <p:spPr>
          <a:xfrm>
            <a:off x="5884458" y="5071225"/>
            <a:ext cx="4690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EXPECTED OUTPUT:</a:t>
            </a:r>
          </a:p>
          <a:p>
            <a:r>
              <a:rPr lang="en-GB" dirty="0"/>
              <a:t>Inside Function-1 </a:t>
            </a:r>
          </a:p>
          <a:p>
            <a:r>
              <a:rPr lang="en-GB" dirty="0"/>
              <a:t>Inside Main Function</a:t>
            </a:r>
          </a:p>
          <a:p>
            <a:r>
              <a:rPr lang="en-GB" dirty="0"/>
              <a:t>Inside Function-2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276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2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076983-6098-4D75-8E3B-99B088ABB8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05BAC4B-D894-4260-872E-77744EE84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C2BE0A6-15FF-4CCA-8B35-BD3CE334D0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20B01-2C98-438F-91A2-5BCFB793FE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5" name="Text Placeholder 1026">
            <a:extLst>
              <a:ext uri="{FF2B5EF4-FFF2-40B4-BE49-F238E27FC236}">
                <a16:creationId xmlns:a16="http://schemas.microsoft.com/office/drawing/2014/main" id="{508C39DE-82EA-4947-BA58-85EB27511A40}"/>
              </a:ext>
            </a:extLst>
          </p:cNvPr>
          <p:cNvSpPr txBox="1">
            <a:spLocks/>
          </p:cNvSpPr>
          <p:nvPr/>
        </p:nvSpPr>
        <p:spPr>
          <a:xfrm>
            <a:off x="2772358" y="0"/>
            <a:ext cx="4646358" cy="734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II)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59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6172</TotalTime>
  <Words>1424</Words>
  <Application>Microsoft Office PowerPoint</Application>
  <PresentationFormat>Widescreen</PresentationFormat>
  <Paragraphs>217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Roboto Condensed</vt:lpstr>
      <vt:lpstr>Wingdings 3</vt:lpstr>
      <vt:lpstr>Arial</vt:lpstr>
      <vt:lpstr>Segoe UI Black</vt:lpstr>
      <vt:lpstr>Wingdings 2</vt:lpstr>
      <vt:lpstr>Wingdings</vt:lpstr>
      <vt:lpstr>Calibri</vt:lpstr>
      <vt:lpstr>Roboto Condensed Light</vt:lpstr>
      <vt:lpstr>Office Theme</vt:lpstr>
      <vt:lpstr>Unit-4 Pre-processor Directives</vt:lpstr>
      <vt:lpstr>PowerPoint Presentation</vt:lpstr>
      <vt:lpstr>Introduction of Pre-processor Directives</vt:lpstr>
      <vt:lpstr>Pre-processor Directives</vt:lpstr>
      <vt:lpstr>Pre-processor Directives (Conti…)</vt:lpstr>
      <vt:lpstr>Macro Directives</vt:lpstr>
      <vt:lpstr>1. Macro</vt:lpstr>
      <vt:lpstr>1. Macro (Conti…)</vt:lpstr>
      <vt:lpstr>1. Macro (Conti…)</vt:lpstr>
      <vt:lpstr>1. Macro (Conti…)</vt:lpstr>
      <vt:lpstr>File Inclusion Directives</vt:lpstr>
      <vt:lpstr>2. File Inclusion Directives</vt:lpstr>
      <vt:lpstr>2. File Inclusion Directives (Conti…)</vt:lpstr>
      <vt:lpstr>Compiler Control Directives</vt:lpstr>
      <vt:lpstr>3. Compiler Control Directives</vt:lpstr>
      <vt:lpstr>3. Compiler Control Directives (Conti…)</vt:lpstr>
      <vt:lpstr>3. Compiler Control Directives (Conti…)</vt:lpstr>
      <vt:lpstr>Other Directives</vt:lpstr>
      <vt:lpstr>4. Other Directives</vt:lpstr>
      <vt:lpstr>4. Other Directives (Conti…)</vt:lpstr>
      <vt:lpstr>4. Other Directives (Conti…)</vt:lpstr>
      <vt:lpstr>4. Other Directives (Conti…)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558</cp:revision>
  <dcterms:created xsi:type="dcterms:W3CDTF">2020-05-01T05:09:15Z</dcterms:created>
  <dcterms:modified xsi:type="dcterms:W3CDTF">2026-02-24T03:57:04Z</dcterms:modified>
</cp:coreProperties>
</file>