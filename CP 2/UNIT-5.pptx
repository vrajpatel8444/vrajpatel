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ink/ink1.xml" ContentType="application/inkml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580" r:id="rId2"/>
    <p:sldId id="581" r:id="rId3"/>
    <p:sldId id="286" r:id="rId4"/>
    <p:sldId id="287" r:id="rId5"/>
    <p:sldId id="535" r:id="rId6"/>
    <p:sldId id="553" r:id="rId7"/>
    <p:sldId id="554" r:id="rId8"/>
    <p:sldId id="555" r:id="rId9"/>
    <p:sldId id="556" r:id="rId10"/>
    <p:sldId id="557" r:id="rId11"/>
    <p:sldId id="552" r:id="rId12"/>
    <p:sldId id="558" r:id="rId13"/>
    <p:sldId id="560" r:id="rId14"/>
    <p:sldId id="561" r:id="rId15"/>
    <p:sldId id="562" r:id="rId16"/>
    <p:sldId id="563" r:id="rId17"/>
    <p:sldId id="564" r:id="rId18"/>
    <p:sldId id="565" r:id="rId19"/>
    <p:sldId id="566" r:id="rId20"/>
    <p:sldId id="567" r:id="rId21"/>
    <p:sldId id="568" r:id="rId22"/>
    <p:sldId id="569" r:id="rId23"/>
    <p:sldId id="570" r:id="rId24"/>
    <p:sldId id="571" r:id="rId25"/>
    <p:sldId id="572" r:id="rId26"/>
    <p:sldId id="573" r:id="rId27"/>
    <p:sldId id="574" r:id="rId28"/>
    <p:sldId id="575" r:id="rId29"/>
    <p:sldId id="576" r:id="rId30"/>
    <p:sldId id="577" r:id="rId31"/>
    <p:sldId id="578" r:id="rId32"/>
    <p:sldId id="579" r:id="rId33"/>
    <p:sldId id="582" r:id="rId34"/>
  </p:sldIdLst>
  <p:sldSz cx="12192000" cy="6858000"/>
  <p:notesSz cx="6858000" cy="9144000"/>
  <p:embeddedFontLst>
    <p:embeddedFont>
      <p:font typeface="Wingdings 2" panose="05020102010507070707" pitchFamily="18" charset="2"/>
      <p:regular r:id="rId37"/>
    </p:embeddedFont>
    <p:embeddedFont>
      <p:font typeface="Roboto Condensed" panose="02000000000000000000" pitchFamily="2" charset="0"/>
      <p:regular r:id="rId38"/>
      <p:bold r:id="rId39"/>
      <p:italic r:id="rId40"/>
      <p:boldItalic r:id="rId41"/>
    </p:embeddedFont>
    <p:embeddedFont>
      <p:font typeface="Webdings" panose="05030102010509060703" pitchFamily="18" charset="2"/>
      <p:regular r:id="rId42"/>
    </p:embeddedFont>
    <p:embeddedFont>
      <p:font typeface="Calibri" panose="020F0502020204030204" pitchFamily="34" charset="0"/>
      <p:regular r:id="rId43"/>
      <p:bold r:id="rId44"/>
      <p:italic r:id="rId45"/>
      <p:boldItalic r:id="rId46"/>
    </p:embeddedFont>
    <p:embeddedFont>
      <p:font typeface="Roboto Condensed Light" panose="02000000000000000000" pitchFamily="2" charset="0"/>
      <p:regular r:id="rId47"/>
      <p:italic r:id="rId48"/>
    </p:embeddedFont>
    <p:embeddedFont>
      <p:font typeface="Segoe UI Black" panose="020B0A02040204020203" pitchFamily="34" charset="0"/>
      <p:bold r:id="rId49"/>
      <p:boldItalic r:id="rId50"/>
    </p:embeddedFont>
    <p:embeddedFont>
      <p:font typeface="Wingdings 3" panose="05040102010807070707" pitchFamily="18" charset="2"/>
      <p:regular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7kTT7oBEsOf1r+HobFoRfA==" hashData="PpJm2g1XK1hbCZAyZzCseBpwihGvw9EfZ4tcQYaCYwGnF8uQHze1/dSOAIZ8ob9SlhQTI2gHTCsILR6U6oLZBQ=="/>
  <p:extLst>
    <p:ext uri="{521415D9-36F7-43E2-AB2F-B90AF26B5E84}">
      <p14:sectionLst xmlns:p14="http://schemas.microsoft.com/office/powerpoint/2010/main">
        <p14:section name="Default Section" id="{66779A29-97DC-4E92-A70E-5FA0C5AFE649}">
          <p14:sldIdLst>
            <p14:sldId id="580"/>
            <p14:sldId id="581"/>
          </p14:sldIdLst>
        </p14:section>
        <p14:section name="Introduction of File Management" id="{E452BCBE-BE13-469C-9023-F77F574D6FB4}">
          <p14:sldIdLst>
            <p14:sldId id="286"/>
            <p14:sldId id="287"/>
            <p14:sldId id="535"/>
          </p14:sldIdLst>
        </p14:section>
        <p14:section name="File Handling Modes and File Opening and Closing Function" id="{07EAE1CD-F370-4D8C-801E-B9A1363202DF}">
          <p14:sldIdLst>
            <p14:sldId id="553"/>
            <p14:sldId id="554"/>
            <p14:sldId id="555"/>
            <p14:sldId id="556"/>
            <p14:sldId id="557"/>
            <p14:sldId id="552"/>
          </p14:sldIdLst>
        </p14:section>
        <p14:section name="I/O operations on File" id="{1396887D-F36F-43B7-A6F9-E2CD1A81F02F}">
          <p14:sldIdLst>
            <p14:sldId id="558"/>
            <p14:sldId id="560"/>
            <p14:sldId id="561"/>
            <p14:sldId id="562"/>
            <p14:sldId id="563"/>
            <p14:sldId id="564"/>
            <p14:sldId id="565"/>
            <p14:sldId id="566"/>
            <p14:sldId id="567"/>
            <p14:sldId id="568"/>
          </p14:sldIdLst>
        </p14:section>
        <p14:section name="Error Handling and Random access Functions" id="{669CB3A6-47B1-4605-AAEF-FE29C3F0DBA8}">
          <p14:sldIdLst>
            <p14:sldId id="569"/>
            <p14:sldId id="570"/>
            <p14:sldId id="571"/>
            <p14:sldId id="572"/>
            <p14:sldId id="573"/>
            <p14:sldId id="574"/>
            <p14:sldId id="575"/>
            <p14:sldId id="576"/>
          </p14:sldIdLst>
        </p14:section>
        <p14:section name="Command Line Arguments" id="{9748BEB3-2216-4250-8E56-CCD4751474DF}">
          <p14:sldIdLst>
            <p14:sldId id="577"/>
            <p14:sldId id="578"/>
            <p14:sldId id="579"/>
            <p14:sldId id="58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D71E3F"/>
    <a:srgbClr val="607D8B"/>
    <a:srgbClr val="1D6BA5"/>
    <a:srgbClr val="ED524F"/>
    <a:srgbClr val="1D3064"/>
    <a:srgbClr val="301B92"/>
    <a:srgbClr val="673BB7"/>
    <a:srgbClr val="B71B1C"/>
    <a:srgbClr val="F543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68" autoAdjust="0"/>
    <p:restoredTop sz="94394" autoAdjust="0"/>
  </p:normalViewPr>
  <p:slideViewPr>
    <p:cSldViewPr snapToGrid="0">
      <p:cViewPr varScale="1">
        <p:scale>
          <a:sx n="78" d="100"/>
          <a:sy n="78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82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font" Target="fonts/font1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49" Type="http://schemas.openxmlformats.org/officeDocument/2006/relationships/font" Target="fonts/font1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218C1C-969C-4E59-8027-1BA3F0D38C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6ADB10-FD95-4CEB-98E7-4FA837CE41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F8433-EE2A-41B9-BA56-D2396856AE90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6D3071-CA2D-4040-8804-09E92AEBFB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5E4A6F-F650-4C9C-829F-3B9F190B180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E52D4-162F-44F0-919A-0F008E6096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9726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9T11:06:30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328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13.png"/><Relationship Id="rId5" Type="http://schemas.openxmlformats.org/officeDocument/2006/relationships/image" Target="../media/image3.png"/><Relationship Id="rId10" Type="http://schemas.openxmlformats.org/officeDocument/2006/relationships/image" Target="../media/image6.jpeg"/><Relationship Id="rId4" Type="http://schemas.openxmlformats.org/officeDocument/2006/relationships/image" Target="../media/image12.png"/><Relationship Id="rId9" Type="http://schemas.openxmlformats.org/officeDocument/2006/relationships/image" Target="../media/image14.jpeg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3583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Darshan</a:t>
            </a:r>
            <a:r>
              <a:rPr lang="en-US" sz="1600" dirty="0" smtClean="0"/>
              <a:t> Institute of Computer Application</a:t>
            </a:r>
            <a:endParaRPr lang="en-US" sz="1600" dirty="0"/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05CFAC-3AD3-4F0A-9168-2613BFEAE065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35672" y="2062801"/>
            <a:ext cx="1786910" cy="178691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F738263-46D4-4D28-9615-BF958908128D}"/>
              </a:ext>
            </a:extLst>
          </p:cNvPr>
          <p:cNvSpPr txBox="1"/>
          <p:nvPr userDrawn="1"/>
        </p:nvSpPr>
        <p:spPr>
          <a:xfrm>
            <a:off x="1837677" y="5521352"/>
            <a:ext cx="31470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Department of</a:t>
            </a:r>
            <a:r>
              <a:rPr lang="en-US" sz="1600" baseline="0" dirty="0" smtClean="0"/>
              <a:t> Computer Application</a:t>
            </a:r>
            <a:endParaRPr lang="en-US" sz="1600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6834F009-928D-4C38-9AD3-82B36C1093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D71E3F">
                        <a:shade val="30000"/>
                        <a:satMod val="115000"/>
                      </a:srgbClr>
                    </a:gs>
                    <a:gs pos="50000">
                      <a:srgbClr val="D71E3F">
                        <a:shade val="67500"/>
                        <a:satMod val="115000"/>
                      </a:srgbClr>
                    </a:gs>
                    <a:gs pos="100000">
                      <a:srgbClr val="D71E3F">
                        <a:shade val="100000"/>
                        <a:satMod val="115000"/>
                      </a:srgbClr>
                    </a:gs>
                  </a:gsLst>
                  <a:lin ang="1080000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Prof. Akash N Siddhpura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FE5C760-C782-403F-8484-E8CFF370144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7822" y="578773"/>
            <a:ext cx="2946640" cy="90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1BB32699-4C62-4BBF-9A17-90008E297198}"/>
              </a:ext>
            </a:extLst>
          </p:cNvPr>
          <p:cNvSpPr/>
          <p:nvPr userDrawn="1"/>
        </p:nvSpPr>
        <p:spPr>
          <a:xfrm rot="5400000">
            <a:off x="4309397" y="1708494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D71E3F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C58FA9-71EA-487D-8A75-915EC6877722}"/>
              </a:ext>
            </a:extLst>
          </p:cNvPr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A77512-C96D-4B1D-861C-3369397D6121}"/>
              </a:ext>
            </a:extLst>
          </p:cNvPr>
          <p:cNvSpPr/>
          <p:nvPr userDrawn="1"/>
        </p:nvSpPr>
        <p:spPr>
          <a:xfrm flipH="1">
            <a:off x="7678346" y="2221532"/>
            <a:ext cx="4513654" cy="1951692"/>
          </a:xfrm>
          <a:prstGeom prst="rect">
            <a:avLst/>
          </a:pr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342F5D-5C3A-4D09-B74D-32BF20197BBC}"/>
              </a:ext>
            </a:extLst>
          </p:cNvPr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Freeform 13">
            <a:extLst>
              <a:ext uri="{FF2B5EF4-FFF2-40B4-BE49-F238E27FC236}">
                <a16:creationId xmlns:a16="http://schemas.microsoft.com/office/drawing/2014/main" id="{7DBD9FF3-DB58-439A-9C3F-981DC0699B89}"/>
              </a:ext>
            </a:extLst>
          </p:cNvPr>
          <p:cNvSpPr>
            <a:spLocks/>
          </p:cNvSpPr>
          <p:nvPr userDrawn="1"/>
        </p:nvSpPr>
        <p:spPr bwMode="auto">
          <a:xfrm>
            <a:off x="2736224" y="-2949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655B1926-C5B6-4865-B639-303A5A9FEE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63466" y="1743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7C639A-5CC9-4FBB-A197-82D7D8F34BCB}"/>
              </a:ext>
            </a:extLst>
          </p:cNvPr>
          <p:cNvSpPr txBox="1"/>
          <p:nvPr userDrawn="1"/>
        </p:nvSpPr>
        <p:spPr>
          <a:xfrm>
            <a:off x="1837677" y="5802204"/>
            <a:ext cx="3583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Darshan</a:t>
            </a:r>
            <a:r>
              <a:rPr lang="en-US" sz="1600" dirty="0" smtClean="0"/>
              <a:t> Institute of Computer Application</a:t>
            </a:r>
            <a:endParaRPr lang="en-US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DCC7DC-434D-4ADE-9AA5-73DBFABF63FB}"/>
              </a:ext>
            </a:extLst>
          </p:cNvPr>
          <p:cNvSpPr txBox="1"/>
          <p:nvPr userDrawn="1"/>
        </p:nvSpPr>
        <p:spPr>
          <a:xfrm>
            <a:off x="1837677" y="5521352"/>
            <a:ext cx="31470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Department of</a:t>
            </a:r>
            <a:r>
              <a:rPr lang="en-US" sz="1600" baseline="0" dirty="0" smtClean="0"/>
              <a:t> Computer Application</a:t>
            </a:r>
            <a:endParaRPr lang="en-US" sz="1600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F1B25E3-830F-4191-9F6A-E15558F3AD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D71E3F">
                        <a:shade val="30000"/>
                        <a:satMod val="115000"/>
                      </a:srgbClr>
                    </a:gs>
                    <a:gs pos="50000">
                      <a:srgbClr val="D71E3F">
                        <a:shade val="67500"/>
                        <a:satMod val="115000"/>
                      </a:srgbClr>
                    </a:gs>
                    <a:gs pos="100000">
                      <a:srgbClr val="D71E3F">
                        <a:shade val="100000"/>
                        <a:satMod val="115000"/>
                      </a:srgbClr>
                    </a:gs>
                  </a:gsLst>
                  <a:lin ang="1080000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Prof. Akash N Siddhpura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FE5C760-C782-403F-8484-E8CFF370144C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48445" y="564503"/>
            <a:ext cx="2946640" cy="90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451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2304CS201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(CP-II)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File Management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0066"/>
            <a:ext cx="11929641" cy="5593943"/>
          </a:xfrm>
        </p:spPr>
        <p:txBody>
          <a:bodyPr>
            <a:noAutofit/>
          </a:bodyPr>
          <a:lstStyle>
            <a:lvl1pPr marL="265113" indent="-265113" algn="just">
              <a:buClr>
                <a:srgbClr val="C00000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C00000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C00000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C00000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9701" y="88361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49046"/>
          </a:xfrm>
        </p:spPr>
        <p:txBody>
          <a:bodyPr>
            <a:noAutofit/>
          </a:bodyPr>
          <a:lstStyle>
            <a:lvl1pPr marL="265113" indent="-265113" algn="just">
              <a:buClr>
                <a:srgbClr val="C00000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C00000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C00000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C00000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AF378B-2717-4CC6-8D60-EB80E7F49B96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9701" y="592394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5E3EB7C-00B2-8673-FFB8-CF9FCD0DE2B2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#2304CS201 (CP-II)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File Management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56790"/>
          </a:xfrm>
        </p:spPr>
        <p:txBody>
          <a:bodyPr>
            <a:noAutofit/>
          </a:bodyPr>
          <a:lstStyle>
            <a:lvl1pPr marL="265113" indent="-265113" algn="just">
              <a:buClr>
                <a:srgbClr val="C00000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C00000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C00000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C00000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8E06D2F-EE6F-49DE-8EB6-A96F88CA5713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179" y="592394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439AD70-C713-B458-F198-C42F6980DFC9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#2304CS201 (CP-II)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File Management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D71E3F">
                        <a:shade val="30000"/>
                        <a:satMod val="115000"/>
                      </a:srgbClr>
                    </a:gs>
                    <a:gs pos="50000">
                      <a:srgbClr val="D71E3F">
                        <a:shade val="67500"/>
                        <a:satMod val="115000"/>
                      </a:srgbClr>
                    </a:gs>
                    <a:gs pos="100000">
                      <a:srgbClr val="D71E3F">
                        <a:shade val="100000"/>
                        <a:satMod val="115000"/>
                      </a:srgbClr>
                    </a:gs>
                  </a:gsLst>
                  <a:lin ang="1080000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C127DF-19C1-4A8F-B876-99D5A90C0F01}"/>
              </a:ext>
            </a:extLst>
          </p:cNvPr>
          <p:cNvPicPr>
            <a:picLocks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29175" y="6204430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76EFF2C-1636-48DB-9A77-5FC33CF265D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56067" y="251748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D100B5A-8D79-7BF8-7301-4561A8F6D9A3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#2304CS201 (CP-II)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File Management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4C3A39-E5FB-4C14-8A43-2D8FDDB0AED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42620" y="592394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B22AA22-73F0-88C3-DD63-849F267649F2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#2304CS201 (CP-II)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File Management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82A07D-EEE5-4EBD-8B95-4427C001AFD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8257" y="592394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682D9DB-2DF9-48A5-7C9F-0FF9328AA169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#2304CS201 (CP-II)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File Management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16723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50C19C1-CCA6-41F8-A349-518437B526D1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70BA9B2-A383-4E11-A930-79C7DB84C0F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67562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38632C7-07EE-4F9C-8233-02B02E8C89FC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54D06A-C8AF-409A-8F19-BD778E4BEE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28259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7B3427B-188B-4900-B48F-E5B9881624A5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F93E28D-CBE0-4383-909A-4B382FCB3BB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266869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3230D6A-1241-4E5B-AD95-3F0026D5E34F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61CFAB5-CC50-4C38-A8CE-5AC7B6E8E1C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978922" cy="316724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7191BDD-BF92-4D48-981F-D834B1E00380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E74553B-F83C-4887-85F5-95F2B31139E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9"/>
            <a:ext cx="3978922" cy="276024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FA71190-A77B-4209-A80E-DB5A272B6800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725EBB8-3E85-4844-8CD8-558634DD557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67562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5D1D986-F272-40AD-8E4B-CBC6109210A2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945C481-A049-4E89-826C-ECC2C2D424F8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53884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054B27E-47BE-45D8-88E7-9B920FD79C18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65063E3-29C7-4F1C-940C-E84E1B1B8D9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966222" cy="266869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94F4DA2-7990-4DAE-B9F6-ADB27BC53AD4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799D394-A04E-49DA-BC5A-159DB5374EAF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53884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2CA93B0-CE72-48B1-821C-85BCEA5255C5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84C881B-3C61-4232-9E01-4D5A64534474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2" r:id="rId2"/>
    <p:sldLayoutId id="2147483670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74" r:id="rId11"/>
    <p:sldLayoutId id="2147483677" r:id="rId12"/>
    <p:sldLayoutId id="2147483678" r:id="rId13"/>
    <p:sldLayoutId id="2147483679" r:id="rId14"/>
    <p:sldLayoutId id="2147483681" r:id="rId15"/>
    <p:sldLayoutId id="2147483683" r:id="rId16"/>
    <p:sldLayoutId id="2147483682" r:id="rId17"/>
    <p:sldLayoutId id="2147483684" r:id="rId18"/>
    <p:sldLayoutId id="2147483685" r:id="rId19"/>
    <p:sldLayoutId id="2147483686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544380" cy="2578780"/>
          </a:xfrm>
        </p:spPr>
        <p:txBody>
          <a:bodyPr/>
          <a:lstStyle/>
          <a:p>
            <a:r>
              <a:rPr lang="en-US" sz="44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Unit-5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dirty="0"/>
              <a:t>File Management</a:t>
            </a:r>
            <a:endParaRPr lang="en-US" sz="71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dirty="0" smtClean="0"/>
              <a:t>shok.badresiya@darshan.ac.in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9913131691</a:t>
            </a:r>
            <a:endParaRPr lang="en-US" dirty="0"/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82206" y="0"/>
            <a:ext cx="4646358" cy="734653"/>
          </a:xfrm>
        </p:spPr>
        <p:txBody>
          <a:bodyPr/>
          <a:lstStyle/>
          <a:p>
            <a:r>
              <a:rPr lang="en-US" b="1" dirty="0"/>
              <a:t>C Programming - </a:t>
            </a:r>
            <a:r>
              <a:rPr lang="en-US" b="1" dirty="0" smtClean="0"/>
              <a:t>II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(CP – I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I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 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2304CS201 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97B1F5C9-B8D4-46F1-9C51-0EB595CDD82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69" y="5211251"/>
            <a:ext cx="1353599" cy="1353599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9A7BEC-5E94-41D6-95AB-3D2BFB0D5E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smtClean="0"/>
              <a:t>Ashok G. </a:t>
            </a:r>
            <a:r>
              <a:rPr lang="en-US" dirty="0" err="1" smtClean="0"/>
              <a:t>Badresiya</a:t>
            </a:r>
            <a:endParaRPr lang="en-US" dirty="0"/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 txBox="1">
            <a:spLocks/>
          </p:cNvSpPr>
          <p:nvPr/>
        </p:nvSpPr>
        <p:spPr>
          <a:xfrm>
            <a:off x="580756" y="2745007"/>
            <a:ext cx="7670110" cy="110866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IN" sz="3200" dirty="0" smtClean="0">
                <a:solidFill>
                  <a:srgbClr val="212121">
                    <a:lumMod val="90000"/>
                    <a:lumOff val="1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 Light" panose="02000000000000000000" pitchFamily="2" charset="0"/>
                <a:ea typeface="Roboto Condensed Light" panose="02000000000000000000" pitchFamily="2" charset="0"/>
              </a:rPr>
              <a:t>CO-5: </a:t>
            </a:r>
            <a:r>
              <a:rPr lang="en-US" sz="3200">
                <a:solidFill>
                  <a:srgbClr val="212121">
                    <a:lumMod val="90000"/>
                    <a:lumOff val="1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perform operation on a file using C programming </a:t>
            </a:r>
            <a:r>
              <a:rPr lang="en-US" sz="3200" smtClean="0">
                <a:solidFill>
                  <a:srgbClr val="212121">
                    <a:lumMod val="90000"/>
                    <a:lumOff val="1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 Light" panose="02000000000000000000" pitchFamily="2" charset="0"/>
                <a:ea typeface="Roboto Condensed Light" panose="02000000000000000000" pitchFamily="2" charset="0"/>
              </a:rPr>
              <a:t>language.</a:t>
            </a:r>
            <a:endParaRPr lang="en-IN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08279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</p:cNvCxnSpPr>
          <p:nvPr/>
        </p:nvCxnSpPr>
        <p:spPr>
          <a:xfrm>
            <a:off x="1191446" y="-17287"/>
            <a:ext cx="0" cy="5486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534989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1191446" y="1009551"/>
            <a:ext cx="0" cy="5029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28727" y="629393"/>
            <a:ext cx="751325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 smtClean="0">
                <a:solidFill>
                  <a:srgbClr val="AD1457"/>
                </a:solidFill>
              </a:rPr>
              <a:t>Outline</a:t>
            </a:r>
            <a:endParaRPr lang="en-US" sz="2100" dirty="0">
              <a:solidFill>
                <a:srgbClr val="424242"/>
              </a:solidFill>
            </a:endParaRP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Introduction of File Management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File Handling Modes and File Opening and Closing Function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I/O operations on File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Error Handling and Random access Functions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Command Line Arguments</a:t>
            </a:r>
          </a:p>
        </p:txBody>
      </p:sp>
    </p:spTree>
    <p:extLst>
      <p:ext uri="{BB962C8B-B14F-4D97-AF65-F5344CB8AC3E}">
        <p14:creationId xmlns:p14="http://schemas.microsoft.com/office/powerpoint/2010/main" val="3215448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83E3B-2511-4243-BA47-B3F8B49B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dirty="0"/>
              <a:t>Introduction of File Management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EF239-0D7E-40EC-AD1F-DF340BCF1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 </a:t>
            </a:r>
          </a:p>
        </p:txBody>
      </p:sp>
    </p:spTree>
    <p:extLst>
      <p:ext uri="{BB962C8B-B14F-4D97-AF65-F5344CB8AC3E}">
        <p14:creationId xmlns:p14="http://schemas.microsoft.com/office/powerpoint/2010/main" val="1180000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AC75F03-B6D5-46D1-A795-6AE48197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Management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1B4A1E-C864-4BE1-AD15-704B5FF4E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Sometimes, it is not enough to only display the data on the terminal.</a:t>
            </a:r>
          </a:p>
          <a:p>
            <a:r>
              <a:rPr lang="en-GB" dirty="0" smtClean="0"/>
              <a:t>If </a:t>
            </a:r>
            <a:r>
              <a:rPr lang="en-GB" dirty="0"/>
              <a:t>you have to enter a large number of data, it will take a lot of time to enter them all.</a:t>
            </a:r>
            <a:endParaRPr lang="en-US" dirty="0"/>
          </a:p>
          <a:p>
            <a:pPr lvl="0"/>
            <a:r>
              <a:rPr lang="en-GB" dirty="0"/>
              <a:t>But in the real word, most programs are written to store the information fetched from the program.</a:t>
            </a:r>
          </a:p>
          <a:p>
            <a:r>
              <a:rPr lang="en-GB" dirty="0"/>
              <a:t>However, if you have a file containing all the data, you can easily access the contents of the file using a few commands in C.</a:t>
            </a:r>
          </a:p>
          <a:p>
            <a:pPr lvl="0"/>
            <a:r>
              <a:rPr lang="en-GB" dirty="0"/>
              <a:t>File handling in C enables us to create, update, read, and delete the files stored on the local file system through our C program.</a:t>
            </a:r>
          </a:p>
          <a:p>
            <a:endParaRPr lang="en-US" dirty="0"/>
          </a:p>
          <a:p>
            <a:pPr lvl="0"/>
            <a:endParaRPr lang="en-US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1074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AC75F03-B6D5-46D1-A795-6AE48197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Management (Conti…)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1B4A1E-C864-4BE1-AD15-704B5FF4E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Files can be categorized into two types based on the way the file stores the data.</a:t>
            </a:r>
            <a:endParaRPr lang="en-US" dirty="0"/>
          </a:p>
          <a:p>
            <a:endParaRPr lang="en-US" dirty="0"/>
          </a:p>
          <a:p>
            <a:pPr lvl="0"/>
            <a:endParaRPr lang="en-US" dirty="0"/>
          </a:p>
          <a:p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C24D97F-04C5-EB13-1C80-7B39C1C91DB2}"/>
              </a:ext>
            </a:extLst>
          </p:cNvPr>
          <p:cNvSpPr/>
          <p:nvPr/>
        </p:nvSpPr>
        <p:spPr>
          <a:xfrm>
            <a:off x="3332547" y="1454178"/>
            <a:ext cx="2402006" cy="22028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C00000"/>
                </a:solidFill>
              </a:rPr>
              <a:t>1. Text Files</a:t>
            </a:r>
            <a:endParaRPr lang="en-IN" sz="28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49720A8-E9DF-2015-D469-7CCBF0FFF5E9}"/>
                  </a:ext>
                </a:extLst>
              </p14:cNvPr>
              <p14:cNvContentPartPr/>
              <p14:nvPr/>
            </p14:nvContentPartPr>
            <p14:xfrm>
              <a:off x="7287593" y="260639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49720A8-E9DF-2015-D469-7CCBF0FFF5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78593" y="259739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A1BDA70-EC11-C031-2EA0-7D1CD301F2BD}"/>
              </a:ext>
            </a:extLst>
          </p:cNvPr>
          <p:cNvSpPr/>
          <p:nvPr/>
        </p:nvSpPr>
        <p:spPr>
          <a:xfrm>
            <a:off x="6206368" y="1454178"/>
            <a:ext cx="2402006" cy="22028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C00000"/>
                </a:solidFill>
              </a:rPr>
              <a:t>2. Binary Files</a:t>
            </a:r>
            <a:endParaRPr lang="en-IN" sz="2800" b="1" dirty="0">
              <a:solidFill>
                <a:srgbClr val="C00000"/>
              </a:solidFill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1CCB093-4D4F-5C29-A5A0-FC47FD54491B}"/>
              </a:ext>
            </a:extLst>
          </p:cNvPr>
          <p:cNvSpPr/>
          <p:nvPr/>
        </p:nvSpPr>
        <p:spPr>
          <a:xfrm>
            <a:off x="131179" y="4094328"/>
            <a:ext cx="4249752" cy="2359681"/>
          </a:xfrm>
          <a:prstGeom prst="wedgeRoundRectCallout">
            <a:avLst>
              <a:gd name="adj1" fmla="val 47150"/>
              <a:gd name="adj2" fmla="val -67818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A </a:t>
            </a:r>
            <a:r>
              <a:rPr lang="en-GB" sz="1600" b="1" dirty="0">
                <a:solidFill>
                  <a:schemeClr val="tx1"/>
                </a:solidFill>
              </a:rPr>
              <a:t>text file </a:t>
            </a:r>
            <a:r>
              <a:rPr lang="en-GB" sz="1600" dirty="0">
                <a:solidFill>
                  <a:schemeClr val="tx1"/>
                </a:solidFill>
              </a:rPr>
              <a:t>contains data in the form of ASCII characters and is generally used to store a stream of characters.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Each line in a text file ends with a new line character (‘\n’).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It can be read or written by any text editor.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They are generally stored with .txt file extension.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5A3D1E30-B0A8-4E5A-7764-AA1798F2DBA1}"/>
              </a:ext>
            </a:extLst>
          </p:cNvPr>
          <p:cNvSpPr/>
          <p:nvPr/>
        </p:nvSpPr>
        <p:spPr>
          <a:xfrm>
            <a:off x="7653370" y="4094327"/>
            <a:ext cx="4249752" cy="2359681"/>
          </a:xfrm>
          <a:prstGeom prst="wedgeRoundRectCallout">
            <a:avLst>
              <a:gd name="adj1" fmla="val -47908"/>
              <a:gd name="adj2" fmla="val -67819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A </a:t>
            </a:r>
            <a:r>
              <a:rPr lang="en-GB" sz="1600" b="1" dirty="0">
                <a:solidFill>
                  <a:schemeClr val="tx1"/>
                </a:solidFill>
              </a:rPr>
              <a:t>binary file </a:t>
            </a:r>
            <a:r>
              <a:rPr lang="en-GB" sz="1600" dirty="0">
                <a:solidFill>
                  <a:schemeClr val="tx1"/>
                </a:solidFill>
              </a:rPr>
              <a:t>contains data in binary form (i.e. 0’s and 1’s) instead of ASCII characters.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The binary files can be created only from within a program and their contents can only be read by a program.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More secure as they are not easily readable.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They are generally stored with .bin file extension.</a:t>
            </a:r>
            <a:endParaRPr lang="en-IN" sz="1600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4329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99DEC-A00D-B80A-3474-48D7073BA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0C7D09-B728-DA16-50A1-941B0934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GB" dirty="0"/>
              <a:t>File Handling Modes and File Opening and Closing Function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2F0C08-0F04-4174-D479-C68177B48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 </a:t>
            </a:r>
          </a:p>
        </p:txBody>
      </p:sp>
    </p:spTree>
    <p:extLst>
      <p:ext uri="{BB962C8B-B14F-4D97-AF65-F5344CB8AC3E}">
        <p14:creationId xmlns:p14="http://schemas.microsoft.com/office/powerpoint/2010/main" val="2632543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3A7E6-6831-0CA2-EF1B-906D18AE6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5701A7D-7556-B789-8C41-27249BAC4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Operations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F0AA424-248E-9EAC-DAD6-1C4825382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The following operations can be performed on a file;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dirty="0"/>
              <a:t>Creating a new file – </a:t>
            </a:r>
            <a:r>
              <a:rPr lang="en-GB" b="1" dirty="0">
                <a:solidFill>
                  <a:srgbClr val="C00000"/>
                </a:solidFill>
              </a:rPr>
              <a:t>fopen() with attributes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dirty="0"/>
              <a:t>Opening an existing file –</a:t>
            </a:r>
            <a:r>
              <a:rPr lang="en-GB" b="1" dirty="0">
                <a:solidFill>
                  <a:srgbClr val="C00000"/>
                </a:solidFill>
              </a:rPr>
              <a:t> fopen()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dirty="0"/>
              <a:t>Reading from file – </a:t>
            </a:r>
            <a:r>
              <a:rPr lang="en-GB" b="1" dirty="0" err="1">
                <a:solidFill>
                  <a:srgbClr val="C00000"/>
                </a:solidFill>
              </a:rPr>
              <a:t>fscanf</a:t>
            </a:r>
            <a:r>
              <a:rPr lang="en-GB" b="1" dirty="0">
                <a:solidFill>
                  <a:srgbClr val="C00000"/>
                </a:solidFill>
              </a:rPr>
              <a:t>() or </a:t>
            </a:r>
            <a:r>
              <a:rPr lang="en-GB" b="1" dirty="0" err="1">
                <a:solidFill>
                  <a:srgbClr val="C00000"/>
                </a:solidFill>
              </a:rPr>
              <a:t>fgets</a:t>
            </a:r>
            <a:r>
              <a:rPr lang="en-GB" b="1" dirty="0">
                <a:solidFill>
                  <a:srgbClr val="C00000"/>
                </a:solidFill>
              </a:rPr>
              <a:t>()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dirty="0"/>
              <a:t>Writing to a file – </a:t>
            </a:r>
            <a:r>
              <a:rPr lang="en-GB" b="1" dirty="0" err="1">
                <a:solidFill>
                  <a:srgbClr val="C00000"/>
                </a:solidFill>
              </a:rPr>
              <a:t>fprintf</a:t>
            </a:r>
            <a:r>
              <a:rPr lang="en-GB" b="1" dirty="0">
                <a:solidFill>
                  <a:srgbClr val="C00000"/>
                </a:solidFill>
              </a:rPr>
              <a:t>() or </a:t>
            </a:r>
            <a:r>
              <a:rPr lang="en-GB" b="1" dirty="0" err="1">
                <a:solidFill>
                  <a:srgbClr val="C00000"/>
                </a:solidFill>
              </a:rPr>
              <a:t>fputs</a:t>
            </a:r>
            <a:r>
              <a:rPr lang="en-GB" b="1" dirty="0">
                <a:solidFill>
                  <a:srgbClr val="C00000"/>
                </a:solidFill>
              </a:rPr>
              <a:t>()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dirty="0"/>
              <a:t>Moving to a specific location – </a:t>
            </a:r>
            <a:r>
              <a:rPr lang="en-GB" b="1" dirty="0" err="1">
                <a:solidFill>
                  <a:srgbClr val="C00000"/>
                </a:solidFill>
              </a:rPr>
              <a:t>fseek</a:t>
            </a:r>
            <a:r>
              <a:rPr lang="en-GB" b="1" dirty="0">
                <a:solidFill>
                  <a:srgbClr val="C00000"/>
                </a:solidFill>
              </a:rPr>
              <a:t>() and rewind()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dirty="0"/>
              <a:t>Closing a file – </a:t>
            </a:r>
            <a:r>
              <a:rPr lang="en-GB" b="1" dirty="0" err="1" smtClean="0">
                <a:solidFill>
                  <a:srgbClr val="C00000"/>
                </a:solidFill>
              </a:rPr>
              <a:t>fclose</a:t>
            </a:r>
            <a:r>
              <a:rPr lang="en-GB" b="1" dirty="0">
                <a:solidFill>
                  <a:srgbClr val="C00000"/>
                </a:solidFill>
              </a:rPr>
              <a:t>() </a:t>
            </a:r>
          </a:p>
          <a:p>
            <a:pPr marL="457200" lvl="0" indent="-457200">
              <a:buFont typeface="+mj-lt"/>
              <a:buAutoNum type="arabicPeriod"/>
            </a:pPr>
            <a:endParaRPr lang="en-GB" b="1" dirty="0">
              <a:solidFill>
                <a:srgbClr val="C00000"/>
              </a:solidFill>
            </a:endParaRPr>
          </a:p>
          <a:p>
            <a:endParaRPr lang="en-US" dirty="0"/>
          </a:p>
          <a:p>
            <a:pPr lvl="0"/>
            <a:endParaRPr lang="en-US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898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2F9D0-5514-4DB1-6ED8-96C21560E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250778B-9879-111C-74C9-D21F7FBC2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Pointer in C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85DF0A9-BA8B-20FD-21A9-2070FC2C7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When working with files, you need to declare a pointer of type file. This declaration is needed for communication between the file and the program.</a:t>
            </a:r>
            <a:endParaRPr lang="en-GB" b="1" dirty="0">
              <a:solidFill>
                <a:srgbClr val="C00000"/>
              </a:solidFill>
            </a:endParaRPr>
          </a:p>
          <a:p>
            <a:r>
              <a:rPr lang="en-GB" dirty="0"/>
              <a:t>We use the </a:t>
            </a:r>
            <a:r>
              <a:rPr lang="en-GB" b="1" dirty="0"/>
              <a:t>FILE macro </a:t>
            </a:r>
            <a:r>
              <a:rPr lang="en-GB" dirty="0"/>
              <a:t>to declare the file pointer variable.</a:t>
            </a:r>
          </a:p>
          <a:p>
            <a:r>
              <a:rPr lang="en-GB" dirty="0"/>
              <a:t>The </a:t>
            </a:r>
            <a:r>
              <a:rPr lang="en-GB" b="1" dirty="0"/>
              <a:t>FILE macro </a:t>
            </a:r>
            <a:r>
              <a:rPr lang="en-GB" dirty="0"/>
              <a:t>is defined inside </a:t>
            </a:r>
            <a:r>
              <a:rPr lang="en-GB" b="1" dirty="0"/>
              <a:t>&lt;</a:t>
            </a:r>
            <a:r>
              <a:rPr lang="en-GB" b="1" dirty="0" err="1"/>
              <a:t>stdio.h</a:t>
            </a:r>
            <a:r>
              <a:rPr lang="en-GB" b="1" dirty="0"/>
              <a:t>&gt; </a:t>
            </a:r>
            <a:r>
              <a:rPr lang="en-GB" dirty="0"/>
              <a:t>header file.</a:t>
            </a:r>
            <a:endParaRPr lang="en-US" dirty="0"/>
          </a:p>
          <a:p>
            <a:pPr lvl="0"/>
            <a:r>
              <a:rPr lang="en-US" b="1" dirty="0">
                <a:solidFill>
                  <a:srgbClr val="C00000"/>
                </a:solidFill>
              </a:rPr>
              <a:t>Syntax;</a:t>
            </a:r>
          </a:p>
          <a:p>
            <a:endParaRPr lang="en-US" dirty="0"/>
          </a:p>
          <a:p>
            <a:r>
              <a:rPr lang="en-GB" dirty="0"/>
              <a:t>File Pointer is used in almost all the file operations in C.</a:t>
            </a:r>
          </a:p>
          <a:p>
            <a:r>
              <a:rPr lang="en-GB" dirty="0"/>
              <a:t>We must open a file before it can be read, write, or update. The </a:t>
            </a:r>
            <a:r>
              <a:rPr lang="en-GB" b="1" dirty="0">
                <a:solidFill>
                  <a:srgbClr val="C00000"/>
                </a:solidFill>
              </a:rPr>
              <a:t>fopen() </a:t>
            </a:r>
            <a:r>
              <a:rPr lang="en-GB" dirty="0"/>
              <a:t>function is used to open a file. </a:t>
            </a:r>
          </a:p>
          <a:p>
            <a:r>
              <a:rPr lang="en-GB" b="1" dirty="0">
                <a:solidFill>
                  <a:srgbClr val="C00000"/>
                </a:solidFill>
              </a:rPr>
              <a:t>Syntax of the fopen()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6E95B8-B899-FEC6-8B60-0492F0549E6E}"/>
              </a:ext>
            </a:extLst>
          </p:cNvPr>
          <p:cNvSpPr txBox="1"/>
          <p:nvPr/>
        </p:nvSpPr>
        <p:spPr>
          <a:xfrm>
            <a:off x="1337481" y="2964134"/>
            <a:ext cx="2497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FILE *</a:t>
            </a:r>
            <a:r>
              <a:rPr lang="en-GB" b="1" dirty="0" err="1"/>
              <a:t>pointer_name</a:t>
            </a:r>
            <a:r>
              <a:rPr lang="en-GB" b="1" dirty="0"/>
              <a:t>;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F79B13-EFA1-FF27-BEED-3E554737C272}"/>
              </a:ext>
            </a:extLst>
          </p:cNvPr>
          <p:cNvSpPr txBox="1"/>
          <p:nvPr/>
        </p:nvSpPr>
        <p:spPr>
          <a:xfrm>
            <a:off x="1337481" y="5249489"/>
            <a:ext cx="8407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FILE *fopen(</a:t>
            </a:r>
            <a:r>
              <a:rPr lang="en-GB" b="1" dirty="0" err="1">
                <a:solidFill>
                  <a:srgbClr val="C00000"/>
                </a:solidFill>
              </a:rPr>
              <a:t>const</a:t>
            </a:r>
            <a:r>
              <a:rPr lang="en-GB" b="1" dirty="0">
                <a:solidFill>
                  <a:srgbClr val="C00000"/>
                </a:solidFill>
              </a:rPr>
              <a:t> char*</a:t>
            </a:r>
            <a:r>
              <a:rPr lang="en-GB" b="1" dirty="0" err="1">
                <a:solidFill>
                  <a:srgbClr val="C00000"/>
                </a:solidFill>
              </a:rPr>
              <a:t>file_name</a:t>
            </a:r>
            <a:r>
              <a:rPr lang="en-GB" b="1" dirty="0"/>
              <a:t>, </a:t>
            </a:r>
            <a:r>
              <a:rPr lang="en-GB" b="1" dirty="0" err="1">
                <a:solidFill>
                  <a:srgbClr val="C00000"/>
                </a:solidFill>
              </a:rPr>
              <a:t>const</a:t>
            </a:r>
            <a:r>
              <a:rPr lang="en-GB" b="1" dirty="0">
                <a:solidFill>
                  <a:srgbClr val="C00000"/>
                </a:solidFill>
              </a:rPr>
              <a:t> char*</a:t>
            </a:r>
            <a:r>
              <a:rPr lang="en-GB" b="1" dirty="0" err="1">
                <a:solidFill>
                  <a:srgbClr val="C00000"/>
                </a:solidFill>
              </a:rPr>
              <a:t>handling_mode</a:t>
            </a:r>
            <a:r>
              <a:rPr lang="en-GB" b="1" dirty="0"/>
              <a:t>);</a:t>
            </a:r>
            <a:endParaRPr lang="en-IN" b="1" dirty="0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73C64FEC-C22D-05B4-5D39-3225D7C8392E}"/>
              </a:ext>
            </a:extLst>
          </p:cNvPr>
          <p:cNvSpPr/>
          <p:nvPr/>
        </p:nvSpPr>
        <p:spPr>
          <a:xfrm>
            <a:off x="256659" y="5934911"/>
            <a:ext cx="7345144" cy="577580"/>
          </a:xfrm>
          <a:prstGeom prst="wedgeRoundRectCallout">
            <a:avLst>
              <a:gd name="adj1" fmla="val -3053"/>
              <a:gd name="adj2" fmla="val -122165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b="1" dirty="0" err="1">
                <a:solidFill>
                  <a:srgbClr val="C00000"/>
                </a:solidFill>
              </a:rPr>
              <a:t>file_name</a:t>
            </a:r>
            <a:r>
              <a:rPr lang="en-GB" sz="1600" b="1" dirty="0">
                <a:solidFill>
                  <a:srgbClr val="C00000"/>
                </a:solidFill>
              </a:rPr>
              <a:t>: </a:t>
            </a:r>
            <a:r>
              <a:rPr lang="en-GB" sz="1600" dirty="0">
                <a:solidFill>
                  <a:schemeClr val="tx1"/>
                </a:solidFill>
              </a:rPr>
              <a:t>name of the file when present in the same directory as the source file. else full path. </a:t>
            </a:r>
            <a:r>
              <a:rPr lang="en-GB" sz="1600" i="1" dirty="0">
                <a:solidFill>
                  <a:schemeClr val="tx1"/>
                </a:solidFill>
              </a:rPr>
              <a:t>(For Example; c://CP2/demo.txt)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13EACE-08E7-0B54-4C2D-62D637A80151}"/>
              </a:ext>
            </a:extLst>
          </p:cNvPr>
          <p:cNvSpPr txBox="1"/>
          <p:nvPr/>
        </p:nvSpPr>
        <p:spPr>
          <a:xfrm>
            <a:off x="7124133" y="4579456"/>
            <a:ext cx="6823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rgbClr val="C00000"/>
                </a:solidFill>
                <a:sym typeface="Webdings" panose="05030102010509060703" pitchFamily="18" charset="2"/>
              </a:rPr>
              <a:t></a:t>
            </a:r>
            <a:endParaRPr lang="en-IN" sz="4000" dirty="0">
              <a:solidFill>
                <a:srgbClr val="C00000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492FB58-D660-260D-6711-0830F8E7E162}"/>
              </a:ext>
            </a:extLst>
          </p:cNvPr>
          <p:cNvGrpSpPr/>
          <p:nvPr/>
        </p:nvGrpSpPr>
        <p:grpSpPr>
          <a:xfrm>
            <a:off x="5404513" y="4933399"/>
            <a:ext cx="1760563" cy="316090"/>
            <a:chOff x="5404513" y="4933399"/>
            <a:chExt cx="1760563" cy="316090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BC8225B-972A-8E99-04E0-80D1972D85F8}"/>
                </a:ext>
              </a:extLst>
            </p:cNvPr>
            <p:cNvCxnSpPr/>
            <p:nvPr/>
          </p:nvCxnSpPr>
          <p:spPr>
            <a:xfrm>
              <a:off x="5404513" y="4933399"/>
              <a:ext cx="0" cy="31609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83415D3-FD3C-1CEB-9A74-FDDC0867207A}"/>
                </a:ext>
              </a:extLst>
            </p:cNvPr>
            <p:cNvCxnSpPr/>
            <p:nvPr/>
          </p:nvCxnSpPr>
          <p:spPr>
            <a:xfrm>
              <a:off x="5404513" y="4933399"/>
              <a:ext cx="1760563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41F4756-8FB8-6FD1-7E88-12DC2EB1C0EC}"/>
              </a:ext>
            </a:extLst>
          </p:cNvPr>
          <p:cNvSpPr txBox="1"/>
          <p:nvPr/>
        </p:nvSpPr>
        <p:spPr>
          <a:xfrm>
            <a:off x="8420669" y="4426186"/>
            <a:ext cx="36401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/>
              <a:t>If the file is opened successfully, returns a file pointer to it else it returns NULL.</a:t>
            </a:r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1C0BD1E-B9CB-412E-FE34-A8F8DF4B602A}"/>
              </a:ext>
            </a:extLst>
          </p:cNvPr>
          <p:cNvGrpSpPr/>
          <p:nvPr/>
        </p:nvGrpSpPr>
        <p:grpSpPr>
          <a:xfrm>
            <a:off x="3929231" y="4579456"/>
            <a:ext cx="4491438" cy="616791"/>
            <a:chOff x="5404513" y="4933399"/>
            <a:chExt cx="1760563" cy="316090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C1B8DF5-A42F-EA89-0195-D9F0921B161B}"/>
                </a:ext>
              </a:extLst>
            </p:cNvPr>
            <p:cNvCxnSpPr/>
            <p:nvPr/>
          </p:nvCxnSpPr>
          <p:spPr>
            <a:xfrm>
              <a:off x="5404513" y="4933399"/>
              <a:ext cx="0" cy="31609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4AE1BE4-291C-AB28-521B-17B73AD3FD91}"/>
                </a:ext>
              </a:extLst>
            </p:cNvPr>
            <p:cNvCxnSpPr/>
            <p:nvPr/>
          </p:nvCxnSpPr>
          <p:spPr>
            <a:xfrm>
              <a:off x="5404513" y="4933399"/>
              <a:ext cx="1760563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679177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6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10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5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/>
      <p:bldP spid="5" grpId="1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59C94-2CE4-7A7B-A247-156B969DC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F7A54F4-74F4-6AFC-F115-8D7D1CA0B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Handling Modes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C6A8145-F323-1FD9-F102-7262E2561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File handling modes or access modes specify the allowed operations on the file to be opened.</a:t>
            </a:r>
          </a:p>
          <a:p>
            <a:pPr lvl="0"/>
            <a:r>
              <a:rPr lang="en-GB" dirty="0"/>
              <a:t>They are passed as an argument through fopen() function. Some of them are as below;</a:t>
            </a:r>
          </a:p>
          <a:p>
            <a:pPr marL="457200" lvl="0" indent="-457200">
              <a:buFont typeface="+mj-lt"/>
              <a:buAutoNum type="arabicPeriod"/>
            </a:pPr>
            <a:endParaRPr lang="en-GB" b="1" dirty="0">
              <a:solidFill>
                <a:srgbClr val="C00000"/>
              </a:solidFill>
            </a:endParaRPr>
          </a:p>
          <a:p>
            <a:endParaRPr lang="en-US" dirty="0"/>
          </a:p>
          <a:p>
            <a:pPr lvl="0"/>
            <a:endParaRPr lang="en-US" dirty="0"/>
          </a:p>
          <a:p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1037590-E17D-0563-E1E5-3DAAB6B761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18310"/>
              </p:ext>
            </p:extLst>
          </p:nvPr>
        </p:nvGraphicFramePr>
        <p:xfrm>
          <a:off x="445065" y="1741655"/>
          <a:ext cx="11301863" cy="6400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19962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10081901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Opening Modes</a:t>
                      </a:r>
                      <a:endParaRPr lang="en-IN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Description</a:t>
                      </a:r>
                      <a:endParaRPr lang="en-IN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6ABCA51-D2CD-2C35-9790-15C770494A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833135"/>
              </p:ext>
            </p:extLst>
          </p:nvPr>
        </p:nvGraphicFramePr>
        <p:xfrm>
          <a:off x="445068" y="2475057"/>
          <a:ext cx="11301863" cy="914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19959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10081904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r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It searches file;</a:t>
                      </a:r>
                    </a:p>
                    <a:p>
                      <a:pPr marL="285750" indent="-285750"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If the file is opened successfully fopen( ) loads it and sets up a pointer to the first character in it.</a:t>
                      </a:r>
                    </a:p>
                    <a:p>
                      <a:pPr marL="285750" indent="-285750"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If the file cannot be opened fopen( ) returns NULL.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C1D223-5FC0-35B4-641B-FCB95B2148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489944"/>
              </p:ext>
            </p:extLst>
          </p:nvPr>
        </p:nvGraphicFramePr>
        <p:xfrm>
          <a:off x="445067" y="3541701"/>
          <a:ext cx="11301863" cy="914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19959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10081904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w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Open for writing in text mode;</a:t>
                      </a:r>
                    </a:p>
                    <a:p>
                      <a:pPr marL="285750" indent="-285750"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If the file exists, its contents are overwritten. If the file doesn’t exist, a new file is created.</a:t>
                      </a:r>
                    </a:p>
                    <a:p>
                      <a:pPr marL="285750" indent="-285750"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Returns NULL, if unable to open the file.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B8DDD01-FB4F-1658-FBDA-9B2EFEBB18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978078"/>
              </p:ext>
            </p:extLst>
          </p:nvPr>
        </p:nvGraphicFramePr>
        <p:xfrm>
          <a:off x="445066" y="4608345"/>
          <a:ext cx="11301863" cy="1188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19959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10081904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rgbClr val="C00000"/>
                          </a:solidFill>
                        </a:rPr>
                        <a:t>a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It searches file;</a:t>
                      </a:r>
                    </a:p>
                    <a:p>
                      <a:pPr marL="285750" indent="-285750" algn="just"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If the file is opened successfully fopen( ) loads it and sets up a pointer to the last character in it. If the file doesn’t exist, a new file is created</a:t>
                      </a:r>
                    </a:p>
                    <a:p>
                      <a:pPr marL="285750" indent="-285750" algn="just"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Returns NULL, if unable to open the file.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674479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5CBD0-2F4E-45A0-9073-5EAFF5877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BF4E1EC-1343-3D4E-6644-9C6547508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Handling Modes (Conti…)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6CEEF7E-814B-E288-C1E4-C09C87332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>
              <a:solidFill>
                <a:srgbClr val="C00000"/>
              </a:solidFill>
            </a:endParaRPr>
          </a:p>
          <a:p>
            <a:endParaRPr lang="en-GB" b="1" dirty="0">
              <a:solidFill>
                <a:srgbClr val="C00000"/>
              </a:solidFill>
            </a:endParaRPr>
          </a:p>
          <a:p>
            <a:endParaRPr lang="en-GB" b="1" dirty="0">
              <a:solidFill>
                <a:srgbClr val="C00000"/>
              </a:solidFill>
            </a:endParaRPr>
          </a:p>
          <a:p>
            <a:endParaRPr lang="en-GB" b="1" dirty="0">
              <a:solidFill>
                <a:srgbClr val="C00000"/>
              </a:solidFill>
            </a:endParaRPr>
          </a:p>
          <a:p>
            <a:endParaRPr lang="en-GB" b="1" dirty="0">
              <a:solidFill>
                <a:srgbClr val="C00000"/>
              </a:solidFill>
            </a:endParaRPr>
          </a:p>
          <a:p>
            <a:endParaRPr lang="en-GB" b="1" dirty="0">
              <a:solidFill>
                <a:srgbClr val="C00000"/>
              </a:solidFill>
            </a:endParaRPr>
          </a:p>
          <a:p>
            <a:endParaRPr lang="en-GB" b="1" dirty="0">
              <a:solidFill>
                <a:srgbClr val="C00000"/>
              </a:solidFill>
            </a:endParaRPr>
          </a:p>
          <a:p>
            <a:endParaRPr lang="en-GB" b="1" dirty="0">
              <a:solidFill>
                <a:srgbClr val="C00000"/>
              </a:solidFill>
            </a:endParaRPr>
          </a:p>
          <a:p>
            <a:endParaRPr lang="en-GB" b="1" dirty="0">
              <a:solidFill>
                <a:srgbClr val="C00000"/>
              </a:solidFill>
            </a:endParaRPr>
          </a:p>
          <a:p>
            <a:endParaRPr lang="en-GB" b="1" dirty="0">
              <a:solidFill>
                <a:srgbClr val="C00000"/>
              </a:solidFill>
            </a:endParaRPr>
          </a:p>
          <a:p>
            <a:endParaRPr lang="en-GB" b="1" dirty="0">
              <a:solidFill>
                <a:srgbClr val="C00000"/>
              </a:solidFill>
            </a:endParaRPr>
          </a:p>
          <a:p>
            <a:r>
              <a:rPr lang="en-GB" b="1" dirty="0">
                <a:solidFill>
                  <a:srgbClr val="C00000"/>
                </a:solidFill>
              </a:rPr>
              <a:t>NOTE : </a:t>
            </a:r>
            <a:r>
              <a:rPr lang="en-GB" b="1" dirty="0"/>
              <a:t>rb,wb,ab,</a:t>
            </a:r>
            <a:r>
              <a:rPr lang="en-GB" b="1" dirty="0" err="1"/>
              <a:t>rb</a:t>
            </a:r>
            <a:r>
              <a:rPr lang="en-GB" b="1" dirty="0"/>
              <a:t>+,</a:t>
            </a:r>
            <a:r>
              <a:rPr lang="en-GB" b="1" dirty="0" err="1"/>
              <a:t>wb</a:t>
            </a:r>
            <a:r>
              <a:rPr lang="en-GB" b="1" dirty="0"/>
              <a:t>+ and ab+ modes work with binary file.</a:t>
            </a:r>
            <a:endParaRPr lang="en-US" dirty="0"/>
          </a:p>
          <a:p>
            <a:pPr lvl="0"/>
            <a:endParaRPr lang="en-US" dirty="0"/>
          </a:p>
          <a:p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25413DC-F63F-9784-4583-D4A4697FB9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991430"/>
              </p:ext>
            </p:extLst>
          </p:nvPr>
        </p:nvGraphicFramePr>
        <p:xfrm>
          <a:off x="445067" y="863445"/>
          <a:ext cx="11301863" cy="6400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19962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10081901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Opening Modes</a:t>
                      </a:r>
                      <a:endParaRPr lang="en-IN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Description</a:t>
                      </a:r>
                      <a:endParaRPr lang="en-IN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C95EC59-C3F5-76BD-1EDC-161A054CF7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051243"/>
              </p:ext>
            </p:extLst>
          </p:nvPr>
        </p:nvGraphicFramePr>
        <p:xfrm>
          <a:off x="445070" y="1596847"/>
          <a:ext cx="11301863" cy="1188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19959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10081904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r+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It searches file;</a:t>
                      </a:r>
                    </a:p>
                    <a:p>
                      <a:pPr marL="285750" indent="-285750"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If the file is opened successfully fopen( ) loads it and sets up a pointer to the first character in it.</a:t>
                      </a:r>
                    </a:p>
                    <a:p>
                      <a:pPr marL="285750" indent="-285750"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If the file cannot be opened fopen( ) returns NULL.</a:t>
                      </a:r>
                    </a:p>
                    <a:p>
                      <a:pPr marL="285750" indent="-285750"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It opens a text file in read and write both mode.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8E5F3B-4252-307A-95DA-6E0D78E2C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594162"/>
              </p:ext>
            </p:extLst>
          </p:nvPr>
        </p:nvGraphicFramePr>
        <p:xfrm>
          <a:off x="445069" y="2937811"/>
          <a:ext cx="11301863" cy="1188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19959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10081904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w+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Open for writing in text mode;</a:t>
                      </a:r>
                    </a:p>
                    <a:p>
                      <a:pPr marL="285750" indent="-285750"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If the file exists, its contents are overwritten. If the file doesn’t exist, a new file is created.</a:t>
                      </a:r>
                    </a:p>
                    <a:p>
                      <a:pPr marL="285750" indent="-285750"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Returns NULL, if unable to open the file.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It opens a text file in read and write both mode.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81CA3FD-5150-D3EA-C706-C9A74410F4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568781"/>
              </p:ext>
            </p:extLst>
          </p:nvPr>
        </p:nvGraphicFramePr>
        <p:xfrm>
          <a:off x="423801" y="4278784"/>
          <a:ext cx="11301863" cy="14630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19959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10081904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a+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It searches file;</a:t>
                      </a:r>
                    </a:p>
                    <a:p>
                      <a:pPr marL="285750" indent="-285750" algn="just"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If the file is opened successfully fopen( ) loads it and sets up a pointer to the last character in it. If the file doesn’t exist, a new file is created</a:t>
                      </a:r>
                    </a:p>
                    <a:p>
                      <a:pPr marL="285750" indent="-285750" algn="just"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Returns NULL, if unable to open the file.</a:t>
                      </a:r>
                    </a:p>
                    <a:p>
                      <a:pPr marL="285750" indent="-285750" algn="just">
                        <a:buClr>
                          <a:srgbClr val="C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It opens a text file in read and write both mode.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16344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AC75F03-B6D5-46D1-A795-6AE48197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File Opening and Closing Function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1B4A1E-C864-4BE1-AD15-704B5FF4E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Example;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235F74-580A-FEC2-A430-A311B0C21426}"/>
              </a:ext>
            </a:extLst>
          </p:cNvPr>
          <p:cNvSpPr txBox="1"/>
          <p:nvPr/>
        </p:nvSpPr>
        <p:spPr>
          <a:xfrm>
            <a:off x="887103" y="1232599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#include&lt;stdio.h&gt;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9636BB-C9A6-D5D3-C0FE-A61E8B77DBC1}"/>
              </a:ext>
            </a:extLst>
          </p:cNvPr>
          <p:cNvSpPr txBox="1"/>
          <p:nvPr/>
        </p:nvSpPr>
        <p:spPr>
          <a:xfrm>
            <a:off x="887103" y="1666108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main()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8A1C12-6BBB-94D5-3D1F-FCA51609AD82}"/>
              </a:ext>
            </a:extLst>
          </p:cNvPr>
          <p:cNvSpPr txBox="1"/>
          <p:nvPr/>
        </p:nvSpPr>
        <p:spPr>
          <a:xfrm>
            <a:off x="887103" y="2100070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804F8D-01A7-1684-C90A-D072517654FE}"/>
              </a:ext>
            </a:extLst>
          </p:cNvPr>
          <p:cNvSpPr txBox="1"/>
          <p:nvPr/>
        </p:nvSpPr>
        <p:spPr>
          <a:xfrm>
            <a:off x="887103" y="6245922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ACA237-A665-7FF4-4FF0-9C0DBD91CC0C}"/>
              </a:ext>
            </a:extLst>
          </p:cNvPr>
          <p:cNvSpPr txBox="1"/>
          <p:nvPr/>
        </p:nvSpPr>
        <p:spPr>
          <a:xfrm>
            <a:off x="1367046" y="2539250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FILE *</a:t>
            </a:r>
            <a:r>
              <a:rPr lang="en-GB" dirty="0" err="1"/>
              <a:t>fptr</a:t>
            </a:r>
            <a:r>
              <a:rPr lang="en-GB" dirty="0"/>
              <a:t>;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783D8F-1669-1276-2419-0D8DDC6167E9}"/>
              </a:ext>
            </a:extLst>
          </p:cNvPr>
          <p:cNvSpPr txBox="1"/>
          <p:nvPr/>
        </p:nvSpPr>
        <p:spPr>
          <a:xfrm>
            <a:off x="1367046" y="2943868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fptr</a:t>
            </a:r>
            <a:r>
              <a:rPr lang="en-GB" dirty="0"/>
              <a:t> = fopen("</a:t>
            </a:r>
            <a:r>
              <a:rPr lang="en-GB" dirty="0" err="1"/>
              <a:t>hello.txt","w</a:t>
            </a:r>
            <a:r>
              <a:rPr lang="en-GB" dirty="0"/>
              <a:t>");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FD741E-EE1E-013A-3404-0E43F74183DD}"/>
              </a:ext>
            </a:extLst>
          </p:cNvPr>
          <p:cNvSpPr txBox="1"/>
          <p:nvPr/>
        </p:nvSpPr>
        <p:spPr>
          <a:xfrm>
            <a:off x="1367046" y="339559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if(</a:t>
            </a:r>
            <a:r>
              <a:rPr lang="en-GB" dirty="0" err="1"/>
              <a:t>fptr</a:t>
            </a:r>
            <a:r>
              <a:rPr lang="en-GB" dirty="0"/>
              <a:t>==NULL)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23FCB2-BCEE-C067-B233-49D82AD3D2DD}"/>
              </a:ext>
            </a:extLst>
          </p:cNvPr>
          <p:cNvSpPr txBox="1"/>
          <p:nvPr/>
        </p:nvSpPr>
        <p:spPr>
          <a:xfrm>
            <a:off x="1367046" y="3707247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0A49B7-920D-CB7E-4318-A4DBD30987CE}"/>
              </a:ext>
            </a:extLst>
          </p:cNvPr>
          <p:cNvSpPr txBox="1"/>
          <p:nvPr/>
        </p:nvSpPr>
        <p:spPr>
          <a:xfrm>
            <a:off x="1367045" y="439151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62193C-8352-4264-C85F-C746B801649E}"/>
              </a:ext>
            </a:extLst>
          </p:cNvPr>
          <p:cNvSpPr txBox="1"/>
          <p:nvPr/>
        </p:nvSpPr>
        <p:spPr>
          <a:xfrm>
            <a:off x="1683219" y="3987591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printf</a:t>
            </a:r>
            <a:r>
              <a:rPr lang="en-IN" dirty="0"/>
              <a:t>("File Not Available");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264C1D-A49A-D07D-DB2B-77515AB77B2F}"/>
              </a:ext>
            </a:extLst>
          </p:cNvPr>
          <p:cNvSpPr txBox="1"/>
          <p:nvPr/>
        </p:nvSpPr>
        <p:spPr>
          <a:xfrm>
            <a:off x="1367045" y="472842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else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F525F5-EA08-42C6-5C04-F1434671836E}"/>
              </a:ext>
            </a:extLst>
          </p:cNvPr>
          <p:cNvSpPr txBox="1"/>
          <p:nvPr/>
        </p:nvSpPr>
        <p:spPr>
          <a:xfrm>
            <a:off x="1367045" y="5040077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6849E4-1DF3-1C28-12B4-7DCF842A51D7}"/>
              </a:ext>
            </a:extLst>
          </p:cNvPr>
          <p:cNvSpPr txBox="1"/>
          <p:nvPr/>
        </p:nvSpPr>
        <p:spPr>
          <a:xfrm>
            <a:off x="1367044" y="572434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00C277-6042-C352-028B-A0C4829F40DE}"/>
              </a:ext>
            </a:extLst>
          </p:cNvPr>
          <p:cNvSpPr txBox="1"/>
          <p:nvPr/>
        </p:nvSpPr>
        <p:spPr>
          <a:xfrm>
            <a:off x="1683218" y="5320421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("File is now available");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6560DE-AF94-F1DC-7BC8-1525D635EA8D}"/>
              </a:ext>
            </a:extLst>
          </p:cNvPr>
          <p:cNvSpPr txBox="1"/>
          <p:nvPr/>
        </p:nvSpPr>
        <p:spPr>
          <a:xfrm>
            <a:off x="1367044" y="6059116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fclose</a:t>
            </a:r>
            <a:r>
              <a:rPr lang="en-GB" dirty="0"/>
              <a:t>(</a:t>
            </a:r>
            <a:r>
              <a:rPr lang="en-GB" dirty="0" err="1"/>
              <a:t>fptr</a:t>
            </a:r>
            <a:r>
              <a:rPr lang="en-GB" dirty="0"/>
              <a:t>);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1C9EA4-A892-2463-9B6F-61762FF2BDBA}"/>
              </a:ext>
            </a:extLst>
          </p:cNvPr>
          <p:cNvSpPr txBox="1"/>
          <p:nvPr/>
        </p:nvSpPr>
        <p:spPr>
          <a:xfrm>
            <a:off x="6933062" y="2208981"/>
            <a:ext cx="2674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/>
              <a:t>opens new or existing file.</a:t>
            </a:r>
            <a:endParaRPr lang="en-IN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5580566-5540-3146-679A-D3A1BF1FA096}"/>
              </a:ext>
            </a:extLst>
          </p:cNvPr>
          <p:cNvGrpSpPr/>
          <p:nvPr/>
        </p:nvGrpSpPr>
        <p:grpSpPr>
          <a:xfrm>
            <a:off x="2441624" y="2393647"/>
            <a:ext cx="4491438" cy="616791"/>
            <a:chOff x="5404513" y="4933399"/>
            <a:chExt cx="1760563" cy="316090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B78C158-71BF-4D46-51BF-9191A2CAEA34}"/>
                </a:ext>
              </a:extLst>
            </p:cNvPr>
            <p:cNvCxnSpPr/>
            <p:nvPr/>
          </p:nvCxnSpPr>
          <p:spPr>
            <a:xfrm>
              <a:off x="5404513" y="4933399"/>
              <a:ext cx="0" cy="31609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85BF991-C243-D6C5-75AF-D7BCD3AF1C65}"/>
                </a:ext>
              </a:extLst>
            </p:cNvPr>
            <p:cNvCxnSpPr/>
            <p:nvPr/>
          </p:nvCxnSpPr>
          <p:spPr>
            <a:xfrm>
              <a:off x="5404513" y="4933399"/>
              <a:ext cx="1760563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0ECC7E7-E5BF-63F3-F567-5819DD6A133E}"/>
              </a:ext>
            </a:extLst>
          </p:cNvPr>
          <p:cNvSpPr txBox="1"/>
          <p:nvPr/>
        </p:nvSpPr>
        <p:spPr>
          <a:xfrm>
            <a:off x="6301563" y="5609528"/>
            <a:ext cx="2674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/>
              <a:t>closes the file.</a:t>
            </a:r>
            <a:endParaRPr lang="en-I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3D7731A-2BEE-9DA3-BF68-361D656B00CD}"/>
              </a:ext>
            </a:extLst>
          </p:cNvPr>
          <p:cNvGrpSpPr/>
          <p:nvPr/>
        </p:nvGrpSpPr>
        <p:grpSpPr>
          <a:xfrm>
            <a:off x="1810125" y="5794194"/>
            <a:ext cx="4491438" cy="354325"/>
            <a:chOff x="5404513" y="4933399"/>
            <a:chExt cx="1760563" cy="316090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08E37A36-84A4-A035-70E3-98BEE60FA664}"/>
                </a:ext>
              </a:extLst>
            </p:cNvPr>
            <p:cNvCxnSpPr/>
            <p:nvPr/>
          </p:nvCxnSpPr>
          <p:spPr>
            <a:xfrm>
              <a:off x="5404513" y="4933399"/>
              <a:ext cx="0" cy="31609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ADA5A38-43D7-1782-48F8-D53D1379BD87}"/>
                </a:ext>
              </a:extLst>
            </p:cNvPr>
            <p:cNvCxnSpPr/>
            <p:nvPr/>
          </p:nvCxnSpPr>
          <p:spPr>
            <a:xfrm>
              <a:off x="5404513" y="4933399"/>
              <a:ext cx="1760563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782762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26" dur="10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50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59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16" grpId="0"/>
      <p:bldP spid="17" grpId="0"/>
      <p:bldP spid="18" grpId="0"/>
      <p:bldP spid="19" grpId="0"/>
      <p:bldP spid="8" grpId="0"/>
      <p:bldP spid="25" grpId="0"/>
      <p:bldP spid="26" grpId="0"/>
      <p:bldP spid="27" grpId="0"/>
      <p:bldP spid="11" grpId="0"/>
      <p:bldP spid="12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4B0A1-C3BC-FCDE-1BDA-29F6F0ACB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EA5AFF-D117-CF03-9EBC-BA6FC7C7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GB" dirty="0"/>
              <a:t>I/O operations on File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6E07A4-34F1-DE97-7154-A72086333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 </a:t>
            </a:r>
          </a:p>
        </p:txBody>
      </p:sp>
    </p:spTree>
    <p:extLst>
      <p:ext uri="{BB962C8B-B14F-4D97-AF65-F5344CB8AC3E}">
        <p14:creationId xmlns:p14="http://schemas.microsoft.com/office/powerpoint/2010/main" val="1726461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10170-86F0-6C57-4E4B-2828738B3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670A976-2E2A-35E4-11A2-BB18E30F4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fgetc</a:t>
            </a:r>
            <a:r>
              <a:rPr lang="en-US" dirty="0"/>
              <a:t>() Function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41E9142-8326-BEF6-F4E1-96612D478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 err="1"/>
              <a:t>fgetc</a:t>
            </a:r>
            <a:r>
              <a:rPr lang="en-GB" b="1" dirty="0"/>
              <a:t>()</a:t>
            </a:r>
            <a:r>
              <a:rPr lang="en-GB" dirty="0"/>
              <a:t> is used to obtain input from a file single character at a time.</a:t>
            </a:r>
            <a:endParaRPr lang="en-GB" b="1" dirty="0">
              <a:solidFill>
                <a:srgbClr val="C00000"/>
              </a:solidFill>
            </a:endParaRPr>
          </a:p>
          <a:p>
            <a:r>
              <a:rPr lang="en-GB" dirty="0"/>
              <a:t>This function returns the ASCII code of the character read by the function. It returns the character present at position indicated by file pointer.</a:t>
            </a:r>
          </a:p>
          <a:p>
            <a:r>
              <a:rPr lang="en-GB" dirty="0"/>
              <a:t>After reading the character, the file pointer is advanced to next character.</a:t>
            </a:r>
          </a:p>
          <a:p>
            <a:r>
              <a:rPr lang="en-GB" dirty="0"/>
              <a:t>If pointer is at end of file or if an error occurs EOF file is returned by this function</a:t>
            </a:r>
            <a:endParaRPr lang="en-US" dirty="0"/>
          </a:p>
          <a:p>
            <a:pPr lvl="0"/>
            <a:r>
              <a:rPr lang="en-US" b="1" dirty="0">
                <a:solidFill>
                  <a:srgbClr val="C00000"/>
                </a:solidFill>
              </a:rPr>
              <a:t>Syntax;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Create one </a:t>
            </a:r>
            <a:r>
              <a:rPr lang="en-US" b="1" dirty="0"/>
              <a:t>hello.txt </a:t>
            </a:r>
            <a:r>
              <a:rPr lang="en-US" dirty="0"/>
              <a:t>file in the same directory and copy following content into that file.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6FC74E-C97E-B084-ABDA-F3A0A169C675}"/>
              </a:ext>
            </a:extLst>
          </p:cNvPr>
          <p:cNvSpPr txBox="1"/>
          <p:nvPr/>
        </p:nvSpPr>
        <p:spPr>
          <a:xfrm>
            <a:off x="1274166" y="3757682"/>
            <a:ext cx="8407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fgetc</a:t>
            </a:r>
            <a:r>
              <a:rPr lang="en-GB" b="1" dirty="0"/>
              <a:t>(</a:t>
            </a:r>
            <a:r>
              <a:rPr lang="en-GB" b="1" dirty="0">
                <a:solidFill>
                  <a:srgbClr val="C00000"/>
                </a:solidFill>
              </a:rPr>
              <a:t>FILE *pointer</a:t>
            </a:r>
            <a:r>
              <a:rPr lang="en-GB" b="1" dirty="0"/>
              <a:t>);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37A624-08A3-9178-0659-C3BEE2F63311}"/>
              </a:ext>
            </a:extLst>
          </p:cNvPr>
          <p:cNvSpPr txBox="1"/>
          <p:nvPr/>
        </p:nvSpPr>
        <p:spPr>
          <a:xfrm>
            <a:off x="7124132" y="3019018"/>
            <a:ext cx="4039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/>
              <a:t>pointer to a FILE, that identifies the stream on which the operation is to be performed.</a:t>
            </a:r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A873AFA-BD7D-D68A-7E86-8F437D5F9A9A}"/>
              </a:ext>
            </a:extLst>
          </p:cNvPr>
          <p:cNvGrpSpPr/>
          <p:nvPr/>
        </p:nvGrpSpPr>
        <p:grpSpPr>
          <a:xfrm>
            <a:off x="2632694" y="3150114"/>
            <a:ext cx="4491438" cy="616791"/>
            <a:chOff x="5404513" y="4933399"/>
            <a:chExt cx="1760563" cy="316090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31547E4-3D30-AEE7-D5A6-3E221B29E993}"/>
                </a:ext>
              </a:extLst>
            </p:cNvPr>
            <p:cNvCxnSpPr/>
            <p:nvPr/>
          </p:nvCxnSpPr>
          <p:spPr>
            <a:xfrm>
              <a:off x="5404513" y="4933399"/>
              <a:ext cx="0" cy="31609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1282D45-1AB6-65D8-D270-A638E06EE206}"/>
                </a:ext>
              </a:extLst>
            </p:cNvPr>
            <p:cNvCxnSpPr/>
            <p:nvPr/>
          </p:nvCxnSpPr>
          <p:spPr>
            <a:xfrm>
              <a:off x="5404513" y="4933399"/>
              <a:ext cx="1760563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F1845DD-6B4D-FA0C-6DD1-5CB256593548}"/>
              </a:ext>
            </a:extLst>
          </p:cNvPr>
          <p:cNvSpPr txBox="1"/>
          <p:nvPr/>
        </p:nvSpPr>
        <p:spPr>
          <a:xfrm>
            <a:off x="443295" y="4891024"/>
            <a:ext cx="2990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i="1" dirty="0"/>
              <a:t>Hey My Name is Darshan.</a:t>
            </a:r>
          </a:p>
          <a:p>
            <a:pPr algn="just"/>
            <a:r>
              <a:rPr lang="en-GB" i="1" dirty="0"/>
              <a:t>I am Computer Engineer.</a:t>
            </a:r>
            <a:endParaRPr lang="en-IN" i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32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70304-CAB5-4366-3BDF-70F55B610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C89A997-03D7-330F-F268-B188D2FFF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fgetc</a:t>
            </a:r>
            <a:r>
              <a:rPr lang="en-US" dirty="0"/>
              <a:t>() Function (Conti…)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001B01D-2223-73A5-B9EB-7591A9A06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Example;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503C91-0EE6-01B5-EEFA-51831E7E4C63}"/>
              </a:ext>
            </a:extLst>
          </p:cNvPr>
          <p:cNvSpPr txBox="1"/>
          <p:nvPr/>
        </p:nvSpPr>
        <p:spPr>
          <a:xfrm>
            <a:off x="887103" y="1232599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#include&lt;stdio.h&gt;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F9061F-272F-F800-B698-0C0F373E7363}"/>
              </a:ext>
            </a:extLst>
          </p:cNvPr>
          <p:cNvSpPr txBox="1"/>
          <p:nvPr/>
        </p:nvSpPr>
        <p:spPr>
          <a:xfrm>
            <a:off x="887103" y="1586821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main()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71FBBB-AEAA-2F99-43FE-F58E32C53A2B}"/>
              </a:ext>
            </a:extLst>
          </p:cNvPr>
          <p:cNvSpPr txBox="1"/>
          <p:nvPr/>
        </p:nvSpPr>
        <p:spPr>
          <a:xfrm>
            <a:off x="887102" y="1909130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47F775-4891-7D1D-4334-7032F805B61D}"/>
              </a:ext>
            </a:extLst>
          </p:cNvPr>
          <p:cNvSpPr txBox="1"/>
          <p:nvPr/>
        </p:nvSpPr>
        <p:spPr>
          <a:xfrm>
            <a:off x="4970019" y="6254491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ED3F5D-82FD-1166-37D0-78C4D44FE8F5}"/>
              </a:ext>
            </a:extLst>
          </p:cNvPr>
          <p:cNvSpPr txBox="1"/>
          <p:nvPr/>
        </p:nvSpPr>
        <p:spPr>
          <a:xfrm>
            <a:off x="1085348" y="2195205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FILE *</a:t>
            </a:r>
            <a:r>
              <a:rPr lang="en-GB" dirty="0" err="1"/>
              <a:t>fptr</a:t>
            </a:r>
            <a:r>
              <a:rPr lang="en-GB" dirty="0"/>
              <a:t>;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534DE-40EC-72EC-928E-3B771007C803}"/>
              </a:ext>
            </a:extLst>
          </p:cNvPr>
          <p:cNvSpPr txBox="1"/>
          <p:nvPr/>
        </p:nvSpPr>
        <p:spPr>
          <a:xfrm>
            <a:off x="1085344" y="2876188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fptr</a:t>
            </a:r>
            <a:r>
              <a:rPr lang="en-GB" dirty="0"/>
              <a:t> = fopen("</a:t>
            </a:r>
            <a:r>
              <a:rPr lang="en-GB" dirty="0" err="1"/>
              <a:t>hello.txt",“r</a:t>
            </a:r>
            <a:r>
              <a:rPr lang="en-GB" dirty="0"/>
              <a:t>");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CC0EE6-A388-7A7B-ED37-1DBB2D4AACF1}"/>
              </a:ext>
            </a:extLst>
          </p:cNvPr>
          <p:cNvSpPr txBox="1"/>
          <p:nvPr/>
        </p:nvSpPr>
        <p:spPr>
          <a:xfrm>
            <a:off x="1701420" y="3852788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if(</a:t>
            </a:r>
            <a:r>
              <a:rPr lang="en-GB" dirty="0" err="1"/>
              <a:t>fptr</a:t>
            </a:r>
            <a:r>
              <a:rPr lang="en-GB" dirty="0"/>
              <a:t>==NULL)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DE911E-DEE6-5F20-D4E0-98BF78254EB6}"/>
              </a:ext>
            </a:extLst>
          </p:cNvPr>
          <p:cNvSpPr txBox="1"/>
          <p:nvPr/>
        </p:nvSpPr>
        <p:spPr>
          <a:xfrm>
            <a:off x="1701420" y="4164439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7383EE-65E7-FCE1-36B0-B69C91A6C506}"/>
              </a:ext>
            </a:extLst>
          </p:cNvPr>
          <p:cNvSpPr txBox="1"/>
          <p:nvPr/>
        </p:nvSpPr>
        <p:spPr>
          <a:xfrm>
            <a:off x="1701419" y="4987922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B882D2-85F0-9354-2E1B-CFE071966975}"/>
              </a:ext>
            </a:extLst>
          </p:cNvPr>
          <p:cNvSpPr txBox="1"/>
          <p:nvPr/>
        </p:nvSpPr>
        <p:spPr>
          <a:xfrm>
            <a:off x="2017594" y="4444783"/>
            <a:ext cx="293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printf</a:t>
            </a:r>
            <a:r>
              <a:rPr lang="en-IN" dirty="0"/>
              <a:t>("File Not Available");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1B11A9-C8DB-E28B-E57E-42BA2A977DB7}"/>
              </a:ext>
            </a:extLst>
          </p:cNvPr>
          <p:cNvSpPr txBox="1"/>
          <p:nvPr/>
        </p:nvSpPr>
        <p:spPr>
          <a:xfrm>
            <a:off x="5402985" y="3034773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else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2234CB-69BB-CAA3-8983-91A08A47AE8D}"/>
              </a:ext>
            </a:extLst>
          </p:cNvPr>
          <p:cNvSpPr txBox="1"/>
          <p:nvPr/>
        </p:nvSpPr>
        <p:spPr>
          <a:xfrm>
            <a:off x="5402985" y="3346424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B90596-66C8-7934-C1F5-768156D7C444}"/>
              </a:ext>
            </a:extLst>
          </p:cNvPr>
          <p:cNvSpPr txBox="1"/>
          <p:nvPr/>
        </p:nvSpPr>
        <p:spPr>
          <a:xfrm>
            <a:off x="5402985" y="5065608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B91757-383E-E5BF-F694-9BE990A46985}"/>
              </a:ext>
            </a:extLst>
          </p:cNvPr>
          <p:cNvSpPr txBox="1"/>
          <p:nvPr/>
        </p:nvSpPr>
        <p:spPr>
          <a:xfrm>
            <a:off x="5719159" y="3626768"/>
            <a:ext cx="168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ch</a:t>
            </a:r>
            <a:r>
              <a:rPr lang="en-IN" dirty="0"/>
              <a:t>=</a:t>
            </a:r>
            <a:r>
              <a:rPr lang="en-IN" dirty="0" err="1"/>
              <a:t>fgetc</a:t>
            </a:r>
            <a:r>
              <a:rPr lang="en-IN" dirty="0"/>
              <a:t>(</a:t>
            </a:r>
            <a:r>
              <a:rPr lang="en-IN" dirty="0" err="1"/>
              <a:t>fptr</a:t>
            </a:r>
            <a:r>
              <a:rPr lang="en-IN" dirty="0"/>
              <a:t>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305DC6-FEF8-3C21-39A8-0774EA9B2280}"/>
              </a:ext>
            </a:extLst>
          </p:cNvPr>
          <p:cNvSpPr txBox="1"/>
          <p:nvPr/>
        </p:nvSpPr>
        <p:spPr>
          <a:xfrm>
            <a:off x="5168263" y="6057775"/>
            <a:ext cx="1288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fclose</a:t>
            </a:r>
            <a:r>
              <a:rPr lang="en-GB" dirty="0"/>
              <a:t>(</a:t>
            </a:r>
            <a:r>
              <a:rPr lang="en-GB" dirty="0" err="1"/>
              <a:t>fptr</a:t>
            </a:r>
            <a:r>
              <a:rPr lang="en-GB" dirty="0"/>
              <a:t>);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E7C6F0-4ED6-D975-038D-E9BFA8981CC0}"/>
              </a:ext>
            </a:extLst>
          </p:cNvPr>
          <p:cNvSpPr txBox="1"/>
          <p:nvPr/>
        </p:nvSpPr>
        <p:spPr>
          <a:xfrm>
            <a:off x="2017593" y="4789146"/>
            <a:ext cx="1815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break;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A80A75-7613-7A7C-77E1-CAF4317AFCF0}"/>
              </a:ext>
            </a:extLst>
          </p:cNvPr>
          <p:cNvSpPr txBox="1"/>
          <p:nvPr/>
        </p:nvSpPr>
        <p:spPr>
          <a:xfrm>
            <a:off x="5719158" y="4040573"/>
            <a:ext cx="168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if(</a:t>
            </a:r>
            <a:r>
              <a:rPr lang="en-IN" dirty="0" err="1"/>
              <a:t>ch</a:t>
            </a:r>
            <a:r>
              <a:rPr lang="en-IN" dirty="0"/>
              <a:t>==EOF)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B212AB-0F41-1D1C-410B-4F492DC44191}"/>
              </a:ext>
            </a:extLst>
          </p:cNvPr>
          <p:cNvSpPr txBox="1"/>
          <p:nvPr/>
        </p:nvSpPr>
        <p:spPr>
          <a:xfrm>
            <a:off x="6261530" y="4438521"/>
            <a:ext cx="168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break;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911711-3D44-0C71-CA2E-2B2C5687341C}"/>
              </a:ext>
            </a:extLst>
          </p:cNvPr>
          <p:cNvSpPr txBox="1"/>
          <p:nvPr/>
        </p:nvSpPr>
        <p:spPr>
          <a:xfrm>
            <a:off x="5719158" y="4807853"/>
            <a:ext cx="168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printf</a:t>
            </a:r>
            <a:r>
              <a:rPr lang="en-IN" dirty="0"/>
              <a:t>("%c",</a:t>
            </a:r>
            <a:r>
              <a:rPr lang="en-IN" dirty="0" err="1"/>
              <a:t>ch</a:t>
            </a:r>
            <a:r>
              <a:rPr lang="en-IN" dirty="0"/>
              <a:t>);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A289B75-F498-F2A4-2AEA-0150D0200CB5}"/>
              </a:ext>
            </a:extLst>
          </p:cNvPr>
          <p:cNvSpPr txBox="1"/>
          <p:nvPr/>
        </p:nvSpPr>
        <p:spPr>
          <a:xfrm>
            <a:off x="1085345" y="3203124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while(1)</a:t>
            </a:r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420DCA-8A91-294D-D6DD-F46F9C852011}"/>
              </a:ext>
            </a:extLst>
          </p:cNvPr>
          <p:cNvSpPr txBox="1"/>
          <p:nvPr/>
        </p:nvSpPr>
        <p:spPr>
          <a:xfrm>
            <a:off x="1085345" y="3514775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F873CB-8326-101B-1FC4-3DB86F183FF4}"/>
              </a:ext>
            </a:extLst>
          </p:cNvPr>
          <p:cNvSpPr txBox="1"/>
          <p:nvPr/>
        </p:nvSpPr>
        <p:spPr>
          <a:xfrm>
            <a:off x="5168263" y="568753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B0089B-47E5-4BC6-1FBC-1EE687C830E2}"/>
              </a:ext>
            </a:extLst>
          </p:cNvPr>
          <p:cNvSpPr txBox="1"/>
          <p:nvPr/>
        </p:nvSpPr>
        <p:spPr>
          <a:xfrm>
            <a:off x="1085344" y="2526683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char </a:t>
            </a:r>
            <a:r>
              <a:rPr lang="en-GB" dirty="0" err="1"/>
              <a:t>ch</a:t>
            </a:r>
            <a:r>
              <a:rPr lang="en-GB" dirty="0"/>
              <a:t>;</a:t>
            </a:r>
            <a:endParaRPr lang="en-IN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36FD120-268F-8C4D-6BA7-3871C72D6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530" y="1357834"/>
            <a:ext cx="5585740" cy="155592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3FBC1014-EB05-485E-0201-51922995AD17}"/>
              </a:ext>
            </a:extLst>
          </p:cNvPr>
          <p:cNvSpPr txBox="1"/>
          <p:nvPr/>
        </p:nvSpPr>
        <p:spPr>
          <a:xfrm>
            <a:off x="6232707" y="892824"/>
            <a:ext cx="1138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OUTPUT:</a:t>
            </a:r>
            <a:endParaRPr lang="en-IN" b="1" dirty="0">
              <a:solidFill>
                <a:srgbClr val="C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663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16" grpId="0"/>
      <p:bldP spid="17" grpId="0"/>
      <p:bldP spid="18" grpId="0"/>
      <p:bldP spid="19" grpId="0"/>
      <p:bldP spid="8" grpId="0"/>
      <p:bldP spid="25" grpId="0"/>
      <p:bldP spid="26" grpId="0"/>
      <p:bldP spid="27" grpId="0"/>
      <p:bldP spid="11" grpId="0"/>
      <p:bldP spid="24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0FD5E-14E2-BC41-DB64-D39CECAB6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D49A62D-677F-5025-E643-15329E3E6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fputc</a:t>
            </a:r>
            <a:r>
              <a:rPr lang="en-US" dirty="0"/>
              <a:t>() Function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F9E2BC3-2413-F71D-698C-F331A6DF3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 err="1"/>
              <a:t>fputc</a:t>
            </a:r>
            <a:r>
              <a:rPr lang="en-GB" b="1" dirty="0"/>
              <a:t>()</a:t>
            </a:r>
            <a:r>
              <a:rPr lang="en-GB" dirty="0"/>
              <a:t> is used to write a single character at a time to a given file.</a:t>
            </a:r>
            <a:endParaRPr lang="en-GB" b="1" dirty="0">
              <a:solidFill>
                <a:srgbClr val="C00000"/>
              </a:solidFill>
            </a:endParaRPr>
          </a:p>
          <a:p>
            <a:r>
              <a:rPr lang="en-GB" dirty="0"/>
              <a:t>It writes the given character at the position denoted by the file pointer and then advances the file pointer.</a:t>
            </a:r>
          </a:p>
          <a:p>
            <a:r>
              <a:rPr lang="en-GB" dirty="0"/>
              <a:t>This function returns the character that is written in case of successful write operation else in case of error EOF is returned.</a:t>
            </a:r>
          </a:p>
          <a:p>
            <a:pPr lvl="0"/>
            <a:r>
              <a:rPr lang="en-US" b="1" dirty="0">
                <a:solidFill>
                  <a:srgbClr val="C00000"/>
                </a:solidFill>
              </a:rPr>
              <a:t>Syntax;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8E00E8-BB70-9BC8-40F0-6A6CBB829C4B}"/>
              </a:ext>
            </a:extLst>
          </p:cNvPr>
          <p:cNvSpPr txBox="1"/>
          <p:nvPr/>
        </p:nvSpPr>
        <p:spPr>
          <a:xfrm>
            <a:off x="1274166" y="3757682"/>
            <a:ext cx="8407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fputc</a:t>
            </a:r>
            <a:r>
              <a:rPr lang="en-GB" b="1" dirty="0"/>
              <a:t>(</a:t>
            </a:r>
            <a:r>
              <a:rPr lang="en-GB" b="1" dirty="0">
                <a:solidFill>
                  <a:srgbClr val="C00000"/>
                </a:solidFill>
              </a:rPr>
              <a:t>int char, FILE *pointer</a:t>
            </a:r>
            <a:r>
              <a:rPr lang="en-GB" b="1" dirty="0"/>
              <a:t>);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1E4FA9-A477-9795-7FEB-42FDB7192694}"/>
              </a:ext>
            </a:extLst>
          </p:cNvPr>
          <p:cNvSpPr txBox="1"/>
          <p:nvPr/>
        </p:nvSpPr>
        <p:spPr>
          <a:xfrm>
            <a:off x="7924917" y="3077835"/>
            <a:ext cx="4039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/>
              <a:t>pointer to a FILE, that identifies the stream where the character is to be written.</a:t>
            </a:r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C67225A-288D-EC44-8DAB-482D413CA66F}"/>
              </a:ext>
            </a:extLst>
          </p:cNvPr>
          <p:cNvGrpSpPr/>
          <p:nvPr/>
        </p:nvGrpSpPr>
        <p:grpSpPr>
          <a:xfrm>
            <a:off x="3433479" y="3208931"/>
            <a:ext cx="4491438" cy="616791"/>
            <a:chOff x="5404513" y="4933399"/>
            <a:chExt cx="1760563" cy="316090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C06202B-3F83-01D1-3125-D9180C0AD975}"/>
                </a:ext>
              </a:extLst>
            </p:cNvPr>
            <p:cNvCxnSpPr/>
            <p:nvPr/>
          </p:nvCxnSpPr>
          <p:spPr>
            <a:xfrm>
              <a:off x="5404513" y="4933399"/>
              <a:ext cx="0" cy="31609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FF242BF-99D0-5222-BFAD-D99323C7F018}"/>
                </a:ext>
              </a:extLst>
            </p:cNvPr>
            <p:cNvCxnSpPr/>
            <p:nvPr/>
          </p:nvCxnSpPr>
          <p:spPr>
            <a:xfrm>
              <a:off x="5404513" y="4933399"/>
              <a:ext cx="1760563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F75A7BA-5785-D808-7B39-51F35836698E}"/>
              </a:ext>
            </a:extLst>
          </p:cNvPr>
          <p:cNvSpPr txBox="1"/>
          <p:nvPr/>
        </p:nvSpPr>
        <p:spPr>
          <a:xfrm>
            <a:off x="3667766" y="4612324"/>
            <a:ext cx="4039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/>
              <a:t>character to be written. This is passed as its int parameter. </a:t>
            </a:r>
            <a:endParaRPr lang="en-I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343BD6A-6E65-4DA2-94C4-D4E829514BE8}"/>
              </a:ext>
            </a:extLst>
          </p:cNvPr>
          <p:cNvGrpSpPr/>
          <p:nvPr/>
        </p:nvGrpSpPr>
        <p:grpSpPr>
          <a:xfrm rot="10800000" flipH="1">
            <a:off x="2238233" y="4137286"/>
            <a:ext cx="1429533" cy="616791"/>
            <a:chOff x="5404513" y="4933399"/>
            <a:chExt cx="1760563" cy="316090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08DC365-64B5-EAF1-AA6E-D458A7C9F56D}"/>
                </a:ext>
              </a:extLst>
            </p:cNvPr>
            <p:cNvCxnSpPr/>
            <p:nvPr/>
          </p:nvCxnSpPr>
          <p:spPr>
            <a:xfrm>
              <a:off x="5404513" y="4933399"/>
              <a:ext cx="0" cy="31609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3AD7F82-16B0-AB95-7DFB-28106FA22BD1}"/>
                </a:ext>
              </a:extLst>
            </p:cNvPr>
            <p:cNvCxnSpPr/>
            <p:nvPr/>
          </p:nvCxnSpPr>
          <p:spPr>
            <a:xfrm>
              <a:off x="5404513" y="4933399"/>
              <a:ext cx="1760563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386578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DEEC2-C5A4-41EC-C800-B2F847A3F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B9DFD46-1535-7D24-F7B1-23641B8B2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fputc</a:t>
            </a:r>
            <a:r>
              <a:rPr lang="en-US" dirty="0"/>
              <a:t>() Function (Conti…)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CCE4749-94C6-D02D-57CF-483D4BFD5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Example;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9E224-3375-EB88-3414-9AAD1B3C66F2}"/>
              </a:ext>
            </a:extLst>
          </p:cNvPr>
          <p:cNvSpPr txBox="1"/>
          <p:nvPr/>
        </p:nvSpPr>
        <p:spPr>
          <a:xfrm>
            <a:off x="887100" y="1192919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#include&lt;stdio.h&gt;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BC7961-1003-74DA-4CBA-1F1B4C914BA1}"/>
              </a:ext>
            </a:extLst>
          </p:cNvPr>
          <p:cNvSpPr txBox="1"/>
          <p:nvPr/>
        </p:nvSpPr>
        <p:spPr>
          <a:xfrm>
            <a:off x="887103" y="1586821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main()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B2FD3C-EDCA-02C5-6AC4-237C22E4A096}"/>
              </a:ext>
            </a:extLst>
          </p:cNvPr>
          <p:cNvSpPr txBox="1"/>
          <p:nvPr/>
        </p:nvSpPr>
        <p:spPr>
          <a:xfrm>
            <a:off x="887102" y="1909130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2588B5-EC98-48D8-1DEB-3C3A0A9280BB}"/>
              </a:ext>
            </a:extLst>
          </p:cNvPr>
          <p:cNvSpPr txBox="1"/>
          <p:nvPr/>
        </p:nvSpPr>
        <p:spPr>
          <a:xfrm>
            <a:off x="5257097" y="4213031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8E0110-9756-1014-9928-89EB7C06E14F}"/>
              </a:ext>
            </a:extLst>
          </p:cNvPr>
          <p:cNvSpPr txBox="1"/>
          <p:nvPr/>
        </p:nvSpPr>
        <p:spPr>
          <a:xfrm>
            <a:off x="1085348" y="2195205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FILE *</a:t>
            </a:r>
            <a:r>
              <a:rPr lang="en-GB" dirty="0" err="1"/>
              <a:t>fptr</a:t>
            </a:r>
            <a:r>
              <a:rPr lang="en-GB" dirty="0"/>
              <a:t>;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496BF1-C895-B6C4-F7C1-B3D5A9708B7B}"/>
              </a:ext>
            </a:extLst>
          </p:cNvPr>
          <p:cNvSpPr txBox="1"/>
          <p:nvPr/>
        </p:nvSpPr>
        <p:spPr>
          <a:xfrm>
            <a:off x="1085342" y="3259387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fptr</a:t>
            </a:r>
            <a:r>
              <a:rPr lang="en-GB" dirty="0"/>
              <a:t> = fopen("</a:t>
            </a:r>
            <a:r>
              <a:rPr lang="en-GB" dirty="0" err="1"/>
              <a:t>hello.txt",“w</a:t>
            </a:r>
            <a:r>
              <a:rPr lang="en-GB" dirty="0"/>
              <a:t>");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3C7ED9-EF4D-4286-EBA3-73D1E5C06874}"/>
              </a:ext>
            </a:extLst>
          </p:cNvPr>
          <p:cNvSpPr txBox="1"/>
          <p:nvPr/>
        </p:nvSpPr>
        <p:spPr>
          <a:xfrm>
            <a:off x="1085342" y="3694335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if(</a:t>
            </a:r>
            <a:r>
              <a:rPr lang="en-GB" dirty="0" err="1"/>
              <a:t>fptr</a:t>
            </a:r>
            <a:r>
              <a:rPr lang="en-GB" dirty="0"/>
              <a:t>==NULL)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632C6D-7909-A64A-1E90-A5B98B850F97}"/>
              </a:ext>
            </a:extLst>
          </p:cNvPr>
          <p:cNvSpPr txBox="1"/>
          <p:nvPr/>
        </p:nvSpPr>
        <p:spPr>
          <a:xfrm>
            <a:off x="1085343" y="404690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D3A051-F6CE-2F88-3F2F-04D6EA1EBC8E}"/>
              </a:ext>
            </a:extLst>
          </p:cNvPr>
          <p:cNvSpPr txBox="1"/>
          <p:nvPr/>
        </p:nvSpPr>
        <p:spPr>
          <a:xfrm>
            <a:off x="1085342" y="4870389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50A5F4-A328-A5A9-E0F3-600B2E2D1BAE}"/>
              </a:ext>
            </a:extLst>
          </p:cNvPr>
          <p:cNvSpPr txBox="1"/>
          <p:nvPr/>
        </p:nvSpPr>
        <p:spPr>
          <a:xfrm>
            <a:off x="1401517" y="4327250"/>
            <a:ext cx="293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printf</a:t>
            </a:r>
            <a:r>
              <a:rPr lang="en-IN" dirty="0"/>
              <a:t>("File Not Available");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3FE6B3-38EC-F17A-B24B-33DE0324C914}"/>
              </a:ext>
            </a:extLst>
          </p:cNvPr>
          <p:cNvSpPr txBox="1"/>
          <p:nvPr/>
        </p:nvSpPr>
        <p:spPr>
          <a:xfrm>
            <a:off x="5484871" y="106044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else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EB353F-7A31-F9AF-32CF-7EF9F61ACE16}"/>
              </a:ext>
            </a:extLst>
          </p:cNvPr>
          <p:cNvSpPr txBox="1"/>
          <p:nvPr/>
        </p:nvSpPr>
        <p:spPr>
          <a:xfrm>
            <a:off x="5484871" y="1372097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A7D935-A099-92EB-34E2-024CE42E4DD8}"/>
              </a:ext>
            </a:extLst>
          </p:cNvPr>
          <p:cNvSpPr txBox="1"/>
          <p:nvPr/>
        </p:nvSpPr>
        <p:spPr>
          <a:xfrm>
            <a:off x="5484871" y="305543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62381-7EE2-72AF-3D63-35E86E5EC85E}"/>
              </a:ext>
            </a:extLst>
          </p:cNvPr>
          <p:cNvSpPr txBox="1"/>
          <p:nvPr/>
        </p:nvSpPr>
        <p:spPr>
          <a:xfrm>
            <a:off x="5801045" y="1652441"/>
            <a:ext cx="3711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dirty="0"/>
              <a:t>for(i=0;str[i]!='\0';i++)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4862AA-C851-6D3D-EF2E-ABD8B1625A2E}"/>
              </a:ext>
            </a:extLst>
          </p:cNvPr>
          <p:cNvSpPr txBox="1"/>
          <p:nvPr/>
        </p:nvSpPr>
        <p:spPr>
          <a:xfrm>
            <a:off x="5455338" y="3877582"/>
            <a:ext cx="1288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fclose</a:t>
            </a:r>
            <a:r>
              <a:rPr lang="en-GB" dirty="0"/>
              <a:t>(</a:t>
            </a:r>
            <a:r>
              <a:rPr lang="en-GB" dirty="0" err="1"/>
              <a:t>fptr</a:t>
            </a:r>
            <a:r>
              <a:rPr lang="en-GB" dirty="0"/>
              <a:t>);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FCAC8E-8CA8-0BC8-AEF3-DD60F9B38C61}"/>
              </a:ext>
            </a:extLst>
          </p:cNvPr>
          <p:cNvSpPr txBox="1"/>
          <p:nvPr/>
        </p:nvSpPr>
        <p:spPr>
          <a:xfrm>
            <a:off x="1401516" y="4671613"/>
            <a:ext cx="1815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exit(0);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9D63A9-6A98-0527-E2B6-E90981B2B9E8}"/>
              </a:ext>
            </a:extLst>
          </p:cNvPr>
          <p:cNvSpPr txBox="1"/>
          <p:nvPr/>
        </p:nvSpPr>
        <p:spPr>
          <a:xfrm>
            <a:off x="5801044" y="2025208"/>
            <a:ext cx="168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{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C9F4C1-2A5E-7D90-D80D-C11A9F28A3CC}"/>
              </a:ext>
            </a:extLst>
          </p:cNvPr>
          <p:cNvSpPr txBox="1"/>
          <p:nvPr/>
        </p:nvSpPr>
        <p:spPr>
          <a:xfrm>
            <a:off x="6117915" y="2345759"/>
            <a:ext cx="168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fputc</a:t>
            </a:r>
            <a:r>
              <a:rPr lang="en-IN" dirty="0"/>
              <a:t>(str[</a:t>
            </a:r>
            <a:r>
              <a:rPr lang="en-IN" dirty="0" err="1"/>
              <a:t>i</a:t>
            </a:r>
            <a:r>
              <a:rPr lang="en-IN" dirty="0"/>
              <a:t>],</a:t>
            </a:r>
            <a:r>
              <a:rPr lang="en-IN" dirty="0" err="1"/>
              <a:t>fptr</a:t>
            </a:r>
            <a:r>
              <a:rPr lang="en-IN" dirty="0"/>
              <a:t>);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7CE2BC1-8D21-5A82-FC14-B1D88DCFE94A}"/>
              </a:ext>
            </a:extLst>
          </p:cNvPr>
          <p:cNvSpPr txBox="1"/>
          <p:nvPr/>
        </p:nvSpPr>
        <p:spPr>
          <a:xfrm>
            <a:off x="5801044" y="2694913"/>
            <a:ext cx="168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8E31E0-A4BE-01C2-2621-36F263CDC147}"/>
              </a:ext>
            </a:extLst>
          </p:cNvPr>
          <p:cNvSpPr txBox="1"/>
          <p:nvPr/>
        </p:nvSpPr>
        <p:spPr>
          <a:xfrm>
            <a:off x="1085344" y="2565629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char str[500]=“Hey, How are you?”;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7A3DFB-BDE8-9507-B9C0-E69E080B629D}"/>
              </a:ext>
            </a:extLst>
          </p:cNvPr>
          <p:cNvSpPr txBox="1"/>
          <p:nvPr/>
        </p:nvSpPr>
        <p:spPr>
          <a:xfrm>
            <a:off x="1085343" y="2922477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 </a:t>
            </a:r>
            <a:r>
              <a:rPr lang="en-GB" dirty="0" err="1"/>
              <a:t>i</a:t>
            </a:r>
            <a:r>
              <a:rPr lang="en-GB" dirty="0"/>
              <a:t>;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FD7270-64B3-FE90-A26B-E301255873C9}"/>
              </a:ext>
            </a:extLst>
          </p:cNvPr>
          <p:cNvSpPr txBox="1"/>
          <p:nvPr/>
        </p:nvSpPr>
        <p:spPr>
          <a:xfrm>
            <a:off x="5454961" y="3469312"/>
            <a:ext cx="4078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("Data Written Successfully.");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7E7E13-6DC2-BF2A-D546-73489DE64054}"/>
              </a:ext>
            </a:extLst>
          </p:cNvPr>
          <p:cNvSpPr txBox="1"/>
          <p:nvPr/>
        </p:nvSpPr>
        <p:spPr>
          <a:xfrm>
            <a:off x="5205009" y="4590962"/>
            <a:ext cx="1138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OUTPUT:</a:t>
            </a:r>
            <a:endParaRPr lang="en-IN" b="1" dirty="0">
              <a:solidFill>
                <a:srgbClr val="C00000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700F3B7-EDAA-079F-C0EB-B5B1B833B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231" y="5023822"/>
            <a:ext cx="4667250" cy="14859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53747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16" grpId="0"/>
      <p:bldP spid="17" grpId="0"/>
      <p:bldP spid="18" grpId="0"/>
      <p:bldP spid="19" grpId="0"/>
      <p:bldP spid="8" grpId="0"/>
      <p:bldP spid="25" grpId="0"/>
      <p:bldP spid="26" grpId="0"/>
      <p:bldP spid="27" grpId="0"/>
      <p:bldP spid="11" grpId="0"/>
      <p:bldP spid="24" grpId="0"/>
      <p:bldP spid="28" grpId="0"/>
      <p:bldP spid="29" grpId="0"/>
      <p:bldP spid="30" grpId="0"/>
      <p:bldP spid="34" grpId="0"/>
      <p:bldP spid="12" grpId="0"/>
      <p:bldP spid="13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A61D0-F787-616D-E95E-EF00D5B80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A55294C-755F-4DD1-EF9F-1CB9B827F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putw</a:t>
            </a:r>
            <a:r>
              <a:rPr lang="en-US" dirty="0"/>
              <a:t>() Function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197F073-32BE-97FF-30AB-D8C0A67D6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 err="1"/>
              <a:t>putw</a:t>
            </a:r>
            <a:r>
              <a:rPr lang="en-GB" b="1" dirty="0"/>
              <a:t>( ) </a:t>
            </a:r>
            <a:r>
              <a:rPr lang="en-GB" dirty="0"/>
              <a:t>function is used for writing a number into file.</a:t>
            </a:r>
            <a:endParaRPr lang="en-GB" b="1" dirty="0">
              <a:solidFill>
                <a:srgbClr val="C00000"/>
              </a:solidFill>
            </a:endParaRPr>
          </a:p>
          <a:p>
            <a:pPr lvl="0"/>
            <a:r>
              <a:rPr lang="en-US" b="1" dirty="0">
                <a:solidFill>
                  <a:srgbClr val="C00000"/>
                </a:solidFill>
              </a:rPr>
              <a:t>Syntax;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22619D-216D-7996-7505-0BB06D1D1745}"/>
              </a:ext>
            </a:extLst>
          </p:cNvPr>
          <p:cNvSpPr txBox="1"/>
          <p:nvPr/>
        </p:nvSpPr>
        <p:spPr>
          <a:xfrm>
            <a:off x="1110393" y="1928027"/>
            <a:ext cx="8407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putw</a:t>
            </a:r>
            <a:r>
              <a:rPr lang="en-GB" b="1" dirty="0"/>
              <a:t>(</a:t>
            </a:r>
            <a:r>
              <a:rPr lang="en-GB" b="1" dirty="0">
                <a:solidFill>
                  <a:srgbClr val="C00000"/>
                </a:solidFill>
              </a:rPr>
              <a:t>int </a:t>
            </a:r>
            <a:r>
              <a:rPr lang="en-GB" b="1" dirty="0" err="1">
                <a:solidFill>
                  <a:srgbClr val="C00000"/>
                </a:solidFill>
              </a:rPr>
              <a:t>num</a:t>
            </a:r>
            <a:r>
              <a:rPr lang="en-GB" b="1" dirty="0">
                <a:solidFill>
                  <a:srgbClr val="C00000"/>
                </a:solidFill>
              </a:rPr>
              <a:t>, FILE *pointer</a:t>
            </a:r>
            <a:r>
              <a:rPr lang="en-GB" b="1" dirty="0"/>
              <a:t>);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A9A54B-F310-2082-5213-8D6D8A17D398}"/>
              </a:ext>
            </a:extLst>
          </p:cNvPr>
          <p:cNvSpPr txBox="1"/>
          <p:nvPr/>
        </p:nvSpPr>
        <p:spPr>
          <a:xfrm>
            <a:off x="7761144" y="1248180"/>
            <a:ext cx="4039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/>
              <a:t>pointer to a FILE, that identifies the stream where the character is to be written.</a:t>
            </a:r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20FA366-41E3-45EF-0987-3FA00ACB73A3}"/>
              </a:ext>
            </a:extLst>
          </p:cNvPr>
          <p:cNvGrpSpPr/>
          <p:nvPr/>
        </p:nvGrpSpPr>
        <p:grpSpPr>
          <a:xfrm>
            <a:off x="3269706" y="1379276"/>
            <a:ext cx="4491438" cy="616791"/>
            <a:chOff x="5404513" y="4933399"/>
            <a:chExt cx="1760563" cy="316090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1D56607-CF8A-2308-D005-141B5EB3253A}"/>
                </a:ext>
              </a:extLst>
            </p:cNvPr>
            <p:cNvCxnSpPr/>
            <p:nvPr/>
          </p:nvCxnSpPr>
          <p:spPr>
            <a:xfrm>
              <a:off x="5404513" y="4933399"/>
              <a:ext cx="0" cy="31609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8FF8761-3055-3608-3A61-9700AEE28779}"/>
                </a:ext>
              </a:extLst>
            </p:cNvPr>
            <p:cNvCxnSpPr/>
            <p:nvPr/>
          </p:nvCxnSpPr>
          <p:spPr>
            <a:xfrm>
              <a:off x="5404513" y="4933399"/>
              <a:ext cx="1760563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67DD3CB-A2E8-17A7-AE8C-A8F2DD9A00C4}"/>
              </a:ext>
            </a:extLst>
          </p:cNvPr>
          <p:cNvSpPr txBox="1"/>
          <p:nvPr/>
        </p:nvSpPr>
        <p:spPr>
          <a:xfrm>
            <a:off x="3503993" y="2782669"/>
            <a:ext cx="4039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/>
              <a:t>integer number to be written.</a:t>
            </a:r>
            <a:endParaRPr lang="en-I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6368AD7-A82D-73C2-04C5-4E5A04219678}"/>
              </a:ext>
            </a:extLst>
          </p:cNvPr>
          <p:cNvGrpSpPr/>
          <p:nvPr/>
        </p:nvGrpSpPr>
        <p:grpSpPr>
          <a:xfrm rot="10800000" flipH="1">
            <a:off x="2074460" y="2307631"/>
            <a:ext cx="1429533" cy="616791"/>
            <a:chOff x="5404513" y="4933399"/>
            <a:chExt cx="1760563" cy="316090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F329938-5AEE-524E-0C26-DCBE7ECEC764}"/>
                </a:ext>
              </a:extLst>
            </p:cNvPr>
            <p:cNvCxnSpPr/>
            <p:nvPr/>
          </p:nvCxnSpPr>
          <p:spPr>
            <a:xfrm>
              <a:off x="5404513" y="4933399"/>
              <a:ext cx="0" cy="31609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C399CFF-A03D-86AE-1E85-D71D191A3122}"/>
                </a:ext>
              </a:extLst>
            </p:cNvPr>
            <p:cNvCxnSpPr/>
            <p:nvPr/>
          </p:nvCxnSpPr>
          <p:spPr>
            <a:xfrm>
              <a:off x="5404513" y="4933399"/>
              <a:ext cx="1760563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4185000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E1845-69AB-7DE9-5C0A-70D0494D4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6F6044C-BC20-3704-BEDF-69B72951B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US" dirty="0" err="1"/>
              <a:t>getw</a:t>
            </a:r>
            <a:r>
              <a:rPr lang="en-US" dirty="0"/>
              <a:t>() Function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7C10542-DB52-EEDC-24EF-9ABC819E1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 err="1"/>
              <a:t>getw</a:t>
            </a:r>
            <a:r>
              <a:rPr lang="en-GB" b="1" dirty="0"/>
              <a:t>( )</a:t>
            </a:r>
            <a:r>
              <a:rPr lang="en-GB" dirty="0"/>
              <a:t> function is used for reading a number from a file.</a:t>
            </a:r>
          </a:p>
          <a:p>
            <a:pPr lvl="0"/>
            <a:r>
              <a:rPr lang="en-US" b="1" dirty="0">
                <a:solidFill>
                  <a:srgbClr val="C00000"/>
                </a:solidFill>
              </a:rPr>
              <a:t>Syntax;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A95672-97D8-7101-2986-E2EDB68AD147}"/>
              </a:ext>
            </a:extLst>
          </p:cNvPr>
          <p:cNvSpPr txBox="1"/>
          <p:nvPr/>
        </p:nvSpPr>
        <p:spPr>
          <a:xfrm>
            <a:off x="1110393" y="1928027"/>
            <a:ext cx="8407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getw</a:t>
            </a:r>
            <a:r>
              <a:rPr lang="en-GB" b="1" dirty="0"/>
              <a:t>(</a:t>
            </a:r>
            <a:r>
              <a:rPr lang="en-GB" b="1" dirty="0">
                <a:solidFill>
                  <a:srgbClr val="C00000"/>
                </a:solidFill>
              </a:rPr>
              <a:t>FILE *pointer</a:t>
            </a:r>
            <a:r>
              <a:rPr lang="en-GB" b="1" dirty="0"/>
              <a:t>);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38246E-1FD8-451C-9BDE-99681C42FFE2}"/>
              </a:ext>
            </a:extLst>
          </p:cNvPr>
          <p:cNvSpPr txBox="1"/>
          <p:nvPr/>
        </p:nvSpPr>
        <p:spPr>
          <a:xfrm>
            <a:off x="7047069" y="1180140"/>
            <a:ext cx="4039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/>
              <a:t>pointer to a FILE, that identifies the stream from where the character is to be read.</a:t>
            </a:r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4F70B0D-5C55-7DCC-7414-218830C05274}"/>
              </a:ext>
            </a:extLst>
          </p:cNvPr>
          <p:cNvGrpSpPr/>
          <p:nvPr/>
        </p:nvGrpSpPr>
        <p:grpSpPr>
          <a:xfrm>
            <a:off x="2555631" y="1311236"/>
            <a:ext cx="4491438" cy="616791"/>
            <a:chOff x="5404513" y="4933399"/>
            <a:chExt cx="1760563" cy="316090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CA9ADD6-2A88-F2DE-512D-1B082BA510AA}"/>
                </a:ext>
              </a:extLst>
            </p:cNvPr>
            <p:cNvCxnSpPr/>
            <p:nvPr/>
          </p:nvCxnSpPr>
          <p:spPr>
            <a:xfrm>
              <a:off x="5404513" y="4933399"/>
              <a:ext cx="0" cy="31609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674BC02-9005-F236-9570-F67FCA37190A}"/>
                </a:ext>
              </a:extLst>
            </p:cNvPr>
            <p:cNvCxnSpPr/>
            <p:nvPr/>
          </p:nvCxnSpPr>
          <p:spPr>
            <a:xfrm>
              <a:off x="5404513" y="4933399"/>
              <a:ext cx="1760563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91244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79E22-C017-58FD-64D3-2CEFF8F58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6B09BE0-220B-E15D-6F38-35C824F8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</a:t>
            </a:r>
            <a:r>
              <a:rPr lang="en-US" dirty="0" err="1"/>
              <a:t>getw</a:t>
            </a:r>
            <a:r>
              <a:rPr lang="en-US" dirty="0"/>
              <a:t>() and </a:t>
            </a:r>
            <a:r>
              <a:rPr lang="en-US" dirty="0" err="1"/>
              <a:t>putw</a:t>
            </a:r>
            <a:r>
              <a:rPr lang="en-US" dirty="0"/>
              <a:t>()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351ED59-6D2B-BD1A-23B2-38BAAFDA6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Example;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25DE43-8654-261A-93BB-A83950F3C6AC}"/>
              </a:ext>
            </a:extLst>
          </p:cNvPr>
          <p:cNvSpPr txBox="1"/>
          <p:nvPr/>
        </p:nvSpPr>
        <p:spPr>
          <a:xfrm>
            <a:off x="887100" y="1192919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#include&lt;stdio.h&gt;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777368-ED17-498D-11D7-27BB620027F5}"/>
              </a:ext>
            </a:extLst>
          </p:cNvPr>
          <p:cNvSpPr txBox="1"/>
          <p:nvPr/>
        </p:nvSpPr>
        <p:spPr>
          <a:xfrm>
            <a:off x="887103" y="1586821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main()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5AFE69-B87F-525E-D2F6-1B12119DE4F5}"/>
              </a:ext>
            </a:extLst>
          </p:cNvPr>
          <p:cNvSpPr txBox="1"/>
          <p:nvPr/>
        </p:nvSpPr>
        <p:spPr>
          <a:xfrm>
            <a:off x="887102" y="1909130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CCA680-8BC0-BA85-32E3-A8F9EFB82118}"/>
              </a:ext>
            </a:extLst>
          </p:cNvPr>
          <p:cNvSpPr txBox="1"/>
          <p:nvPr/>
        </p:nvSpPr>
        <p:spPr>
          <a:xfrm>
            <a:off x="5703668" y="5350722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828361-7316-7791-8DE6-62914459EEF6}"/>
              </a:ext>
            </a:extLst>
          </p:cNvPr>
          <p:cNvSpPr txBox="1"/>
          <p:nvPr/>
        </p:nvSpPr>
        <p:spPr>
          <a:xfrm>
            <a:off x="1085348" y="2195205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FILE *</a:t>
            </a:r>
            <a:r>
              <a:rPr lang="en-GB" dirty="0" err="1"/>
              <a:t>fptr</a:t>
            </a:r>
            <a:r>
              <a:rPr lang="en-GB" dirty="0"/>
              <a:t>;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041B92-15BD-2B72-582D-44A07E1157B8}"/>
              </a:ext>
            </a:extLst>
          </p:cNvPr>
          <p:cNvSpPr txBox="1"/>
          <p:nvPr/>
        </p:nvSpPr>
        <p:spPr>
          <a:xfrm>
            <a:off x="1084963" y="2876478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fptr</a:t>
            </a:r>
            <a:r>
              <a:rPr lang="en-GB" dirty="0"/>
              <a:t> = fopen("</a:t>
            </a:r>
            <a:r>
              <a:rPr lang="en-GB" dirty="0" err="1"/>
              <a:t>hello.txt",“w</a:t>
            </a:r>
            <a:r>
              <a:rPr lang="en-GB" dirty="0"/>
              <a:t>");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995C9B-97B2-1238-0B28-E7C999787F2F}"/>
              </a:ext>
            </a:extLst>
          </p:cNvPr>
          <p:cNvSpPr txBox="1"/>
          <p:nvPr/>
        </p:nvSpPr>
        <p:spPr>
          <a:xfrm>
            <a:off x="1084585" y="3326510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for(</a:t>
            </a:r>
            <a:r>
              <a:rPr lang="en-GB" dirty="0" err="1"/>
              <a:t>i</a:t>
            </a:r>
            <a:r>
              <a:rPr lang="en-GB" dirty="0"/>
              <a:t>=1;i&lt;=10;i++)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9E1D13-44D2-8706-EEB6-0CAE73AE3F62}"/>
              </a:ext>
            </a:extLst>
          </p:cNvPr>
          <p:cNvSpPr txBox="1"/>
          <p:nvPr/>
        </p:nvSpPr>
        <p:spPr>
          <a:xfrm>
            <a:off x="1084586" y="3679081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9E2E7D-9C35-0320-6BBB-765F93E58F9F}"/>
              </a:ext>
            </a:extLst>
          </p:cNvPr>
          <p:cNvSpPr txBox="1"/>
          <p:nvPr/>
        </p:nvSpPr>
        <p:spPr>
          <a:xfrm>
            <a:off x="1084585" y="4298393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16F1C8-69AA-38D5-218F-A456B3AE15E6}"/>
              </a:ext>
            </a:extLst>
          </p:cNvPr>
          <p:cNvSpPr txBox="1"/>
          <p:nvPr/>
        </p:nvSpPr>
        <p:spPr>
          <a:xfrm>
            <a:off x="1400760" y="3959425"/>
            <a:ext cx="293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putw</a:t>
            </a:r>
            <a:r>
              <a:rPr lang="en-IN" dirty="0"/>
              <a:t>(</a:t>
            </a:r>
            <a:r>
              <a:rPr lang="en-IN" dirty="0" err="1"/>
              <a:t>i,fptr</a:t>
            </a:r>
            <a:r>
              <a:rPr lang="en-IN" dirty="0"/>
              <a:t>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A5FEB2-FB95-667F-4BEC-C86089C4497F}"/>
              </a:ext>
            </a:extLst>
          </p:cNvPr>
          <p:cNvSpPr txBox="1"/>
          <p:nvPr/>
        </p:nvSpPr>
        <p:spPr>
          <a:xfrm>
            <a:off x="1084585" y="5067539"/>
            <a:ext cx="1288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fclose</a:t>
            </a:r>
            <a:r>
              <a:rPr lang="en-GB" dirty="0"/>
              <a:t>(</a:t>
            </a:r>
            <a:r>
              <a:rPr lang="en-GB" dirty="0" err="1"/>
              <a:t>fptr</a:t>
            </a:r>
            <a:r>
              <a:rPr lang="en-GB" dirty="0"/>
              <a:t>);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3A8B70-2CFE-6A4E-1599-A87DD081F877}"/>
              </a:ext>
            </a:extLst>
          </p:cNvPr>
          <p:cNvSpPr txBox="1"/>
          <p:nvPr/>
        </p:nvSpPr>
        <p:spPr>
          <a:xfrm>
            <a:off x="1084964" y="2539568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int</a:t>
            </a:r>
            <a:r>
              <a:rPr lang="en-GB" dirty="0"/>
              <a:t> </a:t>
            </a:r>
            <a:r>
              <a:rPr lang="en-GB" dirty="0" err="1" smtClean="0"/>
              <a:t>I,n</a:t>
            </a:r>
            <a:r>
              <a:rPr lang="en-GB" dirty="0" smtClean="0"/>
              <a:t>;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2CF034-E401-B1F2-968A-638D8F54695B}"/>
              </a:ext>
            </a:extLst>
          </p:cNvPr>
          <p:cNvSpPr txBox="1"/>
          <p:nvPr/>
        </p:nvSpPr>
        <p:spPr>
          <a:xfrm>
            <a:off x="1084585" y="4650964"/>
            <a:ext cx="4078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("Data Written Successfully.");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5E9EBC-B10B-0DF3-8CC5-200CF3454B81}"/>
              </a:ext>
            </a:extLst>
          </p:cNvPr>
          <p:cNvSpPr txBox="1"/>
          <p:nvPr/>
        </p:nvSpPr>
        <p:spPr>
          <a:xfrm>
            <a:off x="5701662" y="2879025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fptr</a:t>
            </a:r>
            <a:r>
              <a:rPr lang="en-GB" dirty="0"/>
              <a:t> = fopen("</a:t>
            </a:r>
            <a:r>
              <a:rPr lang="en-GB" dirty="0" err="1"/>
              <a:t>hello.txt",“r</a:t>
            </a:r>
            <a:r>
              <a:rPr lang="en-GB" dirty="0"/>
              <a:t>");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1A4381-6A3D-CEF0-65EF-12DE4E105779}"/>
              </a:ext>
            </a:extLst>
          </p:cNvPr>
          <p:cNvSpPr txBox="1"/>
          <p:nvPr/>
        </p:nvSpPr>
        <p:spPr>
          <a:xfrm>
            <a:off x="5701284" y="3329057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for(</a:t>
            </a:r>
            <a:r>
              <a:rPr lang="en-GB" dirty="0" err="1"/>
              <a:t>i</a:t>
            </a:r>
            <a:r>
              <a:rPr lang="en-GB" dirty="0"/>
              <a:t>=1;i&lt;=10;i++)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623F76-0120-2497-EF51-C9E257D387FA}"/>
              </a:ext>
            </a:extLst>
          </p:cNvPr>
          <p:cNvSpPr txBox="1"/>
          <p:nvPr/>
        </p:nvSpPr>
        <p:spPr>
          <a:xfrm>
            <a:off x="5701285" y="3681628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9BCF1F-C174-65D7-85DE-CB3F46A1FA20}"/>
              </a:ext>
            </a:extLst>
          </p:cNvPr>
          <p:cNvSpPr txBox="1"/>
          <p:nvPr/>
        </p:nvSpPr>
        <p:spPr>
          <a:xfrm>
            <a:off x="5695766" y="4627245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55E308-B2C5-C36B-97DF-D1DC388D0B37}"/>
              </a:ext>
            </a:extLst>
          </p:cNvPr>
          <p:cNvSpPr txBox="1"/>
          <p:nvPr/>
        </p:nvSpPr>
        <p:spPr>
          <a:xfrm>
            <a:off x="6017459" y="3961972"/>
            <a:ext cx="293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</a:t>
            </a:r>
            <a:r>
              <a:rPr lang="en-IN" dirty="0" smtClean="0"/>
              <a:t>=</a:t>
            </a:r>
            <a:r>
              <a:rPr lang="en-IN" dirty="0" err="1" smtClean="0"/>
              <a:t>getw</a:t>
            </a:r>
            <a:r>
              <a:rPr lang="en-IN" dirty="0" smtClean="0"/>
              <a:t>(</a:t>
            </a:r>
            <a:r>
              <a:rPr lang="en-IN" dirty="0" err="1" smtClean="0"/>
              <a:t>fptr</a:t>
            </a:r>
            <a:r>
              <a:rPr lang="en-IN" dirty="0"/>
              <a:t>);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22756D9-28F6-3FA1-57B1-9C6590392BAB}"/>
              </a:ext>
            </a:extLst>
          </p:cNvPr>
          <p:cNvSpPr txBox="1"/>
          <p:nvPr/>
        </p:nvSpPr>
        <p:spPr>
          <a:xfrm>
            <a:off x="5695766" y="5021760"/>
            <a:ext cx="1288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fclose</a:t>
            </a:r>
            <a:r>
              <a:rPr lang="en-GB" dirty="0"/>
              <a:t>(</a:t>
            </a:r>
            <a:r>
              <a:rPr lang="en-GB" dirty="0" err="1"/>
              <a:t>fptr</a:t>
            </a:r>
            <a:r>
              <a:rPr lang="en-GB" dirty="0"/>
              <a:t>);</a:t>
            </a:r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CB1F47-DEC3-DC80-89F1-703C4B0ED805}"/>
              </a:ext>
            </a:extLst>
          </p:cNvPr>
          <p:cNvSpPr txBox="1"/>
          <p:nvPr/>
        </p:nvSpPr>
        <p:spPr>
          <a:xfrm>
            <a:off x="6017459" y="4346901"/>
            <a:ext cx="293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printf</a:t>
            </a:r>
            <a:r>
              <a:rPr lang="en-IN" dirty="0"/>
              <a:t>(“%d\</a:t>
            </a:r>
            <a:r>
              <a:rPr lang="en-IN" dirty="0" err="1"/>
              <a:t>n</a:t>
            </a:r>
            <a:r>
              <a:rPr lang="en-IN" dirty="0" err="1" smtClean="0"/>
              <a:t>”,</a:t>
            </a:r>
            <a:r>
              <a:rPr lang="en-IN" dirty="0" err="1"/>
              <a:t>n</a:t>
            </a:r>
            <a:r>
              <a:rPr lang="en-IN" dirty="0" smtClean="0"/>
              <a:t>);</a:t>
            </a:r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2108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16" grpId="0"/>
      <p:bldP spid="17" grpId="0"/>
      <p:bldP spid="18" grpId="0"/>
      <p:bldP spid="19" grpId="0"/>
      <p:bldP spid="11" grpId="0"/>
      <p:bldP spid="12" grpId="0"/>
      <p:bldP spid="13" grpId="0"/>
      <p:bldP spid="14" grpId="0"/>
      <p:bldP spid="20" grpId="0"/>
      <p:bldP spid="22" grpId="0"/>
      <p:bldP spid="23" grpId="0"/>
      <p:bldP spid="31" grpId="0"/>
      <p:bldP spid="32" grpId="0"/>
      <p:bldP spid="3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54EDF-6282-BC91-D89B-17781D961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046D25F-7A29-551F-2E2E-75E891CFC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US" dirty="0" err="1"/>
              <a:t>fprintf</a:t>
            </a:r>
            <a:r>
              <a:rPr lang="en-US" dirty="0"/>
              <a:t>() Function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D71C7DB-9CAA-BE5D-05C4-4EFC89906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 err="1"/>
              <a:t>fprintf</a:t>
            </a:r>
            <a:r>
              <a:rPr lang="en-GB" b="1" dirty="0"/>
              <a:t>()</a:t>
            </a:r>
            <a:r>
              <a:rPr lang="en-GB" dirty="0"/>
              <a:t> is used to print content in file instead </a:t>
            </a:r>
            <a:r>
              <a:rPr lang="en-GB" dirty="0" smtClean="0"/>
              <a:t>of </a:t>
            </a:r>
            <a:r>
              <a:rPr lang="en-GB" dirty="0"/>
              <a:t>standard output console.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81DC6E-37C9-9778-20F7-39C005B6841E}"/>
              </a:ext>
            </a:extLst>
          </p:cNvPr>
          <p:cNvSpPr txBox="1"/>
          <p:nvPr/>
        </p:nvSpPr>
        <p:spPr>
          <a:xfrm>
            <a:off x="764270" y="1427095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#include&lt;stdio.h&gt;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9ED35D-B971-6F19-4054-B94B21E3F8B8}"/>
              </a:ext>
            </a:extLst>
          </p:cNvPr>
          <p:cNvSpPr txBox="1"/>
          <p:nvPr/>
        </p:nvSpPr>
        <p:spPr>
          <a:xfrm>
            <a:off x="764273" y="1820997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main()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D5C249-C893-A541-34DB-D6F5D50F5532}"/>
              </a:ext>
            </a:extLst>
          </p:cNvPr>
          <p:cNvSpPr txBox="1"/>
          <p:nvPr/>
        </p:nvSpPr>
        <p:spPr>
          <a:xfrm>
            <a:off x="764272" y="214330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161C4E-6FE6-E2C0-9B1A-1140F3750704}"/>
              </a:ext>
            </a:extLst>
          </p:cNvPr>
          <p:cNvSpPr txBox="1"/>
          <p:nvPr/>
        </p:nvSpPr>
        <p:spPr>
          <a:xfrm>
            <a:off x="962518" y="2429381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FILE *</a:t>
            </a:r>
            <a:r>
              <a:rPr lang="en-GB" dirty="0" err="1"/>
              <a:t>fptr</a:t>
            </a:r>
            <a:r>
              <a:rPr lang="en-GB" dirty="0"/>
              <a:t>;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F80870-0E88-D164-5116-F9F88029F615}"/>
              </a:ext>
            </a:extLst>
          </p:cNvPr>
          <p:cNvSpPr txBox="1"/>
          <p:nvPr/>
        </p:nvSpPr>
        <p:spPr>
          <a:xfrm>
            <a:off x="962133" y="3376476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fptr</a:t>
            </a:r>
            <a:r>
              <a:rPr lang="en-GB" dirty="0"/>
              <a:t> = fopen("</a:t>
            </a:r>
            <a:r>
              <a:rPr lang="en-GB" dirty="0" err="1"/>
              <a:t>hello.txt",“w</a:t>
            </a:r>
            <a:r>
              <a:rPr lang="en-GB" dirty="0"/>
              <a:t>");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3C18CB-BBE0-60A6-7206-3AA0920BD934}"/>
              </a:ext>
            </a:extLst>
          </p:cNvPr>
          <p:cNvSpPr txBox="1"/>
          <p:nvPr/>
        </p:nvSpPr>
        <p:spPr>
          <a:xfrm>
            <a:off x="961755" y="3826508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for(</a:t>
            </a:r>
            <a:r>
              <a:rPr lang="en-GB" dirty="0" err="1"/>
              <a:t>i</a:t>
            </a:r>
            <a:r>
              <a:rPr lang="en-GB" dirty="0"/>
              <a:t>=0;i&lt;2;i++)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F0BDFB-F2D9-5A12-9449-D3AAD368B218}"/>
              </a:ext>
            </a:extLst>
          </p:cNvPr>
          <p:cNvSpPr txBox="1"/>
          <p:nvPr/>
        </p:nvSpPr>
        <p:spPr>
          <a:xfrm>
            <a:off x="961756" y="4179079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B0DA61-2A14-E92F-A725-DE6CCD783FDA}"/>
              </a:ext>
            </a:extLst>
          </p:cNvPr>
          <p:cNvSpPr txBox="1"/>
          <p:nvPr/>
        </p:nvSpPr>
        <p:spPr>
          <a:xfrm>
            <a:off x="961755" y="5535979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2FA3EE-70A2-F09D-3DE7-4228D0FDC8A7}"/>
              </a:ext>
            </a:extLst>
          </p:cNvPr>
          <p:cNvSpPr txBox="1"/>
          <p:nvPr/>
        </p:nvSpPr>
        <p:spPr>
          <a:xfrm>
            <a:off x="1277930" y="4459423"/>
            <a:ext cx="293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puts("Enter a name");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BA41A5-C091-8C95-6F04-7C8DA89285E8}"/>
              </a:ext>
            </a:extLst>
          </p:cNvPr>
          <p:cNvSpPr txBox="1"/>
          <p:nvPr/>
        </p:nvSpPr>
        <p:spPr>
          <a:xfrm>
            <a:off x="961754" y="6252237"/>
            <a:ext cx="1898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fclose</a:t>
            </a:r>
            <a:r>
              <a:rPr lang="en-GB" dirty="0"/>
              <a:t>(</a:t>
            </a:r>
            <a:r>
              <a:rPr lang="en-GB" dirty="0" err="1"/>
              <a:t>fptr</a:t>
            </a:r>
            <a:r>
              <a:rPr lang="en-GB" dirty="0" smtClean="0"/>
              <a:t>); }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FC0577-C613-718F-F5A0-5195C4210B5D}"/>
              </a:ext>
            </a:extLst>
          </p:cNvPr>
          <p:cNvSpPr txBox="1"/>
          <p:nvPr/>
        </p:nvSpPr>
        <p:spPr>
          <a:xfrm>
            <a:off x="962134" y="2773744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 </a:t>
            </a:r>
            <a:r>
              <a:rPr lang="en-GB" dirty="0" err="1"/>
              <a:t>i,n</a:t>
            </a:r>
            <a:r>
              <a:rPr lang="en-GB" dirty="0"/>
              <a:t>=2;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0F292F-552F-E8D0-57EE-BB0A7A2DFAD1}"/>
              </a:ext>
            </a:extLst>
          </p:cNvPr>
          <p:cNvSpPr txBox="1"/>
          <p:nvPr/>
        </p:nvSpPr>
        <p:spPr>
          <a:xfrm>
            <a:off x="961755" y="5888550"/>
            <a:ext cx="4078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("Data Written Successfully.");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188E50-0845-8FF4-3C3A-2132C1870963}"/>
              </a:ext>
            </a:extLst>
          </p:cNvPr>
          <p:cNvSpPr txBox="1"/>
          <p:nvPr/>
        </p:nvSpPr>
        <p:spPr>
          <a:xfrm>
            <a:off x="1277930" y="4802501"/>
            <a:ext cx="293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</a:t>
            </a:r>
            <a:r>
              <a:rPr lang="en-IN" dirty="0" smtClean="0"/>
              <a:t>ets(</a:t>
            </a:r>
            <a:r>
              <a:rPr lang="en-IN" dirty="0" err="1" smtClean="0"/>
              <a:t>str</a:t>
            </a:r>
            <a:r>
              <a:rPr lang="en-IN" dirty="0"/>
              <a:t>);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C60D14-90D2-D206-105F-3E2C9B27E314}"/>
              </a:ext>
            </a:extLst>
          </p:cNvPr>
          <p:cNvSpPr txBox="1"/>
          <p:nvPr/>
        </p:nvSpPr>
        <p:spPr>
          <a:xfrm>
            <a:off x="1257453" y="5127243"/>
            <a:ext cx="293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fprintf(fptr,"%d.%s\n",i+1,str); 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F80870-0E88-D164-5116-F9F88029F615}"/>
              </a:ext>
            </a:extLst>
          </p:cNvPr>
          <p:cNvSpPr txBox="1"/>
          <p:nvPr/>
        </p:nvSpPr>
        <p:spPr>
          <a:xfrm>
            <a:off x="961749" y="3039110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</a:t>
            </a:r>
            <a:r>
              <a:rPr lang="en-GB" smtClean="0"/>
              <a:t>har </a:t>
            </a:r>
            <a:r>
              <a:rPr lang="en-GB" dirty="0" err="1" smtClean="0"/>
              <a:t>str</a:t>
            </a:r>
            <a:r>
              <a:rPr lang="en-GB" dirty="0" smtClean="0"/>
              <a:t>[100];</a:t>
            </a:r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27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7" grpId="0"/>
      <p:bldP spid="8" grpId="0"/>
      <p:bldP spid="11" grpId="0"/>
      <p:bldP spid="12" grpId="0"/>
      <p:bldP spid="17" grpId="0"/>
      <p:bldP spid="18" grpId="0"/>
      <p:bldP spid="19" grpId="0"/>
      <p:bldP spid="20" grpId="0"/>
      <p:bldP spid="21" grpId="0"/>
      <p:bldP spid="26" grpId="0"/>
      <p:bldP spid="29" grpId="0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A6EF8-463F-1418-0A86-43D1CE711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9D53BD1-54DE-9B23-0C25-E61F4DE1F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lang="en-US" dirty="0" err="1"/>
              <a:t>fscanf</a:t>
            </a:r>
            <a:r>
              <a:rPr lang="en-US" dirty="0"/>
              <a:t>() Function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813567E-3076-E60C-90AB-410CECE2A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 err="1" smtClean="0"/>
              <a:t>fscanf</a:t>
            </a:r>
            <a:r>
              <a:rPr lang="en-GB" b="1" dirty="0"/>
              <a:t>()</a:t>
            </a:r>
            <a:r>
              <a:rPr lang="en-GB" dirty="0"/>
              <a:t> is used to read set of characters from file. It reads a word from the file and returns EOF at the end of file.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124118-AA03-C649-78CB-F4C0D8414769}"/>
              </a:ext>
            </a:extLst>
          </p:cNvPr>
          <p:cNvSpPr txBox="1"/>
          <p:nvPr/>
        </p:nvSpPr>
        <p:spPr>
          <a:xfrm>
            <a:off x="748725" y="1888743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#include&lt;stdio.h&gt;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A794E9-B4AB-318E-062B-DB142678D28D}"/>
              </a:ext>
            </a:extLst>
          </p:cNvPr>
          <p:cNvSpPr txBox="1"/>
          <p:nvPr/>
        </p:nvSpPr>
        <p:spPr>
          <a:xfrm>
            <a:off x="763509" y="228158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main()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23A737-F77B-FC91-CAAF-7349BE02C2B2}"/>
              </a:ext>
            </a:extLst>
          </p:cNvPr>
          <p:cNvSpPr txBox="1"/>
          <p:nvPr/>
        </p:nvSpPr>
        <p:spPr>
          <a:xfrm>
            <a:off x="763508" y="2603895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1C0CD2-68CA-B45F-BAD2-D6B2B5678B02}"/>
              </a:ext>
            </a:extLst>
          </p:cNvPr>
          <p:cNvSpPr txBox="1"/>
          <p:nvPr/>
        </p:nvSpPr>
        <p:spPr>
          <a:xfrm>
            <a:off x="764269" y="5868654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9CA2E5-524B-26C4-6DB4-C833431EC59D}"/>
              </a:ext>
            </a:extLst>
          </p:cNvPr>
          <p:cNvSpPr txBox="1"/>
          <p:nvPr/>
        </p:nvSpPr>
        <p:spPr>
          <a:xfrm>
            <a:off x="961754" y="2930914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FILE *</a:t>
            </a:r>
            <a:r>
              <a:rPr lang="en-GB" dirty="0" err="1"/>
              <a:t>fptr</a:t>
            </a:r>
            <a:r>
              <a:rPr lang="en-GB" dirty="0"/>
              <a:t>;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A61B7C-7444-3840-F687-7129FC61D052}"/>
              </a:ext>
            </a:extLst>
          </p:cNvPr>
          <p:cNvSpPr txBox="1"/>
          <p:nvPr/>
        </p:nvSpPr>
        <p:spPr>
          <a:xfrm>
            <a:off x="961369" y="3666779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fptr</a:t>
            </a:r>
            <a:r>
              <a:rPr lang="en-GB" dirty="0"/>
              <a:t> = fopen("</a:t>
            </a:r>
            <a:r>
              <a:rPr lang="en-GB" dirty="0" err="1"/>
              <a:t>hello.txt",“r</a:t>
            </a:r>
            <a:r>
              <a:rPr lang="en-GB" dirty="0"/>
              <a:t>");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3E9AE8-BB3C-B1C2-681E-26958EA70F1B}"/>
              </a:ext>
            </a:extLst>
          </p:cNvPr>
          <p:cNvSpPr txBox="1"/>
          <p:nvPr/>
        </p:nvSpPr>
        <p:spPr>
          <a:xfrm>
            <a:off x="960990" y="4116811"/>
            <a:ext cx="3583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while(</a:t>
            </a:r>
            <a:r>
              <a:rPr lang="en-GB" dirty="0" err="1"/>
              <a:t>fscanf</a:t>
            </a:r>
            <a:r>
              <a:rPr lang="en-GB" dirty="0"/>
              <a:t>(</a:t>
            </a:r>
            <a:r>
              <a:rPr lang="en-GB" dirty="0" err="1"/>
              <a:t>fptr</a:t>
            </a:r>
            <a:r>
              <a:rPr lang="en-GB" dirty="0"/>
              <a:t>, "%s", buff)!=EOF)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D29065-ED63-408B-DF22-DE81BF448BE3}"/>
              </a:ext>
            </a:extLst>
          </p:cNvPr>
          <p:cNvSpPr txBox="1"/>
          <p:nvPr/>
        </p:nvSpPr>
        <p:spPr>
          <a:xfrm>
            <a:off x="960992" y="4469382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42BEF9-6F0D-1783-4217-ABF8F7305FCD}"/>
              </a:ext>
            </a:extLst>
          </p:cNvPr>
          <p:cNvSpPr txBox="1"/>
          <p:nvPr/>
        </p:nvSpPr>
        <p:spPr>
          <a:xfrm>
            <a:off x="961370" y="518677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F10987-1D70-9CB3-12C4-50C699A254E5}"/>
              </a:ext>
            </a:extLst>
          </p:cNvPr>
          <p:cNvSpPr txBox="1"/>
          <p:nvPr/>
        </p:nvSpPr>
        <p:spPr>
          <a:xfrm>
            <a:off x="1277166" y="4749726"/>
            <a:ext cx="293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printf</a:t>
            </a:r>
            <a:r>
              <a:rPr lang="en-IN" dirty="0"/>
              <a:t>("%s ", buff 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232534-5057-74E5-51D2-8CD92DF820C5}"/>
              </a:ext>
            </a:extLst>
          </p:cNvPr>
          <p:cNvSpPr txBox="1"/>
          <p:nvPr/>
        </p:nvSpPr>
        <p:spPr>
          <a:xfrm>
            <a:off x="961755" y="5571738"/>
            <a:ext cx="1288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fclose</a:t>
            </a:r>
            <a:r>
              <a:rPr lang="en-GB" dirty="0"/>
              <a:t>(</a:t>
            </a:r>
            <a:r>
              <a:rPr lang="en-GB" dirty="0" err="1"/>
              <a:t>fptr</a:t>
            </a:r>
            <a:r>
              <a:rPr lang="en-GB" dirty="0"/>
              <a:t>);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D7CAA5-1979-33CA-1DAD-4CE9E429EB96}"/>
              </a:ext>
            </a:extLst>
          </p:cNvPr>
          <p:cNvSpPr txBox="1"/>
          <p:nvPr/>
        </p:nvSpPr>
        <p:spPr>
          <a:xfrm>
            <a:off x="961370" y="3329869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char buff[255];</a:t>
            </a:r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4703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  <p:bldP spid="8" grpId="0"/>
      <p:bldP spid="11" grpId="0"/>
      <p:bldP spid="12" grpId="0"/>
      <p:bldP spid="17" grpId="0"/>
      <p:bldP spid="18" grpId="0"/>
      <p:bldP spid="19" grpId="0"/>
      <p:bldP spid="2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487EF-9172-3F38-A1B5-DA632AB96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FA90DB-B7C0-B678-A50C-E3AE7A51C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GB" dirty="0"/>
              <a:t>Error Handling and Random access Functions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1284E2-1B70-4AB5-2D46-2D6810A26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 </a:t>
            </a:r>
          </a:p>
        </p:txBody>
      </p:sp>
    </p:spTree>
    <p:extLst>
      <p:ext uri="{BB962C8B-B14F-4D97-AF65-F5344CB8AC3E}">
        <p14:creationId xmlns:p14="http://schemas.microsoft.com/office/powerpoint/2010/main" val="100653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11B12-6E4A-C431-E07D-06C121FF6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D0C0628-73C5-ED4B-01A4-53D205EDC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Handling Functions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D6C4E37-9DDD-5890-AA75-3C29F4D33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It is possible that an error may occur during I/O operation on file. Situation when an error can arise are;</a:t>
            </a:r>
          </a:p>
          <a:p>
            <a:pPr lvl="1"/>
            <a:r>
              <a:rPr lang="en-GB" dirty="0"/>
              <a:t>Trying to use a file that has not been opened.</a:t>
            </a:r>
          </a:p>
          <a:p>
            <a:pPr lvl="1"/>
            <a:r>
              <a:rPr lang="en-US" dirty="0"/>
              <a:t>Trying to perform an operation on a file, when the file is opened for another type of operation.</a:t>
            </a:r>
          </a:p>
          <a:p>
            <a:pPr lvl="1"/>
            <a:r>
              <a:rPr lang="en-US" dirty="0"/>
              <a:t>Opening a file with an invalid filename.</a:t>
            </a:r>
          </a:p>
          <a:p>
            <a:pPr lvl="1"/>
            <a:r>
              <a:rPr lang="en-US" dirty="0"/>
              <a:t>Attempting to write to a write-protected file. </a:t>
            </a:r>
          </a:p>
          <a:p>
            <a:r>
              <a:rPr lang="en-US" dirty="0"/>
              <a:t>If we fail to check such read and write errors, a program may behave abnormally when an error occurs. </a:t>
            </a:r>
          </a:p>
          <a:p>
            <a:r>
              <a:rPr lang="en-US" dirty="0"/>
              <a:t>So for handle this kind of situation we have two library functions;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err="1"/>
              <a:t>feof</a:t>
            </a:r>
            <a:r>
              <a:rPr lang="en-US" b="1" dirty="0"/>
              <a:t>()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err="1"/>
              <a:t>ferror</a:t>
            </a:r>
            <a:r>
              <a:rPr lang="en-US" b="1" dirty="0"/>
              <a:t>()</a:t>
            </a:r>
          </a:p>
          <a:p>
            <a:pPr lvl="1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902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801CF-554C-B75E-2F28-F128108BD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0F20E2A-5415-9E70-E44D-520C1BA98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Handling Functions (Conti…)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0AFCD4C-8FDC-9E77-CD90-1645A0F46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 err="1"/>
              <a:t>feof</a:t>
            </a:r>
            <a:r>
              <a:rPr lang="en-US" b="1" dirty="0"/>
              <a:t>() </a:t>
            </a:r>
          </a:p>
          <a:p>
            <a:r>
              <a:rPr lang="en-US" dirty="0"/>
              <a:t>This function can be used to test for an end of file condition.</a:t>
            </a:r>
          </a:p>
          <a:p>
            <a:r>
              <a:rPr lang="en-US" dirty="0"/>
              <a:t>It takes a FILE pointer as its only argument and returns a non zero integer value if all of the data from the specified file has been read else it returns zero.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8B725F-8506-E9F1-E248-09693E8BCF72}"/>
              </a:ext>
            </a:extLst>
          </p:cNvPr>
          <p:cNvSpPr txBox="1"/>
          <p:nvPr/>
        </p:nvSpPr>
        <p:spPr>
          <a:xfrm>
            <a:off x="928047" y="2542784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#include&lt;stdio.h&gt;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39E416-90C5-AAE6-BBB8-02170B95ED1E}"/>
              </a:ext>
            </a:extLst>
          </p:cNvPr>
          <p:cNvSpPr txBox="1"/>
          <p:nvPr/>
        </p:nvSpPr>
        <p:spPr>
          <a:xfrm>
            <a:off x="928047" y="289700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main()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4852CA-C4FC-642A-EC66-45E7FD046BAC}"/>
              </a:ext>
            </a:extLst>
          </p:cNvPr>
          <p:cNvSpPr txBox="1"/>
          <p:nvPr/>
        </p:nvSpPr>
        <p:spPr>
          <a:xfrm>
            <a:off x="928046" y="3219315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3CA61B-05C2-CF04-DBEB-247574C6324F}"/>
              </a:ext>
            </a:extLst>
          </p:cNvPr>
          <p:cNvSpPr txBox="1"/>
          <p:nvPr/>
        </p:nvSpPr>
        <p:spPr>
          <a:xfrm>
            <a:off x="1126292" y="3505390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FILE *</a:t>
            </a:r>
            <a:r>
              <a:rPr lang="en-GB" dirty="0" err="1"/>
              <a:t>fptr</a:t>
            </a:r>
            <a:r>
              <a:rPr lang="en-GB" dirty="0"/>
              <a:t>;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4447DB-08E8-A9D3-BED8-195BEECCAB83}"/>
              </a:ext>
            </a:extLst>
          </p:cNvPr>
          <p:cNvSpPr txBox="1"/>
          <p:nvPr/>
        </p:nvSpPr>
        <p:spPr>
          <a:xfrm>
            <a:off x="1126288" y="4186373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fptr</a:t>
            </a:r>
            <a:r>
              <a:rPr lang="en-GB" dirty="0"/>
              <a:t> = fopen("</a:t>
            </a:r>
            <a:r>
              <a:rPr lang="en-GB" dirty="0" err="1"/>
              <a:t>hello.txt",“r</a:t>
            </a:r>
            <a:r>
              <a:rPr lang="en-GB" dirty="0"/>
              <a:t>");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853EA6-8430-A3D1-92A3-1660E3E6CC76}"/>
              </a:ext>
            </a:extLst>
          </p:cNvPr>
          <p:cNvSpPr txBox="1"/>
          <p:nvPr/>
        </p:nvSpPr>
        <p:spPr>
          <a:xfrm>
            <a:off x="1742364" y="5131074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ch</a:t>
            </a:r>
            <a:r>
              <a:rPr lang="en-GB" dirty="0"/>
              <a:t> = </a:t>
            </a:r>
            <a:r>
              <a:rPr lang="en-GB" dirty="0" err="1" smtClean="0"/>
              <a:t>fgetc</a:t>
            </a:r>
            <a:r>
              <a:rPr lang="en-GB" dirty="0" smtClean="0"/>
              <a:t>(</a:t>
            </a:r>
            <a:r>
              <a:rPr lang="en-GB" dirty="0" err="1" smtClean="0"/>
              <a:t>fptr</a:t>
            </a:r>
            <a:r>
              <a:rPr lang="en-GB" dirty="0" smtClean="0"/>
              <a:t>);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02E76C-714E-23D4-8547-2EC9FD2AA2EB}"/>
              </a:ext>
            </a:extLst>
          </p:cNvPr>
          <p:cNvSpPr txBox="1"/>
          <p:nvPr/>
        </p:nvSpPr>
        <p:spPr>
          <a:xfrm>
            <a:off x="1742364" y="5442725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if(</a:t>
            </a:r>
            <a:r>
              <a:rPr lang="en-GB" b="1" dirty="0" err="1">
                <a:solidFill>
                  <a:srgbClr val="C00000"/>
                </a:solidFill>
              </a:rPr>
              <a:t>feof</a:t>
            </a:r>
            <a:r>
              <a:rPr lang="en-GB" b="1" dirty="0">
                <a:solidFill>
                  <a:srgbClr val="C00000"/>
                </a:solidFill>
              </a:rPr>
              <a:t>(</a:t>
            </a:r>
            <a:r>
              <a:rPr lang="en-GB" b="1" dirty="0" err="1">
                <a:solidFill>
                  <a:srgbClr val="C00000"/>
                </a:solidFill>
              </a:rPr>
              <a:t>fptr</a:t>
            </a:r>
            <a:r>
              <a:rPr lang="en-GB" b="1" dirty="0">
                <a:solidFill>
                  <a:srgbClr val="C00000"/>
                </a:solidFill>
              </a:rPr>
              <a:t>)</a:t>
            </a:r>
            <a:r>
              <a:rPr lang="en-GB" dirty="0"/>
              <a:t>)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A515EF-08B6-7E31-2064-5676FE3075DD}"/>
              </a:ext>
            </a:extLst>
          </p:cNvPr>
          <p:cNvSpPr txBox="1"/>
          <p:nvPr/>
        </p:nvSpPr>
        <p:spPr>
          <a:xfrm>
            <a:off x="1742363" y="6266208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FCB9C5-5C10-8BF2-B3F3-ABC7A65463A7}"/>
              </a:ext>
            </a:extLst>
          </p:cNvPr>
          <p:cNvSpPr txBox="1"/>
          <p:nvPr/>
        </p:nvSpPr>
        <p:spPr>
          <a:xfrm>
            <a:off x="1739221" y="5723057"/>
            <a:ext cx="293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{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ED677D-39B7-8C4A-20D6-85074BD4DE0E}"/>
              </a:ext>
            </a:extLst>
          </p:cNvPr>
          <p:cNvSpPr txBox="1"/>
          <p:nvPr/>
        </p:nvSpPr>
        <p:spPr>
          <a:xfrm>
            <a:off x="5443929" y="5089239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("%c", </a:t>
            </a:r>
            <a:r>
              <a:rPr lang="en-GB" dirty="0" err="1"/>
              <a:t>ch</a:t>
            </a:r>
            <a:r>
              <a:rPr lang="en-GB" dirty="0"/>
              <a:t>);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EADB27-E925-71DF-E216-CCCD3D7B90CF}"/>
              </a:ext>
            </a:extLst>
          </p:cNvPr>
          <p:cNvSpPr txBox="1"/>
          <p:nvPr/>
        </p:nvSpPr>
        <p:spPr>
          <a:xfrm>
            <a:off x="5443929" y="5400890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31E943-F318-0C4A-105E-45A1530B82B1}"/>
              </a:ext>
            </a:extLst>
          </p:cNvPr>
          <p:cNvSpPr txBox="1"/>
          <p:nvPr/>
        </p:nvSpPr>
        <p:spPr>
          <a:xfrm>
            <a:off x="5086439" y="6155994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B2B163-168F-F349-B4BA-52AFDE0BF996}"/>
              </a:ext>
            </a:extLst>
          </p:cNvPr>
          <p:cNvSpPr txBox="1"/>
          <p:nvPr/>
        </p:nvSpPr>
        <p:spPr>
          <a:xfrm>
            <a:off x="5314132" y="5844343"/>
            <a:ext cx="1288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fclose</a:t>
            </a:r>
            <a:r>
              <a:rPr lang="en-GB" dirty="0"/>
              <a:t>(</a:t>
            </a:r>
            <a:r>
              <a:rPr lang="en-GB" dirty="0" err="1"/>
              <a:t>fptr</a:t>
            </a:r>
            <a:r>
              <a:rPr lang="en-GB" dirty="0"/>
              <a:t>);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D2C117-CE38-EC10-5FB3-54D8CEA7C5E7}"/>
              </a:ext>
            </a:extLst>
          </p:cNvPr>
          <p:cNvSpPr txBox="1"/>
          <p:nvPr/>
        </p:nvSpPr>
        <p:spPr>
          <a:xfrm>
            <a:off x="2033865" y="6013504"/>
            <a:ext cx="1815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break;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0E55F1-D20B-10F9-39E2-A96D591EA13F}"/>
              </a:ext>
            </a:extLst>
          </p:cNvPr>
          <p:cNvSpPr txBox="1"/>
          <p:nvPr/>
        </p:nvSpPr>
        <p:spPr>
          <a:xfrm>
            <a:off x="1126289" y="4513309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while(1)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BD08CE-EF28-E74C-4700-3227BAB4EBD3}"/>
              </a:ext>
            </a:extLst>
          </p:cNvPr>
          <p:cNvSpPr txBox="1"/>
          <p:nvPr/>
        </p:nvSpPr>
        <p:spPr>
          <a:xfrm>
            <a:off x="1126289" y="4824960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AEC342-0E2C-ADB2-99F6-6AB51447693F}"/>
              </a:ext>
            </a:extLst>
          </p:cNvPr>
          <p:cNvSpPr txBox="1"/>
          <p:nvPr/>
        </p:nvSpPr>
        <p:spPr>
          <a:xfrm>
            <a:off x="1126288" y="3836868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char </a:t>
            </a:r>
            <a:r>
              <a:rPr lang="en-GB" dirty="0" err="1"/>
              <a:t>ch</a:t>
            </a:r>
            <a:r>
              <a:rPr lang="en-GB" dirty="0"/>
              <a:t>;</a:t>
            </a:r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9596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/>
      <p:bldP spid="8" grpId="0"/>
      <p:bldP spid="11" grpId="0"/>
      <p:bldP spid="12" grpId="0"/>
      <p:bldP spid="13" grpId="0"/>
      <p:bldP spid="14" grpId="0"/>
      <p:bldP spid="15" grpId="0"/>
      <p:bldP spid="16" grpId="0"/>
      <p:bldP spid="18" grpId="0"/>
      <p:bldP spid="19" grpId="0"/>
      <p:bldP spid="23" grpId="0"/>
      <p:bldP spid="24" grpId="0"/>
      <p:bldP spid="2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0B777-93CB-62DB-E1A7-9B8FBD07A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5F9F67B-C0A1-70F3-DDEA-D3C9A7615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Handling Functions (Conti…)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DEEDBE6-4ACE-5238-81AD-B46ECF15E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b="1" dirty="0" err="1"/>
              <a:t>ferror</a:t>
            </a:r>
            <a:r>
              <a:rPr lang="en-US" b="1" dirty="0"/>
              <a:t>() </a:t>
            </a:r>
          </a:p>
          <a:p>
            <a:r>
              <a:rPr lang="en-US" dirty="0"/>
              <a:t>The </a:t>
            </a:r>
            <a:r>
              <a:rPr lang="en-US" dirty="0" err="1"/>
              <a:t>ferror</a:t>
            </a:r>
            <a:r>
              <a:rPr lang="en-US" dirty="0"/>
              <a:t>() function reports the status of the file indicated.</a:t>
            </a:r>
          </a:p>
          <a:p>
            <a:r>
              <a:rPr lang="en-US" dirty="0"/>
              <a:t>It takes a FILE pointer as its only argument and returns a non zero integer value if error has been detected up to that pointer else it returns zero.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2D3145-034F-8781-3818-7165A0A8F533}"/>
              </a:ext>
            </a:extLst>
          </p:cNvPr>
          <p:cNvSpPr txBox="1"/>
          <p:nvPr/>
        </p:nvSpPr>
        <p:spPr>
          <a:xfrm>
            <a:off x="928047" y="2542784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#include&lt;stdio.h&gt;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4A8627-E0BF-F341-5179-775221B04359}"/>
              </a:ext>
            </a:extLst>
          </p:cNvPr>
          <p:cNvSpPr txBox="1"/>
          <p:nvPr/>
        </p:nvSpPr>
        <p:spPr>
          <a:xfrm>
            <a:off x="928047" y="289700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main()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4075C2-0270-3674-F3B8-4F0A27896B2C}"/>
              </a:ext>
            </a:extLst>
          </p:cNvPr>
          <p:cNvSpPr txBox="1"/>
          <p:nvPr/>
        </p:nvSpPr>
        <p:spPr>
          <a:xfrm>
            <a:off x="928046" y="3219315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8E535F-056B-D40E-6B80-300D9099EF04}"/>
              </a:ext>
            </a:extLst>
          </p:cNvPr>
          <p:cNvSpPr txBox="1"/>
          <p:nvPr/>
        </p:nvSpPr>
        <p:spPr>
          <a:xfrm>
            <a:off x="1126292" y="3505390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FILE *</a:t>
            </a:r>
            <a:r>
              <a:rPr lang="en-GB" dirty="0" err="1"/>
              <a:t>fptr</a:t>
            </a:r>
            <a:r>
              <a:rPr lang="en-GB" dirty="0"/>
              <a:t>;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1F4DD2-99BB-5352-B2AF-4821EB2CFF17}"/>
              </a:ext>
            </a:extLst>
          </p:cNvPr>
          <p:cNvSpPr txBox="1"/>
          <p:nvPr/>
        </p:nvSpPr>
        <p:spPr>
          <a:xfrm>
            <a:off x="1126288" y="4186373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fptr</a:t>
            </a:r>
            <a:r>
              <a:rPr lang="en-GB" dirty="0"/>
              <a:t> = fopen("</a:t>
            </a:r>
            <a:r>
              <a:rPr lang="en-GB" dirty="0" err="1"/>
              <a:t>hello.txt",“w</a:t>
            </a:r>
            <a:r>
              <a:rPr lang="en-GB" dirty="0"/>
              <a:t>");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4C6702-A215-AC6E-8793-87F7FEB263B1}"/>
              </a:ext>
            </a:extLst>
          </p:cNvPr>
          <p:cNvSpPr txBox="1"/>
          <p:nvPr/>
        </p:nvSpPr>
        <p:spPr>
          <a:xfrm>
            <a:off x="1129431" y="4855678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if(</a:t>
            </a:r>
            <a:r>
              <a:rPr lang="en-GB" b="1" dirty="0" err="1">
                <a:solidFill>
                  <a:srgbClr val="C00000"/>
                </a:solidFill>
              </a:rPr>
              <a:t>ferror</a:t>
            </a:r>
            <a:r>
              <a:rPr lang="en-GB" b="1" dirty="0">
                <a:solidFill>
                  <a:srgbClr val="C00000"/>
                </a:solidFill>
              </a:rPr>
              <a:t>(</a:t>
            </a:r>
            <a:r>
              <a:rPr lang="en-GB" b="1" dirty="0" err="1">
                <a:solidFill>
                  <a:srgbClr val="C00000"/>
                </a:solidFill>
              </a:rPr>
              <a:t>fptr</a:t>
            </a:r>
            <a:r>
              <a:rPr lang="en-GB" b="1" dirty="0">
                <a:solidFill>
                  <a:srgbClr val="C00000"/>
                </a:solidFill>
              </a:rPr>
              <a:t>)</a:t>
            </a:r>
            <a:r>
              <a:rPr lang="en-GB" dirty="0"/>
              <a:t>)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4B0688-C4E6-835D-B92D-FF6E2090D871}"/>
              </a:ext>
            </a:extLst>
          </p:cNvPr>
          <p:cNvSpPr txBox="1"/>
          <p:nvPr/>
        </p:nvSpPr>
        <p:spPr>
          <a:xfrm>
            <a:off x="1129430" y="5679161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9DCD88-73CD-E373-E20A-99357E2A0FF1}"/>
              </a:ext>
            </a:extLst>
          </p:cNvPr>
          <p:cNvSpPr txBox="1"/>
          <p:nvPr/>
        </p:nvSpPr>
        <p:spPr>
          <a:xfrm>
            <a:off x="1126288" y="5136010"/>
            <a:ext cx="293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{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23D14C-9977-79AE-6C50-7945CE1F1A8A}"/>
              </a:ext>
            </a:extLst>
          </p:cNvPr>
          <p:cNvSpPr txBox="1"/>
          <p:nvPr/>
        </p:nvSpPr>
        <p:spPr>
          <a:xfrm>
            <a:off x="854606" y="6230592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2C2C52-78D0-F22C-F274-D373DCA6EBC8}"/>
              </a:ext>
            </a:extLst>
          </p:cNvPr>
          <p:cNvSpPr txBox="1"/>
          <p:nvPr/>
        </p:nvSpPr>
        <p:spPr>
          <a:xfrm>
            <a:off x="1094542" y="6009426"/>
            <a:ext cx="1288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fclose</a:t>
            </a:r>
            <a:r>
              <a:rPr lang="en-GB" dirty="0"/>
              <a:t>(</a:t>
            </a:r>
            <a:r>
              <a:rPr lang="en-GB" dirty="0" err="1"/>
              <a:t>fptr</a:t>
            </a:r>
            <a:r>
              <a:rPr lang="en-GB" dirty="0"/>
              <a:t>);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1324D7-1825-4F0F-722A-695B174DA278}"/>
              </a:ext>
            </a:extLst>
          </p:cNvPr>
          <p:cNvSpPr txBox="1"/>
          <p:nvPr/>
        </p:nvSpPr>
        <p:spPr>
          <a:xfrm>
            <a:off x="1445604" y="5423027"/>
            <a:ext cx="4650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("Error in reading from file : </a:t>
            </a:r>
            <a:r>
              <a:rPr lang="en-GB" dirty="0" smtClean="0"/>
              <a:t>hello.txt\n</a:t>
            </a:r>
            <a:r>
              <a:rPr lang="en-GB" dirty="0"/>
              <a:t>");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BE291A-1896-2794-3A24-7DA085A0EB1D}"/>
              </a:ext>
            </a:extLst>
          </p:cNvPr>
          <p:cNvSpPr txBox="1"/>
          <p:nvPr/>
        </p:nvSpPr>
        <p:spPr>
          <a:xfrm>
            <a:off x="1126289" y="4513309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 smtClean="0"/>
              <a:t>ch</a:t>
            </a:r>
            <a:r>
              <a:rPr lang="en-GB" dirty="0" smtClean="0"/>
              <a:t> </a:t>
            </a:r>
            <a:r>
              <a:rPr lang="en-GB" dirty="0"/>
              <a:t>= </a:t>
            </a:r>
            <a:r>
              <a:rPr lang="en-GB" dirty="0" err="1"/>
              <a:t>fgetc</a:t>
            </a:r>
            <a:r>
              <a:rPr lang="en-GB" dirty="0"/>
              <a:t>(</a:t>
            </a:r>
            <a:r>
              <a:rPr lang="en-GB" dirty="0" err="1"/>
              <a:t>fptr</a:t>
            </a:r>
            <a:r>
              <a:rPr lang="en-GB" dirty="0"/>
              <a:t>);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76C790-DE4A-33C2-4B05-203501F5E927}"/>
              </a:ext>
            </a:extLst>
          </p:cNvPr>
          <p:cNvSpPr txBox="1"/>
          <p:nvPr/>
        </p:nvSpPr>
        <p:spPr>
          <a:xfrm>
            <a:off x="1126288" y="3836868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char </a:t>
            </a:r>
            <a:r>
              <a:rPr lang="en-GB" dirty="0" err="1"/>
              <a:t>ch</a:t>
            </a:r>
            <a:r>
              <a:rPr lang="en-GB" dirty="0"/>
              <a:t>;</a:t>
            </a:r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8731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/>
      <p:bldP spid="11" grpId="0"/>
      <p:bldP spid="12" grpId="0"/>
      <p:bldP spid="13" grpId="0"/>
      <p:bldP spid="16" grpId="0"/>
      <p:bldP spid="18" grpId="0"/>
      <p:bldP spid="19" grpId="0"/>
      <p:bldP spid="23" grpId="0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1A92F-F44E-611D-80AB-C249278E9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8462567-7F5A-3D5E-75A2-D96FBD7FB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Access Functions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25FD5F4-49B4-DEEB-1647-4CC97DD25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When we want to access only a particular part of a file and don’t want to read the other parts of the file, at that time we can use random access functions. </a:t>
            </a:r>
          </a:p>
          <a:p>
            <a:pPr lvl="0"/>
            <a:r>
              <a:rPr lang="en-GB" dirty="0"/>
              <a:t>Random access functions are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 err="1"/>
              <a:t>fseek</a:t>
            </a:r>
            <a:r>
              <a:rPr lang="en-US" b="1" dirty="0"/>
              <a:t>()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err="1"/>
              <a:t>ftell</a:t>
            </a:r>
            <a:r>
              <a:rPr lang="en-US" b="1" dirty="0"/>
              <a:t>()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rewind()</a:t>
            </a:r>
          </a:p>
          <a:p>
            <a:pPr lvl="1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1294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ACB41-4B1C-6004-BB98-CACFF3E13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3E91F0B-C5FD-6983-F816-0FC301AAD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Access Functions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338BBC1-8AB6-04F7-D9F6-5BC728B94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 err="1"/>
              <a:t>fseek</a:t>
            </a:r>
            <a:r>
              <a:rPr lang="en-US" b="1" dirty="0"/>
              <a:t>()</a:t>
            </a:r>
          </a:p>
          <a:p>
            <a:r>
              <a:rPr lang="en-US" dirty="0"/>
              <a:t>This function is used to move the file position to a desired location within the file.</a:t>
            </a:r>
          </a:p>
          <a:p>
            <a:r>
              <a:rPr lang="en-US" b="1" dirty="0">
                <a:solidFill>
                  <a:srgbClr val="C00000"/>
                </a:solidFill>
              </a:rPr>
              <a:t>Syntax;</a:t>
            </a:r>
          </a:p>
          <a:p>
            <a:pPr lvl="1"/>
            <a:r>
              <a:rPr lang="en-US" b="1" i="1" dirty="0" err="1">
                <a:solidFill>
                  <a:srgbClr val="C00000"/>
                </a:solidFill>
              </a:rPr>
              <a:t>file_ptr</a:t>
            </a:r>
            <a:r>
              <a:rPr lang="en-US" b="1" i="1" dirty="0">
                <a:solidFill>
                  <a:srgbClr val="C00000"/>
                </a:solidFill>
              </a:rPr>
              <a:t> </a:t>
            </a:r>
            <a:r>
              <a:rPr lang="en-US" dirty="0"/>
              <a:t>is a pointer to the file concerned.</a:t>
            </a:r>
          </a:p>
          <a:p>
            <a:pPr lvl="1"/>
            <a:r>
              <a:rPr lang="en-US" b="1" i="1" dirty="0">
                <a:solidFill>
                  <a:srgbClr val="C00000"/>
                </a:solidFill>
              </a:rPr>
              <a:t>offset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is number of position , it specifies the number of positions (bytes) to be moved from the location specified by </a:t>
            </a:r>
            <a:r>
              <a:rPr lang="en-US" i="1" dirty="0"/>
              <a:t>position</a:t>
            </a:r>
          </a:p>
          <a:p>
            <a:pPr lvl="1"/>
            <a:r>
              <a:rPr lang="en-US" b="1" i="1" dirty="0">
                <a:solidFill>
                  <a:srgbClr val="C00000"/>
                </a:solidFill>
              </a:rPr>
              <a:t>position </a:t>
            </a:r>
            <a:r>
              <a:rPr lang="en-US" dirty="0"/>
              <a:t>is an integer number</a:t>
            </a:r>
            <a:endParaRPr lang="en-US" b="1" i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A7D64B-31DF-9662-0A7B-47C18E939F15}"/>
              </a:ext>
            </a:extLst>
          </p:cNvPr>
          <p:cNvSpPr txBox="1"/>
          <p:nvPr/>
        </p:nvSpPr>
        <p:spPr>
          <a:xfrm>
            <a:off x="1451153" y="1757625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fseek</a:t>
            </a:r>
            <a:r>
              <a:rPr lang="en-US" sz="2400" b="1" dirty="0"/>
              <a:t> (</a:t>
            </a:r>
            <a:r>
              <a:rPr lang="en-US" sz="2400" b="1" dirty="0" err="1">
                <a:solidFill>
                  <a:srgbClr val="C00000"/>
                </a:solidFill>
              </a:rPr>
              <a:t>file_ptr</a:t>
            </a:r>
            <a:r>
              <a:rPr lang="en-US" sz="2400" b="1" dirty="0"/>
              <a:t>, </a:t>
            </a:r>
            <a:r>
              <a:rPr lang="en-US" sz="2400" b="1" dirty="0">
                <a:solidFill>
                  <a:srgbClr val="C00000"/>
                </a:solidFill>
              </a:rPr>
              <a:t>offset</a:t>
            </a:r>
            <a:r>
              <a:rPr lang="en-US" sz="2400" b="1" dirty="0"/>
              <a:t>, </a:t>
            </a:r>
            <a:r>
              <a:rPr lang="en-US" sz="2400" b="1" dirty="0">
                <a:solidFill>
                  <a:srgbClr val="C00000"/>
                </a:solidFill>
              </a:rPr>
              <a:t>position</a:t>
            </a:r>
            <a:r>
              <a:rPr lang="en-US" sz="2400" b="1" dirty="0"/>
              <a:t>);</a:t>
            </a:r>
            <a:endParaRPr lang="en-IN" sz="24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DAE900-68D3-1A5E-2FA5-F240F81FAE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145739"/>
              </p:ext>
            </p:extLst>
          </p:nvPr>
        </p:nvGraphicFramePr>
        <p:xfrm>
          <a:off x="890138" y="3563102"/>
          <a:ext cx="1095352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95948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9157572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Statement</a:t>
                      </a:r>
                      <a:endParaRPr lang="en-IN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Meaning</a:t>
                      </a:r>
                      <a:endParaRPr lang="en-IN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0BB1F50-74D5-FC8F-C6A4-8E4B491E9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541928"/>
              </p:ext>
            </p:extLst>
          </p:nvPr>
        </p:nvGraphicFramePr>
        <p:xfrm>
          <a:off x="890138" y="4034496"/>
          <a:ext cx="1095352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81879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9171641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rgbClr val="C00000"/>
                          </a:solidFill>
                        </a:rPr>
                        <a:t>fseek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GB" dirty="0" err="1">
                          <a:solidFill>
                            <a:srgbClr val="C00000"/>
                          </a:solidFill>
                        </a:rPr>
                        <a:t>fptr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, 0L,0)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Go to the beginning.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37D96D-C997-CE40-737B-8E446143D7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939738"/>
              </p:ext>
            </p:extLst>
          </p:nvPr>
        </p:nvGraphicFramePr>
        <p:xfrm>
          <a:off x="890137" y="4483319"/>
          <a:ext cx="10953521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81879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9171642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rgbClr val="C00000"/>
                          </a:solidFill>
                        </a:rPr>
                        <a:t>fseek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GB" dirty="0" err="1">
                          <a:solidFill>
                            <a:srgbClr val="C00000"/>
                          </a:solidFill>
                        </a:rPr>
                        <a:t>fptr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, 0L,1)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Stay at the current position.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A34CECC-0C75-66F1-033A-F84A5CDB7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540668"/>
              </p:ext>
            </p:extLst>
          </p:nvPr>
        </p:nvGraphicFramePr>
        <p:xfrm>
          <a:off x="890136" y="4922818"/>
          <a:ext cx="10953521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81879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9171642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rgbClr val="C00000"/>
                          </a:solidFill>
                        </a:rPr>
                        <a:t>fseek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GB" dirty="0" err="1">
                          <a:solidFill>
                            <a:srgbClr val="C00000"/>
                          </a:solidFill>
                        </a:rPr>
                        <a:t>fptr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, 0L,2)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Go to the end of the fie.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6C39D99-5FD9-444C-18CE-2779200BE4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32630"/>
              </p:ext>
            </p:extLst>
          </p:nvPr>
        </p:nvGraphicFramePr>
        <p:xfrm>
          <a:off x="890136" y="5383585"/>
          <a:ext cx="10953521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81879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9171642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rgbClr val="C00000"/>
                          </a:solidFill>
                        </a:rPr>
                        <a:t>fseek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(fptr,m,0)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Move to the (m+1)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th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byte in the file.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77BAE49-5162-6803-658D-98442D323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44717"/>
              </p:ext>
            </p:extLst>
          </p:nvPr>
        </p:nvGraphicFramePr>
        <p:xfrm>
          <a:off x="890135" y="5826476"/>
          <a:ext cx="10953521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81879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9171642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rgbClr val="C00000"/>
                          </a:solidFill>
                        </a:rPr>
                        <a:t>fseek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GB" dirty="0" err="1">
                          <a:solidFill>
                            <a:srgbClr val="C00000"/>
                          </a:solidFill>
                        </a:rPr>
                        <a:t>fptr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, m,1)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Move forward by m bytes.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42091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F663E-22AF-81A3-F950-42AE98C6F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33F2C3D-6626-FB93-EB1B-8E91CEDE5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Access Functions (Conti…)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49835C9-3716-EDB8-0C89-08F45BAD4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b="1" dirty="0"/>
          </a:p>
          <a:p>
            <a:pPr marL="457200" indent="-457200">
              <a:buFont typeface="+mj-lt"/>
              <a:buAutoNum type="arabicPeriod"/>
            </a:pPr>
            <a:endParaRPr lang="en-US" b="1" dirty="0"/>
          </a:p>
          <a:p>
            <a:pPr marL="457200" indent="-457200">
              <a:buFont typeface="+mj-lt"/>
              <a:buAutoNum type="arabicPeriod"/>
            </a:pPr>
            <a:endParaRPr lang="en-US" b="1" dirty="0"/>
          </a:p>
          <a:p>
            <a:pPr marL="457200" indent="-457200">
              <a:buFont typeface="+mj-lt"/>
              <a:buAutoNum type="arabicPeriod"/>
            </a:pPr>
            <a:endParaRPr lang="en-US" b="1" dirty="0"/>
          </a:p>
          <a:p>
            <a:pPr marL="457200" indent="-457200">
              <a:buFont typeface="+mj-lt"/>
              <a:buAutoNum type="arabicPeriod" startAt="2"/>
            </a:pPr>
            <a:r>
              <a:rPr lang="en-US" b="1" dirty="0" err="1"/>
              <a:t>ftell</a:t>
            </a:r>
            <a:r>
              <a:rPr lang="en-US" b="1" dirty="0"/>
              <a:t>()</a:t>
            </a:r>
          </a:p>
          <a:p>
            <a:r>
              <a:rPr lang="en-US" dirty="0"/>
              <a:t>This function is used to </a:t>
            </a:r>
            <a:r>
              <a:rPr lang="en-GB" dirty="0"/>
              <a:t>find out the position of the file pointer in the file with respect to starting of the file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	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b="1" dirty="0"/>
              <a:t>rewind()</a:t>
            </a:r>
          </a:p>
          <a:p>
            <a:r>
              <a:rPr lang="en-US" dirty="0"/>
              <a:t>This takes a file pointer and resets the position to the start  of the file.</a:t>
            </a:r>
          </a:p>
          <a:p>
            <a:r>
              <a:rPr lang="en-US" dirty="0"/>
              <a:t>It is similar to </a:t>
            </a:r>
            <a:r>
              <a:rPr lang="en-US" b="1" dirty="0" err="1"/>
              <a:t>fseek</a:t>
            </a:r>
            <a:r>
              <a:rPr lang="en-US" b="1" dirty="0"/>
              <a:t>(</a:t>
            </a:r>
            <a:r>
              <a:rPr lang="en-US" b="1" dirty="0" err="1"/>
              <a:t>fptr</a:t>
            </a:r>
            <a:r>
              <a:rPr lang="en-US" b="1" dirty="0"/>
              <a:t>, 0L,0).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12121F-CD9B-0879-43AC-0A5CE3946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287948"/>
              </p:ext>
            </p:extLst>
          </p:nvPr>
        </p:nvGraphicFramePr>
        <p:xfrm>
          <a:off x="454709" y="860066"/>
          <a:ext cx="1095352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95948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9157572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Statement</a:t>
                      </a:r>
                      <a:endParaRPr lang="en-IN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Meaning</a:t>
                      </a:r>
                      <a:endParaRPr lang="en-IN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331369C-DF2B-2194-240F-8882945064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032100"/>
              </p:ext>
            </p:extLst>
          </p:nvPr>
        </p:nvGraphicFramePr>
        <p:xfrm>
          <a:off x="454708" y="1379771"/>
          <a:ext cx="10953521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81879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9171642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rgbClr val="C00000"/>
                          </a:solidFill>
                        </a:rPr>
                        <a:t>fseek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GB" dirty="0" err="1">
                          <a:solidFill>
                            <a:srgbClr val="C00000"/>
                          </a:solidFill>
                        </a:rPr>
                        <a:t>fptr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, -m,1)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Go backward by m bytes from the current position.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1F1C32C-C94E-1798-428A-58011DD914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000615"/>
              </p:ext>
            </p:extLst>
          </p:nvPr>
        </p:nvGraphicFramePr>
        <p:xfrm>
          <a:off x="454707" y="1829606"/>
          <a:ext cx="10953521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81879">
                  <a:extLst>
                    <a:ext uri="{9D8B030D-6E8A-4147-A177-3AD203B41FA5}">
                      <a16:colId xmlns:a16="http://schemas.microsoft.com/office/drawing/2014/main" val="1219960041"/>
                    </a:ext>
                  </a:extLst>
                </a:gridCol>
                <a:gridCol w="9171642">
                  <a:extLst>
                    <a:ext uri="{9D8B030D-6E8A-4147-A177-3AD203B41FA5}">
                      <a16:colId xmlns:a16="http://schemas.microsoft.com/office/drawing/2014/main" val="47145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rgbClr val="C00000"/>
                          </a:solidFill>
                        </a:rPr>
                        <a:t>fseek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GB" dirty="0" err="1">
                          <a:solidFill>
                            <a:srgbClr val="C00000"/>
                          </a:solidFill>
                        </a:rPr>
                        <a:t>fptr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, -m,2)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Go backward by m bytes from the end.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4112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028033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299AB-BCF3-EC95-0487-08D4EEDB3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E9A948C-25CA-5F83-7D64-DC2D607EC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Access Functions (Conti…)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6B8F27-5D89-5672-19C9-1FCAA7462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8AFC2F-1A76-7962-CA61-B988ED41744C}"/>
              </a:ext>
            </a:extLst>
          </p:cNvPr>
          <p:cNvSpPr txBox="1"/>
          <p:nvPr/>
        </p:nvSpPr>
        <p:spPr>
          <a:xfrm>
            <a:off x="928047" y="1396155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#include&lt;stdio.h&gt;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5A58FB-A7D6-9EA3-6172-7650D27220BF}"/>
              </a:ext>
            </a:extLst>
          </p:cNvPr>
          <p:cNvSpPr txBox="1"/>
          <p:nvPr/>
        </p:nvSpPr>
        <p:spPr>
          <a:xfrm>
            <a:off x="928047" y="1750377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main()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4450C1-DC55-3534-43FE-DB10CC57040C}"/>
              </a:ext>
            </a:extLst>
          </p:cNvPr>
          <p:cNvSpPr txBox="1"/>
          <p:nvPr/>
        </p:nvSpPr>
        <p:spPr>
          <a:xfrm>
            <a:off x="928046" y="207268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56BF10-66E7-A09D-4645-F88045BA4A0F}"/>
              </a:ext>
            </a:extLst>
          </p:cNvPr>
          <p:cNvSpPr txBox="1"/>
          <p:nvPr/>
        </p:nvSpPr>
        <p:spPr>
          <a:xfrm>
            <a:off x="1126292" y="2358761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FILE *</a:t>
            </a:r>
            <a:r>
              <a:rPr lang="en-GB" dirty="0" err="1"/>
              <a:t>fptr</a:t>
            </a:r>
            <a:r>
              <a:rPr lang="en-GB" dirty="0"/>
              <a:t>;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F4CFD8-A92A-79C2-B33F-D7D136303194}"/>
              </a:ext>
            </a:extLst>
          </p:cNvPr>
          <p:cNvSpPr txBox="1"/>
          <p:nvPr/>
        </p:nvSpPr>
        <p:spPr>
          <a:xfrm>
            <a:off x="1126288" y="3039744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fptr</a:t>
            </a:r>
            <a:r>
              <a:rPr lang="en-GB" dirty="0"/>
              <a:t> = fopen("</a:t>
            </a:r>
            <a:r>
              <a:rPr lang="en-GB" dirty="0" err="1"/>
              <a:t>hello.txt",“w</a:t>
            </a:r>
            <a:r>
              <a:rPr lang="en-GB" dirty="0"/>
              <a:t>");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723CF2-1573-6383-69ED-A2B29E399A21}"/>
              </a:ext>
            </a:extLst>
          </p:cNvPr>
          <p:cNvSpPr txBox="1"/>
          <p:nvPr/>
        </p:nvSpPr>
        <p:spPr>
          <a:xfrm>
            <a:off x="1129431" y="3709049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len</a:t>
            </a:r>
            <a:r>
              <a:rPr lang="en-GB" dirty="0"/>
              <a:t> = </a:t>
            </a:r>
            <a:r>
              <a:rPr lang="en-GB" b="1" dirty="0" err="1">
                <a:solidFill>
                  <a:srgbClr val="C00000"/>
                </a:solidFill>
              </a:rPr>
              <a:t>ftell</a:t>
            </a:r>
            <a:r>
              <a:rPr lang="en-GB" dirty="0"/>
              <a:t>(</a:t>
            </a:r>
            <a:r>
              <a:rPr lang="en-GB" dirty="0" err="1"/>
              <a:t>fptr</a:t>
            </a:r>
            <a:r>
              <a:rPr lang="en-GB" dirty="0"/>
              <a:t>);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B775A9-6012-D6A9-E18D-2BD300F1D1C3}"/>
              </a:ext>
            </a:extLst>
          </p:cNvPr>
          <p:cNvSpPr txBox="1"/>
          <p:nvPr/>
        </p:nvSpPr>
        <p:spPr>
          <a:xfrm>
            <a:off x="928046" y="4735665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F15EE1-5FB1-33AE-BB2B-FE8D4CA5F269}"/>
              </a:ext>
            </a:extLst>
          </p:cNvPr>
          <p:cNvSpPr txBox="1"/>
          <p:nvPr/>
        </p:nvSpPr>
        <p:spPr>
          <a:xfrm>
            <a:off x="1117687" y="4428556"/>
            <a:ext cx="1288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fclose</a:t>
            </a:r>
            <a:r>
              <a:rPr lang="en-GB" dirty="0"/>
              <a:t>(</a:t>
            </a:r>
            <a:r>
              <a:rPr lang="en-GB" dirty="0" err="1"/>
              <a:t>fptr</a:t>
            </a:r>
            <a:r>
              <a:rPr lang="en-GB" dirty="0"/>
              <a:t>);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16A993-B711-E8D2-5760-F43B5087AAC3}"/>
              </a:ext>
            </a:extLst>
          </p:cNvPr>
          <p:cNvSpPr txBox="1"/>
          <p:nvPr/>
        </p:nvSpPr>
        <p:spPr>
          <a:xfrm>
            <a:off x="1139933" y="4069747"/>
            <a:ext cx="4650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("Size of file: %d bytes", </a:t>
            </a:r>
            <a:r>
              <a:rPr lang="en-GB" dirty="0" err="1"/>
              <a:t>len</a:t>
            </a:r>
            <a:r>
              <a:rPr lang="en-GB" dirty="0"/>
              <a:t>);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55809D-FCBA-C280-1EE7-044389159102}"/>
              </a:ext>
            </a:extLst>
          </p:cNvPr>
          <p:cNvSpPr txBox="1"/>
          <p:nvPr/>
        </p:nvSpPr>
        <p:spPr>
          <a:xfrm>
            <a:off x="1126289" y="3366680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>
                <a:solidFill>
                  <a:srgbClr val="C00000"/>
                </a:solidFill>
              </a:rPr>
              <a:t>fseek</a:t>
            </a:r>
            <a:r>
              <a:rPr lang="en-GB" b="1" dirty="0">
                <a:solidFill>
                  <a:srgbClr val="C00000"/>
                </a:solidFill>
              </a:rPr>
              <a:t>(</a:t>
            </a:r>
            <a:r>
              <a:rPr lang="en-GB" b="1" dirty="0" err="1">
                <a:solidFill>
                  <a:srgbClr val="C00000"/>
                </a:solidFill>
              </a:rPr>
              <a:t>fptr</a:t>
            </a:r>
            <a:r>
              <a:rPr lang="en-GB" b="1" dirty="0">
                <a:solidFill>
                  <a:srgbClr val="C00000"/>
                </a:solidFill>
              </a:rPr>
              <a:t>, 0L,2);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679788-B490-6EC4-19CD-E517D06D2F07}"/>
              </a:ext>
            </a:extLst>
          </p:cNvPr>
          <p:cNvSpPr txBox="1"/>
          <p:nvPr/>
        </p:nvSpPr>
        <p:spPr>
          <a:xfrm>
            <a:off x="1126288" y="2690239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 </a:t>
            </a:r>
            <a:r>
              <a:rPr lang="en-GB" dirty="0" err="1"/>
              <a:t>len</a:t>
            </a:r>
            <a:r>
              <a:rPr lang="en-GB" dirty="0"/>
              <a:t>;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30AE08-FA74-42E3-21AE-3C15983EE4BD}"/>
              </a:ext>
            </a:extLst>
          </p:cNvPr>
          <p:cNvSpPr txBox="1"/>
          <p:nvPr/>
        </p:nvSpPr>
        <p:spPr>
          <a:xfrm>
            <a:off x="5544457" y="1750377"/>
            <a:ext cx="50654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Suppose “hello.txt“ file contains following data</a:t>
            </a:r>
          </a:p>
          <a:p>
            <a:r>
              <a:rPr lang="en-GB" dirty="0"/>
              <a:t>hello my name is </a:t>
            </a:r>
            <a:r>
              <a:rPr lang="en-GB" dirty="0" err="1"/>
              <a:t>xyz</a:t>
            </a:r>
            <a:r>
              <a:rPr lang="en-GB" dirty="0"/>
              <a:t> </a:t>
            </a:r>
            <a:r>
              <a:rPr lang="en-GB" dirty="0" err="1"/>
              <a:t>pqrs</a:t>
            </a:r>
            <a:r>
              <a:rPr lang="en-GB" dirty="0"/>
              <a:t> </a:t>
            </a:r>
            <a:r>
              <a:rPr lang="en-GB" dirty="0" err="1"/>
              <a:t>abc</a:t>
            </a:r>
            <a:r>
              <a:rPr lang="en-GB" dirty="0"/>
              <a:t>.</a:t>
            </a:r>
          </a:p>
          <a:p>
            <a:r>
              <a:rPr lang="en-GB" dirty="0" err="1"/>
              <a:t>i</a:t>
            </a:r>
            <a:r>
              <a:rPr lang="en-GB" dirty="0"/>
              <a:t> am computer engineer.</a:t>
            </a:r>
          </a:p>
          <a:p>
            <a:r>
              <a:rPr lang="en-GB" dirty="0" err="1"/>
              <a:t>i</a:t>
            </a:r>
            <a:r>
              <a:rPr lang="en-GB" dirty="0"/>
              <a:t> am living in </a:t>
            </a:r>
            <a:r>
              <a:rPr lang="en-GB" dirty="0" err="1"/>
              <a:t>rajkot</a:t>
            </a:r>
            <a:r>
              <a:rPr lang="en-GB" dirty="0"/>
              <a:t>.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B5E5B5-1256-B1C8-306A-FE0B8ED8E9AD}"/>
              </a:ext>
            </a:extLst>
          </p:cNvPr>
          <p:cNvSpPr txBox="1"/>
          <p:nvPr/>
        </p:nvSpPr>
        <p:spPr>
          <a:xfrm>
            <a:off x="5526535" y="2997348"/>
            <a:ext cx="1138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OUTPUT:</a:t>
            </a:r>
            <a:endParaRPr lang="en-IN" b="1" dirty="0">
              <a:solidFill>
                <a:srgbClr val="C00000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762570E-D61A-101B-C02A-01FA2BF03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060" y="3421215"/>
            <a:ext cx="5419725" cy="13144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00218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  <p:bldP spid="8" grpId="0"/>
      <p:bldP spid="15" grpId="0"/>
      <p:bldP spid="16" grpId="0"/>
      <p:bldP spid="17" grpId="0"/>
      <p:bldP spid="18" grpId="0"/>
      <p:bldP spid="19" grpId="0"/>
      <p:bldP spid="20" grpId="0"/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8A587-7394-8512-89B5-940EE08C6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B90504-E121-0833-909F-4D93A1D6F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GB" dirty="0"/>
              <a:t>Command Line Arguments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CB6020-10D5-7781-84BA-FF1762331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 </a:t>
            </a:r>
          </a:p>
        </p:txBody>
      </p:sp>
    </p:spTree>
    <p:extLst>
      <p:ext uri="{BB962C8B-B14F-4D97-AF65-F5344CB8AC3E}">
        <p14:creationId xmlns:p14="http://schemas.microsoft.com/office/powerpoint/2010/main" val="16784440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43825-CB0D-68B9-0314-812D560F0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A75E106-3CF9-301E-FE7E-B05C0F574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Line Arguments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64C9459-D0FF-3B33-7915-8330D738A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It is possible to pass some values from the command line to your C programs when they are executed. </a:t>
            </a:r>
          </a:p>
          <a:p>
            <a:r>
              <a:rPr lang="en-GB" dirty="0"/>
              <a:t>These values are called </a:t>
            </a:r>
            <a:r>
              <a:rPr lang="en-GB" b="1" dirty="0">
                <a:solidFill>
                  <a:srgbClr val="C00000"/>
                </a:solidFill>
              </a:rPr>
              <a:t>command line arguments.</a:t>
            </a:r>
          </a:p>
          <a:p>
            <a:r>
              <a:rPr lang="en-GB" dirty="0"/>
              <a:t>Many times they are important for your program especially when you want to control your program from outside instead of coding whose values are from inside the code.</a:t>
            </a:r>
          </a:p>
          <a:p>
            <a:r>
              <a:rPr lang="en-GB" dirty="0"/>
              <a:t>The command line arguments are handled using main() function arguments</a:t>
            </a:r>
          </a:p>
          <a:p>
            <a:pPr lvl="1"/>
            <a:r>
              <a:rPr lang="en-GB" b="1" dirty="0" err="1"/>
              <a:t>argc</a:t>
            </a:r>
            <a:r>
              <a:rPr lang="en-GB" dirty="0"/>
              <a:t> refers to the number of arguments passed</a:t>
            </a:r>
          </a:p>
          <a:p>
            <a:pPr lvl="1"/>
            <a:r>
              <a:rPr lang="en-GB" b="1" dirty="0" err="1"/>
              <a:t>argv</a:t>
            </a:r>
            <a:r>
              <a:rPr lang="en-GB" b="1" dirty="0"/>
              <a:t>[] </a:t>
            </a:r>
            <a:r>
              <a:rPr lang="en-GB" dirty="0"/>
              <a:t>is a pointer array which points to each argument passed to the program</a:t>
            </a:r>
          </a:p>
          <a:p>
            <a:pPr lvl="1"/>
            <a:r>
              <a:rPr lang="en-GB" b="1" dirty="0"/>
              <a:t>NOTE: The first argument is always would be file name.</a:t>
            </a:r>
            <a:endParaRPr lang="en-US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8948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1724F-0F86-3504-A782-DA2316F8C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A6F9C28-8F2A-D09F-6DA0-FAC288BC9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Line Arguments (Conti…)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0B0AD9A-92A6-C5AF-6BE2-054800B53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Example;</a:t>
            </a:r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r>
              <a:rPr lang="en-GB" dirty="0"/>
              <a:t>Save this program and compile the program. Do not execute this program directly in Dev C++. </a:t>
            </a:r>
          </a:p>
          <a:p>
            <a:pPr lvl="0"/>
            <a:r>
              <a:rPr lang="en-GB" dirty="0"/>
              <a:t>In Dev C++, Go To Execute Menu </a:t>
            </a:r>
            <a:r>
              <a:rPr lang="en-GB" dirty="0">
                <a:sym typeface="Wingdings" panose="05000000000000000000" pitchFamily="2" charset="2"/>
              </a:rPr>
              <a:t> Click On Parameters  </a:t>
            </a:r>
            <a:r>
              <a:rPr lang="en-GB" dirty="0"/>
              <a:t> Enter Parameters in Parameters to pass to your program by putting space between values </a:t>
            </a:r>
            <a:r>
              <a:rPr lang="en-GB" b="1" dirty="0"/>
              <a:t>(</a:t>
            </a:r>
            <a:r>
              <a:rPr lang="en-GB" b="1" dirty="0" smtClean="0"/>
              <a:t>example: </a:t>
            </a:r>
            <a:r>
              <a:rPr lang="en-GB" b="1" dirty="0"/>
              <a:t>my name is </a:t>
            </a:r>
            <a:r>
              <a:rPr lang="en-GB" b="1" dirty="0" err="1"/>
              <a:t>abc</a:t>
            </a:r>
            <a:r>
              <a:rPr lang="en-GB" b="1" dirty="0"/>
              <a:t>) </a:t>
            </a:r>
            <a:r>
              <a:rPr lang="en-GB" dirty="0">
                <a:sym typeface="Wingdings" panose="05000000000000000000" pitchFamily="2" charset="2"/>
              </a:rPr>
              <a:t> Click on OK  Now run the program 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4D51A7-17D3-2D84-3AA0-484DFA81F6F4}"/>
              </a:ext>
            </a:extLst>
          </p:cNvPr>
          <p:cNvSpPr txBox="1"/>
          <p:nvPr/>
        </p:nvSpPr>
        <p:spPr>
          <a:xfrm>
            <a:off x="928047" y="1396155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#include&lt;stdio.h&gt;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B1542A-7C5A-8154-FD3C-15383C933DA5}"/>
              </a:ext>
            </a:extLst>
          </p:cNvPr>
          <p:cNvSpPr txBox="1"/>
          <p:nvPr/>
        </p:nvSpPr>
        <p:spPr>
          <a:xfrm>
            <a:off x="928047" y="1750377"/>
            <a:ext cx="393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main(</a:t>
            </a:r>
            <a:r>
              <a:rPr lang="en-GB" b="1" dirty="0">
                <a:solidFill>
                  <a:srgbClr val="C00000"/>
                </a:solidFill>
              </a:rPr>
              <a:t>int </a:t>
            </a:r>
            <a:r>
              <a:rPr lang="en-GB" b="1" dirty="0" err="1">
                <a:solidFill>
                  <a:srgbClr val="C00000"/>
                </a:solidFill>
              </a:rPr>
              <a:t>argc</a:t>
            </a:r>
            <a:r>
              <a:rPr lang="en-GB" b="1" dirty="0">
                <a:solidFill>
                  <a:srgbClr val="C00000"/>
                </a:solidFill>
              </a:rPr>
              <a:t>, char* </a:t>
            </a:r>
            <a:r>
              <a:rPr lang="en-GB" b="1" dirty="0" err="1">
                <a:solidFill>
                  <a:srgbClr val="C00000"/>
                </a:solidFill>
              </a:rPr>
              <a:t>argv</a:t>
            </a:r>
            <a:r>
              <a:rPr lang="en-GB" b="1" dirty="0">
                <a:solidFill>
                  <a:srgbClr val="C00000"/>
                </a:solidFill>
              </a:rPr>
              <a:t>[]</a:t>
            </a:r>
            <a:r>
              <a:rPr lang="en-GB" dirty="0"/>
              <a:t>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64EBBC-34C2-1DD2-DBF6-82679678D5D2}"/>
              </a:ext>
            </a:extLst>
          </p:cNvPr>
          <p:cNvSpPr txBox="1"/>
          <p:nvPr/>
        </p:nvSpPr>
        <p:spPr>
          <a:xfrm>
            <a:off x="928046" y="2072686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450BA0-5927-7837-8706-4B3BF1C105B0}"/>
              </a:ext>
            </a:extLst>
          </p:cNvPr>
          <p:cNvSpPr txBox="1"/>
          <p:nvPr/>
        </p:nvSpPr>
        <p:spPr>
          <a:xfrm>
            <a:off x="1126292" y="2358761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 </a:t>
            </a:r>
            <a:r>
              <a:rPr lang="en-GB" dirty="0" err="1"/>
              <a:t>i</a:t>
            </a:r>
            <a:r>
              <a:rPr lang="en-GB" dirty="0"/>
              <a:t>;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526B5E-8144-37D3-110F-085E5608ECBE}"/>
              </a:ext>
            </a:extLst>
          </p:cNvPr>
          <p:cNvSpPr txBox="1"/>
          <p:nvPr/>
        </p:nvSpPr>
        <p:spPr>
          <a:xfrm>
            <a:off x="1126288" y="3039744"/>
            <a:ext cx="407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dirty="0"/>
              <a:t>for (i=0; i&lt;argc;i++)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E7F932-BBE1-687E-8600-6A2AFB0BCD0C}"/>
              </a:ext>
            </a:extLst>
          </p:cNvPr>
          <p:cNvSpPr txBox="1"/>
          <p:nvPr/>
        </p:nvSpPr>
        <p:spPr>
          <a:xfrm>
            <a:off x="1579374" y="3709472"/>
            <a:ext cx="3282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printf("%s\n", argv[i]);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7BF6E1-BEA8-7552-3B4D-170476D9DC0A}"/>
              </a:ext>
            </a:extLst>
          </p:cNvPr>
          <p:cNvSpPr txBox="1"/>
          <p:nvPr/>
        </p:nvSpPr>
        <p:spPr>
          <a:xfrm>
            <a:off x="928046" y="4517033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CE46F6-CC98-E47E-A842-0113FA869F1A}"/>
              </a:ext>
            </a:extLst>
          </p:cNvPr>
          <p:cNvSpPr txBox="1"/>
          <p:nvPr/>
        </p:nvSpPr>
        <p:spPr>
          <a:xfrm>
            <a:off x="1139933" y="4069747"/>
            <a:ext cx="4650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}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E39ECD-C347-2427-3254-4F1216860B7B}"/>
              </a:ext>
            </a:extLst>
          </p:cNvPr>
          <p:cNvSpPr txBox="1"/>
          <p:nvPr/>
        </p:nvSpPr>
        <p:spPr>
          <a:xfrm>
            <a:off x="1126289" y="3366680"/>
            <a:ext cx="181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21B6A3-D638-17E5-C709-2B0CBAE02CB1}"/>
              </a:ext>
            </a:extLst>
          </p:cNvPr>
          <p:cNvSpPr txBox="1"/>
          <p:nvPr/>
        </p:nvSpPr>
        <p:spPr>
          <a:xfrm>
            <a:off x="1126288" y="2690239"/>
            <a:ext cx="620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("You have passed %d arguments\n", </a:t>
            </a:r>
            <a:r>
              <a:rPr lang="en-GB" dirty="0" err="1"/>
              <a:t>argc</a:t>
            </a:r>
            <a:r>
              <a:rPr lang="en-GB" dirty="0"/>
              <a:t>);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BB6BA75-3EA7-17C7-21C4-1590E3701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575" y="2627421"/>
            <a:ext cx="5334000" cy="18478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830C3C7-07E8-9D3D-0B06-1B792952A36E}"/>
              </a:ext>
            </a:extLst>
          </p:cNvPr>
          <p:cNvSpPr txBox="1"/>
          <p:nvPr/>
        </p:nvSpPr>
        <p:spPr>
          <a:xfrm>
            <a:off x="6190784" y="2183662"/>
            <a:ext cx="1138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OUTPUT:</a:t>
            </a:r>
            <a:endParaRPr lang="en-IN" b="1" dirty="0">
              <a:solidFill>
                <a:srgbClr val="C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1150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12" grpId="0"/>
      <p:bldP spid="13" grpId="0"/>
      <p:bldP spid="14" grpId="0"/>
      <p:bldP spid="1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7076983-6098-4D75-8E3B-99B088ABB8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dirty="0" smtClean="0"/>
              <a:t>shok.badresiya@darshan.ac.in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05BAC4B-D894-4260-872E-77744EE844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9913131691</a:t>
            </a:r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7C2BE0A6-15FF-4CCA-8B35-BD3CE334D04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69" y="5211251"/>
            <a:ext cx="1353599" cy="1353599"/>
          </a:xfr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E20B01-2C98-438F-91A2-5BCFB793FE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smtClean="0"/>
              <a:t>Ashok G </a:t>
            </a:r>
            <a:r>
              <a:rPr lang="en-US" dirty="0" err="1" smtClean="0"/>
              <a:t>Badresiya</a:t>
            </a:r>
            <a:endParaRPr lang="en-US" dirty="0"/>
          </a:p>
        </p:txBody>
      </p:sp>
      <p:sp>
        <p:nvSpPr>
          <p:cNvPr id="15" name="Text Placeholder 1026">
            <a:extLst>
              <a:ext uri="{FF2B5EF4-FFF2-40B4-BE49-F238E27FC236}">
                <a16:creationId xmlns:a16="http://schemas.microsoft.com/office/drawing/2014/main" id="{508C39DE-82EA-4947-BA58-85EB27511A40}"/>
              </a:ext>
            </a:extLst>
          </p:cNvPr>
          <p:cNvSpPr txBox="1">
            <a:spLocks/>
          </p:cNvSpPr>
          <p:nvPr/>
        </p:nvSpPr>
        <p:spPr>
          <a:xfrm>
            <a:off x="2772358" y="0"/>
            <a:ext cx="4646358" cy="7346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 Programming - </a:t>
            </a:r>
            <a:r>
              <a:rPr lang="en-US" b="1" dirty="0" smtClean="0"/>
              <a:t>II 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(CP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– 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II)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 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2304CS201 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552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6658</TotalTime>
  <Words>2573</Words>
  <Application>Microsoft Office PowerPoint</Application>
  <PresentationFormat>Widescreen</PresentationFormat>
  <Paragraphs>420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Wingdings 2</vt:lpstr>
      <vt:lpstr>Roboto Condensed</vt:lpstr>
      <vt:lpstr>Webdings</vt:lpstr>
      <vt:lpstr>Wingdings</vt:lpstr>
      <vt:lpstr>Calibri</vt:lpstr>
      <vt:lpstr>Roboto Condensed Light</vt:lpstr>
      <vt:lpstr>Segoe UI Black</vt:lpstr>
      <vt:lpstr>Arial</vt:lpstr>
      <vt:lpstr>Wingdings 3</vt:lpstr>
      <vt:lpstr>Office Theme</vt:lpstr>
      <vt:lpstr>Unit-5 File Management</vt:lpstr>
      <vt:lpstr>PowerPoint Presentation</vt:lpstr>
      <vt:lpstr>Introduction of File Management</vt:lpstr>
      <vt:lpstr>File Management</vt:lpstr>
      <vt:lpstr>File Management (Conti…)</vt:lpstr>
      <vt:lpstr>File Handling Modes and File Opening and Closing Function</vt:lpstr>
      <vt:lpstr>File Operations</vt:lpstr>
      <vt:lpstr>File Pointer in C</vt:lpstr>
      <vt:lpstr>File Handling Modes</vt:lpstr>
      <vt:lpstr>File Handling Modes (Conti…)</vt:lpstr>
      <vt:lpstr>File Opening and Closing Function</vt:lpstr>
      <vt:lpstr>I/O operations on File</vt:lpstr>
      <vt:lpstr>1. fgetc() Function</vt:lpstr>
      <vt:lpstr>1. fgetc() Function (Conti…)</vt:lpstr>
      <vt:lpstr>2. fputc() Function</vt:lpstr>
      <vt:lpstr>2. fputc() Function (Conti…)</vt:lpstr>
      <vt:lpstr>3. putw() Function</vt:lpstr>
      <vt:lpstr>4. getw() Function</vt:lpstr>
      <vt:lpstr>Example of getw() and putw()</vt:lpstr>
      <vt:lpstr>5. fprintf() Function</vt:lpstr>
      <vt:lpstr>6. fscanf() Function</vt:lpstr>
      <vt:lpstr>Error Handling and Random access Functions</vt:lpstr>
      <vt:lpstr>Error Handling Functions</vt:lpstr>
      <vt:lpstr>Error Handling Functions (Conti…)</vt:lpstr>
      <vt:lpstr>Error Handling Functions (Conti…)</vt:lpstr>
      <vt:lpstr>Random Access Functions</vt:lpstr>
      <vt:lpstr>Random Access Functions</vt:lpstr>
      <vt:lpstr>Random Access Functions (Conti…)</vt:lpstr>
      <vt:lpstr>Random Access Functions (Conti…)</vt:lpstr>
      <vt:lpstr>Command Line Arguments</vt:lpstr>
      <vt:lpstr>Command Line Arguments</vt:lpstr>
      <vt:lpstr>Command Line Arguments (Conti…)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810</cp:revision>
  <dcterms:created xsi:type="dcterms:W3CDTF">2020-05-01T05:09:15Z</dcterms:created>
  <dcterms:modified xsi:type="dcterms:W3CDTF">2026-03-29T16:37:23Z</dcterms:modified>
</cp:coreProperties>
</file>