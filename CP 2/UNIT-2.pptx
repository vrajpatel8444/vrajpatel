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544" r:id="rId2"/>
    <p:sldId id="545" r:id="rId3"/>
    <p:sldId id="286" r:id="rId4"/>
    <p:sldId id="287" r:id="rId5"/>
    <p:sldId id="537" r:id="rId6"/>
    <p:sldId id="289" r:id="rId7"/>
    <p:sldId id="290" r:id="rId8"/>
    <p:sldId id="291" r:id="rId9"/>
    <p:sldId id="288" r:id="rId10"/>
    <p:sldId id="293" r:id="rId11"/>
    <p:sldId id="295" r:id="rId12"/>
    <p:sldId id="307" r:id="rId13"/>
    <p:sldId id="538" r:id="rId14"/>
    <p:sldId id="539" r:id="rId15"/>
    <p:sldId id="313" r:id="rId16"/>
    <p:sldId id="297" r:id="rId17"/>
    <p:sldId id="298" r:id="rId18"/>
    <p:sldId id="324" r:id="rId19"/>
    <p:sldId id="309" r:id="rId20"/>
    <p:sldId id="386" r:id="rId21"/>
    <p:sldId id="387" r:id="rId22"/>
    <p:sldId id="318" r:id="rId23"/>
    <p:sldId id="383" r:id="rId24"/>
    <p:sldId id="546" r:id="rId25"/>
  </p:sldIdLst>
  <p:sldSz cx="12192000" cy="6858000"/>
  <p:notesSz cx="6858000" cy="9144000"/>
  <p:embeddedFontLst>
    <p:embeddedFont>
      <p:font typeface="Segoe UI Black" panose="020B0A02040204020203" pitchFamily="34" charset="0"/>
      <p:bold r:id="rId28"/>
      <p:boldItalic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Roboto Condensed" panose="02000000000000000000" pitchFamily="2" charset="0"/>
      <p:regular r:id="rId34"/>
      <p:bold r:id="rId35"/>
      <p:italic r:id="rId36"/>
      <p:boldItalic r:id="rId37"/>
    </p:embeddedFont>
    <p:embeddedFont>
      <p:font typeface="Wingdings 3" panose="05040102010807070707" pitchFamily="18" charset="2"/>
      <p:regular r:id="rId38"/>
    </p:embeddedFont>
    <p:embeddedFont>
      <p:font typeface="Roboto Condensed Light" panose="02000000000000000000" pitchFamily="2" charset="0"/>
      <p:regular r:id="rId39"/>
      <p:italic r:id="rId40"/>
    </p:embeddedFont>
    <p:embeddedFont>
      <p:font typeface="Lohit Gujarati" panose="020B0604020202020204" charset="0"/>
      <p:regular r:id="rId41"/>
    </p:embeddedFont>
    <p:embeddedFont>
      <p:font typeface="Wingdings 2" panose="05020102010507070707" pitchFamily="18" charset="2"/>
      <p:regular r:id="rId42"/>
    </p:embeddedFont>
    <p:embeddedFont>
      <p:font typeface="Segoe UI" panose="020B0502040204020203" pitchFamily="34" charset="0"/>
      <p:regular r:id="rId43"/>
      <p:bold r:id="rId44"/>
      <p:italic r:id="rId45"/>
      <p:boldItalic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tXhIUFfBOCFcue0IJFtCIg==" hashData="RttpCmOSmFWqmQYxQ4deecY6T51FzSxxVMW8TO7Um0EaZ861mgXf1jmiuywbzm6CBkj8O5NoP0le8slJdS8Adw=="/>
  <p:extLst>
    <p:ext uri="{521415D9-36F7-43E2-AB2F-B90AF26B5E84}">
      <p14:sectionLst xmlns:p14="http://schemas.microsoft.com/office/powerpoint/2010/main">
        <p14:section name="Default Section" id="{C16FB5EB-FC4F-4BC0-8AF8-0A2376E8A8E3}">
          <p14:sldIdLst>
            <p14:sldId id="544"/>
            <p14:sldId id="545"/>
          </p14:sldIdLst>
        </p14:section>
        <p14:section name="Structure" id="{D3712101-9F2D-46E8-B0E6-EC63656B7590}">
          <p14:sldIdLst>
            <p14:sldId id="286"/>
            <p14:sldId id="287"/>
            <p14:sldId id="537"/>
            <p14:sldId id="289"/>
            <p14:sldId id="290"/>
            <p14:sldId id="291"/>
          </p14:sldIdLst>
        </p14:section>
        <p14:section name="Array of Structure" id="{3B8621CE-602C-493C-B2DB-CD9E8DB934D9}">
          <p14:sldIdLst>
            <p14:sldId id="288"/>
            <p14:sldId id="293"/>
            <p14:sldId id="295"/>
          </p14:sldIdLst>
        </p14:section>
        <p14:section name="Arrays within a Structure" id="{4DDF642A-8FEE-4C7E-9106-A06EB4871B50}">
          <p14:sldIdLst>
            <p14:sldId id="307"/>
            <p14:sldId id="538"/>
            <p14:sldId id="539"/>
          </p14:sldIdLst>
        </p14:section>
        <p14:section name="Nested Structure" id="{CA1962FC-EE02-4FB4-83D1-48CA9FC05E25}">
          <p14:sldIdLst>
            <p14:sldId id="313"/>
            <p14:sldId id="297"/>
            <p14:sldId id="298"/>
          </p14:sldIdLst>
        </p14:section>
        <p14:section name="Union" id="{E29913A2-4F43-4FB3-9B48-BDDC4294A6F0}">
          <p14:sldIdLst>
            <p14:sldId id="324"/>
            <p14:sldId id="309"/>
            <p14:sldId id="386"/>
            <p14:sldId id="387"/>
          </p14:sldIdLst>
        </p14:section>
        <p14:section name="Structure v/s Union" id="{176D9E55-1A48-448F-A5E2-D70DC12435A0}">
          <p14:sldIdLst>
            <p14:sldId id="318"/>
            <p14:sldId id="383"/>
            <p14:sldId id="54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1E3F"/>
    <a:srgbClr val="607D8B"/>
    <a:srgbClr val="1D6BA5"/>
    <a:srgbClr val="ED524F"/>
    <a:srgbClr val="1D3064"/>
    <a:srgbClr val="301B92"/>
    <a:srgbClr val="673BB7"/>
    <a:srgbClr val="B71B1C"/>
    <a:srgbClr val="F54337"/>
    <a:srgbClr val="D81A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06" autoAdjust="0"/>
    <p:restoredTop sz="94394" autoAdjust="0"/>
  </p:normalViewPr>
  <p:slideViewPr>
    <p:cSldViewPr snapToGrid="0">
      <p:cViewPr varScale="1">
        <p:scale>
          <a:sx n="83" d="100"/>
          <a:sy n="83" d="100"/>
        </p:scale>
        <p:origin x="40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218C1C-969C-4E59-8027-1BA3F0D38C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6ADB10-FD95-4CEB-98E7-4FA837CE41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F8433-EE2A-41B9-BA56-D2396856AE90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6D3071-CA2D-4040-8804-09E92AEBFB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E4A6F-F650-4C9C-829F-3B9F190B18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FE52D4-162F-44F0-919A-0F008E6096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9726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13.png"/><Relationship Id="rId5" Type="http://schemas.openxmlformats.org/officeDocument/2006/relationships/image" Target="../media/image3.png"/><Relationship Id="rId10" Type="http://schemas.openxmlformats.org/officeDocument/2006/relationships/image" Target="../media/image6.jpeg"/><Relationship Id="rId4" Type="http://schemas.openxmlformats.org/officeDocument/2006/relationships/image" Target="../media/image12.png"/><Relationship Id="rId9" Type="http://schemas.openxmlformats.org/officeDocument/2006/relationships/image" Target="../media/image14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3583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Darshan</a:t>
            </a:r>
            <a:r>
              <a:rPr lang="en-US" sz="1600" dirty="0" smtClean="0"/>
              <a:t> Institute of Computer Application</a:t>
            </a:r>
            <a:endParaRPr lang="en-US" sz="1600" dirty="0"/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05CFAC-3AD3-4F0A-9168-2613BFEAE065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35672" y="2062801"/>
            <a:ext cx="1786910" cy="178691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F738263-46D4-4D28-9615-BF958908128D}"/>
              </a:ext>
            </a:extLst>
          </p:cNvPr>
          <p:cNvSpPr txBox="1"/>
          <p:nvPr userDrawn="1"/>
        </p:nvSpPr>
        <p:spPr>
          <a:xfrm>
            <a:off x="1837677" y="5521352"/>
            <a:ext cx="3147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Department of</a:t>
            </a:r>
            <a:r>
              <a:rPr lang="en-US" sz="1600" baseline="0" dirty="0" smtClean="0"/>
              <a:t> Computer Application</a:t>
            </a:r>
            <a:endParaRPr lang="en-US" sz="1600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6834F009-928D-4C38-9AD3-82B36C1093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D71E3F">
                        <a:shade val="30000"/>
                        <a:satMod val="115000"/>
                      </a:srgbClr>
                    </a:gs>
                    <a:gs pos="50000">
                      <a:srgbClr val="D71E3F">
                        <a:shade val="67500"/>
                        <a:satMod val="115000"/>
                      </a:srgbClr>
                    </a:gs>
                    <a:gs pos="100000">
                      <a:srgbClr val="D71E3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Prof. Ashok G. </a:t>
            </a:r>
            <a:r>
              <a:rPr lang="en-US" dirty="0" err="1" smtClean="0"/>
              <a:t>Badresiya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FE5C760-C782-403F-8484-E8CFF370144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7822" y="578773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1BB32699-4C62-4BBF-9A17-90008E297198}"/>
              </a:ext>
            </a:extLst>
          </p:cNvPr>
          <p:cNvSpPr/>
          <p:nvPr userDrawn="1"/>
        </p:nvSpPr>
        <p:spPr>
          <a:xfrm rot="5400000">
            <a:off x="4309397" y="1708494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D71E3F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C58FA9-71EA-487D-8A75-915EC6877722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A77512-C96D-4B1D-861C-3369397D6121}"/>
              </a:ext>
            </a:extLst>
          </p:cNvPr>
          <p:cNvSpPr/>
          <p:nvPr userDrawn="1"/>
        </p:nvSpPr>
        <p:spPr>
          <a:xfrm flipH="1">
            <a:off x="7678346" y="2221532"/>
            <a:ext cx="4513654" cy="1951692"/>
          </a:xfrm>
          <a:prstGeom prst="rect">
            <a:avLst/>
          </a:pr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342F5D-5C3A-4D09-B74D-32BF20197BBC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Freeform 13">
            <a:extLst>
              <a:ext uri="{FF2B5EF4-FFF2-40B4-BE49-F238E27FC236}">
                <a16:creationId xmlns:a16="http://schemas.microsoft.com/office/drawing/2014/main" id="{7DBD9FF3-DB58-439A-9C3F-981DC0699B89}"/>
              </a:ext>
            </a:extLst>
          </p:cNvPr>
          <p:cNvSpPr>
            <a:spLocks/>
          </p:cNvSpPr>
          <p:nvPr userDrawn="1"/>
        </p:nvSpPr>
        <p:spPr bwMode="auto">
          <a:xfrm>
            <a:off x="2736224" y="-2949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655B1926-C5B6-4865-B639-303A5A9FEE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63466" y="1743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7C639A-5CC9-4FBB-A197-82D7D8F34BCB}"/>
              </a:ext>
            </a:extLst>
          </p:cNvPr>
          <p:cNvSpPr txBox="1"/>
          <p:nvPr userDrawn="1"/>
        </p:nvSpPr>
        <p:spPr>
          <a:xfrm>
            <a:off x="1837677" y="5802204"/>
            <a:ext cx="35830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 smtClean="0"/>
              <a:t>Darshan</a:t>
            </a:r>
            <a:r>
              <a:rPr lang="en-US" sz="1600" dirty="0" smtClean="0"/>
              <a:t> Institute of Computer Application</a:t>
            </a:r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DCC7DC-434D-4ADE-9AA5-73DBFABF63FB}"/>
              </a:ext>
            </a:extLst>
          </p:cNvPr>
          <p:cNvSpPr txBox="1"/>
          <p:nvPr userDrawn="1"/>
        </p:nvSpPr>
        <p:spPr>
          <a:xfrm>
            <a:off x="1837677" y="5521352"/>
            <a:ext cx="3147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Department of</a:t>
            </a:r>
            <a:r>
              <a:rPr lang="en-US" sz="1600" baseline="0" dirty="0" smtClean="0"/>
              <a:t> Computer Application</a:t>
            </a:r>
            <a:endParaRPr lang="en-US" sz="1600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F1B25E3-830F-4191-9F6A-E15558F3AD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D71E3F">
                        <a:shade val="30000"/>
                        <a:satMod val="115000"/>
                      </a:srgbClr>
                    </a:gs>
                    <a:gs pos="50000">
                      <a:srgbClr val="D71E3F">
                        <a:shade val="67500"/>
                        <a:satMod val="115000"/>
                      </a:srgbClr>
                    </a:gs>
                    <a:gs pos="100000">
                      <a:srgbClr val="D71E3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Prof. Akash N Siddhpura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DFE5C760-C782-403F-8484-E8CFF370144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48445" y="564503"/>
            <a:ext cx="2946640" cy="90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51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2304CS201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(CP-II)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Structure and Union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0066"/>
            <a:ext cx="11929641" cy="5593943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9701" y="88361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49046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AF378B-2717-4CC6-8D60-EB80E7F49B96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99701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4C4EF42-B36A-574F-1D14-7568191B2517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Structure and Union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656790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8E06D2F-EE6F-49DE-8EB6-A96F88CA571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179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258AFB8-3A77-16CB-1CC0-9025C69DD60C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Structure and Union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D71E3F">
                        <a:shade val="30000"/>
                        <a:satMod val="115000"/>
                      </a:srgbClr>
                    </a:gs>
                    <a:gs pos="50000">
                      <a:srgbClr val="D71E3F">
                        <a:shade val="67500"/>
                        <a:satMod val="115000"/>
                      </a:srgbClr>
                    </a:gs>
                    <a:gs pos="100000">
                      <a:srgbClr val="D71E3F">
                        <a:shade val="100000"/>
                        <a:satMod val="115000"/>
                      </a:srgbClr>
                    </a:gs>
                  </a:gsLst>
                  <a:lin ang="1080000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71E3F">
                  <a:shade val="30000"/>
                  <a:satMod val="115000"/>
                </a:srgbClr>
              </a:gs>
              <a:gs pos="50000">
                <a:srgbClr val="D71E3F">
                  <a:shade val="67500"/>
                  <a:satMod val="115000"/>
                </a:srgbClr>
              </a:gs>
              <a:gs pos="100000">
                <a:srgbClr val="D71E3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C127DF-19C1-4A8F-B876-99D5A90C0F01}"/>
              </a:ext>
            </a:extLst>
          </p:cNvPr>
          <p:cNvPicPr>
            <a:picLocks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29175" y="6204430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76EFF2C-1636-48DB-9A77-5FC33CF265D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56067" y="251748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829AA2-559B-A9C2-0CD1-663D9E6A90DA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Structure and Union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4C3A39-E5FB-4C14-8A43-2D8FDDB0AED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42620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7F16C-F2EE-AF2E-50A4-C4F3EF3FFAAD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Structure and Union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Ashok</a:t>
            </a:r>
            <a:r>
              <a:rPr lang="en-US" baseline="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G. </a:t>
            </a:r>
            <a:r>
              <a:rPr lang="en-US" baseline="0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Badresiya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82A07D-EEE5-4EBD-8B95-4427C001AFD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257" y="5923942"/>
            <a:ext cx="1761119" cy="538789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DDB8DC-9E14-4AC0-41B6-1E7A1175CBCC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69224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#2304CS201 (CP-II)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Structure and Union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16723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50C19C1-CCA6-41F8-A349-518437B526D1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70BA9B2-A383-4E11-A930-79C7DB84C0F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67562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38632C7-07EE-4F9C-8233-02B02E8C89FC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54D06A-C8AF-409A-8F19-BD778E4BEE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28259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7B3427B-188B-4900-B48F-E5B9881624A5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F93E28D-CBE0-4383-909A-4B382FCB3BB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266869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3230D6A-1241-4E5B-AD95-3F0026D5E34F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61CFAB5-CC50-4C38-A8CE-5AC7B6E8E1C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978922" cy="31672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7191BDD-BF92-4D48-981F-D834B1E00380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E74553B-F83C-4887-85F5-95F2B31139E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9"/>
            <a:ext cx="3978922" cy="27602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FA71190-A77B-4209-A80E-DB5A272B6800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725EBB8-3E85-4844-8CD8-558634DD557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67562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5D1D986-F272-40AD-8E4B-CBC6109210A2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945C481-A049-4E89-826C-ECC2C2D424F8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5388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054B27E-47BE-45D8-88E7-9B920FD79C18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65063E3-29C7-4F1C-940C-E84E1B1B8D9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966222" cy="266869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94F4DA2-7990-4DAE-B9F6-ADB27BC53AD4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799D394-A04E-49DA-BC5A-159DB5374EAF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7" y="5537768"/>
            <a:ext cx="4079263" cy="353884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Computer Science and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5883522" cy="1666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2CA93B0-CE72-48B1-821C-85BCEA5255C5}"/>
              </a:ext>
            </a:extLst>
          </p:cNvPr>
          <p:cNvSpPr txBox="1"/>
          <p:nvPr userDrawn="1"/>
        </p:nvSpPr>
        <p:spPr>
          <a:xfrm>
            <a:off x="1837677" y="5802204"/>
            <a:ext cx="42194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School of Computer Science, Diploma Engineering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84C881B-3C61-4232-9E01-4D5A6453447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127" y="365143"/>
            <a:ext cx="2091771" cy="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2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74" r:id="rId11"/>
    <p:sldLayoutId id="2147483677" r:id="rId12"/>
    <p:sldLayoutId id="2147483678" r:id="rId13"/>
    <p:sldLayoutId id="2147483679" r:id="rId14"/>
    <p:sldLayoutId id="2147483681" r:id="rId15"/>
    <p:sldLayoutId id="2147483683" r:id="rId16"/>
    <p:sldLayoutId id="2147483682" r:id="rId17"/>
    <p:sldLayoutId id="2147483684" r:id="rId18"/>
    <p:sldLayoutId id="2147483685" r:id="rId19"/>
    <p:sldLayoutId id="2147483686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Unit-2</a:t>
            </a:r>
            <a:r>
              <a:rPr lang="en-US" sz="5400" dirty="0"/>
              <a:t> </a:t>
            </a:r>
            <a:br>
              <a:rPr lang="en-US" sz="5400" dirty="0"/>
            </a:br>
            <a:r>
              <a:rPr lang="en-US" sz="6000" dirty="0"/>
              <a:t>Structure and Union</a:t>
            </a:r>
            <a:endParaRPr lang="en-US" sz="3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shok.badresiya@darshan.ac.in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9913131691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82206" y="0"/>
            <a:ext cx="4646358" cy="734653"/>
          </a:xfrm>
        </p:spPr>
        <p:txBody>
          <a:bodyPr/>
          <a:lstStyle/>
          <a:p>
            <a:r>
              <a:rPr lang="en-US" b="1" dirty="0"/>
              <a:t>C Programming - </a:t>
            </a:r>
            <a:r>
              <a:rPr lang="en-US" b="1" dirty="0" smtClean="0"/>
              <a:t>II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 – I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I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2304CS201 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97B1F5C9-B8D4-46F1-9C51-0EB595CDD82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211251"/>
            <a:ext cx="1353599" cy="1353599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9A7BEC-5E94-41D6-95AB-3D2BFB0D5E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smtClean="0"/>
              <a:t>Ashok G. </a:t>
            </a:r>
            <a:r>
              <a:rPr lang="en-US" dirty="0" err="1" smtClean="0"/>
              <a:t>Badresiya</a:t>
            </a:r>
            <a:endParaRPr lang="en-US" dirty="0"/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 txBox="1">
            <a:spLocks/>
          </p:cNvSpPr>
          <p:nvPr/>
        </p:nvSpPr>
        <p:spPr>
          <a:xfrm>
            <a:off x="580756" y="2840704"/>
            <a:ext cx="7670110" cy="1108666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IN" sz="3200" dirty="0" smtClean="0">
                <a:solidFill>
                  <a:srgbClr val="212121">
                    <a:lumMod val="90000"/>
                    <a:lumOff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 Light" panose="02000000000000000000" pitchFamily="2" charset="0"/>
                <a:ea typeface="Roboto Condensed Light" panose="02000000000000000000" pitchFamily="2" charset="0"/>
              </a:rPr>
              <a:t>CO-2: </a:t>
            </a:r>
            <a:r>
              <a:rPr lang="en-US" sz="3200" dirty="0">
                <a:solidFill>
                  <a:srgbClr val="212121">
                    <a:lumMod val="90000"/>
                    <a:lumOff val="1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Condensed Light" panose="02000000000000000000" pitchFamily="2" charset="0"/>
                <a:ea typeface="Roboto Condensed Light" panose="02000000000000000000" pitchFamily="2" charset="0"/>
              </a:rPr>
              <a:t>implement structure and union programs using C programming language.</a:t>
            </a:r>
            <a:endParaRPr lang="en-IN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98914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</p:cNvCxnSpPr>
          <p:nvPr/>
        </p:nvCxnSpPr>
        <p:spPr>
          <a:xfrm>
            <a:off x="1191446" y="-17287"/>
            <a:ext cx="0" cy="5486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534989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1191446" y="1009551"/>
            <a:ext cx="0" cy="5029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28727" y="629393"/>
            <a:ext cx="6824426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solidFill>
                  <a:srgbClr val="AD1457"/>
                </a:solidFill>
              </a:rPr>
              <a:t>Outline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 smtClean="0">
                <a:solidFill>
                  <a:srgbClr val="424242"/>
                </a:solidFill>
              </a:rPr>
              <a:t>Structure</a:t>
            </a:r>
            <a:endParaRPr lang="en-US" sz="2100" dirty="0">
              <a:solidFill>
                <a:srgbClr val="424242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Array of Structure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Arrays within a Structure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Nested Structure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Union</a:t>
            </a:r>
          </a:p>
          <a:p>
            <a:pPr marL="800100" lvl="1" indent="-342900">
              <a:spcBef>
                <a:spcPts val="1200"/>
              </a:spcBef>
              <a:buClr>
                <a:srgbClr val="424242"/>
              </a:buClr>
              <a:buFont typeface="Wingdings" panose="05000000000000000000" pitchFamily="2" charset="2"/>
              <a:buChar char="§"/>
            </a:pPr>
            <a:r>
              <a:rPr lang="en-US" sz="2100" dirty="0">
                <a:solidFill>
                  <a:srgbClr val="424242"/>
                </a:solidFill>
              </a:rPr>
              <a:t>Structure v/s Union</a:t>
            </a:r>
          </a:p>
        </p:txBody>
      </p:sp>
    </p:spTree>
    <p:extLst>
      <p:ext uri="{BB962C8B-B14F-4D97-AF65-F5344CB8AC3E}">
        <p14:creationId xmlns:p14="http://schemas.microsoft.com/office/powerpoint/2010/main" val="1486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Structure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 </a:t>
            </a:r>
          </a:p>
        </p:txBody>
      </p:sp>
    </p:spTree>
    <p:extLst>
      <p:ext uri="{BB962C8B-B14F-4D97-AF65-F5344CB8AC3E}">
        <p14:creationId xmlns:p14="http://schemas.microsoft.com/office/powerpoint/2010/main" val="1180000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AC75F03-B6D5-46D1-A795-6AE48197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of Structure</a:t>
            </a:r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1B4A1E-C864-4BE1-AD15-704B5FF4E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03937" cy="5649046"/>
          </a:xfrm>
        </p:spPr>
        <p:txBody>
          <a:bodyPr/>
          <a:lstStyle/>
          <a:p>
            <a:r>
              <a:rPr lang="en-IN" dirty="0"/>
              <a:t>Suppose we want to store student’s information like;</a:t>
            </a:r>
          </a:p>
          <a:p>
            <a:pPr lvl="1"/>
            <a:r>
              <a:rPr lang="en-IN" dirty="0"/>
              <a:t>Name, RollNo, Department, InstituteName, SPI </a:t>
            </a:r>
          </a:p>
          <a:p>
            <a:r>
              <a:rPr lang="en-IN" dirty="0"/>
              <a:t>If you want to store all the above information for </a:t>
            </a:r>
            <a:r>
              <a:rPr lang="en-IN" dirty="0">
                <a:solidFill>
                  <a:schemeClr val="accent6"/>
                </a:solidFill>
              </a:rPr>
              <a:t>1 student </a:t>
            </a:r>
            <a:r>
              <a:rPr lang="en-IN" dirty="0"/>
              <a:t>then we may require minimum </a:t>
            </a:r>
            <a:r>
              <a:rPr lang="en-IN" dirty="0">
                <a:solidFill>
                  <a:schemeClr val="accent6"/>
                </a:solidFill>
              </a:rPr>
              <a:t>3 character array</a:t>
            </a:r>
            <a:r>
              <a:rPr lang="en-IN" dirty="0"/>
              <a:t>, in which each character array stores 20 characters, </a:t>
            </a:r>
            <a:r>
              <a:rPr lang="en-IN" dirty="0">
                <a:solidFill>
                  <a:schemeClr val="accent6"/>
                </a:solidFill>
              </a:rPr>
              <a:t>1 float variable</a:t>
            </a:r>
            <a:r>
              <a:rPr lang="en-IN" dirty="0"/>
              <a:t> and </a:t>
            </a:r>
            <a:r>
              <a:rPr lang="en-IN" dirty="0">
                <a:solidFill>
                  <a:schemeClr val="accent6"/>
                </a:solidFill>
              </a:rPr>
              <a:t>1 integer variable</a:t>
            </a:r>
            <a:r>
              <a:rPr lang="en-IN" dirty="0"/>
              <a:t>. </a:t>
            </a:r>
          </a:p>
          <a:p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5E43FC-75FA-44C4-B4EF-8779BFE83577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989" y="2535390"/>
            <a:ext cx="1303828" cy="13257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D88298-0191-4604-B862-5C7D834077CF}"/>
              </a:ext>
            </a:extLst>
          </p:cNvPr>
          <p:cNvSpPr txBox="1"/>
          <p:nvPr/>
        </p:nvSpPr>
        <p:spPr>
          <a:xfrm>
            <a:off x="5541598" y="3517069"/>
            <a:ext cx="1625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3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9BF0A5-9EBB-4F57-B98C-5DC0AB0DFF6C}"/>
              </a:ext>
            </a:extLst>
          </p:cNvPr>
          <p:cNvSpPr txBox="1"/>
          <p:nvPr/>
        </p:nvSpPr>
        <p:spPr>
          <a:xfrm>
            <a:off x="5695439" y="3877973"/>
            <a:ext cx="124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 variable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C38F81-3D51-431B-9AC0-E65797ACAE38}"/>
              </a:ext>
            </a:extLst>
          </p:cNvPr>
          <p:cNvSpPr txBox="1"/>
          <p:nvPr/>
        </p:nvSpPr>
        <p:spPr>
          <a:xfrm>
            <a:off x="5745860" y="4202844"/>
            <a:ext cx="114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1 variable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909390-9EEB-4E36-BF35-E7DE101FF30F}"/>
              </a:ext>
            </a:extLst>
          </p:cNvPr>
          <p:cNvSpPr txBox="1"/>
          <p:nvPr/>
        </p:nvSpPr>
        <p:spPr>
          <a:xfrm>
            <a:off x="1835190" y="3517069"/>
            <a:ext cx="2808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3 character array of 20 size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8A4AF0-9C96-4A17-9576-B4C61A57CFF6}"/>
              </a:ext>
            </a:extLst>
          </p:cNvPr>
          <p:cNvCxnSpPr/>
          <p:nvPr/>
        </p:nvCxnSpPr>
        <p:spPr>
          <a:xfrm>
            <a:off x="4643704" y="3701735"/>
            <a:ext cx="609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E35F894-0A43-4A4F-9584-9D65BD446B9F}"/>
              </a:ext>
            </a:extLst>
          </p:cNvPr>
          <p:cNvSpPr txBox="1"/>
          <p:nvPr/>
        </p:nvSpPr>
        <p:spPr>
          <a:xfrm>
            <a:off x="1835190" y="3921515"/>
            <a:ext cx="2808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1 float variable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E7298-ED53-4A5D-BB64-2385815042FD}"/>
              </a:ext>
            </a:extLst>
          </p:cNvPr>
          <p:cNvCxnSpPr/>
          <p:nvPr/>
        </p:nvCxnSpPr>
        <p:spPr>
          <a:xfrm>
            <a:off x="4643704" y="4062639"/>
            <a:ext cx="609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431C4F5-9BC5-4106-A674-F79BB3610871}"/>
              </a:ext>
            </a:extLst>
          </p:cNvPr>
          <p:cNvSpPr txBox="1"/>
          <p:nvPr/>
        </p:nvSpPr>
        <p:spPr>
          <a:xfrm>
            <a:off x="1835190" y="4282419"/>
            <a:ext cx="2808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1 integer variable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DE71CC5-BAAB-4D7E-A3D4-EA1447DE7E64}"/>
              </a:ext>
            </a:extLst>
          </p:cNvPr>
          <p:cNvCxnSpPr/>
          <p:nvPr/>
        </p:nvCxnSpPr>
        <p:spPr>
          <a:xfrm>
            <a:off x="4643704" y="4423543"/>
            <a:ext cx="6096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8C35068-294D-4186-B49A-6ED4165F413F}"/>
              </a:ext>
            </a:extLst>
          </p:cNvPr>
          <p:cNvSpPr txBox="1"/>
          <p:nvPr/>
        </p:nvSpPr>
        <p:spPr>
          <a:xfrm>
            <a:off x="5943713" y="4637460"/>
            <a:ext cx="1248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5 variables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858EBF-796B-4FB5-8094-ED7023E6CC5B}"/>
              </a:ext>
            </a:extLst>
          </p:cNvPr>
          <p:cNvSpPr txBox="1"/>
          <p:nvPr/>
        </p:nvSpPr>
        <p:spPr>
          <a:xfrm>
            <a:off x="5093594" y="4637461"/>
            <a:ext cx="896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Total =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47ACA1-74B9-4283-84B1-FEA7613B8F27}"/>
              </a:ext>
            </a:extLst>
          </p:cNvPr>
          <p:cNvSpPr txBox="1"/>
          <p:nvPr/>
        </p:nvSpPr>
        <p:spPr>
          <a:xfrm>
            <a:off x="8370708" y="3456275"/>
            <a:ext cx="2342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 student = 5 variables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AAA997-3E8A-48D5-9C3C-CEE576F07755}"/>
              </a:ext>
            </a:extLst>
          </p:cNvPr>
          <p:cNvSpPr txBox="1"/>
          <p:nvPr/>
        </p:nvSpPr>
        <p:spPr>
          <a:xfrm>
            <a:off x="8377971" y="3861124"/>
            <a:ext cx="1829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180 students ???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1E9892-6134-48DE-B288-DB913DA70EA3}"/>
              </a:ext>
            </a:extLst>
          </p:cNvPr>
          <p:cNvSpPr txBox="1"/>
          <p:nvPr/>
        </p:nvSpPr>
        <p:spPr>
          <a:xfrm>
            <a:off x="8370708" y="4290847"/>
            <a:ext cx="1625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900 variables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1C42B8B-4100-4B45-A26F-7E1AA3B420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3574" y="4045790"/>
            <a:ext cx="982994" cy="99273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C241DCA-37A4-4446-9A44-1E4BCC4060C0}"/>
              </a:ext>
            </a:extLst>
          </p:cNvPr>
          <p:cNvSpPr/>
          <p:nvPr/>
        </p:nvSpPr>
        <p:spPr>
          <a:xfrm>
            <a:off x="13648" y="5120115"/>
            <a:ext cx="9552466" cy="59386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When we want to work with more than one datatype at that time </a:t>
            </a:r>
            <a:r>
              <a:rPr lang="en-US" b="1" dirty="0">
                <a:solidFill>
                  <a:schemeClr val="accent6"/>
                </a:solidFill>
              </a:rPr>
              <a:t>Structure</a:t>
            </a:r>
            <a:r>
              <a:rPr lang="en-US" dirty="0">
                <a:solidFill>
                  <a:schemeClr val="accent6"/>
                </a:solidFill>
              </a:rPr>
              <a:t>  will </a:t>
            </a:r>
            <a:r>
              <a:rPr lang="en-US" dirty="0" smtClean="0">
                <a:solidFill>
                  <a:schemeClr val="accent6"/>
                </a:solidFill>
              </a:rPr>
              <a:t>come </a:t>
            </a:r>
            <a:r>
              <a:rPr lang="en-US" dirty="0">
                <a:solidFill>
                  <a:schemeClr val="accent6"/>
                </a:solidFill>
              </a:rPr>
              <a:t>in the picture.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107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6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50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11" grpId="0"/>
      <p:bldP spid="12" grpId="0"/>
      <p:bldP spid="14" grpId="0"/>
      <p:bldP spid="16" grpId="0"/>
      <p:bldP spid="17" grpId="0"/>
      <p:bldP spid="18" grpId="0"/>
      <p:bldP spid="19" grpId="0"/>
      <p:bldP spid="20" grpId="0"/>
      <p:bldP spid="20" grpId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77D77-954B-4E6B-A1CD-59D68EB2D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Declaration of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7BA54-A9A9-4377-A323-81EB4ACAA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accent6"/>
                </a:solidFill>
              </a:rPr>
              <a:t>Structure</a:t>
            </a:r>
            <a:r>
              <a:rPr lang="en-IN" sz="2400" dirty="0"/>
              <a:t> is a collection of logically related data items of different data types grouped together under a single name.</a:t>
            </a:r>
          </a:p>
          <a:p>
            <a:r>
              <a:rPr lang="en-IN" sz="2400" dirty="0"/>
              <a:t>It is user defined data type</a:t>
            </a:r>
            <a:r>
              <a:rPr lang="en-US" sz="2400" dirty="0">
                <a:latin typeface="Lohit Gujarati" panose="020B0600000000000000" pitchFamily="34" charset="0"/>
                <a:cs typeface="Lohit Gujarati" panose="020B0600000000000000" pitchFamily="34" charset="0"/>
              </a:rPr>
              <a:t>.</a:t>
            </a:r>
          </a:p>
          <a:p>
            <a:r>
              <a:rPr lang="en-US" b="1" dirty="0">
                <a:solidFill>
                  <a:schemeClr val="accent6"/>
                </a:solidFill>
                <a:cs typeface="Lohit Gujarati" panose="020B0600000000000000" pitchFamily="34" charset="0"/>
              </a:rPr>
              <a:t>Syntax;</a:t>
            </a:r>
          </a:p>
          <a:p>
            <a:endParaRPr lang="en-IN" sz="2400" dirty="0"/>
          </a:p>
          <a:p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5AE48E-FAC7-45FC-9667-B2A0C7A497D6}"/>
              </a:ext>
            </a:extLst>
          </p:cNvPr>
          <p:cNvSpPr txBox="1"/>
          <p:nvPr/>
        </p:nvSpPr>
        <p:spPr>
          <a:xfrm>
            <a:off x="1274163" y="2938295"/>
            <a:ext cx="1004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struct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AF1652-9EA9-48F0-9C7F-EA1F98CB5926}"/>
              </a:ext>
            </a:extLst>
          </p:cNvPr>
          <p:cNvSpPr txBox="1"/>
          <p:nvPr/>
        </p:nvSpPr>
        <p:spPr>
          <a:xfrm>
            <a:off x="2278504" y="2938295"/>
            <a:ext cx="2413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Name of 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8878DA-B6E2-4A53-A80F-E98985A601B7}"/>
              </a:ext>
            </a:extLst>
          </p:cNvPr>
          <p:cNvSpPr txBox="1"/>
          <p:nvPr/>
        </p:nvSpPr>
        <p:spPr>
          <a:xfrm>
            <a:off x="1274164" y="3321371"/>
            <a:ext cx="2998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{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F42080-64E1-4DFD-89B4-0E9BBEC9AA76}"/>
              </a:ext>
            </a:extLst>
          </p:cNvPr>
          <p:cNvSpPr txBox="1"/>
          <p:nvPr/>
        </p:nvSpPr>
        <p:spPr>
          <a:xfrm>
            <a:off x="1274163" y="5383204"/>
            <a:ext cx="419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};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7C44CD-C7C9-4641-B24E-F1D56BE20EC0}"/>
              </a:ext>
            </a:extLst>
          </p:cNvPr>
          <p:cNvSpPr txBox="1"/>
          <p:nvPr/>
        </p:nvSpPr>
        <p:spPr>
          <a:xfrm>
            <a:off x="1921239" y="3722543"/>
            <a:ext cx="1256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datatype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660A69-03E2-4D27-BFAB-35D7DCE3CE13}"/>
              </a:ext>
            </a:extLst>
          </p:cNvPr>
          <p:cNvSpPr txBox="1"/>
          <p:nvPr/>
        </p:nvSpPr>
        <p:spPr>
          <a:xfrm>
            <a:off x="3177915" y="3722543"/>
            <a:ext cx="1514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member1 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02801C-B19C-40BE-942A-3C4B5E588089}"/>
              </a:ext>
            </a:extLst>
          </p:cNvPr>
          <p:cNvSpPr txBox="1"/>
          <p:nvPr/>
        </p:nvSpPr>
        <p:spPr>
          <a:xfrm>
            <a:off x="1921239" y="4184208"/>
            <a:ext cx="1256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datatype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925901-CDE2-48AE-9BB8-C2A1B703D684}"/>
              </a:ext>
            </a:extLst>
          </p:cNvPr>
          <p:cNvSpPr txBox="1"/>
          <p:nvPr/>
        </p:nvSpPr>
        <p:spPr>
          <a:xfrm>
            <a:off x="3177915" y="4184208"/>
            <a:ext cx="1514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member2 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8A93E3-B85C-4EC9-A216-6D08E4F0061A}"/>
              </a:ext>
            </a:extLst>
          </p:cNvPr>
          <p:cNvSpPr txBox="1"/>
          <p:nvPr/>
        </p:nvSpPr>
        <p:spPr>
          <a:xfrm>
            <a:off x="1921239" y="4645873"/>
            <a:ext cx="1256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datatype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37A911-7749-4D8C-8FD7-73EC3A5864A6}"/>
              </a:ext>
            </a:extLst>
          </p:cNvPr>
          <p:cNvSpPr txBox="1"/>
          <p:nvPr/>
        </p:nvSpPr>
        <p:spPr>
          <a:xfrm>
            <a:off x="3177915" y="4645873"/>
            <a:ext cx="1514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member3 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9C651B-A4F7-4887-B15D-92EECF440AE4}"/>
              </a:ext>
            </a:extLst>
          </p:cNvPr>
          <p:cNvSpPr txBox="1"/>
          <p:nvPr/>
        </p:nvSpPr>
        <p:spPr>
          <a:xfrm>
            <a:off x="1921239" y="5102595"/>
            <a:ext cx="1256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… 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7010682E-AEE9-4339-82C1-42E332DA2515}"/>
              </a:ext>
            </a:extLst>
          </p:cNvPr>
          <p:cNvSpPr/>
          <p:nvPr/>
        </p:nvSpPr>
        <p:spPr>
          <a:xfrm>
            <a:off x="4773102" y="3783036"/>
            <a:ext cx="389744" cy="1322659"/>
          </a:xfrm>
          <a:prstGeom prst="rightBrace">
            <a:avLst>
              <a:gd name="adj1" fmla="val 8333"/>
              <a:gd name="adj2" fmla="val 48867"/>
            </a:avLst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33A1FDB4-653C-46DF-88BC-068FC698BB1B}"/>
              </a:ext>
            </a:extLst>
          </p:cNvPr>
          <p:cNvSpPr/>
          <p:nvPr/>
        </p:nvSpPr>
        <p:spPr>
          <a:xfrm>
            <a:off x="5298991" y="4954353"/>
            <a:ext cx="2394595" cy="461660"/>
          </a:xfrm>
          <a:prstGeom prst="wedgeRoundRectCallout">
            <a:avLst>
              <a:gd name="adj1" fmla="val -60940"/>
              <a:gd name="adj2" fmla="val -54190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accent6"/>
                </a:solidFill>
              </a:rPr>
              <a:t>Members of Structure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B9883C1-EB51-4F5E-AE5D-2A3F03B72F5A}"/>
              </a:ext>
            </a:extLst>
          </p:cNvPr>
          <p:cNvGrpSpPr/>
          <p:nvPr/>
        </p:nvGrpSpPr>
        <p:grpSpPr>
          <a:xfrm>
            <a:off x="4341620" y="2070971"/>
            <a:ext cx="2712323" cy="1683571"/>
            <a:chOff x="4314990" y="2862855"/>
            <a:chExt cx="2712323" cy="1683571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03A776B-20C6-416A-B18C-68F4DC6076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4990" y="2862855"/>
              <a:ext cx="1066953" cy="1683571"/>
            </a:xfrm>
            <a:prstGeom prst="straightConnector1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E7A624D-6259-4D0E-9F4C-AF9E2155AC5A}"/>
                </a:ext>
              </a:extLst>
            </p:cNvPr>
            <p:cNvCxnSpPr>
              <a:cxnSpLocks/>
            </p:cNvCxnSpPr>
            <p:nvPr/>
          </p:nvCxnSpPr>
          <p:spPr>
            <a:xfrm>
              <a:off x="5363972" y="2868540"/>
              <a:ext cx="1663341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546D464-87B0-4A7F-9282-95189DCD8886}"/>
              </a:ext>
            </a:extLst>
          </p:cNvPr>
          <p:cNvSpPr/>
          <p:nvPr/>
        </p:nvSpPr>
        <p:spPr>
          <a:xfrm>
            <a:off x="7053943" y="1681921"/>
            <a:ext cx="4930615" cy="778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To access the member of structure, we have to create variable of the structure. </a:t>
            </a:r>
          </a:p>
        </p:txBody>
      </p:sp>
    </p:spTree>
    <p:extLst>
      <p:ext uri="{BB962C8B-B14F-4D97-AF65-F5344CB8AC3E}">
        <p14:creationId xmlns:p14="http://schemas.microsoft.com/office/powerpoint/2010/main" val="385943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1C6B97F-E2FE-4EB2-B452-03D61CE96DA4}"/>
              </a:ext>
            </a:extLst>
          </p:cNvPr>
          <p:cNvSpPr/>
          <p:nvPr/>
        </p:nvSpPr>
        <p:spPr>
          <a:xfrm>
            <a:off x="6955420" y="1849769"/>
            <a:ext cx="5174110" cy="4731990"/>
          </a:xfrm>
          <a:prstGeom prst="roundRect">
            <a:avLst>
              <a:gd name="adj" fmla="val 5047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19EF0A-0061-4986-9B68-2466CAEBC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Declaration </a:t>
            </a:r>
            <a:r>
              <a:rPr lang="en-US" dirty="0" smtClean="0"/>
              <a:t>of Structure’s </a:t>
            </a:r>
            <a:r>
              <a:rPr lang="en-US" dirty="0"/>
              <a:t>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234C2-6BE6-4692-8A4F-EA323A172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Structure Variable can be declared in 2 ways;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Declare Structure Variable Separately</a:t>
            </a:r>
          </a:p>
          <a:p>
            <a:pPr marL="0" indent="0">
              <a:buNone/>
            </a:pPr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marL="0" indent="0">
              <a:buNone/>
            </a:pPr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marL="0" indent="0">
              <a:buNone/>
            </a:pPr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marL="0" indent="0">
              <a:buNone/>
            </a:pPr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457200" indent="-457200">
              <a:buFont typeface="+mj-lt"/>
              <a:buAutoNum type="arabicPeriod" startAt="2"/>
            </a:pPr>
            <a:r>
              <a:rPr lang="en-IN" b="1" dirty="0"/>
              <a:t>Declare Structure Variable with Structure definition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684D47-FAEC-42F9-BB5A-A666ECF2F22E}"/>
              </a:ext>
            </a:extLst>
          </p:cNvPr>
          <p:cNvSpPr txBox="1"/>
          <p:nvPr/>
        </p:nvSpPr>
        <p:spPr>
          <a:xfrm>
            <a:off x="621020" y="1933322"/>
            <a:ext cx="772351" cy="34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struct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46EBA3-CBD9-475E-8269-B10A01667D9E}"/>
              </a:ext>
            </a:extLst>
          </p:cNvPr>
          <p:cNvSpPr txBox="1"/>
          <p:nvPr/>
        </p:nvSpPr>
        <p:spPr>
          <a:xfrm>
            <a:off x="1349231" y="1933322"/>
            <a:ext cx="894532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student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F4570A-8D13-4734-A803-4916DCFDB685}"/>
              </a:ext>
            </a:extLst>
          </p:cNvPr>
          <p:cNvSpPr txBox="1"/>
          <p:nvPr/>
        </p:nvSpPr>
        <p:spPr>
          <a:xfrm>
            <a:off x="693654" y="2223519"/>
            <a:ext cx="299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{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60B62F-41DF-4707-8626-271B424FE4E5}"/>
              </a:ext>
            </a:extLst>
          </p:cNvPr>
          <p:cNvSpPr txBox="1"/>
          <p:nvPr/>
        </p:nvSpPr>
        <p:spPr>
          <a:xfrm>
            <a:off x="693654" y="3367848"/>
            <a:ext cx="419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};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5ACA6A-0491-4034-BCFB-AF3E0F307C03}"/>
              </a:ext>
            </a:extLst>
          </p:cNvPr>
          <p:cNvSpPr txBox="1"/>
          <p:nvPr/>
        </p:nvSpPr>
        <p:spPr>
          <a:xfrm>
            <a:off x="1006839" y="2463198"/>
            <a:ext cx="772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976516-1CDE-41A8-BB1E-55BEEB2F3434}"/>
              </a:ext>
            </a:extLst>
          </p:cNvPr>
          <p:cNvSpPr txBox="1"/>
          <p:nvPr/>
        </p:nvSpPr>
        <p:spPr>
          <a:xfrm>
            <a:off x="1987386" y="2463198"/>
            <a:ext cx="1074771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name[30] 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A9D534-779C-4A04-9722-E1CB9995DED8}"/>
              </a:ext>
            </a:extLst>
          </p:cNvPr>
          <p:cNvSpPr txBox="1"/>
          <p:nvPr/>
        </p:nvSpPr>
        <p:spPr>
          <a:xfrm>
            <a:off x="1006839" y="2739098"/>
            <a:ext cx="894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int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EF7180-D509-4C52-A14A-2CD44E2419C9}"/>
              </a:ext>
            </a:extLst>
          </p:cNvPr>
          <p:cNvSpPr txBox="1"/>
          <p:nvPr/>
        </p:nvSpPr>
        <p:spPr>
          <a:xfrm>
            <a:off x="1987385" y="2739098"/>
            <a:ext cx="1074771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semester 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EFCDC0-C218-4763-8E31-7B30F9F89E84}"/>
              </a:ext>
            </a:extLst>
          </p:cNvPr>
          <p:cNvSpPr txBox="1"/>
          <p:nvPr/>
        </p:nvSpPr>
        <p:spPr>
          <a:xfrm>
            <a:off x="1006839" y="3022678"/>
            <a:ext cx="894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char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508297-DBD7-4B04-BEBE-C5D82F668EB3}"/>
              </a:ext>
            </a:extLst>
          </p:cNvPr>
          <p:cNvSpPr txBox="1"/>
          <p:nvPr/>
        </p:nvSpPr>
        <p:spPr>
          <a:xfrm>
            <a:off x="1987384" y="2975584"/>
            <a:ext cx="1160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branch[30] 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3C167C-B92D-4186-A27D-9A4E9FDF5772}"/>
              </a:ext>
            </a:extLst>
          </p:cNvPr>
          <p:cNvSpPr txBox="1"/>
          <p:nvPr/>
        </p:nvSpPr>
        <p:spPr>
          <a:xfrm>
            <a:off x="474804" y="3671234"/>
            <a:ext cx="772351" cy="34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struct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36A085-38B9-415E-9291-25AA1E1B5374}"/>
              </a:ext>
            </a:extLst>
          </p:cNvPr>
          <p:cNvSpPr txBox="1"/>
          <p:nvPr/>
        </p:nvSpPr>
        <p:spPr>
          <a:xfrm>
            <a:off x="1203015" y="3671234"/>
            <a:ext cx="894532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student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718FA5-822F-4324-88F6-9D15F88CD88C}"/>
              </a:ext>
            </a:extLst>
          </p:cNvPr>
          <p:cNvSpPr txBox="1"/>
          <p:nvPr/>
        </p:nvSpPr>
        <p:spPr>
          <a:xfrm>
            <a:off x="1975366" y="3662506"/>
            <a:ext cx="772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s1,s2;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78F592-F726-4E28-88EB-EAE4D54C5DF8}"/>
              </a:ext>
            </a:extLst>
          </p:cNvPr>
          <p:cNvSpPr txBox="1"/>
          <p:nvPr/>
        </p:nvSpPr>
        <p:spPr>
          <a:xfrm>
            <a:off x="603713" y="4892904"/>
            <a:ext cx="772351" cy="34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struct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9A98C4-ED67-4641-96AE-C42DCD633649}"/>
              </a:ext>
            </a:extLst>
          </p:cNvPr>
          <p:cNvSpPr txBox="1"/>
          <p:nvPr/>
        </p:nvSpPr>
        <p:spPr>
          <a:xfrm>
            <a:off x="1331924" y="4892904"/>
            <a:ext cx="894532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student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ED53C7-37BB-4AD1-AE1B-3714CF7931D3}"/>
              </a:ext>
            </a:extLst>
          </p:cNvPr>
          <p:cNvSpPr txBox="1"/>
          <p:nvPr/>
        </p:nvSpPr>
        <p:spPr>
          <a:xfrm>
            <a:off x="621020" y="5137662"/>
            <a:ext cx="299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{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75F560-8F3D-4C3E-9873-B3EE994A057A}"/>
              </a:ext>
            </a:extLst>
          </p:cNvPr>
          <p:cNvSpPr txBox="1"/>
          <p:nvPr/>
        </p:nvSpPr>
        <p:spPr>
          <a:xfrm>
            <a:off x="621020" y="6281991"/>
            <a:ext cx="282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}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45ECB8-A27E-4BE7-9790-66C50F66BF6A}"/>
              </a:ext>
            </a:extLst>
          </p:cNvPr>
          <p:cNvSpPr txBox="1"/>
          <p:nvPr/>
        </p:nvSpPr>
        <p:spPr>
          <a:xfrm>
            <a:off x="989532" y="5422780"/>
            <a:ext cx="772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char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5939FB-B189-4DF2-BB9F-7DA9868F9F0E}"/>
              </a:ext>
            </a:extLst>
          </p:cNvPr>
          <p:cNvSpPr txBox="1"/>
          <p:nvPr/>
        </p:nvSpPr>
        <p:spPr>
          <a:xfrm>
            <a:off x="1970079" y="5422780"/>
            <a:ext cx="1074771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name[30] 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4EDA3F-E1C6-4CD0-8D07-434D79B57F54}"/>
              </a:ext>
            </a:extLst>
          </p:cNvPr>
          <p:cNvSpPr txBox="1"/>
          <p:nvPr/>
        </p:nvSpPr>
        <p:spPr>
          <a:xfrm>
            <a:off x="989532" y="5698680"/>
            <a:ext cx="894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int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25C3BA-9BBA-4913-9ACA-2502D50BCC68}"/>
              </a:ext>
            </a:extLst>
          </p:cNvPr>
          <p:cNvSpPr txBox="1"/>
          <p:nvPr/>
        </p:nvSpPr>
        <p:spPr>
          <a:xfrm>
            <a:off x="1970078" y="5698680"/>
            <a:ext cx="1074771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semester 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FEAB52-E91E-41B4-91DC-E44FA00677CA}"/>
              </a:ext>
            </a:extLst>
          </p:cNvPr>
          <p:cNvSpPr txBox="1"/>
          <p:nvPr/>
        </p:nvSpPr>
        <p:spPr>
          <a:xfrm>
            <a:off x="989532" y="5982260"/>
            <a:ext cx="894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char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CA5098-DBA6-4EF7-AFCF-86AB58F5F7B1}"/>
              </a:ext>
            </a:extLst>
          </p:cNvPr>
          <p:cNvSpPr txBox="1"/>
          <p:nvPr/>
        </p:nvSpPr>
        <p:spPr>
          <a:xfrm>
            <a:off x="1970077" y="5935166"/>
            <a:ext cx="1160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branch[30] 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7E9F7B-AA2C-4737-A2D6-46EADA0F0FB8}"/>
              </a:ext>
            </a:extLst>
          </p:cNvPr>
          <p:cNvSpPr txBox="1"/>
          <p:nvPr/>
        </p:nvSpPr>
        <p:spPr>
          <a:xfrm>
            <a:off x="725538" y="6288744"/>
            <a:ext cx="772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s1,s2;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392CFE-F4CB-4D25-83FF-943A5E52D0D9}"/>
              </a:ext>
            </a:extLst>
          </p:cNvPr>
          <p:cNvSpPr txBox="1"/>
          <p:nvPr/>
        </p:nvSpPr>
        <p:spPr>
          <a:xfrm>
            <a:off x="7084773" y="1849769"/>
            <a:ext cx="457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+mj-lt"/>
                <a:cs typeface="Courier New" panose="02070309020205020404" pitchFamily="49" charset="0"/>
              </a:rPr>
              <a:t>s1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61E6673-389B-4AFF-A4E6-CB42329D38B2}"/>
              </a:ext>
            </a:extLst>
          </p:cNvPr>
          <p:cNvCxnSpPr>
            <a:cxnSpLocks/>
          </p:cNvCxnSpPr>
          <p:nvPr/>
        </p:nvCxnSpPr>
        <p:spPr>
          <a:xfrm>
            <a:off x="7184019" y="2270640"/>
            <a:ext cx="0" cy="13381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B23451D-FBD5-4F77-8EAC-BD01CDD73AEC}"/>
              </a:ext>
            </a:extLst>
          </p:cNvPr>
          <p:cNvCxnSpPr>
            <a:cxnSpLocks/>
          </p:cNvCxnSpPr>
          <p:nvPr/>
        </p:nvCxnSpPr>
        <p:spPr>
          <a:xfrm>
            <a:off x="7184019" y="2270640"/>
            <a:ext cx="1143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826D992-5315-4DCC-ADC5-B827E4CDE87A}"/>
              </a:ext>
            </a:extLst>
          </p:cNvPr>
          <p:cNvCxnSpPr/>
          <p:nvPr/>
        </p:nvCxnSpPr>
        <p:spPr>
          <a:xfrm>
            <a:off x="7185605" y="2946345"/>
            <a:ext cx="1143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7943A7A-CB98-4342-8CB8-2BE0DB45FB12}"/>
              </a:ext>
            </a:extLst>
          </p:cNvPr>
          <p:cNvCxnSpPr/>
          <p:nvPr/>
        </p:nvCxnSpPr>
        <p:spPr>
          <a:xfrm>
            <a:off x="7165637" y="3608791"/>
            <a:ext cx="1143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EB9E122-2312-49D1-BA2D-04785F283D9F}"/>
              </a:ext>
            </a:extLst>
          </p:cNvPr>
          <p:cNvSpPr/>
          <p:nvPr/>
        </p:nvSpPr>
        <p:spPr>
          <a:xfrm>
            <a:off x="8439080" y="2038944"/>
            <a:ext cx="1676400" cy="463880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30 bytes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36EEC9-7603-4EE6-984C-2CA693D81263}"/>
              </a:ext>
            </a:extLst>
          </p:cNvPr>
          <p:cNvSpPr/>
          <p:nvPr/>
        </p:nvSpPr>
        <p:spPr>
          <a:xfrm>
            <a:off x="8439080" y="2722546"/>
            <a:ext cx="1676400" cy="463880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 bytes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A90E12A-7F40-482C-A636-43C062A8486C}"/>
              </a:ext>
            </a:extLst>
          </p:cNvPr>
          <p:cNvSpPr/>
          <p:nvPr/>
        </p:nvSpPr>
        <p:spPr>
          <a:xfrm>
            <a:off x="8438596" y="3362162"/>
            <a:ext cx="1676400" cy="463880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30 bytes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F3BB96A-7CB0-488E-B8D3-8333DC168FA8}"/>
              </a:ext>
            </a:extLst>
          </p:cNvPr>
          <p:cNvSpPr/>
          <p:nvPr/>
        </p:nvSpPr>
        <p:spPr>
          <a:xfrm>
            <a:off x="10397802" y="3231769"/>
            <a:ext cx="1676400" cy="594274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/>
              <a:t>Total 62 bytes allocated to s1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A2B005-A27D-4ED1-8DA4-E7FF431B4CC2}"/>
              </a:ext>
            </a:extLst>
          </p:cNvPr>
          <p:cNvSpPr txBox="1"/>
          <p:nvPr/>
        </p:nvSpPr>
        <p:spPr>
          <a:xfrm>
            <a:off x="7084774" y="4243377"/>
            <a:ext cx="457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+mj-lt"/>
                <a:cs typeface="Courier New" panose="02070309020205020404" pitchFamily="49" charset="0"/>
              </a:rPr>
              <a:t>s2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171EB99-512E-4B51-922C-89D1BEB50921}"/>
              </a:ext>
            </a:extLst>
          </p:cNvPr>
          <p:cNvSpPr/>
          <p:nvPr/>
        </p:nvSpPr>
        <p:spPr>
          <a:xfrm>
            <a:off x="8400980" y="4386023"/>
            <a:ext cx="1676400" cy="463880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30 bytes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BB10D6D-BCD5-4EC2-906A-DEA70A6AA4EC}"/>
              </a:ext>
            </a:extLst>
          </p:cNvPr>
          <p:cNvSpPr/>
          <p:nvPr/>
        </p:nvSpPr>
        <p:spPr>
          <a:xfrm>
            <a:off x="8400980" y="5069625"/>
            <a:ext cx="1676400" cy="463880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 bytes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E583F00-65A6-43C1-A01B-E539C6CC7B72}"/>
              </a:ext>
            </a:extLst>
          </p:cNvPr>
          <p:cNvSpPr/>
          <p:nvPr/>
        </p:nvSpPr>
        <p:spPr>
          <a:xfrm>
            <a:off x="8414427" y="5750495"/>
            <a:ext cx="1676400" cy="463880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30 bytes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8B505B-D5F9-417A-856F-5B5F02B3D992}"/>
              </a:ext>
            </a:extLst>
          </p:cNvPr>
          <p:cNvSpPr/>
          <p:nvPr/>
        </p:nvSpPr>
        <p:spPr>
          <a:xfrm>
            <a:off x="10364268" y="5573976"/>
            <a:ext cx="1676400" cy="622134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/>
              <a:t>Total 62 bytes allocated to s2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4512DF-3B12-4917-81FE-B087D66FBFF6}"/>
              </a:ext>
            </a:extLst>
          </p:cNvPr>
          <p:cNvCxnSpPr>
            <a:cxnSpLocks/>
          </p:cNvCxnSpPr>
          <p:nvPr/>
        </p:nvCxnSpPr>
        <p:spPr>
          <a:xfrm>
            <a:off x="7184019" y="4599990"/>
            <a:ext cx="0" cy="133815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1DB14C0-9083-47BD-A134-90E6E7EE086F}"/>
              </a:ext>
            </a:extLst>
          </p:cNvPr>
          <p:cNvCxnSpPr>
            <a:cxnSpLocks/>
          </p:cNvCxnSpPr>
          <p:nvPr/>
        </p:nvCxnSpPr>
        <p:spPr>
          <a:xfrm>
            <a:off x="7184019" y="4599990"/>
            <a:ext cx="1143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F2351C0-E87A-46D5-AD1F-A01D2DD5953F}"/>
              </a:ext>
            </a:extLst>
          </p:cNvPr>
          <p:cNvCxnSpPr/>
          <p:nvPr/>
        </p:nvCxnSpPr>
        <p:spPr>
          <a:xfrm>
            <a:off x="7184019" y="5252341"/>
            <a:ext cx="1143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2A0CB11-EF58-492D-B60C-1463C7537A6E}"/>
              </a:ext>
            </a:extLst>
          </p:cNvPr>
          <p:cNvCxnSpPr/>
          <p:nvPr/>
        </p:nvCxnSpPr>
        <p:spPr>
          <a:xfrm>
            <a:off x="7184019" y="5938141"/>
            <a:ext cx="1143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F33B40B-72F4-4ADD-9067-DE57F2AF8066}"/>
              </a:ext>
            </a:extLst>
          </p:cNvPr>
          <p:cNvCxnSpPr>
            <a:cxnSpLocks/>
          </p:cNvCxnSpPr>
          <p:nvPr/>
        </p:nvCxnSpPr>
        <p:spPr>
          <a:xfrm>
            <a:off x="5715373" y="3314345"/>
            <a:ext cx="1240047" cy="366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045A2E1-F9CC-42BA-9A0E-2231DAFF4F17}"/>
              </a:ext>
            </a:extLst>
          </p:cNvPr>
          <p:cNvSpPr txBox="1"/>
          <p:nvPr/>
        </p:nvSpPr>
        <p:spPr>
          <a:xfrm>
            <a:off x="3626756" y="2650700"/>
            <a:ext cx="2088617" cy="1328023"/>
          </a:xfrm>
          <a:prstGeom prst="snip1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just"/>
            <a:r>
              <a:rPr lang="en-US" b="1" dirty="0">
                <a:solidFill>
                  <a:schemeClr val="tx1"/>
                </a:solidFill>
              </a:rPr>
              <a:t>Memory Allocation of Structure members using Structure Variable </a:t>
            </a:r>
          </a:p>
        </p:txBody>
      </p:sp>
    </p:spTree>
    <p:extLst>
      <p:ext uri="{BB962C8B-B14F-4D97-AF65-F5344CB8AC3E}">
        <p14:creationId xmlns:p14="http://schemas.microsoft.com/office/powerpoint/2010/main" val="225904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6" grpId="0" animBg="1"/>
      <p:bldP spid="37" grpId="0" animBg="1"/>
      <p:bldP spid="39" grpId="0" animBg="1"/>
      <p:bldP spid="40" grpId="0" animBg="1"/>
      <p:bldP spid="41" grpId="0"/>
      <p:bldP spid="47" grpId="0" animBg="1"/>
      <p:bldP spid="48" grpId="0" animBg="1"/>
      <p:bldP spid="49" grpId="0" animBg="1"/>
      <p:bldP spid="51" grpId="0" animBg="1"/>
      <p:bldP spid="6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2F7F3-0AB8-4E02-975E-DE4F132E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Access Structure’s 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7FADF-667B-4928-8AEB-DA172FD8B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To access structure’s member you have to use structure’s variable with dot (.) operator.</a:t>
            </a:r>
          </a:p>
          <a:p>
            <a:r>
              <a:rPr lang="en-US" b="1" dirty="0">
                <a:solidFill>
                  <a:schemeClr val="accent6"/>
                </a:solidFill>
                <a:cs typeface="Lohit Gujarati" panose="020B0600000000000000" pitchFamily="34" charset="0"/>
              </a:rPr>
              <a:t>Compile Time Initialization of Structure’s Member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6E1ABB-7807-4589-B3D4-712130B8A3EF}"/>
              </a:ext>
            </a:extLst>
          </p:cNvPr>
          <p:cNvSpPr txBox="1"/>
          <p:nvPr/>
        </p:nvSpPr>
        <p:spPr>
          <a:xfrm>
            <a:off x="490392" y="1884147"/>
            <a:ext cx="772351" cy="34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struct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36648-6AC9-4DAE-B90C-6F9E47711D1C}"/>
              </a:ext>
            </a:extLst>
          </p:cNvPr>
          <p:cNvSpPr txBox="1"/>
          <p:nvPr/>
        </p:nvSpPr>
        <p:spPr>
          <a:xfrm>
            <a:off x="1218603" y="1884147"/>
            <a:ext cx="894532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student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450018-BD39-4870-9844-D5B33A7F6B2D}"/>
              </a:ext>
            </a:extLst>
          </p:cNvPr>
          <p:cNvSpPr txBox="1"/>
          <p:nvPr/>
        </p:nvSpPr>
        <p:spPr>
          <a:xfrm>
            <a:off x="563026" y="2174344"/>
            <a:ext cx="299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{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39D8C-543B-440B-BC89-9F362B2B3216}"/>
              </a:ext>
            </a:extLst>
          </p:cNvPr>
          <p:cNvSpPr txBox="1"/>
          <p:nvPr/>
        </p:nvSpPr>
        <p:spPr>
          <a:xfrm>
            <a:off x="563026" y="3318673"/>
            <a:ext cx="419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};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1A2B3E-BD6A-4785-85C4-4D82D8CFEF31}"/>
              </a:ext>
            </a:extLst>
          </p:cNvPr>
          <p:cNvSpPr txBox="1"/>
          <p:nvPr/>
        </p:nvSpPr>
        <p:spPr>
          <a:xfrm>
            <a:off x="876211" y="2414023"/>
            <a:ext cx="772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06A48-19B5-41BE-A202-181F47C41854}"/>
              </a:ext>
            </a:extLst>
          </p:cNvPr>
          <p:cNvSpPr txBox="1"/>
          <p:nvPr/>
        </p:nvSpPr>
        <p:spPr>
          <a:xfrm>
            <a:off x="1856758" y="2414023"/>
            <a:ext cx="1074771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name[30] 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31FF0B-E34A-4813-9FAA-9023087A97CD}"/>
              </a:ext>
            </a:extLst>
          </p:cNvPr>
          <p:cNvSpPr txBox="1"/>
          <p:nvPr/>
        </p:nvSpPr>
        <p:spPr>
          <a:xfrm>
            <a:off x="876211" y="2689923"/>
            <a:ext cx="894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int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F2FB32-B13E-4236-8756-01BD30362D45}"/>
              </a:ext>
            </a:extLst>
          </p:cNvPr>
          <p:cNvSpPr txBox="1"/>
          <p:nvPr/>
        </p:nvSpPr>
        <p:spPr>
          <a:xfrm>
            <a:off x="1856757" y="2689923"/>
            <a:ext cx="1074771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semester 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27F167-AC16-417F-8B5E-74657C617A5F}"/>
              </a:ext>
            </a:extLst>
          </p:cNvPr>
          <p:cNvSpPr txBox="1"/>
          <p:nvPr/>
        </p:nvSpPr>
        <p:spPr>
          <a:xfrm>
            <a:off x="876211" y="2973503"/>
            <a:ext cx="894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char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1EB0DF-6001-4A00-95B2-91CC5E262673}"/>
              </a:ext>
            </a:extLst>
          </p:cNvPr>
          <p:cNvSpPr txBox="1"/>
          <p:nvPr/>
        </p:nvSpPr>
        <p:spPr>
          <a:xfrm>
            <a:off x="1856756" y="2926409"/>
            <a:ext cx="1160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branch[30] 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5E391B-2728-4BAB-AC90-C92AF4CF78C4}"/>
              </a:ext>
            </a:extLst>
          </p:cNvPr>
          <p:cNvSpPr txBox="1"/>
          <p:nvPr/>
        </p:nvSpPr>
        <p:spPr>
          <a:xfrm>
            <a:off x="490392" y="3622110"/>
            <a:ext cx="772351" cy="34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struct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DEC34D-F647-4D49-861F-1C28EF343F15}"/>
              </a:ext>
            </a:extLst>
          </p:cNvPr>
          <p:cNvSpPr txBox="1"/>
          <p:nvPr/>
        </p:nvSpPr>
        <p:spPr>
          <a:xfrm>
            <a:off x="1218603" y="3622110"/>
            <a:ext cx="894532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student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8DAB78-1130-4C98-9AD0-72EE67F4C352}"/>
              </a:ext>
            </a:extLst>
          </p:cNvPr>
          <p:cNvSpPr txBox="1"/>
          <p:nvPr/>
        </p:nvSpPr>
        <p:spPr>
          <a:xfrm>
            <a:off x="1990954" y="3613382"/>
            <a:ext cx="772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s1;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688D1A-6F76-4EFD-A20D-70DDB7590D63}"/>
              </a:ext>
            </a:extLst>
          </p:cNvPr>
          <p:cNvSpPr txBox="1"/>
          <p:nvPr/>
        </p:nvSpPr>
        <p:spPr>
          <a:xfrm>
            <a:off x="563026" y="4163427"/>
            <a:ext cx="1846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s1.semester = 2;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8231DF-F2A9-430C-BE0B-6C0567969B93}"/>
              </a:ext>
            </a:extLst>
          </p:cNvPr>
          <p:cNvSpPr txBox="1"/>
          <p:nvPr/>
        </p:nvSpPr>
        <p:spPr>
          <a:xfrm>
            <a:off x="562310" y="4519350"/>
            <a:ext cx="2761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strcpy</a:t>
            </a:r>
            <a:r>
              <a:rPr lang="en-US" b="1" dirty="0"/>
              <a:t>(s1.name,“Mahek”);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CD73C8-03E7-46FB-A571-FA238A7F41CF}"/>
              </a:ext>
            </a:extLst>
          </p:cNvPr>
          <p:cNvSpPr txBox="1"/>
          <p:nvPr/>
        </p:nvSpPr>
        <p:spPr>
          <a:xfrm>
            <a:off x="567484" y="4875273"/>
            <a:ext cx="240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strcpy</a:t>
            </a:r>
            <a:r>
              <a:rPr lang="en-US" b="1" dirty="0"/>
              <a:t>(s1.branch,“CE”);</a:t>
            </a:r>
          </a:p>
        </p:txBody>
      </p:sp>
    </p:spTree>
    <p:extLst>
      <p:ext uri="{BB962C8B-B14F-4D97-AF65-F5344CB8AC3E}">
        <p14:creationId xmlns:p14="http://schemas.microsoft.com/office/powerpoint/2010/main" val="127083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C65C11FE-5E3D-4A67-8A30-AAE417044DE5}"/>
              </a:ext>
            </a:extLst>
          </p:cNvPr>
          <p:cNvGrpSpPr/>
          <p:nvPr/>
        </p:nvGrpSpPr>
        <p:grpSpPr>
          <a:xfrm>
            <a:off x="2303634" y="1371802"/>
            <a:ext cx="2086084" cy="5147159"/>
            <a:chOff x="838200" y="403108"/>
            <a:chExt cx="2086084" cy="5147159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EB17650-DE17-4CE1-B0DF-4A4BEDC771A5}"/>
                </a:ext>
              </a:extLst>
            </p:cNvPr>
            <p:cNvCxnSpPr/>
            <p:nvPr/>
          </p:nvCxnSpPr>
          <p:spPr>
            <a:xfrm>
              <a:off x="838200" y="5550266"/>
              <a:ext cx="1600200" cy="0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594BEE3-91E0-41FF-806C-731579CD98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200" y="5050583"/>
              <a:ext cx="0" cy="499683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E4EDEE4-999D-45DD-B4C9-C5A5CC97BE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403108"/>
              <a:ext cx="0" cy="5147159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4FF20FA-0D09-452D-A0C9-0EE3DD2E5B1B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420550"/>
              <a:ext cx="48588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578535B-FB67-4C8F-BB5D-AF46BD2B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7E8C89-04DF-4BD8-9006-A616916C1A87}"/>
              </a:ext>
            </a:extLst>
          </p:cNvPr>
          <p:cNvSpPr txBox="1"/>
          <p:nvPr/>
        </p:nvSpPr>
        <p:spPr>
          <a:xfrm>
            <a:off x="698500" y="863445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#include&lt;</a:t>
            </a:r>
            <a:r>
              <a:rPr lang="en-US" dirty="0" err="1">
                <a:cs typeface="Courier New" panose="02070309020205020404" pitchFamily="49" charset="0"/>
              </a:rPr>
              <a:t>stdio.h</a:t>
            </a:r>
            <a:r>
              <a:rPr lang="en-US" dirty="0"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19ED8-DC55-4243-BBBC-CA1461335FBC}"/>
              </a:ext>
            </a:extLst>
          </p:cNvPr>
          <p:cNvSpPr txBox="1"/>
          <p:nvPr/>
        </p:nvSpPr>
        <p:spPr>
          <a:xfrm>
            <a:off x="698500" y="1237259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student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D70D7A-66E8-4711-B8D6-B6E11FF21498}"/>
              </a:ext>
            </a:extLst>
          </p:cNvPr>
          <p:cNvSpPr txBox="1"/>
          <p:nvPr/>
        </p:nvSpPr>
        <p:spPr>
          <a:xfrm>
            <a:off x="698500" y="1615556"/>
            <a:ext cx="26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69E682-5317-4C2C-919E-8D911E6EFD81}"/>
              </a:ext>
            </a:extLst>
          </p:cNvPr>
          <p:cNvSpPr txBox="1"/>
          <p:nvPr/>
        </p:nvSpPr>
        <p:spPr>
          <a:xfrm>
            <a:off x="698500" y="1993853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name[30];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408C88-85B3-498F-AD34-2471F6137C1D}"/>
              </a:ext>
            </a:extLst>
          </p:cNvPr>
          <p:cNvSpPr txBox="1"/>
          <p:nvPr/>
        </p:nvSpPr>
        <p:spPr>
          <a:xfrm>
            <a:off x="698500" y="2340773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</a:t>
            </a:r>
            <a:r>
              <a:rPr lang="en-US" dirty="0" err="1">
                <a:cs typeface="Courier New" panose="02070309020205020404" pitchFamily="49" charset="0"/>
              </a:rPr>
              <a:t>sem</a:t>
            </a:r>
            <a:r>
              <a:rPr lang="en-US" dirty="0"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7A291D-9937-48A8-BAF6-325ED7594914}"/>
              </a:ext>
            </a:extLst>
          </p:cNvPr>
          <p:cNvSpPr txBox="1"/>
          <p:nvPr/>
        </p:nvSpPr>
        <p:spPr>
          <a:xfrm>
            <a:off x="698500" y="2727075"/>
            <a:ext cx="224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branch[30];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0EB265-B414-42EB-8639-8D7BCF6C5322}"/>
              </a:ext>
            </a:extLst>
          </p:cNvPr>
          <p:cNvSpPr txBox="1"/>
          <p:nvPr/>
        </p:nvSpPr>
        <p:spPr>
          <a:xfrm>
            <a:off x="698500" y="3113377"/>
            <a:ext cx="41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24DFBA-95B3-4015-9744-0C6B4C5E8F62}"/>
              </a:ext>
            </a:extLst>
          </p:cNvPr>
          <p:cNvSpPr txBox="1"/>
          <p:nvPr/>
        </p:nvSpPr>
        <p:spPr>
          <a:xfrm>
            <a:off x="698500" y="3479186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void main()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E1469-A22B-4AAB-8454-286DDCED2813}"/>
              </a:ext>
            </a:extLst>
          </p:cNvPr>
          <p:cNvSpPr txBox="1"/>
          <p:nvPr/>
        </p:nvSpPr>
        <p:spPr>
          <a:xfrm>
            <a:off x="698500" y="3857483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1561E1-749B-4A35-B475-D8DA97F28EC7}"/>
              </a:ext>
            </a:extLst>
          </p:cNvPr>
          <p:cNvSpPr txBox="1"/>
          <p:nvPr/>
        </p:nvSpPr>
        <p:spPr>
          <a:xfrm>
            <a:off x="1079500" y="4201307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student s1;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196B0D-CE2A-4DFE-ADE9-FD0BD544D04C}"/>
              </a:ext>
            </a:extLst>
          </p:cNvPr>
          <p:cNvSpPr txBox="1"/>
          <p:nvPr/>
        </p:nvSpPr>
        <p:spPr>
          <a:xfrm>
            <a:off x="1079500" y="4570639"/>
            <a:ext cx="5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("Enter Name , Semester and Branch:\n");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9D779B-104F-4FFD-B438-C24C45136E7A}"/>
              </a:ext>
            </a:extLst>
          </p:cNvPr>
          <p:cNvSpPr txBox="1"/>
          <p:nvPr/>
        </p:nvSpPr>
        <p:spPr>
          <a:xfrm>
            <a:off x="1079500" y="4953418"/>
            <a:ext cx="240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scanf</a:t>
            </a:r>
            <a:r>
              <a:rPr lang="en-US" dirty="0">
                <a:cs typeface="Courier New" panose="02070309020205020404" pitchFamily="49" charset="0"/>
              </a:rPr>
              <a:t>("%s",s1.name);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3D3807-CCF1-4928-A700-1FDDF08D751D}"/>
              </a:ext>
            </a:extLst>
          </p:cNvPr>
          <p:cNvSpPr txBox="1"/>
          <p:nvPr/>
        </p:nvSpPr>
        <p:spPr>
          <a:xfrm>
            <a:off x="1117600" y="5345162"/>
            <a:ext cx="244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scanf</a:t>
            </a:r>
            <a:r>
              <a:rPr lang="en-US" dirty="0">
                <a:cs typeface="Courier New" panose="02070309020205020404" pitchFamily="49" charset="0"/>
              </a:rPr>
              <a:t>("%d",&amp;s1.sem);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B3BC6F-9CD3-4C3B-8D74-FD311639195C}"/>
              </a:ext>
            </a:extLst>
          </p:cNvPr>
          <p:cNvSpPr txBox="1"/>
          <p:nvPr/>
        </p:nvSpPr>
        <p:spPr>
          <a:xfrm>
            <a:off x="1117600" y="56876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scanf</a:t>
            </a:r>
            <a:r>
              <a:rPr lang="en-US" dirty="0">
                <a:cs typeface="Courier New" panose="02070309020205020404" pitchFamily="49" charset="0"/>
              </a:rPr>
              <a:t>("%s",s1.branch);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BB68A3-141A-4D77-AD5A-DBE6EFD69FAC}"/>
              </a:ext>
            </a:extLst>
          </p:cNvPr>
          <p:cNvSpPr txBox="1"/>
          <p:nvPr/>
        </p:nvSpPr>
        <p:spPr>
          <a:xfrm>
            <a:off x="4389718" y="1147863"/>
            <a:ext cx="506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</a:t>
            </a:r>
            <a:r>
              <a:rPr lang="en-US" dirty="0" err="1">
                <a:cs typeface="Courier New" panose="02070309020205020404" pitchFamily="49" charset="0"/>
              </a:rPr>
              <a:t>nEntered</a:t>
            </a:r>
            <a:r>
              <a:rPr lang="en-US" dirty="0">
                <a:cs typeface="Courier New" panose="02070309020205020404" pitchFamily="49" charset="0"/>
              </a:rPr>
              <a:t> Name is: %s",s1.name);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723B8F-F404-4E2D-925A-0CD9E53E83DE}"/>
              </a:ext>
            </a:extLst>
          </p:cNvPr>
          <p:cNvSpPr txBox="1"/>
          <p:nvPr/>
        </p:nvSpPr>
        <p:spPr>
          <a:xfrm>
            <a:off x="4394200" y="1519168"/>
            <a:ext cx="506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</a:t>
            </a:r>
            <a:r>
              <a:rPr lang="en-US" dirty="0" err="1">
                <a:cs typeface="Courier New" panose="02070309020205020404" pitchFamily="49" charset="0"/>
              </a:rPr>
              <a:t>nEntered</a:t>
            </a:r>
            <a:r>
              <a:rPr lang="en-US" dirty="0">
                <a:cs typeface="Courier New" panose="02070309020205020404" pitchFamily="49" charset="0"/>
              </a:rPr>
              <a:t> Semester is: %d",s1.sem 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F5A8EB-2AED-421D-9972-99144FB2EB52}"/>
              </a:ext>
            </a:extLst>
          </p:cNvPr>
          <p:cNvSpPr txBox="1"/>
          <p:nvPr/>
        </p:nvSpPr>
        <p:spPr>
          <a:xfrm>
            <a:off x="4394200" y="1892982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</a:t>
            </a:r>
            <a:r>
              <a:rPr lang="en-US" dirty="0" err="1">
                <a:cs typeface="Courier New" panose="02070309020205020404" pitchFamily="49" charset="0"/>
              </a:rPr>
              <a:t>nEntered</a:t>
            </a:r>
            <a:r>
              <a:rPr lang="en-US" dirty="0">
                <a:cs typeface="Courier New" panose="02070309020205020404" pitchFamily="49" charset="0"/>
              </a:rPr>
              <a:t> Branch is: %s",s1.branch);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9FA06C-F66B-4C3D-88A5-EA67A346CBFF}"/>
              </a:ext>
            </a:extLst>
          </p:cNvPr>
          <p:cNvSpPr txBox="1"/>
          <p:nvPr/>
        </p:nvSpPr>
        <p:spPr>
          <a:xfrm>
            <a:off x="4389718" y="2256907"/>
            <a:ext cx="506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3EBD5A-5E13-40F9-9E32-FCFD524AA514}"/>
              </a:ext>
            </a:extLst>
          </p:cNvPr>
          <p:cNvSpPr/>
          <p:nvPr/>
        </p:nvSpPr>
        <p:spPr>
          <a:xfrm>
            <a:off x="8712202" y="1857432"/>
            <a:ext cx="3352800" cy="362213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>
                <a:ln w="0"/>
                <a:solidFill>
                  <a:schemeClr val="accent6"/>
                </a:solidFill>
              </a:rPr>
              <a:t>Output: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Enter Name, Semester and branch:</a:t>
            </a:r>
          </a:p>
          <a:p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Punit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Computer</a:t>
            </a:r>
          </a:p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Entered Name is: </a:t>
            </a:r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Punit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Entered Semester is: 2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Entered Branch is: Computer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74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Array of Structure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</a:t>
            </a:r>
          </a:p>
        </p:txBody>
      </p:sp>
    </p:spTree>
    <p:extLst>
      <p:ext uri="{BB962C8B-B14F-4D97-AF65-F5344CB8AC3E}">
        <p14:creationId xmlns:p14="http://schemas.microsoft.com/office/powerpoint/2010/main" val="2645834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2F7F3-0AB8-4E02-975E-DE4F132E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 of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7FADF-667B-4928-8AEB-DA172FD8B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in previous slides, if you want to use the same structure, for 160 students but obviously you will declare 160 variables</a:t>
            </a:r>
            <a:r>
              <a:rPr lang="en-US" dirty="0" smtClean="0"/>
              <a:t>.</a:t>
            </a:r>
          </a:p>
          <a:p>
            <a:r>
              <a:rPr lang="en-US" dirty="0"/>
              <a:t>As you know, when you want to declare more than one variable of the same data type at that time array comes into the </a:t>
            </a:r>
            <a:r>
              <a:rPr lang="en-US" dirty="0" smtClean="0"/>
              <a:t>picture.</a:t>
            </a:r>
            <a:endParaRPr lang="en-US" dirty="0"/>
          </a:p>
          <a:p>
            <a:r>
              <a:rPr lang="en-US" b="1" dirty="0">
                <a:solidFill>
                  <a:schemeClr val="accent6"/>
                </a:solidFill>
              </a:rPr>
              <a:t>Array + Structure = Array of Structure</a:t>
            </a:r>
          </a:p>
          <a:p>
            <a:r>
              <a:rPr lang="en-US" dirty="0"/>
              <a:t>When you want to declare more than one structure variable that concept is known as </a:t>
            </a:r>
            <a:r>
              <a:rPr lang="en-US" b="1" dirty="0"/>
              <a:t>Array of Structure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sz="2300" dirty="0">
                <a:cs typeface="Courier New" panose="02070309020205020404" pitchFamily="49" charset="0"/>
              </a:rPr>
              <a:t>In the above example, you had just reduced no. of variables and we can use a </a:t>
            </a:r>
            <a:r>
              <a:rPr lang="en-US" sz="2300" dirty="0" smtClean="0">
                <a:cs typeface="Courier New" panose="02070309020205020404" pitchFamily="49" charset="0"/>
              </a:rPr>
              <a:t>loop.</a:t>
            </a:r>
            <a:endParaRPr lang="en-US" sz="2300" dirty="0"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15D45-2F5C-4598-A2A5-7A474CFE9DB4}"/>
              </a:ext>
            </a:extLst>
          </p:cNvPr>
          <p:cNvSpPr txBox="1"/>
          <p:nvPr/>
        </p:nvSpPr>
        <p:spPr>
          <a:xfrm>
            <a:off x="382649" y="3571681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student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085184-0DFD-4682-A89A-E0BAF1F6A167}"/>
              </a:ext>
            </a:extLst>
          </p:cNvPr>
          <p:cNvSpPr txBox="1"/>
          <p:nvPr/>
        </p:nvSpPr>
        <p:spPr>
          <a:xfrm>
            <a:off x="382649" y="3949978"/>
            <a:ext cx="26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29C39-1670-48F4-BDA4-8CAA73A1FE31}"/>
              </a:ext>
            </a:extLst>
          </p:cNvPr>
          <p:cNvSpPr txBox="1"/>
          <p:nvPr/>
        </p:nvSpPr>
        <p:spPr>
          <a:xfrm>
            <a:off x="801749" y="4324135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name[30];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3174E5-0A7F-4553-841E-448A00FE5676}"/>
              </a:ext>
            </a:extLst>
          </p:cNvPr>
          <p:cNvSpPr txBox="1"/>
          <p:nvPr/>
        </p:nvSpPr>
        <p:spPr>
          <a:xfrm>
            <a:off x="801749" y="4671055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</a:t>
            </a:r>
            <a:r>
              <a:rPr lang="en-US" dirty="0" err="1">
                <a:cs typeface="Courier New" panose="02070309020205020404" pitchFamily="49" charset="0"/>
              </a:rPr>
              <a:t>sem</a:t>
            </a:r>
            <a:r>
              <a:rPr lang="en-US" dirty="0"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D8E4B-4575-481D-B95F-64C91F920B5F}"/>
              </a:ext>
            </a:extLst>
          </p:cNvPr>
          <p:cNvSpPr txBox="1"/>
          <p:nvPr/>
        </p:nvSpPr>
        <p:spPr>
          <a:xfrm>
            <a:off x="801749" y="5057357"/>
            <a:ext cx="224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branch[30];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4BFEE0-43FA-47C2-ABFC-0EC90EAC55A1}"/>
              </a:ext>
            </a:extLst>
          </p:cNvPr>
          <p:cNvSpPr txBox="1"/>
          <p:nvPr/>
        </p:nvSpPr>
        <p:spPr>
          <a:xfrm>
            <a:off x="382649" y="5447799"/>
            <a:ext cx="41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};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70E7B0-B7EF-4222-B4E7-37DBEC57402C}"/>
              </a:ext>
            </a:extLst>
          </p:cNvPr>
          <p:cNvCxnSpPr>
            <a:cxnSpLocks/>
          </p:cNvCxnSpPr>
          <p:nvPr/>
        </p:nvCxnSpPr>
        <p:spPr>
          <a:xfrm flipH="1">
            <a:off x="2049219" y="3715114"/>
            <a:ext cx="1045028" cy="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0009F4-6A36-49F2-992E-9BE4944636B1}"/>
              </a:ext>
            </a:extLst>
          </p:cNvPr>
          <p:cNvSpPr/>
          <p:nvPr/>
        </p:nvSpPr>
        <p:spPr>
          <a:xfrm>
            <a:off x="3094248" y="3516037"/>
            <a:ext cx="6183085" cy="80327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Clr>
                <a:schemeClr val="accent6"/>
              </a:buClr>
              <a:buFont typeface="Wingdings 3" panose="05040102010807070707" pitchFamily="18" charset="2"/>
              <a:buChar char="}"/>
            </a:pPr>
            <a:r>
              <a:rPr lang="en-US" dirty="0">
                <a:solidFill>
                  <a:schemeClr val="tx1"/>
                </a:solidFill>
              </a:rPr>
              <a:t>If we want to use this structure for 10 students then we can use following 2 methods;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EF15065-67E6-4DD4-8E59-14083CAD6F86}"/>
              </a:ext>
            </a:extLst>
          </p:cNvPr>
          <p:cNvSpPr/>
          <p:nvPr/>
        </p:nvSpPr>
        <p:spPr>
          <a:xfrm>
            <a:off x="3049649" y="4393436"/>
            <a:ext cx="5326742" cy="1338630"/>
          </a:xfrm>
          <a:prstGeom prst="roundRect">
            <a:avLst>
              <a:gd name="adj" fmla="val 25874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Clr>
                <a:schemeClr val="accent6"/>
              </a:buClr>
              <a:buFont typeface="Wingdings 3" panose="05040102010807070707" pitchFamily="18" charset="2"/>
              <a:buChar char="}"/>
            </a:pPr>
            <a:r>
              <a:rPr lang="en-US" b="1" dirty="0">
                <a:solidFill>
                  <a:schemeClr val="tx1"/>
                </a:solidFill>
                <a:cs typeface="Lohit Gujarati" panose="020B0600000000000000" pitchFamily="34" charset="0"/>
              </a:rPr>
              <a:t>Method – 1 </a:t>
            </a:r>
          </a:p>
          <a:p>
            <a:pPr>
              <a:buClr>
                <a:schemeClr val="accent6"/>
              </a:buClr>
            </a:pPr>
            <a:r>
              <a:rPr lang="en-US" b="1" dirty="0">
                <a:solidFill>
                  <a:schemeClr val="tx1"/>
                </a:solidFill>
                <a:cs typeface="Lohit Gujarati" panose="020B0600000000000000" pitchFamily="34" charset="0"/>
              </a:rPr>
              <a:t>struct student s1,s2,s3,s4,s5,s6,s7,s8,s9,s10; </a:t>
            </a:r>
            <a:r>
              <a:rPr lang="en-US" b="1" dirty="0">
                <a:solidFill>
                  <a:schemeClr val="accent6"/>
                </a:solidFill>
                <a:cs typeface="Lohit Gujarati" panose="020B0600000000000000" pitchFamily="34" charset="0"/>
              </a:rPr>
              <a:t>(Without Array of Structure)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404A4D6-AF7C-4690-B81F-31E212AE2254}"/>
              </a:ext>
            </a:extLst>
          </p:cNvPr>
          <p:cNvSpPr/>
          <p:nvPr/>
        </p:nvSpPr>
        <p:spPr>
          <a:xfrm>
            <a:off x="8503479" y="4393436"/>
            <a:ext cx="2735391" cy="1018525"/>
          </a:xfrm>
          <a:prstGeom prst="roundRect">
            <a:avLst>
              <a:gd name="adj" fmla="val 25874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Clr>
                <a:schemeClr val="accent6"/>
              </a:buClr>
              <a:buFont typeface="Wingdings 3" panose="05040102010807070707" pitchFamily="18" charset="2"/>
              <a:buChar char="}"/>
            </a:pPr>
            <a:r>
              <a:rPr lang="en-US" b="1" dirty="0">
                <a:solidFill>
                  <a:schemeClr val="tx1"/>
                </a:solidFill>
                <a:cs typeface="Lohit Gujarati" panose="020B0600000000000000" pitchFamily="34" charset="0"/>
              </a:rPr>
              <a:t>Method – 2 </a:t>
            </a:r>
          </a:p>
          <a:p>
            <a:pPr>
              <a:buClr>
                <a:schemeClr val="accent6"/>
              </a:buClr>
            </a:pPr>
            <a:r>
              <a:rPr lang="en-US" b="1" dirty="0">
                <a:solidFill>
                  <a:schemeClr val="tx1"/>
                </a:solidFill>
                <a:cs typeface="Lohit Gujarati" panose="020B0600000000000000" pitchFamily="34" charset="0"/>
              </a:rPr>
              <a:t>struct student s[10]; </a:t>
            </a:r>
          </a:p>
          <a:p>
            <a:pPr>
              <a:buClr>
                <a:schemeClr val="accent6"/>
              </a:buClr>
            </a:pPr>
            <a:r>
              <a:rPr lang="en-US" b="1" dirty="0">
                <a:solidFill>
                  <a:schemeClr val="accent6"/>
                </a:solidFill>
                <a:cs typeface="Lohit Gujarati" panose="020B0600000000000000" pitchFamily="34" charset="0"/>
              </a:rPr>
              <a:t>(With Array of Structure) </a:t>
            </a:r>
          </a:p>
        </p:txBody>
      </p:sp>
    </p:spTree>
    <p:extLst>
      <p:ext uri="{BB962C8B-B14F-4D97-AF65-F5344CB8AC3E}">
        <p14:creationId xmlns:p14="http://schemas.microsoft.com/office/powerpoint/2010/main" val="4140953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8535B-FB67-4C8F-BB5D-AF46BD2B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71D0AA-F218-4F8E-9031-C33D392C1C99}"/>
              </a:ext>
            </a:extLst>
          </p:cNvPr>
          <p:cNvSpPr txBox="1"/>
          <p:nvPr/>
        </p:nvSpPr>
        <p:spPr>
          <a:xfrm>
            <a:off x="625928" y="990600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#include&lt;</a:t>
            </a:r>
            <a:r>
              <a:rPr lang="en-US" dirty="0" err="1">
                <a:cs typeface="Courier New" panose="02070309020205020404" pitchFamily="49" charset="0"/>
              </a:rPr>
              <a:t>stdio.h</a:t>
            </a:r>
            <a:r>
              <a:rPr lang="en-US" dirty="0"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4383CB-2056-4A8A-ADCC-629B209A6A82}"/>
              </a:ext>
            </a:extLst>
          </p:cNvPr>
          <p:cNvSpPr txBox="1"/>
          <p:nvPr/>
        </p:nvSpPr>
        <p:spPr>
          <a:xfrm>
            <a:off x="625928" y="1364414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student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E2B97D-3F6B-400A-BBB9-0B8904AF4E4F}"/>
              </a:ext>
            </a:extLst>
          </p:cNvPr>
          <p:cNvSpPr txBox="1"/>
          <p:nvPr/>
        </p:nvSpPr>
        <p:spPr>
          <a:xfrm>
            <a:off x="625928" y="1742711"/>
            <a:ext cx="26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6124B3-4B6C-487B-AA39-0D53B2D6BED9}"/>
              </a:ext>
            </a:extLst>
          </p:cNvPr>
          <p:cNvSpPr txBox="1"/>
          <p:nvPr/>
        </p:nvSpPr>
        <p:spPr>
          <a:xfrm>
            <a:off x="625928" y="2121008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name[30];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D5577E-11AF-4CDF-B09E-A88AC19D06EE}"/>
              </a:ext>
            </a:extLst>
          </p:cNvPr>
          <p:cNvSpPr txBox="1"/>
          <p:nvPr/>
        </p:nvSpPr>
        <p:spPr>
          <a:xfrm>
            <a:off x="625928" y="2467928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</a:t>
            </a:r>
            <a:r>
              <a:rPr lang="en-US" dirty="0" err="1">
                <a:cs typeface="Courier New" panose="02070309020205020404" pitchFamily="49" charset="0"/>
              </a:rPr>
              <a:t>sem</a:t>
            </a:r>
            <a:r>
              <a:rPr lang="en-US" dirty="0"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2D355F-31C9-4151-9B32-DE334060601F}"/>
              </a:ext>
            </a:extLst>
          </p:cNvPr>
          <p:cNvSpPr txBox="1"/>
          <p:nvPr/>
        </p:nvSpPr>
        <p:spPr>
          <a:xfrm>
            <a:off x="625928" y="2854230"/>
            <a:ext cx="224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branch[30];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D6D6BB-1198-4B3E-A7A9-0C651238ADB2}"/>
              </a:ext>
            </a:extLst>
          </p:cNvPr>
          <p:cNvSpPr txBox="1"/>
          <p:nvPr/>
        </p:nvSpPr>
        <p:spPr>
          <a:xfrm>
            <a:off x="625928" y="3240532"/>
            <a:ext cx="41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518847-C85B-4123-8932-A7334376C236}"/>
              </a:ext>
            </a:extLst>
          </p:cNvPr>
          <p:cNvSpPr txBox="1"/>
          <p:nvPr/>
        </p:nvSpPr>
        <p:spPr>
          <a:xfrm>
            <a:off x="625928" y="3606341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void main()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130593-3E42-44B3-84C6-9F07B0B36D4E}"/>
              </a:ext>
            </a:extLst>
          </p:cNvPr>
          <p:cNvSpPr txBox="1"/>
          <p:nvPr/>
        </p:nvSpPr>
        <p:spPr>
          <a:xfrm>
            <a:off x="625928" y="3984638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1016C7-23BC-4241-8181-69CBBC8E4E1C}"/>
              </a:ext>
            </a:extLst>
          </p:cNvPr>
          <p:cNvSpPr txBox="1"/>
          <p:nvPr/>
        </p:nvSpPr>
        <p:spPr>
          <a:xfrm>
            <a:off x="1006928" y="4328462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student s[5];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48A52B-181C-40D1-9961-288CE5C4A7A6}"/>
              </a:ext>
            </a:extLst>
          </p:cNvPr>
          <p:cNvSpPr txBox="1"/>
          <p:nvPr/>
        </p:nvSpPr>
        <p:spPr>
          <a:xfrm>
            <a:off x="4214051" y="1655522"/>
            <a:ext cx="6221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(“No- %d Enter Name , Semester and Branch:\n“,i+1);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873DB6-F8F4-44E1-A9C3-948451D8869E}"/>
              </a:ext>
            </a:extLst>
          </p:cNvPr>
          <p:cNvSpPr txBox="1"/>
          <p:nvPr/>
        </p:nvSpPr>
        <p:spPr>
          <a:xfrm>
            <a:off x="4214051" y="2038301"/>
            <a:ext cx="240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scanf</a:t>
            </a:r>
            <a:r>
              <a:rPr lang="en-US" dirty="0">
                <a:cs typeface="Courier New" panose="02070309020205020404" pitchFamily="49" charset="0"/>
              </a:rPr>
              <a:t>("%</a:t>
            </a:r>
            <a:r>
              <a:rPr lang="en-US" dirty="0" err="1">
                <a:cs typeface="Courier New" panose="02070309020205020404" pitchFamily="49" charset="0"/>
              </a:rPr>
              <a:t>s",s</a:t>
            </a:r>
            <a:r>
              <a:rPr lang="en-US" dirty="0">
                <a:cs typeface="Courier New" panose="02070309020205020404" pitchFamily="49" charset="0"/>
              </a:rPr>
              <a:t>[</a:t>
            </a:r>
            <a:r>
              <a:rPr lang="en-US" dirty="0" err="1">
                <a:cs typeface="Courier New" panose="02070309020205020404" pitchFamily="49" charset="0"/>
              </a:rPr>
              <a:t>i</a:t>
            </a:r>
            <a:r>
              <a:rPr lang="en-US" dirty="0">
                <a:cs typeface="Courier New" panose="02070309020205020404" pitchFamily="49" charset="0"/>
              </a:rPr>
              <a:t>].name);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579D4B-FDC0-430D-AC6A-FE1C0CEB87A0}"/>
              </a:ext>
            </a:extLst>
          </p:cNvPr>
          <p:cNvSpPr txBox="1"/>
          <p:nvPr/>
        </p:nvSpPr>
        <p:spPr>
          <a:xfrm>
            <a:off x="4252151" y="2430045"/>
            <a:ext cx="244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scanf</a:t>
            </a:r>
            <a:r>
              <a:rPr lang="en-US" dirty="0">
                <a:cs typeface="Courier New" panose="02070309020205020404" pitchFamily="49" charset="0"/>
              </a:rPr>
              <a:t>("%</a:t>
            </a:r>
            <a:r>
              <a:rPr lang="en-US" dirty="0" err="1">
                <a:cs typeface="Courier New" panose="02070309020205020404" pitchFamily="49" charset="0"/>
              </a:rPr>
              <a:t>d",&amp;s</a:t>
            </a:r>
            <a:r>
              <a:rPr lang="en-US" dirty="0">
                <a:cs typeface="Courier New" panose="02070309020205020404" pitchFamily="49" charset="0"/>
              </a:rPr>
              <a:t>[</a:t>
            </a:r>
            <a:r>
              <a:rPr lang="en-US" dirty="0" err="1">
                <a:cs typeface="Courier New" panose="02070309020205020404" pitchFamily="49" charset="0"/>
              </a:rPr>
              <a:t>i</a:t>
            </a:r>
            <a:r>
              <a:rPr lang="en-US" dirty="0">
                <a:cs typeface="Courier New" panose="02070309020205020404" pitchFamily="49" charset="0"/>
              </a:rPr>
              <a:t>].</a:t>
            </a:r>
            <a:r>
              <a:rPr lang="en-US" dirty="0" err="1">
                <a:cs typeface="Courier New" panose="02070309020205020404" pitchFamily="49" charset="0"/>
              </a:rPr>
              <a:t>sem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DD792F-C8EB-407C-9E50-E529C519DF31}"/>
              </a:ext>
            </a:extLst>
          </p:cNvPr>
          <p:cNvSpPr txBox="1"/>
          <p:nvPr/>
        </p:nvSpPr>
        <p:spPr>
          <a:xfrm>
            <a:off x="4252151" y="2772483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scanf</a:t>
            </a:r>
            <a:r>
              <a:rPr lang="en-US" dirty="0">
                <a:cs typeface="Courier New" panose="02070309020205020404" pitchFamily="49" charset="0"/>
              </a:rPr>
              <a:t>("%</a:t>
            </a:r>
            <a:r>
              <a:rPr lang="en-US" dirty="0" err="1">
                <a:cs typeface="Courier New" panose="02070309020205020404" pitchFamily="49" charset="0"/>
              </a:rPr>
              <a:t>s",s</a:t>
            </a:r>
            <a:r>
              <a:rPr lang="en-US" dirty="0">
                <a:cs typeface="Courier New" panose="02070309020205020404" pitchFamily="49" charset="0"/>
              </a:rPr>
              <a:t>[</a:t>
            </a:r>
            <a:r>
              <a:rPr lang="en-US" dirty="0" err="1">
                <a:cs typeface="Courier New" panose="02070309020205020404" pitchFamily="49" charset="0"/>
              </a:rPr>
              <a:t>i</a:t>
            </a:r>
            <a:r>
              <a:rPr lang="en-US" dirty="0">
                <a:cs typeface="Courier New" panose="02070309020205020404" pitchFamily="49" charset="0"/>
              </a:rPr>
              <a:t>].branch);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3A88EB-9AAD-4125-94A3-28F3D82E66AE}"/>
              </a:ext>
            </a:extLst>
          </p:cNvPr>
          <p:cNvSpPr txBox="1"/>
          <p:nvPr/>
        </p:nvSpPr>
        <p:spPr>
          <a:xfrm>
            <a:off x="4247668" y="4437788"/>
            <a:ext cx="5450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</a:t>
            </a:r>
            <a:r>
              <a:rPr lang="en-US" dirty="0" err="1">
                <a:cs typeface="Courier New" panose="02070309020205020404" pitchFamily="49" charset="0"/>
              </a:rPr>
              <a:t>nNo</a:t>
            </a:r>
            <a:r>
              <a:rPr lang="en-US" dirty="0">
                <a:cs typeface="Courier New" panose="02070309020205020404" pitchFamily="49" charset="0"/>
              </a:rPr>
              <a:t>- %d\</a:t>
            </a:r>
            <a:r>
              <a:rPr lang="en-US" dirty="0" err="1">
                <a:cs typeface="Courier New" panose="02070309020205020404" pitchFamily="49" charset="0"/>
              </a:rPr>
              <a:t>nEntered</a:t>
            </a:r>
            <a:r>
              <a:rPr lang="en-US" dirty="0">
                <a:cs typeface="Courier New" panose="02070309020205020404" pitchFamily="49" charset="0"/>
              </a:rPr>
              <a:t> Name is: %s",i+1,s[</a:t>
            </a:r>
            <a:r>
              <a:rPr lang="en-US" dirty="0" err="1">
                <a:cs typeface="Courier New" panose="02070309020205020404" pitchFamily="49" charset="0"/>
              </a:rPr>
              <a:t>i</a:t>
            </a:r>
            <a:r>
              <a:rPr lang="en-US" dirty="0">
                <a:cs typeface="Courier New" panose="02070309020205020404" pitchFamily="49" charset="0"/>
              </a:rPr>
              <a:t>].name);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6A2827-5704-4B67-8345-AEDB5F6D03DE}"/>
              </a:ext>
            </a:extLst>
          </p:cNvPr>
          <p:cNvSpPr txBox="1"/>
          <p:nvPr/>
        </p:nvSpPr>
        <p:spPr>
          <a:xfrm>
            <a:off x="4247669" y="4807120"/>
            <a:ext cx="506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</a:t>
            </a:r>
            <a:r>
              <a:rPr lang="en-US" dirty="0" err="1">
                <a:cs typeface="Courier New" panose="02070309020205020404" pitchFamily="49" charset="0"/>
              </a:rPr>
              <a:t>nEntered</a:t>
            </a:r>
            <a:r>
              <a:rPr lang="en-US" dirty="0">
                <a:cs typeface="Courier New" panose="02070309020205020404" pitchFamily="49" charset="0"/>
              </a:rPr>
              <a:t> Semester is: %</a:t>
            </a:r>
            <a:r>
              <a:rPr lang="en-US" dirty="0" err="1">
                <a:cs typeface="Courier New" panose="02070309020205020404" pitchFamily="49" charset="0"/>
              </a:rPr>
              <a:t>d",s</a:t>
            </a:r>
            <a:r>
              <a:rPr lang="en-US" dirty="0">
                <a:cs typeface="Courier New" panose="02070309020205020404" pitchFamily="49" charset="0"/>
              </a:rPr>
              <a:t>[</a:t>
            </a:r>
            <a:r>
              <a:rPr lang="en-US" dirty="0" err="1">
                <a:cs typeface="Courier New" panose="02070309020205020404" pitchFamily="49" charset="0"/>
              </a:rPr>
              <a:t>i</a:t>
            </a:r>
            <a:r>
              <a:rPr lang="en-US" dirty="0">
                <a:cs typeface="Courier New" panose="02070309020205020404" pitchFamily="49" charset="0"/>
              </a:rPr>
              <a:t>].</a:t>
            </a:r>
            <a:r>
              <a:rPr lang="en-US" dirty="0" err="1">
                <a:cs typeface="Courier New" panose="02070309020205020404" pitchFamily="49" charset="0"/>
              </a:rPr>
              <a:t>sem</a:t>
            </a:r>
            <a:r>
              <a:rPr lang="en-US" dirty="0">
                <a:cs typeface="Courier New" panose="02070309020205020404" pitchFamily="49" charset="0"/>
              </a:rPr>
              <a:t> );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229806-0760-4CBE-B77A-9C18CA4DAFD9}"/>
              </a:ext>
            </a:extLst>
          </p:cNvPr>
          <p:cNvSpPr txBox="1"/>
          <p:nvPr/>
        </p:nvSpPr>
        <p:spPr>
          <a:xfrm>
            <a:off x="4247669" y="5180934"/>
            <a:ext cx="5336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</a:t>
            </a:r>
            <a:r>
              <a:rPr lang="en-US" dirty="0" err="1">
                <a:cs typeface="Courier New" panose="02070309020205020404" pitchFamily="49" charset="0"/>
              </a:rPr>
              <a:t>nEntered</a:t>
            </a:r>
            <a:r>
              <a:rPr lang="en-US" dirty="0">
                <a:cs typeface="Courier New" panose="02070309020205020404" pitchFamily="49" charset="0"/>
              </a:rPr>
              <a:t> Branch is: %</a:t>
            </a:r>
            <a:r>
              <a:rPr lang="en-US" dirty="0" err="1">
                <a:cs typeface="Courier New" panose="02070309020205020404" pitchFamily="49" charset="0"/>
              </a:rPr>
              <a:t>s",s</a:t>
            </a:r>
            <a:r>
              <a:rPr lang="en-US" dirty="0">
                <a:cs typeface="Courier New" panose="02070309020205020404" pitchFamily="49" charset="0"/>
              </a:rPr>
              <a:t>[</a:t>
            </a:r>
            <a:r>
              <a:rPr lang="en-US" dirty="0" err="1">
                <a:cs typeface="Courier New" panose="02070309020205020404" pitchFamily="49" charset="0"/>
              </a:rPr>
              <a:t>i</a:t>
            </a:r>
            <a:r>
              <a:rPr lang="en-US" dirty="0">
                <a:cs typeface="Courier New" panose="02070309020205020404" pitchFamily="49" charset="0"/>
              </a:rPr>
              <a:t>].branch);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408CD4-7C8E-4456-A556-B2ED35BB5B39}"/>
              </a:ext>
            </a:extLst>
          </p:cNvPr>
          <p:cNvSpPr txBox="1"/>
          <p:nvPr/>
        </p:nvSpPr>
        <p:spPr>
          <a:xfrm>
            <a:off x="3483428" y="6156016"/>
            <a:ext cx="506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122225-0B17-4BF6-BF7A-A1CBBAA22D3A}"/>
              </a:ext>
            </a:extLst>
          </p:cNvPr>
          <p:cNvSpPr txBox="1"/>
          <p:nvPr/>
        </p:nvSpPr>
        <p:spPr>
          <a:xfrm>
            <a:off x="1006928" y="4681251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i;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6B9CB6-EFBB-47F8-AFE8-9811BC442E53}"/>
              </a:ext>
            </a:extLst>
          </p:cNvPr>
          <p:cNvSpPr txBox="1"/>
          <p:nvPr/>
        </p:nvSpPr>
        <p:spPr>
          <a:xfrm>
            <a:off x="3873393" y="990600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for(</a:t>
            </a:r>
            <a:r>
              <a:rPr lang="en-US" dirty="0" err="1">
                <a:cs typeface="Courier New" panose="02070309020205020404" pitchFamily="49" charset="0"/>
              </a:rPr>
              <a:t>i</a:t>
            </a:r>
            <a:r>
              <a:rPr lang="en-US" dirty="0">
                <a:cs typeface="Courier New" panose="02070309020205020404" pitchFamily="49" charset="0"/>
              </a:rPr>
              <a:t>=0;i&lt;5;i++)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1929DA-3545-407B-8B08-C0920C3A5D88}"/>
              </a:ext>
            </a:extLst>
          </p:cNvPr>
          <p:cNvSpPr txBox="1"/>
          <p:nvPr/>
        </p:nvSpPr>
        <p:spPr>
          <a:xfrm>
            <a:off x="3873393" y="1333038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904A07-FBF4-42E0-ABF9-FE52C27BB6DC}"/>
              </a:ext>
            </a:extLst>
          </p:cNvPr>
          <p:cNvSpPr txBox="1"/>
          <p:nvPr/>
        </p:nvSpPr>
        <p:spPr>
          <a:xfrm>
            <a:off x="3873393" y="3423281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20B009-F505-4988-9C53-13DEA94DC9D1}"/>
              </a:ext>
            </a:extLst>
          </p:cNvPr>
          <p:cNvSpPr txBox="1"/>
          <p:nvPr/>
        </p:nvSpPr>
        <p:spPr>
          <a:xfrm>
            <a:off x="3873393" y="3799797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for(</a:t>
            </a:r>
            <a:r>
              <a:rPr lang="en-US" dirty="0" err="1">
                <a:cs typeface="Courier New" panose="02070309020205020404" pitchFamily="49" charset="0"/>
              </a:rPr>
              <a:t>i</a:t>
            </a:r>
            <a:r>
              <a:rPr lang="en-US" dirty="0">
                <a:cs typeface="Courier New" panose="02070309020205020404" pitchFamily="49" charset="0"/>
              </a:rPr>
              <a:t>=0;i&lt;5;i++)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FB1386-0BC7-446B-A4EF-BA2AE6E83E68}"/>
              </a:ext>
            </a:extLst>
          </p:cNvPr>
          <p:cNvSpPr txBox="1"/>
          <p:nvPr/>
        </p:nvSpPr>
        <p:spPr>
          <a:xfrm>
            <a:off x="3873393" y="4142235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710161-59EB-4D2C-B94E-720993A5DB98}"/>
              </a:ext>
            </a:extLst>
          </p:cNvPr>
          <p:cNvSpPr txBox="1"/>
          <p:nvPr/>
        </p:nvSpPr>
        <p:spPr>
          <a:xfrm>
            <a:off x="3788228" y="5777401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BF5FAA-616A-4ABA-B13D-24679E34F8A7}"/>
              </a:ext>
            </a:extLst>
          </p:cNvPr>
          <p:cNvSpPr txBox="1"/>
          <p:nvPr/>
        </p:nvSpPr>
        <p:spPr>
          <a:xfrm>
            <a:off x="4252151" y="3114921"/>
            <a:ext cx="498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("\n");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E6825B-9CA2-49CC-89EB-824AA1127474}"/>
              </a:ext>
            </a:extLst>
          </p:cNvPr>
          <p:cNvSpPr txBox="1"/>
          <p:nvPr/>
        </p:nvSpPr>
        <p:spPr>
          <a:xfrm>
            <a:off x="4252151" y="5554748"/>
            <a:ext cx="498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("\n");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F652968-D144-447C-9C67-58CD38699022}"/>
              </a:ext>
            </a:extLst>
          </p:cNvPr>
          <p:cNvGrpSpPr/>
          <p:nvPr/>
        </p:nvGrpSpPr>
        <p:grpSpPr>
          <a:xfrm>
            <a:off x="1273628" y="1143000"/>
            <a:ext cx="2492716" cy="4407266"/>
            <a:chOff x="838200" y="1143000"/>
            <a:chExt cx="2492716" cy="4407266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67D6F25-556F-4BB6-90AC-B9A78E6C3522}"/>
                </a:ext>
              </a:extLst>
            </p:cNvPr>
            <p:cNvCxnSpPr/>
            <p:nvPr/>
          </p:nvCxnSpPr>
          <p:spPr>
            <a:xfrm>
              <a:off x="838200" y="5550266"/>
              <a:ext cx="1600200" cy="0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5451F67-13C4-4346-BD39-E744651FD0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200" y="5050583"/>
              <a:ext cx="0" cy="499683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6F0FEB3-7733-422B-A7FE-AC5D54CC86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1143000"/>
              <a:ext cx="0" cy="4407266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28B6F40D-A8DE-4930-B620-24CDC282576F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1143000"/>
              <a:ext cx="892516" cy="0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827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Arrays within Structure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 </a:t>
            </a:r>
          </a:p>
        </p:txBody>
      </p:sp>
    </p:spTree>
    <p:extLst>
      <p:ext uri="{BB962C8B-B14F-4D97-AF65-F5344CB8AC3E}">
        <p14:creationId xmlns:p14="http://schemas.microsoft.com/office/powerpoint/2010/main" val="3091768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2F7F3-0AB8-4E02-975E-DE4F132E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Arrays Within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7FADF-667B-4928-8AEB-DA172FD8B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Sometimes, arrays may be the member within structure, this is known as </a:t>
            </a:r>
            <a:r>
              <a:rPr lang="en-GB" b="1" dirty="0">
                <a:solidFill>
                  <a:schemeClr val="accent6"/>
                </a:solidFill>
              </a:rPr>
              <a:t>Arrays within Structure</a:t>
            </a:r>
            <a:r>
              <a:rPr lang="en-IN" sz="2400" dirty="0"/>
              <a:t>.</a:t>
            </a:r>
          </a:p>
          <a:p>
            <a:r>
              <a:rPr lang="en-GB" dirty="0"/>
              <a:t>Example – 1: When you want to store a string value, then you have to go for array within structure</a:t>
            </a:r>
            <a:r>
              <a:rPr lang="en-US" dirty="0"/>
              <a:t>.</a:t>
            </a:r>
          </a:p>
          <a:p>
            <a:r>
              <a:rPr lang="en-US" dirty="0"/>
              <a:t>Example – 2: </a:t>
            </a:r>
            <a:r>
              <a:rPr lang="en-GB" dirty="0"/>
              <a:t>When you want to store a marks of 6 subjects, then you have to go for array within structure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15D45-2F5C-4598-A2A5-7A474CFE9DB4}"/>
              </a:ext>
            </a:extLst>
          </p:cNvPr>
          <p:cNvSpPr txBox="1"/>
          <p:nvPr/>
        </p:nvSpPr>
        <p:spPr>
          <a:xfrm>
            <a:off x="382649" y="3571681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student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085184-0DFD-4682-A89A-E0BAF1F6A167}"/>
              </a:ext>
            </a:extLst>
          </p:cNvPr>
          <p:cNvSpPr txBox="1"/>
          <p:nvPr/>
        </p:nvSpPr>
        <p:spPr>
          <a:xfrm>
            <a:off x="382649" y="3949978"/>
            <a:ext cx="26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29C39-1670-48F4-BDA4-8CAA73A1FE31}"/>
              </a:ext>
            </a:extLst>
          </p:cNvPr>
          <p:cNvSpPr txBox="1"/>
          <p:nvPr/>
        </p:nvSpPr>
        <p:spPr>
          <a:xfrm>
            <a:off x="801749" y="4324135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name[30];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3174E5-0A7F-4553-841E-448A00FE5676}"/>
              </a:ext>
            </a:extLst>
          </p:cNvPr>
          <p:cNvSpPr txBox="1"/>
          <p:nvPr/>
        </p:nvSpPr>
        <p:spPr>
          <a:xfrm>
            <a:off x="801749" y="4671055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</a:t>
            </a:r>
            <a:r>
              <a:rPr lang="en-US" dirty="0" err="1">
                <a:cs typeface="Courier New" panose="02070309020205020404" pitchFamily="49" charset="0"/>
              </a:rPr>
              <a:t>sem</a:t>
            </a:r>
            <a:r>
              <a:rPr lang="en-US" dirty="0"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D8E4B-4575-481D-B95F-64C91F920B5F}"/>
              </a:ext>
            </a:extLst>
          </p:cNvPr>
          <p:cNvSpPr txBox="1"/>
          <p:nvPr/>
        </p:nvSpPr>
        <p:spPr>
          <a:xfrm>
            <a:off x="801749" y="5057357"/>
            <a:ext cx="224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float marks[6];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4BFEE0-43FA-47C2-ABFC-0EC90EAC55A1}"/>
              </a:ext>
            </a:extLst>
          </p:cNvPr>
          <p:cNvSpPr txBox="1"/>
          <p:nvPr/>
        </p:nvSpPr>
        <p:spPr>
          <a:xfrm>
            <a:off x="382649" y="5447799"/>
            <a:ext cx="41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615476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8535B-FB67-4C8F-BB5D-AF46BD2B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71D0AA-F218-4F8E-9031-C33D392C1C99}"/>
              </a:ext>
            </a:extLst>
          </p:cNvPr>
          <p:cNvSpPr txBox="1"/>
          <p:nvPr/>
        </p:nvSpPr>
        <p:spPr>
          <a:xfrm>
            <a:off x="625928" y="990600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#include&lt;</a:t>
            </a:r>
            <a:r>
              <a:rPr lang="en-US" dirty="0" err="1">
                <a:cs typeface="Courier New" panose="02070309020205020404" pitchFamily="49" charset="0"/>
              </a:rPr>
              <a:t>stdio.h</a:t>
            </a:r>
            <a:r>
              <a:rPr lang="en-US" dirty="0"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4383CB-2056-4A8A-ADCC-629B209A6A82}"/>
              </a:ext>
            </a:extLst>
          </p:cNvPr>
          <p:cNvSpPr txBox="1"/>
          <p:nvPr/>
        </p:nvSpPr>
        <p:spPr>
          <a:xfrm>
            <a:off x="625928" y="1364414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student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E2B97D-3F6B-400A-BBB9-0B8904AF4E4F}"/>
              </a:ext>
            </a:extLst>
          </p:cNvPr>
          <p:cNvSpPr txBox="1"/>
          <p:nvPr/>
        </p:nvSpPr>
        <p:spPr>
          <a:xfrm>
            <a:off x="625928" y="1742711"/>
            <a:ext cx="26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6124B3-4B6C-487B-AA39-0D53B2D6BED9}"/>
              </a:ext>
            </a:extLst>
          </p:cNvPr>
          <p:cNvSpPr txBox="1"/>
          <p:nvPr/>
        </p:nvSpPr>
        <p:spPr>
          <a:xfrm>
            <a:off x="625928" y="2121008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name[30];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D5577E-11AF-4CDF-B09E-A88AC19D06EE}"/>
              </a:ext>
            </a:extLst>
          </p:cNvPr>
          <p:cNvSpPr txBox="1"/>
          <p:nvPr/>
        </p:nvSpPr>
        <p:spPr>
          <a:xfrm>
            <a:off x="625928" y="2467928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</a:t>
            </a:r>
            <a:r>
              <a:rPr lang="en-US" dirty="0" err="1">
                <a:cs typeface="Courier New" panose="02070309020205020404" pitchFamily="49" charset="0"/>
              </a:rPr>
              <a:t>sem</a:t>
            </a:r>
            <a:r>
              <a:rPr lang="en-US" dirty="0"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2D355F-31C9-4151-9B32-DE334060601F}"/>
              </a:ext>
            </a:extLst>
          </p:cNvPr>
          <p:cNvSpPr txBox="1"/>
          <p:nvPr/>
        </p:nvSpPr>
        <p:spPr>
          <a:xfrm>
            <a:off x="625928" y="2854230"/>
            <a:ext cx="224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marks[5];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D6D6BB-1198-4B3E-A7A9-0C651238ADB2}"/>
              </a:ext>
            </a:extLst>
          </p:cNvPr>
          <p:cNvSpPr txBox="1"/>
          <p:nvPr/>
        </p:nvSpPr>
        <p:spPr>
          <a:xfrm>
            <a:off x="625928" y="3240532"/>
            <a:ext cx="41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518847-C85B-4123-8932-A7334376C236}"/>
              </a:ext>
            </a:extLst>
          </p:cNvPr>
          <p:cNvSpPr txBox="1"/>
          <p:nvPr/>
        </p:nvSpPr>
        <p:spPr>
          <a:xfrm>
            <a:off x="625928" y="3606341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void main()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130593-3E42-44B3-84C6-9F07B0B36D4E}"/>
              </a:ext>
            </a:extLst>
          </p:cNvPr>
          <p:cNvSpPr txBox="1"/>
          <p:nvPr/>
        </p:nvSpPr>
        <p:spPr>
          <a:xfrm>
            <a:off x="625928" y="3984638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1016C7-23BC-4241-8181-69CBBC8E4E1C}"/>
              </a:ext>
            </a:extLst>
          </p:cNvPr>
          <p:cNvSpPr txBox="1"/>
          <p:nvPr/>
        </p:nvSpPr>
        <p:spPr>
          <a:xfrm>
            <a:off x="1006928" y="4328462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struct student s;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48A52B-181C-40D1-9961-288CE5C4A7A6}"/>
              </a:ext>
            </a:extLst>
          </p:cNvPr>
          <p:cNvSpPr txBox="1"/>
          <p:nvPr/>
        </p:nvSpPr>
        <p:spPr>
          <a:xfrm>
            <a:off x="4189398" y="1027039"/>
            <a:ext cx="6221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(“Enter Name , Semester and Marks:\n“);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873DB6-F8F4-44E1-A9C3-948451D8869E}"/>
              </a:ext>
            </a:extLst>
          </p:cNvPr>
          <p:cNvSpPr txBox="1"/>
          <p:nvPr/>
        </p:nvSpPr>
        <p:spPr>
          <a:xfrm>
            <a:off x="4189398" y="1409818"/>
            <a:ext cx="240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scanf("%</a:t>
            </a:r>
            <a:r>
              <a:rPr lang="en-US" dirty="0" err="1">
                <a:cs typeface="Courier New" panose="02070309020205020404" pitchFamily="49" charset="0"/>
              </a:rPr>
              <a:t>s",s.name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579D4B-FDC0-430D-AC6A-FE1C0CEB87A0}"/>
              </a:ext>
            </a:extLst>
          </p:cNvPr>
          <p:cNvSpPr txBox="1"/>
          <p:nvPr/>
        </p:nvSpPr>
        <p:spPr>
          <a:xfrm>
            <a:off x="4227498" y="1801562"/>
            <a:ext cx="244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scanf("%d",&amp;</a:t>
            </a:r>
            <a:r>
              <a:rPr lang="en-US" dirty="0" err="1">
                <a:cs typeface="Courier New" panose="02070309020205020404" pitchFamily="49" charset="0"/>
              </a:rPr>
              <a:t>s.sem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DD792F-C8EB-407C-9E50-E529C519DF31}"/>
              </a:ext>
            </a:extLst>
          </p:cNvPr>
          <p:cNvSpPr txBox="1"/>
          <p:nvPr/>
        </p:nvSpPr>
        <p:spPr>
          <a:xfrm>
            <a:off x="4961835" y="3031576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scanf("%d",&amp;</a:t>
            </a:r>
            <a:r>
              <a:rPr lang="en-US" dirty="0" err="1">
                <a:cs typeface="Courier New" panose="02070309020205020404" pitchFamily="49" charset="0"/>
              </a:rPr>
              <a:t>s.marks</a:t>
            </a:r>
            <a:r>
              <a:rPr lang="en-US" dirty="0">
                <a:cs typeface="Courier New" panose="02070309020205020404" pitchFamily="49" charset="0"/>
              </a:rPr>
              <a:t>[</a:t>
            </a:r>
            <a:r>
              <a:rPr lang="en-US" dirty="0" err="1">
                <a:cs typeface="Courier New" panose="02070309020205020404" pitchFamily="49" charset="0"/>
              </a:rPr>
              <a:t>i</a:t>
            </a:r>
            <a:r>
              <a:rPr lang="en-US" dirty="0">
                <a:cs typeface="Courier New" panose="02070309020205020404" pitchFamily="49" charset="0"/>
              </a:rPr>
              <a:t>]);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3A88EB-9AAD-4125-94A3-28F3D82E66AE}"/>
              </a:ext>
            </a:extLst>
          </p:cNvPr>
          <p:cNvSpPr txBox="1"/>
          <p:nvPr/>
        </p:nvSpPr>
        <p:spPr>
          <a:xfrm>
            <a:off x="4188633" y="4383662"/>
            <a:ext cx="5450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</a:t>
            </a:r>
            <a:r>
              <a:rPr lang="en-US" dirty="0" err="1">
                <a:cs typeface="Courier New" panose="02070309020205020404" pitchFamily="49" charset="0"/>
              </a:rPr>
              <a:t>nEntered</a:t>
            </a:r>
            <a:r>
              <a:rPr lang="en-US" dirty="0">
                <a:cs typeface="Courier New" panose="02070309020205020404" pitchFamily="49" charset="0"/>
              </a:rPr>
              <a:t> Name is: %</a:t>
            </a:r>
            <a:r>
              <a:rPr lang="en-US" dirty="0" err="1">
                <a:cs typeface="Courier New" panose="02070309020205020404" pitchFamily="49" charset="0"/>
              </a:rPr>
              <a:t>s",s.name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6A2827-5704-4B67-8345-AEDB5F6D03DE}"/>
              </a:ext>
            </a:extLst>
          </p:cNvPr>
          <p:cNvSpPr txBox="1"/>
          <p:nvPr/>
        </p:nvSpPr>
        <p:spPr>
          <a:xfrm>
            <a:off x="4188634" y="4752994"/>
            <a:ext cx="506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</a:t>
            </a:r>
            <a:r>
              <a:rPr lang="en-US" dirty="0" err="1">
                <a:cs typeface="Courier New" panose="02070309020205020404" pitchFamily="49" charset="0"/>
              </a:rPr>
              <a:t>nEntered</a:t>
            </a:r>
            <a:r>
              <a:rPr lang="en-US" dirty="0">
                <a:cs typeface="Courier New" panose="02070309020205020404" pitchFamily="49" charset="0"/>
              </a:rPr>
              <a:t> Semester is: %d",</a:t>
            </a:r>
            <a:r>
              <a:rPr lang="en-US" dirty="0" err="1">
                <a:cs typeface="Courier New" panose="02070309020205020404" pitchFamily="49" charset="0"/>
              </a:rPr>
              <a:t>s.sem</a:t>
            </a:r>
            <a:r>
              <a:rPr lang="en-US" dirty="0">
                <a:cs typeface="Courier New" panose="02070309020205020404" pitchFamily="49" charset="0"/>
              </a:rPr>
              <a:t> );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229806-0760-4CBE-B77A-9C18CA4DAFD9}"/>
              </a:ext>
            </a:extLst>
          </p:cNvPr>
          <p:cNvSpPr txBox="1"/>
          <p:nvPr/>
        </p:nvSpPr>
        <p:spPr>
          <a:xfrm>
            <a:off x="4188634" y="5126808"/>
            <a:ext cx="5336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</a:t>
            </a:r>
            <a:r>
              <a:rPr lang="en-US" dirty="0" err="1">
                <a:cs typeface="Courier New" panose="02070309020205020404" pitchFamily="49" charset="0"/>
              </a:rPr>
              <a:t>nAverage</a:t>
            </a:r>
            <a:r>
              <a:rPr lang="en-US" dirty="0">
                <a:cs typeface="Courier New" panose="02070309020205020404" pitchFamily="49" charset="0"/>
              </a:rPr>
              <a:t> Mark is: %</a:t>
            </a:r>
            <a:r>
              <a:rPr lang="en-US" dirty="0" err="1">
                <a:cs typeface="Courier New" panose="02070309020205020404" pitchFamily="49" charset="0"/>
              </a:rPr>
              <a:t>f",avg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408CD4-7C8E-4456-A556-B2ED35BB5B39}"/>
              </a:ext>
            </a:extLst>
          </p:cNvPr>
          <p:cNvSpPr txBox="1"/>
          <p:nvPr/>
        </p:nvSpPr>
        <p:spPr>
          <a:xfrm>
            <a:off x="3452170" y="5486396"/>
            <a:ext cx="506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C122225-0B17-4BF6-BF7A-A1CBBAA22D3A}"/>
              </a:ext>
            </a:extLst>
          </p:cNvPr>
          <p:cNvSpPr txBox="1"/>
          <p:nvPr/>
        </p:nvSpPr>
        <p:spPr>
          <a:xfrm>
            <a:off x="1006928" y="4681251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</a:t>
            </a:r>
            <a:r>
              <a:rPr lang="en-US" dirty="0" err="1">
                <a:cs typeface="Courier New" panose="02070309020205020404" pitchFamily="49" charset="0"/>
              </a:rPr>
              <a:t>i</a:t>
            </a:r>
            <a:r>
              <a:rPr lang="en-US" dirty="0"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6B9CB6-EFBB-47F8-AFE8-9811BC442E53}"/>
              </a:ext>
            </a:extLst>
          </p:cNvPr>
          <p:cNvSpPr txBox="1"/>
          <p:nvPr/>
        </p:nvSpPr>
        <p:spPr>
          <a:xfrm>
            <a:off x="4190518" y="2349161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for(</a:t>
            </a:r>
            <a:r>
              <a:rPr lang="en-US" dirty="0" err="1">
                <a:cs typeface="Courier New" panose="02070309020205020404" pitchFamily="49" charset="0"/>
              </a:rPr>
              <a:t>i</a:t>
            </a:r>
            <a:r>
              <a:rPr lang="en-US" dirty="0">
                <a:cs typeface="Courier New" panose="02070309020205020404" pitchFamily="49" charset="0"/>
              </a:rPr>
              <a:t>=0;i&lt;5;i++)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1929DA-3545-407B-8B08-C0920C3A5D88}"/>
              </a:ext>
            </a:extLst>
          </p:cNvPr>
          <p:cNvSpPr txBox="1"/>
          <p:nvPr/>
        </p:nvSpPr>
        <p:spPr>
          <a:xfrm>
            <a:off x="4189398" y="2665083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904A07-FBF4-42E0-ABF9-FE52C27BB6DC}"/>
              </a:ext>
            </a:extLst>
          </p:cNvPr>
          <p:cNvSpPr txBox="1"/>
          <p:nvPr/>
        </p:nvSpPr>
        <p:spPr>
          <a:xfrm>
            <a:off x="4188634" y="3594988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20B009-F505-4988-9C53-13DEA94DC9D1}"/>
              </a:ext>
            </a:extLst>
          </p:cNvPr>
          <p:cNvSpPr txBox="1"/>
          <p:nvPr/>
        </p:nvSpPr>
        <p:spPr>
          <a:xfrm>
            <a:off x="4166750" y="4029801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avg = sum / 5;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BF5FAA-616A-4ABA-B13D-24679E34F8A7}"/>
              </a:ext>
            </a:extLst>
          </p:cNvPr>
          <p:cNvSpPr txBox="1"/>
          <p:nvPr/>
        </p:nvSpPr>
        <p:spPr>
          <a:xfrm>
            <a:off x="4961835" y="3374014"/>
            <a:ext cx="4982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sum = sum + </a:t>
            </a:r>
            <a:r>
              <a:rPr lang="en-US" dirty="0" err="1">
                <a:cs typeface="Courier New" panose="02070309020205020404" pitchFamily="49" charset="0"/>
              </a:rPr>
              <a:t>s.marks</a:t>
            </a:r>
            <a:r>
              <a:rPr lang="en-US" dirty="0">
                <a:cs typeface="Courier New" panose="02070309020205020404" pitchFamily="49" charset="0"/>
              </a:rPr>
              <a:t>[</a:t>
            </a:r>
            <a:r>
              <a:rPr lang="en-US" dirty="0" err="1">
                <a:cs typeface="Courier New" panose="02070309020205020404" pitchFamily="49" charset="0"/>
              </a:rPr>
              <a:t>i</a:t>
            </a:r>
            <a:r>
              <a:rPr lang="en-US" dirty="0">
                <a:cs typeface="Courier New" panose="02070309020205020404" pitchFamily="49" charset="0"/>
              </a:rPr>
              <a:t>];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F652968-D144-447C-9C67-58CD38699022}"/>
              </a:ext>
            </a:extLst>
          </p:cNvPr>
          <p:cNvGrpSpPr/>
          <p:nvPr/>
        </p:nvGrpSpPr>
        <p:grpSpPr>
          <a:xfrm>
            <a:off x="1246471" y="1184856"/>
            <a:ext cx="2492716" cy="4778101"/>
            <a:chOff x="838200" y="1143000"/>
            <a:chExt cx="2492716" cy="4407266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67D6F25-556F-4BB6-90AC-B9A78E6C3522}"/>
                </a:ext>
              </a:extLst>
            </p:cNvPr>
            <p:cNvCxnSpPr/>
            <p:nvPr/>
          </p:nvCxnSpPr>
          <p:spPr>
            <a:xfrm>
              <a:off x="838200" y="5550266"/>
              <a:ext cx="1600200" cy="0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5451F67-13C4-4346-BD39-E744651FD0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200" y="5050583"/>
              <a:ext cx="0" cy="499683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6F0FEB3-7733-422B-A7FE-AC5D54CC86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1143000"/>
              <a:ext cx="0" cy="4407266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28B6F40D-A8DE-4930-B620-24CDC282576F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1143000"/>
              <a:ext cx="892516" cy="0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0325657-2802-3D21-CDA7-1FFBB12F5553}"/>
              </a:ext>
            </a:extLst>
          </p:cNvPr>
          <p:cNvSpPr txBox="1"/>
          <p:nvPr/>
        </p:nvSpPr>
        <p:spPr>
          <a:xfrm>
            <a:off x="1006928" y="5077572"/>
            <a:ext cx="209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float sum=0,avg=0;</a:t>
            </a:r>
          </a:p>
        </p:txBody>
      </p:sp>
    </p:spTree>
    <p:extLst>
      <p:ext uri="{BB962C8B-B14F-4D97-AF65-F5344CB8AC3E}">
        <p14:creationId xmlns:p14="http://schemas.microsoft.com/office/powerpoint/2010/main" val="267078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8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/>
              <a:t>Nested Structure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 </a:t>
            </a:r>
          </a:p>
        </p:txBody>
      </p:sp>
    </p:spTree>
    <p:extLst>
      <p:ext uri="{BB962C8B-B14F-4D97-AF65-F5344CB8AC3E}">
        <p14:creationId xmlns:p14="http://schemas.microsoft.com/office/powerpoint/2010/main" val="422270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2F7F3-0AB8-4E02-975E-DE4F132E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Nested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7FADF-667B-4928-8AEB-DA172FD8B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Nested Structure means structure within structure.</a:t>
            </a:r>
          </a:p>
          <a:p>
            <a:r>
              <a:rPr lang="en-US" dirty="0"/>
              <a:t>There are following ways to use nested structure, their example are as below;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C6CDCB-3EC8-4912-9D41-8B83F279A49B}"/>
              </a:ext>
            </a:extLst>
          </p:cNvPr>
          <p:cNvSpPr txBox="1"/>
          <p:nvPr/>
        </p:nvSpPr>
        <p:spPr>
          <a:xfrm>
            <a:off x="1761757" y="323483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student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02823-8984-4B06-A277-FFD2575ADFC3}"/>
              </a:ext>
            </a:extLst>
          </p:cNvPr>
          <p:cNvSpPr txBox="1"/>
          <p:nvPr/>
        </p:nvSpPr>
        <p:spPr>
          <a:xfrm>
            <a:off x="1756015" y="3531174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C3F99D-CF62-4ACB-9718-58F9E85451BA}"/>
              </a:ext>
            </a:extLst>
          </p:cNvPr>
          <p:cNvSpPr txBox="1"/>
          <p:nvPr/>
        </p:nvSpPr>
        <p:spPr>
          <a:xfrm>
            <a:off x="1984615" y="379204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</a:t>
            </a:r>
            <a:r>
              <a:rPr lang="en-US" dirty="0" err="1">
                <a:cs typeface="Courier New" panose="02070309020205020404" pitchFamily="49" charset="0"/>
              </a:rPr>
              <a:t>rollno</a:t>
            </a:r>
            <a:r>
              <a:rPr lang="en-US" dirty="0"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E6B55C-0BD4-4610-83EE-275936476C35}"/>
              </a:ext>
            </a:extLst>
          </p:cNvPr>
          <p:cNvSpPr txBox="1"/>
          <p:nvPr/>
        </p:nvSpPr>
        <p:spPr>
          <a:xfrm>
            <a:off x="1984615" y="405290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float marks;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AAFBCE-2A1A-42FC-BE0F-08F35BBB66DD}"/>
              </a:ext>
            </a:extLst>
          </p:cNvPr>
          <p:cNvSpPr txBox="1"/>
          <p:nvPr/>
        </p:nvSpPr>
        <p:spPr>
          <a:xfrm>
            <a:off x="1984615" y="4290471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person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36A4A-6B85-4168-8B6E-64D09DBF07B2}"/>
              </a:ext>
            </a:extLst>
          </p:cNvPr>
          <p:cNvSpPr txBox="1"/>
          <p:nvPr/>
        </p:nvSpPr>
        <p:spPr>
          <a:xfrm>
            <a:off x="1993580" y="4584493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DA6418-2069-4395-BD73-BABE55F1EC8A}"/>
              </a:ext>
            </a:extLst>
          </p:cNvPr>
          <p:cNvSpPr txBox="1"/>
          <p:nvPr/>
        </p:nvSpPr>
        <p:spPr>
          <a:xfrm>
            <a:off x="2179597" y="4822058"/>
            <a:ext cx="179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name[20];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0C1AC8-CC22-4D99-AD79-FAC0F5CDD3F7}"/>
              </a:ext>
            </a:extLst>
          </p:cNvPr>
          <p:cNvSpPr txBox="1"/>
          <p:nvPr/>
        </p:nvSpPr>
        <p:spPr>
          <a:xfrm>
            <a:off x="2179598" y="5101777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age;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CEFE7E-4BA7-416E-96DF-20EEE521956B}"/>
              </a:ext>
            </a:extLst>
          </p:cNvPr>
          <p:cNvSpPr txBox="1"/>
          <p:nvPr/>
        </p:nvSpPr>
        <p:spPr>
          <a:xfrm>
            <a:off x="2179598" y="5353645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dob[20];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65F7C2-5C7A-4932-8F51-56A99E1269BA}"/>
              </a:ext>
            </a:extLst>
          </p:cNvPr>
          <p:cNvSpPr txBox="1"/>
          <p:nvPr/>
        </p:nvSpPr>
        <p:spPr>
          <a:xfrm>
            <a:off x="1984615" y="5630183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}p;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7F6376-BAA6-4A28-8B77-29ACB66AD812}"/>
              </a:ext>
            </a:extLst>
          </p:cNvPr>
          <p:cNvSpPr txBox="1"/>
          <p:nvPr/>
        </p:nvSpPr>
        <p:spPr>
          <a:xfrm>
            <a:off x="1756015" y="5882051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4DF445-1321-41AE-9860-36B154351606}"/>
              </a:ext>
            </a:extLst>
          </p:cNvPr>
          <p:cNvSpPr txBox="1"/>
          <p:nvPr/>
        </p:nvSpPr>
        <p:spPr>
          <a:xfrm>
            <a:off x="4519878" y="4731998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student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18B1CB-892F-4D66-8DF7-CBC5F66AB0D9}"/>
              </a:ext>
            </a:extLst>
          </p:cNvPr>
          <p:cNvSpPr txBox="1"/>
          <p:nvPr/>
        </p:nvSpPr>
        <p:spPr>
          <a:xfrm>
            <a:off x="4519878" y="4969563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D3B3EF-7C5B-489F-9999-8962898483F9}"/>
              </a:ext>
            </a:extLst>
          </p:cNvPr>
          <p:cNvSpPr txBox="1"/>
          <p:nvPr/>
        </p:nvSpPr>
        <p:spPr>
          <a:xfrm>
            <a:off x="4748478" y="5230429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</a:t>
            </a:r>
            <a:r>
              <a:rPr lang="en-US" dirty="0" err="1">
                <a:cs typeface="Courier New" panose="02070309020205020404" pitchFamily="49" charset="0"/>
              </a:rPr>
              <a:t>rollno</a:t>
            </a:r>
            <a:r>
              <a:rPr lang="en-US" dirty="0"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915B8D-FCDB-4E77-BCCC-3FAFA90E1E76}"/>
              </a:ext>
            </a:extLst>
          </p:cNvPr>
          <p:cNvSpPr txBox="1"/>
          <p:nvPr/>
        </p:nvSpPr>
        <p:spPr>
          <a:xfrm>
            <a:off x="4748478" y="5491295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float marks;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C52B1F-CF5B-45E9-9A58-8308F75B21CE}"/>
              </a:ext>
            </a:extLst>
          </p:cNvPr>
          <p:cNvSpPr txBox="1"/>
          <p:nvPr/>
        </p:nvSpPr>
        <p:spPr>
          <a:xfrm>
            <a:off x="4519878" y="3059668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person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519748-074D-4CCD-BA81-C10F5B9390DE}"/>
              </a:ext>
            </a:extLst>
          </p:cNvPr>
          <p:cNvSpPr txBox="1"/>
          <p:nvPr/>
        </p:nvSpPr>
        <p:spPr>
          <a:xfrm>
            <a:off x="4528843" y="335369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255551-2B2C-42AA-BDAB-C47BD1095178}"/>
              </a:ext>
            </a:extLst>
          </p:cNvPr>
          <p:cNvSpPr txBox="1"/>
          <p:nvPr/>
        </p:nvSpPr>
        <p:spPr>
          <a:xfrm>
            <a:off x="4714860" y="3591255"/>
            <a:ext cx="179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name[20];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CC1578-BED5-47F9-ADB6-D4A3BB4434F0}"/>
              </a:ext>
            </a:extLst>
          </p:cNvPr>
          <p:cNvSpPr txBox="1"/>
          <p:nvPr/>
        </p:nvSpPr>
        <p:spPr>
          <a:xfrm>
            <a:off x="4714861" y="387097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age;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72140E-626C-4CF3-9B09-DC8A45AE02CF}"/>
              </a:ext>
            </a:extLst>
          </p:cNvPr>
          <p:cNvSpPr txBox="1"/>
          <p:nvPr/>
        </p:nvSpPr>
        <p:spPr>
          <a:xfrm>
            <a:off x="4714861" y="4122842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dob[20];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BB2F36-355D-4DCF-B358-35CF5641DF42}"/>
              </a:ext>
            </a:extLst>
          </p:cNvPr>
          <p:cNvSpPr txBox="1"/>
          <p:nvPr/>
        </p:nvSpPr>
        <p:spPr>
          <a:xfrm>
            <a:off x="4519878" y="439938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8683BB-2DC8-45B0-A071-59D730A083AD}"/>
              </a:ext>
            </a:extLst>
          </p:cNvPr>
          <p:cNvSpPr txBox="1"/>
          <p:nvPr/>
        </p:nvSpPr>
        <p:spPr>
          <a:xfrm>
            <a:off x="4513714" y="5970177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541969-C7C0-48A7-9411-0773554B1CB7}"/>
              </a:ext>
            </a:extLst>
          </p:cNvPr>
          <p:cNvSpPr txBox="1"/>
          <p:nvPr/>
        </p:nvSpPr>
        <p:spPr>
          <a:xfrm>
            <a:off x="4748477" y="5733434"/>
            <a:ext cx="1755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person p;	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1A5618-A994-4704-8E6F-2C21970A9080}"/>
              </a:ext>
            </a:extLst>
          </p:cNvPr>
          <p:cNvSpPr txBox="1"/>
          <p:nvPr/>
        </p:nvSpPr>
        <p:spPr>
          <a:xfrm>
            <a:off x="7068657" y="3059668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student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4D70A0-6070-4453-89F3-290AFF9868F0}"/>
              </a:ext>
            </a:extLst>
          </p:cNvPr>
          <p:cNvSpPr txBox="1"/>
          <p:nvPr/>
        </p:nvSpPr>
        <p:spPr>
          <a:xfrm>
            <a:off x="7068657" y="3297233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E6FF4C-CA72-4698-BFF6-71F42C7C5050}"/>
              </a:ext>
            </a:extLst>
          </p:cNvPr>
          <p:cNvSpPr txBox="1"/>
          <p:nvPr/>
        </p:nvSpPr>
        <p:spPr>
          <a:xfrm>
            <a:off x="7297257" y="3558099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</a:t>
            </a:r>
            <a:r>
              <a:rPr lang="en-US" dirty="0" err="1">
                <a:cs typeface="Courier New" panose="02070309020205020404" pitchFamily="49" charset="0"/>
              </a:rPr>
              <a:t>rollno</a:t>
            </a:r>
            <a:r>
              <a:rPr lang="en-US" dirty="0"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5FCDC9-F27F-4A1B-B730-5FED2FC6DEA4}"/>
              </a:ext>
            </a:extLst>
          </p:cNvPr>
          <p:cNvSpPr txBox="1"/>
          <p:nvPr/>
        </p:nvSpPr>
        <p:spPr>
          <a:xfrm>
            <a:off x="7297257" y="3818965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float marks;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2801C4-4E38-4179-92A0-D49E722E08B6}"/>
              </a:ext>
            </a:extLst>
          </p:cNvPr>
          <p:cNvSpPr txBox="1"/>
          <p:nvPr/>
        </p:nvSpPr>
        <p:spPr>
          <a:xfrm>
            <a:off x="7062493" y="4297847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6EF612-8C67-4ECA-B996-BA7CABF73A3E}"/>
              </a:ext>
            </a:extLst>
          </p:cNvPr>
          <p:cNvSpPr txBox="1"/>
          <p:nvPr/>
        </p:nvSpPr>
        <p:spPr>
          <a:xfrm>
            <a:off x="7297256" y="4061104"/>
            <a:ext cx="1755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person p;	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AE36C9-5C93-4898-870E-F3621C0A399C}"/>
              </a:ext>
            </a:extLst>
          </p:cNvPr>
          <p:cNvSpPr txBox="1"/>
          <p:nvPr/>
        </p:nvSpPr>
        <p:spPr>
          <a:xfrm>
            <a:off x="7072438" y="4701413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person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A6E1AE-DDE2-44C3-8553-365760D7FD69}"/>
              </a:ext>
            </a:extLst>
          </p:cNvPr>
          <p:cNvSpPr txBox="1"/>
          <p:nvPr/>
        </p:nvSpPr>
        <p:spPr>
          <a:xfrm>
            <a:off x="7081403" y="4995435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F22508-623E-4E88-AEBF-449EF15C7A69}"/>
              </a:ext>
            </a:extLst>
          </p:cNvPr>
          <p:cNvSpPr txBox="1"/>
          <p:nvPr/>
        </p:nvSpPr>
        <p:spPr>
          <a:xfrm>
            <a:off x="7267420" y="5233000"/>
            <a:ext cx="179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name[20];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E9EF44-27BC-446C-A8FE-5C399B1B3675}"/>
              </a:ext>
            </a:extLst>
          </p:cNvPr>
          <p:cNvSpPr txBox="1"/>
          <p:nvPr/>
        </p:nvSpPr>
        <p:spPr>
          <a:xfrm>
            <a:off x="7267421" y="5512719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age;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4084DC-3CE7-4BBD-8566-D65FFA53AA8C}"/>
              </a:ext>
            </a:extLst>
          </p:cNvPr>
          <p:cNvSpPr txBox="1"/>
          <p:nvPr/>
        </p:nvSpPr>
        <p:spPr>
          <a:xfrm>
            <a:off x="7267421" y="5764587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dob[20];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64764E-B65C-4030-A2D8-5EFDE4B27E3F}"/>
              </a:ext>
            </a:extLst>
          </p:cNvPr>
          <p:cNvSpPr txBox="1"/>
          <p:nvPr/>
        </p:nvSpPr>
        <p:spPr>
          <a:xfrm>
            <a:off x="7072438" y="6041125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8C9B45-6E3C-441B-9529-9AF0F59D7C1D}"/>
              </a:ext>
            </a:extLst>
          </p:cNvPr>
          <p:cNvSpPr txBox="1"/>
          <p:nvPr/>
        </p:nvSpPr>
        <p:spPr>
          <a:xfrm>
            <a:off x="1803080" y="2638385"/>
            <a:ext cx="38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cs typeface="Courier New" panose="02070309020205020404" pitchFamily="49" charset="0"/>
                <a:sym typeface="Wingdings" panose="05000000000000000000" pitchFamily="2" charset="2"/>
              </a:rPr>
              <a:t></a:t>
            </a:r>
            <a:endParaRPr lang="en-US" sz="3200" b="1" dirty="0">
              <a:solidFill>
                <a:srgbClr val="00B050"/>
              </a:solidFill>
              <a:cs typeface="Courier New" panose="020703090202050204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3543ED-80AF-4C5D-BD8D-49A2D00D61E6}"/>
              </a:ext>
            </a:extLst>
          </p:cNvPr>
          <p:cNvSpPr txBox="1"/>
          <p:nvPr/>
        </p:nvSpPr>
        <p:spPr>
          <a:xfrm>
            <a:off x="7033333" y="2556197"/>
            <a:ext cx="468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Courier New" panose="02070309020205020404" pitchFamily="49" charset="0"/>
              </a:rPr>
              <a:t>×</a:t>
            </a:r>
            <a:endParaRPr lang="en-US" sz="3200" b="1" dirty="0">
              <a:solidFill>
                <a:srgbClr val="FF0000"/>
              </a:solidFill>
              <a:cs typeface="Courier New" panose="020703090202050204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3F34F3-F98C-4542-8831-F18AF951FE49}"/>
              </a:ext>
            </a:extLst>
          </p:cNvPr>
          <p:cNvSpPr txBox="1"/>
          <p:nvPr/>
        </p:nvSpPr>
        <p:spPr>
          <a:xfrm>
            <a:off x="4528843" y="2585606"/>
            <a:ext cx="468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cs typeface="Courier New" panose="02070309020205020404" pitchFamily="49" charset="0"/>
                <a:sym typeface="Wingdings" panose="05000000000000000000" pitchFamily="2" charset="2"/>
              </a:rPr>
              <a:t></a:t>
            </a:r>
            <a:endParaRPr lang="en-US" sz="2400" b="1" dirty="0">
              <a:solidFill>
                <a:srgbClr val="00B050"/>
              </a:solidFill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81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10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50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10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0" dur="50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10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7" dur="50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39" grpId="1"/>
      <p:bldP spid="40" grpId="0"/>
      <p:bldP spid="40" grpId="1"/>
      <p:bldP spid="41" grpId="0"/>
      <p:bldP spid="41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70CC7-A13B-4EE4-89D1-05FA438DE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6FF4A-B361-4DE7-A93C-FE8722D1B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C11D4-1C71-4EE1-AAA1-5F5ED0115B49}"/>
              </a:ext>
            </a:extLst>
          </p:cNvPr>
          <p:cNvSpPr txBox="1"/>
          <p:nvPr/>
        </p:nvSpPr>
        <p:spPr>
          <a:xfrm>
            <a:off x="553358" y="1527628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#include&lt;</a:t>
            </a:r>
            <a:r>
              <a:rPr lang="en-US" dirty="0" err="1">
                <a:cs typeface="Courier New" panose="02070309020205020404" pitchFamily="49" charset="0"/>
              </a:rPr>
              <a:t>stdio.h</a:t>
            </a:r>
            <a:r>
              <a:rPr lang="en-US" dirty="0"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0ACC94-65FD-454B-B067-47EF27592C7B}"/>
              </a:ext>
            </a:extLst>
          </p:cNvPr>
          <p:cNvSpPr txBox="1"/>
          <p:nvPr/>
        </p:nvSpPr>
        <p:spPr>
          <a:xfrm>
            <a:off x="546075" y="356929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student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5A1A8-C449-4FB6-B840-EAE5983CA12A}"/>
              </a:ext>
            </a:extLst>
          </p:cNvPr>
          <p:cNvSpPr txBox="1"/>
          <p:nvPr/>
        </p:nvSpPr>
        <p:spPr>
          <a:xfrm>
            <a:off x="546075" y="3901295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52EBA-E336-4ADA-959C-BC4EFBF80EC2}"/>
              </a:ext>
            </a:extLst>
          </p:cNvPr>
          <p:cNvSpPr txBox="1"/>
          <p:nvPr/>
        </p:nvSpPr>
        <p:spPr>
          <a:xfrm>
            <a:off x="787428" y="4173323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</a:t>
            </a:r>
            <a:r>
              <a:rPr lang="en-US" dirty="0" err="1">
                <a:cs typeface="Courier New" panose="02070309020205020404" pitchFamily="49" charset="0"/>
              </a:rPr>
              <a:t>rollno</a:t>
            </a:r>
            <a:r>
              <a:rPr lang="en-US" dirty="0"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AE65F3-FD57-441F-8DB2-85437DC5DD99}"/>
              </a:ext>
            </a:extLst>
          </p:cNvPr>
          <p:cNvSpPr txBox="1"/>
          <p:nvPr/>
        </p:nvSpPr>
        <p:spPr>
          <a:xfrm>
            <a:off x="774248" y="4483086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float marks;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11D96E-9D82-4D91-93EC-3DAD7C837688}"/>
              </a:ext>
            </a:extLst>
          </p:cNvPr>
          <p:cNvSpPr txBox="1"/>
          <p:nvPr/>
        </p:nvSpPr>
        <p:spPr>
          <a:xfrm>
            <a:off x="546075" y="189696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person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DAAE52-A0E0-4634-8431-0FA11B0929EB}"/>
              </a:ext>
            </a:extLst>
          </p:cNvPr>
          <p:cNvSpPr txBox="1"/>
          <p:nvPr/>
        </p:nvSpPr>
        <p:spPr>
          <a:xfrm>
            <a:off x="555040" y="2190982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2756D7-529E-47B0-AE09-D56372F8849D}"/>
              </a:ext>
            </a:extLst>
          </p:cNvPr>
          <p:cNvSpPr txBox="1"/>
          <p:nvPr/>
        </p:nvSpPr>
        <p:spPr>
          <a:xfrm>
            <a:off x="741057" y="2428547"/>
            <a:ext cx="179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name[20];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7952FC-33CA-4956-A35B-AA2292621A4F}"/>
              </a:ext>
            </a:extLst>
          </p:cNvPr>
          <p:cNvSpPr txBox="1"/>
          <p:nvPr/>
        </p:nvSpPr>
        <p:spPr>
          <a:xfrm>
            <a:off x="741058" y="2708266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age;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314686-54B0-4E27-A025-4945F4AEC946}"/>
              </a:ext>
            </a:extLst>
          </p:cNvPr>
          <p:cNvSpPr txBox="1"/>
          <p:nvPr/>
        </p:nvSpPr>
        <p:spPr>
          <a:xfrm>
            <a:off x="741058" y="2960134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dob[20];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0997A2-81B9-469E-8B19-7F1D721CA0A2}"/>
              </a:ext>
            </a:extLst>
          </p:cNvPr>
          <p:cNvSpPr txBox="1"/>
          <p:nvPr/>
        </p:nvSpPr>
        <p:spPr>
          <a:xfrm>
            <a:off x="546075" y="3236672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44F2E0-613F-4B6C-B40C-FBC9519065FC}"/>
              </a:ext>
            </a:extLst>
          </p:cNvPr>
          <p:cNvSpPr txBox="1"/>
          <p:nvPr/>
        </p:nvSpPr>
        <p:spPr>
          <a:xfrm>
            <a:off x="555040" y="5042313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2BCB1E-6405-4635-AE39-0632FB009655}"/>
              </a:ext>
            </a:extLst>
          </p:cNvPr>
          <p:cNvSpPr txBox="1"/>
          <p:nvPr/>
        </p:nvSpPr>
        <p:spPr>
          <a:xfrm>
            <a:off x="774248" y="4784741"/>
            <a:ext cx="1755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struct person p;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807105-1DC4-4EFE-BE9E-4B7696424B82}"/>
              </a:ext>
            </a:extLst>
          </p:cNvPr>
          <p:cNvSpPr txBox="1"/>
          <p:nvPr/>
        </p:nvSpPr>
        <p:spPr>
          <a:xfrm>
            <a:off x="2903231" y="1500734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void main()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BED155-AEDB-4AA4-9DA4-8EEA28FC9805}"/>
              </a:ext>
            </a:extLst>
          </p:cNvPr>
          <p:cNvSpPr txBox="1"/>
          <p:nvPr/>
        </p:nvSpPr>
        <p:spPr>
          <a:xfrm>
            <a:off x="2918360" y="1832841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A8820B-927F-4FD2-9FF2-23FC76CA9F9E}"/>
              </a:ext>
            </a:extLst>
          </p:cNvPr>
          <p:cNvSpPr txBox="1"/>
          <p:nvPr/>
        </p:nvSpPr>
        <p:spPr>
          <a:xfrm>
            <a:off x="7002771" y="3867009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F84221-A7EA-4388-9A85-3E3A7751043A}"/>
              </a:ext>
            </a:extLst>
          </p:cNvPr>
          <p:cNvSpPr txBox="1"/>
          <p:nvPr/>
        </p:nvSpPr>
        <p:spPr>
          <a:xfrm>
            <a:off x="3058993" y="2071496"/>
            <a:ext cx="213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struct</a:t>
            </a:r>
            <a:r>
              <a:rPr lang="en-US" dirty="0">
                <a:cs typeface="Courier New" panose="02070309020205020404" pitchFamily="49" charset="0"/>
              </a:rPr>
              <a:t> student </a:t>
            </a:r>
            <a:r>
              <a:rPr lang="en-US" dirty="0" err="1">
                <a:cs typeface="Courier New" panose="02070309020205020404" pitchFamily="49" charset="0"/>
              </a:rPr>
              <a:t>st</a:t>
            </a:r>
            <a:r>
              <a:rPr lang="en-US" dirty="0"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547E8A-E747-4841-8CD8-36B5ACEC868A}"/>
              </a:ext>
            </a:extLst>
          </p:cNvPr>
          <p:cNvSpPr txBox="1"/>
          <p:nvPr/>
        </p:nvSpPr>
        <p:spPr>
          <a:xfrm>
            <a:off x="3058993" y="2440828"/>
            <a:ext cx="2816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("Enter Details:\n");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5A0E22-3FB9-4668-BEC3-B03795BC741A}"/>
              </a:ext>
            </a:extLst>
          </p:cNvPr>
          <p:cNvSpPr txBox="1"/>
          <p:nvPr/>
        </p:nvSpPr>
        <p:spPr>
          <a:xfrm>
            <a:off x="3056190" y="2829073"/>
            <a:ext cx="2511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("Enter Name:");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2C02B0-374A-46BA-8B71-FEB7F4E135F7}"/>
              </a:ext>
            </a:extLst>
          </p:cNvPr>
          <p:cNvSpPr txBox="1"/>
          <p:nvPr/>
        </p:nvSpPr>
        <p:spPr>
          <a:xfrm>
            <a:off x="3058993" y="3193130"/>
            <a:ext cx="2816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scanf</a:t>
            </a:r>
            <a:r>
              <a:rPr lang="en-US" dirty="0">
                <a:cs typeface="Courier New" panose="02070309020205020404" pitchFamily="49" charset="0"/>
              </a:rPr>
              <a:t>("%</a:t>
            </a:r>
            <a:r>
              <a:rPr lang="en-US" dirty="0" err="1">
                <a:cs typeface="Courier New" panose="02070309020205020404" pitchFamily="49" charset="0"/>
              </a:rPr>
              <a:t>s",st.p.name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E155EF-28CF-4CC6-9C71-267EF0B9F5C6}"/>
              </a:ext>
            </a:extLst>
          </p:cNvPr>
          <p:cNvSpPr txBox="1"/>
          <p:nvPr/>
        </p:nvSpPr>
        <p:spPr>
          <a:xfrm>
            <a:off x="3058993" y="3525748"/>
            <a:ext cx="213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("Enter Age:");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4E622B-A1CA-4413-B0CF-88D5337ECFCF}"/>
              </a:ext>
            </a:extLst>
          </p:cNvPr>
          <p:cNvSpPr txBox="1"/>
          <p:nvPr/>
        </p:nvSpPr>
        <p:spPr>
          <a:xfrm>
            <a:off x="3056190" y="3855889"/>
            <a:ext cx="235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scanf</a:t>
            </a:r>
            <a:r>
              <a:rPr lang="en-US" dirty="0">
                <a:cs typeface="Courier New" panose="02070309020205020404" pitchFamily="49" charset="0"/>
              </a:rPr>
              <a:t>("%d",&amp;</a:t>
            </a:r>
            <a:r>
              <a:rPr lang="en-US" dirty="0" err="1">
                <a:cs typeface="Courier New" panose="02070309020205020404" pitchFamily="49" charset="0"/>
              </a:rPr>
              <a:t>st.p.age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A0632E-0327-4316-B0D0-DC61457105A0}"/>
              </a:ext>
            </a:extLst>
          </p:cNvPr>
          <p:cNvSpPr txBox="1"/>
          <p:nvPr/>
        </p:nvSpPr>
        <p:spPr>
          <a:xfrm>
            <a:off x="3058993" y="4192799"/>
            <a:ext cx="304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("Enter Date of Birth:");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CF5A12-CD4D-4FED-91A9-FE6438BBA392}"/>
              </a:ext>
            </a:extLst>
          </p:cNvPr>
          <p:cNvSpPr txBox="1"/>
          <p:nvPr/>
        </p:nvSpPr>
        <p:spPr>
          <a:xfrm>
            <a:off x="3058993" y="4521293"/>
            <a:ext cx="2130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scanf</a:t>
            </a:r>
            <a:r>
              <a:rPr lang="en-US" dirty="0">
                <a:cs typeface="Courier New" panose="02070309020205020404" pitchFamily="49" charset="0"/>
              </a:rPr>
              <a:t>("%s",</a:t>
            </a:r>
            <a:r>
              <a:rPr lang="en-US" dirty="0" err="1">
                <a:cs typeface="Courier New" panose="02070309020205020404" pitchFamily="49" charset="0"/>
              </a:rPr>
              <a:t>st.p.dob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613C8B-27D4-4E8B-B4BC-43E07E53585A}"/>
              </a:ext>
            </a:extLst>
          </p:cNvPr>
          <p:cNvSpPr txBox="1"/>
          <p:nvPr/>
        </p:nvSpPr>
        <p:spPr>
          <a:xfrm>
            <a:off x="3056190" y="4836399"/>
            <a:ext cx="2587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("Enter Roll No:");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B7A819-C58A-460A-B336-571F919F1128}"/>
              </a:ext>
            </a:extLst>
          </p:cNvPr>
          <p:cNvSpPr txBox="1"/>
          <p:nvPr/>
        </p:nvSpPr>
        <p:spPr>
          <a:xfrm>
            <a:off x="3056190" y="5161872"/>
            <a:ext cx="2587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scanf</a:t>
            </a:r>
            <a:r>
              <a:rPr lang="en-US" dirty="0">
                <a:cs typeface="Courier New" panose="02070309020205020404" pitchFamily="49" charset="0"/>
              </a:rPr>
              <a:t>("%d",&amp;</a:t>
            </a:r>
            <a:r>
              <a:rPr lang="en-US" dirty="0" err="1">
                <a:cs typeface="Courier New" panose="02070309020205020404" pitchFamily="49" charset="0"/>
              </a:rPr>
              <a:t>st.rollno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6B471F-213A-475D-A0C2-425D190D5501}"/>
              </a:ext>
            </a:extLst>
          </p:cNvPr>
          <p:cNvSpPr txBox="1"/>
          <p:nvPr/>
        </p:nvSpPr>
        <p:spPr>
          <a:xfrm>
            <a:off x="3056190" y="5476978"/>
            <a:ext cx="2511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("Enter Marks:");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92691F-7B9D-42E6-BE43-994E47A059F2}"/>
              </a:ext>
            </a:extLst>
          </p:cNvPr>
          <p:cNvSpPr txBox="1"/>
          <p:nvPr/>
        </p:nvSpPr>
        <p:spPr>
          <a:xfrm>
            <a:off x="3056190" y="5830727"/>
            <a:ext cx="2587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scanf</a:t>
            </a:r>
            <a:r>
              <a:rPr lang="en-US" dirty="0">
                <a:cs typeface="Courier New" panose="02070309020205020404" pitchFamily="49" charset="0"/>
              </a:rPr>
              <a:t>("%f",&amp;</a:t>
            </a:r>
            <a:r>
              <a:rPr lang="en-US" dirty="0" err="1">
                <a:cs typeface="Courier New" panose="02070309020205020404" pitchFamily="49" charset="0"/>
              </a:rPr>
              <a:t>st.marks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0A9EBF-3831-40B8-B2BA-5F24BB6CC738}"/>
              </a:ext>
            </a:extLst>
          </p:cNvPr>
          <p:cNvSpPr txBox="1"/>
          <p:nvPr/>
        </p:nvSpPr>
        <p:spPr>
          <a:xfrm>
            <a:off x="6967952" y="1525716"/>
            <a:ext cx="3141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("\n----Details are----\n");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9434F8-62C3-42F9-B5FC-30C249FFB980}"/>
              </a:ext>
            </a:extLst>
          </p:cNvPr>
          <p:cNvSpPr txBox="1"/>
          <p:nvPr/>
        </p:nvSpPr>
        <p:spPr>
          <a:xfrm>
            <a:off x="6967952" y="1938592"/>
            <a:ext cx="3371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</a:t>
            </a:r>
            <a:r>
              <a:rPr lang="en-US" dirty="0" err="1">
                <a:cs typeface="Courier New" panose="02070309020205020404" pitchFamily="49" charset="0"/>
              </a:rPr>
              <a:t>nName</a:t>
            </a:r>
            <a:r>
              <a:rPr lang="en-US" dirty="0">
                <a:cs typeface="Courier New" panose="02070309020205020404" pitchFamily="49" charset="0"/>
              </a:rPr>
              <a:t>: %</a:t>
            </a:r>
            <a:r>
              <a:rPr lang="en-US" dirty="0" err="1">
                <a:cs typeface="Courier New" panose="02070309020205020404" pitchFamily="49" charset="0"/>
              </a:rPr>
              <a:t>s",st.p.name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BEEEC2-CC39-4BF6-96B6-0CD0C044CC27}"/>
              </a:ext>
            </a:extLst>
          </p:cNvPr>
          <p:cNvSpPr txBox="1"/>
          <p:nvPr/>
        </p:nvSpPr>
        <p:spPr>
          <a:xfrm>
            <a:off x="6984204" y="2297384"/>
            <a:ext cx="321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</a:t>
            </a:r>
            <a:r>
              <a:rPr lang="en-US" dirty="0" err="1">
                <a:cs typeface="Courier New" panose="02070309020205020404" pitchFamily="49" charset="0"/>
              </a:rPr>
              <a:t>nAge</a:t>
            </a:r>
            <a:r>
              <a:rPr lang="en-US" dirty="0">
                <a:cs typeface="Courier New" panose="02070309020205020404" pitchFamily="49" charset="0"/>
              </a:rPr>
              <a:t>: %d",</a:t>
            </a:r>
            <a:r>
              <a:rPr lang="en-US" dirty="0" err="1">
                <a:cs typeface="Courier New" panose="02070309020205020404" pitchFamily="49" charset="0"/>
              </a:rPr>
              <a:t>st.p.age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90A9AA-14A7-4501-955D-E4233E56BEA5}"/>
              </a:ext>
            </a:extLst>
          </p:cNvPr>
          <p:cNvSpPr txBox="1"/>
          <p:nvPr/>
        </p:nvSpPr>
        <p:spPr>
          <a:xfrm>
            <a:off x="6984204" y="2666716"/>
            <a:ext cx="3523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</a:t>
            </a:r>
            <a:r>
              <a:rPr lang="en-US" dirty="0" err="1">
                <a:cs typeface="Courier New" panose="02070309020205020404" pitchFamily="49" charset="0"/>
              </a:rPr>
              <a:t>nDate</a:t>
            </a:r>
            <a:r>
              <a:rPr lang="en-US" dirty="0">
                <a:cs typeface="Courier New" panose="02070309020205020404" pitchFamily="49" charset="0"/>
              </a:rPr>
              <a:t> of Birth: %s",</a:t>
            </a:r>
            <a:r>
              <a:rPr lang="en-US" dirty="0" err="1">
                <a:cs typeface="Courier New" panose="02070309020205020404" pitchFamily="49" charset="0"/>
              </a:rPr>
              <a:t>st.p.dob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128A19-61D5-4779-8733-588A2089BB4D}"/>
              </a:ext>
            </a:extLst>
          </p:cNvPr>
          <p:cNvSpPr txBox="1"/>
          <p:nvPr/>
        </p:nvSpPr>
        <p:spPr>
          <a:xfrm>
            <a:off x="7002771" y="3013739"/>
            <a:ext cx="3235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</a:t>
            </a:r>
            <a:r>
              <a:rPr lang="en-US" dirty="0" err="1">
                <a:cs typeface="Courier New" panose="02070309020205020404" pitchFamily="49" charset="0"/>
              </a:rPr>
              <a:t>nRoll</a:t>
            </a:r>
            <a:r>
              <a:rPr lang="en-US" dirty="0">
                <a:cs typeface="Courier New" panose="02070309020205020404" pitchFamily="49" charset="0"/>
              </a:rPr>
              <a:t> No: %d",</a:t>
            </a:r>
            <a:r>
              <a:rPr lang="en-US" dirty="0" err="1">
                <a:cs typeface="Courier New" panose="02070309020205020404" pitchFamily="49" charset="0"/>
              </a:rPr>
              <a:t>st.rollno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C4B8BB-56C3-4BDE-B316-011BBDCC01D4}"/>
              </a:ext>
            </a:extLst>
          </p:cNvPr>
          <p:cNvSpPr txBox="1"/>
          <p:nvPr/>
        </p:nvSpPr>
        <p:spPr>
          <a:xfrm>
            <a:off x="7002771" y="3401375"/>
            <a:ext cx="3157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("\</a:t>
            </a:r>
            <a:r>
              <a:rPr lang="en-US" dirty="0" err="1">
                <a:cs typeface="Courier New" panose="02070309020205020404" pitchFamily="49" charset="0"/>
              </a:rPr>
              <a:t>nMarks</a:t>
            </a:r>
            <a:r>
              <a:rPr lang="en-US" dirty="0">
                <a:cs typeface="Courier New" panose="02070309020205020404" pitchFamily="49" charset="0"/>
              </a:rPr>
              <a:t>: %f",</a:t>
            </a:r>
            <a:r>
              <a:rPr lang="en-US" dirty="0" err="1">
                <a:cs typeface="Courier New" panose="02070309020205020404" pitchFamily="49" charset="0"/>
              </a:rPr>
              <a:t>st.marks</a:t>
            </a:r>
            <a:r>
              <a:rPr lang="en-US" dirty="0">
                <a:cs typeface="Courier New" panose="02070309020205020404" pitchFamily="49" charset="0"/>
              </a:rPr>
              <a:t>);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BE5AA46-DEAC-48F7-A24E-7D3423CB2DFB}"/>
              </a:ext>
            </a:extLst>
          </p:cNvPr>
          <p:cNvGrpSpPr/>
          <p:nvPr/>
        </p:nvGrpSpPr>
        <p:grpSpPr>
          <a:xfrm>
            <a:off x="4467012" y="1734989"/>
            <a:ext cx="2517933" cy="4777502"/>
            <a:chOff x="4467012" y="1734989"/>
            <a:chExt cx="2517933" cy="4777502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D285081-4A1D-4222-B310-406E16AD31CC}"/>
                </a:ext>
              </a:extLst>
            </p:cNvPr>
            <p:cNvCxnSpPr>
              <a:cxnSpLocks/>
            </p:cNvCxnSpPr>
            <p:nvPr/>
          </p:nvCxnSpPr>
          <p:spPr>
            <a:xfrm>
              <a:off x="4467012" y="6500689"/>
              <a:ext cx="1600200" cy="0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A4CE0D6-B39A-44E5-930D-9BFFC8D232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7012" y="6243601"/>
              <a:ext cx="0" cy="257089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AF74249-8D91-4075-9857-8FDC451344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1487" y="1734989"/>
              <a:ext cx="10942" cy="4777502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D150DDE-8670-4CAE-B2A5-FD15938CACDA}"/>
                </a:ext>
              </a:extLst>
            </p:cNvPr>
            <p:cNvCxnSpPr>
              <a:cxnSpLocks/>
            </p:cNvCxnSpPr>
            <p:nvPr/>
          </p:nvCxnSpPr>
          <p:spPr>
            <a:xfrm>
              <a:off x="6092429" y="1734989"/>
              <a:ext cx="892516" cy="0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680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sz="6000" dirty="0"/>
              <a:t>Union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 </a:t>
            </a:r>
          </a:p>
        </p:txBody>
      </p:sp>
    </p:spTree>
    <p:extLst>
      <p:ext uri="{BB962C8B-B14F-4D97-AF65-F5344CB8AC3E}">
        <p14:creationId xmlns:p14="http://schemas.microsoft.com/office/powerpoint/2010/main" val="809655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E3A74-4CD5-4FB8-97DA-855A036C5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Union</a:t>
            </a:r>
            <a:endParaRPr lang="en-US" dirty="0"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965BC-890E-460F-ACE6-C917D9CAA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accent6"/>
                </a:solidFill>
              </a:rPr>
              <a:t>Union</a:t>
            </a:r>
            <a:r>
              <a:rPr lang="en-US" dirty="0"/>
              <a:t> is user defined data type just like structure. </a:t>
            </a:r>
          </a:p>
          <a:p>
            <a:pPr>
              <a:lnSpc>
                <a:spcPct val="100000"/>
              </a:lnSpc>
            </a:pPr>
            <a:r>
              <a:rPr lang="en-US" dirty="0"/>
              <a:t>In structure each member have it’s own memory where as in </a:t>
            </a:r>
            <a:r>
              <a:rPr lang="en-US" b="1" dirty="0"/>
              <a:t>union</a:t>
            </a:r>
            <a:r>
              <a:rPr lang="en-US" dirty="0"/>
              <a:t> every member </a:t>
            </a:r>
            <a:r>
              <a:rPr lang="en-US" b="1" dirty="0"/>
              <a:t>shares memory</a:t>
            </a:r>
            <a:r>
              <a:rPr lang="en-US" dirty="0"/>
              <a:t>. </a:t>
            </a:r>
          </a:p>
          <a:p>
            <a:pPr>
              <a:lnSpc>
                <a:spcPct val="100000"/>
              </a:lnSpc>
            </a:pPr>
            <a:r>
              <a:rPr lang="en-US" dirty="0"/>
              <a:t>Here every member shares memory, so only one member can be active at a time.</a:t>
            </a:r>
          </a:p>
          <a:p>
            <a:pPr>
              <a:lnSpc>
                <a:spcPct val="100000"/>
              </a:lnSpc>
            </a:pPr>
            <a:r>
              <a:rPr lang="en-US" dirty="0"/>
              <a:t>Unions are used when all the members are not assigned value at the same time.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A829E9-AD0D-4141-ACEC-4176DC8E13C4}"/>
              </a:ext>
            </a:extLst>
          </p:cNvPr>
          <p:cNvSpPr/>
          <p:nvPr/>
        </p:nvSpPr>
        <p:spPr>
          <a:xfrm>
            <a:off x="6723408" y="3119011"/>
            <a:ext cx="5174110" cy="3392383"/>
          </a:xfrm>
          <a:prstGeom prst="roundRect">
            <a:avLst>
              <a:gd name="adj" fmla="val 5047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104973-F4CA-418D-BD4C-41536C38BC1E}"/>
              </a:ext>
            </a:extLst>
          </p:cNvPr>
          <p:cNvSpPr txBox="1"/>
          <p:nvPr/>
        </p:nvSpPr>
        <p:spPr>
          <a:xfrm>
            <a:off x="389008" y="3516468"/>
            <a:ext cx="772351" cy="34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6"/>
                </a:solidFill>
              </a:rPr>
              <a:t>union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CEBB7C-F22D-4E34-8558-7E2998DE0271}"/>
              </a:ext>
            </a:extLst>
          </p:cNvPr>
          <p:cNvSpPr txBox="1"/>
          <p:nvPr/>
        </p:nvSpPr>
        <p:spPr>
          <a:xfrm>
            <a:off x="1114443" y="3532337"/>
            <a:ext cx="894532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student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96AB76-9047-4F7E-A947-70F5C1AC8356}"/>
              </a:ext>
            </a:extLst>
          </p:cNvPr>
          <p:cNvSpPr txBox="1"/>
          <p:nvPr/>
        </p:nvSpPr>
        <p:spPr>
          <a:xfrm>
            <a:off x="461642" y="3806665"/>
            <a:ext cx="299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{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A034B-5919-44C6-8253-0F25A7B0650E}"/>
              </a:ext>
            </a:extLst>
          </p:cNvPr>
          <p:cNvSpPr txBox="1"/>
          <p:nvPr/>
        </p:nvSpPr>
        <p:spPr>
          <a:xfrm>
            <a:off x="461642" y="4950994"/>
            <a:ext cx="419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};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1C0C52-A9C2-4E33-9564-E5E83D25C5B5}"/>
              </a:ext>
            </a:extLst>
          </p:cNvPr>
          <p:cNvSpPr txBox="1"/>
          <p:nvPr/>
        </p:nvSpPr>
        <p:spPr>
          <a:xfrm>
            <a:off x="774827" y="4046344"/>
            <a:ext cx="772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char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095DD-70B7-47CB-9573-3D1CB4049147}"/>
              </a:ext>
            </a:extLst>
          </p:cNvPr>
          <p:cNvSpPr txBox="1"/>
          <p:nvPr/>
        </p:nvSpPr>
        <p:spPr>
          <a:xfrm>
            <a:off x="1755374" y="4046344"/>
            <a:ext cx="1074771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name[30] 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4295FC-4CCB-40CC-A902-5DC98BC95832}"/>
              </a:ext>
            </a:extLst>
          </p:cNvPr>
          <p:cNvSpPr txBox="1"/>
          <p:nvPr/>
        </p:nvSpPr>
        <p:spPr>
          <a:xfrm>
            <a:off x="774827" y="4322244"/>
            <a:ext cx="894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int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B1057B-C4FB-4639-90B0-C5F0EC1933D6}"/>
              </a:ext>
            </a:extLst>
          </p:cNvPr>
          <p:cNvSpPr txBox="1"/>
          <p:nvPr/>
        </p:nvSpPr>
        <p:spPr>
          <a:xfrm>
            <a:off x="1755373" y="4322244"/>
            <a:ext cx="1074771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semester 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442E75-DDC6-41FE-BD84-794722BCDDCF}"/>
              </a:ext>
            </a:extLst>
          </p:cNvPr>
          <p:cNvSpPr txBox="1"/>
          <p:nvPr/>
        </p:nvSpPr>
        <p:spPr>
          <a:xfrm>
            <a:off x="774827" y="4605824"/>
            <a:ext cx="894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A02F0A-2AA1-4759-9D50-DED9BAD3F03E}"/>
              </a:ext>
            </a:extLst>
          </p:cNvPr>
          <p:cNvSpPr txBox="1"/>
          <p:nvPr/>
        </p:nvSpPr>
        <p:spPr>
          <a:xfrm>
            <a:off x="1755372" y="4558730"/>
            <a:ext cx="1160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branch[20] 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78DF30-2599-438F-912F-1C7409C502BD}"/>
              </a:ext>
            </a:extLst>
          </p:cNvPr>
          <p:cNvSpPr txBox="1"/>
          <p:nvPr/>
        </p:nvSpPr>
        <p:spPr>
          <a:xfrm>
            <a:off x="242792" y="5254380"/>
            <a:ext cx="772351" cy="34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union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14190B-2C1D-4624-9085-4F3759BE6618}"/>
              </a:ext>
            </a:extLst>
          </p:cNvPr>
          <p:cNvSpPr txBox="1"/>
          <p:nvPr/>
        </p:nvSpPr>
        <p:spPr>
          <a:xfrm>
            <a:off x="971003" y="5254380"/>
            <a:ext cx="894532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student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1D19E6-092B-4238-90F4-FB68FD16484A}"/>
              </a:ext>
            </a:extLst>
          </p:cNvPr>
          <p:cNvSpPr txBox="1"/>
          <p:nvPr/>
        </p:nvSpPr>
        <p:spPr>
          <a:xfrm>
            <a:off x="1743354" y="5245652"/>
            <a:ext cx="772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s1,s2;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60C2BC-C210-49CE-BD7C-0F96A0E7C48C}"/>
              </a:ext>
            </a:extLst>
          </p:cNvPr>
          <p:cNvSpPr txBox="1"/>
          <p:nvPr/>
        </p:nvSpPr>
        <p:spPr>
          <a:xfrm>
            <a:off x="6835959" y="3171632"/>
            <a:ext cx="457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+mj-lt"/>
                <a:cs typeface="Courier New" panose="02070309020205020404" pitchFamily="49" charset="0"/>
              </a:rPr>
              <a:t>s1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FCAEE3-DC66-4E9E-A3BF-9427C72BA627}"/>
              </a:ext>
            </a:extLst>
          </p:cNvPr>
          <p:cNvCxnSpPr>
            <a:cxnSpLocks/>
          </p:cNvCxnSpPr>
          <p:nvPr/>
        </p:nvCxnSpPr>
        <p:spPr>
          <a:xfrm>
            <a:off x="6935205" y="3592503"/>
            <a:ext cx="1143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CB55ED5-8FFD-4124-9BBB-4C628B55F8E4}"/>
              </a:ext>
            </a:extLst>
          </p:cNvPr>
          <p:cNvSpPr/>
          <p:nvPr/>
        </p:nvSpPr>
        <p:spPr>
          <a:xfrm>
            <a:off x="8207068" y="3308186"/>
            <a:ext cx="1676400" cy="463880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30 bytes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579F70-3EDB-4205-8075-8C44FC14F74E}"/>
              </a:ext>
            </a:extLst>
          </p:cNvPr>
          <p:cNvSpPr/>
          <p:nvPr/>
        </p:nvSpPr>
        <p:spPr>
          <a:xfrm>
            <a:off x="10017938" y="3303677"/>
            <a:ext cx="1676400" cy="594274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/>
              <a:t>Total 30 bytes allocated to s1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37E432-7B3E-444E-B185-5BE661072B0F}"/>
              </a:ext>
            </a:extLst>
          </p:cNvPr>
          <p:cNvSpPr txBox="1"/>
          <p:nvPr/>
        </p:nvSpPr>
        <p:spPr>
          <a:xfrm>
            <a:off x="6824896" y="4791939"/>
            <a:ext cx="457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  <a:latin typeface="+mj-lt"/>
                <a:cs typeface="Courier New" panose="02070309020205020404" pitchFamily="49" charset="0"/>
              </a:rPr>
              <a:t>s2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EF92C5-8092-4C01-ACB0-39BAACACDE1A}"/>
              </a:ext>
            </a:extLst>
          </p:cNvPr>
          <p:cNvSpPr/>
          <p:nvPr/>
        </p:nvSpPr>
        <p:spPr>
          <a:xfrm>
            <a:off x="8141102" y="4934585"/>
            <a:ext cx="1676400" cy="463880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30 bytes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F15959-868F-44CC-8EAB-C205E5C371F8}"/>
              </a:ext>
            </a:extLst>
          </p:cNvPr>
          <p:cNvSpPr/>
          <p:nvPr/>
        </p:nvSpPr>
        <p:spPr>
          <a:xfrm>
            <a:off x="9990072" y="4934585"/>
            <a:ext cx="1676400" cy="622134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/>
              <a:t>Total 30 bytes allocated to s2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F798D85-9B42-4B34-83A7-C30910F19875}"/>
              </a:ext>
            </a:extLst>
          </p:cNvPr>
          <p:cNvCxnSpPr>
            <a:cxnSpLocks/>
          </p:cNvCxnSpPr>
          <p:nvPr/>
        </p:nvCxnSpPr>
        <p:spPr>
          <a:xfrm>
            <a:off x="6924141" y="5148552"/>
            <a:ext cx="1143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06D75B1-AB3C-438E-827E-41BFF15FEAEE}"/>
              </a:ext>
            </a:extLst>
          </p:cNvPr>
          <p:cNvCxnSpPr>
            <a:cxnSpLocks/>
          </p:cNvCxnSpPr>
          <p:nvPr/>
        </p:nvCxnSpPr>
        <p:spPr>
          <a:xfrm>
            <a:off x="5483361" y="4583587"/>
            <a:ext cx="1240047" cy="366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40B9DBC-9C10-49C4-B802-C002964C4203}"/>
              </a:ext>
            </a:extLst>
          </p:cNvPr>
          <p:cNvSpPr txBox="1"/>
          <p:nvPr/>
        </p:nvSpPr>
        <p:spPr>
          <a:xfrm>
            <a:off x="3380241" y="3862702"/>
            <a:ext cx="2088617" cy="1328023"/>
          </a:xfrm>
          <a:prstGeom prst="snip1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just"/>
            <a:r>
              <a:rPr lang="en-US" b="1" dirty="0">
                <a:solidFill>
                  <a:schemeClr val="tx1"/>
                </a:solidFill>
              </a:rPr>
              <a:t>Memory Allocation of Structure members using Structure Variable 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48A4101-981E-4121-8FFE-E733DD5CDAB1}"/>
              </a:ext>
            </a:extLst>
          </p:cNvPr>
          <p:cNvCxnSpPr>
            <a:cxnSpLocks/>
          </p:cNvCxnSpPr>
          <p:nvPr/>
        </p:nvCxnSpPr>
        <p:spPr>
          <a:xfrm flipV="1">
            <a:off x="8207168" y="3867496"/>
            <a:ext cx="0" cy="5073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EBFD5A0-1912-4F2B-BF58-1139B4FB84BE}"/>
              </a:ext>
            </a:extLst>
          </p:cNvPr>
          <p:cNvSpPr txBox="1"/>
          <p:nvPr/>
        </p:nvSpPr>
        <p:spPr>
          <a:xfrm>
            <a:off x="7878249" y="4392922"/>
            <a:ext cx="657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name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14F375-C990-4C70-B811-CB23F1821CA7}"/>
              </a:ext>
            </a:extLst>
          </p:cNvPr>
          <p:cNvSpPr txBox="1"/>
          <p:nvPr/>
        </p:nvSpPr>
        <p:spPr>
          <a:xfrm>
            <a:off x="8493599" y="4392578"/>
            <a:ext cx="9769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semester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71E829-0EF9-4401-9E11-EEF125980899}"/>
              </a:ext>
            </a:extLst>
          </p:cNvPr>
          <p:cNvSpPr txBox="1"/>
          <p:nvPr/>
        </p:nvSpPr>
        <p:spPr>
          <a:xfrm>
            <a:off x="9414799" y="4389453"/>
            <a:ext cx="787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branch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CF78CDD-5F59-4A8E-A795-61A1FA4B99C9}"/>
              </a:ext>
            </a:extLst>
          </p:cNvPr>
          <p:cNvCxnSpPr>
            <a:cxnSpLocks/>
          </p:cNvCxnSpPr>
          <p:nvPr/>
        </p:nvCxnSpPr>
        <p:spPr>
          <a:xfrm flipV="1">
            <a:off x="8952614" y="3859305"/>
            <a:ext cx="0" cy="5073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7050B7C-CB41-465E-A071-E69E84254A69}"/>
              </a:ext>
            </a:extLst>
          </p:cNvPr>
          <p:cNvCxnSpPr>
            <a:cxnSpLocks/>
          </p:cNvCxnSpPr>
          <p:nvPr/>
        </p:nvCxnSpPr>
        <p:spPr>
          <a:xfrm flipV="1">
            <a:off x="9753276" y="3867496"/>
            <a:ext cx="0" cy="5073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C1DC9C8-D77D-4CC4-BAA8-B951637045B6}"/>
              </a:ext>
            </a:extLst>
          </p:cNvPr>
          <p:cNvCxnSpPr>
            <a:cxnSpLocks/>
          </p:cNvCxnSpPr>
          <p:nvPr/>
        </p:nvCxnSpPr>
        <p:spPr>
          <a:xfrm flipV="1">
            <a:off x="8357860" y="5452395"/>
            <a:ext cx="0" cy="5073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8DF3DB7-1691-472D-8FDC-82A0B916D9EB}"/>
              </a:ext>
            </a:extLst>
          </p:cNvPr>
          <p:cNvSpPr txBox="1"/>
          <p:nvPr/>
        </p:nvSpPr>
        <p:spPr>
          <a:xfrm>
            <a:off x="8012139" y="6030442"/>
            <a:ext cx="657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name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EF665D-8666-4F9E-A18D-EDD2CEA2A812}"/>
              </a:ext>
            </a:extLst>
          </p:cNvPr>
          <p:cNvSpPr txBox="1"/>
          <p:nvPr/>
        </p:nvSpPr>
        <p:spPr>
          <a:xfrm>
            <a:off x="8587885" y="6030027"/>
            <a:ext cx="9769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semester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E9B415-0DB0-4080-9BAD-E17CDFF6DF75}"/>
              </a:ext>
            </a:extLst>
          </p:cNvPr>
          <p:cNvSpPr txBox="1"/>
          <p:nvPr/>
        </p:nvSpPr>
        <p:spPr>
          <a:xfrm>
            <a:off x="9473526" y="6030027"/>
            <a:ext cx="787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branch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1D97C97-5836-4A11-A80A-8555E175226C}"/>
              </a:ext>
            </a:extLst>
          </p:cNvPr>
          <p:cNvCxnSpPr>
            <a:cxnSpLocks/>
          </p:cNvCxnSpPr>
          <p:nvPr/>
        </p:nvCxnSpPr>
        <p:spPr>
          <a:xfrm flipV="1">
            <a:off x="9034391" y="5447431"/>
            <a:ext cx="0" cy="5073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0C8E8C2-FBC2-43EF-BDD6-6540C463C122}"/>
              </a:ext>
            </a:extLst>
          </p:cNvPr>
          <p:cNvCxnSpPr>
            <a:cxnSpLocks/>
          </p:cNvCxnSpPr>
          <p:nvPr/>
        </p:nvCxnSpPr>
        <p:spPr>
          <a:xfrm flipV="1">
            <a:off x="9713866" y="5456553"/>
            <a:ext cx="0" cy="5073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5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0" grpId="0" animBg="1"/>
      <p:bldP spid="21" grpId="0" animBg="1"/>
      <p:bldP spid="22" grpId="0"/>
      <p:bldP spid="23" grpId="0" animBg="1"/>
      <p:bldP spid="24" grpId="0" animBg="1"/>
      <p:bldP spid="27" grpId="0" animBg="1"/>
      <p:bldP spid="29" grpId="0"/>
      <p:bldP spid="29" grpId="1"/>
      <p:bldP spid="30" grpId="0"/>
      <p:bldP spid="30" grpId="1"/>
      <p:bldP spid="31" grpId="0"/>
      <p:bldP spid="31" grpId="1"/>
      <p:bldP spid="35" grpId="0"/>
      <p:bldP spid="35" grpId="1"/>
      <p:bldP spid="36" grpId="0"/>
      <p:bldP spid="36" grpId="1"/>
      <p:bldP spid="37" grpId="0"/>
      <p:bldP spid="37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2F7F3-0AB8-4E02-975E-DE4F132E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Access Union’s 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7FADF-667B-4928-8AEB-DA172FD8B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To access union’s member you have to use union’s variable with dot (.) operator.</a:t>
            </a:r>
          </a:p>
          <a:p>
            <a:r>
              <a:rPr lang="en-US" b="1" dirty="0">
                <a:solidFill>
                  <a:schemeClr val="accent6"/>
                </a:solidFill>
                <a:cs typeface="Lohit Gujarati" panose="020B0600000000000000" pitchFamily="34" charset="0"/>
              </a:rPr>
              <a:t>Compile Time Initialization of Union’s Member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6E1ABB-7807-4589-B3D4-712130B8A3EF}"/>
              </a:ext>
            </a:extLst>
          </p:cNvPr>
          <p:cNvSpPr txBox="1"/>
          <p:nvPr/>
        </p:nvSpPr>
        <p:spPr>
          <a:xfrm>
            <a:off x="490392" y="1884147"/>
            <a:ext cx="772351" cy="34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union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36648-6AC9-4DAE-B90C-6F9E47711D1C}"/>
              </a:ext>
            </a:extLst>
          </p:cNvPr>
          <p:cNvSpPr txBox="1"/>
          <p:nvPr/>
        </p:nvSpPr>
        <p:spPr>
          <a:xfrm>
            <a:off x="1218603" y="1884147"/>
            <a:ext cx="894532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student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450018-BD39-4870-9844-D5B33A7F6B2D}"/>
              </a:ext>
            </a:extLst>
          </p:cNvPr>
          <p:cNvSpPr txBox="1"/>
          <p:nvPr/>
        </p:nvSpPr>
        <p:spPr>
          <a:xfrm>
            <a:off x="563026" y="2174344"/>
            <a:ext cx="299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{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939D8C-543B-440B-BC89-9F362B2B3216}"/>
              </a:ext>
            </a:extLst>
          </p:cNvPr>
          <p:cNvSpPr txBox="1"/>
          <p:nvPr/>
        </p:nvSpPr>
        <p:spPr>
          <a:xfrm>
            <a:off x="563026" y="3318673"/>
            <a:ext cx="419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};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1A2B3E-BD6A-4785-85C4-4D82D8CFEF31}"/>
              </a:ext>
            </a:extLst>
          </p:cNvPr>
          <p:cNvSpPr txBox="1"/>
          <p:nvPr/>
        </p:nvSpPr>
        <p:spPr>
          <a:xfrm>
            <a:off x="876211" y="2414023"/>
            <a:ext cx="772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06A48-19B5-41BE-A202-181F47C41854}"/>
              </a:ext>
            </a:extLst>
          </p:cNvPr>
          <p:cNvSpPr txBox="1"/>
          <p:nvPr/>
        </p:nvSpPr>
        <p:spPr>
          <a:xfrm>
            <a:off x="1856758" y="2414023"/>
            <a:ext cx="1074771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name[30] 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31FF0B-E34A-4813-9FAA-9023087A97CD}"/>
              </a:ext>
            </a:extLst>
          </p:cNvPr>
          <p:cNvSpPr txBox="1"/>
          <p:nvPr/>
        </p:nvSpPr>
        <p:spPr>
          <a:xfrm>
            <a:off x="876211" y="2689923"/>
            <a:ext cx="894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int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F2FB32-B13E-4236-8756-01BD30362D45}"/>
              </a:ext>
            </a:extLst>
          </p:cNvPr>
          <p:cNvSpPr txBox="1"/>
          <p:nvPr/>
        </p:nvSpPr>
        <p:spPr>
          <a:xfrm>
            <a:off x="1856757" y="2689923"/>
            <a:ext cx="1074771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semester 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27F167-AC16-417F-8B5E-74657C617A5F}"/>
              </a:ext>
            </a:extLst>
          </p:cNvPr>
          <p:cNvSpPr txBox="1"/>
          <p:nvPr/>
        </p:nvSpPr>
        <p:spPr>
          <a:xfrm>
            <a:off x="876211" y="2973503"/>
            <a:ext cx="894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char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1EB0DF-6001-4A00-95B2-91CC5E262673}"/>
              </a:ext>
            </a:extLst>
          </p:cNvPr>
          <p:cNvSpPr txBox="1"/>
          <p:nvPr/>
        </p:nvSpPr>
        <p:spPr>
          <a:xfrm>
            <a:off x="1856756" y="2926409"/>
            <a:ext cx="1160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branch[30] 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5E391B-2728-4BAB-AC90-C92AF4CF78C4}"/>
              </a:ext>
            </a:extLst>
          </p:cNvPr>
          <p:cNvSpPr txBox="1"/>
          <p:nvPr/>
        </p:nvSpPr>
        <p:spPr>
          <a:xfrm>
            <a:off x="490392" y="3622110"/>
            <a:ext cx="772351" cy="34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union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DEC34D-F647-4D49-861F-1C28EF343F15}"/>
              </a:ext>
            </a:extLst>
          </p:cNvPr>
          <p:cNvSpPr txBox="1"/>
          <p:nvPr/>
        </p:nvSpPr>
        <p:spPr>
          <a:xfrm>
            <a:off x="1218603" y="3622110"/>
            <a:ext cx="894532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student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8DAB78-1130-4C98-9AD0-72EE67F4C352}"/>
              </a:ext>
            </a:extLst>
          </p:cNvPr>
          <p:cNvSpPr txBox="1"/>
          <p:nvPr/>
        </p:nvSpPr>
        <p:spPr>
          <a:xfrm>
            <a:off x="1990954" y="3613382"/>
            <a:ext cx="772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s1;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688D1A-6F76-4EFD-A20D-70DDB7590D63}"/>
              </a:ext>
            </a:extLst>
          </p:cNvPr>
          <p:cNvSpPr txBox="1"/>
          <p:nvPr/>
        </p:nvSpPr>
        <p:spPr>
          <a:xfrm>
            <a:off x="563026" y="4163427"/>
            <a:ext cx="2368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s1.semester = 2;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8231DF-F2A9-430C-BE0B-6C0567969B93}"/>
              </a:ext>
            </a:extLst>
          </p:cNvPr>
          <p:cNvSpPr txBox="1"/>
          <p:nvPr/>
        </p:nvSpPr>
        <p:spPr>
          <a:xfrm>
            <a:off x="562310" y="4519350"/>
            <a:ext cx="2761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strcpy</a:t>
            </a:r>
            <a:r>
              <a:rPr lang="en-US" b="1" dirty="0"/>
              <a:t>(s1.name,“Mahek”);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CD73C8-03E7-46FB-A571-FA238A7F41CF}"/>
              </a:ext>
            </a:extLst>
          </p:cNvPr>
          <p:cNvSpPr txBox="1"/>
          <p:nvPr/>
        </p:nvSpPr>
        <p:spPr>
          <a:xfrm>
            <a:off x="567484" y="4875273"/>
            <a:ext cx="240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strcpy</a:t>
            </a:r>
            <a:r>
              <a:rPr lang="en-US" b="1" dirty="0"/>
              <a:t>(s1.branch,“CE”);</a:t>
            </a:r>
          </a:p>
        </p:txBody>
      </p:sp>
    </p:spTree>
    <p:extLst>
      <p:ext uri="{BB962C8B-B14F-4D97-AF65-F5344CB8AC3E}">
        <p14:creationId xmlns:p14="http://schemas.microsoft.com/office/powerpoint/2010/main" val="50683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C65C11FE-5E3D-4A67-8A30-AAE417044DE5}"/>
              </a:ext>
            </a:extLst>
          </p:cNvPr>
          <p:cNvGrpSpPr/>
          <p:nvPr/>
        </p:nvGrpSpPr>
        <p:grpSpPr>
          <a:xfrm>
            <a:off x="2303633" y="1371802"/>
            <a:ext cx="3911149" cy="5147159"/>
            <a:chOff x="838200" y="403108"/>
            <a:chExt cx="2086084" cy="5147159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EB17650-DE17-4CE1-B0DF-4A4BEDC771A5}"/>
                </a:ext>
              </a:extLst>
            </p:cNvPr>
            <p:cNvCxnSpPr/>
            <p:nvPr/>
          </p:nvCxnSpPr>
          <p:spPr>
            <a:xfrm>
              <a:off x="838200" y="5550266"/>
              <a:ext cx="1600200" cy="0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594BEE3-91E0-41FF-806C-731579CD98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200" y="5050583"/>
              <a:ext cx="0" cy="499683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E4EDEE4-999D-45DD-B4C9-C5A5CC97BE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38400" y="403108"/>
              <a:ext cx="0" cy="5147159"/>
            </a:xfrm>
            <a:prstGeom prst="line">
              <a:avLst/>
            </a:prstGeom>
            <a:ln w="285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4FF20FA-0D09-452D-A0C9-0EE3DD2E5B1B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420550"/>
              <a:ext cx="485884" cy="0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578535B-FB67-4C8F-BB5D-AF46BD2B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7E8C89-04DF-4BD8-9006-A616916C1A87}"/>
              </a:ext>
            </a:extLst>
          </p:cNvPr>
          <p:cNvSpPr txBox="1"/>
          <p:nvPr/>
        </p:nvSpPr>
        <p:spPr>
          <a:xfrm>
            <a:off x="698500" y="863445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#include&lt;</a:t>
            </a:r>
            <a:r>
              <a:rPr lang="en-US" dirty="0" err="1">
                <a:cs typeface="Courier New" panose="02070309020205020404" pitchFamily="49" charset="0"/>
              </a:rPr>
              <a:t>stdio.h</a:t>
            </a:r>
            <a:r>
              <a:rPr lang="en-US" dirty="0"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19ED8-DC55-4243-BBBC-CA1461335FBC}"/>
              </a:ext>
            </a:extLst>
          </p:cNvPr>
          <p:cNvSpPr txBox="1"/>
          <p:nvPr/>
        </p:nvSpPr>
        <p:spPr>
          <a:xfrm>
            <a:off x="698500" y="1237259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union student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D70D7A-66E8-4711-B8D6-B6E11FF21498}"/>
              </a:ext>
            </a:extLst>
          </p:cNvPr>
          <p:cNvSpPr txBox="1"/>
          <p:nvPr/>
        </p:nvSpPr>
        <p:spPr>
          <a:xfrm>
            <a:off x="698500" y="1615556"/>
            <a:ext cx="26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69E682-5317-4C2C-919E-8D911E6EFD81}"/>
              </a:ext>
            </a:extLst>
          </p:cNvPr>
          <p:cNvSpPr txBox="1"/>
          <p:nvPr/>
        </p:nvSpPr>
        <p:spPr>
          <a:xfrm>
            <a:off x="1049617" y="1993378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name[30];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408C88-85B3-498F-AD34-2471F6137C1D}"/>
              </a:ext>
            </a:extLst>
          </p:cNvPr>
          <p:cNvSpPr txBox="1"/>
          <p:nvPr/>
        </p:nvSpPr>
        <p:spPr>
          <a:xfrm>
            <a:off x="1049617" y="2340298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int </a:t>
            </a:r>
            <a:r>
              <a:rPr lang="en-US" dirty="0" err="1">
                <a:cs typeface="Courier New" panose="02070309020205020404" pitchFamily="49" charset="0"/>
              </a:rPr>
              <a:t>sem</a:t>
            </a:r>
            <a:r>
              <a:rPr lang="en-US" dirty="0"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7A291D-9937-48A8-BAF6-325ED7594914}"/>
              </a:ext>
            </a:extLst>
          </p:cNvPr>
          <p:cNvSpPr txBox="1"/>
          <p:nvPr/>
        </p:nvSpPr>
        <p:spPr>
          <a:xfrm>
            <a:off x="1049617" y="2726600"/>
            <a:ext cx="224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char branch[30];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0EB265-B414-42EB-8639-8D7BCF6C5322}"/>
              </a:ext>
            </a:extLst>
          </p:cNvPr>
          <p:cNvSpPr txBox="1"/>
          <p:nvPr/>
        </p:nvSpPr>
        <p:spPr>
          <a:xfrm>
            <a:off x="698500" y="3113377"/>
            <a:ext cx="41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24DFBA-95B3-4015-9744-0C6B4C5E8F62}"/>
              </a:ext>
            </a:extLst>
          </p:cNvPr>
          <p:cNvSpPr txBox="1"/>
          <p:nvPr/>
        </p:nvSpPr>
        <p:spPr>
          <a:xfrm>
            <a:off x="698500" y="3479186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void main()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E1469-A22B-4AAB-8454-286DDCED2813}"/>
              </a:ext>
            </a:extLst>
          </p:cNvPr>
          <p:cNvSpPr txBox="1"/>
          <p:nvPr/>
        </p:nvSpPr>
        <p:spPr>
          <a:xfrm>
            <a:off x="698500" y="3857483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{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1561E1-749B-4A35-B475-D8DA97F28EC7}"/>
              </a:ext>
            </a:extLst>
          </p:cNvPr>
          <p:cNvSpPr txBox="1"/>
          <p:nvPr/>
        </p:nvSpPr>
        <p:spPr>
          <a:xfrm>
            <a:off x="1079500" y="4201307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union student b1;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196B0D-CE2A-4DFE-ADE9-FD0BD544D04C}"/>
              </a:ext>
            </a:extLst>
          </p:cNvPr>
          <p:cNvSpPr txBox="1"/>
          <p:nvPr/>
        </p:nvSpPr>
        <p:spPr>
          <a:xfrm>
            <a:off x="1079500" y="4570639"/>
            <a:ext cx="5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("Enter Name Here”:\n");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9D779B-104F-4FFD-B438-C24C45136E7A}"/>
              </a:ext>
            </a:extLst>
          </p:cNvPr>
          <p:cNvSpPr txBox="1"/>
          <p:nvPr/>
        </p:nvSpPr>
        <p:spPr>
          <a:xfrm>
            <a:off x="1079500" y="4953418"/>
            <a:ext cx="240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gets(b1.name);</a:t>
            </a: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3D3807-CCF1-4928-A700-1FDDF08D751D}"/>
              </a:ext>
            </a:extLst>
          </p:cNvPr>
          <p:cNvSpPr txBox="1"/>
          <p:nvPr/>
        </p:nvSpPr>
        <p:spPr>
          <a:xfrm>
            <a:off x="1079500" y="5319645"/>
            <a:ext cx="4224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nName</a:t>
            </a:r>
            <a:r>
              <a:rPr lang="en-US" dirty="0"/>
              <a:t> of Student is: %s ",b1.name);</a:t>
            </a: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B3BC6F-9CD3-4C3B-8D74-FD311639195C}"/>
              </a:ext>
            </a:extLst>
          </p:cNvPr>
          <p:cNvSpPr txBox="1"/>
          <p:nvPr/>
        </p:nvSpPr>
        <p:spPr>
          <a:xfrm>
            <a:off x="1077105" y="5689172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("Enter Sem Here”:\n");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9FA06C-F66B-4C3D-88A5-EA67A346CBFF}"/>
              </a:ext>
            </a:extLst>
          </p:cNvPr>
          <p:cNvSpPr txBox="1"/>
          <p:nvPr/>
        </p:nvSpPr>
        <p:spPr>
          <a:xfrm>
            <a:off x="5900708" y="3059339"/>
            <a:ext cx="506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3EBD5A-5E13-40F9-9E32-FCFD524AA514}"/>
              </a:ext>
            </a:extLst>
          </p:cNvPr>
          <p:cNvSpPr/>
          <p:nvPr/>
        </p:nvSpPr>
        <p:spPr>
          <a:xfrm>
            <a:off x="6673015" y="3663852"/>
            <a:ext cx="3352800" cy="284238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>
                <a:ln w="0"/>
                <a:solidFill>
                  <a:schemeClr val="accent6"/>
                </a:solidFill>
              </a:rPr>
              <a:t>Output: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Enter Name Here:</a:t>
            </a:r>
          </a:p>
          <a:p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Punit</a:t>
            </a:r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 of Student is: Punit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Enter Sem Here: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Semester is: 2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Enter Branch Here: 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Computer</a:t>
            </a:r>
          </a:p>
          <a:p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Branch of Student is: Computer 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DA6175-CD15-4068-B7DC-D4374C36DDFA}"/>
              </a:ext>
            </a:extLst>
          </p:cNvPr>
          <p:cNvSpPr txBox="1"/>
          <p:nvPr/>
        </p:nvSpPr>
        <p:spPr>
          <a:xfrm>
            <a:off x="6347605" y="1232777"/>
            <a:ext cx="240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scanf(“%d”,&amp;b1.sem);</a:t>
            </a: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E8D78B-8E36-456A-B434-E6687816ACDC}"/>
              </a:ext>
            </a:extLst>
          </p:cNvPr>
          <p:cNvSpPr txBox="1"/>
          <p:nvPr/>
        </p:nvSpPr>
        <p:spPr>
          <a:xfrm>
            <a:off x="6351561" y="1542957"/>
            <a:ext cx="4224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nSemester</a:t>
            </a:r>
            <a:r>
              <a:rPr lang="en-US" dirty="0"/>
              <a:t> is: %d ",b1.sem);</a:t>
            </a: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97F283-6743-4E95-A35E-A6F5A844EE06}"/>
              </a:ext>
            </a:extLst>
          </p:cNvPr>
          <p:cNvSpPr txBox="1"/>
          <p:nvPr/>
        </p:nvSpPr>
        <p:spPr>
          <a:xfrm>
            <a:off x="6347605" y="1905569"/>
            <a:ext cx="5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cs typeface="Courier New" panose="02070309020205020404" pitchFamily="49" charset="0"/>
              </a:rPr>
              <a:t>printf</a:t>
            </a:r>
            <a:r>
              <a:rPr lang="en-US" dirty="0">
                <a:cs typeface="Courier New" panose="02070309020205020404" pitchFamily="49" charset="0"/>
              </a:rPr>
              <a:t>("Enter Branch Here”:\n");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0583B8-07C8-40DC-9228-B884BD41CBFF}"/>
              </a:ext>
            </a:extLst>
          </p:cNvPr>
          <p:cNvSpPr txBox="1"/>
          <p:nvPr/>
        </p:nvSpPr>
        <p:spPr>
          <a:xfrm>
            <a:off x="6347605" y="2288348"/>
            <a:ext cx="240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gets(b1.branch);</a:t>
            </a:r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283FFB-7A34-4783-BA0F-ED3C0572D3F9}"/>
              </a:ext>
            </a:extLst>
          </p:cNvPr>
          <p:cNvSpPr txBox="1"/>
          <p:nvPr/>
        </p:nvSpPr>
        <p:spPr>
          <a:xfrm>
            <a:off x="6347605" y="2637513"/>
            <a:ext cx="4620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nBranch</a:t>
            </a:r>
            <a:r>
              <a:rPr lang="en-US" dirty="0"/>
              <a:t> of Student is: %s ",b1.branch);</a:t>
            </a:r>
            <a:endParaRPr lang="en-US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254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1" grpId="0"/>
      <p:bldP spid="22" grpId="0" animBg="1"/>
      <p:bldP spid="28" grpId="0"/>
      <p:bldP spid="29" grpId="0"/>
      <p:bldP spid="33" grpId="0"/>
      <p:bldP spid="34" grpId="0"/>
      <p:bldP spid="3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983E3B-2511-4243-BA47-B3F8B49B3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dirty="0"/>
              <a:t>Structure v/s Union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EF239-0D7E-40EC-AD1F-DF340BCF1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 </a:t>
            </a:r>
          </a:p>
        </p:txBody>
      </p:sp>
    </p:spTree>
    <p:extLst>
      <p:ext uri="{BB962C8B-B14F-4D97-AF65-F5344CB8AC3E}">
        <p14:creationId xmlns:p14="http://schemas.microsoft.com/office/powerpoint/2010/main" val="1152934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E2CB10-A1FE-41F3-88E8-F7684FFD9369}"/>
              </a:ext>
            </a:extLst>
          </p:cNvPr>
          <p:cNvCxnSpPr>
            <a:cxnSpLocks/>
          </p:cNvCxnSpPr>
          <p:nvPr/>
        </p:nvCxnSpPr>
        <p:spPr>
          <a:xfrm>
            <a:off x="6181513" y="569753"/>
            <a:ext cx="0" cy="5727815"/>
          </a:xfrm>
          <a:prstGeom prst="line">
            <a:avLst/>
          </a:prstGeom>
          <a:noFill/>
          <a:ln w="6350" cap="flat" cmpd="sng" algn="ctr">
            <a:solidFill>
              <a:srgbClr val="909090"/>
            </a:solidFill>
            <a:prstDash val="solid"/>
            <a:miter lim="800000"/>
          </a:ln>
          <a:effectLst/>
        </p:spPr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A6B2E943-3BD5-4850-90A4-79682A26D427}"/>
              </a:ext>
            </a:extLst>
          </p:cNvPr>
          <p:cNvSpPr/>
          <p:nvPr/>
        </p:nvSpPr>
        <p:spPr>
          <a:xfrm>
            <a:off x="5860355" y="559748"/>
            <a:ext cx="642313" cy="642313"/>
          </a:xfrm>
          <a:prstGeom prst="ellipse">
            <a:avLst/>
          </a:prstGeom>
          <a:solidFill>
            <a:schemeClr val="accent4"/>
          </a:solid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v/s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1213C1-EF88-40F9-89A1-56A8FC5B950A}"/>
              </a:ext>
            </a:extLst>
          </p:cNvPr>
          <p:cNvSpPr/>
          <p:nvPr/>
        </p:nvSpPr>
        <p:spPr>
          <a:xfrm>
            <a:off x="1038626" y="687997"/>
            <a:ext cx="4137506" cy="531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</a:t>
            </a:r>
            <a:endParaRPr lang="en-US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B835BE-F509-4779-9A84-D4F054F1DA88}"/>
              </a:ext>
            </a:extLst>
          </p:cNvPr>
          <p:cNvSpPr/>
          <p:nvPr/>
        </p:nvSpPr>
        <p:spPr>
          <a:xfrm>
            <a:off x="7065149" y="687997"/>
            <a:ext cx="4378298" cy="531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Union</a:t>
            </a:r>
            <a:endParaRPr lang="en-US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ohit Gujarati" panose="020B0600000000000000" pitchFamily="34" charset="0"/>
              <a:cs typeface="Lohit Gujarati" panose="020B0600000000000000" pitchFamily="34" charset="0"/>
            </a:endParaRPr>
          </a:p>
        </p:txBody>
      </p:sp>
      <p:graphicFrame>
        <p:nvGraphicFramePr>
          <p:cNvPr id="9" name="Content Placeholder 10">
            <a:extLst>
              <a:ext uri="{FF2B5EF4-FFF2-40B4-BE49-F238E27FC236}">
                <a16:creationId xmlns:a16="http://schemas.microsoft.com/office/drawing/2014/main" id="{075D2E1A-B93B-428C-AF57-480CC024313F}"/>
              </a:ext>
            </a:extLst>
          </p:cNvPr>
          <p:cNvGraphicFramePr>
            <a:graphicFrameLocks/>
          </p:cNvGraphicFramePr>
          <p:nvPr/>
        </p:nvGraphicFramePr>
        <p:xfrm>
          <a:off x="262566" y="1320725"/>
          <a:ext cx="591894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8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algn="just"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}"/>
                      </a:pPr>
                      <a:r>
                        <a:rPr lang="en-US" sz="1800" dirty="0"/>
                        <a:t>Each member is assigned its own unique memory.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gu-IN" sz="1800" b="0" kern="1200" dirty="0">
                          <a:solidFill>
                            <a:schemeClr val="tx1"/>
                          </a:solidFill>
                          <a:effectLst/>
                          <a:latin typeface="Lohit Gujarati" panose="020B0600000000000000" pitchFamily="34" charset="0"/>
                          <a:ea typeface="+mn-ea"/>
                          <a:cs typeface="Lohit Gujarati" panose="020B0600000000000000" pitchFamily="34" charset="0"/>
                        </a:rPr>
                        <a:t> 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Lohit Gujarati" panose="020B0600000000000000" pitchFamily="34" charset="0"/>
                        <a:ea typeface="+mn-ea"/>
                        <a:cs typeface="Lohit Gujarati" panose="020B0600000000000000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Content Placeholder 10">
            <a:extLst>
              <a:ext uri="{FF2B5EF4-FFF2-40B4-BE49-F238E27FC236}">
                <a16:creationId xmlns:a16="http://schemas.microsoft.com/office/drawing/2014/main" id="{DFB82EC4-0498-4D11-9F9D-0A5C27204F9C}"/>
              </a:ext>
            </a:extLst>
          </p:cNvPr>
          <p:cNvGraphicFramePr>
            <a:graphicFrameLocks/>
          </p:cNvGraphicFramePr>
          <p:nvPr/>
        </p:nvGraphicFramePr>
        <p:xfrm>
          <a:off x="6294825" y="1320725"/>
          <a:ext cx="591894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8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algn="just"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}"/>
                      </a:pPr>
                      <a:r>
                        <a:rPr lang="en-US" sz="1800" dirty="0"/>
                        <a:t>All members share the same memory</a:t>
                      </a:r>
                      <a:r>
                        <a:rPr lang="gu-IN" sz="1800" dirty="0"/>
                        <a:t>.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Content Placeholder 10">
            <a:extLst>
              <a:ext uri="{FF2B5EF4-FFF2-40B4-BE49-F238E27FC236}">
                <a16:creationId xmlns:a16="http://schemas.microsoft.com/office/drawing/2014/main" id="{C8684355-A332-44FB-AF94-92A9DA59CAF0}"/>
              </a:ext>
            </a:extLst>
          </p:cNvPr>
          <p:cNvGraphicFramePr>
            <a:graphicFrameLocks/>
          </p:cNvGraphicFramePr>
          <p:nvPr/>
        </p:nvGraphicFramePr>
        <p:xfrm>
          <a:off x="262566" y="1953453"/>
          <a:ext cx="591894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8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algn="just"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}"/>
                      </a:pPr>
                      <a:r>
                        <a:rPr lang="en-US" sz="1800" dirty="0"/>
                        <a:t>Total memory required by all members is allocated.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Content Placeholder 10">
            <a:extLst>
              <a:ext uri="{FF2B5EF4-FFF2-40B4-BE49-F238E27FC236}">
                <a16:creationId xmlns:a16="http://schemas.microsoft.com/office/drawing/2014/main" id="{74940EDF-AD77-4703-B163-AF08B5414525}"/>
              </a:ext>
            </a:extLst>
          </p:cNvPr>
          <p:cNvGraphicFramePr>
            <a:graphicFrameLocks/>
          </p:cNvGraphicFramePr>
          <p:nvPr/>
        </p:nvGraphicFramePr>
        <p:xfrm>
          <a:off x="6294825" y="1953453"/>
          <a:ext cx="591894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8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algn="just"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}"/>
                      </a:pPr>
                      <a:r>
                        <a:rPr lang="en-US" sz="1800" dirty="0"/>
                        <a:t>Maximum memory required by the member is allocated.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Content Placeholder 10">
            <a:extLst>
              <a:ext uri="{FF2B5EF4-FFF2-40B4-BE49-F238E27FC236}">
                <a16:creationId xmlns:a16="http://schemas.microsoft.com/office/drawing/2014/main" id="{C076F92B-5A91-4093-9665-8F390B4DA41B}"/>
              </a:ext>
            </a:extLst>
          </p:cNvPr>
          <p:cNvGraphicFramePr>
            <a:graphicFrameLocks/>
          </p:cNvGraphicFramePr>
          <p:nvPr/>
        </p:nvGraphicFramePr>
        <p:xfrm>
          <a:off x="262566" y="2581237"/>
          <a:ext cx="591894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8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algn="just"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}"/>
                      </a:pPr>
                      <a:r>
                        <a:rPr lang="en-US" sz="1800" dirty="0"/>
                        <a:t>All members are active at a time.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Content Placeholder 10">
            <a:extLst>
              <a:ext uri="{FF2B5EF4-FFF2-40B4-BE49-F238E27FC236}">
                <a16:creationId xmlns:a16="http://schemas.microsoft.com/office/drawing/2014/main" id="{FB3E1236-2FB4-4E6F-A368-D5B0A731C906}"/>
              </a:ext>
            </a:extLst>
          </p:cNvPr>
          <p:cNvGraphicFramePr>
            <a:graphicFrameLocks/>
          </p:cNvGraphicFramePr>
          <p:nvPr/>
        </p:nvGraphicFramePr>
        <p:xfrm>
          <a:off x="6294825" y="2581237"/>
          <a:ext cx="591894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8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algn="just"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}"/>
                      </a:pPr>
                      <a:r>
                        <a:rPr lang="en-US" sz="1800" dirty="0"/>
                        <a:t>Only one member is active a time</a:t>
                      </a:r>
                      <a:r>
                        <a:rPr lang="gu-IN" sz="1800" dirty="0"/>
                        <a:t>.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Content Placeholder 10">
            <a:extLst>
              <a:ext uri="{FF2B5EF4-FFF2-40B4-BE49-F238E27FC236}">
                <a16:creationId xmlns:a16="http://schemas.microsoft.com/office/drawing/2014/main" id="{32F71EA6-6715-4BF3-9DCC-0B84E36A4337}"/>
              </a:ext>
            </a:extLst>
          </p:cNvPr>
          <p:cNvGraphicFramePr>
            <a:graphicFrameLocks/>
          </p:cNvGraphicFramePr>
          <p:nvPr/>
        </p:nvGraphicFramePr>
        <p:xfrm>
          <a:off x="262566" y="3188563"/>
          <a:ext cx="591894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8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algn="just"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}"/>
                      </a:pPr>
                      <a:r>
                        <a:rPr lang="en-US" sz="1800" dirty="0"/>
                        <a:t>Require more memory.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Content Placeholder 10">
            <a:extLst>
              <a:ext uri="{FF2B5EF4-FFF2-40B4-BE49-F238E27FC236}">
                <a16:creationId xmlns:a16="http://schemas.microsoft.com/office/drawing/2014/main" id="{8383F292-31EC-4F2E-A772-27C99849FE6C}"/>
              </a:ext>
            </a:extLst>
          </p:cNvPr>
          <p:cNvGraphicFramePr>
            <a:graphicFrameLocks/>
          </p:cNvGraphicFramePr>
          <p:nvPr/>
        </p:nvGraphicFramePr>
        <p:xfrm>
          <a:off x="6294825" y="3188563"/>
          <a:ext cx="591894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8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 algn="just">
                        <a:buClr>
                          <a:schemeClr val="accent6"/>
                        </a:buClr>
                        <a:buFont typeface="Wingdings 3" panose="05040102010807070707" pitchFamily="18" charset="2"/>
                        <a:buChar char="}"/>
                      </a:pPr>
                      <a:r>
                        <a:rPr lang="en-US" sz="1800" dirty="0"/>
                        <a:t>Requires less memory</a:t>
                      </a:r>
                      <a:r>
                        <a:rPr lang="gu-IN" sz="1800" dirty="0"/>
                        <a:t>.</a:t>
                      </a:r>
                      <a:endParaRPr lang="en-US" sz="18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2D5E0160-27BE-4BEA-A1A8-934E5C3CE9F1}"/>
              </a:ext>
            </a:extLst>
          </p:cNvPr>
          <p:cNvSpPr txBox="1"/>
          <p:nvPr/>
        </p:nvSpPr>
        <p:spPr>
          <a:xfrm>
            <a:off x="6481640" y="3658109"/>
            <a:ext cx="772351" cy="34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6"/>
                </a:solidFill>
              </a:rPr>
              <a:t>union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2523A8-CBEF-4121-BA40-9FCA77949636}"/>
              </a:ext>
            </a:extLst>
          </p:cNvPr>
          <p:cNvSpPr txBox="1"/>
          <p:nvPr/>
        </p:nvSpPr>
        <p:spPr>
          <a:xfrm>
            <a:off x="7207075" y="3673978"/>
            <a:ext cx="894532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student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E84EE5-D018-40E5-9BB9-008915EDA474}"/>
              </a:ext>
            </a:extLst>
          </p:cNvPr>
          <p:cNvSpPr txBox="1"/>
          <p:nvPr/>
        </p:nvSpPr>
        <p:spPr>
          <a:xfrm>
            <a:off x="6554274" y="3948306"/>
            <a:ext cx="299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{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5FB954-630E-4BB5-896D-9BDF1AC3A26E}"/>
              </a:ext>
            </a:extLst>
          </p:cNvPr>
          <p:cNvSpPr txBox="1"/>
          <p:nvPr/>
        </p:nvSpPr>
        <p:spPr>
          <a:xfrm>
            <a:off x="6554274" y="5092635"/>
            <a:ext cx="419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};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41EE05-4412-482E-8857-0E89A9139447}"/>
              </a:ext>
            </a:extLst>
          </p:cNvPr>
          <p:cNvSpPr txBox="1"/>
          <p:nvPr/>
        </p:nvSpPr>
        <p:spPr>
          <a:xfrm>
            <a:off x="6867459" y="4187985"/>
            <a:ext cx="772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char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A51D86-F9B1-481B-B2FA-A8AB847DFB35}"/>
              </a:ext>
            </a:extLst>
          </p:cNvPr>
          <p:cNvSpPr txBox="1"/>
          <p:nvPr/>
        </p:nvSpPr>
        <p:spPr>
          <a:xfrm>
            <a:off x="7848006" y="4187985"/>
            <a:ext cx="1074771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name[30] ;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EBB33A-7D82-42DD-99E7-068C8D3290AE}"/>
              </a:ext>
            </a:extLst>
          </p:cNvPr>
          <p:cNvSpPr txBox="1"/>
          <p:nvPr/>
        </p:nvSpPr>
        <p:spPr>
          <a:xfrm>
            <a:off x="6867459" y="4463885"/>
            <a:ext cx="894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int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A7CE9E-CA06-44CD-B139-06B71AE50551}"/>
              </a:ext>
            </a:extLst>
          </p:cNvPr>
          <p:cNvSpPr txBox="1"/>
          <p:nvPr/>
        </p:nvSpPr>
        <p:spPr>
          <a:xfrm>
            <a:off x="7848005" y="4463885"/>
            <a:ext cx="1074771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semester ;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86F73C-38AA-4C3C-8BFD-07BA352C8B60}"/>
              </a:ext>
            </a:extLst>
          </p:cNvPr>
          <p:cNvSpPr txBox="1"/>
          <p:nvPr/>
        </p:nvSpPr>
        <p:spPr>
          <a:xfrm>
            <a:off x="6867459" y="4747465"/>
            <a:ext cx="894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char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2B6787-F430-411A-A5E1-C5FE69085632}"/>
              </a:ext>
            </a:extLst>
          </p:cNvPr>
          <p:cNvSpPr txBox="1"/>
          <p:nvPr/>
        </p:nvSpPr>
        <p:spPr>
          <a:xfrm>
            <a:off x="7848004" y="4700371"/>
            <a:ext cx="1160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branch[20] ;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DFF631-B120-431A-BACD-AD6AC766AB59}"/>
              </a:ext>
            </a:extLst>
          </p:cNvPr>
          <p:cNvSpPr txBox="1"/>
          <p:nvPr/>
        </p:nvSpPr>
        <p:spPr>
          <a:xfrm>
            <a:off x="580229" y="3764732"/>
            <a:ext cx="9725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6"/>
                </a:solidFill>
              </a:rPr>
              <a:t>structure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591DED-C1CD-4198-88B8-432B00EA3F56}"/>
              </a:ext>
            </a:extLst>
          </p:cNvPr>
          <p:cNvSpPr txBox="1"/>
          <p:nvPr/>
        </p:nvSpPr>
        <p:spPr>
          <a:xfrm>
            <a:off x="1494347" y="3780601"/>
            <a:ext cx="894532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student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5DD6B8-9C6E-4CFA-BB44-8B26E15AF3DD}"/>
              </a:ext>
            </a:extLst>
          </p:cNvPr>
          <p:cNvSpPr txBox="1"/>
          <p:nvPr/>
        </p:nvSpPr>
        <p:spPr>
          <a:xfrm>
            <a:off x="652863" y="4054929"/>
            <a:ext cx="299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{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B592A9F-80D3-48EE-AC12-E36AA8695B0E}"/>
              </a:ext>
            </a:extLst>
          </p:cNvPr>
          <p:cNvSpPr txBox="1"/>
          <p:nvPr/>
        </p:nvSpPr>
        <p:spPr>
          <a:xfrm>
            <a:off x="652863" y="5199258"/>
            <a:ext cx="419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};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B0C74A-D7FF-4614-84ED-75DCB02175FB}"/>
              </a:ext>
            </a:extLst>
          </p:cNvPr>
          <p:cNvSpPr txBox="1"/>
          <p:nvPr/>
        </p:nvSpPr>
        <p:spPr>
          <a:xfrm>
            <a:off x="966048" y="4294608"/>
            <a:ext cx="7723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char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BEE0D1-9D94-4799-9534-B0A951889968}"/>
              </a:ext>
            </a:extLst>
          </p:cNvPr>
          <p:cNvSpPr txBox="1"/>
          <p:nvPr/>
        </p:nvSpPr>
        <p:spPr>
          <a:xfrm>
            <a:off x="1946595" y="4294608"/>
            <a:ext cx="1074771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name[30] ;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EEB09A-DCB0-406D-A3BB-3AB62751ADC5}"/>
              </a:ext>
            </a:extLst>
          </p:cNvPr>
          <p:cNvSpPr txBox="1"/>
          <p:nvPr/>
        </p:nvSpPr>
        <p:spPr>
          <a:xfrm>
            <a:off x="966048" y="4570508"/>
            <a:ext cx="894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int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34A1FB-E75D-4606-B68E-56E5F5EDEB04}"/>
              </a:ext>
            </a:extLst>
          </p:cNvPr>
          <p:cNvSpPr txBox="1"/>
          <p:nvPr/>
        </p:nvSpPr>
        <p:spPr>
          <a:xfrm>
            <a:off x="1946594" y="4570508"/>
            <a:ext cx="1074771" cy="34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semester ;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0B5192-9292-41ED-9F67-C1C592AB3D68}"/>
              </a:ext>
            </a:extLst>
          </p:cNvPr>
          <p:cNvSpPr txBox="1"/>
          <p:nvPr/>
        </p:nvSpPr>
        <p:spPr>
          <a:xfrm>
            <a:off x="966048" y="4854088"/>
            <a:ext cx="894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char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619707-6028-47EF-885C-7BCD395A5259}"/>
              </a:ext>
            </a:extLst>
          </p:cNvPr>
          <p:cNvSpPr txBox="1"/>
          <p:nvPr/>
        </p:nvSpPr>
        <p:spPr>
          <a:xfrm>
            <a:off x="1946593" y="4806994"/>
            <a:ext cx="1160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branch[20] ;</a:t>
            </a:r>
          </a:p>
        </p:txBody>
      </p:sp>
    </p:spTree>
    <p:extLst>
      <p:ext uri="{BB962C8B-B14F-4D97-AF65-F5344CB8AC3E}">
        <p14:creationId xmlns:p14="http://schemas.microsoft.com/office/powerpoint/2010/main" val="195049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7076983-6098-4D75-8E3B-99B088ABB8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dirty="0" smtClean="0"/>
              <a:t>shok.badresiya@darshan.ac.in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05BAC4B-D894-4260-872E-77744EE844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9913131691</a:t>
            </a:r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C2BE0A6-15FF-4CCA-8B35-BD3CE334D04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211251"/>
            <a:ext cx="1353599" cy="1353599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E20B01-2C98-438F-91A2-5BCFB793FE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smtClean="0"/>
              <a:t>Ashok G </a:t>
            </a:r>
            <a:r>
              <a:rPr lang="en-US" dirty="0" err="1" smtClean="0"/>
              <a:t>Badresiya</a:t>
            </a:r>
            <a:endParaRPr lang="en-US" dirty="0"/>
          </a:p>
        </p:txBody>
      </p:sp>
      <p:sp>
        <p:nvSpPr>
          <p:cNvPr id="15" name="Text Placeholder 1026">
            <a:extLst>
              <a:ext uri="{FF2B5EF4-FFF2-40B4-BE49-F238E27FC236}">
                <a16:creationId xmlns:a16="http://schemas.microsoft.com/office/drawing/2014/main" id="{508C39DE-82EA-4947-BA58-85EB27511A40}"/>
              </a:ext>
            </a:extLst>
          </p:cNvPr>
          <p:cNvSpPr txBox="1">
            <a:spLocks/>
          </p:cNvSpPr>
          <p:nvPr/>
        </p:nvSpPr>
        <p:spPr>
          <a:xfrm>
            <a:off x="2772358" y="0"/>
            <a:ext cx="4646358" cy="7346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 Programming - </a:t>
            </a:r>
            <a:r>
              <a:rPr lang="en-US" b="1" dirty="0" smtClean="0"/>
              <a:t>II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(CP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II)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2304CS201 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07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0.4|3.3|3.2|16"/>
</p:tagLst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2968</TotalTime>
  <Words>1664</Words>
  <Application>Microsoft Office PowerPoint</Application>
  <PresentationFormat>Widescreen</PresentationFormat>
  <Paragraphs>438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Segoe UI Black</vt:lpstr>
      <vt:lpstr>Wingdings</vt:lpstr>
      <vt:lpstr>Calibri</vt:lpstr>
      <vt:lpstr>Arial</vt:lpstr>
      <vt:lpstr>Roboto Condensed</vt:lpstr>
      <vt:lpstr>Wingdings 3</vt:lpstr>
      <vt:lpstr>Roboto Condensed Light</vt:lpstr>
      <vt:lpstr>Lohit Gujarati</vt:lpstr>
      <vt:lpstr>Wingdings 2</vt:lpstr>
      <vt:lpstr>Courier New</vt:lpstr>
      <vt:lpstr>Open Sans</vt:lpstr>
      <vt:lpstr>Segoe UI</vt:lpstr>
      <vt:lpstr>Office Theme</vt:lpstr>
      <vt:lpstr>Unit-2  Structure and Union</vt:lpstr>
      <vt:lpstr>PowerPoint Presentation</vt:lpstr>
      <vt:lpstr>Structure</vt:lpstr>
      <vt:lpstr>Need of Structure</vt:lpstr>
      <vt:lpstr>Declaration of Structure</vt:lpstr>
      <vt:lpstr>Declaration of Structure’s variable</vt:lpstr>
      <vt:lpstr>Access Structure’s Member</vt:lpstr>
      <vt:lpstr>Example</vt:lpstr>
      <vt:lpstr>Array of Structure</vt:lpstr>
      <vt:lpstr>Array of Structure</vt:lpstr>
      <vt:lpstr>Example</vt:lpstr>
      <vt:lpstr>Arrays within Structure</vt:lpstr>
      <vt:lpstr>Arrays Within Structure</vt:lpstr>
      <vt:lpstr>Example</vt:lpstr>
      <vt:lpstr>Nested Structure</vt:lpstr>
      <vt:lpstr>Nested Structure</vt:lpstr>
      <vt:lpstr>Example</vt:lpstr>
      <vt:lpstr>Union</vt:lpstr>
      <vt:lpstr>Union</vt:lpstr>
      <vt:lpstr>Access Union’s Member</vt:lpstr>
      <vt:lpstr>Example</vt:lpstr>
      <vt:lpstr>Structure v/s Union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418</cp:revision>
  <dcterms:created xsi:type="dcterms:W3CDTF">2020-05-01T05:09:15Z</dcterms:created>
  <dcterms:modified xsi:type="dcterms:W3CDTF">2026-01-11T10:41:33Z</dcterms:modified>
</cp:coreProperties>
</file>