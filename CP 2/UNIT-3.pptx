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537" r:id="rId2"/>
    <p:sldId id="538" r:id="rId3"/>
    <p:sldId id="286" r:id="rId4"/>
    <p:sldId id="287" r:id="rId5"/>
    <p:sldId id="360" r:id="rId6"/>
    <p:sldId id="362" r:id="rId7"/>
    <p:sldId id="359" r:id="rId8"/>
    <p:sldId id="407" r:id="rId9"/>
    <p:sldId id="409" r:id="rId10"/>
    <p:sldId id="410" r:id="rId11"/>
    <p:sldId id="411" r:id="rId12"/>
    <p:sldId id="413" r:id="rId13"/>
    <p:sldId id="414" r:id="rId14"/>
    <p:sldId id="415" r:id="rId15"/>
    <p:sldId id="416" r:id="rId16"/>
    <p:sldId id="417" r:id="rId17"/>
    <p:sldId id="418" r:id="rId18"/>
    <p:sldId id="386" r:id="rId19"/>
    <p:sldId id="387" r:id="rId20"/>
    <p:sldId id="388" r:id="rId21"/>
    <p:sldId id="389" r:id="rId22"/>
    <p:sldId id="419" r:id="rId23"/>
    <p:sldId id="535" r:id="rId24"/>
    <p:sldId id="536" r:id="rId25"/>
    <p:sldId id="291" r:id="rId26"/>
    <p:sldId id="397" r:id="rId27"/>
    <p:sldId id="398" r:id="rId28"/>
    <p:sldId id="400" r:id="rId29"/>
    <p:sldId id="401" r:id="rId30"/>
    <p:sldId id="402" r:id="rId31"/>
    <p:sldId id="403" r:id="rId32"/>
    <p:sldId id="404" r:id="rId33"/>
    <p:sldId id="405" r:id="rId34"/>
    <p:sldId id="539" r:id="rId35"/>
  </p:sldIdLst>
  <p:sldSz cx="12192000" cy="6858000"/>
  <p:notesSz cx="6858000" cy="9144000"/>
  <p:embeddedFontLst>
    <p:embeddedFont>
      <p:font typeface="Roboto Condensed" panose="02000000000000000000" pitchFamily="2" charset="0"/>
      <p:regular r:id="rId38"/>
      <p:bold r:id="rId39"/>
      <p:italic r:id="rId40"/>
      <p:boldItalic r:id="rId41"/>
    </p:embeddedFont>
    <p:embeddedFont>
      <p:font typeface="Wingdings 3" panose="05040102010807070707" pitchFamily="18" charset="2"/>
      <p:regular r:id="rId42"/>
    </p:embeddedFont>
    <p:embeddedFont>
      <p:font typeface="Lohit Gujarati" panose="020B0604020202020204" charset="0"/>
      <p:regular r:id="rId43"/>
    </p:embeddedFont>
    <p:embeddedFont>
      <p:font typeface="Wingdings 2" panose="05020102010507070707" pitchFamily="18" charset="2"/>
      <p:regular r:id="rId44"/>
    </p:embeddedFont>
    <p:embeddedFont>
      <p:font typeface="Roboto Condensed Light" panose="02000000000000000000" pitchFamily="2" charset="0"/>
      <p:regular r:id="rId45"/>
      <p:italic r:id="rId46"/>
    </p:embeddedFont>
    <p:embeddedFont>
      <p:font typeface="Segoe UI Black" panose="020B0A02040204020203" pitchFamily="34" charset="0"/>
      <p:bold r:id="rId47"/>
      <p:boldItalic r:id="rId48"/>
    </p:embeddedFont>
    <p:embeddedFont>
      <p:font typeface="Calibri" panose="020F0502020204030204" pitchFamily="34" charset="0"/>
      <p:regular r:id="rId49"/>
      <p:bold r:id="rId50"/>
      <p:italic r:id="rId51"/>
      <p:boldItalic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nobvBkS3qcpZozQtNSmxGg==" hashData="QERqG9EBw/P8bl/Z+FK+PysRkHDYR7wVgB02bqnFaK9IGBLOFQG7mec1vv8eB6csFsRWVF/c1D1/JfCA9VP1Wg=="/>
  <p:extLst>
    <p:ext uri="{521415D9-36F7-43E2-AB2F-B90AF26B5E84}">
      <p14:sectionLst xmlns:p14="http://schemas.microsoft.com/office/powerpoint/2010/main">
        <p14:section name="Default Section" id="{66779A29-97DC-4E92-A70E-5FA0C5AFE649}">
          <p14:sldIdLst>
            <p14:sldId id="537"/>
            <p14:sldId id="538"/>
          </p14:sldIdLst>
        </p14:section>
        <p14:section name="Pointer" id="{E452BCBE-BE13-469C-9023-F77F574D6FB4}">
          <p14:sldIdLst>
            <p14:sldId id="286"/>
            <p14:sldId id="287"/>
            <p14:sldId id="360"/>
            <p14:sldId id="362"/>
            <p14:sldId id="359"/>
            <p14:sldId id="407"/>
            <p14:sldId id="409"/>
          </p14:sldIdLst>
        </p14:section>
        <p14:section name="Pointer Expression" id="{F935946C-C0B4-480F-A9D1-CA24BB43FDD7}">
          <p14:sldIdLst>
            <p14:sldId id="410"/>
            <p14:sldId id="411"/>
            <p14:sldId id="413"/>
            <p14:sldId id="414"/>
            <p14:sldId id="415"/>
            <p14:sldId id="416"/>
            <p14:sldId id="417"/>
            <p14:sldId id="418"/>
          </p14:sldIdLst>
        </p14:section>
        <p14:section name="Array of Pointer" id="{4B5B8830-AA6A-41E8-B982-CE8A052AD65E}">
          <p14:sldIdLst>
            <p14:sldId id="386"/>
            <p14:sldId id="387"/>
            <p14:sldId id="388"/>
            <p14:sldId id="389"/>
            <p14:sldId id="419"/>
          </p14:sldIdLst>
        </p14:section>
        <p14:section name="Pointer to Structure" id="{7A2E70B0-4FBB-4014-97A2-DC4B186B733D}">
          <p14:sldIdLst>
            <p14:sldId id="535"/>
            <p14:sldId id="536"/>
            <p14:sldId id="291"/>
          </p14:sldIdLst>
        </p14:section>
        <p14:section name="Dynamic Memory Allocation" id="{86D8DECB-A768-45CE-8F06-9DCA53A3EA2F}">
          <p14:sldIdLst>
            <p14:sldId id="397"/>
            <p14:sldId id="398"/>
            <p14:sldId id="400"/>
            <p14:sldId id="401"/>
            <p14:sldId id="402"/>
            <p14:sldId id="403"/>
            <p14:sldId id="404"/>
            <p14:sldId id="405"/>
            <p14:sldId id="53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D71E3F"/>
    <a:srgbClr val="607D8B"/>
    <a:srgbClr val="1D6BA5"/>
    <a:srgbClr val="ED524F"/>
    <a:srgbClr val="1D3064"/>
    <a:srgbClr val="301B92"/>
    <a:srgbClr val="673BB7"/>
    <a:srgbClr val="B71B1C"/>
    <a:srgbClr val="F543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38" autoAdjust="0"/>
    <p:restoredTop sz="88065" autoAdjust="0"/>
  </p:normalViewPr>
  <p:slideViewPr>
    <p:cSldViewPr snapToGrid="0">
      <p:cViewPr varScale="1">
        <p:scale>
          <a:sx n="73" d="100"/>
          <a:sy n="73" d="100"/>
        </p:scale>
        <p:origin x="5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282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2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C218C1C-969C-4E59-8027-1BA3F0D38C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6ADB10-FD95-4CEB-98E7-4FA837CE41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F8433-EE2A-41B9-BA56-D2396856AE90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6D3071-CA2D-4040-8804-09E92AEBFB5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5E4A6F-F650-4C9C-829F-3B9F190B180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FE52D4-162F-44F0-919A-0F008E6096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9726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openxmlformats.org/officeDocument/2006/relationships/image" Target="../media/image13.png"/><Relationship Id="rId5" Type="http://schemas.openxmlformats.org/officeDocument/2006/relationships/image" Target="../media/image3.png"/><Relationship Id="rId10" Type="http://schemas.openxmlformats.org/officeDocument/2006/relationships/image" Target="../media/image6.jpeg"/><Relationship Id="rId4" Type="http://schemas.openxmlformats.org/officeDocument/2006/relationships/image" Target="../media/image12.png"/><Relationship Id="rId9" Type="http://schemas.openxmlformats.org/officeDocument/2006/relationships/image" Target="../media/image14.jpeg"/></Relationships>
</file>

<file path=ppt/slideLayouts/_rels/slideLayout2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35830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Darshan</a:t>
            </a:r>
            <a:r>
              <a:rPr lang="en-US" sz="1600" dirty="0" smtClean="0"/>
              <a:t> Institute of Computer Application</a:t>
            </a:r>
            <a:endParaRPr lang="en-US" sz="1600" dirty="0"/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05CFAC-3AD3-4F0A-9168-2613BFEAE065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35672" y="2062801"/>
            <a:ext cx="1786910" cy="178691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F738263-46D4-4D28-9615-BF958908128D}"/>
              </a:ext>
            </a:extLst>
          </p:cNvPr>
          <p:cNvSpPr txBox="1"/>
          <p:nvPr userDrawn="1"/>
        </p:nvSpPr>
        <p:spPr>
          <a:xfrm>
            <a:off x="1837677" y="5521352"/>
            <a:ext cx="31470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Department of</a:t>
            </a:r>
            <a:r>
              <a:rPr lang="en-US" sz="1600" baseline="0" dirty="0" smtClean="0"/>
              <a:t> Computer Application</a:t>
            </a:r>
            <a:endParaRPr lang="en-US" sz="1600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6834F009-928D-4C38-9AD3-82B36C1093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D71E3F">
                        <a:shade val="30000"/>
                        <a:satMod val="115000"/>
                      </a:srgbClr>
                    </a:gs>
                    <a:gs pos="50000">
                      <a:srgbClr val="D71E3F">
                        <a:shade val="67500"/>
                        <a:satMod val="115000"/>
                      </a:srgbClr>
                    </a:gs>
                    <a:gs pos="100000">
                      <a:srgbClr val="D71E3F">
                        <a:shade val="100000"/>
                        <a:satMod val="115000"/>
                      </a:srgbClr>
                    </a:gs>
                  </a:gsLst>
                  <a:lin ang="1080000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Prof. Ashok G. </a:t>
            </a:r>
            <a:r>
              <a:rPr lang="en-US" dirty="0" err="1" smtClean="0"/>
              <a:t>Badresiya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FE5C760-C782-403F-8484-E8CFF370144C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7822" y="578773"/>
            <a:ext cx="2946640" cy="90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0" name="Hexagon 29">
            <a:extLst>
              <a:ext uri="{FF2B5EF4-FFF2-40B4-BE49-F238E27FC236}">
                <a16:creationId xmlns:a16="http://schemas.microsoft.com/office/drawing/2014/main" id="{1BB32699-4C62-4BBF-9A17-90008E297198}"/>
              </a:ext>
            </a:extLst>
          </p:cNvPr>
          <p:cNvSpPr/>
          <p:nvPr userDrawn="1"/>
        </p:nvSpPr>
        <p:spPr>
          <a:xfrm rot="5400000">
            <a:off x="4309397" y="1708494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D71E3F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2C58FA9-71EA-487D-8A75-915EC6877722}"/>
              </a:ext>
            </a:extLst>
          </p:cNvPr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7A77512-C96D-4B1D-861C-3369397D6121}"/>
              </a:ext>
            </a:extLst>
          </p:cNvPr>
          <p:cNvSpPr/>
          <p:nvPr userDrawn="1"/>
        </p:nvSpPr>
        <p:spPr>
          <a:xfrm flipH="1">
            <a:off x="7678346" y="2221532"/>
            <a:ext cx="4513654" cy="1951692"/>
          </a:xfrm>
          <a:prstGeom prst="rect">
            <a:avLst/>
          </a:pr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342F5D-5C3A-4D09-B74D-32BF20197BBC}"/>
              </a:ext>
            </a:extLst>
          </p:cNvPr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1" name="Freeform 13">
            <a:extLst>
              <a:ext uri="{FF2B5EF4-FFF2-40B4-BE49-F238E27FC236}">
                <a16:creationId xmlns:a16="http://schemas.microsoft.com/office/drawing/2014/main" id="{7DBD9FF3-DB58-439A-9C3F-981DC0699B89}"/>
              </a:ext>
            </a:extLst>
          </p:cNvPr>
          <p:cNvSpPr>
            <a:spLocks/>
          </p:cNvSpPr>
          <p:nvPr userDrawn="1"/>
        </p:nvSpPr>
        <p:spPr bwMode="auto">
          <a:xfrm>
            <a:off x="2736224" y="-2949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655B1926-C5B6-4865-B639-303A5A9FEE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63466" y="1743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E7C639A-5CC9-4FBB-A197-82D7D8F34BCB}"/>
              </a:ext>
            </a:extLst>
          </p:cNvPr>
          <p:cNvSpPr txBox="1"/>
          <p:nvPr userDrawn="1"/>
        </p:nvSpPr>
        <p:spPr>
          <a:xfrm>
            <a:off x="1837677" y="5802204"/>
            <a:ext cx="35830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Darshan</a:t>
            </a:r>
            <a:r>
              <a:rPr lang="en-US" sz="1600" dirty="0" smtClean="0"/>
              <a:t> Institute of Computer Application</a:t>
            </a:r>
            <a:endParaRPr lang="en-US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8DCC7DC-434D-4ADE-9AA5-73DBFABF63FB}"/>
              </a:ext>
            </a:extLst>
          </p:cNvPr>
          <p:cNvSpPr txBox="1"/>
          <p:nvPr userDrawn="1"/>
        </p:nvSpPr>
        <p:spPr>
          <a:xfrm>
            <a:off x="1837677" y="5521352"/>
            <a:ext cx="31470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Department of</a:t>
            </a:r>
            <a:r>
              <a:rPr lang="en-US" sz="1600" baseline="0" dirty="0" smtClean="0"/>
              <a:t> Computer Application</a:t>
            </a:r>
            <a:endParaRPr lang="en-US" sz="1600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FF1B25E3-830F-4191-9F6A-E15558F3AD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D71E3F">
                        <a:shade val="30000"/>
                        <a:satMod val="115000"/>
                      </a:srgbClr>
                    </a:gs>
                    <a:gs pos="50000">
                      <a:srgbClr val="D71E3F">
                        <a:shade val="67500"/>
                        <a:satMod val="115000"/>
                      </a:srgbClr>
                    </a:gs>
                    <a:gs pos="100000">
                      <a:srgbClr val="D71E3F">
                        <a:shade val="100000"/>
                        <a:satMod val="115000"/>
                      </a:srgbClr>
                    </a:gs>
                  </a:gsLst>
                  <a:lin ang="1080000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Prof. Akash N Siddhpura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DFE5C760-C782-403F-8484-E8CFF370144C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48445" y="564503"/>
            <a:ext cx="2946640" cy="90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451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Ashok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</a:t>
            </a:r>
            <a:r>
              <a:rPr lang="en-US" baseline="0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Badresiya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769224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2304CS201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(CP-II)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Pointer and Dynamic Memory Allocation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0066"/>
            <a:ext cx="11929641" cy="5593943"/>
          </a:xfrm>
        </p:spPr>
        <p:txBody>
          <a:bodyPr>
            <a:noAutofit/>
          </a:bodyPr>
          <a:lstStyle>
            <a:lvl1pPr marL="265113" indent="-265113" algn="just">
              <a:buClr>
                <a:srgbClr val="C00000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C00000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C00000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C00000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99701" y="883612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649046"/>
          </a:xfrm>
        </p:spPr>
        <p:txBody>
          <a:bodyPr>
            <a:noAutofit/>
          </a:bodyPr>
          <a:lstStyle>
            <a:lvl1pPr marL="265113" indent="-265113" algn="just">
              <a:buClr>
                <a:srgbClr val="C00000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C00000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C00000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C00000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Ashok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</a:t>
            </a:r>
            <a:r>
              <a:rPr lang="en-US" baseline="0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Badresiya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AF378B-2717-4CC6-8D60-EB80E7F49B96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99701" y="5923942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BB0BEA1E-2616-5F7A-C197-5428FE3285F4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769224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#2304CS201 (CP-II)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Pointer and Dynamic Memory Allocation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Ashok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</a:t>
            </a:r>
            <a:r>
              <a:rPr lang="en-US" baseline="0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Badresiya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656790"/>
          </a:xfrm>
        </p:spPr>
        <p:txBody>
          <a:bodyPr>
            <a:noAutofit/>
          </a:bodyPr>
          <a:lstStyle>
            <a:lvl1pPr marL="265113" indent="-265113" algn="just">
              <a:buClr>
                <a:srgbClr val="C00000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C00000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C00000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C00000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C00000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8E06D2F-EE6F-49DE-8EB6-A96F88CA5713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179" y="5923942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598E821-9BE7-5E48-7C14-71EABED2BC2D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769224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#2304CS201 (CP-II)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Pointer and Dynamic Memory Allocation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D71E3F">
                        <a:shade val="30000"/>
                        <a:satMod val="115000"/>
                      </a:srgbClr>
                    </a:gs>
                    <a:gs pos="50000">
                      <a:srgbClr val="D71E3F">
                        <a:shade val="67500"/>
                        <a:satMod val="115000"/>
                      </a:srgbClr>
                    </a:gs>
                    <a:gs pos="100000">
                      <a:srgbClr val="D71E3F">
                        <a:shade val="100000"/>
                        <a:satMod val="115000"/>
                      </a:srgbClr>
                    </a:gs>
                  </a:gsLst>
                  <a:lin ang="1080000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C127DF-19C1-4A8F-B876-99D5A90C0F01}"/>
              </a:ext>
            </a:extLst>
          </p:cNvPr>
          <p:cNvPicPr>
            <a:picLocks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29175" y="6204430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Ashok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</a:t>
            </a:r>
            <a:r>
              <a:rPr lang="en-US" baseline="0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Badresiya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76EFF2C-1636-48DB-9A77-5FC33CF265D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56067" y="251748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4375787-E2F1-747B-3D04-3F3DA4DE9180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769224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#2304CS201 (CP-II)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Pointer and Dynamic Memory Allocation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Ashok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</a:t>
            </a:r>
            <a:r>
              <a:rPr lang="en-US" baseline="0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Badresiya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4C3A39-E5FB-4C14-8A43-2D8FDDB0AEDD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42620" y="5923942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2FD2F33-D454-07A1-AFC1-74C29143D53D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769224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#2304CS201 (CP-II)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Pointer and Dynamic Memory Allocation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Ashok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</a:t>
            </a:r>
            <a:r>
              <a:rPr lang="en-US" baseline="0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Badresiya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82A07D-EEE5-4EBD-8B95-4427C001AFD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8257" y="5923942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2F421AA-2E81-2907-15B5-7168BFD329FE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769224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#2304CS201 (CP-II)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Pointer and Dynamic Memory Allocation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316723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50C19C1-CCA6-41F8-A349-518437B526D1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70BA9B2-A383-4E11-A930-79C7DB84C0F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367562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38632C7-07EE-4F9C-8233-02B02E8C89FC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954D06A-C8AF-409A-8F19-BD778E4BEE5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328259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7B3427B-188B-4900-B48F-E5B9881624A5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F93E28D-CBE0-4383-909A-4B382FCB3BB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266869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63230D6A-1241-4E5B-AD95-3F0026D5E34F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61CFAB5-CC50-4C38-A8CE-5AC7B6E8E1C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978922" cy="316724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7191BDD-BF92-4D48-981F-D834B1E00380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E74553B-F83C-4887-85F5-95F2B31139E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9"/>
            <a:ext cx="3978922" cy="276024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FA71190-A77B-4209-A80E-DB5A272B6800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725EBB8-3E85-4844-8CD8-558634DD557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367562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5D1D986-F272-40AD-8E4B-CBC6109210A2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945C481-A049-4E89-826C-ECC2C2D424F8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353884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054B27E-47BE-45D8-88E7-9B920FD79C18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65063E3-29C7-4F1C-940C-E84E1B1B8D9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966222" cy="266869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94F4DA2-7990-4DAE-B9F6-ADB27BC53AD4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799D394-A04E-49DA-BC5A-159DB5374EAF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353884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2CA93B0-CE72-48B1-821C-85BCEA5255C5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84C881B-3C61-4232-9E01-4D5A64534474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92" r:id="rId2"/>
    <p:sldLayoutId id="2147483670" r:id="rId3"/>
    <p:sldLayoutId id="2147483687" r:id="rId4"/>
    <p:sldLayoutId id="2147483688" r:id="rId5"/>
    <p:sldLayoutId id="2147483671" r:id="rId6"/>
    <p:sldLayoutId id="2147483672" r:id="rId7"/>
    <p:sldLayoutId id="2147483689" r:id="rId8"/>
    <p:sldLayoutId id="2147483690" r:id="rId9"/>
    <p:sldLayoutId id="2147483673" r:id="rId10"/>
    <p:sldLayoutId id="2147483674" r:id="rId11"/>
    <p:sldLayoutId id="2147483677" r:id="rId12"/>
    <p:sldLayoutId id="2147483678" r:id="rId13"/>
    <p:sldLayoutId id="2147483679" r:id="rId14"/>
    <p:sldLayoutId id="2147483681" r:id="rId15"/>
    <p:sldLayoutId id="2147483683" r:id="rId16"/>
    <p:sldLayoutId id="2147483682" r:id="rId17"/>
    <p:sldLayoutId id="2147483684" r:id="rId18"/>
    <p:sldLayoutId id="2147483685" r:id="rId19"/>
    <p:sldLayoutId id="2147483686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544380" cy="2578780"/>
          </a:xfrm>
        </p:spPr>
        <p:txBody>
          <a:bodyPr/>
          <a:lstStyle/>
          <a:p>
            <a:r>
              <a:rPr lang="en-US" sz="4400" b="0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Unit-3</a:t>
            </a:r>
            <a:r>
              <a:rPr lang="en-US" sz="5400" dirty="0"/>
              <a:t/>
            </a:r>
            <a:br>
              <a:rPr lang="en-US" sz="5400" dirty="0"/>
            </a:br>
            <a:r>
              <a:rPr lang="en-US" dirty="0"/>
              <a:t>Pointer and Dynamic Memory Allocation</a:t>
            </a:r>
            <a:endParaRPr lang="en-US" sz="413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dirty="0" smtClean="0"/>
              <a:t>shok.badresiya@darshan.ac.in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9913131691</a:t>
            </a:r>
            <a:endParaRPr lang="en-US" dirty="0"/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82206" y="0"/>
            <a:ext cx="4646358" cy="734653"/>
          </a:xfrm>
        </p:spPr>
        <p:txBody>
          <a:bodyPr/>
          <a:lstStyle/>
          <a:p>
            <a:r>
              <a:rPr lang="en-US" b="1" dirty="0"/>
              <a:t>C Programming - </a:t>
            </a:r>
            <a:r>
              <a:rPr lang="en-US" b="1" dirty="0" smtClean="0"/>
              <a:t>II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(CP – I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I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 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2304CS201 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97B1F5C9-B8D4-46F1-9C51-0EB595CDD82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69" y="5211251"/>
            <a:ext cx="1353599" cy="1353599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9A7BEC-5E94-41D6-95AB-3D2BFB0D5E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</a:t>
            </a:r>
            <a:r>
              <a:rPr lang="en-US" dirty="0" smtClean="0"/>
              <a:t>Ashok G. </a:t>
            </a:r>
            <a:r>
              <a:rPr lang="en-US" dirty="0" err="1" smtClean="0"/>
              <a:t>Badresiya</a:t>
            </a:r>
            <a:endParaRPr lang="en-US" dirty="0"/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 txBox="1">
            <a:spLocks/>
          </p:cNvSpPr>
          <p:nvPr/>
        </p:nvSpPr>
        <p:spPr>
          <a:xfrm>
            <a:off x="580756" y="3572224"/>
            <a:ext cx="7670110" cy="110866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IN" sz="3200" dirty="0" smtClean="0">
                <a:solidFill>
                  <a:srgbClr val="212121">
                    <a:lumMod val="90000"/>
                    <a:lumOff val="1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Condensed Light" panose="02000000000000000000" pitchFamily="2" charset="0"/>
                <a:ea typeface="Roboto Condensed Light" panose="02000000000000000000" pitchFamily="2" charset="0"/>
              </a:rPr>
              <a:t>CO-3: </a:t>
            </a:r>
            <a:r>
              <a:rPr lang="en-US" sz="3200">
                <a:solidFill>
                  <a:srgbClr val="212121">
                    <a:lumMod val="90000"/>
                    <a:lumOff val="1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solve problem using pointer and dynamic memory allocation in C programming language.</a:t>
            </a:r>
            <a:endParaRPr lang="en-IN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43504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</p:cNvCxnSpPr>
          <p:nvPr/>
        </p:nvCxnSpPr>
        <p:spPr>
          <a:xfrm>
            <a:off x="1191446" y="-17287"/>
            <a:ext cx="0" cy="54864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534989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1191446" y="1009551"/>
            <a:ext cx="0" cy="50292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28727" y="629393"/>
            <a:ext cx="682442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solidFill>
                  <a:srgbClr val="AD1457"/>
                </a:solidFill>
              </a:rPr>
              <a:t>Outline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424242"/>
                </a:solidFill>
              </a:rPr>
              <a:t>Pointer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424242"/>
                </a:solidFill>
              </a:rPr>
              <a:t>Pointer Expression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424242"/>
                </a:solidFill>
              </a:rPr>
              <a:t>Arrays of pointer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424242"/>
                </a:solidFill>
              </a:rPr>
              <a:t>Pointer to Structure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424242"/>
                </a:solidFill>
              </a:rPr>
              <a:t>Dynamic Memory Allocation</a:t>
            </a:r>
          </a:p>
        </p:txBody>
      </p:sp>
    </p:spTree>
    <p:extLst>
      <p:ext uri="{BB962C8B-B14F-4D97-AF65-F5344CB8AC3E}">
        <p14:creationId xmlns:p14="http://schemas.microsoft.com/office/powerpoint/2010/main" val="3129129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83E3B-2511-4243-BA47-B3F8B49B3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US" dirty="0"/>
              <a:t>Introduction of pointer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EF239-0D7E-40EC-AD1F-DF340BCF1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 </a:t>
            </a:r>
          </a:p>
        </p:txBody>
      </p:sp>
    </p:spTree>
    <p:extLst>
      <p:ext uri="{BB962C8B-B14F-4D97-AF65-F5344CB8AC3E}">
        <p14:creationId xmlns:p14="http://schemas.microsoft.com/office/powerpoint/2010/main" val="1180000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AC75F03-B6D5-46D1-A795-6AE481971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1B4A1E-C864-4BE1-AD15-704B5FF4E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>
                <a:solidFill>
                  <a:srgbClr val="C00000"/>
                </a:solidFill>
              </a:rPr>
              <a:t>Pointer</a:t>
            </a:r>
            <a:r>
              <a:rPr lang="en-US" dirty="0"/>
              <a:t> is a variable that contains address or location of another variable.</a:t>
            </a:r>
          </a:p>
          <a:p>
            <a:pPr lvl="0"/>
            <a:r>
              <a:rPr lang="en-US" dirty="0"/>
              <a:t>Pointer is derived data type in C.</a:t>
            </a:r>
          </a:p>
          <a:p>
            <a:pPr lvl="0"/>
            <a:r>
              <a:rPr lang="en-US" dirty="0"/>
              <a:t>Pointer contains memory address as their values.</a:t>
            </a:r>
          </a:p>
          <a:p>
            <a:pPr lvl="0"/>
            <a:r>
              <a:rPr lang="en-US" dirty="0">
                <a:cs typeface="Lohit Gujarati" panose="020B0600000000000000" pitchFamily="34" charset="0"/>
              </a:rPr>
              <a:t>Pointer can use that memory address to access and manipulate data stored in it.</a:t>
            </a:r>
          </a:p>
          <a:p>
            <a:r>
              <a:rPr lang="en-US" dirty="0"/>
              <a:t>Suppose we have initialized a variable as per follow; </a:t>
            </a:r>
          </a:p>
          <a:p>
            <a:endParaRPr lang="en-US" sz="2800" dirty="0"/>
          </a:p>
          <a:p>
            <a:r>
              <a:rPr lang="en-US" dirty="0">
                <a:cs typeface="Lohit Gujarati" panose="020B0600000000000000" pitchFamily="34" charset="0"/>
              </a:rPr>
              <a:t>Above statement instruct system that find a location for the integer variable </a:t>
            </a:r>
            <a:r>
              <a:rPr lang="en-US" b="1" dirty="0">
                <a:cs typeface="Lohit Gujarati" panose="020B0600000000000000" pitchFamily="34" charset="0"/>
              </a:rPr>
              <a:t>marks</a:t>
            </a:r>
            <a:r>
              <a:rPr lang="en-US" dirty="0">
                <a:cs typeface="Lohit Gujarati" panose="020B0600000000000000" pitchFamily="34" charset="0"/>
              </a:rPr>
              <a:t> and puts the value </a:t>
            </a:r>
            <a:r>
              <a:rPr lang="en-US" b="1" dirty="0">
                <a:cs typeface="Lohit Gujarati" panose="020B0600000000000000" pitchFamily="34" charset="0"/>
              </a:rPr>
              <a:t>56</a:t>
            </a:r>
            <a:r>
              <a:rPr lang="en-US" dirty="0">
                <a:cs typeface="Lohit Gujarati" panose="020B0600000000000000" pitchFamily="34" charset="0"/>
              </a:rPr>
              <a:t> there.</a:t>
            </a:r>
          </a:p>
          <a:p>
            <a:r>
              <a:rPr lang="en-US" dirty="0">
                <a:cs typeface="Lohit Gujarati" panose="020B0600000000000000" pitchFamily="34" charset="0"/>
              </a:rPr>
              <a:t>We can represent it as follow;</a:t>
            </a:r>
            <a:endParaRPr lang="en-US" dirty="0"/>
          </a:p>
          <a:p>
            <a:endParaRPr lang="en-US" sz="2600" b="1" dirty="0"/>
          </a:p>
          <a:p>
            <a:endParaRPr lang="en-US" dirty="0"/>
          </a:p>
          <a:p>
            <a:pPr lvl="0"/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794AC1-2253-4467-9DA6-53C29A50A73F}"/>
              </a:ext>
            </a:extLst>
          </p:cNvPr>
          <p:cNvSpPr txBox="1"/>
          <p:nvPr/>
        </p:nvSpPr>
        <p:spPr>
          <a:xfrm>
            <a:off x="955342" y="3168076"/>
            <a:ext cx="2163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int marks = 56;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761ACC-E86A-420B-9C2E-C8F396717C7F}"/>
              </a:ext>
            </a:extLst>
          </p:cNvPr>
          <p:cNvSpPr txBox="1"/>
          <p:nvPr/>
        </p:nvSpPr>
        <p:spPr>
          <a:xfrm>
            <a:off x="1185015" y="5228728"/>
            <a:ext cx="852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marks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00B674-5F00-43C1-B743-4E002D62783F}"/>
              </a:ext>
            </a:extLst>
          </p:cNvPr>
          <p:cNvSpPr txBox="1"/>
          <p:nvPr/>
        </p:nvSpPr>
        <p:spPr>
          <a:xfrm>
            <a:off x="3269002" y="5228728"/>
            <a:ext cx="16143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</a:rPr>
              <a:t>Variable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ECFFCE-EECD-4B48-9887-DB5868078A6D}"/>
              </a:ext>
            </a:extLst>
          </p:cNvPr>
          <p:cNvSpPr txBox="1"/>
          <p:nvPr/>
        </p:nvSpPr>
        <p:spPr>
          <a:xfrm>
            <a:off x="1185015" y="5684460"/>
            <a:ext cx="852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B707BF-D151-4794-8330-0B20DFF8EF6B}"/>
              </a:ext>
            </a:extLst>
          </p:cNvPr>
          <p:cNvSpPr txBox="1"/>
          <p:nvPr/>
        </p:nvSpPr>
        <p:spPr>
          <a:xfrm>
            <a:off x="3269002" y="5684460"/>
            <a:ext cx="16143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</a:rPr>
              <a:t>Value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DCDB2B-D594-46A0-8383-357CE7055468}"/>
              </a:ext>
            </a:extLst>
          </p:cNvPr>
          <p:cNvSpPr txBox="1"/>
          <p:nvPr/>
        </p:nvSpPr>
        <p:spPr>
          <a:xfrm>
            <a:off x="1185015" y="6112381"/>
            <a:ext cx="852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50000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F80FF0-9687-4921-A44A-6EFA19CCE8FB}"/>
              </a:ext>
            </a:extLst>
          </p:cNvPr>
          <p:cNvSpPr txBox="1"/>
          <p:nvPr/>
        </p:nvSpPr>
        <p:spPr>
          <a:xfrm>
            <a:off x="3269002" y="6112381"/>
            <a:ext cx="16143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</a:rPr>
              <a:t>Address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274ED02-8B41-4D40-ABB1-FC56FAC08DC3}"/>
              </a:ext>
            </a:extLst>
          </p:cNvPr>
          <p:cNvCxnSpPr/>
          <p:nvPr/>
        </p:nvCxnSpPr>
        <p:spPr>
          <a:xfrm flipH="1">
            <a:off x="2178836" y="5424059"/>
            <a:ext cx="953037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D4E28C0-42C2-4BBE-B75B-AC4A5C4E56DB}"/>
              </a:ext>
            </a:extLst>
          </p:cNvPr>
          <p:cNvCxnSpPr/>
          <p:nvPr/>
        </p:nvCxnSpPr>
        <p:spPr>
          <a:xfrm flipH="1">
            <a:off x="2178836" y="5885552"/>
            <a:ext cx="953037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3C5B32F-F477-4100-B52C-E02B884F9585}"/>
              </a:ext>
            </a:extLst>
          </p:cNvPr>
          <p:cNvCxnSpPr/>
          <p:nvPr/>
        </p:nvCxnSpPr>
        <p:spPr>
          <a:xfrm flipH="1">
            <a:off x="2178836" y="6295529"/>
            <a:ext cx="953037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DE62466-E0EA-4B4F-8480-B3995A2F5023}"/>
              </a:ext>
            </a:extLst>
          </p:cNvPr>
          <p:cNvSpPr/>
          <p:nvPr/>
        </p:nvSpPr>
        <p:spPr>
          <a:xfrm>
            <a:off x="5586927" y="4144496"/>
            <a:ext cx="6200933" cy="21510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b="1" dirty="0">
                <a:solidFill>
                  <a:schemeClr val="accent1"/>
                </a:solidFill>
              </a:rPr>
              <a:t>The connection between the marks and pointer variable can be shown as  below;</a:t>
            </a:r>
            <a:endParaRPr lang="en-US" b="1" dirty="0">
              <a:solidFill>
                <a:schemeClr val="accent1"/>
              </a:solidFill>
              <a:latin typeface="Lohit Gujarati" panose="020B0600000000000000" pitchFamily="34" charset="0"/>
              <a:cs typeface="Lohit Gujarati" panose="020B0600000000000000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36330F-89FE-40BD-B08B-B25B8745E59A}"/>
              </a:ext>
            </a:extLst>
          </p:cNvPr>
          <p:cNvSpPr txBox="1"/>
          <p:nvPr/>
        </p:nvSpPr>
        <p:spPr>
          <a:xfrm>
            <a:off x="6591357" y="4968173"/>
            <a:ext cx="8639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Variable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8D7CD3-65E5-4B4A-805E-B0C2D08BB609}"/>
              </a:ext>
            </a:extLst>
          </p:cNvPr>
          <p:cNvSpPr txBox="1"/>
          <p:nvPr/>
        </p:nvSpPr>
        <p:spPr>
          <a:xfrm>
            <a:off x="8489089" y="4968173"/>
            <a:ext cx="8639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Value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E4267D-3144-420D-92B0-BFFA7BCEC322}"/>
              </a:ext>
            </a:extLst>
          </p:cNvPr>
          <p:cNvSpPr txBox="1"/>
          <p:nvPr/>
        </p:nvSpPr>
        <p:spPr>
          <a:xfrm>
            <a:off x="10140146" y="4968173"/>
            <a:ext cx="8639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Address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9AB148-845E-4A16-B6A0-C500347A588E}"/>
              </a:ext>
            </a:extLst>
          </p:cNvPr>
          <p:cNvSpPr txBox="1"/>
          <p:nvPr/>
        </p:nvSpPr>
        <p:spPr>
          <a:xfrm>
            <a:off x="6591357" y="5361068"/>
            <a:ext cx="8639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2"/>
                </a:solidFill>
              </a:rPr>
              <a:t>marks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B24126-22BD-46EC-947F-55FC749A2955}"/>
              </a:ext>
            </a:extLst>
          </p:cNvPr>
          <p:cNvSpPr txBox="1"/>
          <p:nvPr/>
        </p:nvSpPr>
        <p:spPr>
          <a:xfrm>
            <a:off x="8459745" y="5352559"/>
            <a:ext cx="8639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2"/>
                </a:solidFill>
              </a:rPr>
              <a:t>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6F995B-786E-4450-9A11-B047DF604B06}"/>
              </a:ext>
            </a:extLst>
          </p:cNvPr>
          <p:cNvSpPr txBox="1"/>
          <p:nvPr/>
        </p:nvSpPr>
        <p:spPr>
          <a:xfrm>
            <a:off x="10123802" y="5323627"/>
            <a:ext cx="8639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2"/>
                </a:solidFill>
              </a:rPr>
              <a:t>50000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75F2E0-2BF8-4B90-9883-2BF190AD7F41}"/>
              </a:ext>
            </a:extLst>
          </p:cNvPr>
          <p:cNvSpPr txBox="1"/>
          <p:nvPr/>
        </p:nvSpPr>
        <p:spPr>
          <a:xfrm>
            <a:off x="6591357" y="5793788"/>
            <a:ext cx="8639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2"/>
                </a:solidFill>
              </a:rPr>
              <a:t>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33A979-56B9-4EAD-A697-FD45D3F06076}"/>
              </a:ext>
            </a:extLst>
          </p:cNvPr>
          <p:cNvSpPr txBox="1"/>
          <p:nvPr/>
        </p:nvSpPr>
        <p:spPr>
          <a:xfrm>
            <a:off x="8433158" y="5793788"/>
            <a:ext cx="8639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2"/>
                </a:solidFill>
              </a:rPr>
              <a:t>50000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9D2E01-BBC2-42CE-B202-C2EDF4983D45}"/>
              </a:ext>
            </a:extLst>
          </p:cNvPr>
          <p:cNvSpPr txBox="1"/>
          <p:nvPr/>
        </p:nvSpPr>
        <p:spPr>
          <a:xfrm>
            <a:off x="10140146" y="5848050"/>
            <a:ext cx="8639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2"/>
                </a:solidFill>
              </a:rPr>
              <a:t>5014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8278A0E-2EF2-499A-B3C5-EAF79290129A}"/>
              </a:ext>
            </a:extLst>
          </p:cNvPr>
          <p:cNvGrpSpPr/>
          <p:nvPr/>
        </p:nvGrpSpPr>
        <p:grpSpPr>
          <a:xfrm>
            <a:off x="9216677" y="5481393"/>
            <a:ext cx="650508" cy="516541"/>
            <a:chOff x="9357679" y="5691121"/>
            <a:chExt cx="650508" cy="577921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59EB5F0-7241-4627-9896-613AA00BC5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3966" y="6255945"/>
              <a:ext cx="384221" cy="4563"/>
            </a:xfrm>
            <a:prstGeom prst="line">
              <a:avLst/>
            </a:prstGeom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F2A2892-FB47-4AE3-8FE1-DA33B3991A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8187" y="5691121"/>
              <a:ext cx="0" cy="577921"/>
            </a:xfrm>
            <a:prstGeom prst="line">
              <a:avLst/>
            </a:prstGeom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3A2D208-55E1-4927-87F2-3BB45058A7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57679" y="5704000"/>
              <a:ext cx="650508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1991074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6" presetClass="emp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50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6" presetClass="emp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50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6" presetClass="emp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10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50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10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" dur="50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1" grpId="0"/>
      <p:bldP spid="12" grpId="0"/>
      <p:bldP spid="16" grpId="0" animBg="1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CB6AF-53ED-44EA-87F0-E767057AC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declare a pointer variable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D5BB2-0E93-4EC3-982D-C8FBE71F5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Syntax;</a:t>
            </a:r>
          </a:p>
          <a:p>
            <a:endParaRPr lang="en-US" b="1" dirty="0">
              <a:solidFill>
                <a:schemeClr val="accent6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datatype</a:t>
            </a:r>
            <a:r>
              <a:rPr lang="en-US" dirty="0"/>
              <a:t> means datatype of the variable for which we want to store address. </a:t>
            </a:r>
            <a:r>
              <a:rPr lang="en-US" b="1" dirty="0"/>
              <a:t>(Note: It is not indicating pointer’s data type)</a:t>
            </a:r>
          </a:p>
          <a:p>
            <a:r>
              <a:rPr lang="en-US" b="1" dirty="0">
                <a:solidFill>
                  <a:srgbClr val="C00000"/>
                </a:solidFill>
                <a:latin typeface="Lohit Gujarati" panose="020B0600000000000000" pitchFamily="34" charset="0"/>
                <a:cs typeface="Lohit Gujarati" panose="020B0600000000000000" pitchFamily="34" charset="0"/>
              </a:rPr>
              <a:t>*</a:t>
            </a:r>
            <a:r>
              <a:rPr lang="en-US" b="1" dirty="0">
                <a:solidFill>
                  <a:schemeClr val="accent6"/>
                </a:solidFill>
                <a:latin typeface="Lohit Gujarati" panose="020B0600000000000000" pitchFamily="34" charset="0"/>
                <a:cs typeface="Lohit Gujarati" panose="020B0600000000000000" pitchFamily="34" charset="0"/>
              </a:rPr>
              <a:t> </a:t>
            </a:r>
            <a:r>
              <a:rPr lang="en-US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(</a:t>
            </a:r>
            <a:r>
              <a:rPr lang="en-US" dirty="0">
                <a:cs typeface="Lohit Gujarati" panose="020B0600000000000000" pitchFamily="34" charset="0"/>
              </a:rPr>
              <a:t>asterisk) indicates that variable </a:t>
            </a:r>
            <a:r>
              <a:rPr lang="en-US" b="1" dirty="0" err="1">
                <a:cs typeface="Lohit Gujarati" panose="020B0600000000000000" pitchFamily="34" charset="0"/>
              </a:rPr>
              <a:t>p_name</a:t>
            </a:r>
            <a:r>
              <a:rPr lang="en-US" dirty="0">
                <a:cs typeface="Lohit Gujarati" panose="020B0600000000000000" pitchFamily="34" charset="0"/>
              </a:rPr>
              <a:t> is a </a:t>
            </a:r>
            <a:r>
              <a:rPr lang="en-US" b="1" dirty="0">
                <a:cs typeface="Lohit Gujarati" panose="020B0600000000000000" pitchFamily="34" charset="0"/>
              </a:rPr>
              <a:t>pointer variable</a:t>
            </a:r>
            <a:r>
              <a:rPr lang="en-US" dirty="0">
                <a:cs typeface="Lohit Gujarati" panose="020B0600000000000000" pitchFamily="34" charset="0"/>
              </a:rPr>
              <a:t>. </a:t>
            </a:r>
          </a:p>
          <a:p>
            <a:r>
              <a:rPr lang="en-US" sz="2400" b="1" dirty="0" err="1">
                <a:solidFill>
                  <a:srgbClr val="C00000"/>
                </a:solidFill>
              </a:rPr>
              <a:t>p_name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indicates name of the pointer variable. </a:t>
            </a:r>
          </a:p>
          <a:p>
            <a:r>
              <a:rPr lang="en-US" b="1" dirty="0">
                <a:solidFill>
                  <a:srgbClr val="C00000"/>
                </a:solidFill>
              </a:rPr>
              <a:t>Example;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3EB85F-1335-463A-9622-F18A4B676915}"/>
              </a:ext>
            </a:extLst>
          </p:cNvPr>
          <p:cNvSpPr txBox="1"/>
          <p:nvPr/>
        </p:nvSpPr>
        <p:spPr>
          <a:xfrm>
            <a:off x="1403799" y="1275008"/>
            <a:ext cx="10947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datatype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0953D6-7CAC-4612-94AE-9BD8096B78B7}"/>
              </a:ext>
            </a:extLst>
          </p:cNvPr>
          <p:cNvSpPr txBox="1"/>
          <p:nvPr/>
        </p:nvSpPr>
        <p:spPr>
          <a:xfrm>
            <a:off x="2498503" y="1275008"/>
            <a:ext cx="244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E92B25-2CF8-4504-B3C2-EEB55634AC2F}"/>
              </a:ext>
            </a:extLst>
          </p:cNvPr>
          <p:cNvSpPr txBox="1"/>
          <p:nvPr/>
        </p:nvSpPr>
        <p:spPr>
          <a:xfrm>
            <a:off x="2743204" y="1275008"/>
            <a:ext cx="10431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C00000"/>
                </a:solidFill>
              </a:rPr>
              <a:t>p_name</a:t>
            </a:r>
            <a:r>
              <a:rPr lang="en-US" sz="2000" b="1" dirty="0">
                <a:solidFill>
                  <a:srgbClr val="C00000"/>
                </a:solidFill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BB36B6-B21E-49E9-9104-09869D837F66}"/>
              </a:ext>
            </a:extLst>
          </p:cNvPr>
          <p:cNvSpPr txBox="1"/>
          <p:nvPr/>
        </p:nvSpPr>
        <p:spPr>
          <a:xfrm>
            <a:off x="1369460" y="4095571"/>
            <a:ext cx="543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54D4C8-ED48-40F3-B715-411EBC577672}"/>
              </a:ext>
            </a:extLst>
          </p:cNvPr>
          <p:cNvSpPr txBox="1"/>
          <p:nvPr/>
        </p:nvSpPr>
        <p:spPr>
          <a:xfrm>
            <a:off x="1886758" y="4095571"/>
            <a:ext cx="630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*p;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49A3645-018B-4B45-8D8D-8891730E21EE}"/>
              </a:ext>
            </a:extLst>
          </p:cNvPr>
          <p:cNvCxnSpPr>
            <a:cxnSpLocks/>
          </p:cNvCxnSpPr>
          <p:nvPr/>
        </p:nvCxnSpPr>
        <p:spPr>
          <a:xfrm flipH="1">
            <a:off x="2459869" y="4347142"/>
            <a:ext cx="862885" cy="0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324B21A-03B9-4644-8199-50E2FD7F978C}"/>
              </a:ext>
            </a:extLst>
          </p:cNvPr>
          <p:cNvSpPr/>
          <p:nvPr/>
        </p:nvSpPr>
        <p:spPr>
          <a:xfrm>
            <a:off x="3453935" y="4204697"/>
            <a:ext cx="3506424" cy="100221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b="1" dirty="0">
                <a:solidFill>
                  <a:schemeClr val="accent1"/>
                </a:solidFill>
              </a:rPr>
              <a:t>It is a pointer variable , name of that variable is </a:t>
            </a:r>
            <a:r>
              <a:rPr lang="en-US" b="1" dirty="0">
                <a:solidFill>
                  <a:srgbClr val="C00000"/>
                </a:solidFill>
              </a:rPr>
              <a:t>“p”</a:t>
            </a:r>
            <a:r>
              <a:rPr lang="en-US" b="1" dirty="0">
                <a:solidFill>
                  <a:schemeClr val="accent1"/>
                </a:solidFill>
              </a:rPr>
              <a:t> and it stores </a:t>
            </a:r>
            <a:r>
              <a:rPr lang="en-US" b="1" dirty="0">
                <a:solidFill>
                  <a:srgbClr val="C00000"/>
                </a:solidFill>
              </a:rPr>
              <a:t>address of an integer variable.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E7CB9B-EDA0-4664-B8A3-E0F6B68F7E14}"/>
              </a:ext>
            </a:extLst>
          </p:cNvPr>
          <p:cNvSpPr txBox="1"/>
          <p:nvPr/>
        </p:nvSpPr>
        <p:spPr>
          <a:xfrm>
            <a:off x="327342" y="4110960"/>
            <a:ext cx="1043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Style – 1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D5E9D5-5870-4CDE-A76D-1E9BB58780C4}"/>
              </a:ext>
            </a:extLst>
          </p:cNvPr>
          <p:cNvSpPr txBox="1"/>
          <p:nvPr/>
        </p:nvSpPr>
        <p:spPr>
          <a:xfrm>
            <a:off x="323047" y="4476561"/>
            <a:ext cx="1043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Style – 2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67F7ED-0E3F-4E2E-B7EF-5F33612C60D2}"/>
              </a:ext>
            </a:extLst>
          </p:cNvPr>
          <p:cNvSpPr txBox="1"/>
          <p:nvPr/>
        </p:nvSpPr>
        <p:spPr>
          <a:xfrm>
            <a:off x="310294" y="4837586"/>
            <a:ext cx="1043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Style – 3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4BAEE5-AEC0-4998-A94E-1E6EDCB02FDB}"/>
              </a:ext>
            </a:extLst>
          </p:cNvPr>
          <p:cNvSpPr txBox="1"/>
          <p:nvPr/>
        </p:nvSpPr>
        <p:spPr>
          <a:xfrm>
            <a:off x="1358319" y="4464347"/>
            <a:ext cx="6701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int*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E44BA1-1EEA-46FB-94D3-BABF9E20148F}"/>
              </a:ext>
            </a:extLst>
          </p:cNvPr>
          <p:cNvSpPr txBox="1"/>
          <p:nvPr/>
        </p:nvSpPr>
        <p:spPr>
          <a:xfrm>
            <a:off x="1875618" y="4464347"/>
            <a:ext cx="543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p;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FCD1C6-9CDB-4094-BADD-01C666C7C6CE}"/>
              </a:ext>
            </a:extLst>
          </p:cNvPr>
          <p:cNvSpPr txBox="1"/>
          <p:nvPr/>
        </p:nvSpPr>
        <p:spPr>
          <a:xfrm>
            <a:off x="1344246" y="4825915"/>
            <a:ext cx="531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int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EBDCB2-C026-4E87-BA6F-434018E288EE}"/>
              </a:ext>
            </a:extLst>
          </p:cNvPr>
          <p:cNvSpPr txBox="1"/>
          <p:nvPr/>
        </p:nvSpPr>
        <p:spPr>
          <a:xfrm>
            <a:off x="1858576" y="4864457"/>
            <a:ext cx="244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*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0360E4-C89B-4BCE-8986-73FEE730E721}"/>
              </a:ext>
            </a:extLst>
          </p:cNvPr>
          <p:cNvSpPr txBox="1"/>
          <p:nvPr/>
        </p:nvSpPr>
        <p:spPr>
          <a:xfrm>
            <a:off x="2127664" y="4825915"/>
            <a:ext cx="3897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p;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C1C2F62-11AC-428B-B931-EFDDA0F2AF5D}"/>
              </a:ext>
            </a:extLst>
          </p:cNvPr>
          <p:cNvCxnSpPr>
            <a:cxnSpLocks/>
          </p:cNvCxnSpPr>
          <p:nvPr/>
        </p:nvCxnSpPr>
        <p:spPr>
          <a:xfrm flipH="1">
            <a:off x="2459868" y="4695179"/>
            <a:ext cx="862885" cy="0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E430C33-8B8D-4E7F-AF7F-B3B684E21448}"/>
              </a:ext>
            </a:extLst>
          </p:cNvPr>
          <p:cNvCxnSpPr>
            <a:cxnSpLocks/>
          </p:cNvCxnSpPr>
          <p:nvPr/>
        </p:nvCxnSpPr>
        <p:spPr>
          <a:xfrm flipH="1">
            <a:off x="2464164" y="5025983"/>
            <a:ext cx="862885" cy="0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049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50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6" presetClass="emph" presetSubtype="0" repeatCount="indefinite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10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4" dur="50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6" presetClass="emph" presetSubtype="0" repeatCount="indefinite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10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4" dur="50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3" grpId="0" animBg="1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6CC86-FA1B-4B49-84B8-92EA0F3AD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initialize a pointer variable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8F13A9-A64E-4AB2-9E14-33CC59E35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process of assigning the address of a variable to a pointer variable is known as </a:t>
            </a:r>
            <a:r>
              <a:rPr lang="en-US" b="1" dirty="0">
                <a:solidFill>
                  <a:srgbClr val="C00000"/>
                </a:solidFill>
              </a:rPr>
              <a:t>Initialization of Pointer</a:t>
            </a:r>
            <a:r>
              <a:rPr lang="en-US" dirty="0">
                <a:solidFill>
                  <a:srgbClr val="C00000"/>
                </a:solidFill>
              </a:rPr>
              <a:t>. </a:t>
            </a:r>
          </a:p>
          <a:p>
            <a:r>
              <a:rPr lang="en-US" dirty="0">
                <a:cs typeface="Lohit Gujarati" panose="020B0600000000000000" pitchFamily="34" charset="0"/>
              </a:rPr>
              <a:t>We must ensure that the pointer variables always point to the corresponding type of data.</a:t>
            </a:r>
          </a:p>
          <a:p>
            <a:r>
              <a:rPr lang="en-US" b="1" dirty="0">
                <a:solidFill>
                  <a:srgbClr val="C00000"/>
                </a:solidFill>
                <a:cs typeface="Lohit Gujarati" panose="020B0600000000000000" pitchFamily="34" charset="0"/>
              </a:rPr>
              <a:t>Example;</a:t>
            </a:r>
            <a:endParaRPr lang="gu-IN" b="1" dirty="0">
              <a:solidFill>
                <a:srgbClr val="C00000"/>
              </a:solidFill>
              <a:cs typeface="Lohit Gujarati" panose="020B0600000000000000" pitchFamily="34" charset="0"/>
            </a:endParaRPr>
          </a:p>
          <a:p>
            <a:endParaRPr lang="en-US" dirty="0">
              <a:cs typeface="Lohit Gujarati" panose="020B0600000000000000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68BBC1-A252-4767-9BB3-3A8C8B8373C2}"/>
              </a:ext>
            </a:extLst>
          </p:cNvPr>
          <p:cNvSpPr txBox="1"/>
          <p:nvPr/>
        </p:nvSpPr>
        <p:spPr>
          <a:xfrm>
            <a:off x="4153309" y="2611209"/>
            <a:ext cx="13136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 – 1</a:t>
            </a:r>
          </a:p>
          <a:p>
            <a:r>
              <a:rPr lang="en-US" dirty="0"/>
              <a:t>int a; </a:t>
            </a:r>
          </a:p>
          <a:p>
            <a:r>
              <a:rPr lang="en-US" dirty="0"/>
              <a:t>int *p;</a:t>
            </a:r>
          </a:p>
          <a:p>
            <a:r>
              <a:rPr lang="en-US" dirty="0"/>
              <a:t>p=</a:t>
            </a:r>
            <a:r>
              <a:rPr lang="en-US" b="1" dirty="0">
                <a:solidFill>
                  <a:srgbClr val="C00000"/>
                </a:solidFill>
              </a:rPr>
              <a:t>&amp;</a:t>
            </a:r>
            <a:r>
              <a:rPr lang="en-US" dirty="0"/>
              <a:t>a;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AAB6C6-B9E6-4571-AB9C-A18C6A93C00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1951" y="2911890"/>
            <a:ext cx="283335" cy="321968"/>
          </a:xfrm>
          <a:prstGeom prst="rect">
            <a:avLst/>
          </a:prstGeom>
        </p:spPr>
      </p:pic>
      <p:sp>
        <p:nvSpPr>
          <p:cNvPr id="7" name="Multiply 37">
            <a:extLst>
              <a:ext uri="{FF2B5EF4-FFF2-40B4-BE49-F238E27FC236}">
                <a16:creationId xmlns:a16="http://schemas.microsoft.com/office/drawing/2014/main" id="{F75162BF-3BFA-4481-8093-045971B8430A}"/>
              </a:ext>
            </a:extLst>
          </p:cNvPr>
          <p:cNvSpPr/>
          <p:nvPr/>
        </p:nvSpPr>
        <p:spPr>
          <a:xfrm>
            <a:off x="7579089" y="4583136"/>
            <a:ext cx="386367" cy="434659"/>
          </a:xfrm>
          <a:prstGeom prst="mathMultiply">
            <a:avLst>
              <a:gd name="adj1" fmla="val 15152"/>
            </a:avLst>
          </a:prstGeom>
          <a:solidFill>
            <a:srgbClr val="C0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91D03D-1CB3-46FC-9071-7BD17127AB00}"/>
              </a:ext>
            </a:extLst>
          </p:cNvPr>
          <p:cNvSpPr txBox="1"/>
          <p:nvPr/>
        </p:nvSpPr>
        <p:spPr>
          <a:xfrm>
            <a:off x="6342716" y="2611209"/>
            <a:ext cx="13136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 – 2</a:t>
            </a:r>
            <a:endParaRPr lang="en-US" dirty="0"/>
          </a:p>
          <a:p>
            <a:r>
              <a:rPr lang="en-US" dirty="0"/>
              <a:t>int a,*p;</a:t>
            </a:r>
          </a:p>
          <a:p>
            <a:r>
              <a:rPr lang="en-US" dirty="0"/>
              <a:t>p=</a:t>
            </a:r>
            <a:r>
              <a:rPr lang="en-US" b="1" dirty="0">
                <a:solidFill>
                  <a:srgbClr val="C00000"/>
                </a:solidFill>
              </a:rPr>
              <a:t>&amp;</a:t>
            </a:r>
            <a:r>
              <a:rPr lang="en-US" dirty="0"/>
              <a:t>a;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B560CA-9303-445A-AEA6-033DB58E1A0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1358" y="2911890"/>
            <a:ext cx="283335" cy="3219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70C24C-80E5-477F-833C-C07297217F66}"/>
              </a:ext>
            </a:extLst>
          </p:cNvPr>
          <p:cNvSpPr txBox="1"/>
          <p:nvPr/>
        </p:nvSpPr>
        <p:spPr>
          <a:xfrm>
            <a:off x="8360408" y="2611209"/>
            <a:ext cx="13136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 – 3</a:t>
            </a:r>
            <a:endParaRPr lang="en-US" dirty="0"/>
          </a:p>
          <a:p>
            <a:r>
              <a:rPr lang="en-US" dirty="0"/>
              <a:t>float a,*p;</a:t>
            </a:r>
          </a:p>
          <a:p>
            <a:r>
              <a:rPr lang="en-US" dirty="0"/>
              <a:t>p=</a:t>
            </a:r>
            <a:r>
              <a:rPr lang="en-US" b="1" dirty="0">
                <a:solidFill>
                  <a:srgbClr val="C00000"/>
                </a:solidFill>
              </a:rPr>
              <a:t>&amp;</a:t>
            </a:r>
            <a:r>
              <a:rPr lang="en-US" dirty="0"/>
              <a:t>a;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E63709-4631-4BAC-91BE-969A5C1E335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5114" y="2924769"/>
            <a:ext cx="283335" cy="32196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CC84963-6B6F-4F98-9474-6E1E477335DB}"/>
              </a:ext>
            </a:extLst>
          </p:cNvPr>
          <p:cNvSpPr txBox="1"/>
          <p:nvPr/>
        </p:nvSpPr>
        <p:spPr>
          <a:xfrm>
            <a:off x="4153309" y="4024712"/>
            <a:ext cx="13136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 – 5</a:t>
            </a:r>
            <a:endParaRPr lang="en-US" dirty="0"/>
          </a:p>
          <a:p>
            <a:r>
              <a:rPr lang="en-US" dirty="0"/>
              <a:t>float a,*p;</a:t>
            </a:r>
          </a:p>
          <a:p>
            <a:r>
              <a:rPr lang="en-US" dirty="0"/>
              <a:t>int b,*q;</a:t>
            </a:r>
          </a:p>
          <a:p>
            <a:r>
              <a:rPr lang="en-US" dirty="0"/>
              <a:t>p=</a:t>
            </a:r>
            <a:r>
              <a:rPr lang="en-US" b="1" dirty="0">
                <a:solidFill>
                  <a:srgbClr val="C00000"/>
                </a:solidFill>
              </a:rPr>
              <a:t>&amp;</a:t>
            </a:r>
            <a:r>
              <a:rPr lang="en-US" dirty="0"/>
              <a:t>a;</a:t>
            </a:r>
          </a:p>
          <a:p>
            <a:r>
              <a:rPr lang="en-US" dirty="0"/>
              <a:t>q=</a:t>
            </a:r>
            <a:r>
              <a:rPr lang="en-US" b="1" dirty="0">
                <a:solidFill>
                  <a:srgbClr val="C00000"/>
                </a:solidFill>
              </a:rPr>
              <a:t>&amp;</a:t>
            </a:r>
            <a:r>
              <a:rPr lang="en-US" dirty="0"/>
              <a:t>b;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6673A6B-37CB-447A-B771-5987AB255A1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1951" y="4583136"/>
            <a:ext cx="283335" cy="32196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E88006E-8556-42A9-9D86-163BBFC65969}"/>
              </a:ext>
            </a:extLst>
          </p:cNvPr>
          <p:cNvSpPr txBox="1"/>
          <p:nvPr/>
        </p:nvSpPr>
        <p:spPr>
          <a:xfrm>
            <a:off x="6293338" y="4024712"/>
            <a:ext cx="13630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 – 6</a:t>
            </a:r>
            <a:endParaRPr lang="en-US" dirty="0"/>
          </a:p>
          <a:p>
            <a:r>
              <a:rPr lang="en-US" dirty="0"/>
              <a:t>float a,*p;</a:t>
            </a:r>
          </a:p>
          <a:p>
            <a:r>
              <a:rPr lang="en-US" dirty="0"/>
              <a:t>int b,*q;</a:t>
            </a:r>
          </a:p>
          <a:p>
            <a:r>
              <a:rPr lang="en-US" dirty="0"/>
              <a:t>p=</a:t>
            </a:r>
            <a:r>
              <a:rPr lang="en-US" b="1" dirty="0">
                <a:solidFill>
                  <a:srgbClr val="C00000"/>
                </a:solidFill>
              </a:rPr>
              <a:t>&amp;</a:t>
            </a:r>
            <a:r>
              <a:rPr lang="en-US" dirty="0"/>
              <a:t>b;</a:t>
            </a:r>
          </a:p>
          <a:p>
            <a:r>
              <a:rPr lang="en-US" dirty="0"/>
              <a:t>q=</a:t>
            </a:r>
            <a:r>
              <a:rPr lang="en-US" b="1" dirty="0">
                <a:solidFill>
                  <a:srgbClr val="C00000"/>
                </a:solidFill>
              </a:rPr>
              <a:t>&amp;</a:t>
            </a:r>
            <a:r>
              <a:rPr lang="en-US" dirty="0"/>
              <a:t>a;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E4D074-7C66-46C5-AE10-B63E0BFB7832}"/>
              </a:ext>
            </a:extLst>
          </p:cNvPr>
          <p:cNvSpPr txBox="1"/>
          <p:nvPr/>
        </p:nvSpPr>
        <p:spPr>
          <a:xfrm>
            <a:off x="10564727" y="2575497"/>
            <a:ext cx="13136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 – 4</a:t>
            </a:r>
            <a:endParaRPr lang="en-US" dirty="0"/>
          </a:p>
          <a:p>
            <a:r>
              <a:rPr lang="en-US" dirty="0"/>
              <a:t>int a; </a:t>
            </a:r>
          </a:p>
          <a:p>
            <a:r>
              <a:rPr lang="en-US" dirty="0"/>
              <a:t>float *p;</a:t>
            </a:r>
          </a:p>
          <a:p>
            <a:r>
              <a:rPr lang="en-US" dirty="0"/>
              <a:t>p=</a:t>
            </a:r>
            <a:r>
              <a:rPr lang="en-US" b="1" dirty="0">
                <a:solidFill>
                  <a:srgbClr val="C00000"/>
                </a:solidFill>
              </a:rPr>
              <a:t>&amp;</a:t>
            </a:r>
            <a:r>
              <a:rPr lang="en-US" dirty="0"/>
              <a:t>a;</a:t>
            </a:r>
          </a:p>
        </p:txBody>
      </p:sp>
      <p:sp>
        <p:nvSpPr>
          <p:cNvPr id="18" name="Multiply 37">
            <a:extLst>
              <a:ext uri="{FF2B5EF4-FFF2-40B4-BE49-F238E27FC236}">
                <a16:creationId xmlns:a16="http://schemas.microsoft.com/office/drawing/2014/main" id="{AA01F58C-4046-4D26-A6BD-8C93CAE1CF78}"/>
              </a:ext>
            </a:extLst>
          </p:cNvPr>
          <p:cNvSpPr/>
          <p:nvPr/>
        </p:nvSpPr>
        <p:spPr>
          <a:xfrm>
            <a:off x="11674453" y="3016528"/>
            <a:ext cx="386367" cy="434659"/>
          </a:xfrm>
          <a:prstGeom prst="mathMultiply">
            <a:avLst>
              <a:gd name="adj1" fmla="val 15152"/>
            </a:avLst>
          </a:prstGeom>
          <a:solidFill>
            <a:srgbClr val="C0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273D69F-C9AE-4105-BB1C-087ACDD882EF}"/>
              </a:ext>
            </a:extLst>
          </p:cNvPr>
          <p:cNvSpPr/>
          <p:nvPr/>
        </p:nvSpPr>
        <p:spPr>
          <a:xfrm>
            <a:off x="260320" y="2611209"/>
            <a:ext cx="3611327" cy="103274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b="1" dirty="0">
                <a:solidFill>
                  <a:srgbClr val="C00000"/>
                </a:solidFill>
              </a:rPr>
              <a:t>“&amp;”</a:t>
            </a:r>
            <a:r>
              <a:rPr lang="en-US" b="1" dirty="0">
                <a:solidFill>
                  <a:schemeClr val="accent1"/>
                </a:solidFill>
              </a:rPr>
              <a:t> is used to </a:t>
            </a:r>
            <a:r>
              <a:rPr lang="en-US" b="1" dirty="0" smtClean="0">
                <a:solidFill>
                  <a:schemeClr val="accent1"/>
                </a:solidFill>
              </a:rPr>
              <a:t>initialize </a:t>
            </a:r>
            <a:r>
              <a:rPr lang="en-US" b="1" dirty="0">
                <a:solidFill>
                  <a:schemeClr val="accent1"/>
                </a:solidFill>
              </a:rPr>
              <a:t>a pointer variable. It indicates the address of the variable. </a:t>
            </a:r>
          </a:p>
        </p:txBody>
      </p:sp>
    </p:spTree>
    <p:extLst>
      <p:ext uri="{BB962C8B-B14F-4D97-AF65-F5344CB8AC3E}">
        <p14:creationId xmlns:p14="http://schemas.microsoft.com/office/powerpoint/2010/main" val="1892399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10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50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0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50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10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50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10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50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10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6" dur="50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10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9" dur="50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7" grpId="1" animBg="1"/>
      <p:bldP spid="8" grpId="0"/>
      <p:bldP spid="11" grpId="0"/>
      <p:bldP spid="13" grpId="0"/>
      <p:bldP spid="15" grpId="0"/>
      <p:bldP spid="17" grpId="0"/>
      <p:bldP spid="18" grpId="0" animBg="1"/>
      <p:bldP spid="18" grpId="1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41FBC-E2CB-4875-84EE-927B4FFFE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530B34-E788-4782-A26A-71003A79D67F}"/>
              </a:ext>
            </a:extLst>
          </p:cNvPr>
          <p:cNvSpPr txBox="1"/>
          <p:nvPr/>
        </p:nvSpPr>
        <p:spPr>
          <a:xfrm>
            <a:off x="1596980" y="1255911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#include&lt;stdio.h&gt;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7804D1-9331-4378-AA2A-CBDCA90984AE}"/>
              </a:ext>
            </a:extLst>
          </p:cNvPr>
          <p:cNvSpPr txBox="1"/>
          <p:nvPr/>
        </p:nvSpPr>
        <p:spPr>
          <a:xfrm>
            <a:off x="1596980" y="1651002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main()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08D1D5-778F-449A-A9A5-C1D7D1FC0D1E}"/>
              </a:ext>
            </a:extLst>
          </p:cNvPr>
          <p:cNvSpPr txBox="1"/>
          <p:nvPr/>
        </p:nvSpPr>
        <p:spPr>
          <a:xfrm>
            <a:off x="1596980" y="2020334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E52C97-980F-4EA2-A75D-1BD50EF0ACCB}"/>
              </a:ext>
            </a:extLst>
          </p:cNvPr>
          <p:cNvSpPr txBox="1"/>
          <p:nvPr/>
        </p:nvSpPr>
        <p:spPr>
          <a:xfrm>
            <a:off x="1596979" y="4244800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D51149-0A65-42A2-9896-F4A3D64AC65C}"/>
              </a:ext>
            </a:extLst>
          </p:cNvPr>
          <p:cNvSpPr txBox="1"/>
          <p:nvPr/>
        </p:nvSpPr>
        <p:spPr>
          <a:xfrm>
            <a:off x="1968322" y="2733536"/>
            <a:ext cx="3093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*p;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FDA367-19A9-4700-BFB8-AC8D7AE621ED}"/>
              </a:ext>
            </a:extLst>
          </p:cNvPr>
          <p:cNvSpPr txBox="1"/>
          <p:nvPr/>
        </p:nvSpPr>
        <p:spPr>
          <a:xfrm>
            <a:off x="1968320" y="2384246"/>
            <a:ext cx="2783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a=10;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3BBD0B-BC60-4DDE-9415-BC84802E8168}"/>
              </a:ext>
            </a:extLst>
          </p:cNvPr>
          <p:cNvSpPr txBox="1"/>
          <p:nvPr/>
        </p:nvSpPr>
        <p:spPr>
          <a:xfrm>
            <a:off x="1968321" y="3126769"/>
            <a:ext cx="1650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p=&amp;a;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DEE87C-9170-4C57-A8FC-8EFECFDF0903}"/>
              </a:ext>
            </a:extLst>
          </p:cNvPr>
          <p:cNvSpPr txBox="1"/>
          <p:nvPr/>
        </p:nvSpPr>
        <p:spPr>
          <a:xfrm>
            <a:off x="1968322" y="3503302"/>
            <a:ext cx="3093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("Value of a is: %</a:t>
            </a:r>
            <a:r>
              <a:rPr lang="en-US" dirty="0" err="1"/>
              <a:t>d",a</a:t>
            </a:r>
            <a:r>
              <a:rPr lang="en-US" dirty="0"/>
              <a:t>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7B8371-6C4E-4AAA-BA96-792D61F628EB}"/>
              </a:ext>
            </a:extLst>
          </p:cNvPr>
          <p:cNvSpPr txBox="1"/>
          <p:nvPr/>
        </p:nvSpPr>
        <p:spPr>
          <a:xfrm>
            <a:off x="1968322" y="3875468"/>
            <a:ext cx="3093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nAddress</a:t>
            </a:r>
            <a:r>
              <a:rPr lang="en-US" dirty="0"/>
              <a:t> of a is: %</a:t>
            </a:r>
            <a:r>
              <a:rPr lang="en-US" dirty="0" err="1"/>
              <a:t>u",p</a:t>
            </a:r>
            <a:r>
              <a:rPr lang="en-US" dirty="0"/>
              <a:t>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097463-4DAA-416D-B6B1-51FE1DF9A3B0}"/>
              </a:ext>
            </a:extLst>
          </p:cNvPr>
          <p:cNvSpPr txBox="1"/>
          <p:nvPr/>
        </p:nvSpPr>
        <p:spPr>
          <a:xfrm>
            <a:off x="7014571" y="3095991"/>
            <a:ext cx="18803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OUTPUT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FE0C05-71AC-48E4-BB6D-4A4432425248}"/>
              </a:ext>
            </a:extLst>
          </p:cNvPr>
          <p:cNvSpPr txBox="1"/>
          <p:nvPr/>
        </p:nvSpPr>
        <p:spPr>
          <a:xfrm>
            <a:off x="7014571" y="3499725"/>
            <a:ext cx="3093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Value of a is: 10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B1A740-EF85-4DD2-BA4E-01D7AFBC46EA}"/>
              </a:ext>
            </a:extLst>
          </p:cNvPr>
          <p:cNvSpPr txBox="1"/>
          <p:nvPr/>
        </p:nvSpPr>
        <p:spPr>
          <a:xfrm>
            <a:off x="7014571" y="3871891"/>
            <a:ext cx="3093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Address of a is: 6487574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C5CEF50-29A2-472F-81B5-B92A47396F48}"/>
              </a:ext>
            </a:extLst>
          </p:cNvPr>
          <p:cNvSpPr/>
          <p:nvPr/>
        </p:nvSpPr>
        <p:spPr>
          <a:xfrm>
            <a:off x="4257207" y="3831983"/>
            <a:ext cx="495096" cy="44108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D98E66C-9A47-42E2-B586-75BF4DC5315F}"/>
              </a:ext>
            </a:extLst>
          </p:cNvPr>
          <p:cNvCxnSpPr/>
          <p:nvPr/>
        </p:nvCxnSpPr>
        <p:spPr>
          <a:xfrm flipH="1">
            <a:off x="2975020" y="2923504"/>
            <a:ext cx="309093" cy="0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B149937-390E-48BB-AA96-557855CA02F8}"/>
              </a:ext>
            </a:extLst>
          </p:cNvPr>
          <p:cNvSpPr/>
          <p:nvPr/>
        </p:nvSpPr>
        <p:spPr>
          <a:xfrm>
            <a:off x="3293825" y="2750356"/>
            <a:ext cx="1701086" cy="36933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accent6"/>
              </a:buClr>
            </a:pPr>
            <a:r>
              <a:rPr lang="en-US" sz="1400" b="1" dirty="0">
                <a:solidFill>
                  <a:schemeClr val="accent1"/>
                </a:solidFill>
                <a:cs typeface="Lohit Gujarati" panose="020B0600000000000000" pitchFamily="34" charset="0"/>
              </a:rPr>
              <a:t>Pointer Declaration 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0E3DAE3-7809-4513-AF47-7A6036D52CF4}"/>
              </a:ext>
            </a:extLst>
          </p:cNvPr>
          <p:cNvCxnSpPr/>
          <p:nvPr/>
        </p:nvCxnSpPr>
        <p:spPr>
          <a:xfrm flipH="1">
            <a:off x="2975020" y="3345124"/>
            <a:ext cx="309093" cy="0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7A9E164-16C5-4D80-B469-178E5AB9214E}"/>
              </a:ext>
            </a:extLst>
          </p:cNvPr>
          <p:cNvSpPr/>
          <p:nvPr/>
        </p:nvSpPr>
        <p:spPr>
          <a:xfrm>
            <a:off x="3293825" y="3162266"/>
            <a:ext cx="1701086" cy="36933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accent6"/>
              </a:buClr>
            </a:pPr>
            <a:r>
              <a:rPr lang="en-US" sz="1400" b="1" dirty="0">
                <a:solidFill>
                  <a:schemeClr val="accent1"/>
                </a:solidFill>
                <a:cs typeface="Lohit Gujarati" panose="020B0600000000000000" pitchFamily="34" charset="0"/>
              </a:rPr>
              <a:t>Pointer Initialization</a:t>
            </a:r>
          </a:p>
        </p:txBody>
      </p:sp>
    </p:spTree>
    <p:extLst>
      <p:ext uri="{BB962C8B-B14F-4D97-AF65-F5344CB8AC3E}">
        <p14:creationId xmlns:p14="http://schemas.microsoft.com/office/powerpoint/2010/main" val="3219873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 animBg="1"/>
      <p:bldP spid="16" grpId="1" animBg="1"/>
      <p:bldP spid="19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4291A-E875-45AA-9A48-EFB885A5F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Pointer</a:t>
            </a:r>
            <a:endParaRPr lang="en-US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148A8-94B1-4F87-811F-B47A8A400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Pointers provide direct access to memory.</a:t>
            </a:r>
          </a:p>
          <a:p>
            <a:r>
              <a:rPr lang="en-US" dirty="0"/>
              <a:t>Reduces the execution time of the program.</a:t>
            </a:r>
          </a:p>
          <a:p>
            <a:r>
              <a:rPr lang="en-US" dirty="0"/>
              <a:t>Pointer save memory space.</a:t>
            </a:r>
          </a:p>
          <a:p>
            <a:r>
              <a:rPr lang="en-US" dirty="0"/>
              <a:t>Pointers provide a way to return more than one value to the functions.</a:t>
            </a:r>
          </a:p>
          <a:p>
            <a:r>
              <a:rPr lang="en-US" dirty="0"/>
              <a:t>Reduces the storage space and complexity of the program.</a:t>
            </a:r>
            <a:endParaRPr lang="gu-IN" dirty="0"/>
          </a:p>
          <a:p>
            <a:r>
              <a:rPr lang="en-US" dirty="0"/>
              <a:t>Provides an alternate way to access array elements.</a:t>
            </a:r>
          </a:p>
          <a:p>
            <a:r>
              <a:rPr lang="en-US" dirty="0"/>
              <a:t>Pointers helps us to build complex data structures like linked list, stack, queues, trees, graphs etc.</a:t>
            </a:r>
          </a:p>
          <a:p>
            <a:r>
              <a:rPr lang="en-US" dirty="0"/>
              <a:t>Pointers allow us to resize the dynamically allocated memory block.</a:t>
            </a:r>
            <a:endParaRPr lang="gu-IN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27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4291A-E875-45AA-9A48-EFB885A5F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Limitations </a:t>
            </a:r>
            <a:r>
              <a:rPr lang="en-US" dirty="0"/>
              <a:t>of Pointer</a:t>
            </a:r>
            <a:endParaRPr lang="en-US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148A8-94B1-4F87-811F-B47A8A400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pointers are updated with incorrect values, it might lead to memory corruption.</a:t>
            </a:r>
            <a:endParaRPr lang="gu-IN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r>
              <a:rPr lang="en-US" dirty="0"/>
              <a:t>Uninitialized pointers might cause segmentation fault.</a:t>
            </a:r>
          </a:p>
          <a:p>
            <a:pPr marL="0" indent="0">
              <a:buNone/>
            </a:pPr>
            <a:endParaRPr lang="gu-IN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endParaRPr lang="gu-IN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079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83E3B-2511-4243-BA47-B3F8B49B3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Expression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EF239-0D7E-40EC-AD1F-DF340BCF1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 </a:t>
            </a:r>
          </a:p>
        </p:txBody>
      </p:sp>
    </p:spTree>
    <p:extLst>
      <p:ext uri="{BB962C8B-B14F-4D97-AF65-F5344CB8AC3E}">
        <p14:creationId xmlns:p14="http://schemas.microsoft.com/office/powerpoint/2010/main" val="1683133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FB57DD-7DB6-4AA6-8516-81A1D7A6F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Expression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962C57-6BF4-450A-93AA-BA9389CB5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 supports very rich set of built – in operation like arithmetic, relational, conditional, assignment etc.</a:t>
            </a:r>
          </a:p>
          <a:p>
            <a:r>
              <a:rPr lang="en-US" dirty="0"/>
              <a:t>Just like any other variable, these operations can also be performed with pointer variables.</a:t>
            </a:r>
            <a:endParaRPr lang="en-US" dirty="0">
              <a:cs typeface="Lohit Gujarati" panose="020B0600000000000000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cs typeface="Lohit Gujarati" panose="020B0600000000000000" pitchFamily="34" charset="0"/>
              </a:rPr>
              <a:t>Arithmetic Operators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cs typeface="Lohit Gujarati" panose="020B0600000000000000" pitchFamily="34" charset="0"/>
              </a:rPr>
              <a:t>Relational Operators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cs typeface="Lohit Gujarati" panose="020B0600000000000000" pitchFamily="34" charset="0"/>
              </a:rPr>
              <a:t>Assignment Operators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cs typeface="Lohit Gujarati" panose="020B0600000000000000" pitchFamily="34" charset="0"/>
              </a:rPr>
              <a:t>Conditional Operators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cs typeface="Lohit Gujarati" panose="020B0600000000000000" pitchFamily="34" charset="0"/>
              </a:rPr>
              <a:t>Unary Operators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cs typeface="Lohit Gujarati" panose="020B0600000000000000" pitchFamily="34" charset="0"/>
              </a:rPr>
              <a:t>Bitwise Operators</a:t>
            </a:r>
          </a:p>
        </p:txBody>
      </p:sp>
    </p:spTree>
    <p:extLst>
      <p:ext uri="{BB962C8B-B14F-4D97-AF65-F5344CB8AC3E}">
        <p14:creationId xmlns:p14="http://schemas.microsoft.com/office/powerpoint/2010/main" val="3258539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FB57DD-7DB6-4AA6-8516-81A1D7A6F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Expression (Conti…)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962C57-6BF4-450A-93AA-BA9389CB5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>
                <a:cs typeface="Lohit Gujarati" panose="020B0600000000000000" pitchFamily="34" charset="0"/>
              </a:rPr>
              <a:t>Arithmetic Operators</a:t>
            </a:r>
          </a:p>
          <a:p>
            <a:pPr lvl="0"/>
            <a:r>
              <a:rPr lang="en-US" dirty="0"/>
              <a:t>We can perform arithmetic operations to pointer variables using arithmetic operators. </a:t>
            </a:r>
          </a:p>
          <a:p>
            <a:r>
              <a:rPr lang="en-US" dirty="0"/>
              <a:t>Following operators that can be performed on pointer variables;</a:t>
            </a:r>
          </a:p>
          <a:p>
            <a:r>
              <a:rPr lang="en-US" dirty="0"/>
              <a:t>Example;</a:t>
            </a:r>
          </a:p>
          <a:p>
            <a:pPr marL="0" indent="0">
              <a:buNone/>
            </a:pPr>
            <a:endParaRPr lang="en-US" dirty="0">
              <a:cs typeface="Lohit Gujarati" panose="020B0600000000000000" pitchFamily="34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CB7A64A7-A9EA-448E-A10C-082280463695}"/>
              </a:ext>
            </a:extLst>
          </p:cNvPr>
          <p:cNvGraphicFramePr>
            <a:graphicFrameLocks noGrp="1"/>
          </p:cNvGraphicFramePr>
          <p:nvPr/>
        </p:nvGraphicFramePr>
        <p:xfrm>
          <a:off x="10029588" y="2074352"/>
          <a:ext cx="187126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1260">
                  <a:extLst>
                    <a:ext uri="{9D8B030D-6E8A-4147-A177-3AD203B41FA5}">
                      <a16:colId xmlns:a16="http://schemas.microsoft.com/office/drawing/2014/main" val="5793513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Operators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972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+ (Addition)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156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- (Subtraction)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0792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* (Multiplication)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483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/ (Division)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6115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% (Modulo)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2869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1FCF7FB-FDCD-4C4A-B156-794C648EEF13}"/>
              </a:ext>
            </a:extLst>
          </p:cNvPr>
          <p:cNvSpPr txBox="1"/>
          <p:nvPr/>
        </p:nvSpPr>
        <p:spPr>
          <a:xfrm>
            <a:off x="3344325" y="2234904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#include&lt;stdio.h&gt;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EA0850-56AD-4DF4-8104-194BB86CA1FF}"/>
              </a:ext>
            </a:extLst>
          </p:cNvPr>
          <p:cNvSpPr txBox="1"/>
          <p:nvPr/>
        </p:nvSpPr>
        <p:spPr>
          <a:xfrm>
            <a:off x="3344325" y="2598939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main()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2A2794-E9B2-4452-AFE1-25B87E985F8C}"/>
              </a:ext>
            </a:extLst>
          </p:cNvPr>
          <p:cNvSpPr txBox="1"/>
          <p:nvPr/>
        </p:nvSpPr>
        <p:spPr>
          <a:xfrm>
            <a:off x="3344325" y="2993445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CF7015-91E2-4954-B35A-8B7F6A0FBF33}"/>
              </a:ext>
            </a:extLst>
          </p:cNvPr>
          <p:cNvSpPr txBox="1"/>
          <p:nvPr/>
        </p:nvSpPr>
        <p:spPr>
          <a:xfrm>
            <a:off x="3344324" y="6294035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71335C-EB73-43D2-88BE-709B4699B1D7}"/>
              </a:ext>
            </a:extLst>
          </p:cNvPr>
          <p:cNvSpPr txBox="1"/>
          <p:nvPr/>
        </p:nvSpPr>
        <p:spPr>
          <a:xfrm>
            <a:off x="3796160" y="3703643"/>
            <a:ext cx="3093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*p1,*p2;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8204FE-DF96-49E7-872B-F400B017254F}"/>
              </a:ext>
            </a:extLst>
          </p:cNvPr>
          <p:cNvSpPr txBox="1"/>
          <p:nvPr/>
        </p:nvSpPr>
        <p:spPr>
          <a:xfrm>
            <a:off x="3796160" y="3319178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</a:t>
            </a:r>
            <a:r>
              <a:rPr lang="en-US" dirty="0" err="1"/>
              <a:t>a,b,c</a:t>
            </a:r>
            <a:r>
              <a:rPr lang="en-US" dirty="0"/>
              <a:t>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B95F5D-8BF6-41D9-BD79-129E70AC7B3F}"/>
              </a:ext>
            </a:extLst>
          </p:cNvPr>
          <p:cNvSpPr txBox="1"/>
          <p:nvPr/>
        </p:nvSpPr>
        <p:spPr>
          <a:xfrm>
            <a:off x="3796159" y="4100832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(“Enter value of a and b");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8BA5E7-8061-49BA-92A7-7D565FD53734}"/>
              </a:ext>
            </a:extLst>
          </p:cNvPr>
          <p:cNvSpPr txBox="1"/>
          <p:nvPr/>
        </p:nvSpPr>
        <p:spPr>
          <a:xfrm>
            <a:off x="3796159" y="4477731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scanf</a:t>
            </a:r>
            <a:r>
              <a:rPr lang="en-US" dirty="0"/>
              <a:t>(“%d %</a:t>
            </a:r>
            <a:r>
              <a:rPr lang="en-US" dirty="0" err="1"/>
              <a:t>d“,&amp;a,&amp;b</a:t>
            </a:r>
            <a:r>
              <a:rPr lang="en-US" dirty="0"/>
              <a:t>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82F479-D498-4D07-A723-587C38824AB3}"/>
              </a:ext>
            </a:extLst>
          </p:cNvPr>
          <p:cNvSpPr txBox="1"/>
          <p:nvPr/>
        </p:nvSpPr>
        <p:spPr>
          <a:xfrm>
            <a:off x="3796159" y="4854630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p1=&amp;a;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928A02-26E6-4DAE-8CB1-819FBE6FA30F}"/>
              </a:ext>
            </a:extLst>
          </p:cNvPr>
          <p:cNvSpPr txBox="1"/>
          <p:nvPr/>
        </p:nvSpPr>
        <p:spPr>
          <a:xfrm>
            <a:off x="3796159" y="5215092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p2=&amp;b;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F6A964-D5B1-4441-9CB7-7308CEE6D0EA}"/>
              </a:ext>
            </a:extLst>
          </p:cNvPr>
          <p:cNvSpPr txBox="1"/>
          <p:nvPr/>
        </p:nvSpPr>
        <p:spPr>
          <a:xfrm>
            <a:off x="3796158" y="5594059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c=*p1 + *p2;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DA93E1-389D-433E-9B93-CCBC5F20C5A1}"/>
              </a:ext>
            </a:extLst>
          </p:cNvPr>
          <p:cNvSpPr txBox="1"/>
          <p:nvPr/>
        </p:nvSpPr>
        <p:spPr>
          <a:xfrm>
            <a:off x="3796157" y="5933244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(“\n Addition is: %</a:t>
            </a:r>
            <a:r>
              <a:rPr lang="en-US" dirty="0" err="1"/>
              <a:t>d”,c</a:t>
            </a:r>
            <a:r>
              <a:rPr lang="en-US" dirty="0"/>
              <a:t>);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292570-A6A3-43D4-A30D-888942A684A2}"/>
              </a:ext>
            </a:extLst>
          </p:cNvPr>
          <p:cNvSpPr txBox="1"/>
          <p:nvPr/>
        </p:nvSpPr>
        <p:spPr>
          <a:xfrm>
            <a:off x="7719165" y="4771991"/>
            <a:ext cx="1277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OUTPUT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325761-5468-44E2-877A-670DF69A9924}"/>
              </a:ext>
            </a:extLst>
          </p:cNvPr>
          <p:cNvSpPr txBox="1"/>
          <p:nvPr/>
        </p:nvSpPr>
        <p:spPr>
          <a:xfrm>
            <a:off x="7719164" y="5175725"/>
            <a:ext cx="2402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Enter value of a and 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1C09A1-E8C9-4043-BF7C-B57079F8ACD9}"/>
              </a:ext>
            </a:extLst>
          </p:cNvPr>
          <p:cNvSpPr txBox="1"/>
          <p:nvPr/>
        </p:nvSpPr>
        <p:spPr>
          <a:xfrm>
            <a:off x="7719164" y="5584424"/>
            <a:ext cx="2402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12   15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335CDA-172D-4AD4-9D62-9CA28CC71542}"/>
              </a:ext>
            </a:extLst>
          </p:cNvPr>
          <p:cNvSpPr txBox="1"/>
          <p:nvPr/>
        </p:nvSpPr>
        <p:spPr>
          <a:xfrm>
            <a:off x="7719164" y="5984709"/>
            <a:ext cx="2402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Addition is: 27</a:t>
            </a:r>
          </a:p>
        </p:txBody>
      </p:sp>
    </p:spTree>
    <p:extLst>
      <p:ext uri="{BB962C8B-B14F-4D97-AF65-F5344CB8AC3E}">
        <p14:creationId xmlns:p14="http://schemas.microsoft.com/office/powerpoint/2010/main" val="2133850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  <p:bldP spid="17" grpId="0"/>
      <p:bldP spid="18" grpId="0"/>
      <p:bldP spid="20" grpId="0"/>
      <p:bldP spid="21" grpId="0"/>
      <p:bldP spid="22" grpId="0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FB57DD-7DB6-4AA6-8516-81A1D7A6F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Expression (Conti…)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962C57-6BF4-450A-93AA-BA9389CB5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b="1" dirty="0">
                <a:cs typeface="Lohit Gujarati" panose="020B0600000000000000" pitchFamily="34" charset="0"/>
              </a:rPr>
              <a:t>Relational Operators</a:t>
            </a:r>
          </a:p>
          <a:p>
            <a:pPr lvl="0"/>
            <a:r>
              <a:rPr lang="en-US" dirty="0"/>
              <a:t>Relational operators are used to compare values. </a:t>
            </a:r>
          </a:p>
          <a:p>
            <a:r>
              <a:rPr lang="en-US" dirty="0"/>
              <a:t>Following operators that can be performed on pointer variables;</a:t>
            </a:r>
          </a:p>
          <a:p>
            <a:r>
              <a:rPr lang="en-US" dirty="0"/>
              <a:t>Example;</a:t>
            </a:r>
          </a:p>
          <a:p>
            <a:pPr marL="0" indent="0">
              <a:buNone/>
            </a:pPr>
            <a:endParaRPr lang="en-US" dirty="0">
              <a:cs typeface="Lohit Gujarati" panose="020B0600000000000000" pitchFamily="34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CB7A64A7-A9EA-448E-A10C-082280463695}"/>
              </a:ext>
            </a:extLst>
          </p:cNvPr>
          <p:cNvGraphicFramePr>
            <a:graphicFrameLocks noGrp="1"/>
          </p:cNvGraphicFramePr>
          <p:nvPr/>
        </p:nvGraphicFramePr>
        <p:xfrm>
          <a:off x="9362364" y="2074352"/>
          <a:ext cx="2538485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8485">
                  <a:extLst>
                    <a:ext uri="{9D8B030D-6E8A-4147-A177-3AD203B41FA5}">
                      <a16:colId xmlns:a16="http://schemas.microsoft.com/office/drawing/2014/main" val="5793513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Operators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972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&lt; (Less than)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156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&lt;= (Less than equal to)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0792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&gt; (Grater than)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483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&gt;= (Greater than equal to)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6115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== (Equal to)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28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!= (Not equal to)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26974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1FCF7FB-FDCD-4C4A-B156-794C648EEF13}"/>
              </a:ext>
            </a:extLst>
          </p:cNvPr>
          <p:cNvSpPr txBox="1"/>
          <p:nvPr/>
        </p:nvSpPr>
        <p:spPr>
          <a:xfrm>
            <a:off x="3344325" y="2234904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#include&lt;stdio.h&gt;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EA0850-56AD-4DF4-8104-194BB86CA1FF}"/>
              </a:ext>
            </a:extLst>
          </p:cNvPr>
          <p:cNvSpPr txBox="1"/>
          <p:nvPr/>
        </p:nvSpPr>
        <p:spPr>
          <a:xfrm>
            <a:off x="3344325" y="2598939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main()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2A2794-E9B2-4452-AFE1-25B87E985F8C}"/>
              </a:ext>
            </a:extLst>
          </p:cNvPr>
          <p:cNvSpPr txBox="1"/>
          <p:nvPr/>
        </p:nvSpPr>
        <p:spPr>
          <a:xfrm>
            <a:off x="3344325" y="2993445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CF7015-91E2-4954-B35A-8B7F6A0FBF33}"/>
              </a:ext>
            </a:extLst>
          </p:cNvPr>
          <p:cNvSpPr txBox="1"/>
          <p:nvPr/>
        </p:nvSpPr>
        <p:spPr>
          <a:xfrm>
            <a:off x="3344324" y="6294035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71335C-EB73-43D2-88BE-709B4699B1D7}"/>
              </a:ext>
            </a:extLst>
          </p:cNvPr>
          <p:cNvSpPr txBox="1"/>
          <p:nvPr/>
        </p:nvSpPr>
        <p:spPr>
          <a:xfrm>
            <a:off x="3796160" y="3703643"/>
            <a:ext cx="3093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*p1,*p2;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8204FE-DF96-49E7-872B-F400B017254F}"/>
              </a:ext>
            </a:extLst>
          </p:cNvPr>
          <p:cNvSpPr txBox="1"/>
          <p:nvPr/>
        </p:nvSpPr>
        <p:spPr>
          <a:xfrm>
            <a:off x="3796160" y="3319178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</a:t>
            </a:r>
            <a:r>
              <a:rPr lang="en-US" dirty="0" err="1"/>
              <a:t>a,b</a:t>
            </a:r>
            <a:r>
              <a:rPr lang="en-US" dirty="0"/>
              <a:t>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B95F5D-8BF6-41D9-BD79-129E70AC7B3F}"/>
              </a:ext>
            </a:extLst>
          </p:cNvPr>
          <p:cNvSpPr txBox="1"/>
          <p:nvPr/>
        </p:nvSpPr>
        <p:spPr>
          <a:xfrm>
            <a:off x="3796159" y="4100832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(“Enter value of a and b");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8BA5E7-8061-49BA-92A7-7D565FD53734}"/>
              </a:ext>
            </a:extLst>
          </p:cNvPr>
          <p:cNvSpPr txBox="1"/>
          <p:nvPr/>
        </p:nvSpPr>
        <p:spPr>
          <a:xfrm>
            <a:off x="3796159" y="4477731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scanf</a:t>
            </a:r>
            <a:r>
              <a:rPr lang="en-US" dirty="0"/>
              <a:t>(“%d %</a:t>
            </a:r>
            <a:r>
              <a:rPr lang="en-US" dirty="0" err="1"/>
              <a:t>d“,&amp;a,&amp;b</a:t>
            </a:r>
            <a:r>
              <a:rPr lang="en-US" dirty="0"/>
              <a:t>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82F479-D498-4D07-A723-587C38824AB3}"/>
              </a:ext>
            </a:extLst>
          </p:cNvPr>
          <p:cNvSpPr txBox="1"/>
          <p:nvPr/>
        </p:nvSpPr>
        <p:spPr>
          <a:xfrm>
            <a:off x="3796159" y="4854630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p1=&amp;a;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928A02-26E6-4DAE-8CB1-819FBE6FA30F}"/>
              </a:ext>
            </a:extLst>
          </p:cNvPr>
          <p:cNvSpPr txBox="1"/>
          <p:nvPr/>
        </p:nvSpPr>
        <p:spPr>
          <a:xfrm>
            <a:off x="3796159" y="5215092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p2=&amp;b;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F6A964-D5B1-4441-9CB7-7308CEE6D0EA}"/>
              </a:ext>
            </a:extLst>
          </p:cNvPr>
          <p:cNvSpPr txBox="1"/>
          <p:nvPr/>
        </p:nvSpPr>
        <p:spPr>
          <a:xfrm>
            <a:off x="3796158" y="5594059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if (*p1&gt;*p2)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DA93E1-389D-433E-9B93-CCBC5F20C5A1}"/>
              </a:ext>
            </a:extLst>
          </p:cNvPr>
          <p:cNvSpPr txBox="1"/>
          <p:nvPr/>
        </p:nvSpPr>
        <p:spPr>
          <a:xfrm>
            <a:off x="4107218" y="5948529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(“\n %d is maximum”,*p1);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B4ED8D-BD80-4E0F-908A-E425181DDBB9}"/>
              </a:ext>
            </a:extLst>
          </p:cNvPr>
          <p:cNvSpPr txBox="1"/>
          <p:nvPr/>
        </p:nvSpPr>
        <p:spPr>
          <a:xfrm>
            <a:off x="7214249" y="5552002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else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F70AAE-995F-4985-9020-7AACC0C4BB01}"/>
              </a:ext>
            </a:extLst>
          </p:cNvPr>
          <p:cNvSpPr txBox="1"/>
          <p:nvPr/>
        </p:nvSpPr>
        <p:spPr>
          <a:xfrm>
            <a:off x="7525309" y="5906472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(“\n %d is maximum”,*p2);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2C0171-2A8E-4A0A-8BD5-A791C4CADEA9}"/>
              </a:ext>
            </a:extLst>
          </p:cNvPr>
          <p:cNvSpPr txBox="1"/>
          <p:nvPr/>
        </p:nvSpPr>
        <p:spPr>
          <a:xfrm>
            <a:off x="6799949" y="3676449"/>
            <a:ext cx="1277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OUTPUT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6D902E8-8DA5-4705-AD4F-8098913944DA}"/>
              </a:ext>
            </a:extLst>
          </p:cNvPr>
          <p:cNvSpPr txBox="1"/>
          <p:nvPr/>
        </p:nvSpPr>
        <p:spPr>
          <a:xfrm>
            <a:off x="6799948" y="4080183"/>
            <a:ext cx="2402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Enter value of a and 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37236C-A924-4869-8991-367EB244DD0A}"/>
              </a:ext>
            </a:extLst>
          </p:cNvPr>
          <p:cNvSpPr txBox="1"/>
          <p:nvPr/>
        </p:nvSpPr>
        <p:spPr>
          <a:xfrm>
            <a:off x="6799948" y="4488882"/>
            <a:ext cx="2402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12   15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327361-A945-4F56-B95C-7AF9F4DB0075}"/>
              </a:ext>
            </a:extLst>
          </p:cNvPr>
          <p:cNvSpPr txBox="1"/>
          <p:nvPr/>
        </p:nvSpPr>
        <p:spPr>
          <a:xfrm>
            <a:off x="6799948" y="4889167"/>
            <a:ext cx="2402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15 is maximum</a:t>
            </a:r>
          </a:p>
        </p:txBody>
      </p:sp>
    </p:spTree>
    <p:extLst>
      <p:ext uri="{BB962C8B-B14F-4D97-AF65-F5344CB8AC3E}">
        <p14:creationId xmlns:p14="http://schemas.microsoft.com/office/powerpoint/2010/main" val="645490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FB57DD-7DB6-4AA6-8516-81A1D7A6F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Expression (Conti…)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962C57-6BF4-450A-93AA-BA9389CB5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b="1" dirty="0">
                <a:cs typeface="Lohit Gujarati" panose="020B0600000000000000" pitchFamily="34" charset="0"/>
              </a:rPr>
              <a:t>Assignment Operators</a:t>
            </a:r>
          </a:p>
          <a:p>
            <a:pPr lvl="0"/>
            <a:r>
              <a:rPr lang="en-US" dirty="0"/>
              <a:t>Assignment operators are used to assign values to the identifier. </a:t>
            </a:r>
          </a:p>
          <a:p>
            <a:r>
              <a:rPr lang="en-US" dirty="0"/>
              <a:t>Following operators that can be performed on pointer variables;</a:t>
            </a:r>
          </a:p>
          <a:p>
            <a:r>
              <a:rPr lang="en-US" dirty="0"/>
              <a:t>Example;</a:t>
            </a:r>
          </a:p>
          <a:p>
            <a:pPr marL="0" indent="0">
              <a:buNone/>
            </a:pPr>
            <a:endParaRPr lang="en-US" dirty="0">
              <a:cs typeface="Lohit Gujarati" panose="020B0600000000000000" pitchFamily="34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CB7A64A7-A9EA-448E-A10C-082280463695}"/>
              </a:ext>
            </a:extLst>
          </p:cNvPr>
          <p:cNvGraphicFramePr>
            <a:graphicFrameLocks noGrp="1"/>
          </p:cNvGraphicFramePr>
          <p:nvPr/>
        </p:nvGraphicFramePr>
        <p:xfrm>
          <a:off x="10029588" y="2074352"/>
          <a:ext cx="187126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1260">
                  <a:extLst>
                    <a:ext uri="{9D8B030D-6E8A-4147-A177-3AD203B41FA5}">
                      <a16:colId xmlns:a16="http://schemas.microsoft.com/office/drawing/2014/main" val="5793513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Operators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972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=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156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+=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0792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-=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483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*=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6115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/=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28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%=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2408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1FCF7FB-FDCD-4C4A-B156-794C648EEF13}"/>
              </a:ext>
            </a:extLst>
          </p:cNvPr>
          <p:cNvSpPr txBox="1"/>
          <p:nvPr/>
        </p:nvSpPr>
        <p:spPr>
          <a:xfrm>
            <a:off x="3344325" y="2234904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#include&lt;stdio.h&gt;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EA0850-56AD-4DF4-8104-194BB86CA1FF}"/>
              </a:ext>
            </a:extLst>
          </p:cNvPr>
          <p:cNvSpPr txBox="1"/>
          <p:nvPr/>
        </p:nvSpPr>
        <p:spPr>
          <a:xfrm>
            <a:off x="3344325" y="2598939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main()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2A2794-E9B2-4452-AFE1-25B87E985F8C}"/>
              </a:ext>
            </a:extLst>
          </p:cNvPr>
          <p:cNvSpPr txBox="1"/>
          <p:nvPr/>
        </p:nvSpPr>
        <p:spPr>
          <a:xfrm>
            <a:off x="3344325" y="2993445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CF7015-91E2-4954-B35A-8B7F6A0FBF33}"/>
              </a:ext>
            </a:extLst>
          </p:cNvPr>
          <p:cNvSpPr txBox="1"/>
          <p:nvPr/>
        </p:nvSpPr>
        <p:spPr>
          <a:xfrm>
            <a:off x="3344324" y="6294035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71335C-EB73-43D2-88BE-709B4699B1D7}"/>
              </a:ext>
            </a:extLst>
          </p:cNvPr>
          <p:cNvSpPr txBox="1"/>
          <p:nvPr/>
        </p:nvSpPr>
        <p:spPr>
          <a:xfrm>
            <a:off x="3796160" y="3703643"/>
            <a:ext cx="3093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*p1;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8204FE-DF96-49E7-872B-F400B017254F}"/>
              </a:ext>
            </a:extLst>
          </p:cNvPr>
          <p:cNvSpPr txBox="1"/>
          <p:nvPr/>
        </p:nvSpPr>
        <p:spPr>
          <a:xfrm>
            <a:off x="3796160" y="3319178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a;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B95F5D-8BF6-41D9-BD79-129E70AC7B3F}"/>
              </a:ext>
            </a:extLst>
          </p:cNvPr>
          <p:cNvSpPr txBox="1"/>
          <p:nvPr/>
        </p:nvSpPr>
        <p:spPr>
          <a:xfrm>
            <a:off x="3796159" y="4100832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(“Enter value of a:");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8BA5E7-8061-49BA-92A7-7D565FD53734}"/>
              </a:ext>
            </a:extLst>
          </p:cNvPr>
          <p:cNvSpPr txBox="1"/>
          <p:nvPr/>
        </p:nvSpPr>
        <p:spPr>
          <a:xfrm>
            <a:off x="3796159" y="4477731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scanf</a:t>
            </a:r>
            <a:r>
              <a:rPr lang="en-US" dirty="0"/>
              <a:t>(“%</a:t>
            </a:r>
            <a:r>
              <a:rPr lang="en-US" dirty="0" err="1"/>
              <a:t>d“,&amp;a</a:t>
            </a:r>
            <a:r>
              <a:rPr lang="en-US" dirty="0"/>
              <a:t>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82F479-D498-4D07-A723-587C38824AB3}"/>
              </a:ext>
            </a:extLst>
          </p:cNvPr>
          <p:cNvSpPr txBox="1"/>
          <p:nvPr/>
        </p:nvSpPr>
        <p:spPr>
          <a:xfrm>
            <a:off x="3796159" y="4854630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p1=&amp;a;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F6A964-D5B1-4441-9CB7-7308CEE6D0EA}"/>
              </a:ext>
            </a:extLst>
          </p:cNvPr>
          <p:cNvSpPr txBox="1"/>
          <p:nvPr/>
        </p:nvSpPr>
        <p:spPr>
          <a:xfrm>
            <a:off x="3796158" y="5594059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scanf</a:t>
            </a:r>
            <a:r>
              <a:rPr lang="en-US" dirty="0"/>
              <a:t>(“%d”,p1);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DA93E1-389D-433E-9B93-CCBC5F20C5A1}"/>
              </a:ext>
            </a:extLst>
          </p:cNvPr>
          <p:cNvSpPr txBox="1"/>
          <p:nvPr/>
        </p:nvSpPr>
        <p:spPr>
          <a:xfrm>
            <a:off x="3796157" y="5933244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(“\n Value of *p1: %d”,*p1);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313D27-663D-4DD5-9F8A-65B73AC74F09}"/>
              </a:ext>
            </a:extLst>
          </p:cNvPr>
          <p:cNvSpPr txBox="1"/>
          <p:nvPr/>
        </p:nvSpPr>
        <p:spPr>
          <a:xfrm>
            <a:off x="3796157" y="5209361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(“Enter value of *p1:");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982AAE-0E49-406D-91A3-F171B532C673}"/>
              </a:ext>
            </a:extLst>
          </p:cNvPr>
          <p:cNvSpPr txBox="1"/>
          <p:nvPr/>
        </p:nvSpPr>
        <p:spPr>
          <a:xfrm>
            <a:off x="7210436" y="3672100"/>
            <a:ext cx="1277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OUTPUT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0F06EA-0C06-496F-A37D-26C93BAC4552}"/>
              </a:ext>
            </a:extLst>
          </p:cNvPr>
          <p:cNvSpPr txBox="1"/>
          <p:nvPr/>
        </p:nvSpPr>
        <p:spPr>
          <a:xfrm>
            <a:off x="7210435" y="5223729"/>
            <a:ext cx="2402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Enter value of *p1: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2322D2-1888-4F95-AC63-E2E290DBEED8}"/>
              </a:ext>
            </a:extLst>
          </p:cNvPr>
          <p:cNvSpPr txBox="1"/>
          <p:nvPr/>
        </p:nvSpPr>
        <p:spPr>
          <a:xfrm>
            <a:off x="7210435" y="4484533"/>
            <a:ext cx="2402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84CAFA-123B-4B1E-88DC-8AF4D5FE3BF3}"/>
              </a:ext>
            </a:extLst>
          </p:cNvPr>
          <p:cNvSpPr txBox="1"/>
          <p:nvPr/>
        </p:nvSpPr>
        <p:spPr>
          <a:xfrm>
            <a:off x="7196951" y="5935741"/>
            <a:ext cx="2402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Value of *p1: 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8E51B2-7E05-4BC2-9800-499F24EFDA2F}"/>
              </a:ext>
            </a:extLst>
          </p:cNvPr>
          <p:cNvSpPr txBox="1"/>
          <p:nvPr/>
        </p:nvSpPr>
        <p:spPr>
          <a:xfrm>
            <a:off x="7196951" y="4106466"/>
            <a:ext cx="2402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Enter value of a: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17A61D-2534-4D3E-A0B5-D84BD0931CC7}"/>
              </a:ext>
            </a:extLst>
          </p:cNvPr>
          <p:cNvSpPr txBox="1"/>
          <p:nvPr/>
        </p:nvSpPr>
        <p:spPr>
          <a:xfrm>
            <a:off x="7210435" y="5591562"/>
            <a:ext cx="2402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712804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7" grpId="0"/>
      <p:bldP spid="18" grpId="0"/>
      <p:bldP spid="21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FB57DD-7DB6-4AA6-8516-81A1D7A6F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Expression (Conti…)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962C57-6BF4-450A-93AA-BA9389CB5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US" b="1" dirty="0">
                <a:cs typeface="Lohit Gujarati" panose="020B0600000000000000" pitchFamily="34" charset="0"/>
              </a:rPr>
              <a:t>Conditional Operators</a:t>
            </a:r>
          </a:p>
          <a:p>
            <a:pPr lvl="0"/>
            <a:r>
              <a:rPr lang="en-US" dirty="0"/>
              <a:t>Conditional operator first checks the condition (expression) and depending on its return value returns true or false. </a:t>
            </a:r>
          </a:p>
          <a:p>
            <a:r>
              <a:rPr lang="en-US" dirty="0"/>
              <a:t>Example;</a:t>
            </a:r>
          </a:p>
          <a:p>
            <a:pPr marL="0" indent="0">
              <a:buNone/>
            </a:pPr>
            <a:endParaRPr lang="en-US" dirty="0">
              <a:cs typeface="Lohit Gujarati" panose="020B0600000000000000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FCF7FB-FDCD-4C4A-B156-794C648EEF13}"/>
              </a:ext>
            </a:extLst>
          </p:cNvPr>
          <p:cNvSpPr txBox="1"/>
          <p:nvPr/>
        </p:nvSpPr>
        <p:spPr>
          <a:xfrm>
            <a:off x="3344325" y="2234904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#include&lt;stdio.h&gt;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EA0850-56AD-4DF4-8104-194BB86CA1FF}"/>
              </a:ext>
            </a:extLst>
          </p:cNvPr>
          <p:cNvSpPr txBox="1"/>
          <p:nvPr/>
        </p:nvSpPr>
        <p:spPr>
          <a:xfrm>
            <a:off x="3344325" y="2598939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main()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2A2794-E9B2-4452-AFE1-25B87E985F8C}"/>
              </a:ext>
            </a:extLst>
          </p:cNvPr>
          <p:cNvSpPr txBox="1"/>
          <p:nvPr/>
        </p:nvSpPr>
        <p:spPr>
          <a:xfrm>
            <a:off x="3344325" y="2993445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CF7015-91E2-4954-B35A-8B7F6A0FBF33}"/>
              </a:ext>
            </a:extLst>
          </p:cNvPr>
          <p:cNvSpPr txBox="1"/>
          <p:nvPr/>
        </p:nvSpPr>
        <p:spPr>
          <a:xfrm>
            <a:off x="3344324" y="6294035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71335C-EB73-43D2-88BE-709B4699B1D7}"/>
              </a:ext>
            </a:extLst>
          </p:cNvPr>
          <p:cNvSpPr txBox="1"/>
          <p:nvPr/>
        </p:nvSpPr>
        <p:spPr>
          <a:xfrm>
            <a:off x="3796160" y="3703643"/>
            <a:ext cx="3093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*p1,*p2;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8204FE-DF96-49E7-872B-F400B017254F}"/>
              </a:ext>
            </a:extLst>
          </p:cNvPr>
          <p:cNvSpPr txBox="1"/>
          <p:nvPr/>
        </p:nvSpPr>
        <p:spPr>
          <a:xfrm>
            <a:off x="3796160" y="3319178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</a:t>
            </a:r>
            <a:r>
              <a:rPr lang="en-US" dirty="0" err="1"/>
              <a:t>a,b,c</a:t>
            </a:r>
            <a:r>
              <a:rPr lang="en-US" dirty="0"/>
              <a:t>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B95F5D-8BF6-41D9-BD79-129E70AC7B3F}"/>
              </a:ext>
            </a:extLst>
          </p:cNvPr>
          <p:cNvSpPr txBox="1"/>
          <p:nvPr/>
        </p:nvSpPr>
        <p:spPr>
          <a:xfrm>
            <a:off x="3796159" y="4100832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(“Enter value of a and b");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8BA5E7-8061-49BA-92A7-7D565FD53734}"/>
              </a:ext>
            </a:extLst>
          </p:cNvPr>
          <p:cNvSpPr txBox="1"/>
          <p:nvPr/>
        </p:nvSpPr>
        <p:spPr>
          <a:xfrm>
            <a:off x="3796159" y="4477731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scanf</a:t>
            </a:r>
            <a:r>
              <a:rPr lang="en-US" dirty="0"/>
              <a:t>(“%d %</a:t>
            </a:r>
            <a:r>
              <a:rPr lang="en-US" dirty="0" err="1"/>
              <a:t>d“,&amp;a,&amp;b</a:t>
            </a:r>
            <a:r>
              <a:rPr lang="en-US" dirty="0"/>
              <a:t>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82F479-D498-4D07-A723-587C38824AB3}"/>
              </a:ext>
            </a:extLst>
          </p:cNvPr>
          <p:cNvSpPr txBox="1"/>
          <p:nvPr/>
        </p:nvSpPr>
        <p:spPr>
          <a:xfrm>
            <a:off x="3796159" y="4854630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p1=&amp;a;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928A02-26E6-4DAE-8CB1-819FBE6FA30F}"/>
              </a:ext>
            </a:extLst>
          </p:cNvPr>
          <p:cNvSpPr txBox="1"/>
          <p:nvPr/>
        </p:nvSpPr>
        <p:spPr>
          <a:xfrm>
            <a:off x="3796159" y="5215092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p2=&amp;b;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F6A964-D5B1-4441-9CB7-7308CEE6D0EA}"/>
              </a:ext>
            </a:extLst>
          </p:cNvPr>
          <p:cNvSpPr txBox="1"/>
          <p:nvPr/>
        </p:nvSpPr>
        <p:spPr>
          <a:xfrm>
            <a:off x="3796158" y="5594059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 = (*p1 &gt; *p2) ? *p1 : *p2;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DA93E1-389D-433E-9B93-CCBC5F20C5A1}"/>
              </a:ext>
            </a:extLst>
          </p:cNvPr>
          <p:cNvSpPr txBox="1"/>
          <p:nvPr/>
        </p:nvSpPr>
        <p:spPr>
          <a:xfrm>
            <a:off x="3796157" y="5933244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nMaximum</a:t>
            </a:r>
            <a:r>
              <a:rPr lang="en-US" dirty="0"/>
              <a:t> no. is :%</a:t>
            </a:r>
            <a:r>
              <a:rPr lang="en-US" dirty="0" err="1"/>
              <a:t>d",c</a:t>
            </a:r>
            <a:r>
              <a:rPr lang="en-US" dirty="0"/>
              <a:t>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450124-1D31-4DE8-9883-30ADE16F0E88}"/>
              </a:ext>
            </a:extLst>
          </p:cNvPr>
          <p:cNvSpPr txBox="1"/>
          <p:nvPr/>
        </p:nvSpPr>
        <p:spPr>
          <a:xfrm>
            <a:off x="7896586" y="4665987"/>
            <a:ext cx="1277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OUTPUT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0D6288-6196-42A1-93CA-C5E6A652DCCB}"/>
              </a:ext>
            </a:extLst>
          </p:cNvPr>
          <p:cNvSpPr txBox="1"/>
          <p:nvPr/>
        </p:nvSpPr>
        <p:spPr>
          <a:xfrm>
            <a:off x="7896585" y="5069721"/>
            <a:ext cx="2402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Enter value of a and 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6B0750-C0D8-4506-A895-2898FED5EE7E}"/>
              </a:ext>
            </a:extLst>
          </p:cNvPr>
          <p:cNvSpPr txBox="1"/>
          <p:nvPr/>
        </p:nvSpPr>
        <p:spPr>
          <a:xfrm>
            <a:off x="7896585" y="5478420"/>
            <a:ext cx="2402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12   15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F35C7D-E444-4EC5-AF6A-DEE97A799211}"/>
              </a:ext>
            </a:extLst>
          </p:cNvPr>
          <p:cNvSpPr txBox="1"/>
          <p:nvPr/>
        </p:nvSpPr>
        <p:spPr>
          <a:xfrm>
            <a:off x="7896585" y="5878705"/>
            <a:ext cx="2402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Maximum no. is : 15</a:t>
            </a:r>
          </a:p>
        </p:txBody>
      </p:sp>
    </p:spTree>
    <p:extLst>
      <p:ext uri="{BB962C8B-B14F-4D97-AF65-F5344CB8AC3E}">
        <p14:creationId xmlns:p14="http://schemas.microsoft.com/office/powerpoint/2010/main" val="3950250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FB57DD-7DB6-4AA6-8516-81A1D7A6F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Expression (Conti…)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962C57-6BF4-450A-93AA-BA9389CB5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n-US" b="1" dirty="0">
                <a:cs typeface="Lohit Gujarati" panose="020B0600000000000000" pitchFamily="34" charset="0"/>
              </a:rPr>
              <a:t>Unary Operators</a:t>
            </a:r>
          </a:p>
          <a:p>
            <a:r>
              <a:rPr lang="en-US" dirty="0"/>
              <a:t>Example;</a:t>
            </a:r>
          </a:p>
          <a:p>
            <a:pPr marL="0" indent="0">
              <a:buNone/>
            </a:pPr>
            <a:endParaRPr lang="en-US" dirty="0">
              <a:cs typeface="Lohit Gujarati" panose="020B0600000000000000" pitchFamily="34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CB7A64A7-A9EA-448E-A10C-082280463695}"/>
              </a:ext>
            </a:extLst>
          </p:cNvPr>
          <p:cNvGraphicFramePr>
            <a:graphicFrameLocks noGrp="1"/>
          </p:cNvGraphicFramePr>
          <p:nvPr/>
        </p:nvGraphicFramePr>
        <p:xfrm>
          <a:off x="4224740" y="1282568"/>
          <a:ext cx="187126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1260">
                  <a:extLst>
                    <a:ext uri="{9D8B030D-6E8A-4147-A177-3AD203B41FA5}">
                      <a16:colId xmlns:a16="http://schemas.microsoft.com/office/drawing/2014/main" val="5793513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Operators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972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++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156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07927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1FCF7FB-FDCD-4C4A-B156-794C648EEF13}"/>
              </a:ext>
            </a:extLst>
          </p:cNvPr>
          <p:cNvSpPr txBox="1"/>
          <p:nvPr/>
        </p:nvSpPr>
        <p:spPr>
          <a:xfrm>
            <a:off x="1774831" y="1729936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#include&lt;stdio.h&gt;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EA0850-56AD-4DF4-8104-194BB86CA1FF}"/>
              </a:ext>
            </a:extLst>
          </p:cNvPr>
          <p:cNvSpPr txBox="1"/>
          <p:nvPr/>
        </p:nvSpPr>
        <p:spPr>
          <a:xfrm>
            <a:off x="1774831" y="2093971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main()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2A2794-E9B2-4452-AFE1-25B87E985F8C}"/>
              </a:ext>
            </a:extLst>
          </p:cNvPr>
          <p:cNvSpPr txBox="1"/>
          <p:nvPr/>
        </p:nvSpPr>
        <p:spPr>
          <a:xfrm>
            <a:off x="1774831" y="2488477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CF7015-91E2-4954-B35A-8B7F6A0FBF33}"/>
              </a:ext>
            </a:extLst>
          </p:cNvPr>
          <p:cNvSpPr txBox="1"/>
          <p:nvPr/>
        </p:nvSpPr>
        <p:spPr>
          <a:xfrm>
            <a:off x="1774830" y="5454464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71335C-EB73-43D2-88BE-709B4699B1D7}"/>
              </a:ext>
            </a:extLst>
          </p:cNvPr>
          <p:cNvSpPr txBox="1"/>
          <p:nvPr/>
        </p:nvSpPr>
        <p:spPr>
          <a:xfrm>
            <a:off x="2226666" y="3198675"/>
            <a:ext cx="3093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*p1;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8204FE-DF96-49E7-872B-F400B017254F}"/>
              </a:ext>
            </a:extLst>
          </p:cNvPr>
          <p:cNvSpPr txBox="1"/>
          <p:nvPr/>
        </p:nvSpPr>
        <p:spPr>
          <a:xfrm>
            <a:off x="2226666" y="2814210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a;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B95F5D-8BF6-41D9-BD79-129E70AC7B3F}"/>
              </a:ext>
            </a:extLst>
          </p:cNvPr>
          <p:cNvSpPr txBox="1"/>
          <p:nvPr/>
        </p:nvSpPr>
        <p:spPr>
          <a:xfrm>
            <a:off x="2226665" y="3595864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(“Enter value of a:");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8BA5E7-8061-49BA-92A7-7D565FD53734}"/>
              </a:ext>
            </a:extLst>
          </p:cNvPr>
          <p:cNvSpPr txBox="1"/>
          <p:nvPr/>
        </p:nvSpPr>
        <p:spPr>
          <a:xfrm>
            <a:off x="2226665" y="3972763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scanf</a:t>
            </a:r>
            <a:r>
              <a:rPr lang="en-US" dirty="0"/>
              <a:t>(“%</a:t>
            </a:r>
            <a:r>
              <a:rPr lang="en-US" dirty="0" err="1"/>
              <a:t>d“,&amp;a</a:t>
            </a:r>
            <a:r>
              <a:rPr lang="en-US" dirty="0"/>
              <a:t>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82F479-D498-4D07-A723-587C38824AB3}"/>
              </a:ext>
            </a:extLst>
          </p:cNvPr>
          <p:cNvSpPr txBox="1"/>
          <p:nvPr/>
        </p:nvSpPr>
        <p:spPr>
          <a:xfrm>
            <a:off x="2226665" y="4349662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p1=&amp;a;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928A02-26E6-4DAE-8CB1-819FBE6FA30F}"/>
              </a:ext>
            </a:extLst>
          </p:cNvPr>
          <p:cNvSpPr txBox="1"/>
          <p:nvPr/>
        </p:nvSpPr>
        <p:spPr>
          <a:xfrm>
            <a:off x="2226665" y="4710124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(*p1)++;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DA93E1-389D-433E-9B93-CCBC5F20C5A1}"/>
              </a:ext>
            </a:extLst>
          </p:cNvPr>
          <p:cNvSpPr txBox="1"/>
          <p:nvPr/>
        </p:nvSpPr>
        <p:spPr>
          <a:xfrm>
            <a:off x="2226664" y="5094002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nUpdated</a:t>
            </a:r>
            <a:r>
              <a:rPr lang="en-US" dirty="0"/>
              <a:t> Value of a is :%d",*p1);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D0215A-C5B3-4835-A2EC-3C359E5F7359}"/>
              </a:ext>
            </a:extLst>
          </p:cNvPr>
          <p:cNvSpPr txBox="1"/>
          <p:nvPr/>
        </p:nvSpPr>
        <p:spPr>
          <a:xfrm>
            <a:off x="7025729" y="3183542"/>
            <a:ext cx="1277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OUTPUT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779580-B9F4-4572-B376-3A0EF1B57863}"/>
              </a:ext>
            </a:extLst>
          </p:cNvPr>
          <p:cNvSpPr txBox="1"/>
          <p:nvPr/>
        </p:nvSpPr>
        <p:spPr>
          <a:xfrm>
            <a:off x="7025728" y="3587276"/>
            <a:ext cx="2402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Enter value of a: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0890D2-A1F8-4DB6-9EA1-EE132B2ACB17}"/>
              </a:ext>
            </a:extLst>
          </p:cNvPr>
          <p:cNvSpPr txBox="1"/>
          <p:nvPr/>
        </p:nvSpPr>
        <p:spPr>
          <a:xfrm>
            <a:off x="7025728" y="3995975"/>
            <a:ext cx="2402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7396FB-58D2-4098-A56D-085884863ED6}"/>
              </a:ext>
            </a:extLst>
          </p:cNvPr>
          <p:cNvSpPr txBox="1"/>
          <p:nvPr/>
        </p:nvSpPr>
        <p:spPr>
          <a:xfrm>
            <a:off x="7025729" y="5079456"/>
            <a:ext cx="2533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Updated Value of a is: 13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FB7AEE-B67C-4CBA-89E1-6B60D2EC43AC}"/>
              </a:ext>
            </a:extLst>
          </p:cNvPr>
          <p:cNvSpPr txBox="1"/>
          <p:nvPr/>
        </p:nvSpPr>
        <p:spPr>
          <a:xfrm>
            <a:off x="7025730" y="4742546"/>
            <a:ext cx="2402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703074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  <p:bldP spid="18" grpId="0"/>
      <p:bldP spid="20" grpId="0"/>
      <p:bldP spid="21" grpId="0"/>
      <p:bldP spid="22" grpId="0"/>
      <p:bldP spid="23" grpId="0"/>
      <p:bldP spid="2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FB57DD-7DB6-4AA6-8516-81A1D7A6F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Expression (Conti…)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962C57-6BF4-450A-93AA-BA9389CB5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6"/>
            </a:pPr>
            <a:r>
              <a:rPr lang="en-US" b="1" dirty="0">
                <a:cs typeface="Lohit Gujarati" panose="020B0600000000000000" pitchFamily="34" charset="0"/>
              </a:rPr>
              <a:t>Bitwise Operators</a:t>
            </a:r>
          </a:p>
          <a:p>
            <a:pPr lvl="0"/>
            <a:r>
              <a:rPr lang="en-US" dirty="0"/>
              <a:t>It is used to apply operations on bits. </a:t>
            </a:r>
          </a:p>
          <a:p>
            <a:r>
              <a:rPr lang="en-US" dirty="0"/>
              <a:t>Bitwise operators cannot used with float and double datatypes.</a:t>
            </a:r>
          </a:p>
          <a:p>
            <a:r>
              <a:rPr lang="en-US" dirty="0"/>
              <a:t>Example;</a:t>
            </a:r>
          </a:p>
          <a:p>
            <a:pPr marL="0" indent="0">
              <a:buNone/>
            </a:pPr>
            <a:endParaRPr lang="en-US" dirty="0">
              <a:cs typeface="Lohit Gujarati" panose="020B0600000000000000" pitchFamily="34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CB7A64A7-A9EA-448E-A10C-082280463695}"/>
              </a:ext>
            </a:extLst>
          </p:cNvPr>
          <p:cNvGraphicFramePr>
            <a:graphicFrameLocks noGrp="1"/>
          </p:cNvGraphicFramePr>
          <p:nvPr/>
        </p:nvGraphicFramePr>
        <p:xfrm>
          <a:off x="8805843" y="2095213"/>
          <a:ext cx="278979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796">
                  <a:extLst>
                    <a:ext uri="{9D8B030D-6E8A-4147-A177-3AD203B41FA5}">
                      <a16:colId xmlns:a16="http://schemas.microsoft.com/office/drawing/2014/main" val="5793513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Operators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972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&amp; (bitwise AND)</a:t>
                      </a:r>
                      <a:endParaRPr lang="en-US" sz="1600" b="1" dirty="0">
                        <a:effectLst/>
                        <a:latin typeface="+mn-lt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42156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| (bitwise OR)</a:t>
                      </a:r>
                      <a:endParaRPr lang="en-US" sz="1600" b="1" dirty="0">
                        <a:effectLst/>
                        <a:latin typeface="+mn-lt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0792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^ (bitwise exclusive OR)</a:t>
                      </a:r>
                      <a:endParaRPr lang="en-US" sz="1600" b="1" dirty="0">
                        <a:effectLst/>
                        <a:latin typeface="+mn-lt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25483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&lt;&lt; (bitwise left shift)</a:t>
                      </a:r>
                      <a:endParaRPr lang="en-US" sz="1600" b="1" dirty="0">
                        <a:effectLst/>
                        <a:latin typeface="+mn-lt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6115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&gt;&gt; (bitwise right shift)</a:t>
                      </a:r>
                      <a:endParaRPr lang="en-US" sz="1600" b="1" dirty="0">
                        <a:effectLst/>
                        <a:latin typeface="+mn-lt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532869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1FCF7FB-FDCD-4C4A-B156-794C648EEF13}"/>
              </a:ext>
            </a:extLst>
          </p:cNvPr>
          <p:cNvSpPr txBox="1"/>
          <p:nvPr/>
        </p:nvSpPr>
        <p:spPr>
          <a:xfrm>
            <a:off x="3344325" y="2234904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#include&lt;stdio.h&gt;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EA0850-56AD-4DF4-8104-194BB86CA1FF}"/>
              </a:ext>
            </a:extLst>
          </p:cNvPr>
          <p:cNvSpPr txBox="1"/>
          <p:nvPr/>
        </p:nvSpPr>
        <p:spPr>
          <a:xfrm>
            <a:off x="3344325" y="2598939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main()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2A2794-E9B2-4452-AFE1-25B87E985F8C}"/>
              </a:ext>
            </a:extLst>
          </p:cNvPr>
          <p:cNvSpPr txBox="1"/>
          <p:nvPr/>
        </p:nvSpPr>
        <p:spPr>
          <a:xfrm>
            <a:off x="3344325" y="2993445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CF7015-91E2-4954-B35A-8B7F6A0FBF33}"/>
              </a:ext>
            </a:extLst>
          </p:cNvPr>
          <p:cNvSpPr txBox="1"/>
          <p:nvPr/>
        </p:nvSpPr>
        <p:spPr>
          <a:xfrm>
            <a:off x="8412096" y="6222174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71335C-EB73-43D2-88BE-709B4699B1D7}"/>
              </a:ext>
            </a:extLst>
          </p:cNvPr>
          <p:cNvSpPr txBox="1"/>
          <p:nvPr/>
        </p:nvSpPr>
        <p:spPr>
          <a:xfrm>
            <a:off x="3796160" y="3703643"/>
            <a:ext cx="3093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*p1,*p2;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8204FE-DF96-49E7-872B-F400B017254F}"/>
              </a:ext>
            </a:extLst>
          </p:cNvPr>
          <p:cNvSpPr txBox="1"/>
          <p:nvPr/>
        </p:nvSpPr>
        <p:spPr>
          <a:xfrm>
            <a:off x="3796160" y="3319178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</a:t>
            </a:r>
            <a:r>
              <a:rPr lang="en-US" dirty="0" err="1"/>
              <a:t>a,b</a:t>
            </a:r>
            <a:r>
              <a:rPr lang="en-US" dirty="0"/>
              <a:t>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B95F5D-8BF6-41D9-BD79-129E70AC7B3F}"/>
              </a:ext>
            </a:extLst>
          </p:cNvPr>
          <p:cNvSpPr txBox="1"/>
          <p:nvPr/>
        </p:nvSpPr>
        <p:spPr>
          <a:xfrm>
            <a:off x="3796159" y="4100832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(“Enter value of a and b");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8BA5E7-8061-49BA-92A7-7D565FD53734}"/>
              </a:ext>
            </a:extLst>
          </p:cNvPr>
          <p:cNvSpPr txBox="1"/>
          <p:nvPr/>
        </p:nvSpPr>
        <p:spPr>
          <a:xfrm>
            <a:off x="3796159" y="4477731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scanf</a:t>
            </a:r>
            <a:r>
              <a:rPr lang="en-US" dirty="0"/>
              <a:t>(“%d %</a:t>
            </a:r>
            <a:r>
              <a:rPr lang="en-US" dirty="0" err="1"/>
              <a:t>d“,&amp;a,&amp;b</a:t>
            </a:r>
            <a:r>
              <a:rPr lang="en-US" dirty="0"/>
              <a:t>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82F479-D498-4D07-A723-587C38824AB3}"/>
              </a:ext>
            </a:extLst>
          </p:cNvPr>
          <p:cNvSpPr txBox="1"/>
          <p:nvPr/>
        </p:nvSpPr>
        <p:spPr>
          <a:xfrm>
            <a:off x="3796159" y="4854630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p1=&amp;a;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928A02-26E6-4DAE-8CB1-819FBE6FA30F}"/>
              </a:ext>
            </a:extLst>
          </p:cNvPr>
          <p:cNvSpPr txBox="1"/>
          <p:nvPr/>
        </p:nvSpPr>
        <p:spPr>
          <a:xfrm>
            <a:off x="3796159" y="5215092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p2=&amp;b;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F6A964-D5B1-4441-9CB7-7308CEE6D0EA}"/>
              </a:ext>
            </a:extLst>
          </p:cNvPr>
          <p:cNvSpPr txBox="1"/>
          <p:nvPr/>
        </p:nvSpPr>
        <p:spPr>
          <a:xfrm>
            <a:off x="3796158" y="5512171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nBitwise</a:t>
            </a:r>
            <a:r>
              <a:rPr lang="en-US" dirty="0"/>
              <a:t> AND :%d",(*p1)&amp;(*p2));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DA93E1-389D-433E-9B93-CCBC5F20C5A1}"/>
              </a:ext>
            </a:extLst>
          </p:cNvPr>
          <p:cNvSpPr txBox="1"/>
          <p:nvPr/>
        </p:nvSpPr>
        <p:spPr>
          <a:xfrm>
            <a:off x="3796157" y="5837708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nBitwise</a:t>
            </a:r>
            <a:r>
              <a:rPr lang="en-US" dirty="0"/>
              <a:t> OR :%d",(*p1)|(*p2));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104970-8BBA-452E-89F3-8FF0401CC12A}"/>
              </a:ext>
            </a:extLst>
          </p:cNvPr>
          <p:cNvSpPr txBox="1"/>
          <p:nvPr/>
        </p:nvSpPr>
        <p:spPr>
          <a:xfrm>
            <a:off x="3796157" y="6222174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nBitwise</a:t>
            </a:r>
            <a:r>
              <a:rPr lang="en-US" dirty="0"/>
              <a:t> X-OR :%d",(*p1)^(*p2));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0C23E0-C9E1-4BC9-BDE2-662F35BB38BA}"/>
              </a:ext>
            </a:extLst>
          </p:cNvPr>
          <p:cNvSpPr txBox="1"/>
          <p:nvPr/>
        </p:nvSpPr>
        <p:spPr>
          <a:xfrm>
            <a:off x="8805844" y="4367462"/>
            <a:ext cx="1277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OUTPUT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52787B-0456-4DFE-8D04-370BCE4814F3}"/>
              </a:ext>
            </a:extLst>
          </p:cNvPr>
          <p:cNvSpPr txBox="1"/>
          <p:nvPr/>
        </p:nvSpPr>
        <p:spPr>
          <a:xfrm>
            <a:off x="8805843" y="4771196"/>
            <a:ext cx="2402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Enter value of a and 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EF7BA4-A50A-4E19-B575-3C4A97F207F1}"/>
              </a:ext>
            </a:extLst>
          </p:cNvPr>
          <p:cNvSpPr txBox="1"/>
          <p:nvPr/>
        </p:nvSpPr>
        <p:spPr>
          <a:xfrm>
            <a:off x="8805843" y="5179895"/>
            <a:ext cx="2402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10  15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E0ADB3-74FB-439D-BB1D-7F6BEF44B59E}"/>
              </a:ext>
            </a:extLst>
          </p:cNvPr>
          <p:cNvSpPr txBox="1"/>
          <p:nvPr/>
        </p:nvSpPr>
        <p:spPr>
          <a:xfrm>
            <a:off x="8805843" y="5580180"/>
            <a:ext cx="2402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Bitwise AND : 10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4B5976-791A-46FD-B6F4-FF718D4EDBFD}"/>
              </a:ext>
            </a:extLst>
          </p:cNvPr>
          <p:cNvSpPr txBox="1"/>
          <p:nvPr/>
        </p:nvSpPr>
        <p:spPr>
          <a:xfrm>
            <a:off x="8825933" y="5917090"/>
            <a:ext cx="2402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Bitwise OR : 15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824761-AADE-4B89-AC54-6BBF84EF331E}"/>
              </a:ext>
            </a:extLst>
          </p:cNvPr>
          <p:cNvSpPr txBox="1"/>
          <p:nvPr/>
        </p:nvSpPr>
        <p:spPr>
          <a:xfrm>
            <a:off x="8825933" y="6253127"/>
            <a:ext cx="2402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Bitwise XOR : 5</a:t>
            </a:r>
          </a:p>
        </p:txBody>
      </p:sp>
    </p:spTree>
    <p:extLst>
      <p:ext uri="{BB962C8B-B14F-4D97-AF65-F5344CB8AC3E}">
        <p14:creationId xmlns:p14="http://schemas.microsoft.com/office/powerpoint/2010/main" val="2160813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83E3B-2511-4243-BA47-B3F8B49B3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of Pointers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EF239-0D7E-40EC-AD1F-DF340BCF1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 </a:t>
            </a:r>
          </a:p>
        </p:txBody>
      </p:sp>
    </p:spTree>
    <p:extLst>
      <p:ext uri="{BB962C8B-B14F-4D97-AF65-F5344CB8AC3E}">
        <p14:creationId xmlns:p14="http://schemas.microsoft.com/office/powerpoint/2010/main" val="28620151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FB57DD-7DB6-4AA6-8516-81A1D7A6F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of Pointers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962C57-6BF4-450A-93AA-BA9389CB5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Pointers can be used to handle table of strings. </a:t>
            </a:r>
          </a:p>
          <a:p>
            <a:r>
              <a:rPr lang="en-US" dirty="0">
                <a:cs typeface="Lohit Gujarati" panose="020B0600000000000000" pitchFamily="34" charset="0"/>
              </a:rPr>
              <a:t>For Example -  </a:t>
            </a:r>
            <a:r>
              <a:rPr lang="en-US" b="1" dirty="0">
                <a:solidFill>
                  <a:srgbClr val="C00000"/>
                </a:solidFill>
                <a:cs typeface="Lohit Gujarati" panose="020B0600000000000000" pitchFamily="34" charset="0"/>
              </a:rPr>
              <a:t>char </a:t>
            </a:r>
            <a:r>
              <a:rPr lang="en-US" b="1" dirty="0" err="1">
                <a:solidFill>
                  <a:srgbClr val="C00000"/>
                </a:solidFill>
                <a:cs typeface="Lohit Gujarati" panose="020B0600000000000000" pitchFamily="34" charset="0"/>
              </a:rPr>
              <a:t>state_name</a:t>
            </a:r>
            <a:r>
              <a:rPr lang="en-US" b="1" dirty="0">
                <a:solidFill>
                  <a:srgbClr val="C00000"/>
                </a:solidFill>
                <a:cs typeface="Lohit Gujarati" panose="020B0600000000000000" pitchFamily="34" charset="0"/>
              </a:rPr>
              <a:t>[3] [10]; </a:t>
            </a:r>
          </a:p>
          <a:p>
            <a:endParaRPr lang="en-US" b="1" dirty="0">
              <a:solidFill>
                <a:schemeClr val="accent6"/>
              </a:solidFill>
              <a:cs typeface="Lohit Gujarati" panose="020B0600000000000000" pitchFamily="34" charset="0"/>
            </a:endParaRPr>
          </a:p>
          <a:p>
            <a:endParaRPr lang="en-US" b="1" dirty="0">
              <a:solidFill>
                <a:schemeClr val="accent6"/>
              </a:solidFill>
              <a:cs typeface="Lohit Gujarati" panose="020B0600000000000000" pitchFamily="34" charset="0"/>
            </a:endParaRPr>
          </a:p>
          <a:p>
            <a:endParaRPr lang="en-US" b="1" dirty="0">
              <a:solidFill>
                <a:schemeClr val="accent6"/>
              </a:solidFill>
              <a:cs typeface="Lohit Gujarati" panose="020B0600000000000000" pitchFamily="34" charset="0"/>
            </a:endParaRPr>
          </a:p>
          <a:p>
            <a:endParaRPr lang="en-US" b="1" dirty="0">
              <a:solidFill>
                <a:schemeClr val="accent6"/>
              </a:solidFill>
              <a:cs typeface="Lohit Gujarati" panose="020B0600000000000000" pitchFamily="34" charset="0"/>
            </a:endParaRPr>
          </a:p>
          <a:p>
            <a:endParaRPr lang="en-US" dirty="0">
              <a:cs typeface="Lohit Gujarati" panose="020B0600000000000000" pitchFamily="34" charset="0"/>
            </a:endParaRPr>
          </a:p>
          <a:p>
            <a:endParaRPr lang="en-US" dirty="0">
              <a:cs typeface="Lohit Gujarati" panose="020B0600000000000000" pitchFamily="34" charset="0"/>
            </a:endParaRPr>
          </a:p>
          <a:p>
            <a:r>
              <a:rPr lang="en-US" dirty="0">
                <a:cs typeface="Lohit Gujarati" panose="020B0600000000000000" pitchFamily="34" charset="0"/>
              </a:rPr>
              <a:t>As per above example, </a:t>
            </a:r>
            <a:r>
              <a:rPr lang="en-US" dirty="0" err="1">
                <a:cs typeface="Lohit Gujarati" panose="020B0600000000000000" pitchFamily="34" charset="0"/>
              </a:rPr>
              <a:t>state_name</a:t>
            </a:r>
            <a:r>
              <a:rPr lang="en-US" dirty="0">
                <a:cs typeface="Lohit Gujarati" panose="020B0600000000000000" pitchFamily="34" charset="0"/>
              </a:rPr>
              <a:t> array contains 3 names, and each name will have 10 characters including null character. </a:t>
            </a:r>
          </a:p>
          <a:p>
            <a:endParaRPr lang="en-US" dirty="0">
              <a:cs typeface="Lohit Gujarati" panose="020B0600000000000000" pitchFamily="34" charset="0"/>
            </a:endParaRP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21A5148-C047-4715-8CE9-629AB7DE78BA}"/>
              </a:ext>
            </a:extLst>
          </p:cNvPr>
          <p:cNvGraphicFramePr>
            <a:graphicFrameLocks noGrp="1"/>
          </p:cNvGraphicFramePr>
          <p:nvPr/>
        </p:nvGraphicFramePr>
        <p:xfrm>
          <a:off x="1207751" y="2432207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59878482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39425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33364676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34166136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98042208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2113726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65119907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66579607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48810993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88980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59815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7E97F28-CD80-4C88-9699-422FD65818BF}"/>
              </a:ext>
            </a:extLst>
          </p:cNvPr>
          <p:cNvGraphicFramePr>
            <a:graphicFrameLocks noGrp="1"/>
          </p:cNvGraphicFramePr>
          <p:nvPr/>
        </p:nvGraphicFramePr>
        <p:xfrm>
          <a:off x="1207751" y="2951912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59878482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39425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33364676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34166136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98042208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2113726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65119907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66579607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48810993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88980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598158"/>
                  </a:ext>
                </a:extLst>
              </a:tr>
            </a:tbl>
          </a:graphicData>
        </a:graphic>
      </p:graphicFrame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8A19FB83-9115-46C4-9D6A-B4FD2FF24467}"/>
              </a:ext>
            </a:extLst>
          </p:cNvPr>
          <p:cNvGraphicFramePr>
            <a:graphicFrameLocks noGrp="1"/>
          </p:cNvGraphicFramePr>
          <p:nvPr/>
        </p:nvGraphicFramePr>
        <p:xfrm>
          <a:off x="1207751" y="3471617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59878482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39425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33364676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34166136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98042208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2113726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65119907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66579607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48810993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88980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598158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4512C0F-E08F-43C6-8791-0C0B3111F190}"/>
              </a:ext>
            </a:extLst>
          </p:cNvPr>
          <p:cNvCxnSpPr/>
          <p:nvPr/>
        </p:nvCxnSpPr>
        <p:spPr>
          <a:xfrm flipH="1">
            <a:off x="9607640" y="2601533"/>
            <a:ext cx="476518" cy="0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3E94657-586E-49C9-9B5E-47DA35E0B072}"/>
              </a:ext>
            </a:extLst>
          </p:cNvPr>
          <p:cNvSpPr txBox="1"/>
          <p:nvPr/>
        </p:nvSpPr>
        <p:spPr>
          <a:xfrm>
            <a:off x="10212946" y="2432207"/>
            <a:ext cx="1030310" cy="370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 bytes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B28B59D-E937-40EB-A9E3-39EDD93EBE9F}"/>
              </a:ext>
            </a:extLst>
          </p:cNvPr>
          <p:cNvCxnSpPr/>
          <p:nvPr/>
        </p:nvCxnSpPr>
        <p:spPr>
          <a:xfrm flipH="1">
            <a:off x="9607640" y="3121282"/>
            <a:ext cx="476518" cy="0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529078C-0613-4E94-AB95-DA5573ECAC67}"/>
              </a:ext>
            </a:extLst>
          </p:cNvPr>
          <p:cNvSpPr txBox="1"/>
          <p:nvPr/>
        </p:nvSpPr>
        <p:spPr>
          <a:xfrm>
            <a:off x="10212946" y="2951956"/>
            <a:ext cx="1030310" cy="370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 bytes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FFD2925-3830-4876-8D42-0435C269BA2B}"/>
              </a:ext>
            </a:extLst>
          </p:cNvPr>
          <p:cNvCxnSpPr/>
          <p:nvPr/>
        </p:nvCxnSpPr>
        <p:spPr>
          <a:xfrm flipH="1">
            <a:off x="9607640" y="3630670"/>
            <a:ext cx="476518" cy="0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E449A37-F7FB-4C34-B179-3A4FEECC3004}"/>
              </a:ext>
            </a:extLst>
          </p:cNvPr>
          <p:cNvSpPr txBox="1"/>
          <p:nvPr/>
        </p:nvSpPr>
        <p:spPr>
          <a:xfrm>
            <a:off x="10212946" y="3461344"/>
            <a:ext cx="1030310" cy="370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 bytes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CEAF93-AE13-40DC-BC39-93424B720030}"/>
              </a:ext>
            </a:extLst>
          </p:cNvPr>
          <p:cNvSpPr txBox="1"/>
          <p:nvPr/>
        </p:nvSpPr>
        <p:spPr>
          <a:xfrm>
            <a:off x="10212946" y="3985044"/>
            <a:ext cx="1030310" cy="370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30 bytes</a:t>
            </a:r>
          </a:p>
        </p:txBody>
      </p:sp>
    </p:spTree>
    <p:extLst>
      <p:ext uri="{BB962C8B-B14F-4D97-AF65-F5344CB8AC3E}">
        <p14:creationId xmlns:p14="http://schemas.microsoft.com/office/powerpoint/2010/main" val="2886074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mph" presetSubtype="2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8474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5" grpId="0"/>
      <p:bldP spid="16" grpId="0"/>
      <p:bldP spid="16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D76E7-71D5-4C9C-AB75-6FABC625F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of Pointers </a:t>
            </a:r>
            <a:r>
              <a:rPr lang="en-US" dirty="0">
                <a:cs typeface="Lohit Gujarati" panose="020B0600000000000000" pitchFamily="34" charset="0"/>
              </a:rPr>
              <a:t>(Conti..)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B069D-BBCB-4499-9A84-90AC49FD1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we have array of int, float and character. Same way we can declare array of pointers.</a:t>
            </a:r>
          </a:p>
          <a:p>
            <a:r>
              <a:rPr lang="en-US" b="1" dirty="0">
                <a:solidFill>
                  <a:srgbClr val="C00000"/>
                </a:solidFill>
                <a:cs typeface="Lohit Gujarati" panose="020B0600000000000000" pitchFamily="34" charset="0"/>
              </a:rPr>
              <a:t>Syntax;</a:t>
            </a:r>
          </a:p>
          <a:p>
            <a:endParaRPr lang="en-US" b="1" dirty="0">
              <a:solidFill>
                <a:schemeClr val="accent6"/>
              </a:solidFill>
              <a:cs typeface="Lohit Gujarati" panose="020B0600000000000000" pitchFamily="34" charset="0"/>
            </a:endParaRPr>
          </a:p>
          <a:p>
            <a:pPr marL="0" indent="0">
              <a:buNone/>
            </a:pPr>
            <a:endParaRPr lang="en-US" b="1" dirty="0">
              <a:solidFill>
                <a:schemeClr val="accent6"/>
              </a:solidFill>
              <a:cs typeface="Lohit Gujarati" panose="020B0600000000000000" pitchFamily="34" charset="0"/>
            </a:endParaRPr>
          </a:p>
          <a:p>
            <a:r>
              <a:rPr lang="en-US" b="1" dirty="0">
                <a:solidFill>
                  <a:srgbClr val="C00000"/>
                </a:solidFill>
                <a:cs typeface="Lohit Gujarati" panose="020B0600000000000000" pitchFamily="34" charset="0"/>
              </a:rPr>
              <a:t>Example; </a:t>
            </a:r>
          </a:p>
          <a:p>
            <a:endParaRPr lang="en-US" dirty="0">
              <a:cs typeface="Lohit Gujarati" panose="020B0600000000000000" pitchFamily="34" charset="0"/>
            </a:endParaRPr>
          </a:p>
          <a:p>
            <a:endParaRPr lang="en-US" dirty="0">
              <a:cs typeface="Lohit Gujarati" panose="020B0600000000000000" pitchFamily="34" charset="0"/>
            </a:endParaRPr>
          </a:p>
          <a:p>
            <a:r>
              <a:rPr lang="en-US" dirty="0">
                <a:cs typeface="Lohit Gujarati" panose="020B0600000000000000" pitchFamily="34" charset="0"/>
              </a:rPr>
              <a:t>Instead of making each row a fixed number of character, we can make it a pointer to a string of different length. </a:t>
            </a:r>
          </a:p>
          <a:p>
            <a:endParaRPr lang="en-US" dirty="0">
              <a:cs typeface="Lohit Gujarati" panose="020B0600000000000000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89E801-5FD9-4495-8E13-FE61A35B537E}"/>
              </a:ext>
            </a:extLst>
          </p:cNvPr>
          <p:cNvSpPr txBox="1"/>
          <p:nvPr/>
        </p:nvSpPr>
        <p:spPr>
          <a:xfrm>
            <a:off x="1396108" y="1950341"/>
            <a:ext cx="13394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datatype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6934FA-3C10-40E8-AB83-49C757B293DA}"/>
              </a:ext>
            </a:extLst>
          </p:cNvPr>
          <p:cNvSpPr txBox="1"/>
          <p:nvPr/>
        </p:nvSpPr>
        <p:spPr>
          <a:xfrm>
            <a:off x="2632481" y="1950341"/>
            <a:ext cx="283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*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99186D-CEF1-4BBF-BABC-099FF92403BE}"/>
              </a:ext>
            </a:extLst>
          </p:cNvPr>
          <p:cNvSpPr txBox="1"/>
          <p:nvPr/>
        </p:nvSpPr>
        <p:spPr>
          <a:xfrm>
            <a:off x="2915816" y="1950340"/>
            <a:ext cx="953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name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AF687D-E864-40B6-B43C-9243864529F7}"/>
              </a:ext>
            </a:extLst>
          </p:cNvPr>
          <p:cNvSpPr txBox="1"/>
          <p:nvPr/>
        </p:nvSpPr>
        <p:spPr>
          <a:xfrm>
            <a:off x="3868853" y="1950339"/>
            <a:ext cx="953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[size];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A163E0-DBE7-4F52-8DDA-09B8635699C7}"/>
              </a:ext>
            </a:extLst>
          </p:cNvPr>
          <p:cNvSpPr txBox="1"/>
          <p:nvPr/>
        </p:nvSpPr>
        <p:spPr>
          <a:xfrm>
            <a:off x="187878" y="4777489"/>
            <a:ext cx="34960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char *</a:t>
            </a:r>
            <a:r>
              <a:rPr lang="en-US" sz="2400" b="1" dirty="0" err="1"/>
              <a:t>state_name</a:t>
            </a:r>
            <a:r>
              <a:rPr lang="en-US" sz="2400" b="1" dirty="0"/>
              <a:t>[3]=</a:t>
            </a:r>
            <a:endParaRPr lang="gu-IN" sz="2400" b="1" dirty="0"/>
          </a:p>
          <a:p>
            <a:r>
              <a:rPr lang="en-US" sz="2400" b="1" dirty="0"/>
              <a:t>{"</a:t>
            </a:r>
            <a:r>
              <a:rPr lang="en-US" sz="2400" b="1" dirty="0" err="1"/>
              <a:t>Gujarat",“Punjab",“Goa</a:t>
            </a:r>
            <a:r>
              <a:rPr lang="en-US" sz="2400" b="1" dirty="0"/>
              <a:t>"};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8174D6-0F08-48BB-BA0B-7747125CF5D0}"/>
              </a:ext>
            </a:extLst>
          </p:cNvPr>
          <p:cNvSpPr txBox="1"/>
          <p:nvPr/>
        </p:nvSpPr>
        <p:spPr>
          <a:xfrm>
            <a:off x="2101226" y="3257289"/>
            <a:ext cx="283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*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64601C-2A5B-492C-B406-EC34CA524872}"/>
              </a:ext>
            </a:extLst>
          </p:cNvPr>
          <p:cNvSpPr txBox="1"/>
          <p:nvPr/>
        </p:nvSpPr>
        <p:spPr>
          <a:xfrm>
            <a:off x="2391003" y="3253338"/>
            <a:ext cx="16332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/>
              <a:t>state_name</a:t>
            </a:r>
            <a:endParaRPr lang="en-US" sz="2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BBFF8A-6264-4A88-9EDC-7A31F5711C8F}"/>
              </a:ext>
            </a:extLst>
          </p:cNvPr>
          <p:cNvSpPr txBox="1"/>
          <p:nvPr/>
        </p:nvSpPr>
        <p:spPr>
          <a:xfrm>
            <a:off x="4030668" y="3253338"/>
            <a:ext cx="708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[3];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D0F1E5-C440-41A6-BBD8-C3A6BF78BB38}"/>
              </a:ext>
            </a:extLst>
          </p:cNvPr>
          <p:cNvSpPr txBox="1"/>
          <p:nvPr/>
        </p:nvSpPr>
        <p:spPr>
          <a:xfrm>
            <a:off x="1396108" y="3248498"/>
            <a:ext cx="759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char</a:t>
            </a:r>
          </a:p>
        </p:txBody>
      </p:sp>
      <p:graphicFrame>
        <p:nvGraphicFramePr>
          <p:cNvPr id="15" name="Table 6">
            <a:extLst>
              <a:ext uri="{FF2B5EF4-FFF2-40B4-BE49-F238E27FC236}">
                <a16:creationId xmlns:a16="http://schemas.microsoft.com/office/drawing/2014/main" id="{87491303-226F-4387-A059-3F91C504828A}"/>
              </a:ext>
            </a:extLst>
          </p:cNvPr>
          <p:cNvGraphicFramePr>
            <a:graphicFrameLocks noGrp="1"/>
          </p:cNvGraphicFramePr>
          <p:nvPr/>
        </p:nvGraphicFramePr>
        <p:xfrm>
          <a:off x="3740594" y="4777489"/>
          <a:ext cx="6502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59878482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39425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33364676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34166136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98042208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2113726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65119907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6657960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\0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598158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0C35D9D-A0C2-4642-AC66-51D35FB0B259}"/>
              </a:ext>
            </a:extLst>
          </p:cNvPr>
          <p:cNvGraphicFramePr>
            <a:graphicFrameLocks noGrp="1"/>
          </p:cNvGraphicFramePr>
          <p:nvPr/>
        </p:nvGraphicFramePr>
        <p:xfrm>
          <a:off x="3740594" y="5297194"/>
          <a:ext cx="5689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59878482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39425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33364676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34166136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98042208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2113726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651199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\0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598158"/>
                  </a:ext>
                </a:extLst>
              </a:tr>
            </a:tbl>
          </a:graphicData>
        </a:graphic>
      </p:graphicFrame>
      <p:graphicFrame>
        <p:nvGraphicFramePr>
          <p:cNvPr id="17" name="Table 6">
            <a:extLst>
              <a:ext uri="{FF2B5EF4-FFF2-40B4-BE49-F238E27FC236}">
                <a16:creationId xmlns:a16="http://schemas.microsoft.com/office/drawing/2014/main" id="{0B3D6B7C-B55A-4E40-84B9-FE12DDD54A2F}"/>
              </a:ext>
            </a:extLst>
          </p:cNvPr>
          <p:cNvGraphicFramePr>
            <a:graphicFrameLocks noGrp="1"/>
          </p:cNvGraphicFramePr>
          <p:nvPr/>
        </p:nvGraphicFramePr>
        <p:xfrm>
          <a:off x="3740594" y="5816899"/>
          <a:ext cx="32512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59878482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39425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33364676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3416613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\0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598158"/>
                  </a:ext>
                </a:extLst>
              </a:tr>
            </a:tbl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43C4302-7E1B-46F4-B6A9-F88E74AC8CCB}"/>
              </a:ext>
            </a:extLst>
          </p:cNvPr>
          <p:cNvCxnSpPr/>
          <p:nvPr/>
        </p:nvCxnSpPr>
        <p:spPr>
          <a:xfrm flipH="1">
            <a:off x="10504866" y="4946815"/>
            <a:ext cx="476518" cy="0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72D0F69-4BEF-4187-8813-9259CC1CCA9F}"/>
              </a:ext>
            </a:extLst>
          </p:cNvPr>
          <p:cNvSpPr txBox="1"/>
          <p:nvPr/>
        </p:nvSpPr>
        <p:spPr>
          <a:xfrm>
            <a:off x="11110172" y="4777489"/>
            <a:ext cx="1030310" cy="370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8 bytes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05D5AE7-8B6C-4269-A7EF-6897C9618F2F}"/>
              </a:ext>
            </a:extLst>
          </p:cNvPr>
          <p:cNvCxnSpPr/>
          <p:nvPr/>
        </p:nvCxnSpPr>
        <p:spPr>
          <a:xfrm flipH="1">
            <a:off x="10504866" y="5466564"/>
            <a:ext cx="476518" cy="0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A9B32B4-5B8A-490B-9750-372CA05C98B8}"/>
              </a:ext>
            </a:extLst>
          </p:cNvPr>
          <p:cNvSpPr txBox="1"/>
          <p:nvPr/>
        </p:nvSpPr>
        <p:spPr>
          <a:xfrm>
            <a:off x="11110172" y="5255334"/>
            <a:ext cx="1030310" cy="370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 bytes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F2809A6-3E98-4589-9E20-1868D3A1E96E}"/>
              </a:ext>
            </a:extLst>
          </p:cNvPr>
          <p:cNvCxnSpPr/>
          <p:nvPr/>
        </p:nvCxnSpPr>
        <p:spPr>
          <a:xfrm flipH="1">
            <a:off x="10504866" y="5975952"/>
            <a:ext cx="476518" cy="0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83D1F0F-896E-4BE8-99F8-95A9C0A317C5}"/>
              </a:ext>
            </a:extLst>
          </p:cNvPr>
          <p:cNvSpPr txBox="1"/>
          <p:nvPr/>
        </p:nvSpPr>
        <p:spPr>
          <a:xfrm>
            <a:off x="11110172" y="5806626"/>
            <a:ext cx="1030310" cy="370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 bytes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0EB80E-0994-4CDD-AEE9-3D63085610C2}"/>
              </a:ext>
            </a:extLst>
          </p:cNvPr>
          <p:cNvSpPr txBox="1"/>
          <p:nvPr/>
        </p:nvSpPr>
        <p:spPr>
          <a:xfrm>
            <a:off x="11110172" y="6265931"/>
            <a:ext cx="1030310" cy="370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19 bytes</a:t>
            </a:r>
          </a:p>
        </p:txBody>
      </p:sp>
    </p:spTree>
    <p:extLst>
      <p:ext uri="{BB962C8B-B14F-4D97-AF65-F5344CB8AC3E}">
        <p14:creationId xmlns:p14="http://schemas.microsoft.com/office/powerpoint/2010/main" val="970956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3" presetClass="emph" presetSubtype="2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8474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9" grpId="0"/>
      <p:bldP spid="21" grpId="0"/>
      <p:bldP spid="23" grpId="0"/>
      <p:bldP spid="24" grpId="0"/>
      <p:bldP spid="24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41FBC-E2CB-4875-84EE-927B4FFFE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of Pointers Example – 1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530B34-E788-4782-A26A-71003A79D67F}"/>
              </a:ext>
            </a:extLst>
          </p:cNvPr>
          <p:cNvSpPr txBox="1"/>
          <p:nvPr/>
        </p:nvSpPr>
        <p:spPr>
          <a:xfrm>
            <a:off x="1596980" y="1255911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#include&lt;stdio.h&gt;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7804D1-9331-4378-AA2A-CBDCA90984AE}"/>
              </a:ext>
            </a:extLst>
          </p:cNvPr>
          <p:cNvSpPr txBox="1"/>
          <p:nvPr/>
        </p:nvSpPr>
        <p:spPr>
          <a:xfrm>
            <a:off x="1596980" y="1651002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main()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08D1D5-778F-449A-A9A5-C1D7D1FC0D1E}"/>
              </a:ext>
            </a:extLst>
          </p:cNvPr>
          <p:cNvSpPr txBox="1"/>
          <p:nvPr/>
        </p:nvSpPr>
        <p:spPr>
          <a:xfrm>
            <a:off x="1596980" y="2020334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E52C97-980F-4EA2-A75D-1BD50EF0ACCB}"/>
              </a:ext>
            </a:extLst>
          </p:cNvPr>
          <p:cNvSpPr txBox="1"/>
          <p:nvPr/>
        </p:nvSpPr>
        <p:spPr>
          <a:xfrm>
            <a:off x="1596979" y="4364720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D51149-0A65-42A2-9896-F4A3D64AC65C}"/>
              </a:ext>
            </a:extLst>
          </p:cNvPr>
          <p:cNvSpPr txBox="1"/>
          <p:nvPr/>
        </p:nvSpPr>
        <p:spPr>
          <a:xfrm>
            <a:off x="1968322" y="2733536"/>
            <a:ext cx="3093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FDA367-19A9-4700-BFB8-AC8D7AE621ED}"/>
              </a:ext>
            </a:extLst>
          </p:cNvPr>
          <p:cNvSpPr txBox="1"/>
          <p:nvPr/>
        </p:nvSpPr>
        <p:spPr>
          <a:xfrm>
            <a:off x="1968320" y="2384246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char *</a:t>
            </a:r>
            <a:r>
              <a:rPr lang="en-US" dirty="0" err="1"/>
              <a:t>state_name</a:t>
            </a:r>
            <a:r>
              <a:rPr lang="en-US" dirty="0"/>
              <a:t>[3]={"</a:t>
            </a:r>
            <a:r>
              <a:rPr lang="en-US" dirty="0" err="1"/>
              <a:t>Gujarat","Punjab","Goa</a:t>
            </a:r>
            <a:r>
              <a:rPr lang="en-US" dirty="0"/>
              <a:t>"};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3BBD0B-BC60-4DDE-9415-BC84802E8168}"/>
              </a:ext>
            </a:extLst>
          </p:cNvPr>
          <p:cNvSpPr txBox="1"/>
          <p:nvPr/>
        </p:nvSpPr>
        <p:spPr>
          <a:xfrm>
            <a:off x="1968321" y="3081799"/>
            <a:ext cx="1650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=0;i&lt;3;i++)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7B8371-6C4E-4AAA-BA96-792D61F628EB}"/>
              </a:ext>
            </a:extLst>
          </p:cNvPr>
          <p:cNvSpPr txBox="1"/>
          <p:nvPr/>
        </p:nvSpPr>
        <p:spPr>
          <a:xfrm>
            <a:off x="2302098" y="3703017"/>
            <a:ext cx="3093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("%s\n",</a:t>
            </a:r>
            <a:r>
              <a:rPr lang="en-US" dirty="0" err="1"/>
              <a:t>state_name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707CEA-1B73-4C7B-A923-2C8163E10676}"/>
              </a:ext>
            </a:extLst>
          </p:cNvPr>
          <p:cNvSpPr txBox="1"/>
          <p:nvPr/>
        </p:nvSpPr>
        <p:spPr>
          <a:xfrm>
            <a:off x="1968320" y="3425758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95D68B-3EE2-41BB-9231-FCFD90CC5507}"/>
              </a:ext>
            </a:extLst>
          </p:cNvPr>
          <p:cNvSpPr txBox="1"/>
          <p:nvPr/>
        </p:nvSpPr>
        <p:spPr>
          <a:xfrm>
            <a:off x="1968320" y="4072349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30095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2" grpId="0"/>
      <p:bldP spid="22" grpId="0"/>
      <p:bldP spid="2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41FBC-E2CB-4875-84EE-927B4FFFE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of Pointers Example – 2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530B34-E788-4782-A26A-71003A79D67F}"/>
              </a:ext>
            </a:extLst>
          </p:cNvPr>
          <p:cNvSpPr txBox="1"/>
          <p:nvPr/>
        </p:nvSpPr>
        <p:spPr>
          <a:xfrm>
            <a:off x="1596980" y="1255911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#include&lt;stdio.h&gt;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7804D1-9331-4378-AA2A-CBDCA90984AE}"/>
              </a:ext>
            </a:extLst>
          </p:cNvPr>
          <p:cNvSpPr txBox="1"/>
          <p:nvPr/>
        </p:nvSpPr>
        <p:spPr>
          <a:xfrm>
            <a:off x="1596980" y="1651002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main()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08D1D5-778F-449A-A9A5-C1D7D1FC0D1E}"/>
              </a:ext>
            </a:extLst>
          </p:cNvPr>
          <p:cNvSpPr txBox="1"/>
          <p:nvPr/>
        </p:nvSpPr>
        <p:spPr>
          <a:xfrm>
            <a:off x="1596980" y="2020334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E52C97-980F-4EA2-A75D-1BD50EF0ACCB}"/>
              </a:ext>
            </a:extLst>
          </p:cNvPr>
          <p:cNvSpPr txBox="1"/>
          <p:nvPr/>
        </p:nvSpPr>
        <p:spPr>
          <a:xfrm>
            <a:off x="1590717" y="4842917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D51149-0A65-42A2-9896-F4A3D64AC65C}"/>
              </a:ext>
            </a:extLst>
          </p:cNvPr>
          <p:cNvSpPr txBox="1"/>
          <p:nvPr/>
        </p:nvSpPr>
        <p:spPr>
          <a:xfrm>
            <a:off x="1968322" y="2733536"/>
            <a:ext cx="3093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int</a:t>
            </a:r>
            <a:r>
              <a:rPr lang="en-US" dirty="0"/>
              <a:t> *p[3]={&amp;x</a:t>
            </a:r>
            <a:r>
              <a:rPr lang="en-US" dirty="0" smtClean="0"/>
              <a:t>, &amp;</a:t>
            </a:r>
            <a:r>
              <a:rPr lang="en-US" dirty="0"/>
              <a:t>y</a:t>
            </a:r>
            <a:r>
              <a:rPr lang="en-US" dirty="0" smtClean="0"/>
              <a:t>, &amp;</a:t>
            </a:r>
            <a:r>
              <a:rPr lang="en-US" dirty="0"/>
              <a:t>z};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FDA367-19A9-4700-BFB8-AC8D7AE621ED}"/>
              </a:ext>
            </a:extLst>
          </p:cNvPr>
          <p:cNvSpPr txBox="1"/>
          <p:nvPr/>
        </p:nvSpPr>
        <p:spPr>
          <a:xfrm>
            <a:off x="1968320" y="2384246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smtClean="0"/>
              <a:t>x=10, y=20, z=30, </a:t>
            </a:r>
            <a:r>
              <a:rPr lang="en-US" dirty="0" err="1" smtClean="0"/>
              <a:t>i</a:t>
            </a:r>
            <a:r>
              <a:rPr lang="en-US" dirty="0" smtClean="0"/>
              <a:t>;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3BBD0B-BC60-4DDE-9415-BC84802E8168}"/>
              </a:ext>
            </a:extLst>
          </p:cNvPr>
          <p:cNvSpPr txBox="1"/>
          <p:nvPr/>
        </p:nvSpPr>
        <p:spPr>
          <a:xfrm>
            <a:off x="1968321" y="3477584"/>
            <a:ext cx="1650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=0;i&lt;3;i++)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707CEA-1B73-4C7B-A923-2C8163E10676}"/>
              </a:ext>
            </a:extLst>
          </p:cNvPr>
          <p:cNvSpPr txBox="1"/>
          <p:nvPr/>
        </p:nvSpPr>
        <p:spPr>
          <a:xfrm>
            <a:off x="1968320" y="3821543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95D68B-3EE2-41BB-9231-FCFD90CC5507}"/>
              </a:ext>
            </a:extLst>
          </p:cNvPr>
          <p:cNvSpPr txBox="1"/>
          <p:nvPr/>
        </p:nvSpPr>
        <p:spPr>
          <a:xfrm>
            <a:off x="1968319" y="4476223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4CCC72-E714-4B94-AD43-DC02D3FEC6D1}"/>
              </a:ext>
            </a:extLst>
          </p:cNvPr>
          <p:cNvSpPr txBox="1"/>
          <p:nvPr/>
        </p:nvSpPr>
        <p:spPr>
          <a:xfrm>
            <a:off x="2530876" y="4088010"/>
            <a:ext cx="294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("%d \t",*p[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170899-9768-4C61-A935-37D2B8081122}"/>
              </a:ext>
            </a:extLst>
          </p:cNvPr>
          <p:cNvSpPr txBox="1"/>
          <p:nvPr/>
        </p:nvSpPr>
        <p:spPr>
          <a:xfrm>
            <a:off x="1968318" y="3110659"/>
            <a:ext cx="4078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("Print value of </a:t>
            </a:r>
            <a:r>
              <a:rPr lang="en-US" dirty="0" err="1"/>
              <a:t>x,y</a:t>
            </a:r>
            <a:r>
              <a:rPr lang="en-US" dirty="0"/>
              <a:t> and z\n</a:t>
            </a:r>
            <a:r>
              <a:rPr lang="en-US" dirty="0" smtClean="0"/>
              <a:t>");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081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22" grpId="0"/>
      <p:bldP spid="23" grpId="0"/>
      <p:bldP spid="14" grpId="0"/>
      <p:bldP spid="1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83E3B-2511-4243-BA47-B3F8B49B3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to Structure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EF239-0D7E-40EC-AD1F-DF340BCF1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</a:t>
            </a:r>
          </a:p>
        </p:txBody>
      </p:sp>
    </p:spTree>
    <p:extLst>
      <p:ext uri="{BB962C8B-B14F-4D97-AF65-F5344CB8AC3E}">
        <p14:creationId xmlns:p14="http://schemas.microsoft.com/office/powerpoint/2010/main" val="3299748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FB57DD-7DB6-4AA6-8516-81A1D7A6F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to Structure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962C57-6BF4-450A-93AA-BA9389CB5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51003"/>
          </a:xfrm>
        </p:spPr>
        <p:txBody>
          <a:bodyPr/>
          <a:lstStyle/>
          <a:p>
            <a:r>
              <a:rPr lang="en-GB" dirty="0">
                <a:cs typeface="Lohit Gujarati" panose="020B0600000000000000" pitchFamily="34" charset="0"/>
              </a:rPr>
              <a:t>Pointer to Structure is defined as the pointer which points to the address of the memory block that stores a structure known </a:t>
            </a:r>
            <a:r>
              <a:rPr lang="en-GB" b="1" dirty="0">
                <a:solidFill>
                  <a:srgbClr val="C00000"/>
                </a:solidFill>
                <a:cs typeface="Lohit Gujarati" panose="020B0600000000000000" pitchFamily="34" charset="0"/>
              </a:rPr>
              <a:t>Pointer to Structure </a:t>
            </a:r>
            <a:r>
              <a:rPr lang="en-GB" dirty="0">
                <a:cs typeface="Lohit Gujarati" panose="020B0600000000000000" pitchFamily="34" charset="0"/>
              </a:rPr>
              <a:t>or </a:t>
            </a:r>
            <a:r>
              <a:rPr lang="en-GB" b="1" dirty="0">
                <a:solidFill>
                  <a:srgbClr val="C00000"/>
                </a:solidFill>
                <a:cs typeface="Lohit Gujarati" panose="020B0600000000000000" pitchFamily="34" charset="0"/>
              </a:rPr>
              <a:t>Structure pointer</a:t>
            </a:r>
            <a:r>
              <a:rPr lang="en-GB" dirty="0">
                <a:cs typeface="Lohit Gujarati" panose="020B0600000000000000" pitchFamily="34" charset="0"/>
              </a:rPr>
              <a:t>.</a:t>
            </a:r>
          </a:p>
          <a:p>
            <a:r>
              <a:rPr lang="en-GB" dirty="0">
                <a:cs typeface="Lohit Gujarati" panose="020B0600000000000000" pitchFamily="34" charset="0"/>
              </a:rPr>
              <a:t>Complex data structures like Linked lists, trees, graphs, etc. are created with the help of Pointer to Structure.</a:t>
            </a:r>
          </a:p>
          <a:p>
            <a:r>
              <a:rPr lang="en-GB" dirty="0">
                <a:cs typeface="Lohit Gujarati" panose="020B0600000000000000" pitchFamily="34" charset="0"/>
              </a:rPr>
              <a:t>Pointer to Structure tells the address of a structure in memory by pointing the variable to the structure variable.</a:t>
            </a:r>
          </a:p>
          <a:p>
            <a:r>
              <a:rPr lang="en-GB" dirty="0">
                <a:cs typeface="Lohit Gujarati" panose="020B0600000000000000" pitchFamily="34" charset="0"/>
              </a:rPr>
              <a:t>There are two ways to access the members of the structure with the help of Pointer to Structure,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cs typeface="Lohit Gujarati" panose="020B0600000000000000" pitchFamily="34" charset="0"/>
              </a:rPr>
              <a:t>With the help of </a:t>
            </a:r>
            <a:r>
              <a:rPr lang="en-GB" b="1" dirty="0">
                <a:solidFill>
                  <a:srgbClr val="C00000"/>
                </a:solidFill>
                <a:cs typeface="Lohit Gujarati" panose="020B0600000000000000" pitchFamily="34" charset="0"/>
              </a:rPr>
              <a:t>(*)</a:t>
            </a:r>
            <a:r>
              <a:rPr lang="en-GB" dirty="0">
                <a:cs typeface="Lohit Gujarati" panose="020B0600000000000000" pitchFamily="34" charset="0"/>
              </a:rPr>
              <a:t> asterisk and </a:t>
            </a:r>
            <a:r>
              <a:rPr lang="en-GB" b="1" dirty="0">
                <a:solidFill>
                  <a:srgbClr val="C00000"/>
                </a:solidFill>
                <a:cs typeface="Lohit Gujarati" panose="020B0600000000000000" pitchFamily="34" charset="0"/>
              </a:rPr>
              <a:t>(.)</a:t>
            </a:r>
            <a:r>
              <a:rPr lang="en-GB" dirty="0">
                <a:cs typeface="Lohit Gujarati" panose="020B0600000000000000" pitchFamily="34" charset="0"/>
              </a:rPr>
              <a:t> dot operator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cs typeface="Lohit Gujarati" panose="020B0600000000000000" pitchFamily="34" charset="0"/>
              </a:rPr>
              <a:t>With the help of </a:t>
            </a:r>
            <a:r>
              <a:rPr lang="en-GB" b="1" dirty="0">
                <a:solidFill>
                  <a:srgbClr val="C00000"/>
                </a:solidFill>
                <a:cs typeface="Lohit Gujarati" panose="020B0600000000000000" pitchFamily="34" charset="0"/>
              </a:rPr>
              <a:t>( -&gt; ) </a:t>
            </a:r>
            <a:r>
              <a:rPr lang="en-GB" dirty="0">
                <a:cs typeface="Lohit Gujarati" panose="020B0600000000000000" pitchFamily="34" charset="0"/>
              </a:rPr>
              <a:t>Arrow operator</a:t>
            </a:r>
            <a:endParaRPr lang="gu-IN" dirty="0">
              <a:cs typeface="Lohit Gujarati" panose="020B06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951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C65C11FE-5E3D-4A67-8A30-AAE417044DE5}"/>
              </a:ext>
            </a:extLst>
          </p:cNvPr>
          <p:cNvGrpSpPr/>
          <p:nvPr/>
        </p:nvGrpSpPr>
        <p:grpSpPr>
          <a:xfrm>
            <a:off x="2303634" y="1323640"/>
            <a:ext cx="2086084" cy="5195321"/>
            <a:chOff x="838200" y="403108"/>
            <a:chExt cx="2086084" cy="5147159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EB17650-DE17-4CE1-B0DF-4A4BEDC771A5}"/>
                </a:ext>
              </a:extLst>
            </p:cNvPr>
            <p:cNvCxnSpPr/>
            <p:nvPr/>
          </p:nvCxnSpPr>
          <p:spPr>
            <a:xfrm>
              <a:off x="838200" y="5550266"/>
              <a:ext cx="1600200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594BEE3-91E0-41FF-806C-731579CD98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8200" y="5302169"/>
              <a:ext cx="0" cy="248097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E4EDEE4-999D-45DD-B4C9-C5A5CC97BE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403108"/>
              <a:ext cx="0" cy="5147159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24FF20FA-0D09-452D-A0C9-0EE3DD2E5B1B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0" y="420550"/>
              <a:ext cx="485884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578535B-FB67-4C8F-BB5D-AF46BD2B3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to Structure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7E8C89-04DF-4BD8-9006-A616916C1A87}"/>
              </a:ext>
            </a:extLst>
          </p:cNvPr>
          <p:cNvSpPr txBox="1"/>
          <p:nvPr/>
        </p:nvSpPr>
        <p:spPr>
          <a:xfrm>
            <a:off x="698500" y="863445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#include&lt;</a:t>
            </a:r>
            <a:r>
              <a:rPr lang="en-US" dirty="0" err="1">
                <a:cs typeface="Courier New" panose="02070309020205020404" pitchFamily="49" charset="0"/>
              </a:rPr>
              <a:t>stdio.h</a:t>
            </a:r>
            <a:r>
              <a:rPr lang="en-US" dirty="0">
                <a:cs typeface="Courier New" panose="02070309020205020404" pitchFamily="49" charset="0"/>
              </a:rPr>
              <a:t>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819ED8-DC55-4243-BBBC-CA1461335FBC}"/>
              </a:ext>
            </a:extLst>
          </p:cNvPr>
          <p:cNvSpPr txBox="1"/>
          <p:nvPr/>
        </p:nvSpPr>
        <p:spPr>
          <a:xfrm>
            <a:off x="698500" y="1237259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struct</a:t>
            </a:r>
            <a:r>
              <a:rPr lang="en-US" dirty="0">
                <a:cs typeface="Courier New" panose="02070309020205020404" pitchFamily="49" charset="0"/>
              </a:rPr>
              <a:t> student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D70D7A-66E8-4711-B8D6-B6E11FF21498}"/>
              </a:ext>
            </a:extLst>
          </p:cNvPr>
          <p:cNvSpPr txBox="1"/>
          <p:nvPr/>
        </p:nvSpPr>
        <p:spPr>
          <a:xfrm>
            <a:off x="698500" y="1615556"/>
            <a:ext cx="26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{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69E682-5317-4C2C-919E-8D911E6EFD81}"/>
              </a:ext>
            </a:extLst>
          </p:cNvPr>
          <p:cNvSpPr txBox="1"/>
          <p:nvPr/>
        </p:nvSpPr>
        <p:spPr>
          <a:xfrm>
            <a:off x="698500" y="1993853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int </a:t>
            </a:r>
            <a:r>
              <a:rPr lang="en-US" dirty="0" err="1">
                <a:cs typeface="Courier New" panose="02070309020205020404" pitchFamily="49" charset="0"/>
              </a:rPr>
              <a:t>rollno</a:t>
            </a:r>
            <a:r>
              <a:rPr lang="en-US" dirty="0"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408C88-85B3-498F-AD34-2471F6137C1D}"/>
              </a:ext>
            </a:extLst>
          </p:cNvPr>
          <p:cNvSpPr txBox="1"/>
          <p:nvPr/>
        </p:nvSpPr>
        <p:spPr>
          <a:xfrm>
            <a:off x="698500" y="2340773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int </a:t>
            </a:r>
            <a:r>
              <a:rPr lang="en-US" dirty="0" err="1">
                <a:cs typeface="Courier New" panose="02070309020205020404" pitchFamily="49" charset="0"/>
              </a:rPr>
              <a:t>sem</a:t>
            </a:r>
            <a:r>
              <a:rPr lang="en-US" dirty="0"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7A291D-9937-48A8-BAF6-325ED7594914}"/>
              </a:ext>
            </a:extLst>
          </p:cNvPr>
          <p:cNvSpPr txBox="1"/>
          <p:nvPr/>
        </p:nvSpPr>
        <p:spPr>
          <a:xfrm>
            <a:off x="698500" y="2727075"/>
            <a:ext cx="2247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char branch[30];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0EB265-B414-42EB-8639-8D7BCF6C5322}"/>
              </a:ext>
            </a:extLst>
          </p:cNvPr>
          <p:cNvSpPr txBox="1"/>
          <p:nvPr/>
        </p:nvSpPr>
        <p:spPr>
          <a:xfrm>
            <a:off x="698500" y="3113377"/>
            <a:ext cx="41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24DFBA-95B3-4015-9744-0C6B4C5E8F62}"/>
              </a:ext>
            </a:extLst>
          </p:cNvPr>
          <p:cNvSpPr txBox="1"/>
          <p:nvPr/>
        </p:nvSpPr>
        <p:spPr>
          <a:xfrm>
            <a:off x="698500" y="3479186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void main()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5E1469-A22B-4AAB-8454-286DDCED2813}"/>
              </a:ext>
            </a:extLst>
          </p:cNvPr>
          <p:cNvSpPr txBox="1"/>
          <p:nvPr/>
        </p:nvSpPr>
        <p:spPr>
          <a:xfrm>
            <a:off x="698500" y="3857483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{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1561E1-749B-4A35-B475-D8DA97F28EC7}"/>
              </a:ext>
            </a:extLst>
          </p:cNvPr>
          <p:cNvSpPr txBox="1"/>
          <p:nvPr/>
        </p:nvSpPr>
        <p:spPr>
          <a:xfrm>
            <a:off x="1079499" y="4201307"/>
            <a:ext cx="2478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struct student s1, *</a:t>
            </a:r>
            <a:r>
              <a:rPr lang="en-US" dirty="0" err="1">
                <a:cs typeface="Courier New" panose="02070309020205020404" pitchFamily="49" charset="0"/>
              </a:rPr>
              <a:t>pstr</a:t>
            </a:r>
            <a:r>
              <a:rPr lang="en-US" dirty="0"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196B0D-CE2A-4DFE-ADE9-FD0BD544D04C}"/>
              </a:ext>
            </a:extLst>
          </p:cNvPr>
          <p:cNvSpPr txBox="1"/>
          <p:nvPr/>
        </p:nvSpPr>
        <p:spPr>
          <a:xfrm>
            <a:off x="1079500" y="4811745"/>
            <a:ext cx="544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printf</a:t>
            </a:r>
            <a:r>
              <a:rPr lang="en-US" dirty="0">
                <a:cs typeface="Courier New" panose="02070309020205020404" pitchFamily="49" charset="0"/>
              </a:rPr>
              <a:t>("Enter </a:t>
            </a:r>
            <a:r>
              <a:rPr lang="en-US" dirty="0" err="1">
                <a:cs typeface="Courier New" panose="02070309020205020404" pitchFamily="49" charset="0"/>
              </a:rPr>
              <a:t>Rollno</a:t>
            </a:r>
            <a:r>
              <a:rPr lang="en-US" dirty="0">
                <a:cs typeface="Courier New" panose="02070309020205020404" pitchFamily="49" charset="0"/>
              </a:rPr>
              <a:t> , Semester and Branch:\n");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9D779B-104F-4FFD-B438-C24C45136E7A}"/>
              </a:ext>
            </a:extLst>
          </p:cNvPr>
          <p:cNvSpPr txBox="1"/>
          <p:nvPr/>
        </p:nvSpPr>
        <p:spPr>
          <a:xfrm>
            <a:off x="1079499" y="5194524"/>
            <a:ext cx="2562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scanf("%d",&amp;</a:t>
            </a:r>
            <a:r>
              <a:rPr lang="en-US" dirty="0" err="1">
                <a:cs typeface="Courier New" panose="02070309020205020404" pitchFamily="49" charset="0"/>
              </a:rPr>
              <a:t>pstr</a:t>
            </a:r>
            <a:r>
              <a:rPr lang="en-US" dirty="0">
                <a:cs typeface="Courier New" panose="02070309020205020404" pitchFamily="49" charset="0"/>
              </a:rPr>
              <a:t>-&gt;</a:t>
            </a:r>
            <a:r>
              <a:rPr lang="en-US" dirty="0" err="1">
                <a:cs typeface="Courier New" panose="02070309020205020404" pitchFamily="49" charset="0"/>
              </a:rPr>
              <a:t>rollno</a:t>
            </a:r>
            <a:r>
              <a:rPr lang="en-US" dirty="0"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3D3807-CCF1-4928-A700-1FDDF08D751D}"/>
              </a:ext>
            </a:extLst>
          </p:cNvPr>
          <p:cNvSpPr txBox="1"/>
          <p:nvPr/>
        </p:nvSpPr>
        <p:spPr>
          <a:xfrm>
            <a:off x="1117600" y="5586268"/>
            <a:ext cx="2440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scanf("%d",&amp;</a:t>
            </a:r>
            <a:r>
              <a:rPr lang="en-US" dirty="0" err="1">
                <a:cs typeface="Courier New" panose="02070309020205020404" pitchFamily="49" charset="0"/>
              </a:rPr>
              <a:t>pstr</a:t>
            </a:r>
            <a:r>
              <a:rPr lang="en-US" dirty="0">
                <a:cs typeface="Courier New" panose="02070309020205020404" pitchFamily="49" charset="0"/>
              </a:rPr>
              <a:t>-&gt;</a:t>
            </a:r>
            <a:r>
              <a:rPr lang="en-US" dirty="0" err="1">
                <a:cs typeface="Courier New" panose="02070309020205020404" pitchFamily="49" charset="0"/>
              </a:rPr>
              <a:t>sem</a:t>
            </a:r>
            <a:r>
              <a:rPr lang="en-US" dirty="0"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B3BC6F-9CD3-4C3B-8D74-FD311639195C}"/>
              </a:ext>
            </a:extLst>
          </p:cNvPr>
          <p:cNvSpPr txBox="1"/>
          <p:nvPr/>
        </p:nvSpPr>
        <p:spPr>
          <a:xfrm>
            <a:off x="1117600" y="5928706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scanf("%s",&amp;</a:t>
            </a:r>
            <a:r>
              <a:rPr lang="en-US" dirty="0" err="1">
                <a:cs typeface="Courier New" panose="02070309020205020404" pitchFamily="49" charset="0"/>
              </a:rPr>
              <a:t>pstr</a:t>
            </a:r>
            <a:r>
              <a:rPr lang="en-US" dirty="0">
                <a:cs typeface="Courier New" panose="02070309020205020404" pitchFamily="49" charset="0"/>
              </a:rPr>
              <a:t>-&gt;branch);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BB68A3-141A-4D77-AD5A-DBE6EFD69FAC}"/>
              </a:ext>
            </a:extLst>
          </p:cNvPr>
          <p:cNvSpPr txBox="1"/>
          <p:nvPr/>
        </p:nvSpPr>
        <p:spPr>
          <a:xfrm>
            <a:off x="4389718" y="1147863"/>
            <a:ext cx="506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printf</a:t>
            </a:r>
            <a:r>
              <a:rPr lang="en-US" dirty="0">
                <a:cs typeface="Courier New" panose="02070309020205020404" pitchFamily="49" charset="0"/>
              </a:rPr>
              <a:t>("\</a:t>
            </a:r>
            <a:r>
              <a:rPr lang="en-US" dirty="0" err="1">
                <a:cs typeface="Courier New" panose="02070309020205020404" pitchFamily="49" charset="0"/>
              </a:rPr>
              <a:t>nEntered</a:t>
            </a:r>
            <a:r>
              <a:rPr lang="en-US" dirty="0">
                <a:cs typeface="Courier New" panose="02070309020205020404" pitchFamily="49" charset="0"/>
              </a:rPr>
              <a:t> Roll No. is: %d",</a:t>
            </a:r>
            <a:r>
              <a:rPr lang="en-US" dirty="0" err="1">
                <a:cs typeface="Courier New" panose="02070309020205020404" pitchFamily="49" charset="0"/>
              </a:rPr>
              <a:t>pstr</a:t>
            </a:r>
            <a:r>
              <a:rPr lang="en-US" dirty="0">
                <a:cs typeface="Courier New" panose="02070309020205020404" pitchFamily="49" charset="0"/>
              </a:rPr>
              <a:t>-&gt;</a:t>
            </a:r>
            <a:r>
              <a:rPr lang="en-US" dirty="0" err="1">
                <a:cs typeface="Courier New" panose="02070309020205020404" pitchFamily="49" charset="0"/>
              </a:rPr>
              <a:t>rollno</a:t>
            </a:r>
            <a:r>
              <a:rPr lang="en-US" dirty="0"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723B8F-F404-4E2D-925A-0CD9E53E83DE}"/>
              </a:ext>
            </a:extLst>
          </p:cNvPr>
          <p:cNvSpPr txBox="1"/>
          <p:nvPr/>
        </p:nvSpPr>
        <p:spPr>
          <a:xfrm>
            <a:off x="4394200" y="1519168"/>
            <a:ext cx="506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printf</a:t>
            </a:r>
            <a:r>
              <a:rPr lang="en-US" dirty="0">
                <a:cs typeface="Courier New" panose="02070309020205020404" pitchFamily="49" charset="0"/>
              </a:rPr>
              <a:t>("\</a:t>
            </a:r>
            <a:r>
              <a:rPr lang="en-US" dirty="0" err="1">
                <a:cs typeface="Courier New" panose="02070309020205020404" pitchFamily="49" charset="0"/>
              </a:rPr>
              <a:t>nEntered</a:t>
            </a:r>
            <a:r>
              <a:rPr lang="en-US" dirty="0">
                <a:cs typeface="Courier New" panose="02070309020205020404" pitchFamily="49" charset="0"/>
              </a:rPr>
              <a:t> Semester is: %d", </a:t>
            </a:r>
            <a:r>
              <a:rPr lang="en-US" dirty="0" err="1">
                <a:cs typeface="Courier New" panose="02070309020205020404" pitchFamily="49" charset="0"/>
              </a:rPr>
              <a:t>pstr</a:t>
            </a:r>
            <a:r>
              <a:rPr lang="en-US" dirty="0">
                <a:cs typeface="Courier New" panose="02070309020205020404" pitchFamily="49" charset="0"/>
              </a:rPr>
              <a:t>-&gt;</a:t>
            </a:r>
            <a:r>
              <a:rPr lang="en-US" dirty="0" err="1">
                <a:cs typeface="Courier New" panose="02070309020205020404" pitchFamily="49" charset="0"/>
              </a:rPr>
              <a:t>sem</a:t>
            </a:r>
            <a:r>
              <a:rPr lang="en-US" dirty="0"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F5A8EB-2AED-421D-9972-99144FB2EB52}"/>
              </a:ext>
            </a:extLst>
          </p:cNvPr>
          <p:cNvSpPr txBox="1"/>
          <p:nvPr/>
        </p:nvSpPr>
        <p:spPr>
          <a:xfrm>
            <a:off x="4394200" y="1892982"/>
            <a:ext cx="525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printf</a:t>
            </a:r>
            <a:r>
              <a:rPr lang="en-US" dirty="0">
                <a:cs typeface="Courier New" panose="02070309020205020404" pitchFamily="49" charset="0"/>
              </a:rPr>
              <a:t>("\</a:t>
            </a:r>
            <a:r>
              <a:rPr lang="en-US" dirty="0" err="1">
                <a:cs typeface="Courier New" panose="02070309020205020404" pitchFamily="49" charset="0"/>
              </a:rPr>
              <a:t>nEntered</a:t>
            </a:r>
            <a:r>
              <a:rPr lang="en-US" dirty="0">
                <a:cs typeface="Courier New" panose="02070309020205020404" pitchFamily="49" charset="0"/>
              </a:rPr>
              <a:t> Branch is: %s", </a:t>
            </a:r>
            <a:r>
              <a:rPr lang="en-US" dirty="0" err="1">
                <a:cs typeface="Courier New" panose="02070309020205020404" pitchFamily="49" charset="0"/>
              </a:rPr>
              <a:t>pstr</a:t>
            </a:r>
            <a:r>
              <a:rPr lang="en-US" dirty="0">
                <a:cs typeface="Courier New" panose="02070309020205020404" pitchFamily="49" charset="0"/>
              </a:rPr>
              <a:t>-&gt;branch);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9FA06C-F66B-4C3D-88A5-EA67A346CBFF}"/>
              </a:ext>
            </a:extLst>
          </p:cNvPr>
          <p:cNvSpPr txBox="1"/>
          <p:nvPr/>
        </p:nvSpPr>
        <p:spPr>
          <a:xfrm>
            <a:off x="4389718" y="2256907"/>
            <a:ext cx="506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33EBD5A-5E13-40F9-9E32-FCFD524AA514}"/>
              </a:ext>
            </a:extLst>
          </p:cNvPr>
          <p:cNvSpPr/>
          <p:nvPr/>
        </p:nvSpPr>
        <p:spPr>
          <a:xfrm>
            <a:off x="8712202" y="1857432"/>
            <a:ext cx="3352800" cy="3622134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b="1" dirty="0">
                <a:ln w="0"/>
                <a:solidFill>
                  <a:srgbClr val="C00000"/>
                </a:solidFill>
              </a:rPr>
              <a:t>Output:</a:t>
            </a:r>
          </a:p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Enter </a:t>
            </a:r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Rollno</a:t>
            </a: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Semester and Branch:</a:t>
            </a:r>
          </a:p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101</a:t>
            </a:r>
          </a:p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Computer</a:t>
            </a:r>
          </a:p>
          <a:p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Entered Roll No. is: 101</a:t>
            </a:r>
          </a:p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Entered Semester is: 2</a:t>
            </a:r>
          </a:p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Entered Branch is: Computer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145C0D-6D00-0278-5614-654FB88CB5C4}"/>
              </a:ext>
            </a:extLst>
          </p:cNvPr>
          <p:cNvSpPr txBox="1"/>
          <p:nvPr/>
        </p:nvSpPr>
        <p:spPr>
          <a:xfrm>
            <a:off x="1079499" y="4501972"/>
            <a:ext cx="2478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pstr</a:t>
            </a:r>
            <a:r>
              <a:rPr lang="en-US" dirty="0">
                <a:cs typeface="Courier New" panose="02070309020205020404" pitchFamily="49" charset="0"/>
              </a:rPr>
              <a:t>=&amp;s1;</a:t>
            </a:r>
          </a:p>
        </p:txBody>
      </p:sp>
    </p:spTree>
    <p:extLst>
      <p:ext uri="{BB962C8B-B14F-4D97-AF65-F5344CB8AC3E}">
        <p14:creationId xmlns:p14="http://schemas.microsoft.com/office/powerpoint/2010/main" val="1897742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 animBg="1"/>
      <p:bldP spid="2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83E3B-2511-4243-BA47-B3F8B49B3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Memory Allocation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EF239-0D7E-40EC-AD1F-DF340BCF1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</a:t>
            </a:r>
          </a:p>
        </p:txBody>
      </p:sp>
    </p:spTree>
    <p:extLst>
      <p:ext uri="{BB962C8B-B14F-4D97-AF65-F5344CB8AC3E}">
        <p14:creationId xmlns:p14="http://schemas.microsoft.com/office/powerpoint/2010/main" val="26739538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FB57DD-7DB6-4AA6-8516-81A1D7A6F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Memory Allocation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962C57-6BF4-450A-93AA-BA9389CB5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51003"/>
          </a:xfrm>
        </p:spPr>
        <p:txBody>
          <a:bodyPr/>
          <a:lstStyle/>
          <a:p>
            <a:r>
              <a:rPr lang="en-US" dirty="0"/>
              <a:t>In C, at the declaration time of an array , we have to specify the size of array. So that much memory system will allocate at compile time. </a:t>
            </a:r>
          </a:p>
          <a:p>
            <a:r>
              <a:rPr lang="en-US" dirty="0">
                <a:cs typeface="Lohit Gujarati" panose="020B0600000000000000" pitchFamily="34" charset="0"/>
              </a:rPr>
              <a:t>But every time this thing may not be possible !! Our initial judgement of the size may be wrong and because of that our program may </a:t>
            </a:r>
            <a:r>
              <a:rPr lang="en-US" dirty="0" smtClean="0">
                <a:cs typeface="Lohit Gujarati" panose="020B0600000000000000" pitchFamily="34" charset="0"/>
              </a:rPr>
              <a:t>become a failure </a:t>
            </a:r>
            <a:r>
              <a:rPr lang="en-US" dirty="0">
                <a:cs typeface="Lohit Gujarati" panose="020B0600000000000000" pitchFamily="34" charset="0"/>
              </a:rPr>
              <a:t>or there may be wastage of memory. </a:t>
            </a:r>
          </a:p>
          <a:p>
            <a:r>
              <a:rPr lang="en-US" dirty="0">
                <a:cs typeface="Lohit Gujarati" panose="020B0600000000000000" pitchFamily="34" charset="0"/>
              </a:rPr>
              <a:t>The process of </a:t>
            </a:r>
            <a:r>
              <a:rPr lang="en-US" b="1" dirty="0">
                <a:cs typeface="Lohit Gujarati" panose="020B0600000000000000" pitchFamily="34" charset="0"/>
              </a:rPr>
              <a:t>allocating memory at run time </a:t>
            </a:r>
            <a:r>
              <a:rPr lang="en-US" dirty="0">
                <a:cs typeface="Lohit Gujarati" panose="020B0600000000000000" pitchFamily="34" charset="0"/>
              </a:rPr>
              <a:t>is known as </a:t>
            </a:r>
            <a:r>
              <a:rPr lang="en-US" b="1" dirty="0">
                <a:solidFill>
                  <a:srgbClr val="C00000"/>
                </a:solidFill>
                <a:cs typeface="Lohit Gujarati" panose="020B0600000000000000" pitchFamily="34" charset="0"/>
              </a:rPr>
              <a:t>Dynamic Memory Allocation</a:t>
            </a:r>
            <a:r>
              <a:rPr lang="en-US" dirty="0">
                <a:cs typeface="Lohit Gujarati" panose="020B0600000000000000" pitchFamily="34" charset="0"/>
              </a:rPr>
              <a:t>. </a:t>
            </a:r>
          </a:p>
          <a:p>
            <a:r>
              <a:rPr lang="en-US" dirty="0">
                <a:cs typeface="Lohit Gujarati" panose="020B0600000000000000" pitchFamily="34" charset="0"/>
              </a:rPr>
              <a:t>To perform Dynamic memory allocation in C, we have 4 memory management functions.</a:t>
            </a:r>
          </a:p>
          <a:p>
            <a:r>
              <a:rPr lang="en-US" dirty="0"/>
              <a:t>With the help of memory management functions, we can allocate and free the memory during the execution of program.</a:t>
            </a:r>
          </a:p>
          <a:p>
            <a:r>
              <a:rPr lang="en-US" dirty="0">
                <a:cs typeface="Lohit Gujarati" panose="020B0600000000000000" pitchFamily="34" charset="0"/>
              </a:rPr>
              <a:t>Memory Management Functions are as follows;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  <a:cs typeface="Lohit Gujarati" panose="020B0600000000000000" pitchFamily="34" charset="0"/>
              </a:rPr>
              <a:t>Malloc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  <a:cs typeface="Lohit Gujarati" panose="020B0600000000000000" pitchFamily="34" charset="0"/>
              </a:rPr>
              <a:t>Calloc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  <a:cs typeface="Lohit Gujarati" panose="020B0600000000000000" pitchFamily="34" charset="0"/>
              </a:rPr>
              <a:t>Free</a:t>
            </a:r>
          </a:p>
          <a:p>
            <a:r>
              <a:rPr lang="en-US" dirty="0">
                <a:cs typeface="Lohit Gujarati" panose="020B0600000000000000" pitchFamily="34" charset="0"/>
              </a:rPr>
              <a:t>All these memory management functions are under </a:t>
            </a:r>
            <a:r>
              <a:rPr lang="en-US" i="1" dirty="0">
                <a:cs typeface="Lohit Gujarati" panose="020B0600000000000000" pitchFamily="34" charset="0"/>
              </a:rPr>
              <a:t>“</a:t>
            </a:r>
            <a:r>
              <a:rPr lang="en-US" b="1" i="1" dirty="0" err="1">
                <a:cs typeface="Lohit Gujarati" panose="020B0600000000000000" pitchFamily="34" charset="0"/>
              </a:rPr>
              <a:t>stdlib.h</a:t>
            </a:r>
            <a:r>
              <a:rPr lang="en-US" i="1" dirty="0">
                <a:cs typeface="Lohit Gujarati" panose="020B0600000000000000" pitchFamily="34" charset="0"/>
              </a:rPr>
              <a:t>” </a:t>
            </a:r>
            <a:r>
              <a:rPr lang="en-US" dirty="0">
                <a:cs typeface="Lohit Gujarati" panose="020B0600000000000000" pitchFamily="34" charset="0"/>
              </a:rPr>
              <a:t>header file</a:t>
            </a:r>
            <a:endParaRPr lang="en-US" b="1" dirty="0">
              <a:solidFill>
                <a:schemeClr val="accent6"/>
              </a:solidFill>
            </a:endParaRPr>
          </a:p>
          <a:p>
            <a:endParaRPr lang="gu-IN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2886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4291A-E875-45AA-9A48-EFB885A5F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Malloc</a:t>
            </a:r>
            <a:endParaRPr lang="en-US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148A8-94B1-4F87-811F-B47A8A400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block of memory can be allocated using the function </a:t>
            </a:r>
            <a:r>
              <a:rPr lang="en-US" b="1" dirty="0">
                <a:solidFill>
                  <a:srgbClr val="C00000"/>
                </a:solidFill>
              </a:rPr>
              <a:t>malloc</a:t>
            </a:r>
            <a:r>
              <a:rPr lang="en-US" dirty="0"/>
              <a:t>.</a:t>
            </a:r>
          </a:p>
          <a:p>
            <a:r>
              <a:rPr lang="en-US" dirty="0">
                <a:cs typeface="Lohit Gujarati" panose="020B0600000000000000" pitchFamily="34" charset="0"/>
              </a:rPr>
              <a:t>The malloc function reserves a block of memory of specified size and return a pointer of type void. </a:t>
            </a:r>
          </a:p>
          <a:p>
            <a:r>
              <a:rPr lang="en-US" dirty="0">
                <a:cs typeface="Lohit Gujarati" panose="020B0600000000000000" pitchFamily="34" charset="0"/>
              </a:rPr>
              <a:t>malloc function allocates a block of contiguous bytes. </a:t>
            </a:r>
          </a:p>
          <a:p>
            <a:r>
              <a:rPr lang="en-US" b="1" dirty="0">
                <a:solidFill>
                  <a:srgbClr val="C00000"/>
                </a:solidFill>
                <a:cs typeface="Lohit Gujarati" panose="020B0600000000000000" pitchFamily="34" charset="0"/>
              </a:rPr>
              <a:t>Syntax;</a:t>
            </a:r>
          </a:p>
          <a:p>
            <a:pPr marL="0" indent="0">
              <a:buNone/>
            </a:pPr>
            <a:endParaRPr lang="en-US" b="1" dirty="0">
              <a:solidFill>
                <a:schemeClr val="tx2"/>
              </a:solidFill>
              <a:cs typeface="Lohit Gujarati" panose="020B0600000000000000" pitchFamily="34" charset="0"/>
            </a:endParaRPr>
          </a:p>
          <a:p>
            <a:r>
              <a:rPr lang="en-US" b="1" dirty="0">
                <a:solidFill>
                  <a:srgbClr val="C00000"/>
                </a:solidFill>
                <a:cs typeface="Lohit Gujarati" panose="020B0600000000000000" pitchFamily="34" charset="0"/>
              </a:rPr>
              <a:t>Example;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8235CA-A7EA-4A17-A154-A183BEC045C0}"/>
              </a:ext>
            </a:extLst>
          </p:cNvPr>
          <p:cNvSpPr txBox="1"/>
          <p:nvPr/>
        </p:nvSpPr>
        <p:spPr>
          <a:xfrm>
            <a:off x="2011495" y="3050944"/>
            <a:ext cx="1352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(cast type *)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2632A0-98E0-49C7-8BF3-5D3872A60218}"/>
              </a:ext>
            </a:extLst>
          </p:cNvPr>
          <p:cNvSpPr txBox="1"/>
          <p:nvPr/>
        </p:nvSpPr>
        <p:spPr>
          <a:xfrm>
            <a:off x="3363776" y="3055306"/>
            <a:ext cx="798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malloc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AF0EBC-679F-456E-B968-0BC37BFFFD57}"/>
              </a:ext>
            </a:extLst>
          </p:cNvPr>
          <p:cNvSpPr txBox="1"/>
          <p:nvPr/>
        </p:nvSpPr>
        <p:spPr>
          <a:xfrm>
            <a:off x="4162267" y="3059668"/>
            <a:ext cx="1246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(byte size);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E01CEA-59D2-412E-919F-D0916975D653}"/>
              </a:ext>
            </a:extLst>
          </p:cNvPr>
          <p:cNvSpPr txBox="1"/>
          <p:nvPr/>
        </p:nvSpPr>
        <p:spPr>
          <a:xfrm>
            <a:off x="1431946" y="3059668"/>
            <a:ext cx="57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ptr</a:t>
            </a:r>
            <a:r>
              <a:rPr lang="en-US" b="1" dirty="0"/>
              <a:t>=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91EED-1B87-4E18-A442-4D578A31161C}"/>
              </a:ext>
            </a:extLst>
          </p:cNvPr>
          <p:cNvSpPr txBox="1"/>
          <p:nvPr/>
        </p:nvSpPr>
        <p:spPr>
          <a:xfrm>
            <a:off x="2011495" y="3963340"/>
            <a:ext cx="798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(int*)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9BC7D4-162F-4EC6-AD52-75787E27A238}"/>
              </a:ext>
            </a:extLst>
          </p:cNvPr>
          <p:cNvSpPr txBox="1"/>
          <p:nvPr/>
        </p:nvSpPr>
        <p:spPr>
          <a:xfrm>
            <a:off x="2691687" y="3972855"/>
            <a:ext cx="798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malloc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8DB0B5-8E01-46F4-A2B5-B55F1F80125D}"/>
              </a:ext>
            </a:extLst>
          </p:cNvPr>
          <p:cNvSpPr txBox="1"/>
          <p:nvPr/>
        </p:nvSpPr>
        <p:spPr>
          <a:xfrm>
            <a:off x="3363776" y="3972064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(100*</a:t>
            </a:r>
            <a:r>
              <a:rPr lang="en-US" b="1" dirty="0" err="1"/>
              <a:t>sizeof</a:t>
            </a:r>
            <a:r>
              <a:rPr lang="en-US" b="1" dirty="0"/>
              <a:t>(int));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5C031A-4A6F-4D6A-979A-F3AA7018942C}"/>
              </a:ext>
            </a:extLst>
          </p:cNvPr>
          <p:cNvSpPr txBox="1"/>
          <p:nvPr/>
        </p:nvSpPr>
        <p:spPr>
          <a:xfrm>
            <a:off x="1431946" y="3972064"/>
            <a:ext cx="57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ptr</a:t>
            </a:r>
            <a:r>
              <a:rPr lang="en-US" b="1" dirty="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3938919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F4BEC-576D-4072-988A-0D258D690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Malloc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73E526-4D54-4128-96AF-7898EA5D7522}"/>
              </a:ext>
            </a:extLst>
          </p:cNvPr>
          <p:cNvSpPr txBox="1"/>
          <p:nvPr/>
        </p:nvSpPr>
        <p:spPr>
          <a:xfrm>
            <a:off x="309093" y="985454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#include&lt;stdio.h&gt;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642027-9A93-4739-B9FA-C766106F1816}"/>
              </a:ext>
            </a:extLst>
          </p:cNvPr>
          <p:cNvSpPr txBox="1"/>
          <p:nvPr/>
        </p:nvSpPr>
        <p:spPr>
          <a:xfrm>
            <a:off x="309093" y="1715399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main()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101D05-1E08-4A89-AB6F-799103A3BADE}"/>
              </a:ext>
            </a:extLst>
          </p:cNvPr>
          <p:cNvSpPr txBox="1"/>
          <p:nvPr/>
        </p:nvSpPr>
        <p:spPr>
          <a:xfrm>
            <a:off x="309093" y="2084731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1D6652-EA06-41A4-9D37-31D743B72D52}"/>
              </a:ext>
            </a:extLst>
          </p:cNvPr>
          <p:cNvSpPr txBox="1"/>
          <p:nvPr/>
        </p:nvSpPr>
        <p:spPr>
          <a:xfrm>
            <a:off x="3947373" y="3109665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56E187-5F1E-4419-B516-AD686449C6E1}"/>
              </a:ext>
            </a:extLst>
          </p:cNvPr>
          <p:cNvSpPr txBox="1"/>
          <p:nvPr/>
        </p:nvSpPr>
        <p:spPr>
          <a:xfrm>
            <a:off x="680435" y="2797933"/>
            <a:ext cx="3093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("Enter value of n:");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97B623-D830-47F7-879B-8E837746AFFF}"/>
              </a:ext>
            </a:extLst>
          </p:cNvPr>
          <p:cNvSpPr txBox="1"/>
          <p:nvPr/>
        </p:nvSpPr>
        <p:spPr>
          <a:xfrm>
            <a:off x="680434" y="2448643"/>
            <a:ext cx="2552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n,*</a:t>
            </a:r>
            <a:r>
              <a:rPr lang="en-US" dirty="0" err="1"/>
              <a:t>p,i</a:t>
            </a:r>
            <a:r>
              <a:rPr lang="en-US" dirty="0"/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B3240F-5208-44AA-BDC1-18291B4D6847}"/>
              </a:ext>
            </a:extLst>
          </p:cNvPr>
          <p:cNvSpPr txBox="1"/>
          <p:nvPr/>
        </p:nvSpPr>
        <p:spPr>
          <a:xfrm>
            <a:off x="680434" y="3146196"/>
            <a:ext cx="1650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scanf</a:t>
            </a:r>
            <a:r>
              <a:rPr lang="en-US" dirty="0"/>
              <a:t>("%</a:t>
            </a:r>
            <a:r>
              <a:rPr lang="en-US" dirty="0" err="1"/>
              <a:t>d",&amp;n</a:t>
            </a:r>
            <a:r>
              <a:rPr lang="en-US" dirty="0"/>
              <a:t>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58CAC5-74A4-4981-A828-0A350D178D1E}"/>
              </a:ext>
            </a:extLst>
          </p:cNvPr>
          <p:cNvSpPr txBox="1"/>
          <p:nvPr/>
        </p:nvSpPr>
        <p:spPr>
          <a:xfrm>
            <a:off x="680435" y="3498010"/>
            <a:ext cx="3582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 = (int*)malloc(n*</a:t>
            </a:r>
            <a:r>
              <a:rPr lang="en-US" b="1" dirty="0" err="1">
                <a:solidFill>
                  <a:srgbClr val="C00000"/>
                </a:solidFill>
              </a:rPr>
              <a:t>sizeof</a:t>
            </a:r>
            <a:r>
              <a:rPr lang="en-US" b="1" dirty="0">
                <a:solidFill>
                  <a:srgbClr val="C00000"/>
                </a:solidFill>
              </a:rPr>
              <a:t>(int));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E991ED-6A16-424F-8FCA-59E712BA9331}"/>
              </a:ext>
            </a:extLst>
          </p:cNvPr>
          <p:cNvSpPr txBox="1"/>
          <p:nvPr/>
        </p:nvSpPr>
        <p:spPr>
          <a:xfrm>
            <a:off x="680435" y="3843192"/>
            <a:ext cx="3582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printf("Enter %d Elements here:\n",n);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0D3473-78E2-41F5-B5D3-5EA6393E7A62}"/>
              </a:ext>
            </a:extLst>
          </p:cNvPr>
          <p:cNvSpPr txBox="1"/>
          <p:nvPr/>
        </p:nvSpPr>
        <p:spPr>
          <a:xfrm>
            <a:off x="8637962" y="1819483"/>
            <a:ext cx="12138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OUTPUT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31E3DE-7BB5-49A2-9410-FF46AC89EE9E}"/>
              </a:ext>
            </a:extLst>
          </p:cNvPr>
          <p:cNvSpPr txBox="1"/>
          <p:nvPr/>
        </p:nvSpPr>
        <p:spPr>
          <a:xfrm>
            <a:off x="8637962" y="2159147"/>
            <a:ext cx="1754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Enter value of n: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DF2697-619B-424C-A686-987C2D0B19A5}"/>
              </a:ext>
            </a:extLst>
          </p:cNvPr>
          <p:cNvSpPr txBox="1"/>
          <p:nvPr/>
        </p:nvSpPr>
        <p:spPr>
          <a:xfrm>
            <a:off x="1008845" y="4737733"/>
            <a:ext cx="24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scanf</a:t>
            </a:r>
            <a:r>
              <a:rPr lang="en-US" dirty="0"/>
              <a:t>("%</a:t>
            </a:r>
            <a:r>
              <a:rPr lang="en-US" dirty="0" err="1"/>
              <a:t>d",&amp;p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2B707E-6598-44E2-A941-AA5398463AAD}"/>
              </a:ext>
            </a:extLst>
          </p:cNvPr>
          <p:cNvSpPr txBox="1"/>
          <p:nvPr/>
        </p:nvSpPr>
        <p:spPr>
          <a:xfrm>
            <a:off x="680434" y="4212524"/>
            <a:ext cx="2964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dirty="0"/>
              <a:t>for(i=0;i&lt;n;i++)</a:t>
            </a:r>
            <a:endParaRPr lang="en-US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7D6FB7B-2B33-4CE6-8892-6DF8502CE9EB}"/>
              </a:ext>
            </a:extLst>
          </p:cNvPr>
          <p:cNvSpPr txBox="1"/>
          <p:nvPr/>
        </p:nvSpPr>
        <p:spPr>
          <a:xfrm>
            <a:off x="309091" y="1356765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#include&lt;stdlib.h&gt;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C841CF6-D9AC-49E5-900B-3D52F26EBAC0}"/>
              </a:ext>
            </a:extLst>
          </p:cNvPr>
          <p:cNvSpPr txBox="1"/>
          <p:nvPr/>
        </p:nvSpPr>
        <p:spPr>
          <a:xfrm>
            <a:off x="680433" y="4555417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090ABFB-4B9D-4734-9CBD-059B487BE98D}"/>
              </a:ext>
            </a:extLst>
          </p:cNvPr>
          <p:cNvSpPr txBox="1"/>
          <p:nvPr/>
        </p:nvSpPr>
        <p:spPr>
          <a:xfrm>
            <a:off x="680433" y="5025062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3A27B92-6C2C-492D-96AE-6F566ACF2D5A}"/>
              </a:ext>
            </a:extLst>
          </p:cNvPr>
          <p:cNvSpPr txBox="1"/>
          <p:nvPr/>
        </p:nvSpPr>
        <p:spPr>
          <a:xfrm>
            <a:off x="4320861" y="1109916"/>
            <a:ext cx="3582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printf("Entered Elements are:\n",n);</a:t>
            </a:r>
            <a:endParaRPr lang="en-US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588604B-72DE-44E7-9116-A2CAEFB3337D}"/>
              </a:ext>
            </a:extLst>
          </p:cNvPr>
          <p:cNvSpPr txBox="1"/>
          <p:nvPr/>
        </p:nvSpPr>
        <p:spPr>
          <a:xfrm>
            <a:off x="4649271" y="2004457"/>
            <a:ext cx="3878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printf("%d\n",p[i]);</a:t>
            </a:r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601E2E2-E8A7-4D49-89F3-9580C9517DA1}"/>
              </a:ext>
            </a:extLst>
          </p:cNvPr>
          <p:cNvSpPr txBox="1"/>
          <p:nvPr/>
        </p:nvSpPr>
        <p:spPr>
          <a:xfrm>
            <a:off x="4320859" y="1479248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dirty="0"/>
              <a:t>for(i=0;i&lt;n;i++)</a:t>
            </a:r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B44717F-6B0C-45E2-AF62-6BE550447DDF}"/>
              </a:ext>
            </a:extLst>
          </p:cNvPr>
          <p:cNvSpPr txBox="1"/>
          <p:nvPr/>
        </p:nvSpPr>
        <p:spPr>
          <a:xfrm>
            <a:off x="4320859" y="1822141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FEB7E27-811E-4B3C-9032-F03ADBC3EB4C}"/>
              </a:ext>
            </a:extLst>
          </p:cNvPr>
          <p:cNvSpPr txBox="1"/>
          <p:nvPr/>
        </p:nvSpPr>
        <p:spPr>
          <a:xfrm>
            <a:off x="4320859" y="2291786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A904D16-B8DA-4042-AECE-8878B56F8799}"/>
              </a:ext>
            </a:extLst>
          </p:cNvPr>
          <p:cNvSpPr txBox="1"/>
          <p:nvPr/>
        </p:nvSpPr>
        <p:spPr>
          <a:xfrm>
            <a:off x="4320859" y="2764851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free(p);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F4025CA-CB21-4757-BB80-3061ECDDD415}"/>
              </a:ext>
            </a:extLst>
          </p:cNvPr>
          <p:cNvSpPr txBox="1"/>
          <p:nvPr/>
        </p:nvSpPr>
        <p:spPr>
          <a:xfrm>
            <a:off x="10307390" y="2174954"/>
            <a:ext cx="381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228B4FF-E7B0-47C5-85C9-C068EED7C21D}"/>
              </a:ext>
            </a:extLst>
          </p:cNvPr>
          <p:cNvSpPr txBox="1"/>
          <p:nvPr/>
        </p:nvSpPr>
        <p:spPr>
          <a:xfrm>
            <a:off x="8637961" y="2528151"/>
            <a:ext cx="2407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Enter 3 Elements here: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7D373D5-F733-4D86-AE0D-8830257FF233}"/>
              </a:ext>
            </a:extLst>
          </p:cNvPr>
          <p:cNvSpPr txBox="1"/>
          <p:nvPr/>
        </p:nvSpPr>
        <p:spPr>
          <a:xfrm>
            <a:off x="8688945" y="2906424"/>
            <a:ext cx="523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39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BA33698-9878-4EEA-8BA0-15B284BAB040}"/>
              </a:ext>
            </a:extLst>
          </p:cNvPr>
          <p:cNvSpPr txBox="1"/>
          <p:nvPr/>
        </p:nvSpPr>
        <p:spPr>
          <a:xfrm>
            <a:off x="8684107" y="3243884"/>
            <a:ext cx="523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23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D49F92C-DB70-4E95-8D09-247377A0B0FE}"/>
              </a:ext>
            </a:extLst>
          </p:cNvPr>
          <p:cNvSpPr txBox="1"/>
          <p:nvPr/>
        </p:nvSpPr>
        <p:spPr>
          <a:xfrm>
            <a:off x="8688945" y="3579652"/>
            <a:ext cx="528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13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8318C07-AF0E-4D68-B3D9-02EB5ACED9BD}"/>
              </a:ext>
            </a:extLst>
          </p:cNvPr>
          <p:cNvSpPr txBox="1"/>
          <p:nvPr/>
        </p:nvSpPr>
        <p:spPr>
          <a:xfrm>
            <a:off x="8684107" y="4008039"/>
            <a:ext cx="2407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Entered Elements are: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6484136-D5F3-4169-BACC-69F0A161E85E}"/>
              </a:ext>
            </a:extLst>
          </p:cNvPr>
          <p:cNvSpPr txBox="1"/>
          <p:nvPr/>
        </p:nvSpPr>
        <p:spPr>
          <a:xfrm>
            <a:off x="8735091" y="4386312"/>
            <a:ext cx="523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39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F07ED9E-C905-4EA0-83D1-BB5A970B7EB5}"/>
              </a:ext>
            </a:extLst>
          </p:cNvPr>
          <p:cNvSpPr txBox="1"/>
          <p:nvPr/>
        </p:nvSpPr>
        <p:spPr>
          <a:xfrm>
            <a:off x="8730253" y="4723772"/>
            <a:ext cx="523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23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5371CA3-4B4B-43B8-9FF4-DE9D6700B677}"/>
              </a:ext>
            </a:extLst>
          </p:cNvPr>
          <p:cNvSpPr txBox="1"/>
          <p:nvPr/>
        </p:nvSpPr>
        <p:spPr>
          <a:xfrm>
            <a:off x="8735091" y="5059540"/>
            <a:ext cx="528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13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3851735D-515E-4969-9260-B8E11561F27D}"/>
              </a:ext>
            </a:extLst>
          </p:cNvPr>
          <p:cNvGrpSpPr/>
          <p:nvPr/>
        </p:nvGrpSpPr>
        <p:grpSpPr>
          <a:xfrm>
            <a:off x="5215944" y="2953739"/>
            <a:ext cx="450760" cy="673228"/>
            <a:chOff x="5215944" y="2953739"/>
            <a:chExt cx="450760" cy="673228"/>
          </a:xfrm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6C895664-04A7-413C-89EF-F59BD9BAFFC8}"/>
                </a:ext>
              </a:extLst>
            </p:cNvPr>
            <p:cNvCxnSpPr/>
            <p:nvPr/>
          </p:nvCxnSpPr>
          <p:spPr>
            <a:xfrm>
              <a:off x="5215944" y="2966618"/>
              <a:ext cx="450760" cy="0"/>
            </a:xfrm>
            <a:prstGeom prst="line">
              <a:avLst/>
            </a:prstGeom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C70F3544-C152-4A43-A4EA-CF0842DDD82B}"/>
                </a:ext>
              </a:extLst>
            </p:cNvPr>
            <p:cNvCxnSpPr/>
            <p:nvPr/>
          </p:nvCxnSpPr>
          <p:spPr>
            <a:xfrm>
              <a:off x="5666704" y="2953739"/>
              <a:ext cx="0" cy="673228"/>
            </a:xfrm>
            <a:prstGeom prst="straightConnector1">
              <a:avLst/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51CFCEA3-A325-4539-A421-C395855E3162}"/>
              </a:ext>
            </a:extLst>
          </p:cNvPr>
          <p:cNvSpPr/>
          <p:nvPr/>
        </p:nvSpPr>
        <p:spPr>
          <a:xfrm>
            <a:off x="4973385" y="3622043"/>
            <a:ext cx="3327311" cy="97499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b="1" dirty="0">
                <a:solidFill>
                  <a:schemeClr val="accent1"/>
                </a:solidFill>
              </a:rPr>
              <a:t>It will frees previously allocates space using malloc function. </a:t>
            </a:r>
          </a:p>
          <a:p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743B95A-EFB6-44EB-AF1F-D4E76F49C1A8}"/>
              </a:ext>
            </a:extLst>
          </p:cNvPr>
          <p:cNvSpPr txBox="1"/>
          <p:nvPr/>
        </p:nvSpPr>
        <p:spPr>
          <a:xfrm>
            <a:off x="4320859" y="4908438"/>
            <a:ext cx="3137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(int*)malloc(3*</a:t>
            </a:r>
            <a:r>
              <a:rPr lang="en-US" dirty="0" err="1"/>
              <a:t>sizeof</a:t>
            </a:r>
            <a:r>
              <a:rPr lang="en-US" dirty="0"/>
              <a:t>(int));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6AD941F-DBEF-42A1-B9C8-0D28D03369B6}"/>
              </a:ext>
            </a:extLst>
          </p:cNvPr>
          <p:cNvSpPr txBox="1"/>
          <p:nvPr/>
        </p:nvSpPr>
        <p:spPr>
          <a:xfrm>
            <a:off x="4320859" y="5404506"/>
            <a:ext cx="3137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(int*)malloc(3*2);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7905900-DB47-49D8-B0DB-1E639317538C}"/>
              </a:ext>
            </a:extLst>
          </p:cNvPr>
          <p:cNvSpPr txBox="1"/>
          <p:nvPr/>
        </p:nvSpPr>
        <p:spPr>
          <a:xfrm>
            <a:off x="4320859" y="5857030"/>
            <a:ext cx="3137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(int*)malloc(6);</a:t>
            </a:r>
          </a:p>
        </p:txBody>
      </p:sp>
    </p:spTree>
    <p:extLst>
      <p:ext uri="{BB962C8B-B14F-4D97-AF65-F5344CB8AC3E}">
        <p14:creationId xmlns:p14="http://schemas.microsoft.com/office/powerpoint/2010/main" val="2282810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6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" dur="1000" tmFilter="0, 0; .2, .5; .8, .5; 1, 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500" autoRev="1" fill="hold"/>
                                        <p:tgtEl>
                                          <p:spTgt spid="8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1000" tmFilter="0, 0; .2, .5; .8, .5; 1, 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4" dur="500" autoRev="1" fill="hold"/>
                                        <p:tgtEl>
                                          <p:spTgt spid="10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6" grpId="0"/>
      <p:bldP spid="17" grpId="0"/>
      <p:bldP spid="84" grpId="0"/>
      <p:bldP spid="84" grpId="1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1" grpId="0"/>
      <p:bldP spid="106" grpId="0" animBg="1"/>
      <p:bldP spid="108" grpId="0"/>
      <p:bldP spid="108" grpId="1"/>
      <p:bldP spid="109" grpId="0"/>
      <p:bldP spid="109" grpId="1"/>
      <p:bldP spid="110" grpId="0"/>
      <p:bldP spid="110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4291A-E875-45AA-9A48-EFB885A5F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Calloc</a:t>
            </a:r>
            <a:endParaRPr lang="en-US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148A8-94B1-4F87-811F-B47A8A400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C00000"/>
                </a:solidFill>
              </a:rPr>
              <a:t>calloc</a:t>
            </a:r>
            <a:r>
              <a:rPr lang="en-US" b="1" dirty="0">
                <a:solidFill>
                  <a:schemeClr val="accent6"/>
                </a:solidFill>
              </a:rPr>
              <a:t> </a:t>
            </a:r>
            <a:r>
              <a:rPr lang="en-US" dirty="0"/>
              <a:t>allocates multiple blocks of storage, each of the same size and then sets all bytes to zero.</a:t>
            </a:r>
          </a:p>
          <a:p>
            <a:r>
              <a:rPr lang="en-US" b="1" dirty="0">
                <a:solidFill>
                  <a:srgbClr val="C00000"/>
                </a:solidFill>
                <a:cs typeface="Lohit Gujarati" panose="020B0600000000000000" pitchFamily="34" charset="0"/>
              </a:rPr>
              <a:t>Syntax;</a:t>
            </a:r>
          </a:p>
          <a:p>
            <a:pPr marL="0" indent="0">
              <a:buNone/>
            </a:pPr>
            <a:endParaRPr lang="en-US" b="1" dirty="0">
              <a:solidFill>
                <a:schemeClr val="tx2"/>
              </a:solidFill>
              <a:cs typeface="Lohit Gujarati" panose="020B0600000000000000" pitchFamily="34" charset="0"/>
            </a:endParaRPr>
          </a:p>
          <a:p>
            <a:r>
              <a:rPr lang="en-US" b="1" dirty="0">
                <a:solidFill>
                  <a:srgbClr val="C00000"/>
                </a:solidFill>
                <a:cs typeface="Lohit Gujarati" panose="020B0600000000000000" pitchFamily="34" charset="0"/>
              </a:rPr>
              <a:t>Example;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8235CA-A7EA-4A17-A154-A183BEC045C0}"/>
              </a:ext>
            </a:extLst>
          </p:cNvPr>
          <p:cNvSpPr txBox="1"/>
          <p:nvPr/>
        </p:nvSpPr>
        <p:spPr>
          <a:xfrm>
            <a:off x="1986808" y="2063523"/>
            <a:ext cx="1352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(cast type *)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2632A0-98E0-49C7-8BF3-5D3872A60218}"/>
              </a:ext>
            </a:extLst>
          </p:cNvPr>
          <p:cNvSpPr txBox="1"/>
          <p:nvPr/>
        </p:nvSpPr>
        <p:spPr>
          <a:xfrm>
            <a:off x="3339089" y="2067885"/>
            <a:ext cx="798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rgbClr val="C00000"/>
                </a:solidFill>
              </a:rPr>
              <a:t>calloc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AF0EBC-679F-456E-B968-0BC37BFFFD57}"/>
              </a:ext>
            </a:extLst>
          </p:cNvPr>
          <p:cNvSpPr txBox="1"/>
          <p:nvPr/>
        </p:nvSpPr>
        <p:spPr>
          <a:xfrm>
            <a:off x="4137580" y="2072247"/>
            <a:ext cx="1635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(n, </a:t>
            </a:r>
            <a:r>
              <a:rPr lang="en-US" b="1" dirty="0" err="1"/>
              <a:t>elem</a:t>
            </a:r>
            <a:r>
              <a:rPr lang="en-US" b="1" dirty="0"/>
              <a:t>- size);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E01CEA-59D2-412E-919F-D0916975D653}"/>
              </a:ext>
            </a:extLst>
          </p:cNvPr>
          <p:cNvSpPr txBox="1"/>
          <p:nvPr/>
        </p:nvSpPr>
        <p:spPr>
          <a:xfrm>
            <a:off x="1407259" y="2072247"/>
            <a:ext cx="57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ptr</a:t>
            </a:r>
            <a:r>
              <a:rPr lang="en-US" b="1" dirty="0"/>
              <a:t>=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91EED-1B87-4E18-A442-4D578A31161C}"/>
              </a:ext>
            </a:extLst>
          </p:cNvPr>
          <p:cNvSpPr txBox="1"/>
          <p:nvPr/>
        </p:nvSpPr>
        <p:spPr>
          <a:xfrm>
            <a:off x="1986808" y="3050944"/>
            <a:ext cx="798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(int*)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9BC7D4-162F-4EC6-AD52-75787E27A238}"/>
              </a:ext>
            </a:extLst>
          </p:cNvPr>
          <p:cNvSpPr txBox="1"/>
          <p:nvPr/>
        </p:nvSpPr>
        <p:spPr>
          <a:xfrm>
            <a:off x="2667000" y="3060459"/>
            <a:ext cx="798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rgbClr val="C00000"/>
                </a:solidFill>
              </a:rPr>
              <a:t>calloc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8DB0B5-8E01-46F4-A2B5-B55F1F80125D}"/>
              </a:ext>
            </a:extLst>
          </p:cNvPr>
          <p:cNvSpPr txBox="1"/>
          <p:nvPr/>
        </p:nvSpPr>
        <p:spPr>
          <a:xfrm>
            <a:off x="3339089" y="3059668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(100,sizeof(int));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5C031A-4A6F-4D6A-979A-F3AA7018942C}"/>
              </a:ext>
            </a:extLst>
          </p:cNvPr>
          <p:cNvSpPr txBox="1"/>
          <p:nvPr/>
        </p:nvSpPr>
        <p:spPr>
          <a:xfrm>
            <a:off x="1407259" y="3059668"/>
            <a:ext cx="57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ptr</a:t>
            </a:r>
            <a:r>
              <a:rPr lang="en-US" b="1" dirty="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3482654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F4BEC-576D-4072-988A-0D258D690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Calloc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73E526-4D54-4128-96AF-7898EA5D7522}"/>
              </a:ext>
            </a:extLst>
          </p:cNvPr>
          <p:cNvSpPr txBox="1"/>
          <p:nvPr/>
        </p:nvSpPr>
        <p:spPr>
          <a:xfrm>
            <a:off x="309093" y="985454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#include&lt;stdio.h&gt;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642027-9A93-4739-B9FA-C766106F1816}"/>
              </a:ext>
            </a:extLst>
          </p:cNvPr>
          <p:cNvSpPr txBox="1"/>
          <p:nvPr/>
        </p:nvSpPr>
        <p:spPr>
          <a:xfrm>
            <a:off x="309093" y="1715399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main()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101D05-1E08-4A89-AB6F-799103A3BADE}"/>
              </a:ext>
            </a:extLst>
          </p:cNvPr>
          <p:cNvSpPr txBox="1"/>
          <p:nvPr/>
        </p:nvSpPr>
        <p:spPr>
          <a:xfrm>
            <a:off x="309093" y="2084731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1D6652-EA06-41A4-9D37-31D743B72D52}"/>
              </a:ext>
            </a:extLst>
          </p:cNvPr>
          <p:cNvSpPr txBox="1"/>
          <p:nvPr/>
        </p:nvSpPr>
        <p:spPr>
          <a:xfrm>
            <a:off x="3947373" y="3109665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56E187-5F1E-4419-B516-AD686449C6E1}"/>
              </a:ext>
            </a:extLst>
          </p:cNvPr>
          <p:cNvSpPr txBox="1"/>
          <p:nvPr/>
        </p:nvSpPr>
        <p:spPr>
          <a:xfrm>
            <a:off x="680435" y="2797933"/>
            <a:ext cx="3093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("Enter value of n:");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97B623-D830-47F7-879B-8E837746AFFF}"/>
              </a:ext>
            </a:extLst>
          </p:cNvPr>
          <p:cNvSpPr txBox="1"/>
          <p:nvPr/>
        </p:nvSpPr>
        <p:spPr>
          <a:xfrm>
            <a:off x="680434" y="2448643"/>
            <a:ext cx="2552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n,*</a:t>
            </a:r>
            <a:r>
              <a:rPr lang="en-US" dirty="0" err="1"/>
              <a:t>p,i</a:t>
            </a:r>
            <a:r>
              <a:rPr lang="en-US" dirty="0"/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B3240F-5208-44AA-BDC1-18291B4D6847}"/>
              </a:ext>
            </a:extLst>
          </p:cNvPr>
          <p:cNvSpPr txBox="1"/>
          <p:nvPr/>
        </p:nvSpPr>
        <p:spPr>
          <a:xfrm>
            <a:off x="680434" y="3146196"/>
            <a:ext cx="1650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scanf</a:t>
            </a:r>
            <a:r>
              <a:rPr lang="en-US" dirty="0"/>
              <a:t>("%</a:t>
            </a:r>
            <a:r>
              <a:rPr lang="en-US" dirty="0" err="1"/>
              <a:t>d",&amp;n</a:t>
            </a:r>
            <a:r>
              <a:rPr lang="en-US" dirty="0"/>
              <a:t>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58CAC5-74A4-4981-A828-0A350D178D1E}"/>
              </a:ext>
            </a:extLst>
          </p:cNvPr>
          <p:cNvSpPr txBox="1"/>
          <p:nvPr/>
        </p:nvSpPr>
        <p:spPr>
          <a:xfrm>
            <a:off x="680435" y="3498010"/>
            <a:ext cx="3582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 = (int*)</a:t>
            </a:r>
            <a:r>
              <a:rPr lang="en-US" b="1" dirty="0" err="1">
                <a:solidFill>
                  <a:srgbClr val="C00000"/>
                </a:solidFill>
              </a:rPr>
              <a:t>calloc</a:t>
            </a:r>
            <a:r>
              <a:rPr lang="en-US" b="1" dirty="0">
                <a:solidFill>
                  <a:srgbClr val="C00000"/>
                </a:solidFill>
              </a:rPr>
              <a:t>(</a:t>
            </a:r>
            <a:r>
              <a:rPr lang="en-US" b="1" dirty="0" err="1">
                <a:solidFill>
                  <a:srgbClr val="C00000"/>
                </a:solidFill>
              </a:rPr>
              <a:t>n,sizeof</a:t>
            </a:r>
            <a:r>
              <a:rPr lang="en-US" b="1" dirty="0">
                <a:solidFill>
                  <a:srgbClr val="C00000"/>
                </a:solidFill>
              </a:rPr>
              <a:t>(int));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E991ED-6A16-424F-8FCA-59E712BA9331}"/>
              </a:ext>
            </a:extLst>
          </p:cNvPr>
          <p:cNvSpPr txBox="1"/>
          <p:nvPr/>
        </p:nvSpPr>
        <p:spPr>
          <a:xfrm>
            <a:off x="680435" y="3843192"/>
            <a:ext cx="3582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printf("Enter %d Elements here:\n",n);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0D3473-78E2-41F5-B5D3-5EA6393E7A62}"/>
              </a:ext>
            </a:extLst>
          </p:cNvPr>
          <p:cNvSpPr txBox="1"/>
          <p:nvPr/>
        </p:nvSpPr>
        <p:spPr>
          <a:xfrm>
            <a:off x="8637962" y="1819483"/>
            <a:ext cx="12138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OUTPUT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31E3DE-7BB5-49A2-9410-FF46AC89EE9E}"/>
              </a:ext>
            </a:extLst>
          </p:cNvPr>
          <p:cNvSpPr txBox="1"/>
          <p:nvPr/>
        </p:nvSpPr>
        <p:spPr>
          <a:xfrm>
            <a:off x="8637962" y="2159147"/>
            <a:ext cx="1754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Enter value of n: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DF2697-619B-424C-A686-987C2D0B19A5}"/>
              </a:ext>
            </a:extLst>
          </p:cNvPr>
          <p:cNvSpPr txBox="1"/>
          <p:nvPr/>
        </p:nvSpPr>
        <p:spPr>
          <a:xfrm>
            <a:off x="1008845" y="4737733"/>
            <a:ext cx="24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scanf</a:t>
            </a:r>
            <a:r>
              <a:rPr lang="en-US" dirty="0"/>
              <a:t>("%</a:t>
            </a:r>
            <a:r>
              <a:rPr lang="en-US" dirty="0" err="1"/>
              <a:t>d",&amp;p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2B707E-6598-44E2-A941-AA5398463AAD}"/>
              </a:ext>
            </a:extLst>
          </p:cNvPr>
          <p:cNvSpPr txBox="1"/>
          <p:nvPr/>
        </p:nvSpPr>
        <p:spPr>
          <a:xfrm>
            <a:off x="680434" y="4212524"/>
            <a:ext cx="2964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dirty="0"/>
              <a:t>for(i=0;i&lt;n;i++)</a:t>
            </a:r>
            <a:endParaRPr lang="en-US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7D6FB7B-2B33-4CE6-8892-6DF8502CE9EB}"/>
              </a:ext>
            </a:extLst>
          </p:cNvPr>
          <p:cNvSpPr txBox="1"/>
          <p:nvPr/>
        </p:nvSpPr>
        <p:spPr>
          <a:xfrm>
            <a:off x="309091" y="1356765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#include&lt;stdlib.h&gt;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C841CF6-D9AC-49E5-900B-3D52F26EBAC0}"/>
              </a:ext>
            </a:extLst>
          </p:cNvPr>
          <p:cNvSpPr txBox="1"/>
          <p:nvPr/>
        </p:nvSpPr>
        <p:spPr>
          <a:xfrm>
            <a:off x="680433" y="4555417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090ABFB-4B9D-4734-9CBD-059B487BE98D}"/>
              </a:ext>
            </a:extLst>
          </p:cNvPr>
          <p:cNvSpPr txBox="1"/>
          <p:nvPr/>
        </p:nvSpPr>
        <p:spPr>
          <a:xfrm>
            <a:off x="680433" y="5025062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3A27B92-6C2C-492D-96AE-6F566ACF2D5A}"/>
              </a:ext>
            </a:extLst>
          </p:cNvPr>
          <p:cNvSpPr txBox="1"/>
          <p:nvPr/>
        </p:nvSpPr>
        <p:spPr>
          <a:xfrm>
            <a:off x="4320861" y="1109916"/>
            <a:ext cx="3582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printf("Entered Elements are:\n",n);</a:t>
            </a:r>
            <a:endParaRPr lang="en-US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588604B-72DE-44E7-9116-A2CAEFB3337D}"/>
              </a:ext>
            </a:extLst>
          </p:cNvPr>
          <p:cNvSpPr txBox="1"/>
          <p:nvPr/>
        </p:nvSpPr>
        <p:spPr>
          <a:xfrm>
            <a:off x="4649271" y="2004457"/>
            <a:ext cx="3878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printf("%d\n",p[i]);</a:t>
            </a:r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601E2E2-E8A7-4D49-89F3-9580C9517DA1}"/>
              </a:ext>
            </a:extLst>
          </p:cNvPr>
          <p:cNvSpPr txBox="1"/>
          <p:nvPr/>
        </p:nvSpPr>
        <p:spPr>
          <a:xfrm>
            <a:off x="4320859" y="1479248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dirty="0"/>
              <a:t>for(i=0;i&lt;n;i++)</a:t>
            </a:r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B44717F-6B0C-45E2-AF62-6BE550447DDF}"/>
              </a:ext>
            </a:extLst>
          </p:cNvPr>
          <p:cNvSpPr txBox="1"/>
          <p:nvPr/>
        </p:nvSpPr>
        <p:spPr>
          <a:xfrm>
            <a:off x="4320859" y="1822141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FEB7E27-811E-4B3C-9032-F03ADBC3EB4C}"/>
              </a:ext>
            </a:extLst>
          </p:cNvPr>
          <p:cNvSpPr txBox="1"/>
          <p:nvPr/>
        </p:nvSpPr>
        <p:spPr>
          <a:xfrm>
            <a:off x="4320859" y="2291786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A904D16-B8DA-4042-AECE-8878B56F8799}"/>
              </a:ext>
            </a:extLst>
          </p:cNvPr>
          <p:cNvSpPr txBox="1"/>
          <p:nvPr/>
        </p:nvSpPr>
        <p:spPr>
          <a:xfrm>
            <a:off x="4320859" y="2764851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free(p);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F4025CA-CB21-4757-BB80-3061ECDDD415}"/>
              </a:ext>
            </a:extLst>
          </p:cNvPr>
          <p:cNvSpPr txBox="1"/>
          <p:nvPr/>
        </p:nvSpPr>
        <p:spPr>
          <a:xfrm>
            <a:off x="10307390" y="2174954"/>
            <a:ext cx="381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228B4FF-E7B0-47C5-85C9-C068EED7C21D}"/>
              </a:ext>
            </a:extLst>
          </p:cNvPr>
          <p:cNvSpPr txBox="1"/>
          <p:nvPr/>
        </p:nvSpPr>
        <p:spPr>
          <a:xfrm>
            <a:off x="8637961" y="2528151"/>
            <a:ext cx="2407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Enter 3 Elements here: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7D373D5-F733-4D86-AE0D-8830257FF233}"/>
              </a:ext>
            </a:extLst>
          </p:cNvPr>
          <p:cNvSpPr txBox="1"/>
          <p:nvPr/>
        </p:nvSpPr>
        <p:spPr>
          <a:xfrm>
            <a:off x="8688945" y="2906424"/>
            <a:ext cx="523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39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BA33698-9878-4EEA-8BA0-15B284BAB040}"/>
              </a:ext>
            </a:extLst>
          </p:cNvPr>
          <p:cNvSpPr txBox="1"/>
          <p:nvPr/>
        </p:nvSpPr>
        <p:spPr>
          <a:xfrm>
            <a:off x="8684107" y="3243884"/>
            <a:ext cx="523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23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D49F92C-DB70-4E95-8D09-247377A0B0FE}"/>
              </a:ext>
            </a:extLst>
          </p:cNvPr>
          <p:cNvSpPr txBox="1"/>
          <p:nvPr/>
        </p:nvSpPr>
        <p:spPr>
          <a:xfrm>
            <a:off x="8688945" y="3579652"/>
            <a:ext cx="528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13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8318C07-AF0E-4D68-B3D9-02EB5ACED9BD}"/>
              </a:ext>
            </a:extLst>
          </p:cNvPr>
          <p:cNvSpPr txBox="1"/>
          <p:nvPr/>
        </p:nvSpPr>
        <p:spPr>
          <a:xfrm>
            <a:off x="8684107" y="4008039"/>
            <a:ext cx="2407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Entered Elements are: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6484136-D5F3-4169-BACC-69F0A161E85E}"/>
              </a:ext>
            </a:extLst>
          </p:cNvPr>
          <p:cNvSpPr txBox="1"/>
          <p:nvPr/>
        </p:nvSpPr>
        <p:spPr>
          <a:xfrm>
            <a:off x="8735091" y="4386312"/>
            <a:ext cx="523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39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F07ED9E-C905-4EA0-83D1-BB5A970B7EB5}"/>
              </a:ext>
            </a:extLst>
          </p:cNvPr>
          <p:cNvSpPr txBox="1"/>
          <p:nvPr/>
        </p:nvSpPr>
        <p:spPr>
          <a:xfrm>
            <a:off x="8730253" y="4723772"/>
            <a:ext cx="523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23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5371CA3-4B4B-43B8-9FF4-DE9D6700B677}"/>
              </a:ext>
            </a:extLst>
          </p:cNvPr>
          <p:cNvSpPr txBox="1"/>
          <p:nvPr/>
        </p:nvSpPr>
        <p:spPr>
          <a:xfrm>
            <a:off x="8735091" y="5059540"/>
            <a:ext cx="528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13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3851735D-515E-4969-9260-B8E11561F27D}"/>
              </a:ext>
            </a:extLst>
          </p:cNvPr>
          <p:cNvGrpSpPr/>
          <p:nvPr/>
        </p:nvGrpSpPr>
        <p:grpSpPr>
          <a:xfrm>
            <a:off x="5215944" y="2953739"/>
            <a:ext cx="450760" cy="673228"/>
            <a:chOff x="5215944" y="2953739"/>
            <a:chExt cx="450760" cy="673228"/>
          </a:xfrm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6C895664-04A7-413C-89EF-F59BD9BAFFC8}"/>
                </a:ext>
              </a:extLst>
            </p:cNvPr>
            <p:cNvCxnSpPr/>
            <p:nvPr/>
          </p:nvCxnSpPr>
          <p:spPr>
            <a:xfrm>
              <a:off x="5215944" y="2966618"/>
              <a:ext cx="450760" cy="0"/>
            </a:xfrm>
            <a:prstGeom prst="line">
              <a:avLst/>
            </a:prstGeom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C70F3544-C152-4A43-A4EA-CF0842DDD82B}"/>
                </a:ext>
              </a:extLst>
            </p:cNvPr>
            <p:cNvCxnSpPr/>
            <p:nvPr/>
          </p:nvCxnSpPr>
          <p:spPr>
            <a:xfrm>
              <a:off x="5666704" y="2953739"/>
              <a:ext cx="0" cy="673228"/>
            </a:xfrm>
            <a:prstGeom prst="straightConnector1">
              <a:avLst/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51CFCEA3-A325-4539-A421-C395855E3162}"/>
              </a:ext>
            </a:extLst>
          </p:cNvPr>
          <p:cNvSpPr/>
          <p:nvPr/>
        </p:nvSpPr>
        <p:spPr>
          <a:xfrm>
            <a:off x="4973385" y="3622043"/>
            <a:ext cx="3327311" cy="97499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b="1" dirty="0">
                <a:solidFill>
                  <a:schemeClr val="accent1"/>
                </a:solidFill>
              </a:rPr>
              <a:t>It will frees previously allocates space using Calloc function. </a:t>
            </a:r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743B95A-EFB6-44EB-AF1F-D4E76F49C1A8}"/>
              </a:ext>
            </a:extLst>
          </p:cNvPr>
          <p:cNvSpPr txBox="1"/>
          <p:nvPr/>
        </p:nvSpPr>
        <p:spPr>
          <a:xfrm>
            <a:off x="4322125" y="4922399"/>
            <a:ext cx="3137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(int*)</a:t>
            </a:r>
            <a:r>
              <a:rPr lang="en-US" dirty="0" err="1"/>
              <a:t>calloc</a:t>
            </a:r>
            <a:r>
              <a:rPr lang="en-US" dirty="0"/>
              <a:t>(3,sizeof(int));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6AD941F-DBEF-42A1-B9C8-0D28D03369B6}"/>
              </a:ext>
            </a:extLst>
          </p:cNvPr>
          <p:cNvSpPr txBox="1"/>
          <p:nvPr/>
        </p:nvSpPr>
        <p:spPr>
          <a:xfrm>
            <a:off x="4322125" y="5432428"/>
            <a:ext cx="3137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(int*)</a:t>
            </a:r>
            <a:r>
              <a:rPr lang="en-US" dirty="0" err="1"/>
              <a:t>calloc</a:t>
            </a:r>
            <a:r>
              <a:rPr lang="en-US" dirty="0"/>
              <a:t>(3,2);</a:t>
            </a:r>
          </a:p>
        </p:txBody>
      </p:sp>
    </p:spTree>
    <p:extLst>
      <p:ext uri="{BB962C8B-B14F-4D97-AF65-F5344CB8AC3E}">
        <p14:creationId xmlns:p14="http://schemas.microsoft.com/office/powerpoint/2010/main" val="4008353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6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" dur="1000" tmFilter="0, 0; .2, .5; .8, .5; 1, 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500" autoRev="1" fill="hold"/>
                                        <p:tgtEl>
                                          <p:spTgt spid="8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1000" tmFilter="0, 0; .2, .5; .8, .5; 1, 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6" dur="500" autoRev="1" fill="hold"/>
                                        <p:tgtEl>
                                          <p:spTgt spid="10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6" grpId="0"/>
      <p:bldP spid="17" grpId="0"/>
      <p:bldP spid="84" grpId="0"/>
      <p:bldP spid="84" grpId="1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1" grpId="0"/>
      <p:bldP spid="106" grpId="0" animBg="1"/>
      <p:bldP spid="108" grpId="0"/>
      <p:bldP spid="108" grpId="1"/>
      <p:bldP spid="109" grpId="0"/>
      <p:bldP spid="109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4291A-E875-45AA-9A48-EFB885A5F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Realloc</a:t>
            </a:r>
            <a:endParaRPr lang="en-US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148A8-94B1-4F87-811F-B47A8A400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likely that we discover later, the previously allocated memory is not sufficient.</a:t>
            </a:r>
            <a:endParaRPr lang="gu-IN" dirty="0"/>
          </a:p>
          <a:p>
            <a:r>
              <a:rPr lang="en-US" dirty="0"/>
              <a:t>It possible that we need additional space for more elements or it is also possible that memory allocated is much larger than necessary. </a:t>
            </a:r>
            <a:endParaRPr lang="gu-IN" dirty="0"/>
          </a:p>
          <a:p>
            <a:r>
              <a:rPr lang="en-US" dirty="0"/>
              <a:t>Means if we want to change the memory size already allocated then we can do that with the help of function </a:t>
            </a:r>
            <a:r>
              <a:rPr lang="en-US" b="1" dirty="0">
                <a:solidFill>
                  <a:srgbClr val="C00000"/>
                </a:solidFill>
              </a:rPr>
              <a:t>Realloc</a:t>
            </a:r>
            <a:r>
              <a:rPr lang="en-US" dirty="0"/>
              <a:t>.</a:t>
            </a:r>
            <a:endParaRPr lang="gu-IN" dirty="0"/>
          </a:p>
          <a:p>
            <a:r>
              <a:rPr lang="en-US" b="1" dirty="0">
                <a:solidFill>
                  <a:srgbClr val="C00000"/>
                </a:solidFill>
                <a:cs typeface="Lohit Gujarati" panose="020B0600000000000000" pitchFamily="34" charset="0"/>
              </a:rPr>
              <a:t>Syntax;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2632A0-98E0-49C7-8BF3-5D3872A60218}"/>
              </a:ext>
            </a:extLst>
          </p:cNvPr>
          <p:cNvSpPr txBox="1"/>
          <p:nvPr/>
        </p:nvSpPr>
        <p:spPr>
          <a:xfrm>
            <a:off x="1733197" y="3240623"/>
            <a:ext cx="798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malloc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AF0EBC-679F-456E-B968-0BC37BFFFD57}"/>
              </a:ext>
            </a:extLst>
          </p:cNvPr>
          <p:cNvSpPr txBox="1"/>
          <p:nvPr/>
        </p:nvSpPr>
        <p:spPr>
          <a:xfrm>
            <a:off x="2531688" y="3244334"/>
            <a:ext cx="798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(size);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E01CEA-59D2-412E-919F-D0916975D653}"/>
              </a:ext>
            </a:extLst>
          </p:cNvPr>
          <p:cNvSpPr txBox="1"/>
          <p:nvPr/>
        </p:nvSpPr>
        <p:spPr>
          <a:xfrm>
            <a:off x="1216384" y="3247631"/>
            <a:ext cx="57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ptr</a:t>
            </a:r>
            <a:r>
              <a:rPr lang="en-US" b="1" dirty="0"/>
              <a:t>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9BC7D4-162F-4EC6-AD52-75787E27A238}"/>
              </a:ext>
            </a:extLst>
          </p:cNvPr>
          <p:cNvSpPr txBox="1"/>
          <p:nvPr/>
        </p:nvSpPr>
        <p:spPr>
          <a:xfrm>
            <a:off x="1795933" y="3639013"/>
            <a:ext cx="912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</a:rPr>
              <a:t>realloc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8DB0B5-8E01-46F4-A2B5-B55F1F80125D}"/>
              </a:ext>
            </a:extLst>
          </p:cNvPr>
          <p:cNvSpPr txBox="1"/>
          <p:nvPr/>
        </p:nvSpPr>
        <p:spPr>
          <a:xfrm>
            <a:off x="2649989" y="3638222"/>
            <a:ext cx="1635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</a:t>
            </a:r>
            <a:r>
              <a:rPr lang="en-US" b="1" dirty="0" err="1"/>
              <a:t>ptr</a:t>
            </a:r>
            <a:r>
              <a:rPr lang="en-US" b="1" dirty="0"/>
              <a:t>, new size);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5C031A-4A6F-4D6A-979A-F3AA7018942C}"/>
              </a:ext>
            </a:extLst>
          </p:cNvPr>
          <p:cNvSpPr txBox="1"/>
          <p:nvPr/>
        </p:nvSpPr>
        <p:spPr>
          <a:xfrm>
            <a:off x="1216384" y="3638222"/>
            <a:ext cx="57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ptr</a:t>
            </a:r>
            <a:r>
              <a:rPr lang="en-US" b="1" dirty="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2573778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  <p:bldP spid="10" grpId="0"/>
      <p:bldP spid="1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F4BEC-576D-4072-988A-0D258D690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Realloc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73E526-4D54-4128-96AF-7898EA5D7522}"/>
              </a:ext>
            </a:extLst>
          </p:cNvPr>
          <p:cNvSpPr txBox="1"/>
          <p:nvPr/>
        </p:nvSpPr>
        <p:spPr>
          <a:xfrm>
            <a:off x="309093" y="985454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#include&lt;stdio.h&gt;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642027-9A93-4739-B9FA-C766106F1816}"/>
              </a:ext>
            </a:extLst>
          </p:cNvPr>
          <p:cNvSpPr txBox="1"/>
          <p:nvPr/>
        </p:nvSpPr>
        <p:spPr>
          <a:xfrm>
            <a:off x="309093" y="1715399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main()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101D05-1E08-4A89-AB6F-799103A3BADE}"/>
              </a:ext>
            </a:extLst>
          </p:cNvPr>
          <p:cNvSpPr txBox="1"/>
          <p:nvPr/>
        </p:nvSpPr>
        <p:spPr>
          <a:xfrm>
            <a:off x="309093" y="2084731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1D6652-EA06-41A4-9D37-31D743B72D52}"/>
              </a:ext>
            </a:extLst>
          </p:cNvPr>
          <p:cNvSpPr txBox="1"/>
          <p:nvPr/>
        </p:nvSpPr>
        <p:spPr>
          <a:xfrm>
            <a:off x="4317617" y="4956979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56E187-5F1E-4419-B516-AD686449C6E1}"/>
              </a:ext>
            </a:extLst>
          </p:cNvPr>
          <p:cNvSpPr txBox="1"/>
          <p:nvPr/>
        </p:nvSpPr>
        <p:spPr>
          <a:xfrm>
            <a:off x="680435" y="2797933"/>
            <a:ext cx="3093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("Enter Size Here:\n");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97B623-D830-47F7-879B-8E837746AFFF}"/>
              </a:ext>
            </a:extLst>
          </p:cNvPr>
          <p:cNvSpPr txBox="1"/>
          <p:nvPr/>
        </p:nvSpPr>
        <p:spPr>
          <a:xfrm>
            <a:off x="680434" y="2448643"/>
            <a:ext cx="2552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int *p,i,n1,n2;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B3240F-5208-44AA-BDC1-18291B4D6847}"/>
              </a:ext>
            </a:extLst>
          </p:cNvPr>
          <p:cNvSpPr txBox="1"/>
          <p:nvPr/>
        </p:nvSpPr>
        <p:spPr>
          <a:xfrm>
            <a:off x="680433" y="3146196"/>
            <a:ext cx="1753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scanf</a:t>
            </a:r>
            <a:r>
              <a:rPr lang="en-US" dirty="0"/>
              <a:t>("%d",&amp;n1);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58CAC5-74A4-4981-A828-0A350D178D1E}"/>
              </a:ext>
            </a:extLst>
          </p:cNvPr>
          <p:cNvSpPr txBox="1"/>
          <p:nvPr/>
        </p:nvSpPr>
        <p:spPr>
          <a:xfrm>
            <a:off x="680435" y="3498010"/>
            <a:ext cx="3582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p=(int*)malloc(n1*</a:t>
            </a:r>
            <a:r>
              <a:rPr lang="en-US" b="1" dirty="0" err="1">
                <a:solidFill>
                  <a:srgbClr val="C00000"/>
                </a:solidFill>
              </a:rPr>
              <a:t>sizeof</a:t>
            </a:r>
            <a:r>
              <a:rPr lang="en-US" b="1" dirty="0">
                <a:solidFill>
                  <a:srgbClr val="C00000"/>
                </a:solidFill>
              </a:rPr>
              <a:t>(int));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E991ED-6A16-424F-8FCA-59E712BA9331}"/>
              </a:ext>
            </a:extLst>
          </p:cNvPr>
          <p:cNvSpPr txBox="1"/>
          <p:nvPr/>
        </p:nvSpPr>
        <p:spPr>
          <a:xfrm>
            <a:off x="680435" y="3843192"/>
            <a:ext cx="3582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printf("Enter Elements \n");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0D3473-78E2-41F5-B5D3-5EA6393E7A62}"/>
              </a:ext>
            </a:extLst>
          </p:cNvPr>
          <p:cNvSpPr txBox="1"/>
          <p:nvPr/>
        </p:nvSpPr>
        <p:spPr>
          <a:xfrm>
            <a:off x="8307402" y="985454"/>
            <a:ext cx="1403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OUTPUT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31E3DE-7BB5-49A2-9410-FF46AC89EE9E}"/>
              </a:ext>
            </a:extLst>
          </p:cNvPr>
          <p:cNvSpPr txBox="1"/>
          <p:nvPr/>
        </p:nvSpPr>
        <p:spPr>
          <a:xfrm>
            <a:off x="8303908" y="1339414"/>
            <a:ext cx="1995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Enter size of array: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DF2697-619B-424C-A686-987C2D0B19A5}"/>
              </a:ext>
            </a:extLst>
          </p:cNvPr>
          <p:cNvSpPr txBox="1"/>
          <p:nvPr/>
        </p:nvSpPr>
        <p:spPr>
          <a:xfrm>
            <a:off x="1024945" y="4907231"/>
            <a:ext cx="24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scanf</a:t>
            </a:r>
            <a:r>
              <a:rPr lang="en-US" dirty="0"/>
              <a:t>("%</a:t>
            </a:r>
            <a:r>
              <a:rPr lang="en-US" dirty="0" err="1"/>
              <a:t>d",&amp;p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2B707E-6598-44E2-A941-AA5398463AAD}"/>
              </a:ext>
            </a:extLst>
          </p:cNvPr>
          <p:cNvSpPr txBox="1"/>
          <p:nvPr/>
        </p:nvSpPr>
        <p:spPr>
          <a:xfrm>
            <a:off x="680434" y="4212524"/>
            <a:ext cx="2964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dirty="0"/>
              <a:t>for(i=0;i&lt;n1;i++)</a:t>
            </a:r>
            <a:endParaRPr lang="en-US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7D6FB7B-2B33-4CE6-8892-6DF8502CE9EB}"/>
              </a:ext>
            </a:extLst>
          </p:cNvPr>
          <p:cNvSpPr txBox="1"/>
          <p:nvPr/>
        </p:nvSpPr>
        <p:spPr>
          <a:xfrm>
            <a:off x="309091" y="1356765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#include&lt;stdlib.h&gt;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C841CF6-D9AC-49E5-900B-3D52F26EBAC0}"/>
              </a:ext>
            </a:extLst>
          </p:cNvPr>
          <p:cNvSpPr txBox="1"/>
          <p:nvPr/>
        </p:nvSpPr>
        <p:spPr>
          <a:xfrm>
            <a:off x="680433" y="4555417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090ABFB-4B9D-4734-9CBD-059B487BE98D}"/>
              </a:ext>
            </a:extLst>
          </p:cNvPr>
          <p:cNvSpPr txBox="1"/>
          <p:nvPr/>
        </p:nvSpPr>
        <p:spPr>
          <a:xfrm>
            <a:off x="680433" y="5192489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3A27B92-6C2C-492D-96AE-6F566ACF2D5A}"/>
              </a:ext>
            </a:extLst>
          </p:cNvPr>
          <p:cNvSpPr txBox="1"/>
          <p:nvPr/>
        </p:nvSpPr>
        <p:spPr>
          <a:xfrm>
            <a:off x="642870" y="5523184"/>
            <a:ext cx="3582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nEnter</a:t>
            </a:r>
            <a:r>
              <a:rPr lang="en-US" dirty="0"/>
              <a:t> Updated Size Here: "); 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588604B-72DE-44E7-9116-A2CAEFB3337D}"/>
              </a:ext>
            </a:extLst>
          </p:cNvPr>
          <p:cNvSpPr txBox="1"/>
          <p:nvPr/>
        </p:nvSpPr>
        <p:spPr>
          <a:xfrm>
            <a:off x="4649271" y="2107120"/>
            <a:ext cx="3878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scanf("%d",&amp;p[i]);</a:t>
            </a:r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601E2E2-E8A7-4D49-89F3-9580C9517DA1}"/>
              </a:ext>
            </a:extLst>
          </p:cNvPr>
          <p:cNvSpPr txBox="1"/>
          <p:nvPr/>
        </p:nvSpPr>
        <p:spPr>
          <a:xfrm>
            <a:off x="4320859" y="1479248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dirty="0"/>
              <a:t>for(i=n1;i&lt;n2;i++)</a:t>
            </a:r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B44717F-6B0C-45E2-AF62-6BE550447DDF}"/>
              </a:ext>
            </a:extLst>
          </p:cNvPr>
          <p:cNvSpPr txBox="1"/>
          <p:nvPr/>
        </p:nvSpPr>
        <p:spPr>
          <a:xfrm>
            <a:off x="4320859" y="1822141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FEB7E27-811E-4B3C-9032-F03ADBC3EB4C}"/>
              </a:ext>
            </a:extLst>
          </p:cNvPr>
          <p:cNvSpPr txBox="1"/>
          <p:nvPr/>
        </p:nvSpPr>
        <p:spPr>
          <a:xfrm>
            <a:off x="4317617" y="2434393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A904D16-B8DA-4042-AECE-8878B56F8799}"/>
              </a:ext>
            </a:extLst>
          </p:cNvPr>
          <p:cNvSpPr txBox="1"/>
          <p:nvPr/>
        </p:nvSpPr>
        <p:spPr>
          <a:xfrm>
            <a:off x="4533361" y="4587647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free(p);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F4025CA-CB21-4757-BB80-3061ECDDD415}"/>
              </a:ext>
            </a:extLst>
          </p:cNvPr>
          <p:cNvSpPr txBox="1"/>
          <p:nvPr/>
        </p:nvSpPr>
        <p:spPr>
          <a:xfrm>
            <a:off x="10177509" y="1342800"/>
            <a:ext cx="381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228B4FF-E7B0-47C5-85C9-C068EED7C21D}"/>
              </a:ext>
            </a:extLst>
          </p:cNvPr>
          <p:cNvSpPr txBox="1"/>
          <p:nvPr/>
        </p:nvSpPr>
        <p:spPr>
          <a:xfrm>
            <a:off x="8307402" y="1694122"/>
            <a:ext cx="2407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Enter Elements: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7D373D5-F733-4D86-AE0D-8830257FF233}"/>
              </a:ext>
            </a:extLst>
          </p:cNvPr>
          <p:cNvSpPr txBox="1"/>
          <p:nvPr/>
        </p:nvSpPr>
        <p:spPr>
          <a:xfrm>
            <a:off x="8358386" y="2072395"/>
            <a:ext cx="523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BA33698-9878-4EEA-8BA0-15B284BAB040}"/>
              </a:ext>
            </a:extLst>
          </p:cNvPr>
          <p:cNvSpPr txBox="1"/>
          <p:nvPr/>
        </p:nvSpPr>
        <p:spPr>
          <a:xfrm>
            <a:off x="8353548" y="2409855"/>
            <a:ext cx="523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14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D49F92C-DB70-4E95-8D09-247377A0B0FE}"/>
              </a:ext>
            </a:extLst>
          </p:cNvPr>
          <p:cNvSpPr txBox="1"/>
          <p:nvPr/>
        </p:nvSpPr>
        <p:spPr>
          <a:xfrm>
            <a:off x="8358386" y="2745623"/>
            <a:ext cx="528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25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8318C07-AF0E-4D68-B3D9-02EB5ACED9BD}"/>
              </a:ext>
            </a:extLst>
          </p:cNvPr>
          <p:cNvSpPr txBox="1"/>
          <p:nvPr/>
        </p:nvSpPr>
        <p:spPr>
          <a:xfrm>
            <a:off x="8408820" y="4618316"/>
            <a:ext cx="2407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Final Elements are: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6484136-D5F3-4169-BACC-69F0A161E85E}"/>
              </a:ext>
            </a:extLst>
          </p:cNvPr>
          <p:cNvSpPr txBox="1"/>
          <p:nvPr/>
        </p:nvSpPr>
        <p:spPr>
          <a:xfrm>
            <a:off x="8408820" y="5005530"/>
            <a:ext cx="523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39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F07ED9E-C905-4EA0-83D1-BB5A970B7EB5}"/>
              </a:ext>
            </a:extLst>
          </p:cNvPr>
          <p:cNvSpPr txBox="1"/>
          <p:nvPr/>
        </p:nvSpPr>
        <p:spPr>
          <a:xfrm>
            <a:off x="8403982" y="5342990"/>
            <a:ext cx="523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23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5371CA3-4B4B-43B8-9FF4-DE9D6700B677}"/>
              </a:ext>
            </a:extLst>
          </p:cNvPr>
          <p:cNvSpPr txBox="1"/>
          <p:nvPr/>
        </p:nvSpPr>
        <p:spPr>
          <a:xfrm>
            <a:off x="8408820" y="5678758"/>
            <a:ext cx="528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9E7EC45-69B6-430B-BAA2-2F1B1F5DE62D}"/>
              </a:ext>
            </a:extLst>
          </p:cNvPr>
          <p:cNvSpPr txBox="1"/>
          <p:nvPr/>
        </p:nvSpPr>
        <p:spPr>
          <a:xfrm>
            <a:off x="642870" y="5892516"/>
            <a:ext cx="1753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scanf</a:t>
            </a:r>
            <a:r>
              <a:rPr lang="en-US" dirty="0"/>
              <a:t>("%d",&amp;n2);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1663694-C99A-46E4-AB1E-D87E7891AA4E}"/>
              </a:ext>
            </a:extLst>
          </p:cNvPr>
          <p:cNvSpPr txBox="1"/>
          <p:nvPr/>
        </p:nvSpPr>
        <p:spPr>
          <a:xfrm>
            <a:off x="642870" y="6261167"/>
            <a:ext cx="1917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p=</a:t>
            </a:r>
            <a:r>
              <a:rPr lang="en-US" b="1" dirty="0" err="1">
                <a:solidFill>
                  <a:srgbClr val="C00000"/>
                </a:solidFill>
              </a:rPr>
              <a:t>realloc</a:t>
            </a:r>
            <a:r>
              <a:rPr lang="en-US" b="1" dirty="0">
                <a:solidFill>
                  <a:srgbClr val="C00000"/>
                </a:solidFill>
              </a:rPr>
              <a:t>(p,n2);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413BC64-F9FA-4D7B-AD13-5BB2F078D7A2}"/>
              </a:ext>
            </a:extLst>
          </p:cNvPr>
          <p:cNvSpPr txBox="1"/>
          <p:nvPr/>
        </p:nvSpPr>
        <p:spPr>
          <a:xfrm>
            <a:off x="4320859" y="1061747"/>
            <a:ext cx="3582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printf("\nEnter Elements Again \n");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0081F21-1BAE-426F-A80D-3ECC0C1D9CF1}"/>
              </a:ext>
            </a:extLst>
          </p:cNvPr>
          <p:cNvSpPr txBox="1"/>
          <p:nvPr/>
        </p:nvSpPr>
        <p:spPr>
          <a:xfrm>
            <a:off x="4317617" y="2797933"/>
            <a:ext cx="3582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printf("\Final Elements are:\n");</a:t>
            </a:r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E632667-256C-4BE1-98CE-A55999D3CE4B}"/>
              </a:ext>
            </a:extLst>
          </p:cNvPr>
          <p:cNvSpPr txBox="1"/>
          <p:nvPr/>
        </p:nvSpPr>
        <p:spPr>
          <a:xfrm>
            <a:off x="4649271" y="3883549"/>
            <a:ext cx="3878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printf("\n%d",p[i]);</a:t>
            </a:r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0378B77-06A5-4349-82ED-29BBB53125D3}"/>
              </a:ext>
            </a:extLst>
          </p:cNvPr>
          <p:cNvSpPr txBox="1"/>
          <p:nvPr/>
        </p:nvSpPr>
        <p:spPr>
          <a:xfrm>
            <a:off x="4320859" y="3267578"/>
            <a:ext cx="453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dirty="0"/>
              <a:t>for(i=0;i&lt;n2;i++)</a:t>
            </a:r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70EE514-D13C-4CAB-9B65-7794A47299D3}"/>
              </a:ext>
            </a:extLst>
          </p:cNvPr>
          <p:cNvSpPr txBox="1"/>
          <p:nvPr/>
        </p:nvSpPr>
        <p:spPr>
          <a:xfrm>
            <a:off x="4320859" y="3610471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EF97BF8-CA7D-4EB9-82D5-64D66271C0E9}"/>
              </a:ext>
            </a:extLst>
          </p:cNvPr>
          <p:cNvSpPr txBox="1"/>
          <p:nvPr/>
        </p:nvSpPr>
        <p:spPr>
          <a:xfrm>
            <a:off x="4320859" y="4208906"/>
            <a:ext cx="18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2110B8A-A5A2-4810-AFAB-7F16606D2239}"/>
              </a:ext>
            </a:extLst>
          </p:cNvPr>
          <p:cNvSpPr txBox="1"/>
          <p:nvPr/>
        </p:nvSpPr>
        <p:spPr>
          <a:xfrm>
            <a:off x="8303908" y="3177909"/>
            <a:ext cx="2407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Enter new size of array: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08CACEE-2176-4D9C-9BE9-89E96383C89C}"/>
              </a:ext>
            </a:extLst>
          </p:cNvPr>
          <p:cNvSpPr txBox="1"/>
          <p:nvPr/>
        </p:nvSpPr>
        <p:spPr>
          <a:xfrm>
            <a:off x="10611920" y="3190788"/>
            <a:ext cx="381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68EB45C-81E2-4E7F-A886-2DEFCDC805AA}"/>
              </a:ext>
            </a:extLst>
          </p:cNvPr>
          <p:cNvSpPr txBox="1"/>
          <p:nvPr/>
        </p:nvSpPr>
        <p:spPr>
          <a:xfrm>
            <a:off x="8357836" y="3524310"/>
            <a:ext cx="2407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Enter Elements Again: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47565B1-1EC8-41B9-9B2F-FB7B296642F7}"/>
              </a:ext>
            </a:extLst>
          </p:cNvPr>
          <p:cNvSpPr txBox="1"/>
          <p:nvPr/>
        </p:nvSpPr>
        <p:spPr>
          <a:xfrm>
            <a:off x="8408820" y="3902583"/>
            <a:ext cx="523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FDD2D99-EA56-4CD7-8656-E544996D35C8}"/>
              </a:ext>
            </a:extLst>
          </p:cNvPr>
          <p:cNvSpPr txBox="1"/>
          <p:nvPr/>
        </p:nvSpPr>
        <p:spPr>
          <a:xfrm>
            <a:off x="8403982" y="4240043"/>
            <a:ext cx="523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3042715-B13D-43F1-A649-DD9A2E6522B3}"/>
              </a:ext>
            </a:extLst>
          </p:cNvPr>
          <p:cNvSpPr txBox="1"/>
          <p:nvPr/>
        </p:nvSpPr>
        <p:spPr>
          <a:xfrm>
            <a:off x="8413660" y="5982654"/>
            <a:ext cx="523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BB4E8A5-1D0F-4573-A980-5DBA9D46BCE5}"/>
              </a:ext>
            </a:extLst>
          </p:cNvPr>
          <p:cNvSpPr txBox="1"/>
          <p:nvPr/>
        </p:nvSpPr>
        <p:spPr>
          <a:xfrm>
            <a:off x="8408822" y="6320114"/>
            <a:ext cx="523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37414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6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" dur="1000" tmFilter="0, 0; .2, .5; .8, .5; 1, 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500" autoRev="1" fill="hold"/>
                                        <p:tgtEl>
                                          <p:spTgt spid="8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6" grpId="0"/>
      <p:bldP spid="17" grpId="0"/>
      <p:bldP spid="84" grpId="0"/>
      <p:bldP spid="84" grpId="1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1" grpId="0"/>
      <p:bldP spid="45" grpId="0"/>
      <p:bldP spid="46" grpId="0"/>
      <p:bldP spid="47" grpId="0"/>
      <p:bldP spid="48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7076983-6098-4D75-8E3B-99B088ABB8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dirty="0" smtClean="0"/>
              <a:t>shok.badresiya@darshan.ac.in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05BAC4B-D894-4260-872E-77744EE844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9913131691</a:t>
            </a:r>
            <a:endParaRPr lang="en-US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7C2BE0A6-15FF-4CCA-8B35-BD3CE334D04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69" y="5211251"/>
            <a:ext cx="1353599" cy="1353599"/>
          </a:xfr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E20B01-2C98-438F-91A2-5BCFB793FE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</a:t>
            </a:r>
            <a:r>
              <a:rPr lang="en-US" dirty="0" smtClean="0"/>
              <a:t>Ashok G </a:t>
            </a:r>
            <a:r>
              <a:rPr lang="en-US" dirty="0" err="1" smtClean="0"/>
              <a:t>Badresiya</a:t>
            </a:r>
            <a:endParaRPr lang="en-US" dirty="0"/>
          </a:p>
        </p:txBody>
      </p:sp>
      <p:sp>
        <p:nvSpPr>
          <p:cNvPr id="15" name="Text Placeholder 1026">
            <a:extLst>
              <a:ext uri="{FF2B5EF4-FFF2-40B4-BE49-F238E27FC236}">
                <a16:creationId xmlns:a16="http://schemas.microsoft.com/office/drawing/2014/main" id="{508C39DE-82EA-4947-BA58-85EB27511A40}"/>
              </a:ext>
            </a:extLst>
          </p:cNvPr>
          <p:cNvSpPr txBox="1">
            <a:spLocks/>
          </p:cNvSpPr>
          <p:nvPr/>
        </p:nvSpPr>
        <p:spPr>
          <a:xfrm>
            <a:off x="2772358" y="0"/>
            <a:ext cx="4646358" cy="7346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 Programming - </a:t>
            </a:r>
            <a:r>
              <a:rPr lang="en-US" b="1" dirty="0" smtClean="0"/>
              <a:t>II 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(CP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– 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II)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 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2304CS201 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006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3116</TotalTime>
  <Words>2678</Words>
  <Application>Microsoft Office PowerPoint</Application>
  <PresentationFormat>Widescreen</PresentationFormat>
  <Paragraphs>586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7" baseType="lpstr">
      <vt:lpstr>Roboto Condensed</vt:lpstr>
      <vt:lpstr>Wingdings 3</vt:lpstr>
      <vt:lpstr>Shruti</vt:lpstr>
      <vt:lpstr>Lohit Gujarati</vt:lpstr>
      <vt:lpstr>Wingdings 2</vt:lpstr>
      <vt:lpstr>Courier New</vt:lpstr>
      <vt:lpstr>Roboto Condensed Light</vt:lpstr>
      <vt:lpstr>Segoe UI Black</vt:lpstr>
      <vt:lpstr>Times New Roman</vt:lpstr>
      <vt:lpstr>Wingdings</vt:lpstr>
      <vt:lpstr>Calibri</vt:lpstr>
      <vt:lpstr>Arial</vt:lpstr>
      <vt:lpstr>Office Theme</vt:lpstr>
      <vt:lpstr>Unit-3 Pointer and Dynamic Memory Allocation</vt:lpstr>
      <vt:lpstr>PowerPoint Presentation</vt:lpstr>
      <vt:lpstr>Introduction of pointer</vt:lpstr>
      <vt:lpstr>Pointer</vt:lpstr>
      <vt:lpstr>How to declare a pointer variable </vt:lpstr>
      <vt:lpstr>How to initialize a pointer variable</vt:lpstr>
      <vt:lpstr>Pointer Example</vt:lpstr>
      <vt:lpstr>Advantages of Pointer</vt:lpstr>
      <vt:lpstr>Limitations of Pointer</vt:lpstr>
      <vt:lpstr>Pointer Expression</vt:lpstr>
      <vt:lpstr>Pointer Expression</vt:lpstr>
      <vt:lpstr>Pointer Expression (Conti…)</vt:lpstr>
      <vt:lpstr>Pointer Expression (Conti…)</vt:lpstr>
      <vt:lpstr>Pointer Expression (Conti…)</vt:lpstr>
      <vt:lpstr>Pointer Expression (Conti…)</vt:lpstr>
      <vt:lpstr>Pointer Expression (Conti…)</vt:lpstr>
      <vt:lpstr>Pointer Expression (Conti…)</vt:lpstr>
      <vt:lpstr>Array of Pointers </vt:lpstr>
      <vt:lpstr>Array of Pointers</vt:lpstr>
      <vt:lpstr>Array of Pointers (Conti..)</vt:lpstr>
      <vt:lpstr>Array of Pointers Example – 1 </vt:lpstr>
      <vt:lpstr>Array of Pointers Example – 2 </vt:lpstr>
      <vt:lpstr>Pointer to Structure</vt:lpstr>
      <vt:lpstr>Pointer to Structure</vt:lpstr>
      <vt:lpstr>Pointer to Structure Example</vt:lpstr>
      <vt:lpstr>Dynamic Memory Allocation</vt:lpstr>
      <vt:lpstr>Dynamic Memory Allocation</vt:lpstr>
      <vt:lpstr>Malloc</vt:lpstr>
      <vt:lpstr>Example of Malloc</vt:lpstr>
      <vt:lpstr>Calloc</vt:lpstr>
      <vt:lpstr>Example of Calloc</vt:lpstr>
      <vt:lpstr>Realloc</vt:lpstr>
      <vt:lpstr>Example of Realloc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438</cp:revision>
  <dcterms:created xsi:type="dcterms:W3CDTF">2020-05-01T05:09:15Z</dcterms:created>
  <dcterms:modified xsi:type="dcterms:W3CDTF">2026-01-27T10:07:35Z</dcterms:modified>
</cp:coreProperties>
</file>