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8"/>
  </p:notesMasterIdLst>
  <p:sldIdLst>
    <p:sldId id="283" r:id="rId2"/>
    <p:sldId id="292" r:id="rId3"/>
    <p:sldId id="288" r:id="rId4"/>
    <p:sldId id="324" r:id="rId5"/>
    <p:sldId id="812" r:id="rId6"/>
    <p:sldId id="325" r:id="rId7"/>
    <p:sldId id="326" r:id="rId8"/>
    <p:sldId id="340" r:id="rId9"/>
    <p:sldId id="734" r:id="rId10"/>
    <p:sldId id="328" r:id="rId11"/>
    <p:sldId id="329" r:id="rId12"/>
    <p:sldId id="330" r:id="rId13"/>
    <p:sldId id="345" r:id="rId14"/>
    <p:sldId id="346" r:id="rId15"/>
    <p:sldId id="347" r:id="rId16"/>
    <p:sldId id="348" r:id="rId17"/>
    <p:sldId id="795" r:id="rId18"/>
    <p:sldId id="810" r:id="rId19"/>
    <p:sldId id="349" r:id="rId20"/>
    <p:sldId id="350" r:id="rId21"/>
    <p:sldId id="781" r:id="rId22"/>
    <p:sldId id="351" r:id="rId23"/>
    <p:sldId id="352" r:id="rId24"/>
    <p:sldId id="353" r:id="rId25"/>
    <p:sldId id="796" r:id="rId26"/>
    <p:sldId id="331" r:id="rId27"/>
    <p:sldId id="354" r:id="rId28"/>
    <p:sldId id="355" r:id="rId29"/>
    <p:sldId id="356" r:id="rId30"/>
    <p:sldId id="451" r:id="rId31"/>
    <p:sldId id="358" r:id="rId32"/>
    <p:sldId id="359" r:id="rId33"/>
    <p:sldId id="360" r:id="rId34"/>
    <p:sldId id="361" r:id="rId35"/>
    <p:sldId id="362" r:id="rId36"/>
    <p:sldId id="363" r:id="rId37"/>
    <p:sldId id="364" r:id="rId38"/>
    <p:sldId id="381" r:id="rId39"/>
    <p:sldId id="382" r:id="rId40"/>
    <p:sldId id="365" r:id="rId41"/>
    <p:sldId id="366" r:id="rId42"/>
    <p:sldId id="367" r:id="rId43"/>
    <p:sldId id="368" r:id="rId44"/>
    <p:sldId id="369" r:id="rId45"/>
    <p:sldId id="370" r:id="rId46"/>
    <p:sldId id="371" r:id="rId47"/>
    <p:sldId id="373" r:id="rId48"/>
    <p:sldId id="374" r:id="rId49"/>
    <p:sldId id="797" r:id="rId50"/>
    <p:sldId id="377" r:id="rId51"/>
    <p:sldId id="805" r:id="rId52"/>
    <p:sldId id="378" r:id="rId53"/>
    <p:sldId id="379" r:id="rId54"/>
    <p:sldId id="380" r:id="rId55"/>
    <p:sldId id="798" r:id="rId56"/>
    <p:sldId id="799" r:id="rId57"/>
    <p:sldId id="788" r:id="rId58"/>
    <p:sldId id="383" r:id="rId59"/>
    <p:sldId id="384" r:id="rId60"/>
    <p:sldId id="385" r:id="rId61"/>
    <p:sldId id="386" r:id="rId62"/>
    <p:sldId id="387" r:id="rId63"/>
    <p:sldId id="388" r:id="rId64"/>
    <p:sldId id="389" r:id="rId65"/>
    <p:sldId id="390" r:id="rId66"/>
    <p:sldId id="439" r:id="rId67"/>
    <p:sldId id="440" r:id="rId68"/>
    <p:sldId id="809" r:id="rId69"/>
    <p:sldId id="800" r:id="rId70"/>
    <p:sldId id="391" r:id="rId71"/>
    <p:sldId id="392" r:id="rId72"/>
    <p:sldId id="806" r:id="rId73"/>
    <p:sldId id="807" r:id="rId74"/>
    <p:sldId id="808" r:id="rId75"/>
    <p:sldId id="791" r:id="rId76"/>
    <p:sldId id="441" r:id="rId77"/>
    <p:sldId id="442" r:id="rId78"/>
    <p:sldId id="443" r:id="rId79"/>
    <p:sldId id="444" r:id="rId80"/>
    <p:sldId id="792" r:id="rId81"/>
    <p:sldId id="804" r:id="rId82"/>
    <p:sldId id="801" r:id="rId83"/>
    <p:sldId id="802" r:id="rId84"/>
    <p:sldId id="813" r:id="rId85"/>
    <p:sldId id="814" r:id="rId86"/>
    <p:sldId id="793" r:id="rId87"/>
    <p:sldId id="445" r:id="rId88"/>
    <p:sldId id="815" r:id="rId89"/>
    <p:sldId id="794" r:id="rId90"/>
    <p:sldId id="803" r:id="rId91"/>
    <p:sldId id="817" r:id="rId92"/>
    <p:sldId id="818" r:id="rId93"/>
    <p:sldId id="819" r:id="rId94"/>
    <p:sldId id="820" r:id="rId95"/>
    <p:sldId id="821" r:id="rId96"/>
    <p:sldId id="344" r:id="rId97"/>
  </p:sldIdLst>
  <p:sldSz cx="12192000" cy="6858000"/>
  <p:notesSz cx="6858000" cy="9144000"/>
  <p:embeddedFontLst>
    <p:embeddedFont>
      <p:font typeface="Consolas" panose="020B0609020204030204" pitchFamily="49" charset="0"/>
      <p:regular r:id="rId99"/>
      <p:bold r:id="rId100"/>
      <p:italic r:id="rId101"/>
      <p:boldItalic r:id="rId102"/>
    </p:embeddedFont>
    <p:embeddedFont>
      <p:font typeface="Roboto Condensed" panose="02000000000000000000" pitchFamily="2" charset="0"/>
      <p:regular r:id="rId103"/>
      <p:bold r:id="rId104"/>
      <p:italic r:id="rId105"/>
      <p:boldItalic r:id="rId106"/>
    </p:embeddedFont>
    <p:embeddedFont>
      <p:font typeface="Roboto Condensed Light" panose="02000000000000000000" pitchFamily="2" charset="0"/>
      <p:regular r:id="rId107"/>
      <p:italic r:id="rId108"/>
    </p:embeddedFont>
    <p:embeddedFont>
      <p:font typeface="Wingdings 2" panose="05020102010507070707" pitchFamily="18" charset="2"/>
      <p:regular r:id="rId109"/>
    </p:embeddedFont>
    <p:embeddedFont>
      <p:font typeface="Wingdings 3" panose="05040102010807070707" pitchFamily="18" charset="2"/>
      <p:regular r:id="rId1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7n9OPi3wxWuPaQRDTB8g9w==" hashData="yWk2JzRy1iNs4eLKYxAuL9AB66JLwFnnOrHTHOi2nLrXAdmfgYSwKQTFBCst2GPd6jueVpUEEZQXV3zsc691Dw=="/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emang Chath" initials="HC" lastIdx="1" clrIdx="0">
    <p:extLst>
      <p:ext uri="{19B8F6BF-5375-455C-9EA6-DF929625EA0E}">
        <p15:presenceInfo xmlns:p15="http://schemas.microsoft.com/office/powerpoint/2012/main" userId="843f6e9c48e3acf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6FA9"/>
    <a:srgbClr val="301B92"/>
    <a:srgbClr val="D10233"/>
    <a:srgbClr val="673BB7"/>
    <a:srgbClr val="607D8B"/>
    <a:srgbClr val="ED524F"/>
    <a:srgbClr val="B71B1C"/>
    <a:srgbClr val="F54337"/>
    <a:srgbClr val="D81A60"/>
    <a:srgbClr val="890E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82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presProps" Target="presProps.xml"/><Relationship Id="rId16" Type="http://schemas.openxmlformats.org/officeDocument/2006/relationships/slide" Target="slides/slide15.xml"/><Relationship Id="rId107" Type="http://schemas.openxmlformats.org/officeDocument/2006/relationships/font" Target="fonts/font9.fntdata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font" Target="fonts/font4.fntdata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viewProps" Target="view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font" Target="fonts/font5.fntdata"/><Relationship Id="rId108" Type="http://schemas.openxmlformats.org/officeDocument/2006/relationships/font" Target="fonts/font10.fntdata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font" Target="fonts/font8.fntdata"/><Relationship Id="rId114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font" Target="fonts/font1.fntdata"/><Relationship Id="rId10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font" Target="fonts/font11.fntdata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font" Target="fonts/font6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font" Target="fonts/font12.fntdata"/><Relationship Id="rId115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font" Target="fonts/font2.fntdata"/><Relationship Id="rId105" Type="http://schemas.openxmlformats.org/officeDocument/2006/relationships/font" Target="fonts/font7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commentAuthors" Target="commentAuthor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1D330C-ED12-4980-B613-94C6A3CED368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D03D639-5674-4D1A-A8DD-C66A613E97E2}">
      <dgm:prSet phldrT="[Text]" custT="1">
        <dgm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dgm:style>
      </dgm:prSet>
      <dgm:spPr>
        <a:solidFill>
          <a:schemeClr val="accent3">
            <a:lumMod val="60000"/>
            <a:lumOff val="40000"/>
          </a:schemeClr>
        </a:solidFill>
        <a:ln>
          <a:solidFill>
            <a:schemeClr val="accent3">
              <a:lumMod val="75000"/>
            </a:schemeClr>
          </a:solidFill>
        </a:ln>
      </dgm:spPr>
      <dgm:t>
        <a:bodyPr/>
        <a:lstStyle/>
        <a:p>
          <a:r>
            <a:rPr lang="en-US" sz="2200" b="1" dirty="0">
              <a:solidFill>
                <a:schemeClr val="tx1"/>
              </a:solidFill>
              <a:latin typeface="Roboto Condensed(Body)"/>
            </a:rPr>
            <a:t>SQL Components</a:t>
          </a:r>
          <a:endParaRPr lang="en-US" sz="2200" dirty="0">
            <a:latin typeface="Roboto Condensed(Body)"/>
          </a:endParaRPr>
        </a:p>
      </dgm:t>
    </dgm:pt>
    <dgm:pt modelId="{CDF71903-0DE8-4634-951C-ED02A0FE82C1}" type="parTrans" cxnId="{FB847BCF-FC30-4542-9CF8-9A487877957C}">
      <dgm:prSet/>
      <dgm:spPr/>
      <dgm:t>
        <a:bodyPr/>
        <a:lstStyle/>
        <a:p>
          <a:endParaRPr lang="en-US"/>
        </a:p>
      </dgm:t>
    </dgm:pt>
    <dgm:pt modelId="{959174A9-1B67-4118-BF60-92F80DDDA8FB}" type="sibTrans" cxnId="{FB847BCF-FC30-4542-9CF8-9A487877957C}">
      <dgm:prSet/>
      <dgm:spPr/>
      <dgm:t>
        <a:bodyPr/>
        <a:lstStyle/>
        <a:p>
          <a:endParaRPr lang="en-US"/>
        </a:p>
      </dgm:t>
    </dgm:pt>
    <dgm:pt modelId="{B6128AC5-35D7-48D8-B9DB-1CA374CF4025}">
      <dgm:prSet phldrT="[Text]">
        <dgm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dgm:style>
      </dgm:prSet>
      <dgm:spPr>
        <a:solidFill>
          <a:schemeClr val="accent6">
            <a:lumMod val="60000"/>
            <a:lumOff val="40000"/>
          </a:schemeClr>
        </a:solidFill>
        <a:ln>
          <a:solidFill>
            <a:schemeClr val="accent6">
              <a:lumMod val="75000"/>
            </a:schemeClr>
          </a:solidFill>
        </a:ln>
      </dgm:spPr>
      <dgm:t>
        <a:bodyPr/>
        <a:lstStyle/>
        <a:p>
          <a:r>
            <a:rPr lang="en-US" b="0" dirty="0">
              <a:solidFill>
                <a:schemeClr val="tx1"/>
              </a:solidFill>
              <a:latin typeface="Roboto Condensed(Body)"/>
            </a:rPr>
            <a:t>Data Definition Language(</a:t>
          </a:r>
          <a:r>
            <a:rPr lang="en-US" b="1" dirty="0">
              <a:solidFill>
                <a:schemeClr val="tx1"/>
              </a:solidFill>
              <a:latin typeface="Roboto Condensed(Body)"/>
            </a:rPr>
            <a:t>DDL</a:t>
          </a:r>
          <a:r>
            <a:rPr lang="en-US" b="0" dirty="0">
              <a:solidFill>
                <a:schemeClr val="tx1"/>
              </a:solidFill>
              <a:latin typeface="Roboto Condensed(Body)"/>
            </a:rPr>
            <a:t>)</a:t>
          </a:r>
        </a:p>
      </dgm:t>
    </dgm:pt>
    <dgm:pt modelId="{CA8AB386-B02E-4402-9269-E96D4E630E8F}" type="parTrans" cxnId="{DD69D83E-9299-49D9-BC8C-82A5DA12D727}">
      <dgm:prSet/>
      <dgm:spPr/>
      <dgm:t>
        <a:bodyPr/>
        <a:lstStyle/>
        <a:p>
          <a:endParaRPr lang="en-US">
            <a:latin typeface="Roboto Condensed(Body)"/>
          </a:endParaRPr>
        </a:p>
      </dgm:t>
    </dgm:pt>
    <dgm:pt modelId="{FD5A7312-EDC1-47EF-B370-8332669B7E40}" type="sibTrans" cxnId="{DD69D83E-9299-49D9-BC8C-82A5DA12D727}">
      <dgm:prSet/>
      <dgm:spPr/>
      <dgm:t>
        <a:bodyPr/>
        <a:lstStyle/>
        <a:p>
          <a:endParaRPr lang="en-US"/>
        </a:p>
      </dgm:t>
    </dgm:pt>
    <dgm:pt modelId="{7D5B4CEF-DDFC-4DEB-A3FC-6490D0BE3CF5}">
      <dgm:prSet>
        <dgm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dgm:style>
      </dgm:prSet>
      <dgm:spPr>
        <a:solidFill>
          <a:srgbClr val="A9C0DB"/>
        </a:solidFill>
        <a:ln>
          <a:solidFill>
            <a:srgbClr val="4271A4"/>
          </a:solidFill>
        </a:ln>
      </dgm:spPr>
      <dgm:t>
        <a:bodyPr/>
        <a:lstStyle/>
        <a:p>
          <a:r>
            <a:rPr lang="en-US" altLang="en-US" dirty="0">
              <a:solidFill>
                <a:schemeClr val="tx1"/>
              </a:solidFill>
              <a:latin typeface="Roboto Condensed(Body)"/>
              <a:ea typeface="+mn-ea"/>
              <a:cs typeface="+mn-cs"/>
            </a:rPr>
            <a:t>Create</a:t>
          </a:r>
        </a:p>
      </dgm:t>
    </dgm:pt>
    <dgm:pt modelId="{E0CF79D0-513D-4D52-B576-396FEAF629E6}" type="parTrans" cxnId="{5EBC5A7F-DD15-45CE-AA51-F4295D772E17}">
      <dgm:prSet/>
      <dgm:spPr/>
      <dgm:t>
        <a:bodyPr/>
        <a:lstStyle/>
        <a:p>
          <a:endParaRPr lang="en-US">
            <a:latin typeface="Roboto Condensed(Body)"/>
          </a:endParaRPr>
        </a:p>
      </dgm:t>
    </dgm:pt>
    <dgm:pt modelId="{97E5D1FD-E0E7-4400-961F-581B159D46D1}" type="sibTrans" cxnId="{5EBC5A7F-DD15-45CE-AA51-F4295D772E17}">
      <dgm:prSet/>
      <dgm:spPr/>
      <dgm:t>
        <a:bodyPr/>
        <a:lstStyle/>
        <a:p>
          <a:endParaRPr lang="en-US"/>
        </a:p>
      </dgm:t>
    </dgm:pt>
    <dgm:pt modelId="{9CFC34C8-23DF-4281-A5E0-92A6DC80522A}">
      <dgm:prSet>
        <dgm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dgm:style>
      </dgm:prSet>
      <dgm:spPr>
        <a:solidFill>
          <a:srgbClr val="A9C0DB"/>
        </a:solidFill>
        <a:ln>
          <a:solidFill>
            <a:srgbClr val="4271A4"/>
          </a:solidFill>
        </a:ln>
      </dgm:spPr>
      <dgm:t>
        <a:bodyPr/>
        <a:lstStyle/>
        <a:p>
          <a:r>
            <a:rPr lang="en-US" altLang="en-US" dirty="0">
              <a:solidFill>
                <a:schemeClr val="tx1"/>
              </a:solidFill>
              <a:latin typeface="Roboto Condensed(Body)"/>
              <a:ea typeface="+mn-ea"/>
              <a:cs typeface="+mn-cs"/>
            </a:rPr>
            <a:t>Alter</a:t>
          </a:r>
        </a:p>
      </dgm:t>
    </dgm:pt>
    <dgm:pt modelId="{C58EDE16-5F87-49C7-820C-BDB43099A29A}" type="parTrans" cxnId="{180760E5-7B45-4AC6-A086-DBBFE11BFA44}">
      <dgm:prSet/>
      <dgm:spPr/>
      <dgm:t>
        <a:bodyPr/>
        <a:lstStyle/>
        <a:p>
          <a:endParaRPr lang="en-US">
            <a:latin typeface="Roboto Condensed(Body)"/>
          </a:endParaRPr>
        </a:p>
      </dgm:t>
    </dgm:pt>
    <dgm:pt modelId="{9D77AB24-93DC-4547-AF46-71F056AFF34C}" type="sibTrans" cxnId="{180760E5-7B45-4AC6-A086-DBBFE11BFA44}">
      <dgm:prSet/>
      <dgm:spPr/>
      <dgm:t>
        <a:bodyPr/>
        <a:lstStyle/>
        <a:p>
          <a:endParaRPr lang="en-US"/>
        </a:p>
      </dgm:t>
    </dgm:pt>
    <dgm:pt modelId="{D948E2ED-6EAB-44EF-B6DE-9E2C9D20B04B}">
      <dgm:prSet>
        <dgm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dgm:style>
      </dgm:prSet>
      <dgm:spPr>
        <a:solidFill>
          <a:srgbClr val="A9C0DB"/>
        </a:solidFill>
        <a:ln>
          <a:solidFill>
            <a:srgbClr val="4271A4"/>
          </a:solidFill>
        </a:ln>
      </dgm:spPr>
      <dgm:t>
        <a:bodyPr/>
        <a:lstStyle/>
        <a:p>
          <a:r>
            <a:rPr lang="en-US" altLang="en-US" dirty="0">
              <a:solidFill>
                <a:schemeClr val="tx1"/>
              </a:solidFill>
              <a:latin typeface="Roboto Condensed(Body)"/>
              <a:ea typeface="+mn-ea"/>
              <a:cs typeface="+mn-cs"/>
            </a:rPr>
            <a:t>Drop</a:t>
          </a:r>
        </a:p>
      </dgm:t>
    </dgm:pt>
    <dgm:pt modelId="{75B5FAF1-6445-4738-B7AF-85B42B0C3564}" type="parTrans" cxnId="{B1D145D1-21AC-4F3F-87E9-351C812AF76E}">
      <dgm:prSet/>
      <dgm:spPr/>
      <dgm:t>
        <a:bodyPr/>
        <a:lstStyle/>
        <a:p>
          <a:endParaRPr lang="en-US">
            <a:latin typeface="Roboto Condensed(Body)"/>
          </a:endParaRPr>
        </a:p>
      </dgm:t>
    </dgm:pt>
    <dgm:pt modelId="{32AAD019-7369-4116-A6E5-3654BF10A4A2}" type="sibTrans" cxnId="{B1D145D1-21AC-4F3F-87E9-351C812AF76E}">
      <dgm:prSet/>
      <dgm:spPr/>
      <dgm:t>
        <a:bodyPr/>
        <a:lstStyle/>
        <a:p>
          <a:endParaRPr lang="en-US"/>
        </a:p>
      </dgm:t>
    </dgm:pt>
    <dgm:pt modelId="{3E278B27-AB7A-4109-8332-39075883D964}">
      <dgm:prSet>
        <dgm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dgm:style>
      </dgm:prSet>
      <dgm:spPr>
        <a:solidFill>
          <a:srgbClr val="A9C0DB"/>
        </a:solidFill>
        <a:ln>
          <a:solidFill>
            <a:srgbClr val="4271A4"/>
          </a:solidFill>
        </a:ln>
      </dgm:spPr>
      <dgm:t>
        <a:bodyPr/>
        <a:lstStyle/>
        <a:p>
          <a:r>
            <a:rPr lang="en-US" altLang="en-US" dirty="0">
              <a:solidFill>
                <a:schemeClr val="tx1"/>
              </a:solidFill>
              <a:latin typeface="Roboto Condensed(Body)"/>
              <a:ea typeface="+mn-ea"/>
              <a:cs typeface="+mn-cs"/>
            </a:rPr>
            <a:t>Truncate</a:t>
          </a:r>
        </a:p>
      </dgm:t>
    </dgm:pt>
    <dgm:pt modelId="{C2D52AC0-6439-471B-A31D-2A8F2930BC7E}" type="parTrans" cxnId="{36F6AF2A-EA89-476E-8F5D-E75046BA00FD}">
      <dgm:prSet/>
      <dgm:spPr/>
      <dgm:t>
        <a:bodyPr/>
        <a:lstStyle/>
        <a:p>
          <a:endParaRPr lang="en-US">
            <a:latin typeface="Roboto Condensed(Body)"/>
          </a:endParaRPr>
        </a:p>
      </dgm:t>
    </dgm:pt>
    <dgm:pt modelId="{5743DC84-529A-4B06-95C8-FD761F3E8855}" type="sibTrans" cxnId="{36F6AF2A-EA89-476E-8F5D-E75046BA00FD}">
      <dgm:prSet/>
      <dgm:spPr/>
      <dgm:t>
        <a:bodyPr/>
        <a:lstStyle/>
        <a:p>
          <a:endParaRPr lang="en-US"/>
        </a:p>
      </dgm:t>
    </dgm:pt>
    <dgm:pt modelId="{068E622A-1FF1-4D02-88DB-7BB3A3497E8C}">
      <dgm:prSet>
        <dgm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dgm:style>
      </dgm:prSet>
      <dgm:spPr>
        <a:solidFill>
          <a:srgbClr val="A9C0DB"/>
        </a:solidFill>
        <a:ln>
          <a:solidFill>
            <a:srgbClr val="4271A4"/>
          </a:solidFill>
        </a:ln>
      </dgm:spPr>
      <dgm:t>
        <a:bodyPr/>
        <a:lstStyle/>
        <a:p>
          <a:r>
            <a:rPr lang="en-US" altLang="en-US" dirty="0">
              <a:solidFill>
                <a:schemeClr val="tx1"/>
              </a:solidFill>
              <a:latin typeface="Roboto Condensed(Body)"/>
              <a:ea typeface="+mn-ea"/>
              <a:cs typeface="+mn-cs"/>
            </a:rPr>
            <a:t>Rename</a:t>
          </a:r>
        </a:p>
      </dgm:t>
    </dgm:pt>
    <dgm:pt modelId="{F2B12C03-3D08-43EA-BEC4-05AA20AD5367}" type="parTrans" cxnId="{15B9F536-8F5F-49AF-BFED-33BDC4E4F978}">
      <dgm:prSet/>
      <dgm:spPr/>
      <dgm:t>
        <a:bodyPr/>
        <a:lstStyle/>
        <a:p>
          <a:endParaRPr lang="en-US">
            <a:latin typeface="Roboto Condensed(Body)"/>
          </a:endParaRPr>
        </a:p>
      </dgm:t>
    </dgm:pt>
    <dgm:pt modelId="{219BADFA-5668-4674-AD08-ADD4663571B2}" type="sibTrans" cxnId="{15B9F536-8F5F-49AF-BFED-33BDC4E4F978}">
      <dgm:prSet/>
      <dgm:spPr/>
      <dgm:t>
        <a:bodyPr/>
        <a:lstStyle/>
        <a:p>
          <a:endParaRPr lang="en-US"/>
        </a:p>
      </dgm:t>
    </dgm:pt>
    <dgm:pt modelId="{D8E6BBD4-8EDF-4189-A2E7-0CE7E21CE80E}">
      <dgm:prSet phldrT="[Text]">
        <dgm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dgm:style>
      </dgm:prSet>
      <dgm:spPr>
        <a:solidFill>
          <a:schemeClr val="accent6">
            <a:lumMod val="60000"/>
            <a:lumOff val="40000"/>
          </a:schemeClr>
        </a:solidFill>
        <a:ln>
          <a:solidFill>
            <a:schemeClr val="accent6">
              <a:lumMod val="75000"/>
            </a:schemeClr>
          </a:solidFill>
        </a:ln>
      </dgm:spPr>
      <dgm:t>
        <a:bodyPr/>
        <a:lstStyle/>
        <a:p>
          <a:r>
            <a:rPr lang="en-US" b="0" dirty="0">
              <a:solidFill>
                <a:schemeClr val="tx1"/>
              </a:solidFill>
              <a:latin typeface="Roboto Condensed(Body)"/>
            </a:rPr>
            <a:t>Data Manipulation Language(</a:t>
          </a:r>
          <a:r>
            <a:rPr lang="en-US" b="1" dirty="0">
              <a:solidFill>
                <a:schemeClr val="tx1"/>
              </a:solidFill>
              <a:latin typeface="Roboto Condensed(Body)"/>
            </a:rPr>
            <a:t>DML</a:t>
          </a:r>
          <a:r>
            <a:rPr lang="en-US" b="0" dirty="0">
              <a:solidFill>
                <a:schemeClr val="tx1"/>
              </a:solidFill>
              <a:latin typeface="Roboto Condensed(Body)"/>
            </a:rPr>
            <a:t>)</a:t>
          </a:r>
        </a:p>
      </dgm:t>
    </dgm:pt>
    <dgm:pt modelId="{AC0D5A83-EDAC-47AE-BEAC-32CFD6B66A15}" type="parTrans" cxnId="{53A931FD-FEFD-4E59-A33D-88C46776D5C2}">
      <dgm:prSet/>
      <dgm:spPr/>
      <dgm:t>
        <a:bodyPr/>
        <a:lstStyle/>
        <a:p>
          <a:endParaRPr lang="en-US">
            <a:latin typeface="Roboto Condensed(Body)"/>
          </a:endParaRPr>
        </a:p>
      </dgm:t>
    </dgm:pt>
    <dgm:pt modelId="{8591A20B-7338-4ED0-8744-C1EFEA51FA10}" type="sibTrans" cxnId="{53A931FD-FEFD-4E59-A33D-88C46776D5C2}">
      <dgm:prSet/>
      <dgm:spPr/>
      <dgm:t>
        <a:bodyPr/>
        <a:lstStyle/>
        <a:p>
          <a:endParaRPr lang="en-US"/>
        </a:p>
      </dgm:t>
    </dgm:pt>
    <dgm:pt modelId="{008DAC29-0642-4BBB-9239-AAE31A1E6C00}">
      <dgm:prSet>
        <dgm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dgm:style>
      </dgm:prSet>
      <dgm:spPr>
        <a:solidFill>
          <a:srgbClr val="A9C0DB"/>
        </a:solidFill>
        <a:ln>
          <a:solidFill>
            <a:srgbClr val="4271A4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  <a:latin typeface="Roboto Condensed(Body)"/>
            </a:rPr>
            <a:t>Insert</a:t>
          </a:r>
        </a:p>
      </dgm:t>
    </dgm:pt>
    <dgm:pt modelId="{1D0CD90F-1D6C-4F80-9580-E5B10C0E11F0}" type="parTrans" cxnId="{B41763C2-0B4F-470C-B339-E70524AE7405}">
      <dgm:prSet/>
      <dgm:spPr/>
      <dgm:t>
        <a:bodyPr/>
        <a:lstStyle/>
        <a:p>
          <a:endParaRPr lang="en-US">
            <a:latin typeface="Roboto Condensed(Body)"/>
          </a:endParaRPr>
        </a:p>
      </dgm:t>
    </dgm:pt>
    <dgm:pt modelId="{13AD5796-7441-4B9A-9A39-7A3654ED60F7}" type="sibTrans" cxnId="{B41763C2-0B4F-470C-B339-E70524AE7405}">
      <dgm:prSet/>
      <dgm:spPr/>
      <dgm:t>
        <a:bodyPr/>
        <a:lstStyle/>
        <a:p>
          <a:endParaRPr lang="en-US"/>
        </a:p>
      </dgm:t>
    </dgm:pt>
    <dgm:pt modelId="{57C1A4E7-8B82-46C9-A5FD-1F557F4B1AF5}">
      <dgm:prSet>
        <dgm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dgm:style>
      </dgm:prSet>
      <dgm:spPr>
        <a:solidFill>
          <a:srgbClr val="A9C0DB"/>
        </a:solidFill>
        <a:ln>
          <a:solidFill>
            <a:srgbClr val="4271A4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  <a:latin typeface="Roboto Condensed(Body)"/>
            </a:rPr>
            <a:t>Update</a:t>
          </a:r>
        </a:p>
      </dgm:t>
    </dgm:pt>
    <dgm:pt modelId="{B3A20904-8C5D-44CD-8E43-08F4C802E666}" type="parTrans" cxnId="{CDB6EF13-89B0-4326-B2A6-A970B3923268}">
      <dgm:prSet/>
      <dgm:spPr/>
      <dgm:t>
        <a:bodyPr/>
        <a:lstStyle/>
        <a:p>
          <a:endParaRPr lang="en-US">
            <a:latin typeface="Roboto Condensed(Body)"/>
          </a:endParaRPr>
        </a:p>
      </dgm:t>
    </dgm:pt>
    <dgm:pt modelId="{D1DAE5E8-4797-47F2-8E7D-7F800F2124E9}" type="sibTrans" cxnId="{CDB6EF13-89B0-4326-B2A6-A970B3923268}">
      <dgm:prSet/>
      <dgm:spPr/>
      <dgm:t>
        <a:bodyPr/>
        <a:lstStyle/>
        <a:p>
          <a:endParaRPr lang="en-US"/>
        </a:p>
      </dgm:t>
    </dgm:pt>
    <dgm:pt modelId="{FC143739-5AA7-4CEB-A411-76ACBBF13965}">
      <dgm:prSet>
        <dgm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dgm:style>
      </dgm:prSet>
      <dgm:spPr>
        <a:solidFill>
          <a:srgbClr val="A9C0DB"/>
        </a:solidFill>
        <a:ln>
          <a:solidFill>
            <a:srgbClr val="4271A4"/>
          </a:solidFill>
        </a:ln>
      </dgm:spPr>
      <dgm:t>
        <a:bodyPr/>
        <a:lstStyle/>
        <a:p>
          <a:r>
            <a:rPr lang="en-US" dirty="0">
              <a:solidFill>
                <a:schemeClr val="tx1"/>
              </a:solidFill>
              <a:latin typeface="Roboto Condensed(Body)"/>
            </a:rPr>
            <a:t>Delete</a:t>
          </a:r>
        </a:p>
      </dgm:t>
    </dgm:pt>
    <dgm:pt modelId="{6C340013-0C47-465A-AB84-92BDAC3EA4AA}" type="parTrans" cxnId="{64EAE3BB-3731-469D-85D0-9C78FC99D74F}">
      <dgm:prSet/>
      <dgm:spPr/>
      <dgm:t>
        <a:bodyPr/>
        <a:lstStyle/>
        <a:p>
          <a:endParaRPr lang="en-US">
            <a:latin typeface="Roboto Condensed(Body)"/>
          </a:endParaRPr>
        </a:p>
      </dgm:t>
    </dgm:pt>
    <dgm:pt modelId="{4D6EAEFB-48BD-467A-AF87-5F5423019D15}" type="sibTrans" cxnId="{64EAE3BB-3731-469D-85D0-9C78FC99D74F}">
      <dgm:prSet/>
      <dgm:spPr/>
      <dgm:t>
        <a:bodyPr/>
        <a:lstStyle/>
        <a:p>
          <a:endParaRPr lang="en-US"/>
        </a:p>
      </dgm:t>
    </dgm:pt>
    <dgm:pt modelId="{4F29C1B0-BB18-47B6-BEB2-C27B1B5DCADE}">
      <dgm:prSet phldrT="[Text]">
        <dgm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dgm:style>
      </dgm:prSet>
      <dgm:spPr>
        <a:solidFill>
          <a:schemeClr val="accent6">
            <a:lumMod val="60000"/>
            <a:lumOff val="40000"/>
          </a:schemeClr>
        </a:solidFill>
        <a:ln>
          <a:solidFill>
            <a:schemeClr val="accent6">
              <a:lumMod val="75000"/>
            </a:schemeClr>
          </a:solidFill>
        </a:ln>
      </dgm:spPr>
      <dgm:t>
        <a:bodyPr/>
        <a:lstStyle/>
        <a:p>
          <a:r>
            <a:rPr lang="en-IN" b="0" dirty="0">
              <a:solidFill>
                <a:schemeClr val="tx1"/>
              </a:solidFill>
              <a:latin typeface="Roboto Condensed(Body)"/>
              <a:ea typeface="+mn-ea"/>
              <a:cs typeface="+mn-cs"/>
            </a:rPr>
            <a:t>Data Query Language(</a:t>
          </a:r>
          <a:r>
            <a:rPr lang="en-IN" b="1" dirty="0">
              <a:solidFill>
                <a:schemeClr val="tx1"/>
              </a:solidFill>
              <a:latin typeface="Roboto Condensed(Body)"/>
              <a:ea typeface="+mn-ea"/>
              <a:cs typeface="+mn-cs"/>
            </a:rPr>
            <a:t>DQL</a:t>
          </a:r>
          <a:r>
            <a:rPr lang="en-IN" b="0" dirty="0">
              <a:solidFill>
                <a:schemeClr val="tx1"/>
              </a:solidFill>
              <a:latin typeface="Roboto Condensed(Body)"/>
              <a:ea typeface="+mn-ea"/>
              <a:cs typeface="+mn-cs"/>
            </a:rPr>
            <a:t>)</a:t>
          </a:r>
          <a:endParaRPr lang="en-US" b="0" dirty="0">
            <a:solidFill>
              <a:schemeClr val="tx1"/>
            </a:solidFill>
            <a:latin typeface="Roboto Condensed(Body)"/>
            <a:ea typeface="+mn-ea"/>
            <a:cs typeface="+mn-cs"/>
          </a:endParaRPr>
        </a:p>
      </dgm:t>
    </dgm:pt>
    <dgm:pt modelId="{014386FE-077E-411C-B640-75F1F7CB407E}" type="parTrans" cxnId="{2F527D03-7E11-4AB1-840D-80B8C6AC5B41}">
      <dgm:prSet/>
      <dgm:spPr/>
      <dgm:t>
        <a:bodyPr/>
        <a:lstStyle/>
        <a:p>
          <a:endParaRPr lang="en-US">
            <a:latin typeface="Roboto Condensed(Body)"/>
          </a:endParaRPr>
        </a:p>
      </dgm:t>
    </dgm:pt>
    <dgm:pt modelId="{A7E81709-C42F-4FB9-AEFC-F2473A3296F6}" type="sibTrans" cxnId="{2F527D03-7E11-4AB1-840D-80B8C6AC5B41}">
      <dgm:prSet/>
      <dgm:spPr/>
      <dgm:t>
        <a:bodyPr/>
        <a:lstStyle/>
        <a:p>
          <a:endParaRPr lang="en-US"/>
        </a:p>
      </dgm:t>
    </dgm:pt>
    <dgm:pt modelId="{BA3E36F5-80B2-44A6-B9A2-EA5D5CFA129C}">
      <dgm:prSet>
        <dgm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dgm:style>
      </dgm:prSet>
      <dgm:spPr>
        <a:solidFill>
          <a:srgbClr val="A9C0DB"/>
        </a:solidFill>
        <a:ln>
          <a:solidFill>
            <a:srgbClr val="4271A4"/>
          </a:solidFill>
        </a:ln>
      </dgm:spPr>
      <dgm:t>
        <a:bodyPr spcFirstLastPara="0" vert="horz" wrap="square" lIns="12700" tIns="12700" rIns="12700" bIns="12700" numCol="1" spcCol="1270" anchor="ctr" anchorCtr="0"/>
        <a:lstStyle/>
        <a:p>
          <a:r>
            <a:rPr lang="en-IN" dirty="0">
              <a:solidFill>
                <a:schemeClr val="tx1"/>
              </a:solidFill>
              <a:latin typeface="Roboto Condensed(Body)"/>
              <a:ea typeface="+mn-ea"/>
              <a:cs typeface="+mn-cs"/>
            </a:rPr>
            <a:t>Select</a:t>
          </a:r>
        </a:p>
      </dgm:t>
    </dgm:pt>
    <dgm:pt modelId="{11E9C56B-4B96-45BD-A59A-E664055F3778}" type="parTrans" cxnId="{4A77943B-D170-4313-A0B0-16F04408F2A5}">
      <dgm:prSet/>
      <dgm:spPr/>
      <dgm:t>
        <a:bodyPr/>
        <a:lstStyle/>
        <a:p>
          <a:endParaRPr lang="en-US">
            <a:latin typeface="Roboto Condensed(Body)"/>
          </a:endParaRPr>
        </a:p>
      </dgm:t>
    </dgm:pt>
    <dgm:pt modelId="{866F22B1-A2F9-429F-A04F-20FD5CD9F392}" type="sibTrans" cxnId="{4A77943B-D170-4313-A0B0-16F04408F2A5}">
      <dgm:prSet/>
      <dgm:spPr/>
      <dgm:t>
        <a:bodyPr/>
        <a:lstStyle/>
        <a:p>
          <a:endParaRPr lang="en-US"/>
        </a:p>
      </dgm:t>
    </dgm:pt>
    <dgm:pt modelId="{4BCFEE68-7A59-4CA2-83D5-6EFF0DFD5383}">
      <dgm:prSet>
        <dgm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dgm:style>
      </dgm:prSet>
      <dgm:spPr>
        <a:solidFill>
          <a:schemeClr val="accent6">
            <a:lumMod val="60000"/>
            <a:lumOff val="40000"/>
          </a:schemeClr>
        </a:solidFill>
        <a:ln>
          <a:solidFill>
            <a:schemeClr val="accent6">
              <a:lumMod val="75000"/>
            </a:schemeClr>
          </a:solidFill>
        </a:ln>
      </dgm:spPr>
      <dgm:t>
        <a:bodyPr/>
        <a:lstStyle/>
        <a:p>
          <a:r>
            <a:rPr lang="en-IN" b="0" dirty="0">
              <a:solidFill>
                <a:schemeClr val="tx1"/>
              </a:solidFill>
              <a:latin typeface="Roboto Condensed(Body)"/>
              <a:ea typeface="+mn-ea"/>
              <a:cs typeface="+mn-cs"/>
            </a:rPr>
            <a:t>Data Control Language(</a:t>
          </a:r>
          <a:r>
            <a:rPr lang="en-IN" b="1" dirty="0">
              <a:solidFill>
                <a:schemeClr val="tx1"/>
              </a:solidFill>
              <a:latin typeface="Roboto Condensed(Body)"/>
              <a:ea typeface="+mn-ea"/>
              <a:cs typeface="+mn-cs"/>
            </a:rPr>
            <a:t>DCL</a:t>
          </a:r>
          <a:r>
            <a:rPr lang="en-IN" b="0" dirty="0">
              <a:solidFill>
                <a:schemeClr val="tx1"/>
              </a:solidFill>
              <a:latin typeface="Roboto Condensed(Body)"/>
              <a:ea typeface="+mn-ea"/>
              <a:cs typeface="+mn-cs"/>
            </a:rPr>
            <a:t>)</a:t>
          </a:r>
          <a:endParaRPr lang="en-US" b="0" dirty="0">
            <a:solidFill>
              <a:schemeClr val="tx1"/>
            </a:solidFill>
            <a:latin typeface="Roboto Condensed(Body)"/>
            <a:ea typeface="+mn-ea"/>
            <a:cs typeface="+mn-cs"/>
          </a:endParaRPr>
        </a:p>
      </dgm:t>
    </dgm:pt>
    <dgm:pt modelId="{CDB71F1E-560D-4430-B5DA-785002B36F78}" type="parTrans" cxnId="{8921E0C1-D3AF-4620-AAAC-B4D900DA7D3C}">
      <dgm:prSet/>
      <dgm:spPr/>
      <dgm:t>
        <a:bodyPr/>
        <a:lstStyle/>
        <a:p>
          <a:endParaRPr lang="en-US">
            <a:latin typeface="Roboto Condensed(Body)"/>
          </a:endParaRPr>
        </a:p>
      </dgm:t>
    </dgm:pt>
    <dgm:pt modelId="{8660E860-826D-45A0-B5A7-D1206E639179}" type="sibTrans" cxnId="{8921E0C1-D3AF-4620-AAAC-B4D900DA7D3C}">
      <dgm:prSet/>
      <dgm:spPr/>
      <dgm:t>
        <a:bodyPr/>
        <a:lstStyle/>
        <a:p>
          <a:endParaRPr lang="en-US"/>
        </a:p>
      </dgm:t>
    </dgm:pt>
    <dgm:pt modelId="{9BFB61C5-8E9A-442A-88A8-F55CBEB6E775}">
      <dgm:prSet>
        <dgm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dgm:style>
      </dgm:prSet>
      <dgm:spPr>
        <a:solidFill>
          <a:srgbClr val="A9C0DB"/>
        </a:solidFill>
        <a:ln>
          <a:solidFill>
            <a:srgbClr val="4271A4"/>
          </a:solidFill>
        </a:ln>
      </dgm:spPr>
      <dgm:t>
        <a:bodyPr/>
        <a:lstStyle/>
        <a:p>
          <a:r>
            <a:rPr lang="en-IN" dirty="0">
              <a:solidFill>
                <a:schemeClr val="tx1"/>
              </a:solidFill>
              <a:latin typeface="Roboto Condensed(Body)"/>
            </a:rPr>
            <a:t>Grant</a:t>
          </a:r>
        </a:p>
      </dgm:t>
    </dgm:pt>
    <dgm:pt modelId="{F662803B-4F0C-4462-A3E1-684BBD7BA2E5}" type="parTrans" cxnId="{A309DD06-06E4-4067-BE09-9C8B9F7A3F16}">
      <dgm:prSet/>
      <dgm:spPr/>
      <dgm:t>
        <a:bodyPr/>
        <a:lstStyle/>
        <a:p>
          <a:endParaRPr lang="en-US">
            <a:latin typeface="Roboto Condensed(Body)"/>
          </a:endParaRPr>
        </a:p>
      </dgm:t>
    </dgm:pt>
    <dgm:pt modelId="{F1FF4539-1C9F-4E96-87FD-FA1680758D4E}" type="sibTrans" cxnId="{A309DD06-06E4-4067-BE09-9C8B9F7A3F16}">
      <dgm:prSet/>
      <dgm:spPr/>
      <dgm:t>
        <a:bodyPr/>
        <a:lstStyle/>
        <a:p>
          <a:endParaRPr lang="en-US"/>
        </a:p>
      </dgm:t>
    </dgm:pt>
    <dgm:pt modelId="{47D2D8DA-5E2E-4862-8CD1-154A06277936}">
      <dgm:prSet>
        <dgm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dgm:style>
      </dgm:prSet>
      <dgm:spPr>
        <a:solidFill>
          <a:srgbClr val="A9C0DB"/>
        </a:solidFill>
        <a:ln>
          <a:solidFill>
            <a:srgbClr val="4271A4"/>
          </a:solidFill>
        </a:ln>
      </dgm:spPr>
      <dgm:t>
        <a:bodyPr/>
        <a:lstStyle/>
        <a:p>
          <a:r>
            <a:rPr lang="en-IN" dirty="0">
              <a:solidFill>
                <a:schemeClr val="tx1"/>
              </a:solidFill>
              <a:latin typeface="Roboto Condensed(Body)"/>
            </a:rPr>
            <a:t>Revoke</a:t>
          </a:r>
        </a:p>
      </dgm:t>
    </dgm:pt>
    <dgm:pt modelId="{3B61F7B4-E91D-47B0-97F9-740CE1702355}" type="parTrans" cxnId="{DAD951E2-FC41-404E-B99A-5C7BF38FE340}">
      <dgm:prSet/>
      <dgm:spPr/>
      <dgm:t>
        <a:bodyPr/>
        <a:lstStyle/>
        <a:p>
          <a:endParaRPr lang="en-US">
            <a:latin typeface="Roboto Condensed(Body)"/>
          </a:endParaRPr>
        </a:p>
      </dgm:t>
    </dgm:pt>
    <dgm:pt modelId="{F20ACBA8-D806-4C92-8A31-C12263F817E7}" type="sibTrans" cxnId="{DAD951E2-FC41-404E-B99A-5C7BF38FE340}">
      <dgm:prSet/>
      <dgm:spPr/>
      <dgm:t>
        <a:bodyPr/>
        <a:lstStyle/>
        <a:p>
          <a:endParaRPr lang="en-US"/>
        </a:p>
      </dgm:t>
    </dgm:pt>
    <dgm:pt modelId="{7AA297D7-BA47-4F4B-AEF2-605E237EB2E4}">
      <dgm:prSet>
        <dgm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dgm:style>
      </dgm:prSet>
      <dgm:spPr>
        <a:solidFill>
          <a:schemeClr val="accent6">
            <a:lumMod val="60000"/>
            <a:lumOff val="40000"/>
          </a:schemeClr>
        </a:solidFill>
        <a:ln>
          <a:solidFill>
            <a:schemeClr val="accent6">
              <a:lumMod val="75000"/>
            </a:schemeClr>
          </a:solidFill>
        </a:ln>
      </dgm:spPr>
      <dgm:t>
        <a:bodyPr/>
        <a:lstStyle/>
        <a:p>
          <a:r>
            <a:rPr lang="en-US" b="0" dirty="0">
              <a:solidFill>
                <a:schemeClr val="tx1"/>
              </a:solidFill>
              <a:latin typeface="Roboto Condensed(Body)"/>
              <a:ea typeface="+mn-ea"/>
              <a:cs typeface="+mn-cs"/>
            </a:rPr>
            <a:t>Transaction Control Language(</a:t>
          </a:r>
          <a:r>
            <a:rPr lang="en-US" b="1" dirty="0">
              <a:solidFill>
                <a:schemeClr val="tx1"/>
              </a:solidFill>
              <a:latin typeface="Roboto Condensed(Body)"/>
              <a:ea typeface="+mn-ea"/>
              <a:cs typeface="+mn-cs"/>
            </a:rPr>
            <a:t>TCL</a:t>
          </a:r>
          <a:r>
            <a:rPr lang="en-US" b="0" dirty="0">
              <a:solidFill>
                <a:schemeClr val="tx1"/>
              </a:solidFill>
              <a:latin typeface="Roboto Condensed(Body)"/>
              <a:ea typeface="+mn-ea"/>
              <a:cs typeface="+mn-cs"/>
            </a:rPr>
            <a:t>)</a:t>
          </a:r>
        </a:p>
      </dgm:t>
    </dgm:pt>
    <dgm:pt modelId="{32DCFEAC-A69A-4721-BF0D-CACA0A937A76}" type="parTrans" cxnId="{844393D8-C43F-4579-85D1-DCE3A461EEB2}">
      <dgm:prSet/>
      <dgm:spPr/>
      <dgm:t>
        <a:bodyPr/>
        <a:lstStyle/>
        <a:p>
          <a:endParaRPr lang="en-US">
            <a:latin typeface="Roboto Condensed(Body)"/>
          </a:endParaRPr>
        </a:p>
      </dgm:t>
    </dgm:pt>
    <dgm:pt modelId="{837B2A75-0A80-47DE-9857-4BBF519683D2}" type="sibTrans" cxnId="{844393D8-C43F-4579-85D1-DCE3A461EEB2}">
      <dgm:prSet/>
      <dgm:spPr/>
      <dgm:t>
        <a:bodyPr/>
        <a:lstStyle/>
        <a:p>
          <a:endParaRPr lang="en-US"/>
        </a:p>
      </dgm:t>
    </dgm:pt>
    <dgm:pt modelId="{0D03BBF2-3078-4126-9B8D-82FA4174FAC9}">
      <dgm:prSet>
        <dgm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dgm:style>
      </dgm:prSet>
      <dgm:spPr>
        <a:solidFill>
          <a:srgbClr val="A9C0DB"/>
        </a:solidFill>
        <a:ln>
          <a:solidFill>
            <a:srgbClr val="4271A4"/>
          </a:solidFill>
        </a:ln>
      </dgm:spPr>
      <dgm:t>
        <a:bodyPr spcFirstLastPara="0" vert="horz" wrap="square" lIns="12700" tIns="12700" rIns="12700" bIns="12700" numCol="1" spcCol="1270" anchor="ctr" anchorCtr="0"/>
        <a:lstStyle/>
        <a:p>
          <a:r>
            <a:rPr lang="en-IN" dirty="0">
              <a:solidFill>
                <a:schemeClr val="tx1"/>
              </a:solidFill>
              <a:latin typeface="Roboto Condensed(Body)"/>
              <a:ea typeface="+mn-ea"/>
              <a:cs typeface="+mn-cs"/>
            </a:rPr>
            <a:t>Commit</a:t>
          </a:r>
        </a:p>
      </dgm:t>
    </dgm:pt>
    <dgm:pt modelId="{6EB57B3D-4252-4D4C-89A3-725B3126162B}" type="parTrans" cxnId="{2383EC08-727E-4518-AC97-C2BE7B1162D3}">
      <dgm:prSet/>
      <dgm:spPr/>
      <dgm:t>
        <a:bodyPr/>
        <a:lstStyle/>
        <a:p>
          <a:endParaRPr lang="en-US">
            <a:latin typeface="Roboto Condensed(Body)"/>
          </a:endParaRPr>
        </a:p>
      </dgm:t>
    </dgm:pt>
    <dgm:pt modelId="{EEC6569A-FA4C-4D55-B646-703C522AC242}" type="sibTrans" cxnId="{2383EC08-727E-4518-AC97-C2BE7B1162D3}">
      <dgm:prSet/>
      <dgm:spPr/>
      <dgm:t>
        <a:bodyPr/>
        <a:lstStyle/>
        <a:p>
          <a:endParaRPr lang="en-US"/>
        </a:p>
      </dgm:t>
    </dgm:pt>
    <dgm:pt modelId="{626BE4B0-ADE7-497D-AE68-E700121AF8DA}">
      <dgm:prSet>
        <dgm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dgm:style>
      </dgm:prSet>
      <dgm:spPr>
        <a:solidFill>
          <a:srgbClr val="A9C0DB"/>
        </a:solidFill>
        <a:ln>
          <a:solidFill>
            <a:srgbClr val="4271A4"/>
          </a:solidFill>
        </a:ln>
      </dgm:spPr>
      <dgm:t>
        <a:bodyPr spcFirstLastPara="0" vert="horz" wrap="square" lIns="12700" tIns="12700" rIns="12700" bIns="12700" numCol="1" spcCol="1270" anchor="ctr" anchorCtr="0"/>
        <a:lstStyle/>
        <a:p>
          <a:r>
            <a:rPr lang="en-IN" dirty="0">
              <a:solidFill>
                <a:schemeClr val="tx1"/>
              </a:solidFill>
              <a:latin typeface="Roboto Condensed(Body)"/>
              <a:ea typeface="+mn-ea"/>
              <a:cs typeface="+mn-cs"/>
            </a:rPr>
            <a:t>Rollback</a:t>
          </a:r>
        </a:p>
      </dgm:t>
    </dgm:pt>
    <dgm:pt modelId="{8EE1AF7B-76C6-4E60-8211-0E9DC6FD6694}" type="parTrans" cxnId="{00CA3784-B71E-4939-A5E4-00A451F66D26}">
      <dgm:prSet/>
      <dgm:spPr/>
      <dgm:t>
        <a:bodyPr/>
        <a:lstStyle/>
        <a:p>
          <a:endParaRPr lang="en-US">
            <a:latin typeface="Roboto Condensed(Body)"/>
          </a:endParaRPr>
        </a:p>
      </dgm:t>
    </dgm:pt>
    <dgm:pt modelId="{7EB803FD-E75B-44FF-B2E1-BD64C03758C4}" type="sibTrans" cxnId="{00CA3784-B71E-4939-A5E4-00A451F66D26}">
      <dgm:prSet/>
      <dgm:spPr/>
      <dgm:t>
        <a:bodyPr/>
        <a:lstStyle/>
        <a:p>
          <a:endParaRPr lang="en-US"/>
        </a:p>
      </dgm:t>
    </dgm:pt>
    <dgm:pt modelId="{969278AB-E281-4142-83C5-2B35A51749DF}">
      <dgm:prSet>
        <dgm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dgm:style>
      </dgm:prSet>
      <dgm:spPr>
        <a:solidFill>
          <a:srgbClr val="A9C0DB"/>
        </a:solidFill>
        <a:ln>
          <a:solidFill>
            <a:srgbClr val="4271A4"/>
          </a:solidFill>
        </a:ln>
      </dgm:spPr>
      <dgm:t>
        <a:bodyPr spcFirstLastPara="0" vert="horz" wrap="square" lIns="12700" tIns="12700" rIns="12700" bIns="12700" numCol="1" spcCol="1270" anchor="ctr" anchorCtr="0"/>
        <a:lstStyle/>
        <a:p>
          <a:r>
            <a:rPr lang="en-IN" dirty="0" err="1">
              <a:solidFill>
                <a:schemeClr val="tx1"/>
              </a:solidFill>
              <a:latin typeface="Roboto Condensed(Body)"/>
              <a:ea typeface="+mn-ea"/>
              <a:cs typeface="+mn-cs"/>
            </a:rPr>
            <a:t>Savepoint</a:t>
          </a:r>
          <a:endParaRPr lang="en-IN" dirty="0">
            <a:solidFill>
              <a:schemeClr val="tx1"/>
            </a:solidFill>
            <a:latin typeface="Roboto Condensed(Body)"/>
            <a:ea typeface="+mn-ea"/>
            <a:cs typeface="+mn-cs"/>
          </a:endParaRPr>
        </a:p>
      </dgm:t>
    </dgm:pt>
    <dgm:pt modelId="{DEDA258F-FE0C-4453-A42A-1C04C6DC3BB9}" type="parTrans" cxnId="{0F933AAF-20EB-4BD3-A882-E4443FEE7A2C}">
      <dgm:prSet/>
      <dgm:spPr/>
      <dgm:t>
        <a:bodyPr/>
        <a:lstStyle/>
        <a:p>
          <a:endParaRPr lang="en-US">
            <a:latin typeface="Roboto Condensed(Body)"/>
          </a:endParaRPr>
        </a:p>
      </dgm:t>
    </dgm:pt>
    <dgm:pt modelId="{4B430F2C-6BBB-4D76-B35F-3A590EAC9EF2}" type="sibTrans" cxnId="{0F933AAF-20EB-4BD3-A882-E4443FEE7A2C}">
      <dgm:prSet/>
      <dgm:spPr/>
      <dgm:t>
        <a:bodyPr/>
        <a:lstStyle/>
        <a:p>
          <a:endParaRPr lang="en-US"/>
        </a:p>
      </dgm:t>
    </dgm:pt>
    <dgm:pt modelId="{EA1EF57C-DB25-4CEE-B98D-EDC7D2E50D9E}" type="pres">
      <dgm:prSet presAssocID="{F91D330C-ED12-4980-B613-94C6A3CED36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479A520F-62EE-4D99-85CD-99C976E7B8F8}" type="pres">
      <dgm:prSet presAssocID="{3D03D639-5674-4D1A-A8DD-C66A613E97E2}" presName="hierRoot1" presStyleCnt="0">
        <dgm:presLayoutVars>
          <dgm:hierBranch val="init"/>
        </dgm:presLayoutVars>
      </dgm:prSet>
      <dgm:spPr/>
    </dgm:pt>
    <dgm:pt modelId="{C387BBD1-27E7-42B7-A3DD-24EC3E86D746}" type="pres">
      <dgm:prSet presAssocID="{3D03D639-5674-4D1A-A8DD-C66A613E97E2}" presName="rootComposite1" presStyleCnt="0"/>
      <dgm:spPr/>
    </dgm:pt>
    <dgm:pt modelId="{BD34967D-0281-43AE-9542-24F89F4E3B98}" type="pres">
      <dgm:prSet presAssocID="{3D03D639-5674-4D1A-A8DD-C66A613E97E2}" presName="rootText1" presStyleLbl="node0" presStyleIdx="0" presStyleCnt="1" custScaleX="173805">
        <dgm:presLayoutVars>
          <dgm:chPref val="3"/>
        </dgm:presLayoutVars>
      </dgm:prSet>
      <dgm:spPr/>
    </dgm:pt>
    <dgm:pt modelId="{A3331DF5-C555-4418-96E5-323ADE7EBDAE}" type="pres">
      <dgm:prSet presAssocID="{3D03D639-5674-4D1A-A8DD-C66A613E97E2}" presName="rootConnector1" presStyleLbl="node1" presStyleIdx="0" presStyleCnt="0"/>
      <dgm:spPr/>
    </dgm:pt>
    <dgm:pt modelId="{6D07C064-E3A7-4B57-9D2D-A9A3DE557A9D}" type="pres">
      <dgm:prSet presAssocID="{3D03D639-5674-4D1A-A8DD-C66A613E97E2}" presName="hierChild2" presStyleCnt="0"/>
      <dgm:spPr/>
    </dgm:pt>
    <dgm:pt modelId="{F0DC2531-ADC9-4983-8184-380395184975}" type="pres">
      <dgm:prSet presAssocID="{CA8AB386-B02E-4402-9269-E96D4E630E8F}" presName="Name37" presStyleLbl="parChTrans1D2" presStyleIdx="0" presStyleCnt="5"/>
      <dgm:spPr/>
    </dgm:pt>
    <dgm:pt modelId="{735238B6-EADB-40E1-AB03-0A409CFAA392}" type="pres">
      <dgm:prSet presAssocID="{B6128AC5-35D7-48D8-B9DB-1CA374CF4025}" presName="hierRoot2" presStyleCnt="0">
        <dgm:presLayoutVars>
          <dgm:hierBranch val="init"/>
        </dgm:presLayoutVars>
      </dgm:prSet>
      <dgm:spPr/>
    </dgm:pt>
    <dgm:pt modelId="{955F6F78-15AC-46FA-A853-A17AF4EC0D62}" type="pres">
      <dgm:prSet presAssocID="{B6128AC5-35D7-48D8-B9DB-1CA374CF4025}" presName="rootComposite" presStyleCnt="0"/>
      <dgm:spPr/>
    </dgm:pt>
    <dgm:pt modelId="{F53A27FE-3CC5-4950-A822-6FB0F39CEC60}" type="pres">
      <dgm:prSet presAssocID="{B6128AC5-35D7-48D8-B9DB-1CA374CF4025}" presName="rootText" presStyleLbl="node2" presStyleIdx="0" presStyleCnt="5" custScaleX="100063">
        <dgm:presLayoutVars>
          <dgm:chPref val="3"/>
        </dgm:presLayoutVars>
      </dgm:prSet>
      <dgm:spPr/>
    </dgm:pt>
    <dgm:pt modelId="{523B1955-0D67-45A4-8461-5EE5C371D4ED}" type="pres">
      <dgm:prSet presAssocID="{B6128AC5-35D7-48D8-B9DB-1CA374CF4025}" presName="rootConnector" presStyleLbl="node2" presStyleIdx="0" presStyleCnt="5"/>
      <dgm:spPr/>
    </dgm:pt>
    <dgm:pt modelId="{502EB389-829F-491A-8921-55389F87BC3F}" type="pres">
      <dgm:prSet presAssocID="{B6128AC5-35D7-48D8-B9DB-1CA374CF4025}" presName="hierChild4" presStyleCnt="0"/>
      <dgm:spPr/>
    </dgm:pt>
    <dgm:pt modelId="{F9C76D78-CCDE-4654-8A9C-1194521D7B3D}" type="pres">
      <dgm:prSet presAssocID="{E0CF79D0-513D-4D52-B576-396FEAF629E6}" presName="Name37" presStyleLbl="parChTrans1D3" presStyleIdx="0" presStyleCnt="14"/>
      <dgm:spPr/>
    </dgm:pt>
    <dgm:pt modelId="{948820F6-4EA5-4981-B560-B8A18D4B37B6}" type="pres">
      <dgm:prSet presAssocID="{7D5B4CEF-DDFC-4DEB-A3FC-6490D0BE3CF5}" presName="hierRoot2" presStyleCnt="0">
        <dgm:presLayoutVars>
          <dgm:hierBranch val="init"/>
        </dgm:presLayoutVars>
      </dgm:prSet>
      <dgm:spPr/>
    </dgm:pt>
    <dgm:pt modelId="{929D1EA3-97C2-4887-B3A5-B453026D558C}" type="pres">
      <dgm:prSet presAssocID="{7D5B4CEF-DDFC-4DEB-A3FC-6490D0BE3CF5}" presName="rootComposite" presStyleCnt="0"/>
      <dgm:spPr/>
    </dgm:pt>
    <dgm:pt modelId="{95904437-7731-4B9F-A2FA-D0C67D73C2A5}" type="pres">
      <dgm:prSet presAssocID="{7D5B4CEF-DDFC-4DEB-A3FC-6490D0BE3CF5}" presName="rootText" presStyleLbl="node3" presStyleIdx="0" presStyleCnt="14" custScaleX="75256" custScaleY="63583" custLinFactNeighborX="-1989">
        <dgm:presLayoutVars>
          <dgm:chPref val="3"/>
        </dgm:presLayoutVars>
      </dgm:prSet>
      <dgm:spPr/>
    </dgm:pt>
    <dgm:pt modelId="{0A39FF30-9CF4-407C-A6D2-FACEDB5C7AC9}" type="pres">
      <dgm:prSet presAssocID="{7D5B4CEF-DDFC-4DEB-A3FC-6490D0BE3CF5}" presName="rootConnector" presStyleLbl="node3" presStyleIdx="0" presStyleCnt="14"/>
      <dgm:spPr/>
    </dgm:pt>
    <dgm:pt modelId="{E7BF37EE-2A58-432B-B76C-42C2760D268C}" type="pres">
      <dgm:prSet presAssocID="{7D5B4CEF-DDFC-4DEB-A3FC-6490D0BE3CF5}" presName="hierChild4" presStyleCnt="0"/>
      <dgm:spPr/>
    </dgm:pt>
    <dgm:pt modelId="{DBDE9263-6E40-49CB-BA91-A9C134FE048B}" type="pres">
      <dgm:prSet presAssocID="{7D5B4CEF-DDFC-4DEB-A3FC-6490D0BE3CF5}" presName="hierChild5" presStyleCnt="0"/>
      <dgm:spPr/>
    </dgm:pt>
    <dgm:pt modelId="{0A282FD3-F170-4755-9E7D-A04AE0224C8A}" type="pres">
      <dgm:prSet presAssocID="{C58EDE16-5F87-49C7-820C-BDB43099A29A}" presName="Name37" presStyleLbl="parChTrans1D3" presStyleIdx="1" presStyleCnt="14"/>
      <dgm:spPr/>
    </dgm:pt>
    <dgm:pt modelId="{F57F5CCC-D622-48EB-AD4C-40DA81C8B0D3}" type="pres">
      <dgm:prSet presAssocID="{9CFC34C8-23DF-4281-A5E0-92A6DC80522A}" presName="hierRoot2" presStyleCnt="0">
        <dgm:presLayoutVars>
          <dgm:hierBranch val="init"/>
        </dgm:presLayoutVars>
      </dgm:prSet>
      <dgm:spPr/>
    </dgm:pt>
    <dgm:pt modelId="{0B91F339-3B4E-4393-9D13-3F2A95F45689}" type="pres">
      <dgm:prSet presAssocID="{9CFC34C8-23DF-4281-A5E0-92A6DC80522A}" presName="rootComposite" presStyleCnt="0"/>
      <dgm:spPr/>
    </dgm:pt>
    <dgm:pt modelId="{0EAE0069-0DF8-4563-B2AE-B001CEBE80CA}" type="pres">
      <dgm:prSet presAssocID="{9CFC34C8-23DF-4281-A5E0-92A6DC80522A}" presName="rootText" presStyleLbl="node3" presStyleIdx="1" presStyleCnt="14" custScaleX="75256" custScaleY="63583">
        <dgm:presLayoutVars>
          <dgm:chPref val="3"/>
        </dgm:presLayoutVars>
      </dgm:prSet>
      <dgm:spPr/>
    </dgm:pt>
    <dgm:pt modelId="{574DE9CE-A882-467E-A621-CF2F08709727}" type="pres">
      <dgm:prSet presAssocID="{9CFC34C8-23DF-4281-A5E0-92A6DC80522A}" presName="rootConnector" presStyleLbl="node3" presStyleIdx="1" presStyleCnt="14"/>
      <dgm:spPr/>
    </dgm:pt>
    <dgm:pt modelId="{50AD6083-7368-42C5-8642-C7E09DC55AF7}" type="pres">
      <dgm:prSet presAssocID="{9CFC34C8-23DF-4281-A5E0-92A6DC80522A}" presName="hierChild4" presStyleCnt="0"/>
      <dgm:spPr/>
    </dgm:pt>
    <dgm:pt modelId="{E215D788-3DE5-4C40-8E49-4EE2CED7F62D}" type="pres">
      <dgm:prSet presAssocID="{9CFC34C8-23DF-4281-A5E0-92A6DC80522A}" presName="hierChild5" presStyleCnt="0"/>
      <dgm:spPr/>
    </dgm:pt>
    <dgm:pt modelId="{684EC187-4DF3-4C50-A016-91E7845BAFA8}" type="pres">
      <dgm:prSet presAssocID="{75B5FAF1-6445-4738-B7AF-85B42B0C3564}" presName="Name37" presStyleLbl="parChTrans1D3" presStyleIdx="2" presStyleCnt="14"/>
      <dgm:spPr/>
    </dgm:pt>
    <dgm:pt modelId="{81E6ABCC-B68C-481A-BAF2-3EEA8A13737B}" type="pres">
      <dgm:prSet presAssocID="{D948E2ED-6EAB-44EF-B6DE-9E2C9D20B04B}" presName="hierRoot2" presStyleCnt="0">
        <dgm:presLayoutVars>
          <dgm:hierBranch val="init"/>
        </dgm:presLayoutVars>
      </dgm:prSet>
      <dgm:spPr/>
    </dgm:pt>
    <dgm:pt modelId="{AB5983A7-5083-4C97-A361-90B1F6E80855}" type="pres">
      <dgm:prSet presAssocID="{D948E2ED-6EAB-44EF-B6DE-9E2C9D20B04B}" presName="rootComposite" presStyleCnt="0"/>
      <dgm:spPr/>
    </dgm:pt>
    <dgm:pt modelId="{D33D91A4-A7E8-4238-8122-A4B3A6F02168}" type="pres">
      <dgm:prSet presAssocID="{D948E2ED-6EAB-44EF-B6DE-9E2C9D20B04B}" presName="rootText" presStyleLbl="node3" presStyleIdx="2" presStyleCnt="14" custScaleX="75256" custScaleY="63583">
        <dgm:presLayoutVars>
          <dgm:chPref val="3"/>
        </dgm:presLayoutVars>
      </dgm:prSet>
      <dgm:spPr/>
    </dgm:pt>
    <dgm:pt modelId="{CB13EF03-1055-48EC-A810-EF5350E7D152}" type="pres">
      <dgm:prSet presAssocID="{D948E2ED-6EAB-44EF-B6DE-9E2C9D20B04B}" presName="rootConnector" presStyleLbl="node3" presStyleIdx="2" presStyleCnt="14"/>
      <dgm:spPr/>
    </dgm:pt>
    <dgm:pt modelId="{6004F06C-9832-44C3-BE60-3BE3428F2E0F}" type="pres">
      <dgm:prSet presAssocID="{D948E2ED-6EAB-44EF-B6DE-9E2C9D20B04B}" presName="hierChild4" presStyleCnt="0"/>
      <dgm:spPr/>
    </dgm:pt>
    <dgm:pt modelId="{915EFD7C-BEE0-402E-801C-91CE0F5BE0BB}" type="pres">
      <dgm:prSet presAssocID="{D948E2ED-6EAB-44EF-B6DE-9E2C9D20B04B}" presName="hierChild5" presStyleCnt="0"/>
      <dgm:spPr/>
    </dgm:pt>
    <dgm:pt modelId="{8D58BEDA-4771-4C10-9704-91F77C0E856B}" type="pres">
      <dgm:prSet presAssocID="{C2D52AC0-6439-471B-A31D-2A8F2930BC7E}" presName="Name37" presStyleLbl="parChTrans1D3" presStyleIdx="3" presStyleCnt="14"/>
      <dgm:spPr/>
    </dgm:pt>
    <dgm:pt modelId="{4EF99288-46F0-491A-9433-F2A3F3EF862C}" type="pres">
      <dgm:prSet presAssocID="{3E278B27-AB7A-4109-8332-39075883D964}" presName="hierRoot2" presStyleCnt="0">
        <dgm:presLayoutVars>
          <dgm:hierBranch val="init"/>
        </dgm:presLayoutVars>
      </dgm:prSet>
      <dgm:spPr/>
    </dgm:pt>
    <dgm:pt modelId="{92EE00D9-C8E8-41FC-BC27-476400C6C34B}" type="pres">
      <dgm:prSet presAssocID="{3E278B27-AB7A-4109-8332-39075883D964}" presName="rootComposite" presStyleCnt="0"/>
      <dgm:spPr/>
    </dgm:pt>
    <dgm:pt modelId="{E455403A-144A-41B7-B9E9-D923552577DE}" type="pres">
      <dgm:prSet presAssocID="{3E278B27-AB7A-4109-8332-39075883D964}" presName="rootText" presStyleLbl="node3" presStyleIdx="3" presStyleCnt="14" custScaleX="75256" custScaleY="63583">
        <dgm:presLayoutVars>
          <dgm:chPref val="3"/>
        </dgm:presLayoutVars>
      </dgm:prSet>
      <dgm:spPr/>
    </dgm:pt>
    <dgm:pt modelId="{94EED3F7-292B-4A47-8A4A-360F919270DB}" type="pres">
      <dgm:prSet presAssocID="{3E278B27-AB7A-4109-8332-39075883D964}" presName="rootConnector" presStyleLbl="node3" presStyleIdx="3" presStyleCnt="14"/>
      <dgm:spPr/>
    </dgm:pt>
    <dgm:pt modelId="{A9F7C19B-E6A2-459A-AE73-933988F248CF}" type="pres">
      <dgm:prSet presAssocID="{3E278B27-AB7A-4109-8332-39075883D964}" presName="hierChild4" presStyleCnt="0"/>
      <dgm:spPr/>
    </dgm:pt>
    <dgm:pt modelId="{D3BDC28A-6442-455A-9287-078C02F33723}" type="pres">
      <dgm:prSet presAssocID="{3E278B27-AB7A-4109-8332-39075883D964}" presName="hierChild5" presStyleCnt="0"/>
      <dgm:spPr/>
    </dgm:pt>
    <dgm:pt modelId="{56088892-DB4E-4632-8E75-D0E7B17A7700}" type="pres">
      <dgm:prSet presAssocID="{F2B12C03-3D08-43EA-BEC4-05AA20AD5367}" presName="Name37" presStyleLbl="parChTrans1D3" presStyleIdx="4" presStyleCnt="14"/>
      <dgm:spPr/>
    </dgm:pt>
    <dgm:pt modelId="{1315C105-AAAB-4639-93DE-224A24FF8B55}" type="pres">
      <dgm:prSet presAssocID="{068E622A-1FF1-4D02-88DB-7BB3A3497E8C}" presName="hierRoot2" presStyleCnt="0">
        <dgm:presLayoutVars>
          <dgm:hierBranch val="init"/>
        </dgm:presLayoutVars>
      </dgm:prSet>
      <dgm:spPr/>
    </dgm:pt>
    <dgm:pt modelId="{83198B8D-AA06-4F36-9351-1D8B95BFB9E3}" type="pres">
      <dgm:prSet presAssocID="{068E622A-1FF1-4D02-88DB-7BB3A3497E8C}" presName="rootComposite" presStyleCnt="0"/>
      <dgm:spPr/>
    </dgm:pt>
    <dgm:pt modelId="{5B242D67-5459-4666-946B-B477441CFAC1}" type="pres">
      <dgm:prSet presAssocID="{068E622A-1FF1-4D02-88DB-7BB3A3497E8C}" presName="rootText" presStyleLbl="node3" presStyleIdx="4" presStyleCnt="14" custScaleX="75256" custScaleY="63583">
        <dgm:presLayoutVars>
          <dgm:chPref val="3"/>
        </dgm:presLayoutVars>
      </dgm:prSet>
      <dgm:spPr/>
    </dgm:pt>
    <dgm:pt modelId="{EDE52A45-BCA8-484C-81B9-B084535DD8BD}" type="pres">
      <dgm:prSet presAssocID="{068E622A-1FF1-4D02-88DB-7BB3A3497E8C}" presName="rootConnector" presStyleLbl="node3" presStyleIdx="4" presStyleCnt="14"/>
      <dgm:spPr/>
    </dgm:pt>
    <dgm:pt modelId="{4D195674-C848-4D60-B340-24BFCCA7D52E}" type="pres">
      <dgm:prSet presAssocID="{068E622A-1FF1-4D02-88DB-7BB3A3497E8C}" presName="hierChild4" presStyleCnt="0"/>
      <dgm:spPr/>
    </dgm:pt>
    <dgm:pt modelId="{BDBE1950-E5A5-4FD1-AA88-E80166BE755D}" type="pres">
      <dgm:prSet presAssocID="{068E622A-1FF1-4D02-88DB-7BB3A3497E8C}" presName="hierChild5" presStyleCnt="0"/>
      <dgm:spPr/>
    </dgm:pt>
    <dgm:pt modelId="{6B115A59-8009-4CBF-8B0D-8D07450C806E}" type="pres">
      <dgm:prSet presAssocID="{B6128AC5-35D7-48D8-B9DB-1CA374CF4025}" presName="hierChild5" presStyleCnt="0"/>
      <dgm:spPr/>
    </dgm:pt>
    <dgm:pt modelId="{0FCE7C2C-9DAF-43E3-87C6-3A338E3B5B34}" type="pres">
      <dgm:prSet presAssocID="{AC0D5A83-EDAC-47AE-BEAC-32CFD6B66A15}" presName="Name37" presStyleLbl="parChTrans1D2" presStyleIdx="1" presStyleCnt="5"/>
      <dgm:spPr/>
    </dgm:pt>
    <dgm:pt modelId="{6A780E47-459C-4863-A78E-CBA425B0CE51}" type="pres">
      <dgm:prSet presAssocID="{D8E6BBD4-8EDF-4189-A2E7-0CE7E21CE80E}" presName="hierRoot2" presStyleCnt="0">
        <dgm:presLayoutVars>
          <dgm:hierBranch val="init"/>
        </dgm:presLayoutVars>
      </dgm:prSet>
      <dgm:spPr/>
    </dgm:pt>
    <dgm:pt modelId="{F8A7DB32-B2B4-48D5-AC4B-2D8504BEB6B0}" type="pres">
      <dgm:prSet presAssocID="{D8E6BBD4-8EDF-4189-A2E7-0CE7E21CE80E}" presName="rootComposite" presStyleCnt="0"/>
      <dgm:spPr/>
    </dgm:pt>
    <dgm:pt modelId="{7FD41C00-A0F8-4C56-9C91-B5A19FEDCEAF}" type="pres">
      <dgm:prSet presAssocID="{D8E6BBD4-8EDF-4189-A2E7-0CE7E21CE80E}" presName="rootText" presStyleLbl="node2" presStyleIdx="1" presStyleCnt="5" custScaleX="120038">
        <dgm:presLayoutVars>
          <dgm:chPref val="3"/>
        </dgm:presLayoutVars>
      </dgm:prSet>
      <dgm:spPr/>
    </dgm:pt>
    <dgm:pt modelId="{AF9E1097-65B2-4D6B-8591-EBB08AC6D7AA}" type="pres">
      <dgm:prSet presAssocID="{D8E6BBD4-8EDF-4189-A2E7-0CE7E21CE80E}" presName="rootConnector" presStyleLbl="node2" presStyleIdx="1" presStyleCnt="5"/>
      <dgm:spPr/>
    </dgm:pt>
    <dgm:pt modelId="{B3A86943-F0F2-450F-847C-995195E5EB57}" type="pres">
      <dgm:prSet presAssocID="{D8E6BBD4-8EDF-4189-A2E7-0CE7E21CE80E}" presName="hierChild4" presStyleCnt="0"/>
      <dgm:spPr/>
    </dgm:pt>
    <dgm:pt modelId="{767AC060-AF69-4FC9-B059-D0D08A5C357C}" type="pres">
      <dgm:prSet presAssocID="{1D0CD90F-1D6C-4F80-9580-E5B10C0E11F0}" presName="Name37" presStyleLbl="parChTrans1D3" presStyleIdx="5" presStyleCnt="14"/>
      <dgm:spPr/>
    </dgm:pt>
    <dgm:pt modelId="{A4781376-3FF2-4A91-9D9C-30133DE35B40}" type="pres">
      <dgm:prSet presAssocID="{008DAC29-0642-4BBB-9239-AAE31A1E6C00}" presName="hierRoot2" presStyleCnt="0">
        <dgm:presLayoutVars>
          <dgm:hierBranch val="init"/>
        </dgm:presLayoutVars>
      </dgm:prSet>
      <dgm:spPr/>
    </dgm:pt>
    <dgm:pt modelId="{BB47DE10-9FA6-4284-9EEE-12BDA8AA8155}" type="pres">
      <dgm:prSet presAssocID="{008DAC29-0642-4BBB-9239-AAE31A1E6C00}" presName="rootComposite" presStyleCnt="0"/>
      <dgm:spPr/>
    </dgm:pt>
    <dgm:pt modelId="{AA3E4859-D19F-4FF5-B7AD-A3F7A006D3C7}" type="pres">
      <dgm:prSet presAssocID="{008DAC29-0642-4BBB-9239-AAE31A1E6C00}" presName="rootText" presStyleLbl="node3" presStyleIdx="5" presStyleCnt="14" custScaleX="75256" custScaleY="63583">
        <dgm:presLayoutVars>
          <dgm:chPref val="3"/>
        </dgm:presLayoutVars>
      </dgm:prSet>
      <dgm:spPr/>
    </dgm:pt>
    <dgm:pt modelId="{75F4BA03-3FE9-49FA-8450-8D3C9555547D}" type="pres">
      <dgm:prSet presAssocID="{008DAC29-0642-4BBB-9239-AAE31A1E6C00}" presName="rootConnector" presStyleLbl="node3" presStyleIdx="5" presStyleCnt="14"/>
      <dgm:spPr/>
    </dgm:pt>
    <dgm:pt modelId="{50DDD20B-C1D3-4BA5-9DEB-A4A8D94CAB2D}" type="pres">
      <dgm:prSet presAssocID="{008DAC29-0642-4BBB-9239-AAE31A1E6C00}" presName="hierChild4" presStyleCnt="0"/>
      <dgm:spPr/>
    </dgm:pt>
    <dgm:pt modelId="{19923A56-C82A-4E24-B4A8-4EDCFDEE5E8A}" type="pres">
      <dgm:prSet presAssocID="{008DAC29-0642-4BBB-9239-AAE31A1E6C00}" presName="hierChild5" presStyleCnt="0"/>
      <dgm:spPr/>
    </dgm:pt>
    <dgm:pt modelId="{DADCB8F6-0C43-49AC-A3F9-7224038618AA}" type="pres">
      <dgm:prSet presAssocID="{B3A20904-8C5D-44CD-8E43-08F4C802E666}" presName="Name37" presStyleLbl="parChTrans1D3" presStyleIdx="6" presStyleCnt="14"/>
      <dgm:spPr/>
    </dgm:pt>
    <dgm:pt modelId="{3BBBCA87-C725-4EA7-8881-28CE81C24004}" type="pres">
      <dgm:prSet presAssocID="{57C1A4E7-8B82-46C9-A5FD-1F557F4B1AF5}" presName="hierRoot2" presStyleCnt="0">
        <dgm:presLayoutVars>
          <dgm:hierBranch val="init"/>
        </dgm:presLayoutVars>
      </dgm:prSet>
      <dgm:spPr/>
    </dgm:pt>
    <dgm:pt modelId="{EE54F51F-BB3F-40E6-9768-730A6E45B1DC}" type="pres">
      <dgm:prSet presAssocID="{57C1A4E7-8B82-46C9-A5FD-1F557F4B1AF5}" presName="rootComposite" presStyleCnt="0"/>
      <dgm:spPr/>
    </dgm:pt>
    <dgm:pt modelId="{DE054E5F-DEA2-47EA-9CB7-C2667AF09C9F}" type="pres">
      <dgm:prSet presAssocID="{57C1A4E7-8B82-46C9-A5FD-1F557F4B1AF5}" presName="rootText" presStyleLbl="node3" presStyleIdx="6" presStyleCnt="14" custScaleX="75256" custScaleY="63583">
        <dgm:presLayoutVars>
          <dgm:chPref val="3"/>
        </dgm:presLayoutVars>
      </dgm:prSet>
      <dgm:spPr/>
    </dgm:pt>
    <dgm:pt modelId="{16801265-8464-4CA2-B0DF-23720080A2C7}" type="pres">
      <dgm:prSet presAssocID="{57C1A4E7-8B82-46C9-A5FD-1F557F4B1AF5}" presName="rootConnector" presStyleLbl="node3" presStyleIdx="6" presStyleCnt="14"/>
      <dgm:spPr/>
    </dgm:pt>
    <dgm:pt modelId="{65B423E1-78E2-45CB-BFFD-6E3A37343F99}" type="pres">
      <dgm:prSet presAssocID="{57C1A4E7-8B82-46C9-A5FD-1F557F4B1AF5}" presName="hierChild4" presStyleCnt="0"/>
      <dgm:spPr/>
    </dgm:pt>
    <dgm:pt modelId="{D61877DB-DEA6-493D-9762-713FC11C2EF4}" type="pres">
      <dgm:prSet presAssocID="{57C1A4E7-8B82-46C9-A5FD-1F557F4B1AF5}" presName="hierChild5" presStyleCnt="0"/>
      <dgm:spPr/>
    </dgm:pt>
    <dgm:pt modelId="{42E5BD68-C45A-4AED-AC29-84D0FD996A08}" type="pres">
      <dgm:prSet presAssocID="{6C340013-0C47-465A-AB84-92BDAC3EA4AA}" presName="Name37" presStyleLbl="parChTrans1D3" presStyleIdx="7" presStyleCnt="14"/>
      <dgm:spPr/>
    </dgm:pt>
    <dgm:pt modelId="{BF193972-0411-4F7C-A517-9C8F73547E20}" type="pres">
      <dgm:prSet presAssocID="{FC143739-5AA7-4CEB-A411-76ACBBF13965}" presName="hierRoot2" presStyleCnt="0">
        <dgm:presLayoutVars>
          <dgm:hierBranch val="init"/>
        </dgm:presLayoutVars>
      </dgm:prSet>
      <dgm:spPr/>
    </dgm:pt>
    <dgm:pt modelId="{EDD510DD-501C-4A3E-BF4C-AD044D1D40D5}" type="pres">
      <dgm:prSet presAssocID="{FC143739-5AA7-4CEB-A411-76ACBBF13965}" presName="rootComposite" presStyleCnt="0"/>
      <dgm:spPr/>
    </dgm:pt>
    <dgm:pt modelId="{8A6E1935-B29E-4818-9EE7-995A9627C0AA}" type="pres">
      <dgm:prSet presAssocID="{FC143739-5AA7-4CEB-A411-76ACBBF13965}" presName="rootText" presStyleLbl="node3" presStyleIdx="7" presStyleCnt="14" custScaleX="75256" custScaleY="63583">
        <dgm:presLayoutVars>
          <dgm:chPref val="3"/>
        </dgm:presLayoutVars>
      </dgm:prSet>
      <dgm:spPr/>
    </dgm:pt>
    <dgm:pt modelId="{8B0D7D2A-46F6-40EA-A29F-A1B6F4821019}" type="pres">
      <dgm:prSet presAssocID="{FC143739-5AA7-4CEB-A411-76ACBBF13965}" presName="rootConnector" presStyleLbl="node3" presStyleIdx="7" presStyleCnt="14"/>
      <dgm:spPr/>
    </dgm:pt>
    <dgm:pt modelId="{81454D17-71EE-4BF9-905F-6A06A0460CE8}" type="pres">
      <dgm:prSet presAssocID="{FC143739-5AA7-4CEB-A411-76ACBBF13965}" presName="hierChild4" presStyleCnt="0"/>
      <dgm:spPr/>
    </dgm:pt>
    <dgm:pt modelId="{C1014142-0CA6-457C-B760-98508DB50F7D}" type="pres">
      <dgm:prSet presAssocID="{FC143739-5AA7-4CEB-A411-76ACBBF13965}" presName="hierChild5" presStyleCnt="0"/>
      <dgm:spPr/>
    </dgm:pt>
    <dgm:pt modelId="{D7A6457C-2FA1-4334-8D36-6626D5A4EECD}" type="pres">
      <dgm:prSet presAssocID="{D8E6BBD4-8EDF-4189-A2E7-0CE7E21CE80E}" presName="hierChild5" presStyleCnt="0"/>
      <dgm:spPr/>
    </dgm:pt>
    <dgm:pt modelId="{540A1010-52E7-4C3E-8141-B2F7CA200B76}" type="pres">
      <dgm:prSet presAssocID="{014386FE-077E-411C-B640-75F1F7CB407E}" presName="Name37" presStyleLbl="parChTrans1D2" presStyleIdx="2" presStyleCnt="5"/>
      <dgm:spPr/>
    </dgm:pt>
    <dgm:pt modelId="{B1E7466D-E2F3-477F-9110-0771198D1498}" type="pres">
      <dgm:prSet presAssocID="{4F29C1B0-BB18-47B6-BEB2-C27B1B5DCADE}" presName="hierRoot2" presStyleCnt="0">
        <dgm:presLayoutVars>
          <dgm:hierBranch val="init"/>
        </dgm:presLayoutVars>
      </dgm:prSet>
      <dgm:spPr/>
    </dgm:pt>
    <dgm:pt modelId="{8B14E390-9A95-47B7-A703-EC10387E8293}" type="pres">
      <dgm:prSet presAssocID="{4F29C1B0-BB18-47B6-BEB2-C27B1B5DCADE}" presName="rootComposite" presStyleCnt="0"/>
      <dgm:spPr/>
    </dgm:pt>
    <dgm:pt modelId="{D2DED6C3-8F28-4D36-9D00-1919F2233E4B}" type="pres">
      <dgm:prSet presAssocID="{4F29C1B0-BB18-47B6-BEB2-C27B1B5DCADE}" presName="rootText" presStyleLbl="node2" presStyleIdx="2" presStyleCnt="5" custLinFactNeighborX="-2338" custLinFactNeighborY="924">
        <dgm:presLayoutVars>
          <dgm:chPref val="3"/>
        </dgm:presLayoutVars>
      </dgm:prSet>
      <dgm:spPr/>
    </dgm:pt>
    <dgm:pt modelId="{D57FF404-1C5F-40B0-93F7-0A75BC32C4E9}" type="pres">
      <dgm:prSet presAssocID="{4F29C1B0-BB18-47B6-BEB2-C27B1B5DCADE}" presName="rootConnector" presStyleLbl="node2" presStyleIdx="2" presStyleCnt="5"/>
      <dgm:spPr/>
    </dgm:pt>
    <dgm:pt modelId="{9B1C09EC-2CBB-4F0C-A5FE-DE49070F6B36}" type="pres">
      <dgm:prSet presAssocID="{4F29C1B0-BB18-47B6-BEB2-C27B1B5DCADE}" presName="hierChild4" presStyleCnt="0"/>
      <dgm:spPr/>
    </dgm:pt>
    <dgm:pt modelId="{CAA747B4-70EF-483A-BF12-8D44B0591C13}" type="pres">
      <dgm:prSet presAssocID="{11E9C56B-4B96-45BD-A59A-E664055F3778}" presName="Name37" presStyleLbl="parChTrans1D3" presStyleIdx="8" presStyleCnt="14"/>
      <dgm:spPr/>
    </dgm:pt>
    <dgm:pt modelId="{4EBCD200-951A-493D-BF93-783A92BDAA4A}" type="pres">
      <dgm:prSet presAssocID="{BA3E36F5-80B2-44A6-B9A2-EA5D5CFA129C}" presName="hierRoot2" presStyleCnt="0">
        <dgm:presLayoutVars>
          <dgm:hierBranch val="init"/>
        </dgm:presLayoutVars>
      </dgm:prSet>
      <dgm:spPr/>
    </dgm:pt>
    <dgm:pt modelId="{B58C35CC-88A0-4358-AE57-BC5D4F13F74F}" type="pres">
      <dgm:prSet presAssocID="{BA3E36F5-80B2-44A6-B9A2-EA5D5CFA129C}" presName="rootComposite" presStyleCnt="0"/>
      <dgm:spPr/>
    </dgm:pt>
    <dgm:pt modelId="{2728210A-F7EC-439F-8249-916E6F8D485F}" type="pres">
      <dgm:prSet presAssocID="{BA3E36F5-80B2-44A6-B9A2-EA5D5CFA129C}" presName="rootText" presStyleLbl="node3" presStyleIdx="8" presStyleCnt="14" custScaleX="75256" custScaleY="63583">
        <dgm:presLayoutVars>
          <dgm:chPref val="3"/>
        </dgm:presLayoutVars>
      </dgm:prSet>
      <dgm:spPr>
        <a:prstGeom prst="rect">
          <a:avLst/>
        </a:prstGeom>
      </dgm:spPr>
    </dgm:pt>
    <dgm:pt modelId="{C07E1312-25EE-4862-A9C4-934D5C98129F}" type="pres">
      <dgm:prSet presAssocID="{BA3E36F5-80B2-44A6-B9A2-EA5D5CFA129C}" presName="rootConnector" presStyleLbl="node3" presStyleIdx="8" presStyleCnt="14"/>
      <dgm:spPr/>
    </dgm:pt>
    <dgm:pt modelId="{2DA4BB10-AF25-4667-B170-E733DAFCDB3D}" type="pres">
      <dgm:prSet presAssocID="{BA3E36F5-80B2-44A6-B9A2-EA5D5CFA129C}" presName="hierChild4" presStyleCnt="0"/>
      <dgm:spPr/>
    </dgm:pt>
    <dgm:pt modelId="{5B7977C3-807C-4626-98BE-44EC06A45340}" type="pres">
      <dgm:prSet presAssocID="{BA3E36F5-80B2-44A6-B9A2-EA5D5CFA129C}" presName="hierChild5" presStyleCnt="0"/>
      <dgm:spPr/>
    </dgm:pt>
    <dgm:pt modelId="{AC8324A2-321A-4D85-83FD-C18BD8ECC9A0}" type="pres">
      <dgm:prSet presAssocID="{4F29C1B0-BB18-47B6-BEB2-C27B1B5DCADE}" presName="hierChild5" presStyleCnt="0"/>
      <dgm:spPr/>
    </dgm:pt>
    <dgm:pt modelId="{97B75E5E-B9E8-4739-8D74-311AB1D76F4D}" type="pres">
      <dgm:prSet presAssocID="{CDB71F1E-560D-4430-B5DA-785002B36F78}" presName="Name37" presStyleLbl="parChTrans1D2" presStyleIdx="3" presStyleCnt="5"/>
      <dgm:spPr/>
    </dgm:pt>
    <dgm:pt modelId="{ABD1783F-5128-48C9-84F9-F62C615DAF51}" type="pres">
      <dgm:prSet presAssocID="{4BCFEE68-7A59-4CA2-83D5-6EFF0DFD5383}" presName="hierRoot2" presStyleCnt="0">
        <dgm:presLayoutVars>
          <dgm:hierBranch val="init"/>
        </dgm:presLayoutVars>
      </dgm:prSet>
      <dgm:spPr/>
    </dgm:pt>
    <dgm:pt modelId="{91E7590F-D419-4A29-BEA7-5A2A88A14554}" type="pres">
      <dgm:prSet presAssocID="{4BCFEE68-7A59-4CA2-83D5-6EFF0DFD5383}" presName="rootComposite" presStyleCnt="0"/>
      <dgm:spPr/>
    </dgm:pt>
    <dgm:pt modelId="{2A2C299A-2CFE-4B4F-9C7F-0507AED932C5}" type="pres">
      <dgm:prSet presAssocID="{4BCFEE68-7A59-4CA2-83D5-6EFF0DFD5383}" presName="rootText" presStyleLbl="node2" presStyleIdx="3" presStyleCnt="5">
        <dgm:presLayoutVars>
          <dgm:chPref val="3"/>
        </dgm:presLayoutVars>
      </dgm:prSet>
      <dgm:spPr/>
    </dgm:pt>
    <dgm:pt modelId="{4C8BC1BC-CD27-4CC6-BDF5-4D4622E5259C}" type="pres">
      <dgm:prSet presAssocID="{4BCFEE68-7A59-4CA2-83D5-6EFF0DFD5383}" presName="rootConnector" presStyleLbl="node2" presStyleIdx="3" presStyleCnt="5"/>
      <dgm:spPr/>
    </dgm:pt>
    <dgm:pt modelId="{24DA93A2-7D64-431F-A3C4-52624FA9AD81}" type="pres">
      <dgm:prSet presAssocID="{4BCFEE68-7A59-4CA2-83D5-6EFF0DFD5383}" presName="hierChild4" presStyleCnt="0"/>
      <dgm:spPr/>
    </dgm:pt>
    <dgm:pt modelId="{E83E89CF-03ED-413C-B6E3-CBCA436974EE}" type="pres">
      <dgm:prSet presAssocID="{F662803B-4F0C-4462-A3E1-684BBD7BA2E5}" presName="Name37" presStyleLbl="parChTrans1D3" presStyleIdx="9" presStyleCnt="14"/>
      <dgm:spPr/>
    </dgm:pt>
    <dgm:pt modelId="{048C2B6A-5A1D-4FA4-ABAF-A49E9F9AC797}" type="pres">
      <dgm:prSet presAssocID="{9BFB61C5-8E9A-442A-88A8-F55CBEB6E775}" presName="hierRoot2" presStyleCnt="0">
        <dgm:presLayoutVars>
          <dgm:hierBranch val="init"/>
        </dgm:presLayoutVars>
      </dgm:prSet>
      <dgm:spPr/>
    </dgm:pt>
    <dgm:pt modelId="{91872225-3780-47C8-A70A-873915C91396}" type="pres">
      <dgm:prSet presAssocID="{9BFB61C5-8E9A-442A-88A8-F55CBEB6E775}" presName="rootComposite" presStyleCnt="0"/>
      <dgm:spPr/>
    </dgm:pt>
    <dgm:pt modelId="{BF1B14D0-433D-4943-93B0-352569B8D1C0}" type="pres">
      <dgm:prSet presAssocID="{9BFB61C5-8E9A-442A-88A8-F55CBEB6E775}" presName="rootText" presStyleLbl="node3" presStyleIdx="9" presStyleCnt="14" custScaleX="75256" custScaleY="63583" custLinFactNeighborX="4350" custLinFactNeighborY="-7005">
        <dgm:presLayoutVars>
          <dgm:chPref val="3"/>
        </dgm:presLayoutVars>
      </dgm:prSet>
      <dgm:spPr/>
    </dgm:pt>
    <dgm:pt modelId="{5C7252A7-70BF-4579-B246-D0829BE91272}" type="pres">
      <dgm:prSet presAssocID="{9BFB61C5-8E9A-442A-88A8-F55CBEB6E775}" presName="rootConnector" presStyleLbl="node3" presStyleIdx="9" presStyleCnt="14"/>
      <dgm:spPr/>
    </dgm:pt>
    <dgm:pt modelId="{0DAE6761-9B5A-41E3-958A-4255FB326199}" type="pres">
      <dgm:prSet presAssocID="{9BFB61C5-8E9A-442A-88A8-F55CBEB6E775}" presName="hierChild4" presStyleCnt="0"/>
      <dgm:spPr/>
    </dgm:pt>
    <dgm:pt modelId="{F32EAA34-B797-4BC9-8B09-F34CDCA700B2}" type="pres">
      <dgm:prSet presAssocID="{9BFB61C5-8E9A-442A-88A8-F55CBEB6E775}" presName="hierChild5" presStyleCnt="0"/>
      <dgm:spPr/>
    </dgm:pt>
    <dgm:pt modelId="{20745C55-361D-4294-9227-F09B03C4A0CB}" type="pres">
      <dgm:prSet presAssocID="{3B61F7B4-E91D-47B0-97F9-740CE1702355}" presName="Name37" presStyleLbl="parChTrans1D3" presStyleIdx="10" presStyleCnt="14"/>
      <dgm:spPr/>
    </dgm:pt>
    <dgm:pt modelId="{CF9D53BB-9EA2-4EA5-9608-2920683F02CA}" type="pres">
      <dgm:prSet presAssocID="{47D2D8DA-5E2E-4862-8CD1-154A06277936}" presName="hierRoot2" presStyleCnt="0">
        <dgm:presLayoutVars>
          <dgm:hierBranch val="init"/>
        </dgm:presLayoutVars>
      </dgm:prSet>
      <dgm:spPr/>
    </dgm:pt>
    <dgm:pt modelId="{25E942CA-9950-44EF-8EDB-2FA7934D8918}" type="pres">
      <dgm:prSet presAssocID="{47D2D8DA-5E2E-4862-8CD1-154A06277936}" presName="rootComposite" presStyleCnt="0"/>
      <dgm:spPr/>
    </dgm:pt>
    <dgm:pt modelId="{AC360B85-DCAA-4575-85A6-849D1248A890}" type="pres">
      <dgm:prSet presAssocID="{47D2D8DA-5E2E-4862-8CD1-154A06277936}" presName="rootText" presStyleLbl="node3" presStyleIdx="10" presStyleCnt="14" custScaleX="75256" custScaleY="63583" custLinFactNeighborX="4350" custLinFactNeighborY="-4845">
        <dgm:presLayoutVars>
          <dgm:chPref val="3"/>
        </dgm:presLayoutVars>
      </dgm:prSet>
      <dgm:spPr/>
    </dgm:pt>
    <dgm:pt modelId="{A7081C91-E825-46CC-A9EB-D80AD2738BE5}" type="pres">
      <dgm:prSet presAssocID="{47D2D8DA-5E2E-4862-8CD1-154A06277936}" presName="rootConnector" presStyleLbl="node3" presStyleIdx="10" presStyleCnt="14"/>
      <dgm:spPr/>
    </dgm:pt>
    <dgm:pt modelId="{C5491B3F-3445-4D3A-8AC9-51C167D330A7}" type="pres">
      <dgm:prSet presAssocID="{47D2D8DA-5E2E-4862-8CD1-154A06277936}" presName="hierChild4" presStyleCnt="0"/>
      <dgm:spPr/>
    </dgm:pt>
    <dgm:pt modelId="{AC47081A-84A1-4155-B1CE-E065B51DAEBD}" type="pres">
      <dgm:prSet presAssocID="{47D2D8DA-5E2E-4862-8CD1-154A06277936}" presName="hierChild5" presStyleCnt="0"/>
      <dgm:spPr/>
    </dgm:pt>
    <dgm:pt modelId="{A263102D-16EF-4F4E-AD32-8234FE94871A}" type="pres">
      <dgm:prSet presAssocID="{4BCFEE68-7A59-4CA2-83D5-6EFF0DFD5383}" presName="hierChild5" presStyleCnt="0"/>
      <dgm:spPr/>
    </dgm:pt>
    <dgm:pt modelId="{504B1959-180C-49CA-B3C4-60F0001645F3}" type="pres">
      <dgm:prSet presAssocID="{32DCFEAC-A69A-4721-BF0D-CACA0A937A76}" presName="Name37" presStyleLbl="parChTrans1D2" presStyleIdx="4" presStyleCnt="5"/>
      <dgm:spPr/>
    </dgm:pt>
    <dgm:pt modelId="{9832FE41-AE24-41E6-A94B-F8B7C4E6ED46}" type="pres">
      <dgm:prSet presAssocID="{7AA297D7-BA47-4F4B-AEF2-605E237EB2E4}" presName="hierRoot2" presStyleCnt="0">
        <dgm:presLayoutVars>
          <dgm:hierBranch val="init"/>
        </dgm:presLayoutVars>
      </dgm:prSet>
      <dgm:spPr/>
    </dgm:pt>
    <dgm:pt modelId="{22549038-04AD-4CA0-A6F8-958759D1041D}" type="pres">
      <dgm:prSet presAssocID="{7AA297D7-BA47-4F4B-AEF2-605E237EB2E4}" presName="rootComposite" presStyleCnt="0"/>
      <dgm:spPr/>
    </dgm:pt>
    <dgm:pt modelId="{499822B6-D05A-4DDF-9B73-25A939B304BF}" type="pres">
      <dgm:prSet presAssocID="{7AA297D7-BA47-4F4B-AEF2-605E237EB2E4}" presName="rootText" presStyleLbl="node2" presStyleIdx="4" presStyleCnt="5" custScaleX="138803">
        <dgm:presLayoutVars>
          <dgm:chPref val="3"/>
        </dgm:presLayoutVars>
      </dgm:prSet>
      <dgm:spPr/>
    </dgm:pt>
    <dgm:pt modelId="{38932166-C9B1-4E85-ADA3-1DB81F4BDAE7}" type="pres">
      <dgm:prSet presAssocID="{7AA297D7-BA47-4F4B-AEF2-605E237EB2E4}" presName="rootConnector" presStyleLbl="node2" presStyleIdx="4" presStyleCnt="5"/>
      <dgm:spPr/>
    </dgm:pt>
    <dgm:pt modelId="{623E1F2A-DD13-4AB7-946C-30B6512E34B1}" type="pres">
      <dgm:prSet presAssocID="{7AA297D7-BA47-4F4B-AEF2-605E237EB2E4}" presName="hierChild4" presStyleCnt="0"/>
      <dgm:spPr/>
    </dgm:pt>
    <dgm:pt modelId="{F3AAEE01-0BE4-40D7-BEA2-E4FAA3B0F834}" type="pres">
      <dgm:prSet presAssocID="{6EB57B3D-4252-4D4C-89A3-725B3126162B}" presName="Name37" presStyleLbl="parChTrans1D3" presStyleIdx="11" presStyleCnt="14"/>
      <dgm:spPr/>
    </dgm:pt>
    <dgm:pt modelId="{EF6D4B0A-BB70-42FD-A2E5-6FC97C65D6C8}" type="pres">
      <dgm:prSet presAssocID="{0D03BBF2-3078-4126-9B8D-82FA4174FAC9}" presName="hierRoot2" presStyleCnt="0">
        <dgm:presLayoutVars>
          <dgm:hierBranch val="init"/>
        </dgm:presLayoutVars>
      </dgm:prSet>
      <dgm:spPr/>
    </dgm:pt>
    <dgm:pt modelId="{542A739C-E76F-4733-94ED-2D7C1DF6C5B6}" type="pres">
      <dgm:prSet presAssocID="{0D03BBF2-3078-4126-9B8D-82FA4174FAC9}" presName="rootComposite" presStyleCnt="0"/>
      <dgm:spPr/>
    </dgm:pt>
    <dgm:pt modelId="{A79F1929-6BB5-4F97-8C39-32F8BBABAB47}" type="pres">
      <dgm:prSet presAssocID="{0D03BBF2-3078-4126-9B8D-82FA4174FAC9}" presName="rootText" presStyleLbl="node3" presStyleIdx="11" presStyleCnt="14" custScaleX="78440" custScaleY="66273" custLinFactNeighborY="3978">
        <dgm:presLayoutVars>
          <dgm:chPref val="3"/>
        </dgm:presLayoutVars>
      </dgm:prSet>
      <dgm:spPr>
        <a:prstGeom prst="rect">
          <a:avLst/>
        </a:prstGeom>
      </dgm:spPr>
    </dgm:pt>
    <dgm:pt modelId="{6BAFB7DD-39CF-4335-B1DD-8DEDBC485634}" type="pres">
      <dgm:prSet presAssocID="{0D03BBF2-3078-4126-9B8D-82FA4174FAC9}" presName="rootConnector" presStyleLbl="node3" presStyleIdx="11" presStyleCnt="14"/>
      <dgm:spPr/>
    </dgm:pt>
    <dgm:pt modelId="{3D336E6E-9BC9-4898-B87A-0C2D44BF38B1}" type="pres">
      <dgm:prSet presAssocID="{0D03BBF2-3078-4126-9B8D-82FA4174FAC9}" presName="hierChild4" presStyleCnt="0"/>
      <dgm:spPr/>
    </dgm:pt>
    <dgm:pt modelId="{F35A42EB-E9A9-4FFF-A9CE-1A2BA9C3C271}" type="pres">
      <dgm:prSet presAssocID="{0D03BBF2-3078-4126-9B8D-82FA4174FAC9}" presName="hierChild5" presStyleCnt="0"/>
      <dgm:spPr/>
    </dgm:pt>
    <dgm:pt modelId="{D6373F02-C9F4-4D31-A837-BE93351DADBB}" type="pres">
      <dgm:prSet presAssocID="{8EE1AF7B-76C6-4E60-8211-0E9DC6FD6694}" presName="Name37" presStyleLbl="parChTrans1D3" presStyleIdx="12" presStyleCnt="14"/>
      <dgm:spPr/>
    </dgm:pt>
    <dgm:pt modelId="{ACD1F863-6520-4137-91A1-0CB63DD1B2C3}" type="pres">
      <dgm:prSet presAssocID="{626BE4B0-ADE7-497D-AE68-E700121AF8DA}" presName="hierRoot2" presStyleCnt="0">
        <dgm:presLayoutVars>
          <dgm:hierBranch val="init"/>
        </dgm:presLayoutVars>
      </dgm:prSet>
      <dgm:spPr/>
    </dgm:pt>
    <dgm:pt modelId="{41CCB3C3-0CC4-4A63-BF78-87FE73314901}" type="pres">
      <dgm:prSet presAssocID="{626BE4B0-ADE7-497D-AE68-E700121AF8DA}" presName="rootComposite" presStyleCnt="0"/>
      <dgm:spPr/>
    </dgm:pt>
    <dgm:pt modelId="{85F0515A-C3D1-48DF-82B3-F4C6C00D7DA5}" type="pres">
      <dgm:prSet presAssocID="{626BE4B0-ADE7-497D-AE68-E700121AF8DA}" presName="rootText" presStyleLbl="node3" presStyleIdx="12" presStyleCnt="14" custScaleX="78440" custScaleY="66273">
        <dgm:presLayoutVars>
          <dgm:chPref val="3"/>
        </dgm:presLayoutVars>
      </dgm:prSet>
      <dgm:spPr>
        <a:prstGeom prst="rect">
          <a:avLst/>
        </a:prstGeom>
      </dgm:spPr>
    </dgm:pt>
    <dgm:pt modelId="{4F7CAE9B-608D-4A16-AF4B-12D9CF37E754}" type="pres">
      <dgm:prSet presAssocID="{626BE4B0-ADE7-497D-AE68-E700121AF8DA}" presName="rootConnector" presStyleLbl="node3" presStyleIdx="12" presStyleCnt="14"/>
      <dgm:spPr/>
    </dgm:pt>
    <dgm:pt modelId="{360E89C5-6311-46CA-B282-2F6CA7997970}" type="pres">
      <dgm:prSet presAssocID="{626BE4B0-ADE7-497D-AE68-E700121AF8DA}" presName="hierChild4" presStyleCnt="0"/>
      <dgm:spPr/>
    </dgm:pt>
    <dgm:pt modelId="{F0134E42-104F-4DD8-AC55-69D1DF400FD0}" type="pres">
      <dgm:prSet presAssocID="{626BE4B0-ADE7-497D-AE68-E700121AF8DA}" presName="hierChild5" presStyleCnt="0"/>
      <dgm:spPr/>
    </dgm:pt>
    <dgm:pt modelId="{2BA41681-FD1E-4D29-AFA7-D8DF7BDE47E7}" type="pres">
      <dgm:prSet presAssocID="{DEDA258F-FE0C-4453-A42A-1C04C6DC3BB9}" presName="Name37" presStyleLbl="parChTrans1D3" presStyleIdx="13" presStyleCnt="14"/>
      <dgm:spPr/>
    </dgm:pt>
    <dgm:pt modelId="{65002DB2-CF03-45E5-B428-05E74D7A89CE}" type="pres">
      <dgm:prSet presAssocID="{969278AB-E281-4142-83C5-2B35A51749DF}" presName="hierRoot2" presStyleCnt="0">
        <dgm:presLayoutVars>
          <dgm:hierBranch val="init"/>
        </dgm:presLayoutVars>
      </dgm:prSet>
      <dgm:spPr/>
    </dgm:pt>
    <dgm:pt modelId="{851AB8F5-4E3D-4C9A-B574-2B33C2F464EA}" type="pres">
      <dgm:prSet presAssocID="{969278AB-E281-4142-83C5-2B35A51749DF}" presName="rootComposite" presStyleCnt="0"/>
      <dgm:spPr/>
    </dgm:pt>
    <dgm:pt modelId="{89BBF7D7-3281-4C3F-9BF5-9ED5E1EFDA9B}" type="pres">
      <dgm:prSet presAssocID="{969278AB-E281-4142-83C5-2B35A51749DF}" presName="rootText" presStyleLbl="node3" presStyleIdx="13" presStyleCnt="14" custScaleX="78440" custScaleY="66273">
        <dgm:presLayoutVars>
          <dgm:chPref val="3"/>
        </dgm:presLayoutVars>
      </dgm:prSet>
      <dgm:spPr>
        <a:prstGeom prst="rect">
          <a:avLst/>
        </a:prstGeom>
      </dgm:spPr>
    </dgm:pt>
    <dgm:pt modelId="{E67A344E-C692-4901-82E7-BD7AB0ECF7A8}" type="pres">
      <dgm:prSet presAssocID="{969278AB-E281-4142-83C5-2B35A51749DF}" presName="rootConnector" presStyleLbl="node3" presStyleIdx="13" presStyleCnt="14"/>
      <dgm:spPr/>
    </dgm:pt>
    <dgm:pt modelId="{9CF7C0F2-AF04-4736-93C2-081E477BDC87}" type="pres">
      <dgm:prSet presAssocID="{969278AB-E281-4142-83C5-2B35A51749DF}" presName="hierChild4" presStyleCnt="0"/>
      <dgm:spPr/>
    </dgm:pt>
    <dgm:pt modelId="{2926C086-1BC1-4122-B34E-4D25CB51E6E4}" type="pres">
      <dgm:prSet presAssocID="{969278AB-E281-4142-83C5-2B35A51749DF}" presName="hierChild5" presStyleCnt="0"/>
      <dgm:spPr/>
    </dgm:pt>
    <dgm:pt modelId="{C1AEC144-EF3C-4E49-B12A-65A62CD7BD3A}" type="pres">
      <dgm:prSet presAssocID="{7AA297D7-BA47-4F4B-AEF2-605E237EB2E4}" presName="hierChild5" presStyleCnt="0"/>
      <dgm:spPr/>
    </dgm:pt>
    <dgm:pt modelId="{9F0BE2ED-5ECF-4BDB-830C-07E68C0B1BF1}" type="pres">
      <dgm:prSet presAssocID="{3D03D639-5674-4D1A-A8DD-C66A613E97E2}" presName="hierChild3" presStyleCnt="0"/>
      <dgm:spPr/>
    </dgm:pt>
  </dgm:ptLst>
  <dgm:cxnLst>
    <dgm:cxn modelId="{CB564101-B28F-477C-AD41-2EBE21A2E18D}" type="presOf" srcId="{9CFC34C8-23DF-4281-A5E0-92A6DC80522A}" destId="{574DE9CE-A882-467E-A621-CF2F08709727}" srcOrd="1" destOrd="0" presId="urn:microsoft.com/office/officeart/2005/8/layout/orgChart1"/>
    <dgm:cxn modelId="{2F527D03-7E11-4AB1-840D-80B8C6AC5B41}" srcId="{3D03D639-5674-4D1A-A8DD-C66A613E97E2}" destId="{4F29C1B0-BB18-47B6-BEB2-C27B1B5DCADE}" srcOrd="2" destOrd="0" parTransId="{014386FE-077E-411C-B640-75F1F7CB407E}" sibTransId="{A7E81709-C42F-4FB9-AEFC-F2473A3296F6}"/>
    <dgm:cxn modelId="{A309DD06-06E4-4067-BE09-9C8B9F7A3F16}" srcId="{4BCFEE68-7A59-4CA2-83D5-6EFF0DFD5383}" destId="{9BFB61C5-8E9A-442A-88A8-F55CBEB6E775}" srcOrd="0" destOrd="0" parTransId="{F662803B-4F0C-4462-A3E1-684BBD7BA2E5}" sibTransId="{F1FF4539-1C9F-4E96-87FD-FA1680758D4E}"/>
    <dgm:cxn modelId="{5B89FF07-1D38-4F7D-90EF-E6447883D503}" type="presOf" srcId="{CA8AB386-B02E-4402-9269-E96D4E630E8F}" destId="{F0DC2531-ADC9-4983-8184-380395184975}" srcOrd="0" destOrd="0" presId="urn:microsoft.com/office/officeart/2005/8/layout/orgChart1"/>
    <dgm:cxn modelId="{CF873308-4C24-4DC6-BC0D-B79353FBA364}" type="presOf" srcId="{B6128AC5-35D7-48D8-B9DB-1CA374CF4025}" destId="{F53A27FE-3CC5-4950-A822-6FB0F39CEC60}" srcOrd="0" destOrd="0" presId="urn:microsoft.com/office/officeart/2005/8/layout/orgChart1"/>
    <dgm:cxn modelId="{2383EC08-727E-4518-AC97-C2BE7B1162D3}" srcId="{7AA297D7-BA47-4F4B-AEF2-605E237EB2E4}" destId="{0D03BBF2-3078-4126-9B8D-82FA4174FAC9}" srcOrd="0" destOrd="0" parTransId="{6EB57B3D-4252-4D4C-89A3-725B3126162B}" sibTransId="{EEC6569A-FA4C-4D55-B646-703C522AC242}"/>
    <dgm:cxn modelId="{22DC2909-847F-42D0-8D6F-599028D63EA0}" type="presOf" srcId="{D948E2ED-6EAB-44EF-B6DE-9E2C9D20B04B}" destId="{CB13EF03-1055-48EC-A810-EF5350E7D152}" srcOrd="1" destOrd="0" presId="urn:microsoft.com/office/officeart/2005/8/layout/orgChart1"/>
    <dgm:cxn modelId="{74AD1F0A-2A8D-4106-8906-7474C3F38E3D}" type="presOf" srcId="{D8E6BBD4-8EDF-4189-A2E7-0CE7E21CE80E}" destId="{7FD41C00-A0F8-4C56-9C91-B5A19FEDCEAF}" srcOrd="0" destOrd="0" presId="urn:microsoft.com/office/officeart/2005/8/layout/orgChart1"/>
    <dgm:cxn modelId="{EACFEE0F-5A1F-41AC-A501-C958B982FB6D}" type="presOf" srcId="{7AA297D7-BA47-4F4B-AEF2-605E237EB2E4}" destId="{38932166-C9B1-4E85-ADA3-1DB81F4BDAE7}" srcOrd="1" destOrd="0" presId="urn:microsoft.com/office/officeart/2005/8/layout/orgChart1"/>
    <dgm:cxn modelId="{CDB6EF13-89B0-4326-B2A6-A970B3923268}" srcId="{D8E6BBD4-8EDF-4189-A2E7-0CE7E21CE80E}" destId="{57C1A4E7-8B82-46C9-A5FD-1F557F4B1AF5}" srcOrd="1" destOrd="0" parTransId="{B3A20904-8C5D-44CD-8E43-08F4C802E666}" sibTransId="{D1DAE5E8-4797-47F2-8E7D-7F800F2124E9}"/>
    <dgm:cxn modelId="{51366417-6238-4276-840A-291AEEB0F5A6}" type="presOf" srcId="{4F29C1B0-BB18-47B6-BEB2-C27B1B5DCADE}" destId="{D57FF404-1C5F-40B0-93F7-0A75BC32C4E9}" srcOrd="1" destOrd="0" presId="urn:microsoft.com/office/officeart/2005/8/layout/orgChart1"/>
    <dgm:cxn modelId="{73D8AA19-6444-427C-A35C-D5DDA2E934BE}" type="presOf" srcId="{BA3E36F5-80B2-44A6-B9A2-EA5D5CFA129C}" destId="{2728210A-F7EC-439F-8249-916E6F8D485F}" srcOrd="0" destOrd="0" presId="urn:microsoft.com/office/officeart/2005/8/layout/orgChart1"/>
    <dgm:cxn modelId="{F0E6D821-2302-4310-915D-526FDDECF18E}" type="presOf" srcId="{626BE4B0-ADE7-497D-AE68-E700121AF8DA}" destId="{85F0515A-C3D1-48DF-82B3-F4C6C00D7DA5}" srcOrd="0" destOrd="0" presId="urn:microsoft.com/office/officeart/2005/8/layout/orgChart1"/>
    <dgm:cxn modelId="{56804723-AB71-4A38-84D3-4316D07572EC}" type="presOf" srcId="{D948E2ED-6EAB-44EF-B6DE-9E2C9D20B04B}" destId="{D33D91A4-A7E8-4238-8122-A4B3A6F02168}" srcOrd="0" destOrd="0" presId="urn:microsoft.com/office/officeart/2005/8/layout/orgChart1"/>
    <dgm:cxn modelId="{5C957823-89B0-4EEA-9A79-38AFAD56FBB8}" type="presOf" srcId="{4BCFEE68-7A59-4CA2-83D5-6EFF0DFD5383}" destId="{4C8BC1BC-CD27-4CC6-BDF5-4D4622E5259C}" srcOrd="1" destOrd="0" presId="urn:microsoft.com/office/officeart/2005/8/layout/orgChart1"/>
    <dgm:cxn modelId="{36F6AF2A-EA89-476E-8F5D-E75046BA00FD}" srcId="{B6128AC5-35D7-48D8-B9DB-1CA374CF4025}" destId="{3E278B27-AB7A-4109-8332-39075883D964}" srcOrd="3" destOrd="0" parTransId="{C2D52AC0-6439-471B-A31D-2A8F2930BC7E}" sibTransId="{5743DC84-529A-4B06-95C8-FD761F3E8855}"/>
    <dgm:cxn modelId="{BA56C42A-1701-4A78-879A-02FBFEB84334}" type="presOf" srcId="{C58EDE16-5F87-49C7-820C-BDB43099A29A}" destId="{0A282FD3-F170-4755-9E7D-A04AE0224C8A}" srcOrd="0" destOrd="0" presId="urn:microsoft.com/office/officeart/2005/8/layout/orgChart1"/>
    <dgm:cxn modelId="{B044252C-D8B6-4F6C-ACBA-612BF3ACBEC1}" type="presOf" srcId="{57C1A4E7-8B82-46C9-A5FD-1F557F4B1AF5}" destId="{16801265-8464-4CA2-B0DF-23720080A2C7}" srcOrd="1" destOrd="0" presId="urn:microsoft.com/office/officeart/2005/8/layout/orgChart1"/>
    <dgm:cxn modelId="{30DE2F30-2A73-4679-9EA6-AE6A4FFF1438}" type="presOf" srcId="{008DAC29-0642-4BBB-9239-AAE31A1E6C00}" destId="{75F4BA03-3FE9-49FA-8450-8D3C9555547D}" srcOrd="1" destOrd="0" presId="urn:microsoft.com/office/officeart/2005/8/layout/orgChart1"/>
    <dgm:cxn modelId="{6089E534-9825-435A-B22C-F1E316745432}" type="presOf" srcId="{1D0CD90F-1D6C-4F80-9580-E5B10C0E11F0}" destId="{767AC060-AF69-4FC9-B059-D0D08A5C357C}" srcOrd="0" destOrd="0" presId="urn:microsoft.com/office/officeart/2005/8/layout/orgChart1"/>
    <dgm:cxn modelId="{B88DD235-05C8-4862-B393-92AA4F733A4E}" type="presOf" srcId="{57C1A4E7-8B82-46C9-A5FD-1F557F4B1AF5}" destId="{DE054E5F-DEA2-47EA-9CB7-C2667AF09C9F}" srcOrd="0" destOrd="0" presId="urn:microsoft.com/office/officeart/2005/8/layout/orgChart1"/>
    <dgm:cxn modelId="{A5E8D435-DE77-4A05-846D-A76FFCBF7509}" type="presOf" srcId="{7AA297D7-BA47-4F4B-AEF2-605E237EB2E4}" destId="{499822B6-D05A-4DDF-9B73-25A939B304BF}" srcOrd="0" destOrd="0" presId="urn:microsoft.com/office/officeart/2005/8/layout/orgChart1"/>
    <dgm:cxn modelId="{15B9F536-8F5F-49AF-BFED-33BDC4E4F978}" srcId="{B6128AC5-35D7-48D8-B9DB-1CA374CF4025}" destId="{068E622A-1FF1-4D02-88DB-7BB3A3497E8C}" srcOrd="4" destOrd="0" parTransId="{F2B12C03-3D08-43EA-BEC4-05AA20AD5367}" sibTransId="{219BADFA-5668-4674-AD08-ADD4663571B2}"/>
    <dgm:cxn modelId="{4A77943B-D170-4313-A0B0-16F04408F2A5}" srcId="{4F29C1B0-BB18-47B6-BEB2-C27B1B5DCADE}" destId="{BA3E36F5-80B2-44A6-B9A2-EA5D5CFA129C}" srcOrd="0" destOrd="0" parTransId="{11E9C56B-4B96-45BD-A59A-E664055F3778}" sibTransId="{866F22B1-A2F9-429F-A04F-20FD5CD9F392}"/>
    <dgm:cxn modelId="{A149E33B-CAD4-4707-A478-AC146EB067BD}" type="presOf" srcId="{B6128AC5-35D7-48D8-B9DB-1CA374CF4025}" destId="{523B1955-0D67-45A4-8461-5EE5C371D4ED}" srcOrd="1" destOrd="0" presId="urn:microsoft.com/office/officeart/2005/8/layout/orgChart1"/>
    <dgm:cxn modelId="{6D66DF3D-C49D-49E0-9E90-BF0726A1C81B}" type="presOf" srcId="{E0CF79D0-513D-4D52-B576-396FEAF629E6}" destId="{F9C76D78-CCDE-4654-8A9C-1194521D7B3D}" srcOrd="0" destOrd="0" presId="urn:microsoft.com/office/officeart/2005/8/layout/orgChart1"/>
    <dgm:cxn modelId="{DD69D83E-9299-49D9-BC8C-82A5DA12D727}" srcId="{3D03D639-5674-4D1A-A8DD-C66A613E97E2}" destId="{B6128AC5-35D7-48D8-B9DB-1CA374CF4025}" srcOrd="0" destOrd="0" parTransId="{CA8AB386-B02E-4402-9269-E96D4E630E8F}" sibTransId="{FD5A7312-EDC1-47EF-B370-8332669B7E40}"/>
    <dgm:cxn modelId="{ECC1325B-CEDD-4A0B-834E-C5E9B579D299}" type="presOf" srcId="{9BFB61C5-8E9A-442A-88A8-F55CBEB6E775}" destId="{BF1B14D0-433D-4943-93B0-352569B8D1C0}" srcOrd="0" destOrd="0" presId="urn:microsoft.com/office/officeart/2005/8/layout/orgChart1"/>
    <dgm:cxn modelId="{7035B65D-A4EA-4E2D-94C0-61B6958B1F04}" type="presOf" srcId="{0D03BBF2-3078-4126-9B8D-82FA4174FAC9}" destId="{A79F1929-6BB5-4F97-8C39-32F8BBABAB47}" srcOrd="0" destOrd="0" presId="urn:microsoft.com/office/officeart/2005/8/layout/orgChart1"/>
    <dgm:cxn modelId="{FDEAD05F-5A00-4838-B49B-E95000DF6C11}" type="presOf" srcId="{11E9C56B-4B96-45BD-A59A-E664055F3778}" destId="{CAA747B4-70EF-483A-BF12-8D44B0591C13}" srcOrd="0" destOrd="0" presId="urn:microsoft.com/office/officeart/2005/8/layout/orgChart1"/>
    <dgm:cxn modelId="{2BB00F41-676E-4112-B103-9EE090B9924C}" type="presOf" srcId="{9BFB61C5-8E9A-442A-88A8-F55CBEB6E775}" destId="{5C7252A7-70BF-4579-B246-D0829BE91272}" srcOrd="1" destOrd="0" presId="urn:microsoft.com/office/officeart/2005/8/layout/orgChart1"/>
    <dgm:cxn modelId="{AA81A441-EF75-42A9-B433-63F0A7D748E3}" type="presOf" srcId="{0D03BBF2-3078-4126-9B8D-82FA4174FAC9}" destId="{6BAFB7DD-39CF-4335-B1DD-8DEDBC485634}" srcOrd="1" destOrd="0" presId="urn:microsoft.com/office/officeart/2005/8/layout/orgChart1"/>
    <dgm:cxn modelId="{8F67AC46-BD04-4E46-BA85-643F621B4604}" type="presOf" srcId="{969278AB-E281-4142-83C5-2B35A51749DF}" destId="{89BBF7D7-3281-4C3F-9BF5-9ED5E1EFDA9B}" srcOrd="0" destOrd="0" presId="urn:microsoft.com/office/officeart/2005/8/layout/orgChart1"/>
    <dgm:cxn modelId="{5B632E48-C877-4964-984B-6F8EEF25A908}" type="presOf" srcId="{F2B12C03-3D08-43EA-BEC4-05AA20AD5367}" destId="{56088892-DB4E-4632-8E75-D0E7B17A7700}" srcOrd="0" destOrd="0" presId="urn:microsoft.com/office/officeart/2005/8/layout/orgChart1"/>
    <dgm:cxn modelId="{1F3A7469-F2B1-4C92-8B4F-BC4BCEBFA531}" type="presOf" srcId="{32DCFEAC-A69A-4721-BF0D-CACA0A937A76}" destId="{504B1959-180C-49CA-B3C4-60F0001645F3}" srcOrd="0" destOrd="0" presId="urn:microsoft.com/office/officeart/2005/8/layout/orgChart1"/>
    <dgm:cxn modelId="{80E8D96A-5B68-4FA6-AD12-84FC38D688EC}" type="presOf" srcId="{6EB57B3D-4252-4D4C-89A3-725B3126162B}" destId="{F3AAEE01-0BE4-40D7-BEA2-E4FAA3B0F834}" srcOrd="0" destOrd="0" presId="urn:microsoft.com/office/officeart/2005/8/layout/orgChart1"/>
    <dgm:cxn modelId="{D1958B6D-C1CC-4F8E-B36B-DEAD792A2FC5}" type="presOf" srcId="{47D2D8DA-5E2E-4862-8CD1-154A06277936}" destId="{A7081C91-E825-46CC-A9EB-D80AD2738BE5}" srcOrd="1" destOrd="0" presId="urn:microsoft.com/office/officeart/2005/8/layout/orgChart1"/>
    <dgm:cxn modelId="{3F12B74D-3DB6-4D15-A1F2-D19143FE9E10}" type="presOf" srcId="{626BE4B0-ADE7-497D-AE68-E700121AF8DA}" destId="{4F7CAE9B-608D-4A16-AF4B-12D9CF37E754}" srcOrd="1" destOrd="0" presId="urn:microsoft.com/office/officeart/2005/8/layout/orgChart1"/>
    <dgm:cxn modelId="{DA4DC46E-4BFF-4517-8855-6BDE3095E829}" type="presOf" srcId="{7D5B4CEF-DDFC-4DEB-A3FC-6490D0BE3CF5}" destId="{95904437-7731-4B9F-A2FA-D0C67D73C2A5}" srcOrd="0" destOrd="0" presId="urn:microsoft.com/office/officeart/2005/8/layout/orgChart1"/>
    <dgm:cxn modelId="{D091BA6F-AB55-4BC7-8FAC-C308896F4E6C}" type="presOf" srcId="{FC143739-5AA7-4CEB-A411-76ACBBF13965}" destId="{8A6E1935-B29E-4818-9EE7-995A9627C0AA}" srcOrd="0" destOrd="0" presId="urn:microsoft.com/office/officeart/2005/8/layout/orgChart1"/>
    <dgm:cxn modelId="{0305D66F-8436-4B0E-9D1E-928CD5172189}" type="presOf" srcId="{969278AB-E281-4142-83C5-2B35A51749DF}" destId="{E67A344E-C692-4901-82E7-BD7AB0ECF7A8}" srcOrd="1" destOrd="0" presId="urn:microsoft.com/office/officeart/2005/8/layout/orgChart1"/>
    <dgm:cxn modelId="{271B0670-09FE-405F-B2EB-245D8192178E}" type="presOf" srcId="{47D2D8DA-5E2E-4862-8CD1-154A06277936}" destId="{AC360B85-DCAA-4575-85A6-849D1248A890}" srcOrd="0" destOrd="0" presId="urn:microsoft.com/office/officeart/2005/8/layout/orgChart1"/>
    <dgm:cxn modelId="{BF4ECE74-A2E6-4AF7-A264-A816D23E3CE2}" type="presOf" srcId="{AC0D5A83-EDAC-47AE-BEAC-32CFD6B66A15}" destId="{0FCE7C2C-9DAF-43E3-87C6-3A338E3B5B34}" srcOrd="0" destOrd="0" presId="urn:microsoft.com/office/officeart/2005/8/layout/orgChart1"/>
    <dgm:cxn modelId="{4F734777-FF76-4024-91E0-AB4757424EBD}" type="presOf" srcId="{4BCFEE68-7A59-4CA2-83D5-6EFF0DFD5383}" destId="{2A2C299A-2CFE-4B4F-9C7F-0507AED932C5}" srcOrd="0" destOrd="0" presId="urn:microsoft.com/office/officeart/2005/8/layout/orgChart1"/>
    <dgm:cxn modelId="{D33D7E58-30E2-4FD1-B2BF-92DBC4AE7462}" type="presOf" srcId="{4F29C1B0-BB18-47B6-BEB2-C27B1B5DCADE}" destId="{D2DED6C3-8F28-4D36-9D00-1919F2233E4B}" srcOrd="0" destOrd="0" presId="urn:microsoft.com/office/officeart/2005/8/layout/orgChart1"/>
    <dgm:cxn modelId="{786EB77A-A8C1-4C4B-8B76-CDC04CDBEEC5}" type="presOf" srcId="{B3A20904-8C5D-44CD-8E43-08F4C802E666}" destId="{DADCB8F6-0C43-49AC-A3F9-7224038618AA}" srcOrd="0" destOrd="0" presId="urn:microsoft.com/office/officeart/2005/8/layout/orgChart1"/>
    <dgm:cxn modelId="{5EBC5A7F-DD15-45CE-AA51-F4295D772E17}" srcId="{B6128AC5-35D7-48D8-B9DB-1CA374CF4025}" destId="{7D5B4CEF-DDFC-4DEB-A3FC-6490D0BE3CF5}" srcOrd="0" destOrd="0" parTransId="{E0CF79D0-513D-4D52-B576-396FEAF629E6}" sibTransId="{97E5D1FD-E0E7-4400-961F-581B159D46D1}"/>
    <dgm:cxn modelId="{608D2C80-2826-4F90-A1AA-6DE2EA8023F0}" type="presOf" srcId="{7D5B4CEF-DDFC-4DEB-A3FC-6490D0BE3CF5}" destId="{0A39FF30-9CF4-407C-A6D2-FACEDB5C7AC9}" srcOrd="1" destOrd="0" presId="urn:microsoft.com/office/officeart/2005/8/layout/orgChart1"/>
    <dgm:cxn modelId="{B5A4F280-9C3F-4338-B7C1-9A12A031C513}" type="presOf" srcId="{014386FE-077E-411C-B640-75F1F7CB407E}" destId="{540A1010-52E7-4C3E-8141-B2F7CA200B76}" srcOrd="0" destOrd="0" presId="urn:microsoft.com/office/officeart/2005/8/layout/orgChart1"/>
    <dgm:cxn modelId="{B4CE2582-65DA-426D-8804-44B9BB80B4A1}" type="presOf" srcId="{C2D52AC0-6439-471B-A31D-2A8F2930BC7E}" destId="{8D58BEDA-4771-4C10-9704-91F77C0E856B}" srcOrd="0" destOrd="0" presId="urn:microsoft.com/office/officeart/2005/8/layout/orgChart1"/>
    <dgm:cxn modelId="{00CA3784-B71E-4939-A5E4-00A451F66D26}" srcId="{7AA297D7-BA47-4F4B-AEF2-605E237EB2E4}" destId="{626BE4B0-ADE7-497D-AE68-E700121AF8DA}" srcOrd="1" destOrd="0" parTransId="{8EE1AF7B-76C6-4E60-8211-0E9DC6FD6694}" sibTransId="{7EB803FD-E75B-44FF-B2E1-BD64C03758C4}"/>
    <dgm:cxn modelId="{8B304098-2866-4EBC-B14E-7B9F2B6EABB6}" type="presOf" srcId="{6C340013-0C47-465A-AB84-92BDAC3EA4AA}" destId="{42E5BD68-C45A-4AED-AC29-84D0FD996A08}" srcOrd="0" destOrd="0" presId="urn:microsoft.com/office/officeart/2005/8/layout/orgChart1"/>
    <dgm:cxn modelId="{67D7229C-26A9-429A-912C-D65C241D69E6}" type="presOf" srcId="{FC143739-5AA7-4CEB-A411-76ACBBF13965}" destId="{8B0D7D2A-46F6-40EA-A29F-A1B6F4821019}" srcOrd="1" destOrd="0" presId="urn:microsoft.com/office/officeart/2005/8/layout/orgChart1"/>
    <dgm:cxn modelId="{92D0D9A5-EB83-4EE3-BA2A-471359B0AEA4}" type="presOf" srcId="{3E278B27-AB7A-4109-8332-39075883D964}" destId="{94EED3F7-292B-4A47-8A4A-360F919270DB}" srcOrd="1" destOrd="0" presId="urn:microsoft.com/office/officeart/2005/8/layout/orgChart1"/>
    <dgm:cxn modelId="{4CDA05A8-695E-427B-87AC-70BB04A97AF3}" type="presOf" srcId="{068E622A-1FF1-4D02-88DB-7BB3A3497E8C}" destId="{EDE52A45-BCA8-484C-81B9-B084535DD8BD}" srcOrd="1" destOrd="0" presId="urn:microsoft.com/office/officeart/2005/8/layout/orgChart1"/>
    <dgm:cxn modelId="{FA261AA8-DC7D-48A2-89F1-36EA31C30955}" type="presOf" srcId="{3B61F7B4-E91D-47B0-97F9-740CE1702355}" destId="{20745C55-361D-4294-9227-F09B03C4A0CB}" srcOrd="0" destOrd="0" presId="urn:microsoft.com/office/officeart/2005/8/layout/orgChart1"/>
    <dgm:cxn modelId="{0F51F6AA-71E6-4359-8282-F9025C2205DF}" type="presOf" srcId="{068E622A-1FF1-4D02-88DB-7BB3A3497E8C}" destId="{5B242D67-5459-4666-946B-B477441CFAC1}" srcOrd="0" destOrd="0" presId="urn:microsoft.com/office/officeart/2005/8/layout/orgChart1"/>
    <dgm:cxn modelId="{0F933AAF-20EB-4BD3-A882-E4443FEE7A2C}" srcId="{7AA297D7-BA47-4F4B-AEF2-605E237EB2E4}" destId="{969278AB-E281-4142-83C5-2B35A51749DF}" srcOrd="2" destOrd="0" parTransId="{DEDA258F-FE0C-4453-A42A-1C04C6DC3BB9}" sibTransId="{4B430F2C-6BBB-4D76-B35F-3A590EAC9EF2}"/>
    <dgm:cxn modelId="{FFA266B2-127A-4C46-90E5-FD0CB7884925}" type="presOf" srcId="{008DAC29-0642-4BBB-9239-AAE31A1E6C00}" destId="{AA3E4859-D19F-4FF5-B7AD-A3F7A006D3C7}" srcOrd="0" destOrd="0" presId="urn:microsoft.com/office/officeart/2005/8/layout/orgChart1"/>
    <dgm:cxn modelId="{54823CB4-80F3-4153-A054-D1945998D0B5}" type="presOf" srcId="{BA3E36F5-80B2-44A6-B9A2-EA5D5CFA129C}" destId="{C07E1312-25EE-4862-A9C4-934D5C98129F}" srcOrd="1" destOrd="0" presId="urn:microsoft.com/office/officeart/2005/8/layout/orgChart1"/>
    <dgm:cxn modelId="{64EAE3BB-3731-469D-85D0-9C78FC99D74F}" srcId="{D8E6BBD4-8EDF-4189-A2E7-0CE7E21CE80E}" destId="{FC143739-5AA7-4CEB-A411-76ACBBF13965}" srcOrd="2" destOrd="0" parTransId="{6C340013-0C47-465A-AB84-92BDAC3EA4AA}" sibTransId="{4D6EAEFB-48BD-467A-AF87-5F5423019D15}"/>
    <dgm:cxn modelId="{E9330BBD-ACB9-44EC-B2A8-C69748123FA0}" type="presOf" srcId="{F662803B-4F0C-4462-A3E1-684BBD7BA2E5}" destId="{E83E89CF-03ED-413C-B6E3-CBCA436974EE}" srcOrd="0" destOrd="0" presId="urn:microsoft.com/office/officeart/2005/8/layout/orgChart1"/>
    <dgm:cxn modelId="{8921E0C1-D3AF-4620-AAAC-B4D900DA7D3C}" srcId="{3D03D639-5674-4D1A-A8DD-C66A613E97E2}" destId="{4BCFEE68-7A59-4CA2-83D5-6EFF0DFD5383}" srcOrd="3" destOrd="0" parTransId="{CDB71F1E-560D-4430-B5DA-785002B36F78}" sibTransId="{8660E860-826D-45A0-B5A7-D1206E639179}"/>
    <dgm:cxn modelId="{A31A0CC2-145D-4934-A63D-EC5DEBE0EC90}" type="presOf" srcId="{8EE1AF7B-76C6-4E60-8211-0E9DC6FD6694}" destId="{D6373F02-C9F4-4D31-A837-BE93351DADBB}" srcOrd="0" destOrd="0" presId="urn:microsoft.com/office/officeart/2005/8/layout/orgChart1"/>
    <dgm:cxn modelId="{B41763C2-0B4F-470C-B339-E70524AE7405}" srcId="{D8E6BBD4-8EDF-4189-A2E7-0CE7E21CE80E}" destId="{008DAC29-0642-4BBB-9239-AAE31A1E6C00}" srcOrd="0" destOrd="0" parTransId="{1D0CD90F-1D6C-4F80-9580-E5B10C0E11F0}" sibTransId="{13AD5796-7441-4B9A-9A39-7A3654ED60F7}"/>
    <dgm:cxn modelId="{E5F851C8-24E3-4DC5-A0C1-2CFFE50C6665}" type="presOf" srcId="{3D03D639-5674-4D1A-A8DD-C66A613E97E2}" destId="{A3331DF5-C555-4418-96E5-323ADE7EBDAE}" srcOrd="1" destOrd="0" presId="urn:microsoft.com/office/officeart/2005/8/layout/orgChart1"/>
    <dgm:cxn modelId="{FB847BCF-FC30-4542-9CF8-9A487877957C}" srcId="{F91D330C-ED12-4980-B613-94C6A3CED368}" destId="{3D03D639-5674-4D1A-A8DD-C66A613E97E2}" srcOrd="0" destOrd="0" parTransId="{CDF71903-0DE8-4634-951C-ED02A0FE82C1}" sibTransId="{959174A9-1B67-4118-BF60-92F80DDDA8FB}"/>
    <dgm:cxn modelId="{B1D145D1-21AC-4F3F-87E9-351C812AF76E}" srcId="{B6128AC5-35D7-48D8-B9DB-1CA374CF4025}" destId="{D948E2ED-6EAB-44EF-B6DE-9E2C9D20B04B}" srcOrd="2" destOrd="0" parTransId="{75B5FAF1-6445-4738-B7AF-85B42B0C3564}" sibTransId="{32AAD019-7369-4116-A6E5-3654BF10A4A2}"/>
    <dgm:cxn modelId="{8927E6D1-C265-458E-8654-B68E7022BC41}" type="presOf" srcId="{DEDA258F-FE0C-4453-A42A-1C04C6DC3BB9}" destId="{2BA41681-FD1E-4D29-AFA7-D8DF7BDE47E7}" srcOrd="0" destOrd="0" presId="urn:microsoft.com/office/officeart/2005/8/layout/orgChart1"/>
    <dgm:cxn modelId="{844393D8-C43F-4579-85D1-DCE3A461EEB2}" srcId="{3D03D639-5674-4D1A-A8DD-C66A613E97E2}" destId="{7AA297D7-BA47-4F4B-AEF2-605E237EB2E4}" srcOrd="4" destOrd="0" parTransId="{32DCFEAC-A69A-4721-BF0D-CACA0A937A76}" sibTransId="{837B2A75-0A80-47DE-9857-4BBF519683D2}"/>
    <dgm:cxn modelId="{EFE0ACD9-A0AB-4477-BB21-E2D6A8646FA2}" type="presOf" srcId="{CDB71F1E-560D-4430-B5DA-785002B36F78}" destId="{97B75E5E-B9E8-4739-8D74-311AB1D76F4D}" srcOrd="0" destOrd="0" presId="urn:microsoft.com/office/officeart/2005/8/layout/orgChart1"/>
    <dgm:cxn modelId="{D1182AE1-3BA0-4F65-9EC7-D92FEB78075D}" type="presOf" srcId="{3D03D639-5674-4D1A-A8DD-C66A613E97E2}" destId="{BD34967D-0281-43AE-9542-24F89F4E3B98}" srcOrd="0" destOrd="0" presId="urn:microsoft.com/office/officeart/2005/8/layout/orgChart1"/>
    <dgm:cxn modelId="{DAD951E2-FC41-404E-B99A-5C7BF38FE340}" srcId="{4BCFEE68-7A59-4CA2-83D5-6EFF0DFD5383}" destId="{47D2D8DA-5E2E-4862-8CD1-154A06277936}" srcOrd="1" destOrd="0" parTransId="{3B61F7B4-E91D-47B0-97F9-740CE1702355}" sibTransId="{F20ACBA8-D806-4C92-8A31-C12263F817E7}"/>
    <dgm:cxn modelId="{180760E5-7B45-4AC6-A086-DBBFE11BFA44}" srcId="{B6128AC5-35D7-48D8-B9DB-1CA374CF4025}" destId="{9CFC34C8-23DF-4281-A5E0-92A6DC80522A}" srcOrd="1" destOrd="0" parTransId="{C58EDE16-5F87-49C7-820C-BDB43099A29A}" sibTransId="{9D77AB24-93DC-4547-AF46-71F056AFF34C}"/>
    <dgm:cxn modelId="{4B76AEE6-CA99-4437-A25A-53A3F638A033}" type="presOf" srcId="{D8E6BBD4-8EDF-4189-A2E7-0CE7E21CE80E}" destId="{AF9E1097-65B2-4D6B-8591-EBB08AC6D7AA}" srcOrd="1" destOrd="0" presId="urn:microsoft.com/office/officeart/2005/8/layout/orgChart1"/>
    <dgm:cxn modelId="{29B96EEE-8C02-4DD6-9A9E-EA8A891E1512}" type="presOf" srcId="{3E278B27-AB7A-4109-8332-39075883D964}" destId="{E455403A-144A-41B7-B9E9-D923552577DE}" srcOrd="0" destOrd="0" presId="urn:microsoft.com/office/officeart/2005/8/layout/orgChart1"/>
    <dgm:cxn modelId="{725580EE-576B-48E8-9B98-4D4A80EBD74A}" type="presOf" srcId="{9CFC34C8-23DF-4281-A5E0-92A6DC80522A}" destId="{0EAE0069-0DF8-4563-B2AE-B001CEBE80CA}" srcOrd="0" destOrd="0" presId="urn:microsoft.com/office/officeart/2005/8/layout/orgChart1"/>
    <dgm:cxn modelId="{4BEC89EF-E8A9-4BE1-971E-A2B0648060C7}" type="presOf" srcId="{F91D330C-ED12-4980-B613-94C6A3CED368}" destId="{EA1EF57C-DB25-4CEE-B98D-EDC7D2E50D9E}" srcOrd="0" destOrd="0" presId="urn:microsoft.com/office/officeart/2005/8/layout/orgChart1"/>
    <dgm:cxn modelId="{1A0AD8FA-F9C5-4C82-AE93-6620BB0182B3}" type="presOf" srcId="{75B5FAF1-6445-4738-B7AF-85B42B0C3564}" destId="{684EC187-4DF3-4C50-A016-91E7845BAFA8}" srcOrd="0" destOrd="0" presId="urn:microsoft.com/office/officeart/2005/8/layout/orgChart1"/>
    <dgm:cxn modelId="{53A931FD-FEFD-4E59-A33D-88C46776D5C2}" srcId="{3D03D639-5674-4D1A-A8DD-C66A613E97E2}" destId="{D8E6BBD4-8EDF-4189-A2E7-0CE7E21CE80E}" srcOrd="1" destOrd="0" parTransId="{AC0D5A83-EDAC-47AE-BEAC-32CFD6B66A15}" sibTransId="{8591A20B-7338-4ED0-8744-C1EFEA51FA10}"/>
    <dgm:cxn modelId="{249A6F79-7751-4342-A699-9C81F6046947}" type="presParOf" srcId="{EA1EF57C-DB25-4CEE-B98D-EDC7D2E50D9E}" destId="{479A520F-62EE-4D99-85CD-99C976E7B8F8}" srcOrd="0" destOrd="0" presId="urn:microsoft.com/office/officeart/2005/8/layout/orgChart1"/>
    <dgm:cxn modelId="{9CE8E9A9-DDEF-4D5C-993A-B7FC38C890C9}" type="presParOf" srcId="{479A520F-62EE-4D99-85CD-99C976E7B8F8}" destId="{C387BBD1-27E7-42B7-A3DD-24EC3E86D746}" srcOrd="0" destOrd="0" presId="urn:microsoft.com/office/officeart/2005/8/layout/orgChart1"/>
    <dgm:cxn modelId="{4992D225-334D-407B-A43B-267F15EE08B1}" type="presParOf" srcId="{C387BBD1-27E7-42B7-A3DD-24EC3E86D746}" destId="{BD34967D-0281-43AE-9542-24F89F4E3B98}" srcOrd="0" destOrd="0" presId="urn:microsoft.com/office/officeart/2005/8/layout/orgChart1"/>
    <dgm:cxn modelId="{0C63B340-FA0F-4287-93EE-8CC02B67BF90}" type="presParOf" srcId="{C387BBD1-27E7-42B7-A3DD-24EC3E86D746}" destId="{A3331DF5-C555-4418-96E5-323ADE7EBDAE}" srcOrd="1" destOrd="0" presId="urn:microsoft.com/office/officeart/2005/8/layout/orgChart1"/>
    <dgm:cxn modelId="{0162756D-64AA-4AC6-8F45-9B0BD1404119}" type="presParOf" srcId="{479A520F-62EE-4D99-85CD-99C976E7B8F8}" destId="{6D07C064-E3A7-4B57-9D2D-A9A3DE557A9D}" srcOrd="1" destOrd="0" presId="urn:microsoft.com/office/officeart/2005/8/layout/orgChart1"/>
    <dgm:cxn modelId="{E7569B3B-5761-4082-B279-DF7B0484E74C}" type="presParOf" srcId="{6D07C064-E3A7-4B57-9D2D-A9A3DE557A9D}" destId="{F0DC2531-ADC9-4983-8184-380395184975}" srcOrd="0" destOrd="0" presId="urn:microsoft.com/office/officeart/2005/8/layout/orgChart1"/>
    <dgm:cxn modelId="{A1B02E28-4C21-41CA-9E86-E4ACDC672D3D}" type="presParOf" srcId="{6D07C064-E3A7-4B57-9D2D-A9A3DE557A9D}" destId="{735238B6-EADB-40E1-AB03-0A409CFAA392}" srcOrd="1" destOrd="0" presId="urn:microsoft.com/office/officeart/2005/8/layout/orgChart1"/>
    <dgm:cxn modelId="{AA2F2FE1-D37D-4CD6-9EB0-4C3C8DC017F1}" type="presParOf" srcId="{735238B6-EADB-40E1-AB03-0A409CFAA392}" destId="{955F6F78-15AC-46FA-A853-A17AF4EC0D62}" srcOrd="0" destOrd="0" presId="urn:microsoft.com/office/officeart/2005/8/layout/orgChart1"/>
    <dgm:cxn modelId="{259285A4-9E60-47AB-8F32-64E2B8186FBC}" type="presParOf" srcId="{955F6F78-15AC-46FA-A853-A17AF4EC0D62}" destId="{F53A27FE-3CC5-4950-A822-6FB0F39CEC60}" srcOrd="0" destOrd="0" presId="urn:microsoft.com/office/officeart/2005/8/layout/orgChart1"/>
    <dgm:cxn modelId="{9D5A910E-CBB1-4A59-AD0C-B48A2ABBB661}" type="presParOf" srcId="{955F6F78-15AC-46FA-A853-A17AF4EC0D62}" destId="{523B1955-0D67-45A4-8461-5EE5C371D4ED}" srcOrd="1" destOrd="0" presId="urn:microsoft.com/office/officeart/2005/8/layout/orgChart1"/>
    <dgm:cxn modelId="{22F48B9E-3F92-4A0F-B17E-C95C3732982C}" type="presParOf" srcId="{735238B6-EADB-40E1-AB03-0A409CFAA392}" destId="{502EB389-829F-491A-8921-55389F87BC3F}" srcOrd="1" destOrd="0" presId="urn:microsoft.com/office/officeart/2005/8/layout/orgChart1"/>
    <dgm:cxn modelId="{F90A6ECF-B34F-47D2-8F76-7AE74770D94C}" type="presParOf" srcId="{502EB389-829F-491A-8921-55389F87BC3F}" destId="{F9C76D78-CCDE-4654-8A9C-1194521D7B3D}" srcOrd="0" destOrd="0" presId="urn:microsoft.com/office/officeart/2005/8/layout/orgChart1"/>
    <dgm:cxn modelId="{C0C91746-A2A3-4C5A-9739-3874F01BC25B}" type="presParOf" srcId="{502EB389-829F-491A-8921-55389F87BC3F}" destId="{948820F6-4EA5-4981-B560-B8A18D4B37B6}" srcOrd="1" destOrd="0" presId="urn:microsoft.com/office/officeart/2005/8/layout/orgChart1"/>
    <dgm:cxn modelId="{9647A653-7EC0-4393-8185-D3B35DDB0239}" type="presParOf" srcId="{948820F6-4EA5-4981-B560-B8A18D4B37B6}" destId="{929D1EA3-97C2-4887-B3A5-B453026D558C}" srcOrd="0" destOrd="0" presId="urn:microsoft.com/office/officeart/2005/8/layout/orgChart1"/>
    <dgm:cxn modelId="{5A0A028F-667F-414D-BEF2-DDA7051A124C}" type="presParOf" srcId="{929D1EA3-97C2-4887-B3A5-B453026D558C}" destId="{95904437-7731-4B9F-A2FA-D0C67D73C2A5}" srcOrd="0" destOrd="0" presId="urn:microsoft.com/office/officeart/2005/8/layout/orgChart1"/>
    <dgm:cxn modelId="{134079A5-2D1E-4747-AFD9-909C60748051}" type="presParOf" srcId="{929D1EA3-97C2-4887-B3A5-B453026D558C}" destId="{0A39FF30-9CF4-407C-A6D2-FACEDB5C7AC9}" srcOrd="1" destOrd="0" presId="urn:microsoft.com/office/officeart/2005/8/layout/orgChart1"/>
    <dgm:cxn modelId="{DA31E7BF-70B3-4898-B8C7-C53639809337}" type="presParOf" srcId="{948820F6-4EA5-4981-B560-B8A18D4B37B6}" destId="{E7BF37EE-2A58-432B-B76C-42C2760D268C}" srcOrd="1" destOrd="0" presId="urn:microsoft.com/office/officeart/2005/8/layout/orgChart1"/>
    <dgm:cxn modelId="{6D8803BF-8558-4630-82B1-3759A110B441}" type="presParOf" srcId="{948820F6-4EA5-4981-B560-B8A18D4B37B6}" destId="{DBDE9263-6E40-49CB-BA91-A9C134FE048B}" srcOrd="2" destOrd="0" presId="urn:microsoft.com/office/officeart/2005/8/layout/orgChart1"/>
    <dgm:cxn modelId="{70398E2D-E7F6-4513-B1CC-686CF4C0425D}" type="presParOf" srcId="{502EB389-829F-491A-8921-55389F87BC3F}" destId="{0A282FD3-F170-4755-9E7D-A04AE0224C8A}" srcOrd="2" destOrd="0" presId="urn:microsoft.com/office/officeart/2005/8/layout/orgChart1"/>
    <dgm:cxn modelId="{0EA7A601-58BD-4FEE-95DC-8A07999875EF}" type="presParOf" srcId="{502EB389-829F-491A-8921-55389F87BC3F}" destId="{F57F5CCC-D622-48EB-AD4C-40DA81C8B0D3}" srcOrd="3" destOrd="0" presId="urn:microsoft.com/office/officeart/2005/8/layout/orgChart1"/>
    <dgm:cxn modelId="{AB17A6E3-C167-40C1-A535-2B6810CBD587}" type="presParOf" srcId="{F57F5CCC-D622-48EB-AD4C-40DA81C8B0D3}" destId="{0B91F339-3B4E-4393-9D13-3F2A95F45689}" srcOrd="0" destOrd="0" presId="urn:microsoft.com/office/officeart/2005/8/layout/orgChart1"/>
    <dgm:cxn modelId="{496EE281-1073-4F98-9600-46DA90DB0975}" type="presParOf" srcId="{0B91F339-3B4E-4393-9D13-3F2A95F45689}" destId="{0EAE0069-0DF8-4563-B2AE-B001CEBE80CA}" srcOrd="0" destOrd="0" presId="urn:microsoft.com/office/officeart/2005/8/layout/orgChart1"/>
    <dgm:cxn modelId="{EDFF029F-99B6-4A2B-AC8F-50135DA50962}" type="presParOf" srcId="{0B91F339-3B4E-4393-9D13-3F2A95F45689}" destId="{574DE9CE-A882-467E-A621-CF2F08709727}" srcOrd="1" destOrd="0" presId="urn:microsoft.com/office/officeart/2005/8/layout/orgChart1"/>
    <dgm:cxn modelId="{8026AFF3-78C1-4DDB-9AC7-4E503BDBD7B1}" type="presParOf" srcId="{F57F5CCC-D622-48EB-AD4C-40DA81C8B0D3}" destId="{50AD6083-7368-42C5-8642-C7E09DC55AF7}" srcOrd="1" destOrd="0" presId="urn:microsoft.com/office/officeart/2005/8/layout/orgChart1"/>
    <dgm:cxn modelId="{60AF87FB-EC14-4724-8A22-CB7718A6C367}" type="presParOf" srcId="{F57F5CCC-D622-48EB-AD4C-40DA81C8B0D3}" destId="{E215D788-3DE5-4C40-8E49-4EE2CED7F62D}" srcOrd="2" destOrd="0" presId="urn:microsoft.com/office/officeart/2005/8/layout/orgChart1"/>
    <dgm:cxn modelId="{9DD1BB3A-4FDE-4EE1-A21F-C527E1F55BCC}" type="presParOf" srcId="{502EB389-829F-491A-8921-55389F87BC3F}" destId="{684EC187-4DF3-4C50-A016-91E7845BAFA8}" srcOrd="4" destOrd="0" presId="urn:microsoft.com/office/officeart/2005/8/layout/orgChart1"/>
    <dgm:cxn modelId="{0B4E9935-219F-40EF-9FAC-59A6351176F4}" type="presParOf" srcId="{502EB389-829F-491A-8921-55389F87BC3F}" destId="{81E6ABCC-B68C-481A-BAF2-3EEA8A13737B}" srcOrd="5" destOrd="0" presId="urn:microsoft.com/office/officeart/2005/8/layout/orgChart1"/>
    <dgm:cxn modelId="{B1DFA704-1FEE-4E19-8327-66E7D3503464}" type="presParOf" srcId="{81E6ABCC-B68C-481A-BAF2-3EEA8A13737B}" destId="{AB5983A7-5083-4C97-A361-90B1F6E80855}" srcOrd="0" destOrd="0" presId="urn:microsoft.com/office/officeart/2005/8/layout/orgChart1"/>
    <dgm:cxn modelId="{44C961B7-D184-4FA2-B141-126FB4D67991}" type="presParOf" srcId="{AB5983A7-5083-4C97-A361-90B1F6E80855}" destId="{D33D91A4-A7E8-4238-8122-A4B3A6F02168}" srcOrd="0" destOrd="0" presId="urn:microsoft.com/office/officeart/2005/8/layout/orgChart1"/>
    <dgm:cxn modelId="{F35D208F-3241-446E-8F0D-1DD1A1CE8CF8}" type="presParOf" srcId="{AB5983A7-5083-4C97-A361-90B1F6E80855}" destId="{CB13EF03-1055-48EC-A810-EF5350E7D152}" srcOrd="1" destOrd="0" presId="urn:microsoft.com/office/officeart/2005/8/layout/orgChart1"/>
    <dgm:cxn modelId="{092C4604-FC61-4DAA-AAB1-FA2B443FE598}" type="presParOf" srcId="{81E6ABCC-B68C-481A-BAF2-3EEA8A13737B}" destId="{6004F06C-9832-44C3-BE60-3BE3428F2E0F}" srcOrd="1" destOrd="0" presId="urn:microsoft.com/office/officeart/2005/8/layout/orgChart1"/>
    <dgm:cxn modelId="{5822F1AA-72EC-424A-97AA-38C80CE57C27}" type="presParOf" srcId="{81E6ABCC-B68C-481A-BAF2-3EEA8A13737B}" destId="{915EFD7C-BEE0-402E-801C-91CE0F5BE0BB}" srcOrd="2" destOrd="0" presId="urn:microsoft.com/office/officeart/2005/8/layout/orgChart1"/>
    <dgm:cxn modelId="{F70FF9E0-19FD-4C01-AB40-621DF8D1D8FA}" type="presParOf" srcId="{502EB389-829F-491A-8921-55389F87BC3F}" destId="{8D58BEDA-4771-4C10-9704-91F77C0E856B}" srcOrd="6" destOrd="0" presId="urn:microsoft.com/office/officeart/2005/8/layout/orgChart1"/>
    <dgm:cxn modelId="{68C6BF3B-1EFC-48C2-9DA1-1C221BADB52B}" type="presParOf" srcId="{502EB389-829F-491A-8921-55389F87BC3F}" destId="{4EF99288-46F0-491A-9433-F2A3F3EF862C}" srcOrd="7" destOrd="0" presId="urn:microsoft.com/office/officeart/2005/8/layout/orgChart1"/>
    <dgm:cxn modelId="{324C53DD-7827-4F1C-B27D-BDA79AE6174C}" type="presParOf" srcId="{4EF99288-46F0-491A-9433-F2A3F3EF862C}" destId="{92EE00D9-C8E8-41FC-BC27-476400C6C34B}" srcOrd="0" destOrd="0" presId="urn:microsoft.com/office/officeart/2005/8/layout/orgChart1"/>
    <dgm:cxn modelId="{95DEFDC7-15D5-4E6C-A3FD-A929A463E642}" type="presParOf" srcId="{92EE00D9-C8E8-41FC-BC27-476400C6C34B}" destId="{E455403A-144A-41B7-B9E9-D923552577DE}" srcOrd="0" destOrd="0" presId="urn:microsoft.com/office/officeart/2005/8/layout/orgChart1"/>
    <dgm:cxn modelId="{91F35D96-2885-43A6-8416-E3CE63D585EB}" type="presParOf" srcId="{92EE00D9-C8E8-41FC-BC27-476400C6C34B}" destId="{94EED3F7-292B-4A47-8A4A-360F919270DB}" srcOrd="1" destOrd="0" presId="urn:microsoft.com/office/officeart/2005/8/layout/orgChart1"/>
    <dgm:cxn modelId="{5D52A1B3-5785-45B5-9EF0-387035BEBAE8}" type="presParOf" srcId="{4EF99288-46F0-491A-9433-F2A3F3EF862C}" destId="{A9F7C19B-E6A2-459A-AE73-933988F248CF}" srcOrd="1" destOrd="0" presId="urn:microsoft.com/office/officeart/2005/8/layout/orgChart1"/>
    <dgm:cxn modelId="{F87CD4A6-30CA-41AE-A327-D80B64776E64}" type="presParOf" srcId="{4EF99288-46F0-491A-9433-F2A3F3EF862C}" destId="{D3BDC28A-6442-455A-9287-078C02F33723}" srcOrd="2" destOrd="0" presId="urn:microsoft.com/office/officeart/2005/8/layout/orgChart1"/>
    <dgm:cxn modelId="{7D1EA9C1-A776-4D15-8FC9-785563315672}" type="presParOf" srcId="{502EB389-829F-491A-8921-55389F87BC3F}" destId="{56088892-DB4E-4632-8E75-D0E7B17A7700}" srcOrd="8" destOrd="0" presId="urn:microsoft.com/office/officeart/2005/8/layout/orgChart1"/>
    <dgm:cxn modelId="{B37760CD-3DD8-4CD6-B932-2367BFE77754}" type="presParOf" srcId="{502EB389-829F-491A-8921-55389F87BC3F}" destId="{1315C105-AAAB-4639-93DE-224A24FF8B55}" srcOrd="9" destOrd="0" presId="urn:microsoft.com/office/officeart/2005/8/layout/orgChart1"/>
    <dgm:cxn modelId="{B9A02D19-D1A9-47F7-96AA-59CE57A31DCB}" type="presParOf" srcId="{1315C105-AAAB-4639-93DE-224A24FF8B55}" destId="{83198B8D-AA06-4F36-9351-1D8B95BFB9E3}" srcOrd="0" destOrd="0" presId="urn:microsoft.com/office/officeart/2005/8/layout/orgChart1"/>
    <dgm:cxn modelId="{13024A18-B2E9-43B8-8715-3E6E99690823}" type="presParOf" srcId="{83198B8D-AA06-4F36-9351-1D8B95BFB9E3}" destId="{5B242D67-5459-4666-946B-B477441CFAC1}" srcOrd="0" destOrd="0" presId="urn:microsoft.com/office/officeart/2005/8/layout/orgChart1"/>
    <dgm:cxn modelId="{ABAEBDD1-A513-4F1A-A9BA-7198D33F36B9}" type="presParOf" srcId="{83198B8D-AA06-4F36-9351-1D8B95BFB9E3}" destId="{EDE52A45-BCA8-484C-81B9-B084535DD8BD}" srcOrd="1" destOrd="0" presId="urn:microsoft.com/office/officeart/2005/8/layout/orgChart1"/>
    <dgm:cxn modelId="{A7561339-C6D5-4414-AE68-B2012CD21A3C}" type="presParOf" srcId="{1315C105-AAAB-4639-93DE-224A24FF8B55}" destId="{4D195674-C848-4D60-B340-24BFCCA7D52E}" srcOrd="1" destOrd="0" presId="urn:microsoft.com/office/officeart/2005/8/layout/orgChart1"/>
    <dgm:cxn modelId="{DA27F633-F0BD-432A-90CF-33753BC8E575}" type="presParOf" srcId="{1315C105-AAAB-4639-93DE-224A24FF8B55}" destId="{BDBE1950-E5A5-4FD1-AA88-E80166BE755D}" srcOrd="2" destOrd="0" presId="urn:microsoft.com/office/officeart/2005/8/layout/orgChart1"/>
    <dgm:cxn modelId="{B163BB51-989A-45F8-836E-6F991854B36E}" type="presParOf" srcId="{735238B6-EADB-40E1-AB03-0A409CFAA392}" destId="{6B115A59-8009-4CBF-8B0D-8D07450C806E}" srcOrd="2" destOrd="0" presId="urn:microsoft.com/office/officeart/2005/8/layout/orgChart1"/>
    <dgm:cxn modelId="{0485E7EA-F27D-49BD-B59F-B761272CCC2B}" type="presParOf" srcId="{6D07C064-E3A7-4B57-9D2D-A9A3DE557A9D}" destId="{0FCE7C2C-9DAF-43E3-87C6-3A338E3B5B34}" srcOrd="2" destOrd="0" presId="urn:microsoft.com/office/officeart/2005/8/layout/orgChart1"/>
    <dgm:cxn modelId="{465AD394-ED7E-4570-99A7-15D711BC6C99}" type="presParOf" srcId="{6D07C064-E3A7-4B57-9D2D-A9A3DE557A9D}" destId="{6A780E47-459C-4863-A78E-CBA425B0CE51}" srcOrd="3" destOrd="0" presId="urn:microsoft.com/office/officeart/2005/8/layout/orgChart1"/>
    <dgm:cxn modelId="{268B4A3E-E440-4700-A925-89D528F91260}" type="presParOf" srcId="{6A780E47-459C-4863-A78E-CBA425B0CE51}" destId="{F8A7DB32-B2B4-48D5-AC4B-2D8504BEB6B0}" srcOrd="0" destOrd="0" presId="urn:microsoft.com/office/officeart/2005/8/layout/orgChart1"/>
    <dgm:cxn modelId="{D0DC0393-8205-43D8-854B-E5131C9B4CA3}" type="presParOf" srcId="{F8A7DB32-B2B4-48D5-AC4B-2D8504BEB6B0}" destId="{7FD41C00-A0F8-4C56-9C91-B5A19FEDCEAF}" srcOrd="0" destOrd="0" presId="urn:microsoft.com/office/officeart/2005/8/layout/orgChart1"/>
    <dgm:cxn modelId="{9DE0EFC6-D07B-42F6-9DBC-339FC99B2806}" type="presParOf" srcId="{F8A7DB32-B2B4-48D5-AC4B-2D8504BEB6B0}" destId="{AF9E1097-65B2-4D6B-8591-EBB08AC6D7AA}" srcOrd="1" destOrd="0" presId="urn:microsoft.com/office/officeart/2005/8/layout/orgChart1"/>
    <dgm:cxn modelId="{45D78D55-604F-4991-8B37-BC58C1BA0840}" type="presParOf" srcId="{6A780E47-459C-4863-A78E-CBA425B0CE51}" destId="{B3A86943-F0F2-450F-847C-995195E5EB57}" srcOrd="1" destOrd="0" presId="urn:microsoft.com/office/officeart/2005/8/layout/orgChart1"/>
    <dgm:cxn modelId="{369F3EA6-EF93-45CB-B704-C1043B8686F7}" type="presParOf" srcId="{B3A86943-F0F2-450F-847C-995195E5EB57}" destId="{767AC060-AF69-4FC9-B059-D0D08A5C357C}" srcOrd="0" destOrd="0" presId="urn:microsoft.com/office/officeart/2005/8/layout/orgChart1"/>
    <dgm:cxn modelId="{708E4B98-7E1B-453B-9E2A-3C9F2FD98D5F}" type="presParOf" srcId="{B3A86943-F0F2-450F-847C-995195E5EB57}" destId="{A4781376-3FF2-4A91-9D9C-30133DE35B40}" srcOrd="1" destOrd="0" presId="urn:microsoft.com/office/officeart/2005/8/layout/orgChart1"/>
    <dgm:cxn modelId="{6285990E-AE8D-402E-9B10-425864C8EB53}" type="presParOf" srcId="{A4781376-3FF2-4A91-9D9C-30133DE35B40}" destId="{BB47DE10-9FA6-4284-9EEE-12BDA8AA8155}" srcOrd="0" destOrd="0" presId="urn:microsoft.com/office/officeart/2005/8/layout/orgChart1"/>
    <dgm:cxn modelId="{997A139B-F712-421E-A63C-B6ABBF2EDA59}" type="presParOf" srcId="{BB47DE10-9FA6-4284-9EEE-12BDA8AA8155}" destId="{AA3E4859-D19F-4FF5-B7AD-A3F7A006D3C7}" srcOrd="0" destOrd="0" presId="urn:microsoft.com/office/officeart/2005/8/layout/orgChart1"/>
    <dgm:cxn modelId="{DCCAFB68-C665-4C88-8FFF-91B49727AEB0}" type="presParOf" srcId="{BB47DE10-9FA6-4284-9EEE-12BDA8AA8155}" destId="{75F4BA03-3FE9-49FA-8450-8D3C9555547D}" srcOrd="1" destOrd="0" presId="urn:microsoft.com/office/officeart/2005/8/layout/orgChart1"/>
    <dgm:cxn modelId="{BD165630-734D-4D5C-B1CA-5FBE645926DA}" type="presParOf" srcId="{A4781376-3FF2-4A91-9D9C-30133DE35B40}" destId="{50DDD20B-C1D3-4BA5-9DEB-A4A8D94CAB2D}" srcOrd="1" destOrd="0" presId="urn:microsoft.com/office/officeart/2005/8/layout/orgChart1"/>
    <dgm:cxn modelId="{97FFFCF0-95AF-45C0-B0EC-B5E7753E3834}" type="presParOf" srcId="{A4781376-3FF2-4A91-9D9C-30133DE35B40}" destId="{19923A56-C82A-4E24-B4A8-4EDCFDEE5E8A}" srcOrd="2" destOrd="0" presId="urn:microsoft.com/office/officeart/2005/8/layout/orgChart1"/>
    <dgm:cxn modelId="{A616C6E0-7157-45BB-8F54-14448C9AD6FC}" type="presParOf" srcId="{B3A86943-F0F2-450F-847C-995195E5EB57}" destId="{DADCB8F6-0C43-49AC-A3F9-7224038618AA}" srcOrd="2" destOrd="0" presId="urn:microsoft.com/office/officeart/2005/8/layout/orgChart1"/>
    <dgm:cxn modelId="{215B7BC0-86C4-4751-A3E6-E31C8D1AA80F}" type="presParOf" srcId="{B3A86943-F0F2-450F-847C-995195E5EB57}" destId="{3BBBCA87-C725-4EA7-8881-28CE81C24004}" srcOrd="3" destOrd="0" presId="urn:microsoft.com/office/officeart/2005/8/layout/orgChart1"/>
    <dgm:cxn modelId="{AC89C984-C616-4B8B-95B1-FBA373DC1519}" type="presParOf" srcId="{3BBBCA87-C725-4EA7-8881-28CE81C24004}" destId="{EE54F51F-BB3F-40E6-9768-730A6E45B1DC}" srcOrd="0" destOrd="0" presId="urn:microsoft.com/office/officeart/2005/8/layout/orgChart1"/>
    <dgm:cxn modelId="{1EAC2862-43FD-446F-AE69-8E10B5FCF19B}" type="presParOf" srcId="{EE54F51F-BB3F-40E6-9768-730A6E45B1DC}" destId="{DE054E5F-DEA2-47EA-9CB7-C2667AF09C9F}" srcOrd="0" destOrd="0" presId="urn:microsoft.com/office/officeart/2005/8/layout/orgChart1"/>
    <dgm:cxn modelId="{C97E042A-A8E8-458E-9076-B9B715C03651}" type="presParOf" srcId="{EE54F51F-BB3F-40E6-9768-730A6E45B1DC}" destId="{16801265-8464-4CA2-B0DF-23720080A2C7}" srcOrd="1" destOrd="0" presId="urn:microsoft.com/office/officeart/2005/8/layout/orgChart1"/>
    <dgm:cxn modelId="{E745D678-31F2-4FF2-8D5C-D9D61909DAF9}" type="presParOf" srcId="{3BBBCA87-C725-4EA7-8881-28CE81C24004}" destId="{65B423E1-78E2-45CB-BFFD-6E3A37343F99}" srcOrd="1" destOrd="0" presId="urn:microsoft.com/office/officeart/2005/8/layout/orgChart1"/>
    <dgm:cxn modelId="{5B885423-09FE-4879-BE20-D7EC0CCE1730}" type="presParOf" srcId="{3BBBCA87-C725-4EA7-8881-28CE81C24004}" destId="{D61877DB-DEA6-493D-9762-713FC11C2EF4}" srcOrd="2" destOrd="0" presId="urn:microsoft.com/office/officeart/2005/8/layout/orgChart1"/>
    <dgm:cxn modelId="{8C83326B-E1C1-4CE7-BDCB-F3D0F5291841}" type="presParOf" srcId="{B3A86943-F0F2-450F-847C-995195E5EB57}" destId="{42E5BD68-C45A-4AED-AC29-84D0FD996A08}" srcOrd="4" destOrd="0" presId="urn:microsoft.com/office/officeart/2005/8/layout/orgChart1"/>
    <dgm:cxn modelId="{CD32EFCA-6C48-4111-902E-C08F00404951}" type="presParOf" srcId="{B3A86943-F0F2-450F-847C-995195E5EB57}" destId="{BF193972-0411-4F7C-A517-9C8F73547E20}" srcOrd="5" destOrd="0" presId="urn:microsoft.com/office/officeart/2005/8/layout/orgChart1"/>
    <dgm:cxn modelId="{EDA0B0F6-D9FF-434F-B3F5-EF326C0DA809}" type="presParOf" srcId="{BF193972-0411-4F7C-A517-9C8F73547E20}" destId="{EDD510DD-501C-4A3E-BF4C-AD044D1D40D5}" srcOrd="0" destOrd="0" presId="urn:microsoft.com/office/officeart/2005/8/layout/orgChart1"/>
    <dgm:cxn modelId="{79508431-8202-4024-8319-C89FC9F23F9E}" type="presParOf" srcId="{EDD510DD-501C-4A3E-BF4C-AD044D1D40D5}" destId="{8A6E1935-B29E-4818-9EE7-995A9627C0AA}" srcOrd="0" destOrd="0" presId="urn:microsoft.com/office/officeart/2005/8/layout/orgChart1"/>
    <dgm:cxn modelId="{0AE83124-7654-4414-BFD1-23B775B65FC3}" type="presParOf" srcId="{EDD510DD-501C-4A3E-BF4C-AD044D1D40D5}" destId="{8B0D7D2A-46F6-40EA-A29F-A1B6F4821019}" srcOrd="1" destOrd="0" presId="urn:microsoft.com/office/officeart/2005/8/layout/orgChart1"/>
    <dgm:cxn modelId="{3F41C78C-C74E-4AD3-835E-0A49FFC443DA}" type="presParOf" srcId="{BF193972-0411-4F7C-A517-9C8F73547E20}" destId="{81454D17-71EE-4BF9-905F-6A06A0460CE8}" srcOrd="1" destOrd="0" presId="urn:microsoft.com/office/officeart/2005/8/layout/orgChart1"/>
    <dgm:cxn modelId="{038BE7AF-AFC3-4C34-8908-88C7E1621565}" type="presParOf" srcId="{BF193972-0411-4F7C-A517-9C8F73547E20}" destId="{C1014142-0CA6-457C-B760-98508DB50F7D}" srcOrd="2" destOrd="0" presId="urn:microsoft.com/office/officeart/2005/8/layout/orgChart1"/>
    <dgm:cxn modelId="{5FEE76CF-0F1F-4926-8ED2-649782A0E2C3}" type="presParOf" srcId="{6A780E47-459C-4863-A78E-CBA425B0CE51}" destId="{D7A6457C-2FA1-4334-8D36-6626D5A4EECD}" srcOrd="2" destOrd="0" presId="urn:microsoft.com/office/officeart/2005/8/layout/orgChart1"/>
    <dgm:cxn modelId="{6A842E2B-4D47-4272-9FDC-EFFCA0CD7BB7}" type="presParOf" srcId="{6D07C064-E3A7-4B57-9D2D-A9A3DE557A9D}" destId="{540A1010-52E7-4C3E-8141-B2F7CA200B76}" srcOrd="4" destOrd="0" presId="urn:microsoft.com/office/officeart/2005/8/layout/orgChart1"/>
    <dgm:cxn modelId="{BFAC730F-466A-417B-BAEC-2BEE455BC727}" type="presParOf" srcId="{6D07C064-E3A7-4B57-9D2D-A9A3DE557A9D}" destId="{B1E7466D-E2F3-477F-9110-0771198D1498}" srcOrd="5" destOrd="0" presId="urn:microsoft.com/office/officeart/2005/8/layout/orgChart1"/>
    <dgm:cxn modelId="{51F629B2-62A6-4CAC-9B9F-2B7EF74EBBDC}" type="presParOf" srcId="{B1E7466D-E2F3-477F-9110-0771198D1498}" destId="{8B14E390-9A95-47B7-A703-EC10387E8293}" srcOrd="0" destOrd="0" presId="urn:microsoft.com/office/officeart/2005/8/layout/orgChart1"/>
    <dgm:cxn modelId="{9FE0985D-246C-4B4E-8C96-B06D17E50B7F}" type="presParOf" srcId="{8B14E390-9A95-47B7-A703-EC10387E8293}" destId="{D2DED6C3-8F28-4D36-9D00-1919F2233E4B}" srcOrd="0" destOrd="0" presId="urn:microsoft.com/office/officeart/2005/8/layout/orgChart1"/>
    <dgm:cxn modelId="{61247307-DADD-43EC-938F-891893476E41}" type="presParOf" srcId="{8B14E390-9A95-47B7-A703-EC10387E8293}" destId="{D57FF404-1C5F-40B0-93F7-0A75BC32C4E9}" srcOrd="1" destOrd="0" presId="urn:microsoft.com/office/officeart/2005/8/layout/orgChart1"/>
    <dgm:cxn modelId="{239B8EB6-0584-4B81-BBB3-AACB9DF92D1D}" type="presParOf" srcId="{B1E7466D-E2F3-477F-9110-0771198D1498}" destId="{9B1C09EC-2CBB-4F0C-A5FE-DE49070F6B36}" srcOrd="1" destOrd="0" presId="urn:microsoft.com/office/officeart/2005/8/layout/orgChart1"/>
    <dgm:cxn modelId="{F8144006-24A5-47C5-8680-A26E9CFAFD3E}" type="presParOf" srcId="{9B1C09EC-2CBB-4F0C-A5FE-DE49070F6B36}" destId="{CAA747B4-70EF-483A-BF12-8D44B0591C13}" srcOrd="0" destOrd="0" presId="urn:microsoft.com/office/officeart/2005/8/layout/orgChart1"/>
    <dgm:cxn modelId="{FCF12B19-2E4F-4DAC-BE8E-AB30C0AC1B0F}" type="presParOf" srcId="{9B1C09EC-2CBB-4F0C-A5FE-DE49070F6B36}" destId="{4EBCD200-951A-493D-BF93-783A92BDAA4A}" srcOrd="1" destOrd="0" presId="urn:microsoft.com/office/officeart/2005/8/layout/orgChart1"/>
    <dgm:cxn modelId="{6F1F3333-BDD4-4590-A776-E7D5EE284977}" type="presParOf" srcId="{4EBCD200-951A-493D-BF93-783A92BDAA4A}" destId="{B58C35CC-88A0-4358-AE57-BC5D4F13F74F}" srcOrd="0" destOrd="0" presId="urn:microsoft.com/office/officeart/2005/8/layout/orgChart1"/>
    <dgm:cxn modelId="{368B8605-A98D-4922-A2DE-D344FB6BB34C}" type="presParOf" srcId="{B58C35CC-88A0-4358-AE57-BC5D4F13F74F}" destId="{2728210A-F7EC-439F-8249-916E6F8D485F}" srcOrd="0" destOrd="0" presId="urn:microsoft.com/office/officeart/2005/8/layout/orgChart1"/>
    <dgm:cxn modelId="{3417D2F7-756C-4A60-A928-8819DB8A6486}" type="presParOf" srcId="{B58C35CC-88A0-4358-AE57-BC5D4F13F74F}" destId="{C07E1312-25EE-4862-A9C4-934D5C98129F}" srcOrd="1" destOrd="0" presId="urn:microsoft.com/office/officeart/2005/8/layout/orgChart1"/>
    <dgm:cxn modelId="{BA09107B-E6B8-46A5-9FED-C24EB0E51598}" type="presParOf" srcId="{4EBCD200-951A-493D-BF93-783A92BDAA4A}" destId="{2DA4BB10-AF25-4667-B170-E733DAFCDB3D}" srcOrd="1" destOrd="0" presId="urn:microsoft.com/office/officeart/2005/8/layout/orgChart1"/>
    <dgm:cxn modelId="{7AFFCF6C-5591-485D-A9EE-25541C04B911}" type="presParOf" srcId="{4EBCD200-951A-493D-BF93-783A92BDAA4A}" destId="{5B7977C3-807C-4626-98BE-44EC06A45340}" srcOrd="2" destOrd="0" presId="urn:microsoft.com/office/officeart/2005/8/layout/orgChart1"/>
    <dgm:cxn modelId="{39EE95C9-45AF-45BE-988F-71A95C8B0196}" type="presParOf" srcId="{B1E7466D-E2F3-477F-9110-0771198D1498}" destId="{AC8324A2-321A-4D85-83FD-C18BD8ECC9A0}" srcOrd="2" destOrd="0" presId="urn:microsoft.com/office/officeart/2005/8/layout/orgChart1"/>
    <dgm:cxn modelId="{C07F418B-737A-4529-9595-8C1C886468BA}" type="presParOf" srcId="{6D07C064-E3A7-4B57-9D2D-A9A3DE557A9D}" destId="{97B75E5E-B9E8-4739-8D74-311AB1D76F4D}" srcOrd="6" destOrd="0" presId="urn:microsoft.com/office/officeart/2005/8/layout/orgChart1"/>
    <dgm:cxn modelId="{AD725F84-DE08-4AF8-8BB7-23BB916E7684}" type="presParOf" srcId="{6D07C064-E3A7-4B57-9D2D-A9A3DE557A9D}" destId="{ABD1783F-5128-48C9-84F9-F62C615DAF51}" srcOrd="7" destOrd="0" presId="urn:microsoft.com/office/officeart/2005/8/layout/orgChart1"/>
    <dgm:cxn modelId="{26B0630B-FD90-494D-85E6-757CC258FBA1}" type="presParOf" srcId="{ABD1783F-5128-48C9-84F9-F62C615DAF51}" destId="{91E7590F-D419-4A29-BEA7-5A2A88A14554}" srcOrd="0" destOrd="0" presId="urn:microsoft.com/office/officeart/2005/8/layout/orgChart1"/>
    <dgm:cxn modelId="{794079DF-96BE-4504-A225-16E216EB1326}" type="presParOf" srcId="{91E7590F-D419-4A29-BEA7-5A2A88A14554}" destId="{2A2C299A-2CFE-4B4F-9C7F-0507AED932C5}" srcOrd="0" destOrd="0" presId="urn:microsoft.com/office/officeart/2005/8/layout/orgChart1"/>
    <dgm:cxn modelId="{09EB9E4E-20D7-4EC0-BB56-6E103F11DAF4}" type="presParOf" srcId="{91E7590F-D419-4A29-BEA7-5A2A88A14554}" destId="{4C8BC1BC-CD27-4CC6-BDF5-4D4622E5259C}" srcOrd="1" destOrd="0" presId="urn:microsoft.com/office/officeart/2005/8/layout/orgChart1"/>
    <dgm:cxn modelId="{CA8789E8-2C11-4A3D-B00E-8BE3172C7016}" type="presParOf" srcId="{ABD1783F-5128-48C9-84F9-F62C615DAF51}" destId="{24DA93A2-7D64-431F-A3C4-52624FA9AD81}" srcOrd="1" destOrd="0" presId="urn:microsoft.com/office/officeart/2005/8/layout/orgChart1"/>
    <dgm:cxn modelId="{757181B7-7122-4494-8E4F-572287326E06}" type="presParOf" srcId="{24DA93A2-7D64-431F-A3C4-52624FA9AD81}" destId="{E83E89CF-03ED-413C-B6E3-CBCA436974EE}" srcOrd="0" destOrd="0" presId="urn:microsoft.com/office/officeart/2005/8/layout/orgChart1"/>
    <dgm:cxn modelId="{93EEAC4F-3406-4F48-AC4D-E9EFC7C5F43D}" type="presParOf" srcId="{24DA93A2-7D64-431F-A3C4-52624FA9AD81}" destId="{048C2B6A-5A1D-4FA4-ABAF-A49E9F9AC797}" srcOrd="1" destOrd="0" presId="urn:microsoft.com/office/officeart/2005/8/layout/orgChart1"/>
    <dgm:cxn modelId="{6812D7B6-24D9-4983-B0B5-38FF6376CB34}" type="presParOf" srcId="{048C2B6A-5A1D-4FA4-ABAF-A49E9F9AC797}" destId="{91872225-3780-47C8-A70A-873915C91396}" srcOrd="0" destOrd="0" presId="urn:microsoft.com/office/officeart/2005/8/layout/orgChart1"/>
    <dgm:cxn modelId="{7AA1A899-C1D7-4F2E-B54B-B1AB209CF5A9}" type="presParOf" srcId="{91872225-3780-47C8-A70A-873915C91396}" destId="{BF1B14D0-433D-4943-93B0-352569B8D1C0}" srcOrd="0" destOrd="0" presId="urn:microsoft.com/office/officeart/2005/8/layout/orgChart1"/>
    <dgm:cxn modelId="{A57D5AC6-8E15-48AC-8929-13B343768F57}" type="presParOf" srcId="{91872225-3780-47C8-A70A-873915C91396}" destId="{5C7252A7-70BF-4579-B246-D0829BE91272}" srcOrd="1" destOrd="0" presId="urn:microsoft.com/office/officeart/2005/8/layout/orgChart1"/>
    <dgm:cxn modelId="{099B55DC-DBD6-4B2F-BDC5-2A4EA9E4D0CA}" type="presParOf" srcId="{048C2B6A-5A1D-4FA4-ABAF-A49E9F9AC797}" destId="{0DAE6761-9B5A-41E3-958A-4255FB326199}" srcOrd="1" destOrd="0" presId="urn:microsoft.com/office/officeart/2005/8/layout/orgChart1"/>
    <dgm:cxn modelId="{192BE616-FAA1-46F5-B294-E06E77EAA4C0}" type="presParOf" srcId="{048C2B6A-5A1D-4FA4-ABAF-A49E9F9AC797}" destId="{F32EAA34-B797-4BC9-8B09-F34CDCA700B2}" srcOrd="2" destOrd="0" presId="urn:microsoft.com/office/officeart/2005/8/layout/orgChart1"/>
    <dgm:cxn modelId="{64E2E6D2-D4A1-4831-A470-D19837DD5184}" type="presParOf" srcId="{24DA93A2-7D64-431F-A3C4-52624FA9AD81}" destId="{20745C55-361D-4294-9227-F09B03C4A0CB}" srcOrd="2" destOrd="0" presId="urn:microsoft.com/office/officeart/2005/8/layout/orgChart1"/>
    <dgm:cxn modelId="{55AB7446-3C5A-41A4-8F21-8264DAF796FC}" type="presParOf" srcId="{24DA93A2-7D64-431F-A3C4-52624FA9AD81}" destId="{CF9D53BB-9EA2-4EA5-9608-2920683F02CA}" srcOrd="3" destOrd="0" presId="urn:microsoft.com/office/officeart/2005/8/layout/orgChart1"/>
    <dgm:cxn modelId="{B61E74C4-7499-4D4E-B11C-0BB47295C9C1}" type="presParOf" srcId="{CF9D53BB-9EA2-4EA5-9608-2920683F02CA}" destId="{25E942CA-9950-44EF-8EDB-2FA7934D8918}" srcOrd="0" destOrd="0" presId="urn:microsoft.com/office/officeart/2005/8/layout/orgChart1"/>
    <dgm:cxn modelId="{246B3A25-53B2-494A-8EEC-C0EDDE15E8A1}" type="presParOf" srcId="{25E942CA-9950-44EF-8EDB-2FA7934D8918}" destId="{AC360B85-DCAA-4575-85A6-849D1248A890}" srcOrd="0" destOrd="0" presId="urn:microsoft.com/office/officeart/2005/8/layout/orgChart1"/>
    <dgm:cxn modelId="{59F00FCA-FFF5-4D23-A40F-DD5B998B60DD}" type="presParOf" srcId="{25E942CA-9950-44EF-8EDB-2FA7934D8918}" destId="{A7081C91-E825-46CC-A9EB-D80AD2738BE5}" srcOrd="1" destOrd="0" presId="urn:microsoft.com/office/officeart/2005/8/layout/orgChart1"/>
    <dgm:cxn modelId="{EDB19646-E5A4-4555-A8A2-A20A8FE62793}" type="presParOf" srcId="{CF9D53BB-9EA2-4EA5-9608-2920683F02CA}" destId="{C5491B3F-3445-4D3A-8AC9-51C167D330A7}" srcOrd="1" destOrd="0" presId="urn:microsoft.com/office/officeart/2005/8/layout/orgChart1"/>
    <dgm:cxn modelId="{2B4F5FB2-CF6B-4F19-A270-0020022C3211}" type="presParOf" srcId="{CF9D53BB-9EA2-4EA5-9608-2920683F02CA}" destId="{AC47081A-84A1-4155-B1CE-E065B51DAEBD}" srcOrd="2" destOrd="0" presId="urn:microsoft.com/office/officeart/2005/8/layout/orgChart1"/>
    <dgm:cxn modelId="{A0698300-042C-4DA4-A3AE-D124EFD5FFC5}" type="presParOf" srcId="{ABD1783F-5128-48C9-84F9-F62C615DAF51}" destId="{A263102D-16EF-4F4E-AD32-8234FE94871A}" srcOrd="2" destOrd="0" presId="urn:microsoft.com/office/officeart/2005/8/layout/orgChart1"/>
    <dgm:cxn modelId="{F7B7015D-73C5-47EC-856B-6357FA54014B}" type="presParOf" srcId="{6D07C064-E3A7-4B57-9D2D-A9A3DE557A9D}" destId="{504B1959-180C-49CA-B3C4-60F0001645F3}" srcOrd="8" destOrd="0" presId="urn:microsoft.com/office/officeart/2005/8/layout/orgChart1"/>
    <dgm:cxn modelId="{EF296F15-B768-4CA9-9929-2388DEDB1CEB}" type="presParOf" srcId="{6D07C064-E3A7-4B57-9D2D-A9A3DE557A9D}" destId="{9832FE41-AE24-41E6-A94B-F8B7C4E6ED46}" srcOrd="9" destOrd="0" presId="urn:microsoft.com/office/officeart/2005/8/layout/orgChart1"/>
    <dgm:cxn modelId="{7754594B-0A8D-4E04-ADC2-3358CE6DDAC5}" type="presParOf" srcId="{9832FE41-AE24-41E6-A94B-F8B7C4E6ED46}" destId="{22549038-04AD-4CA0-A6F8-958759D1041D}" srcOrd="0" destOrd="0" presId="urn:microsoft.com/office/officeart/2005/8/layout/orgChart1"/>
    <dgm:cxn modelId="{ADB975FD-7A35-4D20-83BE-1403B60D7F91}" type="presParOf" srcId="{22549038-04AD-4CA0-A6F8-958759D1041D}" destId="{499822B6-D05A-4DDF-9B73-25A939B304BF}" srcOrd="0" destOrd="0" presId="urn:microsoft.com/office/officeart/2005/8/layout/orgChart1"/>
    <dgm:cxn modelId="{55B7A81D-115A-420D-8A1E-1AD82067AB18}" type="presParOf" srcId="{22549038-04AD-4CA0-A6F8-958759D1041D}" destId="{38932166-C9B1-4E85-ADA3-1DB81F4BDAE7}" srcOrd="1" destOrd="0" presId="urn:microsoft.com/office/officeart/2005/8/layout/orgChart1"/>
    <dgm:cxn modelId="{0909797B-BB99-46AE-87CB-2C3E58FFF06B}" type="presParOf" srcId="{9832FE41-AE24-41E6-A94B-F8B7C4E6ED46}" destId="{623E1F2A-DD13-4AB7-946C-30B6512E34B1}" srcOrd="1" destOrd="0" presId="urn:microsoft.com/office/officeart/2005/8/layout/orgChart1"/>
    <dgm:cxn modelId="{E3F0EE8E-F4B9-4397-8907-EAABD1C22E50}" type="presParOf" srcId="{623E1F2A-DD13-4AB7-946C-30B6512E34B1}" destId="{F3AAEE01-0BE4-40D7-BEA2-E4FAA3B0F834}" srcOrd="0" destOrd="0" presId="urn:microsoft.com/office/officeart/2005/8/layout/orgChart1"/>
    <dgm:cxn modelId="{8DB428F5-DF32-4053-B58E-4283B693C907}" type="presParOf" srcId="{623E1F2A-DD13-4AB7-946C-30B6512E34B1}" destId="{EF6D4B0A-BB70-42FD-A2E5-6FC97C65D6C8}" srcOrd="1" destOrd="0" presId="urn:microsoft.com/office/officeart/2005/8/layout/orgChart1"/>
    <dgm:cxn modelId="{B1A4EED9-A823-4D35-8E94-5FC7518D71A8}" type="presParOf" srcId="{EF6D4B0A-BB70-42FD-A2E5-6FC97C65D6C8}" destId="{542A739C-E76F-4733-94ED-2D7C1DF6C5B6}" srcOrd="0" destOrd="0" presId="urn:microsoft.com/office/officeart/2005/8/layout/orgChart1"/>
    <dgm:cxn modelId="{E887581A-94A1-491E-9935-B17EC6CD4E36}" type="presParOf" srcId="{542A739C-E76F-4733-94ED-2D7C1DF6C5B6}" destId="{A79F1929-6BB5-4F97-8C39-32F8BBABAB47}" srcOrd="0" destOrd="0" presId="urn:microsoft.com/office/officeart/2005/8/layout/orgChart1"/>
    <dgm:cxn modelId="{EC9B8F66-68BB-452B-956F-4EF47D219E5C}" type="presParOf" srcId="{542A739C-E76F-4733-94ED-2D7C1DF6C5B6}" destId="{6BAFB7DD-39CF-4335-B1DD-8DEDBC485634}" srcOrd="1" destOrd="0" presId="urn:microsoft.com/office/officeart/2005/8/layout/orgChart1"/>
    <dgm:cxn modelId="{CD72738D-6B7B-44E3-8809-9705DC4A97AE}" type="presParOf" srcId="{EF6D4B0A-BB70-42FD-A2E5-6FC97C65D6C8}" destId="{3D336E6E-9BC9-4898-B87A-0C2D44BF38B1}" srcOrd="1" destOrd="0" presId="urn:microsoft.com/office/officeart/2005/8/layout/orgChart1"/>
    <dgm:cxn modelId="{23726344-EDB8-4F95-A150-0C6237E40A2C}" type="presParOf" srcId="{EF6D4B0A-BB70-42FD-A2E5-6FC97C65D6C8}" destId="{F35A42EB-E9A9-4FFF-A9CE-1A2BA9C3C271}" srcOrd="2" destOrd="0" presId="urn:microsoft.com/office/officeart/2005/8/layout/orgChart1"/>
    <dgm:cxn modelId="{72DD52D3-CC95-4656-8198-AC3907FC1D0F}" type="presParOf" srcId="{623E1F2A-DD13-4AB7-946C-30B6512E34B1}" destId="{D6373F02-C9F4-4D31-A837-BE93351DADBB}" srcOrd="2" destOrd="0" presId="urn:microsoft.com/office/officeart/2005/8/layout/orgChart1"/>
    <dgm:cxn modelId="{E47113FB-4A27-4EE9-9C88-1E593635D110}" type="presParOf" srcId="{623E1F2A-DD13-4AB7-946C-30B6512E34B1}" destId="{ACD1F863-6520-4137-91A1-0CB63DD1B2C3}" srcOrd="3" destOrd="0" presId="urn:microsoft.com/office/officeart/2005/8/layout/orgChart1"/>
    <dgm:cxn modelId="{828E129B-DCE5-4179-A7A4-10758160CABA}" type="presParOf" srcId="{ACD1F863-6520-4137-91A1-0CB63DD1B2C3}" destId="{41CCB3C3-0CC4-4A63-BF78-87FE73314901}" srcOrd="0" destOrd="0" presId="urn:microsoft.com/office/officeart/2005/8/layout/orgChart1"/>
    <dgm:cxn modelId="{FC04DC1B-37E4-4455-A548-2CE59024D5ED}" type="presParOf" srcId="{41CCB3C3-0CC4-4A63-BF78-87FE73314901}" destId="{85F0515A-C3D1-48DF-82B3-F4C6C00D7DA5}" srcOrd="0" destOrd="0" presId="urn:microsoft.com/office/officeart/2005/8/layout/orgChart1"/>
    <dgm:cxn modelId="{DE1986CA-7820-40D1-87B4-778354569A41}" type="presParOf" srcId="{41CCB3C3-0CC4-4A63-BF78-87FE73314901}" destId="{4F7CAE9B-608D-4A16-AF4B-12D9CF37E754}" srcOrd="1" destOrd="0" presId="urn:microsoft.com/office/officeart/2005/8/layout/orgChart1"/>
    <dgm:cxn modelId="{3D04C856-A49C-4C4B-AB62-584869B65E0D}" type="presParOf" srcId="{ACD1F863-6520-4137-91A1-0CB63DD1B2C3}" destId="{360E89C5-6311-46CA-B282-2F6CA7997970}" srcOrd="1" destOrd="0" presId="urn:microsoft.com/office/officeart/2005/8/layout/orgChart1"/>
    <dgm:cxn modelId="{B014F045-3F98-4CD1-93A0-D6F9A1A1377B}" type="presParOf" srcId="{ACD1F863-6520-4137-91A1-0CB63DD1B2C3}" destId="{F0134E42-104F-4DD8-AC55-69D1DF400FD0}" srcOrd="2" destOrd="0" presId="urn:microsoft.com/office/officeart/2005/8/layout/orgChart1"/>
    <dgm:cxn modelId="{47060A36-97BD-4EDA-964D-5B011BD94AD3}" type="presParOf" srcId="{623E1F2A-DD13-4AB7-946C-30B6512E34B1}" destId="{2BA41681-FD1E-4D29-AFA7-D8DF7BDE47E7}" srcOrd="4" destOrd="0" presId="urn:microsoft.com/office/officeart/2005/8/layout/orgChart1"/>
    <dgm:cxn modelId="{6ECD8468-85E3-4F91-BE2D-6B5A9C055921}" type="presParOf" srcId="{623E1F2A-DD13-4AB7-946C-30B6512E34B1}" destId="{65002DB2-CF03-45E5-B428-05E74D7A89CE}" srcOrd="5" destOrd="0" presId="urn:microsoft.com/office/officeart/2005/8/layout/orgChart1"/>
    <dgm:cxn modelId="{4246856A-70E7-430B-9EC9-A8E789980211}" type="presParOf" srcId="{65002DB2-CF03-45E5-B428-05E74D7A89CE}" destId="{851AB8F5-4E3D-4C9A-B574-2B33C2F464EA}" srcOrd="0" destOrd="0" presId="urn:microsoft.com/office/officeart/2005/8/layout/orgChart1"/>
    <dgm:cxn modelId="{79D5D43B-3FA4-4146-B883-1E42E0792500}" type="presParOf" srcId="{851AB8F5-4E3D-4C9A-B574-2B33C2F464EA}" destId="{89BBF7D7-3281-4C3F-9BF5-9ED5E1EFDA9B}" srcOrd="0" destOrd="0" presId="urn:microsoft.com/office/officeart/2005/8/layout/orgChart1"/>
    <dgm:cxn modelId="{6A0C5EED-EAA7-496F-AED4-24FC698DA3FB}" type="presParOf" srcId="{851AB8F5-4E3D-4C9A-B574-2B33C2F464EA}" destId="{E67A344E-C692-4901-82E7-BD7AB0ECF7A8}" srcOrd="1" destOrd="0" presId="urn:microsoft.com/office/officeart/2005/8/layout/orgChart1"/>
    <dgm:cxn modelId="{9C94DAA0-5E89-4D08-A6A8-3E72B2A7BF5B}" type="presParOf" srcId="{65002DB2-CF03-45E5-B428-05E74D7A89CE}" destId="{9CF7C0F2-AF04-4736-93C2-081E477BDC87}" srcOrd="1" destOrd="0" presId="urn:microsoft.com/office/officeart/2005/8/layout/orgChart1"/>
    <dgm:cxn modelId="{344F2CB3-B2CD-4EE8-A6AB-D0CC98E87C2E}" type="presParOf" srcId="{65002DB2-CF03-45E5-B428-05E74D7A89CE}" destId="{2926C086-1BC1-4122-B34E-4D25CB51E6E4}" srcOrd="2" destOrd="0" presId="urn:microsoft.com/office/officeart/2005/8/layout/orgChart1"/>
    <dgm:cxn modelId="{A0E525EB-689A-4FF6-B1D3-F45D8BA17818}" type="presParOf" srcId="{9832FE41-AE24-41E6-A94B-F8B7C4E6ED46}" destId="{C1AEC144-EF3C-4E49-B12A-65A62CD7BD3A}" srcOrd="2" destOrd="0" presId="urn:microsoft.com/office/officeart/2005/8/layout/orgChart1"/>
    <dgm:cxn modelId="{856A988C-C820-4681-AF23-589A3B92ADC3}" type="presParOf" srcId="{479A520F-62EE-4D99-85CD-99C976E7B8F8}" destId="{9F0BE2ED-5ECF-4BDB-830C-07E68C0B1BF1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A41681-FD1E-4D29-AFA7-D8DF7BDE47E7}">
      <dsp:nvSpPr>
        <dsp:cNvPr id="0" name=""/>
        <dsp:cNvSpPr/>
      </dsp:nvSpPr>
      <dsp:spPr>
        <a:xfrm>
          <a:off x="8682182" y="1759566"/>
          <a:ext cx="302236" cy="21170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17078"/>
              </a:lnTo>
              <a:lnTo>
                <a:pt x="302236" y="211707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373F02-C9F4-4D31-A837-BE93351DADBB}">
      <dsp:nvSpPr>
        <dsp:cNvPr id="0" name=""/>
        <dsp:cNvSpPr/>
      </dsp:nvSpPr>
      <dsp:spPr>
        <a:xfrm>
          <a:off x="8682182" y="1759566"/>
          <a:ext cx="302236" cy="13312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31215"/>
              </a:lnTo>
              <a:lnTo>
                <a:pt x="302236" y="133121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3AAEE01-0BE4-40D7-BEA2-E4FAA3B0F834}">
      <dsp:nvSpPr>
        <dsp:cNvPr id="0" name=""/>
        <dsp:cNvSpPr/>
      </dsp:nvSpPr>
      <dsp:spPr>
        <a:xfrm>
          <a:off x="8682182" y="1759566"/>
          <a:ext cx="302236" cy="5742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74225"/>
              </a:lnTo>
              <a:lnTo>
                <a:pt x="302236" y="57422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4B1959-180C-49CA-B3C4-60F0001645F3}">
      <dsp:nvSpPr>
        <dsp:cNvPr id="0" name=""/>
        <dsp:cNvSpPr/>
      </dsp:nvSpPr>
      <dsp:spPr>
        <a:xfrm>
          <a:off x="5829300" y="728907"/>
          <a:ext cx="3658846" cy="3048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2421"/>
              </a:lnTo>
              <a:lnTo>
                <a:pt x="3658846" y="152421"/>
              </a:lnTo>
              <a:lnTo>
                <a:pt x="3658846" y="30484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745C55-361D-4294-9227-F09B03C4A0CB}">
      <dsp:nvSpPr>
        <dsp:cNvPr id="0" name=""/>
        <dsp:cNvSpPr/>
      </dsp:nvSpPr>
      <dsp:spPr>
        <a:xfrm>
          <a:off x="6869380" y="1759566"/>
          <a:ext cx="280890" cy="126676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66763"/>
              </a:lnTo>
              <a:lnTo>
                <a:pt x="280890" y="126676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83E89CF-03ED-413C-B6E3-CBCA436974EE}">
      <dsp:nvSpPr>
        <dsp:cNvPr id="0" name=""/>
        <dsp:cNvSpPr/>
      </dsp:nvSpPr>
      <dsp:spPr>
        <a:xfrm>
          <a:off x="6869380" y="1759566"/>
          <a:ext cx="280890" cy="48474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84747"/>
              </a:lnTo>
              <a:lnTo>
                <a:pt x="280890" y="48474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B75E5E-B9E8-4739-8D74-311AB1D76F4D}">
      <dsp:nvSpPr>
        <dsp:cNvPr id="0" name=""/>
        <dsp:cNvSpPr/>
      </dsp:nvSpPr>
      <dsp:spPr>
        <a:xfrm>
          <a:off x="5829300" y="728907"/>
          <a:ext cx="1620732" cy="3048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2421"/>
              </a:lnTo>
              <a:lnTo>
                <a:pt x="1620732" y="152421"/>
              </a:lnTo>
              <a:lnTo>
                <a:pt x="1620732" y="30484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AA747B4-70EF-483A-BF12-8D44B0591C13}">
      <dsp:nvSpPr>
        <dsp:cNvPr id="0" name=""/>
        <dsp:cNvSpPr/>
      </dsp:nvSpPr>
      <dsp:spPr>
        <a:xfrm>
          <a:off x="5078965" y="1766272"/>
          <a:ext cx="251684" cy="5288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28884"/>
              </a:lnTo>
              <a:lnTo>
                <a:pt x="251684" y="52888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0A1010-52E7-4C3E-8141-B2F7CA200B76}">
      <dsp:nvSpPr>
        <dsp:cNvPr id="0" name=""/>
        <dsp:cNvSpPr/>
      </dsp:nvSpPr>
      <dsp:spPr>
        <a:xfrm>
          <a:off x="5659618" y="728907"/>
          <a:ext cx="169681" cy="311549"/>
        </a:xfrm>
        <a:custGeom>
          <a:avLst/>
          <a:gdLst/>
          <a:ahLst/>
          <a:cxnLst/>
          <a:rect l="0" t="0" r="0" b="0"/>
          <a:pathLst>
            <a:path>
              <a:moveTo>
                <a:pt x="169681" y="0"/>
              </a:moveTo>
              <a:lnTo>
                <a:pt x="169681" y="159127"/>
              </a:lnTo>
              <a:lnTo>
                <a:pt x="0" y="159127"/>
              </a:lnTo>
              <a:lnTo>
                <a:pt x="0" y="31154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E5BD68-C45A-4AED-AC29-84D0FD996A08}">
      <dsp:nvSpPr>
        <dsp:cNvPr id="0" name=""/>
        <dsp:cNvSpPr/>
      </dsp:nvSpPr>
      <dsp:spPr>
        <a:xfrm>
          <a:off x="3094639" y="1759566"/>
          <a:ext cx="261376" cy="20682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68267"/>
              </a:lnTo>
              <a:lnTo>
                <a:pt x="261376" y="206826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ADCB8F6-0C43-49AC-A3F9-7224038618AA}">
      <dsp:nvSpPr>
        <dsp:cNvPr id="0" name=""/>
        <dsp:cNvSpPr/>
      </dsp:nvSpPr>
      <dsp:spPr>
        <a:xfrm>
          <a:off x="3094639" y="1759566"/>
          <a:ext cx="261376" cy="13019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01929"/>
              </a:lnTo>
              <a:lnTo>
                <a:pt x="261376" y="130192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67AC060-AF69-4FC9-B059-D0D08A5C357C}">
      <dsp:nvSpPr>
        <dsp:cNvPr id="0" name=""/>
        <dsp:cNvSpPr/>
      </dsp:nvSpPr>
      <dsp:spPr>
        <a:xfrm>
          <a:off x="3094639" y="1759566"/>
          <a:ext cx="261376" cy="53559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35590"/>
              </a:lnTo>
              <a:lnTo>
                <a:pt x="261376" y="53559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CE7C2C-9DAF-43E3-87C6-3A338E3B5B34}">
      <dsp:nvSpPr>
        <dsp:cNvPr id="0" name=""/>
        <dsp:cNvSpPr/>
      </dsp:nvSpPr>
      <dsp:spPr>
        <a:xfrm>
          <a:off x="3791643" y="728907"/>
          <a:ext cx="2037656" cy="304842"/>
        </a:xfrm>
        <a:custGeom>
          <a:avLst/>
          <a:gdLst/>
          <a:ahLst/>
          <a:cxnLst/>
          <a:rect l="0" t="0" r="0" b="0"/>
          <a:pathLst>
            <a:path>
              <a:moveTo>
                <a:pt x="2037656" y="0"/>
              </a:moveTo>
              <a:lnTo>
                <a:pt x="2037656" y="152421"/>
              </a:lnTo>
              <a:lnTo>
                <a:pt x="0" y="152421"/>
              </a:lnTo>
              <a:lnTo>
                <a:pt x="0" y="30484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088892-DB4E-4632-8E75-D0E7B17A7700}">
      <dsp:nvSpPr>
        <dsp:cNvPr id="0" name=""/>
        <dsp:cNvSpPr/>
      </dsp:nvSpPr>
      <dsp:spPr>
        <a:xfrm>
          <a:off x="1308253" y="1759566"/>
          <a:ext cx="217882" cy="36009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600944"/>
              </a:lnTo>
              <a:lnTo>
                <a:pt x="217882" y="360094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58BEDA-4771-4C10-9704-91F77C0E856B}">
      <dsp:nvSpPr>
        <dsp:cNvPr id="0" name=""/>
        <dsp:cNvSpPr/>
      </dsp:nvSpPr>
      <dsp:spPr>
        <a:xfrm>
          <a:off x="1308253" y="1759566"/>
          <a:ext cx="217882" cy="28346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34606"/>
              </a:lnTo>
              <a:lnTo>
                <a:pt x="217882" y="283460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4EC187-4DF3-4C50-A016-91E7845BAFA8}">
      <dsp:nvSpPr>
        <dsp:cNvPr id="0" name=""/>
        <dsp:cNvSpPr/>
      </dsp:nvSpPr>
      <dsp:spPr>
        <a:xfrm>
          <a:off x="1308253" y="1759566"/>
          <a:ext cx="217882" cy="20682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68267"/>
              </a:lnTo>
              <a:lnTo>
                <a:pt x="217882" y="206826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A282FD3-F170-4755-9E7D-A04AE0224C8A}">
      <dsp:nvSpPr>
        <dsp:cNvPr id="0" name=""/>
        <dsp:cNvSpPr/>
      </dsp:nvSpPr>
      <dsp:spPr>
        <a:xfrm>
          <a:off x="1308253" y="1759566"/>
          <a:ext cx="217882" cy="13019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01929"/>
              </a:lnTo>
              <a:lnTo>
                <a:pt x="217882" y="130192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9C76D78-CCDE-4654-8A9C-1194521D7B3D}">
      <dsp:nvSpPr>
        <dsp:cNvPr id="0" name=""/>
        <dsp:cNvSpPr/>
      </dsp:nvSpPr>
      <dsp:spPr>
        <a:xfrm>
          <a:off x="1308253" y="1759566"/>
          <a:ext cx="189009" cy="53559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35590"/>
              </a:lnTo>
              <a:lnTo>
                <a:pt x="189009" y="53559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DC2531-ADC9-4983-8184-380395184975}">
      <dsp:nvSpPr>
        <dsp:cNvPr id="0" name=""/>
        <dsp:cNvSpPr/>
      </dsp:nvSpPr>
      <dsp:spPr>
        <a:xfrm>
          <a:off x="1889272" y="728907"/>
          <a:ext cx="3940027" cy="304842"/>
        </a:xfrm>
        <a:custGeom>
          <a:avLst/>
          <a:gdLst/>
          <a:ahLst/>
          <a:cxnLst/>
          <a:rect l="0" t="0" r="0" b="0"/>
          <a:pathLst>
            <a:path>
              <a:moveTo>
                <a:pt x="3940027" y="0"/>
              </a:moveTo>
              <a:lnTo>
                <a:pt x="3940027" y="152421"/>
              </a:lnTo>
              <a:lnTo>
                <a:pt x="0" y="152421"/>
              </a:lnTo>
              <a:lnTo>
                <a:pt x="0" y="30484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D34967D-0281-43AE-9542-24F89F4E3B98}">
      <dsp:nvSpPr>
        <dsp:cNvPr id="0" name=""/>
        <dsp:cNvSpPr/>
      </dsp:nvSpPr>
      <dsp:spPr>
        <a:xfrm>
          <a:off x="4567795" y="3091"/>
          <a:ext cx="2523009" cy="725816"/>
        </a:xfrm>
        <a:prstGeom prst="rect">
          <a:avLst/>
        </a:prstGeom>
        <a:solidFill>
          <a:schemeClr val="accent3">
            <a:lumMod val="60000"/>
            <a:lumOff val="40000"/>
          </a:schemeClr>
        </a:solidFill>
        <a:ln w="6350" cap="flat" cmpd="sng" algn="ctr">
          <a:solidFill>
            <a:schemeClr val="accent3">
              <a:lumMod val="75000"/>
            </a:schemeClr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3">
          <a:schemeClr val="accent6"/>
        </a:fillRef>
        <a:effectRef idx="2">
          <a:schemeClr val="accent6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solidFill>
                <a:schemeClr val="tx1"/>
              </a:solidFill>
              <a:latin typeface="Roboto Condensed(Body)"/>
            </a:rPr>
            <a:t>SQL Components</a:t>
          </a:r>
          <a:endParaRPr lang="en-US" sz="2200" kern="1200" dirty="0">
            <a:latin typeface="Roboto Condensed(Body)"/>
          </a:endParaRPr>
        </a:p>
      </dsp:txBody>
      <dsp:txXfrm>
        <a:off x="4567795" y="3091"/>
        <a:ext cx="2523009" cy="725816"/>
      </dsp:txXfrm>
    </dsp:sp>
    <dsp:sp modelId="{F53A27FE-3CC5-4950-A822-6FB0F39CEC60}">
      <dsp:nvSpPr>
        <dsp:cNvPr id="0" name=""/>
        <dsp:cNvSpPr/>
      </dsp:nvSpPr>
      <dsp:spPr>
        <a:xfrm>
          <a:off x="1162998" y="1033750"/>
          <a:ext cx="1452546" cy="725816"/>
        </a:xfrm>
        <a:prstGeom prst="rect">
          <a:avLst/>
        </a:prstGeom>
        <a:solidFill>
          <a:schemeClr val="accent6">
            <a:lumMod val="60000"/>
            <a:lumOff val="40000"/>
          </a:schemeClr>
        </a:solidFill>
        <a:ln w="6350" cap="flat" cmpd="sng" algn="ctr">
          <a:solidFill>
            <a:schemeClr val="accent6">
              <a:lumMod val="75000"/>
            </a:schemeClr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3">
          <a:schemeClr val="accent6"/>
        </a:fillRef>
        <a:effectRef idx="2">
          <a:schemeClr val="accent6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>
              <a:solidFill>
                <a:schemeClr val="tx1"/>
              </a:solidFill>
              <a:latin typeface="Roboto Condensed(Body)"/>
            </a:rPr>
            <a:t>Data Definition Language(</a:t>
          </a:r>
          <a:r>
            <a:rPr lang="en-US" sz="1800" b="1" kern="1200" dirty="0">
              <a:solidFill>
                <a:schemeClr val="tx1"/>
              </a:solidFill>
              <a:latin typeface="Roboto Condensed(Body)"/>
            </a:rPr>
            <a:t>DDL</a:t>
          </a:r>
          <a:r>
            <a:rPr lang="en-US" sz="1800" b="0" kern="1200" dirty="0">
              <a:solidFill>
                <a:schemeClr val="tx1"/>
              </a:solidFill>
              <a:latin typeface="Roboto Condensed(Body)"/>
            </a:rPr>
            <a:t>)</a:t>
          </a:r>
        </a:p>
      </dsp:txBody>
      <dsp:txXfrm>
        <a:off x="1162998" y="1033750"/>
        <a:ext cx="1452546" cy="725816"/>
      </dsp:txXfrm>
    </dsp:sp>
    <dsp:sp modelId="{95904437-7731-4B9F-A2FA-D0C67D73C2A5}">
      <dsp:nvSpPr>
        <dsp:cNvPr id="0" name=""/>
        <dsp:cNvSpPr/>
      </dsp:nvSpPr>
      <dsp:spPr>
        <a:xfrm>
          <a:off x="1497262" y="2064409"/>
          <a:ext cx="1092440" cy="461495"/>
        </a:xfrm>
        <a:prstGeom prst="rect">
          <a:avLst/>
        </a:prstGeom>
        <a:solidFill>
          <a:srgbClr val="A9C0DB"/>
        </a:solidFill>
        <a:ln w="6350" cap="flat" cmpd="sng" algn="ctr">
          <a:solidFill>
            <a:srgbClr val="4271A4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3">
          <a:schemeClr val="accent6"/>
        </a:fillRef>
        <a:effectRef idx="2">
          <a:schemeClr val="accent6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800" kern="1200" dirty="0">
              <a:solidFill>
                <a:schemeClr val="tx1"/>
              </a:solidFill>
              <a:latin typeface="Roboto Condensed(Body)"/>
              <a:ea typeface="+mn-ea"/>
              <a:cs typeface="+mn-cs"/>
            </a:rPr>
            <a:t>Create</a:t>
          </a:r>
        </a:p>
      </dsp:txBody>
      <dsp:txXfrm>
        <a:off x="1497262" y="2064409"/>
        <a:ext cx="1092440" cy="461495"/>
      </dsp:txXfrm>
    </dsp:sp>
    <dsp:sp modelId="{0EAE0069-0DF8-4563-B2AE-B001CEBE80CA}">
      <dsp:nvSpPr>
        <dsp:cNvPr id="0" name=""/>
        <dsp:cNvSpPr/>
      </dsp:nvSpPr>
      <dsp:spPr>
        <a:xfrm>
          <a:off x="1526135" y="2830747"/>
          <a:ext cx="1092440" cy="461495"/>
        </a:xfrm>
        <a:prstGeom prst="rect">
          <a:avLst/>
        </a:prstGeom>
        <a:solidFill>
          <a:srgbClr val="A9C0DB"/>
        </a:solidFill>
        <a:ln w="6350" cap="flat" cmpd="sng" algn="ctr">
          <a:solidFill>
            <a:srgbClr val="4271A4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3">
          <a:schemeClr val="accent6"/>
        </a:fillRef>
        <a:effectRef idx="2">
          <a:schemeClr val="accent6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800" kern="1200" dirty="0">
              <a:solidFill>
                <a:schemeClr val="tx1"/>
              </a:solidFill>
              <a:latin typeface="Roboto Condensed(Body)"/>
              <a:ea typeface="+mn-ea"/>
              <a:cs typeface="+mn-cs"/>
            </a:rPr>
            <a:t>Alter</a:t>
          </a:r>
        </a:p>
      </dsp:txBody>
      <dsp:txXfrm>
        <a:off x="1526135" y="2830747"/>
        <a:ext cx="1092440" cy="461495"/>
      </dsp:txXfrm>
    </dsp:sp>
    <dsp:sp modelId="{D33D91A4-A7E8-4238-8122-A4B3A6F02168}">
      <dsp:nvSpPr>
        <dsp:cNvPr id="0" name=""/>
        <dsp:cNvSpPr/>
      </dsp:nvSpPr>
      <dsp:spPr>
        <a:xfrm>
          <a:off x="1526135" y="3597086"/>
          <a:ext cx="1092440" cy="461495"/>
        </a:xfrm>
        <a:prstGeom prst="rect">
          <a:avLst/>
        </a:prstGeom>
        <a:solidFill>
          <a:srgbClr val="A9C0DB"/>
        </a:solidFill>
        <a:ln w="6350" cap="flat" cmpd="sng" algn="ctr">
          <a:solidFill>
            <a:srgbClr val="4271A4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3">
          <a:schemeClr val="accent6"/>
        </a:fillRef>
        <a:effectRef idx="2">
          <a:schemeClr val="accent6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800" kern="1200" dirty="0">
              <a:solidFill>
                <a:schemeClr val="tx1"/>
              </a:solidFill>
              <a:latin typeface="Roboto Condensed(Body)"/>
              <a:ea typeface="+mn-ea"/>
              <a:cs typeface="+mn-cs"/>
            </a:rPr>
            <a:t>Drop</a:t>
          </a:r>
        </a:p>
      </dsp:txBody>
      <dsp:txXfrm>
        <a:off x="1526135" y="3597086"/>
        <a:ext cx="1092440" cy="461495"/>
      </dsp:txXfrm>
    </dsp:sp>
    <dsp:sp modelId="{E455403A-144A-41B7-B9E9-D923552577DE}">
      <dsp:nvSpPr>
        <dsp:cNvPr id="0" name=""/>
        <dsp:cNvSpPr/>
      </dsp:nvSpPr>
      <dsp:spPr>
        <a:xfrm>
          <a:off x="1526135" y="4363424"/>
          <a:ext cx="1092440" cy="461495"/>
        </a:xfrm>
        <a:prstGeom prst="rect">
          <a:avLst/>
        </a:prstGeom>
        <a:solidFill>
          <a:srgbClr val="A9C0DB"/>
        </a:solidFill>
        <a:ln w="6350" cap="flat" cmpd="sng" algn="ctr">
          <a:solidFill>
            <a:srgbClr val="4271A4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3">
          <a:schemeClr val="accent6"/>
        </a:fillRef>
        <a:effectRef idx="2">
          <a:schemeClr val="accent6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800" kern="1200" dirty="0">
              <a:solidFill>
                <a:schemeClr val="tx1"/>
              </a:solidFill>
              <a:latin typeface="Roboto Condensed(Body)"/>
              <a:ea typeface="+mn-ea"/>
              <a:cs typeface="+mn-cs"/>
            </a:rPr>
            <a:t>Truncate</a:t>
          </a:r>
        </a:p>
      </dsp:txBody>
      <dsp:txXfrm>
        <a:off x="1526135" y="4363424"/>
        <a:ext cx="1092440" cy="461495"/>
      </dsp:txXfrm>
    </dsp:sp>
    <dsp:sp modelId="{5B242D67-5459-4666-946B-B477441CFAC1}">
      <dsp:nvSpPr>
        <dsp:cNvPr id="0" name=""/>
        <dsp:cNvSpPr/>
      </dsp:nvSpPr>
      <dsp:spPr>
        <a:xfrm>
          <a:off x="1526135" y="5129763"/>
          <a:ext cx="1092440" cy="461495"/>
        </a:xfrm>
        <a:prstGeom prst="rect">
          <a:avLst/>
        </a:prstGeom>
        <a:solidFill>
          <a:srgbClr val="A9C0DB"/>
        </a:solidFill>
        <a:ln w="6350" cap="flat" cmpd="sng" algn="ctr">
          <a:solidFill>
            <a:srgbClr val="4271A4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3">
          <a:schemeClr val="accent6"/>
        </a:fillRef>
        <a:effectRef idx="2">
          <a:schemeClr val="accent6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800" kern="1200" dirty="0">
              <a:solidFill>
                <a:schemeClr val="tx1"/>
              </a:solidFill>
              <a:latin typeface="Roboto Condensed(Body)"/>
              <a:ea typeface="+mn-ea"/>
              <a:cs typeface="+mn-cs"/>
            </a:rPr>
            <a:t>Rename</a:t>
          </a:r>
        </a:p>
      </dsp:txBody>
      <dsp:txXfrm>
        <a:off x="1526135" y="5129763"/>
        <a:ext cx="1092440" cy="461495"/>
      </dsp:txXfrm>
    </dsp:sp>
    <dsp:sp modelId="{7FD41C00-A0F8-4C56-9C91-B5A19FEDCEAF}">
      <dsp:nvSpPr>
        <dsp:cNvPr id="0" name=""/>
        <dsp:cNvSpPr/>
      </dsp:nvSpPr>
      <dsp:spPr>
        <a:xfrm>
          <a:off x="2920388" y="1033750"/>
          <a:ext cx="1742510" cy="725816"/>
        </a:xfrm>
        <a:prstGeom prst="rect">
          <a:avLst/>
        </a:prstGeom>
        <a:solidFill>
          <a:schemeClr val="accent6">
            <a:lumMod val="60000"/>
            <a:lumOff val="40000"/>
          </a:schemeClr>
        </a:solidFill>
        <a:ln w="6350" cap="flat" cmpd="sng" algn="ctr">
          <a:solidFill>
            <a:schemeClr val="accent6">
              <a:lumMod val="75000"/>
            </a:schemeClr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3">
          <a:schemeClr val="accent6"/>
        </a:fillRef>
        <a:effectRef idx="2">
          <a:schemeClr val="accent6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>
              <a:solidFill>
                <a:schemeClr val="tx1"/>
              </a:solidFill>
              <a:latin typeface="Roboto Condensed(Body)"/>
            </a:rPr>
            <a:t>Data Manipulation Language(</a:t>
          </a:r>
          <a:r>
            <a:rPr lang="en-US" sz="1800" b="1" kern="1200" dirty="0">
              <a:solidFill>
                <a:schemeClr val="tx1"/>
              </a:solidFill>
              <a:latin typeface="Roboto Condensed(Body)"/>
            </a:rPr>
            <a:t>DML</a:t>
          </a:r>
          <a:r>
            <a:rPr lang="en-US" sz="1800" b="0" kern="1200" dirty="0">
              <a:solidFill>
                <a:schemeClr val="tx1"/>
              </a:solidFill>
              <a:latin typeface="Roboto Condensed(Body)"/>
            </a:rPr>
            <a:t>)</a:t>
          </a:r>
        </a:p>
      </dsp:txBody>
      <dsp:txXfrm>
        <a:off x="2920388" y="1033750"/>
        <a:ext cx="1742510" cy="725816"/>
      </dsp:txXfrm>
    </dsp:sp>
    <dsp:sp modelId="{AA3E4859-D19F-4FF5-B7AD-A3F7A006D3C7}">
      <dsp:nvSpPr>
        <dsp:cNvPr id="0" name=""/>
        <dsp:cNvSpPr/>
      </dsp:nvSpPr>
      <dsp:spPr>
        <a:xfrm>
          <a:off x="3356016" y="2064409"/>
          <a:ext cx="1092440" cy="461495"/>
        </a:xfrm>
        <a:prstGeom prst="rect">
          <a:avLst/>
        </a:prstGeom>
        <a:solidFill>
          <a:srgbClr val="A9C0DB"/>
        </a:solidFill>
        <a:ln w="6350" cap="flat" cmpd="sng" algn="ctr">
          <a:solidFill>
            <a:srgbClr val="4271A4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3">
          <a:schemeClr val="accent6"/>
        </a:fillRef>
        <a:effectRef idx="2">
          <a:schemeClr val="accent6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tx1"/>
              </a:solidFill>
              <a:latin typeface="Roboto Condensed(Body)"/>
            </a:rPr>
            <a:t>Insert</a:t>
          </a:r>
        </a:p>
      </dsp:txBody>
      <dsp:txXfrm>
        <a:off x="3356016" y="2064409"/>
        <a:ext cx="1092440" cy="461495"/>
      </dsp:txXfrm>
    </dsp:sp>
    <dsp:sp modelId="{DE054E5F-DEA2-47EA-9CB7-C2667AF09C9F}">
      <dsp:nvSpPr>
        <dsp:cNvPr id="0" name=""/>
        <dsp:cNvSpPr/>
      </dsp:nvSpPr>
      <dsp:spPr>
        <a:xfrm>
          <a:off x="3356016" y="2830747"/>
          <a:ext cx="1092440" cy="461495"/>
        </a:xfrm>
        <a:prstGeom prst="rect">
          <a:avLst/>
        </a:prstGeom>
        <a:solidFill>
          <a:srgbClr val="A9C0DB"/>
        </a:solidFill>
        <a:ln w="6350" cap="flat" cmpd="sng" algn="ctr">
          <a:solidFill>
            <a:srgbClr val="4271A4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3">
          <a:schemeClr val="accent6"/>
        </a:fillRef>
        <a:effectRef idx="2">
          <a:schemeClr val="accent6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tx1"/>
              </a:solidFill>
              <a:latin typeface="Roboto Condensed(Body)"/>
            </a:rPr>
            <a:t>Update</a:t>
          </a:r>
        </a:p>
      </dsp:txBody>
      <dsp:txXfrm>
        <a:off x="3356016" y="2830747"/>
        <a:ext cx="1092440" cy="461495"/>
      </dsp:txXfrm>
    </dsp:sp>
    <dsp:sp modelId="{8A6E1935-B29E-4818-9EE7-995A9627C0AA}">
      <dsp:nvSpPr>
        <dsp:cNvPr id="0" name=""/>
        <dsp:cNvSpPr/>
      </dsp:nvSpPr>
      <dsp:spPr>
        <a:xfrm>
          <a:off x="3356016" y="3597086"/>
          <a:ext cx="1092440" cy="461495"/>
        </a:xfrm>
        <a:prstGeom prst="rect">
          <a:avLst/>
        </a:prstGeom>
        <a:solidFill>
          <a:srgbClr val="A9C0DB"/>
        </a:solidFill>
        <a:ln w="6350" cap="flat" cmpd="sng" algn="ctr">
          <a:solidFill>
            <a:srgbClr val="4271A4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3">
          <a:schemeClr val="accent6"/>
        </a:fillRef>
        <a:effectRef idx="2">
          <a:schemeClr val="accent6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tx1"/>
              </a:solidFill>
              <a:latin typeface="Roboto Condensed(Body)"/>
            </a:rPr>
            <a:t>Delete</a:t>
          </a:r>
        </a:p>
      </dsp:txBody>
      <dsp:txXfrm>
        <a:off x="3356016" y="3597086"/>
        <a:ext cx="1092440" cy="461495"/>
      </dsp:txXfrm>
    </dsp:sp>
    <dsp:sp modelId="{D2DED6C3-8F28-4D36-9D00-1919F2233E4B}">
      <dsp:nvSpPr>
        <dsp:cNvPr id="0" name=""/>
        <dsp:cNvSpPr/>
      </dsp:nvSpPr>
      <dsp:spPr>
        <a:xfrm>
          <a:off x="4933802" y="1040456"/>
          <a:ext cx="1451632" cy="725816"/>
        </a:xfrm>
        <a:prstGeom prst="rect">
          <a:avLst/>
        </a:prstGeom>
        <a:solidFill>
          <a:schemeClr val="accent6">
            <a:lumMod val="60000"/>
            <a:lumOff val="40000"/>
          </a:schemeClr>
        </a:solidFill>
        <a:ln w="6350" cap="flat" cmpd="sng" algn="ctr">
          <a:solidFill>
            <a:schemeClr val="accent6">
              <a:lumMod val="75000"/>
            </a:schemeClr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3">
          <a:schemeClr val="accent6"/>
        </a:fillRef>
        <a:effectRef idx="2">
          <a:schemeClr val="accent6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0" kern="1200" dirty="0">
              <a:solidFill>
                <a:schemeClr val="tx1"/>
              </a:solidFill>
              <a:latin typeface="Roboto Condensed(Body)"/>
              <a:ea typeface="+mn-ea"/>
              <a:cs typeface="+mn-cs"/>
            </a:rPr>
            <a:t>Data Query Language(</a:t>
          </a:r>
          <a:r>
            <a:rPr lang="en-IN" sz="1800" b="1" kern="1200" dirty="0">
              <a:solidFill>
                <a:schemeClr val="tx1"/>
              </a:solidFill>
              <a:latin typeface="Roboto Condensed(Body)"/>
              <a:ea typeface="+mn-ea"/>
              <a:cs typeface="+mn-cs"/>
            </a:rPr>
            <a:t>DQL</a:t>
          </a:r>
          <a:r>
            <a:rPr lang="en-IN" sz="1800" b="0" kern="1200" dirty="0">
              <a:solidFill>
                <a:schemeClr val="tx1"/>
              </a:solidFill>
              <a:latin typeface="Roboto Condensed(Body)"/>
              <a:ea typeface="+mn-ea"/>
              <a:cs typeface="+mn-cs"/>
            </a:rPr>
            <a:t>)</a:t>
          </a:r>
          <a:endParaRPr lang="en-US" sz="1800" b="0" kern="1200" dirty="0">
            <a:solidFill>
              <a:schemeClr val="tx1"/>
            </a:solidFill>
            <a:latin typeface="Roboto Condensed(Body)"/>
            <a:ea typeface="+mn-ea"/>
            <a:cs typeface="+mn-cs"/>
          </a:endParaRPr>
        </a:p>
      </dsp:txBody>
      <dsp:txXfrm>
        <a:off x="4933802" y="1040456"/>
        <a:ext cx="1451632" cy="725816"/>
      </dsp:txXfrm>
    </dsp:sp>
    <dsp:sp modelId="{2728210A-F7EC-439F-8249-916E6F8D485F}">
      <dsp:nvSpPr>
        <dsp:cNvPr id="0" name=""/>
        <dsp:cNvSpPr/>
      </dsp:nvSpPr>
      <dsp:spPr>
        <a:xfrm>
          <a:off x="5330649" y="2064409"/>
          <a:ext cx="1092440" cy="461495"/>
        </a:xfrm>
        <a:prstGeom prst="rect">
          <a:avLst/>
        </a:prstGeom>
        <a:solidFill>
          <a:srgbClr val="A9C0DB"/>
        </a:solidFill>
        <a:ln w="6350" cap="flat" cmpd="sng" algn="ctr">
          <a:solidFill>
            <a:srgbClr val="4271A4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3">
          <a:schemeClr val="accent6"/>
        </a:fillRef>
        <a:effectRef idx="2">
          <a:schemeClr val="accent6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solidFill>
                <a:schemeClr val="tx1"/>
              </a:solidFill>
              <a:latin typeface="Roboto Condensed(Body)"/>
              <a:ea typeface="+mn-ea"/>
              <a:cs typeface="+mn-cs"/>
            </a:rPr>
            <a:t>Select</a:t>
          </a:r>
        </a:p>
      </dsp:txBody>
      <dsp:txXfrm>
        <a:off x="5330649" y="2064409"/>
        <a:ext cx="1092440" cy="461495"/>
      </dsp:txXfrm>
    </dsp:sp>
    <dsp:sp modelId="{2A2C299A-2CFE-4B4F-9C7F-0507AED932C5}">
      <dsp:nvSpPr>
        <dsp:cNvPr id="0" name=""/>
        <dsp:cNvSpPr/>
      </dsp:nvSpPr>
      <dsp:spPr>
        <a:xfrm>
          <a:off x="6724216" y="1033750"/>
          <a:ext cx="1451632" cy="725816"/>
        </a:xfrm>
        <a:prstGeom prst="rect">
          <a:avLst/>
        </a:prstGeom>
        <a:solidFill>
          <a:schemeClr val="accent6">
            <a:lumMod val="60000"/>
            <a:lumOff val="40000"/>
          </a:schemeClr>
        </a:solidFill>
        <a:ln w="6350" cap="flat" cmpd="sng" algn="ctr">
          <a:solidFill>
            <a:schemeClr val="accent6">
              <a:lumMod val="75000"/>
            </a:schemeClr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3">
          <a:schemeClr val="accent6"/>
        </a:fillRef>
        <a:effectRef idx="2">
          <a:schemeClr val="accent6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0" kern="1200" dirty="0">
              <a:solidFill>
                <a:schemeClr val="tx1"/>
              </a:solidFill>
              <a:latin typeface="Roboto Condensed(Body)"/>
              <a:ea typeface="+mn-ea"/>
              <a:cs typeface="+mn-cs"/>
            </a:rPr>
            <a:t>Data Control Language(</a:t>
          </a:r>
          <a:r>
            <a:rPr lang="en-IN" sz="1800" b="1" kern="1200" dirty="0">
              <a:solidFill>
                <a:schemeClr val="tx1"/>
              </a:solidFill>
              <a:latin typeface="Roboto Condensed(Body)"/>
              <a:ea typeface="+mn-ea"/>
              <a:cs typeface="+mn-cs"/>
            </a:rPr>
            <a:t>DCL</a:t>
          </a:r>
          <a:r>
            <a:rPr lang="en-IN" sz="1800" b="0" kern="1200" dirty="0">
              <a:solidFill>
                <a:schemeClr val="tx1"/>
              </a:solidFill>
              <a:latin typeface="Roboto Condensed(Body)"/>
              <a:ea typeface="+mn-ea"/>
              <a:cs typeface="+mn-cs"/>
            </a:rPr>
            <a:t>)</a:t>
          </a:r>
          <a:endParaRPr lang="en-US" sz="1800" b="0" kern="1200" dirty="0">
            <a:solidFill>
              <a:schemeClr val="tx1"/>
            </a:solidFill>
            <a:latin typeface="Roboto Condensed(Body)"/>
            <a:ea typeface="+mn-ea"/>
            <a:cs typeface="+mn-cs"/>
          </a:endParaRPr>
        </a:p>
      </dsp:txBody>
      <dsp:txXfrm>
        <a:off x="6724216" y="1033750"/>
        <a:ext cx="1451632" cy="725816"/>
      </dsp:txXfrm>
    </dsp:sp>
    <dsp:sp modelId="{BF1B14D0-433D-4943-93B0-352569B8D1C0}">
      <dsp:nvSpPr>
        <dsp:cNvPr id="0" name=""/>
        <dsp:cNvSpPr/>
      </dsp:nvSpPr>
      <dsp:spPr>
        <a:xfrm>
          <a:off x="7150270" y="2013565"/>
          <a:ext cx="1092440" cy="461495"/>
        </a:xfrm>
        <a:prstGeom prst="rect">
          <a:avLst/>
        </a:prstGeom>
        <a:solidFill>
          <a:srgbClr val="A9C0DB"/>
        </a:solidFill>
        <a:ln w="6350" cap="flat" cmpd="sng" algn="ctr">
          <a:solidFill>
            <a:srgbClr val="4271A4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3">
          <a:schemeClr val="accent6"/>
        </a:fillRef>
        <a:effectRef idx="2">
          <a:schemeClr val="accent6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solidFill>
                <a:schemeClr val="tx1"/>
              </a:solidFill>
              <a:latin typeface="Roboto Condensed(Body)"/>
            </a:rPr>
            <a:t>Grant</a:t>
          </a:r>
        </a:p>
      </dsp:txBody>
      <dsp:txXfrm>
        <a:off x="7150270" y="2013565"/>
        <a:ext cx="1092440" cy="461495"/>
      </dsp:txXfrm>
    </dsp:sp>
    <dsp:sp modelId="{AC360B85-DCAA-4575-85A6-849D1248A890}">
      <dsp:nvSpPr>
        <dsp:cNvPr id="0" name=""/>
        <dsp:cNvSpPr/>
      </dsp:nvSpPr>
      <dsp:spPr>
        <a:xfrm>
          <a:off x="7150270" y="2795581"/>
          <a:ext cx="1092440" cy="461495"/>
        </a:xfrm>
        <a:prstGeom prst="rect">
          <a:avLst/>
        </a:prstGeom>
        <a:solidFill>
          <a:srgbClr val="A9C0DB"/>
        </a:solidFill>
        <a:ln w="6350" cap="flat" cmpd="sng" algn="ctr">
          <a:solidFill>
            <a:srgbClr val="4271A4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3">
          <a:schemeClr val="accent6"/>
        </a:fillRef>
        <a:effectRef idx="2">
          <a:schemeClr val="accent6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solidFill>
                <a:schemeClr val="tx1"/>
              </a:solidFill>
              <a:latin typeface="Roboto Condensed(Body)"/>
            </a:rPr>
            <a:t>Revoke</a:t>
          </a:r>
        </a:p>
      </dsp:txBody>
      <dsp:txXfrm>
        <a:off x="7150270" y="2795581"/>
        <a:ext cx="1092440" cy="461495"/>
      </dsp:txXfrm>
    </dsp:sp>
    <dsp:sp modelId="{499822B6-D05A-4DDF-9B73-25A939B304BF}">
      <dsp:nvSpPr>
        <dsp:cNvPr id="0" name=""/>
        <dsp:cNvSpPr/>
      </dsp:nvSpPr>
      <dsp:spPr>
        <a:xfrm>
          <a:off x="8480691" y="1033750"/>
          <a:ext cx="2014909" cy="725816"/>
        </a:xfrm>
        <a:prstGeom prst="rect">
          <a:avLst/>
        </a:prstGeom>
        <a:solidFill>
          <a:schemeClr val="accent6">
            <a:lumMod val="60000"/>
            <a:lumOff val="40000"/>
          </a:schemeClr>
        </a:solidFill>
        <a:ln w="6350" cap="flat" cmpd="sng" algn="ctr">
          <a:solidFill>
            <a:schemeClr val="accent6">
              <a:lumMod val="75000"/>
            </a:schemeClr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3">
          <a:schemeClr val="accent6"/>
        </a:fillRef>
        <a:effectRef idx="2">
          <a:schemeClr val="accent6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>
              <a:solidFill>
                <a:schemeClr val="tx1"/>
              </a:solidFill>
              <a:latin typeface="Roboto Condensed(Body)"/>
              <a:ea typeface="+mn-ea"/>
              <a:cs typeface="+mn-cs"/>
            </a:rPr>
            <a:t>Transaction Control Language(</a:t>
          </a:r>
          <a:r>
            <a:rPr lang="en-US" sz="1800" b="1" kern="1200" dirty="0">
              <a:solidFill>
                <a:schemeClr val="tx1"/>
              </a:solidFill>
              <a:latin typeface="Roboto Condensed(Body)"/>
              <a:ea typeface="+mn-ea"/>
              <a:cs typeface="+mn-cs"/>
            </a:rPr>
            <a:t>TCL</a:t>
          </a:r>
          <a:r>
            <a:rPr lang="en-US" sz="1800" b="0" kern="1200" dirty="0">
              <a:solidFill>
                <a:schemeClr val="tx1"/>
              </a:solidFill>
              <a:latin typeface="Roboto Condensed(Body)"/>
              <a:ea typeface="+mn-ea"/>
              <a:cs typeface="+mn-cs"/>
            </a:rPr>
            <a:t>)</a:t>
          </a:r>
        </a:p>
      </dsp:txBody>
      <dsp:txXfrm>
        <a:off x="8480691" y="1033750"/>
        <a:ext cx="2014909" cy="725816"/>
      </dsp:txXfrm>
    </dsp:sp>
    <dsp:sp modelId="{A79F1929-6BB5-4F97-8C39-32F8BBABAB47}">
      <dsp:nvSpPr>
        <dsp:cNvPr id="0" name=""/>
        <dsp:cNvSpPr/>
      </dsp:nvSpPr>
      <dsp:spPr>
        <a:xfrm>
          <a:off x="8984419" y="2093282"/>
          <a:ext cx="1138660" cy="481020"/>
        </a:xfrm>
        <a:prstGeom prst="rect">
          <a:avLst/>
        </a:prstGeom>
        <a:solidFill>
          <a:srgbClr val="A9C0DB"/>
        </a:solidFill>
        <a:ln w="6350" cap="flat" cmpd="sng" algn="ctr">
          <a:solidFill>
            <a:srgbClr val="4271A4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3">
          <a:schemeClr val="accent6"/>
        </a:fillRef>
        <a:effectRef idx="2">
          <a:schemeClr val="accent6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solidFill>
                <a:schemeClr val="tx1"/>
              </a:solidFill>
              <a:latin typeface="Roboto Condensed(Body)"/>
              <a:ea typeface="+mn-ea"/>
              <a:cs typeface="+mn-cs"/>
            </a:rPr>
            <a:t>Commit</a:t>
          </a:r>
        </a:p>
      </dsp:txBody>
      <dsp:txXfrm>
        <a:off x="8984419" y="2093282"/>
        <a:ext cx="1138660" cy="481020"/>
      </dsp:txXfrm>
    </dsp:sp>
    <dsp:sp modelId="{85F0515A-C3D1-48DF-82B3-F4C6C00D7DA5}">
      <dsp:nvSpPr>
        <dsp:cNvPr id="0" name=""/>
        <dsp:cNvSpPr/>
      </dsp:nvSpPr>
      <dsp:spPr>
        <a:xfrm>
          <a:off x="8984419" y="2850272"/>
          <a:ext cx="1138660" cy="481020"/>
        </a:xfrm>
        <a:prstGeom prst="rect">
          <a:avLst/>
        </a:prstGeom>
        <a:solidFill>
          <a:srgbClr val="A9C0DB"/>
        </a:solidFill>
        <a:ln w="6350" cap="flat" cmpd="sng" algn="ctr">
          <a:solidFill>
            <a:srgbClr val="4271A4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3">
          <a:schemeClr val="accent6"/>
        </a:fillRef>
        <a:effectRef idx="2">
          <a:schemeClr val="accent6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solidFill>
                <a:schemeClr val="tx1"/>
              </a:solidFill>
              <a:latin typeface="Roboto Condensed(Body)"/>
              <a:ea typeface="+mn-ea"/>
              <a:cs typeface="+mn-cs"/>
            </a:rPr>
            <a:t>Rollback</a:t>
          </a:r>
        </a:p>
      </dsp:txBody>
      <dsp:txXfrm>
        <a:off x="8984419" y="2850272"/>
        <a:ext cx="1138660" cy="481020"/>
      </dsp:txXfrm>
    </dsp:sp>
    <dsp:sp modelId="{89BBF7D7-3281-4C3F-9BF5-9ED5E1EFDA9B}">
      <dsp:nvSpPr>
        <dsp:cNvPr id="0" name=""/>
        <dsp:cNvSpPr/>
      </dsp:nvSpPr>
      <dsp:spPr>
        <a:xfrm>
          <a:off x="8984419" y="3636135"/>
          <a:ext cx="1138660" cy="481020"/>
        </a:xfrm>
        <a:prstGeom prst="rect">
          <a:avLst/>
        </a:prstGeom>
        <a:solidFill>
          <a:srgbClr val="A9C0DB"/>
        </a:solidFill>
        <a:ln w="6350" cap="flat" cmpd="sng" algn="ctr">
          <a:solidFill>
            <a:srgbClr val="4271A4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3">
          <a:schemeClr val="accent6"/>
        </a:fillRef>
        <a:effectRef idx="2">
          <a:schemeClr val="accent6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 err="1">
              <a:solidFill>
                <a:schemeClr val="tx1"/>
              </a:solidFill>
              <a:latin typeface="Roboto Condensed(Body)"/>
              <a:ea typeface="+mn-ea"/>
              <a:cs typeface="+mn-cs"/>
            </a:rPr>
            <a:t>Savepoint</a:t>
          </a:r>
          <a:endParaRPr lang="en-IN" sz="1800" kern="1200" dirty="0">
            <a:solidFill>
              <a:schemeClr val="tx1"/>
            </a:solidFill>
            <a:latin typeface="Roboto Condensed(Body)"/>
            <a:ea typeface="+mn-ea"/>
            <a:cs typeface="+mn-cs"/>
          </a:endParaRPr>
        </a:p>
      </dsp:txBody>
      <dsp:txXfrm>
        <a:off x="8984419" y="3636135"/>
        <a:ext cx="1138660" cy="4810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>
                <a:solidFill>
                  <a:prstClr val="black"/>
                </a:solidFill>
              </a:rPr>
              <a:pPr/>
              <a:t>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70935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2B0EB9-924B-4EB9-AB14-282C92B55AE8}" type="slidenum">
              <a:rPr lang="en-IN" smtClean="0"/>
              <a:t>66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396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2B0EB9-924B-4EB9-AB14-282C92B55AE8}" type="slidenum">
              <a:rPr lang="en-IN" smtClean="0"/>
              <a:t>76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03215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2B0EB9-924B-4EB9-AB14-282C92B55AE8}" type="slidenum">
              <a:rPr lang="en-IN" smtClean="0"/>
              <a:t>96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4506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jpe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microsoft.com/office/2007/relationships/hdphoto" Target="../media/hdphoto2.wdp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8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4841362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9A329F3-B4EA-403B-BD1C-FDD65D8E9D3F}"/>
              </a:ext>
            </a:extLst>
          </p:cNvPr>
          <p:cNvGrpSpPr/>
          <p:nvPr userDrawn="1"/>
        </p:nvGrpSpPr>
        <p:grpSpPr>
          <a:xfrm>
            <a:off x="10721798" y="852808"/>
            <a:ext cx="1339023" cy="407045"/>
            <a:chOff x="10721798" y="852808"/>
            <a:chExt cx="1339023" cy="40704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0325C5E-F004-43A9-9277-53A0BD206A7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B63808E-204C-4894-A747-B51DDC7425C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Hemang R. Chath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22364D95-B329-9454-0C65-6DD9D28321C5}"/>
              </a:ext>
            </a:extLst>
          </p:cNvPr>
          <p:cNvSpPr txBox="1">
            <a:spLocks/>
          </p:cNvSpPr>
          <p:nvPr userDrawn="1"/>
        </p:nvSpPr>
        <p:spPr>
          <a:xfrm>
            <a:off x="3766657" y="6604000"/>
            <a:ext cx="5771626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2304CS204(DBMS-I)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3 – Introduction to SQL</a:t>
            </a:r>
          </a:p>
        </p:txBody>
      </p: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721797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Hemang R. Chath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tx2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tx2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tx2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tx2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tx2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6F3D0C57-A7FF-E69D-35D9-B1280605F8A4}"/>
              </a:ext>
            </a:extLst>
          </p:cNvPr>
          <p:cNvSpPr txBox="1">
            <a:spLocks/>
          </p:cNvSpPr>
          <p:nvPr userDrawn="1"/>
        </p:nvSpPr>
        <p:spPr>
          <a:xfrm>
            <a:off x="3766657" y="6604000"/>
            <a:ext cx="5771626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2304CS204 (DBMS-I)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3 – Introduction to SQL</a:t>
            </a:r>
          </a:p>
        </p:txBody>
      </p: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31179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Deep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C. Padaliya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4DDA11D8-E569-819B-DC85-02C2766C1F57}"/>
              </a:ext>
            </a:extLst>
          </p:cNvPr>
          <p:cNvSpPr txBox="1">
            <a:spLocks/>
          </p:cNvSpPr>
          <p:nvPr userDrawn="1"/>
        </p:nvSpPr>
        <p:spPr>
          <a:xfrm>
            <a:off x="3766657" y="6604000"/>
            <a:ext cx="5771626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2304CS204(DBMS-I)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3 – Introduction to SQL</a:t>
            </a:r>
          </a:p>
        </p:txBody>
      </p: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0677938" y="6350844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Deep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C. Padaliya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AA5C57A-F840-488A-AACF-E658D398FCEC}"/>
              </a:ext>
            </a:extLst>
          </p:cNvPr>
          <p:cNvGrpSpPr/>
          <p:nvPr userDrawn="1"/>
        </p:nvGrpSpPr>
        <p:grpSpPr>
          <a:xfrm>
            <a:off x="10304203" y="212531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B8F12B0-F30C-4955-8E3F-625C9D2A74C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508BA0B-FE99-4953-98B0-D2708C070068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A8709C-9796-95F7-675B-55F1D628076F}"/>
              </a:ext>
            </a:extLst>
          </p:cNvPr>
          <p:cNvSpPr txBox="1">
            <a:spLocks/>
          </p:cNvSpPr>
          <p:nvPr userDrawn="1"/>
        </p:nvSpPr>
        <p:spPr>
          <a:xfrm>
            <a:off x="3766657" y="6604000"/>
            <a:ext cx="5771626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2304CS204(DBMS-I)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3 – Introduction to SQL</a:t>
            </a:r>
          </a:p>
        </p:txBody>
      </p: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Deep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C. Padaliya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5976558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AF6D8C-880B-49D5-FAC3-E4B236FE216C}"/>
              </a:ext>
            </a:extLst>
          </p:cNvPr>
          <p:cNvSpPr txBox="1">
            <a:spLocks/>
          </p:cNvSpPr>
          <p:nvPr userDrawn="1"/>
        </p:nvSpPr>
        <p:spPr>
          <a:xfrm>
            <a:off x="3766657" y="6604000"/>
            <a:ext cx="5771626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2304CS204(DBMS-I)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3 – Introduction to SQL</a:t>
            </a:r>
          </a:p>
        </p:txBody>
      </p: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hank You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20384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baseline="0" dirty="0">
                <a:solidFill>
                  <a:schemeClr val="tx1"/>
                </a:solidFill>
                <a:latin typeface="Roboto Condensed(Body)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Computer Engineering Department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	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0762" y="307556"/>
            <a:ext cx="270404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DBMS-1</a:t>
            </a:r>
          </a:p>
          <a:p>
            <a:pPr lvl="0"/>
            <a:r>
              <a:rPr lang="en-US" dirty="0"/>
              <a:t>DU 2101CS201</a:t>
            </a:r>
          </a:p>
        </p:txBody>
      </p:sp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Hexagon 29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1D3064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extBox 30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34" name="Rectangle 33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  <a:solidFill>
            <a:srgbClr val="1D3064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solidFill>
            <a:srgbClr val="1D3064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185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0" r:id="rId2"/>
    <p:sldLayoutId id="2147483687" r:id="rId3"/>
    <p:sldLayoutId id="2147483688" r:id="rId4"/>
    <p:sldLayoutId id="2147483671" r:id="rId5"/>
    <p:sldLayoutId id="2147483672" r:id="rId6"/>
    <p:sldLayoutId id="2147483689" r:id="rId7"/>
    <p:sldLayoutId id="2147483673" r:id="rId8"/>
    <p:sldLayoutId id="2147483691" r:id="rId9"/>
    <p:sldLayoutId id="2147483692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gif"/><Relationship Id="rId9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0.png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149" y="1010304"/>
            <a:ext cx="8939075" cy="2578780"/>
          </a:xfrm>
        </p:spPr>
        <p:txBody>
          <a:bodyPr/>
          <a:lstStyle/>
          <a:p>
            <a:r>
              <a:rPr lang="en-US" sz="4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Unit-3</a:t>
            </a:r>
            <a:r>
              <a:rPr lang="en-US" dirty="0"/>
              <a:t> </a:t>
            </a:r>
            <a:br>
              <a:rPr lang="en-US" dirty="0"/>
            </a:br>
            <a:r>
              <a:rPr lang="en-US" sz="5500" dirty="0">
                <a:latin typeface="Roboto Condensed(Body)"/>
              </a:rPr>
              <a:t>Introduction to SQL (Structured Query language)</a:t>
            </a:r>
            <a:br>
              <a:rPr lang="en-US" sz="5500" dirty="0">
                <a:latin typeface="Roboto Condensed(Body)"/>
              </a:rPr>
            </a:br>
            <a:endParaRPr lang="en-US" sz="55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D4005A-4647-4086-9144-7BCC7DFEFB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hemang.chath@darshan.ac.in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17D43-889A-4049-ACFD-9B3B648B6A9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8200834776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86D614-6447-4787-8025-9C902A1B73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8" y="5537768"/>
            <a:ext cx="3826004" cy="309928"/>
          </a:xfrm>
        </p:spPr>
        <p:txBody>
          <a:bodyPr/>
          <a:lstStyle/>
          <a:p>
            <a:r>
              <a:rPr lang="en-US" dirty="0"/>
              <a:t>Computer Science &amp; Engineering Department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7AB9BC-FE08-46B2-A19C-803CB5DF0C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Hemang R Chath</a:t>
            </a:r>
          </a:p>
        </p:txBody>
      </p:sp>
      <p:sp>
        <p:nvSpPr>
          <p:cNvPr id="1027" name="Text Placeholder 1026">
            <a:extLst>
              <a:ext uri="{FF2B5EF4-FFF2-40B4-BE49-F238E27FC236}">
                <a16:creationId xmlns:a16="http://schemas.microsoft.com/office/drawing/2014/main" id="{D1F0AA94-EAF3-4868-942A-0125EFC5C7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>
                <a:latin typeface="Roboto Condensed(Body)"/>
              </a:rPr>
              <a:t>Database Management System-I </a:t>
            </a:r>
            <a:r>
              <a:rPr lang="en-US" dirty="0">
                <a:latin typeface="Roboto Condensed(Body)"/>
                <a:ea typeface="Roboto Condensed Light" panose="02000000000000000000" pitchFamily="2" charset="0"/>
              </a:rPr>
              <a:t>(DBMS-I)</a:t>
            </a:r>
          </a:p>
          <a:p>
            <a:r>
              <a:rPr lang="en-US" dirty="0">
                <a:latin typeface="Roboto Condensed(Body)"/>
              </a:rPr>
              <a:t>DU # 2304CS204</a:t>
            </a:r>
          </a:p>
        </p:txBody>
      </p:sp>
      <p:sp>
        <p:nvSpPr>
          <p:cNvPr id="11" name="AutoShape 3">
            <a:extLst>
              <a:ext uri="{FF2B5EF4-FFF2-40B4-BE49-F238E27FC236}">
                <a16:creationId xmlns:a16="http://schemas.microsoft.com/office/drawing/2014/main" id="{3D1B70E7-2396-452E-A00A-D1D4AA1E56D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5573676" y="-3055324"/>
            <a:ext cx="7721600" cy="1457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B9004DF-727B-4AEF-BA9B-6AF15CF18C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pic>
        <p:nvPicPr>
          <p:cNvPr id="10" name="Picture Placeholder 8">
            <a:extLst>
              <a:ext uri="{FF2B5EF4-FFF2-40B4-BE49-F238E27FC236}">
                <a16:creationId xmlns:a16="http://schemas.microsoft.com/office/drawing/2014/main" id="{9A4FC979-86A3-C87F-8B06-1426545BCD3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" t="-79" r="608" b="11610"/>
          <a:stretch/>
        </p:blipFill>
        <p:spPr>
          <a:xfrm>
            <a:off x="342900" y="5081155"/>
            <a:ext cx="1392382" cy="147550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64520C5-AE6B-E485-E4E6-A33C1508BD66}"/>
              </a:ext>
            </a:extLst>
          </p:cNvPr>
          <p:cNvSpPr/>
          <p:nvPr/>
        </p:nvSpPr>
        <p:spPr>
          <a:xfrm>
            <a:off x="678112" y="3889663"/>
            <a:ext cx="63858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1600" b="1" i="1" u="none" strike="noStrike" baseline="0" dirty="0">
                <a:latin typeface="Roboto Condensed,Bold"/>
              </a:rPr>
              <a:t>CO2:</a:t>
            </a:r>
            <a:r>
              <a:rPr lang="en-IN" sz="1600" b="0" i="1" u="none" strike="noStrike" baseline="0" dirty="0">
                <a:latin typeface="Roboto Condensed,Bold"/>
              </a:rPr>
              <a:t> </a:t>
            </a:r>
            <a:r>
              <a:rPr lang="en-US" sz="1800" b="1" i="1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 the end of this unit, students will be able to,</a:t>
            </a:r>
          </a:p>
          <a:p>
            <a:pPr algn="just"/>
            <a:r>
              <a:rPr lang="en-US" b="1" dirty="0"/>
              <a:t>        execute</a:t>
            </a:r>
            <a:r>
              <a:rPr lang="en-US" dirty="0"/>
              <a:t> the basic and advanced SQL Queries.</a:t>
            </a:r>
            <a:endParaRPr lang="en-IN" sz="1600" b="0" i="1" dirty="0"/>
          </a:p>
        </p:txBody>
      </p:sp>
    </p:spTree>
    <p:extLst>
      <p:ext uri="{BB962C8B-B14F-4D97-AF65-F5344CB8AC3E}">
        <p14:creationId xmlns:p14="http://schemas.microsoft.com/office/powerpoint/2010/main" val="661001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925EF2-D58F-4AC0-ACED-F747CC08D69F}"/>
              </a:ext>
            </a:extLst>
          </p:cNvPr>
          <p:cNvCxnSpPr>
            <a:cxnSpLocks/>
          </p:cNvCxnSpPr>
          <p:nvPr/>
        </p:nvCxnSpPr>
        <p:spPr>
          <a:xfrm>
            <a:off x="1191446" y="3429000"/>
            <a:ext cx="0" cy="280384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246540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3" y="731706"/>
            <a:ext cx="8580774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Outline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Roboto Condensed(Body)"/>
              </a:rPr>
              <a:t>Introduction to DBMS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Roboto Condensed(Body)"/>
              </a:rPr>
              <a:t>SQL and Components of SQL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Datatypes in SQL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Roboto Condensed(Body)"/>
              </a:rPr>
              <a:t>Create, Insert, Select, Update and Alter Commands</a:t>
            </a:r>
            <a:endParaRPr lang="en-US" sz="24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Roboto Condensed(Body)"/>
              </a:rPr>
              <a:t>Delete, Truncate, Drop and Rename Commands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Roboto Condensed(Body)"/>
              </a:rPr>
              <a:t>SQL Operators</a:t>
            </a:r>
            <a:endParaRPr lang="en-US" sz="24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Roboto Condensed(Body)"/>
              </a:rPr>
              <a:t>SQL Order By Clause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Roboto Condensed(Body)"/>
              </a:rPr>
              <a:t>Aggregate functions, Group By and Group By Having Clause</a:t>
            </a:r>
            <a:endParaRPr lang="en-US" sz="24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Roboto Condensed(Body)"/>
              </a:rPr>
              <a:t>Conversion, Math, Date and String Functions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16305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DBMS</a:t>
            </a:r>
          </a:p>
        </p:txBody>
      </p:sp>
    </p:spTree>
    <p:extLst>
      <p:ext uri="{BB962C8B-B14F-4D97-AF65-F5344CB8AC3E}">
        <p14:creationId xmlns:p14="http://schemas.microsoft.com/office/powerpoint/2010/main" val="2724533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Data?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1D6FA9"/>
              </a:buClr>
            </a:pPr>
            <a:r>
              <a:rPr lang="en-US" dirty="0"/>
              <a:t>Data</a:t>
            </a:r>
            <a:r>
              <a:rPr lang="en-US" b="1" dirty="0"/>
              <a:t> </a:t>
            </a:r>
            <a:r>
              <a:rPr lang="en-US" dirty="0"/>
              <a:t>can be a</a:t>
            </a:r>
            <a:r>
              <a:rPr lang="en-US" b="1" dirty="0"/>
              <a:t> </a:t>
            </a:r>
            <a:r>
              <a:rPr lang="en-US" b="1" dirty="0">
                <a:solidFill>
                  <a:srgbClr val="C00000"/>
                </a:solidFill>
              </a:rPr>
              <a:t>real time object</a:t>
            </a:r>
            <a:r>
              <a:rPr lang="en-US" b="1" dirty="0">
                <a:solidFill>
                  <a:schemeClr val="accent6"/>
                </a:solidFill>
              </a:rPr>
              <a:t> </a:t>
            </a:r>
            <a:r>
              <a:rPr lang="en-US" dirty="0"/>
              <a:t>or a </a:t>
            </a:r>
            <a:r>
              <a:rPr lang="en-US" b="1" dirty="0">
                <a:solidFill>
                  <a:srgbClr val="C00000"/>
                </a:solidFill>
              </a:rPr>
              <a:t>static value </a:t>
            </a:r>
            <a:r>
              <a:rPr lang="en-US" dirty="0"/>
              <a:t>or a </a:t>
            </a:r>
            <a:r>
              <a:rPr lang="en-US" b="1" dirty="0">
                <a:solidFill>
                  <a:srgbClr val="C00000"/>
                </a:solidFill>
              </a:rPr>
              <a:t>fact</a:t>
            </a:r>
            <a:r>
              <a:rPr lang="en-US" dirty="0"/>
              <a:t> that can be stored or recorded.</a:t>
            </a:r>
          </a:p>
          <a:p>
            <a:r>
              <a:rPr lang="en-US" b="1" dirty="0"/>
              <a:t>Example: </a:t>
            </a:r>
            <a:r>
              <a:rPr lang="en-US" dirty="0"/>
              <a:t>Your name, age, height, weight, photo, audio, video etc.</a:t>
            </a:r>
          </a:p>
          <a:p>
            <a:r>
              <a:rPr lang="en-US" dirty="0"/>
              <a:t>When you post a status on Facebook, perform an online banking transaction, or upload a selfie on Instagram, you are actually </a:t>
            </a:r>
            <a:r>
              <a:rPr lang="en-US" b="1" dirty="0">
                <a:solidFill>
                  <a:schemeClr val="accent6"/>
                </a:solidFill>
              </a:rPr>
              <a:t>sending data </a:t>
            </a:r>
            <a:r>
              <a:rPr lang="en-US" dirty="0"/>
              <a:t>to the </a:t>
            </a:r>
            <a:r>
              <a:rPr lang="en-US" b="1" dirty="0">
                <a:solidFill>
                  <a:schemeClr val="accent6"/>
                </a:solidFill>
              </a:rPr>
              <a:t>website’s server</a:t>
            </a:r>
            <a:r>
              <a:rPr lang="en-US" dirty="0"/>
              <a:t>.</a:t>
            </a:r>
          </a:p>
          <a:p>
            <a:r>
              <a:rPr lang="en-US" dirty="0"/>
              <a:t>Server filter out the necessary data and stores it in </a:t>
            </a:r>
            <a:r>
              <a:rPr lang="en-US" b="1" dirty="0">
                <a:solidFill>
                  <a:srgbClr val="C00000"/>
                </a:solidFill>
              </a:rPr>
              <a:t>Database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1D95AD-A5AD-4105-85E9-DC7DA5D910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3674350"/>
            <a:ext cx="7620000" cy="22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205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98B72-7562-D3A2-41F7-BF09F82C3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7F1AD-0AB7-25D5-B198-C0B40A38F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2025 Internet Minute Breakdown 📊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61B3B2E-80B1-96B3-FA59-7761ADA25A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5347747"/>
              </p:ext>
            </p:extLst>
          </p:nvPr>
        </p:nvGraphicFramePr>
        <p:xfrm>
          <a:off x="310356" y="1060315"/>
          <a:ext cx="8136278" cy="57912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6959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403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058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400" b="1" dirty="0">
                          <a:solidFill>
                            <a:schemeClr val="accent6"/>
                          </a:solidFill>
                        </a:rPr>
                        <a:t>Site/App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400" b="1" dirty="0">
                          <a:solidFill>
                            <a:schemeClr val="accent6"/>
                          </a:solidFill>
                        </a:rPr>
                        <a:t> 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5819869"/>
                  </a:ext>
                </a:extLst>
              </a:tr>
            </a:tbl>
          </a:graphicData>
        </a:graphic>
      </p:graphicFrame>
      <p:graphicFrame>
        <p:nvGraphicFramePr>
          <p:cNvPr id="1043" name="Table 1042">
            <a:extLst>
              <a:ext uri="{FF2B5EF4-FFF2-40B4-BE49-F238E27FC236}">
                <a16:creationId xmlns:a16="http://schemas.microsoft.com/office/drawing/2014/main" id="{60935E22-689B-C6A7-B8C1-90E9A3B6FC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0236600"/>
              </p:ext>
            </p:extLst>
          </p:nvPr>
        </p:nvGraphicFramePr>
        <p:xfrm>
          <a:off x="310356" y="2736926"/>
          <a:ext cx="8136278" cy="58040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959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403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04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 dirty="0"/>
                        <a:t>Instagram </a:t>
                      </a:r>
                      <a:endParaRPr lang="en-IN" sz="2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dirty="0"/>
                        <a:t>  ~2 </a:t>
                      </a:r>
                      <a:r>
                        <a:rPr lang="en-US" sz="2200" b="0" dirty="0">
                          <a:solidFill>
                            <a:schemeClr val="tx1"/>
                          </a:solidFill>
                        </a:rPr>
                        <a:t>Million</a:t>
                      </a:r>
                      <a:r>
                        <a:rPr lang="en-IN" sz="2200" dirty="0"/>
                        <a:t> posts/photos/videos (combined) </a:t>
                      </a:r>
                      <a:endParaRPr lang="en-US" sz="2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44" name="Table 1043">
            <a:extLst>
              <a:ext uri="{FF2B5EF4-FFF2-40B4-BE49-F238E27FC236}">
                <a16:creationId xmlns:a16="http://schemas.microsoft.com/office/drawing/2014/main" id="{1C5B80F8-67B3-357A-423D-E9FB2000D2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9886345"/>
              </p:ext>
            </p:extLst>
          </p:nvPr>
        </p:nvGraphicFramePr>
        <p:xfrm>
          <a:off x="310356" y="3323818"/>
          <a:ext cx="8136278" cy="54779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6959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403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7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 dirty="0"/>
                        <a:t>YouTube</a:t>
                      </a:r>
                      <a:endParaRPr lang="en-IN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/>
                        <a:t>  </a:t>
                      </a:r>
                      <a:r>
                        <a:rPr lang="en-US" sz="2200" b="0" dirty="0"/>
                        <a:t>~500 hours of video uploaded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45" name="Table 1044">
            <a:extLst>
              <a:ext uri="{FF2B5EF4-FFF2-40B4-BE49-F238E27FC236}">
                <a16:creationId xmlns:a16="http://schemas.microsoft.com/office/drawing/2014/main" id="{F314BC7E-36A0-2C70-D0F7-6402A48AE6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7082296"/>
              </p:ext>
            </p:extLst>
          </p:nvPr>
        </p:nvGraphicFramePr>
        <p:xfrm>
          <a:off x="300628" y="2159748"/>
          <a:ext cx="8146006" cy="58040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97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480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04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 dirty="0"/>
                        <a:t>Facebook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dirty="0"/>
                        <a:t>  ~1.7 </a:t>
                      </a:r>
                      <a:r>
                        <a:rPr lang="en-US" sz="2200" b="0" dirty="0">
                          <a:solidFill>
                            <a:schemeClr val="tx1"/>
                          </a:solidFill>
                        </a:rPr>
                        <a:t>Million</a:t>
                      </a:r>
                      <a:r>
                        <a:rPr lang="en-IN" sz="2200" dirty="0"/>
                        <a:t> content shared</a:t>
                      </a:r>
                      <a:endParaRPr lang="en-US" sz="22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9669552"/>
                  </a:ext>
                </a:extLst>
              </a:tr>
            </a:tbl>
          </a:graphicData>
        </a:graphic>
      </p:graphicFrame>
      <p:graphicFrame>
        <p:nvGraphicFramePr>
          <p:cNvPr id="1047" name="Table 1046">
            <a:extLst>
              <a:ext uri="{FF2B5EF4-FFF2-40B4-BE49-F238E27FC236}">
                <a16:creationId xmlns:a16="http://schemas.microsoft.com/office/drawing/2014/main" id="{D9464223-8C9A-CE0D-1CA2-7D7574E1B4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9642026"/>
              </p:ext>
            </p:extLst>
          </p:nvPr>
        </p:nvGraphicFramePr>
        <p:xfrm>
          <a:off x="310356" y="1647187"/>
          <a:ext cx="8136278" cy="510585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6959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403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05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 dirty="0">
                          <a:solidFill>
                            <a:schemeClr val="tx1"/>
                          </a:solidFill>
                        </a:rPr>
                        <a:t>Google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en-US" sz="2200" b="0" dirty="0">
                          <a:solidFill>
                            <a:schemeClr val="tx1"/>
                          </a:solidFill>
                        </a:rPr>
                        <a:t>~6.3 Million searches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0767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Database?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Database is a </a:t>
            </a:r>
            <a:r>
              <a:rPr lang="en-US" b="1" dirty="0">
                <a:solidFill>
                  <a:srgbClr val="C00000"/>
                </a:solidFill>
              </a:rPr>
              <a:t>systematic collection</a:t>
            </a:r>
            <a:r>
              <a:rPr lang="en-US" b="1" dirty="0">
                <a:solidFill>
                  <a:schemeClr val="accent1"/>
                </a:solidFill>
              </a:rPr>
              <a:t> </a:t>
            </a:r>
            <a:r>
              <a:rPr lang="en-US" dirty="0"/>
              <a:t>of </a:t>
            </a:r>
            <a:r>
              <a:rPr lang="en-US" b="1" dirty="0">
                <a:solidFill>
                  <a:srgbClr val="C00000"/>
                </a:solidFill>
              </a:rPr>
              <a:t>data</a:t>
            </a:r>
            <a:r>
              <a:rPr lang="en-US" dirty="0"/>
              <a:t>.</a:t>
            </a:r>
          </a:p>
          <a:p>
            <a:r>
              <a:rPr lang="en-US" dirty="0"/>
              <a:t>A Database is a collection of </a:t>
            </a:r>
            <a:r>
              <a:rPr lang="en-US" b="1" dirty="0">
                <a:solidFill>
                  <a:schemeClr val="accent6"/>
                </a:solidFill>
              </a:rPr>
              <a:t>logically related data </a:t>
            </a:r>
            <a:r>
              <a:rPr lang="en-US" dirty="0"/>
              <a:t>organized in such a way that data can be easily </a:t>
            </a:r>
            <a:r>
              <a:rPr lang="en-US" b="1" dirty="0">
                <a:solidFill>
                  <a:schemeClr val="accent6"/>
                </a:solidFill>
              </a:rPr>
              <a:t>accessed</a:t>
            </a:r>
            <a:r>
              <a:rPr lang="en-US" dirty="0"/>
              <a:t>, </a:t>
            </a:r>
            <a:r>
              <a:rPr lang="en-US" b="1" dirty="0">
                <a:solidFill>
                  <a:schemeClr val="accent6"/>
                </a:solidFill>
              </a:rPr>
              <a:t>managed</a:t>
            </a:r>
            <a:r>
              <a:rPr lang="en-US" dirty="0"/>
              <a:t> and </a:t>
            </a:r>
            <a:r>
              <a:rPr lang="en-US" b="1" dirty="0">
                <a:solidFill>
                  <a:schemeClr val="accent6"/>
                </a:solidFill>
              </a:rPr>
              <a:t>updated</a:t>
            </a:r>
            <a:r>
              <a:rPr lang="en-US" dirty="0"/>
              <a:t>. </a:t>
            </a:r>
          </a:p>
          <a:p>
            <a:r>
              <a:rPr lang="en-US" dirty="0"/>
              <a:t>So, a database is made up of two components mainly, </a:t>
            </a:r>
            <a:r>
              <a:rPr lang="en-US" b="1" dirty="0">
                <a:solidFill>
                  <a:srgbClr val="C00000"/>
                </a:solidFill>
              </a:rPr>
              <a:t>data</a:t>
            </a:r>
            <a:r>
              <a:rPr lang="en-US" b="1" i="1" dirty="0"/>
              <a:t> </a:t>
            </a:r>
            <a:r>
              <a:rPr lang="en-US" dirty="0"/>
              <a:t>and </a:t>
            </a:r>
            <a:r>
              <a:rPr lang="en-US" b="1" dirty="0">
                <a:solidFill>
                  <a:srgbClr val="C00000"/>
                </a:solidFill>
              </a:rPr>
              <a:t>a</a:t>
            </a:r>
            <a:r>
              <a:rPr lang="en-US" b="1" i="1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meaningful</a:t>
            </a:r>
            <a:r>
              <a:rPr lang="en-US" b="1" i="1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method</a:t>
            </a:r>
            <a:r>
              <a:rPr lang="en-US" b="1" i="1" dirty="0">
                <a:solidFill>
                  <a:srgbClr val="C00000"/>
                </a:solidFill>
              </a:rPr>
              <a:t> </a:t>
            </a:r>
            <a:r>
              <a:rPr lang="en-US" dirty="0"/>
              <a:t>for</a:t>
            </a:r>
            <a:r>
              <a:rPr lang="en-US" i="1" dirty="0"/>
              <a:t> </a:t>
            </a:r>
            <a:r>
              <a:rPr lang="en-US" b="1" dirty="0">
                <a:solidFill>
                  <a:srgbClr val="C00000"/>
                </a:solidFill>
              </a:rPr>
              <a:t>accessing</a:t>
            </a:r>
            <a:r>
              <a:rPr lang="en-US" b="1" i="1" dirty="0">
                <a:solidFill>
                  <a:srgbClr val="C00000"/>
                </a:solidFill>
              </a:rPr>
              <a:t> </a:t>
            </a:r>
            <a:r>
              <a:rPr lang="en-US" dirty="0"/>
              <a:t>and</a:t>
            </a:r>
            <a:r>
              <a:rPr lang="en-US" b="1" i="1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manipulating</a:t>
            </a:r>
            <a:r>
              <a:rPr lang="en-US" b="1" i="1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data</a:t>
            </a:r>
            <a:r>
              <a:rPr lang="en-US" b="1" i="1" dirty="0">
                <a:solidFill>
                  <a:srgbClr val="C00000"/>
                </a:solidFill>
              </a:rPr>
              <a:t>.</a:t>
            </a:r>
          </a:p>
          <a:p>
            <a:r>
              <a:rPr lang="en-US" b="1" dirty="0"/>
              <a:t>Example: </a:t>
            </a:r>
            <a:r>
              <a:rPr lang="en-US" dirty="0"/>
              <a:t>Dictionary, </a:t>
            </a:r>
            <a:r>
              <a:rPr lang="en-US"/>
              <a:t>Online Telephone </a:t>
            </a:r>
            <a:r>
              <a:rPr lang="en-US" dirty="0"/>
              <a:t>D</a:t>
            </a:r>
            <a:r>
              <a:rPr lang="en-US"/>
              <a:t>irectory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630BFB-3451-4CD4-ADA9-395E9CB4BE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9499" y="3176337"/>
            <a:ext cx="2514600" cy="287539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971030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Database Management System?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DBMS is a </a:t>
            </a:r>
            <a:r>
              <a:rPr lang="en-US" b="1" dirty="0">
                <a:solidFill>
                  <a:schemeClr val="accent6"/>
                </a:solidFill>
              </a:rPr>
              <a:t>software</a:t>
            </a:r>
            <a:r>
              <a:rPr lang="en-US" b="1" dirty="0"/>
              <a:t> </a:t>
            </a:r>
            <a:r>
              <a:rPr lang="en-US" dirty="0"/>
              <a:t>to</a:t>
            </a:r>
            <a:r>
              <a:rPr lang="en-US" b="1" dirty="0"/>
              <a:t> </a:t>
            </a:r>
            <a:r>
              <a:rPr lang="en-US" b="1" dirty="0">
                <a:solidFill>
                  <a:schemeClr val="accent6"/>
                </a:solidFill>
              </a:rPr>
              <a:t>create</a:t>
            </a:r>
            <a:r>
              <a:rPr lang="en-US" b="1" dirty="0"/>
              <a:t> </a:t>
            </a:r>
            <a:r>
              <a:rPr lang="en-US" dirty="0"/>
              <a:t>and</a:t>
            </a:r>
            <a:r>
              <a:rPr lang="en-US" b="1" dirty="0"/>
              <a:t> </a:t>
            </a:r>
            <a:r>
              <a:rPr lang="en-US" b="1" dirty="0">
                <a:solidFill>
                  <a:schemeClr val="accent6"/>
                </a:solidFill>
              </a:rPr>
              <a:t>manage</a:t>
            </a:r>
            <a:r>
              <a:rPr lang="en-US" b="1" dirty="0"/>
              <a:t> </a:t>
            </a:r>
            <a:r>
              <a:rPr lang="en-US" b="1" dirty="0">
                <a:solidFill>
                  <a:schemeClr val="accent6"/>
                </a:solidFill>
              </a:rPr>
              <a:t>database</a:t>
            </a:r>
            <a:r>
              <a:rPr lang="en-US" dirty="0"/>
              <a:t>. </a:t>
            </a:r>
          </a:p>
          <a:p>
            <a:r>
              <a:rPr lang="en-US" dirty="0"/>
              <a:t>DBMS provides an </a:t>
            </a:r>
            <a:r>
              <a:rPr lang="en-US" b="1" dirty="0">
                <a:solidFill>
                  <a:schemeClr val="accent6"/>
                </a:solidFill>
              </a:rPr>
              <a:t>interface</a:t>
            </a:r>
            <a:r>
              <a:rPr lang="en-US" dirty="0"/>
              <a:t> between </a:t>
            </a:r>
            <a:r>
              <a:rPr lang="en-US" b="1" dirty="0">
                <a:solidFill>
                  <a:schemeClr val="accent6"/>
                </a:solidFill>
              </a:rPr>
              <a:t>users</a:t>
            </a:r>
            <a:r>
              <a:rPr lang="en-US" dirty="0"/>
              <a:t> and a </a:t>
            </a:r>
            <a:r>
              <a:rPr lang="en-US" b="1" dirty="0">
                <a:solidFill>
                  <a:schemeClr val="accent6"/>
                </a:solidFill>
              </a:rPr>
              <a:t>database</a:t>
            </a:r>
            <a:r>
              <a:rPr lang="en-US" dirty="0"/>
              <a:t>. It allows organizations to </a:t>
            </a:r>
            <a:r>
              <a:rPr lang="en-US" b="1" dirty="0">
                <a:solidFill>
                  <a:schemeClr val="accent6"/>
                </a:solidFill>
              </a:rPr>
              <a:t>create</a:t>
            </a:r>
            <a:r>
              <a:rPr lang="en-US" dirty="0"/>
              <a:t>, </a:t>
            </a:r>
            <a:r>
              <a:rPr lang="en-US" b="1" dirty="0">
                <a:solidFill>
                  <a:schemeClr val="accent6"/>
                </a:solidFill>
              </a:rPr>
              <a:t>define</a:t>
            </a:r>
            <a:r>
              <a:rPr lang="en-US" dirty="0"/>
              <a:t>, </a:t>
            </a:r>
            <a:r>
              <a:rPr lang="en-US" b="1" dirty="0">
                <a:solidFill>
                  <a:schemeClr val="accent6"/>
                </a:solidFill>
              </a:rPr>
              <a:t>manipulate</a:t>
            </a:r>
            <a:r>
              <a:rPr lang="en-US" dirty="0"/>
              <a:t>,</a:t>
            </a:r>
            <a:r>
              <a:rPr lang="en-US" b="1" dirty="0">
                <a:solidFill>
                  <a:schemeClr val="accent6"/>
                </a:solidFill>
              </a:rPr>
              <a:t> retrieve</a:t>
            </a:r>
            <a:r>
              <a:rPr lang="en-US" dirty="0"/>
              <a:t> and </a:t>
            </a:r>
            <a:r>
              <a:rPr lang="en-US" b="1" dirty="0">
                <a:solidFill>
                  <a:schemeClr val="accent6"/>
                </a:solidFill>
              </a:rPr>
              <a:t>manage</a:t>
            </a:r>
            <a:r>
              <a:rPr lang="en-US" dirty="0"/>
              <a:t> large amounts of electronically stored data in a structured way.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DCF82BD-A78C-4F11-97DA-AB76EF7CA7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6333" y="2761062"/>
            <a:ext cx="3657600" cy="2633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667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Popular DBMS Tools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C13718FC-A4B2-4361-8FFB-A08CFAD1B7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653" y="2022676"/>
            <a:ext cx="2892743" cy="148796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68B6564E-8321-4F60-8747-7D2E0BF2E9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733" y="4664567"/>
            <a:ext cx="2104916" cy="1089779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873A977-0B74-4E15-8259-DCA7C27EDB7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6238" y="781337"/>
            <a:ext cx="2308634" cy="1092994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E6D77428-A58F-48A4-91CD-B49AA7948D2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7417" y="4539877"/>
            <a:ext cx="1915553" cy="1915553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A2EB3D2C-1775-43F7-BF70-946941A34CE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3668" y="2176671"/>
            <a:ext cx="2015264" cy="1514171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801DAACD-AE81-4D62-B1F5-D0BAE83AA29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3693" y="4664567"/>
            <a:ext cx="3186276" cy="1230562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8FA97286-29BB-42C8-AE56-8C7CBB5A1A3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7417" y="2226231"/>
            <a:ext cx="3186276" cy="1961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42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B22D7-F07B-1547-DB4C-E67D724E6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23597-AB2D-3BF4-06AA-36574DEBD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dirty="0"/>
              <a:t>SQL and Components of SQL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2989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SQL?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>
                <a:solidFill>
                  <a:schemeClr val="accent6"/>
                </a:solidFill>
              </a:rPr>
              <a:t>Structured Query language </a:t>
            </a:r>
            <a:r>
              <a:rPr lang="en-US" dirty="0"/>
              <a:t>is </a:t>
            </a:r>
            <a:r>
              <a:rPr lang="en-IN" dirty="0"/>
              <a:t>commonly known as </a:t>
            </a:r>
            <a:r>
              <a:rPr lang="en-US" b="1" dirty="0">
                <a:solidFill>
                  <a:schemeClr val="accent6"/>
                </a:solidFill>
              </a:rPr>
              <a:t>SQL</a:t>
            </a:r>
            <a:r>
              <a:rPr lang="en-US" dirty="0"/>
              <a:t>.</a:t>
            </a:r>
          </a:p>
          <a:p>
            <a:pPr fontAlgn="base"/>
            <a:r>
              <a:rPr lang="en-US" dirty="0"/>
              <a:t>SQL allows users to </a:t>
            </a:r>
            <a:r>
              <a:rPr lang="en-US" b="1" dirty="0">
                <a:solidFill>
                  <a:schemeClr val="accent6"/>
                </a:solidFill>
              </a:rPr>
              <a:t>access</a:t>
            </a:r>
            <a:r>
              <a:rPr lang="en-US" dirty="0"/>
              <a:t> and </a:t>
            </a:r>
            <a:r>
              <a:rPr lang="en-US" b="1" dirty="0">
                <a:solidFill>
                  <a:schemeClr val="accent6"/>
                </a:solidFill>
              </a:rPr>
              <a:t>manipulate</a:t>
            </a:r>
            <a:r>
              <a:rPr lang="en-US" dirty="0"/>
              <a:t> databases, tables, and other database objects.</a:t>
            </a:r>
          </a:p>
          <a:p>
            <a:pPr fontAlgn="base"/>
            <a:r>
              <a:rPr lang="en-US" dirty="0"/>
              <a:t>It is used for </a:t>
            </a:r>
            <a:r>
              <a:rPr lang="en-US" b="1" dirty="0">
                <a:solidFill>
                  <a:schemeClr val="accent6"/>
                </a:solidFill>
              </a:rPr>
              <a:t>creating</a:t>
            </a:r>
            <a:r>
              <a:rPr lang="en-US" dirty="0"/>
              <a:t> and </a:t>
            </a:r>
            <a:r>
              <a:rPr lang="en-US" b="1" dirty="0">
                <a:solidFill>
                  <a:schemeClr val="accent6"/>
                </a:solidFill>
              </a:rPr>
              <a:t>deleting</a:t>
            </a:r>
            <a:r>
              <a:rPr lang="en-US" dirty="0"/>
              <a:t> databases, </a:t>
            </a:r>
            <a:r>
              <a:rPr lang="en-US" b="1" dirty="0">
                <a:solidFill>
                  <a:schemeClr val="accent6"/>
                </a:solidFill>
              </a:rPr>
              <a:t>retrieving</a:t>
            </a:r>
            <a:r>
              <a:rPr lang="en-US" dirty="0"/>
              <a:t> rows, and </a:t>
            </a:r>
            <a:r>
              <a:rPr lang="en-US" b="1" dirty="0">
                <a:solidFill>
                  <a:schemeClr val="accent6"/>
                </a:solidFill>
              </a:rPr>
              <a:t>modifying</a:t>
            </a:r>
            <a:r>
              <a:rPr lang="en-US" dirty="0"/>
              <a:t> both </a:t>
            </a:r>
            <a:r>
              <a:rPr lang="en-US" b="1" dirty="0">
                <a:solidFill>
                  <a:schemeClr val="accent6"/>
                </a:solidFill>
              </a:rPr>
              <a:t>data</a:t>
            </a:r>
            <a:r>
              <a:rPr lang="en-US" dirty="0"/>
              <a:t> and </a:t>
            </a:r>
            <a:r>
              <a:rPr lang="en-US" b="1" dirty="0">
                <a:solidFill>
                  <a:schemeClr val="accent6"/>
                </a:solidFill>
              </a:rPr>
              <a:t>structure</a:t>
            </a:r>
            <a:r>
              <a:rPr lang="en-US" dirty="0"/>
              <a:t>.</a:t>
            </a:r>
          </a:p>
          <a:p>
            <a:pPr fontAlgn="base"/>
            <a:r>
              <a:rPr lang="en-IN" dirty="0"/>
              <a:t>SQL is the standard language for </a:t>
            </a:r>
            <a:r>
              <a:rPr lang="en-IN" b="1" dirty="0">
                <a:solidFill>
                  <a:schemeClr val="accent6"/>
                </a:solidFill>
              </a:rPr>
              <a:t>R</a:t>
            </a:r>
            <a:r>
              <a:rPr lang="en-IN" dirty="0"/>
              <a:t>elational </a:t>
            </a:r>
            <a:r>
              <a:rPr lang="en-IN" b="1" dirty="0">
                <a:solidFill>
                  <a:schemeClr val="accent6"/>
                </a:solidFill>
              </a:rPr>
              <a:t>D</a:t>
            </a:r>
            <a:r>
              <a:rPr lang="en-IN" dirty="0"/>
              <a:t>atabase </a:t>
            </a:r>
            <a:r>
              <a:rPr lang="en-IN" b="1" dirty="0">
                <a:solidFill>
                  <a:schemeClr val="accent6"/>
                </a:solidFill>
              </a:rPr>
              <a:t>M</a:t>
            </a:r>
            <a:r>
              <a:rPr lang="en-IN" dirty="0"/>
              <a:t>anagement </a:t>
            </a:r>
            <a:r>
              <a:rPr lang="en-IN" b="1" dirty="0">
                <a:solidFill>
                  <a:schemeClr val="accent6"/>
                </a:solidFill>
              </a:rPr>
              <a:t>S</a:t>
            </a:r>
            <a:r>
              <a:rPr lang="en-IN" dirty="0"/>
              <a:t>ystems </a:t>
            </a:r>
            <a:r>
              <a:rPr lang="en-US" dirty="0"/>
              <a:t>(</a:t>
            </a:r>
            <a:r>
              <a:rPr lang="en-US" b="1" dirty="0">
                <a:solidFill>
                  <a:srgbClr val="C00000"/>
                </a:solidFill>
              </a:rPr>
              <a:t>RDBMS</a:t>
            </a:r>
            <a:r>
              <a:rPr lang="en-US" dirty="0"/>
              <a:t>)</a:t>
            </a:r>
            <a:r>
              <a:rPr lang="en-IN" dirty="0"/>
              <a:t>. </a:t>
            </a:r>
          </a:p>
          <a:p>
            <a:pPr fontAlgn="base"/>
            <a:r>
              <a:rPr lang="en-IN" dirty="0"/>
              <a:t>All Relational Database Management Systems (RDBMS) such as MySQL, MS Access, Oracle, Sybase, PostgreSQL, and SQL Server use </a:t>
            </a:r>
            <a:r>
              <a:rPr lang="en-IN" b="1" dirty="0">
                <a:solidFill>
                  <a:schemeClr val="accent6"/>
                </a:solidFill>
              </a:rPr>
              <a:t>SQL</a:t>
            </a:r>
            <a:r>
              <a:rPr lang="en-IN" dirty="0"/>
              <a:t> as their standard database language.</a:t>
            </a:r>
          </a:p>
          <a:p>
            <a:pPr fontAlgn="base"/>
            <a:r>
              <a:rPr lang="en-US" dirty="0"/>
              <a:t>SQL is </a:t>
            </a:r>
            <a:r>
              <a:rPr lang="en-US" b="1" dirty="0">
                <a:solidFill>
                  <a:schemeClr val="accent6"/>
                </a:solidFill>
              </a:rPr>
              <a:t>case</a:t>
            </a:r>
            <a:r>
              <a:rPr lang="en-US" dirty="0">
                <a:solidFill>
                  <a:schemeClr val="accent6"/>
                </a:solidFill>
              </a:rPr>
              <a:t>-</a:t>
            </a:r>
            <a:r>
              <a:rPr lang="en-US" b="1" dirty="0">
                <a:solidFill>
                  <a:schemeClr val="accent6"/>
                </a:solidFill>
              </a:rPr>
              <a:t>insensitive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59453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Components of SQL</a:t>
            </a:r>
            <a:endParaRPr lang="en-US" dirty="0"/>
          </a:p>
        </p:txBody>
      </p:sp>
      <p:graphicFrame>
        <p:nvGraphicFramePr>
          <p:cNvPr id="18" name="Content Placeholder 1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1670210"/>
              </p:ext>
            </p:extLst>
          </p:nvPr>
        </p:nvGraphicFramePr>
        <p:xfrm>
          <a:off x="131763" y="863600"/>
          <a:ext cx="11658600" cy="55943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47606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BD34967D-0281-43AE-9542-24F89F4E3B9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F0DC2531-ADC9-4983-8184-38039518497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F53A27FE-3CC5-4950-A822-6FB0F39CEC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0FCE7C2C-9DAF-43E3-87C6-3A338E3B5B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7FD41C00-A0F8-4C56-9C91-B5A19FEDCE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540A1010-52E7-4C3E-8141-B2F7CA200B7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D2DED6C3-8F28-4D36-9D00-1919F2233E4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97B75E5E-B9E8-4739-8D74-311AB1D76F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2A2C299A-2CFE-4B4F-9C7F-0507AED932C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504B1959-180C-49CA-B3C4-60F0001645F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499822B6-D05A-4DDF-9B73-25A939B304B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F9C76D78-CCDE-4654-8A9C-1194521D7B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95904437-7731-4B9F-A2FA-D0C67D73C2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0A282FD3-F170-4755-9E7D-A04AE0224C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0EAE0069-0DF8-4563-B2AE-B001CEBE80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684EC187-4DF3-4C50-A016-91E7845BAF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D33D91A4-A7E8-4238-8122-A4B3A6F0216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8D58BEDA-4771-4C10-9704-91F77C0E85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E455403A-144A-41B7-B9E9-D923552577D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56088892-DB4E-4632-8E75-D0E7B17A77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5B242D67-5459-4666-946B-B477441CFAC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767AC060-AF69-4FC9-B059-D0D08A5C35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AA3E4859-D19F-4FF5-B7AD-A3F7A006D3C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DADCB8F6-0C43-49AC-A3F9-7224038618A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DE054E5F-DEA2-47EA-9CB7-C2667AF09C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42E5BD68-C45A-4AED-AC29-84D0FD996A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8A6E1935-B29E-4818-9EE7-995A9627C0A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CAA747B4-70EF-483A-BF12-8D44B0591C1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2728210A-F7EC-439F-8249-916E6F8D485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E83E89CF-03ED-413C-B6E3-CBCA436974E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BF1B14D0-433D-4943-93B0-352569B8D1C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20745C55-361D-4294-9227-F09B03C4A0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AC360B85-DCAA-4575-85A6-849D1248A8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F3AAEE01-0BE4-40D7-BEA2-E4FAA3B0F8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A79F1929-6BB5-4F97-8C39-32F8BBABAB4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D6373F02-C9F4-4D31-A837-BE93351DAD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85F0515A-C3D1-48DF-82B3-F4C6C00D7D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2BA41681-FD1E-4D29-AFA7-D8DF7BDE47E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89BBF7D7-3281-4C3F-9BF5-9ED5E1EFDA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8" grpId="0">
        <p:bldSub>
          <a:bldDgm bld="lvlOne"/>
        </p:bldSub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1. DDL (</a:t>
            </a:r>
            <a:r>
              <a:rPr lang="en-IN" dirty="0">
                <a:solidFill>
                  <a:schemeClr val="accent6"/>
                </a:solidFill>
              </a:rPr>
              <a:t>D</a:t>
            </a:r>
            <a:r>
              <a:rPr lang="en-IN" dirty="0"/>
              <a:t>ata </a:t>
            </a:r>
            <a:r>
              <a:rPr lang="en-IN" dirty="0">
                <a:solidFill>
                  <a:schemeClr val="accent6"/>
                </a:solidFill>
              </a:rPr>
              <a:t>D</a:t>
            </a:r>
            <a:r>
              <a:rPr lang="en-IN" dirty="0"/>
              <a:t>efinition </a:t>
            </a:r>
            <a:r>
              <a:rPr lang="en-IN" dirty="0">
                <a:solidFill>
                  <a:schemeClr val="accent6"/>
                </a:solidFill>
              </a:rPr>
              <a:t>L</a:t>
            </a:r>
            <a:r>
              <a:rPr lang="en-IN" dirty="0"/>
              <a:t>anguage)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DDL is a set of SQL commands used to </a:t>
            </a:r>
            <a:r>
              <a:rPr lang="en-US" b="1" dirty="0">
                <a:solidFill>
                  <a:schemeClr val="accent6"/>
                </a:solidFill>
              </a:rPr>
              <a:t>create</a:t>
            </a:r>
            <a:r>
              <a:rPr lang="en-US" dirty="0"/>
              <a:t> and </a:t>
            </a:r>
            <a:r>
              <a:rPr lang="en-US" b="1" dirty="0">
                <a:solidFill>
                  <a:schemeClr val="accent6"/>
                </a:solidFill>
              </a:rPr>
              <a:t>change</a:t>
            </a:r>
            <a:r>
              <a:rPr lang="en-US" dirty="0"/>
              <a:t> the </a:t>
            </a:r>
            <a:r>
              <a:rPr lang="en-US" b="1" dirty="0">
                <a:solidFill>
                  <a:schemeClr val="accent6"/>
                </a:solidFill>
              </a:rPr>
              <a:t>structure</a:t>
            </a:r>
            <a:r>
              <a:rPr lang="en-US" dirty="0"/>
              <a:t> of database objects such as </a:t>
            </a:r>
            <a:r>
              <a:rPr lang="en-US" b="1" dirty="0">
                <a:solidFill>
                  <a:schemeClr val="accent6"/>
                </a:solidFill>
              </a:rPr>
              <a:t>tables</a:t>
            </a:r>
            <a:r>
              <a:rPr lang="en-US" dirty="0"/>
              <a:t>.</a:t>
            </a:r>
          </a:p>
          <a:p>
            <a:r>
              <a:rPr lang="en-US" dirty="0"/>
              <a:t>It is mainly used by database administrators (</a:t>
            </a:r>
            <a:r>
              <a:rPr lang="en-US" b="1" dirty="0">
                <a:solidFill>
                  <a:schemeClr val="accent6"/>
                </a:solidFill>
              </a:rPr>
              <a:t>DBAs</a:t>
            </a:r>
            <a:r>
              <a:rPr lang="en-US" dirty="0"/>
              <a:t>) and database designers</a:t>
            </a:r>
            <a:r>
              <a:rPr lang="en-IN" dirty="0"/>
              <a:t> (</a:t>
            </a:r>
            <a:r>
              <a:rPr lang="en-IN" b="1" dirty="0">
                <a:solidFill>
                  <a:schemeClr val="accent6"/>
                </a:solidFill>
              </a:rPr>
              <a:t>DAs</a:t>
            </a:r>
            <a:r>
              <a:rPr lang="en-IN" dirty="0"/>
              <a:t>). </a:t>
            </a:r>
          </a:p>
          <a:p>
            <a:r>
              <a:rPr lang="en-US" dirty="0"/>
              <a:t>DDL deals with database structure, also known as “</a:t>
            </a:r>
            <a:r>
              <a:rPr lang="en-US" b="1" dirty="0">
                <a:solidFill>
                  <a:schemeClr val="accent6"/>
                </a:solidFill>
              </a:rPr>
              <a:t>metadata</a:t>
            </a:r>
            <a:r>
              <a:rPr lang="en-US" dirty="0"/>
              <a:t>.”</a:t>
            </a: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5CD08E5-2A78-465E-08AE-D719BC4CE3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3230364"/>
              </p:ext>
            </p:extLst>
          </p:nvPr>
        </p:nvGraphicFramePr>
        <p:xfrm>
          <a:off x="534092" y="2764817"/>
          <a:ext cx="8671293" cy="3313447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854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167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058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b="1" dirty="0">
                          <a:solidFill>
                            <a:schemeClr val="accent6"/>
                          </a:solidFill>
                        </a:rPr>
                        <a:t>Command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400" b="1" dirty="0">
                          <a:solidFill>
                            <a:schemeClr val="accent6"/>
                          </a:solidFill>
                        </a:rPr>
                        <a:t>Use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5819869"/>
                  </a:ext>
                </a:extLst>
              </a:tr>
              <a:tr h="51058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200" b="1" dirty="0"/>
                        <a:t>CREATE</a:t>
                      </a:r>
                      <a:endParaRPr lang="en-US" sz="2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b="0" dirty="0"/>
                        <a:t>To create tables</a:t>
                      </a:r>
                      <a:r>
                        <a:rPr lang="en-US" sz="2000" b="0" baseline="0" dirty="0"/>
                        <a:t> in database</a:t>
                      </a:r>
                      <a:endParaRPr lang="en-US" sz="20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58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2200" b="1" kern="1200" dirty="0"/>
                        <a:t>ALTER</a:t>
                      </a:r>
                      <a:endParaRPr lang="en-US" sz="22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2000" b="0" kern="1200" dirty="0"/>
                        <a:t>To alter the schema or logical structure of the database</a:t>
                      </a:r>
                      <a:endParaRPr lang="en-US" sz="2000" b="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0407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2200" b="1" kern="1200" dirty="0"/>
                        <a:t>DROP</a:t>
                      </a:r>
                      <a:endParaRPr lang="en-US" sz="22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2000" b="0" kern="1200" dirty="0"/>
                        <a:t>To delete the tables from the database</a:t>
                      </a:r>
                      <a:endParaRPr lang="en-US" sz="2000" b="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58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2200" b="1" kern="1200" dirty="0"/>
                        <a:t>TRUNCATE</a:t>
                      </a:r>
                      <a:endParaRPr lang="en-US" sz="22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2000" b="0" kern="1200" dirty="0"/>
                        <a:t>To remove all the records from the table</a:t>
                      </a:r>
                      <a:endParaRPr lang="en-US" sz="2000" b="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58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2200" b="1" kern="1200" dirty="0"/>
                        <a:t>RENAME</a:t>
                      </a:r>
                      <a:endParaRPr lang="en-US" sz="2200" b="1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2000" b="0" kern="1200" dirty="0"/>
                        <a:t>To rename the column and table</a:t>
                      </a:r>
                      <a:endParaRPr lang="en-US" sz="2000" b="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0225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2. DML (</a:t>
            </a:r>
            <a:r>
              <a:rPr lang="en-IN" dirty="0">
                <a:solidFill>
                  <a:schemeClr val="accent6"/>
                </a:solidFill>
              </a:rPr>
              <a:t>D</a:t>
            </a:r>
            <a:r>
              <a:rPr lang="en-IN" dirty="0"/>
              <a:t>ata </a:t>
            </a:r>
            <a:r>
              <a:rPr lang="en-IN" dirty="0">
                <a:solidFill>
                  <a:schemeClr val="accent6"/>
                </a:solidFill>
              </a:rPr>
              <a:t>M</a:t>
            </a:r>
            <a:r>
              <a:rPr lang="en-IN" dirty="0"/>
              <a:t>anipulation </a:t>
            </a:r>
            <a:r>
              <a:rPr lang="en-IN" dirty="0">
                <a:solidFill>
                  <a:schemeClr val="accent6"/>
                </a:solidFill>
              </a:rPr>
              <a:t>L</a:t>
            </a:r>
            <a:r>
              <a:rPr lang="en-IN" dirty="0"/>
              <a:t>anguage)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DML is a set of SQL commands used to </a:t>
            </a:r>
            <a:r>
              <a:rPr lang="en-US" b="1" dirty="0">
                <a:solidFill>
                  <a:schemeClr val="accent6"/>
                </a:solidFill>
              </a:rPr>
              <a:t>change</a:t>
            </a:r>
            <a:r>
              <a:rPr lang="en-US" dirty="0"/>
              <a:t> or </a:t>
            </a:r>
            <a:r>
              <a:rPr lang="en-US" b="1" dirty="0">
                <a:solidFill>
                  <a:schemeClr val="accent6"/>
                </a:solidFill>
              </a:rPr>
              <a:t>manipulate</a:t>
            </a:r>
            <a:r>
              <a:rPr lang="en-US" dirty="0"/>
              <a:t> the data in a table.</a:t>
            </a:r>
          </a:p>
          <a:p>
            <a:r>
              <a:rPr lang="en-US" dirty="0"/>
              <a:t>It is used by general users who access the database through </a:t>
            </a:r>
            <a:r>
              <a:rPr lang="en-US" b="1" dirty="0">
                <a:solidFill>
                  <a:schemeClr val="accent6"/>
                </a:solidFill>
              </a:rPr>
              <a:t>pre-developed applications</a:t>
            </a:r>
            <a:r>
              <a:rPr lang="en-US" dirty="0"/>
              <a:t>.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65115D3-3051-B962-2ECB-DC285108DC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0548302"/>
              </p:ext>
            </p:extLst>
          </p:nvPr>
        </p:nvGraphicFramePr>
        <p:xfrm>
          <a:off x="524761" y="2018369"/>
          <a:ext cx="8671293" cy="2180697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8358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354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058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b="1" dirty="0">
                          <a:solidFill>
                            <a:schemeClr val="accent6"/>
                          </a:solidFill>
                        </a:rPr>
                        <a:t>Command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400" b="1" dirty="0">
                          <a:solidFill>
                            <a:schemeClr val="accent6"/>
                          </a:solidFill>
                        </a:rPr>
                        <a:t>Use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5819869"/>
                  </a:ext>
                </a:extLst>
              </a:tr>
              <a:tr h="510585">
                <a:tc>
                  <a:txBody>
                    <a:bodyPr/>
                    <a:lstStyle/>
                    <a:p>
                      <a:r>
                        <a:rPr lang="en-US" sz="2200" b="1" dirty="0">
                          <a:solidFill>
                            <a:sysClr val="windowText" lastClr="000000"/>
                          </a:solidFill>
                        </a:rPr>
                        <a:t>INSERT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b="0" dirty="0">
                          <a:solidFill>
                            <a:sysClr val="windowText" lastClr="000000"/>
                          </a:solidFill>
                        </a:rPr>
                        <a:t>To</a:t>
                      </a:r>
                      <a:r>
                        <a:rPr lang="en-US" sz="2000" b="0" baseline="0" dirty="0">
                          <a:solidFill>
                            <a:sysClr val="windowText" lastClr="000000"/>
                          </a:solidFill>
                        </a:rPr>
                        <a:t> insert data in to table</a:t>
                      </a:r>
                      <a:endParaRPr lang="en-US" sz="20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585">
                <a:tc>
                  <a:txBody>
                    <a:bodyPr/>
                    <a:lstStyle/>
                    <a:p>
                      <a:r>
                        <a:rPr lang="en-US" sz="22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UPDATE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20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To modify existing data in a 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040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2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DELETE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20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To delete records from the 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812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3. DQL (</a:t>
            </a:r>
            <a:r>
              <a:rPr lang="en-IN" dirty="0">
                <a:solidFill>
                  <a:schemeClr val="accent6"/>
                </a:solidFill>
              </a:rPr>
              <a:t>D</a:t>
            </a:r>
            <a:r>
              <a:rPr lang="en-IN" dirty="0"/>
              <a:t>ata </a:t>
            </a:r>
            <a:r>
              <a:rPr lang="en-IN" dirty="0">
                <a:solidFill>
                  <a:schemeClr val="accent6"/>
                </a:solidFill>
              </a:rPr>
              <a:t>Q</a:t>
            </a:r>
            <a:r>
              <a:rPr lang="en-IN" dirty="0"/>
              <a:t>uery </a:t>
            </a:r>
            <a:r>
              <a:rPr lang="en-IN" dirty="0">
                <a:solidFill>
                  <a:schemeClr val="accent6"/>
                </a:solidFill>
              </a:rPr>
              <a:t>L</a:t>
            </a:r>
            <a:r>
              <a:rPr lang="en-IN" dirty="0"/>
              <a:t>anguage)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DQL is a set of SQL commands used to </a:t>
            </a:r>
            <a:r>
              <a:rPr lang="en-US" b="1" dirty="0">
                <a:solidFill>
                  <a:schemeClr val="accent6"/>
                </a:solidFill>
              </a:rPr>
              <a:t>retrieve</a:t>
            </a:r>
            <a:r>
              <a:rPr lang="en-US" dirty="0"/>
              <a:t> data from the database.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227FC8F-8487-DC16-F70D-05664EF795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1408004"/>
              </p:ext>
            </p:extLst>
          </p:nvPr>
        </p:nvGraphicFramePr>
        <p:xfrm>
          <a:off x="496769" y="1533177"/>
          <a:ext cx="8671293" cy="108970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8358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354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058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b="1" dirty="0">
                          <a:solidFill>
                            <a:schemeClr val="accent6"/>
                          </a:solidFill>
                        </a:rPr>
                        <a:t>Command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400" b="1" dirty="0">
                          <a:solidFill>
                            <a:schemeClr val="accent6"/>
                          </a:solidFill>
                        </a:rPr>
                        <a:t>Use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5819869"/>
                  </a:ext>
                </a:extLst>
              </a:tr>
              <a:tr h="510585">
                <a:tc>
                  <a:txBody>
                    <a:bodyPr/>
                    <a:lstStyle/>
                    <a:p>
                      <a:r>
                        <a:rPr lang="en-US" sz="2200" b="1" dirty="0">
                          <a:solidFill>
                            <a:sysClr val="windowText" lastClr="000000"/>
                          </a:solidFill>
                        </a:rPr>
                        <a:t>SELECT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dirty="0"/>
                        <a:t>The SELECT command allows data retrieval in different ways</a:t>
                      </a:r>
                      <a:endParaRPr lang="en-US" sz="2000" b="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9682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4. DCL (</a:t>
            </a:r>
            <a:r>
              <a:rPr lang="en-IN" dirty="0">
                <a:solidFill>
                  <a:schemeClr val="accent6"/>
                </a:solidFill>
              </a:rPr>
              <a:t>D</a:t>
            </a:r>
            <a:r>
              <a:rPr lang="en-IN" dirty="0"/>
              <a:t>ata </a:t>
            </a:r>
            <a:r>
              <a:rPr lang="en-IN" dirty="0">
                <a:solidFill>
                  <a:schemeClr val="accent6"/>
                </a:solidFill>
              </a:rPr>
              <a:t>C</a:t>
            </a:r>
            <a:r>
              <a:rPr lang="en-IN" dirty="0"/>
              <a:t>ontrol </a:t>
            </a:r>
            <a:r>
              <a:rPr lang="en-IN" dirty="0">
                <a:solidFill>
                  <a:schemeClr val="accent6"/>
                </a:solidFill>
              </a:rPr>
              <a:t>L</a:t>
            </a:r>
            <a:r>
              <a:rPr lang="en-IN" dirty="0"/>
              <a:t>anguage)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DCL is a set of SQL commands used to control </a:t>
            </a:r>
            <a:r>
              <a:rPr lang="en-US" b="1" dirty="0">
                <a:solidFill>
                  <a:schemeClr val="accent6"/>
                </a:solidFill>
              </a:rPr>
              <a:t>access</a:t>
            </a:r>
            <a:r>
              <a:rPr lang="en-US" dirty="0"/>
              <a:t> and </a:t>
            </a:r>
            <a:r>
              <a:rPr lang="en-US" b="1" dirty="0">
                <a:solidFill>
                  <a:schemeClr val="accent6"/>
                </a:solidFill>
              </a:rPr>
              <a:t>permissions</a:t>
            </a:r>
            <a:r>
              <a:rPr lang="en-US" dirty="0"/>
              <a:t> on the database.</a:t>
            </a:r>
            <a:endParaRPr lang="en-IN" dirty="0"/>
          </a:p>
          <a:p>
            <a:r>
              <a:rPr lang="en-US" dirty="0"/>
              <a:t>It is mainly used by the Database Administrator (DBA) to </a:t>
            </a:r>
            <a:r>
              <a:rPr lang="en-US" b="1" dirty="0">
                <a:solidFill>
                  <a:schemeClr val="accent6"/>
                </a:solidFill>
              </a:rPr>
              <a:t>provide</a:t>
            </a:r>
            <a:r>
              <a:rPr lang="en-US" dirty="0"/>
              <a:t> or </a:t>
            </a:r>
            <a:r>
              <a:rPr lang="en-US" b="1" dirty="0">
                <a:solidFill>
                  <a:schemeClr val="accent6"/>
                </a:solidFill>
              </a:rPr>
              <a:t>restrict</a:t>
            </a:r>
            <a:r>
              <a:rPr lang="en-US" dirty="0"/>
              <a:t> user </a:t>
            </a:r>
            <a:r>
              <a:rPr lang="en-US" b="1" dirty="0">
                <a:solidFill>
                  <a:schemeClr val="accent6"/>
                </a:solidFill>
              </a:rPr>
              <a:t>privileges</a:t>
            </a:r>
            <a:r>
              <a:rPr lang="en-US" dirty="0"/>
              <a:t>.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69532AA-94CC-9797-8F34-7E50B00C45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0686800"/>
              </p:ext>
            </p:extLst>
          </p:nvPr>
        </p:nvGraphicFramePr>
        <p:xfrm>
          <a:off x="524761" y="1971716"/>
          <a:ext cx="8671293" cy="160029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8358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354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058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b="1" dirty="0">
                          <a:solidFill>
                            <a:schemeClr val="accent6"/>
                          </a:solidFill>
                        </a:rPr>
                        <a:t>Command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400" b="1" dirty="0">
                          <a:solidFill>
                            <a:schemeClr val="accent6"/>
                          </a:solidFill>
                        </a:rPr>
                        <a:t>Use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5819869"/>
                  </a:ext>
                </a:extLst>
              </a:tr>
              <a:tr h="51058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2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GRANT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To give access privileges to users on the database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58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2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REVOKE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To withdraw access privileges given to users on the database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16912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4182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5. TCL (</a:t>
            </a:r>
            <a:r>
              <a:rPr lang="en-US" dirty="0"/>
              <a:t> </a:t>
            </a:r>
            <a:r>
              <a:rPr lang="en-US" dirty="0">
                <a:solidFill>
                  <a:schemeClr val="accent6"/>
                </a:solidFill>
              </a:rPr>
              <a:t>T</a:t>
            </a:r>
            <a:r>
              <a:rPr lang="en-US" dirty="0"/>
              <a:t>ransaction </a:t>
            </a:r>
            <a:r>
              <a:rPr lang="en-US" dirty="0">
                <a:solidFill>
                  <a:schemeClr val="accent6"/>
                </a:solidFill>
              </a:rPr>
              <a:t>C</a:t>
            </a:r>
            <a:r>
              <a:rPr lang="en-US" dirty="0"/>
              <a:t>ontrol </a:t>
            </a:r>
            <a:r>
              <a:rPr lang="en-US" dirty="0">
                <a:solidFill>
                  <a:schemeClr val="accent6"/>
                </a:solidFill>
              </a:rPr>
              <a:t>L</a:t>
            </a:r>
            <a:r>
              <a:rPr lang="en-US" dirty="0"/>
              <a:t>anguage</a:t>
            </a:r>
            <a:r>
              <a:rPr lang="en-IN" dirty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TCL is used to control and manage </a:t>
            </a:r>
            <a:r>
              <a:rPr lang="en-US" b="1" dirty="0">
                <a:solidFill>
                  <a:schemeClr val="accent6"/>
                </a:solidFill>
              </a:rPr>
              <a:t>transactions</a:t>
            </a:r>
            <a:r>
              <a:rPr lang="en-US" dirty="0"/>
              <a:t> in a database.</a:t>
            </a:r>
          </a:p>
          <a:p>
            <a:r>
              <a:rPr lang="en-US" dirty="0"/>
              <a:t>A transaction is a </a:t>
            </a:r>
            <a:r>
              <a:rPr lang="en-US" b="1" dirty="0">
                <a:solidFill>
                  <a:schemeClr val="accent6"/>
                </a:solidFill>
              </a:rPr>
              <a:t>group of SQL statements </a:t>
            </a:r>
            <a:r>
              <a:rPr lang="en-US" dirty="0"/>
              <a:t>that are executed as </a:t>
            </a:r>
            <a:r>
              <a:rPr lang="en-US" b="1" dirty="0">
                <a:solidFill>
                  <a:schemeClr val="accent6"/>
                </a:solidFill>
              </a:rPr>
              <a:t>one logical unit</a:t>
            </a:r>
            <a:r>
              <a:rPr lang="en-US" dirty="0"/>
              <a:t>.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1CFE43E-58D3-17F1-1A3F-CCF1B74B47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939569"/>
              </p:ext>
            </p:extLst>
          </p:nvPr>
        </p:nvGraphicFramePr>
        <p:xfrm>
          <a:off x="524761" y="1971716"/>
          <a:ext cx="8671293" cy="211087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8358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354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058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b="1" dirty="0">
                          <a:solidFill>
                            <a:schemeClr val="accent6"/>
                          </a:solidFill>
                        </a:rPr>
                        <a:t>Command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400" b="1" dirty="0">
                          <a:solidFill>
                            <a:schemeClr val="accent6"/>
                          </a:solidFill>
                        </a:rPr>
                        <a:t>Use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5819869"/>
                  </a:ext>
                </a:extLst>
              </a:tr>
              <a:tr h="51058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2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COMMIT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To save work permanently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58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2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ROLLBACK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To undo work and restore database to previous state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1691251"/>
                  </a:ext>
                </a:extLst>
              </a:tr>
              <a:tr h="51058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2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SAVEPOINT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b="0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To identify a point in a transaction to which work can be undone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8808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9538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D20DF-B37D-568C-E829-9EC8FA59A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A3AA2-CD9D-E015-466F-45E37AC49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dirty="0"/>
              <a:t>Datatypes</a:t>
            </a:r>
            <a:r>
              <a:rPr lang="en-US" dirty="0"/>
              <a:t> in </a:t>
            </a:r>
            <a:r>
              <a:rPr lang="en-US" sz="6000" dirty="0"/>
              <a:t>SQL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68643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3BFB509-E0AB-DC23-D026-C7D7578F1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IN" dirty="0"/>
              <a:t>Data types</a:t>
            </a: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8B8855C-5E39-EA27-3175-E16032D584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8050049"/>
              </p:ext>
            </p:extLst>
          </p:nvPr>
        </p:nvGraphicFramePr>
        <p:xfrm>
          <a:off x="590274" y="827050"/>
          <a:ext cx="9904551" cy="57912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064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00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058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b="1" dirty="0">
                          <a:solidFill>
                            <a:schemeClr val="accent6"/>
                          </a:solidFill>
                        </a:rPr>
                        <a:t>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400" b="1" dirty="0">
                          <a:solidFill>
                            <a:schemeClr val="accent6"/>
                          </a:solidFill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581986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7AD1A27-7E14-4DC5-95CA-191B3EDE23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4248794"/>
              </p:ext>
            </p:extLst>
          </p:nvPr>
        </p:nvGraphicFramePr>
        <p:xfrm>
          <a:off x="590274" y="2503661"/>
          <a:ext cx="9904551" cy="58040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64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00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0407">
                <a:tc>
                  <a:txBody>
                    <a:bodyPr/>
                    <a:lstStyle/>
                    <a:p>
                      <a:r>
                        <a:rPr lang="en-IN" sz="2200" b="1" dirty="0"/>
                        <a:t>VARCHAR</a:t>
                      </a:r>
                      <a:endParaRPr lang="en-IN" sz="2200" b="1" dirty="0">
                        <a:latin typeface="Roboto Condensed(Body)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Student Name or email address (e.g., Jay Shah', ‘jay.shah@example.com')</a:t>
                      </a:r>
                      <a:endParaRPr lang="en-IN" sz="2000" dirty="0">
                        <a:latin typeface="Roboto Condensed(Body)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20CEA8B-C90D-B61F-8C79-7BF73157F5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1973418"/>
              </p:ext>
            </p:extLst>
          </p:nvPr>
        </p:nvGraphicFramePr>
        <p:xfrm>
          <a:off x="590274" y="3090553"/>
          <a:ext cx="9904551" cy="54779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064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00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7790">
                <a:tc>
                  <a:txBody>
                    <a:bodyPr/>
                    <a:lstStyle/>
                    <a:p>
                      <a:r>
                        <a:rPr lang="en-IN" sz="2200" b="1" dirty="0"/>
                        <a:t>DATETIME</a:t>
                      </a:r>
                      <a:endParaRPr lang="en-IN" sz="2200" b="1" dirty="0">
                        <a:latin typeface="Roboto Condensed(Body)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Date of joining or Birthdate (e.g., '2023-12-01 10:45:00')</a:t>
                      </a:r>
                      <a:endParaRPr lang="en-IN" sz="2000" b="0" dirty="0">
                        <a:latin typeface="Roboto Condensed(Body)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6A39690-E1BD-B19E-4E8E-98F4819CA2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5533256"/>
              </p:ext>
            </p:extLst>
          </p:nvPr>
        </p:nvGraphicFramePr>
        <p:xfrm>
          <a:off x="580546" y="1926483"/>
          <a:ext cx="9916393" cy="58040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669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94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0407">
                <a:tc>
                  <a:txBody>
                    <a:bodyPr/>
                    <a:lstStyle/>
                    <a:p>
                      <a:r>
                        <a:rPr lang="en-IN" sz="2200" b="1" dirty="0"/>
                        <a:t>CHAR</a:t>
                      </a:r>
                      <a:endParaRPr lang="en-IN" sz="2200" b="1" dirty="0">
                        <a:latin typeface="Roboto Condensed(Body)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Gender or a fixed-length code (e.g., 'M' for Male, 'F' for Female)</a:t>
                      </a:r>
                      <a:endParaRPr lang="en-IN" sz="2000" dirty="0">
                        <a:latin typeface="Roboto Condensed(Body)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966955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2AD29AA-BD1F-120B-3C38-C6E9F3A23A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4424604"/>
              </p:ext>
            </p:extLst>
          </p:nvPr>
        </p:nvGraphicFramePr>
        <p:xfrm>
          <a:off x="590274" y="1413922"/>
          <a:ext cx="9904551" cy="510585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2064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00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0585">
                <a:tc>
                  <a:txBody>
                    <a:bodyPr/>
                    <a:lstStyle/>
                    <a:p>
                      <a:r>
                        <a:rPr lang="en-IN" sz="2200" b="1" dirty="0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Roboto Condensed(Body)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Student ID (e.g., 101, 102, 103)</a:t>
                      </a:r>
                      <a:endParaRPr lang="en-IN" sz="2000" b="0" dirty="0">
                        <a:solidFill>
                          <a:schemeClr val="tx1"/>
                        </a:solidFill>
                        <a:latin typeface="Roboto Condensed(Body)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81658C6-7B56-57E1-7F77-CE64E5DAD9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9230236"/>
              </p:ext>
            </p:extLst>
          </p:nvPr>
        </p:nvGraphicFramePr>
        <p:xfrm>
          <a:off x="580546" y="4849115"/>
          <a:ext cx="9904551" cy="58040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64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00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0407">
                <a:tc>
                  <a:txBody>
                    <a:bodyPr/>
                    <a:lstStyle/>
                    <a:p>
                      <a:r>
                        <a:rPr lang="en-IN" sz="2200" b="1" dirty="0"/>
                        <a:t>FLOAT</a:t>
                      </a:r>
                      <a:endParaRPr lang="en-IN" sz="2200" b="1" dirty="0">
                        <a:latin typeface="Roboto Condensed(Body)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Scientific data</a:t>
                      </a:r>
                      <a:r>
                        <a:rPr lang="en-US" sz="2000" dirty="0"/>
                        <a:t> (e.g., </a:t>
                      </a:r>
                      <a:r>
                        <a:rPr lang="en-IN" sz="2000" dirty="0"/>
                        <a:t>98.63, 6.666667)</a:t>
                      </a:r>
                      <a:endParaRPr lang="en-IN" sz="2000" dirty="0">
                        <a:latin typeface="Roboto Condensed(Body)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F3E4FBB-BDFD-FF61-546F-E75FCDDE76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0064296"/>
              </p:ext>
            </p:extLst>
          </p:nvPr>
        </p:nvGraphicFramePr>
        <p:xfrm>
          <a:off x="580546" y="5436007"/>
          <a:ext cx="9904551" cy="54779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064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00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7790">
                <a:tc>
                  <a:txBody>
                    <a:bodyPr/>
                    <a:lstStyle/>
                    <a:p>
                      <a:r>
                        <a:rPr lang="en-IN" sz="2200" b="1" dirty="0"/>
                        <a:t>BIGINT</a:t>
                      </a:r>
                      <a:endParaRPr lang="en-IN" sz="2200" b="1" dirty="0">
                        <a:latin typeface="Roboto Condensed(Body)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Transaction ID (e.g., 100000001, 100000003, 100000003)</a:t>
                      </a:r>
                      <a:endParaRPr lang="en-IN" sz="2000" b="0" dirty="0">
                        <a:latin typeface="Roboto Condensed(Body)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3C251B0-367B-496A-0648-30218CF5FD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6712085"/>
              </p:ext>
            </p:extLst>
          </p:nvPr>
        </p:nvGraphicFramePr>
        <p:xfrm>
          <a:off x="590274" y="4157389"/>
          <a:ext cx="9916393" cy="701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669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94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0407">
                <a:tc>
                  <a:txBody>
                    <a:bodyPr/>
                    <a:lstStyle/>
                    <a:p>
                      <a:r>
                        <a:rPr lang="en-IN" sz="2200" b="1" dirty="0"/>
                        <a:t>DECIMAL(P,S)</a:t>
                      </a:r>
                      <a:endParaRPr lang="en-IN" sz="2200" b="1" dirty="0">
                        <a:latin typeface="Roboto Condensed(Body)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Salary with precision (e.g., 12345.67 where p=7 and s=2 means total 7 digits and 2 digit after the decimal point)</a:t>
                      </a:r>
                      <a:endParaRPr lang="en-IN" sz="2000" dirty="0">
                        <a:latin typeface="Roboto Condensed(Body)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9669552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081F2C5-3FC3-5731-3857-EA2D5913D0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1655649"/>
              </p:ext>
            </p:extLst>
          </p:nvPr>
        </p:nvGraphicFramePr>
        <p:xfrm>
          <a:off x="600002" y="3644828"/>
          <a:ext cx="9904551" cy="510585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2064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00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0585">
                <a:tc>
                  <a:txBody>
                    <a:bodyPr/>
                    <a:lstStyle/>
                    <a:p>
                      <a:r>
                        <a:rPr lang="en-IN" sz="2200" b="1" dirty="0">
                          <a:solidFill>
                            <a:schemeClr val="tx1"/>
                          </a:solidFill>
                        </a:rPr>
                        <a:t>BIT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Roboto Condensed(Body)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Boolean values like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</a:rPr>
                        <a:t>isActive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 or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</a:rPr>
                        <a:t>isMarried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 (e.g., 1 for True, 0 for False)</a:t>
                      </a:r>
                      <a:endParaRPr lang="en-IN" sz="2000" b="0" dirty="0">
                        <a:solidFill>
                          <a:schemeClr val="tx1"/>
                        </a:solidFill>
                        <a:latin typeface="Roboto Condensed(Body)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91C8109-2397-9DEC-4B47-1CC4895871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7649433"/>
              </p:ext>
            </p:extLst>
          </p:nvPr>
        </p:nvGraphicFramePr>
        <p:xfrm>
          <a:off x="580545" y="5990282"/>
          <a:ext cx="9904551" cy="54779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064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00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7790">
                <a:tc>
                  <a:txBody>
                    <a:bodyPr/>
                    <a:lstStyle/>
                    <a:p>
                      <a:r>
                        <a:rPr lang="en-IN" sz="2200" b="1" dirty="0"/>
                        <a:t>NVARCHAR</a:t>
                      </a:r>
                      <a:endParaRPr lang="en-IN" sz="2200" b="1" dirty="0">
                        <a:latin typeface="Roboto Condensed(Body)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0" dirty="0"/>
                        <a:t>Multi-language data, emojis </a:t>
                      </a:r>
                      <a:r>
                        <a:rPr lang="en-US" sz="2000" b="0" dirty="0"/>
                        <a:t>(e.g.,</a:t>
                      </a:r>
                      <a:r>
                        <a:rPr lang="hi-IN" sz="2000" b="0" dirty="0"/>
                        <a:t> पुष्पा</a:t>
                      </a:r>
                      <a:r>
                        <a:rPr lang="en-IN" sz="2000" b="0" dirty="0"/>
                        <a:t>, 😊</a:t>
                      </a:r>
                      <a:r>
                        <a:rPr lang="en-US" sz="2000" b="0" dirty="0"/>
                        <a:t>)</a:t>
                      </a:r>
                      <a:endParaRPr lang="en-IN" sz="2000" b="0" dirty="0">
                        <a:latin typeface="Roboto Condensed(Body)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1410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 between char and varchar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6739528"/>
              </p:ext>
            </p:extLst>
          </p:nvPr>
        </p:nvGraphicFramePr>
        <p:xfrm>
          <a:off x="265719" y="984624"/>
          <a:ext cx="10744788" cy="826081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54486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961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9361">
                <a:tc>
                  <a:txBody>
                    <a:bodyPr/>
                    <a:lstStyle/>
                    <a:p>
                      <a:pPr algn="l"/>
                      <a:r>
                        <a:rPr lang="en-US" sz="2200" dirty="0">
                          <a:solidFill>
                            <a:schemeClr val="accent6"/>
                          </a:solidFill>
                          <a:latin typeface="Roboto Condensed(Body)"/>
                        </a:rPr>
                        <a:t>CHAR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dirty="0">
                          <a:solidFill>
                            <a:schemeClr val="accent6"/>
                          </a:solidFill>
                          <a:latin typeface="Roboto Condensed(Body)"/>
                        </a:rPr>
                        <a:t>VARCHAR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361"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Fixed length memory storage </a:t>
                      </a:r>
                      <a:endParaRPr lang="en-US" sz="2000" dirty="0">
                        <a:solidFill>
                          <a:schemeClr val="tx1"/>
                        </a:solidFill>
                        <a:latin typeface="Roboto Condensed(Body)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Variable length memory storage </a:t>
                      </a:r>
                      <a:endParaRPr lang="en-US" sz="2000" dirty="0">
                        <a:solidFill>
                          <a:schemeClr val="tx1"/>
                        </a:solidFill>
                        <a:latin typeface="Roboto Condensed(Body)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518294"/>
              </p:ext>
            </p:extLst>
          </p:nvPr>
        </p:nvGraphicFramePr>
        <p:xfrm>
          <a:off x="1259231" y="2642238"/>
          <a:ext cx="2780632" cy="73152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3903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03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9060">
                <a:tc>
                  <a:txBody>
                    <a:bodyPr/>
                    <a:lstStyle/>
                    <a:p>
                      <a:r>
                        <a:rPr lang="en-US" dirty="0">
                          <a:latin typeface="Roboto Condensed(Body)"/>
                        </a:rPr>
                        <a:t>City1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Roboto Condensed(Body)"/>
                        </a:rPr>
                        <a:t>City2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060">
                <a:tc>
                  <a:txBody>
                    <a:bodyPr/>
                    <a:lstStyle/>
                    <a:p>
                      <a:r>
                        <a:rPr lang="en-US" dirty="0">
                          <a:latin typeface="Roboto Condensed(Body)"/>
                        </a:rPr>
                        <a:t>Rajkot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Roboto Condensed(Body)"/>
                        </a:rPr>
                        <a:t>Rajkot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6843B5A-A9F7-4846-AC70-C8BEFE0053E9}"/>
              </a:ext>
            </a:extLst>
          </p:cNvPr>
          <p:cNvSpPr txBox="1"/>
          <p:nvPr/>
        </p:nvSpPr>
        <p:spPr>
          <a:xfrm>
            <a:off x="161628" y="2295897"/>
            <a:ext cx="12192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B51B38"/>
                </a:solidFill>
                <a:latin typeface="Roboto Condensed(Body)"/>
              </a:rPr>
              <a:t>char</a:t>
            </a:r>
            <a:r>
              <a:rPr lang="en-IN" sz="2000" b="1" dirty="0">
                <a:solidFill>
                  <a:srgbClr val="B51B38"/>
                </a:solidFill>
                <a:latin typeface="Roboto Condensed(Body)"/>
              </a:rPr>
              <a:t>(10)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5B68B04-D896-4ABF-9422-CFFCE1B4910D}"/>
              </a:ext>
            </a:extLst>
          </p:cNvPr>
          <p:cNvCxnSpPr>
            <a:cxnSpLocks/>
          </p:cNvCxnSpPr>
          <p:nvPr/>
        </p:nvCxnSpPr>
        <p:spPr>
          <a:xfrm>
            <a:off x="1069084" y="2688220"/>
            <a:ext cx="223306" cy="138684"/>
          </a:xfrm>
          <a:prstGeom prst="straightConnector1">
            <a:avLst/>
          </a:prstGeom>
          <a:ln w="34925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6843B5A-A9F7-4846-AC70-C8BEFE0053E9}"/>
              </a:ext>
            </a:extLst>
          </p:cNvPr>
          <p:cNvSpPr txBox="1"/>
          <p:nvPr/>
        </p:nvSpPr>
        <p:spPr>
          <a:xfrm>
            <a:off x="4168948" y="2487839"/>
            <a:ext cx="1809111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B51B38"/>
                </a:solidFill>
                <a:latin typeface="Roboto Condensed(Body)"/>
              </a:rPr>
              <a:t>varchar(10)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5B68B04-D896-4ABF-9422-CFFCE1B4910D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3357727" y="2718672"/>
            <a:ext cx="811221" cy="108389"/>
          </a:xfrm>
          <a:prstGeom prst="straightConnector1">
            <a:avLst/>
          </a:prstGeom>
          <a:ln w="34925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11977" y="3869733"/>
            <a:ext cx="6176175" cy="7841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0000FF"/>
                </a:solidFill>
                <a:latin typeface="Roboto Condensed(Body)"/>
              </a:rPr>
              <a:t>SELECT </a:t>
            </a:r>
            <a:r>
              <a:rPr lang="en-US" dirty="0">
                <a:solidFill>
                  <a:srgbClr val="FF00FF"/>
                </a:solidFill>
                <a:latin typeface="Roboto Condensed(Body)"/>
              </a:rPr>
              <a:t>DATALENGTH</a:t>
            </a:r>
            <a:r>
              <a:rPr lang="en-US" dirty="0">
                <a:solidFill>
                  <a:srgbClr val="808080"/>
                </a:solidFill>
                <a:latin typeface="Roboto Condensed(Body)"/>
              </a:rPr>
              <a:t>(</a:t>
            </a:r>
            <a:r>
              <a:rPr lang="en-US" dirty="0">
                <a:solidFill>
                  <a:prstClr val="black"/>
                </a:solidFill>
                <a:latin typeface="Roboto Condensed(Body)"/>
              </a:rPr>
              <a:t>CITY1</a:t>
            </a:r>
            <a:r>
              <a:rPr lang="en-US" dirty="0">
                <a:solidFill>
                  <a:srgbClr val="808080"/>
                </a:solidFill>
                <a:latin typeface="Roboto Condensed(Body)"/>
              </a:rPr>
              <a:t>), </a:t>
            </a:r>
            <a:r>
              <a:rPr lang="en-US" dirty="0">
                <a:solidFill>
                  <a:srgbClr val="FF00FF"/>
                </a:solidFill>
                <a:latin typeface="Roboto Condensed(Body)"/>
              </a:rPr>
              <a:t>DATALENGTH</a:t>
            </a:r>
            <a:r>
              <a:rPr lang="en-US" dirty="0">
                <a:solidFill>
                  <a:srgbClr val="808080"/>
                </a:solidFill>
                <a:latin typeface="Roboto Condensed(Body)"/>
              </a:rPr>
              <a:t>(</a:t>
            </a:r>
            <a:r>
              <a:rPr lang="en-US" dirty="0">
                <a:solidFill>
                  <a:prstClr val="black"/>
                </a:solidFill>
                <a:latin typeface="Roboto Condensed(Body)"/>
              </a:rPr>
              <a:t>CITY2</a:t>
            </a:r>
            <a:r>
              <a:rPr lang="en-US" dirty="0">
                <a:solidFill>
                  <a:srgbClr val="808080"/>
                </a:solidFill>
                <a:latin typeface="Roboto Condensed(Body)"/>
              </a:rPr>
              <a:t>)</a:t>
            </a:r>
            <a:r>
              <a:rPr lang="en-US" dirty="0">
                <a:solidFill>
                  <a:prstClr val="black"/>
                </a:solidFill>
                <a:latin typeface="Roboto Condensed(Body)"/>
              </a:rPr>
              <a:t> </a:t>
            </a:r>
            <a:r>
              <a:rPr lang="en-US" dirty="0">
                <a:solidFill>
                  <a:srgbClr val="0000FF"/>
                </a:solidFill>
                <a:latin typeface="Roboto Condensed(Body)"/>
              </a:rPr>
              <a:t>FROM</a:t>
            </a:r>
            <a:r>
              <a:rPr lang="en-US" dirty="0">
                <a:solidFill>
                  <a:prstClr val="black"/>
                </a:solidFill>
                <a:latin typeface="Roboto Condensed(Body)"/>
              </a:rPr>
              <a:t> TEMP</a:t>
            </a:r>
            <a:r>
              <a:rPr lang="en-US" dirty="0">
                <a:solidFill>
                  <a:srgbClr val="808080"/>
                </a:solidFill>
                <a:latin typeface="Roboto Condensed(Body)"/>
              </a:rPr>
              <a:t>;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9492519"/>
              </p:ext>
            </p:extLst>
          </p:nvPr>
        </p:nvGraphicFramePr>
        <p:xfrm>
          <a:off x="7684634" y="3367860"/>
          <a:ext cx="2780632" cy="73152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3903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03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9060">
                <a:tc>
                  <a:txBody>
                    <a:bodyPr/>
                    <a:lstStyle/>
                    <a:p>
                      <a:r>
                        <a:rPr lang="en-US" dirty="0">
                          <a:latin typeface="Roboto Condensed(Body)"/>
                        </a:rPr>
                        <a:t>City1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Roboto Condensed(Body)"/>
                        </a:rPr>
                        <a:t>City2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060">
                <a:tc>
                  <a:txBody>
                    <a:bodyPr/>
                    <a:lstStyle/>
                    <a:p>
                      <a:r>
                        <a:rPr lang="en-US" dirty="0">
                          <a:latin typeface="Roboto Condensed(Body)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Roboto Condensed(Body)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5B68B04-D896-4ABF-9422-CFFCE1B4910D}"/>
              </a:ext>
            </a:extLst>
          </p:cNvPr>
          <p:cNvCxnSpPr>
            <a:cxnSpLocks/>
          </p:cNvCxnSpPr>
          <p:nvPr/>
        </p:nvCxnSpPr>
        <p:spPr>
          <a:xfrm flipV="1">
            <a:off x="7526352" y="4183955"/>
            <a:ext cx="294624" cy="398028"/>
          </a:xfrm>
          <a:prstGeom prst="straightConnector1">
            <a:avLst/>
          </a:prstGeom>
          <a:ln w="34925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835464" y="4644267"/>
            <a:ext cx="167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Roboto Condensed(Body)"/>
              </a:rPr>
              <a:t>Fix 10 bytes for each city name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5B68B04-D896-4ABF-9422-CFFCE1B4910D}"/>
              </a:ext>
            </a:extLst>
          </p:cNvPr>
          <p:cNvCxnSpPr>
            <a:cxnSpLocks/>
          </p:cNvCxnSpPr>
          <p:nvPr/>
        </p:nvCxnSpPr>
        <p:spPr>
          <a:xfrm flipH="1" flipV="1">
            <a:off x="9276301" y="4183955"/>
            <a:ext cx="355936" cy="398028"/>
          </a:xfrm>
          <a:prstGeom prst="straightConnector1">
            <a:avLst/>
          </a:prstGeom>
          <a:ln w="34925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361940" y="4653909"/>
            <a:ext cx="20418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Roboto Condensed(Body)"/>
              </a:rPr>
              <a:t>Variable no. of bytes for each city name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9B2252-8869-4277-901F-D14860E7CF26}"/>
              </a:ext>
            </a:extLst>
          </p:cNvPr>
          <p:cNvSpPr txBox="1"/>
          <p:nvPr/>
        </p:nvSpPr>
        <p:spPr>
          <a:xfrm>
            <a:off x="1259231" y="2158645"/>
            <a:ext cx="10668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b="1" dirty="0">
                <a:latin typeface="Roboto Condensed(Body)"/>
              </a:rPr>
              <a:t>Temp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794F6B4-AC8B-7E89-7CDC-18C9EB77BE0C}"/>
              </a:ext>
            </a:extLst>
          </p:cNvPr>
          <p:cNvSpPr txBox="1"/>
          <p:nvPr/>
        </p:nvSpPr>
        <p:spPr>
          <a:xfrm>
            <a:off x="10382889" y="2688220"/>
            <a:ext cx="1809111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B51B38"/>
                </a:solidFill>
                <a:latin typeface="Roboto Condensed(Body)"/>
              </a:rPr>
              <a:t>varchar(10)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0C6259B-306A-706D-22C4-6F8A42C558D5}"/>
              </a:ext>
            </a:extLst>
          </p:cNvPr>
          <p:cNvSpPr txBox="1"/>
          <p:nvPr/>
        </p:nvSpPr>
        <p:spPr>
          <a:xfrm>
            <a:off x="6601776" y="2646715"/>
            <a:ext cx="121920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B51B38"/>
                </a:solidFill>
                <a:latin typeface="Roboto Condensed(Body)"/>
              </a:rPr>
              <a:t>char</a:t>
            </a:r>
            <a:r>
              <a:rPr lang="en-IN" sz="2000" b="1" dirty="0">
                <a:solidFill>
                  <a:srgbClr val="B51B38"/>
                </a:solidFill>
                <a:latin typeface="Roboto Condensed(Body)"/>
              </a:rPr>
              <a:t>(10)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3E4A6E0-6C26-DC90-1D36-BF3A66699003}"/>
              </a:ext>
            </a:extLst>
          </p:cNvPr>
          <p:cNvCxnSpPr>
            <a:cxnSpLocks/>
          </p:cNvCxnSpPr>
          <p:nvPr/>
        </p:nvCxnSpPr>
        <p:spPr>
          <a:xfrm flipH="1">
            <a:off x="9944808" y="3149885"/>
            <a:ext cx="520458" cy="336600"/>
          </a:xfrm>
          <a:prstGeom prst="straightConnector1">
            <a:avLst/>
          </a:prstGeom>
          <a:ln w="34925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109BAD0-B184-6E29-E933-2E325099EA0F}"/>
              </a:ext>
            </a:extLst>
          </p:cNvPr>
          <p:cNvCxnSpPr>
            <a:cxnSpLocks/>
            <a:stCxn id="26" idx="2"/>
          </p:cNvCxnSpPr>
          <p:nvPr/>
        </p:nvCxnSpPr>
        <p:spPr>
          <a:xfrm>
            <a:off x="7211376" y="3108380"/>
            <a:ext cx="473258" cy="398441"/>
          </a:xfrm>
          <a:prstGeom prst="straightConnector1">
            <a:avLst/>
          </a:prstGeom>
          <a:ln w="34925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1763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 animBg="1"/>
      <p:bldP spid="17" grpId="0"/>
      <p:bldP spid="19" grpId="0"/>
      <p:bldP spid="12" grpId="0"/>
      <p:bldP spid="25" grpId="0"/>
      <p:bldP spid="2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 between char and varchar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5566401"/>
              </p:ext>
            </p:extLst>
          </p:nvPr>
        </p:nvGraphicFramePr>
        <p:xfrm>
          <a:off x="257171" y="1008246"/>
          <a:ext cx="9705256" cy="311404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4719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858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9361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accent6"/>
                          </a:solidFill>
                          <a:latin typeface="Roboto Condensed(Body)"/>
                        </a:rPr>
                        <a:t>CHAR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accent6"/>
                          </a:solidFill>
                          <a:latin typeface="Roboto Condensed(Body)"/>
                        </a:rPr>
                        <a:t>VARCHAR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58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Fixed length memory storage </a:t>
                      </a:r>
                      <a:endParaRPr lang="en-US" sz="2200" dirty="0">
                        <a:solidFill>
                          <a:schemeClr val="tx1"/>
                        </a:solidFill>
                        <a:latin typeface="Roboto Condensed(Body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Variable length memory storage </a:t>
                      </a:r>
                      <a:endParaRPr lang="en-US" sz="2200" dirty="0">
                        <a:solidFill>
                          <a:schemeClr val="tx1"/>
                        </a:solidFill>
                        <a:latin typeface="Roboto Condensed(Body)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1638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200" b="0" i="0" kern="1200" dirty="0">
                          <a:solidFill>
                            <a:sysClr val="windowText" lastClr="000000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It can hold a maximum of </a:t>
                      </a:r>
                      <a:r>
                        <a:rPr lang="en-US" sz="2200" b="1" i="0" kern="1200" dirty="0">
                          <a:solidFill>
                            <a:sysClr val="windowText" lastClr="000000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255 </a:t>
                      </a:r>
                      <a:r>
                        <a:rPr lang="en-US" sz="2200" b="0" i="0" kern="1200" dirty="0">
                          <a:solidFill>
                            <a:sysClr val="windowText" lastClr="000000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characters.</a:t>
                      </a:r>
                      <a:endParaRPr lang="en-US" sz="2200" dirty="0">
                        <a:solidFill>
                          <a:sysClr val="windowText" lastClr="000000"/>
                        </a:solidFill>
                        <a:latin typeface="Roboto Condensed(Body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i="0" kern="1200" dirty="0">
                          <a:solidFill>
                            <a:sysClr val="windowText" lastClr="000000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It can hold a maximum of 65,535</a:t>
                      </a:r>
                      <a:r>
                        <a:rPr lang="en-US" sz="2200" b="0" i="0" kern="1200" baseline="0" dirty="0">
                          <a:solidFill>
                            <a:sysClr val="windowText" lastClr="000000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200" b="0" i="0" kern="1200" dirty="0">
                          <a:solidFill>
                            <a:sysClr val="windowText" lastClr="000000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characters.</a:t>
                      </a:r>
                      <a:endParaRPr lang="en-US" sz="2200" dirty="0">
                        <a:solidFill>
                          <a:sysClr val="windowText" lastClr="000000"/>
                        </a:solidFill>
                        <a:latin typeface="Roboto Condensed(Body)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514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200" b="0" i="0" kern="1200" dirty="0">
                          <a:solidFill>
                            <a:sysClr val="windowText" lastClr="000000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It uses static memory allocation.</a:t>
                      </a:r>
                      <a:endParaRPr lang="en-US" sz="2200" dirty="0">
                        <a:solidFill>
                          <a:sysClr val="windowText" lastClr="000000"/>
                        </a:solidFill>
                        <a:latin typeface="Roboto Condensed(Body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i="0" kern="1200" dirty="0">
                          <a:solidFill>
                            <a:sysClr val="windowText" lastClr="000000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It uses dynamic memory allocation.</a:t>
                      </a:r>
                      <a:endParaRPr lang="en-US" sz="2200" dirty="0">
                        <a:solidFill>
                          <a:sysClr val="windowText" lastClr="000000"/>
                        </a:solidFill>
                        <a:latin typeface="Roboto Condensed(Body)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538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200" b="0" i="0" kern="1200" dirty="0">
                          <a:solidFill>
                            <a:sysClr val="windowText" lastClr="000000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It’s 50 percent faster than </a:t>
                      </a:r>
                      <a:r>
                        <a:rPr lang="en-US" sz="2200" b="0" i="0" kern="1200" dirty="0" err="1">
                          <a:solidFill>
                            <a:sysClr val="windowText" lastClr="000000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Varchar</a:t>
                      </a:r>
                      <a:r>
                        <a:rPr lang="en-US" sz="2200" b="0" i="0" kern="1200" dirty="0">
                          <a:solidFill>
                            <a:sysClr val="windowText" lastClr="000000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.</a:t>
                      </a:r>
                      <a:endParaRPr lang="en-US" sz="2200" dirty="0">
                        <a:solidFill>
                          <a:sysClr val="windowText" lastClr="000000"/>
                        </a:solidFill>
                        <a:latin typeface="Roboto Condensed(Body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i="0" kern="1200" dirty="0">
                          <a:solidFill>
                            <a:sysClr val="windowText" lastClr="000000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It’s slower than Char.</a:t>
                      </a:r>
                      <a:endParaRPr lang="en-US" sz="2200" dirty="0">
                        <a:solidFill>
                          <a:sysClr val="windowText" lastClr="000000"/>
                        </a:solidFill>
                        <a:latin typeface="Roboto Condensed(Body)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03979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Table, Column, Row</a:t>
            </a:r>
          </a:p>
        </p:txBody>
      </p:sp>
    </p:spTree>
    <p:extLst>
      <p:ext uri="{BB962C8B-B14F-4D97-AF65-F5344CB8AC3E}">
        <p14:creationId xmlns:p14="http://schemas.microsoft.com/office/powerpoint/2010/main" val="20227224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43950"/>
            <a:ext cx="12192000" cy="750602"/>
          </a:xfrm>
        </p:spPr>
        <p:txBody>
          <a:bodyPr>
            <a:normAutofit/>
          </a:bodyPr>
          <a:lstStyle/>
          <a:p>
            <a:r>
              <a:rPr lang="en-IN" dirty="0"/>
              <a:t>What is Table, Column, Row?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43780"/>
            <a:ext cx="11659767" cy="5595107"/>
          </a:xfrm>
        </p:spPr>
        <p:txBody>
          <a:bodyPr/>
          <a:lstStyle/>
          <a:p>
            <a:pPr lvl="0"/>
            <a:r>
              <a:rPr lang="en-US" b="1" u="sng" dirty="0"/>
              <a:t>Table</a:t>
            </a:r>
            <a:endParaRPr lang="en-IN" u="sng" dirty="0"/>
          </a:p>
          <a:p>
            <a:pPr lvl="1"/>
            <a:r>
              <a:rPr lang="en-US" sz="2200" dirty="0"/>
              <a:t>A table is a collection of related data entries and it consists of </a:t>
            </a:r>
            <a:r>
              <a:rPr lang="en-US" sz="2200" b="1" dirty="0">
                <a:solidFill>
                  <a:schemeClr val="accent6"/>
                </a:solidFill>
              </a:rPr>
              <a:t>columns</a:t>
            </a:r>
            <a:r>
              <a:rPr lang="en-US" sz="2200" dirty="0"/>
              <a:t> and </a:t>
            </a:r>
            <a:r>
              <a:rPr lang="en-US" sz="2200" b="1" dirty="0">
                <a:solidFill>
                  <a:schemeClr val="accent6"/>
                </a:solidFill>
              </a:rPr>
              <a:t>rows</a:t>
            </a:r>
            <a:r>
              <a:rPr lang="en-US" sz="2200" dirty="0"/>
              <a:t>.</a:t>
            </a:r>
          </a:p>
          <a:p>
            <a:r>
              <a:rPr lang="en-US" b="1" u="sng" dirty="0"/>
              <a:t>Column/Field/Attribute</a:t>
            </a:r>
            <a:endParaRPr lang="en-IN" u="sng" dirty="0"/>
          </a:p>
          <a:p>
            <a:pPr lvl="1"/>
            <a:r>
              <a:rPr lang="en-US" sz="2200" dirty="0"/>
              <a:t>A field is a </a:t>
            </a:r>
            <a:r>
              <a:rPr lang="en-US" sz="2200" b="1" dirty="0">
                <a:solidFill>
                  <a:schemeClr val="accent6"/>
                </a:solidFill>
              </a:rPr>
              <a:t>character</a:t>
            </a:r>
            <a:r>
              <a:rPr lang="en-US" sz="2200" dirty="0"/>
              <a:t> or </a:t>
            </a:r>
            <a:r>
              <a:rPr lang="en-US" sz="2200" b="1" dirty="0">
                <a:solidFill>
                  <a:schemeClr val="accent6"/>
                </a:solidFill>
              </a:rPr>
              <a:t>group of characters </a:t>
            </a:r>
            <a:r>
              <a:rPr lang="en-US" sz="2200" dirty="0"/>
              <a:t>that have specific meaning.</a:t>
            </a:r>
            <a:endParaRPr lang="en-IN" sz="2200" dirty="0"/>
          </a:p>
          <a:p>
            <a:pPr lvl="1"/>
            <a:r>
              <a:rPr lang="en-US" sz="2200" dirty="0"/>
              <a:t>It is also called as </a:t>
            </a:r>
            <a:r>
              <a:rPr lang="en-US" sz="2200" b="1" dirty="0">
                <a:solidFill>
                  <a:schemeClr val="accent6"/>
                </a:solidFill>
              </a:rPr>
              <a:t>Data Item</a:t>
            </a:r>
            <a:r>
              <a:rPr lang="en-US" sz="2200" dirty="0"/>
              <a:t>.</a:t>
            </a:r>
          </a:p>
          <a:p>
            <a:r>
              <a:rPr lang="en-US" b="1" u="sng" dirty="0"/>
              <a:t>Row/Record/Tuple</a:t>
            </a:r>
            <a:endParaRPr lang="en-IN" u="sng" dirty="0"/>
          </a:p>
          <a:p>
            <a:pPr lvl="1"/>
            <a:r>
              <a:rPr lang="en-US" sz="2200" dirty="0"/>
              <a:t>A record is a collection of </a:t>
            </a:r>
            <a:r>
              <a:rPr lang="en-US" sz="2200" b="1" dirty="0">
                <a:solidFill>
                  <a:schemeClr val="accent6"/>
                </a:solidFill>
              </a:rPr>
              <a:t>logically related fields</a:t>
            </a:r>
            <a:r>
              <a:rPr lang="en-US" sz="2200" dirty="0"/>
              <a:t>.</a:t>
            </a:r>
            <a:endParaRPr lang="en-IN" sz="2200" dirty="0"/>
          </a:p>
          <a:p>
            <a:pPr lvl="1"/>
            <a:r>
              <a:rPr lang="en-US" sz="2200" dirty="0"/>
              <a:t>Collection of fields (Empid, Name and Salary) forms a record for </a:t>
            </a:r>
          </a:p>
          <a:p>
            <a:pPr marL="457200" lvl="1" indent="0">
              <a:buNone/>
            </a:pPr>
            <a:r>
              <a:rPr lang="en-US" sz="2200" dirty="0"/>
              <a:t>      Employee table.</a:t>
            </a:r>
            <a:endParaRPr lang="en-IN" sz="2200" dirty="0"/>
          </a:p>
          <a:p>
            <a:pPr lvl="1"/>
            <a:endParaRPr lang="en-IN" dirty="0"/>
          </a:p>
          <a:p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6205895"/>
              </p:ext>
            </p:extLst>
          </p:nvPr>
        </p:nvGraphicFramePr>
        <p:xfrm>
          <a:off x="9337575" y="1970537"/>
          <a:ext cx="2453373" cy="259588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7978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6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88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u="none" strike="noStrike" kern="1200" dirty="0">
                          <a:effectLst/>
                        </a:rPr>
                        <a:t>Employee</a:t>
                      </a:r>
                      <a:endParaRPr lang="en-US" sz="1800" b="1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u="none" strike="noStrike" kern="1200" dirty="0">
                          <a:effectLst/>
                        </a:rPr>
                        <a:t>Empid</a:t>
                      </a:r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u="none" strike="noStrike" kern="1200" dirty="0">
                          <a:effectLst/>
                        </a:rPr>
                        <a:t>FName</a:t>
                      </a:r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u="none" strike="noStrike" kern="1200" dirty="0" err="1">
                          <a:effectLst/>
                        </a:rPr>
                        <a:t>Lname</a:t>
                      </a:r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u="none" strike="noStrike" kern="1200" dirty="0">
                          <a:effectLst/>
                        </a:rPr>
                        <a:t>101</a:t>
                      </a:r>
                      <a:endParaRPr lang="en-US" sz="16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u="none" strike="noStrike" kern="1200" dirty="0" err="1">
                          <a:effectLst/>
                        </a:rPr>
                        <a:t>Mehul</a:t>
                      </a:r>
                      <a:endParaRPr lang="en-US" sz="16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u="none" strike="noStrike" kern="1200" dirty="0" err="1">
                          <a:effectLst/>
                        </a:rPr>
                        <a:t>Mehra</a:t>
                      </a:r>
                      <a:endParaRPr lang="en-US" sz="16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u="none" strike="noStrike" kern="1200" dirty="0">
                          <a:effectLst/>
                        </a:rPr>
                        <a:t>102</a:t>
                      </a:r>
                      <a:endParaRPr lang="en-US" sz="16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u="none" strike="noStrike" kern="1200" dirty="0" err="1">
                          <a:effectLst/>
                        </a:rPr>
                        <a:t>Divya</a:t>
                      </a:r>
                      <a:endParaRPr lang="en-US" sz="16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u="none" strike="noStrike" kern="1200" dirty="0">
                          <a:effectLst/>
                        </a:rPr>
                        <a:t>Sharma</a:t>
                      </a:r>
                      <a:endParaRPr lang="en-US" sz="16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u="none" strike="noStrike" kern="1200" dirty="0">
                          <a:effectLst/>
                        </a:rPr>
                        <a:t>103</a:t>
                      </a:r>
                      <a:endParaRPr lang="en-US" sz="16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u="none" strike="noStrike" kern="1200" dirty="0" err="1">
                          <a:effectLst/>
                        </a:rPr>
                        <a:t>Ankit</a:t>
                      </a:r>
                      <a:endParaRPr lang="en-US" sz="16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u="none" strike="noStrike" kern="1200" dirty="0">
                          <a:effectLst/>
                        </a:rPr>
                        <a:t>Gupta</a:t>
                      </a:r>
                      <a:endParaRPr lang="en-US" sz="16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u="none" strike="noStrike" kern="1200">
                          <a:effectLst/>
                        </a:rPr>
                        <a:t>104</a:t>
                      </a:r>
                      <a:endParaRPr lang="en-US" sz="1600" b="0" i="0" u="none" strike="noStrike" kern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u="none" strike="noStrike" kern="1200" dirty="0">
                          <a:effectLst/>
                        </a:rPr>
                        <a:t>Chirag</a:t>
                      </a:r>
                      <a:endParaRPr lang="en-US" sz="16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u="none" strike="noStrike" kern="1200" dirty="0">
                          <a:effectLst/>
                        </a:rPr>
                        <a:t>Patel</a:t>
                      </a:r>
                      <a:endParaRPr lang="en-US" sz="16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u="none" strike="noStrike" kern="1200">
                          <a:effectLst/>
                        </a:rPr>
                        <a:t>105</a:t>
                      </a:r>
                      <a:endParaRPr lang="en-US" sz="1600" b="0" i="0" u="none" strike="noStrike" kern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u="none" strike="noStrike" kern="1200">
                          <a:effectLst/>
                        </a:rPr>
                        <a:t>Prmod</a:t>
                      </a:r>
                      <a:endParaRPr lang="en-US" sz="1600" b="0" i="0" u="none" strike="noStrike" kern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u="none" strike="noStrike" kern="1200" dirty="0">
                          <a:effectLst/>
                        </a:rPr>
                        <a:t>Mehta</a:t>
                      </a:r>
                      <a:endParaRPr lang="en-US" sz="16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4DD5137E-9E9C-4BBD-A636-C3DAEB4ED0C1}"/>
              </a:ext>
            </a:extLst>
          </p:cNvPr>
          <p:cNvSpPr/>
          <p:nvPr/>
        </p:nvSpPr>
        <p:spPr>
          <a:xfrm>
            <a:off x="10931882" y="2355123"/>
            <a:ext cx="838200" cy="2205693"/>
          </a:xfrm>
          <a:prstGeom prst="rect">
            <a:avLst/>
          </a:prstGeom>
          <a:noFill/>
          <a:ln w="28575">
            <a:solidFill>
              <a:srgbClr val="B51B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latin typeface="Roboto Condensed(Body)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E7901B-5B69-48C7-A5A6-60C2F1F11ECD}"/>
              </a:ext>
            </a:extLst>
          </p:cNvPr>
          <p:cNvSpPr txBox="1"/>
          <p:nvPr/>
        </p:nvSpPr>
        <p:spPr>
          <a:xfrm>
            <a:off x="10779482" y="1588492"/>
            <a:ext cx="9906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B51B38"/>
                </a:solidFill>
                <a:latin typeface="Roboto Condensed(Body)"/>
              </a:rPr>
              <a:t>Column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360662D-60E6-4EB1-95A9-F828F3E25023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11274782" y="1957824"/>
            <a:ext cx="0" cy="397299"/>
          </a:xfrm>
          <a:prstGeom prst="straightConnector1">
            <a:avLst/>
          </a:prstGeom>
          <a:ln w="34925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8DEE07C7-68FD-479F-8044-2898B5495DFE}"/>
              </a:ext>
            </a:extLst>
          </p:cNvPr>
          <p:cNvSpPr/>
          <p:nvPr/>
        </p:nvSpPr>
        <p:spPr>
          <a:xfrm>
            <a:off x="9331682" y="3076168"/>
            <a:ext cx="2438400" cy="369332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Roboto Condensed(Body)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335C93-903D-411B-90C9-8749F9AE2977}"/>
              </a:ext>
            </a:extLst>
          </p:cNvPr>
          <p:cNvSpPr txBox="1"/>
          <p:nvPr/>
        </p:nvSpPr>
        <p:spPr>
          <a:xfrm>
            <a:off x="8457400" y="3082893"/>
            <a:ext cx="647700" cy="38099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>
                    <a:lumMod val="50000"/>
                  </a:schemeClr>
                </a:solidFill>
                <a:latin typeface="Roboto Condensed(Body)"/>
              </a:rPr>
              <a:t>Row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23CA194-B294-43DB-9FDF-241CEA7D4410}"/>
              </a:ext>
            </a:extLst>
          </p:cNvPr>
          <p:cNvCxnSpPr>
            <a:cxnSpLocks/>
          </p:cNvCxnSpPr>
          <p:nvPr/>
        </p:nvCxnSpPr>
        <p:spPr>
          <a:xfrm>
            <a:off x="9002225" y="3292637"/>
            <a:ext cx="285750" cy="3"/>
          </a:xfrm>
          <a:prstGeom prst="straightConnector1">
            <a:avLst/>
          </a:prstGeom>
          <a:ln w="34925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9988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11" grpId="0" animBg="1"/>
      <p:bldP spid="1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/>
              <a:t>Student Table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3712361" y="2230376"/>
          <a:ext cx="4238626" cy="296672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844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5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82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6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11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RollNo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Branch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SPI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Raju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Mitesh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CI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Mayur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Nilesh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Hitesh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CI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Tarun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Suresh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258984" y="1046836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oboto Condensed(Body)"/>
              </a:rPr>
              <a:t>Columns </a:t>
            </a:r>
            <a:r>
              <a:rPr lang="en-US" b="1" dirty="0">
                <a:solidFill>
                  <a:srgbClr val="C00000"/>
                </a:solidFill>
                <a:latin typeface="Roboto Condensed(Body)"/>
              </a:rPr>
              <a:t>(5)</a:t>
            </a:r>
            <a:endParaRPr lang="en-IN" b="1" dirty="0">
              <a:solidFill>
                <a:srgbClr val="C00000"/>
              </a:solidFill>
              <a:latin typeface="Roboto Condensed(Body)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4013735" y="1427996"/>
            <a:ext cx="1875454" cy="766564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5889189" y="1427996"/>
            <a:ext cx="1753270" cy="802380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5889189" y="1427996"/>
            <a:ext cx="973624" cy="802380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endCxn id="5" idx="0"/>
          </p:cNvCxnSpPr>
          <p:nvPr/>
        </p:nvCxnSpPr>
        <p:spPr>
          <a:xfrm flipH="1">
            <a:off x="5831674" y="1427996"/>
            <a:ext cx="57516" cy="802380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4951462" y="1427996"/>
            <a:ext cx="937727" cy="766564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561763" y="2004325"/>
            <a:ext cx="1620000" cy="787344"/>
          </a:xfrm>
          <a:prstGeom prst="roundRect">
            <a:avLst>
              <a:gd name="adj" fmla="val 394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 Condensed(Body)"/>
              </a:rPr>
              <a:t>Attributes: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Roboto Condensed(Body)"/>
              </a:rPr>
              <a:t>Title of column</a:t>
            </a:r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3009319" y="2378747"/>
            <a:ext cx="540000" cy="0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547225" y="3448055"/>
            <a:ext cx="12726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oboto Condensed(Body)"/>
              </a:rPr>
              <a:t>Rows or</a:t>
            </a:r>
          </a:p>
          <a:p>
            <a:r>
              <a:rPr lang="en-US" dirty="0">
                <a:latin typeface="Roboto Condensed(Body)"/>
              </a:rPr>
              <a:t>Tuples or Records </a:t>
            </a:r>
            <a:r>
              <a:rPr lang="en-US" b="1" dirty="0">
                <a:solidFill>
                  <a:srgbClr val="C00000"/>
                </a:solidFill>
                <a:latin typeface="Roboto Condensed(Body)"/>
              </a:rPr>
              <a:t>(7)</a:t>
            </a:r>
            <a:endParaRPr lang="en-IN" b="1" dirty="0">
              <a:solidFill>
                <a:srgbClr val="C00000"/>
              </a:solidFill>
              <a:latin typeface="Roboto Condensed(Body)"/>
            </a:endParaRPr>
          </a:p>
        </p:txBody>
      </p:sp>
      <p:cxnSp>
        <p:nvCxnSpPr>
          <p:cNvPr id="33" name="Straight Arrow Connector 32"/>
          <p:cNvCxnSpPr/>
          <p:nvPr/>
        </p:nvCxnSpPr>
        <p:spPr>
          <a:xfrm flipV="1">
            <a:off x="2914616" y="2872261"/>
            <a:ext cx="729406" cy="922020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V="1">
            <a:off x="2914616" y="3253261"/>
            <a:ext cx="729406" cy="541020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V="1">
            <a:off x="2914616" y="3601720"/>
            <a:ext cx="729406" cy="192561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2914616" y="3794281"/>
            <a:ext cx="723900" cy="206804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2914616" y="3794281"/>
            <a:ext cx="740229" cy="539405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2914616" y="3794281"/>
            <a:ext cx="740229" cy="1287780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2914616" y="3794281"/>
            <a:ext cx="740229" cy="955041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2754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0" grpId="0" animBg="1"/>
      <p:bldP spid="3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285750" indent="-285750"/>
            <a:r>
              <a:rPr lang="en-US" dirty="0"/>
              <a:t>Exercise-1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/>
              <a:t>Find out following for the given employee table:</a:t>
            </a:r>
          </a:p>
          <a:p>
            <a:pPr marL="1200150" lvl="2" indent="-514350">
              <a:buFont typeface="+mj-lt"/>
              <a:buAutoNum type="romanLcPeriod"/>
            </a:pPr>
            <a:r>
              <a:rPr lang="en-US" sz="2000" dirty="0"/>
              <a:t>No of columns</a:t>
            </a:r>
          </a:p>
          <a:p>
            <a:pPr marL="1200150" lvl="2" indent="-514350">
              <a:buFont typeface="+mj-lt"/>
              <a:buAutoNum type="romanLcPeriod"/>
            </a:pPr>
            <a:r>
              <a:rPr lang="en-US" sz="2000" dirty="0"/>
              <a:t>No of records</a:t>
            </a:r>
          </a:p>
          <a:p>
            <a:pPr marL="1200150" lvl="2" indent="-514350">
              <a:buFont typeface="+mj-lt"/>
              <a:buAutoNum type="romanLcPeriod"/>
            </a:pPr>
            <a:r>
              <a:rPr lang="en-US" sz="2000" dirty="0"/>
              <a:t>Name of fields</a:t>
            </a:r>
          </a:p>
          <a:p>
            <a:pPr marL="457200" lvl="1" indent="0">
              <a:buNone/>
            </a:pPr>
            <a:endParaRPr lang="en-IN" dirty="0"/>
          </a:p>
          <a:p>
            <a:pPr lvl="1"/>
            <a:endParaRPr lang="en-IN" dirty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1732225"/>
              </p:ext>
            </p:extLst>
          </p:nvPr>
        </p:nvGraphicFramePr>
        <p:xfrm>
          <a:off x="512092" y="2659452"/>
          <a:ext cx="8128002" cy="267716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 gridSpan="6"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chemeClr val="accent6"/>
                          </a:solidFill>
                        </a:rPr>
                        <a:t>Employee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2000" b="1" kern="1200" dirty="0" err="1"/>
                        <a:t>EmpID</a:t>
                      </a:r>
                      <a:endParaRPr lang="en-IN" sz="2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Name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/>
                        <a:t>Dept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Salary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/>
                        <a:t>Exp</a:t>
                      </a:r>
                      <a:endParaRPr lang="en-IN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/>
                        <a:t>JoinDate</a:t>
                      </a:r>
                      <a:endParaRPr lang="en-IN" sz="20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E01</a:t>
                      </a: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en-US" sz="18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Jatin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Sales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30000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01-05-05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E02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Meet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HR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30000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01-03-05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E03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Ram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HR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15000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01-04-10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E04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en-US" sz="18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Niraj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Sales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25000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01-03-08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E05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en-US" sz="18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Priya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Adm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20000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01-11-07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78824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ABCB0-05B0-5084-4FEC-27A84D681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2A648-7A6C-7809-AC32-1D5B57735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CREATE, INSERT, SELECT, UPDATE and ALTER Commands</a:t>
            </a:r>
          </a:p>
        </p:txBody>
      </p:sp>
    </p:spTree>
    <p:extLst>
      <p:ext uri="{BB962C8B-B14F-4D97-AF65-F5344CB8AC3E}">
        <p14:creationId xmlns:p14="http://schemas.microsoft.com/office/powerpoint/2010/main" val="38378296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Roboto Condensed(Body)"/>
              </a:rPr>
              <a:t>Create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u="sng" dirty="0">
                <a:latin typeface="Roboto Condensed(Body)"/>
              </a:rPr>
              <a:t>Syntax</a:t>
            </a:r>
          </a:p>
          <a:p>
            <a:endParaRPr lang="en-IN" b="1" dirty="0">
              <a:latin typeface="Roboto Condensed(Body)"/>
            </a:endParaRPr>
          </a:p>
          <a:p>
            <a:endParaRPr lang="en-IN" b="1" dirty="0">
              <a:latin typeface="Roboto Condensed(Body)"/>
            </a:endParaRPr>
          </a:p>
          <a:p>
            <a:r>
              <a:rPr lang="en-US" b="1" u="sng" dirty="0">
                <a:latin typeface="Roboto Condensed(Body)"/>
              </a:rPr>
              <a:t>E.g.</a:t>
            </a:r>
          </a:p>
          <a:p>
            <a:endParaRPr lang="en-US" b="1" u="sng" dirty="0">
              <a:latin typeface="Roboto Condensed(Body)"/>
            </a:endParaRPr>
          </a:p>
          <a:p>
            <a:endParaRPr lang="en-IN" b="1" dirty="0">
              <a:latin typeface="Roboto Condensed(Body)"/>
            </a:endParaRPr>
          </a:p>
          <a:p>
            <a:endParaRPr lang="en-IN" b="1" dirty="0">
              <a:latin typeface="Roboto Condensed(Body)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7234" y="1300151"/>
            <a:ext cx="4931857" cy="762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Roboto Condensed(Body)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49352" y="1454416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00FF"/>
                </a:solidFill>
                <a:latin typeface="Roboto Condensed(Body)"/>
              </a:rPr>
              <a:t>CREATE</a:t>
            </a:r>
            <a:endParaRPr lang="en-US" dirty="0">
              <a:solidFill>
                <a:srgbClr val="0000FF"/>
              </a:solidFill>
              <a:latin typeface="Roboto Condensed(Body)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852960" y="1454416"/>
            <a:ext cx="1456202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DATABASE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2453" y="1454416"/>
            <a:ext cx="1606747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ln w="0"/>
                <a:solidFill>
                  <a:schemeClr val="tx1"/>
                </a:solidFill>
                <a:latin typeface="Roboto Condensed(Body)"/>
              </a:rPr>
              <a:t>DatabaseName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142491" y="1454416"/>
            <a:ext cx="162233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808080"/>
                </a:solidFill>
                <a:latin typeface="Roboto Condensed(Body)"/>
              </a:rPr>
              <a:t>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5854" y="2862378"/>
            <a:ext cx="4931857" cy="762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Roboto Condensed(Body)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17972" y="3025709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rgbClr val="0000FF"/>
                </a:solidFill>
                <a:latin typeface="Roboto Condensed(Body)"/>
              </a:rPr>
              <a:t>CREATE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1580" y="3035364"/>
            <a:ext cx="1456202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rgbClr val="0000FF"/>
                </a:solidFill>
                <a:latin typeface="Roboto Condensed(Body)"/>
              </a:rPr>
              <a:t> DATABASE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76435" y="3021764"/>
            <a:ext cx="1606747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ln w="0"/>
                <a:solidFill>
                  <a:schemeClr val="tx1"/>
                </a:solidFill>
                <a:latin typeface="Roboto Condensed(Body)"/>
              </a:rPr>
              <a:t>DemoDB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081834" y="3014778"/>
            <a:ext cx="191509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808080"/>
                </a:solidFill>
                <a:latin typeface="Roboto Condensed(Body)"/>
              </a:rPr>
              <a:t>;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 rotWithShape="1">
          <a:blip r:embed="rId2"/>
          <a:srcRect l="74" t="9637" r="79207" b="62134"/>
          <a:stretch/>
        </p:blipFill>
        <p:spPr>
          <a:xfrm>
            <a:off x="6651328" y="2460973"/>
            <a:ext cx="4524062" cy="354804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55625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animBg="1"/>
      <p:bldP spid="5" grpId="0" uiExpand="1" animBg="1"/>
      <p:bldP spid="6" grpId="0" uiExpand="1" animBg="1"/>
      <p:bldP spid="7" grpId="0" uiExpand="1" animBg="1"/>
      <p:bldP spid="8" grpId="0" uiExpand="1" animBg="1"/>
      <p:bldP spid="14" grpId="0" animBg="1"/>
      <p:bldP spid="15" grpId="0" animBg="1"/>
      <p:bldP spid="16" grpId="0" animBg="1"/>
      <p:bldP spid="18" grpId="0" animBg="1"/>
      <p:bldP spid="1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CREATE TABLE statement is used to </a:t>
            </a:r>
            <a:r>
              <a:rPr lang="en-US" b="1" dirty="0">
                <a:solidFill>
                  <a:schemeClr val="accent6"/>
                </a:solidFill>
              </a:rPr>
              <a:t>create</a:t>
            </a:r>
            <a:r>
              <a:rPr lang="en-US" dirty="0"/>
              <a:t> a </a:t>
            </a:r>
            <a:r>
              <a:rPr lang="en-US" b="1" dirty="0">
                <a:solidFill>
                  <a:schemeClr val="accent6"/>
                </a:solidFill>
              </a:rPr>
              <a:t>new table </a:t>
            </a:r>
            <a:r>
              <a:rPr lang="en-US" dirty="0"/>
              <a:t>in a database.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AFEE06-F209-49C8-8D12-4D044FCBB3DD}"/>
              </a:ext>
            </a:extLst>
          </p:cNvPr>
          <p:cNvSpPr txBox="1"/>
          <p:nvPr/>
        </p:nvSpPr>
        <p:spPr>
          <a:xfrm>
            <a:off x="260248" y="1447800"/>
            <a:ext cx="1035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Syntax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300" y="1775369"/>
            <a:ext cx="8343900" cy="32654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77435" y="1940885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endParaRPr lang="en-US" dirty="0">
              <a:solidFill>
                <a:srgbClr val="0000FF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81043" y="1940885"/>
            <a:ext cx="104264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TABLE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7213" y="1940885"/>
            <a:ext cx="1606747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ln w="0"/>
                <a:solidFill>
                  <a:schemeClr val="tx1"/>
                </a:solidFill>
              </a:rPr>
              <a:t>TableName</a:t>
            </a:r>
            <a:endParaRPr lang="en-US" dirty="0">
              <a:ln w="0"/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67251" y="1940885"/>
            <a:ext cx="191509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58760" y="2554430"/>
            <a:ext cx="16002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ColumnName1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6573713" y="2564085"/>
            <a:ext cx="188877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Datatype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(Size</a:t>
            </a:r>
            <a:r>
              <a:rPr lang="en-US" dirty="0"/>
              <a:t>)</a:t>
            </a:r>
            <a:endParaRPr lang="en-US" dirty="0">
              <a:ln w="0"/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557903" y="2564085"/>
            <a:ext cx="158947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7250" y="4501234"/>
            <a:ext cx="191509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4960" y="4505806"/>
            <a:ext cx="191509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58760" y="3087830"/>
            <a:ext cx="16002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ColumnName2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6573713" y="3097485"/>
            <a:ext cx="188877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Datatype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(Size</a:t>
            </a:r>
            <a:r>
              <a:rPr lang="en-US" dirty="0"/>
              <a:t>)</a:t>
            </a:r>
            <a:endParaRPr lang="en-US" dirty="0">
              <a:ln w="0"/>
              <a:solidFill>
                <a:schemeClr val="tx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557902" y="3097485"/>
            <a:ext cx="158947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6560" y="3670715"/>
            <a:ext cx="685800" cy="22402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b" anchorCtr="0"/>
          <a:lstStyle/>
          <a:p>
            <a:pPr algn="ctr"/>
            <a:r>
              <a:rPr lang="en-US" dirty="0"/>
              <a:t>….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58AEE11-2512-B9BD-BA86-322988B9812E}"/>
              </a:ext>
            </a:extLst>
          </p:cNvPr>
          <p:cNvSpPr/>
          <p:nvPr/>
        </p:nvSpPr>
        <p:spPr>
          <a:xfrm>
            <a:off x="4858759" y="3985170"/>
            <a:ext cx="16002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err="1"/>
              <a:t>ColumnNameN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A5BCE2E-5634-F59B-4F5C-2405B9A1B1BC}"/>
              </a:ext>
            </a:extLst>
          </p:cNvPr>
          <p:cNvSpPr/>
          <p:nvPr/>
        </p:nvSpPr>
        <p:spPr>
          <a:xfrm>
            <a:off x="6573712" y="3994825"/>
            <a:ext cx="188877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Datatype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(Size</a:t>
            </a:r>
            <a:r>
              <a:rPr lang="en-US" dirty="0"/>
              <a:t>)</a:t>
            </a:r>
            <a:endParaRPr lang="en-US" dirty="0">
              <a:ln w="0"/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5396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Table(Cont..)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53F6BD-0B03-498E-90AA-2EAACE39DBE1}"/>
              </a:ext>
            </a:extLst>
          </p:cNvPr>
          <p:cNvSpPr txBox="1"/>
          <p:nvPr/>
        </p:nvSpPr>
        <p:spPr>
          <a:xfrm>
            <a:off x="257175" y="1038178"/>
            <a:ext cx="723900" cy="367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Roboto Condensed(Body)"/>
              </a:rPr>
              <a:t>E.g.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150" y="1362075"/>
            <a:ext cx="8343900" cy="28948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Roboto Condensed(Body)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7902" y="1461045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CREATE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1671691" y="1461045"/>
            <a:ext cx="104264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lt1"/>
                </a:solidFill>
                <a:latin typeface="Roboto Condensed(Body)"/>
              </a:rPr>
              <a:t> </a:t>
            </a:r>
            <a:r>
              <a:rPr lang="en-US" dirty="0">
                <a:solidFill>
                  <a:srgbClr val="0000FF"/>
                </a:solidFill>
                <a:latin typeface="Roboto Condensed(Body)"/>
              </a:rPr>
              <a:t>TABLE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2817804" y="1461045"/>
            <a:ext cx="124807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 Condensed(Body)"/>
              </a:rPr>
              <a:t>STUDENT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46105" y="2027305"/>
            <a:ext cx="1101771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 err="1">
                <a:latin typeface="Roboto Condensed(Body)"/>
              </a:rPr>
              <a:t>Rno</a:t>
            </a:r>
            <a:endParaRPr lang="en-US" dirty="0">
              <a:latin typeface="Roboto Condensed(Body)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762760" y="2024894"/>
            <a:ext cx="112677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rgbClr val="0000FF"/>
                </a:solidFill>
                <a:latin typeface="Roboto Condensed(Body)"/>
              </a:rPr>
              <a:t>INT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84803" y="2027305"/>
            <a:ext cx="158947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808080"/>
                </a:solidFill>
                <a:latin typeface="Roboto Condensed(Body)"/>
              </a:rPr>
              <a:t>,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9347" y="1461045"/>
            <a:ext cx="191509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(Body)"/>
              </a:rPr>
              <a:t>(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9347" y="3724275"/>
            <a:ext cx="191509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(Body)"/>
              </a:rPr>
              <a:t>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6047" y="3724275"/>
            <a:ext cx="191509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808080"/>
                </a:solidFill>
                <a:latin typeface="Roboto Condensed(Body)"/>
              </a:rPr>
              <a:t>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52961" y="2598311"/>
            <a:ext cx="1101771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>
                <a:latin typeface="Roboto Condensed(Body)"/>
              </a:rPr>
              <a:t>Name</a:t>
            </a:r>
            <a:endParaRPr lang="en-US" dirty="0">
              <a:latin typeface="Roboto Condensed(Body)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758321" y="2598311"/>
            <a:ext cx="1603247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rgbClr val="0000FF"/>
                </a:solidFill>
                <a:latin typeface="Roboto Condensed(Body)"/>
              </a:rPr>
              <a:t>VARCHAR(20)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42003" y="2607966"/>
            <a:ext cx="158947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808080"/>
                </a:solidFill>
                <a:latin typeface="Roboto Condensed(Body)"/>
              </a:rPr>
              <a:t>,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46104" y="3164736"/>
            <a:ext cx="1101771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>
                <a:latin typeface="Roboto Condensed(Body)"/>
              </a:rPr>
              <a:t>SPI</a:t>
            </a:r>
            <a:endParaRPr lang="en-US" dirty="0">
              <a:latin typeface="Roboto Condensed(Body)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758321" y="3164736"/>
            <a:ext cx="1716468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rgbClr val="0000FF"/>
                </a:solidFill>
                <a:latin typeface="Roboto Condensed(Body)"/>
              </a:rPr>
              <a:t>DECIMAL(4,2)</a:t>
            </a:r>
          </a:p>
        </p:txBody>
      </p:sp>
    </p:spTree>
    <p:extLst>
      <p:ext uri="{BB962C8B-B14F-4D97-AF65-F5344CB8AC3E}">
        <p14:creationId xmlns:p14="http://schemas.microsoft.com/office/powerpoint/2010/main" val="3087394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Table(Cont..)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Object Explorer-&gt; Database Name -&gt; Tables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B761B5-964B-4C77-BDD4-35A9F089D3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0" t="829" b="3076"/>
          <a:stretch/>
        </p:blipFill>
        <p:spPr>
          <a:xfrm>
            <a:off x="2838450" y="1485901"/>
            <a:ext cx="3152774" cy="4762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340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095F4-2C0D-1CED-278E-B325A6019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92D68-EE6A-09B1-C1D1-8FC4F01F7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Table(Cont..)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7E295-1D2E-1901-27FB-5BC828522D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04CF8F3-E507-CA9D-32F3-E1F7C27F51B7}"/>
              </a:ext>
            </a:extLst>
          </p:cNvPr>
          <p:cNvSpPr txBox="1">
            <a:spLocks/>
          </p:cNvSpPr>
          <p:nvPr/>
        </p:nvSpPr>
        <p:spPr>
          <a:xfrm>
            <a:off x="131180" y="863443"/>
            <a:ext cx="11659767" cy="55951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Roboto Condensed(Body)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Roboto Condensed(Body)"/>
                <a:ea typeface="Roboto Condensed" panose="02000000000000000000" pitchFamily="2" charset="0"/>
                <a:cs typeface="Roboto Condensed" panose="02000000000000000000" pitchFamily="2" charset="0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Roboto Condensed(Body)"/>
                <a:ea typeface="Roboto Condensed" panose="02000000000000000000" pitchFamily="2" charset="0"/>
                <a:cs typeface="Roboto Condensed" panose="02000000000000000000" pitchFamily="2" charset="0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Roboto Condensed(Body)"/>
                <a:ea typeface="Roboto Condensed" panose="02000000000000000000" pitchFamily="2" charset="0"/>
                <a:cs typeface="Roboto Condensed" panose="02000000000000000000" pitchFamily="2" charset="0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Roboto Condensed(Body)"/>
                <a:ea typeface="Roboto Condensed" panose="02000000000000000000" pitchFamily="2" charset="0"/>
                <a:cs typeface="Roboto Condensed" panose="020000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</a:t>
            </a:r>
            <a:r>
              <a:rPr lang="en-US" b="1" dirty="0" err="1">
                <a:solidFill>
                  <a:schemeClr val="accent6"/>
                </a:solidFill>
              </a:rPr>
              <a:t>sp_help</a:t>
            </a:r>
            <a:r>
              <a:rPr lang="en-US" b="1" dirty="0">
                <a:solidFill>
                  <a:schemeClr val="accent6"/>
                </a:solidFill>
              </a:rPr>
              <a:t> </a:t>
            </a:r>
            <a:r>
              <a:rPr lang="en-US" dirty="0"/>
              <a:t>command in SQL Server provides detailed information about a table.</a:t>
            </a:r>
          </a:p>
          <a:p>
            <a:r>
              <a:rPr lang="en-US" dirty="0"/>
              <a:t>It displays table structure, column names, data types, and nullability.</a:t>
            </a:r>
          </a:p>
          <a:p>
            <a:r>
              <a:rPr lang="en-US" dirty="0"/>
              <a:t>It shows indexes, constraints, and relationships for the table.</a:t>
            </a:r>
          </a:p>
          <a:p>
            <a:r>
              <a:rPr lang="en-US" sz="2200" dirty="0"/>
              <a:t>e.g.,</a:t>
            </a:r>
            <a:r>
              <a:rPr lang="en-IN" sz="2200" dirty="0">
                <a:solidFill>
                  <a:srgbClr val="0000FF"/>
                </a:solidFill>
              </a:rPr>
              <a:t> </a:t>
            </a:r>
            <a:r>
              <a:rPr lang="en-IN" sz="2000" dirty="0">
                <a:solidFill>
                  <a:srgbClr val="0000FF"/>
                </a:solidFill>
              </a:rPr>
              <a:t>EXEC</a:t>
            </a:r>
            <a:r>
              <a:rPr lang="en-IN" sz="2000" dirty="0">
                <a:solidFill>
                  <a:srgbClr val="000000"/>
                </a:solidFill>
              </a:rPr>
              <a:t> </a:t>
            </a:r>
            <a:r>
              <a:rPr lang="en-IN" sz="2000" dirty="0">
                <a:solidFill>
                  <a:srgbClr val="800000"/>
                </a:solidFill>
              </a:rPr>
              <a:t>SP_HELP</a:t>
            </a:r>
            <a:r>
              <a:rPr lang="en-IN" sz="2000" dirty="0">
                <a:solidFill>
                  <a:srgbClr val="0000FF"/>
                </a:solidFill>
              </a:rPr>
              <a:t> </a:t>
            </a:r>
            <a:r>
              <a:rPr lang="en-IN" sz="2000" dirty="0">
                <a:solidFill>
                  <a:srgbClr val="000000"/>
                </a:solidFill>
              </a:rPr>
              <a:t>STUDENT</a:t>
            </a: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A4345A-0345-0471-0E5B-17C4FCE9B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80" y="2626702"/>
            <a:ext cx="9592923" cy="3831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078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 data into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INSERT INTO statement is used to </a:t>
            </a:r>
            <a:r>
              <a:rPr lang="en-US" b="1" dirty="0">
                <a:solidFill>
                  <a:schemeClr val="accent6"/>
                </a:solidFill>
              </a:rPr>
              <a:t>insert new records </a:t>
            </a:r>
            <a:r>
              <a:rPr lang="en-US" dirty="0"/>
              <a:t>in a table.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If you are adding values for all the columns of the table, you do not need to specify the column names in the SQL query. </a:t>
            </a:r>
          </a:p>
          <a:p>
            <a:r>
              <a:rPr lang="en-US" dirty="0"/>
              <a:t>However, make sure the order of the values is in the same order as the columns in the table. The INSERT syntax would be as follows: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E8CE39-762F-466B-AB8E-B30ED9A3ABFF}"/>
              </a:ext>
            </a:extLst>
          </p:cNvPr>
          <p:cNvSpPr txBox="1"/>
          <p:nvPr/>
        </p:nvSpPr>
        <p:spPr>
          <a:xfrm>
            <a:off x="41310" y="1447800"/>
            <a:ext cx="1035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Syntax 1</a:t>
            </a:r>
          </a:p>
        </p:txBody>
      </p:sp>
      <p:sp>
        <p:nvSpPr>
          <p:cNvPr id="5" name="Rectangle 4"/>
          <p:cNvSpPr/>
          <p:nvPr/>
        </p:nvSpPr>
        <p:spPr>
          <a:xfrm>
            <a:off x="694723" y="1966639"/>
            <a:ext cx="8685815" cy="14364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776154" y="2170366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INSERT</a:t>
            </a:r>
            <a:endParaRPr lang="en-US" dirty="0">
              <a:solidFill>
                <a:srgbClr val="0000FF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869637" y="2170366"/>
            <a:ext cx="733557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2704240" y="2170366"/>
            <a:ext cx="1332477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ln w="0"/>
                <a:solidFill>
                  <a:schemeClr val="tx1"/>
                </a:solidFill>
              </a:rPr>
              <a:t>TableName</a:t>
            </a:r>
            <a:endParaRPr lang="en-US" dirty="0">
              <a:ln w="0"/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928300" y="2759222"/>
            <a:ext cx="1114974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VALUES</a:t>
            </a:r>
            <a:endParaRPr lang="en-US" dirty="0">
              <a:ln w="0"/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962344" y="2157931"/>
            <a:ext cx="158947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39761" y="2170366"/>
            <a:ext cx="191509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13790" y="2156588"/>
            <a:ext cx="191509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29400" y="2770765"/>
            <a:ext cx="216267" cy="44037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47504" y="2749679"/>
            <a:ext cx="970087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value1</a:t>
            </a:r>
            <a:endParaRPr lang="en-US" dirty="0">
              <a:ln w="0"/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842556" y="2763261"/>
            <a:ext cx="158947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57109" y="2945854"/>
            <a:ext cx="447397" cy="2286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b" anchorCtr="0"/>
          <a:lstStyle/>
          <a:p>
            <a:pPr algn="ctr"/>
            <a:r>
              <a:rPr lang="en-US" dirty="0"/>
              <a:t>….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78927" y="2752296"/>
            <a:ext cx="970087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value2</a:t>
            </a:r>
            <a:endParaRPr lang="en-US" dirty="0">
              <a:ln w="0"/>
              <a:solidFill>
                <a:schemeClr val="tx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619234" y="2170366"/>
            <a:ext cx="158947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4719" y="2336254"/>
            <a:ext cx="447397" cy="2286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b" anchorCtr="0"/>
          <a:lstStyle/>
          <a:p>
            <a:pPr algn="ctr"/>
            <a:r>
              <a:rPr lang="en-US" dirty="0"/>
              <a:t>….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15387" y="2749679"/>
            <a:ext cx="158947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42690" y="2759222"/>
            <a:ext cx="191509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33873" y="2763138"/>
            <a:ext cx="191509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37985" y="2156588"/>
            <a:ext cx="1077022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column1</a:t>
            </a:r>
            <a:endParaRPr lang="en-US" dirty="0">
              <a:ln w="0"/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885117" y="2170346"/>
            <a:ext cx="970087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colum2</a:t>
            </a:r>
            <a:endParaRPr lang="en-US" dirty="0">
              <a:ln w="0"/>
              <a:solidFill>
                <a:schemeClr val="tx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761031" y="2763261"/>
            <a:ext cx="970087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valueN</a:t>
            </a:r>
            <a:endParaRPr lang="en-US" dirty="0">
              <a:ln w="0"/>
              <a:solidFill>
                <a:schemeClr val="tx1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7941387" y="2157032"/>
            <a:ext cx="970087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columN</a:t>
            </a:r>
            <a:endParaRPr lang="en-US" dirty="0">
              <a:ln w="0"/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DC288D6-E934-416A-AA02-581B782CDEDE}"/>
              </a:ext>
            </a:extLst>
          </p:cNvPr>
          <p:cNvSpPr txBox="1"/>
          <p:nvPr/>
        </p:nvSpPr>
        <p:spPr>
          <a:xfrm>
            <a:off x="193710" y="5181600"/>
            <a:ext cx="1035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Syntax 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04196" y="5571852"/>
            <a:ext cx="9918408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804834" y="5764194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INSERT</a:t>
            </a:r>
            <a:endParaRPr lang="en-US" dirty="0">
              <a:solidFill>
                <a:srgbClr val="0000FF"/>
              </a:solidFill>
              <a:latin typeface="Consolas" panose="020B0609020204030204" pitchFamily="49" charset="0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1899327" y="5764194"/>
            <a:ext cx="733557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33930" y="5764194"/>
            <a:ext cx="1332477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ln w="0"/>
                <a:solidFill>
                  <a:schemeClr val="tx1"/>
                </a:solidFill>
              </a:rPr>
              <a:t>TableName</a:t>
            </a:r>
            <a:endParaRPr lang="en-US" dirty="0">
              <a:ln w="0"/>
              <a:solidFill>
                <a:schemeClr val="tx1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4167453" y="5764194"/>
            <a:ext cx="1114974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VALUES</a:t>
            </a:r>
            <a:endParaRPr lang="en-US" dirty="0">
              <a:ln w="0"/>
              <a:solidFill>
                <a:schemeClr val="tx1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10321609" y="5773244"/>
            <a:ext cx="216267" cy="44037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;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88287" y="5754651"/>
            <a:ext cx="970087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value1</a:t>
            </a:r>
            <a:endParaRPr lang="en-US" dirty="0">
              <a:ln w="0"/>
              <a:solidFill>
                <a:schemeClr val="tx1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8083339" y="5768233"/>
            <a:ext cx="158947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33930" y="5983251"/>
            <a:ext cx="447397" cy="2286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b" anchorCtr="0"/>
          <a:lstStyle/>
          <a:p>
            <a:pPr algn="ctr"/>
            <a:r>
              <a:rPr lang="en-US" dirty="0"/>
              <a:t>….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19710" y="5757268"/>
            <a:ext cx="970087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value2</a:t>
            </a:r>
            <a:endParaRPr lang="en-US" dirty="0">
              <a:ln w="0"/>
              <a:solidFill>
                <a:schemeClr val="tx1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6756170" y="5754651"/>
            <a:ext cx="158947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83473" y="5764194"/>
            <a:ext cx="191509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028390" y="5764194"/>
            <a:ext cx="191509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59F0E09-E8BC-3AC1-999B-118E500AAF48}"/>
              </a:ext>
            </a:extLst>
          </p:cNvPr>
          <p:cNvSpPr/>
          <p:nvPr/>
        </p:nvSpPr>
        <p:spPr>
          <a:xfrm>
            <a:off x="8912634" y="5773244"/>
            <a:ext cx="970087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valueN</a:t>
            </a:r>
            <a:endParaRPr lang="en-US" dirty="0">
              <a:ln w="0"/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345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2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 data into Table(Cont..)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bg1"/>
            </a:solidFill>
          </a:ln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66700" y="1004200"/>
            <a:ext cx="723900" cy="367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Roboto Condensed(Body)"/>
              </a:rPr>
              <a:t>E.g.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22121" y="1390499"/>
            <a:ext cx="8191300" cy="15051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Roboto Condensed(Body)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39748" y="1651527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00FF"/>
                </a:solidFill>
                <a:latin typeface="Roboto Condensed(Body)"/>
              </a:rPr>
              <a:t>INSERT</a:t>
            </a:r>
            <a:endParaRPr lang="en-US" dirty="0">
              <a:solidFill>
                <a:srgbClr val="0000FF"/>
              </a:solidFill>
              <a:latin typeface="Roboto Condensed(Body)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33231" y="1651527"/>
            <a:ext cx="733557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INTO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7834" y="1651527"/>
            <a:ext cx="1018735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latin typeface="Roboto Condensed(Body)"/>
              </a:rPr>
              <a:t>Student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8150" y="2240383"/>
            <a:ext cx="1018419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VALUES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951540" y="1637749"/>
            <a:ext cx="158947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(Body)"/>
              </a:rPr>
              <a:t>,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93505" y="1651507"/>
            <a:ext cx="191509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(Body)"/>
              </a:rPr>
              <a:t>(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22706" y="1637749"/>
            <a:ext cx="191509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(Body)"/>
              </a:rPr>
              <a:t>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41748" y="2240383"/>
            <a:ext cx="252489" cy="46019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(Body)"/>
              </a:rPr>
              <a:t>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95620" y="2240383"/>
            <a:ext cx="759172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 Condensed(Body)"/>
              </a:rPr>
              <a:t>101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208942" y="2244299"/>
            <a:ext cx="158947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(Body)"/>
              </a:rPr>
              <a:t>,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10036" y="2244299"/>
            <a:ext cx="1000451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rgbClr val="FF0000"/>
                </a:solidFill>
                <a:latin typeface="Roboto Condensed(Body)"/>
              </a:rPr>
              <a:t>'Anil'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50007" y="1651507"/>
            <a:ext cx="158947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(Body)"/>
              </a:rPr>
              <a:t>,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8931" y="2240383"/>
            <a:ext cx="158947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(Body)"/>
              </a:rPr>
              <a:t>,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79069" y="2240383"/>
            <a:ext cx="191509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(Body)"/>
              </a:rPr>
              <a:t>(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49945" y="2240383"/>
            <a:ext cx="191509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(Body)"/>
              </a:rPr>
              <a:t>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91950" y="1651507"/>
            <a:ext cx="755862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 Condensed(Body)"/>
              </a:rPr>
              <a:t>Rno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112147" y="1651507"/>
            <a:ext cx="744577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 Condensed(Body)"/>
              </a:rPr>
              <a:t>Name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464700" y="2245564"/>
            <a:ext cx="784951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 Condensed(Body)"/>
              </a:rPr>
              <a:t>9.28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208942" y="1637749"/>
            <a:ext cx="81126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 Condensed(Body)"/>
              </a:rPr>
              <a:t>SPI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66700" y="2928099"/>
            <a:ext cx="492617" cy="367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Roboto Condensed(Body)"/>
              </a:rPr>
              <a:t>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3400" y="3352800"/>
            <a:ext cx="8180021" cy="10419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Roboto Condensed(Body)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51027" y="3613828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00FF"/>
                </a:solidFill>
                <a:latin typeface="Roboto Condensed(Body)"/>
              </a:rPr>
              <a:t>INSERT</a:t>
            </a:r>
            <a:endParaRPr lang="en-US" dirty="0">
              <a:solidFill>
                <a:srgbClr val="0000FF"/>
              </a:solidFill>
              <a:latin typeface="Roboto Condensed(Body)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744510" y="3613828"/>
            <a:ext cx="733557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INTO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79113" y="3613828"/>
            <a:ext cx="1018735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latin typeface="Roboto Condensed(Body)"/>
              </a:rPr>
              <a:t>Student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07268" y="3613828"/>
            <a:ext cx="1018419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VALUES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304208" y="3608692"/>
            <a:ext cx="252489" cy="46019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(Body)"/>
              </a:rPr>
              <a:t>;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20975" y="3613828"/>
            <a:ext cx="759172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 Condensed(Body)"/>
              </a:rPr>
              <a:t>102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7169646" y="3621571"/>
            <a:ext cx="140747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(Body)"/>
              </a:rPr>
              <a:t>,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47532" y="3613828"/>
            <a:ext cx="82713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rgbClr val="FF0000"/>
                </a:solidFill>
                <a:latin typeface="Roboto Condensed(Body)"/>
              </a:rPr>
              <a:t>'</a:t>
            </a:r>
            <a:r>
              <a:rPr lang="en-US" dirty="0" err="1">
                <a:solidFill>
                  <a:srgbClr val="FF0000"/>
                </a:solidFill>
                <a:latin typeface="Roboto Condensed(Body)"/>
              </a:rPr>
              <a:t>mit</a:t>
            </a:r>
            <a:r>
              <a:rPr lang="en-US" dirty="0">
                <a:solidFill>
                  <a:srgbClr val="FF0000"/>
                </a:solidFill>
                <a:latin typeface="Roboto Condensed(Body)"/>
              </a:rPr>
              <a:t>'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88666" y="3613828"/>
            <a:ext cx="158947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(Body)"/>
              </a:rPr>
              <a:t>,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28654" y="3621571"/>
            <a:ext cx="191509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(Body)"/>
              </a:rPr>
              <a:t>(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12849" y="3613828"/>
            <a:ext cx="191509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(Body)"/>
              </a:rPr>
              <a:t>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37113" y="3621571"/>
            <a:ext cx="47588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 Condensed(Body)"/>
              </a:rPr>
              <a:t>10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38415" y="4550048"/>
            <a:ext cx="2583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Roboto Condensed(Body)"/>
              </a:rPr>
              <a:t>Student table contains :-</a:t>
            </a:r>
          </a:p>
        </p:txBody>
      </p:sp>
      <p:graphicFrame>
        <p:nvGraphicFramePr>
          <p:cNvPr id="40" name="Content Placeholder 11">
            <a:extLst>
              <a:ext uri="{FF2B5EF4-FFF2-40B4-BE49-F238E27FC236}">
                <a16:creationId xmlns:a16="http://schemas.microsoft.com/office/drawing/2014/main" id="{4354459D-1563-4299-8565-299872A138F8}"/>
              </a:ext>
            </a:extLst>
          </p:cNvPr>
          <p:cNvGraphicFramePr>
            <a:graphicFrameLocks/>
          </p:cNvGraphicFramePr>
          <p:nvPr/>
        </p:nvGraphicFramePr>
        <p:xfrm>
          <a:off x="3124200" y="4919380"/>
          <a:ext cx="2511390" cy="1370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8790">
                  <a:extLst>
                    <a:ext uri="{9D8B030D-6E8A-4147-A177-3AD203B41FA5}">
                      <a16:colId xmlns:a16="http://schemas.microsoft.com/office/drawing/2014/main" val="367360831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43480616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487458896"/>
                    </a:ext>
                  </a:extLst>
                </a:gridCol>
              </a:tblGrid>
              <a:tr h="260293">
                <a:tc gridSpan="3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ysClr val="windowText" lastClr="000000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Student</a:t>
                      </a:r>
                    </a:p>
                  </a:txBody>
                  <a:tcPr marL="72000" marR="9525" marT="9525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Roboto Condensed(Body)"/>
                        </a:rPr>
                        <a:t>Rno</a:t>
                      </a:r>
                      <a:endParaRPr lang="en-US" sz="1600" b="1" i="0" u="none" strike="noStrike" kern="1200" dirty="0">
                        <a:solidFill>
                          <a:schemeClr val="bg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Name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899890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101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Anil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9.28</a:t>
                      </a:r>
                    </a:p>
                  </a:txBody>
                  <a:tcPr marL="72000" marR="9525" marT="9525" marB="0" anchor="ctr"/>
                </a:tc>
                <a:extLst>
                  <a:ext uri="{0D108BD9-81ED-4DB2-BD59-A6C34878D82A}">
                    <a16:rowId xmlns:a16="http://schemas.microsoft.com/office/drawing/2014/main" val="3836710165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102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Mit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72000" marR="9525" marT="9525" marB="0" anchor="ctr"/>
                </a:tc>
                <a:extLst>
                  <a:ext uri="{0D108BD9-81ED-4DB2-BD59-A6C34878D82A}">
                    <a16:rowId xmlns:a16="http://schemas.microsoft.com/office/drawing/2014/main" val="37840411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5312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 data into Table(Cont..)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add values to some specific columns.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66700" y="1371600"/>
            <a:ext cx="723900" cy="367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Roboto Condensed(Body)"/>
              </a:rPr>
              <a:t>E.g.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6921" y="1752600"/>
            <a:ext cx="6412079" cy="15051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Roboto Condensed(Body)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79204" y="2018927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00FF"/>
                </a:solidFill>
                <a:latin typeface="Roboto Condensed(Body)"/>
              </a:rPr>
              <a:t>INSERT</a:t>
            </a:r>
            <a:endParaRPr lang="en-US" dirty="0">
              <a:solidFill>
                <a:srgbClr val="0000FF"/>
              </a:solidFill>
              <a:latin typeface="Roboto Condensed(Body)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072687" y="2018927"/>
            <a:ext cx="733557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INTO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2907290" y="2018927"/>
            <a:ext cx="1018735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latin typeface="Roboto Condensed(Body)"/>
              </a:rPr>
              <a:t>Student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907606" y="2607783"/>
            <a:ext cx="1018419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VALUES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192090" y="2018907"/>
            <a:ext cx="158947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(Body)"/>
              </a:rPr>
              <a:t>,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32961" y="2018907"/>
            <a:ext cx="191509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(Body)"/>
              </a:rPr>
              <a:t>(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63256" y="2018907"/>
            <a:ext cx="191509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(Body)"/>
              </a:rPr>
              <a:t>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26540" y="2609759"/>
            <a:ext cx="252489" cy="46019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(Body)"/>
              </a:rPr>
              <a:t>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35076" y="2607783"/>
            <a:ext cx="759172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 Condensed(Body)"/>
              </a:rPr>
              <a:t>103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188387" y="2607783"/>
            <a:ext cx="158947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(Body)"/>
              </a:rPr>
              <a:t>,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18525" y="2607783"/>
            <a:ext cx="191509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(Body)"/>
              </a:rPr>
              <a:t>(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34737" y="2609759"/>
            <a:ext cx="191509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(Body)"/>
              </a:rPr>
              <a:t>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31406" y="2018907"/>
            <a:ext cx="755862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 Condensed(Body)"/>
              </a:rPr>
              <a:t>Rno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449492" y="2614940"/>
            <a:ext cx="784951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 Condensed(Body)"/>
              </a:rPr>
              <a:t>7.15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449492" y="2018907"/>
            <a:ext cx="81126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 Condensed(Body)"/>
              </a:rPr>
              <a:t>SPI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38415" y="3429000"/>
            <a:ext cx="2583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Roboto Condensed(Body)"/>
              </a:rPr>
              <a:t>Student table contains :-</a:t>
            </a:r>
          </a:p>
        </p:txBody>
      </p:sp>
      <p:graphicFrame>
        <p:nvGraphicFramePr>
          <p:cNvPr id="24" name="Content Placeholder 11">
            <a:extLst>
              <a:ext uri="{FF2B5EF4-FFF2-40B4-BE49-F238E27FC236}">
                <a16:creationId xmlns:a16="http://schemas.microsoft.com/office/drawing/2014/main" id="{4354459D-1563-4299-8565-299872A138F8}"/>
              </a:ext>
            </a:extLst>
          </p:cNvPr>
          <p:cNvGraphicFramePr>
            <a:graphicFrameLocks/>
          </p:cNvGraphicFramePr>
          <p:nvPr/>
        </p:nvGraphicFramePr>
        <p:xfrm>
          <a:off x="2964171" y="4166135"/>
          <a:ext cx="2511390" cy="17407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8790">
                  <a:extLst>
                    <a:ext uri="{9D8B030D-6E8A-4147-A177-3AD203B41FA5}">
                      <a16:colId xmlns:a16="http://schemas.microsoft.com/office/drawing/2014/main" val="367360831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43480616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487458896"/>
                    </a:ext>
                  </a:extLst>
                </a:gridCol>
              </a:tblGrid>
              <a:tr h="260293">
                <a:tc gridSpan="3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ysClr val="windowText" lastClr="000000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Student</a:t>
                      </a:r>
                    </a:p>
                  </a:txBody>
                  <a:tcPr marL="72000" marR="9525" marT="9525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Roboto Condensed(Body)"/>
                        </a:rPr>
                        <a:t>Rno</a:t>
                      </a:r>
                      <a:endParaRPr lang="en-US" sz="1600" b="1" i="0" u="none" strike="noStrike" kern="1200" dirty="0">
                        <a:solidFill>
                          <a:schemeClr val="bg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Name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899890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101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Anil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9.28</a:t>
                      </a:r>
                    </a:p>
                  </a:txBody>
                  <a:tcPr marL="72000" marR="9525" marT="9525" marB="0" anchor="ctr"/>
                </a:tc>
                <a:extLst>
                  <a:ext uri="{0D108BD9-81ED-4DB2-BD59-A6C34878D82A}">
                    <a16:rowId xmlns:a16="http://schemas.microsoft.com/office/drawing/2014/main" val="3836710165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102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Mit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72000" marR="9525" marT="9525" marB="0" anchor="ctr"/>
                </a:tc>
                <a:extLst>
                  <a:ext uri="{0D108BD9-81ED-4DB2-BD59-A6C34878D82A}">
                    <a16:rowId xmlns:a16="http://schemas.microsoft.com/office/drawing/2014/main" val="3784041172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103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1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NULL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7.15</a:t>
                      </a:r>
                    </a:p>
                  </a:txBody>
                  <a:tcPr marL="72000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930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SELECT statement is used </a:t>
            </a:r>
            <a:r>
              <a:rPr lang="en-US" b="1" dirty="0">
                <a:solidFill>
                  <a:schemeClr val="accent6"/>
                </a:solidFill>
              </a:rPr>
              <a:t>to retrieve data </a:t>
            </a:r>
            <a:r>
              <a:rPr lang="en-US" dirty="0"/>
              <a:t>from a table.</a:t>
            </a:r>
          </a:p>
          <a:p>
            <a:r>
              <a:rPr lang="en-US" dirty="0"/>
              <a:t>The data returned is stored in a result table, called the result-set.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09952" y="2178500"/>
            <a:ext cx="3157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Roboto Condensed(Body)"/>
              </a:rPr>
              <a:t>Syntax to display all the data :-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0714" y="2810323"/>
            <a:ext cx="4800600" cy="9717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Roboto Condensed(Body)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292996" y="3076650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00FF"/>
                </a:solidFill>
                <a:latin typeface="Roboto Condensed(Body)"/>
              </a:rPr>
              <a:t>SELECT</a:t>
            </a:r>
            <a:endParaRPr lang="en-US" dirty="0">
              <a:solidFill>
                <a:srgbClr val="0000FF"/>
              </a:solidFill>
              <a:latin typeface="Roboto Condensed(Body)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386479" y="3076650"/>
            <a:ext cx="468333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(Body)"/>
              </a:rPr>
              <a:t>*</a:t>
            </a:r>
          </a:p>
        </p:txBody>
      </p:sp>
      <p:sp>
        <p:nvSpPr>
          <p:cNvPr id="8" name="Rectangle 7"/>
          <p:cNvSpPr/>
          <p:nvPr/>
        </p:nvSpPr>
        <p:spPr>
          <a:xfrm>
            <a:off x="4079565" y="3076650"/>
            <a:ext cx="1272431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ln w="0"/>
                <a:solidFill>
                  <a:schemeClr val="tx1"/>
                </a:solidFill>
                <a:latin typeface="Roboto Condensed(Body)"/>
              </a:rPr>
              <a:t>TableName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957979" y="3076650"/>
            <a:ext cx="1018419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FROM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55163" y="3076650"/>
            <a:ext cx="252489" cy="46019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(Body)"/>
              </a:rPr>
              <a:t>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953" y="3757457"/>
            <a:ext cx="723900" cy="367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Roboto Condensed(Body)"/>
              </a:rPr>
              <a:t>E.g.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0714" y="4499459"/>
            <a:ext cx="4800600" cy="9717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Roboto Condensed(Body)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292996" y="4765786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00FF"/>
                </a:solidFill>
                <a:latin typeface="Roboto Condensed(Body)"/>
              </a:rPr>
              <a:t>SELECT</a:t>
            </a:r>
            <a:endParaRPr lang="en-US" dirty="0">
              <a:solidFill>
                <a:srgbClr val="0000FF"/>
              </a:solidFill>
              <a:latin typeface="Roboto Condensed(Body)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386479" y="4765786"/>
            <a:ext cx="468333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(Body)"/>
              </a:rPr>
              <a:t>*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57979" y="4765786"/>
            <a:ext cx="1018419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FROM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201151" y="4753717"/>
            <a:ext cx="252489" cy="46019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(Body)"/>
              </a:rPr>
              <a:t>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79565" y="4756709"/>
            <a:ext cx="1018735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latin typeface="Roboto Condensed(Body)"/>
              </a:rPr>
              <a:t>Student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7724" y="2363166"/>
            <a:ext cx="1073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Roboto Condensed(Body)"/>
              </a:rPr>
              <a:t>Output :</a:t>
            </a:r>
          </a:p>
        </p:txBody>
      </p:sp>
      <p:graphicFrame>
        <p:nvGraphicFramePr>
          <p:cNvPr id="19" name="Content Placeholder 11">
            <a:extLst>
              <a:ext uri="{FF2B5EF4-FFF2-40B4-BE49-F238E27FC236}">
                <a16:creationId xmlns:a16="http://schemas.microsoft.com/office/drawing/2014/main" id="{4354459D-1563-4299-8565-299872A138F8}"/>
              </a:ext>
            </a:extLst>
          </p:cNvPr>
          <p:cNvGraphicFramePr>
            <a:graphicFrameLocks/>
          </p:cNvGraphicFramePr>
          <p:nvPr/>
        </p:nvGraphicFramePr>
        <p:xfrm>
          <a:off x="7519253" y="2885657"/>
          <a:ext cx="2511390" cy="1743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8790">
                  <a:extLst>
                    <a:ext uri="{9D8B030D-6E8A-4147-A177-3AD203B41FA5}">
                      <a16:colId xmlns:a16="http://schemas.microsoft.com/office/drawing/2014/main" val="367360831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43480616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487458896"/>
                    </a:ext>
                  </a:extLst>
                </a:gridCol>
              </a:tblGrid>
              <a:tr h="263143">
                <a:tc gridSpan="3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Student</a:t>
                      </a:r>
                    </a:p>
                  </a:txBody>
                  <a:tcPr marL="72000" marR="9525" marT="952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0476952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Roboto Condensed(Body)"/>
                        </a:rPr>
                        <a:t>Rno</a:t>
                      </a:r>
                      <a:endParaRPr lang="en-US" sz="1600" b="1" i="0" u="none" strike="noStrike" kern="1200" dirty="0">
                        <a:solidFill>
                          <a:schemeClr val="bg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Name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899890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101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Anil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9.28</a:t>
                      </a:r>
                    </a:p>
                  </a:txBody>
                  <a:tcPr marL="72000" marR="9525" marT="9525" marB="0" anchor="ctr"/>
                </a:tc>
                <a:extLst>
                  <a:ext uri="{0D108BD9-81ED-4DB2-BD59-A6C34878D82A}">
                    <a16:rowId xmlns:a16="http://schemas.microsoft.com/office/drawing/2014/main" val="3836710165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102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Mit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72000" marR="9525" marT="9525" marB="0" anchor="ctr"/>
                </a:tc>
                <a:extLst>
                  <a:ext uri="{0D108BD9-81ED-4DB2-BD59-A6C34878D82A}">
                    <a16:rowId xmlns:a16="http://schemas.microsoft.com/office/drawing/2014/main" val="3784041172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103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1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NULL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7.15</a:t>
                      </a:r>
                    </a:p>
                  </a:txBody>
                  <a:tcPr marL="72000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Rectangle 19">
            <a:extLst>
              <a:ext uri="{FF2B5EF4-FFF2-40B4-BE49-F238E27FC236}">
                <a16:creationId xmlns:a16="http://schemas.microsoft.com/office/drawing/2014/main" id="{51879336-7034-C25C-40FB-C3CFC320809F}"/>
              </a:ext>
            </a:extLst>
          </p:cNvPr>
          <p:cNvSpPr/>
          <p:nvPr/>
        </p:nvSpPr>
        <p:spPr>
          <a:xfrm>
            <a:off x="1283665" y="3076650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00FF"/>
                </a:solidFill>
                <a:latin typeface="Roboto Condensed(Body)"/>
              </a:rPr>
              <a:t>SELECT</a:t>
            </a:r>
            <a:endParaRPr lang="en-US" dirty="0">
              <a:solidFill>
                <a:srgbClr val="0000FF"/>
              </a:solidFill>
              <a:latin typeface="Roboto Condensed(Body)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CC2BD5A-1359-CA47-9EF9-2337F1FAFA93}"/>
              </a:ext>
            </a:extLst>
          </p:cNvPr>
          <p:cNvSpPr/>
          <p:nvPr/>
        </p:nvSpPr>
        <p:spPr>
          <a:xfrm>
            <a:off x="2377148" y="3076650"/>
            <a:ext cx="468333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(Body)"/>
              </a:rPr>
              <a:t>*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F56E55-A11C-1F1D-C154-2FDDC93B4681}"/>
              </a:ext>
            </a:extLst>
          </p:cNvPr>
          <p:cNvSpPr/>
          <p:nvPr/>
        </p:nvSpPr>
        <p:spPr>
          <a:xfrm>
            <a:off x="4070234" y="3076650"/>
            <a:ext cx="1272431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ln w="0"/>
                <a:solidFill>
                  <a:schemeClr val="tx1"/>
                </a:solidFill>
                <a:latin typeface="Roboto Condensed(Body)"/>
              </a:rPr>
              <a:t>TableName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FE5969-F44F-86C9-21C9-D33C6E65221A}"/>
              </a:ext>
            </a:extLst>
          </p:cNvPr>
          <p:cNvSpPr/>
          <p:nvPr/>
        </p:nvSpPr>
        <p:spPr>
          <a:xfrm>
            <a:off x="2948648" y="3076650"/>
            <a:ext cx="1018419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FROM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9FB41D8-2B40-153F-8D86-6484B0CCE0DA}"/>
              </a:ext>
            </a:extLst>
          </p:cNvPr>
          <p:cNvSpPr/>
          <p:nvPr/>
        </p:nvSpPr>
        <p:spPr>
          <a:xfrm>
            <a:off x="5445832" y="3076650"/>
            <a:ext cx="252489" cy="46019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(Body)"/>
              </a:rPr>
              <a:t>;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DD056A0-171E-AB1A-0969-2FA8D80F75A3}"/>
              </a:ext>
            </a:extLst>
          </p:cNvPr>
          <p:cNvSpPr/>
          <p:nvPr/>
        </p:nvSpPr>
        <p:spPr>
          <a:xfrm>
            <a:off x="1283665" y="4765786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00FF"/>
                </a:solidFill>
                <a:latin typeface="Roboto Condensed(Body)"/>
              </a:rPr>
              <a:t>SELECT</a:t>
            </a:r>
            <a:endParaRPr lang="en-US" dirty="0">
              <a:solidFill>
                <a:srgbClr val="0000FF"/>
              </a:solidFill>
              <a:latin typeface="Roboto Condensed(Body)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5E9872C-0990-F865-E568-90AB6D443C99}"/>
              </a:ext>
            </a:extLst>
          </p:cNvPr>
          <p:cNvSpPr/>
          <p:nvPr/>
        </p:nvSpPr>
        <p:spPr>
          <a:xfrm>
            <a:off x="2377148" y="4765786"/>
            <a:ext cx="468333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(Body)"/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3500175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30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32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34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36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38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92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94" dur="indefinite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96" dur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98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00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Table(Cont..)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9952" y="1035500"/>
            <a:ext cx="3576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Roboto Condensed(Body)"/>
              </a:rPr>
              <a:t>Syntax to display Specific Columns:-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1" y="1524000"/>
            <a:ext cx="4800599" cy="1371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Roboto Condensed(Body)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14283" y="1714127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00FF"/>
                </a:solidFill>
                <a:latin typeface="Roboto Condensed(Body)"/>
              </a:rPr>
              <a:t>SELECT</a:t>
            </a:r>
            <a:endParaRPr lang="en-US" dirty="0">
              <a:solidFill>
                <a:srgbClr val="0000FF"/>
              </a:solidFill>
              <a:latin typeface="Roboto Condensed(Body)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007765" y="2267101"/>
            <a:ext cx="1272431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ln w="0"/>
                <a:solidFill>
                  <a:schemeClr val="tx1"/>
                </a:solidFill>
                <a:latin typeface="Roboto Condensed(Body)"/>
              </a:rPr>
              <a:t>TableName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14283" y="2267101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FROM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383362" y="2267100"/>
            <a:ext cx="252489" cy="44718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(Body)"/>
              </a:rPr>
              <a:t>;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07765" y="1718165"/>
            <a:ext cx="1067202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 Condensed(Body)"/>
              </a:rPr>
              <a:t>Column1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442932" y="1709160"/>
            <a:ext cx="1067202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 Condensed(Body)"/>
              </a:rPr>
              <a:t>Column2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179476" y="1714127"/>
            <a:ext cx="158947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(Body)"/>
              </a:rPr>
              <a:t>,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11469" y="1709160"/>
            <a:ext cx="158947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(Body)"/>
              </a:rPr>
              <a:t>,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42173" y="1933650"/>
            <a:ext cx="447397" cy="2286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b" anchorCtr="0"/>
          <a:lstStyle/>
          <a:p>
            <a:pPr algn="ctr"/>
            <a:r>
              <a:rPr lang="en-US" dirty="0">
                <a:latin typeface="Roboto Condensed(Body)"/>
              </a:rPr>
              <a:t>….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9952" y="3200400"/>
            <a:ext cx="4017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Roboto Condensed(Body)"/>
              </a:rPr>
              <a:t>E.g. Display name and </a:t>
            </a:r>
            <a:r>
              <a:rPr lang="en-US" b="1" u="sng" dirty="0" err="1">
                <a:latin typeface="Roboto Condensed(Body)"/>
              </a:rPr>
              <a:t>spi</a:t>
            </a:r>
            <a:r>
              <a:rPr lang="en-US" b="1" u="sng" dirty="0">
                <a:latin typeface="Roboto Condensed(Body)"/>
              </a:rPr>
              <a:t> of students:-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9786" y="3638700"/>
            <a:ext cx="4800599" cy="1371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Roboto Condensed(Body)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92068" y="3828827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00FF"/>
                </a:solidFill>
                <a:latin typeface="Roboto Condensed(Body)"/>
              </a:rPr>
              <a:t>SELECT</a:t>
            </a:r>
            <a:endParaRPr lang="en-US" dirty="0">
              <a:solidFill>
                <a:srgbClr val="0000FF"/>
              </a:solidFill>
              <a:latin typeface="Roboto Condensed(Body)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985550" y="4381801"/>
            <a:ext cx="1089417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latin typeface="Roboto Condensed(Body)"/>
              </a:rPr>
              <a:t>Student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2068" y="4381801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FROM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178133" y="4373553"/>
            <a:ext cx="252489" cy="44718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(Body)"/>
              </a:rPr>
              <a:t>;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85550" y="3832865"/>
            <a:ext cx="83385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 Condensed(Body)"/>
              </a:rPr>
              <a:t>Name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3186022" y="3823860"/>
            <a:ext cx="67356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 Condensed(Body)"/>
              </a:rPr>
              <a:t>SPI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922566" y="3828827"/>
            <a:ext cx="158947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(Body)"/>
              </a:rPr>
              <a:t>,</a:t>
            </a:r>
          </a:p>
        </p:txBody>
      </p:sp>
      <p:graphicFrame>
        <p:nvGraphicFramePr>
          <p:cNvPr id="34" name="Content Placeholder 11">
            <a:extLst>
              <a:ext uri="{FF2B5EF4-FFF2-40B4-BE49-F238E27FC236}">
                <a16:creationId xmlns:a16="http://schemas.microsoft.com/office/drawing/2014/main" id="{A082E831-01DB-4628-9DC6-FC822F8F26A2}"/>
              </a:ext>
            </a:extLst>
          </p:cNvPr>
          <p:cNvGraphicFramePr>
            <a:graphicFrameLocks/>
          </p:cNvGraphicFramePr>
          <p:nvPr/>
        </p:nvGraphicFramePr>
        <p:xfrm>
          <a:off x="7423887" y="1524000"/>
          <a:ext cx="2511390" cy="1743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8790">
                  <a:extLst>
                    <a:ext uri="{9D8B030D-6E8A-4147-A177-3AD203B41FA5}">
                      <a16:colId xmlns:a16="http://schemas.microsoft.com/office/drawing/2014/main" val="367360831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43480616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487458896"/>
                    </a:ext>
                  </a:extLst>
                </a:gridCol>
              </a:tblGrid>
              <a:tr h="263143">
                <a:tc gridSpan="3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Student</a:t>
                      </a:r>
                    </a:p>
                  </a:txBody>
                  <a:tcPr marL="72000" marR="9525" marT="952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0476952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Roboto Condensed(Body)"/>
                        </a:rPr>
                        <a:t>Rno</a:t>
                      </a:r>
                      <a:endParaRPr lang="en-US" sz="1600" b="1" i="0" u="none" strike="noStrike" kern="1200" dirty="0">
                        <a:solidFill>
                          <a:schemeClr val="bg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Name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899890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101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Anil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9.28</a:t>
                      </a:r>
                    </a:p>
                  </a:txBody>
                  <a:tcPr marL="72000" marR="9525" marT="9525" marB="0" anchor="ctr"/>
                </a:tc>
                <a:extLst>
                  <a:ext uri="{0D108BD9-81ED-4DB2-BD59-A6C34878D82A}">
                    <a16:rowId xmlns:a16="http://schemas.microsoft.com/office/drawing/2014/main" val="3836710165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102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Mit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72000" marR="9525" marT="9525" marB="0" anchor="ctr"/>
                </a:tc>
                <a:extLst>
                  <a:ext uri="{0D108BD9-81ED-4DB2-BD59-A6C34878D82A}">
                    <a16:rowId xmlns:a16="http://schemas.microsoft.com/office/drawing/2014/main" val="3784041172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103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1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NULL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7.15</a:t>
                      </a:r>
                    </a:p>
                  </a:txBody>
                  <a:tcPr marL="72000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5" name="Picture 34">
            <a:extLst>
              <a:ext uri="{FF2B5EF4-FFF2-40B4-BE49-F238E27FC236}">
                <a16:creationId xmlns:a16="http://schemas.microsoft.com/office/drawing/2014/main" id="{FDDFB56B-9805-4E14-BB59-3DCD48E7DD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5400000" flipV="1">
            <a:off x="8510965" y="3486598"/>
            <a:ext cx="422103" cy="3810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113779" y="4012469"/>
            <a:ext cx="1093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Roboto Condensed(Body)"/>
              </a:rPr>
              <a:t>Output :</a:t>
            </a:r>
          </a:p>
        </p:txBody>
      </p:sp>
      <p:graphicFrame>
        <p:nvGraphicFramePr>
          <p:cNvPr id="37" name="Content Placeholder 11">
            <a:extLst>
              <a:ext uri="{FF2B5EF4-FFF2-40B4-BE49-F238E27FC236}">
                <a16:creationId xmlns:a16="http://schemas.microsoft.com/office/drawing/2014/main" id="{4354459D-1563-4299-8565-299872A138F8}"/>
              </a:ext>
            </a:extLst>
          </p:cNvPr>
          <p:cNvGraphicFramePr>
            <a:graphicFrameLocks/>
          </p:cNvGraphicFramePr>
          <p:nvPr/>
        </p:nvGraphicFramePr>
        <p:xfrm>
          <a:off x="7745997" y="4526180"/>
          <a:ext cx="1752600" cy="1480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143480616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487458896"/>
                    </a:ext>
                  </a:extLst>
                </a:gridCol>
              </a:tblGrid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Name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899890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Anil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9.28</a:t>
                      </a:r>
                    </a:p>
                  </a:txBody>
                  <a:tcPr marL="72000" marR="9525" marT="9525" marB="0" anchor="ctr"/>
                </a:tc>
                <a:extLst>
                  <a:ext uri="{0D108BD9-81ED-4DB2-BD59-A6C34878D82A}">
                    <a16:rowId xmlns:a16="http://schemas.microsoft.com/office/drawing/2014/main" val="3836710165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Mit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72000" marR="9525" marT="9525" marB="0" anchor="ctr"/>
                </a:tc>
                <a:extLst>
                  <a:ext uri="{0D108BD9-81ED-4DB2-BD59-A6C34878D82A}">
                    <a16:rowId xmlns:a16="http://schemas.microsoft.com/office/drawing/2014/main" val="3784041172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1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NULL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7.15</a:t>
                      </a:r>
                    </a:p>
                  </a:txBody>
                  <a:tcPr marL="72000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1726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46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48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50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52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54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56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58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4" grpId="0" animBg="1"/>
      <p:bldP spid="25" grpId="0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Table(Cont..)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9952" y="1035500"/>
            <a:ext cx="3576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Roboto Condensed(Body)"/>
              </a:rPr>
              <a:t>Syntax to display Specific Rows:-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1" y="1523999"/>
            <a:ext cx="4800599" cy="19434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Roboto Condensed(Body)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14283" y="1714127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00FF"/>
                </a:solidFill>
                <a:latin typeface="Roboto Condensed(Body)"/>
              </a:rPr>
              <a:t>SELECT</a:t>
            </a:r>
            <a:endParaRPr lang="en-US" dirty="0">
              <a:solidFill>
                <a:srgbClr val="0000FF"/>
              </a:solidFill>
              <a:latin typeface="Roboto Condensed(Body)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007765" y="2267101"/>
            <a:ext cx="1272431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ln w="0"/>
                <a:solidFill>
                  <a:schemeClr val="tx1"/>
                </a:solidFill>
                <a:latin typeface="Roboto Condensed(Body)"/>
              </a:rPr>
              <a:t>TableName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14283" y="2267101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FROM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354866" y="2809856"/>
            <a:ext cx="252489" cy="44718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(Body)"/>
              </a:rPr>
              <a:t>;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05934" y="1733701"/>
            <a:ext cx="468333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(Body)"/>
              </a:rPr>
              <a:t>*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92231" y="2809950"/>
            <a:ext cx="1272431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latin typeface="Roboto Condensed(Body)"/>
              </a:rPr>
              <a:t>Condition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283" y="2820075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WHERE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graphicFrame>
        <p:nvGraphicFramePr>
          <p:cNvPr id="21" name="Content Placeholder 11">
            <a:extLst>
              <a:ext uri="{FF2B5EF4-FFF2-40B4-BE49-F238E27FC236}">
                <a16:creationId xmlns:a16="http://schemas.microsoft.com/office/drawing/2014/main" id="{5810CD15-53DC-428B-8929-7102326B7114}"/>
              </a:ext>
            </a:extLst>
          </p:cNvPr>
          <p:cNvGraphicFramePr>
            <a:graphicFrameLocks/>
          </p:cNvGraphicFramePr>
          <p:nvPr/>
        </p:nvGraphicFramePr>
        <p:xfrm>
          <a:off x="7914136" y="1513446"/>
          <a:ext cx="2511390" cy="1743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8790">
                  <a:extLst>
                    <a:ext uri="{9D8B030D-6E8A-4147-A177-3AD203B41FA5}">
                      <a16:colId xmlns:a16="http://schemas.microsoft.com/office/drawing/2014/main" val="367360831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43480616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487458896"/>
                    </a:ext>
                  </a:extLst>
                </a:gridCol>
              </a:tblGrid>
              <a:tr h="263143">
                <a:tc gridSpan="3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Student</a:t>
                      </a:r>
                    </a:p>
                  </a:txBody>
                  <a:tcPr marL="72000" marR="9525" marT="952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0476952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Roboto Condensed(Body)"/>
                        </a:rPr>
                        <a:t>Rno</a:t>
                      </a:r>
                      <a:endParaRPr lang="en-US" sz="1600" b="1" i="0" u="none" strike="noStrike" kern="1200" dirty="0">
                        <a:solidFill>
                          <a:schemeClr val="bg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Name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899890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101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Anil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9.28</a:t>
                      </a:r>
                    </a:p>
                  </a:txBody>
                  <a:tcPr marL="72000" marR="9525" marT="9525" marB="0" anchor="ctr"/>
                </a:tc>
                <a:extLst>
                  <a:ext uri="{0D108BD9-81ED-4DB2-BD59-A6C34878D82A}">
                    <a16:rowId xmlns:a16="http://schemas.microsoft.com/office/drawing/2014/main" val="3836710165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102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Mit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72000" marR="9525" marT="9525" marB="0" anchor="ctr"/>
                </a:tc>
                <a:extLst>
                  <a:ext uri="{0D108BD9-81ED-4DB2-BD59-A6C34878D82A}">
                    <a16:rowId xmlns:a16="http://schemas.microsoft.com/office/drawing/2014/main" val="3784041172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103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1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NULL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7.15</a:t>
                      </a:r>
                    </a:p>
                  </a:txBody>
                  <a:tcPr marL="72000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309952" y="3747400"/>
            <a:ext cx="5328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Roboto Condensed(Body)"/>
              </a:rPr>
              <a:t>E.g. Display all students whose SPI is more than 8.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2000" y="4324408"/>
            <a:ext cx="4800599" cy="19434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Roboto Condensed(Body)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914282" y="4514536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00FF"/>
                </a:solidFill>
                <a:latin typeface="Roboto Condensed(Body)"/>
              </a:rPr>
              <a:t>SELECT</a:t>
            </a:r>
            <a:endParaRPr lang="en-US" dirty="0">
              <a:solidFill>
                <a:srgbClr val="0000FF"/>
              </a:solidFill>
              <a:latin typeface="Roboto Condensed(Body)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007764" y="5067510"/>
            <a:ext cx="1272431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latin typeface="Roboto Condensed(Body)"/>
              </a:rPr>
              <a:t>Student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282" y="5067510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FROM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354865" y="5610265"/>
            <a:ext cx="252489" cy="44718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(Body)"/>
              </a:rPr>
              <a:t>;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05933" y="4534110"/>
            <a:ext cx="468333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(Body)"/>
              </a:rPr>
              <a:t>*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92230" y="5610359"/>
            <a:ext cx="1272431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latin typeface="Roboto Condensed(Body)"/>
              </a:rPr>
              <a:t>SPI&gt;8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282" y="5620484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WHERE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021579C8-E6FC-4F70-B36D-727A0B47FC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5400000" flipV="1">
            <a:off x="8835493" y="3530515"/>
            <a:ext cx="422103" cy="3810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782110" y="4116732"/>
            <a:ext cx="1073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Roboto Condensed(Body)"/>
              </a:rPr>
              <a:t>Output :</a:t>
            </a:r>
          </a:p>
        </p:txBody>
      </p:sp>
      <p:graphicFrame>
        <p:nvGraphicFramePr>
          <p:cNvPr id="34" name="Content Placeholder 11">
            <a:extLst>
              <a:ext uri="{FF2B5EF4-FFF2-40B4-BE49-F238E27FC236}">
                <a16:creationId xmlns:a16="http://schemas.microsoft.com/office/drawing/2014/main" id="{4354459D-1563-4299-8565-299872A138F8}"/>
              </a:ext>
            </a:extLst>
          </p:cNvPr>
          <p:cNvGraphicFramePr>
            <a:graphicFrameLocks/>
          </p:cNvGraphicFramePr>
          <p:nvPr/>
        </p:nvGraphicFramePr>
        <p:xfrm>
          <a:off x="7981350" y="4610453"/>
          <a:ext cx="2511390" cy="11103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8790">
                  <a:extLst>
                    <a:ext uri="{9D8B030D-6E8A-4147-A177-3AD203B41FA5}">
                      <a16:colId xmlns:a16="http://schemas.microsoft.com/office/drawing/2014/main" val="367360831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43480616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487458896"/>
                    </a:ext>
                  </a:extLst>
                </a:gridCol>
              </a:tblGrid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dirty="0">
                          <a:solidFill>
                            <a:schemeClr val="bg1"/>
                          </a:solidFill>
                          <a:latin typeface="Roboto Condensed(Body)"/>
                        </a:rPr>
                        <a:t>Rno</a:t>
                      </a:r>
                      <a:endParaRPr lang="en-US" sz="1600" b="1" i="0" u="none" strike="noStrike" kern="1200" dirty="0">
                        <a:solidFill>
                          <a:schemeClr val="bg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Name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899890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101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Anil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9.28</a:t>
                      </a:r>
                    </a:p>
                  </a:txBody>
                  <a:tcPr marL="72000" marR="9525" marT="9525" marB="0" anchor="ctr"/>
                </a:tc>
                <a:extLst>
                  <a:ext uri="{0D108BD9-81ED-4DB2-BD59-A6C34878D82A}">
                    <a16:rowId xmlns:a16="http://schemas.microsoft.com/office/drawing/2014/main" val="3836710165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102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Mit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72000" marR="9525" marT="9525" marB="0" anchor="ctr"/>
                </a:tc>
                <a:extLst>
                  <a:ext uri="{0D108BD9-81ED-4DB2-BD59-A6C34878D82A}">
                    <a16:rowId xmlns:a16="http://schemas.microsoft.com/office/drawing/2014/main" val="37840411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8564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38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40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42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44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46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48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50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22" grpId="0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Table(Cont..)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9952" y="1035500"/>
            <a:ext cx="6776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Roboto Condensed(Body)"/>
              </a:rPr>
              <a:t>Display Roll number and SPI of students whose </a:t>
            </a:r>
            <a:r>
              <a:rPr lang="en-US" b="1" u="sng" dirty="0" err="1">
                <a:latin typeface="Roboto Condensed(Body)"/>
              </a:rPr>
              <a:t>spi</a:t>
            </a:r>
            <a:r>
              <a:rPr lang="en-US" b="1" u="sng" dirty="0">
                <a:latin typeface="Roboto Condensed(Body)"/>
              </a:rPr>
              <a:t> is more than 8.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1714199"/>
            <a:ext cx="4800599" cy="19434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Roboto Condensed(Body)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14282" y="1904327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00FF"/>
                </a:solidFill>
                <a:latin typeface="Roboto Condensed(Body)"/>
              </a:rPr>
              <a:t>SELECT</a:t>
            </a:r>
            <a:endParaRPr lang="en-US" dirty="0">
              <a:solidFill>
                <a:srgbClr val="0000FF"/>
              </a:solidFill>
              <a:latin typeface="Roboto Condensed(Body)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007764" y="2457301"/>
            <a:ext cx="1272431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latin typeface="Roboto Condensed(Body)"/>
              </a:rPr>
              <a:t>Student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282" y="2457301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FROM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354865" y="3000056"/>
            <a:ext cx="252489" cy="44718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(Body)"/>
              </a:rPr>
              <a:t>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05933" y="1899360"/>
            <a:ext cx="661067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(Body)"/>
              </a:rPr>
              <a:t>Rno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92230" y="3000150"/>
            <a:ext cx="1272431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latin typeface="Roboto Condensed(Body)"/>
              </a:rPr>
              <a:t>SPI&gt;8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282" y="3010275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WHERE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031791" y="1899360"/>
            <a:ext cx="67356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 Condensed(Body)"/>
              </a:rPr>
              <a:t>SPI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768335" y="1904327"/>
            <a:ext cx="158947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(Body)"/>
              </a:rPr>
              <a:t>,</a:t>
            </a:r>
          </a:p>
        </p:txBody>
      </p:sp>
      <p:graphicFrame>
        <p:nvGraphicFramePr>
          <p:cNvPr id="17" name="Content Placeholder 11">
            <a:extLst>
              <a:ext uri="{FF2B5EF4-FFF2-40B4-BE49-F238E27FC236}">
                <a16:creationId xmlns:a16="http://schemas.microsoft.com/office/drawing/2014/main" id="{72A4E16B-6960-4E38-B2CC-97416BC999F7}"/>
              </a:ext>
            </a:extLst>
          </p:cNvPr>
          <p:cNvGraphicFramePr>
            <a:graphicFrameLocks/>
          </p:cNvGraphicFramePr>
          <p:nvPr/>
        </p:nvGraphicFramePr>
        <p:xfrm>
          <a:off x="7655082" y="1703646"/>
          <a:ext cx="2511390" cy="1743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8790">
                  <a:extLst>
                    <a:ext uri="{9D8B030D-6E8A-4147-A177-3AD203B41FA5}">
                      <a16:colId xmlns:a16="http://schemas.microsoft.com/office/drawing/2014/main" val="367360831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43480616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487458896"/>
                    </a:ext>
                  </a:extLst>
                </a:gridCol>
              </a:tblGrid>
              <a:tr h="263143">
                <a:tc gridSpan="3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Student</a:t>
                      </a:r>
                    </a:p>
                  </a:txBody>
                  <a:tcPr marL="72000" marR="9525" marT="952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0476952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Roboto Condensed(Body)"/>
                        </a:rPr>
                        <a:t>Rno</a:t>
                      </a:r>
                      <a:endParaRPr lang="en-US" sz="1600" b="1" i="0" u="none" strike="noStrike" kern="1200" dirty="0">
                        <a:solidFill>
                          <a:schemeClr val="bg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Name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899890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101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Anil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9.28</a:t>
                      </a:r>
                    </a:p>
                  </a:txBody>
                  <a:tcPr marL="72000" marR="9525" marT="9525" marB="0" anchor="ctr"/>
                </a:tc>
                <a:extLst>
                  <a:ext uri="{0D108BD9-81ED-4DB2-BD59-A6C34878D82A}">
                    <a16:rowId xmlns:a16="http://schemas.microsoft.com/office/drawing/2014/main" val="3836710165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102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Mit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72000" marR="9525" marT="9525" marB="0" anchor="ctr"/>
                </a:tc>
                <a:extLst>
                  <a:ext uri="{0D108BD9-81ED-4DB2-BD59-A6C34878D82A}">
                    <a16:rowId xmlns:a16="http://schemas.microsoft.com/office/drawing/2014/main" val="3784041172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103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1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NULL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7.15</a:t>
                      </a:r>
                    </a:p>
                  </a:txBody>
                  <a:tcPr marL="72000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7655082" y="4439690"/>
            <a:ext cx="1073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Roboto Condensed(Body)"/>
              </a:rPr>
              <a:t>Output :</a:t>
            </a:r>
          </a:p>
        </p:txBody>
      </p:sp>
      <p:graphicFrame>
        <p:nvGraphicFramePr>
          <p:cNvPr id="19" name="Content Placeholder 11">
            <a:extLst>
              <a:ext uri="{FF2B5EF4-FFF2-40B4-BE49-F238E27FC236}">
                <a16:creationId xmlns:a16="http://schemas.microsoft.com/office/drawing/2014/main" id="{4354459D-1563-4299-8565-299872A138F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60726057"/>
              </p:ext>
            </p:extLst>
          </p:nvPr>
        </p:nvGraphicFramePr>
        <p:xfrm>
          <a:off x="7655082" y="4916392"/>
          <a:ext cx="1596990" cy="11103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8790">
                  <a:extLst>
                    <a:ext uri="{9D8B030D-6E8A-4147-A177-3AD203B41FA5}">
                      <a16:colId xmlns:a16="http://schemas.microsoft.com/office/drawing/2014/main" val="367360831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487458896"/>
                    </a:ext>
                  </a:extLst>
                </a:gridCol>
              </a:tblGrid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dirty="0">
                          <a:solidFill>
                            <a:schemeClr val="bg1"/>
                          </a:solidFill>
                          <a:latin typeface="Roboto Condensed(Body)"/>
                        </a:rPr>
                        <a:t>Rno</a:t>
                      </a:r>
                      <a:endParaRPr lang="en-US" sz="1600" b="1" i="0" u="none" strike="noStrike" kern="1200" dirty="0">
                        <a:solidFill>
                          <a:schemeClr val="bg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899890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101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9.28</a:t>
                      </a:r>
                    </a:p>
                  </a:txBody>
                  <a:tcPr marL="72000" marR="9525" marT="9525" marB="0" anchor="ctr"/>
                </a:tc>
                <a:extLst>
                  <a:ext uri="{0D108BD9-81ED-4DB2-BD59-A6C34878D82A}">
                    <a16:rowId xmlns:a16="http://schemas.microsoft.com/office/drawing/2014/main" val="3836710165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102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72000" marR="9525" marT="9525" marB="0" anchor="ctr"/>
                </a:tc>
                <a:extLst>
                  <a:ext uri="{0D108BD9-81ED-4DB2-BD59-A6C34878D82A}">
                    <a16:rowId xmlns:a16="http://schemas.microsoft.com/office/drawing/2014/main" val="3784041172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EDEA8030-87E5-2BE5-1A95-7843DF671B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5400000" flipV="1">
            <a:off x="8327465" y="3678152"/>
            <a:ext cx="422103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109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9952" y="1035500"/>
            <a:ext cx="3576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Roboto Condensed(Body)"/>
              </a:rPr>
              <a:t>Syntax to Display first N rows:-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1" y="1523999"/>
            <a:ext cx="4800599" cy="19434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Roboto Condensed(Body)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14283" y="1714127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00FF"/>
                </a:solidFill>
                <a:latin typeface="Roboto Condensed(Body)"/>
              </a:rPr>
              <a:t>SELECT</a:t>
            </a:r>
            <a:endParaRPr lang="en-US" dirty="0">
              <a:solidFill>
                <a:srgbClr val="0000FF"/>
              </a:solidFill>
              <a:latin typeface="Roboto Condensed(Body)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007765" y="2267101"/>
            <a:ext cx="1272431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ln w="0"/>
                <a:solidFill>
                  <a:schemeClr val="tx1"/>
                </a:solidFill>
                <a:latin typeface="Roboto Condensed(Body)"/>
              </a:rPr>
              <a:t>TableName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14283" y="2267101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FROM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354866" y="2809856"/>
            <a:ext cx="252489" cy="44718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(Body)"/>
              </a:rPr>
              <a:t>;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03114" y="1733831"/>
            <a:ext cx="468333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(Body)"/>
              </a:rPr>
              <a:t>*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92231" y="2809950"/>
            <a:ext cx="1272431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latin typeface="Roboto Condensed(Body)"/>
              </a:rPr>
              <a:t>Condition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283" y="2820075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WHERE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2CB4B40-1BD2-4D47-A0CE-96A49789E660}"/>
              </a:ext>
            </a:extLst>
          </p:cNvPr>
          <p:cNvSpPr/>
          <p:nvPr/>
        </p:nvSpPr>
        <p:spPr>
          <a:xfrm>
            <a:off x="2731613" y="1724252"/>
            <a:ext cx="468333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 Condensed(Body)"/>
              </a:rPr>
              <a:t>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5520C9-9AAF-4F71-BAB5-98DECE110D4E}"/>
              </a:ext>
            </a:extLst>
          </p:cNvPr>
          <p:cNvSpPr/>
          <p:nvPr/>
        </p:nvSpPr>
        <p:spPr>
          <a:xfrm>
            <a:off x="2005933" y="1727943"/>
            <a:ext cx="622512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TOP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952" y="3747400"/>
            <a:ext cx="5481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Roboto Condensed(Body)"/>
              </a:rPr>
              <a:t>E.g. Display first two students whose </a:t>
            </a:r>
            <a:r>
              <a:rPr lang="en-US" b="1" u="sng" dirty="0" err="1">
                <a:latin typeface="Roboto Condensed(Body)"/>
              </a:rPr>
              <a:t>spi</a:t>
            </a:r>
            <a:r>
              <a:rPr lang="en-US" b="1" u="sng" dirty="0">
                <a:latin typeface="Roboto Condensed(Body)"/>
              </a:rPr>
              <a:t> is more than 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2000" y="4211149"/>
            <a:ext cx="4800599" cy="19434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Roboto Condensed(Body)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14282" y="4401277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00FF"/>
                </a:solidFill>
                <a:latin typeface="Roboto Condensed(Body)"/>
              </a:rPr>
              <a:t>SELECT</a:t>
            </a:r>
            <a:endParaRPr lang="en-US" dirty="0">
              <a:solidFill>
                <a:srgbClr val="0000FF"/>
              </a:solidFill>
              <a:latin typeface="Roboto Condensed(Body)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007764" y="4954251"/>
            <a:ext cx="1272431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latin typeface="Roboto Condensed(Body)"/>
              </a:rPr>
              <a:t>Student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282" y="4954251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FROM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354865" y="5497006"/>
            <a:ext cx="252489" cy="44718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(Body)"/>
              </a:rPr>
              <a:t>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72232" y="4397586"/>
            <a:ext cx="468333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(Body)"/>
              </a:rPr>
              <a:t>*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92230" y="5497100"/>
            <a:ext cx="1272431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latin typeface="Roboto Condensed(Body)"/>
              </a:rPr>
              <a:t>SPI&gt;7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282" y="5507225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WHERE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D7A728B-0597-4A7B-BF82-E69C6B165065}"/>
              </a:ext>
            </a:extLst>
          </p:cNvPr>
          <p:cNvSpPr/>
          <p:nvPr/>
        </p:nvSpPr>
        <p:spPr>
          <a:xfrm>
            <a:off x="2717910" y="4397586"/>
            <a:ext cx="468333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 Condensed(Body)"/>
              </a:rPr>
              <a:t>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53B1758-E00E-4FF5-A3D0-9856523B6738}"/>
              </a:ext>
            </a:extLst>
          </p:cNvPr>
          <p:cNvSpPr/>
          <p:nvPr/>
        </p:nvSpPr>
        <p:spPr>
          <a:xfrm>
            <a:off x="1992230" y="4401277"/>
            <a:ext cx="622512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TOP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74258" y="4366420"/>
            <a:ext cx="1073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Roboto Condensed(Body)"/>
              </a:rPr>
              <a:t>Output :</a:t>
            </a:r>
          </a:p>
        </p:txBody>
      </p:sp>
      <p:graphicFrame>
        <p:nvGraphicFramePr>
          <p:cNvPr id="27" name="Content Placeholder 11">
            <a:extLst>
              <a:ext uri="{FF2B5EF4-FFF2-40B4-BE49-F238E27FC236}">
                <a16:creationId xmlns:a16="http://schemas.microsoft.com/office/drawing/2014/main" id="{5810CD15-53DC-428B-8929-7102326B7114}"/>
              </a:ext>
            </a:extLst>
          </p:cNvPr>
          <p:cNvGraphicFramePr>
            <a:graphicFrameLocks/>
          </p:cNvGraphicFramePr>
          <p:nvPr/>
        </p:nvGraphicFramePr>
        <p:xfrm>
          <a:off x="6730214" y="1315821"/>
          <a:ext cx="2619111" cy="24838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911">
                  <a:extLst>
                    <a:ext uri="{9D8B030D-6E8A-4147-A177-3AD203B41FA5}">
                      <a16:colId xmlns:a16="http://schemas.microsoft.com/office/drawing/2014/main" val="3673608313"/>
                    </a:ext>
                  </a:extLst>
                </a:gridCol>
                <a:gridCol w="685581">
                  <a:extLst>
                    <a:ext uri="{9D8B030D-6E8A-4147-A177-3AD203B41FA5}">
                      <a16:colId xmlns:a16="http://schemas.microsoft.com/office/drawing/2014/main" val="1434806160"/>
                    </a:ext>
                  </a:extLst>
                </a:gridCol>
                <a:gridCol w="628449">
                  <a:extLst>
                    <a:ext uri="{9D8B030D-6E8A-4147-A177-3AD203B41FA5}">
                      <a16:colId xmlns:a16="http://schemas.microsoft.com/office/drawing/2014/main" val="3487458896"/>
                    </a:ext>
                  </a:extLst>
                </a:gridCol>
                <a:gridCol w="736170">
                  <a:extLst>
                    <a:ext uri="{9D8B030D-6E8A-4147-A177-3AD203B41FA5}">
                      <a16:colId xmlns:a16="http://schemas.microsoft.com/office/drawing/2014/main" val="3469217163"/>
                    </a:ext>
                  </a:extLst>
                </a:gridCol>
              </a:tblGrid>
              <a:tr h="263143">
                <a:tc gridSpan="3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Student</a:t>
                      </a:r>
                    </a:p>
                  </a:txBody>
                  <a:tcPr marL="72000" marR="9525" marT="952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chemeClr val="tx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0476952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Roboto Condensed(Body)"/>
                        </a:rPr>
                        <a:t>Rno</a:t>
                      </a:r>
                      <a:endParaRPr lang="en-US" sz="1600" b="1" i="0" u="none" strike="noStrike" kern="1200" dirty="0">
                        <a:solidFill>
                          <a:schemeClr val="bg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Name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Branch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899890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101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Raju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CE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836710165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102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Sanjay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CE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84041172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103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Neha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104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Meera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EC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73964503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105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Mahesh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EE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05132244"/>
                  </a:ext>
                </a:extLst>
              </a:tr>
            </a:tbl>
          </a:graphicData>
        </a:graphic>
      </p:graphicFrame>
      <p:pic>
        <p:nvPicPr>
          <p:cNvPr id="28" name="Picture 27">
            <a:extLst>
              <a:ext uri="{FF2B5EF4-FFF2-40B4-BE49-F238E27FC236}">
                <a16:creationId xmlns:a16="http://schemas.microsoft.com/office/drawing/2014/main" id="{021579C8-E6FC-4F70-B36D-727A0B47FC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5400000" flipV="1">
            <a:off x="7774665" y="4008577"/>
            <a:ext cx="422103" cy="381000"/>
          </a:xfrm>
          <a:prstGeom prst="rect">
            <a:avLst/>
          </a:prstGeom>
        </p:spPr>
      </p:pic>
      <p:graphicFrame>
        <p:nvGraphicFramePr>
          <p:cNvPr id="29" name="Content Placeholder 11">
            <a:extLst>
              <a:ext uri="{FF2B5EF4-FFF2-40B4-BE49-F238E27FC236}">
                <a16:creationId xmlns:a16="http://schemas.microsoft.com/office/drawing/2014/main" id="{695CD70E-68E7-4066-B79F-AAD0219E915F}"/>
              </a:ext>
            </a:extLst>
          </p:cNvPr>
          <p:cNvGraphicFramePr>
            <a:graphicFrameLocks/>
          </p:cNvGraphicFramePr>
          <p:nvPr/>
        </p:nvGraphicFramePr>
        <p:xfrm>
          <a:off x="6676161" y="4795340"/>
          <a:ext cx="2619111" cy="13734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911">
                  <a:extLst>
                    <a:ext uri="{9D8B030D-6E8A-4147-A177-3AD203B41FA5}">
                      <a16:colId xmlns:a16="http://schemas.microsoft.com/office/drawing/2014/main" val="3673608313"/>
                    </a:ext>
                  </a:extLst>
                </a:gridCol>
                <a:gridCol w="685581">
                  <a:extLst>
                    <a:ext uri="{9D8B030D-6E8A-4147-A177-3AD203B41FA5}">
                      <a16:colId xmlns:a16="http://schemas.microsoft.com/office/drawing/2014/main" val="1434806160"/>
                    </a:ext>
                  </a:extLst>
                </a:gridCol>
                <a:gridCol w="628449">
                  <a:extLst>
                    <a:ext uri="{9D8B030D-6E8A-4147-A177-3AD203B41FA5}">
                      <a16:colId xmlns:a16="http://schemas.microsoft.com/office/drawing/2014/main" val="3487458896"/>
                    </a:ext>
                  </a:extLst>
                </a:gridCol>
                <a:gridCol w="736170">
                  <a:extLst>
                    <a:ext uri="{9D8B030D-6E8A-4147-A177-3AD203B41FA5}">
                      <a16:colId xmlns:a16="http://schemas.microsoft.com/office/drawing/2014/main" val="3469217163"/>
                    </a:ext>
                  </a:extLst>
                </a:gridCol>
              </a:tblGrid>
              <a:tr h="263143">
                <a:tc gridSpan="3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Student</a:t>
                      </a:r>
                    </a:p>
                  </a:txBody>
                  <a:tcPr marL="72000" marR="9525" marT="952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chemeClr val="tx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0476952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Roboto Condensed(Body)"/>
                        </a:rPr>
                        <a:t>Rno</a:t>
                      </a:r>
                      <a:endParaRPr lang="en-US" sz="1600" b="1" i="0" u="none" strike="noStrike" kern="1200" dirty="0">
                        <a:solidFill>
                          <a:schemeClr val="bg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Name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Branch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899890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101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Raju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CE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836710165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103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Neha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840411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0424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8" dur="indefinite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24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50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52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54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56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58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0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2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78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84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4" grpId="1" animBg="1"/>
      <p:bldP spid="25" grpId="0" animBg="1"/>
      <p:bldP spid="25" grpId="1" animBg="1"/>
      <p:bldP spid="2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Distinct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9952" y="997000"/>
            <a:ext cx="3576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Roboto Condensed(Body)"/>
              </a:rPr>
              <a:t>Syntax to Display Unique records:-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1" y="1524000"/>
            <a:ext cx="4800599" cy="14569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Roboto Condensed(Body)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14283" y="1714127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00FF"/>
                </a:solidFill>
                <a:latin typeface="Roboto Condensed(Body)"/>
              </a:rPr>
              <a:t>SELECT</a:t>
            </a:r>
            <a:endParaRPr lang="en-US" dirty="0">
              <a:solidFill>
                <a:srgbClr val="0000FF"/>
              </a:solidFill>
              <a:latin typeface="Roboto Condensed(Body)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007765" y="2267101"/>
            <a:ext cx="1272431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ln w="0"/>
                <a:solidFill>
                  <a:schemeClr val="tx1"/>
                </a:solidFill>
                <a:latin typeface="Roboto Condensed(Body)"/>
              </a:rPr>
              <a:t>TableName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14283" y="2267101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FROM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354865" y="2276626"/>
            <a:ext cx="150335" cy="44718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(Body)"/>
              </a:rPr>
              <a:t>;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54865" y="1714127"/>
            <a:ext cx="1153728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 Condensed(Body)"/>
              </a:rPr>
              <a:t>Columns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5520C9-9AAF-4F71-BAB5-98DECE110D4E}"/>
              </a:ext>
            </a:extLst>
          </p:cNvPr>
          <p:cNvSpPr/>
          <p:nvPr/>
        </p:nvSpPr>
        <p:spPr>
          <a:xfrm>
            <a:off x="2005933" y="1727943"/>
            <a:ext cx="1258728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DISTINCT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952" y="3400900"/>
            <a:ext cx="5481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Roboto Condensed(Body)"/>
              </a:rPr>
              <a:t>E.g. Display all unique branch from student table.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" y="4076399"/>
            <a:ext cx="4800599" cy="14862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Roboto Condensed(Body)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14282" y="4266527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00FF"/>
                </a:solidFill>
                <a:latin typeface="Roboto Condensed(Body)"/>
              </a:rPr>
              <a:t>SELECT</a:t>
            </a:r>
            <a:endParaRPr lang="en-US" dirty="0">
              <a:solidFill>
                <a:srgbClr val="0000FF"/>
              </a:solidFill>
              <a:latin typeface="Roboto Condensed(Body)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007764" y="4819501"/>
            <a:ext cx="1272431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latin typeface="Roboto Condensed(Body)"/>
              </a:rPr>
              <a:t>Student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282" y="4819501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FROM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357092" y="4819501"/>
            <a:ext cx="148108" cy="44718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(Body)"/>
              </a:rPr>
              <a:t>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49670" y="4266000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(Body)"/>
              </a:rPr>
              <a:t>Branch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53B1758-E00E-4FF5-A3D0-9856523B6738}"/>
              </a:ext>
            </a:extLst>
          </p:cNvPr>
          <p:cNvSpPr/>
          <p:nvPr/>
        </p:nvSpPr>
        <p:spPr>
          <a:xfrm>
            <a:off x="1992229" y="4266527"/>
            <a:ext cx="1272431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DISTINCT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05278" y="4152338"/>
            <a:ext cx="1073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Roboto Condensed(Body)"/>
              </a:rPr>
              <a:t>Output :</a:t>
            </a:r>
          </a:p>
        </p:txBody>
      </p:sp>
      <p:graphicFrame>
        <p:nvGraphicFramePr>
          <p:cNvPr id="25" name="Content Placeholder 11">
            <a:extLst>
              <a:ext uri="{FF2B5EF4-FFF2-40B4-BE49-F238E27FC236}">
                <a16:creationId xmlns:a16="http://schemas.microsoft.com/office/drawing/2014/main" id="{5810CD15-53DC-428B-8929-7102326B7114}"/>
              </a:ext>
            </a:extLst>
          </p:cNvPr>
          <p:cNvGraphicFramePr>
            <a:graphicFrameLocks/>
          </p:cNvGraphicFramePr>
          <p:nvPr/>
        </p:nvGraphicFramePr>
        <p:xfrm>
          <a:off x="6961234" y="1101739"/>
          <a:ext cx="2619111" cy="24838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911">
                  <a:extLst>
                    <a:ext uri="{9D8B030D-6E8A-4147-A177-3AD203B41FA5}">
                      <a16:colId xmlns:a16="http://schemas.microsoft.com/office/drawing/2014/main" val="3673608313"/>
                    </a:ext>
                  </a:extLst>
                </a:gridCol>
                <a:gridCol w="685581">
                  <a:extLst>
                    <a:ext uri="{9D8B030D-6E8A-4147-A177-3AD203B41FA5}">
                      <a16:colId xmlns:a16="http://schemas.microsoft.com/office/drawing/2014/main" val="1434806160"/>
                    </a:ext>
                  </a:extLst>
                </a:gridCol>
                <a:gridCol w="628449">
                  <a:extLst>
                    <a:ext uri="{9D8B030D-6E8A-4147-A177-3AD203B41FA5}">
                      <a16:colId xmlns:a16="http://schemas.microsoft.com/office/drawing/2014/main" val="3487458896"/>
                    </a:ext>
                  </a:extLst>
                </a:gridCol>
                <a:gridCol w="736170">
                  <a:extLst>
                    <a:ext uri="{9D8B030D-6E8A-4147-A177-3AD203B41FA5}">
                      <a16:colId xmlns:a16="http://schemas.microsoft.com/office/drawing/2014/main" val="3469217163"/>
                    </a:ext>
                  </a:extLst>
                </a:gridCol>
              </a:tblGrid>
              <a:tr h="263143">
                <a:tc gridSpan="3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Student</a:t>
                      </a:r>
                    </a:p>
                  </a:txBody>
                  <a:tcPr marL="72000" marR="9525" marT="952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chemeClr val="tx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0476952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Roboto Condensed(Body)"/>
                        </a:rPr>
                        <a:t>Rno</a:t>
                      </a:r>
                      <a:endParaRPr lang="en-US" sz="1600" b="1" i="0" u="none" strike="noStrike" kern="1200" dirty="0">
                        <a:solidFill>
                          <a:schemeClr val="bg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Name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Branch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899890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101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Raju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CE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836710165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102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Sanjay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CE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84041172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103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Neha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104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Meera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EC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73964503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105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Mahesh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EE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05132244"/>
                  </a:ext>
                </a:extLst>
              </a:tr>
            </a:tbl>
          </a:graphicData>
        </a:graphic>
      </p:graphicFrame>
      <p:pic>
        <p:nvPicPr>
          <p:cNvPr id="26" name="Picture 25">
            <a:extLst>
              <a:ext uri="{FF2B5EF4-FFF2-40B4-BE49-F238E27FC236}">
                <a16:creationId xmlns:a16="http://schemas.microsoft.com/office/drawing/2014/main" id="{021579C8-E6FC-4F70-B36D-727A0B47FC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5400000" flipV="1">
            <a:off x="8005685" y="3794495"/>
            <a:ext cx="422103" cy="381000"/>
          </a:xfrm>
          <a:prstGeom prst="rect">
            <a:avLst/>
          </a:prstGeom>
        </p:spPr>
      </p:pic>
      <p:graphicFrame>
        <p:nvGraphicFramePr>
          <p:cNvPr id="27" name="Content Placeholder 11">
            <a:extLst>
              <a:ext uri="{FF2B5EF4-FFF2-40B4-BE49-F238E27FC236}">
                <a16:creationId xmlns:a16="http://schemas.microsoft.com/office/drawing/2014/main" id="{32813147-CA65-498E-8DF5-96DADFB338FC}"/>
              </a:ext>
            </a:extLst>
          </p:cNvPr>
          <p:cNvGraphicFramePr>
            <a:graphicFrameLocks/>
          </p:cNvGraphicFramePr>
          <p:nvPr/>
        </p:nvGraphicFramePr>
        <p:xfrm>
          <a:off x="7902704" y="4258121"/>
          <a:ext cx="736170" cy="21137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6170">
                  <a:extLst>
                    <a:ext uri="{9D8B030D-6E8A-4147-A177-3AD203B41FA5}">
                      <a16:colId xmlns:a16="http://schemas.microsoft.com/office/drawing/2014/main" val="3469217163"/>
                    </a:ext>
                  </a:extLst>
                </a:gridCol>
              </a:tblGrid>
              <a:tr h="263143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chemeClr val="tx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0476952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Branch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899890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CE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836710165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EC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84041172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EE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739645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1925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8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36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38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40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42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44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0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19" grpId="1" animBg="1"/>
      <p:bldP spid="2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data of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UPDATE statement is used to </a:t>
            </a:r>
            <a:r>
              <a:rPr lang="en-US" b="1" dirty="0">
                <a:solidFill>
                  <a:schemeClr val="accent6"/>
                </a:solidFill>
              </a:rPr>
              <a:t>modify the existing records </a:t>
            </a:r>
            <a:r>
              <a:rPr lang="en-US" dirty="0"/>
              <a:t>in a table.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49317" y="1474088"/>
            <a:ext cx="365847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u="sng" dirty="0">
                <a:latin typeface="Roboto Condensed(Body)"/>
              </a:rPr>
              <a:t>Syntax </a:t>
            </a:r>
            <a:r>
              <a:rPr lang="en-US" sz="2200" b="1" dirty="0">
                <a:latin typeface="Roboto Condensed(Body)"/>
              </a:rPr>
              <a:t>: </a:t>
            </a:r>
            <a:r>
              <a:rPr lang="en-US" sz="2000" b="1" dirty="0">
                <a:latin typeface="Roboto Condensed(Body)"/>
              </a:rPr>
              <a:t>Update selected rows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7060" y="1948370"/>
            <a:ext cx="6076950" cy="19889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Roboto Condensed(Body)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4358" y="2227165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rgbClr val="FF00FF"/>
                </a:solidFill>
                <a:latin typeface="Roboto Condensed(Body)"/>
              </a:rPr>
              <a:t>UPDATE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169" y="2790253"/>
            <a:ext cx="638293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SET</a:t>
            </a:r>
          </a:p>
        </p:txBody>
      </p:sp>
      <p:sp>
        <p:nvSpPr>
          <p:cNvPr id="8" name="Rectangle 7"/>
          <p:cNvSpPr/>
          <p:nvPr/>
        </p:nvSpPr>
        <p:spPr>
          <a:xfrm>
            <a:off x="1519120" y="2227145"/>
            <a:ext cx="130349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ln w="0"/>
                <a:solidFill>
                  <a:schemeClr val="tx1"/>
                </a:solidFill>
                <a:latin typeface="Roboto Condensed(Body)"/>
              </a:rPr>
              <a:t>TableName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539211" y="2774260"/>
            <a:ext cx="158947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(Body)"/>
              </a:rPr>
              <a:t>,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32035" y="2790045"/>
            <a:ext cx="158947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(Body)"/>
              </a:rPr>
              <a:t>,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78620" y="2790045"/>
            <a:ext cx="194496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 Condensed(Body)"/>
              </a:rPr>
              <a:t>Column1=value1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492673" y="2774260"/>
            <a:ext cx="194496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 Condensed(Body)"/>
              </a:rPr>
              <a:t>Column2=value2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842749" y="2957479"/>
            <a:ext cx="447397" cy="2286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b" anchorCtr="0"/>
          <a:lstStyle/>
          <a:p>
            <a:pPr algn="ctr"/>
            <a:r>
              <a:rPr lang="en-US" dirty="0">
                <a:latin typeface="Roboto Condensed(Body)"/>
              </a:rPr>
              <a:t>….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88758" y="3348601"/>
            <a:ext cx="252489" cy="44718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(Body)"/>
              </a:rPr>
              <a:t>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26123" y="3348695"/>
            <a:ext cx="1272431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latin typeface="Roboto Condensed(Body)"/>
              </a:rPr>
              <a:t>Condition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175" y="3358820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WHERE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graphicFrame>
        <p:nvGraphicFramePr>
          <p:cNvPr id="17" name="Content Placeholder 11">
            <a:extLst>
              <a:ext uri="{FF2B5EF4-FFF2-40B4-BE49-F238E27FC236}">
                <a16:creationId xmlns:a16="http://schemas.microsoft.com/office/drawing/2014/main" id="{4354459D-1563-4299-8565-299872A138F8}"/>
              </a:ext>
            </a:extLst>
          </p:cNvPr>
          <p:cNvGraphicFramePr>
            <a:graphicFrameLocks/>
          </p:cNvGraphicFramePr>
          <p:nvPr/>
        </p:nvGraphicFramePr>
        <p:xfrm>
          <a:off x="8034688" y="1714067"/>
          <a:ext cx="2156080" cy="17120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2080">
                  <a:extLst>
                    <a:ext uri="{9D8B030D-6E8A-4147-A177-3AD203B41FA5}">
                      <a16:colId xmlns:a16="http://schemas.microsoft.com/office/drawing/2014/main" val="367360831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43480616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487458896"/>
                    </a:ext>
                  </a:extLst>
                </a:gridCol>
              </a:tblGrid>
              <a:tr h="257338">
                <a:tc gridSpan="3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ysClr val="windowText" lastClr="000000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Student</a:t>
                      </a:r>
                    </a:p>
                  </a:txBody>
                  <a:tcPr marL="72000" marR="9525" marT="9525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689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Roboto Condensed(Body)"/>
                        </a:rPr>
                        <a:t>Rno</a:t>
                      </a:r>
                      <a:endParaRPr lang="en-US" sz="1600" b="1" i="0" u="none" strike="noStrike" kern="1200" dirty="0">
                        <a:solidFill>
                          <a:schemeClr val="bg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Name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899890"/>
                  </a:ext>
                </a:extLst>
              </a:tr>
              <a:tr h="363689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101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Anil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9.28</a:t>
                      </a:r>
                    </a:p>
                  </a:txBody>
                  <a:tcPr marL="72000" marR="9525" marT="9525" marB="0" anchor="ctr"/>
                </a:tc>
                <a:extLst>
                  <a:ext uri="{0D108BD9-81ED-4DB2-BD59-A6C34878D82A}">
                    <a16:rowId xmlns:a16="http://schemas.microsoft.com/office/drawing/2014/main" val="3836710165"/>
                  </a:ext>
                </a:extLst>
              </a:tr>
              <a:tr h="363689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102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Mit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72000" marR="9525" marT="9525" marB="0" anchor="ctr"/>
                </a:tc>
                <a:extLst>
                  <a:ext uri="{0D108BD9-81ED-4DB2-BD59-A6C34878D82A}">
                    <a16:rowId xmlns:a16="http://schemas.microsoft.com/office/drawing/2014/main" val="3784041172"/>
                  </a:ext>
                </a:extLst>
              </a:tr>
              <a:tr h="363689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103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1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NULL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7.15</a:t>
                      </a:r>
                    </a:p>
                  </a:txBody>
                  <a:tcPr marL="72000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41310" y="4114800"/>
            <a:ext cx="6076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Roboto Condensed(Body)"/>
              </a:rPr>
              <a:t>E.g. Change the name of </a:t>
            </a:r>
            <a:r>
              <a:rPr lang="en-US" b="1" u="sng" dirty="0" err="1">
                <a:latin typeface="Roboto Condensed(Body)"/>
              </a:rPr>
              <a:t>Rno</a:t>
            </a:r>
            <a:r>
              <a:rPr lang="en-US" b="1" u="sng" dirty="0">
                <a:latin typeface="Roboto Condensed(Body)"/>
              </a:rPr>
              <a:t> 103 to Darshan and SPI to 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5251" y="4543952"/>
            <a:ext cx="6076950" cy="19321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Roboto Condensed(Body)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14358" y="4670430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rgbClr val="FF00FF"/>
                </a:solidFill>
                <a:latin typeface="Roboto Condensed(Body)"/>
              </a:rPr>
              <a:t>UPDATE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169" y="5233518"/>
            <a:ext cx="638293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SET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19120" y="4670410"/>
            <a:ext cx="107489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latin typeface="Roboto Condensed(Body)"/>
              </a:rPr>
              <a:t>Student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33726" y="5233310"/>
            <a:ext cx="158947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(Body)"/>
              </a:rPr>
              <a:t>,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78619" y="5233310"/>
            <a:ext cx="204779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latin typeface="Roboto Condensed(Body)"/>
              </a:rPr>
              <a:t>Name=</a:t>
            </a:r>
            <a:r>
              <a:rPr lang="en-US" dirty="0">
                <a:solidFill>
                  <a:srgbClr val="FF0000"/>
                </a:solidFill>
                <a:latin typeface="Roboto Condensed(Body)"/>
              </a:rPr>
              <a:t>'Darshan'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94364" y="5217525"/>
            <a:ext cx="105383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 Condensed(Body)"/>
              </a:rPr>
              <a:t>SPI=5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888758" y="5791866"/>
            <a:ext cx="252489" cy="44718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(Body)"/>
              </a:rPr>
              <a:t>;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26123" y="5791960"/>
            <a:ext cx="1272431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latin typeface="Roboto Condensed(Body)"/>
              </a:rPr>
              <a:t>Rno=103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175" y="5802085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WHERE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5400000">
            <a:off x="8913937" y="3524377"/>
            <a:ext cx="521985" cy="47115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0" name="Content Placeholder 11">
            <a:extLst>
              <a:ext uri="{FF2B5EF4-FFF2-40B4-BE49-F238E27FC236}">
                <a16:creationId xmlns:a16="http://schemas.microsoft.com/office/drawing/2014/main" id="{4354459D-1563-4299-8565-299872A138F8}"/>
              </a:ext>
            </a:extLst>
          </p:cNvPr>
          <p:cNvGraphicFramePr>
            <a:graphicFrameLocks/>
          </p:cNvGraphicFramePr>
          <p:nvPr/>
        </p:nvGraphicFramePr>
        <p:xfrm>
          <a:off x="8121275" y="4121980"/>
          <a:ext cx="2091130" cy="15861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3039">
                  <a:extLst>
                    <a:ext uri="{9D8B030D-6E8A-4147-A177-3AD203B41FA5}">
                      <a16:colId xmlns:a16="http://schemas.microsoft.com/office/drawing/2014/main" val="3673608313"/>
                    </a:ext>
                  </a:extLst>
                </a:gridCol>
                <a:gridCol w="812950">
                  <a:extLst>
                    <a:ext uri="{9D8B030D-6E8A-4147-A177-3AD203B41FA5}">
                      <a16:colId xmlns:a16="http://schemas.microsoft.com/office/drawing/2014/main" val="1434806160"/>
                    </a:ext>
                  </a:extLst>
                </a:gridCol>
                <a:gridCol w="665141">
                  <a:extLst>
                    <a:ext uri="{9D8B030D-6E8A-4147-A177-3AD203B41FA5}">
                      <a16:colId xmlns:a16="http://schemas.microsoft.com/office/drawing/2014/main" val="3487458896"/>
                    </a:ext>
                  </a:extLst>
                </a:gridCol>
              </a:tblGrid>
              <a:tr h="235759">
                <a:tc gridSpan="3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ysClr val="windowText" lastClr="000000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Student</a:t>
                      </a:r>
                    </a:p>
                  </a:txBody>
                  <a:tcPr marL="72000" marR="9525" marT="9525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193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Roboto Condensed(Body)"/>
                        </a:rPr>
                        <a:t>Rno</a:t>
                      </a:r>
                      <a:endParaRPr lang="en-US" sz="1600" b="1" i="0" u="none" strike="noStrike" kern="1200" dirty="0">
                        <a:solidFill>
                          <a:schemeClr val="bg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Name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899890"/>
                  </a:ext>
                </a:extLst>
              </a:tr>
              <a:tr h="333193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101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Anil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9.28</a:t>
                      </a:r>
                    </a:p>
                  </a:txBody>
                  <a:tcPr marL="72000" marR="9525" marT="9525" marB="0" anchor="ctr"/>
                </a:tc>
                <a:extLst>
                  <a:ext uri="{0D108BD9-81ED-4DB2-BD59-A6C34878D82A}">
                    <a16:rowId xmlns:a16="http://schemas.microsoft.com/office/drawing/2014/main" val="3836710165"/>
                  </a:ext>
                </a:extLst>
              </a:tr>
              <a:tr h="333193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102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Mit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72000" marR="9525" marT="9525" marB="0" anchor="ctr"/>
                </a:tc>
                <a:extLst>
                  <a:ext uri="{0D108BD9-81ED-4DB2-BD59-A6C34878D82A}">
                    <a16:rowId xmlns:a16="http://schemas.microsoft.com/office/drawing/2014/main" val="3784041172"/>
                  </a:ext>
                </a:extLst>
              </a:tr>
              <a:tr h="333193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103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Darshan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72000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8879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58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0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2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4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6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8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70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72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74" dur="indefinite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data of Table(Cont..)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If you don't use the WHERE clause all the data of the column will be affected.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27060" y="1529229"/>
            <a:ext cx="6076950" cy="15187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Roboto Condensed(Body)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4358" y="1731023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rgbClr val="FF00FF"/>
                </a:solidFill>
                <a:latin typeface="Roboto Condensed(Body)"/>
              </a:rPr>
              <a:t>UPDATE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169" y="2294111"/>
            <a:ext cx="638293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SET</a:t>
            </a:r>
          </a:p>
        </p:txBody>
      </p:sp>
      <p:sp>
        <p:nvSpPr>
          <p:cNvPr id="8" name="Rectangle 7"/>
          <p:cNvSpPr/>
          <p:nvPr/>
        </p:nvSpPr>
        <p:spPr>
          <a:xfrm>
            <a:off x="1519120" y="1731003"/>
            <a:ext cx="107489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latin typeface="Roboto Condensed(Body)"/>
              </a:rPr>
              <a:t>Student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210493" y="2303913"/>
            <a:ext cx="158947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(Body)"/>
              </a:rPr>
              <a:t>,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78619" y="2303913"/>
            <a:ext cx="1929717" cy="44719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latin typeface="Roboto Condensed(Body)"/>
              </a:rPr>
              <a:t>Name=</a:t>
            </a:r>
            <a:r>
              <a:rPr lang="en-US" dirty="0">
                <a:solidFill>
                  <a:srgbClr val="FF0000"/>
                </a:solidFill>
                <a:latin typeface="Roboto Condensed(Body)"/>
              </a:rPr>
              <a:t>'Priya'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1131" y="2288128"/>
            <a:ext cx="105383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 Condensed(Body)"/>
              </a:rPr>
              <a:t>SPI=3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4354459D-1563-4299-8565-299872A138F8}"/>
              </a:ext>
            </a:extLst>
          </p:cNvPr>
          <p:cNvGraphicFramePr>
            <a:graphicFrameLocks/>
          </p:cNvGraphicFramePr>
          <p:nvPr/>
        </p:nvGraphicFramePr>
        <p:xfrm>
          <a:off x="5521599" y="3429000"/>
          <a:ext cx="2156080" cy="1742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2080">
                  <a:extLst>
                    <a:ext uri="{9D8B030D-6E8A-4147-A177-3AD203B41FA5}">
                      <a16:colId xmlns:a16="http://schemas.microsoft.com/office/drawing/2014/main" val="367360831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43480616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487458896"/>
                    </a:ext>
                  </a:extLst>
                </a:gridCol>
              </a:tblGrid>
              <a:tr h="261884">
                <a:tc gridSpan="3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ysClr val="windowText" lastClr="000000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Student</a:t>
                      </a:r>
                    </a:p>
                  </a:txBody>
                  <a:tcPr marL="72000" marR="9525" marT="9525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Roboto Condensed(Body)"/>
                        </a:rPr>
                        <a:t>Rno</a:t>
                      </a:r>
                      <a:endParaRPr lang="en-US" sz="1600" b="1" i="0" u="none" strike="noStrike" kern="1200" dirty="0">
                        <a:solidFill>
                          <a:schemeClr val="bg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Name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899890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101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Priya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72000" marR="9525" marT="9525" marB="0" anchor="ctr"/>
                </a:tc>
                <a:extLst>
                  <a:ext uri="{0D108BD9-81ED-4DB2-BD59-A6C34878D82A}">
                    <a16:rowId xmlns:a16="http://schemas.microsoft.com/office/drawing/2014/main" val="3836710165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102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Priya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72000" marR="9525" marT="9525" marB="0" anchor="ctr"/>
                </a:tc>
                <a:extLst>
                  <a:ext uri="{0D108BD9-81ED-4DB2-BD59-A6C34878D82A}">
                    <a16:rowId xmlns:a16="http://schemas.microsoft.com/office/drawing/2014/main" val="3784041172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103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Priya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72000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3" name="Content Placeholder 11">
            <a:extLst>
              <a:ext uri="{FF2B5EF4-FFF2-40B4-BE49-F238E27FC236}">
                <a16:creationId xmlns:a16="http://schemas.microsoft.com/office/drawing/2014/main" id="{FAE86FDA-A857-4DBE-8673-F655946C8289}"/>
              </a:ext>
            </a:extLst>
          </p:cNvPr>
          <p:cNvGraphicFramePr>
            <a:graphicFrameLocks/>
          </p:cNvGraphicFramePr>
          <p:nvPr/>
        </p:nvGraphicFramePr>
        <p:xfrm>
          <a:off x="1466323" y="3382787"/>
          <a:ext cx="2156080" cy="1742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2080">
                  <a:extLst>
                    <a:ext uri="{9D8B030D-6E8A-4147-A177-3AD203B41FA5}">
                      <a16:colId xmlns:a16="http://schemas.microsoft.com/office/drawing/2014/main" val="367360831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43480616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487458896"/>
                    </a:ext>
                  </a:extLst>
                </a:gridCol>
              </a:tblGrid>
              <a:tr h="261884">
                <a:tc gridSpan="3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ysClr val="windowText" lastClr="000000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Student</a:t>
                      </a:r>
                    </a:p>
                  </a:txBody>
                  <a:tcPr marL="72000" marR="9525" marT="9525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Roboto Condensed(Body)"/>
                        </a:rPr>
                        <a:t>Rno</a:t>
                      </a:r>
                      <a:endParaRPr lang="en-US" sz="1600" b="1" i="0" u="none" strike="noStrike" kern="1200" dirty="0">
                        <a:solidFill>
                          <a:schemeClr val="bg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Name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899890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101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Anil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9.28</a:t>
                      </a:r>
                    </a:p>
                  </a:txBody>
                  <a:tcPr marL="72000" marR="9525" marT="9525" marB="0" anchor="ctr"/>
                </a:tc>
                <a:extLst>
                  <a:ext uri="{0D108BD9-81ED-4DB2-BD59-A6C34878D82A}">
                    <a16:rowId xmlns:a16="http://schemas.microsoft.com/office/drawing/2014/main" val="3836710165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102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Mit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72000" marR="9525" marT="9525" marB="0" anchor="ctr"/>
                </a:tc>
                <a:extLst>
                  <a:ext uri="{0D108BD9-81ED-4DB2-BD59-A6C34878D82A}">
                    <a16:rowId xmlns:a16="http://schemas.microsoft.com/office/drawing/2014/main" val="3784041172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103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Darshan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72000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6BAD1CF5-59AC-4D28-A3AE-5FD75B380D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05717" y="3835475"/>
            <a:ext cx="1132566" cy="102227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73834B8-F2F9-926B-C25F-33F659AF4CA7}"/>
              </a:ext>
            </a:extLst>
          </p:cNvPr>
          <p:cNvSpPr txBox="1"/>
          <p:nvPr/>
        </p:nvSpPr>
        <p:spPr>
          <a:xfrm>
            <a:off x="314024" y="1026818"/>
            <a:ext cx="39270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u="sng" dirty="0">
                <a:latin typeface="Roboto Condensed(Body)"/>
              </a:rPr>
              <a:t>Syntax </a:t>
            </a:r>
            <a:r>
              <a:rPr lang="en-US" sz="2200" b="1" dirty="0">
                <a:latin typeface="Roboto Condensed(Body)"/>
              </a:rPr>
              <a:t>: </a:t>
            </a:r>
            <a:r>
              <a:rPr lang="en-US" sz="2000" b="1" dirty="0">
                <a:latin typeface="Roboto Condensed(Body)"/>
              </a:rPr>
              <a:t>Update all rows in a table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E5DB45-28E8-4132-5A89-916CAE73AEF3}"/>
              </a:ext>
            </a:extLst>
          </p:cNvPr>
          <p:cNvSpPr/>
          <p:nvPr/>
        </p:nvSpPr>
        <p:spPr>
          <a:xfrm>
            <a:off x="4626658" y="2288128"/>
            <a:ext cx="261104" cy="4729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(Body)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598387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5" grpId="0"/>
      <p:bldP spid="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9833"/>
            <a:ext cx="12192000" cy="711200"/>
          </a:xfrm>
        </p:spPr>
        <p:txBody>
          <a:bodyPr/>
          <a:lstStyle/>
          <a:p>
            <a:r>
              <a:rPr lang="en-US" dirty="0">
                <a:solidFill>
                  <a:srgbClr val="212121"/>
                </a:solidFill>
              </a:rPr>
              <a:t>Update data of Table(Cont..)</a:t>
            </a:r>
            <a:endParaRPr lang="en-US" dirty="0"/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85309FCA-7E1F-459D-90AD-80BA8C3E940B}"/>
              </a:ext>
            </a:extLst>
          </p:cNvPr>
          <p:cNvSpPr txBox="1">
            <a:spLocks/>
          </p:cNvSpPr>
          <p:nvPr/>
        </p:nvSpPr>
        <p:spPr>
          <a:xfrm>
            <a:off x="457200" y="1000432"/>
            <a:ext cx="4038600" cy="5486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>
                <a:latin typeface="Roboto Condensed(Body)"/>
              </a:rPr>
              <a:t>To Set Null value</a:t>
            </a:r>
          </a:p>
        </p:txBody>
      </p:sp>
      <p:graphicFrame>
        <p:nvGraphicFramePr>
          <p:cNvPr id="5" name="Content Placeholder 11">
            <a:extLst>
              <a:ext uri="{FF2B5EF4-FFF2-40B4-BE49-F238E27FC236}">
                <a16:creationId xmlns:a16="http://schemas.microsoft.com/office/drawing/2014/main" id="{B49E9FA0-EBE9-478D-AF37-F922E0174BE2}"/>
              </a:ext>
            </a:extLst>
          </p:cNvPr>
          <p:cNvGraphicFramePr>
            <a:graphicFrameLocks/>
          </p:cNvGraphicFramePr>
          <p:nvPr/>
        </p:nvGraphicFramePr>
        <p:xfrm>
          <a:off x="1196720" y="3286432"/>
          <a:ext cx="2156080" cy="12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2080">
                  <a:extLst>
                    <a:ext uri="{9D8B030D-6E8A-4147-A177-3AD203B41FA5}">
                      <a16:colId xmlns:a16="http://schemas.microsoft.com/office/drawing/2014/main" val="367360831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43480616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487458896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Roboto Condensed(Body)"/>
                        </a:rPr>
                        <a:t>Rno</a:t>
                      </a:r>
                      <a:endParaRPr lang="en-US" sz="1600" b="1" i="0" u="none" strike="noStrike" kern="1200" dirty="0">
                        <a:solidFill>
                          <a:schemeClr val="bg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Name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89989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101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Anil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72000" marR="9525" marT="9525" marB="0" anchor="ctr"/>
                </a:tc>
                <a:extLst>
                  <a:ext uri="{0D108BD9-81ED-4DB2-BD59-A6C34878D82A}">
                    <a16:rowId xmlns:a16="http://schemas.microsoft.com/office/drawing/2014/main" val="383671016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102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Mit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1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NULL</a:t>
                      </a:r>
                      <a:endParaRPr lang="en-US" sz="1600" b="0" i="0" u="none" strike="noStrike" kern="1200" dirty="0">
                        <a:solidFill>
                          <a:schemeClr val="tx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/>
                </a:tc>
                <a:extLst>
                  <a:ext uri="{0D108BD9-81ED-4DB2-BD59-A6C34878D82A}">
                    <a16:rowId xmlns:a16="http://schemas.microsoft.com/office/drawing/2014/main" val="378404117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103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Rohit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72000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BE82E9C5-D0C2-4568-B1D2-03DE107C83F7}"/>
              </a:ext>
            </a:extLst>
          </p:cNvPr>
          <p:cNvSpPr/>
          <p:nvPr/>
        </p:nvSpPr>
        <p:spPr>
          <a:xfrm>
            <a:off x="990600" y="1463286"/>
            <a:ext cx="2800350" cy="16763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Roboto Condensed(Body)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B9672D-B06B-43C2-90E8-33635267D119}"/>
              </a:ext>
            </a:extLst>
          </p:cNvPr>
          <p:cNvSpPr/>
          <p:nvPr/>
        </p:nvSpPr>
        <p:spPr>
          <a:xfrm>
            <a:off x="1207818" y="1659427"/>
            <a:ext cx="990316" cy="3600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rgbClr val="FF00FF"/>
                </a:solidFill>
                <a:latin typeface="Roboto Condensed(Body)"/>
              </a:rPr>
              <a:t>UPDATE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BE65F1-E11A-43FF-95C2-4F96CDA17E93}"/>
              </a:ext>
            </a:extLst>
          </p:cNvPr>
          <p:cNvSpPr/>
          <p:nvPr/>
        </p:nvSpPr>
        <p:spPr>
          <a:xfrm>
            <a:off x="1207818" y="2099013"/>
            <a:ext cx="638293" cy="3600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SET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DA4305-F0FF-4F18-BE4F-344CCCB29F3F}"/>
              </a:ext>
            </a:extLst>
          </p:cNvPr>
          <p:cNvSpPr/>
          <p:nvPr/>
        </p:nvSpPr>
        <p:spPr>
          <a:xfrm>
            <a:off x="2312580" y="1659407"/>
            <a:ext cx="1074890" cy="3600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latin typeface="Roboto Condensed(Body)"/>
              </a:rPr>
              <a:t>Student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4B4C59-4F4B-4B6F-8CDF-280D5ED9B7A3}"/>
              </a:ext>
            </a:extLst>
          </p:cNvPr>
          <p:cNvSpPr/>
          <p:nvPr/>
        </p:nvSpPr>
        <p:spPr>
          <a:xfrm>
            <a:off x="1948268" y="2104471"/>
            <a:ext cx="1272431" cy="35433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latin typeface="Roboto Condensed(Body)"/>
              </a:rPr>
              <a:t>Name</a:t>
            </a:r>
            <a:r>
              <a:rPr lang="en-US" dirty="0">
                <a:ln w="0"/>
                <a:solidFill>
                  <a:schemeClr val="accent1">
                    <a:lumMod val="75000"/>
                  </a:schemeClr>
                </a:solidFill>
                <a:latin typeface="Roboto Condensed(Body)"/>
              </a:rPr>
              <a:t>=Null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Roboto Condensed(Body)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FDF46B-DDBC-41BB-A802-028351FF2827}"/>
              </a:ext>
            </a:extLst>
          </p:cNvPr>
          <p:cNvSpPr/>
          <p:nvPr/>
        </p:nvSpPr>
        <p:spPr>
          <a:xfrm>
            <a:off x="2295772" y="2535307"/>
            <a:ext cx="1272431" cy="3600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latin typeface="Roboto Condensed(Body)"/>
              </a:rPr>
              <a:t>Rno=103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962461-4AD1-435B-AF7D-24620C2FF8B9}"/>
              </a:ext>
            </a:extLst>
          </p:cNvPr>
          <p:cNvSpPr/>
          <p:nvPr/>
        </p:nvSpPr>
        <p:spPr>
          <a:xfrm>
            <a:off x="1217824" y="2545432"/>
            <a:ext cx="990316" cy="3600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WHERE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graphicFrame>
        <p:nvGraphicFramePr>
          <p:cNvPr id="13" name="Content Placeholder 11">
            <a:extLst>
              <a:ext uri="{FF2B5EF4-FFF2-40B4-BE49-F238E27FC236}">
                <a16:creationId xmlns:a16="http://schemas.microsoft.com/office/drawing/2014/main" id="{8B41FBB7-EBFB-4E61-BEC8-F27D3ECE488E}"/>
              </a:ext>
            </a:extLst>
          </p:cNvPr>
          <p:cNvGraphicFramePr>
            <a:graphicFrameLocks/>
          </p:cNvGraphicFramePr>
          <p:nvPr/>
        </p:nvGraphicFramePr>
        <p:xfrm>
          <a:off x="1219200" y="5038432"/>
          <a:ext cx="2156080" cy="12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2080">
                  <a:extLst>
                    <a:ext uri="{9D8B030D-6E8A-4147-A177-3AD203B41FA5}">
                      <a16:colId xmlns:a16="http://schemas.microsoft.com/office/drawing/2014/main" val="367360831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43480616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487458896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Roboto Condensed(Body)"/>
                        </a:rPr>
                        <a:t>Rno</a:t>
                      </a:r>
                      <a:endParaRPr lang="en-US" sz="1600" b="1" i="0" u="none" strike="noStrike" kern="1200" dirty="0">
                        <a:solidFill>
                          <a:schemeClr val="bg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Name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89989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101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Anil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72000" marR="9525" marT="9525" marB="0" anchor="ctr"/>
                </a:tc>
                <a:extLst>
                  <a:ext uri="{0D108BD9-81ED-4DB2-BD59-A6C34878D82A}">
                    <a16:rowId xmlns:a16="http://schemas.microsoft.com/office/drawing/2014/main" val="383671016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102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Mit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1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NULL</a:t>
                      </a:r>
                      <a:endParaRPr lang="en-US" sz="1600" b="0" i="0" u="none" strike="noStrike" kern="1200" dirty="0">
                        <a:solidFill>
                          <a:schemeClr val="tx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/>
                </a:tc>
                <a:extLst>
                  <a:ext uri="{0D108BD9-81ED-4DB2-BD59-A6C34878D82A}">
                    <a16:rowId xmlns:a16="http://schemas.microsoft.com/office/drawing/2014/main" val="378404117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103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1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NULL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72000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DFB5BCB-2877-403F-917B-D998ED849DB0}"/>
              </a:ext>
            </a:extLst>
          </p:cNvPr>
          <p:cNvSpPr txBox="1">
            <a:spLocks/>
          </p:cNvSpPr>
          <p:nvPr/>
        </p:nvSpPr>
        <p:spPr>
          <a:xfrm>
            <a:off x="5188127" y="1006086"/>
            <a:ext cx="4038600" cy="513556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</a:pPr>
            <a:r>
              <a:rPr lang="en-IN" sz="2400" b="1" dirty="0">
                <a:latin typeface="Roboto Condensed(Body)"/>
              </a:rPr>
              <a:t>To Check Null value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224B42-3357-4EA5-96D3-E9BD6340C0A4}"/>
              </a:ext>
            </a:extLst>
          </p:cNvPr>
          <p:cNvSpPr/>
          <p:nvPr/>
        </p:nvSpPr>
        <p:spPr>
          <a:xfrm>
            <a:off x="5721526" y="1463286"/>
            <a:ext cx="4346205" cy="16763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Roboto Condensed(Body)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3B0BC70-DD96-42FD-9DEB-4E969E39DF6B}"/>
              </a:ext>
            </a:extLst>
          </p:cNvPr>
          <p:cNvSpPr/>
          <p:nvPr/>
        </p:nvSpPr>
        <p:spPr>
          <a:xfrm>
            <a:off x="5938745" y="1659427"/>
            <a:ext cx="990316" cy="3600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rgbClr val="FF00FF"/>
                </a:solidFill>
                <a:latin typeface="Roboto Condensed(Body)"/>
              </a:rPr>
              <a:t>UPDATE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6BF2E53-F3ED-4723-BEC9-596C974A7096}"/>
              </a:ext>
            </a:extLst>
          </p:cNvPr>
          <p:cNvSpPr/>
          <p:nvPr/>
        </p:nvSpPr>
        <p:spPr>
          <a:xfrm>
            <a:off x="5938745" y="2099013"/>
            <a:ext cx="638293" cy="3600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SET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5C3F5BB-8B2C-49C9-981E-D1283331FC7E}"/>
              </a:ext>
            </a:extLst>
          </p:cNvPr>
          <p:cNvSpPr/>
          <p:nvPr/>
        </p:nvSpPr>
        <p:spPr>
          <a:xfrm>
            <a:off x="7043507" y="1659407"/>
            <a:ext cx="1074890" cy="3600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latin typeface="Roboto Condensed(Body)"/>
              </a:rPr>
              <a:t>Student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ECB60B-F308-4AE2-8690-AE613516CA69}"/>
              </a:ext>
            </a:extLst>
          </p:cNvPr>
          <p:cNvSpPr/>
          <p:nvPr/>
        </p:nvSpPr>
        <p:spPr>
          <a:xfrm>
            <a:off x="6679195" y="2104471"/>
            <a:ext cx="1272431" cy="35433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latin typeface="Roboto Condensed(Body)"/>
              </a:rPr>
              <a:t>SPI=10</a:t>
            </a:r>
            <a:endParaRPr lang="en-US" dirty="0">
              <a:solidFill>
                <a:srgbClr val="FF0000"/>
              </a:solidFill>
              <a:latin typeface="Roboto Condensed(Body)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B9331A8-2A11-452B-9F4E-305EF6E0987B}"/>
              </a:ext>
            </a:extLst>
          </p:cNvPr>
          <p:cNvSpPr/>
          <p:nvPr/>
        </p:nvSpPr>
        <p:spPr>
          <a:xfrm>
            <a:off x="7026699" y="2535307"/>
            <a:ext cx="1585456" cy="35433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latin typeface="Roboto Condensed(Body)"/>
              </a:rPr>
              <a:t>Name </a:t>
            </a:r>
            <a:r>
              <a:rPr lang="en-US" dirty="0">
                <a:ln w="0"/>
                <a:solidFill>
                  <a:schemeClr val="accent1">
                    <a:lumMod val="75000"/>
                  </a:schemeClr>
                </a:solidFill>
                <a:latin typeface="Roboto Condensed(Body)"/>
              </a:rPr>
              <a:t>IS  Null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6C6FEAD-3B84-4C0C-B461-E9982D9C686D}"/>
              </a:ext>
            </a:extLst>
          </p:cNvPr>
          <p:cNvSpPr/>
          <p:nvPr/>
        </p:nvSpPr>
        <p:spPr>
          <a:xfrm>
            <a:off x="5948751" y="2545432"/>
            <a:ext cx="990316" cy="3600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WHERE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graphicFrame>
        <p:nvGraphicFramePr>
          <p:cNvPr id="22" name="Content Placeholder 11">
            <a:extLst>
              <a:ext uri="{FF2B5EF4-FFF2-40B4-BE49-F238E27FC236}">
                <a16:creationId xmlns:a16="http://schemas.microsoft.com/office/drawing/2014/main" id="{6F4ABE65-6B91-4EDB-8E55-DF1907480A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65443496"/>
              </p:ext>
            </p:extLst>
          </p:nvPr>
        </p:nvGraphicFramePr>
        <p:xfrm>
          <a:off x="6043662" y="3291209"/>
          <a:ext cx="2156080" cy="12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2080">
                  <a:extLst>
                    <a:ext uri="{9D8B030D-6E8A-4147-A177-3AD203B41FA5}">
                      <a16:colId xmlns:a16="http://schemas.microsoft.com/office/drawing/2014/main" val="367360831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43480616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487458896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dirty="0" err="1">
                          <a:solidFill>
                            <a:schemeClr val="bg1"/>
                          </a:solidFill>
                          <a:latin typeface="Roboto Condensed(Body)"/>
                        </a:rPr>
                        <a:t>Rno</a:t>
                      </a:r>
                      <a:endParaRPr lang="en-US" sz="1600" b="1" i="0" u="none" strike="noStrike" kern="1200" dirty="0">
                        <a:solidFill>
                          <a:schemeClr val="bg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Name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89989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101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Anil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72000" marR="9525" marT="9525" marB="0" anchor="ctr"/>
                </a:tc>
                <a:extLst>
                  <a:ext uri="{0D108BD9-81ED-4DB2-BD59-A6C34878D82A}">
                    <a16:rowId xmlns:a16="http://schemas.microsoft.com/office/drawing/2014/main" val="383671016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102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Mit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1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NULL</a:t>
                      </a:r>
                      <a:endParaRPr lang="en-US" sz="1600" b="0" i="0" u="none" strike="noStrike" kern="1200" dirty="0">
                        <a:solidFill>
                          <a:schemeClr val="tx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/>
                </a:tc>
                <a:extLst>
                  <a:ext uri="{0D108BD9-81ED-4DB2-BD59-A6C34878D82A}">
                    <a16:rowId xmlns:a16="http://schemas.microsoft.com/office/drawing/2014/main" val="378404117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103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1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NULL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72000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3" name="Content Placeholder 11">
            <a:extLst>
              <a:ext uri="{FF2B5EF4-FFF2-40B4-BE49-F238E27FC236}">
                <a16:creationId xmlns:a16="http://schemas.microsoft.com/office/drawing/2014/main" id="{3C3FC5B1-DAA3-421E-9AE1-9AD41D31D3C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16115526"/>
              </p:ext>
            </p:extLst>
          </p:nvPr>
        </p:nvGraphicFramePr>
        <p:xfrm>
          <a:off x="6043662" y="5038432"/>
          <a:ext cx="2156080" cy="12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2080">
                  <a:extLst>
                    <a:ext uri="{9D8B030D-6E8A-4147-A177-3AD203B41FA5}">
                      <a16:colId xmlns:a16="http://schemas.microsoft.com/office/drawing/2014/main" val="367360831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43480616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487458896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Roboto Condensed(Body)"/>
                        </a:rPr>
                        <a:t>Rno</a:t>
                      </a:r>
                      <a:endParaRPr lang="en-US" sz="1600" b="1" i="0" u="none" strike="noStrike" kern="1200" dirty="0">
                        <a:solidFill>
                          <a:schemeClr val="bg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Name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89989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101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Anil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72000" marR="9525" marT="9525" marB="0" anchor="ctr"/>
                </a:tc>
                <a:extLst>
                  <a:ext uri="{0D108BD9-81ED-4DB2-BD59-A6C34878D82A}">
                    <a16:rowId xmlns:a16="http://schemas.microsoft.com/office/drawing/2014/main" val="383671016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102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Mit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72000" marR="9525" marT="9525" marB="0" anchor="ctr"/>
                </a:tc>
                <a:extLst>
                  <a:ext uri="{0D108BD9-81ED-4DB2-BD59-A6C34878D82A}">
                    <a16:rowId xmlns:a16="http://schemas.microsoft.com/office/drawing/2014/main" val="378404117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103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1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NULL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72000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4" name="Picture 23">
            <a:extLst>
              <a:ext uri="{FF2B5EF4-FFF2-40B4-BE49-F238E27FC236}">
                <a16:creationId xmlns:a16="http://schemas.microsoft.com/office/drawing/2014/main" id="{EA862B1D-8E96-4578-A4EB-310C908713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5400000" flipV="1">
            <a:off x="6832456" y="4625100"/>
            <a:ext cx="422103" cy="381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E921AA2-5C82-FDA2-3AE2-00D05267BD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5400000" flipV="1">
            <a:off x="1987082" y="4636881"/>
            <a:ext cx="422103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488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hsl" dir="cw">
                                      <p:cBhvr override="childStyl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5" presetClass="emph" presetSubtype="0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41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21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hsl" dir="cw">
                                      <p:cBhvr override="childStyle">
                                        <p:cTn id="8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8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5" presetClass="emph" presetSubtype="0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90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0" grpId="1" animBg="1"/>
      <p:bldP spid="10" grpId="2" animBg="1"/>
      <p:bldP spid="11" grpId="0" animBg="1"/>
      <p:bldP spid="12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0" grpId="1" animBg="1"/>
      <p:bldP spid="20" grpId="2" animBg="1"/>
      <p:bldP spid="21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ALTER TABLE statement is used to </a:t>
            </a:r>
            <a:r>
              <a:rPr lang="en-US" b="1" dirty="0">
                <a:solidFill>
                  <a:schemeClr val="accent6"/>
                </a:solidFill>
              </a:rPr>
              <a:t>add</a:t>
            </a:r>
            <a:r>
              <a:rPr lang="en-US" dirty="0"/>
              <a:t>,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chemeClr val="accent6"/>
                </a:solidFill>
              </a:rPr>
              <a:t>modify</a:t>
            </a:r>
            <a:r>
              <a:rPr lang="en-US" b="1" dirty="0"/>
              <a:t>,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dirty="0"/>
              <a:t>or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chemeClr val="accent6"/>
                </a:solidFill>
              </a:rPr>
              <a:t>drop columns </a:t>
            </a:r>
            <a:r>
              <a:rPr lang="en-US" dirty="0"/>
              <a:t>in a table.</a:t>
            </a:r>
          </a:p>
          <a:p>
            <a:r>
              <a:rPr lang="en-US" dirty="0"/>
              <a:t>The ALTER TABLE statement is also used to </a:t>
            </a:r>
            <a:r>
              <a:rPr lang="en-US" b="1" dirty="0">
                <a:solidFill>
                  <a:schemeClr val="accent6"/>
                </a:solidFill>
              </a:rPr>
              <a:t>add</a:t>
            </a:r>
            <a:r>
              <a:rPr lang="en-US" dirty="0"/>
              <a:t> and </a:t>
            </a:r>
            <a:r>
              <a:rPr lang="en-US" b="1" dirty="0">
                <a:solidFill>
                  <a:schemeClr val="accent6"/>
                </a:solidFill>
              </a:rPr>
              <a:t>drop</a:t>
            </a:r>
            <a:r>
              <a:rPr lang="en-US" dirty="0"/>
              <a:t> various </a:t>
            </a:r>
            <a:r>
              <a:rPr lang="en-US" b="1" dirty="0">
                <a:solidFill>
                  <a:schemeClr val="accent6"/>
                </a:solidFill>
              </a:rPr>
              <a:t>constraints</a:t>
            </a:r>
            <a:r>
              <a:rPr lang="en-US" dirty="0"/>
              <a:t> on an existing table.</a:t>
            </a:r>
          </a:p>
        </p:txBody>
      </p:sp>
    </p:spTree>
    <p:extLst>
      <p:ext uri="{BB962C8B-B14F-4D97-AF65-F5344CB8AC3E}">
        <p14:creationId xmlns:p14="http://schemas.microsoft.com/office/powerpoint/2010/main" val="3421723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Alter(Cont..)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Add column in table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" y="1625600"/>
          <a:ext cx="1905000" cy="1112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COL1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COL2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133599" y="1630680"/>
          <a:ext cx="1474839" cy="1112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74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Roboto Condensed(Body)"/>
                        </a:rPr>
                        <a:t>NewColumn1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8437" y="1632045"/>
          <a:ext cx="1420763" cy="1112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20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Roboto Condensed(Body)"/>
                        </a:rPr>
                        <a:t>NewColumn2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60248" y="3288268"/>
            <a:ext cx="1035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Roboto Condensed(Body)"/>
              </a:rPr>
              <a:t>Syntax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1053" y="3998938"/>
            <a:ext cx="8001000" cy="1981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Roboto Condensed(Body)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09600" y="4212609"/>
            <a:ext cx="9906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ALTER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76400" y="4212609"/>
            <a:ext cx="9144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TABLE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67000" y="4212609"/>
            <a:ext cx="14478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Roboto Condensed(Body)"/>
              </a:rPr>
              <a:t>TableName</a:t>
            </a:r>
            <a:endParaRPr lang="en-US" dirty="0">
              <a:latin typeface="Roboto Condensed(Body)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95066" y="4767618"/>
            <a:ext cx="705134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ADD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76400" y="4767618"/>
            <a:ext cx="15240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(Body)"/>
              </a:rPr>
              <a:t>NewColumn1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76600" y="4768755"/>
            <a:ext cx="17526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0000FF"/>
                </a:solidFill>
                <a:latin typeface="Roboto Condensed(Body)"/>
              </a:rPr>
              <a:t>Datatype</a:t>
            </a:r>
            <a:r>
              <a:rPr lang="en-US" dirty="0">
                <a:solidFill>
                  <a:srgbClr val="808080"/>
                </a:solidFill>
                <a:latin typeface="Roboto Condensed(Body)"/>
              </a:rPr>
              <a:t>(</a:t>
            </a:r>
            <a:r>
              <a:rPr lang="en-US" dirty="0">
                <a:latin typeface="Roboto Condensed(Body)"/>
              </a:rPr>
              <a:t>Size</a:t>
            </a:r>
            <a:r>
              <a:rPr lang="en-US" dirty="0">
                <a:solidFill>
                  <a:srgbClr val="808080"/>
                </a:solidFill>
                <a:latin typeface="Roboto Condensed(Body)"/>
              </a:rPr>
              <a:t>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05400" y="4781266"/>
            <a:ext cx="1905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808080"/>
                </a:solidFill>
                <a:latin typeface="Roboto Condensed(Body)"/>
              </a:rPr>
              <a:t>,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76400" y="5322627"/>
            <a:ext cx="15240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(Body)"/>
              </a:rPr>
              <a:t>NewColumn2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76600" y="5323764"/>
            <a:ext cx="17526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0000FF"/>
                </a:solidFill>
                <a:latin typeface="Roboto Condensed(Body)"/>
              </a:rPr>
              <a:t>Datatype</a:t>
            </a:r>
            <a:r>
              <a:rPr lang="en-US" dirty="0">
                <a:solidFill>
                  <a:srgbClr val="808080"/>
                </a:solidFill>
                <a:latin typeface="Roboto Condensed(Body)"/>
              </a:rPr>
              <a:t>(</a:t>
            </a:r>
            <a:r>
              <a:rPr lang="en-US" dirty="0">
                <a:latin typeface="Roboto Condensed(Body)"/>
              </a:rPr>
              <a:t>Size</a:t>
            </a:r>
            <a:r>
              <a:rPr lang="en-US" dirty="0">
                <a:solidFill>
                  <a:srgbClr val="808080"/>
                </a:solidFill>
                <a:latin typeface="Roboto Condensed(Body)"/>
              </a:rPr>
              <a:t>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05400" y="5322627"/>
            <a:ext cx="1905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808080"/>
                </a:solidFill>
                <a:latin typeface="Roboto Condensed(Body)"/>
              </a:rPr>
              <a:t>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AADF81-22C6-8A0C-259F-237ACB27FA7D}"/>
              </a:ext>
            </a:extLst>
          </p:cNvPr>
          <p:cNvSpPr/>
          <p:nvPr/>
        </p:nvSpPr>
        <p:spPr>
          <a:xfrm>
            <a:off x="609600" y="4219054"/>
            <a:ext cx="9906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ALTER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A712C9-8A04-26D5-2E10-B242C36C112B}"/>
              </a:ext>
            </a:extLst>
          </p:cNvPr>
          <p:cNvSpPr/>
          <p:nvPr/>
        </p:nvSpPr>
        <p:spPr>
          <a:xfrm>
            <a:off x="1676400" y="4219054"/>
            <a:ext cx="9144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TABLE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C945729-2A69-C9D0-16EB-71C2A975ECEB}"/>
              </a:ext>
            </a:extLst>
          </p:cNvPr>
          <p:cNvSpPr/>
          <p:nvPr/>
        </p:nvSpPr>
        <p:spPr>
          <a:xfrm>
            <a:off x="2667000" y="4219054"/>
            <a:ext cx="14478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Roboto Condensed(Body)"/>
              </a:rPr>
              <a:t>TableName</a:t>
            </a:r>
            <a:endParaRPr lang="en-US" dirty="0">
              <a:latin typeface="Roboto Condensed(Body)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92745B8-3E29-719D-014C-BD1B8200EE3A}"/>
              </a:ext>
            </a:extLst>
          </p:cNvPr>
          <p:cNvSpPr/>
          <p:nvPr/>
        </p:nvSpPr>
        <p:spPr>
          <a:xfrm>
            <a:off x="895066" y="4774063"/>
            <a:ext cx="705134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ADD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743B63-824C-5F44-92F8-DBF8701E7B16}"/>
              </a:ext>
            </a:extLst>
          </p:cNvPr>
          <p:cNvSpPr/>
          <p:nvPr/>
        </p:nvSpPr>
        <p:spPr>
          <a:xfrm>
            <a:off x="1676400" y="4774063"/>
            <a:ext cx="15240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(Body)"/>
              </a:rPr>
              <a:t>NewColumn1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5F13776-C6A2-0C6D-98FA-CE73D3D744A4}"/>
              </a:ext>
            </a:extLst>
          </p:cNvPr>
          <p:cNvSpPr/>
          <p:nvPr/>
        </p:nvSpPr>
        <p:spPr>
          <a:xfrm>
            <a:off x="3276600" y="4775200"/>
            <a:ext cx="17526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0000FF"/>
                </a:solidFill>
                <a:latin typeface="Roboto Condensed(Body)"/>
              </a:rPr>
              <a:t>Datatype</a:t>
            </a:r>
            <a:r>
              <a:rPr lang="en-US" dirty="0">
                <a:solidFill>
                  <a:srgbClr val="808080"/>
                </a:solidFill>
                <a:latin typeface="Roboto Condensed(Body)"/>
              </a:rPr>
              <a:t>(</a:t>
            </a:r>
            <a:r>
              <a:rPr lang="en-US" dirty="0">
                <a:latin typeface="Roboto Condensed(Body)"/>
              </a:rPr>
              <a:t>Size</a:t>
            </a:r>
            <a:r>
              <a:rPr lang="en-US" dirty="0">
                <a:solidFill>
                  <a:srgbClr val="808080"/>
                </a:solidFill>
                <a:latin typeface="Roboto Condensed(Body)"/>
              </a:rPr>
              <a:t>)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844001E-7966-F516-7A8A-643D54608107}"/>
              </a:ext>
            </a:extLst>
          </p:cNvPr>
          <p:cNvSpPr/>
          <p:nvPr/>
        </p:nvSpPr>
        <p:spPr>
          <a:xfrm>
            <a:off x="1676400" y="5329072"/>
            <a:ext cx="15240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(Body)"/>
              </a:rPr>
              <a:t>NewColumn2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85EA53B-5616-1E2C-CCA3-A7059B508985}"/>
              </a:ext>
            </a:extLst>
          </p:cNvPr>
          <p:cNvSpPr/>
          <p:nvPr/>
        </p:nvSpPr>
        <p:spPr>
          <a:xfrm>
            <a:off x="3276600" y="5330209"/>
            <a:ext cx="17526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0000FF"/>
                </a:solidFill>
                <a:latin typeface="Roboto Condensed(Body)"/>
              </a:rPr>
              <a:t>Datatype</a:t>
            </a:r>
            <a:r>
              <a:rPr lang="en-US" dirty="0">
                <a:solidFill>
                  <a:srgbClr val="808080"/>
                </a:solidFill>
                <a:latin typeface="Roboto Condensed(Body)"/>
              </a:rPr>
              <a:t>(</a:t>
            </a:r>
            <a:r>
              <a:rPr lang="en-US" dirty="0">
                <a:latin typeface="Roboto Condensed(Body)"/>
              </a:rPr>
              <a:t>Size</a:t>
            </a:r>
            <a:r>
              <a:rPr lang="en-US" dirty="0">
                <a:solidFill>
                  <a:srgbClr val="808080"/>
                </a:solidFill>
                <a:latin typeface="Roboto Condensed(Body)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9426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7" grpId="0" animBg="1"/>
      <p:bldP spid="8" grpId="0" animBg="1"/>
      <p:bldP spid="9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Alter(Cont..)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Example to add new column </a:t>
            </a:r>
            <a:r>
              <a:rPr lang="en-US" b="1" dirty="0">
                <a:solidFill>
                  <a:schemeClr val="accent6"/>
                </a:solidFill>
              </a:rPr>
              <a:t>Branch</a:t>
            </a:r>
            <a:r>
              <a:rPr lang="en-US" b="1" dirty="0"/>
              <a:t> varchar(20) and </a:t>
            </a:r>
            <a:r>
              <a:rPr lang="en-US" b="1" dirty="0">
                <a:solidFill>
                  <a:schemeClr val="accent6"/>
                </a:solidFill>
              </a:rPr>
              <a:t>SPI</a:t>
            </a:r>
            <a:r>
              <a:rPr lang="en-US" b="1" dirty="0"/>
              <a:t> Decimal(4,2) in given Student table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1524000"/>
            <a:ext cx="8001000" cy="1905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Roboto Condensed(Body)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9600" y="1676400"/>
            <a:ext cx="9906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ALTER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1676400" y="1676400"/>
            <a:ext cx="9144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TABLE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2667000" y="1676400"/>
            <a:ext cx="14478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(Body)"/>
              </a:rPr>
              <a:t>Student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895066" y="2231409"/>
            <a:ext cx="705134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ADD</a:t>
            </a:r>
          </a:p>
        </p:txBody>
      </p:sp>
      <p:sp>
        <p:nvSpPr>
          <p:cNvPr id="9" name="Rectangle 8"/>
          <p:cNvSpPr/>
          <p:nvPr/>
        </p:nvSpPr>
        <p:spPr>
          <a:xfrm>
            <a:off x="1676400" y="2231409"/>
            <a:ext cx="9144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(Body)"/>
              </a:rPr>
              <a:t>Branch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66999" y="2231409"/>
            <a:ext cx="1524001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Varchar</a:t>
            </a:r>
            <a:r>
              <a:rPr lang="en-US" dirty="0">
                <a:solidFill>
                  <a:srgbClr val="808080"/>
                </a:solidFill>
                <a:latin typeface="Roboto Condensed(Body)"/>
              </a:rPr>
              <a:t>(</a:t>
            </a:r>
            <a:r>
              <a:rPr lang="en-US" dirty="0">
                <a:latin typeface="Roboto Condensed(Body)"/>
              </a:rPr>
              <a:t>20</a:t>
            </a:r>
            <a:r>
              <a:rPr lang="en-US" dirty="0">
                <a:solidFill>
                  <a:srgbClr val="808080"/>
                </a:solidFill>
                <a:latin typeface="Roboto Condensed(Body)"/>
              </a:rPr>
              <a:t>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67200" y="2231409"/>
            <a:ext cx="1905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808080"/>
                </a:solidFill>
                <a:latin typeface="Roboto Condensed(Body)"/>
              </a:rPr>
              <a:t>,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76400" y="2786418"/>
            <a:ext cx="9144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latin typeface="Roboto Condensed(Body)"/>
              </a:rPr>
              <a:t>SPI</a:t>
            </a:r>
            <a:endParaRPr lang="en-US" dirty="0">
              <a:latin typeface="Roboto Condensed(Body)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667000" y="2788693"/>
            <a:ext cx="15240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Decimal</a:t>
            </a:r>
            <a:r>
              <a:rPr lang="en-US" dirty="0">
                <a:solidFill>
                  <a:srgbClr val="808080"/>
                </a:solidFill>
                <a:latin typeface="Roboto Condensed(Body)"/>
              </a:rPr>
              <a:t>(</a:t>
            </a:r>
            <a:r>
              <a:rPr lang="en-US" dirty="0">
                <a:solidFill>
                  <a:schemeClr val="tx1"/>
                </a:solidFill>
                <a:latin typeface="Roboto Condensed(Body)"/>
              </a:rPr>
              <a:t>4</a:t>
            </a:r>
            <a:r>
              <a:rPr lang="en-US" dirty="0">
                <a:solidFill>
                  <a:srgbClr val="808080"/>
                </a:solidFill>
                <a:latin typeface="Roboto Condensed(Body)"/>
              </a:rPr>
              <a:t>,</a:t>
            </a:r>
            <a:r>
              <a:rPr lang="en-US" dirty="0">
                <a:solidFill>
                  <a:schemeClr val="tx1"/>
                </a:solidFill>
                <a:latin typeface="Roboto Condensed(Body)"/>
              </a:rPr>
              <a:t>2</a:t>
            </a:r>
            <a:r>
              <a:rPr lang="en-US" dirty="0">
                <a:solidFill>
                  <a:srgbClr val="808080"/>
                </a:solidFill>
                <a:latin typeface="Roboto Condensed(Body)"/>
              </a:rPr>
              <a:t>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67200" y="2790921"/>
            <a:ext cx="1905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808080"/>
                </a:solidFill>
                <a:latin typeface="Roboto Condensed(Body)"/>
              </a:rPr>
              <a:t>;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1" y="4549230"/>
            <a:ext cx="1350732" cy="1219200"/>
          </a:xfrm>
          <a:prstGeom prst="rect">
            <a:avLst/>
          </a:prstGeom>
        </p:spPr>
      </p:pic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DDFBF272-DD8E-46DE-9018-A87F3923C815}"/>
              </a:ext>
            </a:extLst>
          </p:cNvPr>
          <p:cNvGraphicFramePr>
            <a:graphicFrameLocks noGrp="1"/>
          </p:cNvGraphicFramePr>
          <p:nvPr/>
        </p:nvGraphicFramePr>
        <p:xfrm>
          <a:off x="1828800" y="3852287"/>
          <a:ext cx="1367214" cy="2470016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546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0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8752"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Student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75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</a:rPr>
                        <a:t>RNO</a:t>
                      </a:r>
                    </a:p>
                  </a:txBody>
                  <a:tcPr marL="9525" marR="9525" marT="9525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</a:rPr>
                        <a:t>Name</a:t>
                      </a:r>
                    </a:p>
                  </a:txBody>
                  <a:tcPr marL="9525" marR="9525" marT="9525" marB="0" anchor="b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75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101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Raju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75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102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Amit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875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103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Sanjay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875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104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Neha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875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105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Meera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875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106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Mahesh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8ECC61A7-8AEC-4BD1-94D7-00A30AAD0293}"/>
              </a:ext>
            </a:extLst>
          </p:cNvPr>
          <p:cNvGraphicFramePr>
            <a:graphicFrameLocks noGrp="1"/>
          </p:cNvGraphicFramePr>
          <p:nvPr/>
        </p:nvGraphicFramePr>
        <p:xfrm>
          <a:off x="5334000" y="3863173"/>
          <a:ext cx="2653564" cy="2470016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546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0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14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4882">
                  <a:extLst>
                    <a:ext uri="{9D8B030D-6E8A-4147-A177-3AD203B41FA5}">
                      <a16:colId xmlns:a16="http://schemas.microsoft.com/office/drawing/2014/main" val="2335303372"/>
                    </a:ext>
                  </a:extLst>
                </a:gridCol>
              </a:tblGrid>
              <a:tr h="308752"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Student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Roboto Condensed(Body)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75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</a:rPr>
                        <a:t>RNO</a:t>
                      </a:r>
                    </a:p>
                  </a:txBody>
                  <a:tcPr marL="9525" marR="9525" marT="9525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</a:rPr>
                        <a:t>Name</a:t>
                      </a:r>
                    </a:p>
                  </a:txBody>
                  <a:tcPr marL="9525" marR="9525" marT="9525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</a:rPr>
                        <a:t>Branch</a:t>
                      </a:r>
                    </a:p>
                  </a:txBody>
                  <a:tcPr marL="9525" marR="9525" marT="9525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</a:rPr>
                        <a:t>SPI</a:t>
                      </a:r>
                    </a:p>
                  </a:txBody>
                  <a:tcPr marL="9525" marR="9525" marT="9525" marB="0" anchor="b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75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101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Raju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NULL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NULL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75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102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Amit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NULL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NULL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875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103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Sanjay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NULL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NULL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875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104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Neha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NULL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NULL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875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105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Meera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NULL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NULL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875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106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Mahesh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NULL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NULL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6684135" y="4174150"/>
            <a:ext cx="1316865" cy="213360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Roboto Condensed(Body)"/>
            </a:endParaRPr>
          </a:p>
        </p:txBody>
      </p:sp>
    </p:spTree>
    <p:extLst>
      <p:ext uri="{BB962C8B-B14F-4D97-AF65-F5344CB8AC3E}">
        <p14:creationId xmlns:p14="http://schemas.microsoft.com/office/powerpoint/2010/main" val="588537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27" presetClass="emph" presetSubtype="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" dur="250" autoRev="1" fill="remov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65" dur="250" autoRev="1" fill="remove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6" dur="250" autoRev="1" fill="remove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" dur="250" autoRev="1" fill="remove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8" grpId="0" animBg="1"/>
      <p:bldP spid="18" grpId="1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EC303DF0-52D6-54ED-2670-AEAB45724246}"/>
              </a:ext>
            </a:extLst>
          </p:cNvPr>
          <p:cNvSpPr/>
          <p:nvPr/>
        </p:nvSpPr>
        <p:spPr>
          <a:xfrm>
            <a:off x="6024982" y="1440663"/>
            <a:ext cx="4770715" cy="1371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Roboto Condensed(Body)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Alter(Cont..)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Drop a column in table</a:t>
            </a:r>
          </a:p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01053" y="1287424"/>
            <a:ext cx="1035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Roboto Condensed(Body)"/>
              </a:rPr>
              <a:t>Syntax</a:t>
            </a:r>
          </a:p>
        </p:txBody>
      </p:sp>
      <p:sp>
        <p:nvSpPr>
          <p:cNvPr id="8" name="Rectangle 7"/>
          <p:cNvSpPr/>
          <p:nvPr/>
        </p:nvSpPr>
        <p:spPr>
          <a:xfrm>
            <a:off x="401053" y="1656756"/>
            <a:ext cx="4770715" cy="1371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Roboto Condensed(Body)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09600" y="1784551"/>
            <a:ext cx="9906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ALTER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76400" y="1774715"/>
            <a:ext cx="9144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TABLE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67000" y="1764881"/>
            <a:ext cx="14478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Roboto Condensed(Body)"/>
              </a:rPr>
              <a:t>TableName</a:t>
            </a:r>
            <a:endParaRPr lang="en-US" dirty="0">
              <a:latin typeface="Roboto Condensed(Body)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09600" y="2378890"/>
            <a:ext cx="798777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DROP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86584" y="2369053"/>
            <a:ext cx="11049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COLUMN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67638" y="2369050"/>
            <a:ext cx="16764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Roboto Condensed(Body)"/>
              </a:rPr>
              <a:t>ColumnName</a:t>
            </a:r>
            <a:endParaRPr lang="en-US" dirty="0">
              <a:latin typeface="Roboto Condensed(Body)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493838" y="2359959"/>
            <a:ext cx="1905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808080"/>
                </a:solidFill>
                <a:latin typeface="Roboto Condensed(Body)"/>
              </a:rPr>
              <a:t>;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FD660FF6-AA6E-FCE8-F285-A923672F9336}"/>
              </a:ext>
            </a:extLst>
          </p:cNvPr>
          <p:cNvGraphicFramePr>
            <a:graphicFrameLocks noGrp="1"/>
          </p:cNvGraphicFramePr>
          <p:nvPr/>
        </p:nvGraphicFramePr>
        <p:xfrm>
          <a:off x="806818" y="3623912"/>
          <a:ext cx="2653564" cy="2470016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546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0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14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4882">
                  <a:extLst>
                    <a:ext uri="{9D8B030D-6E8A-4147-A177-3AD203B41FA5}">
                      <a16:colId xmlns:a16="http://schemas.microsoft.com/office/drawing/2014/main" val="2335303372"/>
                    </a:ext>
                  </a:extLst>
                </a:gridCol>
              </a:tblGrid>
              <a:tr h="308752"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Student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Roboto Condensed(Body)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75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</a:rPr>
                        <a:t>RNO</a:t>
                      </a:r>
                    </a:p>
                  </a:txBody>
                  <a:tcPr marL="9525" marR="9525" marT="9525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</a:rPr>
                        <a:t>Name</a:t>
                      </a:r>
                    </a:p>
                  </a:txBody>
                  <a:tcPr marL="9525" marR="9525" marT="9525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</a:rPr>
                        <a:t>Branch</a:t>
                      </a:r>
                    </a:p>
                  </a:txBody>
                  <a:tcPr marL="9525" marR="9525" marT="9525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</a:rPr>
                        <a:t>SPI</a:t>
                      </a:r>
                    </a:p>
                  </a:txBody>
                  <a:tcPr marL="9525" marR="9525" marT="9525" marB="0" anchor="b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75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101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Raju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NULL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NULL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75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102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Amit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NULL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NULL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875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103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Sanjay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NULL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NULL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875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104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Neha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NULL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NULL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875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105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Meera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NULL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NULL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875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106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Mahesh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NULL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NULL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D19083EF-5338-461D-6FFC-8F0A2E4C651C}"/>
              </a:ext>
            </a:extLst>
          </p:cNvPr>
          <p:cNvGraphicFramePr>
            <a:graphicFrameLocks noGrp="1"/>
          </p:cNvGraphicFramePr>
          <p:nvPr/>
        </p:nvGraphicFramePr>
        <p:xfrm>
          <a:off x="5709386" y="3623912"/>
          <a:ext cx="2118682" cy="2470016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546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0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14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752"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Student</a:t>
                      </a: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75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</a:rPr>
                        <a:t>RNO</a:t>
                      </a:r>
                    </a:p>
                  </a:txBody>
                  <a:tcPr marL="9525" marR="9525" marT="9525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</a:rPr>
                        <a:t>Name</a:t>
                      </a:r>
                    </a:p>
                  </a:txBody>
                  <a:tcPr marL="9525" marR="9525" marT="9525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</a:rPr>
                        <a:t>SPI</a:t>
                      </a:r>
                    </a:p>
                  </a:txBody>
                  <a:tcPr marL="9525" marR="9525" marT="9525" marB="0" anchor="b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75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101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Raju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NULL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75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102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Amit 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NULL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875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103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Sanjay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NULL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875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104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Neha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NULL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875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105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Meera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NULL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875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106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Mahesh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(Body)"/>
                        </a:rPr>
                        <a:t>NULL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19" name="Picture 18">
            <a:extLst>
              <a:ext uri="{FF2B5EF4-FFF2-40B4-BE49-F238E27FC236}">
                <a16:creationId xmlns:a16="http://schemas.microsoft.com/office/drawing/2014/main" id="{A6A66F30-6795-F307-9718-7DC75E31E0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9480" y="4436453"/>
            <a:ext cx="1181891" cy="10668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E27C86E0-2799-2122-3444-19F7E748ADD0}"/>
              </a:ext>
            </a:extLst>
          </p:cNvPr>
          <p:cNvSpPr/>
          <p:nvPr/>
        </p:nvSpPr>
        <p:spPr>
          <a:xfrm>
            <a:off x="6376240" y="1641985"/>
            <a:ext cx="9906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ALTER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C47D853-5B94-50A8-F1A2-702DF08C4760}"/>
              </a:ext>
            </a:extLst>
          </p:cNvPr>
          <p:cNvSpPr/>
          <p:nvPr/>
        </p:nvSpPr>
        <p:spPr>
          <a:xfrm>
            <a:off x="7452866" y="1641981"/>
            <a:ext cx="9144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TABLE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1390817-375F-78D3-4FEB-42F6855C555A}"/>
              </a:ext>
            </a:extLst>
          </p:cNvPr>
          <p:cNvSpPr/>
          <p:nvPr/>
        </p:nvSpPr>
        <p:spPr>
          <a:xfrm>
            <a:off x="8497548" y="1617408"/>
            <a:ext cx="14478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(Body)"/>
              </a:rPr>
              <a:t>Student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4248FFE-7F0F-8E55-499E-262D4C869ACC}"/>
              </a:ext>
            </a:extLst>
          </p:cNvPr>
          <p:cNvSpPr/>
          <p:nvPr/>
        </p:nvSpPr>
        <p:spPr>
          <a:xfrm>
            <a:off x="6366733" y="2226489"/>
            <a:ext cx="705134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DROP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B343484-5218-A552-9285-B22E262C0AAC}"/>
              </a:ext>
            </a:extLst>
          </p:cNvPr>
          <p:cNvSpPr/>
          <p:nvPr/>
        </p:nvSpPr>
        <p:spPr>
          <a:xfrm>
            <a:off x="7212660" y="2217279"/>
            <a:ext cx="11049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COLUMN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9C60DEB-0D5A-5DE8-43D2-A1DE0AABC47C}"/>
              </a:ext>
            </a:extLst>
          </p:cNvPr>
          <p:cNvSpPr/>
          <p:nvPr/>
        </p:nvSpPr>
        <p:spPr>
          <a:xfrm>
            <a:off x="8478018" y="2231409"/>
            <a:ext cx="1032254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(Body)"/>
              </a:rPr>
              <a:t>Branch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246AB3-719A-7CFE-3C2E-620463AFA83B}"/>
              </a:ext>
            </a:extLst>
          </p:cNvPr>
          <p:cNvSpPr/>
          <p:nvPr/>
        </p:nvSpPr>
        <p:spPr>
          <a:xfrm>
            <a:off x="9642049" y="2207560"/>
            <a:ext cx="1905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808080"/>
                </a:solidFill>
                <a:latin typeface="Roboto Condensed(Body)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53590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7" grpId="0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8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Alter(Cont..)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Modify column in table</a:t>
            </a:r>
          </a:p>
          <a:p>
            <a:r>
              <a:rPr lang="en-US" dirty="0"/>
              <a:t>To change the data type and size of a column in a table, use the following syntax:</a:t>
            </a:r>
            <a:endParaRPr lang="en-US" b="1" dirty="0"/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082" y="2096294"/>
            <a:ext cx="4267200" cy="1335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5089737" y="3002793"/>
            <a:ext cx="1521670" cy="381000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latin typeface="Roboto Condensed(Body)"/>
              </a:rPr>
              <a:t>VARCHAR(30)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89737" y="3002793"/>
            <a:ext cx="1219200" cy="381000"/>
          </a:xfrm>
          <a:prstGeom prst="rect">
            <a:avLst/>
          </a:prstGeom>
          <a:noFill/>
          <a:ln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latin typeface="Roboto Condensed(Body)"/>
              </a:rPr>
              <a:t>DATETIME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6177" y="3452336"/>
            <a:ext cx="1035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Roboto Condensed(Body)"/>
              </a:rPr>
              <a:t>Syntax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91000"/>
            <a:ext cx="8001000" cy="1371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Roboto Condensed(Body)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09600" y="4343400"/>
            <a:ext cx="9906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ALTER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76400" y="4343400"/>
            <a:ext cx="9144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TABLE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67000" y="4343400"/>
            <a:ext cx="14478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Roboto Condensed(Body)"/>
              </a:rPr>
              <a:t>TableName</a:t>
            </a:r>
            <a:endParaRPr lang="en-US" dirty="0">
              <a:latin typeface="Roboto Condensed(Body)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676400" y="4898409"/>
            <a:ext cx="11049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COLUMN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53946" y="4898409"/>
            <a:ext cx="16764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Roboto Condensed(Body)"/>
              </a:rPr>
              <a:t>ColumnName</a:t>
            </a:r>
            <a:endParaRPr lang="en-US" dirty="0">
              <a:latin typeface="Roboto Condensed(Body)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431792" y="4898409"/>
            <a:ext cx="1905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808080"/>
                </a:solidFill>
                <a:latin typeface="Roboto Condensed(Body)"/>
              </a:rPr>
              <a:t>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" y="4898409"/>
            <a:ext cx="9906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ALTER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02992" y="4898409"/>
            <a:ext cx="17526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0000FF"/>
                </a:solidFill>
                <a:latin typeface="Roboto Condensed(Body)"/>
              </a:rPr>
              <a:t>Datatype</a:t>
            </a:r>
            <a:r>
              <a:rPr lang="en-US" dirty="0">
                <a:solidFill>
                  <a:srgbClr val="808080"/>
                </a:solidFill>
                <a:latin typeface="Roboto Condensed(Body)"/>
              </a:rPr>
              <a:t>(</a:t>
            </a:r>
            <a:r>
              <a:rPr lang="en-US" dirty="0">
                <a:latin typeface="Roboto Condensed(Body)"/>
              </a:rPr>
              <a:t>Size</a:t>
            </a:r>
            <a:r>
              <a:rPr lang="en-US" dirty="0">
                <a:solidFill>
                  <a:srgbClr val="808080"/>
                </a:solidFill>
                <a:latin typeface="Roboto Condensed(Body)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73189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Alter(Cont..)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Example to Modify column in table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44759" y="1417113"/>
            <a:ext cx="8001000" cy="1382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Roboto Condensed(Body)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9600" y="1600200"/>
            <a:ext cx="9906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ALTER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1676400" y="1600200"/>
            <a:ext cx="9144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TABLE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2667000" y="1600200"/>
            <a:ext cx="14478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(Body)"/>
              </a:rPr>
              <a:t>Student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1676400" y="2155209"/>
            <a:ext cx="11049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COLUMN</a:t>
            </a:r>
          </a:p>
        </p:txBody>
      </p:sp>
      <p:sp>
        <p:nvSpPr>
          <p:cNvPr id="9" name="Rectangle 8"/>
          <p:cNvSpPr/>
          <p:nvPr/>
        </p:nvSpPr>
        <p:spPr>
          <a:xfrm>
            <a:off x="2853946" y="2155209"/>
            <a:ext cx="1032254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(Body)"/>
              </a:rPr>
              <a:t>SPI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38169" y="2144405"/>
            <a:ext cx="1905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808080"/>
                </a:solidFill>
                <a:latin typeface="Roboto Condensed(Body)"/>
              </a:rPr>
              <a:t>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2155209"/>
            <a:ext cx="9906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ALTER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57069" y="2144405"/>
            <a:ext cx="1112008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Float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760" y="3849590"/>
            <a:ext cx="1181891" cy="10668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9563963-D2B8-45DF-AD1C-1759C4AFEE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4714" y="3178888"/>
            <a:ext cx="3301108" cy="27717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52BAE34-5693-40AD-8D82-47D93FD855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063" y="3169207"/>
            <a:ext cx="3301200" cy="2879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179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AA31C-6B34-6836-0DE6-0FE269509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519D8-8223-D16F-F46D-5DEA485B0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DELETE, TRUNCATE, DROP and RENAME Commands</a:t>
            </a:r>
          </a:p>
        </p:txBody>
      </p:sp>
    </p:spTree>
    <p:extLst>
      <p:ext uri="{BB962C8B-B14F-4D97-AF65-F5344CB8AC3E}">
        <p14:creationId xmlns:p14="http://schemas.microsoft.com/office/powerpoint/2010/main" val="345275663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Delete data from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DELETE statement is used to </a:t>
            </a:r>
            <a:r>
              <a:rPr lang="en-US" b="1" dirty="0">
                <a:solidFill>
                  <a:schemeClr val="accent6"/>
                </a:solidFill>
              </a:rPr>
              <a:t>delete existing records </a:t>
            </a:r>
            <a:r>
              <a:rPr lang="en-US" dirty="0"/>
              <a:t>in a table.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74710" y="1447800"/>
            <a:ext cx="3187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Roboto Condensed(Body)"/>
              </a:rPr>
              <a:t>Syntax</a:t>
            </a:r>
            <a:r>
              <a:rPr lang="en-US" b="1" dirty="0">
                <a:latin typeface="Roboto Condensed(Body)"/>
              </a:rPr>
              <a:t>: Delete Selected rows </a:t>
            </a:r>
          </a:p>
        </p:txBody>
      </p:sp>
      <p:sp>
        <p:nvSpPr>
          <p:cNvPr id="5" name="Rectangle 4"/>
          <p:cNvSpPr/>
          <p:nvPr/>
        </p:nvSpPr>
        <p:spPr>
          <a:xfrm>
            <a:off x="859254" y="2009593"/>
            <a:ext cx="3863940" cy="19889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Roboto Condensed(Body)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58865" y="2198113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rgbClr val="0000FF"/>
                </a:solidFill>
                <a:latin typeface="Roboto Condensed(Body)"/>
              </a:rPr>
              <a:t>DELETE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2676" y="2761201"/>
            <a:ext cx="966505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FROM</a:t>
            </a:r>
          </a:p>
        </p:txBody>
      </p:sp>
      <p:sp>
        <p:nvSpPr>
          <p:cNvPr id="8" name="Rectangle 7"/>
          <p:cNvSpPr/>
          <p:nvPr/>
        </p:nvSpPr>
        <p:spPr>
          <a:xfrm>
            <a:off x="2160289" y="2760993"/>
            <a:ext cx="1607803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Roboto Condensed(Body)"/>
              </a:rPr>
              <a:t>TableName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533265" y="3319549"/>
            <a:ext cx="252489" cy="44718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(Body)"/>
              </a:rPr>
              <a:t>;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70630" y="3319643"/>
            <a:ext cx="1272431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latin typeface="Roboto Condensed(Body)"/>
              </a:rPr>
              <a:t>Condition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2682" y="3329768"/>
            <a:ext cx="956499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WHERE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74709" y="4125225"/>
            <a:ext cx="4599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Roboto Condensed(Body)"/>
              </a:rPr>
              <a:t>E.g. Delete all students whose SPI is below 5.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0460" y="4534732"/>
            <a:ext cx="3863940" cy="19889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Roboto Condensed(Body)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58866" y="4764199"/>
            <a:ext cx="990316" cy="45558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rgbClr val="0000FF"/>
                </a:solidFill>
                <a:latin typeface="Roboto Condensed(Body)"/>
              </a:rPr>
              <a:t>DELETE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8866" y="5323693"/>
            <a:ext cx="966505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FROM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36480" y="5323485"/>
            <a:ext cx="1261868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 Condensed(Body)"/>
              </a:rPr>
              <a:t>Student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509455" y="5882041"/>
            <a:ext cx="252489" cy="44718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(Body)"/>
              </a:rPr>
              <a:t>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46820" y="5882135"/>
            <a:ext cx="1272431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latin typeface="Roboto Condensed(Body)"/>
              </a:rPr>
              <a:t>SPI&lt;5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68872" y="5892260"/>
            <a:ext cx="956499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WHERE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graphicFrame>
        <p:nvGraphicFramePr>
          <p:cNvPr id="27" name="Content Placeholder 11">
            <a:extLst>
              <a:ext uri="{FF2B5EF4-FFF2-40B4-BE49-F238E27FC236}">
                <a16:creationId xmlns:a16="http://schemas.microsoft.com/office/drawing/2014/main" id="{4354459D-1563-4299-8565-299872A138F8}"/>
              </a:ext>
            </a:extLst>
          </p:cNvPr>
          <p:cNvGraphicFramePr>
            <a:graphicFrameLocks/>
          </p:cNvGraphicFramePr>
          <p:nvPr/>
        </p:nvGraphicFramePr>
        <p:xfrm>
          <a:off x="6857198" y="1590136"/>
          <a:ext cx="2156080" cy="21124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2080">
                  <a:extLst>
                    <a:ext uri="{9D8B030D-6E8A-4147-A177-3AD203B41FA5}">
                      <a16:colId xmlns:a16="http://schemas.microsoft.com/office/drawing/2014/main" val="367360831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43480616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487458896"/>
                    </a:ext>
                  </a:extLst>
                </a:gridCol>
              </a:tblGrid>
              <a:tr h="261884">
                <a:tc gridSpan="3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ysClr val="windowText" lastClr="000000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Student</a:t>
                      </a:r>
                    </a:p>
                  </a:txBody>
                  <a:tcPr marL="72000" marR="9525" marT="9525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Roboto Condensed(Body)"/>
                        </a:rPr>
                        <a:t>Rno</a:t>
                      </a:r>
                      <a:endParaRPr lang="en-US" sz="1600" b="1" i="0" u="none" strike="noStrike" kern="1200" dirty="0">
                        <a:solidFill>
                          <a:schemeClr val="bg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Name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899890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101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Anil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9.28</a:t>
                      </a:r>
                    </a:p>
                  </a:txBody>
                  <a:tcPr marL="72000" marR="9525" marT="9525" marB="0" anchor="ctr"/>
                </a:tc>
                <a:extLst>
                  <a:ext uri="{0D108BD9-81ED-4DB2-BD59-A6C34878D82A}">
                    <a16:rowId xmlns:a16="http://schemas.microsoft.com/office/drawing/2014/main" val="3836710165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102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Mit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3.65</a:t>
                      </a:r>
                    </a:p>
                  </a:txBody>
                  <a:tcPr marL="72000" marR="9525" marT="9525" marB="0" anchor="ctr"/>
                </a:tc>
                <a:extLst>
                  <a:ext uri="{0D108BD9-81ED-4DB2-BD59-A6C34878D82A}">
                    <a16:rowId xmlns:a16="http://schemas.microsoft.com/office/drawing/2014/main" val="3784041172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103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NULL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7.15</a:t>
                      </a:r>
                    </a:p>
                  </a:txBody>
                  <a:tcPr marL="72000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104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Biren</a:t>
                      </a:r>
                      <a:endParaRPr lang="en-US" sz="1600" b="0" i="0" u="none" strike="noStrike" kern="1200" dirty="0">
                        <a:solidFill>
                          <a:schemeClr val="tx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4.08</a:t>
                      </a:r>
                    </a:p>
                  </a:txBody>
                  <a:tcPr marL="72000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8" name="Content Placeholder 11">
            <a:extLst>
              <a:ext uri="{FF2B5EF4-FFF2-40B4-BE49-F238E27FC236}">
                <a16:creationId xmlns:a16="http://schemas.microsoft.com/office/drawing/2014/main" id="{4354459D-1563-4299-8565-299872A138F8}"/>
              </a:ext>
            </a:extLst>
          </p:cNvPr>
          <p:cNvGraphicFramePr>
            <a:graphicFrameLocks/>
          </p:cNvGraphicFramePr>
          <p:nvPr/>
        </p:nvGraphicFramePr>
        <p:xfrm>
          <a:off x="6855930" y="4656622"/>
          <a:ext cx="2156080" cy="13722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2080">
                  <a:extLst>
                    <a:ext uri="{9D8B030D-6E8A-4147-A177-3AD203B41FA5}">
                      <a16:colId xmlns:a16="http://schemas.microsoft.com/office/drawing/2014/main" val="367360831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43480616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487458896"/>
                    </a:ext>
                  </a:extLst>
                </a:gridCol>
              </a:tblGrid>
              <a:tr h="261884">
                <a:tc gridSpan="3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ysClr val="windowText" lastClr="000000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Student</a:t>
                      </a:r>
                    </a:p>
                  </a:txBody>
                  <a:tcPr marL="72000" marR="9525" marT="9525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Roboto Condensed(Body)"/>
                        </a:rPr>
                        <a:t>Rno</a:t>
                      </a:r>
                      <a:endParaRPr lang="en-US" sz="1600" b="1" i="0" u="none" strike="noStrike" kern="1200" dirty="0">
                        <a:solidFill>
                          <a:schemeClr val="bg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Name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899890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101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Anil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9.28</a:t>
                      </a:r>
                    </a:p>
                  </a:txBody>
                  <a:tcPr marL="72000" marR="9525" marT="9525" marB="0" anchor="ctr"/>
                </a:tc>
                <a:extLst>
                  <a:ext uri="{0D108BD9-81ED-4DB2-BD59-A6C34878D82A}">
                    <a16:rowId xmlns:a16="http://schemas.microsoft.com/office/drawing/2014/main" val="3836710165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103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NULL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7.15</a:t>
                      </a:r>
                    </a:p>
                  </a:txBody>
                  <a:tcPr marL="72000" marR="9525" marT="9525" marB="0" anchor="ctr"/>
                </a:tc>
                <a:extLst>
                  <a:ext uri="{0D108BD9-81ED-4DB2-BD59-A6C34878D82A}">
                    <a16:rowId xmlns:a16="http://schemas.microsoft.com/office/drawing/2014/main" val="3784041172"/>
                  </a:ext>
                </a:extLst>
              </a:tr>
            </a:tbl>
          </a:graphicData>
        </a:graphic>
      </p:graphicFrame>
      <p:pic>
        <p:nvPicPr>
          <p:cNvPr id="29" name="Picture 28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5400000">
            <a:off x="7581176" y="3988681"/>
            <a:ext cx="521985" cy="47115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76900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34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36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38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40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42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44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A778C-F165-8504-B641-2996DC6C1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90B04-4204-C752-ED87-C17648CF1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Delete data from Table(Cont..)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ADBEF9-F9DA-7FF6-3CB7-C535CC3FA12D}"/>
              </a:ext>
            </a:extLst>
          </p:cNvPr>
          <p:cNvSpPr txBox="1"/>
          <p:nvPr/>
        </p:nvSpPr>
        <p:spPr>
          <a:xfrm>
            <a:off x="574709" y="1205199"/>
            <a:ext cx="3863939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Roboto Condensed(Body)"/>
              </a:rPr>
              <a:t>Syntax</a:t>
            </a:r>
            <a:r>
              <a:rPr lang="en-US" b="1" dirty="0">
                <a:latin typeface="Roboto Condensed(Body)"/>
              </a:rPr>
              <a:t>: Delete All the rows from a table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4AB820-C44A-B66B-9B23-349C81D66302}"/>
              </a:ext>
            </a:extLst>
          </p:cNvPr>
          <p:cNvSpPr/>
          <p:nvPr/>
        </p:nvSpPr>
        <p:spPr>
          <a:xfrm>
            <a:off x="859254" y="1766993"/>
            <a:ext cx="3863940" cy="15267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Roboto Condensed(Body)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D7E819-AA4E-AB13-7E4A-4A169EAD9702}"/>
              </a:ext>
            </a:extLst>
          </p:cNvPr>
          <p:cNvSpPr/>
          <p:nvPr/>
        </p:nvSpPr>
        <p:spPr>
          <a:xfrm>
            <a:off x="1058865" y="1955512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rgbClr val="0000FF"/>
                </a:solidFill>
                <a:latin typeface="Roboto Condensed(Body)"/>
              </a:rPr>
              <a:t>DELETE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8AB9AC-E52C-9C55-79BC-9861143353FC}"/>
              </a:ext>
            </a:extLst>
          </p:cNvPr>
          <p:cNvSpPr/>
          <p:nvPr/>
        </p:nvSpPr>
        <p:spPr>
          <a:xfrm>
            <a:off x="1082676" y="2518600"/>
            <a:ext cx="966505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FROM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15F05D-8FE7-8C45-DDC2-D73D3C954FA5}"/>
              </a:ext>
            </a:extLst>
          </p:cNvPr>
          <p:cNvSpPr/>
          <p:nvPr/>
        </p:nvSpPr>
        <p:spPr>
          <a:xfrm>
            <a:off x="2160289" y="2518392"/>
            <a:ext cx="1607803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Roboto Condensed(Body)"/>
              </a:rPr>
              <a:t>TableName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FD6F2B-2823-AB42-FD56-B133FE328AB0}"/>
              </a:ext>
            </a:extLst>
          </p:cNvPr>
          <p:cNvSpPr txBox="1"/>
          <p:nvPr/>
        </p:nvSpPr>
        <p:spPr>
          <a:xfrm>
            <a:off x="622509" y="3732378"/>
            <a:ext cx="4599367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Roboto Condensed(Body)"/>
              </a:rPr>
              <a:t>E.g. Delete all students' data from student table.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AF6699-EDFF-E567-5C1E-5C49F955EB4A}"/>
              </a:ext>
            </a:extLst>
          </p:cNvPr>
          <p:cNvSpPr/>
          <p:nvPr/>
        </p:nvSpPr>
        <p:spPr>
          <a:xfrm>
            <a:off x="860460" y="4292131"/>
            <a:ext cx="3863940" cy="19889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Roboto Condensed(Body)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4E152F6-50A7-18E7-7603-55F5ECF49D95}"/>
              </a:ext>
            </a:extLst>
          </p:cNvPr>
          <p:cNvSpPr/>
          <p:nvPr/>
        </p:nvSpPr>
        <p:spPr>
          <a:xfrm>
            <a:off x="1058866" y="4521598"/>
            <a:ext cx="990316" cy="45558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rgbClr val="0000FF"/>
                </a:solidFill>
                <a:latin typeface="Roboto Condensed(Body)"/>
              </a:rPr>
              <a:t>DELETE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AC61750-FA5B-6B6C-4074-7F4F23D93141}"/>
              </a:ext>
            </a:extLst>
          </p:cNvPr>
          <p:cNvSpPr/>
          <p:nvPr/>
        </p:nvSpPr>
        <p:spPr>
          <a:xfrm>
            <a:off x="1058866" y="5081092"/>
            <a:ext cx="966505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FROM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8515EE-65C7-9660-751D-30B57442B3D5}"/>
              </a:ext>
            </a:extLst>
          </p:cNvPr>
          <p:cNvSpPr/>
          <p:nvPr/>
        </p:nvSpPr>
        <p:spPr>
          <a:xfrm>
            <a:off x="2136480" y="5080884"/>
            <a:ext cx="1261868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Roboto Condensed(Body)"/>
              </a:rPr>
              <a:t>Student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5ABC047-338C-91ED-A3C4-71CF0231EB11}"/>
              </a:ext>
            </a:extLst>
          </p:cNvPr>
          <p:cNvSpPr/>
          <p:nvPr/>
        </p:nvSpPr>
        <p:spPr>
          <a:xfrm>
            <a:off x="3509457" y="5100134"/>
            <a:ext cx="252489" cy="44718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(Body)"/>
              </a:rPr>
              <a:t>;</a:t>
            </a:r>
          </a:p>
        </p:txBody>
      </p:sp>
      <p:graphicFrame>
        <p:nvGraphicFramePr>
          <p:cNvPr id="27" name="Content Placeholder 11">
            <a:extLst>
              <a:ext uri="{FF2B5EF4-FFF2-40B4-BE49-F238E27FC236}">
                <a16:creationId xmlns:a16="http://schemas.microsoft.com/office/drawing/2014/main" id="{31CA4DFB-26E8-0143-F609-510295F967D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29087968"/>
              </p:ext>
            </p:extLst>
          </p:nvPr>
        </p:nvGraphicFramePr>
        <p:xfrm>
          <a:off x="6857198" y="1347535"/>
          <a:ext cx="2156080" cy="21124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2080">
                  <a:extLst>
                    <a:ext uri="{9D8B030D-6E8A-4147-A177-3AD203B41FA5}">
                      <a16:colId xmlns:a16="http://schemas.microsoft.com/office/drawing/2014/main" val="367360831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43480616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487458896"/>
                    </a:ext>
                  </a:extLst>
                </a:gridCol>
              </a:tblGrid>
              <a:tr h="261884">
                <a:tc gridSpan="3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ysClr val="windowText" lastClr="000000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Student</a:t>
                      </a:r>
                    </a:p>
                  </a:txBody>
                  <a:tcPr marL="72000" marR="9525" marT="9525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Roboto Condensed(Body)"/>
                        </a:rPr>
                        <a:t>Rno</a:t>
                      </a:r>
                      <a:endParaRPr lang="en-US" sz="1600" b="1" i="0" u="none" strike="noStrike" kern="1200" dirty="0">
                        <a:solidFill>
                          <a:schemeClr val="bg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Name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899890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101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Anil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9.28</a:t>
                      </a:r>
                    </a:p>
                  </a:txBody>
                  <a:tcPr marL="72000" marR="9525" marT="9525" marB="0" anchor="ctr"/>
                </a:tc>
                <a:extLst>
                  <a:ext uri="{0D108BD9-81ED-4DB2-BD59-A6C34878D82A}">
                    <a16:rowId xmlns:a16="http://schemas.microsoft.com/office/drawing/2014/main" val="3836710165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102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Mit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3.65</a:t>
                      </a:r>
                    </a:p>
                  </a:txBody>
                  <a:tcPr marL="72000" marR="9525" marT="9525" marB="0" anchor="ctr"/>
                </a:tc>
                <a:extLst>
                  <a:ext uri="{0D108BD9-81ED-4DB2-BD59-A6C34878D82A}">
                    <a16:rowId xmlns:a16="http://schemas.microsoft.com/office/drawing/2014/main" val="3784041172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103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NULL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7.15</a:t>
                      </a:r>
                    </a:p>
                  </a:txBody>
                  <a:tcPr marL="72000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104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Biren</a:t>
                      </a:r>
                      <a:endParaRPr lang="en-US" sz="1600" b="0" i="0" u="none" strike="noStrike" kern="1200" dirty="0">
                        <a:solidFill>
                          <a:schemeClr val="tx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4.08</a:t>
                      </a:r>
                    </a:p>
                  </a:txBody>
                  <a:tcPr marL="72000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8" name="Content Placeholder 11">
            <a:extLst>
              <a:ext uri="{FF2B5EF4-FFF2-40B4-BE49-F238E27FC236}">
                <a16:creationId xmlns:a16="http://schemas.microsoft.com/office/drawing/2014/main" id="{2281F874-1A00-7198-49FA-28B3B59912C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83838188"/>
              </p:ext>
            </p:extLst>
          </p:nvPr>
        </p:nvGraphicFramePr>
        <p:xfrm>
          <a:off x="6855930" y="4414021"/>
          <a:ext cx="2156080" cy="631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2080">
                  <a:extLst>
                    <a:ext uri="{9D8B030D-6E8A-4147-A177-3AD203B41FA5}">
                      <a16:colId xmlns:a16="http://schemas.microsoft.com/office/drawing/2014/main" val="367360831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43480616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487458896"/>
                    </a:ext>
                  </a:extLst>
                </a:gridCol>
              </a:tblGrid>
              <a:tr h="261884">
                <a:tc gridSpan="3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ysClr val="windowText" lastClr="000000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Student</a:t>
                      </a:r>
                    </a:p>
                  </a:txBody>
                  <a:tcPr marL="72000" marR="9525" marT="9525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Roboto Condensed(Body)"/>
                        </a:rPr>
                        <a:t>Rno</a:t>
                      </a:r>
                      <a:endParaRPr lang="en-US" sz="1600" b="1" i="0" u="none" strike="noStrike" kern="1200" dirty="0">
                        <a:solidFill>
                          <a:schemeClr val="bg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Name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899890"/>
                  </a:ext>
                </a:extLst>
              </a:tr>
            </a:tbl>
          </a:graphicData>
        </a:graphic>
      </p:graphicFrame>
      <p:pic>
        <p:nvPicPr>
          <p:cNvPr id="29" name="Picture 28">
            <a:extLst>
              <a:ext uri="{FF2B5EF4-FFF2-40B4-BE49-F238E27FC236}">
                <a16:creationId xmlns:a16="http://schemas.microsoft.com/office/drawing/2014/main" id="{94675E43-0833-05F3-9002-42BFE568CA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5400000">
            <a:off x="7581176" y="3746080"/>
            <a:ext cx="521985" cy="471155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B3C04A05-4BC0-5E7C-F206-DBABDE92E07C}"/>
              </a:ext>
            </a:extLst>
          </p:cNvPr>
          <p:cNvSpPr/>
          <p:nvPr/>
        </p:nvSpPr>
        <p:spPr>
          <a:xfrm>
            <a:off x="3866909" y="2530391"/>
            <a:ext cx="252489" cy="44718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(Body)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776088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22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24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26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20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Truncate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TRUNCATE TABLE command is used to </a:t>
            </a:r>
            <a:r>
              <a:rPr lang="en-US" b="1" dirty="0">
                <a:solidFill>
                  <a:schemeClr val="accent6"/>
                </a:solidFill>
              </a:rPr>
              <a:t>delete all the rows </a:t>
            </a:r>
            <a:r>
              <a:rPr lang="en-US" dirty="0"/>
              <a:t>from the table and </a:t>
            </a:r>
            <a:r>
              <a:rPr lang="en-US" b="1" dirty="0">
                <a:solidFill>
                  <a:schemeClr val="accent6"/>
                </a:solidFill>
              </a:rPr>
              <a:t>free the space </a:t>
            </a:r>
            <a:r>
              <a:rPr lang="en-US" dirty="0"/>
              <a:t>containing the table.</a:t>
            </a:r>
          </a:p>
          <a:p>
            <a:r>
              <a:rPr lang="en-US" dirty="0"/>
              <a:t>We </a:t>
            </a:r>
            <a:r>
              <a:rPr lang="en-US" b="1" dirty="0">
                <a:solidFill>
                  <a:schemeClr val="accent6"/>
                </a:solidFill>
              </a:rPr>
              <a:t>cannot</a:t>
            </a:r>
            <a:r>
              <a:rPr lang="en-US" b="1" dirty="0"/>
              <a:t> </a:t>
            </a:r>
            <a:r>
              <a:rPr lang="en-US" b="1" dirty="0">
                <a:solidFill>
                  <a:schemeClr val="accent6"/>
                </a:solidFill>
              </a:rPr>
              <a:t>use Where clause </a:t>
            </a:r>
            <a:r>
              <a:rPr lang="en-US" dirty="0"/>
              <a:t>with TRUNCATE.</a:t>
            </a:r>
          </a:p>
          <a:p>
            <a:r>
              <a:rPr lang="en-US" dirty="0"/>
              <a:t>The data will be deleted but the </a:t>
            </a:r>
            <a:r>
              <a:rPr lang="en-US" b="1" dirty="0">
                <a:solidFill>
                  <a:schemeClr val="accent6"/>
                </a:solidFill>
              </a:rPr>
              <a:t>structure</a:t>
            </a:r>
            <a:r>
              <a:rPr lang="en-US" b="1" dirty="0"/>
              <a:t> </a:t>
            </a:r>
            <a:r>
              <a:rPr lang="en-US" b="1" dirty="0">
                <a:solidFill>
                  <a:schemeClr val="accent6"/>
                </a:solidFill>
              </a:rPr>
              <a:t>will remain in the memory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/>
              <a:t>for further operations.</a:t>
            </a:r>
            <a:endParaRPr lang="en-IN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BDCC25-1E44-48A0-8550-F89E768A4A30}"/>
              </a:ext>
            </a:extLst>
          </p:cNvPr>
          <p:cNvSpPr txBox="1"/>
          <p:nvPr/>
        </p:nvSpPr>
        <p:spPr>
          <a:xfrm>
            <a:off x="139610" y="2888348"/>
            <a:ext cx="1104900" cy="3674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Roboto Condensed(Body)"/>
              </a:rPr>
              <a:t>Syntax</a:t>
            </a:r>
          </a:p>
        </p:txBody>
      </p:sp>
      <p:sp>
        <p:nvSpPr>
          <p:cNvPr id="5" name="Rectangle 4"/>
          <p:cNvSpPr/>
          <p:nvPr/>
        </p:nvSpPr>
        <p:spPr>
          <a:xfrm>
            <a:off x="552450" y="3428998"/>
            <a:ext cx="4324350" cy="762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Roboto Condensed(Body)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801B09-33B6-4552-AC8A-BD2AB6E4E5BB}"/>
              </a:ext>
            </a:extLst>
          </p:cNvPr>
          <p:cNvSpPr/>
          <p:nvPr/>
        </p:nvSpPr>
        <p:spPr>
          <a:xfrm>
            <a:off x="749210" y="3581398"/>
            <a:ext cx="123199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TRUNCATE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F2D914-76AB-428A-852F-82A90E56A826}"/>
              </a:ext>
            </a:extLst>
          </p:cNvPr>
          <p:cNvSpPr/>
          <p:nvPr/>
        </p:nvSpPr>
        <p:spPr>
          <a:xfrm>
            <a:off x="2057400" y="3581398"/>
            <a:ext cx="9144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TABLE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AF1ED2-03DE-4EC7-93C5-5616D909D48F}"/>
              </a:ext>
            </a:extLst>
          </p:cNvPr>
          <p:cNvSpPr/>
          <p:nvPr/>
        </p:nvSpPr>
        <p:spPr>
          <a:xfrm>
            <a:off x="3048000" y="3581398"/>
            <a:ext cx="130819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Roboto Condensed(Body)"/>
              </a:rPr>
              <a:t>TableName</a:t>
            </a:r>
            <a:endParaRPr lang="en-US" dirty="0">
              <a:latin typeface="Roboto Condensed(Body)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2A8B97-12D4-4821-A528-6CE5284E964C}"/>
              </a:ext>
            </a:extLst>
          </p:cNvPr>
          <p:cNvSpPr/>
          <p:nvPr/>
        </p:nvSpPr>
        <p:spPr>
          <a:xfrm>
            <a:off x="4435518" y="3589335"/>
            <a:ext cx="1905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808080"/>
                </a:solidFill>
                <a:latin typeface="Roboto Condensed(Body)"/>
              </a:rPr>
              <a:t>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B8BE0A-6928-476F-B3CF-C7249D8F319E}"/>
              </a:ext>
            </a:extLst>
          </p:cNvPr>
          <p:cNvSpPr txBox="1"/>
          <p:nvPr/>
        </p:nvSpPr>
        <p:spPr>
          <a:xfrm>
            <a:off x="190500" y="4256348"/>
            <a:ext cx="723900" cy="3674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Roboto Condensed(Body)"/>
              </a:rPr>
              <a:t>E.g.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2450" y="4784548"/>
            <a:ext cx="4324350" cy="762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Roboto Condensed(Body)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BD2A22-6B90-4A0E-85B0-A2D1C19267D6}"/>
              </a:ext>
            </a:extLst>
          </p:cNvPr>
          <p:cNvSpPr/>
          <p:nvPr/>
        </p:nvSpPr>
        <p:spPr>
          <a:xfrm>
            <a:off x="762000" y="4943749"/>
            <a:ext cx="12192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TRUNCATE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AC338CC-0C7D-4D76-B88F-7DE654B58515}"/>
              </a:ext>
            </a:extLst>
          </p:cNvPr>
          <p:cNvSpPr/>
          <p:nvPr/>
        </p:nvSpPr>
        <p:spPr>
          <a:xfrm>
            <a:off x="2057400" y="4943749"/>
            <a:ext cx="9144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TABLE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68EC2B7-460B-4201-BCAE-1733B3F4CE46}"/>
              </a:ext>
            </a:extLst>
          </p:cNvPr>
          <p:cNvSpPr/>
          <p:nvPr/>
        </p:nvSpPr>
        <p:spPr>
          <a:xfrm>
            <a:off x="3048000" y="4943749"/>
            <a:ext cx="12954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(Body)"/>
              </a:rPr>
              <a:t>Student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0506A5-00DB-4D52-ACD0-CC118EF72AE7}"/>
              </a:ext>
            </a:extLst>
          </p:cNvPr>
          <p:cNvSpPr/>
          <p:nvPr/>
        </p:nvSpPr>
        <p:spPr>
          <a:xfrm>
            <a:off x="4422728" y="4943749"/>
            <a:ext cx="1905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808080"/>
                </a:solidFill>
                <a:latin typeface="Roboto Condensed(Body)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910971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Drop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SQL DROP command is used to </a:t>
            </a:r>
            <a:r>
              <a:rPr lang="en-US" b="1" dirty="0">
                <a:solidFill>
                  <a:schemeClr val="accent6"/>
                </a:solidFill>
              </a:rPr>
              <a:t>remove</a:t>
            </a:r>
            <a:r>
              <a:rPr lang="en-US" dirty="0"/>
              <a:t> an object from the database.</a:t>
            </a:r>
          </a:p>
          <a:p>
            <a:r>
              <a:rPr lang="en-US" dirty="0"/>
              <a:t>The DROP DATABASE statement is used to </a:t>
            </a:r>
            <a:r>
              <a:rPr lang="en-US" b="1" dirty="0">
                <a:solidFill>
                  <a:schemeClr val="accent6"/>
                </a:solidFill>
              </a:rPr>
              <a:t>drop</a:t>
            </a:r>
            <a:r>
              <a:rPr lang="en-US" dirty="0"/>
              <a:t> an existing SQL database.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8993A5-F5D1-4AF6-821B-95CC9BE9E174}"/>
              </a:ext>
            </a:extLst>
          </p:cNvPr>
          <p:cNvSpPr txBox="1"/>
          <p:nvPr/>
        </p:nvSpPr>
        <p:spPr>
          <a:xfrm>
            <a:off x="139610" y="2176925"/>
            <a:ext cx="1104900" cy="3674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Roboto Condensed(Body)"/>
              </a:rPr>
              <a:t>Syntax</a:t>
            </a:r>
          </a:p>
        </p:txBody>
      </p:sp>
      <p:sp>
        <p:nvSpPr>
          <p:cNvPr id="5" name="Rectangle 4"/>
          <p:cNvSpPr/>
          <p:nvPr/>
        </p:nvSpPr>
        <p:spPr>
          <a:xfrm>
            <a:off x="558085" y="2776087"/>
            <a:ext cx="4628922" cy="762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Roboto Condensed(Body)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09CA99-F03B-4CDA-AADC-625ECECE2261}"/>
              </a:ext>
            </a:extLst>
          </p:cNvPr>
          <p:cNvSpPr/>
          <p:nvPr/>
        </p:nvSpPr>
        <p:spPr>
          <a:xfrm>
            <a:off x="749210" y="2928488"/>
            <a:ext cx="9906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DROP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33C74C-332D-4B6C-83A9-149E9CB26460}"/>
              </a:ext>
            </a:extLst>
          </p:cNvPr>
          <p:cNvSpPr/>
          <p:nvPr/>
        </p:nvSpPr>
        <p:spPr>
          <a:xfrm>
            <a:off x="1816010" y="2928488"/>
            <a:ext cx="123199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DATABASE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188BDD-617D-438E-B11B-117D72A7859A}"/>
              </a:ext>
            </a:extLst>
          </p:cNvPr>
          <p:cNvSpPr/>
          <p:nvPr/>
        </p:nvSpPr>
        <p:spPr>
          <a:xfrm>
            <a:off x="3133530" y="2936425"/>
            <a:ext cx="1514669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Roboto Condensed(Body)"/>
              </a:rPr>
              <a:t>DatabseName</a:t>
            </a:r>
            <a:endParaRPr lang="en-US" dirty="0">
              <a:latin typeface="Roboto Condensed(Body)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E2DBA6-C936-48F6-8F1B-5CA8CEB63A24}"/>
              </a:ext>
            </a:extLst>
          </p:cNvPr>
          <p:cNvSpPr/>
          <p:nvPr/>
        </p:nvSpPr>
        <p:spPr>
          <a:xfrm>
            <a:off x="4733729" y="2936425"/>
            <a:ext cx="1905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808080"/>
                </a:solidFill>
                <a:latin typeface="Roboto Condensed(Body)"/>
              </a:rPr>
              <a:t>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33C1DC-FCF7-4245-BE8A-3931825479F7}"/>
              </a:ext>
            </a:extLst>
          </p:cNvPr>
          <p:cNvSpPr txBox="1"/>
          <p:nvPr/>
        </p:nvSpPr>
        <p:spPr>
          <a:xfrm>
            <a:off x="190500" y="3803963"/>
            <a:ext cx="723900" cy="3674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Roboto Condensed(Body)"/>
              </a:rPr>
              <a:t>E.g.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2450" y="4328186"/>
            <a:ext cx="4628922" cy="762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Roboto Condensed(Body)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06CFC0-AEB5-4C87-9F12-9912B3D38E0C}"/>
              </a:ext>
            </a:extLst>
          </p:cNvPr>
          <p:cNvSpPr/>
          <p:nvPr/>
        </p:nvSpPr>
        <p:spPr>
          <a:xfrm>
            <a:off x="746878" y="4507026"/>
            <a:ext cx="9906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DROP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289702-3D04-4578-B5EC-2FC5FBE8369B}"/>
              </a:ext>
            </a:extLst>
          </p:cNvPr>
          <p:cNvSpPr/>
          <p:nvPr/>
        </p:nvSpPr>
        <p:spPr>
          <a:xfrm>
            <a:off x="1828800" y="4500989"/>
            <a:ext cx="12192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DATABASE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32C05A-A128-41B8-A015-FD54DD0A85B7}"/>
              </a:ext>
            </a:extLst>
          </p:cNvPr>
          <p:cNvSpPr/>
          <p:nvPr/>
        </p:nvSpPr>
        <p:spPr>
          <a:xfrm>
            <a:off x="3133530" y="4500989"/>
            <a:ext cx="1060598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Roboto Condensed(Body)"/>
              </a:rPr>
              <a:t>DemoDB</a:t>
            </a:r>
            <a:endParaRPr lang="en-US" dirty="0">
              <a:latin typeface="Roboto Condensed(Body)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D2F6E7-492D-4B2D-B6DC-88F6105BEFF9}"/>
              </a:ext>
            </a:extLst>
          </p:cNvPr>
          <p:cNvSpPr/>
          <p:nvPr/>
        </p:nvSpPr>
        <p:spPr>
          <a:xfrm>
            <a:off x="4279658" y="4500989"/>
            <a:ext cx="1905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808080"/>
                </a:solidFill>
                <a:latin typeface="Roboto Condensed(Body)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511104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9833"/>
            <a:ext cx="12192000" cy="711200"/>
          </a:xfrm>
        </p:spPr>
        <p:txBody>
          <a:bodyPr/>
          <a:lstStyle/>
          <a:p>
            <a:r>
              <a:rPr lang="en-US" dirty="0"/>
              <a:t>Drop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73276"/>
            <a:ext cx="11659767" cy="5595107"/>
          </a:xfrm>
        </p:spPr>
        <p:txBody>
          <a:bodyPr/>
          <a:lstStyle/>
          <a:p>
            <a:r>
              <a:rPr lang="en-US" dirty="0"/>
              <a:t>The DROP TABLE statement is used to </a:t>
            </a:r>
            <a:r>
              <a:rPr lang="en-US" b="1" dirty="0">
                <a:solidFill>
                  <a:schemeClr val="accent6"/>
                </a:solidFill>
              </a:rPr>
              <a:t>drop</a:t>
            </a:r>
            <a:r>
              <a:rPr lang="en-US" dirty="0"/>
              <a:t> an existing table in a database.</a:t>
            </a:r>
          </a:p>
          <a:p>
            <a:r>
              <a:rPr lang="en-US" dirty="0"/>
              <a:t>If you drop a table, </a:t>
            </a:r>
            <a:r>
              <a:rPr lang="en-US" b="1" dirty="0">
                <a:solidFill>
                  <a:schemeClr val="accent6"/>
                </a:solidFill>
              </a:rPr>
              <a:t>all the rows in the table is deleted </a:t>
            </a:r>
            <a:r>
              <a:rPr lang="en-US" dirty="0"/>
              <a:t>and the </a:t>
            </a:r>
            <a:r>
              <a:rPr lang="en-US" b="1" dirty="0">
                <a:solidFill>
                  <a:schemeClr val="accent6"/>
                </a:solidFill>
              </a:rPr>
              <a:t>table structure is removed </a:t>
            </a:r>
            <a:r>
              <a:rPr lang="en-US" dirty="0"/>
              <a:t>from the database.</a:t>
            </a:r>
          </a:p>
          <a:p>
            <a:r>
              <a:rPr lang="en-US" dirty="0"/>
              <a:t>Once a table is dropped, we cannot get it back.</a:t>
            </a:r>
            <a:endParaRPr lang="en-IN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BDCC25-1E44-48A0-8550-F89E768A4A30}"/>
              </a:ext>
            </a:extLst>
          </p:cNvPr>
          <p:cNvSpPr txBox="1"/>
          <p:nvPr/>
        </p:nvSpPr>
        <p:spPr>
          <a:xfrm>
            <a:off x="139610" y="2863395"/>
            <a:ext cx="1104900" cy="3674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Roboto Condensed(Body)"/>
              </a:rPr>
              <a:t>Syntax</a:t>
            </a:r>
          </a:p>
        </p:txBody>
      </p:sp>
      <p:sp>
        <p:nvSpPr>
          <p:cNvPr id="5" name="Rectangle 4"/>
          <p:cNvSpPr/>
          <p:nvPr/>
        </p:nvSpPr>
        <p:spPr>
          <a:xfrm>
            <a:off x="552450" y="3508231"/>
            <a:ext cx="4171950" cy="762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Roboto Condensed(Body)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801B09-33B6-4552-AC8A-BD2AB6E4E5BB}"/>
              </a:ext>
            </a:extLst>
          </p:cNvPr>
          <p:cNvSpPr/>
          <p:nvPr/>
        </p:nvSpPr>
        <p:spPr>
          <a:xfrm>
            <a:off x="749210" y="3652695"/>
            <a:ext cx="9906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DROP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F2D914-76AB-428A-852F-82A90E56A826}"/>
              </a:ext>
            </a:extLst>
          </p:cNvPr>
          <p:cNvSpPr/>
          <p:nvPr/>
        </p:nvSpPr>
        <p:spPr>
          <a:xfrm>
            <a:off x="1816010" y="3652695"/>
            <a:ext cx="9144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TABLE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AF1ED2-03DE-4EC7-93C5-5616D909D48F}"/>
              </a:ext>
            </a:extLst>
          </p:cNvPr>
          <p:cNvSpPr/>
          <p:nvPr/>
        </p:nvSpPr>
        <p:spPr>
          <a:xfrm>
            <a:off x="2806610" y="3652695"/>
            <a:ext cx="130819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Roboto Condensed(Body)"/>
              </a:rPr>
              <a:t>TableName</a:t>
            </a:r>
            <a:endParaRPr lang="en-US" dirty="0">
              <a:latin typeface="Roboto Condensed(Body)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2A8B97-12D4-4821-A528-6CE5284E964C}"/>
              </a:ext>
            </a:extLst>
          </p:cNvPr>
          <p:cNvSpPr/>
          <p:nvPr/>
        </p:nvSpPr>
        <p:spPr>
          <a:xfrm>
            <a:off x="4194128" y="3660632"/>
            <a:ext cx="1905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808080"/>
                </a:solidFill>
                <a:latin typeface="Roboto Condensed(Body)"/>
              </a:rPr>
              <a:t>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B8BE0A-6928-476F-B3CF-C7249D8F319E}"/>
              </a:ext>
            </a:extLst>
          </p:cNvPr>
          <p:cNvSpPr txBox="1"/>
          <p:nvPr/>
        </p:nvSpPr>
        <p:spPr>
          <a:xfrm>
            <a:off x="190500" y="4395020"/>
            <a:ext cx="723900" cy="3674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Roboto Condensed(Body)"/>
              </a:rPr>
              <a:t>E.g.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3485" y="4923403"/>
            <a:ext cx="4171950" cy="762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Roboto Condensed(Body)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BD2A22-6B90-4A0E-85B0-A2D1C19267D6}"/>
              </a:ext>
            </a:extLst>
          </p:cNvPr>
          <p:cNvSpPr/>
          <p:nvPr/>
        </p:nvSpPr>
        <p:spPr>
          <a:xfrm>
            <a:off x="753035" y="5067867"/>
            <a:ext cx="9906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DROP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AC338CC-0C7D-4D76-B88F-7DE654B58515}"/>
              </a:ext>
            </a:extLst>
          </p:cNvPr>
          <p:cNvSpPr/>
          <p:nvPr/>
        </p:nvSpPr>
        <p:spPr>
          <a:xfrm>
            <a:off x="1819835" y="5067867"/>
            <a:ext cx="9144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TABLE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68EC2B7-460B-4201-BCAE-1733B3F4CE46}"/>
              </a:ext>
            </a:extLst>
          </p:cNvPr>
          <p:cNvSpPr/>
          <p:nvPr/>
        </p:nvSpPr>
        <p:spPr>
          <a:xfrm>
            <a:off x="2810435" y="5067867"/>
            <a:ext cx="12954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(Body)"/>
              </a:rPr>
              <a:t>Student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0506A5-00DB-4D52-ACD0-CC118EF72AE7}"/>
              </a:ext>
            </a:extLst>
          </p:cNvPr>
          <p:cNvSpPr/>
          <p:nvPr/>
        </p:nvSpPr>
        <p:spPr>
          <a:xfrm>
            <a:off x="4185163" y="5067867"/>
            <a:ext cx="1905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808080"/>
                </a:solidFill>
                <a:latin typeface="Roboto Condensed(Body)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619687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37A2A-16AF-CB61-D102-23FC5A510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2D682-0FE9-21BC-D693-3EE2143CF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833"/>
            <a:ext cx="12192000" cy="711200"/>
          </a:xfrm>
        </p:spPr>
        <p:txBody>
          <a:bodyPr/>
          <a:lstStyle/>
          <a:p>
            <a:r>
              <a:rPr lang="en-US" dirty="0"/>
              <a:t>Rename Table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1BF1C4F1-4CFD-978D-C23E-0B25B30064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659767" cy="5595107"/>
          </a:xfrm>
        </p:spPr>
        <p:txBody>
          <a:bodyPr/>
          <a:lstStyle/>
          <a:p>
            <a:r>
              <a:rPr lang="en-US" dirty="0"/>
              <a:t>The SP_RENAME procedure is used </a:t>
            </a:r>
            <a:r>
              <a:rPr lang="en-US" b="1" dirty="0">
                <a:solidFill>
                  <a:schemeClr val="accent6"/>
                </a:solidFill>
              </a:rPr>
              <a:t>to change the name of a table</a:t>
            </a:r>
            <a:r>
              <a:rPr lang="en-US" dirty="0"/>
              <a:t>.</a:t>
            </a:r>
            <a:endParaRPr lang="en-IN" dirty="0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4CBC31-4395-6E8D-C783-E61DA80AE9D1}"/>
              </a:ext>
            </a:extLst>
          </p:cNvPr>
          <p:cNvSpPr txBox="1"/>
          <p:nvPr/>
        </p:nvSpPr>
        <p:spPr>
          <a:xfrm>
            <a:off x="139610" y="1447800"/>
            <a:ext cx="1104900" cy="3674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u="sng" dirty="0"/>
              <a:t>Syntax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5A31DD4-7EAA-68EB-821E-A92DA414451B}"/>
              </a:ext>
            </a:extLst>
          </p:cNvPr>
          <p:cNvSpPr/>
          <p:nvPr/>
        </p:nvSpPr>
        <p:spPr>
          <a:xfrm>
            <a:off x="592249" y="1853298"/>
            <a:ext cx="5836634" cy="762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77EFAB-142A-DA17-2D8E-776F7204AAC2}"/>
              </a:ext>
            </a:extLst>
          </p:cNvPr>
          <p:cNvSpPr/>
          <p:nvPr/>
        </p:nvSpPr>
        <p:spPr>
          <a:xfrm>
            <a:off x="756073" y="1987195"/>
            <a:ext cx="138439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800000"/>
                </a:solidFill>
                <a:latin typeface="Consolas" panose="020B0609020204030204" pitchFamily="49" charset="0"/>
              </a:rPr>
              <a:t>SP_RENAME</a:t>
            </a:r>
            <a:endParaRPr lang="en-US" dirty="0">
              <a:solidFill>
                <a:srgbClr val="0000FF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A2CFFE9-CAE8-164F-4757-3C8E4DA2F69B}"/>
              </a:ext>
            </a:extLst>
          </p:cNvPr>
          <p:cNvSpPr/>
          <p:nvPr/>
        </p:nvSpPr>
        <p:spPr>
          <a:xfrm>
            <a:off x="2209800" y="1984664"/>
            <a:ext cx="168919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+mj-lt"/>
              </a:rPr>
              <a:t>OldTablename</a:t>
            </a:r>
            <a:endParaRPr lang="en-US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F61C061-5A20-E8A6-FD31-CCD1CA43AFFE}"/>
              </a:ext>
            </a:extLst>
          </p:cNvPr>
          <p:cNvSpPr/>
          <p:nvPr/>
        </p:nvSpPr>
        <p:spPr>
          <a:xfrm>
            <a:off x="4229100" y="1977864"/>
            <a:ext cx="168919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NewTableName</a:t>
            </a:r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C996DD1-4558-4393-1A01-165B7588DABF}"/>
              </a:ext>
            </a:extLst>
          </p:cNvPr>
          <p:cNvSpPr/>
          <p:nvPr/>
        </p:nvSpPr>
        <p:spPr>
          <a:xfrm>
            <a:off x="5981700" y="1977864"/>
            <a:ext cx="1905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808080"/>
                </a:solidFill>
              </a:rPr>
              <a:t>;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5D5A687-D57A-120F-69BE-FFAFE99BA411}"/>
              </a:ext>
            </a:extLst>
          </p:cNvPr>
          <p:cNvSpPr/>
          <p:nvPr/>
        </p:nvSpPr>
        <p:spPr>
          <a:xfrm>
            <a:off x="3969240" y="1977864"/>
            <a:ext cx="1905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808080"/>
                </a:solidFill>
              </a:rPr>
              <a:t>,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9387365-2FC3-102C-DFF5-62DF6F47E6A2}"/>
              </a:ext>
            </a:extLst>
          </p:cNvPr>
          <p:cNvSpPr txBox="1"/>
          <p:nvPr/>
        </p:nvSpPr>
        <p:spPr>
          <a:xfrm>
            <a:off x="190500" y="2680889"/>
            <a:ext cx="723900" cy="3674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u="sng" dirty="0"/>
              <a:t>E.g.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5310555-E9BE-40A4-3170-02278B027BD0}"/>
              </a:ext>
            </a:extLst>
          </p:cNvPr>
          <p:cNvSpPr/>
          <p:nvPr/>
        </p:nvSpPr>
        <p:spPr>
          <a:xfrm>
            <a:off x="552450" y="3163762"/>
            <a:ext cx="5836634" cy="762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DBD8C2B-2956-7077-55F2-776DC7500C25}"/>
              </a:ext>
            </a:extLst>
          </p:cNvPr>
          <p:cNvSpPr/>
          <p:nvPr/>
        </p:nvSpPr>
        <p:spPr>
          <a:xfrm>
            <a:off x="3929441" y="3289499"/>
            <a:ext cx="1905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808080"/>
                </a:solidFill>
              </a:rPr>
              <a:t>,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D018CB5-0EF8-9793-AB1A-A933BFE778D8}"/>
              </a:ext>
            </a:extLst>
          </p:cNvPr>
          <p:cNvSpPr/>
          <p:nvPr/>
        </p:nvSpPr>
        <p:spPr>
          <a:xfrm>
            <a:off x="709411" y="3298830"/>
            <a:ext cx="138439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800000"/>
                </a:solidFill>
                <a:latin typeface="Consolas" panose="020B0609020204030204" pitchFamily="49" charset="0"/>
              </a:rPr>
              <a:t>SP_RENAME</a:t>
            </a:r>
            <a:endParaRPr lang="en-US" dirty="0">
              <a:solidFill>
                <a:srgbClr val="0000FF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7532556-30B5-3BB5-4A44-E1B918958A54}"/>
              </a:ext>
            </a:extLst>
          </p:cNvPr>
          <p:cNvSpPr/>
          <p:nvPr/>
        </p:nvSpPr>
        <p:spPr>
          <a:xfrm>
            <a:off x="2170001" y="3296299"/>
            <a:ext cx="168919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  <a:latin typeface="+mj-lt"/>
              </a:rPr>
              <a:t>‘Student’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F865F57-7E27-18D4-7AAC-BA7AB777F3DC}"/>
              </a:ext>
            </a:extLst>
          </p:cNvPr>
          <p:cNvSpPr/>
          <p:nvPr/>
        </p:nvSpPr>
        <p:spPr>
          <a:xfrm>
            <a:off x="4189300" y="3289499"/>
            <a:ext cx="1728989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‘</a:t>
            </a:r>
            <a:r>
              <a:rPr lang="en-US" dirty="0" err="1">
                <a:solidFill>
                  <a:srgbClr val="FF0000"/>
                </a:solidFill>
              </a:rPr>
              <a:t>Student_Master</a:t>
            </a:r>
            <a:r>
              <a:rPr lang="en-US" dirty="0">
                <a:solidFill>
                  <a:srgbClr val="FF0000"/>
                </a:solidFill>
              </a:rPr>
              <a:t>’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CFE4C52-48D6-D618-9308-56229613CE5D}"/>
              </a:ext>
            </a:extLst>
          </p:cNvPr>
          <p:cNvSpPr/>
          <p:nvPr/>
        </p:nvSpPr>
        <p:spPr>
          <a:xfrm>
            <a:off x="5988556" y="3289499"/>
            <a:ext cx="1905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808080"/>
                </a:solidFill>
              </a:rPr>
              <a:t>;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AA16B98D-B4DC-FCB7-358F-355A5878A1D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1" t="1187" r="530" b="1259"/>
          <a:stretch/>
        </p:blipFill>
        <p:spPr>
          <a:xfrm>
            <a:off x="5334000" y="4077890"/>
            <a:ext cx="2910625" cy="2176529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5C6DF71-E3EF-ACF2-F504-B1608E4981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175" y="4070587"/>
            <a:ext cx="2946554" cy="223113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299C0F4-CEA8-77DE-AE9D-609EDDEB8D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5859" y="4812916"/>
            <a:ext cx="827011" cy="74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665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F96F9-D82E-D356-3891-7204C7E91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F7CCA-364B-77A3-C09A-C7B11FB52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833"/>
            <a:ext cx="12192000" cy="711200"/>
          </a:xfrm>
        </p:spPr>
        <p:txBody>
          <a:bodyPr/>
          <a:lstStyle/>
          <a:p>
            <a:r>
              <a:rPr lang="en-US" dirty="0"/>
              <a:t>Rename Column Name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F8BFF55-70A1-C444-BCB0-E01206B5C750}"/>
              </a:ext>
            </a:extLst>
          </p:cNvPr>
          <p:cNvSpPr/>
          <p:nvPr/>
        </p:nvSpPr>
        <p:spPr>
          <a:xfrm>
            <a:off x="571700" y="3248524"/>
            <a:ext cx="7732545" cy="762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DCD48FA8-1B1E-A755-B746-DD57533C3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659767" cy="5595107"/>
          </a:xfrm>
        </p:spPr>
        <p:txBody>
          <a:bodyPr/>
          <a:lstStyle/>
          <a:p>
            <a:r>
              <a:rPr lang="en-US" dirty="0">
                <a:latin typeface="+mj-lt"/>
              </a:rPr>
              <a:t>The SP_RENAME procedure is used </a:t>
            </a:r>
            <a:r>
              <a:rPr lang="en-US" b="1" dirty="0">
                <a:solidFill>
                  <a:schemeClr val="accent6"/>
                </a:solidFill>
                <a:latin typeface="+mj-lt"/>
              </a:rPr>
              <a:t>to change the name of a column </a:t>
            </a:r>
            <a:r>
              <a:rPr lang="en-US" dirty="0">
                <a:latin typeface="+mj-lt"/>
              </a:rPr>
              <a:t>in a table.</a:t>
            </a:r>
            <a:endParaRPr lang="en-IN" dirty="0">
              <a:solidFill>
                <a:prstClr val="black"/>
              </a:solidFill>
              <a:latin typeface="+mj-lt"/>
            </a:endParaRPr>
          </a:p>
          <a:p>
            <a:endParaRPr lang="en-US" dirty="0">
              <a:latin typeface="+mj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69EB98-E77C-AAB6-91F2-61A553B28B1D}"/>
              </a:ext>
            </a:extLst>
          </p:cNvPr>
          <p:cNvSpPr txBox="1"/>
          <p:nvPr/>
        </p:nvSpPr>
        <p:spPr>
          <a:xfrm>
            <a:off x="139610" y="1699119"/>
            <a:ext cx="1104900" cy="3674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+mj-lt"/>
              </a:rPr>
              <a:t>Syntax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9F9F0F5-847E-1200-4FA2-A897FD7C2571}"/>
              </a:ext>
            </a:extLst>
          </p:cNvPr>
          <p:cNvSpPr/>
          <p:nvPr/>
        </p:nvSpPr>
        <p:spPr>
          <a:xfrm>
            <a:off x="552451" y="2101097"/>
            <a:ext cx="9563702" cy="762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13FA0B0-45B3-4574-94F4-3EF4E4AEB929}"/>
              </a:ext>
            </a:extLst>
          </p:cNvPr>
          <p:cNvSpPr/>
          <p:nvPr/>
        </p:nvSpPr>
        <p:spPr>
          <a:xfrm>
            <a:off x="756073" y="2270506"/>
            <a:ext cx="138439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800000"/>
                </a:solidFill>
                <a:latin typeface="+mj-lt"/>
              </a:rPr>
              <a:t>SP_RENAME</a:t>
            </a:r>
            <a:endParaRPr lang="en-US" dirty="0">
              <a:solidFill>
                <a:srgbClr val="0000FF"/>
              </a:solidFill>
              <a:latin typeface="+mj-lt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7C3E77A-5676-5C65-3994-1A792916C119}"/>
              </a:ext>
            </a:extLst>
          </p:cNvPr>
          <p:cNvSpPr/>
          <p:nvPr/>
        </p:nvSpPr>
        <p:spPr>
          <a:xfrm>
            <a:off x="2209800" y="2267975"/>
            <a:ext cx="31242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+mj-lt"/>
              </a:rPr>
              <a:t>OldTablename.ColumnName</a:t>
            </a:r>
            <a:endParaRPr lang="en-US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D4FF217-E51F-261F-E0A0-9022A2A5F038}"/>
              </a:ext>
            </a:extLst>
          </p:cNvPr>
          <p:cNvSpPr/>
          <p:nvPr/>
        </p:nvSpPr>
        <p:spPr>
          <a:xfrm>
            <a:off x="5663197" y="2267975"/>
            <a:ext cx="19431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+mj-lt"/>
              </a:rPr>
              <a:t>NewColumnName</a:t>
            </a:r>
            <a:endParaRPr lang="en-US" dirty="0">
              <a:latin typeface="+mj-lt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4BCDF18-F677-8743-2B13-CFB43D5CB954}"/>
              </a:ext>
            </a:extLst>
          </p:cNvPr>
          <p:cNvSpPr/>
          <p:nvPr/>
        </p:nvSpPr>
        <p:spPr>
          <a:xfrm>
            <a:off x="9658477" y="2248725"/>
            <a:ext cx="1905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808080"/>
                </a:solidFill>
                <a:latin typeface="+mj-lt"/>
              </a:rPr>
              <a:t>;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C1529FD-F719-2F56-FA4F-FC75AAAD9E13}"/>
              </a:ext>
            </a:extLst>
          </p:cNvPr>
          <p:cNvSpPr/>
          <p:nvPr/>
        </p:nvSpPr>
        <p:spPr>
          <a:xfrm>
            <a:off x="5403337" y="2267975"/>
            <a:ext cx="1905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808080"/>
                </a:solidFill>
                <a:latin typeface="+mj-lt"/>
              </a:rPr>
              <a:t>,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E5A35B9-072D-0980-9C66-FF4171039E99}"/>
              </a:ext>
            </a:extLst>
          </p:cNvPr>
          <p:cNvSpPr txBox="1"/>
          <p:nvPr/>
        </p:nvSpPr>
        <p:spPr>
          <a:xfrm>
            <a:off x="190500" y="2888000"/>
            <a:ext cx="723900" cy="3674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+mj-lt"/>
              </a:rPr>
              <a:t>E.g.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328BEAE-1386-C9FB-7A9A-A2AF5D77E23D}"/>
              </a:ext>
            </a:extLst>
          </p:cNvPr>
          <p:cNvSpPr/>
          <p:nvPr/>
        </p:nvSpPr>
        <p:spPr>
          <a:xfrm>
            <a:off x="749210" y="3337306"/>
            <a:ext cx="138439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800000"/>
                </a:solidFill>
                <a:latin typeface="+mj-lt"/>
              </a:rPr>
              <a:t>SP_RENAME</a:t>
            </a:r>
            <a:endParaRPr lang="en-US" dirty="0">
              <a:solidFill>
                <a:srgbClr val="0000FF"/>
              </a:solidFill>
              <a:latin typeface="+mj-lt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7A21348-7C24-D961-76E4-7D4D18CB2770}"/>
              </a:ext>
            </a:extLst>
          </p:cNvPr>
          <p:cNvSpPr/>
          <p:nvPr/>
        </p:nvSpPr>
        <p:spPr>
          <a:xfrm>
            <a:off x="2209800" y="3334775"/>
            <a:ext cx="19812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FF0000"/>
                </a:solidFill>
                <a:latin typeface="+mj-lt"/>
              </a:rPr>
              <a:t>'</a:t>
            </a:r>
            <a:r>
              <a:rPr lang="en-US" dirty="0" err="1">
                <a:solidFill>
                  <a:srgbClr val="FF0000"/>
                </a:solidFill>
                <a:latin typeface="+mj-lt"/>
              </a:rPr>
              <a:t>Student.Name</a:t>
            </a:r>
            <a:r>
              <a:rPr lang="en-IN" dirty="0">
                <a:solidFill>
                  <a:srgbClr val="FF0000"/>
                </a:solidFill>
                <a:latin typeface="+mj-lt"/>
              </a:rPr>
              <a:t>'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2DFB7AD-B17C-1FC0-0B6A-17CBE423A5C6}"/>
              </a:ext>
            </a:extLst>
          </p:cNvPr>
          <p:cNvSpPr/>
          <p:nvPr/>
        </p:nvSpPr>
        <p:spPr>
          <a:xfrm>
            <a:off x="4534700" y="3334775"/>
            <a:ext cx="1466684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+mj-lt"/>
              </a:rPr>
              <a:t>‘</a:t>
            </a:r>
            <a:r>
              <a:rPr lang="en-US" dirty="0" err="1">
                <a:solidFill>
                  <a:srgbClr val="FF0000"/>
                </a:solidFill>
                <a:latin typeface="+mj-lt"/>
              </a:rPr>
              <a:t>First_Name</a:t>
            </a:r>
            <a:r>
              <a:rPr lang="en-US" dirty="0">
                <a:latin typeface="+mj-lt"/>
              </a:rPr>
              <a:t>’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F534328-E8C3-10E8-1A1F-0DCC3780519A}"/>
              </a:ext>
            </a:extLst>
          </p:cNvPr>
          <p:cNvSpPr/>
          <p:nvPr/>
        </p:nvSpPr>
        <p:spPr>
          <a:xfrm>
            <a:off x="7821120" y="3334775"/>
            <a:ext cx="1905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808080"/>
                </a:solidFill>
                <a:latin typeface="+mj-lt"/>
              </a:rPr>
              <a:t>;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3171120-3AEF-B037-B64D-0E58C98EE0ED}"/>
              </a:ext>
            </a:extLst>
          </p:cNvPr>
          <p:cNvSpPr/>
          <p:nvPr/>
        </p:nvSpPr>
        <p:spPr>
          <a:xfrm>
            <a:off x="4267200" y="3334775"/>
            <a:ext cx="1905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808080"/>
                </a:solidFill>
                <a:latin typeface="+mj-lt"/>
              </a:rPr>
              <a:t>,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A4C72AB8-74EC-D18D-621D-3ABCE055CB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966" t="59598" r="-1"/>
          <a:stretch/>
        </p:blipFill>
        <p:spPr>
          <a:xfrm>
            <a:off x="990600" y="4518940"/>
            <a:ext cx="2576682" cy="111986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74B32181-533B-72EE-D4A3-5E77804912C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809" t="59598"/>
          <a:stretch/>
        </p:blipFill>
        <p:spPr>
          <a:xfrm>
            <a:off x="5486400" y="4518940"/>
            <a:ext cx="2558805" cy="111986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D495CFD9-AF86-8564-662A-9B9E93A694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3554" y="4682032"/>
            <a:ext cx="827011" cy="746478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BDBCC0EB-44BC-0A8C-20E6-B9E1642DEFB8}"/>
              </a:ext>
            </a:extLst>
          </p:cNvPr>
          <p:cNvSpPr/>
          <p:nvPr/>
        </p:nvSpPr>
        <p:spPr>
          <a:xfrm>
            <a:off x="8026463" y="2241929"/>
            <a:ext cx="1454421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+mj-lt"/>
              </a:rPr>
              <a:t>‘Column’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CB54969-35CB-71EE-5842-F337F68920B3}"/>
              </a:ext>
            </a:extLst>
          </p:cNvPr>
          <p:cNvSpPr/>
          <p:nvPr/>
        </p:nvSpPr>
        <p:spPr>
          <a:xfrm>
            <a:off x="7708853" y="2241929"/>
            <a:ext cx="1905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808080"/>
                </a:solidFill>
                <a:latin typeface="+mj-lt"/>
              </a:rPr>
              <a:t>,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8917017-1C50-B452-42F0-92015606C6DF}"/>
              </a:ext>
            </a:extLst>
          </p:cNvPr>
          <p:cNvSpPr/>
          <p:nvPr/>
        </p:nvSpPr>
        <p:spPr>
          <a:xfrm>
            <a:off x="6082850" y="3334775"/>
            <a:ext cx="1905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808080"/>
                </a:solidFill>
                <a:latin typeface="+mj-lt"/>
              </a:rPr>
              <a:t>,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822E111-4574-6B8D-6152-53BEFEAD37F8}"/>
              </a:ext>
            </a:extLst>
          </p:cNvPr>
          <p:cNvSpPr/>
          <p:nvPr/>
        </p:nvSpPr>
        <p:spPr>
          <a:xfrm>
            <a:off x="6294009" y="3344570"/>
            <a:ext cx="1454421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+mj-lt"/>
              </a:rPr>
              <a:t>‘Column’</a:t>
            </a:r>
          </a:p>
        </p:txBody>
      </p:sp>
    </p:spTree>
    <p:extLst>
      <p:ext uri="{BB962C8B-B14F-4D97-AF65-F5344CB8AC3E}">
        <p14:creationId xmlns:p14="http://schemas.microsoft.com/office/powerpoint/2010/main" val="1151752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6" grpId="0" animBg="1"/>
      <p:bldP spid="37" grpId="0" animBg="1"/>
      <p:bldP spid="38" grpId="0" animBg="1"/>
      <p:bldP spid="39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Operators </a:t>
            </a:r>
            <a:br>
              <a:rPr lang="en-US" dirty="0"/>
            </a:br>
            <a:r>
              <a:rPr lang="en-US" dirty="0"/>
              <a:t>(AND,OR,NOT,BETWEEN,IN, LIKE)</a:t>
            </a:r>
          </a:p>
        </p:txBody>
      </p:sp>
    </p:spTree>
    <p:extLst>
      <p:ext uri="{BB962C8B-B14F-4D97-AF65-F5344CB8AC3E}">
        <p14:creationId xmlns:p14="http://schemas.microsoft.com/office/powerpoint/2010/main" val="411637459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AND, OR and NOT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>
                <a:solidFill>
                  <a:schemeClr val="accent6"/>
                </a:solidFill>
              </a:rPr>
              <a:t>WHERE clause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/>
              <a:t>can be combined with </a:t>
            </a:r>
            <a:r>
              <a:rPr lang="en-US" b="1" dirty="0">
                <a:solidFill>
                  <a:schemeClr val="accent6"/>
                </a:solidFill>
              </a:rPr>
              <a:t>AND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>
                <a:solidFill>
                  <a:schemeClr val="accent6"/>
                </a:solidFill>
              </a:rPr>
              <a:t>OR</a:t>
            </a:r>
            <a:r>
              <a:rPr lang="en-US" dirty="0"/>
              <a:t>, and </a:t>
            </a:r>
            <a:r>
              <a:rPr lang="en-US" b="1" dirty="0">
                <a:solidFill>
                  <a:schemeClr val="accent6"/>
                </a:solidFill>
              </a:rPr>
              <a:t>NOT</a:t>
            </a:r>
            <a:r>
              <a:rPr lang="en-US" dirty="0"/>
              <a:t> operators.</a:t>
            </a:r>
          </a:p>
          <a:p>
            <a:r>
              <a:rPr lang="en-US" dirty="0"/>
              <a:t>The AND &amp; OR operators are used to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b="1" dirty="0">
                <a:solidFill>
                  <a:schemeClr val="accent6"/>
                </a:solidFill>
              </a:rPr>
              <a:t>filter records </a:t>
            </a:r>
            <a:r>
              <a:rPr lang="en-US" dirty="0"/>
              <a:t>based on </a:t>
            </a:r>
            <a:r>
              <a:rPr lang="en-US" b="1" dirty="0">
                <a:solidFill>
                  <a:schemeClr val="accent6"/>
                </a:solidFill>
              </a:rPr>
              <a:t>more than one condition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 AND operator displays a record if </a:t>
            </a:r>
            <a:r>
              <a:rPr lang="en-US" dirty="0">
                <a:solidFill>
                  <a:schemeClr val="accent6"/>
                </a:solidFill>
              </a:rPr>
              <a:t>all the conditions </a:t>
            </a:r>
            <a:r>
              <a:rPr lang="en-US" dirty="0"/>
              <a:t>separated by AND are </a:t>
            </a:r>
            <a:r>
              <a:rPr lang="en-US" dirty="0">
                <a:solidFill>
                  <a:schemeClr val="accent6"/>
                </a:solidFill>
              </a:rPr>
              <a:t>TRUE</a:t>
            </a:r>
            <a:r>
              <a:rPr lang="en-US" dirty="0"/>
              <a:t>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 OR operator displays a record if </a:t>
            </a:r>
            <a:r>
              <a:rPr lang="en-US" dirty="0">
                <a:solidFill>
                  <a:schemeClr val="accent6"/>
                </a:solidFill>
              </a:rPr>
              <a:t>any of the conditions </a:t>
            </a:r>
            <a:r>
              <a:rPr lang="en-US" dirty="0"/>
              <a:t>separated by OR is </a:t>
            </a:r>
            <a:r>
              <a:rPr lang="en-US" dirty="0">
                <a:solidFill>
                  <a:schemeClr val="accent6"/>
                </a:solidFill>
              </a:rPr>
              <a:t>TRUE</a:t>
            </a:r>
            <a:r>
              <a:rPr lang="en-US" dirty="0"/>
              <a:t>.</a:t>
            </a:r>
          </a:p>
          <a:p>
            <a:r>
              <a:rPr lang="en-US" dirty="0"/>
              <a:t>The NOT operator </a:t>
            </a:r>
            <a:r>
              <a:rPr lang="en-US" b="1" dirty="0">
                <a:solidFill>
                  <a:schemeClr val="accent6"/>
                </a:solidFill>
              </a:rPr>
              <a:t>displays a record </a:t>
            </a:r>
            <a:r>
              <a:rPr lang="en-US" dirty="0"/>
              <a:t>if the condition(s) is </a:t>
            </a:r>
            <a:r>
              <a:rPr lang="en-US" b="1" dirty="0">
                <a:solidFill>
                  <a:schemeClr val="accent6"/>
                </a:solidFill>
              </a:rPr>
              <a:t>not TRUE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3282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 Operator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9952" y="968125"/>
            <a:ext cx="3576248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Roboto Condensed(Body)"/>
              </a:rPr>
              <a:t>Syntax:-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1" y="1523999"/>
            <a:ext cx="4952999" cy="19434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Roboto Condensed(Body)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14283" y="1714127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00FF"/>
                </a:solidFill>
                <a:latin typeface="Roboto Condensed(Body)"/>
              </a:rPr>
              <a:t>SELECT</a:t>
            </a:r>
            <a:endParaRPr lang="en-US" dirty="0">
              <a:solidFill>
                <a:srgbClr val="0000FF"/>
              </a:solidFill>
              <a:latin typeface="Roboto Condensed(Body)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007765" y="2267101"/>
            <a:ext cx="1272431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ln w="0"/>
                <a:solidFill>
                  <a:schemeClr val="tx1"/>
                </a:solidFill>
                <a:latin typeface="Roboto Condensed(Body)"/>
              </a:rPr>
              <a:t>TableName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14283" y="2267101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FROM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35251" y="2809950"/>
            <a:ext cx="127348" cy="44718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(Body)"/>
              </a:rPr>
              <a:t>;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07764" y="1714857"/>
            <a:ext cx="468333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(Body)"/>
              </a:rPr>
              <a:t>*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92231" y="2809950"/>
            <a:ext cx="1272431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latin typeface="Roboto Condensed(Body)"/>
              </a:rPr>
              <a:t>Condition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283" y="2820075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WHERE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5BC387-2524-4782-A0A1-BE98EF7D6282}"/>
              </a:ext>
            </a:extLst>
          </p:cNvPr>
          <p:cNvSpPr/>
          <p:nvPr/>
        </p:nvSpPr>
        <p:spPr>
          <a:xfrm>
            <a:off x="4073615" y="2809950"/>
            <a:ext cx="1272431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latin typeface="Roboto Condensed(Body)"/>
              </a:rPr>
              <a:t>Condition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289853-4298-4AA9-B066-D50662D1296B}"/>
              </a:ext>
            </a:extLst>
          </p:cNvPr>
          <p:cNvSpPr/>
          <p:nvPr/>
        </p:nvSpPr>
        <p:spPr>
          <a:xfrm>
            <a:off x="3352294" y="2809950"/>
            <a:ext cx="633689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Roboto Condensed(Body)"/>
              </a:rPr>
              <a:t>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951" y="3747400"/>
            <a:ext cx="5607157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Roboto Condensed(Body)"/>
              </a:rPr>
              <a:t>E.g. Display all the students whose </a:t>
            </a:r>
            <a:r>
              <a:rPr lang="en-US" b="1" u="sng" dirty="0" err="1">
                <a:latin typeface="Roboto Condensed(Body)"/>
              </a:rPr>
              <a:t>spi</a:t>
            </a:r>
            <a:r>
              <a:rPr lang="en-US" b="1" u="sng" dirty="0">
                <a:latin typeface="Roboto Condensed(Body)"/>
              </a:rPr>
              <a:t> is more than 6 and less than 9.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2000" y="4419699"/>
            <a:ext cx="4953000" cy="19434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Roboto Condensed(Body)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14282" y="4609827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00FF"/>
                </a:solidFill>
                <a:latin typeface="Roboto Condensed(Body)"/>
              </a:rPr>
              <a:t>SELECT</a:t>
            </a:r>
            <a:endParaRPr lang="en-US" dirty="0">
              <a:solidFill>
                <a:srgbClr val="0000FF"/>
              </a:solidFill>
              <a:latin typeface="Roboto Condensed(Body)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007764" y="5162801"/>
            <a:ext cx="1272431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latin typeface="Roboto Condensed(Body)"/>
              </a:rPr>
              <a:t>Student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282" y="5162801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FROM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992230" y="4616803"/>
            <a:ext cx="468333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(Body)"/>
              </a:rPr>
              <a:t>*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92230" y="5705650"/>
            <a:ext cx="990317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latin typeface="Roboto Condensed(Body)"/>
              </a:rPr>
              <a:t>SPI&gt;6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282" y="5715775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WHERE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324AE8C-D65F-4998-8312-0A73B141B763}"/>
              </a:ext>
            </a:extLst>
          </p:cNvPr>
          <p:cNvSpPr/>
          <p:nvPr/>
        </p:nvSpPr>
        <p:spPr>
          <a:xfrm>
            <a:off x="4763036" y="5715661"/>
            <a:ext cx="127348" cy="44718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(Body)"/>
              </a:rPr>
              <a:t>;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23D4D30-DAB5-4E31-A897-DBFCF92D1294}"/>
              </a:ext>
            </a:extLst>
          </p:cNvPr>
          <p:cNvSpPr/>
          <p:nvPr/>
        </p:nvSpPr>
        <p:spPr>
          <a:xfrm>
            <a:off x="3791500" y="5705650"/>
            <a:ext cx="879779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latin typeface="Roboto Condensed(Body)"/>
              </a:rPr>
              <a:t>SPI&lt;9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71C439E-41E8-4909-ABFC-6D33AAE390A1}"/>
              </a:ext>
            </a:extLst>
          </p:cNvPr>
          <p:cNvSpPr/>
          <p:nvPr/>
        </p:nvSpPr>
        <p:spPr>
          <a:xfrm>
            <a:off x="3070179" y="5705650"/>
            <a:ext cx="633689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Roboto Condensed(Body)"/>
              </a:rPr>
              <a:t>AND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2508" y="4645545"/>
            <a:ext cx="1073934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Roboto Condensed(Body)"/>
              </a:rPr>
              <a:t>Output :</a:t>
            </a:r>
          </a:p>
        </p:txBody>
      </p:sp>
      <p:graphicFrame>
        <p:nvGraphicFramePr>
          <p:cNvPr id="27" name="Content Placeholder 11">
            <a:extLst>
              <a:ext uri="{FF2B5EF4-FFF2-40B4-BE49-F238E27FC236}">
                <a16:creationId xmlns:a16="http://schemas.microsoft.com/office/drawing/2014/main" id="{5810CD15-53DC-428B-8929-7102326B7114}"/>
              </a:ext>
            </a:extLst>
          </p:cNvPr>
          <p:cNvGraphicFramePr>
            <a:graphicFrameLocks/>
          </p:cNvGraphicFramePr>
          <p:nvPr/>
        </p:nvGraphicFramePr>
        <p:xfrm>
          <a:off x="6518464" y="1594946"/>
          <a:ext cx="2619111" cy="24838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911">
                  <a:extLst>
                    <a:ext uri="{9D8B030D-6E8A-4147-A177-3AD203B41FA5}">
                      <a16:colId xmlns:a16="http://schemas.microsoft.com/office/drawing/2014/main" val="3673608313"/>
                    </a:ext>
                  </a:extLst>
                </a:gridCol>
                <a:gridCol w="685581">
                  <a:extLst>
                    <a:ext uri="{9D8B030D-6E8A-4147-A177-3AD203B41FA5}">
                      <a16:colId xmlns:a16="http://schemas.microsoft.com/office/drawing/2014/main" val="1434806160"/>
                    </a:ext>
                  </a:extLst>
                </a:gridCol>
                <a:gridCol w="628449">
                  <a:extLst>
                    <a:ext uri="{9D8B030D-6E8A-4147-A177-3AD203B41FA5}">
                      <a16:colId xmlns:a16="http://schemas.microsoft.com/office/drawing/2014/main" val="3487458896"/>
                    </a:ext>
                  </a:extLst>
                </a:gridCol>
                <a:gridCol w="736170">
                  <a:extLst>
                    <a:ext uri="{9D8B030D-6E8A-4147-A177-3AD203B41FA5}">
                      <a16:colId xmlns:a16="http://schemas.microsoft.com/office/drawing/2014/main" val="3469217163"/>
                    </a:ext>
                  </a:extLst>
                </a:gridCol>
              </a:tblGrid>
              <a:tr h="263143">
                <a:tc gridSpan="3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Student</a:t>
                      </a:r>
                    </a:p>
                  </a:txBody>
                  <a:tcPr marL="72000" marR="9525" marT="952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chemeClr val="tx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0476952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Roboto Condensed(Body)"/>
                        </a:rPr>
                        <a:t>Rno</a:t>
                      </a:r>
                      <a:endParaRPr lang="en-US" sz="1600" b="1" i="0" u="none" strike="noStrike" kern="1200" dirty="0">
                        <a:solidFill>
                          <a:schemeClr val="bg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Name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Branch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899890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101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Raju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CE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836710165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102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Sanjay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CE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84041172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103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Neha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104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Meera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EC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73964503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105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Mahesh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EE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05132244"/>
                  </a:ext>
                </a:extLst>
              </a:tr>
            </a:tbl>
          </a:graphicData>
        </a:graphic>
      </p:graphicFrame>
      <p:pic>
        <p:nvPicPr>
          <p:cNvPr id="28" name="Picture 27">
            <a:extLst>
              <a:ext uri="{FF2B5EF4-FFF2-40B4-BE49-F238E27FC236}">
                <a16:creationId xmlns:a16="http://schemas.microsoft.com/office/drawing/2014/main" id="{021579C8-E6FC-4F70-B36D-727A0B47FC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5400000" flipV="1">
            <a:off x="7562915" y="4287702"/>
            <a:ext cx="422103" cy="381000"/>
          </a:xfrm>
          <a:prstGeom prst="rect">
            <a:avLst/>
          </a:prstGeom>
        </p:spPr>
      </p:pic>
      <p:graphicFrame>
        <p:nvGraphicFramePr>
          <p:cNvPr id="29" name="Content Placeholder 11">
            <a:extLst>
              <a:ext uri="{FF2B5EF4-FFF2-40B4-BE49-F238E27FC236}">
                <a16:creationId xmlns:a16="http://schemas.microsoft.com/office/drawing/2014/main" id="{695CD70E-68E7-4066-B79F-AAD0219E915F}"/>
              </a:ext>
            </a:extLst>
          </p:cNvPr>
          <p:cNvGraphicFramePr>
            <a:graphicFrameLocks/>
          </p:cNvGraphicFramePr>
          <p:nvPr/>
        </p:nvGraphicFramePr>
        <p:xfrm>
          <a:off x="6464411" y="5074465"/>
          <a:ext cx="2619111" cy="10033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911">
                  <a:extLst>
                    <a:ext uri="{9D8B030D-6E8A-4147-A177-3AD203B41FA5}">
                      <a16:colId xmlns:a16="http://schemas.microsoft.com/office/drawing/2014/main" val="3673608313"/>
                    </a:ext>
                  </a:extLst>
                </a:gridCol>
                <a:gridCol w="685581">
                  <a:extLst>
                    <a:ext uri="{9D8B030D-6E8A-4147-A177-3AD203B41FA5}">
                      <a16:colId xmlns:a16="http://schemas.microsoft.com/office/drawing/2014/main" val="1434806160"/>
                    </a:ext>
                  </a:extLst>
                </a:gridCol>
                <a:gridCol w="628449">
                  <a:extLst>
                    <a:ext uri="{9D8B030D-6E8A-4147-A177-3AD203B41FA5}">
                      <a16:colId xmlns:a16="http://schemas.microsoft.com/office/drawing/2014/main" val="3487458896"/>
                    </a:ext>
                  </a:extLst>
                </a:gridCol>
                <a:gridCol w="736170">
                  <a:extLst>
                    <a:ext uri="{9D8B030D-6E8A-4147-A177-3AD203B41FA5}">
                      <a16:colId xmlns:a16="http://schemas.microsoft.com/office/drawing/2014/main" val="3469217163"/>
                    </a:ext>
                  </a:extLst>
                </a:gridCol>
              </a:tblGrid>
              <a:tr h="263143">
                <a:tc gridSpan="3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Student</a:t>
                      </a:r>
                    </a:p>
                  </a:txBody>
                  <a:tcPr marL="72000" marR="9525" marT="952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chemeClr val="tx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0476952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Roboto Condensed(Body)"/>
                        </a:rPr>
                        <a:t>Rno</a:t>
                      </a:r>
                      <a:endParaRPr lang="en-US" sz="1600" b="1" i="0" u="none" strike="noStrike" kern="1200" dirty="0">
                        <a:solidFill>
                          <a:schemeClr val="bg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Name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Branch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899890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103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Neha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840411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3345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38" dur="indefinite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48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50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52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54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56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58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0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2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98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08" dur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3" grpId="1" animBg="1"/>
      <p:bldP spid="24" grpId="0" animBg="1"/>
      <p:bldP spid="25" grpId="0" animBg="1"/>
      <p:bldP spid="25" grpId="1" animBg="1"/>
      <p:bldP spid="26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 Operator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9952" y="1035500"/>
            <a:ext cx="3576248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Roboto Condensed(Body)"/>
              </a:rPr>
              <a:t>Syntax:-</a:t>
            </a:r>
          </a:p>
        </p:txBody>
      </p:sp>
      <p:sp>
        <p:nvSpPr>
          <p:cNvPr id="5" name="Rectangle 4"/>
          <p:cNvSpPr/>
          <p:nvPr/>
        </p:nvSpPr>
        <p:spPr>
          <a:xfrm>
            <a:off x="657421" y="1523999"/>
            <a:ext cx="5133779" cy="19434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Roboto Condensed(Body)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9703" y="1714127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00FF"/>
                </a:solidFill>
                <a:latin typeface="Roboto Condensed(Body)"/>
              </a:rPr>
              <a:t>SELECT</a:t>
            </a:r>
            <a:endParaRPr lang="en-US" dirty="0">
              <a:solidFill>
                <a:srgbClr val="0000FF"/>
              </a:solidFill>
              <a:latin typeface="Roboto Condensed(Body)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903185" y="2267101"/>
            <a:ext cx="1272431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ln w="0"/>
                <a:solidFill>
                  <a:schemeClr val="tx1"/>
                </a:solidFill>
                <a:latin typeface="Roboto Condensed(Body)"/>
              </a:rPr>
              <a:t>TableName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09703" y="2267101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FROM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330671" y="2809950"/>
            <a:ext cx="127348" cy="44718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(Body)"/>
              </a:rPr>
              <a:t>;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03184" y="1714857"/>
            <a:ext cx="468333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(Body)"/>
              </a:rPr>
              <a:t>*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87651" y="2809950"/>
            <a:ext cx="1272431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latin typeface="Roboto Condensed(Body)"/>
              </a:rPr>
              <a:t>Condition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703" y="2820075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WHERE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5BC387-2524-4782-A0A1-BE98EF7D6282}"/>
              </a:ext>
            </a:extLst>
          </p:cNvPr>
          <p:cNvSpPr/>
          <p:nvPr/>
        </p:nvSpPr>
        <p:spPr>
          <a:xfrm>
            <a:off x="3969035" y="2809950"/>
            <a:ext cx="1272431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latin typeface="Roboto Condensed(Body)"/>
              </a:rPr>
              <a:t>Condition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289853-4298-4AA9-B066-D50662D1296B}"/>
              </a:ext>
            </a:extLst>
          </p:cNvPr>
          <p:cNvSpPr/>
          <p:nvPr/>
        </p:nvSpPr>
        <p:spPr>
          <a:xfrm>
            <a:off x="3247714" y="2809950"/>
            <a:ext cx="633689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Roboto Condensed(Body)"/>
              </a:rPr>
              <a:t>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951" y="3747400"/>
            <a:ext cx="5607157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Roboto Condensed(Body)"/>
              </a:rPr>
              <a:t>E.g. Display all the students whose are either from computer branch or from mechanical branch.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7420" y="4387465"/>
            <a:ext cx="5133780" cy="19434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Roboto Condensed(Body)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09702" y="4571327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00FF"/>
                </a:solidFill>
                <a:latin typeface="Roboto Condensed(Body)"/>
              </a:rPr>
              <a:t>SELECT</a:t>
            </a:r>
            <a:endParaRPr lang="en-US" dirty="0">
              <a:solidFill>
                <a:srgbClr val="0000FF"/>
              </a:solidFill>
              <a:latin typeface="Roboto Condensed(Body)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903184" y="5124301"/>
            <a:ext cx="1272431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latin typeface="Roboto Condensed(Body)"/>
              </a:rPr>
              <a:t>Student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9702" y="5124301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FROM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887650" y="4578303"/>
            <a:ext cx="468333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(Body)"/>
              </a:rPr>
              <a:t>*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87650" y="5667150"/>
            <a:ext cx="1447497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>
                <a:latin typeface="Roboto Condensed(Body)"/>
              </a:rPr>
              <a:t>Branch=</a:t>
            </a:r>
            <a:r>
              <a:rPr lang="en-IN" dirty="0">
                <a:solidFill>
                  <a:srgbClr val="FF0000"/>
                </a:solidFill>
                <a:latin typeface="Roboto Condensed(Body)"/>
              </a:rPr>
              <a:t>'CE'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9702" y="5677275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WHERE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324AE8C-D65F-4998-8312-0A73B141B763}"/>
              </a:ext>
            </a:extLst>
          </p:cNvPr>
          <p:cNvSpPr/>
          <p:nvPr/>
        </p:nvSpPr>
        <p:spPr>
          <a:xfrm>
            <a:off x="5566545" y="5656950"/>
            <a:ext cx="127348" cy="44718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(Body)"/>
              </a:rPr>
              <a:t>;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23D4D30-DAB5-4E31-A897-DBFCF92D1294}"/>
              </a:ext>
            </a:extLst>
          </p:cNvPr>
          <p:cNvSpPr/>
          <p:nvPr/>
        </p:nvSpPr>
        <p:spPr>
          <a:xfrm>
            <a:off x="4046256" y="5656178"/>
            <a:ext cx="1447497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>
                <a:latin typeface="Roboto Condensed(Body)"/>
              </a:rPr>
              <a:t>Branch=</a:t>
            </a:r>
            <a:r>
              <a:rPr lang="en-IN" dirty="0">
                <a:solidFill>
                  <a:srgbClr val="FF0000"/>
                </a:solidFill>
                <a:latin typeface="Roboto Condensed(Body)"/>
              </a:rPr>
              <a:t>'ME'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71C439E-41E8-4909-ABFC-6D33AAE390A1}"/>
              </a:ext>
            </a:extLst>
          </p:cNvPr>
          <p:cNvSpPr/>
          <p:nvPr/>
        </p:nvSpPr>
        <p:spPr>
          <a:xfrm>
            <a:off x="3422779" y="5656178"/>
            <a:ext cx="52586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Roboto Condensed(Body)"/>
              </a:rPr>
              <a:t>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06883" y="4125795"/>
            <a:ext cx="1073934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Roboto Condensed(Body)"/>
              </a:rPr>
              <a:t>Output :</a:t>
            </a:r>
          </a:p>
        </p:txBody>
      </p:sp>
      <p:graphicFrame>
        <p:nvGraphicFramePr>
          <p:cNvPr id="27" name="Content Placeholder 11">
            <a:extLst>
              <a:ext uri="{FF2B5EF4-FFF2-40B4-BE49-F238E27FC236}">
                <a16:creationId xmlns:a16="http://schemas.microsoft.com/office/drawing/2014/main" id="{5810CD15-53DC-428B-8929-7102326B7114}"/>
              </a:ext>
            </a:extLst>
          </p:cNvPr>
          <p:cNvGraphicFramePr>
            <a:graphicFrameLocks/>
          </p:cNvGraphicFramePr>
          <p:nvPr/>
        </p:nvGraphicFramePr>
        <p:xfrm>
          <a:off x="6662839" y="1075196"/>
          <a:ext cx="2619111" cy="24838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911">
                  <a:extLst>
                    <a:ext uri="{9D8B030D-6E8A-4147-A177-3AD203B41FA5}">
                      <a16:colId xmlns:a16="http://schemas.microsoft.com/office/drawing/2014/main" val="3673608313"/>
                    </a:ext>
                  </a:extLst>
                </a:gridCol>
                <a:gridCol w="685581">
                  <a:extLst>
                    <a:ext uri="{9D8B030D-6E8A-4147-A177-3AD203B41FA5}">
                      <a16:colId xmlns:a16="http://schemas.microsoft.com/office/drawing/2014/main" val="1434806160"/>
                    </a:ext>
                  </a:extLst>
                </a:gridCol>
                <a:gridCol w="628449">
                  <a:extLst>
                    <a:ext uri="{9D8B030D-6E8A-4147-A177-3AD203B41FA5}">
                      <a16:colId xmlns:a16="http://schemas.microsoft.com/office/drawing/2014/main" val="3487458896"/>
                    </a:ext>
                  </a:extLst>
                </a:gridCol>
                <a:gridCol w="736170">
                  <a:extLst>
                    <a:ext uri="{9D8B030D-6E8A-4147-A177-3AD203B41FA5}">
                      <a16:colId xmlns:a16="http://schemas.microsoft.com/office/drawing/2014/main" val="3469217163"/>
                    </a:ext>
                  </a:extLst>
                </a:gridCol>
              </a:tblGrid>
              <a:tr h="263143">
                <a:tc gridSpan="3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Student</a:t>
                      </a:r>
                    </a:p>
                  </a:txBody>
                  <a:tcPr marL="72000" marR="9525" marT="952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chemeClr val="tx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0476952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Roboto Condensed(Body)"/>
                        </a:rPr>
                        <a:t>Rno</a:t>
                      </a:r>
                      <a:endParaRPr lang="en-US" sz="1600" b="1" i="0" u="none" strike="noStrike" kern="1200" dirty="0">
                        <a:solidFill>
                          <a:schemeClr val="bg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Name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Branch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899890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101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Raju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CE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836710165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102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Sanjay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CE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84041172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103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Neha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104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Meera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EC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73964503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105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Mahesh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EE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05132244"/>
                  </a:ext>
                </a:extLst>
              </a:tr>
            </a:tbl>
          </a:graphicData>
        </a:graphic>
      </p:graphicFrame>
      <p:pic>
        <p:nvPicPr>
          <p:cNvPr id="28" name="Picture 27">
            <a:extLst>
              <a:ext uri="{FF2B5EF4-FFF2-40B4-BE49-F238E27FC236}">
                <a16:creationId xmlns:a16="http://schemas.microsoft.com/office/drawing/2014/main" id="{021579C8-E6FC-4F70-B36D-727A0B47FC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5400000" flipV="1">
            <a:off x="7707290" y="3767952"/>
            <a:ext cx="422103" cy="381000"/>
          </a:xfrm>
          <a:prstGeom prst="rect">
            <a:avLst/>
          </a:prstGeom>
          <a:ln>
            <a:solidFill>
              <a:schemeClr val="bg1"/>
            </a:solidFill>
          </a:ln>
        </p:spPr>
      </p:pic>
      <p:graphicFrame>
        <p:nvGraphicFramePr>
          <p:cNvPr id="29" name="Content Placeholder 11">
            <a:extLst>
              <a:ext uri="{FF2B5EF4-FFF2-40B4-BE49-F238E27FC236}">
                <a16:creationId xmlns:a16="http://schemas.microsoft.com/office/drawing/2014/main" id="{695CD70E-68E7-4066-B79F-AAD0219E915F}"/>
              </a:ext>
            </a:extLst>
          </p:cNvPr>
          <p:cNvGraphicFramePr>
            <a:graphicFrameLocks/>
          </p:cNvGraphicFramePr>
          <p:nvPr/>
        </p:nvGraphicFramePr>
        <p:xfrm>
          <a:off x="6608786" y="4554715"/>
          <a:ext cx="2619111" cy="1743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911">
                  <a:extLst>
                    <a:ext uri="{9D8B030D-6E8A-4147-A177-3AD203B41FA5}">
                      <a16:colId xmlns:a16="http://schemas.microsoft.com/office/drawing/2014/main" val="3673608313"/>
                    </a:ext>
                  </a:extLst>
                </a:gridCol>
                <a:gridCol w="685581">
                  <a:extLst>
                    <a:ext uri="{9D8B030D-6E8A-4147-A177-3AD203B41FA5}">
                      <a16:colId xmlns:a16="http://schemas.microsoft.com/office/drawing/2014/main" val="1434806160"/>
                    </a:ext>
                  </a:extLst>
                </a:gridCol>
                <a:gridCol w="628449">
                  <a:extLst>
                    <a:ext uri="{9D8B030D-6E8A-4147-A177-3AD203B41FA5}">
                      <a16:colId xmlns:a16="http://schemas.microsoft.com/office/drawing/2014/main" val="3487458896"/>
                    </a:ext>
                  </a:extLst>
                </a:gridCol>
                <a:gridCol w="736170">
                  <a:extLst>
                    <a:ext uri="{9D8B030D-6E8A-4147-A177-3AD203B41FA5}">
                      <a16:colId xmlns:a16="http://schemas.microsoft.com/office/drawing/2014/main" val="3469217163"/>
                    </a:ext>
                  </a:extLst>
                </a:gridCol>
              </a:tblGrid>
              <a:tr h="263143">
                <a:tc gridSpan="3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Student</a:t>
                      </a:r>
                    </a:p>
                  </a:txBody>
                  <a:tcPr marL="72000" marR="9525" marT="952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chemeClr val="tx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0476952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Roboto Condensed(Body)"/>
                        </a:rPr>
                        <a:t>Rno</a:t>
                      </a:r>
                      <a:endParaRPr lang="en-US" sz="1600" b="1" i="0" u="none" strike="noStrike" kern="1200" dirty="0">
                        <a:solidFill>
                          <a:schemeClr val="bg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Name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Branch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899890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101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Raju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CE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84041172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102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Sanjay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CE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697156557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103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Neha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5119835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5947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38" dur="indefinite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48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50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52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54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56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58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0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2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98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08" dur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3" grpId="1" animBg="1"/>
      <p:bldP spid="24" grpId="0" animBg="1"/>
      <p:bldP spid="25" grpId="0" animBg="1"/>
      <p:bldP spid="25" grpId="1" animBg="1"/>
      <p:bldP spid="26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 Operator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9952" y="1035500"/>
            <a:ext cx="3576248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Roboto Condensed(Body)"/>
              </a:rPr>
              <a:t>Syntax:-</a:t>
            </a:r>
          </a:p>
        </p:txBody>
      </p:sp>
      <p:sp>
        <p:nvSpPr>
          <p:cNvPr id="5" name="Rectangle 4"/>
          <p:cNvSpPr/>
          <p:nvPr/>
        </p:nvSpPr>
        <p:spPr>
          <a:xfrm>
            <a:off x="657421" y="1523999"/>
            <a:ext cx="5133779" cy="19434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Roboto Condensed(Body)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9703" y="1714127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00FF"/>
                </a:solidFill>
                <a:latin typeface="Roboto Condensed(Body)"/>
              </a:rPr>
              <a:t>SELECT</a:t>
            </a:r>
            <a:endParaRPr lang="en-US" dirty="0">
              <a:solidFill>
                <a:srgbClr val="0000FF"/>
              </a:solidFill>
              <a:latin typeface="Roboto Condensed(Body)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903185" y="2267101"/>
            <a:ext cx="1272431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ln w="0"/>
                <a:solidFill>
                  <a:schemeClr val="tx1"/>
                </a:solidFill>
                <a:latin typeface="Roboto Condensed(Body)"/>
              </a:rPr>
              <a:t>TableName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09703" y="2267101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FROM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987510" y="2829122"/>
            <a:ext cx="127348" cy="44718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(Body)"/>
              </a:rPr>
              <a:t>;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03184" y="1714857"/>
            <a:ext cx="468333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(Body)"/>
              </a:rPr>
              <a:t>*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703" y="2820075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WHERE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5BC387-2524-4782-A0A1-BE98EF7D6282}"/>
              </a:ext>
            </a:extLst>
          </p:cNvPr>
          <p:cNvSpPr/>
          <p:nvPr/>
        </p:nvSpPr>
        <p:spPr>
          <a:xfrm>
            <a:off x="2625874" y="2829122"/>
            <a:ext cx="1272431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latin typeface="Roboto Condensed(Body)"/>
              </a:rPr>
              <a:t>Condition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F289853-4298-4AA9-B066-D50662D1296B}"/>
              </a:ext>
            </a:extLst>
          </p:cNvPr>
          <p:cNvSpPr/>
          <p:nvPr/>
        </p:nvSpPr>
        <p:spPr>
          <a:xfrm>
            <a:off x="1904553" y="2829122"/>
            <a:ext cx="633689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Roboto Condensed(Body)"/>
              </a:rPr>
              <a:t>NOT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951" y="3747400"/>
            <a:ext cx="5607157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Roboto Condensed(Body)"/>
              </a:rPr>
              <a:t>E.g. Display all the students who does not belongs to computer branch.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7420" y="4425965"/>
            <a:ext cx="5133780" cy="19434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Roboto Condensed(Body)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09702" y="4609827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00FF"/>
                </a:solidFill>
                <a:latin typeface="Roboto Condensed(Body)"/>
              </a:rPr>
              <a:t>SELECT</a:t>
            </a:r>
            <a:endParaRPr lang="en-US" dirty="0">
              <a:solidFill>
                <a:srgbClr val="0000FF"/>
              </a:solidFill>
              <a:latin typeface="Roboto Condensed(Body)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903184" y="5162801"/>
            <a:ext cx="1272431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latin typeface="Roboto Condensed(Body)"/>
              </a:rPr>
              <a:t>Student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9702" y="5162801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FROM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887650" y="4616803"/>
            <a:ext cx="468333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(Body)"/>
              </a:rPr>
              <a:t>*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702" y="5715775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WHERE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324AE8C-D65F-4998-8312-0A73B141B763}"/>
              </a:ext>
            </a:extLst>
          </p:cNvPr>
          <p:cNvSpPr/>
          <p:nvPr/>
        </p:nvSpPr>
        <p:spPr>
          <a:xfrm>
            <a:off x="4126446" y="5716547"/>
            <a:ext cx="127348" cy="44718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(Body)"/>
              </a:rPr>
              <a:t>;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23D4D30-DAB5-4E31-A897-DBFCF92D1294}"/>
              </a:ext>
            </a:extLst>
          </p:cNvPr>
          <p:cNvSpPr/>
          <p:nvPr/>
        </p:nvSpPr>
        <p:spPr>
          <a:xfrm>
            <a:off x="2606157" y="5715775"/>
            <a:ext cx="1447497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>
                <a:latin typeface="Roboto Condensed(Body)"/>
              </a:rPr>
              <a:t>Branch=</a:t>
            </a:r>
            <a:r>
              <a:rPr lang="en-IN" dirty="0">
                <a:solidFill>
                  <a:srgbClr val="FF0000"/>
                </a:solidFill>
                <a:latin typeface="Roboto Condensed(Body)"/>
              </a:rPr>
              <a:t>'CE'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71C439E-41E8-4909-ABFC-6D33AAE390A1}"/>
              </a:ext>
            </a:extLst>
          </p:cNvPr>
          <p:cNvSpPr/>
          <p:nvPr/>
        </p:nvSpPr>
        <p:spPr>
          <a:xfrm>
            <a:off x="1912701" y="5715775"/>
            <a:ext cx="595839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Roboto Condensed(Body)"/>
              </a:rPr>
              <a:t>NOT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51258" y="4125795"/>
            <a:ext cx="1073934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Roboto Condensed(Body)"/>
              </a:rPr>
              <a:t>Output :</a:t>
            </a:r>
          </a:p>
        </p:txBody>
      </p:sp>
      <p:graphicFrame>
        <p:nvGraphicFramePr>
          <p:cNvPr id="25" name="Content Placeholder 11">
            <a:extLst>
              <a:ext uri="{FF2B5EF4-FFF2-40B4-BE49-F238E27FC236}">
                <a16:creationId xmlns:a16="http://schemas.microsoft.com/office/drawing/2014/main" id="{5810CD15-53DC-428B-8929-7102326B7114}"/>
              </a:ext>
            </a:extLst>
          </p:cNvPr>
          <p:cNvGraphicFramePr>
            <a:graphicFrameLocks/>
          </p:cNvGraphicFramePr>
          <p:nvPr/>
        </p:nvGraphicFramePr>
        <p:xfrm>
          <a:off x="6807214" y="1075196"/>
          <a:ext cx="2619111" cy="24838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911">
                  <a:extLst>
                    <a:ext uri="{9D8B030D-6E8A-4147-A177-3AD203B41FA5}">
                      <a16:colId xmlns:a16="http://schemas.microsoft.com/office/drawing/2014/main" val="3673608313"/>
                    </a:ext>
                  </a:extLst>
                </a:gridCol>
                <a:gridCol w="685581">
                  <a:extLst>
                    <a:ext uri="{9D8B030D-6E8A-4147-A177-3AD203B41FA5}">
                      <a16:colId xmlns:a16="http://schemas.microsoft.com/office/drawing/2014/main" val="1434806160"/>
                    </a:ext>
                  </a:extLst>
                </a:gridCol>
                <a:gridCol w="628449">
                  <a:extLst>
                    <a:ext uri="{9D8B030D-6E8A-4147-A177-3AD203B41FA5}">
                      <a16:colId xmlns:a16="http://schemas.microsoft.com/office/drawing/2014/main" val="3487458896"/>
                    </a:ext>
                  </a:extLst>
                </a:gridCol>
                <a:gridCol w="736170">
                  <a:extLst>
                    <a:ext uri="{9D8B030D-6E8A-4147-A177-3AD203B41FA5}">
                      <a16:colId xmlns:a16="http://schemas.microsoft.com/office/drawing/2014/main" val="3469217163"/>
                    </a:ext>
                  </a:extLst>
                </a:gridCol>
              </a:tblGrid>
              <a:tr h="263143">
                <a:tc gridSpan="3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Student</a:t>
                      </a:r>
                    </a:p>
                  </a:txBody>
                  <a:tcPr marL="72000" marR="9525" marT="952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chemeClr val="tx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0476952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Roboto Condensed(Body)"/>
                        </a:rPr>
                        <a:t>Rno</a:t>
                      </a:r>
                      <a:endParaRPr lang="en-US" sz="1600" b="1" i="0" u="none" strike="noStrike" kern="1200" dirty="0">
                        <a:solidFill>
                          <a:schemeClr val="bg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Name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Branch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899890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101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Raju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CE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836710165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102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Sanjay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CE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84041172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103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Neha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104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Meera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EC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73964503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105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Mahesh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EE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05132244"/>
                  </a:ext>
                </a:extLst>
              </a:tr>
            </a:tbl>
          </a:graphicData>
        </a:graphic>
      </p:graphicFrame>
      <p:pic>
        <p:nvPicPr>
          <p:cNvPr id="26" name="Picture 25">
            <a:extLst>
              <a:ext uri="{FF2B5EF4-FFF2-40B4-BE49-F238E27FC236}">
                <a16:creationId xmlns:a16="http://schemas.microsoft.com/office/drawing/2014/main" id="{021579C8-E6FC-4F70-B36D-727A0B47FC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5400000" flipV="1">
            <a:off x="7851665" y="3767952"/>
            <a:ext cx="422103" cy="381000"/>
          </a:xfrm>
          <a:prstGeom prst="rect">
            <a:avLst/>
          </a:prstGeom>
          <a:ln>
            <a:solidFill>
              <a:schemeClr val="bg1"/>
            </a:solidFill>
          </a:ln>
        </p:spPr>
      </p:pic>
      <p:graphicFrame>
        <p:nvGraphicFramePr>
          <p:cNvPr id="27" name="Content Placeholder 11">
            <a:extLst>
              <a:ext uri="{FF2B5EF4-FFF2-40B4-BE49-F238E27FC236}">
                <a16:creationId xmlns:a16="http://schemas.microsoft.com/office/drawing/2014/main" id="{695CD70E-68E7-4066-B79F-AAD0219E915F}"/>
              </a:ext>
            </a:extLst>
          </p:cNvPr>
          <p:cNvGraphicFramePr>
            <a:graphicFrameLocks/>
          </p:cNvGraphicFramePr>
          <p:nvPr/>
        </p:nvGraphicFramePr>
        <p:xfrm>
          <a:off x="6753161" y="4554715"/>
          <a:ext cx="2619111" cy="1743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911">
                  <a:extLst>
                    <a:ext uri="{9D8B030D-6E8A-4147-A177-3AD203B41FA5}">
                      <a16:colId xmlns:a16="http://schemas.microsoft.com/office/drawing/2014/main" val="3673608313"/>
                    </a:ext>
                  </a:extLst>
                </a:gridCol>
                <a:gridCol w="685581">
                  <a:extLst>
                    <a:ext uri="{9D8B030D-6E8A-4147-A177-3AD203B41FA5}">
                      <a16:colId xmlns:a16="http://schemas.microsoft.com/office/drawing/2014/main" val="1434806160"/>
                    </a:ext>
                  </a:extLst>
                </a:gridCol>
                <a:gridCol w="628449">
                  <a:extLst>
                    <a:ext uri="{9D8B030D-6E8A-4147-A177-3AD203B41FA5}">
                      <a16:colId xmlns:a16="http://schemas.microsoft.com/office/drawing/2014/main" val="3487458896"/>
                    </a:ext>
                  </a:extLst>
                </a:gridCol>
                <a:gridCol w="736170">
                  <a:extLst>
                    <a:ext uri="{9D8B030D-6E8A-4147-A177-3AD203B41FA5}">
                      <a16:colId xmlns:a16="http://schemas.microsoft.com/office/drawing/2014/main" val="3469217163"/>
                    </a:ext>
                  </a:extLst>
                </a:gridCol>
              </a:tblGrid>
              <a:tr h="263143">
                <a:tc gridSpan="3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Student</a:t>
                      </a:r>
                    </a:p>
                  </a:txBody>
                  <a:tcPr marL="72000" marR="9525" marT="952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chemeClr val="tx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0476952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Roboto Condensed(Body)"/>
                        </a:rPr>
                        <a:t>Rno</a:t>
                      </a:r>
                      <a:endParaRPr lang="en-US" sz="1600" b="1" i="0" u="none" strike="noStrike" kern="1200" dirty="0">
                        <a:solidFill>
                          <a:schemeClr val="bg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Name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Branch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899890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103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Neha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84041172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104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Meera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EC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697156557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105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Mahesh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EE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5119835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1220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34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44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46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48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50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52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54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56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88" dur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5" presetClass="emph" presetSubtype="0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98" dur="indefinite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1" grpId="1" animBg="1"/>
      <p:bldP spid="22" grpId="0" animBg="1"/>
      <p:bldP spid="23" grpId="0" animBg="1"/>
      <p:bldP spid="23" grpId="1" animBg="1"/>
      <p:bldP spid="24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IN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>
                <a:solidFill>
                  <a:schemeClr val="accent6"/>
                </a:solidFill>
              </a:rPr>
              <a:t>IN operator </a:t>
            </a:r>
            <a:r>
              <a:rPr lang="en-US" dirty="0"/>
              <a:t>allows you to specify </a:t>
            </a:r>
            <a:r>
              <a:rPr lang="en-US" b="1" dirty="0">
                <a:solidFill>
                  <a:schemeClr val="accent6"/>
                </a:solidFill>
              </a:rPr>
              <a:t>multiple conditions </a:t>
            </a:r>
            <a:r>
              <a:rPr lang="en-US" dirty="0"/>
              <a:t>in a WHERE clause.</a:t>
            </a:r>
          </a:p>
          <a:p>
            <a:r>
              <a:rPr lang="en-US" dirty="0"/>
              <a:t>IN operator is used to help reduce the need to use </a:t>
            </a:r>
            <a:r>
              <a:rPr lang="en-US" b="1" dirty="0">
                <a:solidFill>
                  <a:schemeClr val="accent6"/>
                </a:solidFill>
              </a:rPr>
              <a:t>multiple "OR" </a:t>
            </a:r>
            <a:r>
              <a:rPr lang="en-US" dirty="0"/>
              <a:t>conditions.</a:t>
            </a:r>
          </a:p>
          <a:p>
            <a:r>
              <a:rPr lang="en-US" dirty="0"/>
              <a:t>SQL </a:t>
            </a:r>
            <a:r>
              <a:rPr lang="en-US" b="1" dirty="0">
                <a:solidFill>
                  <a:schemeClr val="accent6"/>
                </a:solidFill>
              </a:rPr>
              <a:t>NOT IN </a:t>
            </a:r>
            <a:r>
              <a:rPr lang="en-US" dirty="0"/>
              <a:t>condition used </a:t>
            </a:r>
            <a:r>
              <a:rPr lang="en-US" b="1" dirty="0">
                <a:solidFill>
                  <a:schemeClr val="accent6"/>
                </a:solidFill>
              </a:rPr>
              <a:t>to exclude </a:t>
            </a:r>
            <a:r>
              <a:rPr lang="en-US" dirty="0"/>
              <a:t>the defined multiple value in a WHERE clause condition. </a:t>
            </a:r>
          </a:p>
          <a:p>
            <a:r>
              <a:rPr lang="en-US" dirty="0"/>
              <a:t>SQL </a:t>
            </a:r>
            <a:r>
              <a:rPr lang="en-US" b="1" dirty="0">
                <a:solidFill>
                  <a:schemeClr val="accent6"/>
                </a:solidFill>
              </a:rPr>
              <a:t>NOT IN </a:t>
            </a:r>
            <a:r>
              <a:rPr lang="en-US" dirty="0"/>
              <a:t>condition also identify by </a:t>
            </a:r>
            <a:r>
              <a:rPr lang="en-US" b="1" dirty="0">
                <a:solidFill>
                  <a:schemeClr val="accent6"/>
                </a:solidFill>
              </a:rPr>
              <a:t>NOT operator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A45BA5-26A3-443D-A231-5F021A95DF57}"/>
              </a:ext>
            </a:extLst>
          </p:cNvPr>
          <p:cNvSpPr txBox="1"/>
          <p:nvPr/>
        </p:nvSpPr>
        <p:spPr>
          <a:xfrm>
            <a:off x="324709" y="3400974"/>
            <a:ext cx="3576248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Roboto Condensed(Body)"/>
              </a:rPr>
              <a:t>Syntax:-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28005E-591F-40FD-822A-CB0F8F6AB869}"/>
              </a:ext>
            </a:extLst>
          </p:cNvPr>
          <p:cNvSpPr/>
          <p:nvPr/>
        </p:nvSpPr>
        <p:spPr>
          <a:xfrm>
            <a:off x="599671" y="3995399"/>
            <a:ext cx="7876979" cy="19434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Roboto Condensed(Body)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ECF716-F371-4957-833C-5A403051D680}"/>
              </a:ext>
            </a:extLst>
          </p:cNvPr>
          <p:cNvSpPr/>
          <p:nvPr/>
        </p:nvSpPr>
        <p:spPr>
          <a:xfrm>
            <a:off x="751953" y="4185527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00FF"/>
                </a:solidFill>
                <a:latin typeface="Roboto Condensed(Body)"/>
              </a:rPr>
              <a:t>SELECT</a:t>
            </a:r>
            <a:endParaRPr lang="en-US" dirty="0">
              <a:solidFill>
                <a:srgbClr val="0000FF"/>
              </a:solidFill>
              <a:latin typeface="Roboto Condensed(Body)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780D6A-6854-481B-B1B7-8C24458D5DEF}"/>
              </a:ext>
            </a:extLst>
          </p:cNvPr>
          <p:cNvSpPr/>
          <p:nvPr/>
        </p:nvSpPr>
        <p:spPr>
          <a:xfrm>
            <a:off x="1845435" y="4738501"/>
            <a:ext cx="1272431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ln w="0"/>
                <a:solidFill>
                  <a:schemeClr val="tx1"/>
                </a:solidFill>
                <a:latin typeface="Roboto Condensed(Body)"/>
              </a:rPr>
              <a:t>TableName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5E9711-4230-427E-9DB5-34F6485C9D12}"/>
              </a:ext>
            </a:extLst>
          </p:cNvPr>
          <p:cNvSpPr/>
          <p:nvPr/>
        </p:nvSpPr>
        <p:spPr>
          <a:xfrm>
            <a:off x="751953" y="4738501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FROM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31B774-CA57-46BD-85AE-D5ED7035DFA1}"/>
              </a:ext>
            </a:extLst>
          </p:cNvPr>
          <p:cNvSpPr/>
          <p:nvPr/>
        </p:nvSpPr>
        <p:spPr>
          <a:xfrm>
            <a:off x="7277452" y="5275103"/>
            <a:ext cx="127348" cy="44718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(Body)"/>
              </a:rPr>
              <a:t>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8C1AA5-FFD1-4B8A-980E-055385C11134}"/>
              </a:ext>
            </a:extLst>
          </p:cNvPr>
          <p:cNvSpPr/>
          <p:nvPr/>
        </p:nvSpPr>
        <p:spPr>
          <a:xfrm>
            <a:off x="1845433" y="4186257"/>
            <a:ext cx="1272431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(Body)"/>
              </a:rPr>
              <a:t>Columns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CCC159-5EE4-4388-A333-AAB3D464F2D9}"/>
              </a:ext>
            </a:extLst>
          </p:cNvPr>
          <p:cNvSpPr/>
          <p:nvPr/>
        </p:nvSpPr>
        <p:spPr>
          <a:xfrm>
            <a:off x="1829901" y="5281350"/>
            <a:ext cx="144749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ln w="0"/>
                <a:solidFill>
                  <a:schemeClr val="tx1"/>
                </a:solidFill>
                <a:latin typeface="Roboto Condensed(Body)"/>
              </a:rPr>
              <a:t>Columnname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1A2C6CD-E10E-4650-ACAC-5DFD06F3EB69}"/>
              </a:ext>
            </a:extLst>
          </p:cNvPr>
          <p:cNvSpPr/>
          <p:nvPr/>
        </p:nvSpPr>
        <p:spPr>
          <a:xfrm>
            <a:off x="751953" y="5291475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WHERE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F7AA59-33A0-443B-A24F-3FFAB2AFAFA6}"/>
              </a:ext>
            </a:extLst>
          </p:cNvPr>
          <p:cNvSpPr/>
          <p:nvPr/>
        </p:nvSpPr>
        <p:spPr>
          <a:xfrm>
            <a:off x="3966229" y="5281350"/>
            <a:ext cx="164873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latin typeface="Roboto Condensed(Body)"/>
              </a:rPr>
              <a:t>(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03973D-407D-45C8-B030-A263C52441AE}"/>
              </a:ext>
            </a:extLst>
          </p:cNvPr>
          <p:cNvSpPr/>
          <p:nvPr/>
        </p:nvSpPr>
        <p:spPr>
          <a:xfrm>
            <a:off x="3362019" y="5281350"/>
            <a:ext cx="519588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Roboto Condensed(Body)"/>
              </a:rPr>
              <a:t>IN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4665101-BFAF-4783-8970-369DD5B14F6F}"/>
              </a:ext>
            </a:extLst>
          </p:cNvPr>
          <p:cNvSpPr/>
          <p:nvPr/>
        </p:nvSpPr>
        <p:spPr>
          <a:xfrm>
            <a:off x="4216427" y="5281350"/>
            <a:ext cx="930468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latin typeface="Roboto Condensed(Body)"/>
              </a:rPr>
              <a:t>Value1,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5A2677-EC85-49C8-9FEF-B383E08E38B9}"/>
              </a:ext>
            </a:extLst>
          </p:cNvPr>
          <p:cNvSpPr/>
          <p:nvPr/>
        </p:nvSpPr>
        <p:spPr>
          <a:xfrm>
            <a:off x="5232220" y="5280492"/>
            <a:ext cx="930468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latin typeface="Roboto Condensed(Body)"/>
              </a:rPr>
              <a:t>Value2,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E312A08-0654-4A63-A87F-1CE2DA7EA446}"/>
              </a:ext>
            </a:extLst>
          </p:cNvPr>
          <p:cNvSpPr/>
          <p:nvPr/>
        </p:nvSpPr>
        <p:spPr>
          <a:xfrm>
            <a:off x="7005765" y="5265092"/>
            <a:ext cx="180525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latin typeface="Roboto Condensed(Body)"/>
              </a:rPr>
              <a:t>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E0140FA-0336-4902-A963-3733B3D9A81B}"/>
              </a:ext>
            </a:extLst>
          </p:cNvPr>
          <p:cNvSpPr/>
          <p:nvPr/>
        </p:nvSpPr>
        <p:spPr>
          <a:xfrm>
            <a:off x="6248013" y="5280492"/>
            <a:ext cx="66659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latin typeface="Roboto Condensed(Body)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103410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IN Operator(Cont..)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9951" y="922425"/>
            <a:ext cx="8643549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Roboto Condensed(Body)"/>
              </a:rPr>
              <a:t>E.g. Display all the students whose are either from computer branch or from mechanical branch.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F94ECF-7BB3-4094-93B9-B9E5581A881C}"/>
              </a:ext>
            </a:extLst>
          </p:cNvPr>
          <p:cNvSpPr/>
          <p:nvPr/>
        </p:nvSpPr>
        <p:spPr>
          <a:xfrm>
            <a:off x="657422" y="1752600"/>
            <a:ext cx="6627670" cy="19434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Roboto Condensed(Body)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BF0513-8526-4166-9766-F9B15D610FCE}"/>
              </a:ext>
            </a:extLst>
          </p:cNvPr>
          <p:cNvSpPr/>
          <p:nvPr/>
        </p:nvSpPr>
        <p:spPr>
          <a:xfrm>
            <a:off x="809703" y="1942728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00FF"/>
                </a:solidFill>
                <a:latin typeface="Roboto Condensed(Body)"/>
              </a:rPr>
              <a:t>SELECT</a:t>
            </a:r>
            <a:endParaRPr lang="en-US" dirty="0">
              <a:solidFill>
                <a:srgbClr val="0000FF"/>
              </a:solidFill>
              <a:latin typeface="Roboto Condensed(Body)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690031-73BF-4DE1-8A5A-21044BD347D4}"/>
              </a:ext>
            </a:extLst>
          </p:cNvPr>
          <p:cNvSpPr/>
          <p:nvPr/>
        </p:nvSpPr>
        <p:spPr>
          <a:xfrm>
            <a:off x="1903185" y="2495702"/>
            <a:ext cx="1068615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latin typeface="Roboto Condensed(Body)"/>
              </a:rPr>
              <a:t>Student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2A5ECA-20D6-46DF-8186-F954B399DB9F}"/>
              </a:ext>
            </a:extLst>
          </p:cNvPr>
          <p:cNvSpPr/>
          <p:nvPr/>
        </p:nvSpPr>
        <p:spPr>
          <a:xfrm>
            <a:off x="809703" y="2495702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FROM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EEF507-AD18-408C-B1E5-0AEE06A4170C}"/>
              </a:ext>
            </a:extLst>
          </p:cNvPr>
          <p:cNvSpPr/>
          <p:nvPr/>
        </p:nvSpPr>
        <p:spPr>
          <a:xfrm>
            <a:off x="6159283" y="3040906"/>
            <a:ext cx="168820" cy="44718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(Body)"/>
              </a:rPr>
              <a:t>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95266-23D6-4D04-87D9-D6D4EAD20785}"/>
              </a:ext>
            </a:extLst>
          </p:cNvPr>
          <p:cNvSpPr/>
          <p:nvPr/>
        </p:nvSpPr>
        <p:spPr>
          <a:xfrm>
            <a:off x="1903184" y="1943458"/>
            <a:ext cx="4528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(Body)"/>
              </a:rPr>
              <a:t>*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EDFCA0-A653-4E97-9C8B-DC8525293B95}"/>
              </a:ext>
            </a:extLst>
          </p:cNvPr>
          <p:cNvSpPr/>
          <p:nvPr/>
        </p:nvSpPr>
        <p:spPr>
          <a:xfrm>
            <a:off x="1904829" y="3056985"/>
            <a:ext cx="1084149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Roboto Condensed(Body)"/>
              </a:rPr>
              <a:t>Branch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A623CE6-9232-4A05-820E-9D62B7EF57E0}"/>
              </a:ext>
            </a:extLst>
          </p:cNvPr>
          <p:cNvSpPr/>
          <p:nvPr/>
        </p:nvSpPr>
        <p:spPr>
          <a:xfrm>
            <a:off x="809703" y="3048676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WHERE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5B1083-22EC-444F-9329-6BA4B405CD9E}"/>
              </a:ext>
            </a:extLst>
          </p:cNvPr>
          <p:cNvSpPr/>
          <p:nvPr/>
        </p:nvSpPr>
        <p:spPr>
          <a:xfrm>
            <a:off x="3695595" y="3056985"/>
            <a:ext cx="164873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latin typeface="Roboto Condensed(Body)"/>
              </a:rPr>
              <a:t>(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3F0E46D-3EF5-4947-93FF-ADD59C5600BD}"/>
              </a:ext>
            </a:extLst>
          </p:cNvPr>
          <p:cNvSpPr/>
          <p:nvPr/>
        </p:nvSpPr>
        <p:spPr>
          <a:xfrm>
            <a:off x="3076442" y="3056985"/>
            <a:ext cx="519588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Roboto Condensed(Body)"/>
              </a:rPr>
              <a:t>IN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020952-662D-478D-88C7-7259A36BAEC4}"/>
              </a:ext>
            </a:extLst>
          </p:cNvPr>
          <p:cNvSpPr/>
          <p:nvPr/>
        </p:nvSpPr>
        <p:spPr>
          <a:xfrm>
            <a:off x="3960033" y="3048380"/>
            <a:ext cx="751355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FF0000"/>
                </a:solidFill>
                <a:latin typeface="Roboto Condensed(Body)"/>
              </a:rPr>
              <a:t>'CE'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FCF888-351A-4ABE-8F6B-DC9B2464A799}"/>
              </a:ext>
            </a:extLst>
          </p:cNvPr>
          <p:cNvSpPr/>
          <p:nvPr/>
        </p:nvSpPr>
        <p:spPr>
          <a:xfrm>
            <a:off x="4804537" y="3048380"/>
            <a:ext cx="164873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ln w="0"/>
                <a:solidFill>
                  <a:schemeClr val="tx1"/>
                </a:solidFill>
                <a:latin typeface="Roboto Condensed(Body)"/>
              </a:rPr>
              <a:t>,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1CBAC0E-61D0-446C-8488-832DCBBA4A8C}"/>
              </a:ext>
            </a:extLst>
          </p:cNvPr>
          <p:cNvSpPr/>
          <p:nvPr/>
        </p:nvSpPr>
        <p:spPr>
          <a:xfrm>
            <a:off x="5901156" y="3037395"/>
            <a:ext cx="180525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latin typeface="Roboto Condensed(Body)"/>
              </a:rPr>
              <a:t>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756D011-67D6-4598-B7E6-F6CC1DA8C2D4}"/>
              </a:ext>
            </a:extLst>
          </p:cNvPr>
          <p:cNvSpPr/>
          <p:nvPr/>
        </p:nvSpPr>
        <p:spPr>
          <a:xfrm>
            <a:off x="5079091" y="3035901"/>
            <a:ext cx="744463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FF0000"/>
                </a:solidFill>
                <a:latin typeface="Roboto Condensed(Body)"/>
              </a:rPr>
              <a:t>'ME'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105400" y="4004814"/>
            <a:ext cx="1073934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Roboto Condensed(Body)"/>
              </a:rPr>
              <a:t>Output :</a:t>
            </a:r>
          </a:p>
        </p:txBody>
      </p:sp>
      <p:graphicFrame>
        <p:nvGraphicFramePr>
          <p:cNvPr id="20" name="Content Placeholder 11">
            <a:extLst>
              <a:ext uri="{FF2B5EF4-FFF2-40B4-BE49-F238E27FC236}">
                <a16:creationId xmlns:a16="http://schemas.microsoft.com/office/drawing/2014/main" id="{5810CD15-53DC-428B-8929-7102326B7114}"/>
              </a:ext>
            </a:extLst>
          </p:cNvPr>
          <p:cNvGraphicFramePr>
            <a:graphicFrameLocks/>
          </p:cNvGraphicFramePr>
          <p:nvPr/>
        </p:nvGraphicFramePr>
        <p:xfrm>
          <a:off x="657422" y="3915584"/>
          <a:ext cx="2619111" cy="24838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911">
                  <a:extLst>
                    <a:ext uri="{9D8B030D-6E8A-4147-A177-3AD203B41FA5}">
                      <a16:colId xmlns:a16="http://schemas.microsoft.com/office/drawing/2014/main" val="3673608313"/>
                    </a:ext>
                  </a:extLst>
                </a:gridCol>
                <a:gridCol w="685581">
                  <a:extLst>
                    <a:ext uri="{9D8B030D-6E8A-4147-A177-3AD203B41FA5}">
                      <a16:colId xmlns:a16="http://schemas.microsoft.com/office/drawing/2014/main" val="1434806160"/>
                    </a:ext>
                  </a:extLst>
                </a:gridCol>
                <a:gridCol w="628449">
                  <a:extLst>
                    <a:ext uri="{9D8B030D-6E8A-4147-A177-3AD203B41FA5}">
                      <a16:colId xmlns:a16="http://schemas.microsoft.com/office/drawing/2014/main" val="3487458896"/>
                    </a:ext>
                  </a:extLst>
                </a:gridCol>
                <a:gridCol w="736170">
                  <a:extLst>
                    <a:ext uri="{9D8B030D-6E8A-4147-A177-3AD203B41FA5}">
                      <a16:colId xmlns:a16="http://schemas.microsoft.com/office/drawing/2014/main" val="3469217163"/>
                    </a:ext>
                  </a:extLst>
                </a:gridCol>
              </a:tblGrid>
              <a:tr h="263143">
                <a:tc gridSpan="3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Student</a:t>
                      </a:r>
                    </a:p>
                  </a:txBody>
                  <a:tcPr marL="72000" marR="9525" marT="952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chemeClr val="tx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0476952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Roboto Condensed(Body)"/>
                        </a:rPr>
                        <a:t>Rno</a:t>
                      </a:r>
                      <a:endParaRPr lang="en-US" sz="1600" b="1" i="0" u="none" strike="noStrike" kern="1200" dirty="0">
                        <a:solidFill>
                          <a:schemeClr val="bg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Name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Branch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899890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101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Raju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CE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836710165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102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Sanjay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CE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84041172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103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Neha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104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Meera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EC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73964503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105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Mahesh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EE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05132244"/>
                  </a:ext>
                </a:extLst>
              </a:tr>
            </a:tbl>
          </a:graphicData>
        </a:graphic>
      </p:graphicFrame>
      <p:pic>
        <p:nvPicPr>
          <p:cNvPr id="21" name="Picture 20">
            <a:extLst>
              <a:ext uri="{FF2B5EF4-FFF2-40B4-BE49-F238E27FC236}">
                <a16:creationId xmlns:a16="http://schemas.microsoft.com/office/drawing/2014/main" id="{021579C8-E6FC-4F70-B36D-727A0B47FC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V="1">
            <a:off x="4116381" y="4807557"/>
            <a:ext cx="726256" cy="655536"/>
          </a:xfrm>
          <a:prstGeom prst="rect">
            <a:avLst/>
          </a:prstGeom>
          <a:ln>
            <a:solidFill>
              <a:schemeClr val="bg1"/>
            </a:solidFill>
          </a:ln>
        </p:spPr>
      </p:pic>
      <p:graphicFrame>
        <p:nvGraphicFramePr>
          <p:cNvPr id="22" name="Content Placeholder 11">
            <a:extLst>
              <a:ext uri="{FF2B5EF4-FFF2-40B4-BE49-F238E27FC236}">
                <a16:creationId xmlns:a16="http://schemas.microsoft.com/office/drawing/2014/main" id="{695CD70E-68E7-4066-B79F-AAD0219E915F}"/>
              </a:ext>
            </a:extLst>
          </p:cNvPr>
          <p:cNvGraphicFramePr>
            <a:graphicFrameLocks/>
          </p:cNvGraphicFramePr>
          <p:nvPr/>
        </p:nvGraphicFramePr>
        <p:xfrm>
          <a:off x="5458089" y="4382700"/>
          <a:ext cx="2619111" cy="1743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911">
                  <a:extLst>
                    <a:ext uri="{9D8B030D-6E8A-4147-A177-3AD203B41FA5}">
                      <a16:colId xmlns:a16="http://schemas.microsoft.com/office/drawing/2014/main" val="3673608313"/>
                    </a:ext>
                  </a:extLst>
                </a:gridCol>
                <a:gridCol w="685581">
                  <a:extLst>
                    <a:ext uri="{9D8B030D-6E8A-4147-A177-3AD203B41FA5}">
                      <a16:colId xmlns:a16="http://schemas.microsoft.com/office/drawing/2014/main" val="1434806160"/>
                    </a:ext>
                  </a:extLst>
                </a:gridCol>
                <a:gridCol w="628449">
                  <a:extLst>
                    <a:ext uri="{9D8B030D-6E8A-4147-A177-3AD203B41FA5}">
                      <a16:colId xmlns:a16="http://schemas.microsoft.com/office/drawing/2014/main" val="3487458896"/>
                    </a:ext>
                  </a:extLst>
                </a:gridCol>
                <a:gridCol w="736170">
                  <a:extLst>
                    <a:ext uri="{9D8B030D-6E8A-4147-A177-3AD203B41FA5}">
                      <a16:colId xmlns:a16="http://schemas.microsoft.com/office/drawing/2014/main" val="3469217163"/>
                    </a:ext>
                  </a:extLst>
                </a:gridCol>
              </a:tblGrid>
              <a:tr h="263143">
                <a:tc gridSpan="3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Student</a:t>
                      </a:r>
                    </a:p>
                  </a:txBody>
                  <a:tcPr marL="72000" marR="9525" marT="952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chemeClr val="tx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0476952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Roboto Condensed(Body)"/>
                        </a:rPr>
                        <a:t>Rno</a:t>
                      </a:r>
                      <a:endParaRPr lang="en-US" sz="1600" b="1" i="0" u="none" strike="noStrike" kern="1200" dirty="0">
                        <a:solidFill>
                          <a:schemeClr val="bg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Name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Branch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899890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101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Raju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CE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84041172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102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Sanjay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CE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697156557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103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Neha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5119835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9044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Between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>
                <a:solidFill>
                  <a:schemeClr val="accent6"/>
                </a:solidFill>
              </a:rPr>
              <a:t>BETWEEN </a:t>
            </a:r>
            <a:r>
              <a:rPr lang="en-US" dirty="0"/>
              <a:t>operator</a:t>
            </a:r>
            <a:r>
              <a:rPr lang="en-US" b="1" dirty="0">
                <a:solidFill>
                  <a:schemeClr val="accent6"/>
                </a:solidFill>
              </a:rPr>
              <a:t> selects values within a given range</a:t>
            </a:r>
            <a:r>
              <a:rPr lang="en-US" dirty="0">
                <a:solidFill>
                  <a:schemeClr val="accent1"/>
                </a:solidFill>
              </a:rPr>
              <a:t>.</a:t>
            </a:r>
            <a:r>
              <a:rPr lang="en-US" dirty="0"/>
              <a:t> </a:t>
            </a:r>
          </a:p>
          <a:p>
            <a:r>
              <a:rPr lang="en-US" dirty="0"/>
              <a:t>SQL Between operator </a:t>
            </a:r>
            <a:r>
              <a:rPr lang="en-US" b="1" dirty="0">
                <a:solidFill>
                  <a:schemeClr val="accent6"/>
                </a:solidFill>
              </a:rPr>
              <a:t>support</a:t>
            </a:r>
            <a:r>
              <a:rPr lang="en-US" dirty="0"/>
              <a:t> only range type value like </a:t>
            </a:r>
            <a:r>
              <a:rPr lang="en-US" b="1" dirty="0">
                <a:solidFill>
                  <a:schemeClr val="accent6"/>
                </a:solidFill>
              </a:rPr>
              <a:t>number</a:t>
            </a:r>
            <a:r>
              <a:rPr lang="en-US" b="1" dirty="0">
                <a:solidFill>
                  <a:schemeClr val="accent1"/>
                </a:solidFill>
              </a:rPr>
              <a:t>, </a:t>
            </a:r>
            <a:r>
              <a:rPr lang="en-US" b="1" dirty="0">
                <a:solidFill>
                  <a:schemeClr val="accent6"/>
                </a:solidFill>
              </a:rPr>
              <a:t>dates</a:t>
            </a:r>
            <a:r>
              <a:rPr lang="en-US" b="1" dirty="0">
                <a:solidFill>
                  <a:schemeClr val="accent1"/>
                </a:solidFill>
              </a:rPr>
              <a:t>, </a:t>
            </a:r>
            <a:r>
              <a:rPr lang="en-US" b="1" dirty="0">
                <a:solidFill>
                  <a:schemeClr val="accent6"/>
                </a:solidFill>
              </a:rPr>
              <a:t>character</a:t>
            </a:r>
            <a:r>
              <a:rPr lang="en-US" dirty="0"/>
              <a:t>. But not supporting Boolean, string value range.</a:t>
            </a:r>
          </a:p>
          <a:p>
            <a:r>
              <a:rPr lang="en-US" dirty="0"/>
              <a:t>The </a:t>
            </a:r>
            <a:r>
              <a:rPr lang="en-US" b="1" dirty="0">
                <a:solidFill>
                  <a:schemeClr val="accent6"/>
                </a:solidFill>
              </a:rPr>
              <a:t>BETWEEN </a:t>
            </a:r>
            <a:r>
              <a:rPr lang="en-US" dirty="0"/>
              <a:t>operator is </a:t>
            </a:r>
            <a:r>
              <a:rPr lang="en-US" b="1" dirty="0">
                <a:solidFill>
                  <a:schemeClr val="accent6"/>
                </a:solidFill>
              </a:rPr>
              <a:t>inclusive</a:t>
            </a:r>
            <a:r>
              <a:rPr lang="en-US" dirty="0"/>
              <a:t>: begin and end values are included. </a:t>
            </a:r>
          </a:p>
          <a:p>
            <a:r>
              <a:rPr lang="en-US" dirty="0"/>
              <a:t>The </a:t>
            </a:r>
            <a:r>
              <a:rPr lang="en-US" b="1" dirty="0">
                <a:solidFill>
                  <a:schemeClr val="accent6"/>
                </a:solidFill>
              </a:rPr>
              <a:t>NOT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b="1" dirty="0">
                <a:solidFill>
                  <a:schemeClr val="accent6"/>
                </a:solidFill>
              </a:rPr>
              <a:t>BETWEEN </a:t>
            </a:r>
            <a:r>
              <a:rPr lang="en-US" dirty="0"/>
              <a:t>operator</a:t>
            </a:r>
            <a:r>
              <a:rPr lang="en-US" b="1" dirty="0">
                <a:solidFill>
                  <a:schemeClr val="accent6"/>
                </a:solidFill>
              </a:rPr>
              <a:t> </a:t>
            </a:r>
            <a:r>
              <a:rPr lang="en-US" dirty="0"/>
              <a:t>selects values which are </a:t>
            </a:r>
            <a:r>
              <a:rPr lang="en-US" b="1" dirty="0"/>
              <a:t>not present </a:t>
            </a:r>
            <a:r>
              <a:rPr lang="en-US" dirty="0"/>
              <a:t>in a given range. 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A45BA5-26A3-443D-A231-5F021A95DF57}"/>
              </a:ext>
            </a:extLst>
          </p:cNvPr>
          <p:cNvSpPr txBox="1"/>
          <p:nvPr/>
        </p:nvSpPr>
        <p:spPr>
          <a:xfrm>
            <a:off x="276582" y="3382301"/>
            <a:ext cx="3576248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Roboto Condensed(Body)"/>
              </a:rPr>
              <a:t>Syntax:-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28005E-591F-40FD-822A-CB0F8F6AB869}"/>
              </a:ext>
            </a:extLst>
          </p:cNvPr>
          <p:cNvSpPr/>
          <p:nvPr/>
        </p:nvSpPr>
        <p:spPr>
          <a:xfrm>
            <a:off x="657421" y="3967324"/>
            <a:ext cx="7876979" cy="19434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Roboto Condensed(Body)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ECF716-F371-4957-833C-5A403051D680}"/>
              </a:ext>
            </a:extLst>
          </p:cNvPr>
          <p:cNvSpPr/>
          <p:nvPr/>
        </p:nvSpPr>
        <p:spPr>
          <a:xfrm>
            <a:off x="809703" y="4157452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00FF"/>
                </a:solidFill>
                <a:latin typeface="Roboto Condensed(Body)"/>
              </a:rPr>
              <a:t>SELECT</a:t>
            </a:r>
            <a:endParaRPr lang="en-US" dirty="0">
              <a:solidFill>
                <a:srgbClr val="0000FF"/>
              </a:solidFill>
              <a:latin typeface="Roboto Condensed(Body)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780D6A-6854-481B-B1B7-8C24458D5DEF}"/>
              </a:ext>
            </a:extLst>
          </p:cNvPr>
          <p:cNvSpPr/>
          <p:nvPr/>
        </p:nvSpPr>
        <p:spPr>
          <a:xfrm>
            <a:off x="1903185" y="4710426"/>
            <a:ext cx="1272431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ln w="0"/>
                <a:solidFill>
                  <a:schemeClr val="tx1"/>
                </a:solidFill>
                <a:latin typeface="Roboto Condensed(Body)"/>
              </a:rPr>
              <a:t>TableName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5E9711-4230-427E-9DB5-34F6485C9D12}"/>
              </a:ext>
            </a:extLst>
          </p:cNvPr>
          <p:cNvSpPr/>
          <p:nvPr/>
        </p:nvSpPr>
        <p:spPr>
          <a:xfrm>
            <a:off x="809703" y="4710426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FROM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31B774-CA57-46BD-85AE-D5ED7035DFA1}"/>
              </a:ext>
            </a:extLst>
          </p:cNvPr>
          <p:cNvSpPr/>
          <p:nvPr/>
        </p:nvSpPr>
        <p:spPr>
          <a:xfrm>
            <a:off x="7542072" y="5242022"/>
            <a:ext cx="127348" cy="44718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(Body)"/>
              </a:rPr>
              <a:t>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8C1AA5-FFD1-4B8A-980E-055385C11134}"/>
              </a:ext>
            </a:extLst>
          </p:cNvPr>
          <p:cNvSpPr/>
          <p:nvPr/>
        </p:nvSpPr>
        <p:spPr>
          <a:xfrm>
            <a:off x="1903183" y="4158182"/>
            <a:ext cx="1272431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(Body)"/>
              </a:rPr>
              <a:t>Columns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CCC159-5EE4-4388-A333-AAB3D464F2D9}"/>
              </a:ext>
            </a:extLst>
          </p:cNvPr>
          <p:cNvSpPr/>
          <p:nvPr/>
        </p:nvSpPr>
        <p:spPr>
          <a:xfrm>
            <a:off x="1887651" y="5253275"/>
            <a:ext cx="144749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ln w="0"/>
                <a:solidFill>
                  <a:schemeClr val="tx1"/>
                </a:solidFill>
                <a:latin typeface="Roboto Condensed(Body)"/>
              </a:rPr>
              <a:t>Columnname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1A2C6CD-E10E-4650-ACAC-5DFD06F3EB69}"/>
              </a:ext>
            </a:extLst>
          </p:cNvPr>
          <p:cNvSpPr/>
          <p:nvPr/>
        </p:nvSpPr>
        <p:spPr>
          <a:xfrm>
            <a:off x="809703" y="5263400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WHERE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03973D-407D-45C8-B030-A263C52441AE}"/>
              </a:ext>
            </a:extLst>
          </p:cNvPr>
          <p:cNvSpPr/>
          <p:nvPr/>
        </p:nvSpPr>
        <p:spPr>
          <a:xfrm>
            <a:off x="3419768" y="5253275"/>
            <a:ext cx="1152231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Roboto Condensed(Body)"/>
              </a:rPr>
              <a:t>BETWEEN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665101-BFAF-4783-8970-369DD5B14F6F}"/>
              </a:ext>
            </a:extLst>
          </p:cNvPr>
          <p:cNvSpPr/>
          <p:nvPr/>
        </p:nvSpPr>
        <p:spPr>
          <a:xfrm>
            <a:off x="4656620" y="5253275"/>
            <a:ext cx="930468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latin typeface="Roboto Condensed(Body)"/>
              </a:rPr>
              <a:t>Value1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F5A2677-EC85-49C8-9FEF-B383E08E38B9}"/>
              </a:ext>
            </a:extLst>
          </p:cNvPr>
          <p:cNvSpPr/>
          <p:nvPr/>
        </p:nvSpPr>
        <p:spPr>
          <a:xfrm>
            <a:off x="5672413" y="5252417"/>
            <a:ext cx="769084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Roboto Condensed(Body)"/>
              </a:rPr>
              <a:t>AND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0140FA-0336-4902-A963-3733B3D9A81B}"/>
              </a:ext>
            </a:extLst>
          </p:cNvPr>
          <p:cNvSpPr/>
          <p:nvPr/>
        </p:nvSpPr>
        <p:spPr>
          <a:xfrm>
            <a:off x="6526822" y="5242022"/>
            <a:ext cx="930468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latin typeface="Roboto Condensed(Body)"/>
              </a:rPr>
              <a:t>Value2</a:t>
            </a:r>
          </a:p>
        </p:txBody>
      </p:sp>
    </p:spTree>
    <p:extLst>
      <p:ext uri="{BB962C8B-B14F-4D97-AF65-F5344CB8AC3E}">
        <p14:creationId xmlns:p14="http://schemas.microsoft.com/office/powerpoint/2010/main" val="3704971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Between Operator(Cont..)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Between operator includes records with SPI 6 and 9.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09951" y="835800"/>
            <a:ext cx="8643549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Roboto Condensed(Body)"/>
              </a:rPr>
              <a:t>E.g. Display all the students whose SPI is more than 6 and less than 9.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F94ECF-7BB3-4094-93B9-B9E5581A881C}"/>
              </a:ext>
            </a:extLst>
          </p:cNvPr>
          <p:cNvSpPr/>
          <p:nvPr/>
        </p:nvSpPr>
        <p:spPr>
          <a:xfrm>
            <a:off x="609600" y="1351550"/>
            <a:ext cx="6675492" cy="19434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Roboto Condensed(Body)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BF0513-8526-4166-9766-F9B15D610FCE}"/>
              </a:ext>
            </a:extLst>
          </p:cNvPr>
          <p:cNvSpPr/>
          <p:nvPr/>
        </p:nvSpPr>
        <p:spPr>
          <a:xfrm>
            <a:off x="809703" y="1637928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00FF"/>
                </a:solidFill>
                <a:latin typeface="Roboto Condensed(Body)"/>
              </a:rPr>
              <a:t>SELECT</a:t>
            </a:r>
            <a:endParaRPr lang="en-US" dirty="0">
              <a:solidFill>
                <a:srgbClr val="0000FF"/>
              </a:solidFill>
              <a:latin typeface="Roboto Condensed(Body)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690031-73BF-4DE1-8A5A-21044BD347D4}"/>
              </a:ext>
            </a:extLst>
          </p:cNvPr>
          <p:cNvSpPr/>
          <p:nvPr/>
        </p:nvSpPr>
        <p:spPr>
          <a:xfrm>
            <a:off x="1903185" y="2190902"/>
            <a:ext cx="1068615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latin typeface="Roboto Condensed(Body)"/>
              </a:rPr>
              <a:t>Student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2A5ECA-20D6-46DF-8186-F954B399DB9F}"/>
              </a:ext>
            </a:extLst>
          </p:cNvPr>
          <p:cNvSpPr/>
          <p:nvPr/>
        </p:nvSpPr>
        <p:spPr>
          <a:xfrm>
            <a:off x="809703" y="2190902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FROM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EEF507-AD18-408C-B1E5-0AEE06A4170C}"/>
              </a:ext>
            </a:extLst>
          </p:cNvPr>
          <p:cNvSpPr/>
          <p:nvPr/>
        </p:nvSpPr>
        <p:spPr>
          <a:xfrm>
            <a:off x="5848809" y="2741530"/>
            <a:ext cx="168820" cy="44718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(Body)"/>
              </a:rPr>
              <a:t>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95266-23D6-4D04-87D9-D6D4EAD20785}"/>
              </a:ext>
            </a:extLst>
          </p:cNvPr>
          <p:cNvSpPr/>
          <p:nvPr/>
        </p:nvSpPr>
        <p:spPr>
          <a:xfrm>
            <a:off x="1903184" y="1638658"/>
            <a:ext cx="4528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(Body)"/>
              </a:rPr>
              <a:t>*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623CE6-9232-4A05-820E-9D62B7EF57E0}"/>
              </a:ext>
            </a:extLst>
          </p:cNvPr>
          <p:cNvSpPr/>
          <p:nvPr/>
        </p:nvSpPr>
        <p:spPr>
          <a:xfrm>
            <a:off x="809703" y="2743876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WHERE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91C70E-9C3D-40C3-A47B-46904B3832CC}"/>
              </a:ext>
            </a:extLst>
          </p:cNvPr>
          <p:cNvSpPr/>
          <p:nvPr/>
        </p:nvSpPr>
        <p:spPr>
          <a:xfrm>
            <a:off x="2683018" y="2741530"/>
            <a:ext cx="1152231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Roboto Condensed(Body)"/>
              </a:rPr>
              <a:t>BETWEEN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74B5D5-58FF-4F50-9806-05613502B668}"/>
              </a:ext>
            </a:extLst>
          </p:cNvPr>
          <p:cNvSpPr/>
          <p:nvPr/>
        </p:nvSpPr>
        <p:spPr>
          <a:xfrm>
            <a:off x="3919870" y="2741530"/>
            <a:ext cx="450144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latin typeface="Roboto Condensed(Body)"/>
              </a:rPr>
              <a:t>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B0F4A8-F4A4-4E8D-9D4F-EF0C0499BBDB}"/>
              </a:ext>
            </a:extLst>
          </p:cNvPr>
          <p:cNvSpPr/>
          <p:nvPr/>
        </p:nvSpPr>
        <p:spPr>
          <a:xfrm>
            <a:off x="4458755" y="2741530"/>
            <a:ext cx="769084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Roboto Condensed(Body)"/>
              </a:rPr>
              <a:t>AND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438C8F-CDB2-43B1-99B2-8E49C243A014}"/>
              </a:ext>
            </a:extLst>
          </p:cNvPr>
          <p:cNvSpPr/>
          <p:nvPr/>
        </p:nvSpPr>
        <p:spPr>
          <a:xfrm>
            <a:off x="5313164" y="2731135"/>
            <a:ext cx="450144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latin typeface="Roboto Condensed(Body)"/>
              </a:rPr>
              <a:t>9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C5AF3CA-389A-4D2A-B342-8A4E8BD4D48C}"/>
              </a:ext>
            </a:extLst>
          </p:cNvPr>
          <p:cNvSpPr/>
          <p:nvPr/>
        </p:nvSpPr>
        <p:spPr>
          <a:xfrm>
            <a:off x="1903184" y="2754959"/>
            <a:ext cx="692850" cy="42862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latin typeface="Roboto Condensed(Body)"/>
              </a:rPr>
              <a:t>SPI</a:t>
            </a:r>
          </a:p>
        </p:txBody>
      </p:sp>
      <p:graphicFrame>
        <p:nvGraphicFramePr>
          <p:cNvPr id="17" name="Content Placeholder 11">
            <a:extLst>
              <a:ext uri="{FF2B5EF4-FFF2-40B4-BE49-F238E27FC236}">
                <a16:creationId xmlns:a16="http://schemas.microsoft.com/office/drawing/2014/main" id="{5810CD15-53DC-428B-8929-7102326B7114}"/>
              </a:ext>
            </a:extLst>
          </p:cNvPr>
          <p:cNvGraphicFramePr>
            <a:graphicFrameLocks/>
          </p:cNvGraphicFramePr>
          <p:nvPr/>
        </p:nvGraphicFramePr>
        <p:xfrm>
          <a:off x="943276" y="3436915"/>
          <a:ext cx="2695073" cy="2306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411">
                  <a:extLst>
                    <a:ext uri="{9D8B030D-6E8A-4147-A177-3AD203B41FA5}">
                      <a16:colId xmlns:a16="http://schemas.microsoft.com/office/drawing/2014/main" val="3673608313"/>
                    </a:ext>
                  </a:extLst>
                </a:gridCol>
                <a:gridCol w="705465">
                  <a:extLst>
                    <a:ext uri="{9D8B030D-6E8A-4147-A177-3AD203B41FA5}">
                      <a16:colId xmlns:a16="http://schemas.microsoft.com/office/drawing/2014/main" val="1434806160"/>
                    </a:ext>
                  </a:extLst>
                </a:gridCol>
                <a:gridCol w="646676">
                  <a:extLst>
                    <a:ext uri="{9D8B030D-6E8A-4147-A177-3AD203B41FA5}">
                      <a16:colId xmlns:a16="http://schemas.microsoft.com/office/drawing/2014/main" val="3487458896"/>
                    </a:ext>
                  </a:extLst>
                </a:gridCol>
                <a:gridCol w="757521">
                  <a:extLst>
                    <a:ext uri="{9D8B030D-6E8A-4147-A177-3AD203B41FA5}">
                      <a16:colId xmlns:a16="http://schemas.microsoft.com/office/drawing/2014/main" val="3469217163"/>
                    </a:ext>
                  </a:extLst>
                </a:gridCol>
              </a:tblGrid>
              <a:tr h="243289">
                <a:tc gridSpan="3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Student</a:t>
                      </a:r>
                    </a:p>
                  </a:txBody>
                  <a:tcPr marL="72000" marR="9525" marT="952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chemeClr val="tx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0476952"/>
                  </a:ext>
                </a:extLst>
              </a:tr>
              <a:tr h="34219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Roboto Condensed(Body)"/>
                        </a:rPr>
                        <a:t>Rno</a:t>
                      </a:r>
                      <a:endParaRPr lang="en-US" sz="1600" b="1" i="0" u="none" strike="noStrike" kern="1200" dirty="0">
                        <a:solidFill>
                          <a:schemeClr val="bg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Name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Branch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899890"/>
                  </a:ext>
                </a:extLst>
              </a:tr>
              <a:tr h="34219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101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Raju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CE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836710165"/>
                  </a:ext>
                </a:extLst>
              </a:tr>
              <a:tr h="34219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102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Sanjay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CE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84041172"/>
                  </a:ext>
                </a:extLst>
              </a:tr>
              <a:tr h="34219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103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Neha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19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104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Meera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EC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73964503"/>
                  </a:ext>
                </a:extLst>
              </a:tr>
              <a:tr h="34219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105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Mahesh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EE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05132244"/>
                  </a:ext>
                </a:extLst>
              </a:tr>
            </a:tbl>
          </a:graphicData>
        </a:graphic>
      </p:graphicFrame>
      <p:pic>
        <p:nvPicPr>
          <p:cNvPr id="18" name="Picture 17">
            <a:extLst>
              <a:ext uri="{FF2B5EF4-FFF2-40B4-BE49-F238E27FC236}">
                <a16:creationId xmlns:a16="http://schemas.microsoft.com/office/drawing/2014/main" id="{021579C8-E6FC-4F70-B36D-727A0B47FC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V="1">
            <a:off x="4116381" y="4464257"/>
            <a:ext cx="726256" cy="655536"/>
          </a:xfrm>
          <a:prstGeom prst="rect">
            <a:avLst/>
          </a:prstGeom>
          <a:ln>
            <a:solidFill>
              <a:schemeClr val="bg1"/>
            </a:solidFill>
          </a:ln>
        </p:spPr>
      </p:pic>
      <p:graphicFrame>
        <p:nvGraphicFramePr>
          <p:cNvPr id="19" name="Content Placeholder 11">
            <a:extLst>
              <a:ext uri="{FF2B5EF4-FFF2-40B4-BE49-F238E27FC236}">
                <a16:creationId xmlns:a16="http://schemas.microsoft.com/office/drawing/2014/main" id="{695CD70E-68E7-4066-B79F-AAD0219E915F}"/>
              </a:ext>
            </a:extLst>
          </p:cNvPr>
          <p:cNvGraphicFramePr>
            <a:graphicFrameLocks/>
          </p:cNvGraphicFramePr>
          <p:nvPr/>
        </p:nvGraphicFramePr>
        <p:xfrm>
          <a:off x="5458089" y="3669462"/>
          <a:ext cx="2619111" cy="21137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911">
                  <a:extLst>
                    <a:ext uri="{9D8B030D-6E8A-4147-A177-3AD203B41FA5}">
                      <a16:colId xmlns:a16="http://schemas.microsoft.com/office/drawing/2014/main" val="3673608313"/>
                    </a:ext>
                  </a:extLst>
                </a:gridCol>
                <a:gridCol w="685581">
                  <a:extLst>
                    <a:ext uri="{9D8B030D-6E8A-4147-A177-3AD203B41FA5}">
                      <a16:colId xmlns:a16="http://schemas.microsoft.com/office/drawing/2014/main" val="1434806160"/>
                    </a:ext>
                  </a:extLst>
                </a:gridCol>
                <a:gridCol w="628449">
                  <a:extLst>
                    <a:ext uri="{9D8B030D-6E8A-4147-A177-3AD203B41FA5}">
                      <a16:colId xmlns:a16="http://schemas.microsoft.com/office/drawing/2014/main" val="3487458896"/>
                    </a:ext>
                  </a:extLst>
                </a:gridCol>
                <a:gridCol w="736170">
                  <a:extLst>
                    <a:ext uri="{9D8B030D-6E8A-4147-A177-3AD203B41FA5}">
                      <a16:colId xmlns:a16="http://schemas.microsoft.com/office/drawing/2014/main" val="3469217163"/>
                    </a:ext>
                  </a:extLst>
                </a:gridCol>
              </a:tblGrid>
              <a:tr h="263143">
                <a:tc gridSpan="3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Student</a:t>
                      </a:r>
                    </a:p>
                  </a:txBody>
                  <a:tcPr marL="72000" marR="9525" marT="952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chemeClr val="tx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0476952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Roboto Condensed(Body)"/>
                        </a:rPr>
                        <a:t>Rno</a:t>
                      </a:r>
                      <a:endParaRPr lang="en-US" sz="1600" b="1" i="0" u="none" strike="noStrike" kern="1200" dirty="0">
                        <a:solidFill>
                          <a:schemeClr val="bg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Name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Branch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899890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101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Raju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CE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84041172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102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Sanjay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CE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697156557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103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Neha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511983516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104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Meera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EC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343024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5737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0B7E3-E7A0-BD3E-9877-5B67A4D3D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F93D9-FEB2-16AD-477E-43D802570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6EA4F-F4ED-3A00-D2E7-D26E13612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>
                <a:solidFill>
                  <a:schemeClr val="accent6"/>
                </a:solidFill>
              </a:rPr>
              <a:t>LIKE</a:t>
            </a:r>
            <a:r>
              <a:rPr lang="en-US" dirty="0"/>
              <a:t> operator in SQL Server is used for </a:t>
            </a:r>
            <a:r>
              <a:rPr lang="en-US" b="1" dirty="0">
                <a:solidFill>
                  <a:schemeClr val="accent6"/>
                </a:solidFill>
              </a:rPr>
              <a:t>pattern matching </a:t>
            </a:r>
            <a:r>
              <a:rPr lang="en-US" dirty="0"/>
              <a:t>to filter data based on specific text patterns.</a:t>
            </a:r>
            <a:endParaRPr lang="en-US" b="1" dirty="0"/>
          </a:p>
          <a:p>
            <a:r>
              <a:rPr lang="en-US" b="1" dirty="0"/>
              <a:t>Pattern Matching</a:t>
            </a:r>
            <a:r>
              <a:rPr lang="en-US" dirty="0"/>
              <a:t>: Filters data based on specific </a:t>
            </a:r>
            <a:r>
              <a:rPr lang="en-US" b="1" dirty="0">
                <a:solidFill>
                  <a:schemeClr val="accent6"/>
                </a:solidFill>
              </a:rPr>
              <a:t>patterns</a:t>
            </a:r>
            <a:r>
              <a:rPr lang="en-US" dirty="0"/>
              <a:t> in text. </a:t>
            </a:r>
          </a:p>
          <a:p>
            <a:r>
              <a:rPr lang="en-IN" b="1" dirty="0"/>
              <a:t>Flexible Search</a:t>
            </a:r>
            <a:r>
              <a:rPr lang="en-IN" dirty="0"/>
              <a:t>: Supports partial matches using </a:t>
            </a:r>
            <a:r>
              <a:rPr lang="en-IN" b="1" dirty="0">
                <a:solidFill>
                  <a:schemeClr val="accent6"/>
                </a:solidFill>
              </a:rPr>
              <a:t>% </a:t>
            </a:r>
            <a:r>
              <a:rPr lang="en-IN" dirty="0"/>
              <a:t>and </a:t>
            </a:r>
            <a:r>
              <a:rPr lang="en-IN" dirty="0">
                <a:solidFill>
                  <a:schemeClr val="accent6"/>
                </a:solidFill>
              </a:rPr>
              <a:t>_</a:t>
            </a:r>
            <a:r>
              <a:rPr lang="en-IN" dirty="0"/>
              <a:t> wildcards.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US" dirty="0"/>
          </a:p>
          <a:p>
            <a:pPr marL="0" indent="0">
              <a:buNone/>
            </a:pPr>
            <a:endParaRPr lang="en-IN" sz="500" b="1" dirty="0"/>
          </a:p>
          <a:p>
            <a:r>
              <a:rPr lang="en-IN" b="1" dirty="0"/>
              <a:t>Starts With</a:t>
            </a:r>
            <a:r>
              <a:rPr lang="en-IN" dirty="0"/>
              <a:t>: LIKE </a:t>
            </a:r>
            <a:r>
              <a:rPr lang="en-IN" b="1" dirty="0">
                <a:solidFill>
                  <a:schemeClr val="accent6"/>
                </a:solidFill>
              </a:rPr>
              <a:t>'A%'</a:t>
            </a:r>
            <a:r>
              <a:rPr lang="en-US" b="1" dirty="0">
                <a:solidFill>
                  <a:schemeClr val="accent6"/>
                </a:solidFill>
              </a:rPr>
              <a:t> </a:t>
            </a:r>
            <a:r>
              <a:rPr lang="en-US" dirty="0"/>
              <a:t>Finds values starting with </a:t>
            </a:r>
            <a:r>
              <a:rPr lang="en-US" b="1" dirty="0">
                <a:solidFill>
                  <a:schemeClr val="accent6"/>
                </a:solidFill>
              </a:rPr>
              <a:t>'A’</a:t>
            </a:r>
            <a:r>
              <a:rPr lang="en-US" dirty="0"/>
              <a:t>.</a:t>
            </a:r>
          </a:p>
          <a:p>
            <a:r>
              <a:rPr lang="en-IN" b="1" dirty="0"/>
              <a:t>Ends With</a:t>
            </a:r>
            <a:r>
              <a:rPr lang="en-IN" dirty="0"/>
              <a:t>: LIKE </a:t>
            </a:r>
            <a:r>
              <a:rPr lang="en-IN" b="1" dirty="0">
                <a:solidFill>
                  <a:schemeClr val="accent6"/>
                </a:solidFill>
              </a:rPr>
              <a:t>'%A'</a:t>
            </a:r>
            <a:r>
              <a:rPr lang="en-IN" dirty="0"/>
              <a:t> </a:t>
            </a:r>
            <a:r>
              <a:rPr lang="en-US" dirty="0"/>
              <a:t>Finds values ending with </a:t>
            </a:r>
            <a:r>
              <a:rPr lang="en-IN" b="1" dirty="0">
                <a:solidFill>
                  <a:schemeClr val="accent6"/>
                </a:solidFill>
              </a:rPr>
              <a:t>'</a:t>
            </a:r>
            <a:r>
              <a:rPr lang="en-US" b="1" dirty="0">
                <a:solidFill>
                  <a:schemeClr val="accent6"/>
                </a:solidFill>
              </a:rPr>
              <a:t>A</a:t>
            </a:r>
            <a:r>
              <a:rPr lang="en-IN" b="1" dirty="0">
                <a:solidFill>
                  <a:schemeClr val="accent6"/>
                </a:solidFill>
              </a:rPr>
              <a:t>'</a:t>
            </a:r>
            <a:r>
              <a:rPr lang="en-US" dirty="0"/>
              <a:t>.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1253446-9875-ABA4-F9AB-E5F4EB4FE96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9484043"/>
              </p:ext>
            </p:extLst>
          </p:nvPr>
        </p:nvGraphicFramePr>
        <p:xfrm>
          <a:off x="454711" y="2694755"/>
          <a:ext cx="7942217" cy="2530609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715589">
                  <a:extLst>
                    <a:ext uri="{9D8B030D-6E8A-4147-A177-3AD203B41FA5}">
                      <a16:colId xmlns:a16="http://schemas.microsoft.com/office/drawing/2014/main" val="57577015"/>
                    </a:ext>
                  </a:extLst>
                </a:gridCol>
                <a:gridCol w="62266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9245">
                <a:tc>
                  <a:txBody>
                    <a:bodyPr/>
                    <a:lstStyle/>
                    <a:p>
                      <a:pPr algn="ctr"/>
                      <a:r>
                        <a:rPr lang="en-IN" sz="2200" b="1" i="0" kern="1200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Symbol</a:t>
                      </a:r>
                      <a:endParaRPr lang="en-US" sz="2200" b="1" dirty="0">
                        <a:solidFill>
                          <a:schemeClr val="accent6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accent6"/>
                          </a:solidFill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745">
                <a:tc>
                  <a:txBody>
                    <a:bodyPr/>
                    <a:lstStyle/>
                    <a:p>
                      <a:pPr algn="ctr"/>
                      <a:r>
                        <a:rPr lang="en-IN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Represents zero or more characters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9409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ysClr val="windowText" lastClr="000000"/>
                          </a:solidFill>
                        </a:rPr>
                        <a:t>_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Represents a single character</a:t>
                      </a:r>
                      <a:endParaRPr lang="en-US" sz="2000" b="0" i="0" kern="1200" dirty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1">
                <a:tc>
                  <a:txBody>
                    <a:bodyPr/>
                    <a:lstStyle/>
                    <a:p>
                      <a:pPr algn="ctr"/>
                      <a:r>
                        <a:rPr lang="en-IN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 ]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Represents any single character within the brackets</a:t>
                      </a:r>
                      <a:endParaRPr lang="en-US" sz="2000" b="0" i="0" kern="1200" dirty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3626">
                <a:tc>
                  <a:txBody>
                    <a:bodyPr/>
                    <a:lstStyle/>
                    <a:p>
                      <a:pPr algn="ctr"/>
                      <a:r>
                        <a:rPr lang="en-IN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^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Represents any character not in the brackets</a:t>
                      </a:r>
                      <a:endParaRPr lang="en-US" sz="2000" b="0" i="0" kern="1200" dirty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2052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65B54-8CFE-46D0-5607-B3C93D44E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E1C90-4BC2-512E-BF62-03F2F24B5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Like</a:t>
            </a:r>
            <a:r>
              <a:rPr lang="en-US" dirty="0">
                <a:latin typeface="Roboto Condensed(Body)"/>
              </a:rPr>
              <a:t>(Cont..)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ACF2A-8396-DE0F-BF76-9BD703F39B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u="sng" dirty="0"/>
              <a:t>E.g. Display all the students whose name starting with A.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b="1" u="sng" dirty="0"/>
              <a:t>E.g. Display all the students whose name ending with A.</a:t>
            </a:r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3232F2-D4F1-C4B5-B69D-BE07576CDBAF}"/>
              </a:ext>
            </a:extLst>
          </p:cNvPr>
          <p:cNvSpPr/>
          <p:nvPr/>
        </p:nvSpPr>
        <p:spPr>
          <a:xfrm>
            <a:off x="401054" y="1485599"/>
            <a:ext cx="5694946" cy="16312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Roboto Condensed(Body)"/>
            </a:endParaRPr>
          </a:p>
        </p:txBody>
      </p:sp>
      <p:graphicFrame>
        <p:nvGraphicFramePr>
          <p:cNvPr id="18" name="Content Placeholder 11">
            <a:extLst>
              <a:ext uri="{FF2B5EF4-FFF2-40B4-BE49-F238E27FC236}">
                <a16:creationId xmlns:a16="http://schemas.microsoft.com/office/drawing/2014/main" id="{654D0349-C4CB-E724-B28E-37D77B2A37B4}"/>
              </a:ext>
            </a:extLst>
          </p:cNvPr>
          <p:cNvGraphicFramePr>
            <a:graphicFrameLocks/>
          </p:cNvGraphicFramePr>
          <p:nvPr/>
        </p:nvGraphicFramePr>
        <p:xfrm>
          <a:off x="8622042" y="863444"/>
          <a:ext cx="2619111" cy="24838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911">
                  <a:extLst>
                    <a:ext uri="{9D8B030D-6E8A-4147-A177-3AD203B41FA5}">
                      <a16:colId xmlns:a16="http://schemas.microsoft.com/office/drawing/2014/main" val="3673608313"/>
                    </a:ext>
                  </a:extLst>
                </a:gridCol>
                <a:gridCol w="685581">
                  <a:extLst>
                    <a:ext uri="{9D8B030D-6E8A-4147-A177-3AD203B41FA5}">
                      <a16:colId xmlns:a16="http://schemas.microsoft.com/office/drawing/2014/main" val="1434806160"/>
                    </a:ext>
                  </a:extLst>
                </a:gridCol>
                <a:gridCol w="628449">
                  <a:extLst>
                    <a:ext uri="{9D8B030D-6E8A-4147-A177-3AD203B41FA5}">
                      <a16:colId xmlns:a16="http://schemas.microsoft.com/office/drawing/2014/main" val="3487458896"/>
                    </a:ext>
                  </a:extLst>
                </a:gridCol>
                <a:gridCol w="736170">
                  <a:extLst>
                    <a:ext uri="{9D8B030D-6E8A-4147-A177-3AD203B41FA5}">
                      <a16:colId xmlns:a16="http://schemas.microsoft.com/office/drawing/2014/main" val="3469217163"/>
                    </a:ext>
                  </a:extLst>
                </a:gridCol>
              </a:tblGrid>
              <a:tr h="263143">
                <a:tc gridSpan="3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Student</a:t>
                      </a:r>
                    </a:p>
                  </a:txBody>
                  <a:tcPr marL="72000" marR="9525" marT="952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chemeClr val="tx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0476952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Roboto Condensed(Body)"/>
                        </a:rPr>
                        <a:t>Rno</a:t>
                      </a:r>
                      <a:endParaRPr lang="en-US" sz="1600" b="1" i="0" u="none" strike="noStrike" kern="1200" dirty="0">
                        <a:solidFill>
                          <a:schemeClr val="bg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Name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Branch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899890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101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Ajay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CE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836710165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102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Sanjay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CE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84041172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103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Aesha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104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Milan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EC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73964503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105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Mahesh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EE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05132244"/>
                  </a:ext>
                </a:extLst>
              </a:tr>
            </a:tbl>
          </a:graphicData>
        </a:graphic>
      </p:graphicFrame>
      <p:sp>
        <p:nvSpPr>
          <p:cNvPr id="19" name="Rectangle 18">
            <a:extLst>
              <a:ext uri="{FF2B5EF4-FFF2-40B4-BE49-F238E27FC236}">
                <a16:creationId xmlns:a16="http://schemas.microsoft.com/office/drawing/2014/main" id="{5E18B573-B6DA-A582-56CE-B52AFE718DF5}"/>
              </a:ext>
            </a:extLst>
          </p:cNvPr>
          <p:cNvSpPr/>
          <p:nvPr/>
        </p:nvSpPr>
        <p:spPr>
          <a:xfrm>
            <a:off x="809703" y="1714698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00FF"/>
                </a:solidFill>
                <a:latin typeface="Roboto Condensed(Body)"/>
              </a:rPr>
              <a:t>SELECT</a:t>
            </a:r>
            <a:endParaRPr lang="en-US" dirty="0">
              <a:solidFill>
                <a:srgbClr val="0000FF"/>
              </a:solidFill>
              <a:latin typeface="Roboto Condensed(Body)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2312BA5-5496-5113-DB15-61F1BBE74ED9}"/>
              </a:ext>
            </a:extLst>
          </p:cNvPr>
          <p:cNvSpPr/>
          <p:nvPr/>
        </p:nvSpPr>
        <p:spPr>
          <a:xfrm>
            <a:off x="1917680" y="1709972"/>
            <a:ext cx="48150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00FF"/>
                </a:solidFill>
                <a:latin typeface="Roboto Condensed(Body)"/>
              </a:rPr>
              <a:t>*</a:t>
            </a:r>
            <a:endParaRPr lang="en-US" dirty="0">
              <a:solidFill>
                <a:srgbClr val="0000FF"/>
              </a:solidFill>
              <a:latin typeface="Roboto Condensed(Body)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2D841FA-D12F-C35A-4A83-8FE00C7EA3CB}"/>
              </a:ext>
            </a:extLst>
          </p:cNvPr>
          <p:cNvSpPr/>
          <p:nvPr/>
        </p:nvSpPr>
        <p:spPr>
          <a:xfrm>
            <a:off x="3697330" y="1710730"/>
            <a:ext cx="1151113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STUDENT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3D9CD40-75D6-A11B-C9C9-C64D39736C07}"/>
              </a:ext>
            </a:extLst>
          </p:cNvPr>
          <p:cNvSpPr/>
          <p:nvPr/>
        </p:nvSpPr>
        <p:spPr>
          <a:xfrm>
            <a:off x="809703" y="2327918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WHERE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74392CA-4220-0D92-8959-E33AA00D648F}"/>
              </a:ext>
            </a:extLst>
          </p:cNvPr>
          <p:cNvSpPr/>
          <p:nvPr/>
        </p:nvSpPr>
        <p:spPr>
          <a:xfrm>
            <a:off x="2544107" y="1709972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FROM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38DC191-6915-C6F1-2E8A-C12F9B3385A3}"/>
              </a:ext>
            </a:extLst>
          </p:cNvPr>
          <p:cNvSpPr/>
          <p:nvPr/>
        </p:nvSpPr>
        <p:spPr>
          <a:xfrm>
            <a:off x="1917680" y="2334610"/>
            <a:ext cx="1151113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Roboto Condensed(Body)"/>
              </a:rPr>
              <a:t>Name</a:t>
            </a:r>
            <a:endParaRPr lang="en-US" dirty="0"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59707EC-9FB0-7310-16FA-9B98DC72DEF2}"/>
              </a:ext>
            </a:extLst>
          </p:cNvPr>
          <p:cNvSpPr/>
          <p:nvPr/>
        </p:nvSpPr>
        <p:spPr>
          <a:xfrm>
            <a:off x="3179088" y="2316084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Roboto Condensed(Body)"/>
              </a:rPr>
              <a:t>LIKE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70F3EBB-49E4-2F1B-C588-F09114208420}"/>
              </a:ext>
            </a:extLst>
          </p:cNvPr>
          <p:cNvSpPr/>
          <p:nvPr/>
        </p:nvSpPr>
        <p:spPr>
          <a:xfrm>
            <a:off x="4334821" y="2333425"/>
            <a:ext cx="1151113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  <a:latin typeface="Roboto Condensed(Body)"/>
              </a:rPr>
              <a:t>‘A%’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561DF41-B0FD-87F2-5F66-50ED25F6EE2F}"/>
              </a:ext>
            </a:extLst>
          </p:cNvPr>
          <p:cNvSpPr/>
          <p:nvPr/>
        </p:nvSpPr>
        <p:spPr>
          <a:xfrm>
            <a:off x="5607115" y="2317105"/>
            <a:ext cx="148693" cy="4561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(Body)"/>
              </a:rPr>
              <a:t>;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77924EE-9EAA-B409-956E-F7CE60D61EE5}"/>
              </a:ext>
            </a:extLst>
          </p:cNvPr>
          <p:cNvSpPr/>
          <p:nvPr/>
        </p:nvSpPr>
        <p:spPr>
          <a:xfrm>
            <a:off x="480789" y="4363329"/>
            <a:ext cx="5615211" cy="16312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Roboto Condensed(Body)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4C6B27B-E962-CE42-F490-EC3152D6B4FD}"/>
              </a:ext>
            </a:extLst>
          </p:cNvPr>
          <p:cNvSpPr/>
          <p:nvPr/>
        </p:nvSpPr>
        <p:spPr>
          <a:xfrm>
            <a:off x="809703" y="4592322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00FF"/>
                </a:solidFill>
                <a:latin typeface="Roboto Condensed(Body)"/>
              </a:rPr>
              <a:t>SELECT</a:t>
            </a:r>
            <a:endParaRPr lang="en-US" dirty="0">
              <a:solidFill>
                <a:srgbClr val="0000FF"/>
              </a:solidFill>
              <a:latin typeface="Roboto Condensed(Body)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4DBBD4C-A0E5-7BF1-0B0B-B0920F1819F1}"/>
              </a:ext>
            </a:extLst>
          </p:cNvPr>
          <p:cNvSpPr/>
          <p:nvPr/>
        </p:nvSpPr>
        <p:spPr>
          <a:xfrm>
            <a:off x="1933187" y="4593939"/>
            <a:ext cx="48150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00FF"/>
                </a:solidFill>
                <a:latin typeface="Roboto Condensed(Body)"/>
              </a:rPr>
              <a:t>*</a:t>
            </a:r>
            <a:endParaRPr lang="en-US" dirty="0">
              <a:solidFill>
                <a:srgbClr val="0000FF"/>
              </a:solidFill>
              <a:latin typeface="Roboto Condensed(Body)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8DD50B5-33C8-E9D6-346E-A2BD9CD7FBE7}"/>
              </a:ext>
            </a:extLst>
          </p:cNvPr>
          <p:cNvSpPr/>
          <p:nvPr/>
        </p:nvSpPr>
        <p:spPr>
          <a:xfrm>
            <a:off x="2535141" y="4597155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FROM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2C29C25-B4EB-DC24-48B7-7925B9A47A6B}"/>
              </a:ext>
            </a:extLst>
          </p:cNvPr>
          <p:cNvSpPr/>
          <p:nvPr/>
        </p:nvSpPr>
        <p:spPr>
          <a:xfrm>
            <a:off x="3744295" y="4609440"/>
            <a:ext cx="1151113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STUDENT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56AE126-F2C5-A986-3930-79527681F063}"/>
              </a:ext>
            </a:extLst>
          </p:cNvPr>
          <p:cNvSpPr/>
          <p:nvPr/>
        </p:nvSpPr>
        <p:spPr>
          <a:xfrm>
            <a:off x="809703" y="5265960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WHERE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AF0FEE8-C040-69FB-4F41-8D0BA9A6CE45}"/>
              </a:ext>
            </a:extLst>
          </p:cNvPr>
          <p:cNvSpPr/>
          <p:nvPr/>
        </p:nvSpPr>
        <p:spPr>
          <a:xfrm>
            <a:off x="1917679" y="5281749"/>
            <a:ext cx="1151113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Roboto Condensed(Body)"/>
              </a:rPr>
              <a:t>Name</a:t>
            </a:r>
            <a:endParaRPr lang="en-US" dirty="0"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5289F9D-6BD8-DCF3-A7C4-95715748D254}"/>
              </a:ext>
            </a:extLst>
          </p:cNvPr>
          <p:cNvSpPr/>
          <p:nvPr/>
        </p:nvSpPr>
        <p:spPr>
          <a:xfrm>
            <a:off x="3202172" y="5288181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Roboto Condensed(Body)"/>
              </a:rPr>
              <a:t>LIKE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85FA85E-3EE9-C088-1605-90F0D9DB00A7}"/>
              </a:ext>
            </a:extLst>
          </p:cNvPr>
          <p:cNvSpPr/>
          <p:nvPr/>
        </p:nvSpPr>
        <p:spPr>
          <a:xfrm>
            <a:off x="4304543" y="5281749"/>
            <a:ext cx="1151113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  <a:latin typeface="Roboto Condensed(Body)"/>
              </a:rPr>
              <a:t>‘%A’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1C48299-961F-1878-3239-E9F49AA78851}"/>
              </a:ext>
            </a:extLst>
          </p:cNvPr>
          <p:cNvSpPr/>
          <p:nvPr/>
        </p:nvSpPr>
        <p:spPr>
          <a:xfrm>
            <a:off x="5549082" y="5280863"/>
            <a:ext cx="104958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(Body)"/>
              </a:rPr>
              <a:t>;</a:t>
            </a:r>
          </a:p>
        </p:txBody>
      </p:sp>
      <p:graphicFrame>
        <p:nvGraphicFramePr>
          <p:cNvPr id="40" name="Content Placeholder 11">
            <a:extLst>
              <a:ext uri="{FF2B5EF4-FFF2-40B4-BE49-F238E27FC236}">
                <a16:creationId xmlns:a16="http://schemas.microsoft.com/office/drawing/2014/main" id="{375AD0D5-AC75-638D-9298-1AEE83FD894D}"/>
              </a:ext>
            </a:extLst>
          </p:cNvPr>
          <p:cNvGraphicFramePr>
            <a:graphicFrameLocks/>
          </p:cNvGraphicFramePr>
          <p:nvPr/>
        </p:nvGraphicFramePr>
        <p:xfrm>
          <a:off x="8622041" y="3479966"/>
          <a:ext cx="2619111" cy="13734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911">
                  <a:extLst>
                    <a:ext uri="{9D8B030D-6E8A-4147-A177-3AD203B41FA5}">
                      <a16:colId xmlns:a16="http://schemas.microsoft.com/office/drawing/2014/main" val="3673608313"/>
                    </a:ext>
                  </a:extLst>
                </a:gridCol>
                <a:gridCol w="685581">
                  <a:extLst>
                    <a:ext uri="{9D8B030D-6E8A-4147-A177-3AD203B41FA5}">
                      <a16:colId xmlns:a16="http://schemas.microsoft.com/office/drawing/2014/main" val="1434806160"/>
                    </a:ext>
                  </a:extLst>
                </a:gridCol>
                <a:gridCol w="628449">
                  <a:extLst>
                    <a:ext uri="{9D8B030D-6E8A-4147-A177-3AD203B41FA5}">
                      <a16:colId xmlns:a16="http://schemas.microsoft.com/office/drawing/2014/main" val="3487458896"/>
                    </a:ext>
                  </a:extLst>
                </a:gridCol>
                <a:gridCol w="736170">
                  <a:extLst>
                    <a:ext uri="{9D8B030D-6E8A-4147-A177-3AD203B41FA5}">
                      <a16:colId xmlns:a16="http://schemas.microsoft.com/office/drawing/2014/main" val="3469217163"/>
                    </a:ext>
                  </a:extLst>
                </a:gridCol>
              </a:tblGrid>
              <a:tr h="263143">
                <a:tc gridSpan="3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Output</a:t>
                      </a:r>
                    </a:p>
                  </a:txBody>
                  <a:tcPr marL="72000" marR="9525" marT="952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chemeClr val="tx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0476952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Roboto Condensed(Body)"/>
                        </a:rPr>
                        <a:t>Rno</a:t>
                      </a:r>
                      <a:endParaRPr lang="en-US" sz="1600" b="1" i="0" u="none" strike="noStrike" kern="1200" dirty="0">
                        <a:solidFill>
                          <a:schemeClr val="bg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Name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Branch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899890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101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Ajay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CE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836710165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102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Aesha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CE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84041172"/>
                  </a:ext>
                </a:extLst>
              </a:tr>
            </a:tbl>
          </a:graphicData>
        </a:graphic>
      </p:graphicFrame>
      <p:graphicFrame>
        <p:nvGraphicFramePr>
          <p:cNvPr id="41" name="Content Placeholder 11">
            <a:extLst>
              <a:ext uri="{FF2B5EF4-FFF2-40B4-BE49-F238E27FC236}">
                <a16:creationId xmlns:a16="http://schemas.microsoft.com/office/drawing/2014/main" id="{177033B8-61CD-19CA-1279-84CECA08DB6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51403414"/>
              </p:ext>
            </p:extLst>
          </p:nvPr>
        </p:nvGraphicFramePr>
        <p:xfrm>
          <a:off x="8622041" y="4986146"/>
          <a:ext cx="2619111" cy="10033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911">
                  <a:extLst>
                    <a:ext uri="{9D8B030D-6E8A-4147-A177-3AD203B41FA5}">
                      <a16:colId xmlns:a16="http://schemas.microsoft.com/office/drawing/2014/main" val="3673608313"/>
                    </a:ext>
                  </a:extLst>
                </a:gridCol>
                <a:gridCol w="685581">
                  <a:extLst>
                    <a:ext uri="{9D8B030D-6E8A-4147-A177-3AD203B41FA5}">
                      <a16:colId xmlns:a16="http://schemas.microsoft.com/office/drawing/2014/main" val="1434806160"/>
                    </a:ext>
                  </a:extLst>
                </a:gridCol>
                <a:gridCol w="628449">
                  <a:extLst>
                    <a:ext uri="{9D8B030D-6E8A-4147-A177-3AD203B41FA5}">
                      <a16:colId xmlns:a16="http://schemas.microsoft.com/office/drawing/2014/main" val="3487458896"/>
                    </a:ext>
                  </a:extLst>
                </a:gridCol>
                <a:gridCol w="736170">
                  <a:extLst>
                    <a:ext uri="{9D8B030D-6E8A-4147-A177-3AD203B41FA5}">
                      <a16:colId xmlns:a16="http://schemas.microsoft.com/office/drawing/2014/main" val="3469217163"/>
                    </a:ext>
                  </a:extLst>
                </a:gridCol>
              </a:tblGrid>
              <a:tr h="263143">
                <a:tc gridSpan="3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Output</a:t>
                      </a:r>
                    </a:p>
                  </a:txBody>
                  <a:tcPr marL="72000" marR="9525" marT="952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chemeClr val="tx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0476952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Roboto Condensed(Body)"/>
                        </a:rPr>
                        <a:t>Rno</a:t>
                      </a:r>
                      <a:endParaRPr lang="en-US" sz="1600" b="1" i="0" u="none" strike="noStrike" kern="1200" dirty="0">
                        <a:solidFill>
                          <a:schemeClr val="bg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Name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Branch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899890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101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Aesha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CE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836710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6729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8" grpId="0" animBg="1"/>
      <p:bldP spid="29" grpId="0" animBg="1"/>
      <p:bldP spid="30" grpId="0" animBg="1"/>
      <p:bldP spid="31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B025E-5C5A-FF07-BB59-0CEBD9C22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43BBA-EC5B-7C33-3124-9990A8F7D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Like</a:t>
            </a:r>
            <a:r>
              <a:rPr lang="en-US" dirty="0">
                <a:latin typeface="Roboto Condensed(Body)"/>
              </a:rPr>
              <a:t>(Cont..)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4292C6A-0FA0-CBC1-4C8B-EFAAC7F2F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686" y="1014092"/>
            <a:ext cx="11659767" cy="5595107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55A3AC-CC08-291A-3A3C-3B976FCB67E8}"/>
              </a:ext>
            </a:extLst>
          </p:cNvPr>
          <p:cNvSpPr txBox="1"/>
          <p:nvPr/>
        </p:nvSpPr>
        <p:spPr>
          <a:xfrm>
            <a:off x="145219" y="927219"/>
            <a:ext cx="8629927" cy="46166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E.g. Display details of student whose name consists of 3 characters</a:t>
            </a:r>
          </a:p>
        </p:txBody>
      </p:sp>
      <p:graphicFrame>
        <p:nvGraphicFramePr>
          <p:cNvPr id="9" name="Content Placeholder 11">
            <a:extLst>
              <a:ext uri="{FF2B5EF4-FFF2-40B4-BE49-F238E27FC236}">
                <a16:creationId xmlns:a16="http://schemas.microsoft.com/office/drawing/2014/main" id="{465645B5-6E68-C2D6-28CC-432D8481D3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078119"/>
              </p:ext>
            </p:extLst>
          </p:nvPr>
        </p:nvGraphicFramePr>
        <p:xfrm>
          <a:off x="4899594" y="4428379"/>
          <a:ext cx="2156080" cy="100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2080">
                  <a:extLst>
                    <a:ext uri="{9D8B030D-6E8A-4147-A177-3AD203B41FA5}">
                      <a16:colId xmlns:a16="http://schemas.microsoft.com/office/drawing/2014/main" val="367360831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43480616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487458896"/>
                    </a:ext>
                  </a:extLst>
                </a:gridCol>
              </a:tblGrid>
              <a:tr h="261884">
                <a:tc gridSpan="3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ysClr val="windowText" lastClr="000000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Student</a:t>
                      </a:r>
                    </a:p>
                  </a:txBody>
                  <a:tcPr marL="72000" marR="9525" marT="9525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Roboto Condensed(Body)"/>
                        </a:rPr>
                        <a:t>Rno</a:t>
                      </a:r>
                      <a:endParaRPr lang="en-US" sz="1600" b="1" i="0" u="none" strike="noStrike" kern="1200" dirty="0">
                        <a:solidFill>
                          <a:schemeClr val="bg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Name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899890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102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Mit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72000" marR="9525" marT="9525" marB="0" anchor="ctr"/>
                </a:tc>
                <a:extLst>
                  <a:ext uri="{0D108BD9-81ED-4DB2-BD59-A6C34878D82A}">
                    <a16:rowId xmlns:a16="http://schemas.microsoft.com/office/drawing/2014/main" val="3836710165"/>
                  </a:ext>
                </a:extLst>
              </a:tr>
            </a:tbl>
          </a:graphicData>
        </a:graphic>
      </p:graphicFrame>
      <p:graphicFrame>
        <p:nvGraphicFramePr>
          <p:cNvPr id="10" name="Content Placeholder 11">
            <a:extLst>
              <a:ext uri="{FF2B5EF4-FFF2-40B4-BE49-F238E27FC236}">
                <a16:creationId xmlns:a16="http://schemas.microsoft.com/office/drawing/2014/main" id="{82B1B954-CE28-DDD2-D9D3-1E30DFBFB74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20396979"/>
              </p:ext>
            </p:extLst>
          </p:nvPr>
        </p:nvGraphicFramePr>
        <p:xfrm>
          <a:off x="581982" y="3856138"/>
          <a:ext cx="2156080" cy="2482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2080">
                  <a:extLst>
                    <a:ext uri="{9D8B030D-6E8A-4147-A177-3AD203B41FA5}">
                      <a16:colId xmlns:a16="http://schemas.microsoft.com/office/drawing/2014/main" val="367360831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43480616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487458896"/>
                    </a:ext>
                  </a:extLst>
                </a:gridCol>
              </a:tblGrid>
              <a:tr h="261884">
                <a:tc gridSpan="3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ysClr val="windowText" lastClr="000000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Student</a:t>
                      </a:r>
                    </a:p>
                  </a:txBody>
                  <a:tcPr marL="72000" marR="9525" marT="9525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Roboto Condensed(Body)"/>
                        </a:rPr>
                        <a:t>Rno</a:t>
                      </a:r>
                      <a:endParaRPr lang="en-US" sz="1600" b="1" i="0" u="none" strike="noStrike" kern="1200" dirty="0">
                        <a:solidFill>
                          <a:schemeClr val="bg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Name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899890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101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Anil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9.28</a:t>
                      </a:r>
                    </a:p>
                  </a:txBody>
                  <a:tcPr marL="72000" marR="9525" marT="9525" marB="0" anchor="ctr"/>
                </a:tc>
                <a:extLst>
                  <a:ext uri="{0D108BD9-81ED-4DB2-BD59-A6C34878D82A}">
                    <a16:rowId xmlns:a16="http://schemas.microsoft.com/office/drawing/2014/main" val="3836710165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102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Mit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72000" marR="9525" marT="9525" marB="0" anchor="ctr"/>
                </a:tc>
                <a:extLst>
                  <a:ext uri="{0D108BD9-81ED-4DB2-BD59-A6C34878D82A}">
                    <a16:rowId xmlns:a16="http://schemas.microsoft.com/office/drawing/2014/main" val="3784041172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103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Darshan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72000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104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Ajay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7.65</a:t>
                      </a:r>
                    </a:p>
                  </a:txBody>
                  <a:tcPr marL="72000" marR="9525" marT="9525" marB="0" anchor="ctr"/>
                </a:tc>
                <a:extLst>
                  <a:ext uri="{0D108BD9-81ED-4DB2-BD59-A6C34878D82A}">
                    <a16:rowId xmlns:a16="http://schemas.microsoft.com/office/drawing/2014/main" val="1508552949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105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Vijay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9.5</a:t>
                      </a:r>
                    </a:p>
                  </a:txBody>
                  <a:tcPr marL="72000" marR="9525" marT="9525" marB="0" anchor="ctr"/>
                </a:tc>
                <a:extLst>
                  <a:ext uri="{0D108BD9-81ED-4DB2-BD59-A6C34878D82A}">
                    <a16:rowId xmlns:a16="http://schemas.microsoft.com/office/drawing/2014/main" val="1543748841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8FE3A4E1-B41A-E0C8-8A98-F40B69F711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24358" y="4558860"/>
            <a:ext cx="1132566" cy="1022279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411A21F-A861-5FA7-3DD3-DA6922D9E9D4}"/>
              </a:ext>
            </a:extLst>
          </p:cNvPr>
          <p:cNvSpPr/>
          <p:nvPr/>
        </p:nvSpPr>
        <p:spPr>
          <a:xfrm>
            <a:off x="473054" y="1642244"/>
            <a:ext cx="7876979" cy="19434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895E48-B09A-5125-5515-2BB5FEF00FFC}"/>
              </a:ext>
            </a:extLst>
          </p:cNvPr>
          <p:cNvSpPr/>
          <p:nvPr/>
        </p:nvSpPr>
        <p:spPr>
          <a:xfrm>
            <a:off x="669706" y="1832371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00FF"/>
                </a:solidFill>
                <a:latin typeface="+mj-lt"/>
              </a:rPr>
              <a:t>SELECT</a:t>
            </a:r>
            <a:endParaRPr lang="en-US" dirty="0">
              <a:solidFill>
                <a:srgbClr val="0000FF"/>
              </a:solidFill>
              <a:latin typeface="+mj-l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D9AA8E-7186-09C2-83CD-29FF521ECCF2}"/>
              </a:ext>
            </a:extLst>
          </p:cNvPr>
          <p:cNvSpPr/>
          <p:nvPr/>
        </p:nvSpPr>
        <p:spPr>
          <a:xfrm>
            <a:off x="1763188" y="2385345"/>
            <a:ext cx="1272431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latin typeface="+mj-lt"/>
              </a:rPr>
              <a:t>Student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754CDF-9FF7-0546-5A06-5E52B562B2CC}"/>
              </a:ext>
            </a:extLst>
          </p:cNvPr>
          <p:cNvSpPr/>
          <p:nvPr/>
        </p:nvSpPr>
        <p:spPr>
          <a:xfrm>
            <a:off x="669706" y="2385345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+mj-lt"/>
              </a:rPr>
              <a:t>FROM</a:t>
            </a:r>
            <a:endParaRPr lang="en-US" dirty="0">
              <a:ln w="0"/>
              <a:solidFill>
                <a:schemeClr val="tx1"/>
              </a:solidFill>
              <a:latin typeface="+mj-lt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524D96D-D823-76AC-0A75-6308DD4E44A7}"/>
              </a:ext>
            </a:extLst>
          </p:cNvPr>
          <p:cNvSpPr/>
          <p:nvPr/>
        </p:nvSpPr>
        <p:spPr>
          <a:xfrm>
            <a:off x="5168665" y="2923920"/>
            <a:ext cx="132398" cy="44718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;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9B8498-36E1-A6A0-0C6E-3A5D53AF126A}"/>
              </a:ext>
            </a:extLst>
          </p:cNvPr>
          <p:cNvSpPr/>
          <p:nvPr/>
        </p:nvSpPr>
        <p:spPr>
          <a:xfrm>
            <a:off x="1763187" y="1833101"/>
            <a:ext cx="48732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rPr>
              <a:t>*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50EBC97-8357-505D-EA15-D85E34C7E46A}"/>
              </a:ext>
            </a:extLst>
          </p:cNvPr>
          <p:cNvSpPr/>
          <p:nvPr/>
        </p:nvSpPr>
        <p:spPr>
          <a:xfrm>
            <a:off x="1863720" y="2921947"/>
            <a:ext cx="1171897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latin typeface="+mj-lt"/>
              </a:rPr>
              <a:t>Name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FF4EA1E-3CA1-F03C-9278-200B63DCB1AA}"/>
              </a:ext>
            </a:extLst>
          </p:cNvPr>
          <p:cNvSpPr/>
          <p:nvPr/>
        </p:nvSpPr>
        <p:spPr>
          <a:xfrm>
            <a:off x="669706" y="2921947"/>
            <a:ext cx="109348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+mj-lt"/>
              </a:rPr>
              <a:t>WHERE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DDF8EAB-569C-68C6-CE57-887995986917}"/>
              </a:ext>
            </a:extLst>
          </p:cNvPr>
          <p:cNvSpPr/>
          <p:nvPr/>
        </p:nvSpPr>
        <p:spPr>
          <a:xfrm>
            <a:off x="3136151" y="2921947"/>
            <a:ext cx="970287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 LIKE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E47A103-A926-6C7C-15FD-625B99E5444D}"/>
              </a:ext>
            </a:extLst>
          </p:cNvPr>
          <p:cNvSpPr/>
          <p:nvPr/>
        </p:nvSpPr>
        <p:spPr>
          <a:xfrm>
            <a:off x="4203405" y="2921947"/>
            <a:ext cx="847693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>
                <a:solidFill>
                  <a:srgbClr val="FF0000"/>
                </a:solidFill>
                <a:latin typeface="Consolas" panose="020B0609020204030204" pitchFamily="49" charset="0"/>
              </a:rPr>
              <a:t>'___'</a:t>
            </a:r>
          </a:p>
        </p:txBody>
      </p:sp>
    </p:spTree>
    <p:extLst>
      <p:ext uri="{BB962C8B-B14F-4D97-AF65-F5344CB8AC3E}">
        <p14:creationId xmlns:p14="http://schemas.microsoft.com/office/powerpoint/2010/main" val="4093909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27" grpId="0" animBg="1"/>
      <p:bldP spid="32" grpId="0" animBg="1"/>
      <p:bldP spid="42" grpId="0" animBg="1"/>
      <p:bldP spid="43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A4291-DFB2-4EB1-3390-BF1DB0F30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17DE0-4E63-D41C-A622-5002E22FC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Order By Clause</a:t>
            </a:r>
          </a:p>
        </p:txBody>
      </p:sp>
    </p:spTree>
    <p:extLst>
      <p:ext uri="{BB962C8B-B14F-4D97-AF65-F5344CB8AC3E}">
        <p14:creationId xmlns:p14="http://schemas.microsoft.com/office/powerpoint/2010/main" val="258029784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Order by clause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>
                <a:solidFill>
                  <a:schemeClr val="accent6"/>
                </a:solidFill>
              </a:rPr>
              <a:t>ORDER BY keyword </a:t>
            </a:r>
            <a:r>
              <a:rPr lang="en-US" dirty="0"/>
              <a:t>is used to </a:t>
            </a:r>
            <a:r>
              <a:rPr lang="en-US" b="1" dirty="0">
                <a:solidFill>
                  <a:schemeClr val="accent6"/>
                </a:solidFill>
              </a:rPr>
              <a:t>sort</a:t>
            </a:r>
            <a:r>
              <a:rPr lang="en-US" dirty="0"/>
              <a:t> the result-set in </a:t>
            </a:r>
            <a:r>
              <a:rPr lang="en-US" b="1" dirty="0">
                <a:solidFill>
                  <a:schemeClr val="accent6"/>
                </a:solidFill>
              </a:rPr>
              <a:t>ascending </a:t>
            </a:r>
            <a:r>
              <a:rPr lang="en-US" dirty="0"/>
              <a:t>or</a:t>
            </a:r>
            <a:r>
              <a:rPr lang="en-US" b="1" dirty="0">
                <a:solidFill>
                  <a:schemeClr val="accent6"/>
                </a:solidFill>
              </a:rPr>
              <a:t> descending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chemeClr val="accent6"/>
                </a:solidFill>
              </a:rPr>
              <a:t>order</a:t>
            </a:r>
            <a:r>
              <a:rPr lang="en-US" dirty="0"/>
              <a:t>.</a:t>
            </a:r>
          </a:p>
          <a:p>
            <a:r>
              <a:rPr lang="en-US" dirty="0"/>
              <a:t>The ORDER BY keyword </a:t>
            </a:r>
            <a:r>
              <a:rPr lang="en-US" b="1" dirty="0">
                <a:solidFill>
                  <a:schemeClr val="accent6"/>
                </a:solidFill>
              </a:rPr>
              <a:t>sorts</a:t>
            </a:r>
            <a:r>
              <a:rPr lang="en-US" dirty="0"/>
              <a:t> the records in </a:t>
            </a:r>
            <a:r>
              <a:rPr lang="en-US" b="1" dirty="0">
                <a:solidFill>
                  <a:schemeClr val="accent6"/>
                </a:solidFill>
              </a:rPr>
              <a:t>ascending order by default</a:t>
            </a:r>
            <a:r>
              <a:rPr lang="en-US" dirty="0"/>
              <a:t>. To sort the records in descending order, use the </a:t>
            </a:r>
            <a:r>
              <a:rPr lang="en-US" b="1" dirty="0">
                <a:solidFill>
                  <a:schemeClr val="accent6"/>
                </a:solidFill>
              </a:rPr>
              <a:t>DESC</a:t>
            </a:r>
            <a:r>
              <a:rPr lang="en-US" dirty="0"/>
              <a:t> keyword.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A45BA5-26A3-443D-A231-5F021A95DF57}"/>
              </a:ext>
            </a:extLst>
          </p:cNvPr>
          <p:cNvSpPr txBox="1"/>
          <p:nvPr/>
        </p:nvSpPr>
        <p:spPr>
          <a:xfrm>
            <a:off x="353584" y="2379692"/>
            <a:ext cx="3576248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Roboto Condensed(Body)"/>
              </a:rPr>
              <a:t>Syntax:-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28005E-591F-40FD-822A-CB0F8F6AB869}"/>
              </a:ext>
            </a:extLst>
          </p:cNvPr>
          <p:cNvSpPr/>
          <p:nvPr/>
        </p:nvSpPr>
        <p:spPr>
          <a:xfrm>
            <a:off x="657421" y="2983949"/>
            <a:ext cx="7876979" cy="19434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Roboto Condensed(Body)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ECF716-F371-4957-833C-5A403051D680}"/>
              </a:ext>
            </a:extLst>
          </p:cNvPr>
          <p:cNvSpPr/>
          <p:nvPr/>
        </p:nvSpPr>
        <p:spPr>
          <a:xfrm>
            <a:off x="809703" y="3174077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00FF"/>
                </a:solidFill>
                <a:latin typeface="Roboto Condensed(Body)"/>
              </a:rPr>
              <a:t>SELECT</a:t>
            </a:r>
            <a:endParaRPr lang="en-US" dirty="0">
              <a:solidFill>
                <a:srgbClr val="0000FF"/>
              </a:solidFill>
              <a:latin typeface="Roboto Condensed(Body)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780D6A-6854-481B-B1B7-8C24458D5DEF}"/>
              </a:ext>
            </a:extLst>
          </p:cNvPr>
          <p:cNvSpPr/>
          <p:nvPr/>
        </p:nvSpPr>
        <p:spPr>
          <a:xfrm>
            <a:off x="1903185" y="3727051"/>
            <a:ext cx="1272431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ln w="0"/>
                <a:solidFill>
                  <a:schemeClr val="tx1"/>
                </a:solidFill>
                <a:latin typeface="Roboto Condensed(Body)"/>
              </a:rPr>
              <a:t>TableName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5E9711-4230-427E-9DB5-34F6485C9D12}"/>
              </a:ext>
            </a:extLst>
          </p:cNvPr>
          <p:cNvSpPr/>
          <p:nvPr/>
        </p:nvSpPr>
        <p:spPr>
          <a:xfrm>
            <a:off x="809703" y="3727051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FROM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31B774-CA57-46BD-85AE-D5ED7035DFA1}"/>
              </a:ext>
            </a:extLst>
          </p:cNvPr>
          <p:cNvSpPr/>
          <p:nvPr/>
        </p:nvSpPr>
        <p:spPr>
          <a:xfrm>
            <a:off x="7848231" y="4263653"/>
            <a:ext cx="132398" cy="44718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(Body)"/>
              </a:rPr>
              <a:t>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8C1AA5-FFD1-4B8A-980E-055385C11134}"/>
              </a:ext>
            </a:extLst>
          </p:cNvPr>
          <p:cNvSpPr/>
          <p:nvPr/>
        </p:nvSpPr>
        <p:spPr>
          <a:xfrm>
            <a:off x="1903183" y="3174807"/>
            <a:ext cx="1272431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(Body)"/>
              </a:rPr>
              <a:t>Columns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CCC159-5EE4-4388-A333-AAB3D464F2D9}"/>
              </a:ext>
            </a:extLst>
          </p:cNvPr>
          <p:cNvSpPr/>
          <p:nvPr/>
        </p:nvSpPr>
        <p:spPr>
          <a:xfrm>
            <a:off x="2228002" y="4263653"/>
            <a:ext cx="1627075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latin typeface="Roboto Condensed(Body)"/>
              </a:rPr>
              <a:t>Columnname1,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1A2C6CD-E10E-4650-ACAC-5DFD06F3EB69}"/>
              </a:ext>
            </a:extLst>
          </p:cNvPr>
          <p:cNvSpPr/>
          <p:nvPr/>
        </p:nvSpPr>
        <p:spPr>
          <a:xfrm>
            <a:off x="809703" y="4263653"/>
            <a:ext cx="131970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ORDER BY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4665101-BFAF-4783-8970-369DD5B14F6F}"/>
              </a:ext>
            </a:extLst>
          </p:cNvPr>
          <p:cNvSpPr/>
          <p:nvPr/>
        </p:nvSpPr>
        <p:spPr>
          <a:xfrm>
            <a:off x="3953670" y="4263653"/>
            <a:ext cx="161248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latin typeface="Roboto Condensed(Body)"/>
              </a:rPr>
              <a:t>Columnname2,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E0140FA-0336-4902-A963-3733B3D9A81B}"/>
              </a:ext>
            </a:extLst>
          </p:cNvPr>
          <p:cNvSpPr/>
          <p:nvPr/>
        </p:nvSpPr>
        <p:spPr>
          <a:xfrm>
            <a:off x="5664749" y="4263653"/>
            <a:ext cx="66659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latin typeface="Roboto Condensed(Body)"/>
              </a:rPr>
              <a:t>…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1756A0-86D2-4FFF-A7FB-554A083669C5}"/>
              </a:ext>
            </a:extLst>
          </p:cNvPr>
          <p:cNvSpPr/>
          <p:nvPr/>
        </p:nvSpPr>
        <p:spPr>
          <a:xfrm>
            <a:off x="6429932" y="4263653"/>
            <a:ext cx="131970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latin typeface="Roboto Condensed(Body)"/>
              </a:rPr>
              <a:t>[</a:t>
            </a:r>
            <a:r>
              <a:rPr lang="en-US" dirty="0">
                <a:solidFill>
                  <a:srgbClr val="0000FF"/>
                </a:solidFill>
                <a:latin typeface="Roboto Condensed(Body)"/>
              </a:rPr>
              <a:t>ASC</a:t>
            </a:r>
            <a:r>
              <a:rPr lang="en-US" dirty="0">
                <a:ln w="0"/>
                <a:solidFill>
                  <a:schemeClr val="tx1"/>
                </a:solidFill>
                <a:latin typeface="Roboto Condensed(Body)"/>
              </a:rPr>
              <a:t>|</a:t>
            </a:r>
            <a:r>
              <a:rPr lang="en-US" dirty="0">
                <a:solidFill>
                  <a:srgbClr val="0000FF"/>
                </a:solidFill>
                <a:latin typeface="Roboto Condensed(Body)"/>
              </a:rPr>
              <a:t>DESC</a:t>
            </a:r>
            <a:r>
              <a:rPr lang="en-US" dirty="0">
                <a:ln w="0"/>
                <a:solidFill>
                  <a:schemeClr val="tx1"/>
                </a:solidFill>
                <a:latin typeface="Roboto Condensed(Body)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162270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Roboto Condensed(Body)"/>
              </a:rPr>
              <a:t>SQL Order by clause(Cont..)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9951" y="903175"/>
            <a:ext cx="8643549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Roboto Condensed(Body)"/>
              </a:rPr>
              <a:t>E.g. Display all the students as per their name in ascending order.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F94ECF-7BB3-4094-93B9-B9E5581A881C}"/>
              </a:ext>
            </a:extLst>
          </p:cNvPr>
          <p:cNvSpPr/>
          <p:nvPr/>
        </p:nvSpPr>
        <p:spPr>
          <a:xfrm>
            <a:off x="609600" y="1447800"/>
            <a:ext cx="5279633" cy="19434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Roboto Condensed(Body)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BF0513-8526-4166-9766-F9B15D610FCE}"/>
              </a:ext>
            </a:extLst>
          </p:cNvPr>
          <p:cNvSpPr/>
          <p:nvPr/>
        </p:nvSpPr>
        <p:spPr>
          <a:xfrm>
            <a:off x="809703" y="1637928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00FF"/>
                </a:solidFill>
                <a:latin typeface="Roboto Condensed(Body)"/>
              </a:rPr>
              <a:t>SELECT</a:t>
            </a:r>
            <a:endParaRPr lang="en-US" dirty="0">
              <a:solidFill>
                <a:srgbClr val="0000FF"/>
              </a:solidFill>
              <a:latin typeface="Roboto Condensed(Body)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690031-73BF-4DE1-8A5A-21044BD347D4}"/>
              </a:ext>
            </a:extLst>
          </p:cNvPr>
          <p:cNvSpPr/>
          <p:nvPr/>
        </p:nvSpPr>
        <p:spPr>
          <a:xfrm>
            <a:off x="1903185" y="2190902"/>
            <a:ext cx="1068615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latin typeface="Roboto Condensed(Body)"/>
              </a:rPr>
              <a:t>Student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2A5ECA-20D6-46DF-8186-F954B399DB9F}"/>
              </a:ext>
            </a:extLst>
          </p:cNvPr>
          <p:cNvSpPr/>
          <p:nvPr/>
        </p:nvSpPr>
        <p:spPr>
          <a:xfrm>
            <a:off x="809703" y="2190902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FROM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EEF507-AD18-408C-B1E5-0AEE06A4170C}"/>
              </a:ext>
            </a:extLst>
          </p:cNvPr>
          <p:cNvSpPr/>
          <p:nvPr/>
        </p:nvSpPr>
        <p:spPr>
          <a:xfrm>
            <a:off x="3292893" y="2733189"/>
            <a:ext cx="168820" cy="44718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(Body)"/>
              </a:rPr>
              <a:t>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95266-23D6-4D04-87D9-D6D4EAD20785}"/>
              </a:ext>
            </a:extLst>
          </p:cNvPr>
          <p:cNvSpPr/>
          <p:nvPr/>
        </p:nvSpPr>
        <p:spPr>
          <a:xfrm>
            <a:off x="1903184" y="1638658"/>
            <a:ext cx="4528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(Body)"/>
              </a:rPr>
              <a:t>*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593361-1029-47C6-BAC5-EEC2BFCBD3D2}"/>
              </a:ext>
            </a:extLst>
          </p:cNvPr>
          <p:cNvSpPr/>
          <p:nvPr/>
        </p:nvSpPr>
        <p:spPr>
          <a:xfrm>
            <a:off x="2228003" y="2733189"/>
            <a:ext cx="93342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latin typeface="Roboto Condensed(Body)"/>
              </a:rPr>
              <a:t>NAME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4292379-79E3-40EC-A9C6-A241FAB12C44}"/>
              </a:ext>
            </a:extLst>
          </p:cNvPr>
          <p:cNvSpPr/>
          <p:nvPr/>
        </p:nvSpPr>
        <p:spPr>
          <a:xfrm>
            <a:off x="809703" y="2733189"/>
            <a:ext cx="131970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ORDER BY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21579C8-E6FC-4F70-B36D-727A0B47FC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V="1">
            <a:off x="6096000" y="4635753"/>
            <a:ext cx="726256" cy="655536"/>
          </a:xfrm>
          <a:prstGeom prst="rect">
            <a:avLst/>
          </a:prstGeom>
          <a:ln>
            <a:solidFill>
              <a:schemeClr val="bg1"/>
            </a:solidFill>
          </a:ln>
        </p:spPr>
      </p:pic>
      <p:graphicFrame>
        <p:nvGraphicFramePr>
          <p:cNvPr id="18" name="Content Placeholder 11">
            <a:extLst>
              <a:ext uri="{FF2B5EF4-FFF2-40B4-BE49-F238E27FC236}">
                <a16:creationId xmlns:a16="http://schemas.microsoft.com/office/drawing/2014/main" id="{20604463-0E29-4D88-A076-4E88538B65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68625327"/>
              </p:ext>
            </p:extLst>
          </p:nvPr>
        </p:nvGraphicFramePr>
        <p:xfrm>
          <a:off x="7162777" y="3804911"/>
          <a:ext cx="2619111" cy="24005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911">
                  <a:extLst>
                    <a:ext uri="{9D8B030D-6E8A-4147-A177-3AD203B41FA5}">
                      <a16:colId xmlns:a16="http://schemas.microsoft.com/office/drawing/2014/main" val="3673608313"/>
                    </a:ext>
                  </a:extLst>
                </a:gridCol>
                <a:gridCol w="685581">
                  <a:extLst>
                    <a:ext uri="{9D8B030D-6E8A-4147-A177-3AD203B41FA5}">
                      <a16:colId xmlns:a16="http://schemas.microsoft.com/office/drawing/2014/main" val="1434806160"/>
                    </a:ext>
                  </a:extLst>
                </a:gridCol>
                <a:gridCol w="628449">
                  <a:extLst>
                    <a:ext uri="{9D8B030D-6E8A-4147-A177-3AD203B41FA5}">
                      <a16:colId xmlns:a16="http://schemas.microsoft.com/office/drawing/2014/main" val="3487458896"/>
                    </a:ext>
                  </a:extLst>
                </a:gridCol>
                <a:gridCol w="736170">
                  <a:extLst>
                    <a:ext uri="{9D8B030D-6E8A-4147-A177-3AD203B41FA5}">
                      <a16:colId xmlns:a16="http://schemas.microsoft.com/office/drawing/2014/main" val="3469217163"/>
                    </a:ext>
                  </a:extLst>
                </a:gridCol>
              </a:tblGrid>
              <a:tr h="263143">
                <a:tc gridSpan="3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Student</a:t>
                      </a:r>
                    </a:p>
                  </a:txBody>
                  <a:tcPr marL="72000" marR="9525" marT="952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chemeClr val="tx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0476952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Roboto Condensed(Body)"/>
                        </a:rPr>
                        <a:t>Rno</a:t>
                      </a:r>
                      <a:endParaRPr lang="en-US" sz="1600" b="1" i="0" u="none" strike="noStrike" kern="1200" dirty="0">
                        <a:solidFill>
                          <a:schemeClr val="bg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Name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Branch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899890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105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Mahesh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EE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836710165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104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Meera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EC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84041172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103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Neha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101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Raju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CE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73964503"/>
                  </a:ext>
                </a:extLst>
              </a:tr>
              <a:tr h="286811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102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Sanjay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CE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05132244"/>
                  </a:ext>
                </a:extLst>
              </a:tr>
            </a:tbl>
          </a:graphicData>
        </a:graphic>
      </p:graphicFrame>
      <p:graphicFrame>
        <p:nvGraphicFramePr>
          <p:cNvPr id="19" name="Content Placeholder 11">
            <a:extLst>
              <a:ext uri="{FF2B5EF4-FFF2-40B4-BE49-F238E27FC236}">
                <a16:creationId xmlns:a16="http://schemas.microsoft.com/office/drawing/2014/main" id="{5810CD15-53DC-428B-8929-7102326B7114}"/>
              </a:ext>
            </a:extLst>
          </p:cNvPr>
          <p:cNvGraphicFramePr>
            <a:graphicFrameLocks/>
          </p:cNvGraphicFramePr>
          <p:nvPr/>
        </p:nvGraphicFramePr>
        <p:xfrm>
          <a:off x="3161422" y="3721608"/>
          <a:ext cx="2619111" cy="24838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911">
                  <a:extLst>
                    <a:ext uri="{9D8B030D-6E8A-4147-A177-3AD203B41FA5}">
                      <a16:colId xmlns:a16="http://schemas.microsoft.com/office/drawing/2014/main" val="3673608313"/>
                    </a:ext>
                  </a:extLst>
                </a:gridCol>
                <a:gridCol w="685581">
                  <a:extLst>
                    <a:ext uri="{9D8B030D-6E8A-4147-A177-3AD203B41FA5}">
                      <a16:colId xmlns:a16="http://schemas.microsoft.com/office/drawing/2014/main" val="1434806160"/>
                    </a:ext>
                  </a:extLst>
                </a:gridCol>
                <a:gridCol w="628449">
                  <a:extLst>
                    <a:ext uri="{9D8B030D-6E8A-4147-A177-3AD203B41FA5}">
                      <a16:colId xmlns:a16="http://schemas.microsoft.com/office/drawing/2014/main" val="3487458896"/>
                    </a:ext>
                  </a:extLst>
                </a:gridCol>
                <a:gridCol w="736170">
                  <a:extLst>
                    <a:ext uri="{9D8B030D-6E8A-4147-A177-3AD203B41FA5}">
                      <a16:colId xmlns:a16="http://schemas.microsoft.com/office/drawing/2014/main" val="3469217163"/>
                    </a:ext>
                  </a:extLst>
                </a:gridCol>
              </a:tblGrid>
              <a:tr h="263143">
                <a:tc gridSpan="3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Student</a:t>
                      </a:r>
                    </a:p>
                  </a:txBody>
                  <a:tcPr marL="72000" marR="9525" marT="952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chemeClr val="tx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0476952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Roboto Condensed(Body)"/>
                        </a:rPr>
                        <a:t>Rno</a:t>
                      </a:r>
                      <a:endParaRPr lang="en-US" sz="1600" b="1" i="0" u="none" strike="noStrike" kern="1200" dirty="0">
                        <a:solidFill>
                          <a:schemeClr val="bg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Name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Branch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899890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101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Raju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CE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836710165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102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Sanjay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CE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84041172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103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Neha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104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Meera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EC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73964503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105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Mahesh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EE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0513224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FF0D15D-8E6A-00DE-5E65-A4641BAAF111}"/>
              </a:ext>
            </a:extLst>
          </p:cNvPr>
          <p:cNvSpPr txBox="1"/>
          <p:nvPr/>
        </p:nvSpPr>
        <p:spPr>
          <a:xfrm>
            <a:off x="7162777" y="2744870"/>
            <a:ext cx="2942276" cy="92333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Roboto Condensed(Body)"/>
              </a:rPr>
              <a:t>For ascending order no need to specify ASCE after column name.</a:t>
            </a:r>
          </a:p>
        </p:txBody>
      </p:sp>
    </p:spTree>
    <p:extLst>
      <p:ext uri="{BB962C8B-B14F-4D97-AF65-F5344CB8AC3E}">
        <p14:creationId xmlns:p14="http://schemas.microsoft.com/office/powerpoint/2010/main" val="1254300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3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27C71-14A0-EF4D-E9A1-39BE349EF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1B7FE-9F33-5E86-A81F-873367463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Roboto Condensed(Body)"/>
              </a:rPr>
              <a:t>SQL Order by clause(Cont..)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50FB94-2FDA-86DE-60C3-F42BF8536FCA}"/>
              </a:ext>
            </a:extLst>
          </p:cNvPr>
          <p:cNvSpPr txBox="1"/>
          <p:nvPr/>
        </p:nvSpPr>
        <p:spPr>
          <a:xfrm>
            <a:off x="309951" y="903175"/>
            <a:ext cx="8643549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Roboto Condensed(Body)"/>
              </a:rPr>
              <a:t>E.g. Display all the students as per their SPI in descending and branch name in ascending.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087266-36DA-2952-4B1E-E798FD4F96B4}"/>
              </a:ext>
            </a:extLst>
          </p:cNvPr>
          <p:cNvSpPr/>
          <p:nvPr/>
        </p:nvSpPr>
        <p:spPr>
          <a:xfrm>
            <a:off x="609600" y="1447800"/>
            <a:ext cx="5279633" cy="19434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Roboto Condensed(Body)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05804E-B328-03AE-0CB8-9A4DA5F49ABC}"/>
              </a:ext>
            </a:extLst>
          </p:cNvPr>
          <p:cNvSpPr/>
          <p:nvPr/>
        </p:nvSpPr>
        <p:spPr>
          <a:xfrm>
            <a:off x="809703" y="1637928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00FF"/>
                </a:solidFill>
                <a:latin typeface="Roboto Condensed(Body)"/>
              </a:rPr>
              <a:t>SELECT</a:t>
            </a:r>
            <a:endParaRPr lang="en-US" dirty="0">
              <a:solidFill>
                <a:srgbClr val="0000FF"/>
              </a:solidFill>
              <a:latin typeface="Roboto Condensed(Body)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6EFFA2-B98C-2C0A-E8C7-20D44A8E395B}"/>
              </a:ext>
            </a:extLst>
          </p:cNvPr>
          <p:cNvSpPr/>
          <p:nvPr/>
        </p:nvSpPr>
        <p:spPr>
          <a:xfrm>
            <a:off x="1903185" y="2190902"/>
            <a:ext cx="1068615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latin typeface="Roboto Condensed(Body)"/>
              </a:rPr>
              <a:t>Student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40134D-0E3B-475E-351A-B1913CA497D1}"/>
              </a:ext>
            </a:extLst>
          </p:cNvPr>
          <p:cNvSpPr/>
          <p:nvPr/>
        </p:nvSpPr>
        <p:spPr>
          <a:xfrm>
            <a:off x="809703" y="2190902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FROM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BE45A8-0AF9-4935-BB3C-F6B42A51B750}"/>
              </a:ext>
            </a:extLst>
          </p:cNvPr>
          <p:cNvSpPr/>
          <p:nvPr/>
        </p:nvSpPr>
        <p:spPr>
          <a:xfrm>
            <a:off x="5335124" y="2733189"/>
            <a:ext cx="168820" cy="44718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(Body)"/>
              </a:rPr>
              <a:t>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51B4D7-5B7E-5188-DCF2-5A65279BDADC}"/>
              </a:ext>
            </a:extLst>
          </p:cNvPr>
          <p:cNvSpPr/>
          <p:nvPr/>
        </p:nvSpPr>
        <p:spPr>
          <a:xfrm>
            <a:off x="1903184" y="1638658"/>
            <a:ext cx="4528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(Body)"/>
              </a:rPr>
              <a:t>*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F17210-1305-D61E-0A67-E36E67F171A4}"/>
              </a:ext>
            </a:extLst>
          </p:cNvPr>
          <p:cNvSpPr/>
          <p:nvPr/>
        </p:nvSpPr>
        <p:spPr>
          <a:xfrm>
            <a:off x="2228003" y="2733189"/>
            <a:ext cx="1277198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latin typeface="Roboto Condensed(Body)"/>
              </a:rPr>
              <a:t>SPI </a:t>
            </a:r>
            <a:r>
              <a:rPr lang="en-US" dirty="0">
                <a:solidFill>
                  <a:srgbClr val="0000FF"/>
                </a:solidFill>
                <a:latin typeface="Roboto Condensed(Body)"/>
              </a:rPr>
              <a:t>DESC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C30004-571E-9B30-D9B4-438DB2856129}"/>
              </a:ext>
            </a:extLst>
          </p:cNvPr>
          <p:cNvSpPr/>
          <p:nvPr/>
        </p:nvSpPr>
        <p:spPr>
          <a:xfrm>
            <a:off x="809703" y="2733189"/>
            <a:ext cx="131970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ORDER BY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978892C-4B48-3790-3DC3-24812BC20406}"/>
              </a:ext>
            </a:extLst>
          </p:cNvPr>
          <p:cNvSpPr/>
          <p:nvPr/>
        </p:nvSpPr>
        <p:spPr>
          <a:xfrm>
            <a:off x="3861203" y="2733189"/>
            <a:ext cx="138033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latin typeface="Roboto Condensed(Body)"/>
              </a:rPr>
              <a:t>Branch </a:t>
            </a:r>
            <a:r>
              <a:rPr lang="en-US" dirty="0">
                <a:solidFill>
                  <a:srgbClr val="0000FF"/>
                </a:solidFill>
                <a:latin typeface="Roboto Condensed(Body)"/>
              </a:rPr>
              <a:t>ASC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72AB66-C466-C506-DBDC-F59CB1AAAEB5}"/>
              </a:ext>
            </a:extLst>
          </p:cNvPr>
          <p:cNvSpPr/>
          <p:nvPr/>
        </p:nvSpPr>
        <p:spPr>
          <a:xfrm>
            <a:off x="3598792" y="2733189"/>
            <a:ext cx="168820" cy="44718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(Body)"/>
              </a:rPr>
              <a:t>,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C4458F-03CA-BE94-321F-3B1304309B62}"/>
              </a:ext>
            </a:extLst>
          </p:cNvPr>
          <p:cNvSpPr txBox="1"/>
          <p:nvPr/>
        </p:nvSpPr>
        <p:spPr>
          <a:xfrm>
            <a:off x="8226467" y="2885160"/>
            <a:ext cx="2125390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Roboto Condensed(Body)"/>
              </a:rPr>
              <a:t>For same SPI, Branch in Ascending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2A7154-5A38-BECA-28AB-1F06E3AEE0DB}"/>
              </a:ext>
            </a:extLst>
          </p:cNvPr>
          <p:cNvSpPr txBox="1"/>
          <p:nvPr/>
        </p:nvSpPr>
        <p:spPr>
          <a:xfrm>
            <a:off x="8256825" y="3392128"/>
            <a:ext cx="1939936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Roboto Condensed(Body)"/>
              </a:rPr>
              <a:t>SPI in Descending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58E2BFF-35E7-5490-49E2-C5E6DE4458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V="1">
            <a:off x="6042565" y="4416315"/>
            <a:ext cx="726256" cy="655536"/>
          </a:xfrm>
          <a:prstGeom prst="rect">
            <a:avLst/>
          </a:prstGeom>
          <a:ln>
            <a:solidFill>
              <a:schemeClr val="bg1"/>
            </a:solidFill>
          </a:ln>
        </p:spPr>
      </p:pic>
      <p:graphicFrame>
        <p:nvGraphicFramePr>
          <p:cNvPr id="18" name="Content Placeholder 11">
            <a:extLst>
              <a:ext uri="{FF2B5EF4-FFF2-40B4-BE49-F238E27FC236}">
                <a16:creationId xmlns:a16="http://schemas.microsoft.com/office/drawing/2014/main" id="{2356CF1A-7C84-7F2F-1759-4500AB628130}"/>
              </a:ext>
            </a:extLst>
          </p:cNvPr>
          <p:cNvGraphicFramePr>
            <a:graphicFrameLocks/>
          </p:cNvGraphicFramePr>
          <p:nvPr/>
        </p:nvGraphicFramePr>
        <p:xfrm>
          <a:off x="7303950" y="3701696"/>
          <a:ext cx="2619111" cy="24838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911">
                  <a:extLst>
                    <a:ext uri="{9D8B030D-6E8A-4147-A177-3AD203B41FA5}">
                      <a16:colId xmlns:a16="http://schemas.microsoft.com/office/drawing/2014/main" val="3673608313"/>
                    </a:ext>
                  </a:extLst>
                </a:gridCol>
                <a:gridCol w="685581">
                  <a:extLst>
                    <a:ext uri="{9D8B030D-6E8A-4147-A177-3AD203B41FA5}">
                      <a16:colId xmlns:a16="http://schemas.microsoft.com/office/drawing/2014/main" val="1434806160"/>
                    </a:ext>
                  </a:extLst>
                </a:gridCol>
                <a:gridCol w="628449">
                  <a:extLst>
                    <a:ext uri="{9D8B030D-6E8A-4147-A177-3AD203B41FA5}">
                      <a16:colId xmlns:a16="http://schemas.microsoft.com/office/drawing/2014/main" val="3487458896"/>
                    </a:ext>
                  </a:extLst>
                </a:gridCol>
                <a:gridCol w="736170">
                  <a:extLst>
                    <a:ext uri="{9D8B030D-6E8A-4147-A177-3AD203B41FA5}">
                      <a16:colId xmlns:a16="http://schemas.microsoft.com/office/drawing/2014/main" val="3469217163"/>
                    </a:ext>
                  </a:extLst>
                </a:gridCol>
              </a:tblGrid>
              <a:tr h="263143">
                <a:tc gridSpan="3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Student</a:t>
                      </a:r>
                    </a:p>
                  </a:txBody>
                  <a:tcPr marL="72000" marR="9525" marT="952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chemeClr val="tx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0476952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Roboto Condensed(Body)"/>
                        </a:rPr>
                        <a:t>Rno</a:t>
                      </a:r>
                      <a:endParaRPr lang="en-US" sz="1600" b="1" i="0" u="none" strike="noStrike" kern="1200" dirty="0">
                        <a:solidFill>
                          <a:schemeClr val="bg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Name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Branch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899890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105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Mahesh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EE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836710165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101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Raju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CE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84041172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104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Meera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EC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103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Neha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73964503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102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Sanjay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CE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05132244"/>
                  </a:ext>
                </a:extLst>
              </a:tr>
            </a:tbl>
          </a:graphicData>
        </a:graphic>
      </p:graphicFrame>
      <p:graphicFrame>
        <p:nvGraphicFramePr>
          <p:cNvPr id="19" name="Content Placeholder 11">
            <a:extLst>
              <a:ext uri="{FF2B5EF4-FFF2-40B4-BE49-F238E27FC236}">
                <a16:creationId xmlns:a16="http://schemas.microsoft.com/office/drawing/2014/main" id="{1C982091-4D90-6366-C8EE-13372A131E87}"/>
              </a:ext>
            </a:extLst>
          </p:cNvPr>
          <p:cNvGraphicFramePr>
            <a:graphicFrameLocks/>
          </p:cNvGraphicFramePr>
          <p:nvPr/>
        </p:nvGraphicFramePr>
        <p:xfrm>
          <a:off x="3161422" y="3721608"/>
          <a:ext cx="2619111" cy="24838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911">
                  <a:extLst>
                    <a:ext uri="{9D8B030D-6E8A-4147-A177-3AD203B41FA5}">
                      <a16:colId xmlns:a16="http://schemas.microsoft.com/office/drawing/2014/main" val="3673608313"/>
                    </a:ext>
                  </a:extLst>
                </a:gridCol>
                <a:gridCol w="685581">
                  <a:extLst>
                    <a:ext uri="{9D8B030D-6E8A-4147-A177-3AD203B41FA5}">
                      <a16:colId xmlns:a16="http://schemas.microsoft.com/office/drawing/2014/main" val="1434806160"/>
                    </a:ext>
                  </a:extLst>
                </a:gridCol>
                <a:gridCol w="628449">
                  <a:extLst>
                    <a:ext uri="{9D8B030D-6E8A-4147-A177-3AD203B41FA5}">
                      <a16:colId xmlns:a16="http://schemas.microsoft.com/office/drawing/2014/main" val="3487458896"/>
                    </a:ext>
                  </a:extLst>
                </a:gridCol>
                <a:gridCol w="736170">
                  <a:extLst>
                    <a:ext uri="{9D8B030D-6E8A-4147-A177-3AD203B41FA5}">
                      <a16:colId xmlns:a16="http://schemas.microsoft.com/office/drawing/2014/main" val="3469217163"/>
                    </a:ext>
                  </a:extLst>
                </a:gridCol>
              </a:tblGrid>
              <a:tr h="263143">
                <a:tc gridSpan="3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Student</a:t>
                      </a:r>
                    </a:p>
                  </a:txBody>
                  <a:tcPr marL="72000" marR="9525" marT="952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chemeClr val="tx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0476952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Roboto Condensed(Body)"/>
                        </a:rPr>
                        <a:t>Rno</a:t>
                      </a:r>
                      <a:endParaRPr lang="en-US" sz="1600" b="1" i="0" u="none" strike="noStrike" kern="1200" dirty="0">
                        <a:solidFill>
                          <a:schemeClr val="bg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Name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Branch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899890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101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Raju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CE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836710165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102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Sanjay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CE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84041172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103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Neha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104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Meera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EC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73964503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105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Mahesh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EE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05132244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3F14D9C2-195D-F7A3-5823-37099D06A1F2}"/>
              </a:ext>
            </a:extLst>
          </p:cNvPr>
          <p:cNvSpPr/>
          <p:nvPr/>
        </p:nvSpPr>
        <p:spPr>
          <a:xfrm>
            <a:off x="8525523" y="3985348"/>
            <a:ext cx="685802" cy="215646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Roboto Condensed(Body)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37243F0-ACB8-3378-8B6D-9AFF644B93F1}"/>
              </a:ext>
            </a:extLst>
          </p:cNvPr>
          <p:cNvSpPr/>
          <p:nvPr/>
        </p:nvSpPr>
        <p:spPr>
          <a:xfrm>
            <a:off x="8525524" y="4672839"/>
            <a:ext cx="1409245" cy="77511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Roboto Condensed(Body)"/>
            </a:endParaRPr>
          </a:p>
        </p:txBody>
      </p:sp>
    </p:spTree>
    <p:extLst>
      <p:ext uri="{BB962C8B-B14F-4D97-AF65-F5344CB8AC3E}">
        <p14:creationId xmlns:p14="http://schemas.microsoft.com/office/powerpoint/2010/main" val="3401321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" dur="250" autoRev="1" fill="remove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83" dur="250" autoRev="1" fill="remov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4" dur="250" autoRev="1" fill="remov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5" dur="250" autoRev="1" fill="remov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6" grpId="1" animBg="1"/>
      <p:bldP spid="21" grpId="0" animBg="1"/>
      <p:bldP spid="21" grpId="1" animBg="1"/>
      <p:bldP spid="22" grpId="0" animBg="1"/>
      <p:bldP spid="22" grpId="1" animBg="1"/>
      <p:bldP spid="22" grpId="2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C0C9829-A463-BFDA-B920-DCA8059A1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IN" dirty="0"/>
              <a:t>ALIASES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1D431C-F61D-51D6-7BD9-F8875AB0D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659767" cy="5595107"/>
          </a:xfrm>
        </p:spPr>
        <p:txBody>
          <a:bodyPr/>
          <a:lstStyle/>
          <a:p>
            <a:r>
              <a:rPr lang="en-IN" sz="2200" dirty="0"/>
              <a:t>ALIASES can be used to create a </a:t>
            </a:r>
            <a:r>
              <a:rPr lang="en-IN" sz="2200" b="1" dirty="0">
                <a:solidFill>
                  <a:schemeClr val="accent6"/>
                </a:solidFill>
              </a:rPr>
              <a:t>temporary name </a:t>
            </a:r>
            <a:r>
              <a:rPr lang="en-IN" sz="2200" dirty="0"/>
              <a:t>for columns or tables.</a:t>
            </a:r>
            <a:endParaRPr lang="en-US" sz="2200" dirty="0"/>
          </a:p>
          <a:p>
            <a:r>
              <a:rPr lang="en-IN" sz="2200" dirty="0"/>
              <a:t>Two Types</a:t>
            </a:r>
            <a:endParaRPr lang="en-US" sz="2200" dirty="0"/>
          </a:p>
          <a:p>
            <a:pPr lvl="2"/>
            <a:r>
              <a:rPr lang="en-IN" sz="2000" b="1" dirty="0"/>
              <a:t>COLUMN ALIASES</a:t>
            </a:r>
          </a:p>
          <a:p>
            <a:pPr lvl="2"/>
            <a:r>
              <a:rPr lang="en-IN" sz="2000" b="1" dirty="0"/>
              <a:t>TABLE ALIASES</a:t>
            </a:r>
          </a:p>
          <a:p>
            <a:r>
              <a:rPr lang="en-IN" sz="2200" dirty="0"/>
              <a:t>COLUMN ALIASES are used to make column headings in your result set easier to read.</a:t>
            </a:r>
            <a:endParaRPr lang="en-US" sz="2200" dirty="0"/>
          </a:p>
          <a:p>
            <a:r>
              <a:rPr lang="en-IN" sz="2200" dirty="0"/>
              <a:t>TABLE ALIASES are used to shorten your SQL to make it easier to read while you are performing a self join (</a:t>
            </a:r>
            <a:r>
              <a:rPr lang="en-IN" sz="2200" dirty="0" err="1"/>
              <a:t>i.e</a:t>
            </a:r>
            <a:r>
              <a:rPr lang="en-IN" sz="2200" dirty="0"/>
              <a:t>: listing the same table more than once in the FROM clause).</a:t>
            </a:r>
          </a:p>
          <a:p>
            <a:r>
              <a:rPr lang="en-IN" sz="2200" dirty="0"/>
              <a:t>If the </a:t>
            </a:r>
            <a:r>
              <a:rPr lang="en-IN" sz="2200" dirty="0" err="1"/>
              <a:t>alias_name</a:t>
            </a:r>
            <a:r>
              <a:rPr lang="en-IN" sz="2200" dirty="0"/>
              <a:t> contains spaces, you must enclose the </a:t>
            </a:r>
            <a:r>
              <a:rPr lang="en-IN" sz="2200" dirty="0" err="1"/>
              <a:t>alias_name</a:t>
            </a:r>
            <a:r>
              <a:rPr lang="en-IN" sz="2200" dirty="0"/>
              <a:t> in quotes (Ex. “Contact Number”).</a:t>
            </a:r>
            <a:endParaRPr lang="en-US" sz="2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1983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7481C-F85C-EF87-A249-D51930C86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489DF1B-62F5-40F5-1E91-7A54A91A2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IN" dirty="0"/>
              <a:t>ALIASES</a:t>
            </a:r>
            <a:endParaRPr lang="en-US" dirty="0"/>
          </a:p>
        </p:txBody>
      </p:sp>
      <p:graphicFrame>
        <p:nvGraphicFramePr>
          <p:cNvPr id="6" name="Content Placeholder 11">
            <a:extLst>
              <a:ext uri="{FF2B5EF4-FFF2-40B4-BE49-F238E27FC236}">
                <a16:creationId xmlns:a16="http://schemas.microsoft.com/office/drawing/2014/main" id="{60B76601-4C8C-1396-2AE6-6DAEB38D931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70378796"/>
              </p:ext>
            </p:extLst>
          </p:nvPr>
        </p:nvGraphicFramePr>
        <p:xfrm>
          <a:off x="8772354" y="1219369"/>
          <a:ext cx="2619111" cy="24838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911">
                  <a:extLst>
                    <a:ext uri="{9D8B030D-6E8A-4147-A177-3AD203B41FA5}">
                      <a16:colId xmlns:a16="http://schemas.microsoft.com/office/drawing/2014/main" val="3673608313"/>
                    </a:ext>
                  </a:extLst>
                </a:gridCol>
                <a:gridCol w="685581">
                  <a:extLst>
                    <a:ext uri="{9D8B030D-6E8A-4147-A177-3AD203B41FA5}">
                      <a16:colId xmlns:a16="http://schemas.microsoft.com/office/drawing/2014/main" val="1434806160"/>
                    </a:ext>
                  </a:extLst>
                </a:gridCol>
                <a:gridCol w="628449">
                  <a:extLst>
                    <a:ext uri="{9D8B030D-6E8A-4147-A177-3AD203B41FA5}">
                      <a16:colId xmlns:a16="http://schemas.microsoft.com/office/drawing/2014/main" val="3487458896"/>
                    </a:ext>
                  </a:extLst>
                </a:gridCol>
                <a:gridCol w="736170">
                  <a:extLst>
                    <a:ext uri="{9D8B030D-6E8A-4147-A177-3AD203B41FA5}">
                      <a16:colId xmlns:a16="http://schemas.microsoft.com/office/drawing/2014/main" val="3469217163"/>
                    </a:ext>
                  </a:extLst>
                </a:gridCol>
              </a:tblGrid>
              <a:tr h="263143">
                <a:tc gridSpan="3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Student</a:t>
                      </a:r>
                    </a:p>
                  </a:txBody>
                  <a:tcPr marL="72000" marR="9525" marT="952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chemeClr val="tx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0476952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Roboto Condensed(Body)"/>
                        </a:rPr>
                        <a:t>Rno</a:t>
                      </a:r>
                      <a:endParaRPr lang="en-US" sz="1600" b="1" i="0" u="none" strike="noStrike" kern="1200" dirty="0">
                        <a:solidFill>
                          <a:schemeClr val="bg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Name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Branch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899890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101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Raju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CE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836710165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102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Sanjay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CE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84041172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103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Neha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104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Meera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EC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73964503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105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Mahesh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EE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0513224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B044E9A-21C3-373D-4337-8A61A1B04246}"/>
              </a:ext>
            </a:extLst>
          </p:cNvPr>
          <p:cNvSpPr txBox="1"/>
          <p:nvPr/>
        </p:nvSpPr>
        <p:spPr>
          <a:xfrm>
            <a:off x="102507" y="839289"/>
            <a:ext cx="1104900" cy="3674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+mj-lt"/>
              </a:rPr>
              <a:t>Syntax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0EF66F-593F-3A6E-78A7-7DCDD20475FD}"/>
              </a:ext>
            </a:extLst>
          </p:cNvPr>
          <p:cNvSpPr/>
          <p:nvPr/>
        </p:nvSpPr>
        <p:spPr>
          <a:xfrm>
            <a:off x="372047" y="1258129"/>
            <a:ext cx="8091018" cy="7158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dirty="0">
              <a:solidFill>
                <a:srgbClr val="808080"/>
              </a:solidFill>
              <a:latin typeface="+mj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C36661-97FC-9F52-CCFA-379D90DFB73F}"/>
              </a:ext>
            </a:extLst>
          </p:cNvPr>
          <p:cNvSpPr/>
          <p:nvPr/>
        </p:nvSpPr>
        <p:spPr>
          <a:xfrm>
            <a:off x="1573042" y="1385569"/>
            <a:ext cx="141595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err="1">
                <a:latin typeface="+mj-lt"/>
              </a:rPr>
              <a:t>columnname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688D79-EDDB-E92E-8F83-133E6E6F298C}"/>
              </a:ext>
            </a:extLst>
          </p:cNvPr>
          <p:cNvSpPr/>
          <p:nvPr/>
        </p:nvSpPr>
        <p:spPr>
          <a:xfrm>
            <a:off x="3701811" y="1372046"/>
            <a:ext cx="1447800" cy="457200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algn="ctr"/>
            <a:r>
              <a:rPr lang="en-IN" kern="0" dirty="0" err="1">
                <a:solidFill>
                  <a:prstClr val="black"/>
                </a:solidFill>
                <a:latin typeface="+mj-lt"/>
              </a:rPr>
              <a:t>alias</a:t>
            </a:r>
            <a:r>
              <a:rPr lang="en-IN" kern="0" err="1">
                <a:solidFill>
                  <a:prstClr val="black"/>
                </a:solidFill>
                <a:latin typeface="+mj-lt"/>
              </a:rPr>
              <a:t>_</a:t>
            </a:r>
            <a:r>
              <a:rPr lang="en-IN" kern="0">
                <a:solidFill>
                  <a:prstClr val="black"/>
                </a:solidFill>
                <a:latin typeface="+mj-lt"/>
              </a:rPr>
              <a:t>name</a:t>
            </a:r>
            <a:endParaRPr lang="en-US" kern="0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63B8AF-442B-B664-B78F-F9D71ACB13DF}"/>
              </a:ext>
            </a:extLst>
          </p:cNvPr>
          <p:cNvSpPr/>
          <p:nvPr/>
        </p:nvSpPr>
        <p:spPr>
          <a:xfrm>
            <a:off x="477386" y="1383847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00FF"/>
                </a:solidFill>
                <a:latin typeface="+mj-lt"/>
              </a:rPr>
              <a:t>SELECT</a:t>
            </a:r>
            <a:endParaRPr lang="en-US" dirty="0">
              <a:solidFill>
                <a:srgbClr val="0000FF"/>
              </a:solidFill>
              <a:latin typeface="+mj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63CC2C-A93B-0AED-3837-130E477D622D}"/>
              </a:ext>
            </a:extLst>
          </p:cNvPr>
          <p:cNvSpPr/>
          <p:nvPr/>
        </p:nvSpPr>
        <p:spPr>
          <a:xfrm>
            <a:off x="5271811" y="1373662"/>
            <a:ext cx="13716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00FF"/>
                </a:solidFill>
                <a:latin typeface="+mj-lt"/>
              </a:rPr>
              <a:t>FROM</a:t>
            </a:r>
            <a:endParaRPr lang="en-US" dirty="0">
              <a:solidFill>
                <a:srgbClr val="0000FF"/>
              </a:solidFill>
              <a:latin typeface="+mj-l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A4787AE-E657-C773-4A21-8E7EE2B47B19}"/>
              </a:ext>
            </a:extLst>
          </p:cNvPr>
          <p:cNvSpPr/>
          <p:nvPr/>
        </p:nvSpPr>
        <p:spPr>
          <a:xfrm>
            <a:off x="3096513" y="1375822"/>
            <a:ext cx="495017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+mj-lt"/>
              </a:rPr>
              <a:t>AS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B6EF732-04F5-B7AC-3565-F8F6C1A95FFE}"/>
              </a:ext>
            </a:extLst>
          </p:cNvPr>
          <p:cNvSpPr/>
          <p:nvPr/>
        </p:nvSpPr>
        <p:spPr>
          <a:xfrm>
            <a:off x="6765747" y="1372628"/>
            <a:ext cx="13716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err="1">
                <a:latin typeface="+mj-lt"/>
              </a:rPr>
              <a:t>tablename</a:t>
            </a:r>
            <a:endParaRPr lang="en-US" dirty="0">
              <a:latin typeface="+mj-lt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DED8F3-0E37-11CE-BDE7-6987BCFF5477}"/>
              </a:ext>
            </a:extLst>
          </p:cNvPr>
          <p:cNvSpPr/>
          <p:nvPr/>
        </p:nvSpPr>
        <p:spPr>
          <a:xfrm>
            <a:off x="8219328" y="1383847"/>
            <a:ext cx="11430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808080"/>
                </a:solidFill>
                <a:latin typeface="+mj-lt"/>
              </a:rPr>
              <a:t>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BB8AC3-974F-CA75-C581-3812641FA42C}"/>
              </a:ext>
            </a:extLst>
          </p:cNvPr>
          <p:cNvSpPr txBox="1"/>
          <p:nvPr/>
        </p:nvSpPr>
        <p:spPr>
          <a:xfrm>
            <a:off x="162025" y="2093883"/>
            <a:ext cx="723900" cy="3674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+mj-lt"/>
              </a:rPr>
              <a:t>E.g.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F64AF1-A501-DEBC-71C0-14881C7C4353}"/>
              </a:ext>
            </a:extLst>
          </p:cNvPr>
          <p:cNvSpPr/>
          <p:nvPr/>
        </p:nvSpPr>
        <p:spPr>
          <a:xfrm>
            <a:off x="401472" y="2532100"/>
            <a:ext cx="5503217" cy="25692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0B8ABD2-63C6-EC03-4BF9-37059D1C7C02}"/>
              </a:ext>
            </a:extLst>
          </p:cNvPr>
          <p:cNvSpPr/>
          <p:nvPr/>
        </p:nvSpPr>
        <p:spPr>
          <a:xfrm>
            <a:off x="485349" y="2773163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00FF"/>
                </a:solidFill>
                <a:latin typeface="+mj-lt"/>
              </a:rPr>
              <a:t>SELECT</a:t>
            </a:r>
            <a:endParaRPr lang="en-US" dirty="0">
              <a:solidFill>
                <a:srgbClr val="0000FF"/>
              </a:solidFill>
              <a:latin typeface="+mj-lt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F182FA3-178B-4A50-84C5-B4A98FC53B9B}"/>
              </a:ext>
            </a:extLst>
          </p:cNvPr>
          <p:cNvSpPr/>
          <p:nvPr/>
        </p:nvSpPr>
        <p:spPr>
          <a:xfrm>
            <a:off x="1580014" y="2776908"/>
            <a:ext cx="108698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err="1">
                <a:latin typeface="+mj-lt"/>
              </a:rPr>
              <a:t>RNo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0853E8E-5FCB-B7AD-0334-2D67B6247EB7}"/>
              </a:ext>
            </a:extLst>
          </p:cNvPr>
          <p:cNvSpPr/>
          <p:nvPr/>
        </p:nvSpPr>
        <p:spPr>
          <a:xfrm>
            <a:off x="2775610" y="2773163"/>
            <a:ext cx="495017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+mj-lt"/>
              </a:rPr>
              <a:t>AS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3625A6E-C250-EF98-CBBE-335EA8829B61}"/>
              </a:ext>
            </a:extLst>
          </p:cNvPr>
          <p:cNvSpPr/>
          <p:nvPr/>
        </p:nvSpPr>
        <p:spPr>
          <a:xfrm>
            <a:off x="3379237" y="2777121"/>
            <a:ext cx="886398" cy="446891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algn="ctr"/>
            <a:r>
              <a:rPr lang="en-IN" kern="0" dirty="0" err="1">
                <a:solidFill>
                  <a:prstClr val="black"/>
                </a:solidFill>
                <a:latin typeface="+mj-lt"/>
              </a:rPr>
              <a:t>RollNo</a:t>
            </a:r>
            <a:endParaRPr lang="en-US" kern="0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250A8DA-65B0-7942-078E-628C2B5C5021}"/>
              </a:ext>
            </a:extLst>
          </p:cNvPr>
          <p:cNvSpPr/>
          <p:nvPr/>
        </p:nvSpPr>
        <p:spPr>
          <a:xfrm>
            <a:off x="4374245" y="2776406"/>
            <a:ext cx="137614" cy="44760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808080"/>
                </a:solidFill>
                <a:latin typeface="+mj-lt"/>
              </a:rPr>
              <a:t>,</a:t>
            </a:r>
            <a:endParaRPr lang="en-US" dirty="0">
              <a:solidFill>
                <a:srgbClr val="808080"/>
              </a:solidFill>
              <a:latin typeface="+mj-lt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FAF0629-6811-232E-DA4D-67CDACA2E93A}"/>
              </a:ext>
            </a:extLst>
          </p:cNvPr>
          <p:cNvSpPr/>
          <p:nvPr/>
        </p:nvSpPr>
        <p:spPr>
          <a:xfrm>
            <a:off x="1573042" y="3357743"/>
            <a:ext cx="1086986" cy="46971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+mj-lt"/>
              </a:rPr>
              <a:t>Name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67E1187-4C08-82FD-47D9-4017B28260DF}"/>
              </a:ext>
            </a:extLst>
          </p:cNvPr>
          <p:cNvSpPr/>
          <p:nvPr/>
        </p:nvSpPr>
        <p:spPr>
          <a:xfrm>
            <a:off x="3386630" y="3366174"/>
            <a:ext cx="1421597" cy="447607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algn="ctr"/>
            <a:r>
              <a:rPr lang="en-IN" kern="0" dirty="0" err="1">
                <a:solidFill>
                  <a:prstClr val="black"/>
                </a:solidFill>
                <a:latin typeface="+mj-lt"/>
              </a:rPr>
              <a:t>StudentName</a:t>
            </a:r>
            <a:endParaRPr lang="en-US" kern="0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FEFBB43-5D71-8F3D-9F72-E74400DEA110}"/>
              </a:ext>
            </a:extLst>
          </p:cNvPr>
          <p:cNvSpPr/>
          <p:nvPr/>
        </p:nvSpPr>
        <p:spPr>
          <a:xfrm>
            <a:off x="2775610" y="3371018"/>
            <a:ext cx="484348" cy="45158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+mj-lt"/>
              </a:rPr>
              <a:t>AS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D4D6B63-DC1C-AF34-6525-EAF74C00DD89}"/>
              </a:ext>
            </a:extLst>
          </p:cNvPr>
          <p:cNvSpPr/>
          <p:nvPr/>
        </p:nvSpPr>
        <p:spPr>
          <a:xfrm>
            <a:off x="4907087" y="3366174"/>
            <a:ext cx="128678" cy="46127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808080"/>
                </a:solidFill>
                <a:latin typeface="+mj-lt"/>
              </a:rPr>
              <a:t>,</a:t>
            </a:r>
            <a:endParaRPr lang="en-US" dirty="0">
              <a:solidFill>
                <a:srgbClr val="808080"/>
              </a:solidFill>
              <a:latin typeface="+mj-lt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54BAE4C-800E-177C-4E25-9763C07ABA06}"/>
              </a:ext>
            </a:extLst>
          </p:cNvPr>
          <p:cNvSpPr/>
          <p:nvPr/>
        </p:nvSpPr>
        <p:spPr>
          <a:xfrm>
            <a:off x="1573042" y="3937203"/>
            <a:ext cx="1093958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+mj-lt"/>
              </a:rPr>
              <a:t>Branch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341C3A4-0707-9460-7B58-73A876816DBC}"/>
              </a:ext>
            </a:extLst>
          </p:cNvPr>
          <p:cNvSpPr/>
          <p:nvPr/>
        </p:nvSpPr>
        <p:spPr>
          <a:xfrm>
            <a:off x="2775610" y="3937203"/>
            <a:ext cx="495017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+mj-lt"/>
              </a:rPr>
              <a:t>AS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513C42C-9774-C916-FB51-42C491559120}"/>
              </a:ext>
            </a:extLst>
          </p:cNvPr>
          <p:cNvSpPr/>
          <p:nvPr/>
        </p:nvSpPr>
        <p:spPr>
          <a:xfrm>
            <a:off x="3386630" y="3929466"/>
            <a:ext cx="1987455" cy="457200"/>
          </a:xfrm>
          <a:prstGeom prst="rect">
            <a:avLst/>
          </a:prstGeom>
          <a:solidFill>
            <a:sysClr val="window" lastClr="FFFFFF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algn="ctr"/>
            <a:endParaRPr lang="en-IN" kern="0" dirty="0">
              <a:solidFill>
                <a:prstClr val="black"/>
              </a:solidFill>
              <a:latin typeface="+mj-lt"/>
            </a:endParaRPr>
          </a:p>
          <a:p>
            <a:pPr algn="ctr"/>
            <a:r>
              <a:rPr lang="en-IN" kern="0" dirty="0">
                <a:solidFill>
                  <a:prstClr val="black"/>
                </a:solidFill>
                <a:latin typeface="+mj-lt"/>
              </a:rPr>
              <a:t>‘Branch Name’</a:t>
            </a:r>
            <a:endParaRPr lang="en-US" kern="0" dirty="0">
              <a:solidFill>
                <a:prstClr val="black"/>
              </a:solidFill>
              <a:latin typeface="+mj-lt"/>
            </a:endParaRPr>
          </a:p>
          <a:p>
            <a:pPr algn="ctr"/>
            <a:endParaRPr lang="en-US" kern="0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026A23C-807B-5283-9F16-E9ACD527E389}"/>
              </a:ext>
            </a:extLst>
          </p:cNvPr>
          <p:cNvSpPr/>
          <p:nvPr/>
        </p:nvSpPr>
        <p:spPr>
          <a:xfrm>
            <a:off x="485348" y="4515998"/>
            <a:ext cx="990317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00FF"/>
                </a:solidFill>
                <a:latin typeface="+mj-lt"/>
              </a:rPr>
              <a:t>FROM</a:t>
            </a:r>
            <a:endParaRPr lang="en-US" dirty="0">
              <a:solidFill>
                <a:srgbClr val="0000FF"/>
              </a:solidFill>
              <a:latin typeface="+mj-lt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150E22D-806D-D853-E3F1-8D432EFFF187}"/>
              </a:ext>
            </a:extLst>
          </p:cNvPr>
          <p:cNvSpPr/>
          <p:nvPr/>
        </p:nvSpPr>
        <p:spPr>
          <a:xfrm>
            <a:off x="1579096" y="4529189"/>
            <a:ext cx="1080932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latin typeface="+mj-lt"/>
            </a:endParaRPr>
          </a:p>
          <a:p>
            <a:pPr algn="ctr"/>
            <a:r>
              <a:rPr lang="en-IN" dirty="0">
                <a:latin typeface="+mj-lt"/>
              </a:rPr>
              <a:t>Student</a:t>
            </a:r>
            <a:endParaRPr lang="en-US" dirty="0">
              <a:latin typeface="+mj-lt"/>
            </a:endParaRPr>
          </a:p>
          <a:p>
            <a:pPr algn="ctr"/>
            <a:endParaRPr lang="en-US" dirty="0">
              <a:latin typeface="+mj-lt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73C2D6B-0E6D-AE0F-CF46-CA021476D6FB}"/>
              </a:ext>
            </a:extLst>
          </p:cNvPr>
          <p:cNvSpPr/>
          <p:nvPr/>
        </p:nvSpPr>
        <p:spPr>
          <a:xfrm>
            <a:off x="2763459" y="4515998"/>
            <a:ext cx="16132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808080"/>
                </a:solidFill>
                <a:latin typeface="+mj-lt"/>
              </a:rPr>
              <a:t>;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6D84149-8FD1-E191-F3F1-434651B95E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5400000" flipV="1">
            <a:off x="9870858" y="3744496"/>
            <a:ext cx="422103" cy="381000"/>
          </a:xfrm>
          <a:prstGeom prst="rect">
            <a:avLst/>
          </a:prstGeom>
          <a:ln>
            <a:solidFill>
              <a:schemeClr val="bg1"/>
            </a:solidFill>
          </a:ln>
        </p:spPr>
      </p:pic>
      <p:graphicFrame>
        <p:nvGraphicFramePr>
          <p:cNvPr id="34" name="Content Placeholder 11">
            <a:extLst>
              <a:ext uri="{FF2B5EF4-FFF2-40B4-BE49-F238E27FC236}">
                <a16:creationId xmlns:a16="http://schemas.microsoft.com/office/drawing/2014/main" id="{DE533DB5-97BB-5B4C-0AAF-43C22B1BD2B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92478668"/>
              </p:ext>
            </p:extLst>
          </p:nvPr>
        </p:nvGraphicFramePr>
        <p:xfrm>
          <a:off x="8546941" y="4064442"/>
          <a:ext cx="3243587" cy="24838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8204">
                  <a:extLst>
                    <a:ext uri="{9D8B030D-6E8A-4147-A177-3AD203B41FA5}">
                      <a16:colId xmlns:a16="http://schemas.microsoft.com/office/drawing/2014/main" val="3673608313"/>
                    </a:ext>
                  </a:extLst>
                </a:gridCol>
                <a:gridCol w="1221638">
                  <a:extLst>
                    <a:ext uri="{9D8B030D-6E8A-4147-A177-3AD203B41FA5}">
                      <a16:colId xmlns:a16="http://schemas.microsoft.com/office/drawing/2014/main" val="1434806160"/>
                    </a:ext>
                  </a:extLst>
                </a:gridCol>
                <a:gridCol w="1333745">
                  <a:extLst>
                    <a:ext uri="{9D8B030D-6E8A-4147-A177-3AD203B41FA5}">
                      <a16:colId xmlns:a16="http://schemas.microsoft.com/office/drawing/2014/main" val="3469217163"/>
                    </a:ext>
                  </a:extLst>
                </a:gridCol>
              </a:tblGrid>
              <a:tr h="263143">
                <a:tc gridSpan="2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Student</a:t>
                      </a:r>
                    </a:p>
                  </a:txBody>
                  <a:tcPr marL="72000" marR="9525" marT="952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chemeClr val="tx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0476952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dirty="0" err="1">
                          <a:solidFill>
                            <a:schemeClr val="bg1"/>
                          </a:solidFill>
                          <a:latin typeface="Roboto Condensed(Body)"/>
                        </a:rPr>
                        <a:t>Rollno</a:t>
                      </a:r>
                      <a:endParaRPr lang="en-US" sz="1600" b="1" i="0" u="none" strike="noStrike" kern="1200" dirty="0">
                        <a:solidFill>
                          <a:schemeClr val="bg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 err="1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StudentName</a:t>
                      </a:r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Branch Name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899890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101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Raju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CE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836710165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102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Sanjay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CE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84041172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103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Neha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104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Meera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EC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73964503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105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Mahesh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EE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051322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6489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333D7-C82F-A816-EE1E-2763AFDCA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6ECF2-FF57-7C27-8021-AAA46CD74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Aggregate Functions, Group By and Group By Having Clause</a:t>
            </a:r>
          </a:p>
        </p:txBody>
      </p:sp>
    </p:spTree>
    <p:extLst>
      <p:ext uri="{BB962C8B-B14F-4D97-AF65-F5344CB8AC3E}">
        <p14:creationId xmlns:p14="http://schemas.microsoft.com/office/powerpoint/2010/main" val="11907436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343C1-2F3B-292D-5B78-8F73C962C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C2769-852D-AE53-4669-A55E0417F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Roboto Condensed(Body)"/>
              </a:rPr>
              <a:t>A</a:t>
            </a:r>
            <a:r>
              <a:rPr lang="en-US" dirty="0"/>
              <a:t>ggregate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545525-F0C9-16E3-5BD4-5A8F875A3D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Summarizes Data</a:t>
            </a:r>
            <a:r>
              <a:rPr lang="en-US" dirty="0"/>
              <a:t> by combining values to compute </a:t>
            </a:r>
            <a:r>
              <a:rPr lang="en-US" b="1" dirty="0">
                <a:solidFill>
                  <a:schemeClr val="accent6"/>
                </a:solidFill>
              </a:rPr>
              <a:t>totals</a:t>
            </a:r>
            <a:r>
              <a:rPr lang="en-US" dirty="0"/>
              <a:t>, </a:t>
            </a:r>
            <a:r>
              <a:rPr lang="en-US" b="1" dirty="0">
                <a:solidFill>
                  <a:schemeClr val="accent6"/>
                </a:solidFill>
              </a:rPr>
              <a:t>averages</a:t>
            </a:r>
            <a:r>
              <a:rPr lang="en-US" dirty="0"/>
              <a:t>, and </a:t>
            </a:r>
            <a:r>
              <a:rPr lang="en-US" b="1" dirty="0">
                <a:solidFill>
                  <a:schemeClr val="accent6"/>
                </a:solidFill>
              </a:rPr>
              <a:t>counts</a:t>
            </a:r>
            <a:r>
              <a:rPr lang="en-US" dirty="0"/>
              <a:t>, </a:t>
            </a:r>
            <a:r>
              <a:rPr lang="en-US" b="1" dirty="0">
                <a:solidFill>
                  <a:schemeClr val="accent6"/>
                </a:solidFill>
              </a:rPr>
              <a:t>max</a:t>
            </a:r>
            <a:r>
              <a:rPr lang="en-US" dirty="0"/>
              <a:t>, </a:t>
            </a:r>
            <a:r>
              <a:rPr lang="en-US" b="1" dirty="0">
                <a:solidFill>
                  <a:schemeClr val="accent6"/>
                </a:solidFill>
              </a:rPr>
              <a:t>min</a:t>
            </a:r>
            <a:r>
              <a:rPr lang="en-US" dirty="0"/>
              <a:t>.</a:t>
            </a:r>
          </a:p>
          <a:p>
            <a:r>
              <a:rPr lang="en-IN" b="1" dirty="0"/>
              <a:t>Group Data</a:t>
            </a:r>
            <a:r>
              <a:rPr lang="en-IN" dirty="0"/>
              <a:t> using GROUP BY </a:t>
            </a:r>
            <a:r>
              <a:rPr lang="en-US" dirty="0"/>
              <a:t>to organize records and perform aggregate calculations.</a:t>
            </a:r>
          </a:p>
          <a:p>
            <a:endParaRPr lang="en-US" dirty="0"/>
          </a:p>
          <a:p>
            <a:r>
              <a:rPr lang="en-US" b="1" u="sng" dirty="0" err="1"/>
              <a:t>E.g.Count</a:t>
            </a:r>
            <a:r>
              <a:rPr lang="en-US" b="1" u="sng" dirty="0"/>
              <a:t> the number of students.</a:t>
            </a:r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33A0AC-FDCD-2F85-6BC2-24C359D2A106}"/>
              </a:ext>
            </a:extLst>
          </p:cNvPr>
          <p:cNvSpPr/>
          <p:nvPr/>
        </p:nvSpPr>
        <p:spPr>
          <a:xfrm>
            <a:off x="528667" y="2983951"/>
            <a:ext cx="5439513" cy="14503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Roboto Condensed(Body)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57375A-7494-80D5-242C-569FD50A133F}"/>
              </a:ext>
            </a:extLst>
          </p:cNvPr>
          <p:cNvSpPr/>
          <p:nvPr/>
        </p:nvSpPr>
        <p:spPr>
          <a:xfrm>
            <a:off x="809703" y="3174077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00FF"/>
                </a:solidFill>
                <a:latin typeface="Roboto Condensed(Body)"/>
              </a:rPr>
              <a:t>SELECT</a:t>
            </a:r>
            <a:endParaRPr lang="en-US" dirty="0">
              <a:solidFill>
                <a:srgbClr val="0000FF"/>
              </a:solidFill>
              <a:latin typeface="Roboto Condensed(Body)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9CDD34-A275-1C79-5BC9-27008D098D5B}"/>
              </a:ext>
            </a:extLst>
          </p:cNvPr>
          <p:cNvSpPr/>
          <p:nvPr/>
        </p:nvSpPr>
        <p:spPr>
          <a:xfrm>
            <a:off x="1903185" y="3727051"/>
            <a:ext cx="1272431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latin typeface="Roboto Condensed(Body)"/>
              </a:rPr>
              <a:t>Student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F5F2B2-9123-DFA9-D2BF-9A44399B2060}"/>
              </a:ext>
            </a:extLst>
          </p:cNvPr>
          <p:cNvSpPr/>
          <p:nvPr/>
        </p:nvSpPr>
        <p:spPr>
          <a:xfrm>
            <a:off x="809703" y="3727051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FROM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A054A4-B8E4-E4AE-F5DF-C0B9B5875FAF}"/>
              </a:ext>
            </a:extLst>
          </p:cNvPr>
          <p:cNvSpPr/>
          <p:nvPr/>
        </p:nvSpPr>
        <p:spPr>
          <a:xfrm>
            <a:off x="1903183" y="3174807"/>
            <a:ext cx="2599991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33CC"/>
                </a:solidFill>
                <a:latin typeface="Roboto Condensed(Body)"/>
              </a:rPr>
              <a:t>COUNT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(Body)"/>
              </a:rPr>
              <a:t>(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(Body)"/>
              </a:rPr>
              <a:t>Rno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(Body)"/>
              </a:rPr>
              <a:t>) </a:t>
            </a:r>
            <a:r>
              <a:rPr lang="en-IN" dirty="0">
                <a:solidFill>
                  <a:srgbClr val="0000FF"/>
                </a:solidFill>
                <a:latin typeface="Roboto Condensed(Body)"/>
              </a:rPr>
              <a:t>AS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(Body)"/>
              </a:rPr>
              <a:t> TOTAL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B5ED78E-D6B8-151C-3BA6-1D2560F834C0}"/>
              </a:ext>
            </a:extLst>
          </p:cNvPr>
          <p:cNvSpPr/>
          <p:nvPr/>
        </p:nvSpPr>
        <p:spPr>
          <a:xfrm>
            <a:off x="3278782" y="3737062"/>
            <a:ext cx="168820" cy="44718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(Body)"/>
              </a:rPr>
              <a:t>;</a:t>
            </a:r>
          </a:p>
        </p:txBody>
      </p:sp>
      <p:graphicFrame>
        <p:nvGraphicFramePr>
          <p:cNvPr id="19" name="Content Placeholder 11">
            <a:extLst>
              <a:ext uri="{FF2B5EF4-FFF2-40B4-BE49-F238E27FC236}">
                <a16:creationId xmlns:a16="http://schemas.microsoft.com/office/drawing/2014/main" id="{D27581E9-DE16-2F9E-5BA5-E84B154AC909}"/>
              </a:ext>
            </a:extLst>
          </p:cNvPr>
          <p:cNvGraphicFramePr>
            <a:graphicFrameLocks/>
          </p:cNvGraphicFramePr>
          <p:nvPr/>
        </p:nvGraphicFramePr>
        <p:xfrm>
          <a:off x="8445061" y="2192594"/>
          <a:ext cx="2619111" cy="24783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911">
                  <a:extLst>
                    <a:ext uri="{9D8B030D-6E8A-4147-A177-3AD203B41FA5}">
                      <a16:colId xmlns:a16="http://schemas.microsoft.com/office/drawing/2014/main" val="3673608313"/>
                    </a:ext>
                  </a:extLst>
                </a:gridCol>
                <a:gridCol w="685581">
                  <a:extLst>
                    <a:ext uri="{9D8B030D-6E8A-4147-A177-3AD203B41FA5}">
                      <a16:colId xmlns:a16="http://schemas.microsoft.com/office/drawing/2014/main" val="1434806160"/>
                    </a:ext>
                  </a:extLst>
                </a:gridCol>
                <a:gridCol w="628449">
                  <a:extLst>
                    <a:ext uri="{9D8B030D-6E8A-4147-A177-3AD203B41FA5}">
                      <a16:colId xmlns:a16="http://schemas.microsoft.com/office/drawing/2014/main" val="3487458896"/>
                    </a:ext>
                  </a:extLst>
                </a:gridCol>
                <a:gridCol w="736170">
                  <a:extLst>
                    <a:ext uri="{9D8B030D-6E8A-4147-A177-3AD203B41FA5}">
                      <a16:colId xmlns:a16="http://schemas.microsoft.com/office/drawing/2014/main" val="3469217163"/>
                    </a:ext>
                  </a:extLst>
                </a:gridCol>
              </a:tblGrid>
              <a:tr h="257635">
                <a:tc gridSpan="3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Student</a:t>
                      </a:r>
                    </a:p>
                  </a:txBody>
                  <a:tcPr marL="72000" marR="9525" marT="952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chemeClr val="tx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0476952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Roboto Condensed(Body)"/>
                        </a:rPr>
                        <a:t>Rno</a:t>
                      </a:r>
                      <a:endParaRPr lang="en-US" sz="1600" b="1" i="0" u="none" strike="noStrike" kern="1200" dirty="0">
                        <a:solidFill>
                          <a:schemeClr val="bg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Name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Branch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899890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101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Ajay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CE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836710165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102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Sanjay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CE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84041172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103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Aesha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104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Milan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EC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73964503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105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Mahesh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EE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05132244"/>
                  </a:ext>
                </a:extLst>
              </a:tr>
            </a:tbl>
          </a:graphicData>
        </a:graphic>
      </p:graphicFrame>
      <p:graphicFrame>
        <p:nvGraphicFramePr>
          <p:cNvPr id="20" name="Content Placeholder 11">
            <a:extLst>
              <a:ext uri="{FF2B5EF4-FFF2-40B4-BE49-F238E27FC236}">
                <a16:creationId xmlns:a16="http://schemas.microsoft.com/office/drawing/2014/main" id="{A6561F65-3946-9FCC-CF63-39CA65E395BB}"/>
              </a:ext>
            </a:extLst>
          </p:cNvPr>
          <p:cNvGraphicFramePr>
            <a:graphicFrameLocks/>
          </p:cNvGraphicFramePr>
          <p:nvPr/>
        </p:nvGraphicFramePr>
        <p:xfrm>
          <a:off x="6522855" y="4996693"/>
          <a:ext cx="1333120" cy="997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120">
                  <a:extLst>
                    <a:ext uri="{9D8B030D-6E8A-4147-A177-3AD203B41FA5}">
                      <a16:colId xmlns:a16="http://schemas.microsoft.com/office/drawing/2014/main" val="3673608313"/>
                    </a:ext>
                  </a:extLst>
                </a:gridCol>
              </a:tblGrid>
              <a:tr h="257635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Output</a:t>
                      </a:r>
                    </a:p>
                  </a:txBody>
                  <a:tcPr marL="72000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0476952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899890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72000" marR="9525" marT="9525" marB="0" anchor="ctr"/>
                </a:tc>
                <a:extLst>
                  <a:ext uri="{0D108BD9-81ED-4DB2-BD59-A6C34878D82A}">
                    <a16:rowId xmlns:a16="http://schemas.microsoft.com/office/drawing/2014/main" val="3836710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6615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0" grpId="0" animBg="1"/>
      <p:bldP spid="18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990FC-C4F8-420D-7E8F-F336E7E24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1542B-260F-FD27-8004-2A5DD59C1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Roboto Condensed(Body)"/>
              </a:rPr>
              <a:t>A</a:t>
            </a:r>
            <a:r>
              <a:rPr lang="en-US" dirty="0"/>
              <a:t>ggregate Function</a:t>
            </a:r>
            <a:r>
              <a:rPr lang="en-US" dirty="0">
                <a:latin typeface="Roboto Condensed(Body)"/>
              </a:rPr>
              <a:t>(Cont..)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80448-E463-BB6C-B8BA-58277CE04A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 err="1"/>
              <a:t>E.g.Display</a:t>
            </a:r>
            <a:r>
              <a:rPr lang="en-US" b="1" u="sng" dirty="0"/>
              <a:t> maximum SPI.</a:t>
            </a:r>
          </a:p>
          <a:p>
            <a:endParaRPr lang="en-US" b="1" u="sng" dirty="0"/>
          </a:p>
          <a:p>
            <a:endParaRPr lang="en-US" b="1" u="sng" dirty="0"/>
          </a:p>
          <a:p>
            <a:endParaRPr lang="en-US" b="1" u="sng" dirty="0"/>
          </a:p>
          <a:p>
            <a:pPr marL="0" indent="0">
              <a:buNone/>
            </a:pPr>
            <a:endParaRPr lang="en-US" b="1" u="sng" dirty="0"/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AC478B-2BBC-6FB9-3DAE-02FD224AAC01}"/>
              </a:ext>
            </a:extLst>
          </p:cNvPr>
          <p:cNvSpPr/>
          <p:nvPr/>
        </p:nvSpPr>
        <p:spPr>
          <a:xfrm>
            <a:off x="509941" y="1341964"/>
            <a:ext cx="4917465" cy="15041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Roboto Condensed(Body)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9BE07D-97F9-9E6B-7F9B-550DC50524DA}"/>
              </a:ext>
            </a:extLst>
          </p:cNvPr>
          <p:cNvSpPr/>
          <p:nvPr/>
        </p:nvSpPr>
        <p:spPr>
          <a:xfrm>
            <a:off x="809703" y="1482922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00FF"/>
                </a:solidFill>
                <a:latin typeface="Roboto Condensed(Body)"/>
              </a:rPr>
              <a:t>SELECT</a:t>
            </a:r>
            <a:endParaRPr lang="en-US" dirty="0">
              <a:solidFill>
                <a:srgbClr val="0000FF"/>
              </a:solidFill>
              <a:latin typeface="Roboto Condensed(Body)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8E2B1E-5B1E-0E3C-92F0-AA4B973A0235}"/>
              </a:ext>
            </a:extLst>
          </p:cNvPr>
          <p:cNvSpPr/>
          <p:nvPr/>
        </p:nvSpPr>
        <p:spPr>
          <a:xfrm>
            <a:off x="809703" y="2123171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FROM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88792E8-7A6B-8359-6D1E-DEF2A6F3F3AC}"/>
              </a:ext>
            </a:extLst>
          </p:cNvPr>
          <p:cNvSpPr/>
          <p:nvPr/>
        </p:nvSpPr>
        <p:spPr>
          <a:xfrm>
            <a:off x="2021091" y="1482922"/>
            <a:ext cx="224317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n w="0"/>
                <a:solidFill>
                  <a:srgbClr val="FF33CC"/>
                </a:solidFill>
                <a:latin typeface="Roboto Condensed(Body)"/>
              </a:rPr>
              <a:t>MAX</a:t>
            </a:r>
            <a:r>
              <a:rPr lang="en-US" dirty="0">
                <a:ln w="0"/>
                <a:solidFill>
                  <a:schemeClr val="tx1"/>
                </a:solidFill>
                <a:latin typeface="Roboto Condensed(Body)"/>
              </a:rPr>
              <a:t>(SPI) </a:t>
            </a:r>
            <a:r>
              <a:rPr lang="en-IN" dirty="0">
                <a:solidFill>
                  <a:srgbClr val="0000FF"/>
                </a:solidFill>
                <a:latin typeface="Roboto Condensed(Body)"/>
              </a:rPr>
              <a:t>AS</a:t>
            </a:r>
            <a:r>
              <a:rPr lang="en-US" dirty="0">
                <a:ln w="0"/>
                <a:solidFill>
                  <a:schemeClr val="tx1"/>
                </a:solidFill>
                <a:latin typeface="Roboto Condensed(Body)"/>
              </a:rPr>
              <a:t> MAXSPI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4230759-977F-BD83-1418-5090EFF23A52}"/>
              </a:ext>
            </a:extLst>
          </p:cNvPr>
          <p:cNvSpPr/>
          <p:nvPr/>
        </p:nvSpPr>
        <p:spPr>
          <a:xfrm>
            <a:off x="2021091" y="2130618"/>
            <a:ext cx="1272431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latin typeface="Roboto Condensed(Body)"/>
              </a:rPr>
              <a:t>Student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1A5A179-2F36-714C-E851-20B4D05A694D}"/>
              </a:ext>
            </a:extLst>
          </p:cNvPr>
          <p:cNvSpPr/>
          <p:nvPr/>
        </p:nvSpPr>
        <p:spPr>
          <a:xfrm>
            <a:off x="3437500" y="2135623"/>
            <a:ext cx="168820" cy="44718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(Body)"/>
              </a:rPr>
              <a:t>;</a:t>
            </a:r>
          </a:p>
        </p:txBody>
      </p:sp>
      <p:graphicFrame>
        <p:nvGraphicFramePr>
          <p:cNvPr id="33" name="Content Placeholder 11">
            <a:extLst>
              <a:ext uri="{FF2B5EF4-FFF2-40B4-BE49-F238E27FC236}">
                <a16:creationId xmlns:a16="http://schemas.microsoft.com/office/drawing/2014/main" id="{9E2AEF29-831F-5B2B-5149-8DEDCB6BB3FA}"/>
              </a:ext>
            </a:extLst>
          </p:cNvPr>
          <p:cNvGraphicFramePr>
            <a:graphicFrameLocks/>
          </p:cNvGraphicFramePr>
          <p:nvPr/>
        </p:nvGraphicFramePr>
        <p:xfrm>
          <a:off x="8622042" y="863444"/>
          <a:ext cx="2619111" cy="24838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911">
                  <a:extLst>
                    <a:ext uri="{9D8B030D-6E8A-4147-A177-3AD203B41FA5}">
                      <a16:colId xmlns:a16="http://schemas.microsoft.com/office/drawing/2014/main" val="3673608313"/>
                    </a:ext>
                  </a:extLst>
                </a:gridCol>
                <a:gridCol w="685581">
                  <a:extLst>
                    <a:ext uri="{9D8B030D-6E8A-4147-A177-3AD203B41FA5}">
                      <a16:colId xmlns:a16="http://schemas.microsoft.com/office/drawing/2014/main" val="1434806160"/>
                    </a:ext>
                  </a:extLst>
                </a:gridCol>
                <a:gridCol w="628449">
                  <a:extLst>
                    <a:ext uri="{9D8B030D-6E8A-4147-A177-3AD203B41FA5}">
                      <a16:colId xmlns:a16="http://schemas.microsoft.com/office/drawing/2014/main" val="3487458896"/>
                    </a:ext>
                  </a:extLst>
                </a:gridCol>
                <a:gridCol w="736170">
                  <a:extLst>
                    <a:ext uri="{9D8B030D-6E8A-4147-A177-3AD203B41FA5}">
                      <a16:colId xmlns:a16="http://schemas.microsoft.com/office/drawing/2014/main" val="3469217163"/>
                    </a:ext>
                  </a:extLst>
                </a:gridCol>
              </a:tblGrid>
              <a:tr h="263143">
                <a:tc gridSpan="3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Student</a:t>
                      </a:r>
                    </a:p>
                  </a:txBody>
                  <a:tcPr marL="72000" marR="9525" marT="952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chemeClr val="tx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0476952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Roboto Condensed(Body)"/>
                        </a:rPr>
                        <a:t>Rno</a:t>
                      </a:r>
                      <a:endParaRPr lang="en-US" sz="1600" b="1" i="0" u="none" strike="noStrike" kern="1200" dirty="0">
                        <a:solidFill>
                          <a:schemeClr val="bg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Name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Branch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899890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101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Ajay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CE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836710165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102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Sanjay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CE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84041172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103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Aesha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104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Milan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EC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73964503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105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Mahesh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EE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05132244"/>
                  </a:ext>
                </a:extLst>
              </a:tr>
            </a:tbl>
          </a:graphicData>
        </a:graphic>
      </p:graphicFrame>
      <p:graphicFrame>
        <p:nvGraphicFramePr>
          <p:cNvPr id="35" name="Content Placeholder 11">
            <a:extLst>
              <a:ext uri="{FF2B5EF4-FFF2-40B4-BE49-F238E27FC236}">
                <a16:creationId xmlns:a16="http://schemas.microsoft.com/office/drawing/2014/main" id="{44E38BA8-B86F-1546-9255-03C262FC1910}"/>
              </a:ext>
            </a:extLst>
          </p:cNvPr>
          <p:cNvGraphicFramePr>
            <a:graphicFrameLocks/>
          </p:cNvGraphicFramePr>
          <p:nvPr/>
        </p:nvGraphicFramePr>
        <p:xfrm>
          <a:off x="5185668" y="3757828"/>
          <a:ext cx="1333120" cy="997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120">
                  <a:extLst>
                    <a:ext uri="{9D8B030D-6E8A-4147-A177-3AD203B41FA5}">
                      <a16:colId xmlns:a16="http://schemas.microsoft.com/office/drawing/2014/main" val="3673608313"/>
                    </a:ext>
                  </a:extLst>
                </a:gridCol>
              </a:tblGrid>
              <a:tr h="257635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Output</a:t>
                      </a:r>
                    </a:p>
                  </a:txBody>
                  <a:tcPr marL="72000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0476952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dirty="0">
                          <a:ln w="0"/>
                          <a:solidFill>
                            <a:schemeClr val="bg1"/>
                          </a:solidFill>
                          <a:latin typeface="Roboto Condensed(Body)"/>
                        </a:rPr>
                        <a:t>MAXSPI</a:t>
                      </a:r>
                      <a:endParaRPr lang="en-US" sz="1600" b="1" i="0" u="none" strike="noStrike" kern="1200" dirty="0">
                        <a:solidFill>
                          <a:schemeClr val="bg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899890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72000" marR="9525" marT="9525" marB="0" anchor="ctr"/>
                </a:tc>
                <a:extLst>
                  <a:ext uri="{0D108BD9-81ED-4DB2-BD59-A6C34878D82A}">
                    <a16:rowId xmlns:a16="http://schemas.microsoft.com/office/drawing/2014/main" val="3836710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1504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19" grpId="0" animBg="1"/>
      <p:bldP spid="20" grpId="0" animBg="1"/>
      <p:bldP spid="31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D100D-4372-8216-91D5-108004898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E6BD0-2545-9C15-401D-50664C234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By Clause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3F632-B1F2-F447-2BD5-2144708A58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GROUP BY</a:t>
            </a:r>
            <a:r>
              <a:rPr lang="en-US" dirty="0"/>
              <a:t> clause </a:t>
            </a:r>
            <a:r>
              <a:rPr lang="en-US" b="1" dirty="0">
                <a:solidFill>
                  <a:schemeClr val="accent6"/>
                </a:solidFill>
              </a:rPr>
              <a:t>groups</a:t>
            </a:r>
            <a:r>
              <a:rPr lang="en-US" dirty="0"/>
              <a:t> similar rows together.</a:t>
            </a:r>
          </a:p>
          <a:p>
            <a:r>
              <a:rPr lang="en-US" dirty="0"/>
              <a:t>It helps calculate values like </a:t>
            </a:r>
            <a:r>
              <a:rPr lang="en-US" b="1" dirty="0">
                <a:solidFill>
                  <a:schemeClr val="accent6"/>
                </a:solidFill>
              </a:rPr>
              <a:t>totals</a:t>
            </a:r>
            <a:r>
              <a:rPr lang="en-US" dirty="0"/>
              <a:t> or </a:t>
            </a:r>
            <a:r>
              <a:rPr lang="en-US" b="1" dirty="0">
                <a:solidFill>
                  <a:schemeClr val="accent6"/>
                </a:solidFill>
              </a:rPr>
              <a:t>averages</a:t>
            </a:r>
            <a:r>
              <a:rPr lang="en-US" dirty="0"/>
              <a:t> for each group.</a:t>
            </a:r>
          </a:p>
          <a:p>
            <a:endParaRPr lang="en-US" b="1" u="sng" dirty="0"/>
          </a:p>
          <a:p>
            <a:r>
              <a:rPr lang="en-US" b="1" u="sng" dirty="0" err="1"/>
              <a:t>E.g.Display</a:t>
            </a:r>
            <a:r>
              <a:rPr lang="en-US" b="1" u="sng" dirty="0"/>
              <a:t> Branch wise maximum SPI.</a:t>
            </a:r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B6CA56-D6D1-D631-1419-C540A0152404}"/>
              </a:ext>
            </a:extLst>
          </p:cNvPr>
          <p:cNvSpPr/>
          <p:nvPr/>
        </p:nvSpPr>
        <p:spPr>
          <a:xfrm>
            <a:off x="657421" y="2983949"/>
            <a:ext cx="5153443" cy="19434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Roboto Condensed(Body)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2BECBA-6BFB-48D3-E15A-67C3FBD75DB6}"/>
              </a:ext>
            </a:extLst>
          </p:cNvPr>
          <p:cNvSpPr/>
          <p:nvPr/>
        </p:nvSpPr>
        <p:spPr>
          <a:xfrm>
            <a:off x="809703" y="3174077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00FF"/>
                </a:solidFill>
                <a:latin typeface="Roboto Condensed(Body)"/>
              </a:rPr>
              <a:t>SELECT</a:t>
            </a:r>
            <a:endParaRPr lang="en-US" dirty="0">
              <a:solidFill>
                <a:srgbClr val="0000FF"/>
              </a:solidFill>
              <a:latin typeface="Roboto Condensed(Body)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2FB906-6CB6-CD7E-09D6-1A4D46980244}"/>
              </a:ext>
            </a:extLst>
          </p:cNvPr>
          <p:cNvSpPr/>
          <p:nvPr/>
        </p:nvSpPr>
        <p:spPr>
          <a:xfrm>
            <a:off x="809703" y="3727051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FROM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3370EEB-6DB9-2F89-1ED1-88211AB56F39}"/>
              </a:ext>
            </a:extLst>
          </p:cNvPr>
          <p:cNvSpPr/>
          <p:nvPr/>
        </p:nvSpPr>
        <p:spPr>
          <a:xfrm>
            <a:off x="2026479" y="3174077"/>
            <a:ext cx="879346" cy="44272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(Body)"/>
              </a:rPr>
              <a:t>Branch,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D0879B3-BF24-5D78-4F28-8F631A711DAD}"/>
              </a:ext>
            </a:extLst>
          </p:cNvPr>
          <p:cNvSpPr/>
          <p:nvPr/>
        </p:nvSpPr>
        <p:spPr>
          <a:xfrm>
            <a:off x="3132285" y="3174077"/>
            <a:ext cx="2420128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n w="0"/>
                <a:solidFill>
                  <a:srgbClr val="FF33CC"/>
                </a:solidFill>
                <a:latin typeface="Roboto Condensed(Body)"/>
              </a:rPr>
              <a:t>MAX</a:t>
            </a:r>
            <a:r>
              <a:rPr lang="en-US" dirty="0">
                <a:ln w="0"/>
                <a:solidFill>
                  <a:schemeClr val="tx1"/>
                </a:solidFill>
                <a:latin typeface="Roboto Condensed(Body)"/>
              </a:rPr>
              <a:t>(SPI) </a:t>
            </a:r>
            <a:r>
              <a:rPr lang="en-IN" dirty="0">
                <a:solidFill>
                  <a:srgbClr val="0000FF"/>
                </a:solidFill>
                <a:latin typeface="Roboto Condensed(Body)"/>
              </a:rPr>
              <a:t>AS</a:t>
            </a:r>
            <a:r>
              <a:rPr lang="en-US" dirty="0">
                <a:ln w="0"/>
                <a:solidFill>
                  <a:schemeClr val="tx1"/>
                </a:solidFill>
                <a:latin typeface="Roboto Condensed(Body)"/>
              </a:rPr>
              <a:t> MAXIMUM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A2CC852-91BE-A1FF-DDE7-1E609AF032DA}"/>
              </a:ext>
            </a:extLst>
          </p:cNvPr>
          <p:cNvSpPr/>
          <p:nvPr/>
        </p:nvSpPr>
        <p:spPr>
          <a:xfrm>
            <a:off x="1936681" y="3737988"/>
            <a:ext cx="1272431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latin typeface="Roboto Condensed(Body)"/>
              </a:rPr>
              <a:t>Student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9E9977D-357E-8E3F-330D-746606AE6E66}"/>
              </a:ext>
            </a:extLst>
          </p:cNvPr>
          <p:cNvSpPr/>
          <p:nvPr/>
        </p:nvSpPr>
        <p:spPr>
          <a:xfrm>
            <a:off x="815091" y="4373098"/>
            <a:ext cx="1211388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00FF"/>
                </a:solidFill>
                <a:latin typeface="Roboto Condensed(Body)"/>
              </a:rPr>
              <a:t>GROUP BY</a:t>
            </a:r>
            <a:r>
              <a:rPr lang="en-US" dirty="0">
                <a:ln w="0"/>
                <a:solidFill>
                  <a:schemeClr val="tx1"/>
                </a:solidFill>
                <a:latin typeface="Roboto Condensed(Body)"/>
              </a:rPr>
              <a:t>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332A696-1A09-EC6D-24FE-4289DF600953}"/>
              </a:ext>
            </a:extLst>
          </p:cNvPr>
          <p:cNvSpPr/>
          <p:nvPr/>
        </p:nvSpPr>
        <p:spPr>
          <a:xfrm>
            <a:off x="2184149" y="4364710"/>
            <a:ext cx="879346" cy="44272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(Body)"/>
              </a:rPr>
              <a:t>Branch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7A865CC-95B6-6BE2-A1C2-4B54DB4104AD}"/>
              </a:ext>
            </a:extLst>
          </p:cNvPr>
          <p:cNvSpPr/>
          <p:nvPr/>
        </p:nvSpPr>
        <p:spPr>
          <a:xfrm>
            <a:off x="3171330" y="4368118"/>
            <a:ext cx="168820" cy="44718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(Body)"/>
              </a:rPr>
              <a:t>;</a:t>
            </a:r>
          </a:p>
        </p:txBody>
      </p:sp>
      <p:graphicFrame>
        <p:nvGraphicFramePr>
          <p:cNvPr id="34" name="Content Placeholder 11">
            <a:extLst>
              <a:ext uri="{FF2B5EF4-FFF2-40B4-BE49-F238E27FC236}">
                <a16:creationId xmlns:a16="http://schemas.microsoft.com/office/drawing/2014/main" id="{63AE2554-15E9-ED82-1EDC-5B76A78D6025}"/>
              </a:ext>
            </a:extLst>
          </p:cNvPr>
          <p:cNvGraphicFramePr>
            <a:graphicFrameLocks/>
          </p:cNvGraphicFramePr>
          <p:nvPr/>
        </p:nvGraphicFramePr>
        <p:xfrm>
          <a:off x="8763186" y="1243224"/>
          <a:ext cx="2619111" cy="24838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911">
                  <a:extLst>
                    <a:ext uri="{9D8B030D-6E8A-4147-A177-3AD203B41FA5}">
                      <a16:colId xmlns:a16="http://schemas.microsoft.com/office/drawing/2014/main" val="3673608313"/>
                    </a:ext>
                  </a:extLst>
                </a:gridCol>
                <a:gridCol w="685581">
                  <a:extLst>
                    <a:ext uri="{9D8B030D-6E8A-4147-A177-3AD203B41FA5}">
                      <a16:colId xmlns:a16="http://schemas.microsoft.com/office/drawing/2014/main" val="1434806160"/>
                    </a:ext>
                  </a:extLst>
                </a:gridCol>
                <a:gridCol w="628449">
                  <a:extLst>
                    <a:ext uri="{9D8B030D-6E8A-4147-A177-3AD203B41FA5}">
                      <a16:colId xmlns:a16="http://schemas.microsoft.com/office/drawing/2014/main" val="3487458896"/>
                    </a:ext>
                  </a:extLst>
                </a:gridCol>
                <a:gridCol w="736170">
                  <a:extLst>
                    <a:ext uri="{9D8B030D-6E8A-4147-A177-3AD203B41FA5}">
                      <a16:colId xmlns:a16="http://schemas.microsoft.com/office/drawing/2014/main" val="3469217163"/>
                    </a:ext>
                  </a:extLst>
                </a:gridCol>
              </a:tblGrid>
              <a:tr h="263143">
                <a:tc gridSpan="3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Student</a:t>
                      </a:r>
                    </a:p>
                  </a:txBody>
                  <a:tcPr marL="72000" marR="9525" marT="952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chemeClr val="tx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0476952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Roboto Condensed(Body)"/>
                        </a:rPr>
                        <a:t>Rno</a:t>
                      </a:r>
                      <a:endParaRPr lang="en-US" sz="1600" b="1" i="0" u="none" strike="noStrike" kern="1200" dirty="0">
                        <a:solidFill>
                          <a:schemeClr val="bg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Name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Branch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899890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101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Ajay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CE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836710165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102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Sanjay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CE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84041172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103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Aesha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104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Milan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EC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73964503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105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Mahesh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EE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05132244"/>
                  </a:ext>
                </a:extLst>
              </a:tr>
            </a:tbl>
          </a:graphicData>
        </a:graphic>
      </p:graphicFrame>
      <p:graphicFrame>
        <p:nvGraphicFramePr>
          <p:cNvPr id="16" name="Content Placeholder 11">
            <a:extLst>
              <a:ext uri="{FF2B5EF4-FFF2-40B4-BE49-F238E27FC236}">
                <a16:creationId xmlns:a16="http://schemas.microsoft.com/office/drawing/2014/main" id="{78AC2A8D-93E6-AB6D-77C6-AC873188D343}"/>
              </a:ext>
            </a:extLst>
          </p:cNvPr>
          <p:cNvGraphicFramePr>
            <a:graphicFrameLocks/>
          </p:cNvGraphicFramePr>
          <p:nvPr/>
        </p:nvGraphicFramePr>
        <p:xfrm>
          <a:off x="7247124" y="4034475"/>
          <a:ext cx="1697051" cy="21137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9063">
                  <a:extLst>
                    <a:ext uri="{9D8B030D-6E8A-4147-A177-3AD203B41FA5}">
                      <a16:colId xmlns:a16="http://schemas.microsoft.com/office/drawing/2014/main" val="3487458896"/>
                    </a:ext>
                  </a:extLst>
                </a:gridCol>
                <a:gridCol w="997988">
                  <a:extLst>
                    <a:ext uri="{9D8B030D-6E8A-4147-A177-3AD203B41FA5}">
                      <a16:colId xmlns:a16="http://schemas.microsoft.com/office/drawing/2014/main" val="3469217163"/>
                    </a:ext>
                  </a:extLst>
                </a:gridCol>
              </a:tblGrid>
              <a:tr h="263143">
                <a:tc gridSpan="2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OUTPUT</a:t>
                      </a:r>
                    </a:p>
                  </a:txBody>
                  <a:tcPr marL="72000" marR="9525" marT="952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72000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0476952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Branch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dirty="0">
                          <a:ln w="0"/>
                          <a:solidFill>
                            <a:schemeClr val="bg1"/>
                          </a:solidFill>
                          <a:latin typeface="Roboto Condensed(Body)"/>
                        </a:rPr>
                        <a:t>MAXIMUM</a:t>
                      </a:r>
                      <a:endParaRPr lang="en-US" sz="1600" b="1" i="0" u="none" strike="noStrike" kern="1200" dirty="0">
                        <a:solidFill>
                          <a:schemeClr val="bg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899890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CE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836710165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ME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84041172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EC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EE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739645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0052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22" grpId="0" animBg="1"/>
      <p:bldP spid="26" grpId="0" animBg="1"/>
      <p:bldP spid="28" grpId="0" animBg="1"/>
      <p:bldP spid="29" grpId="0" animBg="1"/>
      <p:bldP spid="30" grpId="0" animBg="1"/>
      <p:bldP spid="32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4F042-7681-4C5D-A684-AD8752277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9563D-BA1B-5B7F-D62F-895120CDB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By with Having Clause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24565-2762-7C38-B815-B68345AB5C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HAVING</a:t>
            </a:r>
            <a:r>
              <a:rPr lang="en-US" dirty="0"/>
              <a:t> clause </a:t>
            </a:r>
            <a:r>
              <a:rPr lang="en-US" b="1" dirty="0">
                <a:solidFill>
                  <a:schemeClr val="accent6"/>
                </a:solidFill>
              </a:rPr>
              <a:t>filters</a:t>
            </a:r>
            <a:r>
              <a:rPr lang="en-US" dirty="0"/>
              <a:t> groups based on a condition.</a:t>
            </a:r>
          </a:p>
          <a:p>
            <a:r>
              <a:rPr lang="en-US" dirty="0"/>
              <a:t>It is used with </a:t>
            </a:r>
            <a:r>
              <a:rPr lang="en-US" b="1" dirty="0">
                <a:solidFill>
                  <a:schemeClr val="accent6"/>
                </a:solidFill>
              </a:rPr>
              <a:t>aggregate functions </a:t>
            </a:r>
            <a:r>
              <a:rPr lang="en-US" dirty="0"/>
              <a:t>to limit the results of grouped data.</a:t>
            </a:r>
          </a:p>
          <a:p>
            <a:endParaRPr lang="en-US" dirty="0"/>
          </a:p>
          <a:p>
            <a:r>
              <a:rPr lang="en-US" b="1" u="sng" dirty="0" err="1"/>
              <a:t>E.g.Display</a:t>
            </a:r>
            <a:r>
              <a:rPr lang="en-US" b="1" u="sng" dirty="0"/>
              <a:t> Branch wise total SPI </a:t>
            </a:r>
            <a:r>
              <a:rPr lang="en-IN" b="1" u="sng" dirty="0"/>
              <a:t>greater</a:t>
            </a:r>
            <a:r>
              <a:rPr lang="en-US" b="1" u="sng" dirty="0"/>
              <a:t> then 14.</a:t>
            </a:r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11703A-6053-A519-DE17-61C17B109E14}"/>
              </a:ext>
            </a:extLst>
          </p:cNvPr>
          <p:cNvSpPr/>
          <p:nvPr/>
        </p:nvSpPr>
        <p:spPr>
          <a:xfrm>
            <a:off x="495071" y="2948518"/>
            <a:ext cx="7876979" cy="264993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Roboto Condensed(Body)"/>
            </a:endParaRPr>
          </a:p>
          <a:p>
            <a:pPr algn="ctr"/>
            <a:endParaRPr lang="en-US" dirty="0">
              <a:latin typeface="Roboto Condensed(Body)"/>
            </a:endParaRPr>
          </a:p>
          <a:p>
            <a:pPr algn="ctr"/>
            <a:endParaRPr lang="en-US" dirty="0">
              <a:latin typeface="Roboto Condensed(Body)"/>
            </a:endParaRPr>
          </a:p>
          <a:p>
            <a:pPr algn="ctr"/>
            <a:endParaRPr lang="en-US" dirty="0">
              <a:latin typeface="Roboto Condensed(Body)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248A85-41EF-69ED-9B2B-D8FF33254812}"/>
              </a:ext>
            </a:extLst>
          </p:cNvPr>
          <p:cNvSpPr/>
          <p:nvPr/>
        </p:nvSpPr>
        <p:spPr>
          <a:xfrm>
            <a:off x="809703" y="3174077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00FF"/>
                </a:solidFill>
                <a:latin typeface="Roboto Condensed(Body)"/>
              </a:rPr>
              <a:t>SELECT</a:t>
            </a:r>
            <a:endParaRPr lang="en-US" dirty="0">
              <a:solidFill>
                <a:srgbClr val="0000FF"/>
              </a:solidFill>
              <a:latin typeface="Roboto Condensed(Body)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BE234D-4EA7-B7EC-FE48-58E2FB5A2F03}"/>
              </a:ext>
            </a:extLst>
          </p:cNvPr>
          <p:cNvSpPr/>
          <p:nvPr/>
        </p:nvSpPr>
        <p:spPr>
          <a:xfrm>
            <a:off x="1903185" y="3727051"/>
            <a:ext cx="1272431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latin typeface="Roboto Condensed(Body)"/>
              </a:rPr>
              <a:t>Student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0527E5-6BF7-8BE6-E24B-B4D8A9E8D91E}"/>
              </a:ext>
            </a:extLst>
          </p:cNvPr>
          <p:cNvSpPr/>
          <p:nvPr/>
        </p:nvSpPr>
        <p:spPr>
          <a:xfrm>
            <a:off x="809703" y="3727051"/>
            <a:ext cx="990316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FROM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DDD5A0-661D-99D2-327E-331148187DB7}"/>
              </a:ext>
            </a:extLst>
          </p:cNvPr>
          <p:cNvSpPr/>
          <p:nvPr/>
        </p:nvSpPr>
        <p:spPr>
          <a:xfrm>
            <a:off x="4666293" y="4890339"/>
            <a:ext cx="132398" cy="44718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(Body)"/>
              </a:rPr>
              <a:t>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1304CC-4C4B-6737-631A-3E82F09DAA18}"/>
              </a:ext>
            </a:extLst>
          </p:cNvPr>
          <p:cNvSpPr/>
          <p:nvPr/>
        </p:nvSpPr>
        <p:spPr>
          <a:xfrm>
            <a:off x="1903183" y="3174807"/>
            <a:ext cx="1272431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(Body)"/>
              </a:rPr>
              <a:t>Branch,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FC7046-F2FB-E24C-8BBF-16169A0F97BD}"/>
              </a:ext>
            </a:extLst>
          </p:cNvPr>
          <p:cNvSpPr/>
          <p:nvPr/>
        </p:nvSpPr>
        <p:spPr>
          <a:xfrm>
            <a:off x="2243076" y="4277975"/>
            <a:ext cx="1397377" cy="46254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(Body)"/>
              </a:rPr>
              <a:t>Branch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474167-DA34-7B0C-058C-E570EB779644}"/>
              </a:ext>
            </a:extLst>
          </p:cNvPr>
          <p:cNvSpPr/>
          <p:nvPr/>
        </p:nvSpPr>
        <p:spPr>
          <a:xfrm>
            <a:off x="817936" y="4273222"/>
            <a:ext cx="1272431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0000FF"/>
                </a:solidFill>
                <a:latin typeface="Roboto Condensed(Body)"/>
              </a:rPr>
              <a:t>GROUP BY</a:t>
            </a:r>
            <a:r>
              <a:rPr lang="en-US" dirty="0">
                <a:ln w="0"/>
                <a:solidFill>
                  <a:schemeClr val="tx1"/>
                </a:solidFill>
                <a:latin typeface="Roboto Condensed(Body)"/>
              </a:rPr>
              <a:t>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518BE2-EE1B-B68F-4D09-B581491798F1}"/>
              </a:ext>
            </a:extLst>
          </p:cNvPr>
          <p:cNvSpPr/>
          <p:nvPr/>
        </p:nvSpPr>
        <p:spPr>
          <a:xfrm>
            <a:off x="809703" y="4873096"/>
            <a:ext cx="1093480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  <a:latin typeface="Roboto Condensed(Body)"/>
              </a:rPr>
              <a:t>Having</a:t>
            </a:r>
            <a:endParaRPr lang="en-US" dirty="0">
              <a:ln w="0"/>
              <a:solidFill>
                <a:schemeClr val="tx1"/>
              </a:solidFill>
              <a:latin typeface="Roboto Condensed(Body)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4FDA38-1201-0F1F-7C6D-582408D7BF88}"/>
              </a:ext>
            </a:extLst>
          </p:cNvPr>
          <p:cNvSpPr/>
          <p:nvPr/>
        </p:nvSpPr>
        <p:spPr>
          <a:xfrm>
            <a:off x="3279769" y="3174077"/>
            <a:ext cx="1272431" cy="457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n w="0"/>
                <a:solidFill>
                  <a:srgbClr val="FF33CC"/>
                </a:solidFill>
                <a:latin typeface="Roboto Condensed(Body)"/>
              </a:rPr>
              <a:t>SUM</a:t>
            </a:r>
            <a:r>
              <a:rPr lang="en-US" dirty="0">
                <a:ln w="0"/>
                <a:solidFill>
                  <a:schemeClr val="tx1"/>
                </a:solidFill>
                <a:latin typeface="Roboto Condensed(Body)"/>
              </a:rPr>
              <a:t>(SPI)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CA76D17-A438-7F49-F921-312F2645BC1F}"/>
              </a:ext>
            </a:extLst>
          </p:cNvPr>
          <p:cNvSpPr/>
          <p:nvPr/>
        </p:nvSpPr>
        <p:spPr>
          <a:xfrm>
            <a:off x="3634250" y="4902757"/>
            <a:ext cx="327305" cy="44718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(Body)"/>
              </a:rPr>
              <a:t>&gt;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936A6D9-C756-BEBF-6EF9-31D2BF95A7EB}"/>
              </a:ext>
            </a:extLst>
          </p:cNvPr>
          <p:cNvSpPr/>
          <p:nvPr/>
        </p:nvSpPr>
        <p:spPr>
          <a:xfrm>
            <a:off x="4098058" y="4902757"/>
            <a:ext cx="412068" cy="44718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(Body)"/>
              </a:rPr>
              <a:t>14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B09A93F-1DC8-CE78-4AC9-908F2502C9D7}"/>
              </a:ext>
            </a:extLst>
          </p:cNvPr>
          <p:cNvSpPr/>
          <p:nvPr/>
        </p:nvSpPr>
        <p:spPr>
          <a:xfrm>
            <a:off x="2066098" y="4890339"/>
            <a:ext cx="1397377" cy="46254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n w="0"/>
                <a:solidFill>
                  <a:srgbClr val="FF33CC"/>
                </a:solidFill>
                <a:latin typeface="Roboto Condensed(Body)"/>
              </a:rPr>
              <a:t>SUM</a:t>
            </a:r>
            <a:r>
              <a:rPr lang="en-US" dirty="0">
                <a:ln w="0"/>
                <a:solidFill>
                  <a:schemeClr val="tx1"/>
                </a:solidFill>
                <a:latin typeface="Roboto Condensed(Body)"/>
              </a:rPr>
              <a:t>(SPI)</a:t>
            </a:r>
          </a:p>
        </p:txBody>
      </p:sp>
      <p:graphicFrame>
        <p:nvGraphicFramePr>
          <p:cNvPr id="22" name="Content Placeholder 11">
            <a:extLst>
              <a:ext uri="{FF2B5EF4-FFF2-40B4-BE49-F238E27FC236}">
                <a16:creationId xmlns:a16="http://schemas.microsoft.com/office/drawing/2014/main" id="{BF5907C0-AB50-1BF3-E234-156582B4922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4253926"/>
              </p:ext>
            </p:extLst>
          </p:nvPr>
        </p:nvGraphicFramePr>
        <p:xfrm>
          <a:off x="9239048" y="4238831"/>
          <a:ext cx="1697051" cy="10033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9063">
                  <a:extLst>
                    <a:ext uri="{9D8B030D-6E8A-4147-A177-3AD203B41FA5}">
                      <a16:colId xmlns:a16="http://schemas.microsoft.com/office/drawing/2014/main" val="3487458896"/>
                    </a:ext>
                  </a:extLst>
                </a:gridCol>
                <a:gridCol w="997988">
                  <a:extLst>
                    <a:ext uri="{9D8B030D-6E8A-4147-A177-3AD203B41FA5}">
                      <a16:colId xmlns:a16="http://schemas.microsoft.com/office/drawing/2014/main" val="3469217163"/>
                    </a:ext>
                  </a:extLst>
                </a:gridCol>
              </a:tblGrid>
              <a:tr h="263143">
                <a:tc gridSpan="2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OUTPUT</a:t>
                      </a:r>
                    </a:p>
                  </a:txBody>
                  <a:tcPr marL="72000" marR="9525" marT="952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72000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0476952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Branch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dirty="0">
                          <a:ln w="0"/>
                          <a:solidFill>
                            <a:schemeClr val="bg1"/>
                          </a:solidFill>
                          <a:latin typeface="Roboto Condensed(Body)"/>
                        </a:rPr>
                        <a:t>MAXIMUM</a:t>
                      </a:r>
                      <a:endParaRPr lang="en-US" sz="1600" b="1" i="0" u="none" strike="noStrike" kern="1200" dirty="0">
                        <a:solidFill>
                          <a:schemeClr val="bg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899890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CE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836710165"/>
                  </a:ext>
                </a:extLst>
              </a:tr>
            </a:tbl>
          </a:graphicData>
        </a:graphic>
      </p:graphicFrame>
      <p:graphicFrame>
        <p:nvGraphicFramePr>
          <p:cNvPr id="4" name="Content Placeholder 11">
            <a:extLst>
              <a:ext uri="{FF2B5EF4-FFF2-40B4-BE49-F238E27FC236}">
                <a16:creationId xmlns:a16="http://schemas.microsoft.com/office/drawing/2014/main" id="{AEAC786A-CF9B-53F3-90AC-C4452790AA9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70150960"/>
              </p:ext>
            </p:extLst>
          </p:nvPr>
        </p:nvGraphicFramePr>
        <p:xfrm>
          <a:off x="9239048" y="1358001"/>
          <a:ext cx="2619111" cy="24838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911">
                  <a:extLst>
                    <a:ext uri="{9D8B030D-6E8A-4147-A177-3AD203B41FA5}">
                      <a16:colId xmlns:a16="http://schemas.microsoft.com/office/drawing/2014/main" val="3673608313"/>
                    </a:ext>
                  </a:extLst>
                </a:gridCol>
                <a:gridCol w="685581">
                  <a:extLst>
                    <a:ext uri="{9D8B030D-6E8A-4147-A177-3AD203B41FA5}">
                      <a16:colId xmlns:a16="http://schemas.microsoft.com/office/drawing/2014/main" val="1434806160"/>
                    </a:ext>
                  </a:extLst>
                </a:gridCol>
                <a:gridCol w="628449">
                  <a:extLst>
                    <a:ext uri="{9D8B030D-6E8A-4147-A177-3AD203B41FA5}">
                      <a16:colId xmlns:a16="http://schemas.microsoft.com/office/drawing/2014/main" val="3487458896"/>
                    </a:ext>
                  </a:extLst>
                </a:gridCol>
                <a:gridCol w="736170">
                  <a:extLst>
                    <a:ext uri="{9D8B030D-6E8A-4147-A177-3AD203B41FA5}">
                      <a16:colId xmlns:a16="http://schemas.microsoft.com/office/drawing/2014/main" val="3469217163"/>
                    </a:ext>
                  </a:extLst>
                </a:gridCol>
              </a:tblGrid>
              <a:tr h="263143">
                <a:tc gridSpan="3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Student</a:t>
                      </a:r>
                    </a:p>
                  </a:txBody>
                  <a:tcPr marL="72000" marR="9525" marT="952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lang="en-US" sz="1600" b="1" i="0" u="none" strike="noStrike" kern="1200" dirty="0">
                        <a:solidFill>
                          <a:schemeClr val="tx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0476952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Roboto Condensed(Body)"/>
                        </a:rPr>
                        <a:t>Rno</a:t>
                      </a:r>
                      <a:endParaRPr lang="en-US" sz="1600" b="1" i="0" u="none" strike="noStrike" kern="1200" dirty="0">
                        <a:solidFill>
                          <a:schemeClr val="bg1"/>
                        </a:solidFill>
                        <a:effectLst/>
                        <a:latin typeface="Roboto Condensed(Body)"/>
                        <a:ea typeface="+mn-ea"/>
                        <a:cs typeface="+mn-cs"/>
                      </a:endParaRP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Name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SPI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Branch</a:t>
                      </a:r>
                    </a:p>
                  </a:txBody>
                  <a:tcPr marL="72000" marR="9525" marT="9525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899890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101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Ajay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CE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836710165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102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Sanjay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CE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84041172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103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Aesha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104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Milan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EC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73964503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105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Mahesh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72000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6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Roboto Condensed(Body)"/>
                          <a:ea typeface="+mn-ea"/>
                          <a:cs typeface="+mn-cs"/>
                        </a:rPr>
                        <a:t>EE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051322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2156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DA313-537B-75F4-38F8-F715AE403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4C597-6907-3A79-7714-ACE8EEDCA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Conversion Functions</a:t>
            </a:r>
          </a:p>
        </p:txBody>
      </p:sp>
    </p:spTree>
    <p:extLst>
      <p:ext uri="{BB962C8B-B14F-4D97-AF65-F5344CB8AC3E}">
        <p14:creationId xmlns:p14="http://schemas.microsoft.com/office/powerpoint/2010/main" val="97349204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3925D-44F2-14FB-3456-077070F30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Conversion Functions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B54DFCD-5CDB-8472-4B16-2C3719BCCE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9022313"/>
              </p:ext>
            </p:extLst>
          </p:nvPr>
        </p:nvGraphicFramePr>
        <p:xfrm>
          <a:off x="245106" y="744469"/>
          <a:ext cx="11268870" cy="332994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132724">
                  <a:extLst>
                    <a:ext uri="{9D8B030D-6E8A-4147-A177-3AD203B41FA5}">
                      <a16:colId xmlns:a16="http://schemas.microsoft.com/office/drawing/2014/main" val="3235359390"/>
                    </a:ext>
                  </a:extLst>
                </a:gridCol>
                <a:gridCol w="6663533">
                  <a:extLst>
                    <a:ext uri="{9D8B030D-6E8A-4147-A177-3AD203B41FA5}">
                      <a16:colId xmlns:a16="http://schemas.microsoft.com/office/drawing/2014/main" val="2762961846"/>
                    </a:ext>
                  </a:extLst>
                </a:gridCol>
                <a:gridCol w="2472613">
                  <a:extLst>
                    <a:ext uri="{9D8B030D-6E8A-4147-A177-3AD203B41FA5}">
                      <a16:colId xmlns:a16="http://schemas.microsoft.com/office/drawing/2014/main" val="673688359"/>
                    </a:ext>
                  </a:extLst>
                </a:gridCol>
              </a:tblGrid>
              <a:tr h="37175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Function Name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Output</a:t>
                      </a:r>
                      <a:endParaRPr lang="en-IN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0345845"/>
                  </a:ext>
                </a:extLst>
              </a:tr>
              <a:tr h="654440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CAST</a:t>
                      </a:r>
                      <a:r>
                        <a:rPr lang="en-IN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()</a:t>
                      </a:r>
                      <a:endParaRPr lang="en-US" sz="2000" dirty="0">
                        <a:effectLst/>
                        <a:latin typeface="Roboto Condensed (Body)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Roboto Condensed (Body)"/>
                        </a:rPr>
                        <a:t>It is used to </a:t>
                      </a:r>
                      <a:r>
                        <a:rPr lang="en-US" sz="2000" b="0" dirty="0">
                          <a:latin typeface="Roboto Condensed (Body)"/>
                        </a:rPr>
                        <a:t>convert one data type into another</a:t>
                      </a:r>
                    </a:p>
                    <a:p>
                      <a:pPr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latin typeface="Roboto Condensed (Body)"/>
                        </a:rPr>
                        <a:t>(e.g. integer to string)</a:t>
                      </a:r>
                    </a:p>
                    <a:p>
                      <a:pPr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FF"/>
                          </a:solidFill>
                          <a:latin typeface="Roboto Condensed (Body)"/>
                        </a:rPr>
                        <a:t>SELECT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CAST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123.45 </a:t>
                      </a:r>
                      <a:r>
                        <a:rPr lang="en-US" sz="2000" dirty="0">
                          <a:solidFill>
                            <a:srgbClr val="0000FF"/>
                          </a:solidFill>
                          <a:latin typeface="Roboto Condensed (Body)"/>
                        </a:rPr>
                        <a:t>AS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0000FF"/>
                          </a:solidFill>
                          <a:latin typeface="Roboto Condensed (Body)"/>
                        </a:rPr>
                        <a:t>INT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)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0000FF"/>
                          </a:solidFill>
                          <a:latin typeface="Roboto Condensed (Body)"/>
                        </a:rPr>
                        <a:t>AS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Roboto Condensed (Body)"/>
                        </a:rPr>
                        <a:t>TypeCast</a:t>
                      </a:r>
                      <a:endParaRPr lang="en-US" sz="2000" b="0" dirty="0">
                        <a:effectLst/>
                        <a:latin typeface="Roboto Condensed (Body)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2000" dirty="0">
                        <a:effectLst/>
                        <a:latin typeface="Roboto Condensed (Body)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1584201720"/>
                  </a:ext>
                </a:extLst>
              </a:tr>
              <a:tr h="375626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CONVERT</a:t>
                      </a:r>
                      <a:r>
                        <a:rPr lang="en-IN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()</a:t>
                      </a:r>
                      <a:endParaRPr lang="en-IN" sz="2000" dirty="0">
                        <a:effectLst/>
                        <a:latin typeface="Roboto Condensed (Body)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Roboto Condensed (Body)"/>
                        </a:rPr>
                        <a:t>Convert function </a:t>
                      </a:r>
                      <a:r>
                        <a:rPr lang="en-US" sz="2000" dirty="0">
                          <a:latin typeface="Roboto Condensed (Body)"/>
                        </a:rPr>
                        <a:t>also used to </a:t>
                      </a:r>
                      <a:r>
                        <a:rPr lang="en-US" sz="2000" b="0" dirty="0">
                          <a:latin typeface="Roboto Condensed (Body)"/>
                        </a:rPr>
                        <a:t>change one data type into another</a:t>
                      </a:r>
                    </a:p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b="0" dirty="0">
                        <a:latin typeface="Roboto Condensed (Body)"/>
                      </a:endParaRPr>
                    </a:p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latin typeface="Roboto Condensed (Body)"/>
                        </a:rPr>
                        <a:t>Convert Decimal to Integer</a:t>
                      </a:r>
                    </a:p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dirty="0">
                          <a:solidFill>
                            <a:srgbClr val="0000FF"/>
                          </a:solidFill>
                          <a:latin typeface="Roboto Condensed (Body)"/>
                        </a:rPr>
                        <a:t>SELECT</a:t>
                      </a:r>
                      <a:r>
                        <a:rPr lang="en-IN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IN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CONVERT</a:t>
                      </a:r>
                      <a:r>
                        <a:rPr lang="en-IN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</a:t>
                      </a:r>
                      <a:r>
                        <a:rPr lang="en-IN" sz="2000" dirty="0">
                          <a:solidFill>
                            <a:srgbClr val="0000FF"/>
                          </a:solidFill>
                          <a:latin typeface="Roboto Condensed (Body)"/>
                        </a:rPr>
                        <a:t>INT</a:t>
                      </a:r>
                      <a:r>
                        <a:rPr lang="en-IN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,</a:t>
                      </a:r>
                      <a:r>
                        <a:rPr lang="en-IN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123.45</a:t>
                      </a:r>
                      <a:r>
                        <a:rPr lang="en-IN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)</a:t>
                      </a:r>
                      <a:r>
                        <a:rPr lang="en-IN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IN" sz="2000" dirty="0">
                          <a:solidFill>
                            <a:srgbClr val="0000FF"/>
                          </a:solidFill>
                          <a:latin typeface="Roboto Condensed (Body)"/>
                        </a:rPr>
                        <a:t>AS</a:t>
                      </a:r>
                      <a:r>
                        <a:rPr lang="en-IN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IN" sz="2000" dirty="0" err="1">
                          <a:solidFill>
                            <a:srgbClr val="000000"/>
                          </a:solidFill>
                          <a:latin typeface="Roboto Condensed (Body)"/>
                        </a:rPr>
                        <a:t>TypeConversion</a:t>
                      </a:r>
                      <a:endParaRPr lang="en-IN" sz="2000" dirty="0">
                        <a:solidFill>
                          <a:srgbClr val="000000"/>
                        </a:solidFill>
                        <a:latin typeface="Roboto Condensed (Body)"/>
                      </a:endParaRPr>
                    </a:p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800" dirty="0">
                        <a:solidFill>
                          <a:srgbClr val="000000"/>
                        </a:solidFill>
                        <a:latin typeface="Roboto Condensed (Body)"/>
                      </a:endParaRPr>
                    </a:p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b="1" dirty="0">
                          <a:solidFill>
                            <a:srgbClr val="000000"/>
                          </a:solidFill>
                          <a:effectLst/>
                          <a:latin typeface="Roboto Condensed (Body)"/>
                        </a:rPr>
                        <a:t>Convert String to Integer</a:t>
                      </a:r>
                    </a:p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FF"/>
                          </a:solidFill>
                          <a:latin typeface="Roboto Condensed (Body)"/>
                        </a:rPr>
                        <a:t>SELECT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CONVERT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</a:t>
                      </a:r>
                      <a:r>
                        <a:rPr lang="en-US" sz="2000" dirty="0">
                          <a:solidFill>
                            <a:srgbClr val="0000FF"/>
                          </a:solidFill>
                          <a:latin typeface="Roboto Condensed (Body)"/>
                        </a:rPr>
                        <a:t>INT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,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latin typeface="Roboto Condensed (Body)"/>
                        </a:rPr>
                        <a:t>'456'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)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0000FF"/>
                          </a:solidFill>
                          <a:latin typeface="Roboto Condensed (Body)"/>
                        </a:rPr>
                        <a:t>AS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Number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;</a:t>
                      </a:r>
                      <a:endParaRPr lang="en-US" sz="2000" b="1" dirty="0">
                        <a:effectLst/>
                        <a:latin typeface="Roboto Condensed (Body)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2000" dirty="0">
                        <a:effectLst/>
                        <a:latin typeface="Roboto Condensed (Body)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739308849"/>
                  </a:ext>
                </a:extLst>
              </a:tr>
            </a:tbl>
          </a:graphicData>
        </a:graphic>
      </p:graphicFrame>
      <p:pic>
        <p:nvPicPr>
          <p:cNvPr id="6" name="Picture 5" descr="A close-up of a label&#10;&#10;AI-generated content may be incorrect.">
            <a:extLst>
              <a:ext uri="{FF2B5EF4-FFF2-40B4-BE49-F238E27FC236}">
                <a16:creationId xmlns:a16="http://schemas.microsoft.com/office/drawing/2014/main" id="{6F0807FC-B8D0-3C47-83ED-EBE391ADD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3342" y="1437730"/>
            <a:ext cx="1202299" cy="649690"/>
          </a:xfrm>
          <a:prstGeom prst="rect">
            <a:avLst/>
          </a:prstGeom>
        </p:spPr>
      </p:pic>
      <p:pic>
        <p:nvPicPr>
          <p:cNvPr id="10" name="Picture 9" descr="A close up of a number&#10;&#10;AI-generated content may be incorrect.">
            <a:extLst>
              <a:ext uri="{FF2B5EF4-FFF2-40B4-BE49-F238E27FC236}">
                <a16:creationId xmlns:a16="http://schemas.microsoft.com/office/drawing/2014/main" id="{B732E7DF-E40C-E5C5-3459-CFE0775825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3342" y="3413747"/>
            <a:ext cx="987695" cy="620013"/>
          </a:xfrm>
          <a:prstGeom prst="rect">
            <a:avLst/>
          </a:prstGeom>
        </p:spPr>
      </p:pic>
      <p:pic>
        <p:nvPicPr>
          <p:cNvPr id="12" name="Picture 11" descr="A close-up of a label&#10;&#10;AI-generated content may be incorrect.">
            <a:extLst>
              <a:ext uri="{FF2B5EF4-FFF2-40B4-BE49-F238E27FC236}">
                <a16:creationId xmlns:a16="http://schemas.microsoft.com/office/drawing/2014/main" id="{99CF4B8F-EA03-2A83-3C7F-BB8E657575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3342" y="2676378"/>
            <a:ext cx="1864248" cy="631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85741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0BF21-D694-C216-CF22-0B6BAD3E3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AB7C7-3983-E083-3F45-E2F72592D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Functions</a:t>
            </a:r>
          </a:p>
        </p:txBody>
      </p:sp>
    </p:spTree>
    <p:extLst>
      <p:ext uri="{BB962C8B-B14F-4D97-AF65-F5344CB8AC3E}">
        <p14:creationId xmlns:p14="http://schemas.microsoft.com/office/powerpoint/2010/main" val="255740031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637B4-70BF-7B23-221B-4C0872957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59F6C-7062-47BB-547B-49C8C52EA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Mathematical</a:t>
            </a:r>
            <a:r>
              <a:rPr lang="en-US" dirty="0"/>
              <a:t> Functions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FB65A67-8896-FAF5-9263-5A81F4882C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2234594"/>
              </p:ext>
            </p:extLst>
          </p:nvPr>
        </p:nvGraphicFramePr>
        <p:xfrm>
          <a:off x="245106" y="744469"/>
          <a:ext cx="11268870" cy="498348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132724">
                  <a:extLst>
                    <a:ext uri="{9D8B030D-6E8A-4147-A177-3AD203B41FA5}">
                      <a16:colId xmlns:a16="http://schemas.microsoft.com/office/drawing/2014/main" val="3235359390"/>
                    </a:ext>
                  </a:extLst>
                </a:gridCol>
                <a:gridCol w="7020407">
                  <a:extLst>
                    <a:ext uri="{9D8B030D-6E8A-4147-A177-3AD203B41FA5}">
                      <a16:colId xmlns:a16="http://schemas.microsoft.com/office/drawing/2014/main" val="2762961846"/>
                    </a:ext>
                  </a:extLst>
                </a:gridCol>
                <a:gridCol w="2115739">
                  <a:extLst>
                    <a:ext uri="{9D8B030D-6E8A-4147-A177-3AD203B41FA5}">
                      <a16:colId xmlns:a16="http://schemas.microsoft.com/office/drawing/2014/main" val="673688359"/>
                    </a:ext>
                  </a:extLst>
                </a:gridCol>
              </a:tblGrid>
              <a:tr h="37175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Function Name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Output</a:t>
                      </a:r>
                      <a:endParaRPr lang="en-IN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0345845"/>
                  </a:ext>
                </a:extLst>
              </a:tr>
              <a:tr h="654440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b="0" i="0" u="none" strike="noStrike" dirty="0">
                          <a:solidFill>
                            <a:srgbClr val="FF00FF"/>
                          </a:solidFill>
                          <a:effectLst/>
                          <a:latin typeface="Roboto Condensed (Body)"/>
                        </a:rPr>
                        <a:t>ABS</a:t>
                      </a:r>
                      <a:r>
                        <a:rPr lang="en-IN" sz="2000" b="0" i="0" u="none" strike="noStrike" dirty="0">
                          <a:solidFill>
                            <a:srgbClr val="808080"/>
                          </a:solidFill>
                          <a:effectLst/>
                          <a:latin typeface="Roboto Condensed (Body)"/>
                        </a:rPr>
                        <a:t>()</a:t>
                      </a:r>
                      <a:endParaRPr lang="en-US" sz="2000" dirty="0">
                        <a:effectLst/>
                        <a:latin typeface="Roboto Condensed (Body)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212121"/>
                          </a:solidFill>
                          <a:effectLst/>
                          <a:latin typeface="Roboto Condensed (Body)"/>
                        </a:rPr>
                        <a:t>Returns the absolute value of a number.</a:t>
                      </a:r>
                      <a:endParaRPr lang="en-US" sz="2000" b="0" dirty="0">
                        <a:effectLst/>
                        <a:latin typeface="Roboto Condensed (Body)"/>
                      </a:endParaRPr>
                    </a:p>
                    <a:p>
                      <a:pPr rt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Roboto Condensed (Body)"/>
                        </a:rPr>
                        <a:t>SELECT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 (Body)"/>
                        </a:rPr>
                        <a:t> </a:t>
                      </a:r>
                      <a:r>
                        <a:rPr lang="en-US" sz="2000" b="0" i="0" u="none" strike="noStrike" dirty="0">
                          <a:solidFill>
                            <a:srgbClr val="FF00FF"/>
                          </a:solidFill>
                          <a:effectLst/>
                          <a:latin typeface="Roboto Condensed (Body)"/>
                        </a:rPr>
                        <a:t>ABS</a:t>
                      </a:r>
                      <a:r>
                        <a:rPr lang="en-US" sz="2000" b="0" i="0" u="none" strike="noStrike" dirty="0">
                          <a:solidFill>
                            <a:srgbClr val="808080"/>
                          </a:solidFill>
                          <a:effectLst/>
                          <a:latin typeface="Roboto Condensed (Body)"/>
                        </a:rPr>
                        <a:t>(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 (Body)"/>
                        </a:rPr>
                        <a:t>20</a:t>
                      </a:r>
                      <a:r>
                        <a:rPr lang="en-US" sz="2000" b="0" i="0" u="none" strike="noStrike" dirty="0">
                          <a:solidFill>
                            <a:srgbClr val="808080"/>
                          </a:solidFill>
                          <a:effectLst/>
                          <a:latin typeface="Roboto Condensed (Body)"/>
                        </a:rPr>
                        <a:t>),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 (Body)"/>
                        </a:rPr>
                        <a:t> </a:t>
                      </a:r>
                      <a:r>
                        <a:rPr lang="en-US" sz="2000" b="0" i="0" u="none" strike="noStrike" dirty="0">
                          <a:solidFill>
                            <a:srgbClr val="FF00FF"/>
                          </a:solidFill>
                          <a:effectLst/>
                          <a:latin typeface="Roboto Condensed (Body)"/>
                        </a:rPr>
                        <a:t>ABS</a:t>
                      </a:r>
                      <a:r>
                        <a:rPr lang="en-US" sz="2000" b="0" i="0" u="none" strike="noStrike" dirty="0">
                          <a:solidFill>
                            <a:srgbClr val="808080"/>
                          </a:solidFill>
                          <a:effectLst/>
                          <a:latin typeface="Roboto Condensed (Body)"/>
                        </a:rPr>
                        <a:t>(-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 (Body)"/>
                        </a:rPr>
                        <a:t>50</a:t>
                      </a:r>
                      <a:r>
                        <a:rPr lang="en-US" sz="2000" b="0" i="0" u="none" strike="noStrike" dirty="0">
                          <a:solidFill>
                            <a:srgbClr val="808080"/>
                          </a:solidFill>
                          <a:effectLst/>
                          <a:latin typeface="Roboto Condensed (Body)"/>
                        </a:rPr>
                        <a:t>)</a:t>
                      </a:r>
                      <a:endParaRPr lang="en-US" sz="2000" b="0" dirty="0">
                        <a:effectLst/>
                        <a:latin typeface="Roboto Condensed (Body)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2000" b="0" i="0" u="none" strike="noStrike" dirty="0">
                        <a:solidFill>
                          <a:srgbClr val="212121"/>
                        </a:solidFill>
                        <a:effectLst/>
                        <a:latin typeface="Roboto Condensed (Body)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b="0" i="0" u="none" strike="noStrike" dirty="0">
                          <a:solidFill>
                            <a:srgbClr val="212121"/>
                          </a:solidFill>
                          <a:effectLst/>
                          <a:latin typeface="Roboto Condensed (Body)"/>
                        </a:rPr>
                        <a:t>20, 50</a:t>
                      </a:r>
                      <a:endParaRPr lang="en-IN" sz="2000" dirty="0">
                        <a:effectLst/>
                        <a:latin typeface="Roboto Condensed (Body)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1584201720"/>
                  </a:ext>
                </a:extLst>
              </a:tr>
              <a:tr h="375626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b="0" i="0" u="none" strike="noStrike" dirty="0">
                          <a:solidFill>
                            <a:srgbClr val="FF00FF"/>
                          </a:solidFill>
                          <a:effectLst/>
                          <a:latin typeface="Roboto Condensed (Body)"/>
                        </a:rPr>
                        <a:t>SQRT</a:t>
                      </a:r>
                      <a:r>
                        <a:rPr lang="en-IN" sz="2000" b="0" i="0" u="none" strike="noStrike" dirty="0">
                          <a:solidFill>
                            <a:srgbClr val="808080"/>
                          </a:solidFill>
                          <a:effectLst/>
                          <a:latin typeface="Roboto Condensed (Body)"/>
                        </a:rPr>
                        <a:t>()</a:t>
                      </a:r>
                      <a:endParaRPr lang="en-IN" sz="2000" dirty="0">
                        <a:effectLst/>
                        <a:latin typeface="Roboto Condensed (Body)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212121"/>
                          </a:solidFill>
                          <a:effectLst/>
                          <a:latin typeface="Roboto Condensed (Body)"/>
                        </a:rPr>
                        <a:t>Returns the square root of a number.</a:t>
                      </a:r>
                      <a:endParaRPr lang="en-US" sz="2000" dirty="0">
                        <a:effectLst/>
                        <a:latin typeface="Roboto Condensed (Body)"/>
                      </a:endParaRPr>
                    </a:p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Roboto Condensed (Body)"/>
                        </a:rPr>
                        <a:t>SELECT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 (Body)"/>
                        </a:rPr>
                        <a:t> </a:t>
                      </a:r>
                      <a:r>
                        <a:rPr lang="en-US" sz="2000" b="0" i="0" u="none" strike="noStrike" dirty="0">
                          <a:solidFill>
                            <a:srgbClr val="FF00FF"/>
                          </a:solidFill>
                          <a:effectLst/>
                          <a:latin typeface="Roboto Condensed (Body)"/>
                        </a:rPr>
                        <a:t>SQRT</a:t>
                      </a:r>
                      <a:r>
                        <a:rPr lang="en-US" sz="2000" b="0" i="0" u="none" strike="noStrike" dirty="0">
                          <a:solidFill>
                            <a:srgbClr val="808080"/>
                          </a:solidFill>
                          <a:effectLst/>
                          <a:latin typeface="Roboto Condensed (Body)"/>
                        </a:rPr>
                        <a:t>(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 (Body)"/>
                        </a:rPr>
                        <a:t>64</a:t>
                      </a:r>
                      <a:r>
                        <a:rPr lang="en-US" sz="2000" b="0" i="0" u="none" strike="noStrike" dirty="0">
                          <a:solidFill>
                            <a:srgbClr val="808080"/>
                          </a:solidFill>
                          <a:effectLst/>
                          <a:latin typeface="Roboto Condensed (Body)"/>
                        </a:rPr>
                        <a:t>)</a:t>
                      </a:r>
                      <a:endParaRPr lang="en-US" sz="2000" dirty="0">
                        <a:effectLst/>
                        <a:latin typeface="Roboto Condensed (Body)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2000" b="0" i="0" u="none" strike="noStrike" dirty="0">
                        <a:solidFill>
                          <a:srgbClr val="212121"/>
                        </a:solidFill>
                        <a:effectLst/>
                        <a:latin typeface="Roboto Condensed (Body)"/>
                      </a:endParaRPr>
                    </a:p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b="0" i="0" u="none" strike="noStrike" dirty="0">
                          <a:solidFill>
                            <a:srgbClr val="212121"/>
                          </a:solidFill>
                          <a:effectLst/>
                          <a:latin typeface="Roboto Condensed (Body)"/>
                        </a:rPr>
                        <a:t>8</a:t>
                      </a:r>
                      <a:endParaRPr lang="en-IN" sz="2000" dirty="0">
                        <a:effectLst/>
                        <a:latin typeface="Roboto Condensed (Body)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739308849"/>
                  </a:ext>
                </a:extLst>
              </a:tr>
              <a:tr h="375626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b="0" i="0" u="none" strike="noStrike" dirty="0">
                          <a:solidFill>
                            <a:srgbClr val="FF00FF"/>
                          </a:solidFill>
                          <a:effectLst/>
                          <a:latin typeface="Roboto Condensed (Body)"/>
                        </a:rPr>
                        <a:t>SQUARE</a:t>
                      </a:r>
                      <a:r>
                        <a:rPr lang="en-IN" sz="2000" b="0" i="0" u="none" strike="noStrike" dirty="0">
                          <a:solidFill>
                            <a:srgbClr val="808080"/>
                          </a:solidFill>
                          <a:effectLst/>
                          <a:latin typeface="Roboto Condensed (Body)"/>
                        </a:rPr>
                        <a:t>()</a:t>
                      </a:r>
                      <a:endParaRPr lang="en-IN" sz="2000" dirty="0">
                        <a:effectLst/>
                        <a:latin typeface="Roboto Condensed (Body)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212121"/>
                          </a:solidFill>
                          <a:effectLst/>
                          <a:latin typeface="Roboto Condensed (Body)"/>
                        </a:rPr>
                        <a:t>Returns the square of a number.</a:t>
                      </a:r>
                      <a:endParaRPr lang="en-US" sz="2000" dirty="0">
                        <a:effectLst/>
                        <a:latin typeface="Roboto Condensed (Body)"/>
                      </a:endParaRPr>
                    </a:p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Roboto Condensed (Body)"/>
                        </a:rPr>
                        <a:t>SELECT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 (Body)"/>
                        </a:rPr>
                        <a:t> </a:t>
                      </a:r>
                      <a:r>
                        <a:rPr lang="en-US" sz="2000" b="0" i="0" u="none" strike="noStrike" dirty="0">
                          <a:solidFill>
                            <a:srgbClr val="FF00FF"/>
                          </a:solidFill>
                          <a:effectLst/>
                          <a:latin typeface="Roboto Condensed (Body)"/>
                        </a:rPr>
                        <a:t>SQUARE</a:t>
                      </a:r>
                      <a:r>
                        <a:rPr lang="en-US" sz="2000" b="0" i="0" u="none" strike="noStrike" dirty="0">
                          <a:solidFill>
                            <a:srgbClr val="808080"/>
                          </a:solidFill>
                          <a:effectLst/>
                          <a:latin typeface="Roboto Condensed (Body)"/>
                        </a:rPr>
                        <a:t>(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 (Body)"/>
                        </a:rPr>
                        <a:t>8</a:t>
                      </a:r>
                      <a:r>
                        <a:rPr lang="en-US" sz="2000" b="0" i="0" u="none" strike="noStrike" dirty="0">
                          <a:solidFill>
                            <a:srgbClr val="808080"/>
                          </a:solidFill>
                          <a:effectLst/>
                          <a:latin typeface="Roboto Condensed (Body)"/>
                        </a:rPr>
                        <a:t>)</a:t>
                      </a:r>
                      <a:endParaRPr lang="en-US" sz="2000" dirty="0">
                        <a:effectLst/>
                        <a:latin typeface="Roboto Condensed (Body)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2000" b="0" i="0" u="none" strike="noStrike" dirty="0">
                        <a:solidFill>
                          <a:srgbClr val="212121"/>
                        </a:solidFill>
                        <a:effectLst/>
                        <a:latin typeface="Roboto Condensed (Body)"/>
                      </a:endParaRPr>
                    </a:p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b="0" i="0" u="none" strike="noStrike" dirty="0">
                          <a:solidFill>
                            <a:srgbClr val="212121"/>
                          </a:solidFill>
                          <a:effectLst/>
                          <a:latin typeface="Roboto Condensed (Body)"/>
                        </a:rPr>
                        <a:t>64</a:t>
                      </a:r>
                      <a:endParaRPr lang="en-IN" sz="2000" dirty="0">
                        <a:effectLst/>
                        <a:latin typeface="Roboto Condensed (Body)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548827962"/>
                  </a:ext>
                </a:extLst>
              </a:tr>
              <a:tr h="375626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b="0" i="0" u="none" strike="noStrike" dirty="0">
                          <a:solidFill>
                            <a:srgbClr val="FF00FF"/>
                          </a:solidFill>
                          <a:effectLst/>
                          <a:latin typeface="Roboto Condensed (Body)"/>
                        </a:rPr>
                        <a:t>POWER</a:t>
                      </a:r>
                      <a:r>
                        <a:rPr lang="en-IN" sz="2000" b="0" i="0" u="none" strike="noStrike" dirty="0">
                          <a:solidFill>
                            <a:srgbClr val="808080"/>
                          </a:solidFill>
                          <a:effectLst/>
                          <a:latin typeface="Roboto Condensed (Body)"/>
                        </a:rPr>
                        <a:t>()</a:t>
                      </a:r>
                      <a:endParaRPr lang="en-US" sz="2000" dirty="0">
                        <a:effectLst/>
                        <a:latin typeface="Roboto Condensed (Body)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212121"/>
                          </a:solidFill>
                          <a:effectLst/>
                          <a:latin typeface="Roboto Condensed (Body)"/>
                        </a:rPr>
                        <a:t>Returns the value of a number raised to the power of another number.</a:t>
                      </a:r>
                      <a:endParaRPr lang="en-US" sz="2000" dirty="0">
                        <a:effectLst/>
                        <a:latin typeface="Roboto Condensed (Body)"/>
                      </a:endParaRPr>
                    </a:p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Roboto Condensed (Body)"/>
                        </a:rPr>
                        <a:t>SELECT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 (Body)"/>
                        </a:rPr>
                        <a:t> </a:t>
                      </a:r>
                      <a:r>
                        <a:rPr lang="en-US" sz="2000" b="0" i="0" u="none" strike="noStrike" dirty="0">
                          <a:solidFill>
                            <a:srgbClr val="FF00FF"/>
                          </a:solidFill>
                          <a:effectLst/>
                          <a:latin typeface="Roboto Condensed (Body)"/>
                        </a:rPr>
                        <a:t>POWER</a:t>
                      </a:r>
                      <a:r>
                        <a:rPr lang="en-US" sz="2000" b="0" i="0" u="none" strike="noStrike" dirty="0">
                          <a:solidFill>
                            <a:srgbClr val="808080"/>
                          </a:solidFill>
                          <a:effectLst/>
                          <a:latin typeface="Roboto Condensed (Body)"/>
                        </a:rPr>
                        <a:t>(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 (Body)"/>
                        </a:rPr>
                        <a:t>4</a:t>
                      </a:r>
                      <a:r>
                        <a:rPr lang="en-US" sz="2000" b="0" i="0" u="none" strike="noStrike" dirty="0">
                          <a:solidFill>
                            <a:srgbClr val="808080"/>
                          </a:solidFill>
                          <a:effectLst/>
                          <a:latin typeface="Roboto Condensed (Body)"/>
                        </a:rPr>
                        <a:t>,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 (Body)"/>
                        </a:rPr>
                        <a:t> 2</a:t>
                      </a:r>
                      <a:r>
                        <a:rPr lang="en-US" sz="2000" b="0" i="0" u="none" strike="noStrike" dirty="0">
                          <a:solidFill>
                            <a:srgbClr val="808080"/>
                          </a:solidFill>
                          <a:effectLst/>
                          <a:latin typeface="Roboto Condensed (Body)"/>
                        </a:rPr>
                        <a:t>)</a:t>
                      </a:r>
                      <a:endParaRPr lang="en-US" sz="2000" dirty="0">
                        <a:effectLst/>
                        <a:latin typeface="Roboto Condensed (Body)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2000" b="0" i="0" u="none" strike="noStrike" dirty="0">
                        <a:solidFill>
                          <a:srgbClr val="212121"/>
                        </a:solidFill>
                        <a:effectLst/>
                        <a:latin typeface="Roboto Condensed (Body)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2000" b="0" i="0" u="none" strike="noStrike" dirty="0">
                        <a:solidFill>
                          <a:srgbClr val="212121"/>
                        </a:solidFill>
                        <a:effectLst/>
                        <a:latin typeface="Roboto Condensed (Body)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b="0" i="0" u="none" strike="noStrike" dirty="0">
                          <a:solidFill>
                            <a:srgbClr val="212121"/>
                          </a:solidFill>
                          <a:effectLst/>
                          <a:latin typeface="Roboto Condensed (Body)"/>
                        </a:rPr>
                        <a:t>16</a:t>
                      </a:r>
                      <a:endParaRPr lang="en-IN" sz="2000" dirty="0">
                        <a:effectLst/>
                        <a:latin typeface="Roboto Condensed (Body)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762167259"/>
                  </a:ext>
                </a:extLst>
              </a:tr>
              <a:tr h="375626"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CEILING</a:t>
                      </a:r>
                      <a:r>
                        <a:rPr lang="en-GB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()</a:t>
                      </a:r>
                      <a:endParaRPr lang="en-US" sz="2000" dirty="0">
                        <a:solidFill>
                          <a:srgbClr val="808080"/>
                        </a:solidFill>
                        <a:latin typeface="Roboto Condensed (Body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Roboto Condensed (Body)"/>
                          <a:ea typeface="+mn-ea"/>
                          <a:cs typeface="+mn-cs"/>
                        </a:rPr>
                        <a:t>Returns the smallest integer value that is &gt;= a number.</a:t>
                      </a:r>
                    </a:p>
                    <a:p>
                      <a:r>
                        <a:rPr lang="en-US" sz="2000" dirty="0">
                          <a:solidFill>
                            <a:srgbClr val="0000FF"/>
                          </a:solidFill>
                          <a:latin typeface="Roboto Condensed (Body)"/>
                        </a:rPr>
                        <a:t>SELECT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CEILING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(-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13.5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),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CEILING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25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Roboto Condensed (Body)"/>
                      </a:endParaRPr>
                    </a:p>
                    <a:p>
                      <a:pPr algn="ctr"/>
                      <a:r>
                        <a:rPr lang="en-IN" sz="2000" dirty="0">
                          <a:latin typeface="Roboto Condensed (Body)"/>
                        </a:rPr>
                        <a:t>-13, 25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2507675"/>
                  </a:ext>
                </a:extLst>
              </a:tr>
              <a:tr h="375626"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FLOOR</a:t>
                      </a:r>
                      <a:r>
                        <a:rPr lang="en-GB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()</a:t>
                      </a:r>
                      <a:endParaRPr lang="en-GB" sz="2000" dirty="0">
                        <a:solidFill>
                          <a:srgbClr val="000000"/>
                        </a:solidFill>
                        <a:latin typeface="Roboto Condensed (Body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Roboto Condensed (Body)"/>
                          <a:ea typeface="+mn-ea"/>
                          <a:cs typeface="+mn-cs"/>
                        </a:rPr>
                        <a:t>Returns the largest integer value that is &lt;= to a number.</a:t>
                      </a:r>
                    </a:p>
                    <a:p>
                      <a:r>
                        <a:rPr lang="en-US" sz="2000" dirty="0">
                          <a:solidFill>
                            <a:srgbClr val="0000FF"/>
                          </a:solidFill>
                          <a:latin typeface="Roboto Condensed (Body)"/>
                        </a:rPr>
                        <a:t>SELECT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FLOOR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(-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13.5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),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FLOOR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25.75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2000" dirty="0">
                        <a:latin typeface="Roboto Condensed (Body)"/>
                      </a:endParaRPr>
                    </a:p>
                    <a:p>
                      <a:pPr algn="ctr"/>
                      <a:r>
                        <a:rPr lang="en-IN" sz="2000" dirty="0">
                          <a:latin typeface="Roboto Condensed (Body)"/>
                        </a:rPr>
                        <a:t>-14, 25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28046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808455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B4B28-6241-B272-585F-AC7142850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13E86-297E-E851-A89F-12FDFC3F8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Mathematical</a:t>
            </a:r>
            <a:r>
              <a:rPr lang="en-US" dirty="0"/>
              <a:t> Functions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3E1E3CF-A112-D177-F367-D20E7E2BEF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8441852"/>
              </p:ext>
            </p:extLst>
          </p:nvPr>
        </p:nvGraphicFramePr>
        <p:xfrm>
          <a:off x="245106" y="744469"/>
          <a:ext cx="11268870" cy="528828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132724">
                  <a:extLst>
                    <a:ext uri="{9D8B030D-6E8A-4147-A177-3AD203B41FA5}">
                      <a16:colId xmlns:a16="http://schemas.microsoft.com/office/drawing/2014/main" val="3235359390"/>
                    </a:ext>
                  </a:extLst>
                </a:gridCol>
                <a:gridCol w="7020407">
                  <a:extLst>
                    <a:ext uri="{9D8B030D-6E8A-4147-A177-3AD203B41FA5}">
                      <a16:colId xmlns:a16="http://schemas.microsoft.com/office/drawing/2014/main" val="2762961846"/>
                    </a:ext>
                  </a:extLst>
                </a:gridCol>
                <a:gridCol w="2115739">
                  <a:extLst>
                    <a:ext uri="{9D8B030D-6E8A-4147-A177-3AD203B41FA5}">
                      <a16:colId xmlns:a16="http://schemas.microsoft.com/office/drawing/2014/main" val="673688359"/>
                    </a:ext>
                  </a:extLst>
                </a:gridCol>
              </a:tblGrid>
              <a:tr h="37175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Function Name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Output</a:t>
                      </a:r>
                      <a:endParaRPr lang="en-IN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0345845"/>
                  </a:ext>
                </a:extLst>
              </a:tr>
              <a:tr h="375626"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ROUND</a:t>
                      </a:r>
                      <a:r>
                        <a:rPr lang="en-GB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()</a:t>
                      </a:r>
                      <a:endParaRPr lang="en-GB" sz="2000" dirty="0">
                        <a:solidFill>
                          <a:srgbClr val="000000"/>
                        </a:solidFill>
                        <a:latin typeface="Roboto Condensed (Body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Roboto Condensed (Body)"/>
                          <a:ea typeface="+mn-ea"/>
                          <a:cs typeface="+mn-cs"/>
                        </a:rPr>
                        <a:t>Rounds a number to a specified number of decimal places.</a:t>
                      </a:r>
                    </a:p>
                    <a:p>
                      <a:r>
                        <a:rPr lang="en-US" sz="2000" dirty="0">
                          <a:solidFill>
                            <a:srgbClr val="0000FF"/>
                          </a:solidFill>
                          <a:latin typeface="Roboto Condensed (Body)"/>
                        </a:rPr>
                        <a:t>SELECT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ROUND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235.415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,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0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),</a:t>
                      </a:r>
                      <a:r>
                        <a:rPr lang="en-US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ROUND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235.415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,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1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),</a:t>
                      </a:r>
                      <a:r>
                        <a:rPr lang="en-US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ROUND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235.415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,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2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Roboto Condensed (Body)"/>
                        </a:rPr>
                        <a:t>235.000</a:t>
                      </a:r>
                    </a:p>
                    <a:p>
                      <a:pPr algn="ctr"/>
                      <a:r>
                        <a:rPr lang="en-IN" sz="2000" dirty="0">
                          <a:latin typeface="Roboto Condensed (Body)"/>
                        </a:rPr>
                        <a:t>235.400</a:t>
                      </a:r>
                    </a:p>
                    <a:p>
                      <a:pPr algn="ctr"/>
                      <a:r>
                        <a:rPr lang="en-IN" sz="2000" dirty="0">
                          <a:latin typeface="Roboto Condensed (Body)"/>
                        </a:rPr>
                        <a:t>235.420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8827962"/>
                  </a:ext>
                </a:extLst>
              </a:tr>
              <a:tr h="375626">
                <a:tc>
                  <a:txBody>
                    <a:bodyPr/>
                    <a:lstStyle/>
                    <a:p>
                      <a:r>
                        <a:rPr lang="en-GB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SIGN</a:t>
                      </a:r>
                      <a:r>
                        <a:rPr lang="en-GB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()</a:t>
                      </a:r>
                      <a:endParaRPr lang="en-GB" sz="2000" dirty="0">
                        <a:solidFill>
                          <a:srgbClr val="000000"/>
                        </a:solidFill>
                        <a:latin typeface="Roboto Condensed (Body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Roboto Condensed (Body)"/>
                          <a:ea typeface="+mn-ea"/>
                          <a:cs typeface="+mn-cs"/>
                        </a:rPr>
                        <a:t>Returns the sign of a number (If number &gt; 0, it returns 1, If number = 0, it returns 0, If number &lt; 0, it returns -1).</a:t>
                      </a:r>
                    </a:p>
                    <a:p>
                      <a:r>
                        <a:rPr lang="en-US" sz="2000" dirty="0">
                          <a:solidFill>
                            <a:srgbClr val="0000FF"/>
                          </a:solidFill>
                          <a:latin typeface="Roboto Condensed (Body)"/>
                        </a:rPr>
                        <a:t>SELECT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SIGN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(-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12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),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SIGN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12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),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SIGN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0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Roboto Condensed (Body)"/>
                        </a:rPr>
                        <a:t>-1</a:t>
                      </a:r>
                    </a:p>
                    <a:p>
                      <a:pPr algn="ctr"/>
                      <a:r>
                        <a:rPr lang="en-IN" sz="2000" dirty="0">
                          <a:latin typeface="Roboto Condensed (Body)"/>
                        </a:rPr>
                        <a:t>1</a:t>
                      </a:r>
                    </a:p>
                    <a:p>
                      <a:pPr algn="ctr"/>
                      <a:r>
                        <a:rPr lang="en-IN" sz="2000" dirty="0">
                          <a:latin typeface="Roboto Condensed (Body)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2022178"/>
                  </a:ext>
                </a:extLst>
              </a:tr>
              <a:tr h="375626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b="0" i="0" u="none" strike="noStrike" dirty="0">
                          <a:solidFill>
                            <a:srgbClr val="FF00FF"/>
                          </a:solidFill>
                          <a:effectLst/>
                          <a:latin typeface="Roboto Condensed (Body)"/>
                        </a:rPr>
                        <a:t>PI</a:t>
                      </a:r>
                      <a:r>
                        <a:rPr lang="en-IN" sz="2000" b="0" i="0" u="none" strike="noStrike" dirty="0">
                          <a:solidFill>
                            <a:srgbClr val="808080"/>
                          </a:solidFill>
                          <a:effectLst/>
                          <a:latin typeface="Roboto Condensed (Body)"/>
                        </a:rPr>
                        <a:t>()</a:t>
                      </a:r>
                      <a:endParaRPr lang="en-US" sz="2000" dirty="0">
                        <a:effectLst/>
                        <a:latin typeface="Roboto Condensed (Body)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212121"/>
                          </a:solidFill>
                          <a:effectLst/>
                          <a:latin typeface="Roboto Condensed (Body)"/>
                        </a:rPr>
                        <a:t>Returns the value of PI.</a:t>
                      </a:r>
                      <a:endParaRPr lang="en-US" sz="2000" dirty="0">
                        <a:effectLst/>
                        <a:latin typeface="Roboto Condensed (Body)"/>
                      </a:endParaRPr>
                    </a:p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Roboto Condensed (Body)"/>
                        </a:rPr>
                        <a:t>SELECT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 (Body)"/>
                        </a:rPr>
                        <a:t> </a:t>
                      </a:r>
                      <a:r>
                        <a:rPr lang="en-US" sz="2000" b="0" i="0" u="none" strike="noStrike" dirty="0">
                          <a:solidFill>
                            <a:srgbClr val="FF00FF"/>
                          </a:solidFill>
                          <a:effectLst/>
                          <a:latin typeface="Roboto Condensed (Body)"/>
                        </a:rPr>
                        <a:t>PI</a:t>
                      </a:r>
                      <a:r>
                        <a:rPr lang="en-US" sz="2000" b="0" i="0" u="none" strike="noStrike" dirty="0">
                          <a:solidFill>
                            <a:srgbClr val="808080"/>
                          </a:solidFill>
                          <a:effectLst/>
                          <a:latin typeface="Roboto Condensed (Body)"/>
                        </a:rPr>
                        <a:t>()</a:t>
                      </a:r>
                      <a:endParaRPr lang="en-US" sz="2000" dirty="0">
                        <a:effectLst/>
                        <a:latin typeface="Roboto Condensed (Body)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2000" b="0" i="0" u="none" strike="noStrike" dirty="0">
                        <a:solidFill>
                          <a:srgbClr val="212121"/>
                        </a:solidFill>
                        <a:effectLst/>
                        <a:latin typeface="Roboto Condensed (Body)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b="0" i="0" u="none" strike="noStrike" dirty="0">
                          <a:solidFill>
                            <a:srgbClr val="212121"/>
                          </a:solidFill>
                          <a:effectLst/>
                          <a:latin typeface="Roboto Condensed (Body)"/>
                        </a:rPr>
                        <a:t>3.1415926535897</a:t>
                      </a:r>
                      <a:endParaRPr lang="en-IN" sz="2000" dirty="0">
                        <a:effectLst/>
                        <a:latin typeface="Roboto Condensed (Body)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762167259"/>
                  </a:ext>
                </a:extLst>
              </a:tr>
              <a:tr h="375626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0" i="0" u="none" strike="noStrike" dirty="0">
                          <a:solidFill>
                            <a:srgbClr val="FF00FF"/>
                          </a:solidFill>
                          <a:effectLst/>
                          <a:latin typeface="Roboto Condensed (Body)"/>
                        </a:rPr>
                        <a:t>EXP</a:t>
                      </a:r>
                      <a:r>
                        <a:rPr lang="en-IN" sz="2000" b="0" i="0" u="none" strike="noStrike" dirty="0">
                          <a:solidFill>
                            <a:srgbClr val="808080"/>
                          </a:solidFill>
                          <a:effectLst/>
                          <a:latin typeface="Roboto Condensed (Body)"/>
                        </a:rPr>
                        <a:t>()</a:t>
                      </a:r>
                      <a:endParaRPr lang="en-US" sz="2000" dirty="0">
                        <a:effectLst/>
                        <a:latin typeface="Roboto Condensed (Body)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Returns </a:t>
                      </a:r>
                      <a:r>
                        <a:rPr lang="en-US" sz="2000" i="1" dirty="0"/>
                        <a:t>e raised to the power of a given number</a:t>
                      </a:r>
                      <a:r>
                        <a:rPr lang="en-US" sz="2000" dirty="0"/>
                        <a:t> (e ≈ 2.71828).</a:t>
                      </a:r>
                    </a:p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dirty="0">
                          <a:solidFill>
                            <a:srgbClr val="0000FF"/>
                          </a:solidFill>
                          <a:latin typeface="Roboto Condensed (Body)"/>
                        </a:rPr>
                        <a:t>SELECT</a:t>
                      </a:r>
                      <a:r>
                        <a:rPr lang="en-IN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IN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EXP</a:t>
                      </a:r>
                      <a:r>
                        <a:rPr lang="en-IN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</a:t>
                      </a:r>
                      <a:r>
                        <a:rPr lang="en-IN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1</a:t>
                      </a:r>
                      <a:r>
                        <a:rPr lang="en-IN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);</a:t>
                      </a:r>
                      <a:endParaRPr lang="en-US" sz="2000" dirty="0">
                        <a:effectLst/>
                        <a:latin typeface="Roboto Condensed (Body)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2000" dirty="0">
                        <a:effectLst/>
                        <a:latin typeface="Roboto Condensed (Body)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Roboto Condensed (Body)"/>
                        </a:rPr>
                        <a:t>2.7182818284590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322188863"/>
                  </a:ext>
                </a:extLst>
              </a:tr>
              <a:tr h="375626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0" i="0" u="none" strike="noStrike" dirty="0">
                          <a:solidFill>
                            <a:srgbClr val="FF00FF"/>
                          </a:solidFill>
                          <a:effectLst/>
                          <a:latin typeface="Roboto Condensed (Body)"/>
                        </a:rPr>
                        <a:t>LOG10</a:t>
                      </a:r>
                      <a:r>
                        <a:rPr lang="en-IN" sz="2000" b="0" i="0" u="none" strike="noStrike" dirty="0">
                          <a:solidFill>
                            <a:srgbClr val="808080"/>
                          </a:solidFill>
                          <a:effectLst/>
                          <a:latin typeface="Roboto Condensed (Body)"/>
                        </a:rPr>
                        <a:t>()</a:t>
                      </a:r>
                      <a:endParaRPr lang="en-US" sz="2000" dirty="0">
                        <a:effectLst/>
                        <a:latin typeface="Roboto Condensed (Body)"/>
                      </a:endParaRP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effectLst/>
                        <a:latin typeface="Roboto Condensed (Body)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/>
                        <a:t>Returns the base-10 logarithm of a number.</a:t>
                      </a:r>
                    </a:p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dirty="0">
                          <a:solidFill>
                            <a:srgbClr val="0000FF"/>
                          </a:solidFill>
                          <a:latin typeface="Roboto Condensed (Body)"/>
                        </a:rPr>
                        <a:t>SELECT</a:t>
                      </a:r>
                      <a:r>
                        <a:rPr lang="en-IN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IN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LOG10</a:t>
                      </a:r>
                      <a:r>
                        <a:rPr lang="en-IN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</a:t>
                      </a:r>
                      <a:r>
                        <a:rPr lang="en-IN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1000</a:t>
                      </a:r>
                      <a:r>
                        <a:rPr lang="en-IN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);</a:t>
                      </a:r>
                      <a:endParaRPr lang="en-US" sz="2000" b="0" dirty="0">
                        <a:effectLst/>
                        <a:latin typeface="Roboto Condensed (Body)"/>
                      </a:endParaRP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2000" dirty="0">
                        <a:effectLst/>
                        <a:latin typeface="Roboto Condensed (Body)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Roboto Condensed (Body)"/>
                        </a:rPr>
                        <a:t>3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2866513413"/>
                  </a:ext>
                </a:extLst>
              </a:tr>
              <a:tr h="375626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0" i="0" u="none" strike="noStrike" dirty="0">
                          <a:solidFill>
                            <a:srgbClr val="FF00FF"/>
                          </a:solidFill>
                          <a:effectLst/>
                          <a:latin typeface="Roboto Condensed (Body)"/>
                        </a:rPr>
                        <a:t>RAND</a:t>
                      </a:r>
                      <a:r>
                        <a:rPr lang="en-IN" sz="2000" b="0" i="0" u="none" strike="noStrike" dirty="0">
                          <a:solidFill>
                            <a:srgbClr val="808080"/>
                          </a:solidFill>
                          <a:effectLst/>
                          <a:latin typeface="Roboto Condensed (Body)"/>
                        </a:rPr>
                        <a:t>()</a:t>
                      </a:r>
                      <a:endParaRPr lang="en-US" sz="2000" dirty="0">
                        <a:effectLst/>
                        <a:latin typeface="Roboto Condensed (Body)"/>
                      </a:endParaRPr>
                    </a:p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Roboto Condensed (Body)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Generates a </a:t>
                      </a:r>
                      <a:r>
                        <a:rPr lang="en-US" sz="2000" b="0" dirty="0"/>
                        <a:t>random floating-point number </a:t>
                      </a:r>
                      <a:r>
                        <a:rPr lang="en-US" sz="2000" dirty="0"/>
                        <a:t>between 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lang="en-US" sz="2000" dirty="0"/>
                        <a:t> and 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sz="2000" dirty="0"/>
                        <a:t>.</a:t>
                      </a:r>
                    </a:p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dirty="0">
                          <a:solidFill>
                            <a:srgbClr val="0000FF"/>
                          </a:solidFill>
                          <a:latin typeface="Roboto Condensed (Body)"/>
                        </a:rPr>
                        <a:t>SELECT</a:t>
                      </a:r>
                      <a:r>
                        <a:rPr lang="en-IN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IN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RAND</a:t>
                      </a:r>
                      <a:r>
                        <a:rPr lang="en-IN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()</a:t>
                      </a:r>
                      <a:endParaRPr lang="en-US" sz="2000" dirty="0">
                        <a:effectLst/>
                        <a:latin typeface="Roboto Condensed (Body)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2000" dirty="0">
                        <a:effectLst/>
                        <a:latin typeface="Roboto Condensed (Body)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Roboto Condensed (Body)"/>
                        </a:rPr>
                        <a:t>0.5257671641998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2602032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643389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181FB-0586-1753-B40B-DDA02B5DE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25CDA-302E-3561-8E80-A6BB43300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Mathematical</a:t>
            </a:r>
            <a:r>
              <a:rPr lang="en-US" dirty="0"/>
              <a:t> Functions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6E33A37-2639-97D5-C92E-32AE0D0C02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5724952"/>
              </p:ext>
            </p:extLst>
          </p:nvPr>
        </p:nvGraphicFramePr>
        <p:xfrm>
          <a:off x="245106" y="744469"/>
          <a:ext cx="11268870" cy="257175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132724">
                  <a:extLst>
                    <a:ext uri="{9D8B030D-6E8A-4147-A177-3AD203B41FA5}">
                      <a16:colId xmlns:a16="http://schemas.microsoft.com/office/drawing/2014/main" val="3235359390"/>
                    </a:ext>
                  </a:extLst>
                </a:gridCol>
                <a:gridCol w="6840815">
                  <a:extLst>
                    <a:ext uri="{9D8B030D-6E8A-4147-A177-3AD203B41FA5}">
                      <a16:colId xmlns:a16="http://schemas.microsoft.com/office/drawing/2014/main" val="2762961846"/>
                    </a:ext>
                  </a:extLst>
                </a:gridCol>
                <a:gridCol w="2295331">
                  <a:extLst>
                    <a:ext uri="{9D8B030D-6E8A-4147-A177-3AD203B41FA5}">
                      <a16:colId xmlns:a16="http://schemas.microsoft.com/office/drawing/2014/main" val="673688359"/>
                    </a:ext>
                  </a:extLst>
                </a:gridCol>
              </a:tblGrid>
              <a:tr h="37175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Function Name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Output</a:t>
                      </a:r>
                      <a:endParaRPr lang="en-IN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0345845"/>
                  </a:ext>
                </a:extLst>
              </a:tr>
              <a:tr h="375626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0" i="0" u="none" strike="noStrike" dirty="0">
                          <a:solidFill>
                            <a:srgbClr val="FF00FF"/>
                          </a:solidFill>
                          <a:effectLst/>
                          <a:latin typeface="Roboto Condensed (Body)"/>
                        </a:rPr>
                        <a:t>SIN</a:t>
                      </a:r>
                      <a:r>
                        <a:rPr lang="en-IN" sz="2000" b="0" i="0" u="none" strike="noStrike" dirty="0">
                          <a:solidFill>
                            <a:srgbClr val="808080"/>
                          </a:solidFill>
                          <a:effectLst/>
                          <a:latin typeface="Roboto Condensed (Body)"/>
                        </a:rPr>
                        <a:t>()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Roboto Condensed (Body)"/>
                        </a:rPr>
                        <a:t>Returns the sign of a number.</a:t>
                      </a:r>
                    </a:p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dirty="0">
                          <a:solidFill>
                            <a:srgbClr val="0000FF"/>
                          </a:solidFill>
                          <a:latin typeface="Roboto Condensed (Body)"/>
                        </a:rPr>
                        <a:t>SELECT</a:t>
                      </a:r>
                      <a:r>
                        <a:rPr lang="en-IN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IN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SIN</a:t>
                      </a:r>
                      <a:r>
                        <a:rPr lang="en-IN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</a:t>
                      </a:r>
                      <a:r>
                        <a:rPr lang="en-IN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1</a:t>
                      </a:r>
                      <a:r>
                        <a:rPr lang="en-IN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);</a:t>
                      </a: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2000" dirty="0">
                        <a:effectLst/>
                        <a:latin typeface="Roboto Condensed (Body)"/>
                      </a:endParaRPr>
                    </a:p>
                    <a:p>
                      <a:pPr algn="l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Roboto Condensed (Body)"/>
                        </a:rPr>
                        <a:t>0.841470984807897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2866513413"/>
                  </a:ext>
                </a:extLst>
              </a:tr>
              <a:tr h="375626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0" i="0" u="none" strike="noStrike" dirty="0">
                          <a:solidFill>
                            <a:srgbClr val="FF00FF"/>
                          </a:solidFill>
                          <a:effectLst/>
                          <a:latin typeface="Roboto Condensed (Body)"/>
                        </a:rPr>
                        <a:t>COS</a:t>
                      </a:r>
                      <a:r>
                        <a:rPr lang="en-IN" sz="2000" b="0" i="0" u="none" strike="noStrike" dirty="0">
                          <a:solidFill>
                            <a:srgbClr val="808080"/>
                          </a:solidFill>
                          <a:effectLst/>
                          <a:latin typeface="Roboto Condensed (Body)"/>
                        </a:rPr>
                        <a:t>()</a:t>
                      </a: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effectLst/>
                        <a:latin typeface="Roboto Condensed (Body)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latin typeface="Roboto Condensed (Body)"/>
                        </a:rPr>
                        <a:t>Returns the cosine of a given angle in radians.</a:t>
                      </a: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solidFill>
                            <a:srgbClr val="0000FF"/>
                          </a:solidFill>
                          <a:latin typeface="Roboto Condensed (Body)"/>
                        </a:rPr>
                        <a:t>SELECT</a:t>
                      </a:r>
                      <a:r>
                        <a:rPr lang="en-IN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IN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COS</a:t>
                      </a:r>
                      <a:r>
                        <a:rPr lang="en-IN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</a:t>
                      </a:r>
                      <a:r>
                        <a:rPr lang="en-IN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1</a:t>
                      </a:r>
                      <a:r>
                        <a:rPr lang="en-IN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);</a:t>
                      </a: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000" dirty="0">
                        <a:effectLst/>
                        <a:latin typeface="Roboto Condensed (Body)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effectLst/>
                          <a:latin typeface="Roboto Condensed (Body)"/>
                        </a:rPr>
                        <a:t>0.54030230586814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777065872"/>
                  </a:ext>
                </a:extLst>
              </a:tr>
              <a:tr h="375626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0" i="0" u="none" strike="noStrike" dirty="0">
                          <a:solidFill>
                            <a:srgbClr val="FF00FF"/>
                          </a:solidFill>
                          <a:effectLst/>
                          <a:latin typeface="Roboto Condensed (Body)"/>
                        </a:rPr>
                        <a:t>TAN</a:t>
                      </a:r>
                      <a:r>
                        <a:rPr lang="en-IN" sz="2000" b="0" i="0" u="none" strike="noStrike" dirty="0">
                          <a:solidFill>
                            <a:srgbClr val="808080"/>
                          </a:solidFill>
                          <a:effectLst/>
                          <a:latin typeface="Roboto Condensed (Body)"/>
                        </a:rPr>
                        <a:t>()</a:t>
                      </a:r>
                      <a:endParaRPr lang="en-US" sz="2000" dirty="0">
                        <a:effectLst/>
                        <a:latin typeface="Roboto Condensed (Body)"/>
                      </a:endParaRP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effectLst/>
                        <a:latin typeface="Roboto Condensed (Body)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latin typeface="Roboto Condensed (Body)"/>
                        </a:rPr>
                        <a:t>Returns the tangent of an angle in radians.</a:t>
                      </a: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solidFill>
                            <a:srgbClr val="0000FF"/>
                          </a:solidFill>
                          <a:latin typeface="Roboto Condensed (Body)"/>
                        </a:rPr>
                        <a:t>SELECT</a:t>
                      </a:r>
                      <a:r>
                        <a:rPr lang="en-IN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IN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TAN</a:t>
                      </a:r>
                      <a:r>
                        <a:rPr lang="en-IN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</a:t>
                      </a:r>
                      <a:r>
                        <a:rPr lang="en-IN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1</a:t>
                      </a:r>
                      <a:r>
                        <a:rPr lang="en-IN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);</a:t>
                      </a:r>
                      <a:endParaRPr lang="en-US" sz="2000" dirty="0">
                        <a:latin typeface="Roboto Condensed (Body)"/>
                      </a:endParaRP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000" dirty="0">
                        <a:effectLst/>
                        <a:latin typeface="Roboto Condensed (Body)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effectLst/>
                          <a:latin typeface="Roboto Condensed (Body)"/>
                        </a:rPr>
                        <a:t>1.5574077246549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7757825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762470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5C2E0-BCEC-D870-EA82-1D6C75C9F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E94F5-C439-AF4E-1CDD-F40493334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Date Functions</a:t>
            </a:r>
          </a:p>
        </p:txBody>
      </p:sp>
    </p:spTree>
    <p:extLst>
      <p:ext uri="{BB962C8B-B14F-4D97-AF65-F5344CB8AC3E}">
        <p14:creationId xmlns:p14="http://schemas.microsoft.com/office/powerpoint/2010/main" val="272694669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F93FF-6F81-132B-D99F-F30F7E3DD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F8876-984B-0366-0E74-9AD1F632B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Date Functions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C4C8C39-0CC2-BC64-2369-FB434D3523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8288348"/>
              </p:ext>
            </p:extLst>
          </p:nvPr>
        </p:nvGraphicFramePr>
        <p:xfrm>
          <a:off x="245106" y="744475"/>
          <a:ext cx="11259539" cy="520065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130958">
                  <a:extLst>
                    <a:ext uri="{9D8B030D-6E8A-4147-A177-3AD203B41FA5}">
                      <a16:colId xmlns:a16="http://schemas.microsoft.com/office/drawing/2014/main" val="3235359390"/>
                    </a:ext>
                  </a:extLst>
                </a:gridCol>
                <a:gridCol w="6058809">
                  <a:extLst>
                    <a:ext uri="{9D8B030D-6E8A-4147-A177-3AD203B41FA5}">
                      <a16:colId xmlns:a16="http://schemas.microsoft.com/office/drawing/2014/main" val="2762961846"/>
                    </a:ext>
                  </a:extLst>
                </a:gridCol>
                <a:gridCol w="3069772">
                  <a:extLst>
                    <a:ext uri="{9D8B030D-6E8A-4147-A177-3AD203B41FA5}">
                      <a16:colId xmlns:a16="http://schemas.microsoft.com/office/drawing/2014/main" val="673688359"/>
                    </a:ext>
                  </a:extLst>
                </a:gridCol>
              </a:tblGrid>
              <a:tr h="37175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Function Name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Output</a:t>
                      </a:r>
                      <a:endParaRPr lang="en-IN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0345845"/>
                  </a:ext>
                </a:extLst>
              </a:tr>
              <a:tr h="654440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GETDATE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()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endParaRPr lang="en-US" sz="2000" dirty="0">
                        <a:effectLst/>
                        <a:latin typeface="Roboto Condensed (Body)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212121"/>
                          </a:solidFill>
                          <a:latin typeface="Roboto Condensed (Body)"/>
                        </a:rPr>
                        <a:t>To retrieve current date time, we can use GETDATE().</a:t>
                      </a:r>
                      <a:endParaRPr lang="en-IN" sz="2000" dirty="0">
                        <a:latin typeface="Roboto Condensed (Body)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solidFill>
                            <a:srgbClr val="0000FF"/>
                          </a:solidFill>
                          <a:latin typeface="Roboto Condensed (Body)"/>
                        </a:rPr>
                        <a:t>Select</a:t>
                      </a:r>
                      <a:r>
                        <a:rPr lang="en-IN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IN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GETDATE</a:t>
                      </a:r>
                      <a:r>
                        <a:rPr lang="en-IN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()</a:t>
                      </a:r>
                      <a:r>
                        <a:rPr lang="en-IN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IN" sz="2000" dirty="0">
                          <a:solidFill>
                            <a:srgbClr val="0000FF"/>
                          </a:solidFill>
                          <a:latin typeface="Roboto Condensed (Body)"/>
                        </a:rPr>
                        <a:t>AS</a:t>
                      </a:r>
                      <a:r>
                        <a:rPr lang="en-IN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IN" sz="2000" dirty="0" err="1">
                          <a:solidFill>
                            <a:srgbClr val="000000"/>
                          </a:solidFill>
                          <a:latin typeface="Roboto Condensed (Body)"/>
                        </a:rPr>
                        <a:t>CurrentDateTime</a:t>
                      </a:r>
                      <a:endParaRPr lang="en-IN" sz="2000" dirty="0">
                        <a:latin typeface="Roboto Condensed (Body)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2200" dirty="0">
                        <a:effectLst/>
                        <a:latin typeface="+mj-lt"/>
                      </a:endParaRPr>
                    </a:p>
                  </a:txBody>
                  <a:tcPr marL="95250" marR="95250" marT="47625" marB="47625"/>
                </a:tc>
                <a:extLst>
                  <a:ext uri="{0D108BD9-81ED-4DB2-BD59-A6C34878D82A}">
                    <a16:rowId xmlns:a16="http://schemas.microsoft.com/office/drawing/2014/main" val="1584201720"/>
                  </a:ext>
                </a:extLst>
              </a:tr>
              <a:tr h="375626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DATEPART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()</a:t>
                      </a:r>
                      <a:endParaRPr lang="en-IN" sz="2000" dirty="0">
                        <a:effectLst/>
                        <a:latin typeface="Roboto Condensed (Body)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212121"/>
                          </a:solidFill>
                          <a:latin typeface="Roboto Condensed (Body)"/>
                        </a:rPr>
                        <a:t>It returns an integer corresponding to the </a:t>
                      </a:r>
                      <a:r>
                        <a:rPr lang="en-US" sz="2000" dirty="0" err="1">
                          <a:solidFill>
                            <a:srgbClr val="212121"/>
                          </a:solidFill>
                          <a:latin typeface="Roboto Condensed (Body)"/>
                        </a:rPr>
                        <a:t>datepart</a:t>
                      </a:r>
                      <a:r>
                        <a:rPr lang="en-US" sz="2000" dirty="0">
                          <a:solidFill>
                            <a:srgbClr val="212121"/>
                          </a:solidFill>
                          <a:latin typeface="Roboto Condensed (Body)"/>
                        </a:rPr>
                        <a:t> specified in DATEPART function.</a:t>
                      </a: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solidFill>
                            <a:srgbClr val="0000FF"/>
                          </a:solidFill>
                          <a:latin typeface="Roboto Condensed (Body)"/>
                        </a:rPr>
                        <a:t>SELECT</a:t>
                      </a:r>
                      <a:r>
                        <a:rPr lang="en-IN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IN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DATEPART</a:t>
                      </a:r>
                      <a:r>
                        <a:rPr lang="en-IN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</a:t>
                      </a:r>
                      <a:r>
                        <a:rPr lang="en-IN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YEAR</a:t>
                      </a:r>
                      <a:r>
                        <a:rPr lang="en-IN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,</a:t>
                      </a:r>
                      <a:r>
                        <a:rPr lang="en-IN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IN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GETDATE</a:t>
                      </a:r>
                      <a:r>
                        <a:rPr lang="en-IN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())</a:t>
                      </a:r>
                      <a:r>
                        <a:rPr lang="en-IN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  </a:t>
                      </a:r>
                      <a:r>
                        <a:rPr lang="en-IN" sz="2000" dirty="0">
                          <a:solidFill>
                            <a:srgbClr val="0000FF"/>
                          </a:solidFill>
                          <a:latin typeface="Roboto Condensed (Body)"/>
                        </a:rPr>
                        <a:t>AS</a:t>
                      </a:r>
                      <a:r>
                        <a:rPr lang="en-IN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IN" sz="2000" dirty="0">
                          <a:solidFill>
                            <a:srgbClr val="FF0000"/>
                          </a:solidFill>
                          <a:latin typeface="Roboto Condensed (Body)"/>
                        </a:rPr>
                        <a:t>'Year'</a:t>
                      </a:r>
                      <a:r>
                        <a:rPr lang="en-IN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;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2200" dirty="0">
                        <a:effectLst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739308849"/>
                  </a:ext>
                </a:extLst>
              </a:tr>
              <a:tr h="375626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DATENAME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()</a:t>
                      </a:r>
                      <a:endParaRPr lang="en-IN" sz="2000" dirty="0">
                        <a:effectLst/>
                        <a:latin typeface="Roboto Condensed (Body)"/>
                      </a:endParaRPr>
                    </a:p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2000" dirty="0">
                        <a:effectLst/>
                        <a:latin typeface="Roboto Condensed (Body)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Roboto Condensed (Body)"/>
                        </a:rPr>
                        <a:t>It returns a string corresponding to the </a:t>
                      </a:r>
                      <a:r>
                        <a:rPr lang="en-US" sz="2000" dirty="0" err="1">
                          <a:latin typeface="Roboto Condensed (Body)"/>
                        </a:rPr>
                        <a:t>datepart</a:t>
                      </a:r>
                      <a:r>
                        <a:rPr lang="en-US" sz="2000" dirty="0">
                          <a:latin typeface="Roboto Condensed (Body)"/>
                        </a:rPr>
                        <a:t> specified for the given date.</a:t>
                      </a:r>
                      <a:endParaRPr lang="en-IN" sz="2000" dirty="0">
                        <a:latin typeface="Roboto Condensed (Body)"/>
                      </a:endParaRPr>
                    </a:p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dirty="0">
                          <a:solidFill>
                            <a:srgbClr val="0000FF"/>
                          </a:solidFill>
                          <a:latin typeface="Roboto Condensed (Body)"/>
                        </a:rPr>
                        <a:t>SELECT</a:t>
                      </a:r>
                      <a:r>
                        <a:rPr lang="en-IN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IN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DATENAME</a:t>
                      </a:r>
                      <a:r>
                        <a:rPr lang="en-IN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</a:t>
                      </a:r>
                      <a:r>
                        <a:rPr lang="en-IN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MONTH</a:t>
                      </a:r>
                      <a:r>
                        <a:rPr lang="en-IN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,</a:t>
                      </a:r>
                      <a:r>
                        <a:rPr lang="en-IN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IN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GETDATE</a:t>
                      </a:r>
                      <a:r>
                        <a:rPr lang="en-IN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())</a:t>
                      </a:r>
                      <a:r>
                        <a:rPr lang="en-IN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  </a:t>
                      </a:r>
                      <a:r>
                        <a:rPr lang="en-IN" sz="2000" dirty="0">
                          <a:solidFill>
                            <a:srgbClr val="0000FF"/>
                          </a:solidFill>
                          <a:latin typeface="Roboto Condensed (Body)"/>
                        </a:rPr>
                        <a:t>AS</a:t>
                      </a:r>
                      <a:r>
                        <a:rPr lang="en-IN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IN" sz="2000" dirty="0">
                          <a:solidFill>
                            <a:srgbClr val="FF0000"/>
                          </a:solidFill>
                          <a:latin typeface="Roboto Condensed (Body)"/>
                        </a:rPr>
                        <a:t>'Month'</a:t>
                      </a:r>
                      <a:r>
                        <a:rPr lang="en-IN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;</a:t>
                      </a:r>
                      <a:endParaRPr lang="en-US" sz="2000" dirty="0">
                        <a:effectLst/>
                        <a:latin typeface="Roboto Condensed (Body)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2200" dirty="0">
                        <a:effectLst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548827962"/>
                  </a:ext>
                </a:extLst>
              </a:tr>
              <a:tr h="375626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EOMONTH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()</a:t>
                      </a:r>
                      <a:endParaRPr lang="en-US" sz="2000" dirty="0">
                        <a:effectLst/>
                        <a:latin typeface="Roboto Condensed (Body)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Roboto Condensed (Body)"/>
                        </a:rPr>
                        <a:t>It </a:t>
                      </a:r>
                      <a:r>
                        <a:rPr lang="en-US" sz="2000" b="0" i="0" dirty="0">
                          <a:latin typeface="Roboto Condensed (Body)"/>
                        </a:rPr>
                        <a:t>accepts a</a:t>
                      </a:r>
                      <a:r>
                        <a:rPr lang="en-US" sz="2000" b="1" dirty="0">
                          <a:latin typeface="Roboto Condensed (Body)"/>
                        </a:rPr>
                        <a:t> </a:t>
                      </a:r>
                      <a:r>
                        <a:rPr lang="en-US" sz="2000" b="0" dirty="0">
                          <a:latin typeface="Roboto Condensed (Body)"/>
                        </a:rPr>
                        <a:t>date, datetime, or valid date string </a:t>
                      </a:r>
                      <a:r>
                        <a:rPr lang="en-US" sz="2000" dirty="0">
                          <a:latin typeface="Roboto Condensed (Body)"/>
                        </a:rPr>
                        <a:t>and returns the end of month date as a datetime.</a:t>
                      </a:r>
                    </a:p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FF"/>
                          </a:solidFill>
                          <a:latin typeface="Roboto Condensed (Body)"/>
                        </a:rPr>
                        <a:t>SELECT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EOMONTH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</a:t>
                      </a:r>
                      <a:r>
                        <a:rPr lang="en-US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GETDATE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())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0000FF"/>
                          </a:solidFill>
                          <a:latin typeface="Roboto Condensed (Body)"/>
                        </a:rPr>
                        <a:t>as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latin typeface="Roboto Condensed (Body)"/>
                        </a:rPr>
                        <a:t>'End Of Current Month'</a:t>
                      </a:r>
                      <a:endParaRPr lang="en-US" sz="2000" dirty="0">
                        <a:effectLst/>
                        <a:latin typeface="Roboto Condensed (Body)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2200" dirty="0">
                        <a:effectLst/>
                        <a:latin typeface="+mj-lt"/>
                      </a:endParaRPr>
                    </a:p>
                  </a:txBody>
                  <a:tcPr marL="95250" marR="95250" marT="47625" marB="47625"/>
                </a:tc>
                <a:extLst>
                  <a:ext uri="{0D108BD9-81ED-4DB2-BD59-A6C34878D82A}">
                    <a16:rowId xmlns:a16="http://schemas.microsoft.com/office/drawing/2014/main" val="2982022178"/>
                  </a:ext>
                </a:extLst>
              </a:tr>
              <a:tr h="375626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FF00FF"/>
                          </a:solidFill>
                          <a:effectLst/>
                          <a:latin typeface="Roboto Condensed (Body)"/>
                        </a:rPr>
                        <a:t>DATEADD</a:t>
                      </a:r>
                      <a:r>
                        <a:rPr lang="en-US" sz="2000" b="0" i="0" u="none" strike="noStrike" dirty="0">
                          <a:solidFill>
                            <a:srgbClr val="808080"/>
                          </a:solidFill>
                          <a:effectLst/>
                          <a:latin typeface="Roboto Condensed (Body)"/>
                        </a:rPr>
                        <a:t>()</a:t>
                      </a:r>
                      <a:endParaRPr lang="en-US" sz="2000" dirty="0">
                        <a:effectLst/>
                        <a:latin typeface="Roboto Condensed (Body)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Roboto Condensed (Body)"/>
                        </a:rPr>
                        <a:t>It returns </a:t>
                      </a:r>
                      <a:r>
                        <a:rPr lang="en-US" sz="2000" dirty="0" err="1">
                          <a:latin typeface="Roboto Condensed (Body)"/>
                        </a:rPr>
                        <a:t>datepart</a:t>
                      </a:r>
                      <a:r>
                        <a:rPr lang="en-US" sz="2000" dirty="0">
                          <a:latin typeface="Roboto Condensed (Body)"/>
                        </a:rPr>
                        <a:t> with added interval as a datetime.</a:t>
                      </a: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Roboto Condensed (Body)"/>
                        </a:rPr>
                        <a:t>SELECT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 (Body)"/>
                        </a:rPr>
                        <a:t> </a:t>
                      </a:r>
                      <a:r>
                        <a:rPr lang="en-US" sz="2000" b="0" i="0" u="none" strike="noStrike" dirty="0">
                          <a:solidFill>
                            <a:srgbClr val="FF00FF"/>
                          </a:solidFill>
                          <a:effectLst/>
                          <a:latin typeface="Roboto Condensed (Body)"/>
                        </a:rPr>
                        <a:t>DATEADD </a:t>
                      </a:r>
                      <a:r>
                        <a:rPr lang="en-US" sz="2000" b="0" i="0" u="none" strike="noStrike" dirty="0">
                          <a:solidFill>
                            <a:srgbClr val="808080"/>
                          </a:solidFill>
                          <a:effectLst/>
                          <a:latin typeface="Roboto Condensed (Body)"/>
                        </a:rPr>
                        <a:t>(</a:t>
                      </a:r>
                      <a:r>
                        <a:rPr lang="en-US" sz="2000" b="0" i="0" u="none" strike="noStrike" dirty="0">
                          <a:solidFill>
                            <a:srgbClr val="FF00FF"/>
                          </a:solidFill>
                          <a:effectLst/>
                          <a:latin typeface="Roboto Condensed (Body)"/>
                        </a:rPr>
                        <a:t>month</a:t>
                      </a:r>
                      <a:r>
                        <a:rPr lang="en-US" sz="2000" b="0" i="0" u="none" strike="noStrike" dirty="0">
                          <a:solidFill>
                            <a:srgbClr val="808080"/>
                          </a:solidFill>
                          <a:effectLst/>
                          <a:latin typeface="Roboto Condensed (Body)"/>
                        </a:rPr>
                        <a:t>,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 (Body)"/>
                        </a:rPr>
                        <a:t> 1</a:t>
                      </a:r>
                      <a:r>
                        <a:rPr lang="en-US" sz="2000" b="0" i="0" u="none" strike="noStrike" dirty="0">
                          <a:solidFill>
                            <a:srgbClr val="808080"/>
                          </a:solidFill>
                          <a:effectLst/>
                          <a:latin typeface="Roboto Condensed (Body)"/>
                        </a:rPr>
                        <a:t>,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 (Body)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GETDATE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()</a:t>
                      </a:r>
                      <a:r>
                        <a:rPr lang="en-US" sz="2000" b="0" i="0" u="none" strike="noStrike" dirty="0">
                          <a:solidFill>
                            <a:srgbClr val="808080"/>
                          </a:solidFill>
                          <a:effectLst/>
                          <a:latin typeface="Roboto Condensed (Body)"/>
                        </a:rPr>
                        <a:t>)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 (Body)"/>
                        </a:rPr>
                        <a:t> </a:t>
                      </a:r>
                      <a:r>
                        <a:rPr lang="en-US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Roboto Condensed (Body)"/>
                        </a:rPr>
                        <a:t>AS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 (Body)"/>
                        </a:rPr>
                        <a:t> </a:t>
                      </a:r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Roboto Condensed (Body)"/>
                        </a:rPr>
                        <a:t>OneMonthAdd</a:t>
                      </a:r>
                      <a:endParaRPr lang="en-US" sz="2000" dirty="0">
                        <a:effectLst/>
                        <a:latin typeface="Roboto Condensed (Body)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2200" dirty="0">
                        <a:effectLst/>
                        <a:latin typeface="+mj-lt"/>
                      </a:endParaRPr>
                    </a:p>
                  </a:txBody>
                  <a:tcPr marL="95250" marR="95250" marT="47625" marB="47625"/>
                </a:tc>
                <a:extLst>
                  <a:ext uri="{0D108BD9-81ED-4DB2-BD59-A6C34878D82A}">
                    <a16:rowId xmlns:a16="http://schemas.microsoft.com/office/drawing/2014/main" val="762167259"/>
                  </a:ext>
                </a:extLst>
              </a:tr>
            </a:tbl>
          </a:graphicData>
        </a:graphic>
      </p:graphicFrame>
      <p:pic>
        <p:nvPicPr>
          <p:cNvPr id="8" name="Picture 7" descr="A close up of a number&#10;&#10;AI-generated content may be incorrect.">
            <a:extLst>
              <a:ext uri="{FF2B5EF4-FFF2-40B4-BE49-F238E27FC236}">
                <a16:creationId xmlns:a16="http://schemas.microsoft.com/office/drawing/2014/main" id="{983C99EC-A111-0F22-A157-17B9C432F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4736" y="1244195"/>
            <a:ext cx="2730232" cy="624468"/>
          </a:xfrm>
          <a:prstGeom prst="rect">
            <a:avLst/>
          </a:prstGeom>
        </p:spPr>
      </p:pic>
      <p:pic>
        <p:nvPicPr>
          <p:cNvPr id="10" name="Picture 9" descr="A close up of a date&#10;&#10;AI-generated content may be incorrect.">
            <a:extLst>
              <a:ext uri="{FF2B5EF4-FFF2-40B4-BE49-F238E27FC236}">
                <a16:creationId xmlns:a16="http://schemas.microsoft.com/office/drawing/2014/main" id="{EE6B11BC-B69C-2D0B-FF54-134FF68831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4736" y="2263016"/>
            <a:ext cx="791479" cy="624469"/>
          </a:xfrm>
          <a:prstGeom prst="rect">
            <a:avLst/>
          </a:prstGeom>
        </p:spPr>
      </p:pic>
      <p:pic>
        <p:nvPicPr>
          <p:cNvPr id="12" name="Picture 11" descr="A close up of words&#10;&#10;AI-generated content may be incorrect.">
            <a:extLst>
              <a:ext uri="{FF2B5EF4-FFF2-40B4-BE49-F238E27FC236}">
                <a16:creationId xmlns:a16="http://schemas.microsoft.com/office/drawing/2014/main" id="{5EE01479-0C85-819E-A915-B9F9ADDD1E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4736" y="3251711"/>
            <a:ext cx="1216784" cy="623052"/>
          </a:xfrm>
          <a:prstGeom prst="rect">
            <a:avLst/>
          </a:prstGeom>
        </p:spPr>
      </p:pic>
      <p:pic>
        <p:nvPicPr>
          <p:cNvPr id="14" name="Picture 13" descr="A close-up of a number&#10;&#10;AI-generated content may be incorrect.">
            <a:extLst>
              <a:ext uri="{FF2B5EF4-FFF2-40B4-BE49-F238E27FC236}">
                <a16:creationId xmlns:a16="http://schemas.microsoft.com/office/drawing/2014/main" id="{A87759BC-6085-D80E-33D2-7451D4ED99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4736" y="4285909"/>
            <a:ext cx="2361806" cy="623053"/>
          </a:xfrm>
          <a:prstGeom prst="rect">
            <a:avLst/>
          </a:prstGeom>
        </p:spPr>
      </p:pic>
      <p:pic>
        <p:nvPicPr>
          <p:cNvPr id="17" name="Picture 16" descr="A close up of a number&#10;&#10;AI-generated content may be incorrect.">
            <a:extLst>
              <a:ext uri="{FF2B5EF4-FFF2-40B4-BE49-F238E27FC236}">
                <a16:creationId xmlns:a16="http://schemas.microsoft.com/office/drawing/2014/main" id="{7A613369-3E87-DC6E-6CCE-DF11524E95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4736" y="5259481"/>
            <a:ext cx="2790391" cy="624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76373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8C00C-D164-73BB-BB54-7E2821316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DA1FF-AAFC-7C41-A141-AEFCA85D7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Date Functions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B8A13A8-4B64-EAC0-A3D4-85829CF790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2868497"/>
              </p:ext>
            </p:extLst>
          </p:nvPr>
        </p:nvGraphicFramePr>
        <p:xfrm>
          <a:off x="245106" y="744475"/>
          <a:ext cx="11259539" cy="489585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130958">
                  <a:extLst>
                    <a:ext uri="{9D8B030D-6E8A-4147-A177-3AD203B41FA5}">
                      <a16:colId xmlns:a16="http://schemas.microsoft.com/office/drawing/2014/main" val="3235359390"/>
                    </a:ext>
                  </a:extLst>
                </a:gridCol>
                <a:gridCol w="6058809">
                  <a:extLst>
                    <a:ext uri="{9D8B030D-6E8A-4147-A177-3AD203B41FA5}">
                      <a16:colId xmlns:a16="http://schemas.microsoft.com/office/drawing/2014/main" val="2762961846"/>
                    </a:ext>
                  </a:extLst>
                </a:gridCol>
                <a:gridCol w="3069772">
                  <a:extLst>
                    <a:ext uri="{9D8B030D-6E8A-4147-A177-3AD203B41FA5}">
                      <a16:colId xmlns:a16="http://schemas.microsoft.com/office/drawing/2014/main" val="673688359"/>
                    </a:ext>
                  </a:extLst>
                </a:gridCol>
              </a:tblGrid>
              <a:tr h="37175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Function Name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Output</a:t>
                      </a:r>
                      <a:endParaRPr lang="en-IN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0345845"/>
                  </a:ext>
                </a:extLst>
              </a:tr>
              <a:tr h="654440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FORMAT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()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endParaRPr lang="en-US" sz="2000" dirty="0">
                        <a:effectLst/>
                        <a:latin typeface="Roboto Condensed (Body)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Roboto Condensed (Body)"/>
                        </a:rPr>
                        <a:t>Formats date or number values into a </a:t>
                      </a:r>
                      <a:r>
                        <a:rPr lang="en-US" sz="2000" b="0" dirty="0">
                          <a:latin typeface="Roboto Condensed (Body)"/>
                        </a:rPr>
                        <a:t>specified format.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solidFill>
                            <a:srgbClr val="0000FF"/>
                          </a:solidFill>
                          <a:latin typeface="Roboto Condensed (Body)"/>
                        </a:rPr>
                        <a:t>SELECT</a:t>
                      </a:r>
                      <a:r>
                        <a:rPr lang="en-IN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IN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FORMAT</a:t>
                      </a:r>
                      <a:r>
                        <a:rPr lang="en-IN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</a:t>
                      </a:r>
                      <a:r>
                        <a:rPr lang="en-IN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GETDATE</a:t>
                      </a:r>
                      <a:r>
                        <a:rPr lang="en-IN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(),</a:t>
                      </a:r>
                      <a:r>
                        <a:rPr lang="en-IN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IN" sz="2000" dirty="0">
                          <a:solidFill>
                            <a:srgbClr val="FF0000"/>
                          </a:solidFill>
                          <a:latin typeface="Roboto Condensed (Body)"/>
                        </a:rPr>
                        <a:t>'dd-MM-</a:t>
                      </a:r>
                      <a:r>
                        <a:rPr lang="en-IN" sz="2000" dirty="0" err="1">
                          <a:solidFill>
                            <a:srgbClr val="FF0000"/>
                          </a:solidFill>
                          <a:latin typeface="Roboto Condensed (Body)"/>
                        </a:rPr>
                        <a:t>yyyy</a:t>
                      </a:r>
                      <a:r>
                        <a:rPr lang="en-IN" sz="2000" dirty="0">
                          <a:solidFill>
                            <a:srgbClr val="FF0000"/>
                          </a:solidFill>
                          <a:latin typeface="Roboto Condensed (Body)"/>
                        </a:rPr>
                        <a:t>'</a:t>
                      </a:r>
                      <a:r>
                        <a:rPr lang="en-IN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);</a:t>
                      </a:r>
                      <a:endParaRPr lang="en-IN" sz="2000" dirty="0">
                        <a:latin typeface="Roboto Condensed (Body)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2000" dirty="0">
                        <a:effectLst/>
                        <a:latin typeface="Roboto Condensed (Body)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Roboto Condensed (Body)"/>
                        </a:rPr>
                        <a:t>01-02-2026</a:t>
                      </a:r>
                    </a:p>
                  </a:txBody>
                  <a:tcPr marL="95250" marR="95250" marT="47625" marB="47625"/>
                </a:tc>
                <a:extLst>
                  <a:ext uri="{0D108BD9-81ED-4DB2-BD59-A6C34878D82A}">
                    <a16:rowId xmlns:a16="http://schemas.microsoft.com/office/drawing/2014/main" val="1584201720"/>
                  </a:ext>
                </a:extLst>
              </a:tr>
              <a:tr h="375626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DATEDIFF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()</a:t>
                      </a:r>
                      <a:endParaRPr lang="en-IN" sz="2000" dirty="0">
                        <a:effectLst/>
                        <a:latin typeface="Roboto Condensed (Body)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latin typeface="Roboto Condensed (Body)"/>
                        </a:rPr>
                        <a:t>Returns the difference between two dates in specified units (day, month, year, etc.).</a:t>
                      </a:r>
                    </a:p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FF"/>
                          </a:solidFill>
                          <a:latin typeface="Roboto Condensed (Body)"/>
                        </a:rPr>
                        <a:t>SELECT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DATEDIFF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</a:t>
                      </a:r>
                      <a:r>
                        <a:rPr lang="en-US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DAY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,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latin typeface="Roboto Condensed (Body)"/>
                        </a:rPr>
                        <a:t>'01-JAN-2025'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,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latin typeface="Roboto Condensed (Body)"/>
                        </a:rPr>
                        <a:t>'10-JAN-2025’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);</a:t>
                      </a:r>
                    </a:p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FF"/>
                          </a:solidFill>
                          <a:latin typeface="Roboto Condensed (Body)"/>
                        </a:rPr>
                        <a:t>SELECT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DATEDIFF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</a:t>
                      </a:r>
                      <a:r>
                        <a:rPr lang="en-US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MONTH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,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latin typeface="Roboto Condensed (Body)"/>
                        </a:rPr>
                        <a:t>'01-JAN-2025'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,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latin typeface="Roboto Condensed (Body)"/>
                        </a:rPr>
                        <a:t>'01-JUL-2025’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);</a:t>
                      </a:r>
                    </a:p>
                    <a:p>
                      <a:r>
                        <a:rPr lang="en-US" sz="2000" dirty="0">
                          <a:solidFill>
                            <a:srgbClr val="0000FF"/>
                          </a:solidFill>
                          <a:latin typeface="Roboto Condensed (Body)"/>
                        </a:rPr>
                        <a:t>SELECT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DATEDIFF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</a:t>
                      </a:r>
                      <a:r>
                        <a:rPr lang="en-US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YEAR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,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latin typeface="Roboto Condensed (Body)"/>
                        </a:rPr>
                        <a:t>'01-JAN-2025'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,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latin typeface="Roboto Condensed (Body)"/>
                        </a:rPr>
                        <a:t>'01-JUL-2027'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);</a:t>
                      </a:r>
                      <a:endParaRPr lang="en-US" sz="2000" dirty="0">
                        <a:solidFill>
                          <a:srgbClr val="000000"/>
                        </a:solidFill>
                        <a:latin typeface="Roboto Condensed (Body)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2000" dirty="0">
                        <a:effectLst/>
                        <a:latin typeface="Roboto Condensed (Body)"/>
                      </a:endParaRPr>
                    </a:p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2000" dirty="0">
                        <a:effectLst/>
                        <a:latin typeface="Roboto Condensed (Body)"/>
                      </a:endParaRPr>
                    </a:p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Roboto Condensed (Body)"/>
                        </a:rPr>
                        <a:t>9</a:t>
                      </a:r>
                    </a:p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Roboto Condensed (Body)"/>
                        </a:rPr>
                        <a:t>6</a:t>
                      </a:r>
                    </a:p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Roboto Condensed (Body)"/>
                        </a:rPr>
                        <a:t>2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739308849"/>
                  </a:ext>
                </a:extLst>
              </a:tr>
              <a:tr h="375626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DAY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()</a:t>
                      </a:r>
                      <a:endParaRPr lang="en-IN" sz="2000" dirty="0">
                        <a:effectLst/>
                        <a:latin typeface="Roboto Condensed (Body)"/>
                      </a:endParaRPr>
                    </a:p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2000" dirty="0">
                        <a:effectLst/>
                        <a:latin typeface="Roboto Condensed (Body)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Roboto Condensed (Body)"/>
                        </a:rPr>
                        <a:t>Extracts the </a:t>
                      </a:r>
                      <a:r>
                        <a:rPr lang="en-US" sz="2000" b="0" dirty="0">
                          <a:latin typeface="Roboto Condensed (Body)"/>
                        </a:rPr>
                        <a:t>day part </a:t>
                      </a:r>
                      <a:r>
                        <a:rPr lang="en-US" sz="2000" dirty="0">
                          <a:latin typeface="Roboto Condensed (Body)"/>
                        </a:rPr>
                        <a:t>from a date.</a:t>
                      </a: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solidFill>
                            <a:srgbClr val="0000FF"/>
                          </a:solidFill>
                          <a:latin typeface="Roboto Condensed (Body)"/>
                        </a:rPr>
                        <a:t>SELECT</a:t>
                      </a:r>
                      <a:r>
                        <a:rPr lang="en-IN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IN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DAY</a:t>
                      </a:r>
                      <a:r>
                        <a:rPr lang="en-IN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</a:t>
                      </a:r>
                      <a:r>
                        <a:rPr lang="en-IN" sz="2000" dirty="0">
                          <a:solidFill>
                            <a:srgbClr val="FF0000"/>
                          </a:solidFill>
                          <a:latin typeface="Roboto Condensed (Body)"/>
                        </a:rPr>
                        <a:t>'2025-02-15'</a:t>
                      </a:r>
                      <a:r>
                        <a:rPr lang="en-IN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);</a:t>
                      </a:r>
                      <a:endParaRPr lang="en-US" sz="2000" dirty="0">
                        <a:effectLst/>
                        <a:latin typeface="Roboto Condensed (Body)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2000" dirty="0">
                        <a:effectLst/>
                        <a:latin typeface="Roboto Condensed (Body)"/>
                      </a:endParaRPr>
                    </a:p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Roboto Condensed (Body)"/>
                        </a:rPr>
                        <a:t>15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548827962"/>
                  </a:ext>
                </a:extLst>
              </a:tr>
              <a:tr h="375626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MONTH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()</a:t>
                      </a:r>
                      <a:endParaRPr lang="en-US" sz="2000" dirty="0">
                        <a:effectLst/>
                        <a:latin typeface="Roboto Condensed (Body)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Roboto Condensed (Body)"/>
                        </a:rPr>
                        <a:t>Extracts the </a:t>
                      </a:r>
                      <a:r>
                        <a:rPr lang="en-US" sz="2000" b="0" dirty="0">
                          <a:latin typeface="Roboto Condensed (Body)"/>
                        </a:rPr>
                        <a:t>month part </a:t>
                      </a:r>
                      <a:r>
                        <a:rPr lang="en-US" sz="2000" dirty="0">
                          <a:latin typeface="Roboto Condensed (Body)"/>
                        </a:rPr>
                        <a:t>from a date.</a:t>
                      </a: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solidFill>
                            <a:srgbClr val="0000FF"/>
                          </a:solidFill>
                          <a:latin typeface="Roboto Condensed (Body)"/>
                        </a:rPr>
                        <a:t>SELECT</a:t>
                      </a:r>
                      <a:r>
                        <a:rPr lang="en-IN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IN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MONTH</a:t>
                      </a:r>
                      <a:r>
                        <a:rPr lang="en-IN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</a:t>
                      </a:r>
                      <a:r>
                        <a:rPr lang="en-IN" sz="2000" dirty="0">
                          <a:solidFill>
                            <a:srgbClr val="FF0000"/>
                          </a:solidFill>
                          <a:latin typeface="Roboto Condensed (Body)"/>
                        </a:rPr>
                        <a:t>'2025-02-15'</a:t>
                      </a:r>
                      <a:r>
                        <a:rPr lang="en-IN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);</a:t>
                      </a:r>
                      <a:endParaRPr lang="en-US" sz="2000" dirty="0">
                        <a:effectLst/>
                        <a:latin typeface="Roboto Condensed (Body)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2000" dirty="0">
                        <a:effectLst/>
                        <a:latin typeface="Roboto Condensed (Body)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Roboto Condensed (Body)"/>
                        </a:rPr>
                        <a:t>2</a:t>
                      </a:r>
                    </a:p>
                  </a:txBody>
                  <a:tcPr marL="95250" marR="95250" marT="47625" marB="47625"/>
                </a:tc>
                <a:extLst>
                  <a:ext uri="{0D108BD9-81ED-4DB2-BD59-A6C34878D82A}">
                    <a16:rowId xmlns:a16="http://schemas.microsoft.com/office/drawing/2014/main" val="2982022178"/>
                  </a:ext>
                </a:extLst>
              </a:tr>
              <a:tr h="375626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FF00FF"/>
                          </a:solidFill>
                          <a:effectLst/>
                          <a:latin typeface="Roboto Condensed (Body)"/>
                        </a:rPr>
                        <a:t>YEAR</a:t>
                      </a:r>
                      <a:r>
                        <a:rPr lang="en-US" sz="2000" b="0" i="0" u="none" strike="noStrike" dirty="0">
                          <a:solidFill>
                            <a:srgbClr val="808080"/>
                          </a:solidFill>
                          <a:effectLst/>
                          <a:latin typeface="Roboto Condensed (Body)"/>
                        </a:rPr>
                        <a:t>()</a:t>
                      </a:r>
                      <a:endParaRPr lang="en-US" sz="2000" dirty="0">
                        <a:effectLst/>
                        <a:latin typeface="Roboto Condensed (Body)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Roboto Condensed (Body)"/>
                        </a:rPr>
                        <a:t>Extracts the </a:t>
                      </a:r>
                      <a:r>
                        <a:rPr lang="en-US" sz="2000" b="0" dirty="0">
                          <a:latin typeface="Roboto Condensed (Body)"/>
                        </a:rPr>
                        <a:t>year part </a:t>
                      </a:r>
                      <a:r>
                        <a:rPr lang="en-US" sz="2000" dirty="0">
                          <a:latin typeface="Roboto Condensed (Body)"/>
                        </a:rPr>
                        <a:t>from a date.</a:t>
                      </a: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solidFill>
                            <a:srgbClr val="0000FF"/>
                          </a:solidFill>
                          <a:latin typeface="Roboto Condensed (Body)"/>
                        </a:rPr>
                        <a:t>SELECT</a:t>
                      </a:r>
                      <a:r>
                        <a:rPr lang="en-IN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IN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YEAR</a:t>
                      </a:r>
                      <a:r>
                        <a:rPr lang="en-IN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</a:t>
                      </a:r>
                      <a:r>
                        <a:rPr lang="en-IN" sz="2000" dirty="0">
                          <a:solidFill>
                            <a:srgbClr val="FF0000"/>
                          </a:solidFill>
                          <a:latin typeface="Roboto Condensed (Body)"/>
                        </a:rPr>
                        <a:t>'2025-02-15'</a:t>
                      </a:r>
                      <a:r>
                        <a:rPr lang="en-IN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);</a:t>
                      </a:r>
                      <a:endParaRPr lang="en-US" sz="2000" dirty="0">
                        <a:effectLst/>
                        <a:latin typeface="Roboto Condensed (Body)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2000" dirty="0">
                        <a:effectLst/>
                        <a:latin typeface="Roboto Condensed (Body)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Roboto Condensed (Body)"/>
                        </a:rPr>
                        <a:t>2025</a:t>
                      </a:r>
                    </a:p>
                  </a:txBody>
                  <a:tcPr marL="95250" marR="95250" marT="47625" marB="47625"/>
                </a:tc>
                <a:extLst>
                  <a:ext uri="{0D108BD9-81ED-4DB2-BD59-A6C34878D82A}">
                    <a16:rowId xmlns:a16="http://schemas.microsoft.com/office/drawing/2014/main" val="7621672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087997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427B3-44AF-55C7-BF19-0718BD1C3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1D9E3-9FD4-FF2B-3DBA-914E9659F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 Functions</a:t>
            </a:r>
          </a:p>
        </p:txBody>
      </p:sp>
    </p:spTree>
    <p:extLst>
      <p:ext uri="{BB962C8B-B14F-4D97-AF65-F5344CB8AC3E}">
        <p14:creationId xmlns:p14="http://schemas.microsoft.com/office/powerpoint/2010/main" val="164696668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E7826DD-2B54-FAED-E5C1-1E6F505796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676279"/>
              </p:ext>
            </p:extLst>
          </p:nvPr>
        </p:nvGraphicFramePr>
        <p:xfrm>
          <a:off x="245106" y="753806"/>
          <a:ext cx="11707408" cy="523875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215721">
                  <a:extLst>
                    <a:ext uri="{9D8B030D-6E8A-4147-A177-3AD203B41FA5}">
                      <a16:colId xmlns:a16="http://schemas.microsoft.com/office/drawing/2014/main" val="3235359390"/>
                    </a:ext>
                  </a:extLst>
                </a:gridCol>
                <a:gridCol w="6953761">
                  <a:extLst>
                    <a:ext uri="{9D8B030D-6E8A-4147-A177-3AD203B41FA5}">
                      <a16:colId xmlns:a16="http://schemas.microsoft.com/office/drawing/2014/main" val="2762961846"/>
                    </a:ext>
                  </a:extLst>
                </a:gridCol>
                <a:gridCol w="2537926">
                  <a:extLst>
                    <a:ext uri="{9D8B030D-6E8A-4147-A177-3AD203B41FA5}">
                      <a16:colId xmlns:a16="http://schemas.microsoft.com/office/drawing/2014/main" val="673688359"/>
                    </a:ext>
                  </a:extLst>
                </a:gridCol>
              </a:tblGrid>
              <a:tr h="37175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Function Name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Output</a:t>
                      </a:r>
                      <a:endParaRPr lang="en-IN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0345845"/>
                  </a:ext>
                </a:extLst>
              </a:tr>
              <a:tr h="654440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LEN</a:t>
                      </a:r>
                      <a:r>
                        <a:rPr lang="en-IN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()</a:t>
                      </a:r>
                      <a:endParaRPr lang="en-US" sz="2000" dirty="0">
                        <a:effectLst/>
                        <a:latin typeface="Roboto Condensed (Body)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latin typeface="Roboto Condensed (Body)"/>
                        </a:rPr>
                        <a:t>It </a:t>
                      </a:r>
                      <a:r>
                        <a:rPr lang="en-US" sz="2000" dirty="0">
                          <a:latin typeface="Roboto Condensed (Body)"/>
                        </a:rPr>
                        <a:t>Returns the length of the string.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0000FF"/>
                          </a:solidFill>
                          <a:latin typeface="Roboto Condensed (Body)"/>
                        </a:rPr>
                        <a:t>SELECT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LEN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latin typeface="Roboto Condensed (Body)"/>
                        </a:rPr>
                        <a:t>'Darshan University’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)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0000FF"/>
                          </a:solidFill>
                          <a:latin typeface="Roboto Condensed (Body)"/>
                        </a:rPr>
                        <a:t>AS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Roboto Condensed (Body)"/>
                        </a:rPr>
                        <a:t>StringLength</a:t>
                      </a:r>
                      <a:r>
                        <a:rPr lang="en-IN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;</a:t>
                      </a:r>
                      <a:endParaRPr lang="en-IN" sz="2000" dirty="0">
                        <a:latin typeface="Roboto Condensed (Body)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2200" dirty="0">
                        <a:effectLst/>
                        <a:latin typeface="+mj-lt"/>
                      </a:endParaRPr>
                    </a:p>
                  </a:txBody>
                  <a:tcPr marL="95250" marR="95250" marT="47625" marB="47625"/>
                </a:tc>
                <a:extLst>
                  <a:ext uri="{0D108BD9-81ED-4DB2-BD59-A6C34878D82A}">
                    <a16:rowId xmlns:a16="http://schemas.microsoft.com/office/drawing/2014/main" val="1584201720"/>
                  </a:ext>
                </a:extLst>
              </a:tr>
              <a:tr h="375626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0" i="0" u="none" strike="noStrike" dirty="0">
                          <a:solidFill>
                            <a:srgbClr val="FF00FF"/>
                          </a:solidFill>
                          <a:effectLst/>
                          <a:latin typeface="Roboto Condensed (Body)"/>
                        </a:rPr>
                        <a:t>LOWER</a:t>
                      </a:r>
                      <a:r>
                        <a:rPr lang="en-IN" sz="2000" b="0" i="0" u="none" strike="noStrike" dirty="0">
                          <a:solidFill>
                            <a:srgbClr val="808080"/>
                          </a:solidFill>
                          <a:effectLst/>
                          <a:latin typeface="Roboto Condensed (Body)"/>
                        </a:rPr>
                        <a:t>()</a:t>
                      </a:r>
                      <a:endParaRPr lang="en-IN" sz="2000" dirty="0">
                        <a:effectLst/>
                        <a:latin typeface="Roboto Condensed (Body)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just" rtl="0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212121"/>
                          </a:solidFill>
                          <a:effectLst/>
                          <a:latin typeface="Roboto Condensed (Body)"/>
                        </a:rPr>
                        <a:t>It is used to convert text to lower case.</a:t>
                      </a:r>
                    </a:p>
                    <a:p>
                      <a:pPr algn="just" rtl="0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2000" dirty="0">
                          <a:solidFill>
                            <a:srgbClr val="0000FF"/>
                          </a:solidFill>
                          <a:latin typeface="Roboto Condensed (Body)"/>
                        </a:rPr>
                        <a:t>SELECT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LOWER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latin typeface="Roboto Condensed (Body)"/>
                        </a:rPr>
                        <a:t>'DARSHAN'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)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0000FF"/>
                          </a:solidFill>
                          <a:latin typeface="Roboto Condensed (Body)"/>
                        </a:rPr>
                        <a:t>AS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Roboto Condensed (Body)"/>
                        </a:rPr>
                        <a:t>LowerCase</a:t>
                      </a:r>
                      <a:r>
                        <a:rPr lang="en-IN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;</a:t>
                      </a:r>
                      <a:endParaRPr lang="en-US" sz="2000" b="0" i="0" u="none" strike="noStrike" dirty="0">
                        <a:solidFill>
                          <a:srgbClr val="1D6FA9"/>
                        </a:solidFill>
                        <a:effectLst/>
                        <a:latin typeface="Roboto Condensed (Body)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2200" dirty="0">
                        <a:effectLst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739308849"/>
                  </a:ext>
                </a:extLst>
              </a:tr>
              <a:tr h="375626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0" i="0" u="none" strike="noStrike" dirty="0">
                          <a:solidFill>
                            <a:srgbClr val="FF00FF"/>
                          </a:solidFill>
                          <a:effectLst/>
                          <a:latin typeface="Roboto Condensed (Body)"/>
                        </a:rPr>
                        <a:t>UPPER</a:t>
                      </a:r>
                      <a:r>
                        <a:rPr lang="en-IN" sz="2000" b="0" i="0" u="none" strike="noStrike" dirty="0">
                          <a:solidFill>
                            <a:srgbClr val="808080"/>
                          </a:solidFill>
                          <a:effectLst/>
                          <a:latin typeface="Roboto Condensed (Body)"/>
                        </a:rPr>
                        <a:t>()</a:t>
                      </a:r>
                      <a:endParaRPr lang="en-IN" sz="2000" dirty="0">
                        <a:effectLst/>
                        <a:latin typeface="Roboto Condensed (Body)"/>
                      </a:endParaRPr>
                    </a:p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2000" dirty="0">
                        <a:effectLst/>
                        <a:latin typeface="Roboto Condensed (Body)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u="none" strike="noStrike" dirty="0">
                          <a:solidFill>
                            <a:srgbClr val="212121"/>
                          </a:solidFill>
                          <a:effectLst/>
                          <a:latin typeface="Roboto Condensed (Body)"/>
                        </a:rPr>
                        <a:t>It is used to convert text to upper case.</a:t>
                      </a:r>
                      <a:endParaRPr lang="en-US" sz="2000" b="0" i="0" u="none" strike="noStrike" dirty="0">
                        <a:solidFill>
                          <a:srgbClr val="1D6FA9"/>
                        </a:solidFill>
                        <a:effectLst/>
                        <a:latin typeface="Roboto Condensed (Body)"/>
                      </a:endParaRP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0000FF"/>
                          </a:solidFill>
                          <a:latin typeface="Roboto Condensed (Body)"/>
                        </a:rPr>
                        <a:t>SELECT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UPPER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latin typeface="Roboto Condensed (Body)"/>
                        </a:rPr>
                        <a:t>'Darshan'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)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0000FF"/>
                          </a:solidFill>
                          <a:latin typeface="Roboto Condensed (Body)"/>
                        </a:rPr>
                        <a:t>AS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Roboto Condensed (Body)"/>
                        </a:rPr>
                        <a:t>UpperCase</a:t>
                      </a:r>
                      <a:r>
                        <a:rPr lang="en-IN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;</a:t>
                      </a:r>
                      <a:endParaRPr lang="en-US" sz="2000" dirty="0">
                        <a:effectLst/>
                        <a:latin typeface="Roboto Condensed (Body)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2200" dirty="0">
                        <a:effectLst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548827962"/>
                  </a:ext>
                </a:extLst>
              </a:tr>
              <a:tr h="375626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b="0" i="0" u="none" strike="noStrike" dirty="0">
                          <a:solidFill>
                            <a:srgbClr val="FF00FF"/>
                          </a:solidFill>
                          <a:effectLst/>
                          <a:latin typeface="Roboto Condensed (Body)"/>
                        </a:rPr>
                        <a:t>REPLACE</a:t>
                      </a:r>
                      <a:r>
                        <a:rPr lang="en-IN" sz="2000" b="0" i="0" u="none" strike="noStrike" dirty="0">
                          <a:solidFill>
                            <a:srgbClr val="808080"/>
                          </a:solidFill>
                          <a:effectLst/>
                          <a:latin typeface="Roboto Condensed (Body)"/>
                        </a:rPr>
                        <a:t>()</a:t>
                      </a:r>
                      <a:endParaRPr lang="en-IN" sz="2000" dirty="0">
                        <a:effectLst/>
                        <a:latin typeface="Roboto Condensed (Body)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rtl="0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2000" dirty="0"/>
                        <a:t>It replaces all occurrences of a substring in a string with a new substring.</a:t>
                      </a:r>
                    </a:p>
                    <a:p>
                      <a:pPr rtl="0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212121"/>
                          </a:solidFill>
                          <a:effectLst/>
                          <a:latin typeface="Roboto Condensed (Body)"/>
                        </a:rPr>
                        <a:t>Syntax: </a:t>
                      </a:r>
                      <a:r>
                        <a:rPr lang="en-US" sz="2000" b="0" i="0" u="none" strike="noStrike" dirty="0">
                          <a:solidFill>
                            <a:srgbClr val="212121"/>
                          </a:solidFill>
                          <a:effectLst/>
                          <a:latin typeface="Roboto Condensed (Body)"/>
                        </a:rPr>
                        <a:t>REPLACE(</a:t>
                      </a:r>
                      <a:r>
                        <a:rPr lang="en-US" sz="2000" b="0" i="0" u="none" strike="noStrike" dirty="0" err="1">
                          <a:solidFill>
                            <a:srgbClr val="212121"/>
                          </a:solidFill>
                          <a:effectLst/>
                          <a:latin typeface="Roboto Condensed (Body)"/>
                        </a:rPr>
                        <a:t>input_string</a:t>
                      </a:r>
                      <a:r>
                        <a:rPr lang="en-US" sz="2000" b="0" i="0" u="none" strike="noStrike" dirty="0">
                          <a:solidFill>
                            <a:srgbClr val="212121"/>
                          </a:solidFill>
                          <a:effectLst/>
                          <a:latin typeface="Roboto Condensed (Body)"/>
                        </a:rPr>
                        <a:t>, substring, </a:t>
                      </a:r>
                      <a:r>
                        <a:rPr lang="en-US" sz="2000" b="0" i="0" u="none" strike="noStrike" dirty="0" err="1">
                          <a:solidFill>
                            <a:srgbClr val="212121"/>
                          </a:solidFill>
                          <a:effectLst/>
                          <a:latin typeface="Roboto Condensed (Body)"/>
                        </a:rPr>
                        <a:t>new_substring</a:t>
                      </a:r>
                      <a:r>
                        <a:rPr lang="en-US" sz="2000" b="0" i="0" u="none" strike="noStrike" dirty="0">
                          <a:solidFill>
                            <a:srgbClr val="212121"/>
                          </a:solidFill>
                          <a:effectLst/>
                          <a:latin typeface="Roboto Condensed (Body)"/>
                        </a:rPr>
                        <a:t>);</a:t>
                      </a:r>
                      <a:endParaRPr lang="en-US" sz="2000" dirty="0">
                        <a:effectLst/>
                        <a:latin typeface="Roboto Condensed (Body)"/>
                      </a:endParaRPr>
                    </a:p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Roboto Condensed (Body)"/>
                        </a:rPr>
                        <a:t>SELECT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 (Body)"/>
                        </a:rPr>
                        <a:t> </a:t>
                      </a:r>
                      <a:r>
                        <a:rPr lang="en-US" sz="2000" b="0" i="0" u="none" strike="noStrike" dirty="0">
                          <a:solidFill>
                            <a:srgbClr val="FF00FF"/>
                          </a:solidFill>
                          <a:effectLst/>
                          <a:latin typeface="Roboto Condensed (Body)"/>
                        </a:rPr>
                        <a:t>REPLACE</a:t>
                      </a:r>
                      <a:r>
                        <a:rPr lang="en-US" sz="2000" b="0" i="0" u="none" strike="noStrike" dirty="0">
                          <a:solidFill>
                            <a:srgbClr val="808080"/>
                          </a:solidFill>
                          <a:effectLst/>
                          <a:latin typeface="Roboto Condensed (Body)"/>
                        </a:rPr>
                        <a:t>(</a:t>
                      </a:r>
                      <a:r>
                        <a:rPr lang="en-US" sz="2000" b="0" i="0" u="none" strike="noStrike" dirty="0">
                          <a:solidFill>
                            <a:srgbClr val="FF0000"/>
                          </a:solidFill>
                          <a:effectLst/>
                          <a:latin typeface="Roboto Condensed (Body)"/>
                        </a:rPr>
                        <a:t>'Darshan Institute’</a:t>
                      </a:r>
                      <a:r>
                        <a:rPr lang="en-US" sz="2000" b="0" i="0" u="none" strike="noStrike" dirty="0">
                          <a:solidFill>
                            <a:srgbClr val="808080"/>
                          </a:solidFill>
                          <a:effectLst/>
                          <a:latin typeface="Roboto Condensed (Body)"/>
                        </a:rPr>
                        <a:t>, </a:t>
                      </a:r>
                      <a:r>
                        <a:rPr lang="en-US" sz="2000" b="0" i="0" u="none" strike="noStrike" dirty="0">
                          <a:solidFill>
                            <a:srgbClr val="FF0000"/>
                          </a:solidFill>
                          <a:effectLst/>
                          <a:latin typeface="Roboto Condensed (Body)"/>
                        </a:rPr>
                        <a:t>'</a:t>
                      </a:r>
                      <a:r>
                        <a:rPr lang="en-US" sz="2000" b="0" i="0" u="none" strike="noStrike" dirty="0" err="1">
                          <a:solidFill>
                            <a:srgbClr val="FF0000"/>
                          </a:solidFill>
                          <a:effectLst/>
                          <a:latin typeface="Roboto Condensed (Body)"/>
                        </a:rPr>
                        <a:t>Institute'</a:t>
                      </a:r>
                      <a:r>
                        <a:rPr lang="en-US" sz="2000" b="0" i="0" u="none" strike="noStrike" dirty="0" err="1">
                          <a:solidFill>
                            <a:srgbClr val="808080"/>
                          </a:solidFill>
                          <a:effectLst/>
                          <a:latin typeface="Roboto Condensed (Body)"/>
                        </a:rPr>
                        <a:t>,</a:t>
                      </a:r>
                      <a:r>
                        <a:rPr lang="en-US" sz="2000" b="0" i="0" u="none" strike="noStrike" dirty="0" err="1">
                          <a:solidFill>
                            <a:srgbClr val="FF0000"/>
                          </a:solidFill>
                          <a:effectLst/>
                          <a:latin typeface="Roboto Condensed (Body)"/>
                        </a:rPr>
                        <a:t>'University</a:t>
                      </a:r>
                      <a:r>
                        <a:rPr lang="en-US" sz="2000" b="0" i="0" u="none" strike="noStrike" dirty="0">
                          <a:solidFill>
                            <a:srgbClr val="FF0000"/>
                          </a:solidFill>
                          <a:effectLst/>
                          <a:latin typeface="Roboto Condensed (Body)"/>
                        </a:rPr>
                        <a:t>’</a:t>
                      </a:r>
                      <a:r>
                        <a:rPr lang="en-US" sz="2000" b="0" i="0" u="none" strike="noStrike" dirty="0">
                          <a:solidFill>
                            <a:srgbClr val="808080"/>
                          </a:solidFill>
                          <a:effectLst/>
                          <a:latin typeface="Roboto Condensed (Body)"/>
                        </a:rPr>
                        <a:t>)</a:t>
                      </a:r>
                    </a:p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FF"/>
                          </a:solidFill>
                          <a:latin typeface="Roboto Condensed (Body)"/>
                        </a:rPr>
                        <a:t>AS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Roboto Condensed (Body)"/>
                        </a:rPr>
                        <a:t>ReplaceString</a:t>
                      </a:r>
                      <a:r>
                        <a:rPr lang="en-IN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;</a:t>
                      </a:r>
                      <a:endParaRPr lang="en-US" sz="2000" dirty="0">
                        <a:effectLst/>
                        <a:latin typeface="Roboto Condensed (Body)"/>
                      </a:endParaRPr>
                    </a:p>
                  </a:txBody>
                  <a:tcPr marL="133350" marR="133350" marT="133350" marB="133350" anchor="ctr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2200" dirty="0">
                        <a:effectLst/>
                        <a:latin typeface="+mj-lt"/>
                      </a:endParaRPr>
                    </a:p>
                  </a:txBody>
                  <a:tcPr marL="95250" marR="95250" marT="47625" marB="47625"/>
                </a:tc>
                <a:extLst>
                  <a:ext uri="{0D108BD9-81ED-4DB2-BD59-A6C34878D82A}">
                    <a16:rowId xmlns:a16="http://schemas.microsoft.com/office/drawing/2014/main" val="2982022178"/>
                  </a:ext>
                </a:extLst>
              </a:tr>
              <a:tr h="375626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b="0" i="0" u="none" strike="noStrike" dirty="0">
                          <a:solidFill>
                            <a:srgbClr val="FF00FF"/>
                          </a:solidFill>
                          <a:effectLst/>
                          <a:latin typeface="Roboto Condensed (Body)"/>
                        </a:rPr>
                        <a:t>REVERSE</a:t>
                      </a:r>
                      <a:r>
                        <a:rPr lang="en-IN" sz="2000" b="0" i="0" u="none" strike="noStrike" dirty="0">
                          <a:solidFill>
                            <a:srgbClr val="808080"/>
                          </a:solidFill>
                          <a:effectLst/>
                          <a:latin typeface="Roboto Condensed (Body)"/>
                        </a:rPr>
                        <a:t>()</a:t>
                      </a:r>
                      <a:endParaRPr lang="en-IN" sz="2000" dirty="0">
                        <a:effectLst/>
                        <a:latin typeface="Roboto Condensed (Body)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just" rtl="0" fontAlgn="base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212121"/>
                          </a:solidFill>
                          <a:effectLst/>
                          <a:latin typeface="Roboto Condensed (Body)"/>
                        </a:rPr>
                        <a:t>It accepts a string argument and returns the reverse of that string.</a:t>
                      </a:r>
                      <a:endParaRPr lang="en-US" sz="2000" b="0" i="0" u="none" strike="noStrike" dirty="0">
                        <a:solidFill>
                          <a:srgbClr val="1D6FA9"/>
                        </a:solidFill>
                        <a:effectLst/>
                        <a:latin typeface="Roboto Condensed (Body)"/>
                      </a:endParaRPr>
                    </a:p>
                    <a:p>
                      <a:pPr algn="just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Roboto Condensed (Body)"/>
                        </a:rPr>
                        <a:t>SELECT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 (Body)"/>
                        </a:rPr>
                        <a:t> </a:t>
                      </a:r>
                      <a:r>
                        <a:rPr lang="en-US" sz="2000" b="0" i="0" u="none" strike="noStrike" dirty="0">
                          <a:solidFill>
                            <a:srgbClr val="FF00FF"/>
                          </a:solidFill>
                          <a:effectLst/>
                          <a:latin typeface="Roboto Condensed (Body)"/>
                        </a:rPr>
                        <a:t>REVERSE</a:t>
                      </a:r>
                      <a:r>
                        <a:rPr lang="en-US" sz="2000" b="0" i="0" u="none" strike="noStrike" dirty="0">
                          <a:solidFill>
                            <a:srgbClr val="808080"/>
                          </a:solidFill>
                          <a:effectLst/>
                          <a:latin typeface="Roboto Condensed (Body)"/>
                        </a:rPr>
                        <a:t>(</a:t>
                      </a:r>
                      <a:r>
                        <a:rPr lang="en-US" sz="2000" b="0" i="0" u="none" strike="noStrike" dirty="0">
                          <a:solidFill>
                            <a:srgbClr val="FF0000"/>
                          </a:solidFill>
                          <a:effectLst/>
                          <a:latin typeface="Roboto Condensed (Body)"/>
                        </a:rPr>
                        <a:t>'Darshan’</a:t>
                      </a:r>
                      <a:r>
                        <a:rPr lang="en-US" sz="2000" b="0" i="0" u="none" strike="noStrike" dirty="0">
                          <a:solidFill>
                            <a:srgbClr val="808080"/>
                          </a:solidFill>
                          <a:effectLst/>
                          <a:latin typeface="Roboto Condensed (Body)"/>
                        </a:rPr>
                        <a:t>) </a:t>
                      </a:r>
                      <a:r>
                        <a:rPr lang="en-IN" sz="2000" dirty="0">
                          <a:solidFill>
                            <a:srgbClr val="0000FF"/>
                          </a:solidFill>
                          <a:latin typeface="Roboto Condensed (Body)"/>
                        </a:rPr>
                        <a:t>AS</a:t>
                      </a:r>
                      <a:r>
                        <a:rPr lang="en-IN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IN" sz="2000" dirty="0" err="1">
                          <a:solidFill>
                            <a:srgbClr val="000000"/>
                          </a:solidFill>
                          <a:latin typeface="Roboto Condensed (Body)"/>
                        </a:rPr>
                        <a:t>ReverseString</a:t>
                      </a:r>
                      <a:r>
                        <a:rPr lang="en-IN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;</a:t>
                      </a:r>
                      <a:endParaRPr lang="en-US" sz="2000" dirty="0">
                        <a:effectLst/>
                        <a:latin typeface="Roboto Condensed (Body)"/>
                      </a:endParaRPr>
                    </a:p>
                  </a:txBody>
                  <a:tcPr marL="133350" marR="133350" marT="133350" marB="133350" anchor="ctr"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2200" dirty="0">
                        <a:effectLst/>
                        <a:latin typeface="+mj-lt"/>
                      </a:endParaRPr>
                    </a:p>
                  </a:txBody>
                  <a:tcPr marL="95250" marR="95250" marT="47625" marB="47625"/>
                </a:tc>
                <a:extLst>
                  <a:ext uri="{0D108BD9-81ED-4DB2-BD59-A6C34878D82A}">
                    <a16:rowId xmlns:a16="http://schemas.microsoft.com/office/drawing/2014/main" val="762167259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422465CA-A895-9A2E-462C-4398B92A1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String Functions</a:t>
            </a:r>
          </a:p>
        </p:txBody>
      </p:sp>
      <p:pic>
        <p:nvPicPr>
          <p:cNvPr id="7" name="Picture 6" descr="A close up of a logo&#10;&#10;AI-generated content may be incorrect.">
            <a:extLst>
              <a:ext uri="{FF2B5EF4-FFF2-40B4-BE49-F238E27FC236}">
                <a16:creationId xmlns:a16="http://schemas.microsoft.com/office/drawing/2014/main" id="{92510AA6-CC18-EEB0-8A27-D9DFD927AA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3401" y="2019212"/>
            <a:ext cx="1279401" cy="587266"/>
          </a:xfrm>
          <a:prstGeom prst="rect">
            <a:avLst/>
          </a:prstGeom>
        </p:spPr>
      </p:pic>
      <p:pic>
        <p:nvPicPr>
          <p:cNvPr id="9" name="Picture 8" descr="A close up of a logo&#10;&#10;AI-generated content may be incorrect.">
            <a:extLst>
              <a:ext uri="{FF2B5EF4-FFF2-40B4-BE49-F238E27FC236}">
                <a16:creationId xmlns:a16="http://schemas.microsoft.com/office/drawing/2014/main" id="{3327D56F-0AD3-2723-1542-A6473E99A7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2732" y="2721948"/>
            <a:ext cx="1279401" cy="574002"/>
          </a:xfrm>
          <a:prstGeom prst="rect">
            <a:avLst/>
          </a:prstGeom>
        </p:spPr>
      </p:pic>
      <p:pic>
        <p:nvPicPr>
          <p:cNvPr id="11" name="Picture 10" descr="A close-up of a logo&#10;&#10;AI-generated content may be incorrect.">
            <a:extLst>
              <a:ext uri="{FF2B5EF4-FFF2-40B4-BE49-F238E27FC236}">
                <a16:creationId xmlns:a16="http://schemas.microsoft.com/office/drawing/2014/main" id="{7FBFA6C4-9DB2-DCAB-91AA-F548615924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3401" y="1311055"/>
            <a:ext cx="1353740" cy="557424"/>
          </a:xfrm>
          <a:prstGeom prst="rect">
            <a:avLst/>
          </a:prstGeom>
        </p:spPr>
      </p:pic>
      <p:pic>
        <p:nvPicPr>
          <p:cNvPr id="13" name="Picture 12" descr="A close up of a logo&#10;&#10;AI-generated content may be incorrect.">
            <a:extLst>
              <a:ext uri="{FF2B5EF4-FFF2-40B4-BE49-F238E27FC236}">
                <a16:creationId xmlns:a16="http://schemas.microsoft.com/office/drawing/2014/main" id="{36AC9EEA-AA1B-9E8F-AFAB-09E43881D6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3401" y="4188819"/>
            <a:ext cx="2152062" cy="644103"/>
          </a:xfrm>
          <a:prstGeom prst="rect">
            <a:avLst/>
          </a:prstGeom>
        </p:spPr>
      </p:pic>
      <p:pic>
        <p:nvPicPr>
          <p:cNvPr id="15" name="Picture 14" descr="A close up of a logo&#10;&#10;AI-generated content may be incorrect.">
            <a:extLst>
              <a:ext uri="{FF2B5EF4-FFF2-40B4-BE49-F238E27FC236}">
                <a16:creationId xmlns:a16="http://schemas.microsoft.com/office/drawing/2014/main" id="{C384F1B4-BB84-49C9-B734-7F0C85D17A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02732" y="5320418"/>
            <a:ext cx="1670134" cy="624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15952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4AA95-F960-AC12-13FB-0DE2D3D0D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EE1447E-4DF4-3949-9584-E9A6E78981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4610618"/>
              </p:ext>
            </p:extLst>
          </p:nvPr>
        </p:nvGraphicFramePr>
        <p:xfrm>
          <a:off x="245106" y="753806"/>
          <a:ext cx="11707408" cy="498729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215721">
                  <a:extLst>
                    <a:ext uri="{9D8B030D-6E8A-4147-A177-3AD203B41FA5}">
                      <a16:colId xmlns:a16="http://schemas.microsoft.com/office/drawing/2014/main" val="3235359390"/>
                    </a:ext>
                  </a:extLst>
                </a:gridCol>
                <a:gridCol w="6953761">
                  <a:extLst>
                    <a:ext uri="{9D8B030D-6E8A-4147-A177-3AD203B41FA5}">
                      <a16:colId xmlns:a16="http://schemas.microsoft.com/office/drawing/2014/main" val="2762961846"/>
                    </a:ext>
                  </a:extLst>
                </a:gridCol>
                <a:gridCol w="2537926">
                  <a:extLst>
                    <a:ext uri="{9D8B030D-6E8A-4147-A177-3AD203B41FA5}">
                      <a16:colId xmlns:a16="http://schemas.microsoft.com/office/drawing/2014/main" val="673688359"/>
                    </a:ext>
                  </a:extLst>
                </a:gridCol>
              </a:tblGrid>
              <a:tr h="37175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Function Name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Output</a:t>
                      </a:r>
                      <a:endParaRPr lang="en-IN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0345845"/>
                  </a:ext>
                </a:extLst>
              </a:tr>
              <a:tr h="654440">
                <a:tc>
                  <a:txBody>
                    <a:bodyPr/>
                    <a:lstStyle/>
                    <a:p>
                      <a:pPr algn="l"/>
                      <a:r>
                        <a:rPr lang="en-GB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ASCII</a:t>
                      </a:r>
                      <a:r>
                        <a:rPr lang="en-GB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()</a:t>
                      </a:r>
                      <a:endParaRPr lang="en-GB" sz="2000" dirty="0">
                        <a:solidFill>
                          <a:srgbClr val="000000"/>
                        </a:solidFill>
                        <a:latin typeface="Roboto Condensed (Body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just">
                        <a:lnSpc>
                          <a:spcPct val="100000"/>
                        </a:lnSpc>
                        <a:buClr>
                          <a:schemeClr val="tx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Roboto Condensed (Body)"/>
                          <a:ea typeface="+mn-ea"/>
                          <a:cs typeface="+mn-cs"/>
                        </a:rPr>
                        <a:t>The ASCII() function accepts a character expression and r</a:t>
                      </a:r>
                      <a:r>
                        <a:rPr lang="en-US" sz="2000" b="0" dirty="0">
                          <a:latin typeface="Roboto Condensed (Body)"/>
                        </a:rPr>
                        <a:t>eturns ASCII code of the first character.</a:t>
                      </a:r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Roboto Condensed (Body)"/>
                        <a:ea typeface="+mn-ea"/>
                        <a:cs typeface="+mn-cs"/>
                      </a:endParaRPr>
                    </a:p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GB" sz="2000" dirty="0">
                          <a:solidFill>
                            <a:srgbClr val="0000FF"/>
                          </a:solidFill>
                          <a:latin typeface="Roboto Condensed (Body)"/>
                        </a:rPr>
                        <a:t>SELECT</a:t>
                      </a:r>
                      <a:r>
                        <a:rPr lang="en-GB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GB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ASCII</a:t>
                      </a:r>
                      <a:r>
                        <a:rPr lang="en-GB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</a:t>
                      </a:r>
                      <a:r>
                        <a:rPr lang="en-GB" sz="2000" dirty="0">
                          <a:solidFill>
                            <a:srgbClr val="FF0000"/>
                          </a:solidFill>
                          <a:latin typeface="Roboto Condensed (Body)"/>
                        </a:rPr>
                        <a:t>'A'</a:t>
                      </a:r>
                      <a:r>
                        <a:rPr lang="en-GB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),</a:t>
                      </a:r>
                      <a:r>
                        <a:rPr lang="en-GB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GB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ASCII</a:t>
                      </a:r>
                      <a:r>
                        <a:rPr lang="en-GB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</a:t>
                      </a:r>
                      <a:r>
                        <a:rPr lang="en-GB" sz="2000" dirty="0">
                          <a:solidFill>
                            <a:srgbClr val="FF0000"/>
                          </a:solidFill>
                          <a:latin typeface="Roboto Condensed (Body)"/>
                        </a:rPr>
                        <a:t>'a'</a:t>
                      </a:r>
                      <a:r>
                        <a:rPr lang="en-GB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)</a:t>
                      </a:r>
                      <a:r>
                        <a:rPr lang="en-IN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 ;</a:t>
                      </a:r>
                      <a:endParaRPr lang="en-GB" sz="2000" dirty="0">
                        <a:solidFill>
                          <a:srgbClr val="808080"/>
                        </a:solidFill>
                        <a:latin typeface="Roboto Condensed (Body)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  <a:latin typeface="Roboto Condensed (Body)"/>
                      </a:endParaRPr>
                    </a:p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  <a:latin typeface="Roboto Condensed (Body)"/>
                      </a:endParaRPr>
                    </a:p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Roboto Condensed (Body)"/>
                        </a:rPr>
                        <a:t>65, 97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4201720"/>
                  </a:ext>
                </a:extLst>
              </a:tr>
              <a:tr h="375626"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solidFill>
                            <a:srgbClr val="0000FF"/>
                          </a:solidFill>
                          <a:latin typeface="Roboto Condensed (Body)"/>
                        </a:rPr>
                        <a:t>CHAR</a:t>
                      </a:r>
                      <a:r>
                        <a:rPr lang="en-IN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()</a:t>
                      </a:r>
                      <a:endParaRPr lang="en-GB" sz="2000" dirty="0">
                        <a:solidFill>
                          <a:srgbClr val="000000"/>
                        </a:solidFill>
                        <a:latin typeface="Roboto Condensed (Body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just">
                        <a:lnSpc>
                          <a:spcPct val="100000"/>
                        </a:lnSpc>
                        <a:buClr>
                          <a:schemeClr val="tx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sz="2000" dirty="0">
                          <a:latin typeface="Roboto Condensed (Body)"/>
                        </a:rPr>
                        <a:t>Returns character from an ASCII code.</a:t>
                      </a:r>
                    </a:p>
                    <a:p>
                      <a:pPr marL="0" indent="0" algn="just">
                        <a:lnSpc>
                          <a:spcPct val="100000"/>
                        </a:lnSpc>
                        <a:buClr>
                          <a:schemeClr val="tx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IN" sz="2000" dirty="0">
                          <a:solidFill>
                            <a:srgbClr val="0000FF"/>
                          </a:solidFill>
                          <a:latin typeface="Roboto Condensed (Body)"/>
                        </a:rPr>
                        <a:t>SELECT</a:t>
                      </a:r>
                      <a:r>
                        <a:rPr lang="en-IN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IN" sz="2000" dirty="0">
                          <a:solidFill>
                            <a:srgbClr val="0000FF"/>
                          </a:solidFill>
                          <a:latin typeface="Roboto Condensed (Body)"/>
                        </a:rPr>
                        <a:t>CHAR</a:t>
                      </a:r>
                      <a:r>
                        <a:rPr lang="en-IN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</a:t>
                      </a:r>
                      <a:r>
                        <a:rPr lang="en-IN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65</a:t>
                      </a:r>
                      <a:r>
                        <a:rPr lang="en-IN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);</a:t>
                      </a:r>
                      <a:endParaRPr lang="en-US" sz="2000" dirty="0">
                        <a:solidFill>
                          <a:srgbClr val="808080"/>
                        </a:solidFill>
                        <a:latin typeface="Roboto Condensed (Body)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2000" dirty="0">
                        <a:effectLst/>
                        <a:latin typeface="Roboto Condensed (Body)"/>
                      </a:endParaRPr>
                    </a:p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Roboto Condensed (Body)"/>
                        </a:rPr>
                        <a:t>A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739308849"/>
                  </a:ext>
                </a:extLst>
              </a:tr>
              <a:tr h="375626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LTRIM</a:t>
                      </a:r>
                      <a:r>
                        <a:rPr lang="en-IN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()</a:t>
                      </a:r>
                      <a:endParaRPr lang="en-IN" sz="2000" dirty="0">
                        <a:effectLst/>
                        <a:latin typeface="Roboto Condensed (Body)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0" dirty="0">
                          <a:latin typeface="Roboto Condensed (Body)"/>
                        </a:rPr>
                        <a:t>Removes leading (left) spaces.</a:t>
                      </a: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solidFill>
                            <a:srgbClr val="0000FF"/>
                          </a:solidFill>
                          <a:latin typeface="Roboto Condensed (Body)"/>
                        </a:rPr>
                        <a:t>SELECT</a:t>
                      </a:r>
                      <a:r>
                        <a:rPr lang="en-IN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IN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LTRIM</a:t>
                      </a:r>
                      <a:r>
                        <a:rPr lang="en-IN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</a:t>
                      </a:r>
                      <a:r>
                        <a:rPr lang="en-IN" sz="2000" dirty="0">
                          <a:solidFill>
                            <a:srgbClr val="FF0000"/>
                          </a:solidFill>
                          <a:latin typeface="Roboto Condensed (Body)"/>
                        </a:rPr>
                        <a:t>'   SQL Server'</a:t>
                      </a:r>
                      <a:r>
                        <a:rPr lang="en-IN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);</a:t>
                      </a:r>
                      <a:endParaRPr lang="en-US" sz="2000" b="0" dirty="0">
                        <a:effectLst/>
                        <a:latin typeface="Roboto Condensed (Body)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2000" dirty="0">
                        <a:effectLst/>
                        <a:latin typeface="Roboto Condensed (Body)"/>
                      </a:endParaRPr>
                    </a:p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Roboto Condensed (Body)"/>
                        </a:rPr>
                        <a:t>SQL Server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548827962"/>
                  </a:ext>
                </a:extLst>
              </a:tr>
              <a:tr h="375626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RTRIM</a:t>
                      </a:r>
                      <a:r>
                        <a:rPr lang="en-IN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()</a:t>
                      </a:r>
                      <a:endParaRPr lang="en-IN" sz="2000" dirty="0">
                        <a:effectLst/>
                        <a:latin typeface="Roboto Condensed (Body)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0" dirty="0">
                          <a:latin typeface="Roboto Condensed (Body)"/>
                        </a:rPr>
                        <a:t>Removes trailing (right) spaces.</a:t>
                      </a: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solidFill>
                            <a:srgbClr val="0000FF"/>
                          </a:solidFill>
                          <a:latin typeface="Roboto Condensed (Body)"/>
                        </a:rPr>
                        <a:t>SELECT</a:t>
                      </a:r>
                      <a:r>
                        <a:rPr lang="en-IN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IN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RTRIM</a:t>
                      </a:r>
                      <a:r>
                        <a:rPr lang="en-IN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</a:t>
                      </a:r>
                      <a:r>
                        <a:rPr lang="en-IN" sz="2000" dirty="0">
                          <a:solidFill>
                            <a:srgbClr val="FF0000"/>
                          </a:solidFill>
                          <a:latin typeface="Roboto Condensed (Body)"/>
                        </a:rPr>
                        <a:t>'SQL Server   '</a:t>
                      </a:r>
                      <a:r>
                        <a:rPr lang="en-IN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);</a:t>
                      </a:r>
                      <a:endParaRPr lang="en-US" sz="2000" b="0" dirty="0">
                        <a:effectLst/>
                        <a:latin typeface="Roboto Condensed (Body)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000" dirty="0">
                        <a:effectLst/>
                        <a:latin typeface="Roboto Condensed (Body)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effectLst/>
                          <a:latin typeface="Roboto Condensed (Body)"/>
                        </a:rPr>
                        <a:t>SQL Server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2045392454"/>
                  </a:ext>
                </a:extLst>
              </a:tr>
              <a:tr h="375626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TRIM</a:t>
                      </a:r>
                      <a:r>
                        <a:rPr lang="en-IN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()</a:t>
                      </a:r>
                      <a:endParaRPr lang="en-IN" sz="2000" dirty="0">
                        <a:effectLst/>
                        <a:latin typeface="Roboto Condensed (Body)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Roboto Condensed (Body)"/>
                        </a:rPr>
                        <a:t>Removes spaces from both sides.</a:t>
                      </a: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solidFill>
                            <a:srgbClr val="0000FF"/>
                          </a:solidFill>
                          <a:latin typeface="Roboto Condensed (Body)"/>
                        </a:rPr>
                        <a:t>SELECT</a:t>
                      </a:r>
                      <a:r>
                        <a:rPr lang="en-IN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IN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TRIM</a:t>
                      </a:r>
                      <a:r>
                        <a:rPr lang="en-IN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</a:t>
                      </a:r>
                      <a:r>
                        <a:rPr lang="en-IN" sz="2000" dirty="0">
                          <a:solidFill>
                            <a:srgbClr val="FF0000"/>
                          </a:solidFill>
                          <a:latin typeface="Roboto Condensed (Body)"/>
                        </a:rPr>
                        <a:t>'   DBMS   '</a:t>
                      </a:r>
                      <a:r>
                        <a:rPr lang="en-IN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);</a:t>
                      </a:r>
                      <a:endParaRPr lang="en-US" sz="2000" b="0" dirty="0">
                        <a:effectLst/>
                        <a:latin typeface="Roboto Condensed (Body)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2000" dirty="0">
                        <a:effectLst/>
                        <a:latin typeface="Roboto Condensed (Body)"/>
                      </a:endParaRPr>
                    </a:p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Roboto Condensed (Body)"/>
                        </a:rPr>
                        <a:t>DBMS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4018226858"/>
                  </a:ext>
                </a:extLst>
              </a:tr>
              <a:tr h="375626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LEFT()</a:t>
                      </a:r>
                      <a:endParaRPr lang="en-IN" sz="2000" dirty="0">
                        <a:effectLst/>
                        <a:latin typeface="Roboto Condensed (Body)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Roboto Condensed (Body)"/>
                        </a:rPr>
                        <a:t>Extracts characters from the </a:t>
                      </a:r>
                      <a:r>
                        <a:rPr lang="en-US" sz="2000" b="0" dirty="0">
                          <a:latin typeface="Roboto Condensed (Body)"/>
                        </a:rPr>
                        <a:t>left</a:t>
                      </a:r>
                      <a:r>
                        <a:rPr lang="en-US" sz="2000" dirty="0">
                          <a:latin typeface="Roboto Condensed (Body)"/>
                        </a:rPr>
                        <a:t> side of a string.</a:t>
                      </a: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solidFill>
                            <a:srgbClr val="0000FF"/>
                          </a:solidFill>
                          <a:latin typeface="Roboto Condensed (Body)"/>
                        </a:rPr>
                        <a:t>SELECT</a:t>
                      </a:r>
                      <a:r>
                        <a:rPr lang="en-IN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IN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LEFT(</a:t>
                      </a:r>
                      <a:r>
                        <a:rPr lang="en-IN" sz="2000" dirty="0">
                          <a:solidFill>
                            <a:srgbClr val="FF0000"/>
                          </a:solidFill>
                          <a:latin typeface="Roboto Condensed (Body)"/>
                        </a:rPr>
                        <a:t>'COMPUTER'</a:t>
                      </a:r>
                      <a:r>
                        <a:rPr lang="en-IN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,</a:t>
                      </a:r>
                      <a:r>
                        <a:rPr lang="en-IN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3</a:t>
                      </a:r>
                      <a:r>
                        <a:rPr lang="en-IN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);</a:t>
                      </a:r>
                      <a:endParaRPr lang="en-US" sz="2000" dirty="0">
                        <a:effectLst/>
                        <a:latin typeface="Roboto Condensed (Body)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Roboto Condensed (Body)"/>
                        </a:rPr>
                        <a:t>COM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919721622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EB3AE33C-9EFB-6E00-F6E9-C95A379DB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String Functions</a:t>
            </a:r>
          </a:p>
        </p:txBody>
      </p:sp>
    </p:spTree>
    <p:extLst>
      <p:ext uri="{BB962C8B-B14F-4D97-AF65-F5344CB8AC3E}">
        <p14:creationId xmlns:p14="http://schemas.microsoft.com/office/powerpoint/2010/main" val="331064965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68663-2AE8-83DE-2739-9F7AB8BAF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ACB1178-3B1F-B2C7-E866-A68B608AD8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0670598"/>
              </p:ext>
            </p:extLst>
          </p:nvPr>
        </p:nvGraphicFramePr>
        <p:xfrm>
          <a:off x="245106" y="753806"/>
          <a:ext cx="11707408" cy="498348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215721">
                  <a:extLst>
                    <a:ext uri="{9D8B030D-6E8A-4147-A177-3AD203B41FA5}">
                      <a16:colId xmlns:a16="http://schemas.microsoft.com/office/drawing/2014/main" val="3235359390"/>
                    </a:ext>
                  </a:extLst>
                </a:gridCol>
                <a:gridCol w="6953761">
                  <a:extLst>
                    <a:ext uri="{9D8B030D-6E8A-4147-A177-3AD203B41FA5}">
                      <a16:colId xmlns:a16="http://schemas.microsoft.com/office/drawing/2014/main" val="2762961846"/>
                    </a:ext>
                  </a:extLst>
                </a:gridCol>
                <a:gridCol w="2537926">
                  <a:extLst>
                    <a:ext uri="{9D8B030D-6E8A-4147-A177-3AD203B41FA5}">
                      <a16:colId xmlns:a16="http://schemas.microsoft.com/office/drawing/2014/main" val="673688359"/>
                    </a:ext>
                  </a:extLst>
                </a:gridCol>
              </a:tblGrid>
              <a:tr h="44188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Function Name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Output</a:t>
                      </a:r>
                      <a:endParaRPr lang="en-IN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0345845"/>
                  </a:ext>
                </a:extLst>
              </a:tr>
              <a:tr h="6775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RIGHT()</a:t>
                      </a:r>
                      <a:endParaRPr lang="en-IN" sz="2000" dirty="0">
                        <a:effectLst/>
                        <a:latin typeface="Roboto Condensed (Body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just">
                        <a:lnSpc>
                          <a:spcPct val="100000"/>
                        </a:lnSpc>
                        <a:buClr>
                          <a:schemeClr val="tx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sz="2000" dirty="0">
                          <a:latin typeface="Roboto Condensed (Body)"/>
                        </a:rPr>
                        <a:t>Extracts characters from the </a:t>
                      </a:r>
                      <a:r>
                        <a:rPr lang="en-US" sz="2000" b="0" dirty="0">
                          <a:latin typeface="Roboto Condensed (Body)"/>
                        </a:rPr>
                        <a:t>right</a:t>
                      </a:r>
                      <a:r>
                        <a:rPr lang="en-US" sz="2000" dirty="0">
                          <a:latin typeface="Roboto Condensed (Body)"/>
                        </a:rPr>
                        <a:t> side of a string.</a:t>
                      </a:r>
                      <a:endParaRPr lang="en-GB" sz="2000" dirty="0">
                        <a:solidFill>
                          <a:srgbClr val="808080"/>
                        </a:solidFill>
                        <a:latin typeface="Roboto Condensed (Body)"/>
                      </a:endParaRPr>
                    </a:p>
                    <a:p>
                      <a:pPr marL="0" indent="0" algn="just">
                        <a:lnSpc>
                          <a:spcPct val="100000"/>
                        </a:lnSpc>
                        <a:buClr>
                          <a:schemeClr val="tx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IN" sz="2000" dirty="0">
                          <a:solidFill>
                            <a:srgbClr val="0000FF"/>
                          </a:solidFill>
                          <a:latin typeface="Roboto Condensed (Body)"/>
                        </a:rPr>
                        <a:t>SELECT</a:t>
                      </a:r>
                      <a:r>
                        <a:rPr lang="en-IN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IN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RIGHT(</a:t>
                      </a:r>
                      <a:r>
                        <a:rPr lang="en-IN" sz="2000" dirty="0">
                          <a:solidFill>
                            <a:srgbClr val="FF0000"/>
                          </a:solidFill>
                          <a:latin typeface="Roboto Condensed (Body)"/>
                        </a:rPr>
                        <a:t>'COMPUTER'</a:t>
                      </a:r>
                      <a:r>
                        <a:rPr lang="en-IN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,</a:t>
                      </a:r>
                      <a:r>
                        <a:rPr lang="en-IN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4</a:t>
                      </a:r>
                      <a:r>
                        <a:rPr lang="en-IN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);</a:t>
                      </a:r>
                      <a:endParaRPr lang="en-GB" sz="2000" dirty="0">
                        <a:solidFill>
                          <a:srgbClr val="808080"/>
                        </a:solidFill>
                        <a:latin typeface="Roboto Condensed (Body)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Roboto Condensed (Body)"/>
                        </a:rPr>
                        <a:t>UTER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4201720"/>
                  </a:ext>
                </a:extLst>
              </a:tr>
              <a:tr h="677560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SUBSTRING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()</a:t>
                      </a:r>
                      <a:endParaRPr lang="en-GB" sz="2000" dirty="0">
                        <a:solidFill>
                          <a:srgbClr val="000000"/>
                        </a:solidFill>
                        <a:latin typeface="Roboto Condensed (Body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Roboto Condensed (Body)"/>
                        </a:rPr>
                        <a:t>Extracts part of a string.</a:t>
                      </a:r>
                      <a:endParaRPr lang="en-US" sz="2000" dirty="0">
                        <a:effectLst/>
                        <a:latin typeface="Roboto Condensed (Body)"/>
                      </a:endParaRPr>
                    </a:p>
                    <a:p>
                      <a:pPr marL="0" indent="0" algn="just">
                        <a:lnSpc>
                          <a:spcPct val="100000"/>
                        </a:lnSpc>
                        <a:buClr>
                          <a:schemeClr val="tx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sz="2000" dirty="0">
                          <a:solidFill>
                            <a:srgbClr val="0000FF"/>
                          </a:solidFill>
                          <a:latin typeface="Roboto Condensed (Body)"/>
                        </a:rPr>
                        <a:t>SELECT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SUBSTRING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latin typeface="Roboto Condensed (Body)"/>
                        </a:rPr>
                        <a:t>'DATABASE'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,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1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,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4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);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Roboto Condensed (Body)"/>
                        </a:rPr>
                        <a:t>DATA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739308849"/>
                  </a:ext>
                </a:extLst>
              </a:tr>
              <a:tr h="1270426">
                <a:tc>
                  <a:txBody>
                    <a:bodyPr/>
                    <a:lstStyle/>
                    <a:p>
                      <a:pPr algn="l"/>
                      <a:r>
                        <a:rPr lang="en-GB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CONCAT</a:t>
                      </a:r>
                      <a:r>
                        <a:rPr lang="en-GB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()</a:t>
                      </a:r>
                      <a:endParaRPr lang="en-GB" sz="2000" dirty="0">
                        <a:solidFill>
                          <a:srgbClr val="000000"/>
                        </a:solidFill>
                        <a:latin typeface="Roboto Condensed (Body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Roboto Condensed (Body)"/>
                        </a:rPr>
                        <a:t>It joins multiple values, converts non-strings automatically, and treats NULL as an empty string in SQL Server.</a:t>
                      </a:r>
                      <a:endParaRPr lang="en-GB" sz="2000" dirty="0">
                        <a:solidFill>
                          <a:srgbClr val="0000FF"/>
                        </a:solidFill>
                        <a:latin typeface="Roboto Condensed (Body)"/>
                      </a:endParaRPr>
                    </a:p>
                    <a:p>
                      <a:pPr marL="0" indent="0" algn="just">
                        <a:lnSpc>
                          <a:spcPct val="100000"/>
                        </a:lnSpc>
                        <a:buClr>
                          <a:schemeClr val="tx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GB" sz="2000" dirty="0">
                          <a:solidFill>
                            <a:srgbClr val="0000FF"/>
                          </a:solidFill>
                          <a:latin typeface="Roboto Condensed (Body)"/>
                        </a:rPr>
                        <a:t>SELECT</a:t>
                      </a:r>
                      <a:r>
                        <a:rPr lang="en-GB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GB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CONCAT</a:t>
                      </a:r>
                      <a:r>
                        <a:rPr lang="en-GB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</a:t>
                      </a:r>
                      <a:r>
                        <a:rPr lang="en-GB" sz="2000" dirty="0">
                          <a:solidFill>
                            <a:srgbClr val="FF0000"/>
                          </a:solidFill>
                          <a:latin typeface="Roboto Condensed (Body)"/>
                        </a:rPr>
                        <a:t>'Darshan’</a:t>
                      </a:r>
                      <a:r>
                        <a:rPr lang="en-GB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, </a:t>
                      </a:r>
                      <a:r>
                        <a:rPr lang="en-GB" sz="2000" dirty="0">
                          <a:solidFill>
                            <a:srgbClr val="FF0000"/>
                          </a:solidFill>
                          <a:latin typeface="Roboto Condensed (Body)"/>
                        </a:rPr>
                        <a:t>' ‘</a:t>
                      </a:r>
                      <a:r>
                        <a:rPr lang="en-GB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, </a:t>
                      </a:r>
                      <a:r>
                        <a:rPr lang="en-GB" sz="2000" dirty="0">
                          <a:solidFill>
                            <a:srgbClr val="FF0000"/>
                          </a:solidFill>
                          <a:latin typeface="Roboto Condensed (Body)"/>
                        </a:rPr>
                        <a:t>'University’</a:t>
                      </a:r>
                      <a:r>
                        <a:rPr lang="en-GB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)</a:t>
                      </a:r>
                      <a:r>
                        <a:rPr lang="en-IN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 ;</a:t>
                      </a:r>
                    </a:p>
                    <a:p>
                      <a:pPr marL="0" indent="0" algn="just">
                        <a:lnSpc>
                          <a:spcPct val="100000"/>
                        </a:lnSpc>
                        <a:buClr>
                          <a:schemeClr val="tx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sz="2000" dirty="0">
                          <a:solidFill>
                            <a:srgbClr val="0000FF"/>
                          </a:solidFill>
                          <a:latin typeface="Roboto Condensed (Body)"/>
                        </a:rPr>
                        <a:t>SELECT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CONCAT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latin typeface="Roboto Condensed (Body)"/>
                        </a:rPr>
                        <a:t>'SQL'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,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NULL,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latin typeface="Roboto Condensed (Body)"/>
                        </a:rPr>
                        <a:t>'Server'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,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2025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);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2000" dirty="0">
                        <a:effectLst/>
                        <a:latin typeface="Roboto Condensed (Body)"/>
                      </a:endParaRPr>
                    </a:p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2000" dirty="0">
                        <a:effectLst/>
                        <a:latin typeface="Roboto Condensed (Body)"/>
                      </a:endParaRPr>
                    </a:p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Roboto Condensed (Body)"/>
                        </a:rPr>
                        <a:t>Darshan University</a:t>
                      </a:r>
                    </a:p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Roboto Condensed (Body)"/>
                        </a:rPr>
                        <a:t>SQLServer2025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548827962"/>
                  </a:ext>
                </a:extLst>
              </a:tr>
              <a:tr h="681243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SPACE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()</a:t>
                      </a:r>
                      <a:endParaRPr lang="en-GB" sz="2000" dirty="0">
                        <a:solidFill>
                          <a:srgbClr val="000000"/>
                        </a:solidFill>
                        <a:latin typeface="Roboto Condensed (Body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just">
                        <a:lnSpc>
                          <a:spcPct val="100000"/>
                        </a:lnSpc>
                        <a:buClr>
                          <a:schemeClr val="tx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sz="2000" dirty="0">
                          <a:latin typeface="Roboto Condensed (Body)"/>
                        </a:rPr>
                        <a:t>Returns specified number of blank spaces.</a:t>
                      </a:r>
                    </a:p>
                    <a:p>
                      <a:pPr marL="0" indent="0" algn="just">
                        <a:lnSpc>
                          <a:spcPct val="100000"/>
                        </a:lnSpc>
                        <a:buClr>
                          <a:schemeClr val="tx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sz="2000" dirty="0">
                          <a:solidFill>
                            <a:srgbClr val="0000FF"/>
                          </a:solidFill>
                          <a:latin typeface="Roboto Condensed (Body)"/>
                        </a:rPr>
                        <a:t>SELECT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latin typeface="Roboto Condensed (Body)"/>
                        </a:rPr>
                        <a:t>'SQL'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+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SPACE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5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)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+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latin typeface="Roboto Condensed (Body)"/>
                        </a:rPr>
                        <a:t>'Server'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;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2000" dirty="0">
                        <a:effectLst/>
                        <a:latin typeface="Roboto Condensed (Body)"/>
                      </a:endParaRPr>
                    </a:p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Roboto Condensed (Body)"/>
                        </a:rPr>
                        <a:t>SQL     Server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1589241477"/>
                  </a:ext>
                </a:extLst>
              </a:tr>
              <a:tr h="681243"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REPLICATE</a:t>
                      </a:r>
                      <a:r>
                        <a:rPr lang="en-IN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()</a:t>
                      </a:r>
                      <a:endParaRPr lang="en-GB" sz="2000" dirty="0">
                        <a:solidFill>
                          <a:srgbClr val="000000"/>
                        </a:solidFill>
                        <a:latin typeface="Roboto Condensed (Body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just">
                        <a:lnSpc>
                          <a:spcPct val="100000"/>
                        </a:lnSpc>
                        <a:buClr>
                          <a:schemeClr val="tx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sz="2000" dirty="0">
                          <a:latin typeface="Roboto Condensed (Body)"/>
                        </a:rPr>
                        <a:t>Repeats a string specified number of times.</a:t>
                      </a:r>
                    </a:p>
                    <a:p>
                      <a:pPr marL="0" indent="0" algn="just">
                        <a:lnSpc>
                          <a:spcPct val="100000"/>
                        </a:lnSpc>
                        <a:buClr>
                          <a:schemeClr val="tx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IN" sz="2000" dirty="0">
                          <a:solidFill>
                            <a:srgbClr val="0000FF"/>
                          </a:solidFill>
                          <a:latin typeface="Roboto Condensed (Body)"/>
                        </a:rPr>
                        <a:t>SELECT</a:t>
                      </a:r>
                      <a:r>
                        <a:rPr lang="en-IN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IN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REPLICATE</a:t>
                      </a:r>
                      <a:r>
                        <a:rPr lang="en-IN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</a:t>
                      </a:r>
                      <a:r>
                        <a:rPr lang="en-IN" sz="2000" dirty="0">
                          <a:solidFill>
                            <a:srgbClr val="FF0000"/>
                          </a:solidFill>
                          <a:latin typeface="Roboto Condensed (Body)"/>
                        </a:rPr>
                        <a:t>'Data '</a:t>
                      </a:r>
                      <a:r>
                        <a:rPr lang="en-IN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,</a:t>
                      </a:r>
                      <a:r>
                        <a:rPr lang="en-IN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3</a:t>
                      </a:r>
                      <a:r>
                        <a:rPr lang="en-IN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);</a:t>
                      </a:r>
                      <a:endParaRPr lang="en-US" sz="2000" dirty="0">
                        <a:solidFill>
                          <a:srgbClr val="808080"/>
                        </a:solidFill>
                        <a:latin typeface="Roboto Condensed (Body)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2000" dirty="0">
                        <a:effectLst/>
                        <a:latin typeface="Roboto Condensed (Body)"/>
                      </a:endParaRPr>
                    </a:p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Roboto Condensed (Body)"/>
                        </a:rPr>
                        <a:t>Data </a:t>
                      </a:r>
                      <a:r>
                        <a:rPr lang="en-IN" sz="2000" dirty="0" err="1">
                          <a:effectLst/>
                          <a:latin typeface="Roboto Condensed (Body)"/>
                        </a:rPr>
                        <a:t>Data</a:t>
                      </a:r>
                      <a:r>
                        <a:rPr lang="en-IN" sz="2000" dirty="0">
                          <a:effectLst/>
                          <a:latin typeface="Roboto Condensed (Body)"/>
                        </a:rPr>
                        <a:t> </a:t>
                      </a:r>
                      <a:r>
                        <a:rPr lang="en-IN" sz="2000" dirty="0" err="1">
                          <a:effectLst/>
                          <a:latin typeface="Roboto Condensed (Body)"/>
                        </a:rPr>
                        <a:t>Data</a:t>
                      </a:r>
                      <a:r>
                        <a:rPr lang="en-IN" sz="2000" dirty="0">
                          <a:effectLst/>
                          <a:latin typeface="Roboto Condensed (Body)"/>
                        </a:rPr>
                        <a:t> 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94762856"/>
                  </a:ext>
                </a:extLst>
              </a:tr>
              <a:tr h="386651">
                <a:tc>
                  <a:txBody>
                    <a:bodyPr/>
                    <a:lstStyle/>
                    <a:p>
                      <a:pPr algn="l"/>
                      <a:endParaRPr lang="en-GB" sz="2000" dirty="0">
                        <a:solidFill>
                          <a:srgbClr val="000000"/>
                        </a:solidFill>
                        <a:latin typeface="Roboto Condensed (Body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just">
                        <a:lnSpc>
                          <a:spcPct val="100000"/>
                        </a:lnSpc>
                        <a:buClr>
                          <a:schemeClr val="tx2"/>
                        </a:buClr>
                        <a:buFont typeface="Wingdings" panose="05000000000000000000" pitchFamily="2" charset="2"/>
                        <a:buNone/>
                      </a:pPr>
                      <a:endParaRPr lang="en-US" sz="2000" dirty="0">
                        <a:solidFill>
                          <a:srgbClr val="808080"/>
                        </a:solidFill>
                        <a:latin typeface="Roboto Condensed (Body)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2000" dirty="0">
                        <a:effectLst/>
                        <a:latin typeface="Roboto Condensed (Body)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4049224248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4F58C57A-6213-6047-8365-605585807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String Functions</a:t>
            </a:r>
          </a:p>
        </p:txBody>
      </p:sp>
    </p:spTree>
    <p:extLst>
      <p:ext uri="{BB962C8B-B14F-4D97-AF65-F5344CB8AC3E}">
        <p14:creationId xmlns:p14="http://schemas.microsoft.com/office/powerpoint/2010/main" val="164837613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8C6BF-7E23-CF9A-7981-DC8C16ACB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A73B249-1BEC-504D-FF83-CE2A99907E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1300886"/>
              </p:ext>
            </p:extLst>
          </p:nvPr>
        </p:nvGraphicFramePr>
        <p:xfrm>
          <a:off x="245106" y="753806"/>
          <a:ext cx="11707408" cy="257175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215721">
                  <a:extLst>
                    <a:ext uri="{9D8B030D-6E8A-4147-A177-3AD203B41FA5}">
                      <a16:colId xmlns:a16="http://schemas.microsoft.com/office/drawing/2014/main" val="3235359390"/>
                    </a:ext>
                  </a:extLst>
                </a:gridCol>
                <a:gridCol w="6953761">
                  <a:extLst>
                    <a:ext uri="{9D8B030D-6E8A-4147-A177-3AD203B41FA5}">
                      <a16:colId xmlns:a16="http://schemas.microsoft.com/office/drawing/2014/main" val="2762961846"/>
                    </a:ext>
                  </a:extLst>
                </a:gridCol>
                <a:gridCol w="2537926">
                  <a:extLst>
                    <a:ext uri="{9D8B030D-6E8A-4147-A177-3AD203B41FA5}">
                      <a16:colId xmlns:a16="http://schemas.microsoft.com/office/drawing/2014/main" val="673688359"/>
                    </a:ext>
                  </a:extLst>
                </a:gridCol>
              </a:tblGrid>
              <a:tr h="37175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Function Name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Output</a:t>
                      </a:r>
                      <a:endParaRPr lang="en-IN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0345845"/>
                  </a:ext>
                </a:extLst>
              </a:tr>
              <a:tr h="654440">
                <a:tc>
                  <a:txBody>
                    <a:bodyPr/>
                    <a:lstStyle/>
                    <a:p>
                      <a:pPr algn="l"/>
                      <a:r>
                        <a:rPr lang="en-IN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COALESCE</a:t>
                      </a:r>
                      <a:r>
                        <a:rPr lang="en-IN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()</a:t>
                      </a:r>
                      <a:endParaRPr lang="en-GB" sz="2000" dirty="0">
                        <a:solidFill>
                          <a:srgbClr val="000000"/>
                        </a:solidFill>
                        <a:latin typeface="Roboto Condensed (Body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just">
                        <a:lnSpc>
                          <a:spcPct val="100000"/>
                        </a:lnSpc>
                        <a:buClr>
                          <a:schemeClr val="tx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sz="2000" dirty="0">
                          <a:latin typeface="Roboto Condensed (Body)"/>
                        </a:rPr>
                        <a:t>Returns the </a:t>
                      </a:r>
                      <a:r>
                        <a:rPr lang="en-US" sz="2000" b="0" dirty="0">
                          <a:latin typeface="Roboto Condensed (Body)"/>
                        </a:rPr>
                        <a:t>first non-NULL value.</a:t>
                      </a:r>
                    </a:p>
                    <a:p>
                      <a:pPr marL="0" indent="0" algn="just">
                        <a:lnSpc>
                          <a:spcPct val="100000"/>
                        </a:lnSpc>
                        <a:buClr>
                          <a:schemeClr val="tx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IN" sz="2000" dirty="0">
                          <a:solidFill>
                            <a:srgbClr val="0000FF"/>
                          </a:solidFill>
                          <a:latin typeface="Roboto Condensed (Body)"/>
                        </a:rPr>
                        <a:t>SELECT</a:t>
                      </a:r>
                      <a:r>
                        <a:rPr lang="en-IN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IN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COALESCE</a:t>
                      </a:r>
                      <a:r>
                        <a:rPr lang="en-IN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(NULL,</a:t>
                      </a:r>
                      <a:r>
                        <a:rPr lang="en-IN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IN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NULL,</a:t>
                      </a:r>
                      <a:r>
                        <a:rPr lang="en-IN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IN" sz="2000" dirty="0">
                          <a:solidFill>
                            <a:srgbClr val="FF0000"/>
                          </a:solidFill>
                          <a:latin typeface="Roboto Condensed (Body)"/>
                        </a:rPr>
                        <a:t>'SQL'</a:t>
                      </a:r>
                      <a:r>
                        <a:rPr lang="en-IN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,</a:t>
                      </a:r>
                      <a:r>
                        <a:rPr lang="en-IN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IN" sz="2000" dirty="0">
                          <a:solidFill>
                            <a:srgbClr val="FF0000"/>
                          </a:solidFill>
                          <a:latin typeface="Roboto Condensed (Body)"/>
                        </a:rPr>
                        <a:t>'DBMS'</a:t>
                      </a:r>
                      <a:r>
                        <a:rPr lang="en-IN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);</a:t>
                      </a:r>
                      <a:endParaRPr lang="en-US" sz="2000" dirty="0">
                        <a:solidFill>
                          <a:srgbClr val="808080"/>
                        </a:solidFill>
                        <a:latin typeface="Roboto Condensed (Body)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2000" dirty="0">
                        <a:effectLst/>
                        <a:latin typeface="Roboto Condensed (Body)"/>
                      </a:endParaRPr>
                    </a:p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Roboto Condensed (Body)"/>
                        </a:rPr>
                        <a:t>SQL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1584201720"/>
                  </a:ext>
                </a:extLst>
              </a:tr>
              <a:tr h="375626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ISNUMERIC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()</a:t>
                      </a:r>
                      <a:endParaRPr lang="en-GB" sz="2000" dirty="0">
                        <a:solidFill>
                          <a:srgbClr val="000000"/>
                        </a:solidFill>
                        <a:latin typeface="Roboto Condensed (Body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Roboto Condensed (Body)"/>
                        </a:rPr>
                        <a:t>Checks whether an expression is numeric.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0000FF"/>
                          </a:solidFill>
                          <a:latin typeface="Roboto Condensed (Body)"/>
                        </a:rPr>
                        <a:t>SELECT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ISNUMERIC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latin typeface="Roboto Condensed (Body)"/>
                        </a:rPr>
                        <a:t>'123'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),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ISNUMERIC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latin typeface="Roboto Condensed (Body)"/>
                        </a:rPr>
                        <a:t>'ABC'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);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2000" dirty="0">
                        <a:effectLst/>
                        <a:latin typeface="Roboto Condensed (Body)"/>
                      </a:endParaRPr>
                    </a:p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Roboto Condensed (Body)"/>
                        </a:rPr>
                        <a:t>1, 0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739308849"/>
                  </a:ext>
                </a:extLst>
              </a:tr>
              <a:tr h="375626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CHARINDEX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()</a:t>
                      </a:r>
                      <a:endParaRPr lang="en-GB" sz="2000" dirty="0">
                        <a:solidFill>
                          <a:srgbClr val="000000"/>
                        </a:solidFill>
                        <a:latin typeface="Roboto Condensed (Body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Roboto Condensed (Body)"/>
                        </a:rPr>
                        <a:t>Finds position/index of a substring in a string.</a:t>
                      </a:r>
                    </a:p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rgbClr val="0000FF"/>
                          </a:solidFill>
                          <a:latin typeface="Roboto Condensed (Body)"/>
                        </a:rPr>
                        <a:t>SELECT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FF00FF"/>
                          </a:solidFill>
                          <a:latin typeface="Roboto Condensed (Body)"/>
                        </a:rPr>
                        <a:t>CHARINDEX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(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latin typeface="Roboto Condensed (Body)"/>
                        </a:rPr>
                        <a:t>'Server'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,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Roboto Condensed (Body)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latin typeface="Roboto Condensed (Body)"/>
                        </a:rPr>
                        <a:t>'SQL Server'</a:t>
                      </a:r>
                      <a:r>
                        <a:rPr lang="en-US" sz="2000" dirty="0">
                          <a:solidFill>
                            <a:srgbClr val="808080"/>
                          </a:solidFill>
                          <a:latin typeface="Roboto Condensed (Body)"/>
                        </a:rPr>
                        <a:t>);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2000" dirty="0">
                        <a:effectLst/>
                        <a:latin typeface="Roboto Condensed (Body)"/>
                      </a:endParaRPr>
                    </a:p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  <a:latin typeface="Roboto Condensed (Body)"/>
                        </a:rPr>
                        <a:t>5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548827962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60F2A0EE-14E0-2B93-F238-6D7AC9DF1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String Functions</a:t>
            </a:r>
          </a:p>
        </p:txBody>
      </p:sp>
    </p:spTree>
    <p:extLst>
      <p:ext uri="{BB962C8B-B14F-4D97-AF65-F5344CB8AC3E}">
        <p14:creationId xmlns:p14="http://schemas.microsoft.com/office/powerpoint/2010/main" val="115349094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Frequently asked questions in Exam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805" y="864859"/>
            <a:ext cx="11929641" cy="5673593"/>
          </a:xfrm>
        </p:spPr>
        <p:txBody>
          <a:bodyPr/>
          <a:lstStyle/>
          <a:p>
            <a:pPr marL="457200" indent="-457200">
              <a:buClr>
                <a:srgbClr val="1D6FA9"/>
              </a:buClr>
              <a:buFont typeface="+mj-lt"/>
              <a:buAutoNum type="arabicPeriod"/>
            </a:pPr>
            <a:r>
              <a:rPr lang="en-US" dirty="0"/>
              <a:t>What is SQL? Discuss components of SQL. </a:t>
            </a:r>
          </a:p>
          <a:p>
            <a:pPr marL="0" indent="0">
              <a:buClr>
                <a:srgbClr val="1D6FA9"/>
              </a:buClr>
              <a:buNone/>
            </a:pPr>
            <a:r>
              <a:rPr lang="en-US" dirty="0"/>
              <a:t>		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OR</a:t>
            </a:r>
          </a:p>
          <a:p>
            <a:pPr marL="0" indent="0">
              <a:buClr>
                <a:srgbClr val="1D6FA9"/>
              </a:buClr>
              <a:buNone/>
            </a:pPr>
            <a:r>
              <a:rPr lang="en-US" dirty="0"/>
              <a:t>       Describe DDL, DML, DQL, DCL and TCL.</a:t>
            </a:r>
          </a:p>
          <a:p>
            <a:pPr marL="457200" indent="-457200">
              <a:buClr>
                <a:srgbClr val="1D6FA9"/>
              </a:buClr>
              <a:buFont typeface="+mj-lt"/>
              <a:buAutoNum type="arabicPeriod" startAt="2"/>
            </a:pPr>
            <a:r>
              <a:rPr lang="en-US" dirty="0"/>
              <a:t>Describe data types of SQL Server.</a:t>
            </a:r>
          </a:p>
          <a:p>
            <a:pPr marL="457200" indent="-457200">
              <a:buClr>
                <a:srgbClr val="1D6FA9"/>
              </a:buClr>
              <a:buFont typeface="+mj-lt"/>
              <a:buAutoNum type="arabicPeriod" startAt="2"/>
            </a:pPr>
            <a:r>
              <a:rPr lang="en-US" dirty="0"/>
              <a:t>Explain CREATE TABLE command with syntax and example. </a:t>
            </a:r>
          </a:p>
          <a:p>
            <a:pPr marL="457200" indent="-457200">
              <a:buClr>
                <a:srgbClr val="1D6FA9"/>
              </a:buClr>
              <a:buFont typeface="+mj-lt"/>
              <a:buAutoNum type="arabicPeriod" startAt="2"/>
            </a:pPr>
            <a:r>
              <a:rPr lang="en-US" dirty="0"/>
              <a:t>Describe UPDATE command with syntax and example.</a:t>
            </a:r>
          </a:p>
          <a:p>
            <a:pPr marL="457200" indent="-457200">
              <a:buClr>
                <a:srgbClr val="1D6FA9"/>
              </a:buClr>
              <a:buFont typeface="+mj-lt"/>
              <a:buAutoNum type="arabicPeriod" startAt="2"/>
            </a:pPr>
            <a:r>
              <a:rPr lang="en-US" dirty="0"/>
              <a:t>State the difference between DELETE and TRUNCATE command.</a:t>
            </a:r>
          </a:p>
          <a:p>
            <a:pPr marL="457200" indent="-457200">
              <a:buClr>
                <a:srgbClr val="1D6FA9"/>
              </a:buClr>
              <a:buFont typeface="+mj-lt"/>
              <a:buAutoNum type="arabicPeriod" startAt="2"/>
            </a:pPr>
            <a:r>
              <a:rPr lang="en-US" dirty="0"/>
              <a:t>Write syntax of ALTER command [To add new column and drop existing column].</a:t>
            </a:r>
          </a:p>
          <a:p>
            <a:pPr marL="457200" indent="-457200">
              <a:buClr>
                <a:srgbClr val="1D6FA9"/>
              </a:buClr>
              <a:buFont typeface="+mj-lt"/>
              <a:buAutoNum type="arabicPeriod" startAt="2"/>
            </a:pPr>
            <a:r>
              <a:rPr lang="en-US" dirty="0"/>
              <a:t>Describe ORDER BY Clause with suitable example. </a:t>
            </a:r>
          </a:p>
          <a:p>
            <a:pPr marL="457200" indent="-457200">
              <a:buClr>
                <a:srgbClr val="1D6FA9"/>
              </a:buClr>
              <a:buFont typeface="+mj-lt"/>
              <a:buAutoNum type="arabicPeriod" startAt="2"/>
            </a:pPr>
            <a:r>
              <a:rPr lang="en-US" dirty="0"/>
              <a:t>Describe GROUP BY and GROUP BY with Having Clause with suitable example. </a:t>
            </a:r>
          </a:p>
          <a:p>
            <a:pPr marL="457200" indent="-457200">
              <a:buClr>
                <a:srgbClr val="1D6FA9"/>
              </a:buClr>
              <a:buFont typeface="+mj-lt"/>
              <a:buAutoNum type="arabicPeriod" startAt="2"/>
            </a:pPr>
            <a:r>
              <a:rPr lang="en-US" dirty="0"/>
              <a:t>Describe IN and BETWEEN Operators in SQL Server.</a:t>
            </a:r>
          </a:p>
          <a:p>
            <a:pPr marL="457200" indent="-457200">
              <a:buClr>
                <a:srgbClr val="1D6FA9"/>
              </a:buClr>
              <a:buFont typeface="+mj-lt"/>
              <a:buAutoNum type="arabicPeriod" startAt="2"/>
            </a:pPr>
            <a:r>
              <a:rPr lang="en-US" dirty="0"/>
              <a:t>Explain LIKE Operator in SQL Server with example.</a:t>
            </a:r>
          </a:p>
        </p:txBody>
      </p:sp>
    </p:spTree>
    <p:extLst>
      <p:ext uri="{BB962C8B-B14F-4D97-AF65-F5344CB8AC3E}">
        <p14:creationId xmlns:p14="http://schemas.microsoft.com/office/powerpoint/2010/main" val="4159211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A00B2-9959-A602-81F5-67C5A93FC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25D0B-BE61-83D7-1425-BF24A1F58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Frequently asked questions in Exam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D2CEC-D289-D5DE-8479-29BD58C5D0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805" y="864859"/>
            <a:ext cx="11929641" cy="5673593"/>
          </a:xfrm>
        </p:spPr>
        <p:txBody>
          <a:bodyPr/>
          <a:lstStyle/>
          <a:p>
            <a:pPr marL="457200" indent="-457200">
              <a:buClr>
                <a:srgbClr val="1D6FA9"/>
              </a:buClr>
              <a:buFont typeface="+mj-lt"/>
              <a:buAutoNum type="arabicPeriod" startAt="11"/>
            </a:pPr>
            <a:r>
              <a:rPr lang="en-US" dirty="0"/>
              <a:t>Explain following functions:</a:t>
            </a:r>
          </a:p>
          <a:p>
            <a:pPr marL="1058862" lvl="1" indent="-514350">
              <a:buClr>
                <a:srgbClr val="1D6FA9"/>
              </a:buClr>
              <a:buFont typeface="+mj-lt"/>
              <a:buAutoNum type="romanLcPeriod"/>
            </a:pPr>
            <a:r>
              <a:rPr lang="en-US" dirty="0"/>
              <a:t>SUM()</a:t>
            </a:r>
          </a:p>
          <a:p>
            <a:pPr marL="1058862" lvl="1" indent="-514350">
              <a:buClr>
                <a:srgbClr val="1D6FA9"/>
              </a:buClr>
              <a:buFont typeface="+mj-lt"/>
              <a:buAutoNum type="romanLcPeriod"/>
            </a:pPr>
            <a:r>
              <a:rPr lang="en-US" dirty="0"/>
              <a:t>COUNT()</a:t>
            </a:r>
          </a:p>
          <a:p>
            <a:pPr marL="1058862" lvl="1" indent="-514350">
              <a:buClr>
                <a:srgbClr val="1D6FA9"/>
              </a:buClr>
              <a:buFont typeface="+mj-lt"/>
              <a:buAutoNum type="romanLcPeriod"/>
            </a:pPr>
            <a:r>
              <a:rPr lang="en-US" dirty="0"/>
              <a:t>POWER()</a:t>
            </a:r>
          </a:p>
          <a:p>
            <a:pPr marL="1058862" lvl="1" indent="-514350">
              <a:buClr>
                <a:srgbClr val="1D6FA9"/>
              </a:buClr>
              <a:buFont typeface="+mj-lt"/>
              <a:buAutoNum type="romanLcPeriod"/>
            </a:pPr>
            <a:r>
              <a:rPr lang="en-US" dirty="0"/>
              <a:t>CEILING()</a:t>
            </a:r>
          </a:p>
          <a:p>
            <a:pPr marL="1058862" lvl="1" indent="-514350">
              <a:buClr>
                <a:srgbClr val="1D6FA9"/>
              </a:buClr>
              <a:buFont typeface="+mj-lt"/>
              <a:buAutoNum type="romanLcPeriod"/>
            </a:pPr>
            <a:r>
              <a:rPr lang="en-US" dirty="0"/>
              <a:t>SUBSTRING()</a:t>
            </a:r>
          </a:p>
          <a:p>
            <a:pPr marL="1058862" lvl="1" indent="-514350">
              <a:buClr>
                <a:srgbClr val="1D6FA9"/>
              </a:buClr>
              <a:buFont typeface="+mj-lt"/>
              <a:buAutoNum type="romanLcPeriod"/>
            </a:pPr>
            <a:r>
              <a:rPr lang="en-US" dirty="0"/>
              <a:t>CAST()</a:t>
            </a:r>
          </a:p>
          <a:p>
            <a:pPr marL="1058862" lvl="1" indent="-514350">
              <a:buClr>
                <a:srgbClr val="1D6FA9"/>
              </a:buClr>
              <a:buFont typeface="+mj-lt"/>
              <a:buAutoNum type="romanLcPeriod"/>
            </a:pPr>
            <a:r>
              <a:rPr lang="en-US" dirty="0"/>
              <a:t>DATEDIFF()</a:t>
            </a:r>
          </a:p>
          <a:p>
            <a:pPr marL="1058862" lvl="1" indent="-514350">
              <a:buClr>
                <a:srgbClr val="1D6FA9"/>
              </a:buClr>
              <a:buFont typeface="+mj-lt"/>
              <a:buAutoNum type="romanLcPeriod"/>
            </a:pPr>
            <a:r>
              <a:rPr lang="en-US" dirty="0"/>
              <a:t>DATEADD()</a:t>
            </a:r>
          </a:p>
          <a:p>
            <a:pPr marL="1058862" lvl="1" indent="-514350">
              <a:buClr>
                <a:srgbClr val="1D6FA9"/>
              </a:buClr>
              <a:buFont typeface="+mj-lt"/>
              <a:buAutoNum type="romanLcPeriod"/>
            </a:pPr>
            <a:r>
              <a:rPr lang="en-US" dirty="0"/>
              <a:t>DATENAME()</a:t>
            </a:r>
          </a:p>
          <a:p>
            <a:pPr marL="457200" indent="-457200">
              <a:buClr>
                <a:srgbClr val="1D6FA9"/>
              </a:buClr>
              <a:buFont typeface="+mj-lt"/>
              <a:buAutoNum type="arabicPeriod" startAt="11"/>
            </a:pPr>
            <a:r>
              <a:rPr lang="en-US" dirty="0"/>
              <a:t>Consider following table and solve given queries using SQL: </a:t>
            </a:r>
          </a:p>
          <a:p>
            <a:pPr marL="0" indent="0">
              <a:buClr>
                <a:srgbClr val="1D6FA9"/>
              </a:buClr>
              <a:buNone/>
            </a:pPr>
            <a:r>
              <a:rPr lang="en-US" dirty="0"/>
              <a:t>       </a:t>
            </a:r>
            <a:r>
              <a:rPr lang="en-US" sz="2200" b="1" dirty="0">
                <a:solidFill>
                  <a:srgbClr val="1D6FA9"/>
                </a:solidFill>
              </a:rPr>
              <a:t>EMP</a:t>
            </a:r>
            <a:r>
              <a:rPr lang="en-US" sz="2200" dirty="0"/>
              <a:t> (</a:t>
            </a:r>
            <a:r>
              <a:rPr lang="en-US" sz="2200" dirty="0" err="1"/>
              <a:t>emp_no</a:t>
            </a:r>
            <a:r>
              <a:rPr lang="en-US" sz="2200" dirty="0"/>
              <a:t>, </a:t>
            </a:r>
            <a:r>
              <a:rPr lang="en-US" sz="2200" dirty="0" err="1"/>
              <a:t>emp_name</a:t>
            </a:r>
            <a:r>
              <a:rPr lang="en-US" sz="2200" dirty="0"/>
              <a:t>, </a:t>
            </a:r>
            <a:r>
              <a:rPr lang="en-US" sz="2200" dirty="0" err="1"/>
              <a:t>desg</a:t>
            </a:r>
            <a:r>
              <a:rPr lang="en-US" sz="2200" dirty="0"/>
              <a:t>, salary, </a:t>
            </a:r>
            <a:r>
              <a:rPr lang="en-US" sz="2200" dirty="0" err="1"/>
              <a:t>deptno</a:t>
            </a:r>
            <a:r>
              <a:rPr lang="en-US" sz="2200" dirty="0"/>
              <a:t>) </a:t>
            </a:r>
          </a:p>
          <a:p>
            <a:pPr marL="1392237" lvl="2" indent="-514350">
              <a:buClr>
                <a:srgbClr val="1D6FA9"/>
              </a:buClr>
              <a:buFont typeface="+mj-lt"/>
              <a:buAutoNum type="romanLcPeriod"/>
            </a:pPr>
            <a:r>
              <a:rPr lang="en-US" sz="2000" dirty="0"/>
              <a:t>Create table EMP. </a:t>
            </a:r>
          </a:p>
          <a:p>
            <a:pPr marL="1392237" lvl="2" indent="-514350">
              <a:buClr>
                <a:srgbClr val="1D6FA9"/>
              </a:buClr>
              <a:buFont typeface="+mj-lt"/>
              <a:buAutoNum type="romanLcPeriod"/>
            </a:pPr>
            <a:r>
              <a:rPr lang="en-US" sz="2000" dirty="0"/>
              <a:t>Display information of all employees whose name start with ‘a’ and ends with ‘n’. </a:t>
            </a:r>
          </a:p>
          <a:p>
            <a:pPr marL="1392237" lvl="2" indent="-514350">
              <a:buClr>
                <a:srgbClr val="1D6FA9"/>
              </a:buClr>
              <a:buFont typeface="+mj-lt"/>
              <a:buAutoNum type="romanLcPeriod"/>
            </a:pPr>
            <a:r>
              <a:rPr lang="en-US" sz="2000" dirty="0"/>
              <a:t>Display department wise salary total.</a:t>
            </a:r>
          </a:p>
          <a:p>
            <a:pPr marL="1392237" lvl="2" indent="-514350">
              <a:buClr>
                <a:srgbClr val="1D6FA9"/>
              </a:buClr>
              <a:buFont typeface="+mj-lt"/>
              <a:buAutoNum type="romanLcPeriod"/>
            </a:pPr>
            <a:r>
              <a:rPr lang="en-US" sz="2000" dirty="0"/>
              <a:t>Add new column </a:t>
            </a:r>
            <a:r>
              <a:rPr lang="en-US" sz="2000" dirty="0" err="1"/>
              <a:t>EmailId</a:t>
            </a:r>
            <a:r>
              <a:rPr lang="en-US" sz="2000" dirty="0"/>
              <a:t> in EMP table.</a:t>
            </a:r>
          </a:p>
        </p:txBody>
      </p:sp>
    </p:spTree>
    <p:extLst>
      <p:ext uri="{BB962C8B-B14F-4D97-AF65-F5344CB8AC3E}">
        <p14:creationId xmlns:p14="http://schemas.microsoft.com/office/powerpoint/2010/main" val="2554051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hemang.chath@darshan.ac.in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8200834776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837676" y="5582493"/>
            <a:ext cx="3826005" cy="265204"/>
          </a:xfrm>
        </p:spPr>
        <p:txBody>
          <a:bodyPr/>
          <a:lstStyle/>
          <a:p>
            <a:r>
              <a:rPr lang="en-US" dirty="0"/>
              <a:t>Computer Science &amp; Engineering Department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Hemang R Chath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65D4F84-0571-BC3D-45EF-738514259C9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81756" y="20384"/>
            <a:ext cx="4646358" cy="734653"/>
          </a:xfrm>
        </p:spPr>
        <p:txBody>
          <a:bodyPr/>
          <a:lstStyle/>
          <a:p>
            <a:r>
              <a:rPr lang="en-US" b="1" dirty="0">
                <a:latin typeface="Roboto Condensed(Body)"/>
              </a:rPr>
              <a:t>Database Management System-I </a:t>
            </a:r>
            <a:r>
              <a:rPr lang="en-US" dirty="0">
                <a:latin typeface="Roboto Condensed(Body)"/>
                <a:ea typeface="Roboto Condensed Light" panose="02000000000000000000" pitchFamily="2" charset="0"/>
              </a:rPr>
              <a:t>(DBMS-I)</a:t>
            </a:r>
          </a:p>
          <a:p>
            <a:r>
              <a:rPr lang="en-US" dirty="0">
                <a:latin typeface="Roboto Condensed(Body)"/>
              </a:rPr>
              <a:t>DU # </a:t>
            </a:r>
            <a:r>
              <a:rPr dirty="0">
                <a:latin typeface="Roboto Condensed(Body)"/>
              </a:rPr>
              <a:t>2304CS204</a:t>
            </a:r>
            <a:endParaRPr lang="en-US" dirty="0">
              <a:latin typeface="Roboto Condensed(Body)"/>
            </a:endParaRPr>
          </a:p>
        </p:txBody>
      </p:sp>
      <p:pic>
        <p:nvPicPr>
          <p:cNvPr id="7" name="Picture Placeholder 8">
            <a:extLst>
              <a:ext uri="{FF2B5EF4-FFF2-40B4-BE49-F238E27FC236}">
                <a16:creationId xmlns:a16="http://schemas.microsoft.com/office/drawing/2014/main" id="{C941DD83-654D-F7AD-56F2-E785F26269E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" t="-79" r="608" b="11610"/>
          <a:stretch/>
        </p:blipFill>
        <p:spPr>
          <a:xfrm>
            <a:off x="342900" y="5081155"/>
            <a:ext cx="1392382" cy="147550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21059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10956</TotalTime>
  <Words>6222</Words>
  <Application>Microsoft Office PowerPoint</Application>
  <PresentationFormat>Widescreen</PresentationFormat>
  <Paragraphs>2429</Paragraphs>
  <Slides>96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96</vt:i4>
      </vt:variant>
    </vt:vector>
  </HeadingPairs>
  <TitlesOfParts>
    <vt:vector size="109" baseType="lpstr">
      <vt:lpstr>Roboto Condensed Light</vt:lpstr>
      <vt:lpstr>Arial</vt:lpstr>
      <vt:lpstr>Roboto Condensed,Bold</vt:lpstr>
      <vt:lpstr>Consolas</vt:lpstr>
      <vt:lpstr>Wingdings</vt:lpstr>
      <vt:lpstr>Roboto Condensed (Body)</vt:lpstr>
      <vt:lpstr>Roboto Condensed</vt:lpstr>
      <vt:lpstr>Wingdings 3</vt:lpstr>
      <vt:lpstr>Roboto Condensed(Body)</vt:lpstr>
      <vt:lpstr>Calibri</vt:lpstr>
      <vt:lpstr>Wingdings 2</vt:lpstr>
      <vt:lpstr>Courier New</vt:lpstr>
      <vt:lpstr>Office Theme</vt:lpstr>
      <vt:lpstr>Unit-3  Introduction to SQL (Structured Query language) </vt:lpstr>
      <vt:lpstr>PowerPoint Presentation</vt:lpstr>
      <vt:lpstr>Introduction to DBMS</vt:lpstr>
      <vt:lpstr>What is Data?</vt:lpstr>
      <vt:lpstr>2025 Internet Minute Breakdown 📊 </vt:lpstr>
      <vt:lpstr>What is Database?</vt:lpstr>
      <vt:lpstr>What is Database Management System?</vt:lpstr>
      <vt:lpstr>Popular DBMS Tools</vt:lpstr>
      <vt:lpstr>SQL and Components of SQL</vt:lpstr>
      <vt:lpstr>What is SQL?</vt:lpstr>
      <vt:lpstr>Components of SQL</vt:lpstr>
      <vt:lpstr>1. DDL (Data Definition Language) </vt:lpstr>
      <vt:lpstr>2. DML (Data Manipulation Language)</vt:lpstr>
      <vt:lpstr>3. DQL (Data Query Language)</vt:lpstr>
      <vt:lpstr>4. DCL (Data Control Language)</vt:lpstr>
      <vt:lpstr>5. TCL ( Transaction Control Language)</vt:lpstr>
      <vt:lpstr>Datatypes in SQL</vt:lpstr>
      <vt:lpstr>Data types</vt:lpstr>
      <vt:lpstr>Difference between char and varchar</vt:lpstr>
      <vt:lpstr>Difference between char and varchar</vt:lpstr>
      <vt:lpstr>Table, Column, Row</vt:lpstr>
      <vt:lpstr>What is Table, Column, Row?</vt:lpstr>
      <vt:lpstr>Student Table</vt:lpstr>
      <vt:lpstr>Exercise-1</vt:lpstr>
      <vt:lpstr>CREATE, INSERT, SELECT, UPDATE and ALTER Commands</vt:lpstr>
      <vt:lpstr>Create Database</vt:lpstr>
      <vt:lpstr>Create Table</vt:lpstr>
      <vt:lpstr>Create Table(Cont..)</vt:lpstr>
      <vt:lpstr>Create Table(Cont..)</vt:lpstr>
      <vt:lpstr>Create Table(Cont..)</vt:lpstr>
      <vt:lpstr>Insert data into Table</vt:lpstr>
      <vt:lpstr>Insert data into Table(Cont..)</vt:lpstr>
      <vt:lpstr>Insert data into Table(Cont..)</vt:lpstr>
      <vt:lpstr>Select Table</vt:lpstr>
      <vt:lpstr>Select Table(Cont..)</vt:lpstr>
      <vt:lpstr>Select Table(Cont..)</vt:lpstr>
      <vt:lpstr>Select Table(Cont..)</vt:lpstr>
      <vt:lpstr>Select Top</vt:lpstr>
      <vt:lpstr>Select Distinct</vt:lpstr>
      <vt:lpstr>Update data of Table</vt:lpstr>
      <vt:lpstr>Update data of Table(Cont..)</vt:lpstr>
      <vt:lpstr>Update data of Table(Cont..)</vt:lpstr>
      <vt:lpstr>Alter</vt:lpstr>
      <vt:lpstr>Alter(Cont..)</vt:lpstr>
      <vt:lpstr>Alter(Cont..)</vt:lpstr>
      <vt:lpstr>Alter(Cont..)</vt:lpstr>
      <vt:lpstr>Alter(Cont..)</vt:lpstr>
      <vt:lpstr>Alter(Cont..)</vt:lpstr>
      <vt:lpstr>DELETE, TRUNCATE, DROP and RENAME Commands</vt:lpstr>
      <vt:lpstr>Delete data from Table</vt:lpstr>
      <vt:lpstr>Delete data from Table(Cont..)</vt:lpstr>
      <vt:lpstr>Truncate Table</vt:lpstr>
      <vt:lpstr>Drop Database</vt:lpstr>
      <vt:lpstr>Drop Table</vt:lpstr>
      <vt:lpstr>Rename Table</vt:lpstr>
      <vt:lpstr>Rename Column Name</vt:lpstr>
      <vt:lpstr>SQL Operators  (AND,OR,NOT,BETWEEN,IN, LIKE)</vt:lpstr>
      <vt:lpstr>SQL AND, OR and NOT Operators</vt:lpstr>
      <vt:lpstr>AND Operator</vt:lpstr>
      <vt:lpstr>OR Operator</vt:lpstr>
      <vt:lpstr>NOT Operator</vt:lpstr>
      <vt:lpstr>SQL IN Operator</vt:lpstr>
      <vt:lpstr>SQL IN Operator(Cont..)</vt:lpstr>
      <vt:lpstr>SQL Between Operator</vt:lpstr>
      <vt:lpstr>SQL Between Operator(Cont..)</vt:lpstr>
      <vt:lpstr>Like</vt:lpstr>
      <vt:lpstr>Like(Cont..)</vt:lpstr>
      <vt:lpstr>Like(Cont..)</vt:lpstr>
      <vt:lpstr>SQL Order By Clause</vt:lpstr>
      <vt:lpstr>SQL Order by clause</vt:lpstr>
      <vt:lpstr>SQL Order by clause(Cont..)</vt:lpstr>
      <vt:lpstr>SQL Order by clause(Cont..)</vt:lpstr>
      <vt:lpstr>ALIASES</vt:lpstr>
      <vt:lpstr>ALIASES</vt:lpstr>
      <vt:lpstr>Aggregate Functions, Group By and Group By Having Clause</vt:lpstr>
      <vt:lpstr>Aggregate Functions</vt:lpstr>
      <vt:lpstr>Aggregate Function(Cont..)</vt:lpstr>
      <vt:lpstr>Group By Clause</vt:lpstr>
      <vt:lpstr>Group By with Having Clause</vt:lpstr>
      <vt:lpstr>Conversion Functions</vt:lpstr>
      <vt:lpstr>Conversion Functions</vt:lpstr>
      <vt:lpstr>Math Functions</vt:lpstr>
      <vt:lpstr>Mathematical Functions</vt:lpstr>
      <vt:lpstr>Mathematical Functions</vt:lpstr>
      <vt:lpstr>Mathematical Functions</vt:lpstr>
      <vt:lpstr>Date Functions</vt:lpstr>
      <vt:lpstr>Date Functions</vt:lpstr>
      <vt:lpstr>Date Functions</vt:lpstr>
      <vt:lpstr>String Functions</vt:lpstr>
      <vt:lpstr>String Functions</vt:lpstr>
      <vt:lpstr>String Functions</vt:lpstr>
      <vt:lpstr>String Functions</vt:lpstr>
      <vt:lpstr>String Functions</vt:lpstr>
      <vt:lpstr>Frequently asked questions in Exam</vt:lpstr>
      <vt:lpstr>Frequently asked questions in Exam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Hemang Chath</cp:lastModifiedBy>
  <cp:revision>432</cp:revision>
  <dcterms:created xsi:type="dcterms:W3CDTF">2020-05-01T05:09:15Z</dcterms:created>
  <dcterms:modified xsi:type="dcterms:W3CDTF">2026-02-01T19:44:10Z</dcterms:modified>
</cp:coreProperties>
</file>