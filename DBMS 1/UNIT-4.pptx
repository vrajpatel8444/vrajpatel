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1"/>
  </p:notesMasterIdLst>
  <p:sldIdLst>
    <p:sldId id="822" r:id="rId2"/>
    <p:sldId id="987" r:id="rId3"/>
    <p:sldId id="988" r:id="rId4"/>
    <p:sldId id="745" r:id="rId5"/>
    <p:sldId id="992" r:id="rId6"/>
    <p:sldId id="311" r:id="rId7"/>
    <p:sldId id="996" r:id="rId8"/>
    <p:sldId id="832" r:id="rId9"/>
    <p:sldId id="401" r:id="rId10"/>
    <p:sldId id="748" r:id="rId11"/>
    <p:sldId id="833" r:id="rId12"/>
    <p:sldId id="750" r:id="rId13"/>
    <p:sldId id="835" r:id="rId14"/>
    <p:sldId id="834" r:id="rId15"/>
    <p:sldId id="836" r:id="rId16"/>
    <p:sldId id="837" r:id="rId17"/>
    <p:sldId id="993" r:id="rId18"/>
    <p:sldId id="994" r:id="rId19"/>
    <p:sldId id="995" r:id="rId20"/>
    <p:sldId id="841" r:id="rId21"/>
    <p:sldId id="842" r:id="rId22"/>
    <p:sldId id="424" r:id="rId23"/>
    <p:sldId id="843" r:id="rId24"/>
    <p:sldId id="844" r:id="rId25"/>
    <p:sldId id="845" r:id="rId26"/>
    <p:sldId id="426" r:id="rId27"/>
    <p:sldId id="433" r:id="rId28"/>
    <p:sldId id="846" r:id="rId29"/>
    <p:sldId id="847" r:id="rId30"/>
    <p:sldId id="989" r:id="rId31"/>
    <p:sldId id="990" r:id="rId32"/>
    <p:sldId id="848" r:id="rId33"/>
    <p:sldId id="447" r:id="rId34"/>
    <p:sldId id="861" r:id="rId35"/>
    <p:sldId id="849" r:id="rId36"/>
    <p:sldId id="478" r:id="rId37"/>
    <p:sldId id="862" r:id="rId38"/>
    <p:sldId id="850" r:id="rId39"/>
    <p:sldId id="851" r:id="rId40"/>
    <p:sldId id="863" r:id="rId41"/>
    <p:sldId id="852" r:id="rId42"/>
    <p:sldId id="853" r:id="rId43"/>
    <p:sldId id="457" r:id="rId44"/>
    <p:sldId id="458" r:id="rId45"/>
    <p:sldId id="854" r:id="rId46"/>
    <p:sldId id="855" r:id="rId47"/>
    <p:sldId id="461" r:id="rId48"/>
    <p:sldId id="462" r:id="rId49"/>
    <p:sldId id="953" r:id="rId50"/>
    <p:sldId id="954" r:id="rId51"/>
    <p:sldId id="463" r:id="rId52"/>
    <p:sldId id="856" r:id="rId53"/>
    <p:sldId id="857" r:id="rId54"/>
    <p:sldId id="466" r:id="rId55"/>
    <p:sldId id="858" r:id="rId56"/>
    <p:sldId id="468" r:id="rId57"/>
    <p:sldId id="956" r:id="rId58"/>
    <p:sldId id="957" r:id="rId59"/>
    <p:sldId id="859" r:id="rId60"/>
    <p:sldId id="470" r:id="rId61"/>
    <p:sldId id="958" r:id="rId62"/>
    <p:sldId id="959" r:id="rId63"/>
    <p:sldId id="860" r:id="rId64"/>
    <p:sldId id="472" r:id="rId65"/>
    <p:sldId id="960" r:id="rId66"/>
    <p:sldId id="961" r:id="rId67"/>
    <p:sldId id="821" r:id="rId68"/>
    <p:sldId id="997" r:id="rId69"/>
    <p:sldId id="991" r:id="rId70"/>
  </p:sldIdLst>
  <p:sldSz cx="12192000" cy="6858000"/>
  <p:notesSz cx="6858000" cy="9144000"/>
  <p:embeddedFontLst>
    <p:embeddedFont>
      <p:font typeface="Consolas" panose="020B0609020204030204" pitchFamily="49" charset="0"/>
      <p:regular r:id="rId72"/>
      <p:bold r:id="rId73"/>
      <p:italic r:id="rId74"/>
      <p:boldItalic r:id="rId75"/>
    </p:embeddedFont>
    <p:embeddedFont>
      <p:font typeface="Roboto Condensed" panose="02000000000000000000" pitchFamily="2" charset="0"/>
      <p:regular r:id="rId76"/>
      <p:bold r:id="rId77"/>
      <p:italic r:id="rId78"/>
      <p:boldItalic r:id="rId79"/>
    </p:embeddedFont>
    <p:embeddedFont>
      <p:font typeface="Roboto Condensed Light" panose="02000000000000000000" pitchFamily="2" charset="0"/>
      <p:regular r:id="rId80"/>
      <p:italic r:id="rId81"/>
    </p:embeddedFont>
    <p:embeddedFont>
      <p:font typeface="Wingdings 2" panose="05020102010507070707" pitchFamily="18" charset="2"/>
      <p:regular r:id="rId82"/>
    </p:embeddedFont>
    <p:embeddedFont>
      <p:font typeface="Wingdings 3" panose="05040102010807070707" pitchFamily="18" charset="2"/>
      <p:regular r:id="rId8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7n9OPi3wxWuPaQRDTB8g9w==" hashData="yWk2JzRy1iNs4eLKYxAuL9AB66JLwFnnOrHTHOi2nLrXAdmfgYSwKQTFBCst2GPd6jueVpUEEZQXV3zsc691Dw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mang Chath" initials="HC" lastIdx="1" clrIdx="0">
    <p:extLst>
      <p:ext uri="{19B8F6BF-5375-455C-9EA6-DF929625EA0E}">
        <p15:presenceInfo xmlns:p15="http://schemas.microsoft.com/office/powerpoint/2012/main" userId="843f6e9c48e3ac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FA9"/>
    <a:srgbClr val="301B92"/>
    <a:srgbClr val="D10233"/>
    <a:srgbClr val="673BB7"/>
    <a:srgbClr val="607D8B"/>
    <a:srgbClr val="ED524F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0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4841362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F3D0C57-A7FF-E69D-35D9-B1280605F8A4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– </a:t>
            </a:r>
            <a:r>
              <a:rPr lang="en-US" sz="1200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Relational Algebra and Its implementation using SQL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DDA11D8-E569-819B-DC85-02C2766C1F57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8709C-9796-95F7-675B-55F1D628076F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F6D8C-880B-49D5-FAC3-E4B236FE216C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Roboto Condensed(Body)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	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DBMS-1</a:t>
            </a:r>
          </a:p>
          <a:p>
            <a:pPr lvl="0"/>
            <a:r>
              <a:rPr lang="en-US" dirty="0"/>
              <a:t>DU 2101CS201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8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  <p:sldLayoutId id="214748369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149" y="1010304"/>
            <a:ext cx="8939075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Unit-4</a:t>
            </a:r>
            <a:r>
              <a:rPr lang="en-US" dirty="0"/>
              <a:t> </a:t>
            </a:r>
            <a:br>
              <a:rPr lang="en-US" dirty="0"/>
            </a:br>
            <a:r>
              <a:rPr lang="en-US" sz="6000" dirty="0"/>
              <a:t>Relational Algebra and Its implementation using SQL</a:t>
            </a:r>
            <a:endParaRPr lang="en-US" sz="5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26004" cy="309928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2304CS204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9004DF-727B-4AEF-BA9B-6AF15CF18C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9A4FC979-86A3-C87F-8B06-1426545B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4520C5-AE6B-E485-E4E6-A33C1508BD66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</a:t>
            </a:r>
            <a:r>
              <a:rPr lang="en-IN" sz="1600" b="1" i="1" dirty="0">
                <a:latin typeface="Roboto Condensed,Bold"/>
              </a:rPr>
              <a:t>4</a:t>
            </a:r>
            <a:r>
              <a:rPr lang="en-IN" sz="1600" b="1" i="1" u="none" strike="noStrike" baseline="0" dirty="0">
                <a:latin typeface="Roboto Condensed,Bold"/>
              </a:rPr>
              <a:t>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apply</a:t>
            </a:r>
            <a:r>
              <a:rPr lang="en-US" dirty="0"/>
              <a:t> the concepts of relational algebra operations and joins. 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20252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27945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7111293" cy="5439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Introduction of Relational Algebra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Structure of Relational Algebra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Relational Algebra Operations:</a:t>
            </a:r>
            <a:endParaRPr lang="en-IN" sz="2400" dirty="0"/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Selection</a:t>
            </a:r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Projection</a:t>
            </a:r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Division</a:t>
            </a:r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Cartesian Product</a:t>
            </a:r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Set Operators</a:t>
            </a:r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Rename</a:t>
            </a:r>
          </a:p>
          <a:p>
            <a:pPr marL="1257300" lvl="2" indent="-34290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IN" sz="2200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59511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4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Relational Algebra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Relational Algebra is </a:t>
            </a:r>
            <a:r>
              <a:rPr lang="en-US" b="1" dirty="0">
                <a:solidFill>
                  <a:schemeClr val="accent6"/>
                </a:solidFill>
              </a:rPr>
              <a:t>procedural query language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that operates on </a:t>
            </a:r>
            <a:r>
              <a:rPr lang="en-US" b="1" dirty="0">
                <a:solidFill>
                  <a:schemeClr val="accent6"/>
                </a:solidFill>
              </a:rPr>
              <a:t>relations</a:t>
            </a:r>
            <a:r>
              <a:rPr lang="en-US" b="1" dirty="0"/>
              <a:t> (</a:t>
            </a:r>
            <a:r>
              <a:rPr lang="en-US" b="1" dirty="0">
                <a:solidFill>
                  <a:schemeClr val="accent6"/>
                </a:solidFill>
              </a:rPr>
              <a:t>tables</a:t>
            </a:r>
            <a:r>
              <a:rPr lang="en-US" b="1" dirty="0"/>
              <a:t>)</a:t>
            </a:r>
            <a:r>
              <a:rPr lang="en-US" dirty="0"/>
              <a:t> and produces </a:t>
            </a:r>
            <a:r>
              <a:rPr lang="en-US" b="1" dirty="0">
                <a:solidFill>
                  <a:schemeClr val="accent6"/>
                </a:solidFill>
              </a:rPr>
              <a:t>relations </a:t>
            </a:r>
            <a:r>
              <a:rPr lang="en-US" dirty="0"/>
              <a:t>as </a:t>
            </a:r>
            <a:r>
              <a:rPr lang="en-US" b="1" dirty="0">
                <a:solidFill>
                  <a:schemeClr val="accent6"/>
                </a:solidFill>
              </a:rPr>
              <a:t>output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Relational algebra mainly provides </a:t>
            </a:r>
            <a:r>
              <a:rPr lang="en-US" b="1" dirty="0">
                <a:solidFill>
                  <a:schemeClr val="accent6"/>
                </a:solidFill>
              </a:rPr>
              <a:t>theoretical foundation </a:t>
            </a:r>
            <a:r>
              <a:rPr lang="en-US" dirty="0"/>
              <a:t>for </a:t>
            </a:r>
            <a:r>
              <a:rPr lang="en-US" b="1" dirty="0">
                <a:solidFill>
                  <a:schemeClr val="accent6"/>
                </a:solidFill>
              </a:rPr>
              <a:t>relational databases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SQL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Relational algebra consists of a certain </a:t>
            </a:r>
            <a:r>
              <a:rPr lang="en-US" b="1" dirty="0">
                <a:solidFill>
                  <a:schemeClr val="accent6"/>
                </a:solidFill>
              </a:rPr>
              <a:t>set of rules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/>
                </a:solidFill>
              </a:rPr>
              <a:t>operations</a:t>
            </a:r>
            <a:r>
              <a:rPr lang="en-US" dirty="0"/>
              <a:t> that are widely used to manipulate and query data from a relational database.</a:t>
            </a:r>
          </a:p>
          <a:p>
            <a:pPr>
              <a:lnSpc>
                <a:spcPct val="100000"/>
              </a:lnSpc>
            </a:pPr>
            <a:r>
              <a:rPr lang="en-IN" dirty="0"/>
              <a:t>Each operation in </a:t>
            </a:r>
            <a:r>
              <a:rPr lang="en-US" dirty="0"/>
              <a:t>relational algebra </a:t>
            </a:r>
            <a:r>
              <a:rPr lang="en-IN" dirty="0"/>
              <a:t>represented by a </a:t>
            </a:r>
            <a:r>
              <a:rPr lang="en-IN" b="1" dirty="0">
                <a:solidFill>
                  <a:schemeClr val="accent6"/>
                </a:solidFill>
              </a:rPr>
              <a:t>symbol</a:t>
            </a:r>
            <a:r>
              <a:rPr lang="en-IN" b="1" dirty="0"/>
              <a:t> (</a:t>
            </a:r>
            <a:r>
              <a:rPr lang="en-US" b="1" dirty="0">
                <a:solidFill>
                  <a:schemeClr val="accent6"/>
                </a:solidFill>
              </a:rPr>
              <a:t>operators</a:t>
            </a:r>
            <a:r>
              <a:rPr lang="en-US" b="1" dirty="0"/>
              <a:t>)</a:t>
            </a:r>
            <a:r>
              <a:rPr lang="en-US" dirty="0"/>
              <a:t> to retrieve and manipulate data from database tables.</a:t>
            </a:r>
          </a:p>
          <a:p>
            <a:pPr>
              <a:lnSpc>
                <a:spcPct val="100000"/>
              </a:lnSpc>
            </a:pPr>
            <a:r>
              <a:rPr lang="en-US" dirty="0"/>
              <a:t>It helps perform various operations on relational data efficiently.</a:t>
            </a:r>
          </a:p>
        </p:txBody>
      </p:sp>
    </p:spTree>
    <p:extLst>
      <p:ext uri="{BB962C8B-B14F-4D97-AF65-F5344CB8AC3E}">
        <p14:creationId xmlns:p14="http://schemas.microsoft.com/office/powerpoint/2010/main" val="213158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72B2-5BCB-3215-0559-B94A204F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7D95-C823-2A9A-34E0-4C9ECD88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Relational Algebra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2E612-BBAD-0C99-3C68-A6DFD8A69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8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3">
            <a:extLst>
              <a:ext uri="{FF2B5EF4-FFF2-40B4-BE49-F238E27FC236}">
                <a16:creationId xmlns:a16="http://schemas.microsoft.com/office/drawing/2014/main" id="{EE208624-99F0-4324-BA51-191516272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Structure of Relational Algebra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90286824-5EAB-41F6-9EC8-48F6842C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608120EA-949C-45E4-ACEB-16014A1673F4}"/>
              </a:ext>
            </a:extLst>
          </p:cNvPr>
          <p:cNvGraphicFramePr>
            <a:graphicFrameLocks/>
          </p:cNvGraphicFramePr>
          <p:nvPr/>
        </p:nvGraphicFramePr>
        <p:xfrm>
          <a:off x="2083939" y="2042048"/>
          <a:ext cx="4778924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1787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838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 rowSpan="8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Tarun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Rectangle: Rounded Corners 7">
            <a:extLst>
              <a:ext uri="{FF2B5EF4-FFF2-40B4-BE49-F238E27FC236}">
                <a16:creationId xmlns:a16="http://schemas.microsoft.com/office/drawing/2014/main" id="{B5C7BC66-0320-4676-8B10-63AFE52B19F7}"/>
              </a:ext>
            </a:extLst>
          </p:cNvPr>
          <p:cNvSpPr/>
          <p:nvPr/>
        </p:nvSpPr>
        <p:spPr>
          <a:xfrm>
            <a:off x="7718600" y="1016811"/>
            <a:ext cx="4187309" cy="10583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u="sng" dirty="0">
                <a:solidFill>
                  <a:schemeClr val="tx1"/>
                </a:solidFill>
              </a:rPr>
              <a:t>Relation/Table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It is a predefined row/column format for storing information in a relational database</a:t>
            </a:r>
          </a:p>
        </p:txBody>
      </p:sp>
      <p:sp>
        <p:nvSpPr>
          <p:cNvPr id="22" name="Rounded Rectangle 28">
            <a:extLst>
              <a:ext uri="{FF2B5EF4-FFF2-40B4-BE49-F238E27FC236}">
                <a16:creationId xmlns:a16="http://schemas.microsoft.com/office/drawing/2014/main" id="{D8954544-3F11-4C3F-85C5-88FBF32788E6}"/>
              </a:ext>
            </a:extLst>
          </p:cNvPr>
          <p:cNvSpPr/>
          <p:nvPr/>
        </p:nvSpPr>
        <p:spPr>
          <a:xfrm>
            <a:off x="416619" y="1872955"/>
            <a:ext cx="1620000" cy="787344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Attributes: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Title of column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43E702-1BA2-41D3-8D59-6E89ECF15DE2}"/>
              </a:ext>
            </a:extLst>
          </p:cNvPr>
          <p:cNvCxnSpPr>
            <a:cxnSpLocks/>
          </p:cNvCxnSpPr>
          <p:nvPr/>
        </p:nvCxnSpPr>
        <p:spPr>
          <a:xfrm>
            <a:off x="1898073" y="2266627"/>
            <a:ext cx="678546" cy="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13">
            <a:extLst>
              <a:ext uri="{FF2B5EF4-FFF2-40B4-BE49-F238E27FC236}">
                <a16:creationId xmlns:a16="http://schemas.microsoft.com/office/drawing/2014/main" id="{2B0BEAD5-1ECE-4CF7-AA1F-9011E4A889BA}"/>
              </a:ext>
            </a:extLst>
          </p:cNvPr>
          <p:cNvSpPr/>
          <p:nvPr/>
        </p:nvSpPr>
        <p:spPr>
          <a:xfrm>
            <a:off x="7718600" y="2223005"/>
            <a:ext cx="4187309" cy="13099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u="sng" dirty="0">
                <a:solidFill>
                  <a:schemeClr val="tx1"/>
                </a:solidFill>
              </a:rPr>
              <a:t>Attribute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It is a name of a column in a relation/table.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2 attributes can't have same name in one relation/table.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F85B1D4-153A-415C-B0E4-5779B4B0C210}"/>
              </a:ext>
            </a:extLst>
          </p:cNvPr>
          <p:cNvCxnSpPr/>
          <p:nvPr/>
        </p:nvCxnSpPr>
        <p:spPr>
          <a:xfrm flipH="1">
            <a:off x="3018346" y="1298145"/>
            <a:ext cx="1655489" cy="671018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84F413-1A9D-436E-9D8C-C236752E5055}"/>
              </a:ext>
            </a:extLst>
          </p:cNvPr>
          <p:cNvCxnSpPr/>
          <p:nvPr/>
        </p:nvCxnSpPr>
        <p:spPr>
          <a:xfrm>
            <a:off x="4673835" y="1298145"/>
            <a:ext cx="1870561" cy="67056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F5CB03A-2732-4021-871F-AE090961E2CB}"/>
              </a:ext>
            </a:extLst>
          </p:cNvPr>
          <p:cNvCxnSpPr/>
          <p:nvPr/>
        </p:nvCxnSpPr>
        <p:spPr>
          <a:xfrm>
            <a:off x="4673835" y="1298145"/>
            <a:ext cx="1029186" cy="67056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72E7687-3CE5-4A1F-8AB8-96D1B42FA78A}"/>
              </a:ext>
            </a:extLst>
          </p:cNvPr>
          <p:cNvCxnSpPr/>
          <p:nvPr/>
        </p:nvCxnSpPr>
        <p:spPr>
          <a:xfrm flipH="1">
            <a:off x="4673834" y="1298145"/>
            <a:ext cx="2" cy="690364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078526-FED8-411B-AB45-C34596234A39}"/>
              </a:ext>
            </a:extLst>
          </p:cNvPr>
          <p:cNvCxnSpPr/>
          <p:nvPr/>
        </p:nvCxnSpPr>
        <p:spPr>
          <a:xfrm flipH="1">
            <a:off x="3804371" y="1298145"/>
            <a:ext cx="869464" cy="67056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0FA860F-C50B-40D2-8ACD-7A563640B48D}"/>
              </a:ext>
            </a:extLst>
          </p:cNvPr>
          <p:cNvSpPr txBox="1"/>
          <p:nvPr/>
        </p:nvSpPr>
        <p:spPr>
          <a:xfrm>
            <a:off x="3976255" y="91698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 </a:t>
            </a:r>
            <a:r>
              <a:rPr lang="en-US" b="1" dirty="0">
                <a:solidFill>
                  <a:schemeClr val="accent6"/>
                </a:solidFill>
              </a:rPr>
              <a:t>(5)</a:t>
            </a:r>
            <a:endParaRPr lang="en-IN" b="1" dirty="0">
              <a:solidFill>
                <a:schemeClr val="accent6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6B4FF1-483B-417E-978E-F6743B9A0C1C}"/>
              </a:ext>
            </a:extLst>
          </p:cNvPr>
          <p:cNvCxnSpPr/>
          <p:nvPr/>
        </p:nvCxnSpPr>
        <p:spPr>
          <a:xfrm flipH="1">
            <a:off x="2669115" y="5517205"/>
            <a:ext cx="960120" cy="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D201D73-6FFC-45C3-8718-B5996CC9DB5C}"/>
              </a:ext>
            </a:extLst>
          </p:cNvPr>
          <p:cNvSpPr txBox="1"/>
          <p:nvPr/>
        </p:nvSpPr>
        <p:spPr>
          <a:xfrm>
            <a:off x="3464567" y="5333888"/>
            <a:ext cx="272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Arity = No of columns </a:t>
            </a:r>
            <a:r>
              <a:rPr lang="en-US" b="1" dirty="0">
                <a:solidFill>
                  <a:schemeClr val="accent6"/>
                </a:solidFill>
              </a:rPr>
              <a:t>(5)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88B8E7B-90D9-4D95-90F3-FAE65C74B894}"/>
              </a:ext>
            </a:extLst>
          </p:cNvPr>
          <p:cNvCxnSpPr/>
          <p:nvPr/>
        </p:nvCxnSpPr>
        <p:spPr>
          <a:xfrm>
            <a:off x="6021676" y="5517205"/>
            <a:ext cx="731520" cy="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23">
            <a:extLst>
              <a:ext uri="{FF2B5EF4-FFF2-40B4-BE49-F238E27FC236}">
                <a16:creationId xmlns:a16="http://schemas.microsoft.com/office/drawing/2014/main" id="{628D2A8D-F53F-443D-90AD-B18F853AFCB3}"/>
              </a:ext>
            </a:extLst>
          </p:cNvPr>
          <p:cNvSpPr/>
          <p:nvPr/>
        </p:nvSpPr>
        <p:spPr>
          <a:xfrm>
            <a:off x="7718600" y="3626353"/>
            <a:ext cx="4187309" cy="7344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u="sng" dirty="0" err="1">
                <a:solidFill>
                  <a:schemeClr val="tx1"/>
                </a:solidFill>
              </a:rPr>
              <a:t>Arity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Total number of attributes in a relation is referred as an </a:t>
            </a:r>
            <a:r>
              <a:rPr lang="en-US" sz="2000" dirty="0" err="1">
                <a:solidFill>
                  <a:schemeClr val="tx1"/>
                </a:solidFill>
              </a:rPr>
              <a:t>arity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6D3F78-B5FE-41FB-B51B-656B7020F422}"/>
              </a:ext>
            </a:extLst>
          </p:cNvPr>
          <p:cNvSpPr txBox="1"/>
          <p:nvPr/>
        </p:nvSpPr>
        <p:spPr>
          <a:xfrm>
            <a:off x="416619" y="3274372"/>
            <a:ext cx="1272688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Rows or</a:t>
            </a:r>
          </a:p>
          <a:p>
            <a:r>
              <a:rPr lang="en-US" dirty="0"/>
              <a:t>Tuples or Records </a:t>
            </a:r>
            <a:r>
              <a:rPr lang="en-US" b="1" dirty="0">
                <a:solidFill>
                  <a:schemeClr val="accent6"/>
                </a:solidFill>
              </a:rPr>
              <a:t>(7)</a:t>
            </a:r>
            <a:endParaRPr lang="en-IN" b="1" dirty="0">
              <a:solidFill>
                <a:schemeClr val="accent6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220C99-498B-4D60-B727-071DB6845E69}"/>
              </a:ext>
            </a:extLst>
          </p:cNvPr>
          <p:cNvCxnSpPr>
            <a:stCxn id="47" idx="3"/>
          </p:cNvCxnSpPr>
          <p:nvPr/>
        </p:nvCxnSpPr>
        <p:spPr>
          <a:xfrm flipV="1">
            <a:off x="1689307" y="2643415"/>
            <a:ext cx="834883" cy="1092622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1CDDC65-1332-4BDC-B15E-8AB763659785}"/>
              </a:ext>
            </a:extLst>
          </p:cNvPr>
          <p:cNvCxnSpPr>
            <a:stCxn id="47" idx="3"/>
          </p:cNvCxnSpPr>
          <p:nvPr/>
        </p:nvCxnSpPr>
        <p:spPr>
          <a:xfrm flipV="1">
            <a:off x="1689307" y="3083257"/>
            <a:ext cx="834883" cy="65278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0149251-F1E1-4E44-91F8-9A0EF3C35359}"/>
              </a:ext>
            </a:extLst>
          </p:cNvPr>
          <p:cNvCxnSpPr>
            <a:stCxn id="47" idx="3"/>
          </p:cNvCxnSpPr>
          <p:nvPr/>
        </p:nvCxnSpPr>
        <p:spPr>
          <a:xfrm flipV="1">
            <a:off x="1689307" y="3494737"/>
            <a:ext cx="834883" cy="24130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995D0C5-A388-4CF4-85C9-266451527807}"/>
              </a:ext>
            </a:extLst>
          </p:cNvPr>
          <p:cNvCxnSpPr>
            <a:stCxn id="47" idx="3"/>
          </p:cNvCxnSpPr>
          <p:nvPr/>
        </p:nvCxnSpPr>
        <p:spPr>
          <a:xfrm>
            <a:off x="1689307" y="3736037"/>
            <a:ext cx="834883" cy="20828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76FF55-6ABC-4D28-9EBD-94F64C893AAB}"/>
              </a:ext>
            </a:extLst>
          </p:cNvPr>
          <p:cNvCxnSpPr>
            <a:stCxn id="47" idx="3"/>
          </p:cNvCxnSpPr>
          <p:nvPr/>
        </p:nvCxnSpPr>
        <p:spPr>
          <a:xfrm>
            <a:off x="1689307" y="3736037"/>
            <a:ext cx="834883" cy="58928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DA1640B-31FB-41DE-BC81-6E00FA4B70BA}"/>
              </a:ext>
            </a:extLst>
          </p:cNvPr>
          <p:cNvCxnSpPr>
            <a:stCxn id="47" idx="3"/>
          </p:cNvCxnSpPr>
          <p:nvPr/>
        </p:nvCxnSpPr>
        <p:spPr>
          <a:xfrm>
            <a:off x="1689307" y="3736037"/>
            <a:ext cx="834883" cy="1453299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E904DC9-0DB5-4A37-B373-FFF3208E95DB}"/>
              </a:ext>
            </a:extLst>
          </p:cNvPr>
          <p:cNvCxnSpPr>
            <a:stCxn id="47" idx="3"/>
          </p:cNvCxnSpPr>
          <p:nvPr/>
        </p:nvCxnSpPr>
        <p:spPr>
          <a:xfrm>
            <a:off x="1689307" y="3736037"/>
            <a:ext cx="834883" cy="993140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32">
            <a:extLst>
              <a:ext uri="{FF2B5EF4-FFF2-40B4-BE49-F238E27FC236}">
                <a16:creationId xmlns:a16="http://schemas.microsoft.com/office/drawing/2014/main" id="{7010E743-09BB-431D-A502-0F8815870862}"/>
              </a:ext>
            </a:extLst>
          </p:cNvPr>
          <p:cNvSpPr/>
          <p:nvPr/>
        </p:nvSpPr>
        <p:spPr>
          <a:xfrm>
            <a:off x="7718600" y="4508620"/>
            <a:ext cx="4187309" cy="3958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u="sng" dirty="0">
                <a:solidFill>
                  <a:schemeClr val="tx1"/>
                </a:solidFill>
              </a:rPr>
              <a:t>Tuple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A row or record in a relation</a:t>
            </a:r>
          </a:p>
        </p:txBody>
      </p:sp>
      <p:sp>
        <p:nvSpPr>
          <p:cNvPr id="56" name="Rectangle: Rounded Corners 33">
            <a:extLst>
              <a:ext uri="{FF2B5EF4-FFF2-40B4-BE49-F238E27FC236}">
                <a16:creationId xmlns:a16="http://schemas.microsoft.com/office/drawing/2014/main" id="{E84FDC92-1A9C-4BA5-AC19-ECC45CD65CE0}"/>
              </a:ext>
            </a:extLst>
          </p:cNvPr>
          <p:cNvSpPr/>
          <p:nvPr/>
        </p:nvSpPr>
        <p:spPr>
          <a:xfrm>
            <a:off x="7718599" y="5052329"/>
            <a:ext cx="4187309" cy="7344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u="sng" dirty="0">
                <a:solidFill>
                  <a:schemeClr val="tx1"/>
                </a:solidFill>
              </a:rPr>
              <a:t>Cardinality</a:t>
            </a:r>
            <a:r>
              <a:rPr lang="en-US" sz="2000" b="1" dirty="0">
                <a:solidFill>
                  <a:schemeClr val="tx1"/>
                </a:solidFill>
              </a:rPr>
              <a:t> : </a:t>
            </a:r>
            <a:r>
              <a:rPr lang="en-US" sz="2000" dirty="0">
                <a:solidFill>
                  <a:schemeClr val="tx1"/>
                </a:solidFill>
              </a:rPr>
              <a:t>The total number of tuple in a relation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12B08B-A0E4-4723-86F8-1113C8A0B328}"/>
              </a:ext>
            </a:extLst>
          </p:cNvPr>
          <p:cNvSpPr txBox="1"/>
          <p:nvPr/>
        </p:nvSpPr>
        <p:spPr>
          <a:xfrm rot="16200000">
            <a:off x="5769631" y="3701533"/>
            <a:ext cx="28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Cardinality = No of tuples </a:t>
            </a:r>
            <a:r>
              <a:rPr lang="en-US" b="1" dirty="0">
                <a:solidFill>
                  <a:schemeClr val="accent6"/>
                </a:solidFill>
              </a:rPr>
              <a:t>(7)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29C8124-575F-4A18-A6A9-1A763028C146}"/>
              </a:ext>
            </a:extLst>
          </p:cNvPr>
          <p:cNvCxnSpPr/>
          <p:nvPr/>
        </p:nvCxnSpPr>
        <p:spPr>
          <a:xfrm flipH="1">
            <a:off x="6867069" y="2594277"/>
            <a:ext cx="592722" cy="3391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204FD69-1986-4F85-8C03-A4FF8A68BCE3}"/>
              </a:ext>
            </a:extLst>
          </p:cNvPr>
          <p:cNvCxnSpPr/>
          <p:nvPr/>
        </p:nvCxnSpPr>
        <p:spPr>
          <a:xfrm flipH="1" flipV="1">
            <a:off x="6910694" y="5238419"/>
            <a:ext cx="585759" cy="316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37">
            <a:extLst>
              <a:ext uri="{FF2B5EF4-FFF2-40B4-BE49-F238E27FC236}">
                <a16:creationId xmlns:a16="http://schemas.microsoft.com/office/drawing/2014/main" id="{6A6141B6-E8E3-41CA-9128-1B4B55789BBA}"/>
              </a:ext>
            </a:extLst>
          </p:cNvPr>
          <p:cNvSpPr/>
          <p:nvPr/>
        </p:nvSpPr>
        <p:spPr>
          <a:xfrm>
            <a:off x="1648691" y="5698035"/>
            <a:ext cx="5914996" cy="7344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u="sng" dirty="0">
                <a:solidFill>
                  <a:schemeClr val="tx1"/>
                </a:solidFill>
              </a:rPr>
              <a:t>Domain</a:t>
            </a:r>
            <a:r>
              <a:rPr lang="en-US" sz="2000" b="1" dirty="0">
                <a:solidFill>
                  <a:schemeClr val="tx1"/>
                </a:solidFill>
              </a:rPr>
              <a:t> : </a:t>
            </a:r>
            <a:r>
              <a:rPr lang="en-US" sz="2000" dirty="0">
                <a:solidFill>
                  <a:schemeClr val="tx1"/>
                </a:solidFill>
              </a:rPr>
              <a:t>It is a set of permitted values for that attribute. Domain of Branch attribute is (CE, CI, ME, EE)</a:t>
            </a:r>
          </a:p>
          <a:p>
            <a:pPr algn="just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39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42" grpId="0"/>
      <p:bldP spid="44" grpId="0"/>
      <p:bldP spid="46" grpId="0" animBg="1"/>
      <p:bldP spid="47" grpId="0"/>
      <p:bldP spid="55" grpId="0" animBg="1"/>
      <p:bldP spid="56" grpId="0" animBg="1"/>
      <p:bldP spid="57" grpId="0"/>
      <p:bldP spid="6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4EF5-9D71-443B-C4D1-644D51E6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5F81-48A1-D97B-DF21-9615A743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1F77A5-6455-996A-B462-425A54517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039959"/>
              </p:ext>
            </p:extLst>
          </p:nvPr>
        </p:nvGraphicFramePr>
        <p:xfrm>
          <a:off x="228081" y="896342"/>
          <a:ext cx="11399936" cy="497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49700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Operator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bg2"/>
                          </a:solidFill>
                        </a:rPr>
                        <a:t>Description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02814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DC61EF-0A39-09D4-2FAA-8A8B3811F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366087"/>
              </p:ext>
            </p:extLst>
          </p:nvPr>
        </p:nvGraphicFramePr>
        <p:xfrm>
          <a:off x="228081" y="1375310"/>
          <a:ext cx="11399936" cy="497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497000">
                <a:tc>
                  <a:txBody>
                    <a:bodyPr/>
                    <a:lstStyle/>
                    <a:p>
                      <a:r>
                        <a:rPr lang="en-GB" sz="2200" b="1" kern="1200" dirty="0">
                          <a:solidFill>
                            <a:schemeClr val="dk1"/>
                          </a:solidFill>
                        </a:rPr>
                        <a:t>Selection</a:t>
                      </a:r>
                      <a:endParaRPr lang="en-IN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Display particular rows/records/tuples from a 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417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2370AD-0757-5EE9-9D49-E8B80D48C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534215"/>
              </p:ext>
            </p:extLst>
          </p:nvPr>
        </p:nvGraphicFramePr>
        <p:xfrm>
          <a:off x="228081" y="1872938"/>
          <a:ext cx="11399936" cy="497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497000">
                <a:tc>
                  <a:txBody>
                    <a:bodyPr/>
                    <a:lstStyle/>
                    <a:p>
                      <a:r>
                        <a:rPr lang="en-GB" sz="2200" b="1" kern="1200" dirty="0">
                          <a:solidFill>
                            <a:schemeClr val="dk1"/>
                          </a:solidFill>
                        </a:rPr>
                        <a:t>Projection</a:t>
                      </a:r>
                      <a:endParaRPr lang="en-IN" sz="22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Display particular columns from a relation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417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C4022F-1779-13D2-8C22-6857F8C25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404216"/>
              </p:ext>
            </p:extLst>
          </p:nvPr>
        </p:nvGraphicFramePr>
        <p:xfrm>
          <a:off x="228081" y="2370568"/>
          <a:ext cx="11399936" cy="497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497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chemeClr val="dk1"/>
                          </a:solidFill>
                        </a:rPr>
                        <a:t>Division</a:t>
                      </a:r>
                      <a:endParaRPr lang="en-IN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Divides one relation by another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417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82DD4C-90F5-5A9D-D9D9-928D8695E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964480"/>
              </p:ext>
            </p:extLst>
          </p:nvPr>
        </p:nvGraphicFramePr>
        <p:xfrm>
          <a:off x="228081" y="2868201"/>
          <a:ext cx="11399936" cy="497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497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1" kern="1200" dirty="0">
                          <a:solidFill>
                            <a:schemeClr val="dk1"/>
                          </a:solidFill>
                        </a:rPr>
                        <a:t>Cartesian Product</a:t>
                      </a:r>
                      <a:endParaRPr lang="en-US" sz="2200" b="1" kern="12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0" kern="1200" dirty="0">
                          <a:solidFill>
                            <a:schemeClr val="dk1"/>
                          </a:solidFill>
                        </a:rPr>
                        <a:t>Cartesian Product</a:t>
                      </a:r>
                      <a:endParaRPr lang="en-US" sz="2200" b="0" kern="12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4175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F6A3B1-378F-3FB4-239E-E45DCDEE5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910811"/>
              </p:ext>
            </p:extLst>
          </p:nvPr>
        </p:nvGraphicFramePr>
        <p:xfrm>
          <a:off x="228081" y="3365837"/>
          <a:ext cx="11399936" cy="14325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1054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1" kern="1200" dirty="0">
                          <a:solidFill>
                            <a:schemeClr val="dk1"/>
                          </a:solidFill>
                        </a:rPr>
                        <a:t>Set Operators </a:t>
                      </a:r>
                      <a:endParaRPr lang="en-US" sz="2200" b="1" kern="1200" dirty="0"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Combine the results of two queries into a single result.</a:t>
                      </a:r>
                    </a:p>
                    <a:p>
                      <a:pPr marL="457200" indent="-457200" algn="l" defTabSz="914400" rtl="0" eaLnBrk="1" latinLnBrk="0" hangingPunct="1">
                        <a:buAutoNum type="arabicPeriod"/>
                      </a:pPr>
                      <a:r>
                        <a:rPr lang="en-GB" sz="2200" b="0" kern="1200" dirty="0">
                          <a:solidFill>
                            <a:schemeClr val="dk1"/>
                          </a:solidFill>
                        </a:rPr>
                        <a:t>Union          </a:t>
                      </a:r>
                    </a:p>
                    <a:p>
                      <a:pPr marL="457200" indent="-457200" algn="l" defTabSz="914400" rtl="0" eaLnBrk="1" latinLnBrk="0" hangingPunct="1">
                        <a:buAutoNum type="arabicPeriod"/>
                      </a:pPr>
                      <a:r>
                        <a:rPr lang="en-GB" sz="2200" b="0" kern="1200" dirty="0">
                          <a:solidFill>
                            <a:schemeClr val="dk1"/>
                          </a:solidFill>
                        </a:rPr>
                        <a:t>Intersection          </a:t>
                      </a:r>
                    </a:p>
                    <a:p>
                      <a:pPr marL="457200" indent="-457200" algn="l" defTabSz="914400" rtl="0" eaLnBrk="1" latinLnBrk="0" hangingPunct="1">
                        <a:buAutoNum type="arabicPeriod"/>
                      </a:pPr>
                      <a:r>
                        <a:rPr lang="en-GB" sz="2200" b="0" kern="1200" dirty="0">
                          <a:solidFill>
                            <a:schemeClr val="dk1"/>
                          </a:solidFill>
                        </a:rPr>
                        <a:t>Minus / Set-difference</a:t>
                      </a:r>
                      <a:endParaRPr lang="en-US" sz="2200" b="0" kern="1200" dirty="0"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4175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434EC5-2D81-56EA-3DA0-ED9C355C5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27648"/>
              </p:ext>
            </p:extLst>
          </p:nvPr>
        </p:nvGraphicFramePr>
        <p:xfrm>
          <a:off x="228081" y="4798397"/>
          <a:ext cx="11399936" cy="10972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40474">
                  <a:extLst>
                    <a:ext uri="{9D8B030D-6E8A-4147-A177-3AD203B41FA5}">
                      <a16:colId xmlns:a16="http://schemas.microsoft.com/office/drawing/2014/main" val="2533582293"/>
                    </a:ext>
                  </a:extLst>
                </a:gridCol>
                <a:gridCol w="8959462">
                  <a:extLst>
                    <a:ext uri="{9D8B030D-6E8A-4147-A177-3AD203B41FA5}">
                      <a16:colId xmlns:a16="http://schemas.microsoft.com/office/drawing/2014/main" val="3883267471"/>
                    </a:ext>
                  </a:extLst>
                </a:gridCol>
              </a:tblGrid>
              <a:tr h="431081">
                <a:tc>
                  <a:txBody>
                    <a:bodyPr/>
                    <a:lstStyle/>
                    <a:p>
                      <a:r>
                        <a:rPr lang="en-GB" sz="2200" b="1" kern="1200" dirty="0">
                          <a:solidFill>
                            <a:schemeClr val="dk1"/>
                          </a:solidFill>
                        </a:rPr>
                        <a:t>Joins</a:t>
                      </a:r>
                      <a:endParaRPr lang="en-IN" sz="22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Combine data or records from two or more tables</a:t>
                      </a:r>
                    </a:p>
                    <a:p>
                      <a:pPr marL="457200" indent="-457200" algn="l" defTabSz="914400" rtl="0" eaLnBrk="1" latinLnBrk="0" hangingPunct="1">
                        <a:buAutoNum type="arabicPeriod"/>
                      </a:pPr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Natural Join / Inner Join</a:t>
                      </a:r>
                    </a:p>
                    <a:p>
                      <a:pPr marL="457200" indent="-457200" algn="l" defTabSz="914400" rtl="0" eaLnBrk="1" latinLnBrk="0" hangingPunct="1">
                        <a:buAutoNum type="arabicPeriod"/>
                      </a:pPr>
                      <a:r>
                        <a:rPr lang="en-US" sz="2200" b="0" kern="1200" dirty="0">
                          <a:solidFill>
                            <a:schemeClr val="dk1"/>
                          </a:solidFill>
                        </a:rPr>
                        <a:t>Outer Join (Left Outer Join, Right Outer Join, Full Outer Join)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41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15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E6D1-580E-6FD6-61A9-6D718659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A8277-78D1-9169-20D8-AF554C14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Projection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29E5-4ED6-00E5-5D61-866AB19F1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9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Projection Operator - Relational Algebra Operation</a:t>
            </a:r>
          </a:p>
        </p:txBody>
      </p:sp>
      <p:sp>
        <p:nvSpPr>
          <p:cNvPr id="5" name="Content Placeholder 7"/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/>
          <a:lstStyle/>
          <a:p>
            <a:r>
              <a:rPr lang="en-US" sz="2600" dirty="0"/>
              <a:t>Symbol: </a:t>
            </a:r>
            <a:r>
              <a:rPr lang="en-US" sz="2600" b="1" dirty="0">
                <a:solidFill>
                  <a:schemeClr val="accent6"/>
                </a:solidFill>
              </a:rPr>
              <a:t>∏</a:t>
            </a:r>
            <a:r>
              <a:rPr lang="en-US" sz="2600" dirty="0"/>
              <a:t> (Pi)</a:t>
            </a:r>
          </a:p>
          <a:p>
            <a:r>
              <a:rPr lang="en-US" sz="2600" dirty="0"/>
              <a:t>Notation: </a:t>
            </a:r>
            <a:r>
              <a:rPr lang="en-US" sz="2600" b="1" dirty="0">
                <a:solidFill>
                  <a:schemeClr val="accent6"/>
                </a:solidFill>
              </a:rPr>
              <a:t>∏</a:t>
            </a:r>
            <a:r>
              <a:rPr lang="en-US" sz="2600" dirty="0"/>
              <a:t> </a:t>
            </a:r>
            <a:r>
              <a:rPr lang="en-US" sz="2600" i="1" baseline="-25000" dirty="0"/>
              <a:t>attribute list</a:t>
            </a:r>
            <a:r>
              <a:rPr lang="en-US" sz="2600" dirty="0"/>
              <a:t> (Relation)</a:t>
            </a:r>
          </a:p>
          <a:p>
            <a:r>
              <a:rPr lang="en-US" sz="2600" dirty="0"/>
              <a:t>Operation: </a:t>
            </a:r>
            <a:r>
              <a:rPr lang="en-US" sz="2600" b="1" dirty="0">
                <a:solidFill>
                  <a:schemeClr val="accent6"/>
                </a:solidFill>
              </a:rPr>
              <a:t>Selects</a:t>
            </a:r>
            <a:r>
              <a:rPr lang="en-US" sz="2600" dirty="0">
                <a:solidFill>
                  <a:schemeClr val="accent6"/>
                </a:solidFill>
              </a:rPr>
              <a:t> </a:t>
            </a:r>
            <a:r>
              <a:rPr lang="en-US" sz="2600" b="1" dirty="0">
                <a:solidFill>
                  <a:schemeClr val="accent6"/>
                </a:solidFill>
              </a:rPr>
              <a:t>specified</a:t>
            </a:r>
            <a:r>
              <a:rPr lang="en-US" sz="2600" dirty="0">
                <a:solidFill>
                  <a:schemeClr val="accent6"/>
                </a:solidFill>
              </a:rPr>
              <a:t> </a:t>
            </a:r>
            <a:r>
              <a:rPr lang="en-US" sz="2600" b="1" dirty="0">
                <a:solidFill>
                  <a:schemeClr val="accent6"/>
                </a:solidFill>
              </a:rPr>
              <a:t>attributes</a:t>
            </a:r>
            <a:r>
              <a:rPr lang="en-US" sz="2600" b="1" dirty="0"/>
              <a:t>/</a:t>
            </a:r>
            <a:r>
              <a:rPr lang="en-US" sz="2600" b="1" dirty="0">
                <a:solidFill>
                  <a:schemeClr val="accent6"/>
                </a:solidFill>
              </a:rPr>
              <a:t>fields</a:t>
            </a:r>
            <a:r>
              <a:rPr lang="en-US" sz="2600" dirty="0">
                <a:solidFill>
                  <a:schemeClr val="accent6"/>
                </a:solidFill>
              </a:rPr>
              <a:t> </a:t>
            </a:r>
            <a:r>
              <a:rPr lang="en-US" sz="2600" dirty="0"/>
              <a:t>of a relation.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7A9F11BD-6733-43FA-9C78-E226473FA006}"/>
              </a:ext>
            </a:extLst>
          </p:cNvPr>
          <p:cNvGraphicFramePr>
            <a:graphicFrameLocks/>
          </p:cNvGraphicFramePr>
          <p:nvPr/>
        </p:nvGraphicFramePr>
        <p:xfrm>
          <a:off x="472501" y="2912974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DB47CC-993C-401E-B9B3-4B4CA74C522F}"/>
              </a:ext>
            </a:extLst>
          </p:cNvPr>
          <p:cNvCxnSpPr>
            <a:cxnSpLocks/>
          </p:cNvCxnSpPr>
          <p:nvPr/>
        </p:nvCxnSpPr>
        <p:spPr>
          <a:xfrm>
            <a:off x="472501" y="3300959"/>
            <a:ext cx="6385499" cy="639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ED1BB3-291E-47F3-8999-DA5E991A8C07}"/>
              </a:ext>
            </a:extLst>
          </p:cNvPr>
          <p:cNvCxnSpPr>
            <a:cxnSpLocks/>
          </p:cNvCxnSpPr>
          <p:nvPr/>
        </p:nvCxnSpPr>
        <p:spPr>
          <a:xfrm>
            <a:off x="7615783" y="3288617"/>
            <a:ext cx="4384477" cy="940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3F7BFCEA-4478-4742-9816-AD79194D65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535340"/>
              </p:ext>
            </p:extLst>
          </p:nvPr>
        </p:nvGraphicFramePr>
        <p:xfrm>
          <a:off x="7553265" y="2909833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C3F2711D-4524-488F-AABF-47F59CD071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717689"/>
              </p:ext>
            </p:extLst>
          </p:nvPr>
        </p:nvGraphicFramePr>
        <p:xfrm>
          <a:off x="8492777" y="2777305"/>
          <a:ext cx="3806900" cy="518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0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9749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600" b="0" i="1" baseline="-25000" dirty="0">
                          <a:solidFill>
                            <a:schemeClr val="tx1"/>
                          </a:solidFill>
                        </a:rPr>
                        <a:t>RollNumber, Branch, SPI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(Student)</a:t>
                      </a:r>
                      <a:endParaRPr 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FADDA215-8D77-4EBB-B013-AA32AE184B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3891021"/>
              </p:ext>
            </p:extLst>
          </p:nvPr>
        </p:nvGraphicFramePr>
        <p:xfrm>
          <a:off x="472501" y="3654626"/>
          <a:ext cx="6226879" cy="250663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2394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43033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DC796792-D319-4545-B512-C07C76D7AF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678350"/>
              </p:ext>
            </p:extLst>
          </p:nvPr>
        </p:nvGraphicFramePr>
        <p:xfrm>
          <a:off x="1572956" y="2932061"/>
          <a:ext cx="5462326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62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RollNumber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  <a:r>
                        <a:rPr lang="en-US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all students.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8B9A83C-22A8-450E-90C2-99C16F991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4556623"/>
              </p:ext>
            </p:extLst>
          </p:nvPr>
        </p:nvGraphicFramePr>
        <p:xfrm>
          <a:off x="7479593" y="3654626"/>
          <a:ext cx="2982145" cy="2484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45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2551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73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on Projection Operator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DFF62F-10BC-F5F7-191A-34F68BC78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368070"/>
              </p:ext>
            </p:extLst>
          </p:nvPr>
        </p:nvGraphicFramePr>
        <p:xfrm>
          <a:off x="651587" y="889517"/>
          <a:ext cx="6011860" cy="2484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85775">
                  <a:extLst>
                    <a:ext uri="{9D8B030D-6E8A-4147-A177-3AD203B41FA5}">
                      <a16:colId xmlns:a16="http://schemas.microsoft.com/office/drawing/2014/main" val="1510943809"/>
                    </a:ext>
                  </a:extLst>
                </a:gridCol>
                <a:gridCol w="1293778">
                  <a:extLst>
                    <a:ext uri="{9D8B030D-6E8A-4147-A177-3AD203B41FA5}">
                      <a16:colId xmlns:a16="http://schemas.microsoft.com/office/drawing/2014/main" val="4294513911"/>
                    </a:ext>
                  </a:extLst>
                </a:gridCol>
                <a:gridCol w="1673158">
                  <a:extLst>
                    <a:ext uri="{9D8B030D-6E8A-4147-A177-3AD203B41FA5}">
                      <a16:colId xmlns:a16="http://schemas.microsoft.com/office/drawing/2014/main" val="1213094007"/>
                    </a:ext>
                  </a:extLst>
                </a:gridCol>
                <a:gridCol w="1459149">
                  <a:extLst>
                    <a:ext uri="{9D8B030D-6E8A-4147-A177-3AD203B41FA5}">
                      <a16:colId xmlns:a16="http://schemas.microsoft.com/office/drawing/2014/main" val="803937945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73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EmployeeId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Department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0814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60000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74693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Vishal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ADMIN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80000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68221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Chintan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70000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610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Ashish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ACCOUNT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90000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570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EAFB75-9B3E-DE9E-7563-15E7F9D9C4BC}"/>
              </a:ext>
            </a:extLst>
          </p:cNvPr>
          <p:cNvSpPr txBox="1"/>
          <p:nvPr/>
        </p:nvSpPr>
        <p:spPr>
          <a:xfrm>
            <a:off x="226268" y="3536713"/>
            <a:ext cx="9720165" cy="1936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lvl="0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prstClr val="black"/>
                </a:solidFill>
              </a:rPr>
              <a:t>Write down the relational algebra for the </a:t>
            </a:r>
            <a:r>
              <a:rPr lang="en-US" sz="2400" b="1" dirty="0">
                <a:solidFill>
                  <a:schemeClr val="accent6"/>
                </a:solidFill>
              </a:rPr>
              <a:t>Employee</a:t>
            </a:r>
            <a:r>
              <a:rPr lang="en-US" sz="2400" dirty="0">
                <a:solidFill>
                  <a:prstClr val="black"/>
                </a:solidFill>
              </a:rPr>
              <a:t> table.</a:t>
            </a:r>
          </a:p>
          <a:p>
            <a:pPr marL="914400" lvl="1" indent="-457200" algn="just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 3" panose="05040102010807070707" pitchFamily="18" charset="2"/>
              <a:buChar char="Ê"/>
              <a:defRPr/>
            </a:pPr>
            <a:r>
              <a:rPr lang="en-US" sz="2200" dirty="0">
                <a:solidFill>
                  <a:prstClr val="black"/>
                </a:solidFill>
              </a:rPr>
              <a:t>Display Department, Name and Salary of all Employees.</a:t>
            </a:r>
          </a:p>
          <a:p>
            <a:pPr marL="914400" lvl="1" indent="-457200" algn="just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 3" panose="05040102010807070707" pitchFamily="18" charset="2"/>
              <a:buChar char="Ê"/>
              <a:defRPr/>
            </a:pPr>
            <a:r>
              <a:rPr lang="en-US" sz="2200" dirty="0">
                <a:solidFill>
                  <a:prstClr val="black"/>
                </a:solidFill>
              </a:rPr>
              <a:t>Display Name and Salary of all Employees.</a:t>
            </a:r>
          </a:p>
          <a:p>
            <a:pPr marL="914400" lvl="1" indent="-457200" algn="just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 3" panose="05040102010807070707" pitchFamily="18" charset="2"/>
              <a:buChar char="Ê"/>
              <a:defRPr/>
            </a:pPr>
            <a:r>
              <a:rPr lang="en-US" sz="2200" dirty="0">
                <a:solidFill>
                  <a:prstClr val="black"/>
                </a:solidFill>
              </a:rPr>
              <a:t>Display the Name of all Employees.</a:t>
            </a:r>
          </a:p>
          <a:p>
            <a:pPr marL="914400" lvl="1" indent="-457200" algn="just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 3" panose="05040102010807070707" pitchFamily="18" charset="2"/>
              <a:buChar char="Ê"/>
              <a:defRPr/>
            </a:pPr>
            <a:r>
              <a:rPr lang="en-US" sz="2200" dirty="0">
                <a:solidFill>
                  <a:prstClr val="black"/>
                </a:solidFill>
              </a:rPr>
              <a:t>Display the Name and Department of all Employees.</a:t>
            </a:r>
          </a:p>
        </p:txBody>
      </p:sp>
    </p:spTree>
    <p:extLst>
      <p:ext uri="{BB962C8B-B14F-4D97-AF65-F5344CB8AC3E}">
        <p14:creationId xmlns:p14="http://schemas.microsoft.com/office/powerpoint/2010/main" val="298620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AC4F-19B7-B86C-8B58-252AD81BD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A251-59BD-2A7C-6874-9985303F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C5E75-6A69-10DE-6766-C868D9382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17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Operator - Relational Algebra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77709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600" dirty="0"/>
              <a:t>Symbol: </a:t>
            </a:r>
            <a:r>
              <a:rPr lang="el-GR" sz="2600" b="1" dirty="0">
                <a:solidFill>
                  <a:schemeClr val="accent6"/>
                </a:solidFill>
              </a:rPr>
              <a:t>σ</a:t>
            </a:r>
            <a:r>
              <a:rPr lang="en-US" sz="2600" dirty="0"/>
              <a:t> (Sigma)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Notation: </a:t>
            </a:r>
            <a:r>
              <a:rPr lang="el-GR" sz="2600" b="1" dirty="0">
                <a:solidFill>
                  <a:schemeClr val="accent6"/>
                </a:solidFill>
              </a:rPr>
              <a:t>σ</a:t>
            </a:r>
            <a:r>
              <a:rPr lang="en-US" sz="2600" dirty="0"/>
              <a:t> </a:t>
            </a:r>
            <a:r>
              <a:rPr lang="en-US" sz="2600" i="1" baseline="-25000" dirty="0"/>
              <a:t>condition</a:t>
            </a:r>
            <a:r>
              <a:rPr lang="en-US" sz="2600" dirty="0"/>
              <a:t> (Relation)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Operation: </a:t>
            </a:r>
            <a:r>
              <a:rPr lang="en-US" sz="2600" b="1" dirty="0">
                <a:solidFill>
                  <a:schemeClr val="accent6"/>
                </a:solidFill>
              </a:rPr>
              <a:t>Selects rows</a:t>
            </a:r>
            <a:r>
              <a:rPr lang="en-US" sz="2600" b="1" dirty="0"/>
              <a:t>/</a:t>
            </a:r>
            <a:r>
              <a:rPr lang="en-US" sz="2600" b="1" dirty="0">
                <a:solidFill>
                  <a:schemeClr val="accent6"/>
                </a:solidFill>
              </a:rPr>
              <a:t>tuples</a:t>
            </a:r>
            <a:r>
              <a:rPr lang="en-US" sz="2600" b="1" dirty="0"/>
              <a:t>/</a:t>
            </a:r>
            <a:r>
              <a:rPr lang="en-US" sz="2600" b="1" dirty="0">
                <a:solidFill>
                  <a:schemeClr val="accent6"/>
                </a:solidFill>
              </a:rPr>
              <a:t>records </a:t>
            </a:r>
            <a:r>
              <a:rPr lang="en-US" sz="2600" dirty="0"/>
              <a:t>from a relation that </a:t>
            </a:r>
            <a:r>
              <a:rPr lang="en-US" sz="2600" b="1" dirty="0">
                <a:solidFill>
                  <a:schemeClr val="accent6"/>
                </a:solidFill>
              </a:rPr>
              <a:t>satisfy a given condition</a:t>
            </a:r>
            <a:r>
              <a:rPr lang="en-US" sz="2600" dirty="0">
                <a:solidFill>
                  <a:srgbClr val="C00000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Operators:  =, &lt;&gt;, &lt;, &gt;, &lt;=, &gt;=, Λ 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2600" b="1" dirty="0">
                <a:solidFill>
                  <a:schemeClr val="accent6"/>
                </a:solidFill>
              </a:rPr>
              <a:t>AND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sz="2600" dirty="0"/>
              <a:t>, V 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2600" b="1" dirty="0">
                <a:solidFill>
                  <a:schemeClr val="accent6"/>
                </a:solidFill>
              </a:rPr>
              <a:t>OR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305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9AF8-88B1-08CB-C2FB-6C2109B7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BF1368-8CBE-82F6-44E2-F79A08F9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Selection Operator - Relational Algebra Operation(Conti..)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58AF659-05BB-68C7-455D-B4FEA73A6191}"/>
              </a:ext>
            </a:extLst>
          </p:cNvPr>
          <p:cNvGraphicFramePr>
            <a:graphicFrameLocks/>
          </p:cNvGraphicFramePr>
          <p:nvPr/>
        </p:nvGraphicFramePr>
        <p:xfrm>
          <a:off x="472501" y="90688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A69AF7-8BA8-548A-5B4B-5C96E2C5D627}"/>
              </a:ext>
            </a:extLst>
          </p:cNvPr>
          <p:cNvCxnSpPr>
            <a:cxnSpLocks/>
          </p:cNvCxnSpPr>
          <p:nvPr/>
        </p:nvCxnSpPr>
        <p:spPr>
          <a:xfrm flipV="1">
            <a:off x="472501" y="1302681"/>
            <a:ext cx="6824038" cy="108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BAC8E4-88B3-0DF7-CE52-B5932607B6F4}"/>
              </a:ext>
            </a:extLst>
          </p:cNvPr>
          <p:cNvCxnSpPr>
            <a:cxnSpLocks/>
          </p:cNvCxnSpPr>
          <p:nvPr/>
        </p:nvCxnSpPr>
        <p:spPr>
          <a:xfrm flipV="1">
            <a:off x="472501" y="4491857"/>
            <a:ext cx="3306397" cy="260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F5E80741-A806-DD31-256F-4B99808350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1466998"/>
              </p:ext>
            </p:extLst>
          </p:nvPr>
        </p:nvGraphicFramePr>
        <p:xfrm>
          <a:off x="472501" y="4129001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42ADCE46-6CC6-011D-093F-420CB4655D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979043"/>
              </p:ext>
            </p:extLst>
          </p:nvPr>
        </p:nvGraphicFramePr>
        <p:xfrm>
          <a:off x="1459791" y="3973697"/>
          <a:ext cx="2637716" cy="518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37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9749">
                <a:tc>
                  <a:txBody>
                    <a:bodyPr/>
                    <a:lstStyle/>
                    <a:p>
                      <a:pPr algn="l"/>
                      <a:r>
                        <a:rPr lang="el-GR" sz="28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Branch=‘CE</a:t>
                      </a:r>
                      <a:r>
                        <a:rPr lang="en-US" sz="2400" b="0" i="0" baseline="-25000" dirty="0">
                          <a:solidFill>
                            <a:schemeClr val="tx1"/>
                          </a:solidFill>
                        </a:rPr>
                        <a:t>’  </a:t>
                      </a:r>
                      <a:r>
                        <a:rPr lang="en-US" sz="2000" b="0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Student)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D0C2A451-95EB-D711-C445-02717952BB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308659"/>
              </p:ext>
            </p:extLst>
          </p:nvPr>
        </p:nvGraphicFramePr>
        <p:xfrm>
          <a:off x="472501" y="1471314"/>
          <a:ext cx="6226878" cy="23575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357486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3182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1A1CB61E-4A84-D28A-9661-8469C7731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7090551"/>
              </p:ext>
            </p:extLst>
          </p:nvPr>
        </p:nvGraphicFramePr>
        <p:xfrm>
          <a:off x="1554294" y="899715"/>
          <a:ext cx="6086813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8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the detail of students belongs to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CE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Branch.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94461EF3-0919-C41C-1156-DCB3C8AEA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0544621"/>
              </p:ext>
            </p:extLst>
          </p:nvPr>
        </p:nvGraphicFramePr>
        <p:xfrm>
          <a:off x="503632" y="4693874"/>
          <a:ext cx="6226879" cy="168184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2394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43033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58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7048B-0E85-D79C-31BB-3333462B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0DB71E-5A96-78E9-DD08-11EAC758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Selection Operator - Relational Algebra Operation(Conti..)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A2037A70-66D3-E880-E5C4-5D077FC2F9D9}"/>
              </a:ext>
            </a:extLst>
          </p:cNvPr>
          <p:cNvGraphicFramePr>
            <a:graphicFrameLocks/>
          </p:cNvGraphicFramePr>
          <p:nvPr/>
        </p:nvGraphicFramePr>
        <p:xfrm>
          <a:off x="472501" y="90688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048AFF-980C-2B29-8DEB-F78C95395C1B}"/>
              </a:ext>
            </a:extLst>
          </p:cNvPr>
          <p:cNvCxnSpPr>
            <a:cxnSpLocks/>
          </p:cNvCxnSpPr>
          <p:nvPr/>
        </p:nvCxnSpPr>
        <p:spPr>
          <a:xfrm flipV="1">
            <a:off x="472501" y="1303128"/>
            <a:ext cx="8307605" cy="1040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A4C1FF-E044-C0E1-C711-2F2186EB27BA}"/>
              </a:ext>
            </a:extLst>
          </p:cNvPr>
          <p:cNvCxnSpPr>
            <a:cxnSpLocks/>
          </p:cNvCxnSpPr>
          <p:nvPr/>
        </p:nvCxnSpPr>
        <p:spPr>
          <a:xfrm>
            <a:off x="636459" y="4303114"/>
            <a:ext cx="4384477" cy="940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4E5C6865-EBC8-6E5C-4E38-0301BA626A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9831100"/>
              </p:ext>
            </p:extLst>
          </p:nvPr>
        </p:nvGraphicFramePr>
        <p:xfrm>
          <a:off x="472501" y="3925641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B79785EC-6ACC-A6E6-BB62-873D46077B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9051663"/>
              </p:ext>
            </p:extLst>
          </p:nvPr>
        </p:nvGraphicFramePr>
        <p:xfrm>
          <a:off x="1419713" y="3772313"/>
          <a:ext cx="4469363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69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57">
                <a:tc>
                  <a:txBody>
                    <a:bodyPr/>
                    <a:lstStyle/>
                    <a:p>
                      <a:pPr algn="l"/>
                      <a:r>
                        <a:rPr lang="el-GR" sz="30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Branch=‘CE</a:t>
                      </a:r>
                      <a:r>
                        <a:rPr lang="en-US" sz="2400" b="0" i="0" baseline="-2500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en-US" sz="2400" b="1" i="0" kern="1200" baseline="-250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sz="2400" b="0" i="0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Branch=‘CI</a:t>
                      </a:r>
                      <a:r>
                        <a:rPr lang="en-US" sz="2400" b="0" i="0" baseline="-2500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en-US" sz="2800" b="0" i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200" b="0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Student)</a:t>
                      </a:r>
                      <a:endParaRPr 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D6674CE8-EE95-E17D-7C82-E1C4D24FF9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3836758"/>
              </p:ext>
            </p:extLst>
          </p:nvPr>
        </p:nvGraphicFramePr>
        <p:xfrm>
          <a:off x="472501" y="1471314"/>
          <a:ext cx="6226878" cy="23575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357486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3182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2D5BD36-590A-0570-E912-19B2FA693C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363562"/>
              </p:ext>
            </p:extLst>
          </p:nvPr>
        </p:nvGraphicFramePr>
        <p:xfrm>
          <a:off x="1502977" y="928033"/>
          <a:ext cx="7347109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47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the detail of students belongs to either 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CI</a:t>
                      </a:r>
                      <a:r>
                        <a:rPr lang="en-US" sz="2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CE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Branch.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0EB0CA7-5D86-0670-C93A-6BF284F985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23843"/>
              </p:ext>
            </p:extLst>
          </p:nvPr>
        </p:nvGraphicFramePr>
        <p:xfrm>
          <a:off x="503632" y="4434528"/>
          <a:ext cx="6226879" cy="209423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2394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43033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1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4DDB-2AF3-4BE3-A1D5-214FEE56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339D4E-197F-0B76-A844-993FEF40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Selection Operator - Relational Algebra Operation(Conti..)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04D9EDCD-F2C7-7F9D-5B0D-D30A7FA0E201}"/>
              </a:ext>
            </a:extLst>
          </p:cNvPr>
          <p:cNvGraphicFramePr>
            <a:graphicFrameLocks/>
          </p:cNvGraphicFramePr>
          <p:nvPr/>
        </p:nvGraphicFramePr>
        <p:xfrm>
          <a:off x="472501" y="90688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0393D8-B147-2C92-177C-BF1C10F2F111}"/>
              </a:ext>
            </a:extLst>
          </p:cNvPr>
          <p:cNvCxnSpPr>
            <a:cxnSpLocks/>
          </p:cNvCxnSpPr>
          <p:nvPr/>
        </p:nvCxnSpPr>
        <p:spPr>
          <a:xfrm flipV="1">
            <a:off x="472501" y="1282494"/>
            <a:ext cx="9763181" cy="3103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C70844-ABBC-1C47-8046-4D02E8128296}"/>
              </a:ext>
            </a:extLst>
          </p:cNvPr>
          <p:cNvCxnSpPr>
            <a:cxnSpLocks/>
          </p:cNvCxnSpPr>
          <p:nvPr/>
        </p:nvCxnSpPr>
        <p:spPr>
          <a:xfrm>
            <a:off x="472483" y="4769978"/>
            <a:ext cx="428077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51E0CCEA-2E33-81FC-1459-29F730441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893798"/>
              </p:ext>
            </p:extLst>
          </p:nvPr>
        </p:nvGraphicFramePr>
        <p:xfrm>
          <a:off x="472501" y="4392399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0524A07F-AA30-5C0B-81AE-E2A5296DE9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7880409"/>
              </p:ext>
            </p:extLst>
          </p:nvPr>
        </p:nvGraphicFramePr>
        <p:xfrm>
          <a:off x="1474531" y="4239999"/>
          <a:ext cx="3278726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278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9749">
                <a:tc>
                  <a:txBody>
                    <a:bodyPr/>
                    <a:lstStyle/>
                    <a:p>
                      <a:pPr algn="l"/>
                      <a:r>
                        <a:rPr lang="el-GR" sz="30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Branch=‘CE’ </a:t>
                      </a:r>
                      <a:r>
                        <a:rPr lang="el-GR" sz="2400" b="1" i="0" baseline="-25000" dirty="0">
                          <a:solidFill>
                            <a:schemeClr val="accent6"/>
                          </a:solidFill>
                        </a:rPr>
                        <a:t>Λ</a:t>
                      </a:r>
                      <a:r>
                        <a:rPr lang="en-US" sz="2400" b="0" i="0" baseline="-25000" dirty="0">
                          <a:solidFill>
                            <a:schemeClr val="tx1"/>
                          </a:solidFill>
                        </a:rPr>
                        <a:t> SPI&gt;7</a:t>
                      </a:r>
                      <a:r>
                        <a:rPr lang="en-US" sz="2400" b="0" i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Student)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AE5201EB-A71B-57E8-A33E-A57ACE2B7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743018"/>
              </p:ext>
            </p:extLst>
          </p:nvPr>
        </p:nvGraphicFramePr>
        <p:xfrm>
          <a:off x="472501" y="1471314"/>
          <a:ext cx="6226878" cy="23575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357486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3182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A835F245-9F4A-5AB9-8DC5-4E2FAF63BE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739763"/>
              </p:ext>
            </p:extLst>
          </p:nvPr>
        </p:nvGraphicFramePr>
        <p:xfrm>
          <a:off x="1572956" y="907255"/>
          <a:ext cx="9277881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277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the detail of students belongs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CE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Branch and having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more than</a:t>
                      </a:r>
                      <a:r>
                        <a:rPr lang="en-US" sz="2200" b="1" kern="1200" baseline="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7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D1916277-0A3E-6DD4-FFCA-43369CAB95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457600"/>
              </p:ext>
            </p:extLst>
          </p:nvPr>
        </p:nvGraphicFramePr>
        <p:xfrm>
          <a:off x="503632" y="4947944"/>
          <a:ext cx="6226879" cy="126944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12624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33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726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2394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43033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EnrollmentNumber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3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87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323B-9C0E-00A9-6463-5BDE9945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9949-210C-C39C-6622-C7EBE7BE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on Selection Operator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389B3F-DDEC-63E5-B0F9-472B7FFDE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487971"/>
              </p:ext>
            </p:extLst>
          </p:nvPr>
        </p:nvGraphicFramePr>
        <p:xfrm>
          <a:off x="651587" y="889517"/>
          <a:ext cx="6337042" cy="2484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41916">
                  <a:extLst>
                    <a:ext uri="{9D8B030D-6E8A-4147-A177-3AD203B41FA5}">
                      <a16:colId xmlns:a16="http://schemas.microsoft.com/office/drawing/2014/main" val="1510943809"/>
                    </a:ext>
                  </a:extLst>
                </a:gridCol>
                <a:gridCol w="1238570">
                  <a:extLst>
                    <a:ext uri="{9D8B030D-6E8A-4147-A177-3AD203B41FA5}">
                      <a16:colId xmlns:a16="http://schemas.microsoft.com/office/drawing/2014/main" val="4294513911"/>
                    </a:ext>
                  </a:extLst>
                </a:gridCol>
                <a:gridCol w="2130024">
                  <a:extLst>
                    <a:ext uri="{9D8B030D-6E8A-4147-A177-3AD203B41FA5}">
                      <a16:colId xmlns:a16="http://schemas.microsoft.com/office/drawing/2014/main" val="1213094007"/>
                    </a:ext>
                  </a:extLst>
                </a:gridCol>
                <a:gridCol w="1026532">
                  <a:extLst>
                    <a:ext uri="{9D8B030D-6E8A-4147-A177-3AD203B41FA5}">
                      <a16:colId xmlns:a16="http://schemas.microsoft.com/office/drawing/2014/main" val="803937945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73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EmployeeId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Department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0814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74693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Vishal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ADMIN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68221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Chintan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610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Ashish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ACCOUNT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90000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570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80DF2A-2C0A-101C-CD83-42B8487BA6F5}"/>
              </a:ext>
            </a:extLst>
          </p:cNvPr>
          <p:cNvSpPr txBox="1"/>
          <p:nvPr/>
        </p:nvSpPr>
        <p:spPr>
          <a:xfrm>
            <a:off x="78921" y="3532048"/>
            <a:ext cx="1076519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prstClr val="black"/>
                </a:solidFill>
              </a:rPr>
              <a:t>Write down the relational algebra for the </a:t>
            </a:r>
            <a:r>
              <a:rPr lang="en-US" sz="2400" b="1" dirty="0">
                <a:solidFill>
                  <a:schemeClr val="accent6"/>
                </a:solidFill>
              </a:rPr>
              <a:t>Employee</a:t>
            </a:r>
            <a:r>
              <a:rPr lang="en-US" sz="2400" dirty="0">
                <a:solidFill>
                  <a:prstClr val="black"/>
                </a:solidFill>
              </a:rPr>
              <a:t> table.</a:t>
            </a:r>
          </a:p>
          <a:p>
            <a:pPr marL="914400" lvl="1" indent="-4572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Ê"/>
            </a:pPr>
            <a:r>
              <a:rPr lang="en-US" sz="2200" dirty="0">
                <a:solidFill>
                  <a:prstClr val="black"/>
                </a:solidFill>
              </a:rPr>
              <a:t>Display the detail of all employee who belongs to “HR”  Department.</a:t>
            </a:r>
          </a:p>
          <a:p>
            <a:pPr marL="914400" lvl="1" indent="-4572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Ê"/>
            </a:pPr>
            <a:r>
              <a:rPr lang="en-US" sz="2200" dirty="0">
                <a:solidFill>
                  <a:prstClr val="black"/>
                </a:solidFill>
              </a:rPr>
              <a:t>Display the detail of employee whose Salary more than 70000.</a:t>
            </a:r>
          </a:p>
          <a:p>
            <a:pPr marL="914400" lvl="1" indent="-4572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Ê"/>
            </a:pPr>
            <a:r>
              <a:rPr lang="en-US" sz="2200" dirty="0">
                <a:solidFill>
                  <a:prstClr val="black"/>
                </a:solidFill>
              </a:rPr>
              <a:t>Display the detail of employee who belongs to “HR” Dept and having Salary more than 60000.</a:t>
            </a:r>
            <a:endParaRPr lang="en-US" sz="2200" dirty="0">
              <a:solidFill>
                <a:srgbClr val="212121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41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8E8A89-8ABC-D40A-7450-B9399466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Combined Projection &amp; Selection Operation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B98C72-9E8B-34C0-ABF3-7DD56C92BCB6}"/>
              </a:ext>
            </a:extLst>
          </p:cNvPr>
          <p:cNvCxnSpPr/>
          <p:nvPr/>
        </p:nvCxnSpPr>
        <p:spPr>
          <a:xfrm>
            <a:off x="289754" y="1304585"/>
            <a:ext cx="68580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0448A357-1115-1037-FC5D-9CF63D9A63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316637"/>
              </p:ext>
            </p:extLst>
          </p:nvPr>
        </p:nvGraphicFramePr>
        <p:xfrm>
          <a:off x="289754" y="91660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9F23DE0B-722F-85FE-E67F-171E1307D3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7004092"/>
              </p:ext>
            </p:extLst>
          </p:nvPr>
        </p:nvGraphicFramePr>
        <p:xfrm>
          <a:off x="1388683" y="907712"/>
          <a:ext cx="605916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59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RollNo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CI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  <a:r>
                        <a:rPr lang="en-US" sz="2000" b="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students.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0CA6AD-E36A-199F-FF2A-07717970B5DE}"/>
              </a:ext>
            </a:extLst>
          </p:cNvPr>
          <p:cNvCxnSpPr/>
          <p:nvPr/>
        </p:nvCxnSpPr>
        <p:spPr>
          <a:xfrm>
            <a:off x="289754" y="4645915"/>
            <a:ext cx="34747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CAD7FB46-B9C1-5991-7CDD-AF605CB227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662398"/>
              </p:ext>
            </p:extLst>
          </p:nvPr>
        </p:nvGraphicFramePr>
        <p:xfrm>
          <a:off x="289754" y="4257930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Step-1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9C40DFFF-8027-1C1D-3B82-60B5BD2027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402982"/>
              </p:ext>
            </p:extLst>
          </p:nvPr>
        </p:nvGraphicFramePr>
        <p:xfrm>
          <a:off x="1299783" y="4065440"/>
          <a:ext cx="2440305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Branch=‘CI’</a:t>
                      </a:r>
                      <a:r>
                        <a:rPr lang="en-US" sz="32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415357-1B23-223C-98A1-9AE6427439BC}"/>
              </a:ext>
            </a:extLst>
          </p:cNvPr>
          <p:cNvCxnSpPr/>
          <p:nvPr/>
        </p:nvCxnSpPr>
        <p:spPr>
          <a:xfrm>
            <a:off x="6105239" y="4654170"/>
            <a:ext cx="5577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D0E3BCE3-DABE-BE8D-48BD-A80AAD9D84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1689703"/>
              </p:ext>
            </p:extLst>
          </p:nvPr>
        </p:nvGraphicFramePr>
        <p:xfrm>
          <a:off x="6105239" y="4266185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0C2A55FF-C619-0D62-27BB-883C16AE92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7376027"/>
              </p:ext>
            </p:extLst>
          </p:nvPr>
        </p:nvGraphicFramePr>
        <p:xfrm>
          <a:off x="7115267" y="4073695"/>
          <a:ext cx="4959997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959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RollNo, Branch, Semester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Branch=‘CI’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F9EA39A-BAA5-ABA7-34E2-E39C907364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61385"/>
              </p:ext>
            </p:extLst>
          </p:nvPr>
        </p:nvGraphicFramePr>
        <p:xfrm>
          <a:off x="6105239" y="4907158"/>
          <a:ext cx="10496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Output-2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D0039B3B-0ED8-676F-F3A8-BAA7F5F958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941154"/>
              </p:ext>
            </p:extLst>
          </p:nvPr>
        </p:nvGraphicFramePr>
        <p:xfrm>
          <a:off x="293633" y="4899280"/>
          <a:ext cx="10496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Output-1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A0F3DB96-3A37-B79A-759F-07BDE0EDFF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216290"/>
              </p:ext>
            </p:extLst>
          </p:nvPr>
        </p:nvGraphicFramePr>
        <p:xfrm>
          <a:off x="289754" y="1703759"/>
          <a:ext cx="5545725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0616FB07-E2EB-0E45-1FBC-EBBCAAB10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0597360"/>
              </p:ext>
            </p:extLst>
          </p:nvPr>
        </p:nvGraphicFramePr>
        <p:xfrm>
          <a:off x="289753" y="5260567"/>
          <a:ext cx="5545725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8118BF3B-3DD6-0CAC-F403-48965D4D74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5507989"/>
              </p:ext>
            </p:extLst>
          </p:nvPr>
        </p:nvGraphicFramePr>
        <p:xfrm>
          <a:off x="6105239" y="5272918"/>
          <a:ext cx="330294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14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1622AB-5620-E57F-7E83-C5F9F134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Combined Projection &amp; Selection Operation(Conti..)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AA76B1-0601-8333-158D-C21B4E844FB7}"/>
              </a:ext>
            </a:extLst>
          </p:cNvPr>
          <p:cNvCxnSpPr/>
          <p:nvPr/>
        </p:nvCxnSpPr>
        <p:spPr>
          <a:xfrm>
            <a:off x="270303" y="1294567"/>
            <a:ext cx="8138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07B4911C-9279-1FDF-DDA8-8C2C05EC77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689385"/>
              </p:ext>
            </p:extLst>
          </p:nvPr>
        </p:nvGraphicFramePr>
        <p:xfrm>
          <a:off x="270303" y="906582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67E7CF32-65DB-CB32-7233-EB135E674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83211"/>
              </p:ext>
            </p:extLst>
          </p:nvPr>
        </p:nvGraphicFramePr>
        <p:xfrm>
          <a:off x="1369232" y="897694"/>
          <a:ext cx="71202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12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</a:t>
                      </a:r>
                      <a:r>
                        <a:rPr lang="en-US" sz="2000" b="1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EnrollmentNo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students whose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SPI is more than 8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D6EB48-3D90-975D-7D4F-F1E82C5305F3}"/>
              </a:ext>
            </a:extLst>
          </p:cNvPr>
          <p:cNvCxnSpPr/>
          <p:nvPr/>
        </p:nvCxnSpPr>
        <p:spPr>
          <a:xfrm>
            <a:off x="270303" y="4608601"/>
            <a:ext cx="28346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AADFD64B-EF16-E659-54D0-779AB76834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704514"/>
              </p:ext>
            </p:extLst>
          </p:nvPr>
        </p:nvGraphicFramePr>
        <p:xfrm>
          <a:off x="270303" y="4220616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Step-1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DA75854-4F73-9E05-EAA1-01735A38D4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95686"/>
              </p:ext>
            </p:extLst>
          </p:nvPr>
        </p:nvGraphicFramePr>
        <p:xfrm>
          <a:off x="1280332" y="4028126"/>
          <a:ext cx="1922780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2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SPI&gt;8</a:t>
                      </a:r>
                      <a:r>
                        <a:rPr lang="en-US" sz="32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5B14C-BB38-FCDD-0B26-2C721BFCB691}"/>
              </a:ext>
            </a:extLst>
          </p:cNvPr>
          <p:cNvCxnSpPr/>
          <p:nvPr/>
        </p:nvCxnSpPr>
        <p:spPr>
          <a:xfrm>
            <a:off x="6085788" y="4616856"/>
            <a:ext cx="48463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E81C81F4-8FBF-B3DD-093B-F714F2F7B5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7918732"/>
              </p:ext>
            </p:extLst>
          </p:nvPr>
        </p:nvGraphicFramePr>
        <p:xfrm>
          <a:off x="6085788" y="4228871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B6344124-71DE-A047-E8DA-F1307B8FAE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5920854"/>
              </p:ext>
            </p:extLst>
          </p:nvPr>
        </p:nvGraphicFramePr>
        <p:xfrm>
          <a:off x="7095817" y="4036381"/>
          <a:ext cx="3929380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929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, SPI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SPI&gt;8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7F85216-51FD-A0AC-17DD-A45B72107F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9609905"/>
              </p:ext>
            </p:extLst>
          </p:nvPr>
        </p:nvGraphicFramePr>
        <p:xfrm>
          <a:off x="6085788" y="4801604"/>
          <a:ext cx="10496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Output-2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1AC02387-22C1-E170-20F0-901B4702A8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1838718"/>
              </p:ext>
            </p:extLst>
          </p:nvPr>
        </p:nvGraphicFramePr>
        <p:xfrm>
          <a:off x="274182" y="4807581"/>
          <a:ext cx="10496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Output-1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F55FA212-3989-0B3C-6480-BC1BC138C2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3101076"/>
              </p:ext>
            </p:extLst>
          </p:nvPr>
        </p:nvGraphicFramePr>
        <p:xfrm>
          <a:off x="270303" y="1733019"/>
          <a:ext cx="5545725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10D37155-FD32-33F8-22C0-29FB02752D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581392"/>
              </p:ext>
            </p:extLst>
          </p:nvPr>
        </p:nvGraphicFramePr>
        <p:xfrm>
          <a:off x="270303" y="5170758"/>
          <a:ext cx="5545725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59822AF1-6DA8-397B-F20D-E74601064B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4432975"/>
              </p:ext>
            </p:extLst>
          </p:nvPr>
        </p:nvGraphicFramePr>
        <p:xfrm>
          <a:off x="6085788" y="5170758"/>
          <a:ext cx="266398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63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44980A-CA42-8457-59C2-5A802F31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Combined Projection &amp; Selection Operation(Conti..)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E6D410-2E17-F134-1C1A-B100AF15E86B}"/>
              </a:ext>
            </a:extLst>
          </p:cNvPr>
          <p:cNvCxnSpPr/>
          <p:nvPr/>
        </p:nvCxnSpPr>
        <p:spPr>
          <a:xfrm>
            <a:off x="260575" y="1314022"/>
            <a:ext cx="106984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FF973EFD-E83A-975A-3AAD-608E118885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965135"/>
              </p:ext>
            </p:extLst>
          </p:nvPr>
        </p:nvGraphicFramePr>
        <p:xfrm>
          <a:off x="260575" y="926037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AE6CA78-DCB4-6938-AC08-1505A76C66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80130"/>
              </p:ext>
            </p:extLst>
          </p:nvPr>
        </p:nvGraphicFramePr>
        <p:xfrm>
          <a:off x="1359503" y="917149"/>
          <a:ext cx="986916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869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RollNo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 students who belongs to 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CE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  <a:r>
                        <a:rPr lang="en-US" sz="2000" b="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2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SPI is more than 7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E875C-27E6-07A8-179B-AF07DE2BE459}"/>
              </a:ext>
            </a:extLst>
          </p:cNvPr>
          <p:cNvCxnSpPr/>
          <p:nvPr/>
        </p:nvCxnSpPr>
        <p:spPr>
          <a:xfrm>
            <a:off x="260575" y="4628056"/>
            <a:ext cx="39319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E740574E-4C62-C549-84B5-C0E1588CCF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7149154"/>
              </p:ext>
            </p:extLst>
          </p:nvPr>
        </p:nvGraphicFramePr>
        <p:xfrm>
          <a:off x="260575" y="4240071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Step-1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DBBC26A8-3BEC-0A2F-50FB-C3715ABD6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4120367"/>
              </p:ext>
            </p:extLst>
          </p:nvPr>
        </p:nvGraphicFramePr>
        <p:xfrm>
          <a:off x="1270604" y="4047581"/>
          <a:ext cx="3007043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07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Branch=‘CE’ </a:t>
                      </a:r>
                      <a:r>
                        <a:rPr lang="el-GR" sz="2400" b="1" i="1" baseline="-25000" dirty="0">
                          <a:solidFill>
                            <a:schemeClr val="accent6"/>
                          </a:solidFill>
                        </a:rPr>
                        <a:t>Λ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 SPI&gt;7</a:t>
                      </a:r>
                      <a:r>
                        <a:rPr lang="en-US" sz="32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BFA4-B695-A634-E160-48340E3E8E9C}"/>
              </a:ext>
            </a:extLst>
          </p:cNvPr>
          <p:cNvCxnSpPr/>
          <p:nvPr/>
        </p:nvCxnSpPr>
        <p:spPr>
          <a:xfrm>
            <a:off x="6093872" y="4628056"/>
            <a:ext cx="59436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9A556791-E3D7-62C3-D5E0-2A7E66EEA4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510370"/>
              </p:ext>
            </p:extLst>
          </p:nvPr>
        </p:nvGraphicFramePr>
        <p:xfrm>
          <a:off x="6093872" y="4240071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91E7FD6C-E3A6-C988-9AB9-2DBCDE4128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0910667"/>
              </p:ext>
            </p:extLst>
          </p:nvPr>
        </p:nvGraphicFramePr>
        <p:xfrm>
          <a:off x="7095902" y="4047623"/>
          <a:ext cx="5221143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2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∏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RollNo, Branch, SPI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Branch=‘CE’ </a:t>
                      </a:r>
                      <a:r>
                        <a:rPr lang="el-GR" sz="2400" b="1" i="1" baseline="-25000" dirty="0">
                          <a:solidFill>
                            <a:schemeClr val="accent6"/>
                          </a:solidFill>
                        </a:rPr>
                        <a:t>Λ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 SPI&gt;7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002DF74E-6BC3-6822-2D8E-E03C280EE8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211344"/>
              </p:ext>
            </p:extLst>
          </p:nvPr>
        </p:nvGraphicFramePr>
        <p:xfrm>
          <a:off x="6093872" y="4813181"/>
          <a:ext cx="10496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Output-2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06E8665D-7EFE-1A15-7983-31CC6FC244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0413908"/>
              </p:ext>
            </p:extLst>
          </p:nvPr>
        </p:nvGraphicFramePr>
        <p:xfrm>
          <a:off x="264454" y="4813181"/>
          <a:ext cx="10496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Output-1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16F3EB6D-AC3F-EF00-82B9-D4C1F14EDE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191615"/>
              </p:ext>
            </p:extLst>
          </p:nvPr>
        </p:nvGraphicFramePr>
        <p:xfrm>
          <a:off x="260575" y="1752474"/>
          <a:ext cx="5545725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CB9EFA7D-9F58-B830-064C-5DBA00AA59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0212600"/>
              </p:ext>
            </p:extLst>
          </p:nvPr>
        </p:nvGraphicFramePr>
        <p:xfrm>
          <a:off x="260575" y="5184672"/>
          <a:ext cx="5545725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53517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47EA52A9-5DF8-7A45-65D0-9E3250A74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579720"/>
              </p:ext>
            </p:extLst>
          </p:nvPr>
        </p:nvGraphicFramePr>
        <p:xfrm>
          <a:off x="6093872" y="5178941"/>
          <a:ext cx="2856136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195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8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268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97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9D24-9DDA-A5EA-7DC9-FFD7664E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1AB5-005B-B99D-8603-94D354EB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on </a:t>
            </a:r>
            <a:r>
              <a:rPr lang="en-US" dirty="0"/>
              <a:t>Combine Selection and Projection Operation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37E6C1-BBDD-5AA2-D125-672B126B7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371032"/>
              </p:ext>
            </p:extLst>
          </p:nvPr>
        </p:nvGraphicFramePr>
        <p:xfrm>
          <a:off x="651587" y="889517"/>
          <a:ext cx="6337042" cy="2484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41916">
                  <a:extLst>
                    <a:ext uri="{9D8B030D-6E8A-4147-A177-3AD203B41FA5}">
                      <a16:colId xmlns:a16="http://schemas.microsoft.com/office/drawing/2014/main" val="1510943809"/>
                    </a:ext>
                  </a:extLst>
                </a:gridCol>
                <a:gridCol w="1238570">
                  <a:extLst>
                    <a:ext uri="{9D8B030D-6E8A-4147-A177-3AD203B41FA5}">
                      <a16:colId xmlns:a16="http://schemas.microsoft.com/office/drawing/2014/main" val="4294513911"/>
                    </a:ext>
                  </a:extLst>
                </a:gridCol>
                <a:gridCol w="2130024">
                  <a:extLst>
                    <a:ext uri="{9D8B030D-6E8A-4147-A177-3AD203B41FA5}">
                      <a16:colId xmlns:a16="http://schemas.microsoft.com/office/drawing/2014/main" val="1213094007"/>
                    </a:ext>
                  </a:extLst>
                </a:gridCol>
                <a:gridCol w="1026532">
                  <a:extLst>
                    <a:ext uri="{9D8B030D-6E8A-4147-A177-3AD203B41FA5}">
                      <a16:colId xmlns:a16="http://schemas.microsoft.com/office/drawing/2014/main" val="803937945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73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EmployeeId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Department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0814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74693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Vishal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ADMIN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68221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Chintan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70000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610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Ashish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ACCOUNT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90000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570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1321A0-19D7-62E5-FBE3-4F23A32924C1}"/>
              </a:ext>
            </a:extLst>
          </p:cNvPr>
          <p:cNvSpPr txBox="1"/>
          <p:nvPr/>
        </p:nvSpPr>
        <p:spPr>
          <a:xfrm>
            <a:off x="142292" y="3499604"/>
            <a:ext cx="10391969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lvl="0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prstClr val="black"/>
                </a:solidFill>
              </a:rPr>
              <a:t>Write down the relational algebra for the </a:t>
            </a:r>
            <a:r>
              <a:rPr lang="en-US" sz="2400" b="1" dirty="0">
                <a:solidFill>
                  <a:schemeClr val="accent6"/>
                </a:solidFill>
              </a:rPr>
              <a:t>Employee</a:t>
            </a:r>
            <a:r>
              <a:rPr lang="en-US" sz="2400" dirty="0">
                <a:solidFill>
                  <a:prstClr val="black"/>
                </a:solidFill>
              </a:rPr>
              <a:t> table.</a:t>
            </a:r>
          </a:p>
          <a:p>
            <a:pPr marL="800100" lvl="1" indent="-3429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Ê"/>
            </a:pPr>
            <a:r>
              <a:rPr lang="en-US" sz="2200" dirty="0">
                <a:solidFill>
                  <a:prstClr val="black"/>
                </a:solidFill>
              </a:rPr>
              <a:t>Display the Name of employee belong to “HR” Dept and having salary more than 60000.</a:t>
            </a:r>
          </a:p>
          <a:p>
            <a:pPr marL="800100" lvl="1" indent="-3429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Ê"/>
            </a:pPr>
            <a:r>
              <a:rPr lang="en-US" sz="2200" dirty="0">
                <a:solidFill>
                  <a:prstClr val="black"/>
                </a:solidFill>
              </a:rPr>
              <a:t>Display the Name of all “Admin” and “HR” Department employee.</a:t>
            </a:r>
          </a:p>
          <a:p>
            <a:pPr marL="800100" lvl="1" indent="-3429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Ê"/>
            </a:pPr>
            <a:r>
              <a:rPr lang="en-US" sz="2200" dirty="0">
                <a:solidFill>
                  <a:prstClr val="black"/>
                </a:solidFill>
              </a:rPr>
              <a:t>Display the Name of employee along with their Department name whose salary between 70000 and 80000.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4616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CA6AE-29D6-73E6-D309-4C53EE46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D4E2-AD7E-0C02-9E96-9BA3EA51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EFD3F-BF8E-01F9-3392-2A724BC5D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0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AAFBB84-FBD1-4821-AA09-6D0C52A5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Division Operator - Relational Algebra Operation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8EC89FA-EC2F-4C26-8D04-F582CCB9B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38386"/>
            <a:ext cx="11929641" cy="57762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dirty="0"/>
              <a:t>Symbol: </a:t>
            </a:r>
            <a:r>
              <a:rPr lang="en-US" sz="2600" b="1" dirty="0">
                <a:solidFill>
                  <a:schemeClr val="accent6"/>
                </a:solidFill>
              </a:rPr>
              <a:t>÷</a:t>
            </a:r>
            <a:r>
              <a:rPr lang="en-US" sz="2600" dirty="0"/>
              <a:t> (Division)</a:t>
            </a:r>
          </a:p>
          <a:p>
            <a:r>
              <a:rPr lang="en-US" sz="2600" dirty="0"/>
              <a:t>Notation: </a:t>
            </a:r>
            <a:r>
              <a:rPr lang="en-US" sz="2600" i="1" dirty="0">
                <a:sym typeface="Symbol" pitchFamily="18" charset="2"/>
              </a:rPr>
              <a:t>Relation1 (R1) </a:t>
            </a:r>
            <a:r>
              <a:rPr lang="en-US" sz="2600" b="1" dirty="0">
                <a:solidFill>
                  <a:schemeClr val="accent6"/>
                </a:solidFill>
              </a:rPr>
              <a:t>÷</a:t>
            </a:r>
            <a:r>
              <a:rPr lang="en-US" sz="2600" dirty="0"/>
              <a:t> </a:t>
            </a:r>
            <a:r>
              <a:rPr lang="en-US" sz="2600" i="1" dirty="0">
                <a:sym typeface="Symbol" pitchFamily="18" charset="2"/>
              </a:rPr>
              <a:t>Relation2 (R2)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Condition: </a:t>
            </a:r>
          </a:p>
          <a:p>
            <a:pPr lvl="1"/>
            <a:r>
              <a:rPr lang="en-US" sz="2400" dirty="0"/>
              <a:t>Attributes of relation2 must be a proper subset of attributes of relation1.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Operation:</a:t>
            </a:r>
          </a:p>
          <a:p>
            <a:pPr lvl="1"/>
            <a:r>
              <a:rPr lang="en-US" sz="2400" dirty="0"/>
              <a:t>The output of the division operator will have attributes </a:t>
            </a:r>
            <a:r>
              <a:rPr lang="en-US" sz="2400" b="1" dirty="0">
                <a:solidFill>
                  <a:schemeClr val="accent6"/>
                </a:solidFill>
              </a:rPr>
              <a:t>= </a:t>
            </a:r>
          </a:p>
          <a:p>
            <a:pPr marL="457200" lvl="1" indent="0">
              <a:buNone/>
            </a:pPr>
            <a:r>
              <a:rPr lang="en-US" sz="2400" dirty="0"/>
              <a:t>		All attributes of relation1  </a:t>
            </a:r>
            <a:r>
              <a:rPr lang="en-US" sz="2400" b="1" dirty="0">
                <a:solidFill>
                  <a:schemeClr val="accent6"/>
                </a:solidFill>
              </a:rPr>
              <a:t>–</a:t>
            </a:r>
            <a:r>
              <a:rPr lang="en-US" sz="2400" dirty="0"/>
              <a:t>  All attributes of relation2</a:t>
            </a:r>
          </a:p>
          <a:p>
            <a:pPr lvl="1"/>
            <a:r>
              <a:rPr lang="en-US" sz="2400" dirty="0"/>
              <a:t>The output of the division operator will have tuples</a:t>
            </a:r>
            <a:r>
              <a:rPr lang="en-US" sz="2400" b="1" dirty="0">
                <a:solidFill>
                  <a:schemeClr val="accent6"/>
                </a:solidFill>
              </a:rPr>
              <a:t> = </a:t>
            </a:r>
          </a:p>
          <a:p>
            <a:pPr marL="457200" lvl="1" indent="0">
              <a:buNone/>
            </a:pPr>
            <a:r>
              <a:rPr lang="en-US" sz="2400" dirty="0"/>
              <a:t>		Tuples in relation1, which are associated with the all tuples of relation2.</a:t>
            </a:r>
          </a:p>
          <a:p>
            <a:pPr marL="457200" lvl="1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436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14AF-06D1-86AF-C587-67D5326F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E3E931-EB22-E5BA-0A9B-35FCB655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Division Operator - Relational Algebra Operation(Conti..)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080EFEAB-ED6A-C3C7-F33B-FC9A7898597F}"/>
              </a:ext>
            </a:extLst>
          </p:cNvPr>
          <p:cNvGraphicFramePr>
            <a:graphicFrameLocks/>
          </p:cNvGraphicFramePr>
          <p:nvPr/>
        </p:nvGraphicFramePr>
        <p:xfrm>
          <a:off x="472501" y="90688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9ECB9B-A0BE-8076-9576-AA908E7AD10D}"/>
              </a:ext>
            </a:extLst>
          </p:cNvPr>
          <p:cNvCxnSpPr>
            <a:cxnSpLocks/>
          </p:cNvCxnSpPr>
          <p:nvPr/>
        </p:nvCxnSpPr>
        <p:spPr>
          <a:xfrm flipV="1">
            <a:off x="472501" y="1295740"/>
            <a:ext cx="6945336" cy="1779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66E10C-C5B3-69BC-78BC-2BD577D82AAF}"/>
              </a:ext>
            </a:extLst>
          </p:cNvPr>
          <p:cNvCxnSpPr>
            <a:cxnSpLocks/>
          </p:cNvCxnSpPr>
          <p:nvPr/>
        </p:nvCxnSpPr>
        <p:spPr>
          <a:xfrm flipV="1">
            <a:off x="7931020" y="1320464"/>
            <a:ext cx="3367491" cy="209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E9E6F011-3C37-2832-A627-4CFF87536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708785"/>
              </p:ext>
            </p:extLst>
          </p:nvPr>
        </p:nvGraphicFramePr>
        <p:xfrm>
          <a:off x="7932159" y="926319"/>
          <a:ext cx="1081212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8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83F8B1C6-F97E-42FC-B712-EEEE5DEE9C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1939382"/>
              </p:ext>
            </p:extLst>
          </p:nvPr>
        </p:nvGraphicFramePr>
        <p:xfrm>
          <a:off x="8990424" y="869844"/>
          <a:ext cx="2710413" cy="50974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1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97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 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÷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(Subject)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F312F495-CF11-BA7D-4E8E-4ED7227282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196355"/>
              </p:ext>
            </p:extLst>
          </p:nvPr>
        </p:nvGraphicFramePr>
        <p:xfrm>
          <a:off x="472501" y="1471314"/>
          <a:ext cx="3250413" cy="3596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86928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86">
                <a:tc gridSpan="2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31829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DBMS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JAVA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DBMS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JAVA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0483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DBMS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248412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Het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68426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A534F0FC-D4F1-AF93-8D9E-3D48316EA86B}"/>
              </a:ext>
            </a:extLst>
          </p:cNvPr>
          <p:cNvGraphicFramePr>
            <a:graphicFrameLocks/>
          </p:cNvGraphicFramePr>
          <p:nvPr/>
        </p:nvGraphicFramePr>
        <p:xfrm>
          <a:off x="1572956" y="921985"/>
          <a:ext cx="6251607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25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Division operation between Student and Subject.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79BFE9C0-BB07-5A6C-2599-1FA0F3B4C7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5275460"/>
              </p:ext>
            </p:extLst>
          </p:nvPr>
        </p:nvGraphicFramePr>
        <p:xfrm>
          <a:off x="7931020" y="1433990"/>
          <a:ext cx="1608455" cy="167893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0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1251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459734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92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92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98903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3215B2AD-2AE5-2B88-7544-2487DD2FBA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6270218"/>
              </p:ext>
            </p:extLst>
          </p:nvPr>
        </p:nvGraphicFramePr>
        <p:xfrm>
          <a:off x="4356779" y="1479111"/>
          <a:ext cx="1739221" cy="174418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3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47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221358"/>
                  </a:ext>
                </a:extLst>
              </a:tr>
              <a:tr h="436047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SubjectName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0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DBMS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0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JAVA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25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B4A4-660A-11EA-5440-87B87304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0C11E4-D058-C6D6-F2B1-E35DD498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Division Operator - Relational Algebra Operation(Conti..)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B0607C2-C672-DCA7-A9B3-42071226B087}"/>
              </a:ext>
            </a:extLst>
          </p:cNvPr>
          <p:cNvGraphicFramePr>
            <a:graphicFrameLocks/>
          </p:cNvGraphicFramePr>
          <p:nvPr/>
        </p:nvGraphicFramePr>
        <p:xfrm>
          <a:off x="472501" y="90688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B875F2-E7AE-28AD-8B52-7126D8692DAB}"/>
              </a:ext>
            </a:extLst>
          </p:cNvPr>
          <p:cNvCxnSpPr>
            <a:cxnSpLocks/>
          </p:cNvCxnSpPr>
          <p:nvPr/>
        </p:nvCxnSpPr>
        <p:spPr>
          <a:xfrm flipV="1">
            <a:off x="472501" y="1307348"/>
            <a:ext cx="6880799" cy="618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99337F-6D4D-646E-7B22-219F6EA7D151}"/>
              </a:ext>
            </a:extLst>
          </p:cNvPr>
          <p:cNvCxnSpPr>
            <a:cxnSpLocks/>
          </p:cNvCxnSpPr>
          <p:nvPr/>
        </p:nvCxnSpPr>
        <p:spPr>
          <a:xfrm flipV="1">
            <a:off x="8175229" y="1297974"/>
            <a:ext cx="3087574" cy="209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BD743508-2C09-EB81-C932-1805510CD4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4566464"/>
              </p:ext>
            </p:extLst>
          </p:nvPr>
        </p:nvGraphicFramePr>
        <p:xfrm>
          <a:off x="8176368" y="904962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A34C7725-65BF-4617-E31A-1EB9AA5E65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727461"/>
              </p:ext>
            </p:extLst>
          </p:nvPr>
        </p:nvGraphicFramePr>
        <p:xfrm>
          <a:off x="9178399" y="818318"/>
          <a:ext cx="2084404" cy="50974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08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97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(Student) 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÷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Sports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361D7802-8E10-671F-B883-0A29683C2E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205286"/>
              </p:ext>
            </p:extLst>
          </p:nvPr>
        </p:nvGraphicFramePr>
        <p:xfrm>
          <a:off x="475861" y="1471314"/>
          <a:ext cx="3247053" cy="2804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43608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190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86">
                <a:tc gridSpan="2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31829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GameName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Badminton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Cricket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Badminton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Badminton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25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Het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Cricket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048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0B876F0A-AD4B-2F87-9D1D-7AB63EC64FB1}"/>
              </a:ext>
            </a:extLst>
          </p:cNvPr>
          <p:cNvGraphicFramePr>
            <a:graphicFrameLocks/>
          </p:cNvGraphicFramePr>
          <p:nvPr/>
        </p:nvGraphicFramePr>
        <p:xfrm>
          <a:off x="1572956" y="904790"/>
          <a:ext cx="7430421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43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Division operation between Student and Sports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5647E7F8-EA47-2304-D373-994F057D22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5646"/>
              </p:ext>
            </p:extLst>
          </p:nvPr>
        </p:nvGraphicFramePr>
        <p:xfrm>
          <a:off x="8175229" y="1471314"/>
          <a:ext cx="1656296" cy="128269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56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1251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6023"/>
                  </a:ext>
                </a:extLst>
              </a:tr>
              <a:tr h="459734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926"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98903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825C5B5A-0492-0656-E345-AFA282434B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2882667"/>
              </p:ext>
            </p:extLst>
          </p:nvPr>
        </p:nvGraphicFramePr>
        <p:xfrm>
          <a:off x="4356779" y="1479111"/>
          <a:ext cx="1739221" cy="174418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3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47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Sports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221358"/>
                  </a:ext>
                </a:extLst>
              </a:tr>
              <a:tr h="436047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GameName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0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Badminton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0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Cricket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75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5D103-520C-1F63-D6FF-C4B22508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FBA3-B299-C6DB-6DDF-DAEF6867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Cartesian Product / Cross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01E4E-4884-5987-1D52-6E4E767DC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11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3120ED9-6C33-4F8A-BA0E-C41EC111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Cartesian Product/ Cross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017A-6FBE-4E31-ADCA-12A8FCE04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894"/>
            <a:ext cx="11929641" cy="55905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dirty="0"/>
              <a:t>Symbol: </a:t>
            </a:r>
            <a:r>
              <a:rPr lang="en-US" sz="2600" b="1" dirty="0">
                <a:solidFill>
                  <a:schemeClr val="accent6"/>
                </a:solidFill>
              </a:rPr>
              <a:t>X</a:t>
            </a:r>
            <a:r>
              <a:rPr lang="en-US" sz="2600" dirty="0"/>
              <a:t> (Cross)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Notation: </a:t>
            </a:r>
            <a:r>
              <a:rPr lang="en-US" sz="2600" i="1" dirty="0">
                <a:sym typeface="Symbol" pitchFamily="18" charset="2"/>
              </a:rPr>
              <a:t>Relation-1 (R1) </a:t>
            </a:r>
            <a:r>
              <a:rPr lang="en-US" sz="2600" b="1" dirty="0">
                <a:solidFill>
                  <a:schemeClr val="accent6"/>
                </a:solidFill>
              </a:rPr>
              <a:t>X</a:t>
            </a:r>
            <a:r>
              <a:rPr lang="en-US" sz="2600" dirty="0"/>
              <a:t> </a:t>
            </a:r>
            <a:r>
              <a:rPr lang="en-US" sz="2600" i="1" dirty="0">
                <a:sym typeface="Symbol" pitchFamily="18" charset="2"/>
              </a:rPr>
              <a:t>Relation-2 (R2)</a:t>
            </a:r>
            <a:endParaRPr lang="en-US" sz="2600" dirty="0"/>
          </a:p>
          <a:p>
            <a:pPr>
              <a:lnSpc>
                <a:spcPct val="100000"/>
              </a:lnSpc>
            </a:pPr>
            <a:r>
              <a:rPr lang="en-US" sz="2600" dirty="0"/>
              <a:t>Operation: It will </a:t>
            </a:r>
            <a:r>
              <a:rPr lang="en-US" sz="2600" b="1" dirty="0">
                <a:solidFill>
                  <a:schemeClr val="accent6"/>
                </a:solidFill>
              </a:rPr>
              <a:t>multiply each tuples </a:t>
            </a:r>
            <a:r>
              <a:rPr lang="en-US" sz="2600" dirty="0"/>
              <a:t>of Relation-1 to each tuples of Relation-2.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Attributes of Resultant Relation =  Attributes of R1 </a:t>
            </a:r>
            <a:r>
              <a:rPr lang="en-US" sz="2400" b="1" dirty="0">
                <a:solidFill>
                  <a:schemeClr val="accent6"/>
                </a:solidFill>
              </a:rPr>
              <a:t>+</a:t>
            </a:r>
            <a:r>
              <a:rPr lang="en-US" sz="2400" dirty="0"/>
              <a:t> Attributes of R2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Tuples of Resultant Relation = Tuples of R1 </a:t>
            </a:r>
            <a:r>
              <a:rPr lang="en-US" sz="2400" b="1" dirty="0">
                <a:solidFill>
                  <a:schemeClr val="accent6"/>
                </a:solidFill>
              </a:rPr>
              <a:t>*</a:t>
            </a:r>
            <a:r>
              <a:rPr lang="en-US" sz="2400" dirty="0"/>
              <a:t> Tuples of R2</a:t>
            </a:r>
          </a:p>
        </p:txBody>
      </p:sp>
    </p:spTree>
    <p:extLst>
      <p:ext uri="{BB962C8B-B14F-4D97-AF65-F5344CB8AC3E}">
        <p14:creationId xmlns:p14="http://schemas.microsoft.com/office/powerpoint/2010/main" val="16798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3120ED9-6C33-4F8A-BA0E-C41EC111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Cartesian Product / Cross Join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D4E9BD3-77C4-4D50-8143-D0E8B1BF5A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433519"/>
              </p:ext>
            </p:extLst>
          </p:nvPr>
        </p:nvGraphicFramePr>
        <p:xfrm>
          <a:off x="346358" y="1420508"/>
          <a:ext cx="3507185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2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9607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Raju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CE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Mitesh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67016F-8148-4AFF-A8F6-CB3552FE43E7}"/>
              </a:ext>
            </a:extLst>
          </p:cNvPr>
          <p:cNvCxnSpPr>
            <a:cxnSpLocks/>
          </p:cNvCxnSpPr>
          <p:nvPr/>
        </p:nvCxnSpPr>
        <p:spPr>
          <a:xfrm>
            <a:off x="347663" y="1250969"/>
            <a:ext cx="665606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F18F6580-DB81-457A-AA8C-09E02CC880D9}"/>
              </a:ext>
            </a:extLst>
          </p:cNvPr>
          <p:cNvGraphicFramePr>
            <a:graphicFrameLocks/>
          </p:cNvGraphicFramePr>
          <p:nvPr/>
        </p:nvGraphicFramePr>
        <p:xfrm>
          <a:off x="346358" y="849802"/>
          <a:ext cx="1268157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68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83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2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B654183-3C26-4BA0-892E-041117C0EBAF}"/>
              </a:ext>
            </a:extLst>
          </p:cNvPr>
          <p:cNvGraphicFramePr>
            <a:graphicFrameLocks/>
          </p:cNvGraphicFramePr>
          <p:nvPr/>
        </p:nvGraphicFramePr>
        <p:xfrm>
          <a:off x="1614515" y="845723"/>
          <a:ext cx="541068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10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Cross Product between Student and Result.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00E39-4609-4B09-873C-C6B1D0ED7292}"/>
              </a:ext>
            </a:extLst>
          </p:cNvPr>
          <p:cNvCxnSpPr>
            <a:cxnSpLocks/>
          </p:cNvCxnSpPr>
          <p:nvPr/>
        </p:nvCxnSpPr>
        <p:spPr>
          <a:xfrm flipV="1">
            <a:off x="333235" y="3638121"/>
            <a:ext cx="3277712" cy="70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AAAE417E-904D-4BDE-8FEE-C28EFED00F9D}"/>
              </a:ext>
            </a:extLst>
          </p:cNvPr>
          <p:cNvGraphicFramePr>
            <a:graphicFrameLocks/>
          </p:cNvGraphicFramePr>
          <p:nvPr/>
        </p:nvGraphicFramePr>
        <p:xfrm>
          <a:off x="338138" y="3250271"/>
          <a:ext cx="126969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6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323F9A39-8D62-4F57-8B76-50A65E43CA3B}"/>
              </a:ext>
            </a:extLst>
          </p:cNvPr>
          <p:cNvGraphicFramePr>
            <a:graphicFrameLocks/>
          </p:cNvGraphicFramePr>
          <p:nvPr/>
        </p:nvGraphicFramePr>
        <p:xfrm>
          <a:off x="1671252" y="3237367"/>
          <a:ext cx="210764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107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(Student) X (Result)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324338D6-8B19-4FF9-AA71-946144BB6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0248572"/>
              </p:ext>
            </p:extLst>
          </p:nvPr>
        </p:nvGraphicFramePr>
        <p:xfrm>
          <a:off x="346358" y="3884739"/>
          <a:ext cx="7198446" cy="2407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02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2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1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161">
                <a:tc gridSpan="5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70880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Student. </a:t>
                      </a:r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Result. </a:t>
                      </a:r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Raju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CE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Raju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Mitesh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Mitesh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B47BCC14-4909-46BF-9590-A406BFF37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144319"/>
              </p:ext>
            </p:extLst>
          </p:nvPr>
        </p:nvGraphicFramePr>
        <p:xfrm>
          <a:off x="4585854" y="1417416"/>
          <a:ext cx="1702979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20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85423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31">
            <a:extLst>
              <a:ext uri="{FF2B5EF4-FFF2-40B4-BE49-F238E27FC236}">
                <a16:creationId xmlns:a16="http://schemas.microsoft.com/office/drawing/2014/main" id="{E9B41E34-87EC-4B9D-A1F5-C79AE3F8B66C}"/>
              </a:ext>
            </a:extLst>
          </p:cNvPr>
          <p:cNvSpPr/>
          <p:nvPr/>
        </p:nvSpPr>
        <p:spPr>
          <a:xfrm>
            <a:off x="346358" y="4292711"/>
            <a:ext cx="1705406" cy="38865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32">
            <a:extLst>
              <a:ext uri="{FF2B5EF4-FFF2-40B4-BE49-F238E27FC236}">
                <a16:creationId xmlns:a16="http://schemas.microsoft.com/office/drawing/2014/main" id="{7916BD4A-A4EF-4853-BAF9-A1F80A6B0E06}"/>
              </a:ext>
            </a:extLst>
          </p:cNvPr>
          <p:cNvSpPr/>
          <p:nvPr/>
        </p:nvSpPr>
        <p:spPr>
          <a:xfrm>
            <a:off x="4937307" y="4278186"/>
            <a:ext cx="1579418" cy="38865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3212DF-7AE9-4E8D-B321-20D50527F1F3}"/>
              </a:ext>
            </a:extLst>
          </p:cNvPr>
          <p:cNvCxnSpPr>
            <a:cxnSpLocks/>
          </p:cNvCxnSpPr>
          <p:nvPr/>
        </p:nvCxnSpPr>
        <p:spPr>
          <a:xfrm>
            <a:off x="3853543" y="2404351"/>
            <a:ext cx="73231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9EE7AB-5387-4474-90E0-37E96AC1F69A}"/>
              </a:ext>
            </a:extLst>
          </p:cNvPr>
          <p:cNvCxnSpPr>
            <a:cxnSpLocks/>
          </p:cNvCxnSpPr>
          <p:nvPr/>
        </p:nvCxnSpPr>
        <p:spPr>
          <a:xfrm>
            <a:off x="3853543" y="2794542"/>
            <a:ext cx="73231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5A1BC8-F7E4-41B0-B569-C6D89C93A13A}"/>
              </a:ext>
            </a:extLst>
          </p:cNvPr>
          <p:cNvCxnSpPr>
            <a:cxnSpLocks/>
          </p:cNvCxnSpPr>
          <p:nvPr/>
        </p:nvCxnSpPr>
        <p:spPr>
          <a:xfrm>
            <a:off x="3853543" y="2404351"/>
            <a:ext cx="732311" cy="3223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B152E8-5183-4952-89A5-D4E0A0491576}"/>
              </a:ext>
            </a:extLst>
          </p:cNvPr>
          <p:cNvCxnSpPr>
            <a:cxnSpLocks/>
          </p:cNvCxnSpPr>
          <p:nvPr/>
        </p:nvCxnSpPr>
        <p:spPr>
          <a:xfrm flipV="1">
            <a:off x="3853543" y="2484952"/>
            <a:ext cx="732311" cy="3037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ular Callout 37">
            <a:extLst>
              <a:ext uri="{FF2B5EF4-FFF2-40B4-BE49-F238E27FC236}">
                <a16:creationId xmlns:a16="http://schemas.microsoft.com/office/drawing/2014/main" id="{8B48EB8B-A0F3-4723-AD91-38D9CC195026}"/>
              </a:ext>
            </a:extLst>
          </p:cNvPr>
          <p:cNvSpPr/>
          <p:nvPr/>
        </p:nvSpPr>
        <p:spPr>
          <a:xfrm>
            <a:off x="7725208" y="3048811"/>
            <a:ext cx="4301951" cy="1423700"/>
          </a:xfrm>
          <a:prstGeom prst="wedgeRoundRectCallout">
            <a:avLst>
              <a:gd name="adj1" fmla="val -80155"/>
              <a:gd name="adj2" fmla="val 3637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53975" lvl="2" algn="just"/>
            <a:r>
              <a:rPr lang="en-IN" sz="2000" dirty="0">
                <a:solidFill>
                  <a:schemeClr val="tx1"/>
                </a:solidFill>
              </a:rPr>
              <a:t>If both relations have some attribute with the same name, it can be distinguished by combing </a:t>
            </a:r>
            <a:r>
              <a:rPr lang="en-IN" sz="2000" b="1" dirty="0">
                <a:solidFill>
                  <a:schemeClr val="accent6"/>
                </a:solidFill>
              </a:rPr>
              <a:t>relation-</a:t>
            </a:r>
            <a:r>
              <a:rPr lang="en-IN" sz="2000" b="1" dirty="0" err="1">
                <a:solidFill>
                  <a:schemeClr val="accent6"/>
                </a:solidFill>
              </a:rPr>
              <a:t>name.attribute</a:t>
            </a:r>
            <a:r>
              <a:rPr lang="en-IN" sz="2000" b="1" dirty="0">
                <a:solidFill>
                  <a:schemeClr val="accent6"/>
                </a:solidFill>
              </a:rPr>
              <a:t>-name</a:t>
            </a:r>
            <a:r>
              <a:rPr lang="en-IN" sz="2000" dirty="0">
                <a:solidFill>
                  <a:schemeClr val="tx2"/>
                </a:solidFill>
              </a:rPr>
              <a:t>.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9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3CBC-9E21-5894-19B4-4161962D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43124FB-462E-5A22-8DA6-64D46A402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Cartesian Product/ Cross Join (Consider only Selected Attributes)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564D5326-3299-3361-D418-94E33B95E3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8350411"/>
              </p:ext>
            </p:extLst>
          </p:nvPr>
        </p:nvGraphicFramePr>
        <p:xfrm>
          <a:off x="346358" y="1420508"/>
          <a:ext cx="3507185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6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9607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Raju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CE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Mitesh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CAA20F-72B7-13E1-BB1B-C9C4E5F637E9}"/>
              </a:ext>
            </a:extLst>
          </p:cNvPr>
          <p:cNvCxnSpPr>
            <a:cxnSpLocks/>
          </p:cNvCxnSpPr>
          <p:nvPr/>
        </p:nvCxnSpPr>
        <p:spPr>
          <a:xfrm flipV="1">
            <a:off x="347663" y="1207325"/>
            <a:ext cx="10604817" cy="43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17D9D7F2-6A99-887D-198D-A3DF386753FE}"/>
              </a:ext>
            </a:extLst>
          </p:cNvPr>
          <p:cNvGraphicFramePr>
            <a:graphicFrameLocks/>
          </p:cNvGraphicFramePr>
          <p:nvPr/>
        </p:nvGraphicFramePr>
        <p:xfrm>
          <a:off x="346358" y="849802"/>
          <a:ext cx="1268157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68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83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2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1F7358D3-FDA2-0ED9-0AC1-9FB872E3F686}"/>
              </a:ext>
            </a:extLst>
          </p:cNvPr>
          <p:cNvGraphicFramePr>
            <a:graphicFrameLocks/>
          </p:cNvGraphicFramePr>
          <p:nvPr/>
        </p:nvGraphicFramePr>
        <p:xfrm>
          <a:off x="1672557" y="822359"/>
          <a:ext cx="1017308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17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Cross Product between Student(RollNumber, Name) and Result(RollNumber, SPI).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BA15D2-D536-33A2-1CBA-94163A33DCC4}"/>
              </a:ext>
            </a:extLst>
          </p:cNvPr>
          <p:cNvCxnSpPr>
            <a:cxnSpLocks/>
          </p:cNvCxnSpPr>
          <p:nvPr/>
        </p:nvCxnSpPr>
        <p:spPr>
          <a:xfrm>
            <a:off x="333235" y="3638827"/>
            <a:ext cx="6524765" cy="768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72CB842F-2B58-EA8F-D89F-5A3D7E576C24}"/>
              </a:ext>
            </a:extLst>
          </p:cNvPr>
          <p:cNvGraphicFramePr>
            <a:graphicFrameLocks/>
          </p:cNvGraphicFramePr>
          <p:nvPr/>
        </p:nvGraphicFramePr>
        <p:xfrm>
          <a:off x="338138" y="3250271"/>
          <a:ext cx="126969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6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D1464E04-11AB-C96D-68D3-A2E6B9326A3F}"/>
              </a:ext>
            </a:extLst>
          </p:cNvPr>
          <p:cNvGraphicFramePr>
            <a:graphicFrameLocks/>
          </p:cNvGraphicFramePr>
          <p:nvPr/>
        </p:nvGraphicFramePr>
        <p:xfrm>
          <a:off x="1635234" y="3123271"/>
          <a:ext cx="5325403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2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RollNumber, Name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(Student) X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RollNumber, SPI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(Result)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E82EAF60-A9A0-05E8-B8D8-F0FB3E6C33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4425072"/>
              </p:ext>
            </p:extLst>
          </p:nvPr>
        </p:nvGraphicFramePr>
        <p:xfrm>
          <a:off x="346358" y="3884739"/>
          <a:ext cx="5447952" cy="239884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43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161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70880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Student.RollNo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Result.RollNo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Raju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Raju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Mitesh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Mitesh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37039035-37E1-85F8-870B-560740C79D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5667243"/>
              </p:ext>
            </p:extLst>
          </p:nvPr>
        </p:nvGraphicFramePr>
        <p:xfrm>
          <a:off x="4585854" y="1417416"/>
          <a:ext cx="2030050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11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85423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IN" sz="2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7D1B19-0D0E-5FB3-FCE8-2B808F544A91}"/>
              </a:ext>
            </a:extLst>
          </p:cNvPr>
          <p:cNvCxnSpPr>
            <a:cxnSpLocks/>
          </p:cNvCxnSpPr>
          <p:nvPr/>
        </p:nvCxnSpPr>
        <p:spPr>
          <a:xfrm>
            <a:off x="3853543" y="2404351"/>
            <a:ext cx="73231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77645C-6ADF-9752-45FC-A36AF23D3CAC}"/>
              </a:ext>
            </a:extLst>
          </p:cNvPr>
          <p:cNvCxnSpPr>
            <a:cxnSpLocks/>
          </p:cNvCxnSpPr>
          <p:nvPr/>
        </p:nvCxnSpPr>
        <p:spPr>
          <a:xfrm>
            <a:off x="3853543" y="2794542"/>
            <a:ext cx="73231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536D5-C98A-A7AB-69A7-F8B25CD20F36}"/>
              </a:ext>
            </a:extLst>
          </p:cNvPr>
          <p:cNvCxnSpPr>
            <a:cxnSpLocks/>
          </p:cNvCxnSpPr>
          <p:nvPr/>
        </p:nvCxnSpPr>
        <p:spPr>
          <a:xfrm>
            <a:off x="3853543" y="2404351"/>
            <a:ext cx="732311" cy="3223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B3052A-2169-8869-58F0-087B5450871B}"/>
              </a:ext>
            </a:extLst>
          </p:cNvPr>
          <p:cNvCxnSpPr>
            <a:cxnSpLocks/>
          </p:cNvCxnSpPr>
          <p:nvPr/>
        </p:nvCxnSpPr>
        <p:spPr>
          <a:xfrm flipV="1">
            <a:off x="3853543" y="2484952"/>
            <a:ext cx="732311" cy="3037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57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6F3AD-5958-E60D-D299-A327B11F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254C-24F0-70F1-A5C0-0C7A45DF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Set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F3651-C598-CAF5-DF76-38A2FF00D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260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operators </a:t>
            </a:r>
            <a:r>
              <a:rPr lang="en-US" b="1" dirty="0">
                <a:solidFill>
                  <a:schemeClr val="accent6"/>
                </a:solidFill>
              </a:rPr>
              <a:t>combine the results of two or more queries </a:t>
            </a:r>
            <a:r>
              <a:rPr lang="en-US" dirty="0"/>
              <a:t>into a single result.</a:t>
            </a:r>
          </a:p>
        </p:txBody>
      </p:sp>
      <p:graphicFrame>
        <p:nvGraphicFramePr>
          <p:cNvPr id="4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520785" y="1887904"/>
          <a:ext cx="4389301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Sr.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kern="1200" dirty="0">
                          <a:solidFill>
                            <a:schemeClr val="tx1"/>
                          </a:solidFill>
                        </a:rPr>
                        <a:t>Set Operator</a:t>
                      </a:r>
                      <a:endParaRPr lang="en-US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740367"/>
              </p:ext>
            </p:extLst>
          </p:nvPr>
        </p:nvGraphicFramePr>
        <p:xfrm>
          <a:off x="520785" y="2345670"/>
          <a:ext cx="4388839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sz="2000" b="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477453"/>
              </p:ext>
            </p:extLst>
          </p:nvPr>
        </p:nvGraphicFramePr>
        <p:xfrm>
          <a:off x="519618" y="1424440"/>
          <a:ext cx="3775393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77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Three types of Set Operators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2120936"/>
              </p:ext>
            </p:extLst>
          </p:nvPr>
        </p:nvGraphicFramePr>
        <p:xfrm>
          <a:off x="520785" y="2806322"/>
          <a:ext cx="4388839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Intersect / Intersection</a:t>
                      </a:r>
                      <a:endParaRPr lang="en-US" sz="2000" b="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∩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7196389"/>
              </p:ext>
            </p:extLst>
          </p:nvPr>
        </p:nvGraphicFramePr>
        <p:xfrm>
          <a:off x="520785" y="3204044"/>
          <a:ext cx="4388839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Minus / Set difference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583339" y="4193400"/>
            <a:ext cx="100126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583339" y="3804983"/>
          <a:ext cx="133699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3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Conditions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415336"/>
              </p:ext>
            </p:extLst>
          </p:nvPr>
        </p:nvGraphicFramePr>
        <p:xfrm>
          <a:off x="1864914" y="3775046"/>
          <a:ext cx="8878986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878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 operators will take two or more queries as input, which must be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union-compatible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565748-7A6C-4972-9866-D2C4FFBCA44D}"/>
              </a:ext>
            </a:extLst>
          </p:cNvPr>
          <p:cNvSpPr/>
          <p:nvPr/>
        </p:nvSpPr>
        <p:spPr>
          <a:xfrm>
            <a:off x="486357" y="4531785"/>
            <a:ext cx="9447352" cy="12317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3525" indent="-263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Both queries should have </a:t>
            </a:r>
            <a:r>
              <a:rPr lang="en-US" sz="2400" b="1" dirty="0">
                <a:solidFill>
                  <a:schemeClr val="accent6"/>
                </a:solidFill>
              </a:rPr>
              <a:t>same (equal) number of columns</a:t>
            </a:r>
          </a:p>
          <a:p>
            <a:pPr marL="263525" indent="-263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Corresponding </a:t>
            </a:r>
            <a:r>
              <a:rPr lang="en-US" sz="2400" b="1" dirty="0">
                <a:solidFill>
                  <a:schemeClr val="accent6"/>
                </a:solidFill>
              </a:rPr>
              <a:t>attributes should have the same data type </a:t>
            </a:r>
            <a:r>
              <a:rPr lang="en-US" sz="2400" dirty="0">
                <a:solidFill>
                  <a:schemeClr val="tx1"/>
                </a:solidFill>
              </a:rPr>
              <a:t>or</a:t>
            </a:r>
            <a:r>
              <a:rPr lang="en-US" sz="2400" b="1" dirty="0">
                <a:solidFill>
                  <a:schemeClr val="accent6"/>
                </a:solidFill>
              </a:rPr>
              <a:t> domain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2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348" y="1206428"/>
            <a:ext cx="548640" cy="6636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to Perform Set Operators</a:t>
            </a:r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265854" y="1837688"/>
          <a:ext cx="258572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6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65854" y="1474075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099765" y="1837688"/>
          <a:ext cx="1991678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FId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Dave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099765" y="1474075"/>
          <a:ext cx="8972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413806" y="1843208"/>
          <a:ext cx="203454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6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413806" y="1479595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9207376" y="1843208"/>
          <a:ext cx="226314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FId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Dave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207376" y="1479595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 rot="16200000">
            <a:off x="5158144" y="2498657"/>
            <a:ext cx="20116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21"/>
          <p:cNvSpPr/>
          <p:nvPr/>
        </p:nvSpPr>
        <p:spPr>
          <a:xfrm>
            <a:off x="2437109" y="1164123"/>
            <a:ext cx="640080" cy="822960"/>
          </a:xfrm>
          <a:prstGeom prst="mathMultiply">
            <a:avLst>
              <a:gd name="adj1" fmla="val 15152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255640" y="1317406"/>
            <a:ext cx="75895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55640" y="929421"/>
          <a:ext cx="15576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5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Conditions-1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796810" y="920533"/>
          <a:ext cx="619950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9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Both queries should have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same (equal) number of columns</a:t>
                      </a:r>
                      <a:r>
                        <a:rPr lang="en-US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831" y="4034791"/>
            <a:ext cx="548640" cy="663685"/>
          </a:xfrm>
          <a:prstGeom prst="rect">
            <a:avLst/>
          </a:prstGeom>
        </p:spPr>
      </p:pic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270337" y="4666051"/>
          <a:ext cx="258572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6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70337" y="4302438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104248" y="4666051"/>
          <a:ext cx="2774633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FId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DBMS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Dave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MALP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104248" y="4302438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418289" y="4671571"/>
          <a:ext cx="258572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6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418289" y="4307958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9211859" y="4671571"/>
          <a:ext cx="2555558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FId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Dave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211859" y="4307958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 rot="16200000">
            <a:off x="5162627" y="5327020"/>
            <a:ext cx="20116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Multiply 37"/>
          <p:cNvSpPr/>
          <p:nvPr/>
        </p:nvSpPr>
        <p:spPr>
          <a:xfrm>
            <a:off x="2441592" y="3992486"/>
            <a:ext cx="640080" cy="822960"/>
          </a:xfrm>
          <a:prstGeom prst="mathMultiply">
            <a:avLst>
              <a:gd name="adj1" fmla="val 15152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260123" y="4145769"/>
            <a:ext cx="74066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60123" y="3757784"/>
          <a:ext cx="15576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5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Conditions-2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801293" y="3748896"/>
          <a:ext cx="6400598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00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Corresponding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attributes should have the same data type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2308870" y="4663040"/>
            <a:ext cx="542723" cy="1638563"/>
          </a:xfrm>
          <a:prstGeom prst="roundRect">
            <a:avLst>
              <a:gd name="adj" fmla="val 9167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5077982" y="4663040"/>
            <a:ext cx="798943" cy="1638563"/>
          </a:xfrm>
          <a:prstGeom prst="roundRect">
            <a:avLst>
              <a:gd name="adj" fmla="val 9167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1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8" grpId="0" animBg="1"/>
      <p:bldP spid="44" grpId="0" animBg="1"/>
      <p:bldP spid="4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FDC7B-930A-68A8-0CB4-FA6E368F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65324C5-CB45-CA23-0258-7F925DA21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Set Operators - 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6C9-5075-E89A-FBDD-BDEB34EA7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80880"/>
            <a:ext cx="11929641" cy="5590565"/>
          </a:xfrm>
        </p:spPr>
        <p:txBody>
          <a:bodyPr/>
          <a:lstStyle/>
          <a:p>
            <a:r>
              <a:rPr lang="en-US" dirty="0"/>
              <a:t>Symbol: </a:t>
            </a:r>
            <a:r>
              <a:rPr lang="en-US" b="1" dirty="0">
                <a:solidFill>
                  <a:schemeClr val="accent6"/>
                </a:solidFill>
              </a:rPr>
              <a:t>U</a:t>
            </a:r>
          </a:p>
          <a:p>
            <a:r>
              <a:rPr lang="en-US" dirty="0"/>
              <a:t>Notation: </a:t>
            </a:r>
            <a:r>
              <a:rPr lang="en-US" i="1" dirty="0">
                <a:sym typeface="Symbol" pitchFamily="18" charset="2"/>
              </a:rPr>
              <a:t>Relation-1 (R1)  </a:t>
            </a:r>
            <a:r>
              <a:rPr lang="en-US" b="1" dirty="0">
                <a:solidFill>
                  <a:schemeClr val="accent6"/>
                </a:solidFill>
              </a:rPr>
              <a:t>U</a:t>
            </a:r>
            <a:r>
              <a:rPr lang="en-US" dirty="0"/>
              <a:t>  </a:t>
            </a:r>
            <a:r>
              <a:rPr lang="en-US" i="1" dirty="0">
                <a:sym typeface="Symbol" pitchFamily="18" charset="2"/>
              </a:rPr>
              <a:t>Relation-2 (R2)</a:t>
            </a:r>
            <a:endParaRPr lang="en-US" dirty="0"/>
          </a:p>
          <a:p>
            <a:r>
              <a:rPr lang="en-US" dirty="0"/>
              <a:t>Operation: </a:t>
            </a:r>
          </a:p>
          <a:p>
            <a:pPr lvl="1"/>
            <a:r>
              <a:rPr lang="en-US" dirty="0"/>
              <a:t>It displays all the tuples/records belonging to the first relation (left relation) or the second relation (right relation) or both.</a:t>
            </a:r>
          </a:p>
          <a:p>
            <a:pPr lvl="1"/>
            <a:r>
              <a:rPr lang="en-US" dirty="0"/>
              <a:t>It also </a:t>
            </a:r>
            <a:r>
              <a:rPr lang="en-US" b="1" dirty="0">
                <a:solidFill>
                  <a:schemeClr val="accent6"/>
                </a:solidFill>
              </a:rPr>
              <a:t>eliminates duplicate tuples </a:t>
            </a:r>
            <a:r>
              <a:rPr lang="en-US" dirty="0"/>
              <a:t>(tuples present in both relations appear once).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1378BD33-D8E6-4646-F4CA-DCC64E49F37E}"/>
              </a:ext>
            </a:extLst>
          </p:cNvPr>
          <p:cNvGraphicFramePr>
            <a:graphicFrameLocks/>
          </p:cNvGraphicFramePr>
          <p:nvPr/>
        </p:nvGraphicFramePr>
        <p:xfrm>
          <a:off x="1614521" y="3161316"/>
          <a:ext cx="514699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14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Union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between Customer and Employee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38589C-D98A-09BB-4D00-2D5B4D80AF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521623"/>
              </p:ext>
            </p:extLst>
          </p:nvPr>
        </p:nvGraphicFramePr>
        <p:xfrm>
          <a:off x="502898" y="3123777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20EE54-D4F2-4548-2DDE-67BF951A30F8}"/>
              </a:ext>
            </a:extLst>
          </p:cNvPr>
          <p:cNvCxnSpPr/>
          <p:nvPr/>
        </p:nvCxnSpPr>
        <p:spPr>
          <a:xfrm>
            <a:off x="504735" y="3512101"/>
            <a:ext cx="60807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47DBDA9-0DCB-870A-3C8C-2BDF9F07A324}"/>
              </a:ext>
            </a:extLst>
          </p:cNvPr>
          <p:cNvGraphicFramePr>
            <a:graphicFrameLocks/>
          </p:cNvGraphicFramePr>
          <p:nvPr/>
        </p:nvGraphicFramePr>
        <p:xfrm>
          <a:off x="8124400" y="315120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AB5B9F41-398A-CF51-65FB-A0C050099C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984048"/>
              </p:ext>
            </p:extLst>
          </p:nvPr>
        </p:nvGraphicFramePr>
        <p:xfrm>
          <a:off x="9057624" y="3134523"/>
          <a:ext cx="27673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6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(Customer)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U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(Employee)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559D8E2A-DE16-E7F9-0EB0-E9B537330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398786"/>
              </p:ext>
            </p:extLst>
          </p:nvPr>
        </p:nvGraphicFramePr>
        <p:xfrm>
          <a:off x="8143224" y="3645672"/>
          <a:ext cx="1828800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91315CA4-EA01-546C-B533-641C2DDB12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855255"/>
              </p:ext>
            </p:extLst>
          </p:nvPr>
        </p:nvGraphicFramePr>
        <p:xfrm>
          <a:off x="502898" y="3675870"/>
          <a:ext cx="170564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05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82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E4E4B845-5CBA-D9B3-EE20-F1CBC269E7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759056"/>
              </p:ext>
            </p:extLst>
          </p:nvPr>
        </p:nvGraphicFramePr>
        <p:xfrm>
          <a:off x="2602794" y="3672258"/>
          <a:ext cx="190330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3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0303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C472764A-18DB-F6DC-765D-DD2018752D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7962203"/>
              </p:ext>
            </p:extLst>
          </p:nvPr>
        </p:nvGraphicFramePr>
        <p:xfrm>
          <a:off x="1590059" y="5768587"/>
          <a:ext cx="7796537" cy="701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796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there any difference in the output if we swap the tables in Union operator.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(Employee)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U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(Customer).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BA095C7-65C9-0EE8-0B45-2A9A7B734E60}"/>
              </a:ext>
            </a:extLst>
          </p:cNvPr>
          <p:cNvGraphicFramePr>
            <a:graphicFrameLocks/>
          </p:cNvGraphicFramePr>
          <p:nvPr/>
        </p:nvGraphicFramePr>
        <p:xfrm>
          <a:off x="496251" y="5846334"/>
          <a:ext cx="1100455" cy="6190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9076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07532D-97FC-0DC5-ED4C-C85D5562120F}"/>
              </a:ext>
            </a:extLst>
          </p:cNvPr>
          <p:cNvCxnSpPr>
            <a:cxnSpLocks/>
          </p:cNvCxnSpPr>
          <p:nvPr/>
        </p:nvCxnSpPr>
        <p:spPr>
          <a:xfrm>
            <a:off x="502898" y="6457587"/>
            <a:ext cx="8799722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EBDBCD-35A1-E7B0-A6E4-0BAD9AA6D2B7}"/>
              </a:ext>
            </a:extLst>
          </p:cNvPr>
          <p:cNvCxnSpPr/>
          <p:nvPr/>
        </p:nvCxnSpPr>
        <p:spPr>
          <a:xfrm>
            <a:off x="8143224" y="3527551"/>
            <a:ext cx="3566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33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Operator Example 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4736420"/>
              </p:ext>
            </p:extLst>
          </p:nvPr>
        </p:nvGraphicFramePr>
        <p:xfrm>
          <a:off x="857543" y="1481738"/>
          <a:ext cx="2878204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5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89882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926816" y="1263735"/>
            <a:ext cx="74066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57543" y="88508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868782"/>
              </p:ext>
            </p:extLst>
          </p:nvPr>
        </p:nvGraphicFramePr>
        <p:xfrm>
          <a:off x="1956472" y="866861"/>
          <a:ext cx="6605637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60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Name of person who are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either employee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customer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>
            <a:cxnSpLocks/>
          </p:cNvCxnSpPr>
          <p:nvPr/>
        </p:nvCxnSpPr>
        <p:spPr>
          <a:xfrm>
            <a:off x="843688" y="3743668"/>
            <a:ext cx="5252312" cy="43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43688" y="336387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6228439"/>
              </p:ext>
            </p:extLst>
          </p:nvPr>
        </p:nvGraphicFramePr>
        <p:xfrm>
          <a:off x="857543" y="3920710"/>
          <a:ext cx="1828800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09003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91233"/>
              </p:ext>
            </p:extLst>
          </p:nvPr>
        </p:nvGraphicFramePr>
        <p:xfrm>
          <a:off x="4823886" y="1481738"/>
          <a:ext cx="3388904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44598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8000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9000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7394344"/>
              </p:ext>
            </p:extLst>
          </p:nvPr>
        </p:nvGraphicFramePr>
        <p:xfrm>
          <a:off x="1845718" y="3291461"/>
          <a:ext cx="5378897" cy="472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7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(Customer)  </a:t>
                      </a:r>
                      <a:r>
                        <a:rPr lang="en-US" sz="2500" dirty="0">
                          <a:solidFill>
                            <a:schemeClr val="accent6"/>
                          </a:solidFill>
                        </a:rPr>
                        <a:t>U</a:t>
                      </a:r>
                      <a:r>
                        <a:rPr lang="en-US" sz="2500" b="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Name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(Employee)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29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A5F1-9C60-B671-12A0-C05310D3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3FFA-25AC-4EB7-7435-0F0F7A44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Operator Example Using SQL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EC0D173D-4E5A-B412-685B-1EE4018F3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2050006"/>
              </p:ext>
            </p:extLst>
          </p:nvPr>
        </p:nvGraphicFramePr>
        <p:xfrm>
          <a:off x="857543" y="1481738"/>
          <a:ext cx="2878204" cy="1706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5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89882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200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10000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20000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C69B21-4024-E36F-FC76-1AD855472BFA}"/>
              </a:ext>
            </a:extLst>
          </p:cNvPr>
          <p:cNvCxnSpPr/>
          <p:nvPr/>
        </p:nvCxnSpPr>
        <p:spPr>
          <a:xfrm>
            <a:off x="926816" y="1263735"/>
            <a:ext cx="74066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0CEAF2FF-622F-D2FA-B937-C27B6076A9C3}"/>
              </a:ext>
            </a:extLst>
          </p:cNvPr>
          <p:cNvGraphicFramePr>
            <a:graphicFrameLocks/>
          </p:cNvGraphicFramePr>
          <p:nvPr/>
        </p:nvGraphicFramePr>
        <p:xfrm>
          <a:off x="857543" y="88508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324A0A8D-13F3-B505-CE88-72D31BBB4B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2191761"/>
              </p:ext>
            </p:extLst>
          </p:nvPr>
        </p:nvGraphicFramePr>
        <p:xfrm>
          <a:off x="1956472" y="866861"/>
          <a:ext cx="6605637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60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Name of person who are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either</a:t>
                      </a:r>
                      <a:r>
                        <a:rPr lang="en-US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</a:t>
                      </a:r>
                      <a:r>
                        <a:rPr lang="en-US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en-US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6F640FF5-E2A8-1EE5-62A4-DC1231ABBB67}"/>
              </a:ext>
            </a:extLst>
          </p:cNvPr>
          <p:cNvGraphicFramePr>
            <a:graphicFrameLocks/>
          </p:cNvGraphicFramePr>
          <p:nvPr/>
        </p:nvGraphicFramePr>
        <p:xfrm>
          <a:off x="843688" y="336387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B54805BF-5669-3D6C-4494-2B51AE0508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203538"/>
              </p:ext>
            </p:extLst>
          </p:nvPr>
        </p:nvGraphicFramePr>
        <p:xfrm>
          <a:off x="4944552" y="3398798"/>
          <a:ext cx="1828800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09003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ECDCC921-B73D-5104-D12C-775640AECF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279435"/>
              </p:ext>
            </p:extLst>
          </p:nvPr>
        </p:nvGraphicFramePr>
        <p:xfrm>
          <a:off x="4944552" y="1481738"/>
          <a:ext cx="3388904" cy="1706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44598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22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tx1"/>
                          </a:solidFill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8000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/>
                        <a:t>9000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1D4AD3EA-0FE3-2824-23B5-A1E970ED43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8195620"/>
              </p:ext>
            </p:extLst>
          </p:nvPr>
        </p:nvGraphicFramePr>
        <p:xfrm>
          <a:off x="769043" y="3933997"/>
          <a:ext cx="3756304" cy="1412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75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354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solidFill>
                            <a:srgbClr val="0000FF"/>
                          </a:solidFill>
                          <a:latin typeface="+mn-lt"/>
                        </a:rPr>
                        <a:t>SELECT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1" dirty="0">
                          <a:solidFill>
                            <a:srgbClr val="0000FF"/>
                          </a:solidFill>
                          <a:latin typeface="+mn-lt"/>
                        </a:rPr>
                        <a:t>FROM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 CUSTOMER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solidFill>
                            <a:srgbClr val="0000FF"/>
                          </a:solidFill>
                          <a:latin typeface="+mn-lt"/>
                        </a:rPr>
                        <a:t>UNION</a:t>
                      </a:r>
                      <a:r>
                        <a:rPr lang="en-IN" sz="2000" b="1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solidFill>
                            <a:srgbClr val="0000FF"/>
                          </a:solidFill>
                          <a:latin typeface="+mn-lt"/>
                        </a:rPr>
                        <a:t>SELECT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1" dirty="0">
                          <a:solidFill>
                            <a:srgbClr val="0000FF"/>
                          </a:solidFill>
                          <a:latin typeface="+mn-lt"/>
                        </a:rPr>
                        <a:t>FROM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 EMPLOYEE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50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E12F-7AE5-A32B-C229-1B59C661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174D2B6-194F-4133-8113-FDFE79CF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Set Operators - Intersect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88D1-4D24-4C62-019E-A04E355A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894"/>
            <a:ext cx="11929641" cy="5740516"/>
          </a:xfrm>
        </p:spPr>
        <p:txBody>
          <a:bodyPr/>
          <a:lstStyle/>
          <a:p>
            <a:r>
              <a:rPr lang="en-US" dirty="0"/>
              <a:t>Symbol: </a:t>
            </a:r>
            <a:r>
              <a:rPr lang="en-US" b="1" dirty="0">
                <a:solidFill>
                  <a:schemeClr val="accent6"/>
                </a:solidFill>
              </a:rPr>
              <a:t>∩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Notation: </a:t>
            </a:r>
            <a:r>
              <a:rPr lang="en-US" i="1" dirty="0">
                <a:sym typeface="Symbol" pitchFamily="18" charset="2"/>
              </a:rPr>
              <a:t>Relation-1 (R1)  </a:t>
            </a:r>
            <a:r>
              <a:rPr lang="en-US" b="1" dirty="0">
                <a:solidFill>
                  <a:schemeClr val="accent6"/>
                </a:solidFill>
              </a:rPr>
              <a:t>∩</a:t>
            </a:r>
            <a:r>
              <a:rPr lang="en-US" dirty="0"/>
              <a:t>  </a:t>
            </a:r>
            <a:r>
              <a:rPr lang="en-US" i="1" dirty="0">
                <a:sym typeface="Symbol" pitchFamily="18" charset="2"/>
              </a:rPr>
              <a:t>Relation-2 (R2)</a:t>
            </a:r>
            <a:endParaRPr lang="en-US" dirty="0"/>
          </a:p>
          <a:p>
            <a:r>
              <a:rPr lang="en-US" dirty="0"/>
              <a:t>Operation: </a:t>
            </a:r>
          </a:p>
          <a:p>
            <a:pPr lvl="1"/>
            <a:r>
              <a:rPr lang="en-US" dirty="0"/>
              <a:t>It displays all the tuples/records belonging to both relations. OR</a:t>
            </a:r>
          </a:p>
          <a:p>
            <a:pPr lvl="1"/>
            <a:r>
              <a:rPr lang="en-US" dirty="0"/>
              <a:t>It displays all the tuples/records which are common from both relations.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53BF9F89-8EAE-64FF-0EEB-5CE1CCCCC21D}"/>
              </a:ext>
            </a:extLst>
          </p:cNvPr>
          <p:cNvGraphicFramePr>
            <a:graphicFrameLocks/>
          </p:cNvGraphicFramePr>
          <p:nvPr/>
        </p:nvGraphicFramePr>
        <p:xfrm>
          <a:off x="1612995" y="2891291"/>
          <a:ext cx="5936208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3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Intersection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between Customer and Employee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728B5C-1C86-9BCC-42A8-2A6477CF420D}"/>
              </a:ext>
            </a:extLst>
          </p:cNvPr>
          <p:cNvGraphicFramePr>
            <a:graphicFrameLocks/>
          </p:cNvGraphicFramePr>
          <p:nvPr/>
        </p:nvGraphicFramePr>
        <p:xfrm>
          <a:off x="514066" y="2900183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5257F9-AA14-A665-7D01-B8709BFDD29F}"/>
              </a:ext>
            </a:extLst>
          </p:cNvPr>
          <p:cNvCxnSpPr>
            <a:cxnSpLocks/>
          </p:cNvCxnSpPr>
          <p:nvPr/>
        </p:nvCxnSpPr>
        <p:spPr>
          <a:xfrm flipV="1">
            <a:off x="514066" y="3287531"/>
            <a:ext cx="6773142" cy="63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DD0DB2B-5F31-51A6-5166-ECE96D4DCF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5567872"/>
              </p:ext>
            </p:extLst>
          </p:nvPr>
        </p:nvGraphicFramePr>
        <p:xfrm>
          <a:off x="8138142" y="2900622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1CFA2615-1B3F-DCD9-7CEB-8F334347D7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079401"/>
              </p:ext>
            </p:extLst>
          </p:nvPr>
        </p:nvGraphicFramePr>
        <p:xfrm>
          <a:off x="9179310" y="2867032"/>
          <a:ext cx="27673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6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(Customer)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∩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(Employee)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6CE9A32C-E479-D92B-E816-A5D1D8D15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76788"/>
              </p:ext>
            </p:extLst>
          </p:nvPr>
        </p:nvGraphicFramePr>
        <p:xfrm>
          <a:off x="8156966" y="3395086"/>
          <a:ext cx="1828800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A3143B74-C65F-697D-4951-7227528C3F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1135694"/>
              </p:ext>
            </p:extLst>
          </p:nvPr>
        </p:nvGraphicFramePr>
        <p:xfrm>
          <a:off x="502898" y="3499079"/>
          <a:ext cx="170564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05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82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47C9F094-9433-95FE-F06B-8B882EFFA4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0410580"/>
              </p:ext>
            </p:extLst>
          </p:nvPr>
        </p:nvGraphicFramePr>
        <p:xfrm>
          <a:off x="2548367" y="3499079"/>
          <a:ext cx="190330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3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0303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A07DA8EA-97EC-DB6B-218D-960A89BE7C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525838"/>
              </p:ext>
            </p:extLst>
          </p:nvPr>
        </p:nvGraphicFramePr>
        <p:xfrm>
          <a:off x="1590059" y="5768587"/>
          <a:ext cx="10477818" cy="701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7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there any difference in the output if we swap the tables in Intersection.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(Employee)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∩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(Customer)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C5D41688-80F7-518C-2071-F0EE3B5834F8}"/>
              </a:ext>
            </a:extLst>
          </p:cNvPr>
          <p:cNvGraphicFramePr>
            <a:graphicFrameLocks/>
          </p:cNvGraphicFramePr>
          <p:nvPr/>
        </p:nvGraphicFramePr>
        <p:xfrm>
          <a:off x="496251" y="5846334"/>
          <a:ext cx="1100455" cy="6190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9076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AAEEB3-0831-3A45-E077-BF885C5808D3}"/>
              </a:ext>
            </a:extLst>
          </p:cNvPr>
          <p:cNvCxnSpPr>
            <a:cxnSpLocks/>
          </p:cNvCxnSpPr>
          <p:nvPr/>
        </p:nvCxnSpPr>
        <p:spPr>
          <a:xfrm>
            <a:off x="496251" y="6457428"/>
            <a:ext cx="8759716" cy="617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615427-79CD-0A5B-D81A-21CA56810B8E}"/>
              </a:ext>
            </a:extLst>
          </p:cNvPr>
          <p:cNvCxnSpPr/>
          <p:nvPr/>
        </p:nvCxnSpPr>
        <p:spPr>
          <a:xfrm>
            <a:off x="8156966" y="3276965"/>
            <a:ext cx="3566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05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 Operator Example 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926816" y="1540825"/>
            <a:ext cx="75438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26816" y="115284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571686"/>
              </p:ext>
            </p:extLst>
          </p:nvPr>
        </p:nvGraphicFramePr>
        <p:xfrm>
          <a:off x="2025745" y="1143952"/>
          <a:ext cx="663289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632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Name of person who are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employee as well as customer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>
          <a:xfrm>
            <a:off x="926816" y="4173533"/>
            <a:ext cx="52578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26816" y="378554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4174765"/>
              </p:ext>
            </p:extLst>
          </p:nvPr>
        </p:nvGraphicFramePr>
        <p:xfrm>
          <a:off x="926815" y="4569341"/>
          <a:ext cx="1828800" cy="12496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670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8204778"/>
              </p:ext>
            </p:extLst>
          </p:nvPr>
        </p:nvGraphicFramePr>
        <p:xfrm>
          <a:off x="1936303" y="3713070"/>
          <a:ext cx="4446905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46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(Customer)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∩</a:t>
                      </a:r>
                      <a:r>
                        <a:rPr lang="en-US" sz="2000" b="1" baseline="0" dirty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Name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(Employee)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96CF7151-6995-4971-9949-8551F353D7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467911"/>
              </p:ext>
            </p:extLst>
          </p:nvPr>
        </p:nvGraphicFramePr>
        <p:xfrm>
          <a:off x="926815" y="1844659"/>
          <a:ext cx="2866558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69069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B8D1379A-9E9E-48C8-9E40-8CC5E8EB7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2060019"/>
              </p:ext>
            </p:extLst>
          </p:nvPr>
        </p:nvGraphicFramePr>
        <p:xfrm>
          <a:off x="4765995" y="1841399"/>
          <a:ext cx="3448887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8482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8000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9000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4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105A-81E5-7BB9-50EE-5672BB69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5449-CDFA-F980-57B4-9745384C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 Operator Example Using SQL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FD418E-5306-059D-8D9B-D54AEF6E1AC0}"/>
              </a:ext>
            </a:extLst>
          </p:cNvPr>
          <p:cNvCxnSpPr/>
          <p:nvPr/>
        </p:nvCxnSpPr>
        <p:spPr>
          <a:xfrm>
            <a:off x="926816" y="1540825"/>
            <a:ext cx="75438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CBCE1B77-056F-9687-580C-F3487A98182A}"/>
              </a:ext>
            </a:extLst>
          </p:cNvPr>
          <p:cNvGraphicFramePr>
            <a:graphicFrameLocks/>
          </p:cNvGraphicFramePr>
          <p:nvPr/>
        </p:nvGraphicFramePr>
        <p:xfrm>
          <a:off x="926816" y="115284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017F6E3B-CB04-6EE8-F658-CFDDA8D970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6364357"/>
              </p:ext>
            </p:extLst>
          </p:nvPr>
        </p:nvGraphicFramePr>
        <p:xfrm>
          <a:off x="2025745" y="1143952"/>
          <a:ext cx="663289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632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Name of person who are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employee as well as customer</a:t>
                      </a:r>
                      <a:r>
                        <a:rPr lang="en-US" sz="20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0D59D58A-E315-26CD-006B-516C478BD5D8}"/>
              </a:ext>
            </a:extLst>
          </p:cNvPr>
          <p:cNvGraphicFramePr>
            <a:graphicFrameLocks/>
          </p:cNvGraphicFramePr>
          <p:nvPr/>
        </p:nvGraphicFramePr>
        <p:xfrm>
          <a:off x="926816" y="378554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85C823AE-F507-D62B-ABFE-93F0C3327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7591288"/>
              </p:ext>
            </p:extLst>
          </p:nvPr>
        </p:nvGraphicFramePr>
        <p:xfrm>
          <a:off x="4765995" y="3780070"/>
          <a:ext cx="1828800" cy="12496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670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44977B78-34E0-B056-2129-F277870AB3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2437130"/>
              </p:ext>
            </p:extLst>
          </p:nvPr>
        </p:nvGraphicFramePr>
        <p:xfrm>
          <a:off x="895286" y="4341376"/>
          <a:ext cx="3546085" cy="1412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54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FROM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CUSTOMER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INTERSECT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FROM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EMPLOYEE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47D9005C-792D-51CB-B0A9-821AA0CA3D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8813222"/>
              </p:ext>
            </p:extLst>
          </p:nvPr>
        </p:nvGraphicFramePr>
        <p:xfrm>
          <a:off x="926815" y="1844659"/>
          <a:ext cx="2866558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69069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20000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C14CA366-214E-8CE0-A317-373544D53F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066903"/>
              </p:ext>
            </p:extLst>
          </p:nvPr>
        </p:nvGraphicFramePr>
        <p:xfrm>
          <a:off x="4765995" y="1841399"/>
          <a:ext cx="3448887" cy="1661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5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8482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 err="1">
                          <a:solidFill>
                            <a:schemeClr val="tx1"/>
                          </a:solidFill>
                        </a:rPr>
                        <a:t>Dept</a:t>
                      </a:r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8000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9000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65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868A-E024-9801-F6E1-C3C71EAD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D48FFC7-C605-6294-22C0-D311638C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Set Operators - Minus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3D91-5321-6821-F727-0EAEF7846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894"/>
            <a:ext cx="11929641" cy="5740516"/>
          </a:xfrm>
        </p:spPr>
        <p:txBody>
          <a:bodyPr/>
          <a:lstStyle/>
          <a:p>
            <a:r>
              <a:rPr lang="en-US" dirty="0"/>
              <a:t>Symbol: </a:t>
            </a:r>
            <a:r>
              <a:rPr lang="en-US" dirty="0">
                <a:solidFill>
                  <a:schemeClr val="accent6"/>
                </a:solidFill>
              </a:rPr>
              <a:t>−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Notation: </a:t>
            </a:r>
            <a:r>
              <a:rPr lang="en-US" i="1" dirty="0">
                <a:sym typeface="Symbol" pitchFamily="18" charset="2"/>
              </a:rPr>
              <a:t>Relation-1 (R1)  </a:t>
            </a:r>
            <a:r>
              <a:rPr lang="en-US" dirty="0">
                <a:solidFill>
                  <a:schemeClr val="accent6"/>
                </a:solidFill>
              </a:rPr>
              <a:t>−</a:t>
            </a:r>
            <a:r>
              <a:rPr lang="en-US" dirty="0"/>
              <a:t>  </a:t>
            </a:r>
            <a:r>
              <a:rPr lang="en-US" i="1" dirty="0">
                <a:sym typeface="Symbol" pitchFamily="18" charset="2"/>
              </a:rPr>
              <a:t>Relation-2 (R2)</a:t>
            </a:r>
            <a:endParaRPr lang="en-US" dirty="0"/>
          </a:p>
          <a:p>
            <a:r>
              <a:rPr lang="en-US" dirty="0"/>
              <a:t>Operation: </a:t>
            </a:r>
          </a:p>
          <a:p>
            <a:pPr lvl="1"/>
            <a:r>
              <a:rPr lang="en-US" dirty="0"/>
              <a:t>It displays all the tuples/records belonging to the first relation (left relation) but not in the second relation (right relation).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CE8A4C9-A1D8-19F6-CC55-6FE30A358539}"/>
              </a:ext>
            </a:extLst>
          </p:cNvPr>
          <p:cNvGraphicFramePr>
            <a:graphicFrameLocks/>
          </p:cNvGraphicFramePr>
          <p:nvPr/>
        </p:nvGraphicFramePr>
        <p:xfrm>
          <a:off x="1596706" y="2901636"/>
          <a:ext cx="5936208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3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Set difference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between Customer and Employee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75263C-5D35-071D-646F-14D544252B4B}"/>
              </a:ext>
            </a:extLst>
          </p:cNvPr>
          <p:cNvGraphicFramePr>
            <a:graphicFrameLocks/>
          </p:cNvGraphicFramePr>
          <p:nvPr/>
        </p:nvGraphicFramePr>
        <p:xfrm>
          <a:off x="514066" y="2900183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519646-28B4-B9CA-C813-645369A2F29F}"/>
              </a:ext>
            </a:extLst>
          </p:cNvPr>
          <p:cNvCxnSpPr>
            <a:cxnSpLocks/>
          </p:cNvCxnSpPr>
          <p:nvPr/>
        </p:nvCxnSpPr>
        <p:spPr>
          <a:xfrm flipV="1">
            <a:off x="514066" y="3287531"/>
            <a:ext cx="6941093" cy="63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1ABFEE03-3889-A39D-B9B5-3E0375BF52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867943"/>
              </p:ext>
            </p:extLst>
          </p:nvPr>
        </p:nvGraphicFramePr>
        <p:xfrm>
          <a:off x="8100142" y="2900622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D801484E-CC27-257D-1457-E4CA2EC64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878822"/>
              </p:ext>
            </p:extLst>
          </p:nvPr>
        </p:nvGraphicFramePr>
        <p:xfrm>
          <a:off x="9141310" y="2867032"/>
          <a:ext cx="27673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6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(Customer) </a:t>
                      </a: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−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(Employee)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6F4DDA57-9C88-B78A-7C6B-78227BB6E4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341642"/>
              </p:ext>
            </p:extLst>
          </p:nvPr>
        </p:nvGraphicFramePr>
        <p:xfrm>
          <a:off x="8118966" y="3395086"/>
          <a:ext cx="18288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7B0F373D-341D-5B4A-B67C-EF148DEE12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1022597"/>
              </p:ext>
            </p:extLst>
          </p:nvPr>
        </p:nvGraphicFramePr>
        <p:xfrm>
          <a:off x="502898" y="3499079"/>
          <a:ext cx="170564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05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82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F78E91F-8EBB-CFAD-1CFB-0E60FAB7B7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105838"/>
              </p:ext>
            </p:extLst>
          </p:nvPr>
        </p:nvGraphicFramePr>
        <p:xfrm>
          <a:off x="2548367" y="3499079"/>
          <a:ext cx="190330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3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0303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8E9C6585-A843-9263-CB13-00EC041F2F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3980632"/>
              </p:ext>
            </p:extLst>
          </p:nvPr>
        </p:nvGraphicFramePr>
        <p:xfrm>
          <a:off x="1590059" y="5768587"/>
          <a:ext cx="10477818" cy="701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47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there any difference in the output if we swap the tables in Intersection.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(Employee) </a:t>
                      </a:r>
                      <a:r>
                        <a:rPr lang="en-US" sz="2000" dirty="0">
                          <a:solidFill>
                            <a:schemeClr val="accent6"/>
                          </a:solidFill>
                        </a:rPr>
                        <a:t>−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(Customer)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E12B08A3-64BC-5C26-F0E7-EACCD654FAA5}"/>
              </a:ext>
            </a:extLst>
          </p:cNvPr>
          <p:cNvGraphicFramePr>
            <a:graphicFrameLocks/>
          </p:cNvGraphicFramePr>
          <p:nvPr/>
        </p:nvGraphicFramePr>
        <p:xfrm>
          <a:off x="496251" y="5846334"/>
          <a:ext cx="1100455" cy="6190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9076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6B4EB7-B4E5-908C-7369-920BC00ED903}"/>
              </a:ext>
            </a:extLst>
          </p:cNvPr>
          <p:cNvCxnSpPr>
            <a:cxnSpLocks/>
          </p:cNvCxnSpPr>
          <p:nvPr/>
        </p:nvCxnSpPr>
        <p:spPr>
          <a:xfrm>
            <a:off x="496251" y="6457428"/>
            <a:ext cx="8759716" cy="617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DC9D0C-AE0A-E5D4-109C-46544816742F}"/>
              </a:ext>
            </a:extLst>
          </p:cNvPr>
          <p:cNvCxnSpPr>
            <a:cxnSpLocks/>
          </p:cNvCxnSpPr>
          <p:nvPr/>
        </p:nvCxnSpPr>
        <p:spPr>
          <a:xfrm>
            <a:off x="8118966" y="3276965"/>
            <a:ext cx="362267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01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9C2B-94F5-9B96-3E28-DBEA641B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A144C3B-4561-B8C2-0707-0E913849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Minus Operator Example 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F0F9803-86E7-4265-4D46-4917EB6549EB}"/>
              </a:ext>
            </a:extLst>
          </p:cNvPr>
          <p:cNvGraphicFramePr>
            <a:graphicFrameLocks/>
          </p:cNvGraphicFramePr>
          <p:nvPr/>
        </p:nvGraphicFramePr>
        <p:xfrm>
          <a:off x="1612995" y="978513"/>
          <a:ext cx="6150074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50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Set difference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between Employee and Customer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3AFE80-84BF-E0ED-DF4D-DB2DF6536C3F}"/>
              </a:ext>
            </a:extLst>
          </p:cNvPr>
          <p:cNvGraphicFramePr>
            <a:graphicFrameLocks/>
          </p:cNvGraphicFramePr>
          <p:nvPr/>
        </p:nvGraphicFramePr>
        <p:xfrm>
          <a:off x="514066" y="978076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2002EE-43F1-7941-A588-0DECAACEEED6}"/>
              </a:ext>
            </a:extLst>
          </p:cNvPr>
          <p:cNvCxnSpPr>
            <a:cxnSpLocks/>
          </p:cNvCxnSpPr>
          <p:nvPr/>
        </p:nvCxnSpPr>
        <p:spPr>
          <a:xfrm flipV="1">
            <a:off x="514066" y="1356101"/>
            <a:ext cx="7035137" cy="63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82BE51E-2033-B26C-736F-1883118D0B2C}"/>
              </a:ext>
            </a:extLst>
          </p:cNvPr>
          <p:cNvGraphicFramePr>
            <a:graphicFrameLocks/>
          </p:cNvGraphicFramePr>
          <p:nvPr/>
        </p:nvGraphicFramePr>
        <p:xfrm>
          <a:off x="519952" y="4093600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19168A8E-8EFC-DBCD-9E17-192048C390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828081"/>
              </p:ext>
            </p:extLst>
          </p:nvPr>
        </p:nvGraphicFramePr>
        <p:xfrm>
          <a:off x="1521982" y="4074944"/>
          <a:ext cx="27673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6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(Employee) </a:t>
                      </a:r>
                      <a:r>
                        <a:rPr lang="en-US" sz="2000" dirty="0">
                          <a:solidFill>
                            <a:schemeClr val="accent6"/>
                          </a:solidFill>
                        </a:rPr>
                        <a:t>−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(Customer)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00F412DE-0AFA-476F-78D7-D960438411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8972871"/>
              </p:ext>
            </p:extLst>
          </p:nvPr>
        </p:nvGraphicFramePr>
        <p:xfrm>
          <a:off x="548969" y="4678939"/>
          <a:ext cx="18288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1E5A1B47-480E-9955-5298-83CB632657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0581546"/>
              </p:ext>
            </p:extLst>
          </p:nvPr>
        </p:nvGraphicFramePr>
        <p:xfrm>
          <a:off x="2905647" y="1565841"/>
          <a:ext cx="170564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05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82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A000596F-F493-9623-7D73-830A45ED83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0597074"/>
              </p:ext>
            </p:extLst>
          </p:nvPr>
        </p:nvGraphicFramePr>
        <p:xfrm>
          <a:off x="548969" y="1565841"/>
          <a:ext cx="190330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3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0303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A36A6E-3E95-5DB6-24BB-B6E52F60FED6}"/>
              </a:ext>
            </a:extLst>
          </p:cNvPr>
          <p:cNvCxnSpPr>
            <a:cxnSpLocks/>
          </p:cNvCxnSpPr>
          <p:nvPr/>
        </p:nvCxnSpPr>
        <p:spPr>
          <a:xfrm>
            <a:off x="557436" y="4469947"/>
            <a:ext cx="378967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81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4ED0-128F-3CC1-5159-E2EAACF0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BFC1BCD-D4F4-4EEA-EDFC-1E996EC18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Minus Operator Example Using SQL 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BF4D36A-5701-1BC2-12D7-31ECB998DCE2}"/>
              </a:ext>
            </a:extLst>
          </p:cNvPr>
          <p:cNvGraphicFramePr>
            <a:graphicFrameLocks/>
          </p:cNvGraphicFramePr>
          <p:nvPr/>
        </p:nvGraphicFramePr>
        <p:xfrm>
          <a:off x="1612995" y="978513"/>
          <a:ext cx="6150074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50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Set difference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between Employee and Customer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AA5D72-3912-6722-208C-D27A0CDB71BF}"/>
              </a:ext>
            </a:extLst>
          </p:cNvPr>
          <p:cNvGraphicFramePr>
            <a:graphicFrameLocks/>
          </p:cNvGraphicFramePr>
          <p:nvPr/>
        </p:nvGraphicFramePr>
        <p:xfrm>
          <a:off x="514066" y="978076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2CE110-8217-673A-A531-5E7FC49FD700}"/>
              </a:ext>
            </a:extLst>
          </p:cNvPr>
          <p:cNvCxnSpPr>
            <a:cxnSpLocks/>
          </p:cNvCxnSpPr>
          <p:nvPr/>
        </p:nvCxnSpPr>
        <p:spPr>
          <a:xfrm flipV="1">
            <a:off x="514066" y="1356101"/>
            <a:ext cx="7035137" cy="63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AD569337-EA0D-562A-2021-B3C50F1BFAC5}"/>
              </a:ext>
            </a:extLst>
          </p:cNvPr>
          <p:cNvGraphicFramePr>
            <a:graphicFrameLocks/>
          </p:cNvGraphicFramePr>
          <p:nvPr/>
        </p:nvGraphicFramePr>
        <p:xfrm>
          <a:off x="519952" y="4093600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A1535A08-AEE3-BB54-D7EB-2BF3EF598C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644515"/>
              </p:ext>
            </p:extLst>
          </p:nvPr>
        </p:nvGraphicFramePr>
        <p:xfrm>
          <a:off x="448752" y="4586039"/>
          <a:ext cx="4320018" cy="1412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2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FROM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CUSTOMER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EXCEPT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+mn-lt"/>
                        </a:rPr>
                        <a:t>FROM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IN" sz="2000" b="0" dirty="0">
                          <a:solidFill>
                            <a:srgbClr val="000000"/>
                          </a:solidFill>
                          <a:latin typeface="+mn-lt"/>
                        </a:rPr>
                        <a:t>EMPLOYEE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42AB60E1-4338-F3F2-83EE-EF0834F976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6379187"/>
              </p:ext>
            </p:extLst>
          </p:nvPr>
        </p:nvGraphicFramePr>
        <p:xfrm>
          <a:off x="5720403" y="4093600"/>
          <a:ext cx="1828800" cy="12496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6282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8452B319-6779-9EF9-7563-BAC2573A3F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790936"/>
              </p:ext>
            </p:extLst>
          </p:nvPr>
        </p:nvGraphicFramePr>
        <p:xfrm>
          <a:off x="2905647" y="1565841"/>
          <a:ext cx="170564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05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82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Raju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B550BAA1-760F-540D-230A-ADE9A3B44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700904"/>
              </p:ext>
            </p:extLst>
          </p:nvPr>
        </p:nvGraphicFramePr>
        <p:xfrm>
          <a:off x="548969" y="1565841"/>
          <a:ext cx="190330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3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0303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20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Manoj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3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43A1-026D-B4F2-AD85-5FFF8636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36AD-0426-DE5D-739B-FBE3BFEC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Rename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2EBE-32FD-F9B3-9BD8-5A6226569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153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6A1-A7EB-B9E2-91B2-190306ED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D9B0B47-875C-EF72-C1CF-578A6A89E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Rename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DB47-FE15-1BD0-A1F8-08BE0AEBA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90211"/>
            <a:ext cx="11929641" cy="5740516"/>
          </a:xfrm>
        </p:spPr>
        <p:txBody>
          <a:bodyPr/>
          <a:lstStyle/>
          <a:p>
            <a:r>
              <a:rPr lang="en-US" dirty="0"/>
              <a:t>Symbol: </a:t>
            </a:r>
            <a:r>
              <a:rPr lang="el-GR" b="1" dirty="0">
                <a:solidFill>
                  <a:schemeClr val="accent6"/>
                </a:solidFill>
              </a:rPr>
              <a:t>ρ</a:t>
            </a:r>
            <a:r>
              <a:rPr lang="en-US" dirty="0"/>
              <a:t> (Rho)</a:t>
            </a:r>
          </a:p>
          <a:p>
            <a:r>
              <a:rPr lang="en-US" dirty="0"/>
              <a:t>Notation: </a:t>
            </a:r>
            <a:r>
              <a:rPr lang="el-GR" b="1" dirty="0">
                <a:solidFill>
                  <a:schemeClr val="accent6"/>
                </a:solidFill>
                <a:sym typeface="Symbol" pitchFamily="18" charset="2"/>
              </a:rPr>
              <a:t>ρ</a:t>
            </a:r>
            <a:r>
              <a:rPr lang="en-US" baseline="-25000" dirty="0">
                <a:sym typeface="Symbol" pitchFamily="18" charset="2"/>
              </a:rPr>
              <a:t>X (A1,A2….An)</a:t>
            </a:r>
            <a:r>
              <a:rPr lang="en-US" dirty="0">
                <a:sym typeface="Symbol" pitchFamily="18" charset="2"/>
              </a:rPr>
              <a:t> (Relation)</a:t>
            </a:r>
            <a:endParaRPr lang="en-US" dirty="0"/>
          </a:p>
          <a:p>
            <a:r>
              <a:rPr lang="en-US" dirty="0"/>
              <a:t>Operation:</a:t>
            </a:r>
          </a:p>
          <a:p>
            <a:pPr lvl="1"/>
            <a:r>
              <a:rPr lang="en-US" sz="2200" dirty="0"/>
              <a:t>The rename operation is used to </a:t>
            </a:r>
            <a:r>
              <a:rPr lang="en-US" sz="2200" b="1" dirty="0">
                <a:solidFill>
                  <a:schemeClr val="accent6"/>
                </a:solidFill>
              </a:rPr>
              <a:t>rename relation</a:t>
            </a:r>
            <a:r>
              <a:rPr lang="en-US" sz="2200" b="1" dirty="0"/>
              <a:t>/</a:t>
            </a:r>
            <a:r>
              <a:rPr lang="en-US" sz="2200" b="1" dirty="0">
                <a:solidFill>
                  <a:schemeClr val="accent6"/>
                </a:solidFill>
              </a:rPr>
              <a:t>attribute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The result of rename operator are also relations with new name.</a:t>
            </a:r>
          </a:p>
        </p:txBody>
      </p:sp>
    </p:spTree>
    <p:extLst>
      <p:ext uri="{BB962C8B-B14F-4D97-AF65-F5344CB8AC3E}">
        <p14:creationId xmlns:p14="http://schemas.microsoft.com/office/powerpoint/2010/main" val="58894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Operator Example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1814476"/>
              </p:ext>
            </p:extLst>
          </p:nvPr>
        </p:nvGraphicFramePr>
        <p:xfrm>
          <a:off x="645126" y="1582840"/>
          <a:ext cx="2627450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37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6991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>
            <a:cxnSpLocks/>
          </p:cNvCxnSpPr>
          <p:nvPr/>
        </p:nvCxnSpPr>
        <p:spPr>
          <a:xfrm>
            <a:off x="686593" y="4234450"/>
            <a:ext cx="268175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52949" y="3855794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8982729"/>
              </p:ext>
            </p:extLst>
          </p:nvPr>
        </p:nvGraphicFramePr>
        <p:xfrm>
          <a:off x="1654979" y="3766357"/>
          <a:ext cx="183261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115">
                <a:tc>
                  <a:txBody>
                    <a:bodyPr/>
                    <a:lstStyle/>
                    <a:p>
                      <a:pPr algn="l"/>
                      <a:r>
                        <a:rPr lang="el-GR" sz="24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ρ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Person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(Student)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5221350"/>
              </p:ext>
            </p:extLst>
          </p:nvPr>
        </p:nvGraphicFramePr>
        <p:xfrm>
          <a:off x="645126" y="4435561"/>
          <a:ext cx="2620893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41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Person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2103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625621"/>
              </p:ext>
            </p:extLst>
          </p:nvPr>
        </p:nvGraphicFramePr>
        <p:xfrm>
          <a:off x="4858934" y="1580792"/>
          <a:ext cx="2552440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8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8422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Rno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>
            <a:cxnSpLocks/>
          </p:cNvCxnSpPr>
          <p:nvPr/>
        </p:nvCxnSpPr>
        <p:spPr>
          <a:xfrm>
            <a:off x="5654419" y="4203668"/>
            <a:ext cx="338328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8440562"/>
              </p:ext>
            </p:extLst>
          </p:nvPr>
        </p:nvGraphicFramePr>
        <p:xfrm>
          <a:off x="4858934" y="3827317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9940167"/>
              </p:ext>
            </p:extLst>
          </p:nvPr>
        </p:nvGraphicFramePr>
        <p:xfrm>
          <a:off x="5832971" y="3710168"/>
          <a:ext cx="3383280" cy="472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l-GR" sz="25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ρ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400" b="0" i="1" baseline="-25000" dirty="0" err="1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RollNo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, </a:t>
                      </a:r>
                      <a:r>
                        <a:rPr lang="en-US" sz="2400" b="0" i="1" baseline="-25000" dirty="0" err="1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StudentName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, SPI)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(Student)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453196"/>
              </p:ext>
            </p:extLst>
          </p:nvPr>
        </p:nvGraphicFramePr>
        <p:xfrm>
          <a:off x="4850310" y="4432134"/>
          <a:ext cx="3481927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4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67548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StudentName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45126" y="954334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745581" y="971664"/>
          <a:ext cx="162277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2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Rename table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>
            <a:cxnSpLocks/>
          </p:cNvCxnSpPr>
          <p:nvPr/>
        </p:nvCxnSpPr>
        <p:spPr>
          <a:xfrm>
            <a:off x="652949" y="1349119"/>
            <a:ext cx="2613070" cy="1531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4851111" y="939024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5951566" y="950753"/>
          <a:ext cx="207726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07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Rename attributes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>
            <a:cxnSpLocks/>
          </p:cNvCxnSpPr>
          <p:nvPr/>
        </p:nvCxnSpPr>
        <p:spPr>
          <a:xfrm>
            <a:off x="4848648" y="1333809"/>
            <a:ext cx="2989063" cy="1531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Operator Example</a:t>
            </a:r>
          </a:p>
        </p:txBody>
      </p:sp>
      <p:cxnSp>
        <p:nvCxnSpPr>
          <p:cNvPr id="24" name="Straight Connector 23"/>
          <p:cNvCxnSpPr>
            <a:cxnSpLocks/>
          </p:cNvCxnSpPr>
          <p:nvPr/>
        </p:nvCxnSpPr>
        <p:spPr>
          <a:xfrm flipV="1">
            <a:off x="359751" y="3992336"/>
            <a:ext cx="5736249" cy="3161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59751" y="362988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02303" y="3515483"/>
          <a:ext cx="516636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l-GR" sz="24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ρ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Person (RollNo, </a:t>
                      </a:r>
                      <a:r>
                        <a:rPr lang="en-US" sz="2400" b="0" i="1" baseline="-25000" dirty="0" err="1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StudentName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) </a:t>
                      </a:r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400" b="0" i="1" baseline="-25000" dirty="0" err="1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RNo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, Name 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(Student))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612819"/>
              </p:ext>
            </p:extLst>
          </p:nvPr>
        </p:nvGraphicFramePr>
        <p:xfrm>
          <a:off x="359751" y="4359973"/>
          <a:ext cx="2782781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39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Person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0359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StudentName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6566303"/>
              </p:ext>
            </p:extLst>
          </p:nvPr>
        </p:nvGraphicFramePr>
        <p:xfrm>
          <a:off x="373605" y="800444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114876"/>
              </p:ext>
            </p:extLst>
          </p:nvPr>
        </p:nvGraphicFramePr>
        <p:xfrm>
          <a:off x="1474060" y="788638"/>
          <a:ext cx="424688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4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Rename table and attributes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both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>
            <a:cxnSpLocks/>
          </p:cNvCxnSpPr>
          <p:nvPr/>
        </p:nvCxnSpPr>
        <p:spPr>
          <a:xfrm>
            <a:off x="6306543" y="4029950"/>
            <a:ext cx="3475122" cy="1758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298348" y="365129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323382" y="3535136"/>
          <a:ext cx="2753679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5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l-GR" sz="24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ρ</a:t>
                      </a:r>
                      <a:r>
                        <a:rPr lang="en-US" sz="2000" b="0" i="1" baseline="-25000" dirty="0" err="1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StudentName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/ Name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(Student)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29975"/>
              </p:ext>
            </p:extLst>
          </p:nvPr>
        </p:nvGraphicFramePr>
        <p:xfrm>
          <a:off x="6298348" y="4359973"/>
          <a:ext cx="3585958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501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Rno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StudentName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270065" y="809015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370520" y="791115"/>
          <a:ext cx="366744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6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Rename particular attributes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2" name="Straight Connector 41"/>
          <p:cNvCxnSpPr>
            <a:cxnSpLocks/>
          </p:cNvCxnSpPr>
          <p:nvPr/>
        </p:nvCxnSpPr>
        <p:spPr>
          <a:xfrm flipV="1">
            <a:off x="375484" y="1196684"/>
            <a:ext cx="4513754" cy="3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V="1">
            <a:off x="6321363" y="1187355"/>
            <a:ext cx="4072939" cy="150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A110CF24-AE4B-41CA-8ACD-9A5F0AC240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151572"/>
              </p:ext>
            </p:extLst>
          </p:nvPr>
        </p:nvGraphicFramePr>
        <p:xfrm>
          <a:off x="373605" y="1352838"/>
          <a:ext cx="2913814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3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04919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BE30D421-9719-47F9-988D-61AC7B22C9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5326198"/>
              </p:ext>
            </p:extLst>
          </p:nvPr>
        </p:nvGraphicFramePr>
        <p:xfrm>
          <a:off x="6283920" y="1352838"/>
          <a:ext cx="2565597" cy="2072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5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3301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22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8ED2-436E-A492-37E0-180B3EFB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03BF5-7A07-9B67-BFD6-68710E21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Natural Join/ Inner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6DCCC-01E4-9B7A-585A-865EC55BD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8803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F72E-CA97-EE29-324F-C04FC93A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DF4BE74-D820-0B02-3BFD-EBF10E46C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Natural Join/ Inner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9D35-A4EA-CB25-5D7C-F582EFF4B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63806"/>
            <a:ext cx="11929641" cy="57405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Symbol:</a:t>
            </a:r>
          </a:p>
          <a:p>
            <a:pPr>
              <a:lnSpc>
                <a:spcPct val="100000"/>
              </a:lnSpc>
            </a:pPr>
            <a:r>
              <a:rPr lang="en-US" dirty="0"/>
              <a:t>Notation: </a:t>
            </a:r>
            <a:r>
              <a:rPr lang="en-US" dirty="0">
                <a:sym typeface="Symbol" pitchFamily="18" charset="2"/>
              </a:rPr>
              <a:t>Relation-1 (R1) </a:t>
            </a:r>
            <a:r>
              <a:rPr lang="en-US" dirty="0"/>
              <a:t>     </a:t>
            </a:r>
            <a:r>
              <a:rPr lang="en-US" dirty="0">
                <a:sym typeface="Symbol" pitchFamily="18" charset="2"/>
              </a:rPr>
              <a:t>Relation-2 (R2)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Operation: Natural join will </a:t>
            </a:r>
            <a:r>
              <a:rPr lang="en-US" b="1" dirty="0">
                <a:solidFill>
                  <a:schemeClr val="accent6"/>
                </a:solidFill>
              </a:rPr>
              <a:t>retrieve consistent data </a:t>
            </a:r>
            <a:r>
              <a:rPr lang="en-US" dirty="0"/>
              <a:t>from multiple relations.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An INNER JOIN returns only the </a:t>
            </a:r>
            <a:r>
              <a:rPr lang="en-US" sz="2200" b="1" dirty="0">
                <a:solidFill>
                  <a:schemeClr val="accent6"/>
                </a:solidFill>
              </a:rPr>
              <a:t>matching</a:t>
            </a:r>
            <a:r>
              <a:rPr lang="en-US" sz="2200" dirty="0"/>
              <a:t> records from both tables based on a </a:t>
            </a:r>
            <a:r>
              <a:rPr lang="en-US" sz="2200" b="1" dirty="0">
                <a:solidFill>
                  <a:schemeClr val="accent6"/>
                </a:solidFill>
              </a:rPr>
              <a:t>specified condition</a:t>
            </a:r>
            <a:r>
              <a:rPr lang="en-US" sz="2200" dirty="0"/>
              <a:t>.</a:t>
            </a:r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6263DBBD-3AB7-516C-1787-C17C907B1BC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90059" y="863141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 dirty="0"/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F39D376-2FFC-7CFE-E21E-F0EB68E7A17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09350" y="1361207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280FA83-8AC2-2A95-4C93-3B66D9FE0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01" y="3702884"/>
            <a:ext cx="3863728" cy="2515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4ADAF-2728-CF9F-1A92-3E978BBBAB96}"/>
              </a:ext>
            </a:extLst>
          </p:cNvPr>
          <p:cNvSpPr txBox="1"/>
          <p:nvPr/>
        </p:nvSpPr>
        <p:spPr>
          <a:xfrm>
            <a:off x="5376850" y="4010795"/>
            <a:ext cx="6161649" cy="730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dirty="0"/>
              <a:t>To perform a Natural Join there must be </a:t>
            </a:r>
            <a:r>
              <a:rPr lang="en-US" sz="2000" b="1" dirty="0">
                <a:solidFill>
                  <a:schemeClr val="accent6"/>
                </a:solidFill>
              </a:rPr>
              <a:t>one common attribute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chemeClr val="accent6"/>
                </a:solidFill>
              </a:rPr>
              <a:t>(column) </a:t>
            </a:r>
            <a:r>
              <a:rPr lang="en-US" sz="2000" dirty="0"/>
              <a:t>between two relations.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C449F6-D99D-C675-3ACC-FFD7EC957948}"/>
              </a:ext>
            </a:extLst>
          </p:cNvPr>
          <p:cNvCxnSpPr>
            <a:cxnSpLocks/>
          </p:cNvCxnSpPr>
          <p:nvPr/>
        </p:nvCxnSpPr>
        <p:spPr>
          <a:xfrm flipH="1">
            <a:off x="2492486" y="3417039"/>
            <a:ext cx="194730" cy="1543641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9A74A6-EDC8-6972-4C84-0A828DBA6E6F}"/>
              </a:ext>
            </a:extLst>
          </p:cNvPr>
          <p:cNvSpPr txBox="1"/>
          <p:nvPr/>
        </p:nvSpPr>
        <p:spPr>
          <a:xfrm>
            <a:off x="1864379" y="2660423"/>
            <a:ext cx="2747223" cy="730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b="1" dirty="0">
                <a:solidFill>
                  <a:schemeClr val="accent6"/>
                </a:solidFill>
              </a:rPr>
              <a:t>Matching records</a:t>
            </a:r>
          </a:p>
          <a:p>
            <a:pPr marL="112713" algn="l"/>
            <a:r>
              <a:rPr lang="en-US" sz="2000" b="1" dirty="0"/>
              <a:t>from both the relations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277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4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 / Inner Join Example</a:t>
            </a:r>
          </a:p>
        </p:txBody>
      </p:sp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514066" y="1913727"/>
          <a:ext cx="2730339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04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6162052"/>
              </p:ext>
            </p:extLst>
          </p:nvPr>
        </p:nvGraphicFramePr>
        <p:xfrm>
          <a:off x="514066" y="1547967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514066" y="1389574"/>
            <a:ext cx="62179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514066" y="1001589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612995" y="992701"/>
          <a:ext cx="54089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Natural Join between Student and Result.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532027" y="4620665"/>
            <a:ext cx="32004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514066" y="4236099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516096" y="4224177"/>
          <a:ext cx="23101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1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(Student)      (Result)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691871"/>
              </p:ext>
            </p:extLst>
          </p:nvPr>
        </p:nvGraphicFramePr>
        <p:xfrm>
          <a:off x="526045" y="4928783"/>
          <a:ext cx="3010257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08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7392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4217717" y="1913727"/>
          <a:ext cx="1557932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76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8458826"/>
              </p:ext>
            </p:extLst>
          </p:nvPr>
        </p:nvGraphicFramePr>
        <p:xfrm>
          <a:off x="4217717" y="1556927"/>
          <a:ext cx="8147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1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AutoShape 11"/>
          <p:cNvSpPr>
            <a:spLocks noChangeArrowheads="1"/>
          </p:cNvSpPr>
          <p:nvPr/>
        </p:nvSpPr>
        <p:spPr bwMode="auto">
          <a:xfrm rot="5400000">
            <a:off x="2590027" y="4285137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217717" y="4293097"/>
            <a:ext cx="6161649" cy="730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dirty="0"/>
              <a:t>To perform a Natural Join there must be </a:t>
            </a:r>
            <a:r>
              <a:rPr lang="en-US" sz="2000" b="1" dirty="0">
                <a:solidFill>
                  <a:schemeClr val="accent6"/>
                </a:solidFill>
              </a:rPr>
              <a:t>one common attribute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chemeClr val="accent6"/>
                </a:solidFill>
              </a:rPr>
              <a:t>(column) </a:t>
            </a:r>
            <a:r>
              <a:rPr lang="en-US" sz="2000" dirty="0"/>
              <a:t>between two relations.</a:t>
            </a:r>
          </a:p>
        </p:txBody>
      </p:sp>
    </p:spTree>
    <p:extLst>
      <p:ext uri="{BB962C8B-B14F-4D97-AF65-F5344CB8AC3E}">
        <p14:creationId xmlns:p14="http://schemas.microsoft.com/office/powerpoint/2010/main" val="345134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 / Inner Join Example</a:t>
            </a:r>
          </a:p>
        </p:txBody>
      </p:sp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514066" y="1911580"/>
          <a:ext cx="234569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6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BID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BName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HOD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3289779"/>
              </p:ext>
            </p:extLst>
          </p:nvPr>
        </p:nvGraphicFramePr>
        <p:xfrm>
          <a:off x="514066" y="1547967"/>
          <a:ext cx="8782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7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Branch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514066" y="1389574"/>
            <a:ext cx="62179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514066" y="1001589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612995" y="992701"/>
          <a:ext cx="52787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7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Natural Join between Branch and Faculty.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7735265" y="1386362"/>
            <a:ext cx="32004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735265" y="998377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745294" y="988455"/>
          <a:ext cx="23101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1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(Branch)      (Faculty)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754651" y="1911580"/>
          <a:ext cx="3488083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BID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Bname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HOD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Patel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0583630"/>
              </p:ext>
            </p:extLst>
          </p:nvPr>
        </p:nvGraphicFramePr>
        <p:xfrm>
          <a:off x="7754651" y="1547967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4217717" y="1920540"/>
          <a:ext cx="1992588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FID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816071"/>
              </p:ext>
            </p:extLst>
          </p:nvPr>
        </p:nvGraphicFramePr>
        <p:xfrm>
          <a:off x="4217717" y="1556927"/>
          <a:ext cx="89725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AutoShape 11"/>
          <p:cNvSpPr>
            <a:spLocks noChangeArrowheads="1"/>
          </p:cNvSpPr>
          <p:nvPr/>
        </p:nvSpPr>
        <p:spPr bwMode="auto">
          <a:xfrm rot="5400000">
            <a:off x="9732327" y="1059657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514066" y="3503318"/>
            <a:ext cx="5696239" cy="8194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dirty="0"/>
              <a:t>To perform a Natural Join there must be </a:t>
            </a:r>
            <a:r>
              <a:rPr lang="en-US" sz="2000" b="1" dirty="0">
                <a:solidFill>
                  <a:schemeClr val="accent6"/>
                </a:solidFill>
              </a:rPr>
              <a:t>one common attribute (column)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between two relations.</a:t>
            </a:r>
          </a:p>
        </p:txBody>
      </p:sp>
    </p:spTree>
    <p:extLst>
      <p:ext uri="{BB962C8B-B14F-4D97-AF65-F5344CB8AC3E}">
        <p14:creationId xmlns:p14="http://schemas.microsoft.com/office/powerpoint/2010/main" val="110097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 / Inner Join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Inner Join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/>
              <a:t> records that have </a:t>
            </a:r>
            <a:r>
              <a:rPr lang="en-US" b="1" dirty="0">
                <a:solidFill>
                  <a:schemeClr val="accent6"/>
                </a:solidFill>
              </a:rPr>
              <a:t>matching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values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chemeClr val="accent6"/>
                </a:solidFill>
              </a:rPr>
              <a:t>both tables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36154" y="1826400"/>
            <a:ext cx="1181387" cy="1073422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Table1</a:t>
            </a:r>
          </a:p>
        </p:txBody>
      </p:sp>
      <p:sp>
        <p:nvSpPr>
          <p:cNvPr id="5" name="Oval 4"/>
          <p:cNvSpPr/>
          <p:nvPr/>
        </p:nvSpPr>
        <p:spPr>
          <a:xfrm>
            <a:off x="2209770" y="1826400"/>
            <a:ext cx="1167177" cy="107342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80096" y="2127024"/>
            <a:ext cx="1143000" cy="50292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Combine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6771930" y="2127024"/>
            <a:ext cx="1143000" cy="502920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Output</a:t>
            </a:r>
          </a:p>
        </p:txBody>
      </p:sp>
      <p:sp>
        <p:nvSpPr>
          <p:cNvPr id="8" name="Freeform 7"/>
          <p:cNvSpPr/>
          <p:nvPr/>
        </p:nvSpPr>
        <p:spPr>
          <a:xfrm>
            <a:off x="5492286" y="1900986"/>
            <a:ext cx="565485" cy="924250"/>
          </a:xfrm>
          <a:custGeom>
            <a:avLst/>
            <a:gdLst>
              <a:gd name="connsiteX0" fmla="*/ 283022 w 565485"/>
              <a:gd name="connsiteY0" fmla="*/ 0 h 924250"/>
              <a:gd name="connsiteX1" fmla="*/ 316168 w 565485"/>
              <a:gd name="connsiteY1" fmla="*/ 17076 h 924250"/>
              <a:gd name="connsiteX2" fmla="*/ 565485 w 565485"/>
              <a:gd name="connsiteY2" fmla="*/ 462125 h 924250"/>
              <a:gd name="connsiteX3" fmla="*/ 316168 w 565485"/>
              <a:gd name="connsiteY3" fmla="*/ 907174 h 924250"/>
              <a:gd name="connsiteX4" fmla="*/ 283022 w 565485"/>
              <a:gd name="connsiteY4" fmla="*/ 924250 h 924250"/>
              <a:gd name="connsiteX5" fmla="*/ 249809 w 565485"/>
              <a:gd name="connsiteY5" fmla="*/ 907174 h 924250"/>
              <a:gd name="connsiteX6" fmla="*/ 0 w 565485"/>
              <a:gd name="connsiteY6" fmla="*/ 462125 h 924250"/>
              <a:gd name="connsiteX7" fmla="*/ 249809 w 565485"/>
              <a:gd name="connsiteY7" fmla="*/ 17076 h 924250"/>
              <a:gd name="connsiteX8" fmla="*/ 283022 w 565485"/>
              <a:gd name="connsiteY8" fmla="*/ 0 h 9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485" h="924250">
                <a:moveTo>
                  <a:pt x="283022" y="0"/>
                </a:moveTo>
                <a:lnTo>
                  <a:pt x="316168" y="17076"/>
                </a:lnTo>
                <a:cubicBezTo>
                  <a:pt x="466588" y="113527"/>
                  <a:pt x="565485" y="276865"/>
                  <a:pt x="565485" y="462125"/>
                </a:cubicBezTo>
                <a:cubicBezTo>
                  <a:pt x="565485" y="647386"/>
                  <a:pt x="466588" y="810723"/>
                  <a:pt x="316168" y="907174"/>
                </a:cubicBezTo>
                <a:lnTo>
                  <a:pt x="283022" y="924250"/>
                </a:lnTo>
                <a:lnTo>
                  <a:pt x="249809" y="907174"/>
                </a:lnTo>
                <a:cubicBezTo>
                  <a:pt x="99092" y="810723"/>
                  <a:pt x="0" y="647386"/>
                  <a:pt x="0" y="462125"/>
                </a:cubicBezTo>
                <a:cubicBezTo>
                  <a:pt x="0" y="276865"/>
                  <a:pt x="99092" y="113527"/>
                  <a:pt x="249809" y="17076"/>
                </a:cubicBezTo>
                <a:lnTo>
                  <a:pt x="283022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4926803" y="1826400"/>
            <a:ext cx="848505" cy="1073422"/>
          </a:xfrm>
          <a:custGeom>
            <a:avLst/>
            <a:gdLst>
              <a:gd name="connsiteX0" fmla="*/ 565484 w 848505"/>
              <a:gd name="connsiteY0" fmla="*/ 0 h 1073422"/>
              <a:gd name="connsiteX1" fmla="*/ 785596 w 848505"/>
              <a:gd name="connsiteY1" fmla="*/ 42177 h 1073422"/>
              <a:gd name="connsiteX2" fmla="*/ 848505 w 848505"/>
              <a:gd name="connsiteY2" fmla="*/ 74586 h 1073422"/>
              <a:gd name="connsiteX3" fmla="*/ 815292 w 848505"/>
              <a:gd name="connsiteY3" fmla="*/ 91662 h 1073422"/>
              <a:gd name="connsiteX4" fmla="*/ 565483 w 848505"/>
              <a:gd name="connsiteY4" fmla="*/ 536711 h 1073422"/>
              <a:gd name="connsiteX5" fmla="*/ 815292 w 848505"/>
              <a:gd name="connsiteY5" fmla="*/ 981760 h 1073422"/>
              <a:gd name="connsiteX6" fmla="*/ 848505 w 848505"/>
              <a:gd name="connsiteY6" fmla="*/ 998836 h 1073422"/>
              <a:gd name="connsiteX7" fmla="*/ 785596 w 848505"/>
              <a:gd name="connsiteY7" fmla="*/ 1031245 h 1073422"/>
              <a:gd name="connsiteX8" fmla="*/ 565484 w 848505"/>
              <a:gd name="connsiteY8" fmla="*/ 1073422 h 1073422"/>
              <a:gd name="connsiteX9" fmla="*/ 0 w 848505"/>
              <a:gd name="connsiteY9" fmla="*/ 536711 h 1073422"/>
              <a:gd name="connsiteX10" fmla="*/ 565484 w 848505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8505" h="1073422">
                <a:moveTo>
                  <a:pt x="565484" y="0"/>
                </a:moveTo>
                <a:cubicBezTo>
                  <a:pt x="643561" y="0"/>
                  <a:pt x="717942" y="15019"/>
                  <a:pt x="785596" y="42177"/>
                </a:cubicBezTo>
                <a:lnTo>
                  <a:pt x="848505" y="74586"/>
                </a:lnTo>
                <a:lnTo>
                  <a:pt x="815292" y="91662"/>
                </a:lnTo>
                <a:cubicBezTo>
                  <a:pt x="664575" y="188113"/>
                  <a:pt x="565483" y="351451"/>
                  <a:pt x="565483" y="536711"/>
                </a:cubicBezTo>
                <a:cubicBezTo>
                  <a:pt x="565483" y="721972"/>
                  <a:pt x="664575" y="885309"/>
                  <a:pt x="815292" y="981760"/>
                </a:cubicBezTo>
                <a:lnTo>
                  <a:pt x="848505" y="998836"/>
                </a:lnTo>
                <a:lnTo>
                  <a:pt x="785596" y="1031245"/>
                </a:lnTo>
                <a:cubicBezTo>
                  <a:pt x="717942" y="1058404"/>
                  <a:pt x="643561" y="1073422"/>
                  <a:pt x="565484" y="1073422"/>
                </a:cubicBezTo>
                <a:cubicBezTo>
                  <a:pt x="253176" y="1073422"/>
                  <a:pt x="0" y="833128"/>
                  <a:pt x="0" y="536711"/>
                </a:cubicBezTo>
                <a:cubicBezTo>
                  <a:pt x="0" y="240294"/>
                  <a:pt x="253176" y="0"/>
                  <a:pt x="565484" y="0"/>
                </a:cubicBez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775307" y="1826400"/>
            <a:ext cx="850182" cy="1073422"/>
          </a:xfrm>
          <a:custGeom>
            <a:avLst/>
            <a:gdLst>
              <a:gd name="connsiteX0" fmla="*/ 283580 w 850182"/>
              <a:gd name="connsiteY0" fmla="*/ 0 h 1073422"/>
              <a:gd name="connsiteX1" fmla="*/ 850182 w 850182"/>
              <a:gd name="connsiteY1" fmla="*/ 536711 h 1073422"/>
              <a:gd name="connsiteX2" fmla="*/ 283580 w 850182"/>
              <a:gd name="connsiteY2" fmla="*/ 1073422 h 1073422"/>
              <a:gd name="connsiteX3" fmla="*/ 63033 w 850182"/>
              <a:gd name="connsiteY3" fmla="*/ 1031245 h 1073422"/>
              <a:gd name="connsiteX4" fmla="*/ 0 w 850182"/>
              <a:gd name="connsiteY4" fmla="*/ 998836 h 1073422"/>
              <a:gd name="connsiteX5" fmla="*/ 33146 w 850182"/>
              <a:gd name="connsiteY5" fmla="*/ 981760 h 1073422"/>
              <a:gd name="connsiteX6" fmla="*/ 282463 w 850182"/>
              <a:gd name="connsiteY6" fmla="*/ 536711 h 1073422"/>
              <a:gd name="connsiteX7" fmla="*/ 33146 w 850182"/>
              <a:gd name="connsiteY7" fmla="*/ 91662 h 1073422"/>
              <a:gd name="connsiteX8" fmla="*/ 0 w 850182"/>
              <a:gd name="connsiteY8" fmla="*/ 74586 h 1073422"/>
              <a:gd name="connsiteX9" fmla="*/ 63033 w 850182"/>
              <a:gd name="connsiteY9" fmla="*/ 42177 h 1073422"/>
              <a:gd name="connsiteX10" fmla="*/ 283580 w 850182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0182" h="1073422">
                <a:moveTo>
                  <a:pt x="283580" y="0"/>
                </a:moveTo>
                <a:cubicBezTo>
                  <a:pt x="596506" y="0"/>
                  <a:pt x="850182" y="240294"/>
                  <a:pt x="850182" y="536711"/>
                </a:cubicBezTo>
                <a:cubicBezTo>
                  <a:pt x="850182" y="833128"/>
                  <a:pt x="596506" y="1073422"/>
                  <a:pt x="283580" y="1073422"/>
                </a:cubicBezTo>
                <a:cubicBezTo>
                  <a:pt x="205349" y="1073422"/>
                  <a:pt x="130820" y="1058404"/>
                  <a:pt x="63033" y="1031245"/>
                </a:cubicBezTo>
                <a:lnTo>
                  <a:pt x="0" y="998836"/>
                </a:lnTo>
                <a:lnTo>
                  <a:pt x="33146" y="981760"/>
                </a:lnTo>
                <a:cubicBezTo>
                  <a:pt x="183566" y="885309"/>
                  <a:pt x="282463" y="721972"/>
                  <a:pt x="282463" y="536711"/>
                </a:cubicBezTo>
                <a:cubicBezTo>
                  <a:pt x="282463" y="351451"/>
                  <a:pt x="183566" y="188113"/>
                  <a:pt x="33146" y="91662"/>
                </a:cubicBezTo>
                <a:lnTo>
                  <a:pt x="0" y="74586"/>
                </a:lnTo>
                <a:lnTo>
                  <a:pt x="63033" y="42177"/>
                </a:lnTo>
                <a:cubicBezTo>
                  <a:pt x="130820" y="15019"/>
                  <a:pt x="205349" y="0"/>
                  <a:pt x="28358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DCC25-1E44-48A0-8550-F89E768A4A30}"/>
              </a:ext>
            </a:extLst>
          </p:cNvPr>
          <p:cNvSpPr txBox="1"/>
          <p:nvPr/>
        </p:nvSpPr>
        <p:spPr>
          <a:xfrm>
            <a:off x="342900" y="3518800"/>
            <a:ext cx="1104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982450"/>
            <a:ext cx="796290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23900" y="4134564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27509" y="4134564"/>
            <a:ext cx="1068189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columns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3900" y="4695259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27508" y="4695259"/>
            <a:ext cx="1068190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328351" y="5255812"/>
            <a:ext cx="3117075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Table1.column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Table2.column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23900" y="5255954"/>
            <a:ext cx="481986" cy="4162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8995" y="5255812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09023" y="4697818"/>
            <a:ext cx="1371600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INNER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93882" y="4697818"/>
            <a:ext cx="104512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25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7.40741E-7 L 0.0882 0.04005 C 0.1066 0.04907 0.13438 0.05394 0.1632 0.05394 C 0.19601 0.05394 0.2224 0.04907 0.2408 0.04005 L 0.32934 -7.40741E-7 " pathEditMode="relative" rAng="0" ptsTypes="AAAAA">
                                      <p:cBhvr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 / Inner Join in SQL</a:t>
            </a:r>
            <a:r>
              <a:rPr lang="en-US" altLang="en-US" dirty="0"/>
              <a:t>(Cont..)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2777" y="844054"/>
            <a:ext cx="10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1295400"/>
            <a:ext cx="7962900" cy="182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1447936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35735" y="1447936"/>
            <a:ext cx="160674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6598" y="1447936"/>
            <a:ext cx="160674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.Name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4026" y="1447936"/>
            <a:ext cx="1775984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.Branch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0022" y="1447936"/>
            <a:ext cx="116105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</a:t>
            </a:r>
            <a:r>
              <a:rPr lang="en-US" dirty="0">
                <a:ln w="0"/>
                <a:solidFill>
                  <a:schemeClr val="tx1"/>
                </a:solidFill>
              </a:rPr>
              <a:t>.SPI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572" y="2026444"/>
            <a:ext cx="977144" cy="42252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0042" y="2026444"/>
            <a:ext cx="1181514" cy="422524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937882" y="2026444"/>
            <a:ext cx="1371600" cy="41569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INNER JOIN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25807" y="2026444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53158" y="2588539"/>
            <a:ext cx="481986" cy="40317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646" y="4498474"/>
            <a:ext cx="997774" cy="901583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51448" y="3527152"/>
          <a:ext cx="2148376" cy="256884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93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106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36044" y="3546670"/>
          <a:ext cx="1386376" cy="224774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88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106">
                <a:tc gridSpan="2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Result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 noChangeAspect="1"/>
          </p:cNvGraphicFramePr>
          <p:nvPr/>
        </p:nvGraphicFramePr>
        <p:xfrm>
          <a:off x="5497434" y="3733799"/>
          <a:ext cx="2666988" cy="185300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16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3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63"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>
                        <a:spcBef>
                          <a:spcPts val="600"/>
                        </a:spcBef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364092" y="4550706"/>
            <a:ext cx="368490" cy="260870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092" y="5204038"/>
            <a:ext cx="368490" cy="258697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4092" y="4233298"/>
            <a:ext cx="368490" cy="265695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4092" y="5514447"/>
            <a:ext cx="368490" cy="242852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50310" y="4233298"/>
            <a:ext cx="365760" cy="265176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57889" y="4565492"/>
            <a:ext cx="365760" cy="265176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57888" y="4887690"/>
            <a:ext cx="365760" cy="265176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50310" y="5219883"/>
            <a:ext cx="365760" cy="265176"/>
          </a:xfrm>
          <a:prstGeom prst="rect">
            <a:avLst/>
          </a:prstGeom>
          <a:noFill/>
          <a:ln w="25400" cap="flat" cmpd="sng" algn="ctr">
            <a:solidFill>
              <a:schemeClr val="tx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1687B-5F6E-44BD-BDCA-FED5C36592E7}"/>
              </a:ext>
            </a:extLst>
          </p:cNvPr>
          <p:cNvSpPr/>
          <p:nvPr/>
        </p:nvSpPr>
        <p:spPr>
          <a:xfrm>
            <a:off x="1134387" y="2593583"/>
            <a:ext cx="3447519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Student.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r>
              <a:rPr lang="en-US" dirty="0">
                <a:ln w="0"/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 Result.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BBB687-7B71-9095-C824-1FBBE4AF9A4B}"/>
              </a:ext>
            </a:extLst>
          </p:cNvPr>
          <p:cNvSpPr/>
          <p:nvPr/>
        </p:nvSpPr>
        <p:spPr>
          <a:xfrm>
            <a:off x="4681149" y="2575700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5207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down relational algebra for the following tables /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Relations</a:t>
            </a:r>
          </a:p>
          <a:p>
            <a:pPr lvl="1"/>
            <a:r>
              <a:rPr lang="en-US" sz="2200" b="1" dirty="0"/>
              <a:t>Student</a:t>
            </a:r>
            <a:r>
              <a:rPr lang="en-US" sz="2200" dirty="0"/>
              <a:t> (Rno, Sname, Address, City, Mobile)</a:t>
            </a:r>
          </a:p>
          <a:p>
            <a:pPr lvl="1"/>
            <a:r>
              <a:rPr lang="en-US" sz="2200" b="1" dirty="0"/>
              <a:t>Department</a:t>
            </a:r>
            <a:r>
              <a:rPr lang="en-US" sz="2200" dirty="0"/>
              <a:t> (Did, Dname)</a:t>
            </a:r>
          </a:p>
          <a:p>
            <a:pPr lvl="1"/>
            <a:r>
              <a:rPr lang="en-US" sz="2200" b="1" dirty="0"/>
              <a:t>Academic</a:t>
            </a:r>
            <a:r>
              <a:rPr lang="en-US" sz="2200" dirty="0"/>
              <a:t> (Rno, Did, SPI, CPI, Backlog)</a:t>
            </a:r>
          </a:p>
          <a:p>
            <a:pPr lvl="1"/>
            <a:r>
              <a:rPr lang="en-US" sz="2200" b="1" dirty="0"/>
              <a:t>Guide</a:t>
            </a:r>
            <a:r>
              <a:rPr lang="en-US" sz="2200" dirty="0"/>
              <a:t> (</a:t>
            </a:r>
            <a:r>
              <a:rPr lang="en-US" sz="2200" dirty="0" err="1"/>
              <a:t>Rno</a:t>
            </a:r>
            <a:r>
              <a:rPr lang="en-US" sz="2200" dirty="0"/>
              <a:t>, </a:t>
            </a:r>
            <a:r>
              <a:rPr lang="en-US" sz="2200" dirty="0" err="1"/>
              <a:t>PName</a:t>
            </a:r>
            <a:r>
              <a:rPr lang="en-US" sz="2200" dirty="0"/>
              <a:t>, Fid)</a:t>
            </a:r>
          </a:p>
          <a:p>
            <a:pPr lvl="1"/>
            <a:r>
              <a:rPr lang="en-US" sz="2200" b="1" dirty="0"/>
              <a:t>Faculty</a:t>
            </a:r>
            <a:r>
              <a:rPr lang="en-US" sz="2200" dirty="0"/>
              <a:t> (Fid, </a:t>
            </a:r>
            <a:r>
              <a:rPr lang="en-US" sz="2200" dirty="0" err="1"/>
              <a:t>Fname</a:t>
            </a:r>
            <a:r>
              <a:rPr lang="en-US" sz="2200" dirty="0"/>
              <a:t>, Subject, Did, Salary)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97204" y="3579111"/>
            <a:ext cx="115214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7204" y="3191126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61782"/>
              </p:ext>
            </p:extLst>
          </p:nvPr>
        </p:nvGraphicFramePr>
        <p:xfrm>
          <a:off x="1396133" y="3182238"/>
          <a:ext cx="10795867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79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 the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name of students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 their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department name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all student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belong to “CE” department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297204" y="4263570"/>
            <a:ext cx="8138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7204" y="3875585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07233" y="3746595"/>
          <a:ext cx="1867218" cy="518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67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</a:rPr>
                        <a:t>Sname, Dname, SPI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52862" y="3685923"/>
          <a:ext cx="5594668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59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baseline="-25000" dirty="0" err="1">
                          <a:solidFill>
                            <a:schemeClr val="tx1"/>
                          </a:solidFill>
                        </a:rPr>
                        <a:t>Dname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=‘CE’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(Student       (Department      Academic)))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AutoShape 11"/>
          <p:cNvSpPr>
            <a:spLocks noChangeArrowheads="1"/>
          </p:cNvSpPr>
          <p:nvPr/>
        </p:nvSpPr>
        <p:spPr bwMode="auto">
          <a:xfrm rot="5400000">
            <a:off x="5236246" y="3880174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auto">
          <a:xfrm rot="5400000">
            <a:off x="6896240" y="3880174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96267" y="5405326"/>
            <a:ext cx="9281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6267" y="501734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493171"/>
              </p:ext>
            </p:extLst>
          </p:nvPr>
        </p:nvGraphicFramePr>
        <p:xfrm>
          <a:off x="1396133" y="5014904"/>
          <a:ext cx="8746331" cy="701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74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 the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name of students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 their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project name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whose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guide is “A. J. Shah”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" name="Straight Connector 25"/>
          <p:cNvCxnSpPr/>
          <p:nvPr/>
        </p:nvCxnSpPr>
        <p:spPr>
          <a:xfrm>
            <a:off x="296267" y="6089785"/>
            <a:ext cx="74066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6267" y="5701800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06296" y="5572810"/>
          <a:ext cx="1514793" cy="518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1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</a:rPr>
                        <a:t>Sname, </a:t>
                      </a:r>
                      <a:r>
                        <a:rPr lang="en-US" sz="2000" b="0" i="1" baseline="-25000" dirty="0" err="1">
                          <a:solidFill>
                            <a:schemeClr val="tx1"/>
                          </a:solidFill>
                        </a:rPr>
                        <a:t>Pname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643314" y="5512138"/>
          <a:ext cx="5433885" cy="579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33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l-GR" sz="3200" b="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="0" baseline="-25000" dirty="0" err="1">
                          <a:solidFill>
                            <a:schemeClr val="tx1"/>
                          </a:solidFill>
                        </a:rPr>
                        <a:t>Fname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=‘</a:t>
                      </a:r>
                      <a:r>
                        <a:rPr lang="en-US" sz="2400" b="0" baseline="-25000" dirty="0" err="1">
                          <a:solidFill>
                            <a:schemeClr val="tx1"/>
                          </a:solidFill>
                        </a:rPr>
                        <a:t>A.J.Shah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(Student       (Guide       Faculty)))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AutoShape 11"/>
          <p:cNvSpPr>
            <a:spLocks noChangeArrowheads="1"/>
          </p:cNvSpPr>
          <p:nvPr/>
        </p:nvSpPr>
        <p:spPr bwMode="auto">
          <a:xfrm rot="5400000">
            <a:off x="5428155" y="5706389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auto">
          <a:xfrm rot="5400000">
            <a:off x="6492792" y="5706389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010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0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2DE6-B2AD-49D3-55E9-3E8A595F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820B-3EC3-688A-2CFA-29969888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down relational algebra for the following tables /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78FA2-5E6C-2A32-9D32-EC52EFF5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Relations</a:t>
            </a:r>
          </a:p>
          <a:p>
            <a:pPr lvl="1"/>
            <a:r>
              <a:rPr lang="en-US" sz="2200" b="1" dirty="0"/>
              <a:t>Student</a:t>
            </a:r>
            <a:r>
              <a:rPr lang="en-US" sz="2200" dirty="0"/>
              <a:t> (</a:t>
            </a:r>
            <a:r>
              <a:rPr lang="en-US" sz="2200" dirty="0" err="1"/>
              <a:t>Rno</a:t>
            </a:r>
            <a:r>
              <a:rPr lang="en-US" sz="2200" dirty="0"/>
              <a:t>, </a:t>
            </a:r>
            <a:r>
              <a:rPr lang="en-US" sz="2200" dirty="0" err="1"/>
              <a:t>Sname</a:t>
            </a:r>
            <a:r>
              <a:rPr lang="en-US" sz="2200" dirty="0"/>
              <a:t>, Address, City, Mobile)</a:t>
            </a:r>
          </a:p>
          <a:p>
            <a:pPr lvl="1"/>
            <a:r>
              <a:rPr lang="en-US" sz="2200" b="1" dirty="0"/>
              <a:t>Department</a:t>
            </a:r>
            <a:r>
              <a:rPr lang="en-US" sz="2200" dirty="0"/>
              <a:t> (Did, </a:t>
            </a:r>
            <a:r>
              <a:rPr lang="en-US" sz="2200" dirty="0" err="1"/>
              <a:t>Dname</a:t>
            </a:r>
            <a:r>
              <a:rPr lang="en-US" sz="2200" dirty="0"/>
              <a:t>)</a:t>
            </a:r>
          </a:p>
          <a:p>
            <a:pPr lvl="1"/>
            <a:r>
              <a:rPr lang="en-US" sz="2200" b="1" dirty="0"/>
              <a:t>Academic</a:t>
            </a:r>
            <a:r>
              <a:rPr lang="en-US" sz="2200" dirty="0"/>
              <a:t> (</a:t>
            </a:r>
            <a:r>
              <a:rPr lang="en-US" sz="2200" dirty="0" err="1"/>
              <a:t>Rno</a:t>
            </a:r>
            <a:r>
              <a:rPr lang="en-US" sz="2200" dirty="0"/>
              <a:t>, Did, SPI, CPI, Backlog)</a:t>
            </a:r>
          </a:p>
          <a:p>
            <a:pPr lvl="1"/>
            <a:r>
              <a:rPr lang="en-US" sz="2200" b="1" dirty="0"/>
              <a:t>Faculty</a:t>
            </a:r>
            <a:r>
              <a:rPr lang="en-US" sz="2200" dirty="0"/>
              <a:t> (Fid, </a:t>
            </a:r>
            <a:r>
              <a:rPr lang="en-US" sz="2200" dirty="0" err="1"/>
              <a:t>Fname</a:t>
            </a:r>
            <a:r>
              <a:rPr lang="en-US" sz="2200" dirty="0"/>
              <a:t>, Subject, Did, Salary)</a:t>
            </a:r>
          </a:p>
          <a:p>
            <a:pPr marL="0" indent="0">
              <a:buNone/>
            </a:pPr>
            <a:r>
              <a:rPr lang="en-US" sz="2200" dirty="0"/>
              <a:t>                     List the </a:t>
            </a:r>
            <a:r>
              <a:rPr lang="en-US" sz="2200" b="1" dirty="0">
                <a:solidFill>
                  <a:schemeClr val="accent6"/>
                </a:solidFill>
              </a:rPr>
              <a:t>name of students </a:t>
            </a:r>
            <a:r>
              <a:rPr lang="en-US" sz="2200" dirty="0"/>
              <a:t>with their </a:t>
            </a:r>
            <a:r>
              <a:rPr lang="en-US" sz="2200" b="1" dirty="0">
                <a:solidFill>
                  <a:schemeClr val="accent6"/>
                </a:solidFill>
              </a:rPr>
              <a:t>department name </a:t>
            </a:r>
            <a:r>
              <a:rPr lang="en-US" sz="2200" dirty="0"/>
              <a:t>having </a:t>
            </a:r>
            <a:r>
              <a:rPr lang="en-US" sz="2200" b="1" dirty="0">
                <a:solidFill>
                  <a:schemeClr val="accent6"/>
                </a:solidFill>
              </a:rPr>
              <a:t>backlog 0</a:t>
            </a:r>
            <a:r>
              <a:rPr lang="en-US" sz="2200" dirty="0"/>
              <a:t>.	</a:t>
            </a:r>
            <a:endParaRPr lang="en-IN" dirty="0">
              <a:latin typeface="Arial" panose="020B0604020202020204" pitchFamily="34" charset="0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ClrTx/>
              <a:buNone/>
            </a:pPr>
            <a:r>
              <a:rPr lang="en-IN" dirty="0">
                <a:latin typeface="Arial" panose="020B0604020202020204" pitchFamily="34" charset="0"/>
              </a:rPr>
              <a:t>                </a:t>
            </a:r>
            <a:r>
              <a:rPr lang="en-US" dirty="0"/>
              <a:t>∏ </a:t>
            </a:r>
            <a:r>
              <a:rPr lang="en-US" i="1" baseline="-25000" dirty="0" err="1"/>
              <a:t>Sname</a:t>
            </a:r>
            <a:r>
              <a:rPr lang="en-US" i="1" baseline="-25000" dirty="0"/>
              <a:t>, </a:t>
            </a:r>
            <a:r>
              <a:rPr lang="en-US" i="1" baseline="-25000" dirty="0" err="1"/>
              <a:t>Dname</a:t>
            </a:r>
            <a:r>
              <a:rPr lang="en-US" dirty="0"/>
              <a:t> </a:t>
            </a:r>
            <a:r>
              <a:rPr lang="en-US" sz="2000" dirty="0">
                <a:solidFill>
                  <a:prstClr val="black"/>
                </a:solidFill>
              </a:rPr>
              <a:t>(</a:t>
            </a:r>
            <a:r>
              <a:rPr lang="el-GR" dirty="0">
                <a:solidFill>
                  <a:prstClr val="black"/>
                </a:solidFill>
              </a:rPr>
              <a:t>σ</a:t>
            </a:r>
            <a:r>
              <a:rPr lang="en-US" baseline="-25000" dirty="0">
                <a:solidFill>
                  <a:prstClr val="black"/>
                </a:solidFill>
              </a:rPr>
              <a:t>backlog=0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(Student        (Department       Academic)))</a:t>
            </a:r>
            <a:endParaRPr lang="en-US" sz="2200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2200" dirty="0"/>
              <a:t>                      List the </a:t>
            </a:r>
            <a:r>
              <a:rPr lang="en-US" sz="2200" b="1" dirty="0">
                <a:solidFill>
                  <a:schemeClr val="accent6"/>
                </a:solidFill>
              </a:rPr>
              <a:t>name of faculties </a:t>
            </a:r>
            <a:r>
              <a:rPr lang="en-US" sz="2200" dirty="0"/>
              <a:t>with their </a:t>
            </a:r>
            <a:r>
              <a:rPr lang="en-US" sz="2200" b="1" dirty="0">
                <a:solidFill>
                  <a:schemeClr val="accent6"/>
                </a:solidFill>
              </a:rPr>
              <a:t>department name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chemeClr val="accent6"/>
                </a:solidFill>
              </a:rPr>
              <a:t>salary</a:t>
            </a:r>
            <a:r>
              <a:rPr lang="en-US" sz="2200" dirty="0">
                <a:solidFill>
                  <a:schemeClr val="accent6"/>
                </a:solidFill>
              </a:rPr>
              <a:t> having </a:t>
            </a:r>
            <a:r>
              <a:rPr lang="en-US" sz="2200" b="1" dirty="0">
                <a:solidFill>
                  <a:schemeClr val="accent6"/>
                </a:solidFill>
              </a:rPr>
              <a:t>salary more than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2200" b="1" dirty="0">
                <a:solidFill>
                  <a:schemeClr val="accent6"/>
                </a:solidFill>
              </a:rPr>
              <a:t>                      25000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chemeClr val="accent6"/>
                </a:solidFill>
              </a:rPr>
              <a:t>belongs to “CE” department</a:t>
            </a:r>
            <a:r>
              <a:rPr lang="en-US" sz="2200" dirty="0"/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2800" dirty="0">
                <a:solidFill>
                  <a:prstClr val="black"/>
                </a:solidFill>
              </a:rPr>
              <a:t>               </a:t>
            </a:r>
            <a:r>
              <a:rPr lang="en-US" dirty="0">
                <a:solidFill>
                  <a:prstClr val="black"/>
                </a:solidFill>
              </a:rPr>
              <a:t> ∏ </a:t>
            </a:r>
            <a:r>
              <a:rPr lang="en-US" i="1" baseline="-25000" dirty="0" err="1">
                <a:solidFill>
                  <a:prstClr val="black"/>
                </a:solidFill>
              </a:rPr>
              <a:t>Fname</a:t>
            </a:r>
            <a:r>
              <a:rPr lang="en-US" i="1" baseline="-25000" dirty="0">
                <a:solidFill>
                  <a:prstClr val="black"/>
                </a:solidFill>
              </a:rPr>
              <a:t>, </a:t>
            </a:r>
            <a:r>
              <a:rPr lang="en-US" i="1" baseline="-25000" dirty="0" err="1">
                <a:solidFill>
                  <a:prstClr val="black"/>
                </a:solidFill>
              </a:rPr>
              <a:t>Dname</a:t>
            </a:r>
            <a:r>
              <a:rPr lang="en-US" i="1" baseline="-25000" dirty="0">
                <a:solidFill>
                  <a:prstClr val="black"/>
                </a:solidFill>
              </a:rPr>
              <a:t>, Salary </a:t>
            </a:r>
            <a:r>
              <a:rPr lang="en-US" sz="2000" dirty="0"/>
              <a:t>(</a:t>
            </a:r>
            <a:r>
              <a:rPr lang="el-GR" dirty="0"/>
              <a:t>σ</a:t>
            </a:r>
            <a:r>
              <a:rPr lang="en-US" baseline="-25000" dirty="0"/>
              <a:t>Salary&gt;25000 </a:t>
            </a:r>
            <a:r>
              <a:rPr lang="el-GR" baseline="-25000" dirty="0"/>
              <a:t>Λ</a:t>
            </a:r>
            <a:r>
              <a:rPr lang="en-US" baseline="-25000" dirty="0"/>
              <a:t> </a:t>
            </a:r>
            <a:r>
              <a:rPr lang="en-US" baseline="-25000" dirty="0" err="1"/>
              <a:t>Dname</a:t>
            </a:r>
            <a:r>
              <a:rPr lang="en-US" baseline="-25000" dirty="0"/>
              <a:t> =‘CE’</a:t>
            </a:r>
            <a:r>
              <a:rPr lang="en-US" dirty="0"/>
              <a:t> </a:t>
            </a:r>
            <a:r>
              <a:rPr lang="en-US" sz="2000" dirty="0"/>
              <a:t>(Department       Faculty))</a:t>
            </a:r>
          </a:p>
          <a:p>
            <a:pPr marL="0" indent="0">
              <a:buNone/>
            </a:pPr>
            <a:r>
              <a:rPr lang="en-US" sz="500" dirty="0"/>
              <a:t>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500" dirty="0"/>
              <a:t>                                                                                               </a:t>
            </a:r>
            <a:r>
              <a:rPr lang="en-US" sz="2200" dirty="0"/>
              <a:t>List the </a:t>
            </a:r>
            <a:r>
              <a:rPr lang="en-US" sz="2200" b="1" dirty="0">
                <a:solidFill>
                  <a:schemeClr val="accent6"/>
                </a:solidFill>
              </a:rPr>
              <a:t>name of all faculties </a:t>
            </a:r>
            <a:r>
              <a:rPr lang="en-US" sz="2200" dirty="0"/>
              <a:t>of </a:t>
            </a:r>
            <a:r>
              <a:rPr lang="en-US" sz="2200" b="1" dirty="0">
                <a:solidFill>
                  <a:srgbClr val="C00000"/>
                </a:solidFill>
              </a:rPr>
              <a:t>“</a:t>
            </a:r>
            <a:r>
              <a:rPr lang="en-US" sz="2200" b="1" dirty="0">
                <a:solidFill>
                  <a:schemeClr val="accent6"/>
                </a:solidFill>
              </a:rPr>
              <a:t>CE</a:t>
            </a:r>
            <a:r>
              <a:rPr lang="en-US" sz="2200" b="1" dirty="0">
                <a:solidFill>
                  <a:srgbClr val="C00000"/>
                </a:solidFill>
              </a:rPr>
              <a:t>”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200" dirty="0"/>
              <a:t>and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200" b="1" dirty="0">
                <a:solidFill>
                  <a:srgbClr val="C00000"/>
                </a:solidFill>
              </a:rPr>
              <a:t>“</a:t>
            </a:r>
            <a:r>
              <a:rPr lang="en-US" sz="2200" b="1" dirty="0">
                <a:solidFill>
                  <a:schemeClr val="accent6"/>
                </a:solidFill>
              </a:rPr>
              <a:t>ME</a:t>
            </a:r>
            <a:r>
              <a:rPr lang="en-US" sz="2200" b="1" dirty="0">
                <a:solidFill>
                  <a:srgbClr val="C00000"/>
                </a:solidFill>
              </a:rPr>
              <a:t>” </a:t>
            </a:r>
            <a:r>
              <a:rPr lang="en-US" sz="2200" dirty="0"/>
              <a:t>department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200" dirty="0"/>
              <a:t>whose </a:t>
            </a:r>
            <a:r>
              <a:rPr lang="en-US" sz="2200" b="1" dirty="0">
                <a:solidFill>
                  <a:schemeClr val="accent6"/>
                </a:solidFill>
              </a:rPr>
              <a:t>salary is more than 50000</a:t>
            </a:r>
            <a:r>
              <a:rPr lang="en-US" sz="2200" dirty="0"/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2800" dirty="0">
                <a:solidFill>
                  <a:prstClr val="black"/>
                </a:solidFill>
              </a:rPr>
              <a:t>                ∏ </a:t>
            </a:r>
            <a:r>
              <a:rPr lang="en-US" sz="2000" i="1" baseline="-25000" dirty="0" err="1">
                <a:solidFill>
                  <a:prstClr val="black"/>
                </a:solidFill>
              </a:rPr>
              <a:t>Fname</a:t>
            </a:r>
            <a:r>
              <a:rPr lang="en-US" sz="2000" i="1" baseline="-25000" dirty="0">
                <a:solidFill>
                  <a:prstClr val="black"/>
                </a:solidFill>
              </a:rPr>
              <a:t> </a:t>
            </a:r>
            <a:r>
              <a:rPr lang="en-US" sz="1800" dirty="0"/>
              <a:t>(</a:t>
            </a:r>
            <a:r>
              <a:rPr lang="el-GR" dirty="0"/>
              <a:t>σ</a:t>
            </a:r>
            <a:r>
              <a:rPr lang="en-US" baseline="-25000" dirty="0" err="1"/>
              <a:t>Dname</a:t>
            </a:r>
            <a:r>
              <a:rPr lang="en-US" baseline="-25000" dirty="0"/>
              <a:t> =‘CE’ V </a:t>
            </a:r>
            <a:r>
              <a:rPr lang="en-US" baseline="-25000" dirty="0" err="1"/>
              <a:t>Dname</a:t>
            </a:r>
            <a:r>
              <a:rPr lang="en-US" baseline="-25000" dirty="0"/>
              <a:t> =‘ME’ </a:t>
            </a:r>
            <a:r>
              <a:rPr lang="el-GR" baseline="-25000" dirty="0"/>
              <a:t>Λ</a:t>
            </a:r>
            <a:r>
              <a:rPr lang="en-US" baseline="-25000" dirty="0"/>
              <a:t> Salary&gt;50000 </a:t>
            </a:r>
            <a:r>
              <a:rPr lang="en-US" sz="1800" dirty="0"/>
              <a:t>(Department       Faculty))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2000" i="1" baseline="-25000" dirty="0">
                <a:solidFill>
                  <a:prstClr val="black"/>
                </a:solidFill>
              </a:rPr>
              <a:t> </a:t>
            </a:r>
            <a:endParaRPr lang="en-US" sz="20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sz="2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0E4841-1CB7-007B-3876-99C87B316B2D}"/>
              </a:ext>
            </a:extLst>
          </p:cNvPr>
          <p:cNvCxnSpPr>
            <a:cxnSpLocks/>
          </p:cNvCxnSpPr>
          <p:nvPr/>
        </p:nvCxnSpPr>
        <p:spPr>
          <a:xfrm>
            <a:off x="416766" y="3640734"/>
            <a:ext cx="11376430" cy="2462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90241111-07C2-5DD2-2DB0-6E8D5EE90899}"/>
              </a:ext>
            </a:extLst>
          </p:cNvPr>
          <p:cNvGraphicFramePr>
            <a:graphicFrameLocks/>
          </p:cNvGraphicFramePr>
          <p:nvPr/>
        </p:nvGraphicFramePr>
        <p:xfrm>
          <a:off x="396446" y="3260546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23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AutoShape 11">
            <a:extLst>
              <a:ext uri="{FF2B5EF4-FFF2-40B4-BE49-F238E27FC236}">
                <a16:creationId xmlns:a16="http://schemas.microsoft.com/office/drawing/2014/main" id="{CC4664EF-0AB5-EE5F-D867-39DF0CF7A69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44842" y="3313480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4BCFDC21-9071-B53B-84DB-502181549D9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44299" y="3310417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F0330ABB-1189-F340-E85E-62991AD40CDE}"/>
              </a:ext>
            </a:extLst>
          </p:cNvPr>
          <p:cNvGraphicFramePr>
            <a:graphicFrameLocks/>
          </p:cNvGraphicFramePr>
          <p:nvPr/>
        </p:nvGraphicFramePr>
        <p:xfrm>
          <a:off x="428272" y="4420279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014F831-94E3-4CE6-10D3-2E2797BCC250}"/>
              </a:ext>
            </a:extLst>
          </p:cNvPr>
          <p:cNvCxnSpPr>
            <a:cxnSpLocks/>
          </p:cNvCxnSpPr>
          <p:nvPr/>
        </p:nvCxnSpPr>
        <p:spPr>
          <a:xfrm>
            <a:off x="450479" y="4299039"/>
            <a:ext cx="11313249" cy="2722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utoShape 11">
            <a:extLst>
              <a:ext uri="{FF2B5EF4-FFF2-40B4-BE49-F238E27FC236}">
                <a16:creationId xmlns:a16="http://schemas.microsoft.com/office/drawing/2014/main" id="{525D28E2-C473-140B-9B5B-5CEC4E5EE9F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01053" y="4476045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graphicFrame>
        <p:nvGraphicFramePr>
          <p:cNvPr id="40" name="Content Placeholder 4">
            <a:extLst>
              <a:ext uri="{FF2B5EF4-FFF2-40B4-BE49-F238E27FC236}">
                <a16:creationId xmlns:a16="http://schemas.microsoft.com/office/drawing/2014/main" id="{4A8265D4-E150-340C-F1B3-D70FDD7AE54F}"/>
              </a:ext>
            </a:extLst>
          </p:cNvPr>
          <p:cNvGraphicFramePr>
            <a:graphicFrameLocks/>
          </p:cNvGraphicFramePr>
          <p:nvPr/>
        </p:nvGraphicFramePr>
        <p:xfrm>
          <a:off x="435892" y="553773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902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7C9EC86-6D32-80F8-5238-1CA942BC0DDA}"/>
              </a:ext>
            </a:extLst>
          </p:cNvPr>
          <p:cNvCxnSpPr>
            <a:cxnSpLocks/>
          </p:cNvCxnSpPr>
          <p:nvPr/>
        </p:nvCxnSpPr>
        <p:spPr>
          <a:xfrm>
            <a:off x="453019" y="5923265"/>
            <a:ext cx="1133356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utoShape 11">
            <a:extLst>
              <a:ext uri="{FF2B5EF4-FFF2-40B4-BE49-F238E27FC236}">
                <a16:creationId xmlns:a16="http://schemas.microsoft.com/office/drawing/2014/main" id="{0E5A10A6-D7FF-109F-0248-36931B5AF14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51767" y="5544718"/>
            <a:ext cx="274320" cy="27432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32D4A8AA-C81C-48ED-3AFF-3C8FD14D9690}"/>
              </a:ext>
            </a:extLst>
          </p:cNvPr>
          <p:cNvGraphicFramePr>
            <a:graphicFrameLocks/>
          </p:cNvGraphicFramePr>
          <p:nvPr/>
        </p:nvGraphicFramePr>
        <p:xfrm>
          <a:off x="398804" y="2764406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636133-0343-5C07-B663-D4EF187A1B30}"/>
              </a:ext>
            </a:extLst>
          </p:cNvPr>
          <p:cNvCxnSpPr>
            <a:cxnSpLocks/>
          </p:cNvCxnSpPr>
          <p:nvPr/>
        </p:nvCxnSpPr>
        <p:spPr>
          <a:xfrm>
            <a:off x="406606" y="3143723"/>
            <a:ext cx="11386590" cy="4480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0F467C27-9620-7157-4506-498158FA2650}"/>
              </a:ext>
            </a:extLst>
          </p:cNvPr>
          <p:cNvGraphicFramePr>
            <a:graphicFrameLocks/>
          </p:cNvGraphicFramePr>
          <p:nvPr/>
        </p:nvGraphicFramePr>
        <p:xfrm>
          <a:off x="428272" y="3918203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526609-C87F-BD13-6965-F327BAA4CCDF}"/>
              </a:ext>
            </a:extLst>
          </p:cNvPr>
          <p:cNvCxnSpPr>
            <a:cxnSpLocks/>
          </p:cNvCxnSpPr>
          <p:nvPr/>
        </p:nvCxnSpPr>
        <p:spPr>
          <a:xfrm>
            <a:off x="437086" y="4799803"/>
            <a:ext cx="11326642" cy="2912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7BD2F3D7-1E96-826E-FC9E-7A4E8B58733D}"/>
              </a:ext>
            </a:extLst>
          </p:cNvPr>
          <p:cNvGraphicFramePr>
            <a:graphicFrameLocks/>
          </p:cNvGraphicFramePr>
          <p:nvPr/>
        </p:nvGraphicFramePr>
        <p:xfrm>
          <a:off x="418112" y="5025643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9D8343-91E7-0A89-E8B6-9AD36D0E01F3}"/>
              </a:ext>
            </a:extLst>
          </p:cNvPr>
          <p:cNvCxnSpPr>
            <a:cxnSpLocks/>
          </p:cNvCxnSpPr>
          <p:nvPr/>
        </p:nvCxnSpPr>
        <p:spPr>
          <a:xfrm>
            <a:off x="416766" y="5409403"/>
            <a:ext cx="11326642" cy="2912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34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39" grpId="0" animBg="1"/>
      <p:bldP spid="4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3EDD-9133-23DD-8A19-BAE12FCC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DEDF-6DCA-502B-3C12-7BD49B60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Operation:</a:t>
            </a:r>
            <a:br>
              <a:rPr lang="en-US" dirty="0"/>
            </a:br>
            <a:r>
              <a:rPr lang="en-US" dirty="0"/>
              <a:t>Outer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725B2-683E-D606-1D3C-52F570948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485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5865"/>
            <a:ext cx="11929641" cy="544038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200" dirty="0"/>
              <a:t>In natural join some records are </a:t>
            </a:r>
            <a:r>
              <a:rPr lang="en-US" sz="2200" b="1" dirty="0">
                <a:solidFill>
                  <a:schemeClr val="accent6"/>
                </a:solidFill>
              </a:rPr>
              <a:t>missing</a:t>
            </a:r>
            <a:r>
              <a:rPr lang="en-US" sz="2200" dirty="0">
                <a:solidFill>
                  <a:schemeClr val="accent6"/>
                </a:solidFill>
              </a:rPr>
              <a:t>, </a:t>
            </a:r>
            <a:r>
              <a:rPr lang="en-US" sz="2200" dirty="0"/>
              <a:t>if we </a:t>
            </a:r>
            <a:r>
              <a:rPr lang="en-US" sz="2200" b="1" dirty="0">
                <a:solidFill>
                  <a:schemeClr val="accent6"/>
                </a:solidFill>
              </a:rPr>
              <a:t>want that missing records </a:t>
            </a:r>
            <a:r>
              <a:rPr lang="en-US" sz="2200" dirty="0"/>
              <a:t>than we have to </a:t>
            </a:r>
            <a:r>
              <a:rPr lang="en-US" sz="2200" b="1" dirty="0"/>
              <a:t>use</a:t>
            </a:r>
            <a:r>
              <a:rPr lang="en-US" sz="2200" b="1" dirty="0">
                <a:solidFill>
                  <a:schemeClr val="accent6"/>
                </a:solidFill>
              </a:rPr>
              <a:t> outer join</a:t>
            </a:r>
            <a:r>
              <a:rPr lang="en-US" sz="2200" dirty="0">
                <a:solidFill>
                  <a:schemeClr val="accent6"/>
                </a:solidFill>
              </a:rPr>
              <a:t>.</a:t>
            </a:r>
          </a:p>
        </p:txBody>
      </p:sp>
      <p:graphicFrame>
        <p:nvGraphicFramePr>
          <p:cNvPr id="4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42457" y="2377337"/>
          <a:ext cx="4114981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Sr.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kern="1200" dirty="0">
                          <a:solidFill>
                            <a:schemeClr val="tx1"/>
                          </a:solidFill>
                        </a:rPr>
                        <a:t>Outer Join</a:t>
                      </a:r>
                      <a:endParaRPr lang="en-US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42457" y="2844435"/>
          <a:ext cx="4114519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Left Outer Join</a:t>
                      </a:r>
                      <a:endParaRPr lang="en-US" sz="2200" b="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200" b="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149735"/>
              </p:ext>
            </p:extLst>
          </p:nvPr>
        </p:nvGraphicFramePr>
        <p:xfrm>
          <a:off x="745813" y="1946389"/>
          <a:ext cx="4111163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1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Three types of Outer Join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42459" y="3272480"/>
          <a:ext cx="4114519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Right Outer Join</a:t>
                      </a:r>
                      <a:endParaRPr lang="en-US" sz="2200" b="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200" b="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42459" y="3698325"/>
          <a:ext cx="4114519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3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Full Outer Join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oup 12"/>
          <p:cNvGrpSpPr/>
          <p:nvPr/>
        </p:nvGrpSpPr>
        <p:grpSpPr>
          <a:xfrm>
            <a:off x="4066863" y="2971336"/>
            <a:ext cx="320358" cy="182881"/>
            <a:chOff x="2758122" y="2441257"/>
            <a:chExt cx="320358" cy="182881"/>
          </a:xfrm>
        </p:grpSpPr>
        <p:sp>
          <p:nvSpPr>
            <p:cNvPr id="14" name="Flowchart: Collate 13"/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6"/>
          <p:cNvGrpSpPr/>
          <p:nvPr/>
        </p:nvGrpSpPr>
        <p:grpSpPr>
          <a:xfrm>
            <a:off x="4201718" y="3391926"/>
            <a:ext cx="321467" cy="182881"/>
            <a:chOff x="3048000" y="2819400"/>
            <a:chExt cx="321467" cy="182881"/>
          </a:xfrm>
        </p:grpSpPr>
        <p:sp>
          <p:nvSpPr>
            <p:cNvPr id="18" name="Flowchart: Collate 17"/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0"/>
          <p:cNvGrpSpPr/>
          <p:nvPr/>
        </p:nvGrpSpPr>
        <p:grpSpPr>
          <a:xfrm>
            <a:off x="4080714" y="3864310"/>
            <a:ext cx="457836" cy="182881"/>
            <a:chOff x="2803842" y="3246119"/>
            <a:chExt cx="457836" cy="182881"/>
          </a:xfrm>
        </p:grpSpPr>
        <p:sp>
          <p:nvSpPr>
            <p:cNvPr id="22" name="Flowchart: Collate 21"/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742457" y="4550890"/>
            <a:ext cx="5709453" cy="789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dirty="0"/>
              <a:t>To perform an Outer Join there must be </a:t>
            </a:r>
            <a:r>
              <a:rPr lang="en-US" sz="2000" b="1" dirty="0">
                <a:solidFill>
                  <a:schemeClr val="accent6"/>
                </a:solidFill>
              </a:rPr>
              <a:t>one common attribute (column) </a:t>
            </a:r>
            <a:r>
              <a:rPr lang="en-US" sz="2000" dirty="0"/>
              <a:t>between two relations.</a:t>
            </a:r>
          </a:p>
        </p:txBody>
      </p:sp>
    </p:spTree>
    <p:extLst>
      <p:ext uri="{BB962C8B-B14F-4D97-AF65-F5344CB8AC3E}">
        <p14:creationId xmlns:p14="http://schemas.microsoft.com/office/powerpoint/2010/main" val="230518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054D-7088-F25B-BB34-6E35DB4E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377E1FB-6633-0085-AA9A-E12BFEA0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Left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43B2D-6DC3-C6F7-B7D4-7C89CE6B6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52887"/>
            <a:ext cx="11929641" cy="5740516"/>
          </a:xfrm>
        </p:spPr>
        <p:txBody>
          <a:bodyPr/>
          <a:lstStyle/>
          <a:p>
            <a:r>
              <a:rPr lang="en-US" dirty="0"/>
              <a:t>Symbol: </a:t>
            </a:r>
          </a:p>
          <a:p>
            <a:r>
              <a:rPr lang="en-US" dirty="0"/>
              <a:t>Notation: </a:t>
            </a:r>
            <a:r>
              <a:rPr lang="en-US" dirty="0">
                <a:sym typeface="Symbol" pitchFamily="18" charset="2"/>
              </a:rPr>
              <a:t>Relation-1 (R1) </a:t>
            </a:r>
            <a:r>
              <a:rPr lang="en-US" dirty="0"/>
              <a:t>     </a:t>
            </a:r>
            <a:r>
              <a:rPr lang="en-US" dirty="0">
                <a:sym typeface="Symbol" pitchFamily="18" charset="2"/>
              </a:rPr>
              <a:t>Relation-2 (R2)</a:t>
            </a:r>
            <a:endParaRPr lang="en-US" dirty="0"/>
          </a:p>
          <a:p>
            <a:r>
              <a:rPr lang="en-US" dirty="0"/>
              <a:t>Operation: 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Display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all the tuples of the left relation </a:t>
            </a:r>
            <a:r>
              <a:rPr lang="en-US" dirty="0"/>
              <a:t>even through there is no matching tuple in the right relation. </a:t>
            </a:r>
          </a:p>
          <a:p>
            <a:pPr lvl="1"/>
            <a:r>
              <a:rPr lang="en-US" dirty="0"/>
              <a:t>For such kind of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tuples having no matching</a:t>
            </a:r>
            <a:r>
              <a:rPr lang="en-US" dirty="0"/>
              <a:t>, the attributes of right relation will be </a:t>
            </a:r>
            <a:r>
              <a:rPr lang="en-US" b="1" dirty="0">
                <a:solidFill>
                  <a:schemeClr val="accent6"/>
                </a:solidFill>
              </a:rPr>
              <a:t>padded with NULL </a:t>
            </a:r>
            <a:r>
              <a:rPr lang="en-US" dirty="0"/>
              <a:t>in resultant relation.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BF6B49E1-F3BB-CB43-B5C8-CD5AD63E7E04}"/>
              </a:ext>
            </a:extLst>
          </p:cNvPr>
          <p:cNvGrpSpPr/>
          <p:nvPr/>
        </p:nvGrpSpPr>
        <p:grpSpPr>
          <a:xfrm>
            <a:off x="1560503" y="846723"/>
            <a:ext cx="320358" cy="182881"/>
            <a:chOff x="2758122" y="2441257"/>
            <a:chExt cx="320358" cy="182881"/>
          </a:xfrm>
        </p:grpSpPr>
        <p:sp>
          <p:nvSpPr>
            <p:cNvPr id="5" name="Flowchart: Collate 4">
              <a:extLst>
                <a:ext uri="{FF2B5EF4-FFF2-40B4-BE49-F238E27FC236}">
                  <a16:creationId xmlns:a16="http://schemas.microsoft.com/office/drawing/2014/main" id="{0A0B9BDC-61A3-A3F6-C315-E7E7ECAE5D45}"/>
                </a:ext>
              </a:extLst>
            </p:cNvPr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6681474-7F49-E1F4-E365-E93FA61E7E28}"/>
                </a:ext>
              </a:extLst>
            </p:cNvPr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512AC4-BCF0-AF58-CD95-FC57FB333142}"/>
                </a:ext>
              </a:extLst>
            </p:cNvPr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2">
            <a:extLst>
              <a:ext uri="{FF2B5EF4-FFF2-40B4-BE49-F238E27FC236}">
                <a16:creationId xmlns:a16="http://schemas.microsoft.com/office/drawing/2014/main" id="{67DDEDE7-B887-B968-AB25-6ED1719983C1}"/>
              </a:ext>
            </a:extLst>
          </p:cNvPr>
          <p:cNvGrpSpPr/>
          <p:nvPr/>
        </p:nvGrpSpPr>
        <p:grpSpPr>
          <a:xfrm>
            <a:off x="3482606" y="1303929"/>
            <a:ext cx="320358" cy="182881"/>
            <a:chOff x="2758122" y="2441257"/>
            <a:chExt cx="320358" cy="182881"/>
          </a:xfrm>
        </p:grpSpPr>
        <p:sp>
          <p:nvSpPr>
            <p:cNvPr id="9" name="Flowchart: Collate 8">
              <a:extLst>
                <a:ext uri="{FF2B5EF4-FFF2-40B4-BE49-F238E27FC236}">
                  <a16:creationId xmlns:a16="http://schemas.microsoft.com/office/drawing/2014/main" id="{0D5824CE-58C0-B784-F4B6-47E88C5BD978}"/>
                </a:ext>
              </a:extLst>
            </p:cNvPr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3BD2D3-9CB2-663D-37E2-DE524FBF2D20}"/>
                </a:ext>
              </a:extLst>
            </p:cNvPr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3B2078A-520F-A2F4-348D-BD7937C0795D}"/>
                </a:ext>
              </a:extLst>
            </p:cNvPr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B8600B21-F613-CF84-3C45-1507EC795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05" y="3882435"/>
            <a:ext cx="2371477" cy="1555853"/>
          </a:xfrm>
          <a:prstGeom prst="rect">
            <a:avLst/>
          </a:prstGeom>
        </p:spPr>
      </p:pic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CB5538C9-76B4-A975-3BFE-FF483CB3DA12}"/>
              </a:ext>
            </a:extLst>
          </p:cNvPr>
          <p:cNvGraphicFramePr>
            <a:graphicFrameLocks/>
          </p:cNvGraphicFramePr>
          <p:nvPr/>
        </p:nvGraphicFramePr>
        <p:xfrm>
          <a:off x="514066" y="318774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321DA0EA-A93E-808D-97FC-E2D295B9C460}"/>
              </a:ext>
            </a:extLst>
          </p:cNvPr>
          <p:cNvGraphicFramePr>
            <a:graphicFrameLocks/>
          </p:cNvGraphicFramePr>
          <p:nvPr/>
        </p:nvGraphicFramePr>
        <p:xfrm>
          <a:off x="1612995" y="3178860"/>
          <a:ext cx="551529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515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Left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Outer Join between Student and Result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79F13B-A9E5-4A39-B41D-15D1EA378177}"/>
              </a:ext>
            </a:extLst>
          </p:cNvPr>
          <p:cNvCxnSpPr/>
          <p:nvPr/>
        </p:nvCxnSpPr>
        <p:spPr>
          <a:xfrm>
            <a:off x="514066" y="3575733"/>
            <a:ext cx="64922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105AB7A1-41A5-A38A-83D2-EE05841696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005795"/>
              </p:ext>
            </p:extLst>
          </p:nvPr>
        </p:nvGraphicFramePr>
        <p:xfrm>
          <a:off x="499879" y="3886073"/>
          <a:ext cx="248539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936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77B7F45-645F-2E34-8CB1-ACF2184A9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937117"/>
              </p:ext>
            </p:extLst>
          </p:nvPr>
        </p:nvGraphicFramePr>
        <p:xfrm>
          <a:off x="3484831" y="3908151"/>
          <a:ext cx="1396048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833178853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87771930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25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995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16969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87794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FA24E04-0070-E460-1EDC-4690C28C8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342376"/>
              </p:ext>
            </p:extLst>
          </p:nvPr>
        </p:nvGraphicFramePr>
        <p:xfrm>
          <a:off x="8139730" y="3882435"/>
          <a:ext cx="3295334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156772028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41488313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362225066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885144668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7675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59685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1022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791109"/>
                  </a:ext>
                </a:extLst>
              </a:tr>
            </a:tbl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02A2B54C-40C6-3C0E-E884-DFE361B08BDA}"/>
              </a:ext>
            </a:extLst>
          </p:cNvPr>
          <p:cNvGraphicFramePr>
            <a:graphicFrameLocks/>
          </p:cNvGraphicFramePr>
          <p:nvPr/>
        </p:nvGraphicFramePr>
        <p:xfrm>
          <a:off x="8143224" y="3184536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C5624924-8DE9-64F4-72CB-8ABEE77563C5}"/>
              </a:ext>
            </a:extLst>
          </p:cNvPr>
          <p:cNvSpPr txBox="1"/>
          <p:nvPr/>
        </p:nvSpPr>
        <p:spPr>
          <a:xfrm>
            <a:off x="9163615" y="3216058"/>
            <a:ext cx="2897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chemeClr val="tx1"/>
                </a:solidFill>
              </a:rPr>
              <a:t>(Student)        (Result)</a:t>
            </a:r>
            <a:endParaRPr 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Group 46">
            <a:extLst>
              <a:ext uri="{FF2B5EF4-FFF2-40B4-BE49-F238E27FC236}">
                <a16:creationId xmlns:a16="http://schemas.microsoft.com/office/drawing/2014/main" id="{4345A5FD-4253-A327-E3F4-C9D2D3A86E1C}"/>
              </a:ext>
            </a:extLst>
          </p:cNvPr>
          <p:cNvGrpSpPr/>
          <p:nvPr/>
        </p:nvGrpSpPr>
        <p:grpSpPr>
          <a:xfrm>
            <a:off x="10135695" y="3309488"/>
            <a:ext cx="320358" cy="182881"/>
            <a:chOff x="2758122" y="2441257"/>
            <a:chExt cx="320358" cy="182881"/>
          </a:xfrm>
        </p:grpSpPr>
        <p:sp>
          <p:nvSpPr>
            <p:cNvPr id="31" name="Flowchart: Collate 30">
              <a:extLst>
                <a:ext uri="{FF2B5EF4-FFF2-40B4-BE49-F238E27FC236}">
                  <a16:creationId xmlns:a16="http://schemas.microsoft.com/office/drawing/2014/main" id="{16DC9E6F-53FF-3663-3DEF-E210753C6569}"/>
                </a:ext>
              </a:extLst>
            </p:cNvPr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2170E2-685B-A040-94A3-F2A86B53EFAC}"/>
                </a:ext>
              </a:extLst>
            </p:cNvPr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DD789D-C3A0-8C3B-67A4-758A37D541DF}"/>
                </a:ext>
              </a:extLst>
            </p:cNvPr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883CE85-A5E9-BEB6-AF2B-A52450119E6B}"/>
              </a:ext>
            </a:extLst>
          </p:cNvPr>
          <p:cNvCxnSpPr/>
          <p:nvPr/>
        </p:nvCxnSpPr>
        <p:spPr>
          <a:xfrm>
            <a:off x="8143224" y="3572521"/>
            <a:ext cx="3291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B447C797-36BA-6B9D-7B71-3C177276722B}"/>
              </a:ext>
            </a:extLst>
          </p:cNvPr>
          <p:cNvGraphicFramePr>
            <a:graphicFrameLocks/>
          </p:cNvGraphicFramePr>
          <p:nvPr/>
        </p:nvGraphicFramePr>
        <p:xfrm>
          <a:off x="502898" y="5874732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4492053-2334-1EFF-4C08-C88096457D18}"/>
              </a:ext>
            </a:extLst>
          </p:cNvPr>
          <p:cNvSpPr txBox="1"/>
          <p:nvPr/>
        </p:nvSpPr>
        <p:spPr>
          <a:xfrm>
            <a:off x="1629083" y="5888186"/>
            <a:ext cx="4249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</a:t>
            </a:r>
            <a:r>
              <a:rPr lang="en-US" sz="18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output of </a:t>
            </a:r>
            <a:r>
              <a:rPr lang="en-US" sz="1800" b="0" dirty="0">
                <a:solidFill>
                  <a:schemeClr val="tx1"/>
                </a:solidFill>
              </a:rPr>
              <a:t>(Result)         (Student).</a:t>
            </a:r>
            <a:endParaRPr 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8" name="Group 46">
            <a:extLst>
              <a:ext uri="{FF2B5EF4-FFF2-40B4-BE49-F238E27FC236}">
                <a16:creationId xmlns:a16="http://schemas.microsoft.com/office/drawing/2014/main" id="{31A6CB71-C9C0-B2D4-6A20-A701D40EDAEC}"/>
              </a:ext>
            </a:extLst>
          </p:cNvPr>
          <p:cNvGrpSpPr/>
          <p:nvPr/>
        </p:nvGrpSpPr>
        <p:grpSpPr>
          <a:xfrm>
            <a:off x="4447131" y="5981411"/>
            <a:ext cx="320358" cy="182881"/>
            <a:chOff x="2758122" y="2441257"/>
            <a:chExt cx="320358" cy="182881"/>
          </a:xfrm>
        </p:grpSpPr>
        <p:sp>
          <p:nvSpPr>
            <p:cNvPr id="39" name="Flowchart: Collate 38">
              <a:extLst>
                <a:ext uri="{FF2B5EF4-FFF2-40B4-BE49-F238E27FC236}">
                  <a16:creationId xmlns:a16="http://schemas.microsoft.com/office/drawing/2014/main" id="{2DBE63CA-675F-8FB0-0464-C5710F811625}"/>
                </a:ext>
              </a:extLst>
            </p:cNvPr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0542455-1C62-03BE-5427-8CAB09EC8B64}"/>
                </a:ext>
              </a:extLst>
            </p:cNvPr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63D74BE-6E8B-6D61-E254-7ECF39F6101E}"/>
                </a:ext>
              </a:extLst>
            </p:cNvPr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CA2DDF-BD53-F792-1B2A-A194A9E7562F}"/>
              </a:ext>
            </a:extLst>
          </p:cNvPr>
          <p:cNvCxnSpPr/>
          <p:nvPr/>
        </p:nvCxnSpPr>
        <p:spPr>
          <a:xfrm>
            <a:off x="502898" y="6262717"/>
            <a:ext cx="5577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6A4982-1E82-2563-9D20-C40F85753780}"/>
              </a:ext>
            </a:extLst>
          </p:cNvPr>
          <p:cNvCxnSpPr>
            <a:cxnSpLocks/>
          </p:cNvCxnSpPr>
          <p:nvPr/>
        </p:nvCxnSpPr>
        <p:spPr>
          <a:xfrm flipH="1" flipV="1">
            <a:off x="6181352" y="4905989"/>
            <a:ext cx="157569" cy="722322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F9024D-4B70-A525-0F8C-70C799F95C00}"/>
              </a:ext>
            </a:extLst>
          </p:cNvPr>
          <p:cNvSpPr txBox="1"/>
          <p:nvPr/>
        </p:nvSpPr>
        <p:spPr>
          <a:xfrm>
            <a:off x="6211529" y="5664422"/>
            <a:ext cx="2484806" cy="6832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b="1" dirty="0">
                <a:solidFill>
                  <a:schemeClr val="accent6"/>
                </a:solidFill>
              </a:rPr>
              <a:t>Display all the tuples</a:t>
            </a:r>
          </a:p>
          <a:p>
            <a:pPr marL="112713" algn="l"/>
            <a:r>
              <a:rPr lang="en-US" sz="2000" b="1" dirty="0"/>
              <a:t>from left relation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99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 Example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43585" y="2056386"/>
          <a:ext cx="248539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761600"/>
              </p:ext>
            </p:extLst>
          </p:nvPr>
        </p:nvGraphicFramePr>
        <p:xfrm>
          <a:off x="343585" y="1692773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343585" y="1387525"/>
            <a:ext cx="96012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43585" y="99954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6835427"/>
              </p:ext>
            </p:extLst>
          </p:nvPr>
        </p:nvGraphicFramePr>
        <p:xfrm>
          <a:off x="1442514" y="990652"/>
          <a:ext cx="870934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70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Left</a:t>
                      </a:r>
                      <a:r>
                        <a:rPr lang="en-US" sz="2000" b="1" kern="1200" baseline="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Outer Join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between Student and Result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(Display RollNo, Name and SPI)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>
          <a:xfrm>
            <a:off x="337235" y="4141024"/>
            <a:ext cx="50292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37235" y="3753039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66677" y="3607528"/>
          <a:ext cx="1737360" cy="518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</a:rPr>
                        <a:t>RollNo, Name, SPI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941754"/>
              </p:ext>
            </p:extLst>
          </p:nvPr>
        </p:nvGraphicFramePr>
        <p:xfrm>
          <a:off x="343585" y="4873874"/>
          <a:ext cx="2417129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1361886"/>
              </p:ext>
            </p:extLst>
          </p:nvPr>
        </p:nvGraphicFramePr>
        <p:xfrm>
          <a:off x="343585" y="4510261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025939" y="2052974"/>
          <a:ext cx="186944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547681"/>
              </p:ext>
            </p:extLst>
          </p:nvPr>
        </p:nvGraphicFramePr>
        <p:xfrm>
          <a:off x="3025939" y="1689361"/>
          <a:ext cx="8147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1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31161" y="3720878"/>
          <a:ext cx="258794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58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((Student)        (Result))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42"/>
          <p:cNvGrpSpPr/>
          <p:nvPr/>
        </p:nvGrpSpPr>
        <p:grpSpPr>
          <a:xfrm>
            <a:off x="4076762" y="3832098"/>
            <a:ext cx="320358" cy="182881"/>
            <a:chOff x="2758122" y="2441257"/>
            <a:chExt cx="320358" cy="182881"/>
          </a:xfrm>
        </p:grpSpPr>
        <p:sp>
          <p:nvSpPr>
            <p:cNvPr id="44" name="Flowchart: Collate 43"/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585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Left Outer Join in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outer join </a:t>
            </a:r>
            <a:r>
              <a:rPr lang="en-US" b="1" dirty="0">
                <a:solidFill>
                  <a:schemeClr val="accent6"/>
                </a:solidFill>
              </a:rPr>
              <a:t>return all records from the left table</a:t>
            </a:r>
            <a:r>
              <a:rPr lang="en-US" dirty="0"/>
              <a:t>, and</a:t>
            </a:r>
            <a:r>
              <a:rPr lang="en-US" b="1" dirty="0"/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matched records from the right table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5559661" y="2131113"/>
            <a:ext cx="565485" cy="924250"/>
          </a:xfrm>
          <a:custGeom>
            <a:avLst/>
            <a:gdLst>
              <a:gd name="connsiteX0" fmla="*/ 283022 w 565485"/>
              <a:gd name="connsiteY0" fmla="*/ 0 h 924250"/>
              <a:gd name="connsiteX1" fmla="*/ 316168 w 565485"/>
              <a:gd name="connsiteY1" fmla="*/ 17076 h 924250"/>
              <a:gd name="connsiteX2" fmla="*/ 565485 w 565485"/>
              <a:gd name="connsiteY2" fmla="*/ 462125 h 924250"/>
              <a:gd name="connsiteX3" fmla="*/ 316168 w 565485"/>
              <a:gd name="connsiteY3" fmla="*/ 907174 h 924250"/>
              <a:gd name="connsiteX4" fmla="*/ 283022 w 565485"/>
              <a:gd name="connsiteY4" fmla="*/ 924250 h 924250"/>
              <a:gd name="connsiteX5" fmla="*/ 249809 w 565485"/>
              <a:gd name="connsiteY5" fmla="*/ 907174 h 924250"/>
              <a:gd name="connsiteX6" fmla="*/ 0 w 565485"/>
              <a:gd name="connsiteY6" fmla="*/ 462125 h 924250"/>
              <a:gd name="connsiteX7" fmla="*/ 249809 w 565485"/>
              <a:gd name="connsiteY7" fmla="*/ 17076 h 924250"/>
              <a:gd name="connsiteX8" fmla="*/ 283022 w 565485"/>
              <a:gd name="connsiteY8" fmla="*/ 0 h 9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485" h="924250">
                <a:moveTo>
                  <a:pt x="283022" y="0"/>
                </a:moveTo>
                <a:lnTo>
                  <a:pt x="316168" y="17076"/>
                </a:lnTo>
                <a:cubicBezTo>
                  <a:pt x="466588" y="113527"/>
                  <a:pt x="565485" y="276865"/>
                  <a:pt x="565485" y="462125"/>
                </a:cubicBezTo>
                <a:cubicBezTo>
                  <a:pt x="565485" y="647386"/>
                  <a:pt x="466588" y="810723"/>
                  <a:pt x="316168" y="907174"/>
                </a:cubicBezTo>
                <a:lnTo>
                  <a:pt x="283022" y="924250"/>
                </a:lnTo>
                <a:lnTo>
                  <a:pt x="249809" y="907174"/>
                </a:lnTo>
                <a:cubicBezTo>
                  <a:pt x="99092" y="810723"/>
                  <a:pt x="0" y="647386"/>
                  <a:pt x="0" y="462125"/>
                </a:cubicBezTo>
                <a:cubicBezTo>
                  <a:pt x="0" y="276865"/>
                  <a:pt x="99092" y="113527"/>
                  <a:pt x="249809" y="17076"/>
                </a:cubicBezTo>
                <a:lnTo>
                  <a:pt x="283022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994178" y="2056527"/>
            <a:ext cx="848505" cy="1073422"/>
          </a:xfrm>
          <a:custGeom>
            <a:avLst/>
            <a:gdLst>
              <a:gd name="connsiteX0" fmla="*/ 565484 w 848505"/>
              <a:gd name="connsiteY0" fmla="*/ 0 h 1073422"/>
              <a:gd name="connsiteX1" fmla="*/ 785596 w 848505"/>
              <a:gd name="connsiteY1" fmla="*/ 42177 h 1073422"/>
              <a:gd name="connsiteX2" fmla="*/ 848505 w 848505"/>
              <a:gd name="connsiteY2" fmla="*/ 74586 h 1073422"/>
              <a:gd name="connsiteX3" fmla="*/ 815292 w 848505"/>
              <a:gd name="connsiteY3" fmla="*/ 91662 h 1073422"/>
              <a:gd name="connsiteX4" fmla="*/ 565483 w 848505"/>
              <a:gd name="connsiteY4" fmla="*/ 536711 h 1073422"/>
              <a:gd name="connsiteX5" fmla="*/ 815292 w 848505"/>
              <a:gd name="connsiteY5" fmla="*/ 981760 h 1073422"/>
              <a:gd name="connsiteX6" fmla="*/ 848505 w 848505"/>
              <a:gd name="connsiteY6" fmla="*/ 998836 h 1073422"/>
              <a:gd name="connsiteX7" fmla="*/ 785596 w 848505"/>
              <a:gd name="connsiteY7" fmla="*/ 1031245 h 1073422"/>
              <a:gd name="connsiteX8" fmla="*/ 565484 w 848505"/>
              <a:gd name="connsiteY8" fmla="*/ 1073422 h 1073422"/>
              <a:gd name="connsiteX9" fmla="*/ 0 w 848505"/>
              <a:gd name="connsiteY9" fmla="*/ 536711 h 1073422"/>
              <a:gd name="connsiteX10" fmla="*/ 565484 w 848505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8505" h="1073422">
                <a:moveTo>
                  <a:pt x="565484" y="0"/>
                </a:moveTo>
                <a:cubicBezTo>
                  <a:pt x="643561" y="0"/>
                  <a:pt x="717942" y="15019"/>
                  <a:pt x="785596" y="42177"/>
                </a:cubicBezTo>
                <a:lnTo>
                  <a:pt x="848505" y="74586"/>
                </a:lnTo>
                <a:lnTo>
                  <a:pt x="815292" y="91662"/>
                </a:lnTo>
                <a:cubicBezTo>
                  <a:pt x="664575" y="188113"/>
                  <a:pt x="565483" y="351451"/>
                  <a:pt x="565483" y="536711"/>
                </a:cubicBezTo>
                <a:cubicBezTo>
                  <a:pt x="565483" y="721972"/>
                  <a:pt x="664575" y="885309"/>
                  <a:pt x="815292" y="981760"/>
                </a:cubicBezTo>
                <a:lnTo>
                  <a:pt x="848505" y="998836"/>
                </a:lnTo>
                <a:lnTo>
                  <a:pt x="785596" y="1031245"/>
                </a:lnTo>
                <a:cubicBezTo>
                  <a:pt x="717942" y="1058404"/>
                  <a:pt x="643561" y="1073422"/>
                  <a:pt x="565484" y="1073422"/>
                </a:cubicBezTo>
                <a:cubicBezTo>
                  <a:pt x="253176" y="1073422"/>
                  <a:pt x="0" y="833128"/>
                  <a:pt x="0" y="536711"/>
                </a:cubicBezTo>
                <a:cubicBezTo>
                  <a:pt x="0" y="240294"/>
                  <a:pt x="253176" y="0"/>
                  <a:pt x="565484" y="0"/>
                </a:cubicBez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5842682" y="2056527"/>
            <a:ext cx="850182" cy="1073422"/>
          </a:xfrm>
          <a:custGeom>
            <a:avLst/>
            <a:gdLst>
              <a:gd name="connsiteX0" fmla="*/ 283580 w 850182"/>
              <a:gd name="connsiteY0" fmla="*/ 0 h 1073422"/>
              <a:gd name="connsiteX1" fmla="*/ 850182 w 850182"/>
              <a:gd name="connsiteY1" fmla="*/ 536711 h 1073422"/>
              <a:gd name="connsiteX2" fmla="*/ 283580 w 850182"/>
              <a:gd name="connsiteY2" fmla="*/ 1073422 h 1073422"/>
              <a:gd name="connsiteX3" fmla="*/ 63033 w 850182"/>
              <a:gd name="connsiteY3" fmla="*/ 1031245 h 1073422"/>
              <a:gd name="connsiteX4" fmla="*/ 0 w 850182"/>
              <a:gd name="connsiteY4" fmla="*/ 998836 h 1073422"/>
              <a:gd name="connsiteX5" fmla="*/ 33146 w 850182"/>
              <a:gd name="connsiteY5" fmla="*/ 981760 h 1073422"/>
              <a:gd name="connsiteX6" fmla="*/ 282463 w 850182"/>
              <a:gd name="connsiteY6" fmla="*/ 536711 h 1073422"/>
              <a:gd name="connsiteX7" fmla="*/ 33146 w 850182"/>
              <a:gd name="connsiteY7" fmla="*/ 91662 h 1073422"/>
              <a:gd name="connsiteX8" fmla="*/ 0 w 850182"/>
              <a:gd name="connsiteY8" fmla="*/ 74586 h 1073422"/>
              <a:gd name="connsiteX9" fmla="*/ 63033 w 850182"/>
              <a:gd name="connsiteY9" fmla="*/ 42177 h 1073422"/>
              <a:gd name="connsiteX10" fmla="*/ 283580 w 850182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0182" h="1073422">
                <a:moveTo>
                  <a:pt x="283580" y="0"/>
                </a:moveTo>
                <a:cubicBezTo>
                  <a:pt x="596506" y="0"/>
                  <a:pt x="850182" y="240294"/>
                  <a:pt x="850182" y="536711"/>
                </a:cubicBezTo>
                <a:cubicBezTo>
                  <a:pt x="850182" y="833128"/>
                  <a:pt x="596506" y="1073422"/>
                  <a:pt x="283580" y="1073422"/>
                </a:cubicBezTo>
                <a:cubicBezTo>
                  <a:pt x="205349" y="1073422"/>
                  <a:pt x="130820" y="1058404"/>
                  <a:pt x="63033" y="1031245"/>
                </a:cubicBezTo>
                <a:lnTo>
                  <a:pt x="0" y="998836"/>
                </a:lnTo>
                <a:lnTo>
                  <a:pt x="33146" y="981760"/>
                </a:lnTo>
                <a:cubicBezTo>
                  <a:pt x="183566" y="885309"/>
                  <a:pt x="282463" y="721972"/>
                  <a:pt x="282463" y="536711"/>
                </a:cubicBezTo>
                <a:cubicBezTo>
                  <a:pt x="282463" y="351451"/>
                  <a:pt x="183566" y="188113"/>
                  <a:pt x="33146" y="91662"/>
                </a:cubicBezTo>
                <a:lnTo>
                  <a:pt x="0" y="74586"/>
                </a:lnTo>
                <a:lnTo>
                  <a:pt x="63033" y="42177"/>
                </a:lnTo>
                <a:cubicBezTo>
                  <a:pt x="130820" y="15019"/>
                  <a:pt x="205349" y="0"/>
                  <a:pt x="28358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Left-Right Arrow 6"/>
          <p:cNvSpPr/>
          <p:nvPr/>
        </p:nvSpPr>
        <p:spPr>
          <a:xfrm>
            <a:off x="6855011" y="2340251"/>
            <a:ext cx="1143000" cy="502920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Output</a:t>
            </a:r>
          </a:p>
        </p:txBody>
      </p:sp>
      <p:sp>
        <p:nvSpPr>
          <p:cNvPr id="8" name="Oval 7"/>
          <p:cNvSpPr/>
          <p:nvPr/>
        </p:nvSpPr>
        <p:spPr>
          <a:xfrm>
            <a:off x="1027739" y="2055000"/>
            <a:ext cx="1130967" cy="1073422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Table1</a:t>
            </a:r>
          </a:p>
        </p:txBody>
      </p:sp>
      <p:sp>
        <p:nvSpPr>
          <p:cNvPr id="9" name="Oval 8"/>
          <p:cNvSpPr/>
          <p:nvPr/>
        </p:nvSpPr>
        <p:spPr>
          <a:xfrm>
            <a:off x="2301356" y="2055000"/>
            <a:ext cx="1133204" cy="107342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77170" y="2326959"/>
            <a:ext cx="1143000" cy="50292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Combine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DCC25-1E44-48A0-8550-F89E768A4A30}"/>
              </a:ext>
            </a:extLst>
          </p:cNvPr>
          <p:cNvSpPr txBox="1"/>
          <p:nvPr/>
        </p:nvSpPr>
        <p:spPr>
          <a:xfrm>
            <a:off x="343475" y="3451479"/>
            <a:ext cx="1104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" y="4038314"/>
            <a:ext cx="7962900" cy="19814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3495" y="4227831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94406" y="4239797"/>
            <a:ext cx="1068189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columns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4632" y="4800457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65168" y="4806173"/>
            <a:ext cx="1068190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61001" y="5382216"/>
            <a:ext cx="3117075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Table1.column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Table2.column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73495" y="5362396"/>
            <a:ext cx="481986" cy="4162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7255" y="5384194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31362" y="4800457"/>
            <a:ext cx="1815405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LEFT OUTER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44771" y="4800457"/>
            <a:ext cx="104512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97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0.09462 0.04005 C 0.11441 0.04908 0.1441 0.05394 0.175 0.05394 C 0.21025 0.05394 0.23855 0.04908 0.25834 0.04005 L 0.35313 -4.07407E-6 " pathEditMode="relative" rAng="0" ptsTypes="AAAAA">
                                      <p:cBhvr>
                                        <p:cTn id="5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56" y="268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09462 0.04005 C 0.11441 0.04908 0.1441 0.05394 0.175 0.05394 C 0.21024 0.05394 0.23854 0.04908 0.25833 0.04005 L 0.35312 -4.07407E-6 " pathEditMode="relative" rAng="0" ptsTypes="AAAAA">
                                      <p:cBhvr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56" y="268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504D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Left Outer Join in SQL(Cont..)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889" y="876008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Example</a:t>
            </a:r>
          </a:p>
        </p:txBody>
      </p:sp>
      <p:sp>
        <p:nvSpPr>
          <p:cNvPr id="5" name="Rectangle 4"/>
          <p:cNvSpPr>
            <a:spLocks noChangeAspect="1"/>
          </p:cNvSpPr>
          <p:nvPr/>
        </p:nvSpPr>
        <p:spPr>
          <a:xfrm>
            <a:off x="419099" y="1392450"/>
            <a:ext cx="7962900" cy="1952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69888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3208" y="1569888"/>
            <a:ext cx="1589378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r>
              <a:rPr lang="en-US" dirty="0">
                <a:ln w="0"/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2666" y="1547118"/>
            <a:ext cx="160674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.Name,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1500" y="1544986"/>
            <a:ext cx="1775984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.Branch,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7564" y="1544986"/>
            <a:ext cx="116105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</a:t>
            </a:r>
            <a:r>
              <a:rPr lang="en-US" dirty="0">
                <a:ln w="0"/>
                <a:solidFill>
                  <a:schemeClr val="tx1"/>
                </a:solidFill>
              </a:rPr>
              <a:t>.SPI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72" y="2145076"/>
            <a:ext cx="977144" cy="42252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13209" y="2149625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012564" y="2137105"/>
            <a:ext cx="1876883" cy="41569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LEFT OUTER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00197" y="2149625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29358" y="2685589"/>
            <a:ext cx="481986" cy="40317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0012" y="2670789"/>
            <a:ext cx="3209588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Student.</a:t>
            </a:r>
            <a:r>
              <a:rPr lang="en-US" dirty="0">
                <a:ln w="0"/>
                <a:solidFill>
                  <a:schemeClr val="tx1"/>
                </a:solidFill>
              </a:rPr>
              <a:t> 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r>
              <a:rPr lang="en-US" dirty="0">
                <a:ln w="0"/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 Result.</a:t>
            </a:r>
            <a:r>
              <a:rPr lang="en-US" dirty="0">
                <a:ln w="0"/>
                <a:solidFill>
                  <a:schemeClr val="tx1"/>
                </a:solidFill>
              </a:rPr>
              <a:t> 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42736" y="2672520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4774951"/>
            <a:ext cx="743902" cy="672186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731" y="3717666"/>
          <a:ext cx="2232445" cy="256884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72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106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957024" y="3766143"/>
          <a:ext cx="1386376" cy="224774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2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106">
                <a:tc gridSpan="2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Result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01941621"/>
              </p:ext>
            </p:extLst>
          </p:nvPr>
        </p:nvGraphicFramePr>
        <p:xfrm>
          <a:off x="5511633" y="3689734"/>
          <a:ext cx="2745959" cy="246260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7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3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63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12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3D47-BC8F-6191-9ECC-007E9AE4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C1B31B6-88F7-2680-C906-335FB397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DB0C-AD70-9594-5E16-79534CF02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894"/>
            <a:ext cx="11929641" cy="5740516"/>
          </a:xfrm>
        </p:spPr>
        <p:txBody>
          <a:bodyPr/>
          <a:lstStyle/>
          <a:p>
            <a:r>
              <a:rPr lang="en-US" dirty="0"/>
              <a:t>Symbol:</a:t>
            </a:r>
          </a:p>
          <a:p>
            <a:r>
              <a:rPr lang="en-US" dirty="0"/>
              <a:t>Notation: </a:t>
            </a:r>
            <a:r>
              <a:rPr lang="en-US" dirty="0">
                <a:sym typeface="Symbol" pitchFamily="18" charset="2"/>
              </a:rPr>
              <a:t>Relation-1 (R1) </a:t>
            </a:r>
            <a:r>
              <a:rPr lang="en-US" dirty="0"/>
              <a:t>     </a:t>
            </a:r>
            <a:r>
              <a:rPr lang="en-US" dirty="0">
                <a:sym typeface="Symbol" pitchFamily="18" charset="2"/>
              </a:rPr>
              <a:t>Relation-2 (R2) </a:t>
            </a:r>
            <a:endParaRPr lang="en-US" dirty="0"/>
          </a:p>
          <a:p>
            <a:r>
              <a:rPr lang="en-US" dirty="0"/>
              <a:t>Operation: </a:t>
            </a:r>
          </a:p>
          <a:p>
            <a:pPr lvl="1"/>
            <a:r>
              <a:rPr lang="en-US" dirty="0"/>
              <a:t>Display </a:t>
            </a:r>
            <a:r>
              <a:rPr lang="en-US" b="1" dirty="0">
                <a:solidFill>
                  <a:schemeClr val="accent6"/>
                </a:solidFill>
              </a:rPr>
              <a:t>all the tuples of right relation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even through there is no matching tuple in the left relation. </a:t>
            </a:r>
          </a:p>
          <a:p>
            <a:pPr lvl="1"/>
            <a:r>
              <a:rPr lang="en-US" dirty="0"/>
              <a:t>For such kind of </a:t>
            </a:r>
            <a:r>
              <a:rPr lang="en-US" b="1" dirty="0">
                <a:solidFill>
                  <a:schemeClr val="accent6"/>
                </a:solidFill>
              </a:rPr>
              <a:t>tuples having no matching</a:t>
            </a:r>
            <a:r>
              <a:rPr lang="en-US" dirty="0"/>
              <a:t>, the attributes of left relation will be </a:t>
            </a:r>
            <a:r>
              <a:rPr lang="en-US" b="1" dirty="0">
                <a:solidFill>
                  <a:schemeClr val="accent6"/>
                </a:solidFill>
              </a:rPr>
              <a:t>padded with NULL </a:t>
            </a:r>
            <a:r>
              <a:rPr lang="en-US" dirty="0"/>
              <a:t>in resultant relation.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F5AA48D0-BA81-E467-BD7D-D27B1D7EAD39}"/>
              </a:ext>
            </a:extLst>
          </p:cNvPr>
          <p:cNvGraphicFramePr>
            <a:graphicFrameLocks/>
          </p:cNvGraphicFramePr>
          <p:nvPr/>
        </p:nvGraphicFramePr>
        <p:xfrm>
          <a:off x="514066" y="318774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0FF1C869-6D74-2A90-38A2-31E551FAC897}"/>
              </a:ext>
            </a:extLst>
          </p:cNvPr>
          <p:cNvGraphicFramePr>
            <a:graphicFrameLocks/>
          </p:cNvGraphicFramePr>
          <p:nvPr/>
        </p:nvGraphicFramePr>
        <p:xfrm>
          <a:off x="1612995" y="3178860"/>
          <a:ext cx="6003379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03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Right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Outer Join between Student and Result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256811-90C1-0D05-E4BC-A10AF6F0B834}"/>
              </a:ext>
            </a:extLst>
          </p:cNvPr>
          <p:cNvCxnSpPr/>
          <p:nvPr/>
        </p:nvCxnSpPr>
        <p:spPr>
          <a:xfrm>
            <a:off x="514066" y="3575733"/>
            <a:ext cx="64922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5F490E9E-9EE5-3CA4-1195-9264BA7B9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498667"/>
              </p:ext>
            </p:extLst>
          </p:nvPr>
        </p:nvGraphicFramePr>
        <p:xfrm>
          <a:off x="499879" y="3886073"/>
          <a:ext cx="248539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936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676B2BE-9DE4-5A14-F721-65214223D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505868"/>
              </p:ext>
            </p:extLst>
          </p:nvPr>
        </p:nvGraphicFramePr>
        <p:xfrm>
          <a:off x="3484831" y="3908151"/>
          <a:ext cx="1396048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833178853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87771930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25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995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16969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87794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E027A27-7776-41E2-E9BD-A08642571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538091"/>
              </p:ext>
            </p:extLst>
          </p:nvPr>
        </p:nvGraphicFramePr>
        <p:xfrm>
          <a:off x="8105550" y="3887011"/>
          <a:ext cx="3295334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156772028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41488313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362225066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885144668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7675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59685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1022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791109"/>
                  </a:ext>
                </a:extLst>
              </a:tr>
            </a:tbl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519405AC-ED84-0245-C244-06039A33928E}"/>
              </a:ext>
            </a:extLst>
          </p:cNvPr>
          <p:cNvGraphicFramePr>
            <a:graphicFrameLocks/>
          </p:cNvGraphicFramePr>
          <p:nvPr/>
        </p:nvGraphicFramePr>
        <p:xfrm>
          <a:off x="8143224" y="3184536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0A4AA4D-E8AB-9363-A25A-65B4A25AC0EF}"/>
              </a:ext>
            </a:extLst>
          </p:cNvPr>
          <p:cNvSpPr txBox="1"/>
          <p:nvPr/>
        </p:nvSpPr>
        <p:spPr>
          <a:xfrm>
            <a:off x="9163615" y="3216058"/>
            <a:ext cx="2897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chemeClr val="tx1"/>
                </a:solidFill>
              </a:rPr>
              <a:t>(Student)        (Result)</a:t>
            </a:r>
            <a:endParaRPr 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5EB6AB-0610-5753-7AAA-F3DC1E695E43}"/>
              </a:ext>
            </a:extLst>
          </p:cNvPr>
          <p:cNvCxnSpPr/>
          <p:nvPr/>
        </p:nvCxnSpPr>
        <p:spPr>
          <a:xfrm>
            <a:off x="8179421" y="3573197"/>
            <a:ext cx="3291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2ED6ECF5-361E-3023-6676-77FF32EFB7AD}"/>
              </a:ext>
            </a:extLst>
          </p:cNvPr>
          <p:cNvGraphicFramePr>
            <a:graphicFrameLocks/>
          </p:cNvGraphicFramePr>
          <p:nvPr/>
        </p:nvGraphicFramePr>
        <p:xfrm>
          <a:off x="502898" y="5874732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58F1F5C-6D58-014E-74A9-3E1EDA909324}"/>
              </a:ext>
            </a:extLst>
          </p:cNvPr>
          <p:cNvSpPr txBox="1"/>
          <p:nvPr/>
        </p:nvSpPr>
        <p:spPr>
          <a:xfrm>
            <a:off x="1635584" y="5913564"/>
            <a:ext cx="4249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</a:t>
            </a:r>
            <a:r>
              <a:rPr lang="en-US" sz="18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output of </a:t>
            </a:r>
            <a:r>
              <a:rPr lang="en-US" sz="1800" b="0" dirty="0">
                <a:solidFill>
                  <a:schemeClr val="tx1"/>
                </a:solidFill>
              </a:rPr>
              <a:t>(Result)         (Student).</a:t>
            </a:r>
            <a:endParaRPr 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964AFDF-5C20-5139-E056-9C05A2DE7043}"/>
              </a:ext>
            </a:extLst>
          </p:cNvPr>
          <p:cNvCxnSpPr/>
          <p:nvPr/>
        </p:nvCxnSpPr>
        <p:spPr>
          <a:xfrm>
            <a:off x="502898" y="6262717"/>
            <a:ext cx="5577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39">
            <a:extLst>
              <a:ext uri="{FF2B5EF4-FFF2-40B4-BE49-F238E27FC236}">
                <a16:creationId xmlns:a16="http://schemas.microsoft.com/office/drawing/2014/main" id="{2F8214C8-DEBB-E9D3-C776-0748555EF808}"/>
              </a:ext>
            </a:extLst>
          </p:cNvPr>
          <p:cNvGrpSpPr/>
          <p:nvPr/>
        </p:nvGrpSpPr>
        <p:grpSpPr>
          <a:xfrm>
            <a:off x="1549276" y="840395"/>
            <a:ext cx="321467" cy="182881"/>
            <a:chOff x="3048000" y="2819400"/>
            <a:chExt cx="321467" cy="182881"/>
          </a:xfrm>
        </p:grpSpPr>
        <p:sp>
          <p:nvSpPr>
            <p:cNvPr id="17" name="Flowchart: Collate 16">
              <a:extLst>
                <a:ext uri="{FF2B5EF4-FFF2-40B4-BE49-F238E27FC236}">
                  <a16:creationId xmlns:a16="http://schemas.microsoft.com/office/drawing/2014/main" id="{8B01EA86-07AB-92F3-0043-05F4AB74B982}"/>
                </a:ext>
              </a:extLst>
            </p:cNvPr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9672C81-6DE9-7564-9018-FB7D51B45C39}"/>
                </a:ext>
              </a:extLst>
            </p:cNvPr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B402C6-1033-068E-69CD-F4A5A88A29BD}"/>
                </a:ext>
              </a:extLst>
            </p:cNvPr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63">
            <a:extLst>
              <a:ext uri="{FF2B5EF4-FFF2-40B4-BE49-F238E27FC236}">
                <a16:creationId xmlns:a16="http://schemas.microsoft.com/office/drawing/2014/main" id="{01DC6CFA-7123-9328-A9C3-807B6AC1EC2C}"/>
              </a:ext>
            </a:extLst>
          </p:cNvPr>
          <p:cNvGrpSpPr/>
          <p:nvPr/>
        </p:nvGrpSpPr>
        <p:grpSpPr>
          <a:xfrm>
            <a:off x="10163137" y="3325521"/>
            <a:ext cx="321467" cy="182881"/>
            <a:chOff x="3048000" y="2819400"/>
            <a:chExt cx="321467" cy="182881"/>
          </a:xfrm>
        </p:grpSpPr>
        <p:sp>
          <p:nvSpPr>
            <p:cNvPr id="36" name="Flowchart: Collate 35">
              <a:extLst>
                <a:ext uri="{FF2B5EF4-FFF2-40B4-BE49-F238E27FC236}">
                  <a16:creationId xmlns:a16="http://schemas.microsoft.com/office/drawing/2014/main" id="{DD8AA1DF-05A3-78BB-4670-9BBF8E8E9B35}"/>
                </a:ext>
              </a:extLst>
            </p:cNvPr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9638C97-5993-3490-AE1A-CF9977B50DCF}"/>
                </a:ext>
              </a:extLst>
            </p:cNvPr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77E684-D286-2C7E-E6B4-D6DFB77A0F56}"/>
                </a:ext>
              </a:extLst>
            </p:cNvPr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63">
            <a:extLst>
              <a:ext uri="{FF2B5EF4-FFF2-40B4-BE49-F238E27FC236}">
                <a16:creationId xmlns:a16="http://schemas.microsoft.com/office/drawing/2014/main" id="{99CA4582-1E6A-A9EB-6859-C1C40FCF36E8}"/>
              </a:ext>
            </a:extLst>
          </p:cNvPr>
          <p:cNvGrpSpPr/>
          <p:nvPr/>
        </p:nvGrpSpPr>
        <p:grpSpPr>
          <a:xfrm>
            <a:off x="4453950" y="5977284"/>
            <a:ext cx="321467" cy="182881"/>
            <a:chOff x="3048000" y="2819400"/>
            <a:chExt cx="321467" cy="182881"/>
          </a:xfrm>
        </p:grpSpPr>
        <p:sp>
          <p:nvSpPr>
            <p:cNvPr id="46" name="Flowchart: Collate 45">
              <a:extLst>
                <a:ext uri="{FF2B5EF4-FFF2-40B4-BE49-F238E27FC236}">
                  <a16:creationId xmlns:a16="http://schemas.microsoft.com/office/drawing/2014/main" id="{D5E66FFD-5D9B-637A-B9CE-D5CBFBFF4C53}"/>
                </a:ext>
              </a:extLst>
            </p:cNvPr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BA1420D-EA09-01A7-A304-E0B15D42C3F8}"/>
                </a:ext>
              </a:extLst>
            </p:cNvPr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14CF397-1B85-3A49-E3D2-B5609FE3B334}"/>
                </a:ext>
              </a:extLst>
            </p:cNvPr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6" descr="https://msdnshared.blob.core.windows.net/media/TNBlogsFS/BlogFileStorage/blogs_technet/bpaulblog/WindowsLiveWriter/SimplifyingSQLServerJoinsQueryandInterna_B116/clip_image009_10.png">
            <a:extLst>
              <a:ext uri="{FF2B5EF4-FFF2-40B4-BE49-F238E27FC236}">
                <a16:creationId xmlns:a16="http://schemas.microsoft.com/office/drawing/2014/main" id="{50E55062-D7E1-0136-65BD-2122053E5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684" y="3915893"/>
            <a:ext cx="2368296" cy="154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9">
            <a:extLst>
              <a:ext uri="{FF2B5EF4-FFF2-40B4-BE49-F238E27FC236}">
                <a16:creationId xmlns:a16="http://schemas.microsoft.com/office/drawing/2014/main" id="{5572810E-C820-43CC-D06C-E6D77936DF07}"/>
              </a:ext>
            </a:extLst>
          </p:cNvPr>
          <p:cNvGrpSpPr/>
          <p:nvPr/>
        </p:nvGrpSpPr>
        <p:grpSpPr>
          <a:xfrm>
            <a:off x="3512824" y="1300655"/>
            <a:ext cx="321467" cy="182881"/>
            <a:chOff x="3048000" y="2819400"/>
            <a:chExt cx="321467" cy="182881"/>
          </a:xfrm>
        </p:grpSpPr>
        <p:sp>
          <p:nvSpPr>
            <p:cNvPr id="5" name="Flowchart: Collate 4">
              <a:extLst>
                <a:ext uri="{FF2B5EF4-FFF2-40B4-BE49-F238E27FC236}">
                  <a16:creationId xmlns:a16="http://schemas.microsoft.com/office/drawing/2014/main" id="{1233C463-0EDA-9D8B-AE89-EAD2D04A27C9}"/>
                </a:ext>
              </a:extLst>
            </p:cNvPr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B938562-C5F2-A3DA-E431-1257CDB1DA84}"/>
                </a:ext>
              </a:extLst>
            </p:cNvPr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8FAD1D1-B606-92F8-5B6A-E6F2BD07B3EE}"/>
                </a:ext>
              </a:extLst>
            </p:cNvPr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7A65B0-6F85-52A4-2CD5-A52423D528C7}"/>
              </a:ext>
            </a:extLst>
          </p:cNvPr>
          <p:cNvCxnSpPr>
            <a:cxnSpLocks/>
          </p:cNvCxnSpPr>
          <p:nvPr/>
        </p:nvCxnSpPr>
        <p:spPr>
          <a:xfrm flipH="1" flipV="1">
            <a:off x="6832970" y="4981758"/>
            <a:ext cx="157569" cy="722322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518DDE-E26B-194D-3B48-D6A296E337F2}"/>
              </a:ext>
            </a:extLst>
          </p:cNvPr>
          <p:cNvSpPr txBox="1"/>
          <p:nvPr/>
        </p:nvSpPr>
        <p:spPr>
          <a:xfrm>
            <a:off x="6863147" y="5740191"/>
            <a:ext cx="2484806" cy="6832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b="1" dirty="0">
                <a:solidFill>
                  <a:schemeClr val="accent6"/>
                </a:solidFill>
              </a:rPr>
              <a:t>Display all the tuples</a:t>
            </a:r>
          </a:p>
          <a:p>
            <a:pPr marL="112713" algn="l"/>
            <a:r>
              <a:rPr lang="en-US" sz="2000" b="1" dirty="0"/>
              <a:t>from right relation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75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Right Outer Join Example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43585" y="2056386"/>
          <a:ext cx="248539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3662084"/>
              </p:ext>
            </p:extLst>
          </p:nvPr>
        </p:nvGraphicFramePr>
        <p:xfrm>
          <a:off x="343585" y="1692773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343585" y="1387525"/>
            <a:ext cx="97840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43585" y="99954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444040" y="1016441"/>
          <a:ext cx="882999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829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Right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Outer Join between Student and Result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(Display RollNo, Name and SPI)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>
          <a:xfrm>
            <a:off x="337235" y="4141024"/>
            <a:ext cx="50292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37235" y="3753039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66677" y="3632504"/>
          <a:ext cx="186944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6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400" b="0" i="1" baseline="-25000" dirty="0">
                          <a:solidFill>
                            <a:schemeClr val="tx1"/>
                          </a:solidFill>
                        </a:rPr>
                        <a:t>RollNo, Name, SPI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314034"/>
              </p:ext>
            </p:extLst>
          </p:nvPr>
        </p:nvGraphicFramePr>
        <p:xfrm>
          <a:off x="343585" y="4873874"/>
          <a:ext cx="2247266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2011967"/>
              </p:ext>
            </p:extLst>
          </p:nvPr>
        </p:nvGraphicFramePr>
        <p:xfrm>
          <a:off x="343585" y="4510261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025939" y="2052974"/>
          <a:ext cx="186944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368728"/>
              </p:ext>
            </p:extLst>
          </p:nvPr>
        </p:nvGraphicFramePr>
        <p:xfrm>
          <a:off x="3025939" y="1689361"/>
          <a:ext cx="8147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1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076901" y="3715498"/>
          <a:ext cx="258794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58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((Student)        (Result))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20"/>
          <p:cNvGrpSpPr/>
          <p:nvPr/>
        </p:nvGrpSpPr>
        <p:grpSpPr>
          <a:xfrm>
            <a:off x="4248935" y="3833893"/>
            <a:ext cx="321467" cy="182881"/>
            <a:chOff x="3048000" y="2819400"/>
            <a:chExt cx="321467" cy="182881"/>
          </a:xfrm>
        </p:grpSpPr>
        <p:sp>
          <p:nvSpPr>
            <p:cNvPr id="22" name="Flowchart: Collate 21"/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62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Right Outer Join in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outer join </a:t>
            </a:r>
            <a:r>
              <a:rPr lang="en-US" b="1" dirty="0">
                <a:solidFill>
                  <a:schemeClr val="accent6"/>
                </a:solidFill>
              </a:rPr>
              <a:t>return all records from the right table</a:t>
            </a:r>
            <a:r>
              <a:rPr lang="en-US" dirty="0"/>
              <a:t>, and the </a:t>
            </a:r>
            <a:r>
              <a:rPr lang="en-US" b="1" dirty="0">
                <a:solidFill>
                  <a:schemeClr val="accent6"/>
                </a:solidFill>
              </a:rPr>
              <a:t>matched records from the left table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65029" y="2045375"/>
            <a:ext cx="1130967" cy="1073422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Table1</a:t>
            </a:r>
          </a:p>
        </p:txBody>
      </p:sp>
      <p:sp>
        <p:nvSpPr>
          <p:cNvPr id="5" name="Oval 4"/>
          <p:cNvSpPr/>
          <p:nvPr/>
        </p:nvSpPr>
        <p:spPr>
          <a:xfrm>
            <a:off x="2238646" y="2045375"/>
            <a:ext cx="1133204" cy="107342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Table2</a:t>
            </a:r>
          </a:p>
        </p:txBody>
      </p:sp>
      <p:sp>
        <p:nvSpPr>
          <p:cNvPr id="6" name="Freeform 5"/>
          <p:cNvSpPr/>
          <p:nvPr/>
        </p:nvSpPr>
        <p:spPr>
          <a:xfrm>
            <a:off x="5533097" y="2119961"/>
            <a:ext cx="565485" cy="924250"/>
          </a:xfrm>
          <a:custGeom>
            <a:avLst/>
            <a:gdLst>
              <a:gd name="connsiteX0" fmla="*/ 283022 w 565485"/>
              <a:gd name="connsiteY0" fmla="*/ 0 h 924250"/>
              <a:gd name="connsiteX1" fmla="*/ 316168 w 565485"/>
              <a:gd name="connsiteY1" fmla="*/ 17076 h 924250"/>
              <a:gd name="connsiteX2" fmla="*/ 565485 w 565485"/>
              <a:gd name="connsiteY2" fmla="*/ 462125 h 924250"/>
              <a:gd name="connsiteX3" fmla="*/ 316168 w 565485"/>
              <a:gd name="connsiteY3" fmla="*/ 907174 h 924250"/>
              <a:gd name="connsiteX4" fmla="*/ 283022 w 565485"/>
              <a:gd name="connsiteY4" fmla="*/ 924250 h 924250"/>
              <a:gd name="connsiteX5" fmla="*/ 249809 w 565485"/>
              <a:gd name="connsiteY5" fmla="*/ 907174 h 924250"/>
              <a:gd name="connsiteX6" fmla="*/ 0 w 565485"/>
              <a:gd name="connsiteY6" fmla="*/ 462125 h 924250"/>
              <a:gd name="connsiteX7" fmla="*/ 249809 w 565485"/>
              <a:gd name="connsiteY7" fmla="*/ 17076 h 924250"/>
              <a:gd name="connsiteX8" fmla="*/ 283022 w 565485"/>
              <a:gd name="connsiteY8" fmla="*/ 0 h 9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485" h="924250">
                <a:moveTo>
                  <a:pt x="283022" y="0"/>
                </a:moveTo>
                <a:lnTo>
                  <a:pt x="316168" y="17076"/>
                </a:lnTo>
                <a:cubicBezTo>
                  <a:pt x="466588" y="113527"/>
                  <a:pt x="565485" y="276865"/>
                  <a:pt x="565485" y="462125"/>
                </a:cubicBezTo>
                <a:cubicBezTo>
                  <a:pt x="565485" y="647386"/>
                  <a:pt x="466588" y="810723"/>
                  <a:pt x="316168" y="907174"/>
                </a:cubicBezTo>
                <a:lnTo>
                  <a:pt x="283022" y="924250"/>
                </a:lnTo>
                <a:lnTo>
                  <a:pt x="249809" y="907174"/>
                </a:lnTo>
                <a:cubicBezTo>
                  <a:pt x="99092" y="810723"/>
                  <a:pt x="0" y="647386"/>
                  <a:pt x="0" y="462125"/>
                </a:cubicBezTo>
                <a:cubicBezTo>
                  <a:pt x="0" y="276865"/>
                  <a:pt x="99092" y="113527"/>
                  <a:pt x="249809" y="17076"/>
                </a:cubicBezTo>
                <a:lnTo>
                  <a:pt x="283022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4967614" y="2045375"/>
            <a:ext cx="848505" cy="1073422"/>
          </a:xfrm>
          <a:custGeom>
            <a:avLst/>
            <a:gdLst>
              <a:gd name="connsiteX0" fmla="*/ 565484 w 848505"/>
              <a:gd name="connsiteY0" fmla="*/ 0 h 1073422"/>
              <a:gd name="connsiteX1" fmla="*/ 785596 w 848505"/>
              <a:gd name="connsiteY1" fmla="*/ 42177 h 1073422"/>
              <a:gd name="connsiteX2" fmla="*/ 848505 w 848505"/>
              <a:gd name="connsiteY2" fmla="*/ 74586 h 1073422"/>
              <a:gd name="connsiteX3" fmla="*/ 815292 w 848505"/>
              <a:gd name="connsiteY3" fmla="*/ 91662 h 1073422"/>
              <a:gd name="connsiteX4" fmla="*/ 565483 w 848505"/>
              <a:gd name="connsiteY4" fmla="*/ 536711 h 1073422"/>
              <a:gd name="connsiteX5" fmla="*/ 815292 w 848505"/>
              <a:gd name="connsiteY5" fmla="*/ 981760 h 1073422"/>
              <a:gd name="connsiteX6" fmla="*/ 848505 w 848505"/>
              <a:gd name="connsiteY6" fmla="*/ 998836 h 1073422"/>
              <a:gd name="connsiteX7" fmla="*/ 785596 w 848505"/>
              <a:gd name="connsiteY7" fmla="*/ 1031245 h 1073422"/>
              <a:gd name="connsiteX8" fmla="*/ 565484 w 848505"/>
              <a:gd name="connsiteY8" fmla="*/ 1073422 h 1073422"/>
              <a:gd name="connsiteX9" fmla="*/ 0 w 848505"/>
              <a:gd name="connsiteY9" fmla="*/ 536711 h 1073422"/>
              <a:gd name="connsiteX10" fmla="*/ 565484 w 848505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8505" h="1073422">
                <a:moveTo>
                  <a:pt x="565484" y="0"/>
                </a:moveTo>
                <a:cubicBezTo>
                  <a:pt x="643561" y="0"/>
                  <a:pt x="717942" y="15019"/>
                  <a:pt x="785596" y="42177"/>
                </a:cubicBezTo>
                <a:lnTo>
                  <a:pt x="848505" y="74586"/>
                </a:lnTo>
                <a:lnTo>
                  <a:pt x="815292" y="91662"/>
                </a:lnTo>
                <a:cubicBezTo>
                  <a:pt x="664575" y="188113"/>
                  <a:pt x="565483" y="351451"/>
                  <a:pt x="565483" y="536711"/>
                </a:cubicBezTo>
                <a:cubicBezTo>
                  <a:pt x="565483" y="721972"/>
                  <a:pt x="664575" y="885309"/>
                  <a:pt x="815292" y="981760"/>
                </a:cubicBezTo>
                <a:lnTo>
                  <a:pt x="848505" y="998836"/>
                </a:lnTo>
                <a:lnTo>
                  <a:pt x="785596" y="1031245"/>
                </a:lnTo>
                <a:cubicBezTo>
                  <a:pt x="717942" y="1058404"/>
                  <a:pt x="643561" y="1073422"/>
                  <a:pt x="565484" y="1073422"/>
                </a:cubicBezTo>
                <a:cubicBezTo>
                  <a:pt x="253176" y="1073422"/>
                  <a:pt x="0" y="833128"/>
                  <a:pt x="0" y="536711"/>
                </a:cubicBezTo>
                <a:cubicBezTo>
                  <a:pt x="0" y="240294"/>
                  <a:pt x="253176" y="0"/>
                  <a:pt x="565484" y="0"/>
                </a:cubicBez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5816118" y="2045375"/>
            <a:ext cx="850182" cy="1073422"/>
          </a:xfrm>
          <a:custGeom>
            <a:avLst/>
            <a:gdLst>
              <a:gd name="connsiteX0" fmla="*/ 283580 w 850182"/>
              <a:gd name="connsiteY0" fmla="*/ 0 h 1073422"/>
              <a:gd name="connsiteX1" fmla="*/ 850182 w 850182"/>
              <a:gd name="connsiteY1" fmla="*/ 536711 h 1073422"/>
              <a:gd name="connsiteX2" fmla="*/ 283580 w 850182"/>
              <a:gd name="connsiteY2" fmla="*/ 1073422 h 1073422"/>
              <a:gd name="connsiteX3" fmla="*/ 63033 w 850182"/>
              <a:gd name="connsiteY3" fmla="*/ 1031245 h 1073422"/>
              <a:gd name="connsiteX4" fmla="*/ 0 w 850182"/>
              <a:gd name="connsiteY4" fmla="*/ 998836 h 1073422"/>
              <a:gd name="connsiteX5" fmla="*/ 33146 w 850182"/>
              <a:gd name="connsiteY5" fmla="*/ 981760 h 1073422"/>
              <a:gd name="connsiteX6" fmla="*/ 282463 w 850182"/>
              <a:gd name="connsiteY6" fmla="*/ 536711 h 1073422"/>
              <a:gd name="connsiteX7" fmla="*/ 33146 w 850182"/>
              <a:gd name="connsiteY7" fmla="*/ 91662 h 1073422"/>
              <a:gd name="connsiteX8" fmla="*/ 0 w 850182"/>
              <a:gd name="connsiteY8" fmla="*/ 74586 h 1073422"/>
              <a:gd name="connsiteX9" fmla="*/ 63033 w 850182"/>
              <a:gd name="connsiteY9" fmla="*/ 42177 h 1073422"/>
              <a:gd name="connsiteX10" fmla="*/ 283580 w 850182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0182" h="1073422">
                <a:moveTo>
                  <a:pt x="283580" y="0"/>
                </a:moveTo>
                <a:cubicBezTo>
                  <a:pt x="596506" y="0"/>
                  <a:pt x="850182" y="240294"/>
                  <a:pt x="850182" y="536711"/>
                </a:cubicBezTo>
                <a:cubicBezTo>
                  <a:pt x="850182" y="833128"/>
                  <a:pt x="596506" y="1073422"/>
                  <a:pt x="283580" y="1073422"/>
                </a:cubicBezTo>
                <a:cubicBezTo>
                  <a:pt x="205349" y="1073422"/>
                  <a:pt x="130820" y="1058404"/>
                  <a:pt x="63033" y="1031245"/>
                </a:cubicBezTo>
                <a:lnTo>
                  <a:pt x="0" y="998836"/>
                </a:lnTo>
                <a:lnTo>
                  <a:pt x="33146" y="981760"/>
                </a:lnTo>
                <a:cubicBezTo>
                  <a:pt x="183566" y="885309"/>
                  <a:pt x="282463" y="721972"/>
                  <a:pt x="282463" y="536711"/>
                </a:cubicBezTo>
                <a:cubicBezTo>
                  <a:pt x="282463" y="351451"/>
                  <a:pt x="183566" y="188113"/>
                  <a:pt x="33146" y="91662"/>
                </a:cubicBezTo>
                <a:lnTo>
                  <a:pt x="0" y="74586"/>
                </a:lnTo>
                <a:lnTo>
                  <a:pt x="63033" y="42177"/>
                </a:lnTo>
                <a:cubicBezTo>
                  <a:pt x="130820" y="15019"/>
                  <a:pt x="205349" y="0"/>
                  <a:pt x="28358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598785" y="2366933"/>
            <a:ext cx="1143000" cy="50292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Combine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6840383" y="2366933"/>
            <a:ext cx="1143000" cy="502920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DCC25-1E44-48A0-8550-F89E768A4A30}"/>
              </a:ext>
            </a:extLst>
          </p:cNvPr>
          <p:cNvSpPr txBox="1"/>
          <p:nvPr/>
        </p:nvSpPr>
        <p:spPr>
          <a:xfrm>
            <a:off x="247225" y="3557997"/>
            <a:ext cx="1104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" y="4038314"/>
            <a:ext cx="7962900" cy="19814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3495" y="4227831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94406" y="4239797"/>
            <a:ext cx="1068189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columns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4632" y="4800457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65168" y="4806173"/>
            <a:ext cx="1068190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74820" y="5399483"/>
            <a:ext cx="3117075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Table1.column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Table2.column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87314" y="5379663"/>
            <a:ext cx="481986" cy="4162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1074" y="5401461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56594" y="4817554"/>
            <a:ext cx="1967805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RIGHT OUTER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47635" y="4817554"/>
            <a:ext cx="104512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5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07986 0.04005 C 0.0967 0.04908 0.1217 0.05394 0.14774 0.05394 C 0.1776 0.05394 0.20139 0.04908 0.21823 0.04005 L 0.29826 -4.07407E-6 " pathEditMode="relative" rAng="0" ptsTypes="AAAAA">
                                      <p:cBhvr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13" y="268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0.07986 0.04005 C 0.0967 0.04908 0.1217 0.05394 0.14774 0.05394 C 0.1776 0.05394 0.20139 0.04908 0.21823 0.04005 L 0.29826 -4.07407E-6 " pathEditMode="relative" rAng="0" ptsTypes="AAAAA"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13" y="268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6923C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8" grpId="0" animBg="1"/>
      <p:bldP spid="8" grpId="1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Right Outer Join in SQL(Cont..)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2025" y="865846"/>
            <a:ext cx="10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52555"/>
            <a:ext cx="7962900" cy="182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1529993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84269" y="1529993"/>
            <a:ext cx="160674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</a:t>
            </a:r>
            <a:r>
              <a:rPr lang="en-US" dirty="0" err="1">
                <a:ln w="0"/>
                <a:solidFill>
                  <a:schemeClr val="tx1"/>
                </a:solidFill>
              </a:rPr>
              <a:t>RollNo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396" y="1507223"/>
            <a:ext cx="160674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.Name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0553" y="1505091"/>
            <a:ext cx="1775984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.Branch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7283" y="1505091"/>
            <a:ext cx="116105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</a:t>
            </a:r>
            <a:r>
              <a:rPr lang="en-US" dirty="0">
                <a:ln w="0"/>
                <a:solidFill>
                  <a:schemeClr val="tx1"/>
                </a:solidFill>
              </a:rPr>
              <a:t>.SPI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172" y="2105181"/>
            <a:ext cx="977144" cy="42252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65609" y="2109730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164965" y="2097210"/>
            <a:ext cx="1987632" cy="41569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RIGHT OUTER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70439" y="2109730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81758" y="2645694"/>
            <a:ext cx="481986" cy="40317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2412" y="2630894"/>
            <a:ext cx="2999086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Student.RollNo</a:t>
            </a:r>
            <a:r>
              <a:rPr lang="en-IN" dirty="0"/>
              <a:t> 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 </a:t>
            </a:r>
            <a:r>
              <a:rPr lang="en-IN" dirty="0" err="1"/>
              <a:t>Result.RollNo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424558" y="2632625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942" y="4450236"/>
            <a:ext cx="806921" cy="72913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8146" y="3429000"/>
          <a:ext cx="2257021" cy="256884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73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106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975122" y="3448518"/>
          <a:ext cx="1386376" cy="224774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82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106">
                <a:tc gridSpan="2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Result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73978845"/>
              </p:ext>
            </p:extLst>
          </p:nvPr>
        </p:nvGraphicFramePr>
        <p:xfrm>
          <a:off x="5791212" y="3491625"/>
          <a:ext cx="2666988" cy="215780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3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3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63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85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4ACD-B232-B55A-4CAF-1BA17695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B4D4E29-D4F0-E809-11E4-E1DAAD41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Full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9C52F-DFE9-FC86-5985-A2EE17C41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894"/>
            <a:ext cx="11929641" cy="5740516"/>
          </a:xfrm>
        </p:spPr>
        <p:txBody>
          <a:bodyPr/>
          <a:lstStyle/>
          <a:p>
            <a:r>
              <a:rPr lang="en-US" dirty="0"/>
              <a:t>Symbol:</a:t>
            </a:r>
          </a:p>
          <a:p>
            <a:r>
              <a:rPr lang="en-US" dirty="0"/>
              <a:t>Notation: </a:t>
            </a:r>
            <a:r>
              <a:rPr lang="en-US" dirty="0">
                <a:sym typeface="Symbol" pitchFamily="18" charset="2"/>
              </a:rPr>
              <a:t>Relation-1 (R1)   </a:t>
            </a:r>
            <a:r>
              <a:rPr lang="en-US" dirty="0"/>
              <a:t>     </a:t>
            </a:r>
            <a:r>
              <a:rPr lang="en-US" dirty="0">
                <a:sym typeface="Symbol" pitchFamily="18" charset="2"/>
              </a:rPr>
              <a:t>Relation-2 (R2)</a:t>
            </a:r>
            <a:endParaRPr lang="en-US" dirty="0"/>
          </a:p>
          <a:p>
            <a:r>
              <a:rPr lang="en-US" dirty="0"/>
              <a:t>Operation: </a:t>
            </a:r>
          </a:p>
          <a:p>
            <a:pPr lvl="1"/>
            <a:r>
              <a:rPr lang="en-US" dirty="0"/>
              <a:t>Display </a:t>
            </a:r>
            <a:r>
              <a:rPr lang="en-US" b="1" dirty="0">
                <a:solidFill>
                  <a:schemeClr val="accent6"/>
                </a:solidFill>
              </a:rPr>
              <a:t>all the tuples of both of the relations</a:t>
            </a:r>
            <a:r>
              <a:rPr lang="en-US" dirty="0"/>
              <a:t>. It also pads null values whenever required. (Left outer join + Right outer join)</a:t>
            </a:r>
          </a:p>
          <a:p>
            <a:pPr lvl="1"/>
            <a:r>
              <a:rPr lang="en-US" dirty="0"/>
              <a:t>For such kind of </a:t>
            </a:r>
            <a:r>
              <a:rPr lang="en-US" b="1" dirty="0">
                <a:solidFill>
                  <a:schemeClr val="accent6"/>
                </a:solidFill>
              </a:rPr>
              <a:t>tuples having no matching</a:t>
            </a:r>
            <a:r>
              <a:rPr lang="en-US" dirty="0"/>
              <a:t>, it will be </a:t>
            </a:r>
            <a:r>
              <a:rPr lang="en-US" b="1" dirty="0">
                <a:solidFill>
                  <a:schemeClr val="accent6"/>
                </a:solidFill>
              </a:rPr>
              <a:t>padded with NULL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in resultant relation.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7EC566C5-F5F1-DAC9-A3A8-66D77E0008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834128"/>
              </p:ext>
            </p:extLst>
          </p:nvPr>
        </p:nvGraphicFramePr>
        <p:xfrm>
          <a:off x="416786" y="318774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860715BA-BE61-0986-2231-FFC3F6222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4746839"/>
              </p:ext>
            </p:extLst>
          </p:nvPr>
        </p:nvGraphicFramePr>
        <p:xfrm>
          <a:off x="1515715" y="3178860"/>
          <a:ext cx="6003379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03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Full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Outer Join between Student and Result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FE7B0E-69F5-B303-9A5C-1166E72B8B2B}"/>
              </a:ext>
            </a:extLst>
          </p:cNvPr>
          <p:cNvCxnSpPr/>
          <p:nvPr/>
        </p:nvCxnSpPr>
        <p:spPr>
          <a:xfrm>
            <a:off x="416786" y="3575733"/>
            <a:ext cx="64922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286F657-2CDD-BE36-035D-21FB84BD5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1648748"/>
              </p:ext>
            </p:extLst>
          </p:nvPr>
        </p:nvGraphicFramePr>
        <p:xfrm>
          <a:off x="402599" y="3886073"/>
          <a:ext cx="2485391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936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CB092FE-FA33-C6D1-B97C-4B5858F49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923859"/>
              </p:ext>
            </p:extLst>
          </p:nvPr>
        </p:nvGraphicFramePr>
        <p:xfrm>
          <a:off x="3387551" y="3908151"/>
          <a:ext cx="1396048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833178853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87771930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25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995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16969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87794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C49EC81-3264-32E5-D7D3-DADD7CB2F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99452"/>
              </p:ext>
            </p:extLst>
          </p:nvPr>
        </p:nvGraphicFramePr>
        <p:xfrm>
          <a:off x="8527344" y="3886073"/>
          <a:ext cx="3295334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156772028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41488313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362225066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885144668"/>
                    </a:ext>
                  </a:extLst>
                </a:gridCol>
              </a:tblGrid>
              <a:tr h="411480">
                <a:tc gridSpan="4"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7675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59685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1022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7911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423894"/>
                  </a:ext>
                </a:extLst>
              </a:tr>
            </a:tbl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273CA97-E51C-0AFE-44DD-AE7E6F1505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7912807"/>
              </p:ext>
            </p:extLst>
          </p:nvPr>
        </p:nvGraphicFramePr>
        <p:xfrm>
          <a:off x="8565018" y="3183598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CCD4688-AD04-BFE7-153A-091EEE80A4D4}"/>
              </a:ext>
            </a:extLst>
          </p:cNvPr>
          <p:cNvSpPr txBox="1"/>
          <p:nvPr/>
        </p:nvSpPr>
        <p:spPr>
          <a:xfrm>
            <a:off x="9585409" y="3215120"/>
            <a:ext cx="2897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chemeClr val="tx1"/>
                </a:solidFill>
              </a:rPr>
              <a:t>(Student)           (Result)</a:t>
            </a:r>
            <a:endParaRPr 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FA3992-8777-21C5-A63D-8177196D45B1}"/>
              </a:ext>
            </a:extLst>
          </p:cNvPr>
          <p:cNvCxnSpPr/>
          <p:nvPr/>
        </p:nvCxnSpPr>
        <p:spPr>
          <a:xfrm>
            <a:off x="8565018" y="3571583"/>
            <a:ext cx="3291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F15D4D2A-F209-0E8B-E737-C30A988DB1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312055"/>
              </p:ext>
            </p:extLst>
          </p:nvPr>
        </p:nvGraphicFramePr>
        <p:xfrm>
          <a:off x="390354" y="6033348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CD938A96-E82C-3B0A-F713-D4C2B74916FA}"/>
              </a:ext>
            </a:extLst>
          </p:cNvPr>
          <p:cNvSpPr txBox="1"/>
          <p:nvPr/>
        </p:nvSpPr>
        <p:spPr>
          <a:xfrm>
            <a:off x="1516539" y="6046802"/>
            <a:ext cx="4482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</a:t>
            </a:r>
            <a:r>
              <a:rPr lang="en-US" sz="18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output of </a:t>
            </a:r>
            <a:r>
              <a:rPr lang="en-US" sz="1800" b="0" dirty="0">
                <a:solidFill>
                  <a:schemeClr val="tx1"/>
                </a:solidFill>
              </a:rPr>
              <a:t>(Result)          (Student)</a:t>
            </a:r>
            <a:endParaRPr 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DBAC09-5E62-A55E-F477-A8E7DC7E5ED2}"/>
              </a:ext>
            </a:extLst>
          </p:cNvPr>
          <p:cNvCxnSpPr>
            <a:cxnSpLocks/>
          </p:cNvCxnSpPr>
          <p:nvPr/>
        </p:nvCxnSpPr>
        <p:spPr>
          <a:xfrm>
            <a:off x="390354" y="6431652"/>
            <a:ext cx="5334668" cy="2984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46">
            <a:extLst>
              <a:ext uri="{FF2B5EF4-FFF2-40B4-BE49-F238E27FC236}">
                <a16:creationId xmlns:a16="http://schemas.microsoft.com/office/drawing/2014/main" id="{4B29B8BD-F50C-B40C-5261-99317732B75A}"/>
              </a:ext>
            </a:extLst>
          </p:cNvPr>
          <p:cNvGrpSpPr/>
          <p:nvPr/>
        </p:nvGrpSpPr>
        <p:grpSpPr>
          <a:xfrm>
            <a:off x="1513656" y="835985"/>
            <a:ext cx="457836" cy="182881"/>
            <a:chOff x="2803842" y="3246119"/>
            <a:chExt cx="457836" cy="182881"/>
          </a:xfrm>
        </p:grpSpPr>
        <p:sp>
          <p:nvSpPr>
            <p:cNvPr id="5" name="Flowchart: Collate 4">
              <a:extLst>
                <a:ext uri="{FF2B5EF4-FFF2-40B4-BE49-F238E27FC236}">
                  <a16:creationId xmlns:a16="http://schemas.microsoft.com/office/drawing/2014/main" id="{050354F3-AEA2-031A-000A-FAE459574FCD}"/>
                </a:ext>
              </a:extLst>
            </p:cNvPr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932FC29-FC59-7A95-096B-D40947D20025}"/>
                </a:ext>
              </a:extLst>
            </p:cNvPr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2265C4-CB3E-1D53-FBC3-C693FF197E1C}"/>
                </a:ext>
              </a:extLst>
            </p:cNvPr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8D11CED-437F-C9F5-1FF8-1F7DAFC23F98}"/>
                </a:ext>
              </a:extLst>
            </p:cNvPr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C050EEE-EE6E-0F99-03DF-9196516FAC95}"/>
                </a:ext>
              </a:extLst>
            </p:cNvPr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46">
            <a:extLst>
              <a:ext uri="{FF2B5EF4-FFF2-40B4-BE49-F238E27FC236}">
                <a16:creationId xmlns:a16="http://schemas.microsoft.com/office/drawing/2014/main" id="{B9B1E73B-5C09-72CA-E48E-91840D47675C}"/>
              </a:ext>
            </a:extLst>
          </p:cNvPr>
          <p:cNvGrpSpPr/>
          <p:nvPr/>
        </p:nvGrpSpPr>
        <p:grpSpPr>
          <a:xfrm>
            <a:off x="3494162" y="1284510"/>
            <a:ext cx="457836" cy="182881"/>
            <a:chOff x="2803842" y="3246119"/>
            <a:chExt cx="457836" cy="182881"/>
          </a:xfrm>
        </p:grpSpPr>
        <p:sp>
          <p:nvSpPr>
            <p:cNvPr id="33" name="Flowchart: Collate 32">
              <a:extLst>
                <a:ext uri="{FF2B5EF4-FFF2-40B4-BE49-F238E27FC236}">
                  <a16:creationId xmlns:a16="http://schemas.microsoft.com/office/drawing/2014/main" id="{E914D716-ED84-407E-8934-3D7647BB56D4}"/>
                </a:ext>
              </a:extLst>
            </p:cNvPr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F6E00F0-A7D1-A4D1-46B9-97711E3E27FC}"/>
                </a:ext>
              </a:extLst>
            </p:cNvPr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94A1681-BB10-E1A6-611C-E6E4C9253F28}"/>
                </a:ext>
              </a:extLst>
            </p:cNvPr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A723765-AD3C-76EA-972F-B2D934816DA2}"/>
                </a:ext>
              </a:extLst>
            </p:cNvPr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995C0C-6DD5-11BD-EA81-0496E5EA03D5}"/>
                </a:ext>
              </a:extLst>
            </p:cNvPr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Picture 4" descr="https://1.bp.blogspot.com/-eL4uyz3j_pc/VxurAGmXuAI/AAAAAAAABfM/RMnolY0W88M_d_TzDaFiNxQ4oEpE4oNSgCKgB/s1600/Full_outer_join.jpeg">
            <a:extLst>
              <a:ext uri="{FF2B5EF4-FFF2-40B4-BE49-F238E27FC236}">
                <a16:creationId xmlns:a16="http://schemas.microsoft.com/office/drawing/2014/main" id="{BE60BFD5-A33B-44C4-4F52-875FA39A3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368" y="3886200"/>
            <a:ext cx="2368296" cy="155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oup 46">
            <a:extLst>
              <a:ext uri="{FF2B5EF4-FFF2-40B4-BE49-F238E27FC236}">
                <a16:creationId xmlns:a16="http://schemas.microsoft.com/office/drawing/2014/main" id="{FCAB0692-5BCB-52BA-9B8E-4221C6703885}"/>
              </a:ext>
            </a:extLst>
          </p:cNvPr>
          <p:cNvGrpSpPr/>
          <p:nvPr/>
        </p:nvGrpSpPr>
        <p:grpSpPr>
          <a:xfrm>
            <a:off x="10554730" y="3315788"/>
            <a:ext cx="457836" cy="182881"/>
            <a:chOff x="2803842" y="3246119"/>
            <a:chExt cx="457836" cy="182881"/>
          </a:xfrm>
        </p:grpSpPr>
        <p:sp>
          <p:nvSpPr>
            <p:cNvPr id="58" name="Flowchart: Collate 57">
              <a:extLst>
                <a:ext uri="{FF2B5EF4-FFF2-40B4-BE49-F238E27FC236}">
                  <a16:creationId xmlns:a16="http://schemas.microsoft.com/office/drawing/2014/main" id="{5D2ADF64-D4AD-83A2-582D-E1DF0C135CBB}"/>
                </a:ext>
              </a:extLst>
            </p:cNvPr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96A0AA-E1A7-BB02-A70C-257017079C9D}"/>
                </a:ext>
              </a:extLst>
            </p:cNvPr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6079491-DC8A-D5BD-CC45-A375247A8CC2}"/>
                </a:ext>
              </a:extLst>
            </p:cNvPr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7FC6454-D3B4-2817-4FAC-78E99172FC16}"/>
                </a:ext>
              </a:extLst>
            </p:cNvPr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7F5D86A-20E0-4688-00A2-9170A9FE9A6C}"/>
                </a:ext>
              </a:extLst>
            </p:cNvPr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46">
            <a:extLst>
              <a:ext uri="{FF2B5EF4-FFF2-40B4-BE49-F238E27FC236}">
                <a16:creationId xmlns:a16="http://schemas.microsoft.com/office/drawing/2014/main" id="{D72C5C80-282A-972F-1CD8-4612FCB2C559}"/>
              </a:ext>
            </a:extLst>
          </p:cNvPr>
          <p:cNvGrpSpPr/>
          <p:nvPr/>
        </p:nvGrpSpPr>
        <p:grpSpPr>
          <a:xfrm>
            <a:off x="4299940" y="6148648"/>
            <a:ext cx="457836" cy="182881"/>
            <a:chOff x="2803842" y="3246119"/>
            <a:chExt cx="457836" cy="182881"/>
          </a:xfrm>
        </p:grpSpPr>
        <p:sp>
          <p:nvSpPr>
            <p:cNvPr id="64" name="Flowchart: Collate 63">
              <a:extLst>
                <a:ext uri="{FF2B5EF4-FFF2-40B4-BE49-F238E27FC236}">
                  <a16:creationId xmlns:a16="http://schemas.microsoft.com/office/drawing/2014/main" id="{1CA30DC5-0938-C3A6-1D80-75AFE0597971}"/>
                </a:ext>
              </a:extLst>
            </p:cNvPr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6390BA8-673A-B549-AAE1-A88EFC03CD2C}"/>
                </a:ext>
              </a:extLst>
            </p:cNvPr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B26E67E-FA60-F268-3DF6-25CC29679439}"/>
                </a:ext>
              </a:extLst>
            </p:cNvPr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457EFEB-D609-4E13-B52D-7BFCAA91ACA7}"/>
                </a:ext>
              </a:extLst>
            </p:cNvPr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BE2190E-EF17-5B6C-38E9-953587891C5B}"/>
                </a:ext>
              </a:extLst>
            </p:cNvPr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D05760-8AFB-7F50-8DF3-AC1A05EA6A2E}"/>
              </a:ext>
            </a:extLst>
          </p:cNvPr>
          <p:cNvCxnSpPr>
            <a:cxnSpLocks/>
          </p:cNvCxnSpPr>
          <p:nvPr/>
        </p:nvCxnSpPr>
        <p:spPr>
          <a:xfrm flipH="1" flipV="1">
            <a:off x="6192731" y="4834106"/>
            <a:ext cx="204095" cy="697887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021B2A-A646-FBB3-2964-ED70B074C64A}"/>
              </a:ext>
            </a:extLst>
          </p:cNvPr>
          <p:cNvSpPr txBox="1"/>
          <p:nvPr/>
        </p:nvSpPr>
        <p:spPr>
          <a:xfrm>
            <a:off x="5708974" y="5591542"/>
            <a:ext cx="2685515" cy="6832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/>
          </a:lstStyle>
          <a:p>
            <a:pPr marL="112713" algn="l"/>
            <a:r>
              <a:rPr lang="en-US" sz="2000" b="1" dirty="0">
                <a:solidFill>
                  <a:schemeClr val="accent6"/>
                </a:solidFill>
              </a:rPr>
              <a:t>Display all the tuples</a:t>
            </a:r>
          </a:p>
          <a:p>
            <a:pPr marL="112713" algn="l"/>
            <a:r>
              <a:rPr lang="en-US" sz="2000" b="1" dirty="0"/>
              <a:t>from both the relation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0847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Outer Join Example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43585" y="2056386"/>
          <a:ext cx="248539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78857"/>
              </p:ext>
            </p:extLst>
          </p:nvPr>
        </p:nvGraphicFramePr>
        <p:xfrm>
          <a:off x="343585" y="1692773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343585" y="1387525"/>
            <a:ext cx="96012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43585" y="999540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444040" y="1018934"/>
          <a:ext cx="867600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676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Full 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Outer Join between Student and Result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(Display RollNo, Name and SPI)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>
          <a:xfrm>
            <a:off x="337235" y="4141024"/>
            <a:ext cx="50749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337235" y="3753039"/>
          <a:ext cx="1002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66677" y="3597167"/>
          <a:ext cx="1737360" cy="518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∏ 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</a:rPr>
                        <a:t>RollNo, Name, SPI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989220"/>
              </p:ext>
            </p:extLst>
          </p:nvPr>
        </p:nvGraphicFramePr>
        <p:xfrm>
          <a:off x="343585" y="4873874"/>
          <a:ext cx="2420304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sz="180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NULL</a:t>
                      </a:r>
                      <a:endParaRPr lang="en-IN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0509108"/>
              </p:ext>
            </p:extLst>
          </p:nvPr>
        </p:nvGraphicFramePr>
        <p:xfrm>
          <a:off x="343585" y="4510261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025939" y="2052974"/>
          <a:ext cx="1869441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525085"/>
              </p:ext>
            </p:extLst>
          </p:nvPr>
        </p:nvGraphicFramePr>
        <p:xfrm>
          <a:off x="3025939" y="1689361"/>
          <a:ext cx="8147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1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2931162" y="3723964"/>
          <a:ext cx="2685868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8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((Student)         (Result))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0"/>
          <p:cNvGrpSpPr/>
          <p:nvPr/>
        </p:nvGrpSpPr>
        <p:grpSpPr>
          <a:xfrm>
            <a:off x="4045549" y="3835880"/>
            <a:ext cx="457836" cy="182881"/>
            <a:chOff x="2803842" y="3246119"/>
            <a:chExt cx="457836" cy="182881"/>
          </a:xfrm>
        </p:grpSpPr>
        <p:sp>
          <p:nvSpPr>
            <p:cNvPr id="38" name="Flowchart: Collate 37"/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095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Full Outer Join in SQL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outer join return </a:t>
            </a:r>
            <a:r>
              <a:rPr lang="en-US" b="1" dirty="0">
                <a:solidFill>
                  <a:schemeClr val="accent6"/>
                </a:solidFill>
              </a:rPr>
              <a:t>all records </a:t>
            </a:r>
            <a:r>
              <a:rPr lang="en-US" dirty="0"/>
              <a:t>when there is a match in either left or right table.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859154" y="1852875"/>
            <a:ext cx="1130967" cy="1073422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Table1</a:t>
            </a:r>
          </a:p>
        </p:txBody>
      </p:sp>
      <p:sp>
        <p:nvSpPr>
          <p:cNvPr id="5" name="Oval 4"/>
          <p:cNvSpPr/>
          <p:nvPr/>
        </p:nvSpPr>
        <p:spPr>
          <a:xfrm>
            <a:off x="2132771" y="1852875"/>
            <a:ext cx="1133204" cy="107342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Table2</a:t>
            </a:r>
          </a:p>
        </p:txBody>
      </p:sp>
      <p:sp>
        <p:nvSpPr>
          <p:cNvPr id="6" name="Freeform 5"/>
          <p:cNvSpPr/>
          <p:nvPr/>
        </p:nvSpPr>
        <p:spPr>
          <a:xfrm>
            <a:off x="5236933" y="1927461"/>
            <a:ext cx="565485" cy="924250"/>
          </a:xfrm>
          <a:custGeom>
            <a:avLst/>
            <a:gdLst>
              <a:gd name="connsiteX0" fmla="*/ 283022 w 565485"/>
              <a:gd name="connsiteY0" fmla="*/ 0 h 924250"/>
              <a:gd name="connsiteX1" fmla="*/ 316168 w 565485"/>
              <a:gd name="connsiteY1" fmla="*/ 17076 h 924250"/>
              <a:gd name="connsiteX2" fmla="*/ 565485 w 565485"/>
              <a:gd name="connsiteY2" fmla="*/ 462125 h 924250"/>
              <a:gd name="connsiteX3" fmla="*/ 316168 w 565485"/>
              <a:gd name="connsiteY3" fmla="*/ 907174 h 924250"/>
              <a:gd name="connsiteX4" fmla="*/ 283022 w 565485"/>
              <a:gd name="connsiteY4" fmla="*/ 924250 h 924250"/>
              <a:gd name="connsiteX5" fmla="*/ 249809 w 565485"/>
              <a:gd name="connsiteY5" fmla="*/ 907174 h 924250"/>
              <a:gd name="connsiteX6" fmla="*/ 0 w 565485"/>
              <a:gd name="connsiteY6" fmla="*/ 462125 h 924250"/>
              <a:gd name="connsiteX7" fmla="*/ 249809 w 565485"/>
              <a:gd name="connsiteY7" fmla="*/ 17076 h 924250"/>
              <a:gd name="connsiteX8" fmla="*/ 283022 w 565485"/>
              <a:gd name="connsiteY8" fmla="*/ 0 h 9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485" h="924250">
                <a:moveTo>
                  <a:pt x="283022" y="0"/>
                </a:moveTo>
                <a:lnTo>
                  <a:pt x="316168" y="17076"/>
                </a:lnTo>
                <a:cubicBezTo>
                  <a:pt x="466588" y="113527"/>
                  <a:pt x="565485" y="276865"/>
                  <a:pt x="565485" y="462125"/>
                </a:cubicBezTo>
                <a:cubicBezTo>
                  <a:pt x="565485" y="647386"/>
                  <a:pt x="466588" y="810723"/>
                  <a:pt x="316168" y="907174"/>
                </a:cubicBezTo>
                <a:lnTo>
                  <a:pt x="283022" y="924250"/>
                </a:lnTo>
                <a:lnTo>
                  <a:pt x="249809" y="907174"/>
                </a:lnTo>
                <a:cubicBezTo>
                  <a:pt x="99092" y="810723"/>
                  <a:pt x="0" y="647386"/>
                  <a:pt x="0" y="462125"/>
                </a:cubicBezTo>
                <a:cubicBezTo>
                  <a:pt x="0" y="276865"/>
                  <a:pt x="99092" y="113527"/>
                  <a:pt x="249809" y="17076"/>
                </a:cubicBezTo>
                <a:lnTo>
                  <a:pt x="283022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4671450" y="1852875"/>
            <a:ext cx="848505" cy="1073422"/>
          </a:xfrm>
          <a:custGeom>
            <a:avLst/>
            <a:gdLst>
              <a:gd name="connsiteX0" fmla="*/ 565484 w 848505"/>
              <a:gd name="connsiteY0" fmla="*/ 0 h 1073422"/>
              <a:gd name="connsiteX1" fmla="*/ 785596 w 848505"/>
              <a:gd name="connsiteY1" fmla="*/ 42177 h 1073422"/>
              <a:gd name="connsiteX2" fmla="*/ 848505 w 848505"/>
              <a:gd name="connsiteY2" fmla="*/ 74586 h 1073422"/>
              <a:gd name="connsiteX3" fmla="*/ 815292 w 848505"/>
              <a:gd name="connsiteY3" fmla="*/ 91662 h 1073422"/>
              <a:gd name="connsiteX4" fmla="*/ 565483 w 848505"/>
              <a:gd name="connsiteY4" fmla="*/ 536711 h 1073422"/>
              <a:gd name="connsiteX5" fmla="*/ 815292 w 848505"/>
              <a:gd name="connsiteY5" fmla="*/ 981760 h 1073422"/>
              <a:gd name="connsiteX6" fmla="*/ 848505 w 848505"/>
              <a:gd name="connsiteY6" fmla="*/ 998836 h 1073422"/>
              <a:gd name="connsiteX7" fmla="*/ 785596 w 848505"/>
              <a:gd name="connsiteY7" fmla="*/ 1031245 h 1073422"/>
              <a:gd name="connsiteX8" fmla="*/ 565484 w 848505"/>
              <a:gd name="connsiteY8" fmla="*/ 1073422 h 1073422"/>
              <a:gd name="connsiteX9" fmla="*/ 0 w 848505"/>
              <a:gd name="connsiteY9" fmla="*/ 536711 h 1073422"/>
              <a:gd name="connsiteX10" fmla="*/ 565484 w 848505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8505" h="1073422">
                <a:moveTo>
                  <a:pt x="565484" y="0"/>
                </a:moveTo>
                <a:cubicBezTo>
                  <a:pt x="643561" y="0"/>
                  <a:pt x="717942" y="15019"/>
                  <a:pt x="785596" y="42177"/>
                </a:cubicBezTo>
                <a:lnTo>
                  <a:pt x="848505" y="74586"/>
                </a:lnTo>
                <a:lnTo>
                  <a:pt x="815292" y="91662"/>
                </a:lnTo>
                <a:cubicBezTo>
                  <a:pt x="664575" y="188113"/>
                  <a:pt x="565483" y="351451"/>
                  <a:pt x="565483" y="536711"/>
                </a:cubicBezTo>
                <a:cubicBezTo>
                  <a:pt x="565483" y="721972"/>
                  <a:pt x="664575" y="885309"/>
                  <a:pt x="815292" y="981760"/>
                </a:cubicBezTo>
                <a:lnTo>
                  <a:pt x="848505" y="998836"/>
                </a:lnTo>
                <a:lnTo>
                  <a:pt x="785596" y="1031245"/>
                </a:lnTo>
                <a:cubicBezTo>
                  <a:pt x="717942" y="1058404"/>
                  <a:pt x="643561" y="1073422"/>
                  <a:pt x="565484" y="1073422"/>
                </a:cubicBezTo>
                <a:cubicBezTo>
                  <a:pt x="253176" y="1073422"/>
                  <a:pt x="0" y="833128"/>
                  <a:pt x="0" y="536711"/>
                </a:cubicBezTo>
                <a:cubicBezTo>
                  <a:pt x="0" y="240294"/>
                  <a:pt x="253176" y="0"/>
                  <a:pt x="565484" y="0"/>
                </a:cubicBez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5519954" y="1852875"/>
            <a:ext cx="850182" cy="1073422"/>
          </a:xfrm>
          <a:custGeom>
            <a:avLst/>
            <a:gdLst>
              <a:gd name="connsiteX0" fmla="*/ 283580 w 850182"/>
              <a:gd name="connsiteY0" fmla="*/ 0 h 1073422"/>
              <a:gd name="connsiteX1" fmla="*/ 850182 w 850182"/>
              <a:gd name="connsiteY1" fmla="*/ 536711 h 1073422"/>
              <a:gd name="connsiteX2" fmla="*/ 283580 w 850182"/>
              <a:gd name="connsiteY2" fmla="*/ 1073422 h 1073422"/>
              <a:gd name="connsiteX3" fmla="*/ 63033 w 850182"/>
              <a:gd name="connsiteY3" fmla="*/ 1031245 h 1073422"/>
              <a:gd name="connsiteX4" fmla="*/ 0 w 850182"/>
              <a:gd name="connsiteY4" fmla="*/ 998836 h 1073422"/>
              <a:gd name="connsiteX5" fmla="*/ 33146 w 850182"/>
              <a:gd name="connsiteY5" fmla="*/ 981760 h 1073422"/>
              <a:gd name="connsiteX6" fmla="*/ 282463 w 850182"/>
              <a:gd name="connsiteY6" fmla="*/ 536711 h 1073422"/>
              <a:gd name="connsiteX7" fmla="*/ 33146 w 850182"/>
              <a:gd name="connsiteY7" fmla="*/ 91662 h 1073422"/>
              <a:gd name="connsiteX8" fmla="*/ 0 w 850182"/>
              <a:gd name="connsiteY8" fmla="*/ 74586 h 1073422"/>
              <a:gd name="connsiteX9" fmla="*/ 63033 w 850182"/>
              <a:gd name="connsiteY9" fmla="*/ 42177 h 1073422"/>
              <a:gd name="connsiteX10" fmla="*/ 283580 w 850182"/>
              <a:gd name="connsiteY10" fmla="*/ 0 h 107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0182" h="1073422">
                <a:moveTo>
                  <a:pt x="283580" y="0"/>
                </a:moveTo>
                <a:cubicBezTo>
                  <a:pt x="596506" y="0"/>
                  <a:pt x="850182" y="240294"/>
                  <a:pt x="850182" y="536711"/>
                </a:cubicBezTo>
                <a:cubicBezTo>
                  <a:pt x="850182" y="833128"/>
                  <a:pt x="596506" y="1073422"/>
                  <a:pt x="283580" y="1073422"/>
                </a:cubicBezTo>
                <a:cubicBezTo>
                  <a:pt x="205349" y="1073422"/>
                  <a:pt x="130820" y="1058404"/>
                  <a:pt x="63033" y="1031245"/>
                </a:cubicBezTo>
                <a:lnTo>
                  <a:pt x="0" y="998836"/>
                </a:lnTo>
                <a:lnTo>
                  <a:pt x="33146" y="981760"/>
                </a:lnTo>
                <a:cubicBezTo>
                  <a:pt x="183566" y="885309"/>
                  <a:pt x="282463" y="721972"/>
                  <a:pt x="282463" y="536711"/>
                </a:cubicBezTo>
                <a:cubicBezTo>
                  <a:pt x="282463" y="351451"/>
                  <a:pt x="183566" y="188113"/>
                  <a:pt x="33146" y="91662"/>
                </a:cubicBezTo>
                <a:lnTo>
                  <a:pt x="0" y="74586"/>
                </a:lnTo>
                <a:lnTo>
                  <a:pt x="63033" y="42177"/>
                </a:lnTo>
                <a:cubicBezTo>
                  <a:pt x="130820" y="15019"/>
                  <a:pt x="205349" y="0"/>
                  <a:pt x="28358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395596" y="2174433"/>
            <a:ext cx="1143000" cy="50292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Combine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6576450" y="2138126"/>
            <a:ext cx="1143000" cy="502920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99"/>
                </a:solidFill>
              </a:rPr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DCC25-1E44-48A0-8550-F89E768A4A30}"/>
              </a:ext>
            </a:extLst>
          </p:cNvPr>
          <p:cNvSpPr txBox="1"/>
          <p:nvPr/>
        </p:nvSpPr>
        <p:spPr>
          <a:xfrm>
            <a:off x="199100" y="3355872"/>
            <a:ext cx="1104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" y="4038314"/>
            <a:ext cx="7962900" cy="19814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3495" y="4227831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94406" y="4239797"/>
            <a:ext cx="1068189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columns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4632" y="4800457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65168" y="4806173"/>
            <a:ext cx="1068190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61001" y="5383648"/>
            <a:ext cx="3117075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Table1.column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Table2.column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73495" y="5363828"/>
            <a:ext cx="481986" cy="4162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7255" y="5385626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56594" y="4817554"/>
            <a:ext cx="1891605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FULL OUTER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71435" y="4817554"/>
            <a:ext cx="104512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Table2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2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0.09132 0.04005 C 0.11059 0.04908 0.13924 0.05394 0.1691 0.05394 C 0.20313 0.05394 0.23038 0.04908 0.24965 0.04005 L 0.34115 -4.07407E-6 " pathEditMode="relative" rAng="0" ptsTypes="AAAAA">
                                      <p:cBhvr>
                                        <p:cTn id="4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49" y="268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0.09132 0.04005 C 0.1106 0.04908 0.13924 0.05394 0.1691 0.05394 C 0.20313 0.05394 0.23039 0.04908 0.24966 0.04005 L 0.34115 -4.07407E-6 " pathEditMode="relative" rAng="0" ptsTypes="AAAAA">
                                      <p:cBhvr>
                                        <p:cTn id="5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49" y="268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07407E-6 L 0.09132 0.04005 C 0.11059 0.04908 0.13924 0.05394 0.1691 0.05394 C 0.20313 0.05394 0.23038 0.04908 0.24966 0.04005 L 0.34115 -4.07407E-6 " pathEditMode="relative" rAng="0" ptsTypes="AAA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49" y="268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469A5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469A5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469A5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Full Outer Join in SQL (Cont..)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1450" y="888881"/>
            <a:ext cx="10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344325"/>
            <a:ext cx="7962900" cy="182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3900" y="1521763"/>
            <a:ext cx="990316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7507" y="1521763"/>
            <a:ext cx="1673354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</a:t>
            </a:r>
            <a:r>
              <a:rPr lang="en-IN" dirty="0" err="1"/>
              <a:t>RollNo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2947" y="1498993"/>
            <a:ext cx="160674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.Name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1116" y="1496861"/>
            <a:ext cx="1775984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  <a:r>
              <a:rPr lang="en-US" dirty="0">
                <a:ln w="0"/>
                <a:solidFill>
                  <a:schemeClr val="tx1"/>
                </a:solidFill>
              </a:rPr>
              <a:t>.Branch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9186" y="1496861"/>
            <a:ext cx="1161057" cy="4572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</a:t>
            </a:r>
            <a:r>
              <a:rPr lang="en-US" dirty="0">
                <a:ln w="0"/>
                <a:solidFill>
                  <a:schemeClr val="tx1"/>
                </a:solidFill>
              </a:rPr>
              <a:t>.SPI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72" y="2096951"/>
            <a:ext cx="977144" cy="42252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27509" y="2101500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126864" y="2088980"/>
            <a:ext cx="1876883" cy="41569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FULL OUTER JOIN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14497" y="2088980"/>
            <a:ext cx="118151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43658" y="2637464"/>
            <a:ext cx="481986" cy="40317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4312" y="2622664"/>
            <a:ext cx="3191704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Student.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IN" dirty="0" err="1"/>
              <a:t>RollNo</a:t>
            </a:r>
            <a:r>
              <a:rPr lang="en-IN" dirty="0"/>
              <a:t> </a:t>
            </a:r>
            <a:r>
              <a:rPr lang="en-IN" dirty="0">
                <a:solidFill>
                  <a:srgbClr val="808080"/>
                </a:solidFill>
              </a:rPr>
              <a:t>=</a:t>
            </a:r>
            <a:r>
              <a:rPr lang="en-IN" dirty="0"/>
              <a:t> Result. </a:t>
            </a:r>
            <a:r>
              <a:rPr lang="en-IN" dirty="0" err="1"/>
              <a:t>RollNo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91729" y="2624395"/>
            <a:ext cx="163171" cy="40317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952" y="4457326"/>
            <a:ext cx="743902" cy="672186"/>
          </a:xfrm>
          <a:prstGeom prst="rect">
            <a:avLst/>
          </a:prstGeom>
          <a:ln>
            <a:noFill/>
          </a:ln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5436" y="3429000"/>
          <a:ext cx="2300775" cy="256884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37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106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kumimoji="0" lang="en-IN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852412" y="3448518"/>
          <a:ext cx="1386376" cy="224774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86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106">
                <a:tc gridSpan="2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Result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IN" sz="1600" b="1" dirty="0" err="1">
                          <a:solidFill>
                            <a:schemeClr val="bg1"/>
                          </a:solidFill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06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483918856"/>
              </p:ext>
            </p:extLst>
          </p:nvPr>
        </p:nvGraphicFramePr>
        <p:xfrm>
          <a:off x="5271796" y="3491625"/>
          <a:ext cx="2837879" cy="277220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08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3">
                <a:tc gridSpan="3"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63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IN" sz="1600" b="1" dirty="0" err="1">
                          <a:solidFill>
                            <a:schemeClr val="bg1"/>
                          </a:solidFill>
                        </a:rPr>
                        <a:t>RollNo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Meera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1" i="1" u="none" strike="noStrike" dirty="0"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12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A00B2-9959-A602-81F5-67C5A93F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5D0B-BE61-83D7-1425-BF24A1F5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2CEC-D289-D5DE-8479-29BD58C5D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Explain Selection operation in Relational Algebra with a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Explain Projection Operation in Relational Algebra with a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Explain Cartesian Product (Cross Join) Operation in Relational Algebra with a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Explain Division Operation in Relational Algebra with a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Explain Rename Operation in Relational Algebra with a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Explain Set Operations in Relational Algebra with a suitable example. 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				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       Explain Union, Intersect and Minus operations in Relational Algebra with a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7"/>
            </a:pPr>
            <a:r>
              <a:rPr lang="en-US" dirty="0"/>
              <a:t>Explain various JOIN operations in Relational Algebra with a suitable example. 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					OR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      </a:t>
            </a:r>
            <a:r>
              <a:rPr lang="en-US" dirty="0"/>
              <a:t>Explain Inner Join and Outer Join in Relational Algebra with a suitable example.</a:t>
            </a:r>
          </a:p>
          <a:p>
            <a:pPr marL="0" indent="0">
              <a:buClr>
                <a:srgbClr val="1D6FA9"/>
              </a:buClr>
              <a:buNone/>
            </a:pPr>
            <a:endParaRPr lang="en-US" dirty="0"/>
          </a:p>
          <a:p>
            <a:pPr marL="457200" indent="-457200">
              <a:buClr>
                <a:srgbClr val="1D6FA9"/>
              </a:buClr>
              <a:buFont typeface="+mj-lt"/>
              <a:buAutoNum type="arabicPeriod" startAt="5"/>
            </a:pPr>
            <a:endParaRPr lang="en-US" dirty="0"/>
          </a:p>
          <a:p>
            <a:pPr marL="544512" lvl="1" indent="0">
              <a:buClr>
                <a:srgbClr val="1D6FA9"/>
              </a:buClr>
              <a:buNone/>
            </a:pPr>
            <a:endParaRPr lang="en-US" sz="2200" dirty="0"/>
          </a:p>
          <a:p>
            <a:pPr marL="544512" lvl="1" indent="0">
              <a:buClr>
                <a:srgbClr val="1D6FA9"/>
              </a:buClr>
              <a:buNone/>
            </a:pPr>
            <a:endParaRPr lang="en-US" sz="2200" dirty="0"/>
          </a:p>
          <a:p>
            <a:pPr marL="457200" indent="-457200">
              <a:buClr>
                <a:srgbClr val="1D6FA9"/>
              </a:buClr>
              <a:buFont typeface="+mj-lt"/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5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2B53-B970-E18C-DE73-5FF4A373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95EA-BE60-10CB-76BB-478FED68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A053-5207-6983-5C00-F64EF8118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rgbClr val="1D6FA9"/>
              </a:buClr>
              <a:buFont typeface="+mj-lt"/>
              <a:buAutoNum type="arabicPeriod" startAt="8"/>
            </a:pPr>
            <a:r>
              <a:rPr lang="en-US" dirty="0"/>
              <a:t>Consider following table and solve given queries using relational algebra. 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b="1" dirty="0"/>
              <a:t>       </a:t>
            </a:r>
            <a:r>
              <a:rPr lang="en-US" sz="2200" b="1" dirty="0"/>
              <a:t>Customer</a:t>
            </a:r>
            <a:r>
              <a:rPr lang="en-US" sz="2200" dirty="0"/>
              <a:t> (</a:t>
            </a:r>
            <a:r>
              <a:rPr lang="en-US" sz="2200" dirty="0" err="1"/>
              <a:t>cid</a:t>
            </a:r>
            <a:r>
              <a:rPr lang="en-US" sz="2200" dirty="0"/>
              <a:t>, </a:t>
            </a:r>
            <a:r>
              <a:rPr lang="en-US" sz="2200" dirty="0" err="1"/>
              <a:t>cname</a:t>
            </a:r>
            <a:r>
              <a:rPr lang="en-US" sz="2200" dirty="0"/>
              <a:t>, address, </a:t>
            </a:r>
            <a:r>
              <a:rPr lang="en-US" sz="2200" dirty="0" err="1"/>
              <a:t>city,contact_no</a:t>
            </a:r>
            <a:r>
              <a:rPr lang="en-US" sz="2200" dirty="0"/>
              <a:t>)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000" dirty="0"/>
              <a:t>Display </a:t>
            </a:r>
            <a:r>
              <a:rPr lang="en-US" sz="2000" dirty="0" err="1"/>
              <a:t>cid</a:t>
            </a:r>
            <a:r>
              <a:rPr lang="en-US" sz="2000" dirty="0"/>
              <a:t>, name and city of customer whose name is ‘Anil’ and belongs to ‘Goa’ city.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000" dirty="0"/>
              <a:t>Display the details of Customers having customer id between 101 and 106.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000" dirty="0"/>
              <a:t>Display only customer id and customer name who belongs to ‘Baroda’ city.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000" dirty="0"/>
              <a:t>Display customer id, customer name and city of customer having customer id is 103 and not belongs to ‘</a:t>
            </a:r>
            <a:r>
              <a:rPr lang="en-US" sz="2000" dirty="0" err="1"/>
              <a:t>Ahemdabad</a:t>
            </a:r>
            <a:r>
              <a:rPr lang="en-US" sz="2000" dirty="0"/>
              <a:t>’ city.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9"/>
            </a:pPr>
            <a:r>
              <a:rPr lang="en-US" dirty="0"/>
              <a:t>Consider following table and solve given queries using relational algebra.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       </a:t>
            </a:r>
            <a:r>
              <a:rPr lang="en-US" sz="2200" b="1" dirty="0"/>
              <a:t>Student</a:t>
            </a:r>
            <a:r>
              <a:rPr lang="en-US" sz="2200" dirty="0"/>
              <a:t> (</a:t>
            </a:r>
            <a:r>
              <a:rPr lang="en-US" sz="2200" dirty="0" err="1"/>
              <a:t>Rollno</a:t>
            </a:r>
            <a:r>
              <a:rPr lang="en-US" sz="2200" dirty="0"/>
              <a:t>, Name, Branch) 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sz="2200" dirty="0"/>
              <a:t>        </a:t>
            </a:r>
            <a:r>
              <a:rPr lang="en-US" sz="2200" b="1" dirty="0"/>
              <a:t>Result</a:t>
            </a:r>
            <a:r>
              <a:rPr lang="en-US" sz="2200" dirty="0"/>
              <a:t>   (</a:t>
            </a:r>
            <a:r>
              <a:rPr lang="en-US" sz="2200" dirty="0" err="1"/>
              <a:t>Rollno</a:t>
            </a:r>
            <a:r>
              <a:rPr lang="en-US" sz="2200" dirty="0"/>
              <a:t>, SPI)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200" dirty="0"/>
              <a:t>Combine information of Student and Result table using cross join.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200" dirty="0"/>
              <a:t>Display </a:t>
            </a:r>
            <a:r>
              <a:rPr lang="en-US" sz="2200" dirty="0" err="1"/>
              <a:t>Rollno</a:t>
            </a:r>
            <a:r>
              <a:rPr lang="en-US" sz="2200" dirty="0"/>
              <a:t>, Name, and Branch of EC branch students only.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UcPeriod"/>
            </a:pPr>
            <a:r>
              <a:rPr lang="en-US" sz="2200" dirty="0"/>
              <a:t>Display </a:t>
            </a:r>
            <a:r>
              <a:rPr lang="en-US" sz="2200" dirty="0" err="1"/>
              <a:t>Rollno</a:t>
            </a:r>
            <a:r>
              <a:rPr lang="en-US" sz="2200" dirty="0"/>
              <a:t> and Name of the student along with their SPI.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5"/>
            </a:pPr>
            <a:endParaRPr lang="en-US" dirty="0"/>
          </a:p>
          <a:p>
            <a:pPr marL="544512" lvl="1" indent="0">
              <a:buClr>
                <a:srgbClr val="1D6FA9"/>
              </a:buClr>
              <a:buNone/>
            </a:pPr>
            <a:endParaRPr lang="en-US" sz="2200" dirty="0"/>
          </a:p>
          <a:p>
            <a:pPr marL="544512" lvl="1" indent="0">
              <a:buClr>
                <a:srgbClr val="1D6FA9"/>
              </a:buClr>
              <a:buNone/>
            </a:pPr>
            <a:endParaRPr lang="en-US" sz="2200" dirty="0"/>
          </a:p>
          <a:p>
            <a:pPr marL="457200" indent="-457200">
              <a:buClr>
                <a:srgbClr val="1D6FA9"/>
              </a:buClr>
              <a:buFont typeface="+mj-lt"/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7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37676" y="5582493"/>
            <a:ext cx="3826005" cy="26520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D4F84-0571-BC3D-45EF-738514259C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</a:t>
            </a:r>
            <a:r>
              <a:rPr dirty="0">
                <a:latin typeface="Roboto Condensed(Body)"/>
              </a:rPr>
              <a:t>2304CS204</a:t>
            </a:r>
            <a:endParaRPr lang="en-US" dirty="0">
              <a:latin typeface="Roboto Condensed(Body)"/>
            </a:endParaRP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C941DD83-654D-F7AD-56F2-E785F26269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865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12368</TotalTime>
  <Words>4973</Words>
  <Application>Microsoft Office PowerPoint</Application>
  <PresentationFormat>Widescreen</PresentationFormat>
  <Paragraphs>2022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Roboto Condensed(Body)</vt:lpstr>
      <vt:lpstr>Roboto Condensed Light</vt:lpstr>
      <vt:lpstr>Consolas</vt:lpstr>
      <vt:lpstr>Roboto Condensed,Bold</vt:lpstr>
      <vt:lpstr>Wingdings 3</vt:lpstr>
      <vt:lpstr>Wingdings</vt:lpstr>
      <vt:lpstr>Roboto Condensed</vt:lpstr>
      <vt:lpstr>Wingdings 2</vt:lpstr>
      <vt:lpstr>Symbol</vt:lpstr>
      <vt:lpstr>Calibri</vt:lpstr>
      <vt:lpstr>Arial</vt:lpstr>
      <vt:lpstr>Office Theme</vt:lpstr>
      <vt:lpstr>Unit-4  Relational Algebra and Its implementation using SQL</vt:lpstr>
      <vt:lpstr>PowerPoint Presentation</vt:lpstr>
      <vt:lpstr>Relational Algebra</vt:lpstr>
      <vt:lpstr>What is Relational Algebra ?</vt:lpstr>
      <vt:lpstr>Structure of Relational Algebra</vt:lpstr>
      <vt:lpstr>Structure of Relational Algebra</vt:lpstr>
      <vt:lpstr>Relational Algebra Operations</vt:lpstr>
      <vt:lpstr>Relational Algebra Operation: Projection</vt:lpstr>
      <vt:lpstr>Projection Operator - Relational Algebra Operation</vt:lpstr>
      <vt:lpstr>Exercise on Projection Operator </vt:lpstr>
      <vt:lpstr>Relational Algebra Operation: Selection</vt:lpstr>
      <vt:lpstr>Selection Operator - Relational Algebra Operation</vt:lpstr>
      <vt:lpstr>Selection Operator - Relational Algebra Operation(Conti..)</vt:lpstr>
      <vt:lpstr>Selection Operator - Relational Algebra Operation(Conti..)</vt:lpstr>
      <vt:lpstr>Selection Operator - Relational Algebra Operation(Conti..)</vt:lpstr>
      <vt:lpstr>Exercise on Selection Operator </vt:lpstr>
      <vt:lpstr>Combined Projection &amp; Selection Operation</vt:lpstr>
      <vt:lpstr>Combined Projection &amp; Selection Operation(Conti..)</vt:lpstr>
      <vt:lpstr>Combined Projection &amp; Selection Operation(Conti..)</vt:lpstr>
      <vt:lpstr>Exercise on Combine Selection and Projection Operation</vt:lpstr>
      <vt:lpstr>Relational Algebra Operation: Division</vt:lpstr>
      <vt:lpstr>Division Operator - Relational Algebra Operation</vt:lpstr>
      <vt:lpstr>Division Operator - Relational Algebra Operation(Conti..)</vt:lpstr>
      <vt:lpstr>Division Operator - Relational Algebra Operation(Conti..)</vt:lpstr>
      <vt:lpstr>Relational Algebra Operation: Cartesian Product / Cross Join</vt:lpstr>
      <vt:lpstr>Cartesian Product/ Cross Join</vt:lpstr>
      <vt:lpstr>Cartesian Product / Cross Join</vt:lpstr>
      <vt:lpstr>Cartesian Product/ Cross Join (Consider only Selected Attributes)</vt:lpstr>
      <vt:lpstr>Relational Algebra Operation: Set Operators</vt:lpstr>
      <vt:lpstr>Set Operators</vt:lpstr>
      <vt:lpstr>Conditions to Perform Set Operators</vt:lpstr>
      <vt:lpstr>Set Operators - Union</vt:lpstr>
      <vt:lpstr>Union Operator Example </vt:lpstr>
      <vt:lpstr>Union Operator Example Using SQL</vt:lpstr>
      <vt:lpstr>Set Operators - Intersect</vt:lpstr>
      <vt:lpstr>Intersect Operator Example </vt:lpstr>
      <vt:lpstr>Intersect Operator Example Using SQL </vt:lpstr>
      <vt:lpstr>Set Operators - Minus</vt:lpstr>
      <vt:lpstr>Minus Operator Example </vt:lpstr>
      <vt:lpstr>Minus Operator Example Using SQL </vt:lpstr>
      <vt:lpstr>Relational Algebra Operation: Rename</vt:lpstr>
      <vt:lpstr>Rename</vt:lpstr>
      <vt:lpstr>Rename Operator Example</vt:lpstr>
      <vt:lpstr>Rename Operator Example</vt:lpstr>
      <vt:lpstr>Relational Algebra Operation: Natural Join/ Inner Join</vt:lpstr>
      <vt:lpstr>Natural Join/ Inner Join</vt:lpstr>
      <vt:lpstr>Natural Join / Inner Join Example</vt:lpstr>
      <vt:lpstr>Natural Join / Inner Join Example</vt:lpstr>
      <vt:lpstr>Natural Join / Inner Join in SQL</vt:lpstr>
      <vt:lpstr>Natural Join / Inner Join in SQL(Cont..)</vt:lpstr>
      <vt:lpstr>Write down relational algebra for the following tables / relations</vt:lpstr>
      <vt:lpstr>Write down relational algebra for the following tables / relations</vt:lpstr>
      <vt:lpstr>Relational Algebra Operation: Outer Join</vt:lpstr>
      <vt:lpstr>Outer Join</vt:lpstr>
      <vt:lpstr>Left Outer Join</vt:lpstr>
      <vt:lpstr>Left Outer Join Example</vt:lpstr>
      <vt:lpstr>Left Outer Join in SQL</vt:lpstr>
      <vt:lpstr>Left Outer Join in SQL(Cont..)</vt:lpstr>
      <vt:lpstr>Right Outer Join</vt:lpstr>
      <vt:lpstr>Right Outer Join Example</vt:lpstr>
      <vt:lpstr>Right Outer Join in SQL</vt:lpstr>
      <vt:lpstr>Right Outer Join in SQL(Cont..)</vt:lpstr>
      <vt:lpstr>Full Outer Join</vt:lpstr>
      <vt:lpstr>Full Outer Join Example</vt:lpstr>
      <vt:lpstr>Full Outer Join in SQL </vt:lpstr>
      <vt:lpstr>Full Outer Join in SQL (Cont..)</vt:lpstr>
      <vt:lpstr>Frequently asked questions in Exam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Hemang Chath</cp:lastModifiedBy>
  <cp:revision>485</cp:revision>
  <dcterms:created xsi:type="dcterms:W3CDTF">2020-05-01T05:09:15Z</dcterms:created>
  <dcterms:modified xsi:type="dcterms:W3CDTF">2026-03-06T03:48:05Z</dcterms:modified>
</cp:coreProperties>
</file>