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4"/>
  </p:notesMasterIdLst>
  <p:sldIdLst>
    <p:sldId id="283" r:id="rId2"/>
    <p:sldId id="756" r:id="rId3"/>
    <p:sldId id="757" r:id="rId4"/>
    <p:sldId id="311" r:id="rId5"/>
    <p:sldId id="356" r:id="rId6"/>
    <p:sldId id="357" r:id="rId7"/>
    <p:sldId id="358" r:id="rId8"/>
    <p:sldId id="325" r:id="rId9"/>
    <p:sldId id="365" r:id="rId10"/>
    <p:sldId id="364" r:id="rId11"/>
    <p:sldId id="361" r:id="rId12"/>
    <p:sldId id="362" r:id="rId13"/>
    <p:sldId id="366" r:id="rId14"/>
    <p:sldId id="326" r:id="rId15"/>
    <p:sldId id="355" r:id="rId16"/>
    <p:sldId id="327" r:id="rId17"/>
    <p:sldId id="758" r:id="rId18"/>
    <p:sldId id="367" r:id="rId19"/>
    <p:sldId id="329" r:id="rId20"/>
    <p:sldId id="374" r:id="rId21"/>
    <p:sldId id="370" r:id="rId22"/>
    <p:sldId id="376" r:id="rId23"/>
    <p:sldId id="759" r:id="rId24"/>
    <p:sldId id="379" r:id="rId25"/>
    <p:sldId id="369" r:id="rId26"/>
    <p:sldId id="380" r:id="rId27"/>
    <p:sldId id="381" r:id="rId28"/>
    <p:sldId id="382" r:id="rId29"/>
    <p:sldId id="383" r:id="rId30"/>
    <p:sldId id="396" r:id="rId31"/>
    <p:sldId id="386" r:id="rId32"/>
    <p:sldId id="387" r:id="rId33"/>
    <p:sldId id="388" r:id="rId34"/>
    <p:sldId id="390" r:id="rId35"/>
    <p:sldId id="389" r:id="rId36"/>
    <p:sldId id="391" r:id="rId37"/>
    <p:sldId id="393" r:id="rId38"/>
    <p:sldId id="392" r:id="rId39"/>
    <p:sldId id="394" r:id="rId40"/>
    <p:sldId id="395" r:id="rId41"/>
    <p:sldId id="346" r:id="rId42"/>
    <p:sldId id="344" r:id="rId43"/>
  </p:sldIdLst>
  <p:sldSz cx="12192000" cy="6858000"/>
  <p:notesSz cx="6858000" cy="9144000"/>
  <p:embeddedFontLst>
    <p:embeddedFont>
      <p:font typeface="Roboto Condensed" panose="02000000000000000000" pitchFamily="2" charset="0"/>
      <p:regular r:id="rId45"/>
      <p:bold r:id="rId46"/>
      <p:italic r:id="rId47"/>
      <p:boldItalic r:id="rId48"/>
    </p:embeddedFont>
    <p:embeddedFont>
      <p:font typeface="Roboto Condensed Light" panose="02000000000000000000" pitchFamily="2" charset="0"/>
      <p:regular r:id="rId49"/>
      <p:italic r:id="rId50"/>
    </p:embeddedFont>
    <p:embeddedFont>
      <p:font typeface="Wingdings 2" panose="05020102010507070707" pitchFamily="18" charset="2"/>
      <p:regular r:id="rId51"/>
    </p:embeddedFont>
    <p:embeddedFont>
      <p:font typeface="Wingdings 3" panose="05040102010807070707" pitchFamily="18" charset="2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KN8mBvjCZMvpyyXWElwLDQ==" hashData="ADYDY5Blohdcd+mohd0bvoaY/qpGp6D7HSo/gasB3Q36uy3q5ujTKbZHS6oC8Ynz439UtODihjwVLa/8LOSUbg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B92"/>
    <a:srgbClr val="D10233"/>
    <a:srgbClr val="673BB7"/>
    <a:srgbClr val="607D8B"/>
    <a:srgbClr val="ED524F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0EDA1D-7901-444C-80C6-B3DB9F434288}" v="148" dt="2025-01-19T16:20:14.3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75829-5463-4E71-B271-C77C8926DDE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333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95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EB9-924B-4EB9-AB14-282C92B55AE8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506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7076107" y="3897306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Hemang R Chath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2364D95-B329-9454-0C65-6DD9D28321C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 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</a:t>
            </a:r>
            <a:r>
              <a:rPr lang="en-IN" dirty="0"/>
              <a:t>Database System Architecture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Hemang R Chath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 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</a:t>
            </a:r>
            <a:r>
              <a:rPr lang="en-IN" dirty="0"/>
              <a:t>Database System Architecture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tx2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tx2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tx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tx2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tx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C. Padaliya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45141CA-3257-6BFB-BB04-3762FEDA1C9B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Database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System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Hemang R Chath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AB458A6-BA3D-1695-F4B0-6ACF702C5664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 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</a:t>
            </a:r>
            <a:r>
              <a:rPr lang="en-IN" dirty="0"/>
              <a:t>Database System Architecture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C. Padaliya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C9FED5C-F4D5-E957-DC81-3C6139158BA8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Database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System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20384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baseline="0" dirty="0">
                <a:solidFill>
                  <a:schemeClr val="tx1"/>
                </a:solidFill>
                <a:latin typeface="Roboto Condensed(Body)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	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DBMS-1</a:t>
            </a:r>
          </a:p>
          <a:p>
            <a:pPr lvl="0"/>
            <a:r>
              <a:rPr lang="en-US" dirty="0"/>
              <a:t>DU 2101CS201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73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73" r:id="rId8"/>
    <p:sldLayoutId id="2147483691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024044"/>
            <a:ext cx="7035300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Unit-2</a:t>
            </a:r>
            <a:r>
              <a:rPr lang="en-US" dirty="0"/>
              <a:t> </a:t>
            </a:r>
            <a:br>
              <a:rPr lang="en-US" dirty="0"/>
            </a:br>
            <a:r>
              <a:rPr lang="en-IN" dirty="0"/>
              <a:t>Database System Architecture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hemang.chath@darshan.ac.in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8200834776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815870" cy="29276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Hemang R Chath</a:t>
            </a:r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Database Management System-I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(DBMS-I)</a:t>
            </a:r>
          </a:p>
          <a:p>
            <a:r>
              <a:rPr lang="en-US" dirty="0"/>
              <a:t>DU # 2304CS204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080FAF3-BB9F-EFA1-E2E7-3D084D925D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14" name="Picture Placeholder 8">
            <a:extLst>
              <a:ext uri="{FF2B5EF4-FFF2-40B4-BE49-F238E27FC236}">
                <a16:creationId xmlns:a16="http://schemas.microsoft.com/office/drawing/2014/main" id="{132498E1-FC9D-C097-8F7B-FFAE54DA78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" t="-79" r="608" b="11610"/>
          <a:stretch/>
        </p:blipFill>
        <p:spPr>
          <a:xfrm>
            <a:off x="342900" y="5081155"/>
            <a:ext cx="1392382" cy="147550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CC73D57-B553-CA6A-14E0-FA89BC75BA0A}"/>
              </a:ext>
            </a:extLst>
          </p:cNvPr>
          <p:cNvSpPr/>
          <p:nvPr/>
        </p:nvSpPr>
        <p:spPr>
          <a:xfrm>
            <a:off x="678112" y="3889663"/>
            <a:ext cx="6385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1600" b="1" i="1" u="none" strike="noStrike" baseline="0" dirty="0">
                <a:latin typeface="Roboto Condensed,Bold"/>
              </a:rPr>
              <a:t>CO2:</a:t>
            </a:r>
            <a:r>
              <a:rPr lang="en-IN" sz="1600" b="0" i="1" u="none" strike="noStrike" baseline="0" dirty="0">
                <a:latin typeface="Roboto Condensed,Bold"/>
              </a:rPr>
              <a:t> </a:t>
            </a:r>
            <a:r>
              <a:rPr lang="en-US" sz="18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the end of this unit, students will be able to,</a:t>
            </a:r>
          </a:p>
          <a:p>
            <a:pPr algn="just"/>
            <a:r>
              <a:rPr lang="en-US" b="1" dirty="0"/>
              <a:t>        summarize</a:t>
            </a:r>
            <a:r>
              <a:rPr lang="en-US" dirty="0"/>
              <a:t> the database system architecture.</a:t>
            </a:r>
            <a:endParaRPr lang="en-IN" sz="1600" b="0" i="1" dirty="0"/>
          </a:p>
        </p:txBody>
      </p:sp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1785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1" y="731706"/>
            <a:ext cx="717185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lang="en-US" sz="2400" b="1" dirty="0"/>
              <a:t>Outline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 (Body)"/>
              </a:rPr>
              <a:t>Schema, Sub-schema &amp; Instance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 (Body)"/>
              </a:rPr>
              <a:t>Mapping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 (Body)"/>
              </a:rPr>
              <a:t>Data Independence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 (Body)"/>
              </a:rPr>
              <a:t>Database System Architecture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 (Body)"/>
              </a:rPr>
              <a:t>Functions and Services of DBMS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 (Body)"/>
              </a:rPr>
              <a:t>Data Models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 (Body)"/>
              </a:rPr>
              <a:t>Types of Database Systems</a:t>
            </a:r>
          </a:p>
        </p:txBody>
      </p:sp>
    </p:spTree>
    <p:extLst>
      <p:ext uri="{BB962C8B-B14F-4D97-AF65-F5344CB8AC3E}">
        <p14:creationId xmlns:p14="http://schemas.microsoft.com/office/powerpoint/2010/main" val="2362125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latin typeface="Roboto Condensed (Body)"/>
              </a:rPr>
              <a:t>Schema, Sub-schema &amp; Instance</a:t>
            </a:r>
            <a:endParaRPr lang="en-US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719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and Instance</a:t>
            </a:r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131180" y="757856"/>
            <a:ext cx="11929641" cy="5656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(Body)"/>
              </a:rPr>
              <a:t>Schema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(Body)"/>
              </a:rPr>
              <a:t> -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(Body)"/>
              </a:rPr>
              <a:t>Overall logical design of the database is known as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Roboto Condensed (Body)"/>
              </a:rPr>
              <a:t>“Schema”</a:t>
            </a:r>
          </a:p>
          <a:p>
            <a:pPr marL="809625" marR="0" lvl="1" indent="-352425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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Roboto Condensed (Body)"/>
            </a:endParaRPr>
          </a:p>
          <a:p>
            <a:pPr marL="809625" marR="0" lvl="1" indent="-352425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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Roboto Condensed (Body)"/>
            </a:endParaRPr>
          </a:p>
          <a:p>
            <a:pPr marL="809625" marR="0" lvl="1" indent="-352425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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Roboto Condensed (Body)"/>
            </a:endParaRPr>
          </a:p>
          <a:p>
            <a:pPr marL="809625" marR="0" lvl="1" indent="-352425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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Roboto Condensed (Body)"/>
            </a:endParaRPr>
          </a:p>
          <a:p>
            <a:pPr marL="809625" marR="0" lvl="1" indent="-352425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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Roboto Condensed (Body)"/>
            </a:endParaRPr>
          </a:p>
          <a:p>
            <a:pPr marR="0" lvl="1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Roboto Condensed (Body)"/>
            </a:endParaRP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(Body)"/>
              </a:rPr>
              <a:t>Instance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(Body)"/>
              </a:rPr>
              <a:t> - Collection of information stored in the database is known as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Roboto Condensed (Body)"/>
              </a:rPr>
              <a:t>“Instance”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 (Body)"/>
            </a:endParaRP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 (Body)"/>
            </a:endParaRPr>
          </a:p>
          <a:p>
            <a:pPr marL="809625" marR="0" lvl="1" indent="-352425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 (Body)"/>
            </a:endParaRPr>
          </a:p>
        </p:txBody>
      </p:sp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2829758"/>
              </p:ext>
            </p:extLst>
          </p:nvPr>
        </p:nvGraphicFramePr>
        <p:xfrm>
          <a:off x="480507" y="1150600"/>
          <a:ext cx="11398686" cy="23573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73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5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64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82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21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42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77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22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Column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18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type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Scale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Primary</a:t>
                      </a:r>
                      <a:r>
                        <a:rPr lang="en-US" sz="18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Key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Nullable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Comment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220">
                <a:tc>
                  <a:txBody>
                    <a:bodyPr/>
                    <a:lstStyle/>
                    <a:p>
                      <a:r>
                        <a:rPr lang="en-US" b="1" dirty="0"/>
                        <a:t>FACULTY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SrNo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√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2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√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2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Mobile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√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2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√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2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√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26093" y="1584784"/>
            <a:ext cx="910568" cy="327992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Condensed (Body)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564900" y="1569712"/>
            <a:ext cx="826718" cy="1905943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Condensed (Body)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881583" y="1556792"/>
            <a:ext cx="1264786" cy="1941817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Condensed (Body)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434899" y="1569713"/>
            <a:ext cx="688246" cy="1938227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Condensed (Body)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407754" y="1575450"/>
            <a:ext cx="688246" cy="1932490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Condensed (Body)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578246" y="1150600"/>
            <a:ext cx="2317315" cy="400450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Condensed (Body)"/>
            </a:endParaRPr>
          </a:p>
        </p:txBody>
      </p:sp>
      <p:sp>
        <p:nvSpPr>
          <p:cNvPr id="33" name="Rounded Rectangular Callout 32"/>
          <p:cNvSpPr/>
          <p:nvPr/>
        </p:nvSpPr>
        <p:spPr>
          <a:xfrm>
            <a:off x="9476509" y="309891"/>
            <a:ext cx="2584312" cy="760845"/>
          </a:xfrm>
          <a:prstGeom prst="wedgeRoundRectCallout">
            <a:avLst>
              <a:gd name="adj1" fmla="val -40716"/>
              <a:gd name="adj2" fmla="val 76878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accent6"/>
                </a:solidFill>
                <a:latin typeface="Roboto Condensed (Body)"/>
              </a:rPr>
              <a:t>It does not change frequently</a:t>
            </a:r>
          </a:p>
        </p:txBody>
      </p:sp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5175410"/>
              </p:ext>
            </p:extLst>
          </p:nvPr>
        </p:nvGraphicFramePr>
        <p:xfrm>
          <a:off x="469727" y="4012224"/>
          <a:ext cx="8966548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12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9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9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7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SrNo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258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Prof. </a:t>
                      </a:r>
                      <a:r>
                        <a:rPr lang="en-US" dirty="0" err="1"/>
                        <a:t>Ankit</a:t>
                      </a:r>
                      <a:r>
                        <a:rPr lang="en-US" dirty="0"/>
                        <a:t> Patel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8325845127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Jetpur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Electrical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125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Prof.Bhavesh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Akbari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7878454512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Computer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312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Prof. Karan Sanghani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9824485641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Civil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457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Prof.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Bhavin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Vaja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9825488621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Jamnagar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Mechanical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469727" y="4453766"/>
            <a:ext cx="8955768" cy="1615858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 (Body)"/>
              </a:rPr>
              <a:t>s</a:t>
            </a:r>
          </a:p>
        </p:txBody>
      </p:sp>
      <p:sp>
        <p:nvSpPr>
          <p:cNvPr id="36" name="Rounded Rectangular Callout 35"/>
          <p:cNvSpPr/>
          <p:nvPr/>
        </p:nvSpPr>
        <p:spPr>
          <a:xfrm>
            <a:off x="9767455" y="4230428"/>
            <a:ext cx="1987305" cy="686807"/>
          </a:xfrm>
          <a:prstGeom prst="wedgeRoundRectCallout">
            <a:avLst>
              <a:gd name="adj1" fmla="val -65930"/>
              <a:gd name="adj2" fmla="val 118823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accent6"/>
                </a:solidFill>
                <a:latin typeface="Roboto Condensed (Body)"/>
              </a:rPr>
              <a:t>It  changes frequently</a:t>
            </a:r>
          </a:p>
        </p:txBody>
      </p:sp>
    </p:spTree>
    <p:extLst>
      <p:ext uri="{BB962C8B-B14F-4D97-AF65-F5344CB8AC3E}">
        <p14:creationId xmlns:p14="http://schemas.microsoft.com/office/powerpoint/2010/main" val="411939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833"/>
            <a:ext cx="12192000" cy="711200"/>
          </a:xfrm>
        </p:spPr>
        <p:txBody>
          <a:bodyPr/>
          <a:lstStyle/>
          <a:p>
            <a:r>
              <a:rPr lang="en-US" dirty="0"/>
              <a:t>Schema Vs Instance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8B69F7-142A-45A5-8795-C8D78A28F496}"/>
              </a:ext>
            </a:extLst>
          </p:cNvPr>
          <p:cNvCxnSpPr/>
          <p:nvPr/>
        </p:nvCxnSpPr>
        <p:spPr>
          <a:xfrm>
            <a:off x="6096000" y="843550"/>
            <a:ext cx="0" cy="5688106"/>
          </a:xfrm>
          <a:prstGeom prst="line">
            <a:avLst/>
          </a:prstGeom>
          <a:noFill/>
          <a:ln w="6350" cap="flat" cmpd="sng" algn="ctr">
            <a:solidFill>
              <a:srgbClr val="909090"/>
            </a:solidFill>
            <a:prstDash val="solid"/>
            <a:miter lim="800000"/>
          </a:ln>
          <a:effectLst/>
        </p:spPr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160E941-A950-4CDA-BB3F-3B402E7D8BCE}"/>
              </a:ext>
            </a:extLst>
          </p:cNvPr>
          <p:cNvSpPr/>
          <p:nvPr/>
        </p:nvSpPr>
        <p:spPr>
          <a:xfrm>
            <a:off x="5735783" y="1016483"/>
            <a:ext cx="709083" cy="642313"/>
          </a:xfrm>
          <a:prstGeom prst="ellipse">
            <a:avLst/>
          </a:prstGeom>
          <a:solidFill>
            <a:schemeClr val="accent4"/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>
                <a:solidFill>
                  <a:prstClr val="white"/>
                </a:solidFill>
                <a:latin typeface="Roboto Condensed (Body)"/>
              </a:rPr>
              <a:t>V/S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 (Body)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89300" y="1016483"/>
            <a:ext cx="3281083" cy="531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 (Body)"/>
              </a:rPr>
              <a:t>Schema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25848" y="1016483"/>
            <a:ext cx="3281083" cy="531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 (Body)"/>
              </a:rPr>
              <a:t>Instance</a:t>
            </a:r>
          </a:p>
        </p:txBody>
      </p:sp>
      <p:graphicFrame>
        <p:nvGraphicFramePr>
          <p:cNvPr id="11" name="Content Placeholder 10"/>
          <p:cNvGraphicFramePr>
            <a:graphicFrameLocks/>
          </p:cNvGraphicFramePr>
          <p:nvPr/>
        </p:nvGraphicFramePr>
        <p:xfrm>
          <a:off x="119848" y="1682987"/>
          <a:ext cx="5918946" cy="42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8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Overall logical design of the database</a:t>
                      </a:r>
                      <a:r>
                        <a:rPr lang="en-US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10"/>
          <p:cNvGraphicFramePr>
            <a:graphicFrameLocks/>
          </p:cNvGraphicFramePr>
          <p:nvPr/>
        </p:nvGraphicFramePr>
        <p:xfrm>
          <a:off x="6298379" y="1670197"/>
          <a:ext cx="5576295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6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Collection of information</a:t>
                      </a:r>
                      <a:r>
                        <a:rPr lang="en-US" sz="2200" b="0" baseline="0" dirty="0">
                          <a:solidFill>
                            <a:schemeClr val="tx1"/>
                          </a:solidFill>
                        </a:rPr>
                        <a:t> stored in the database</a:t>
                      </a:r>
                      <a:r>
                        <a:rPr lang="en-US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10"/>
          <p:cNvGraphicFramePr>
            <a:graphicFrameLocks/>
          </p:cNvGraphicFramePr>
          <p:nvPr/>
        </p:nvGraphicFramePr>
        <p:xfrm>
          <a:off x="119848" y="2319625"/>
          <a:ext cx="5918946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8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It</a:t>
                      </a:r>
                      <a:r>
                        <a:rPr lang="en-US" sz="2200" b="0" baseline="0" dirty="0">
                          <a:solidFill>
                            <a:schemeClr val="tx1"/>
                          </a:solidFill>
                        </a:rPr>
                        <a:t> includes table name, column name, data types and size of the columns, various constraints</a:t>
                      </a:r>
                      <a:endParaRPr lang="en-US" sz="22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Content Placeholder 10"/>
          <p:cNvGraphicFramePr>
            <a:graphicFrameLocks/>
          </p:cNvGraphicFramePr>
          <p:nvPr/>
        </p:nvGraphicFramePr>
        <p:xfrm>
          <a:off x="6263180" y="2365092"/>
          <a:ext cx="5576295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6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Actual data or information</a:t>
                      </a:r>
                      <a:r>
                        <a:rPr lang="en-US" sz="2200" b="0" baseline="0" dirty="0">
                          <a:solidFill>
                            <a:schemeClr val="tx1"/>
                          </a:solidFill>
                        </a:rPr>
                        <a:t> stored in table in form of different records or row</a:t>
                      </a:r>
                      <a:endParaRPr lang="en-US" sz="22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Content Placeholder 10"/>
          <p:cNvGraphicFramePr>
            <a:graphicFrameLocks/>
          </p:cNvGraphicFramePr>
          <p:nvPr/>
        </p:nvGraphicFramePr>
        <p:xfrm>
          <a:off x="119848" y="3081625"/>
          <a:ext cx="5918946" cy="42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8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It changes infrequently</a:t>
                      </a: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Content Placeholder 10"/>
          <p:cNvGraphicFramePr>
            <a:graphicFrameLocks/>
          </p:cNvGraphicFramePr>
          <p:nvPr/>
        </p:nvGraphicFramePr>
        <p:xfrm>
          <a:off x="6236794" y="3168001"/>
          <a:ext cx="5576295" cy="42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6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Changes frequently.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Content Placeholder 10"/>
          <p:cNvGraphicFramePr>
            <a:graphicFrameLocks/>
          </p:cNvGraphicFramePr>
          <p:nvPr/>
        </p:nvGraphicFramePr>
        <p:xfrm>
          <a:off x="119848" y="3547287"/>
          <a:ext cx="5918946" cy="2042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8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en-US" sz="2200" b="0" baseline="0" dirty="0">
                          <a:solidFill>
                            <a:schemeClr val="tx1"/>
                          </a:solidFill>
                        </a:rPr>
                        <a:t> example: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200" b="0" baseline="0" dirty="0">
                          <a:solidFill>
                            <a:schemeClr val="tx1"/>
                          </a:solidFill>
                        </a:rPr>
                        <a:t>Create new table/columns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200" b="0" baseline="0" dirty="0">
                          <a:solidFill>
                            <a:schemeClr val="tx1"/>
                          </a:solidFill>
                        </a:rPr>
                        <a:t>Drop existing table/columns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200" b="0" baseline="0" dirty="0">
                          <a:solidFill>
                            <a:schemeClr val="tx1"/>
                          </a:solidFill>
                        </a:rPr>
                        <a:t>Existing changes in data types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200" b="0" baseline="0" dirty="0">
                          <a:solidFill>
                            <a:schemeClr val="tx1"/>
                          </a:solidFill>
                        </a:rPr>
                        <a:t>Changes in size or constraints on any column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Content Placeholder 10"/>
          <p:cNvGraphicFramePr>
            <a:graphicFrameLocks/>
          </p:cNvGraphicFramePr>
          <p:nvPr/>
        </p:nvGraphicFramePr>
        <p:xfrm>
          <a:off x="6236793" y="3551952"/>
          <a:ext cx="5576295" cy="1432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6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en-US" sz="2200" b="0" baseline="0" dirty="0">
                          <a:solidFill>
                            <a:schemeClr val="tx1"/>
                          </a:solidFill>
                        </a:rPr>
                        <a:t> example: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200" b="0" baseline="0" dirty="0">
                          <a:solidFill>
                            <a:schemeClr val="tx1"/>
                          </a:solidFill>
                        </a:rPr>
                        <a:t>Insert new record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200" b="0" baseline="0" dirty="0">
                          <a:solidFill>
                            <a:schemeClr val="tx1"/>
                          </a:solidFill>
                        </a:rPr>
                        <a:t>Update existing record 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200" b="0" baseline="0" dirty="0">
                          <a:solidFill>
                            <a:schemeClr val="tx1"/>
                          </a:solidFill>
                        </a:rPr>
                        <a:t>Remove/Delete existing record 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40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Sub-schema</a:t>
            </a:r>
          </a:p>
          <a:p>
            <a:pPr lvl="1"/>
            <a:r>
              <a:rPr lang="en-IN" sz="2200" dirty="0"/>
              <a:t>It is </a:t>
            </a:r>
            <a:r>
              <a:rPr lang="en-IN" sz="2200" b="1" dirty="0">
                <a:solidFill>
                  <a:schemeClr val="accent6"/>
                </a:solidFill>
              </a:rPr>
              <a:t>subset</a:t>
            </a:r>
            <a:r>
              <a:rPr lang="en-IN" sz="2200" dirty="0"/>
              <a:t> of the </a:t>
            </a:r>
            <a:r>
              <a:rPr lang="en-IN" sz="2200" b="1" dirty="0">
                <a:solidFill>
                  <a:schemeClr val="accent6"/>
                </a:solidFill>
              </a:rPr>
              <a:t>schema</a:t>
            </a:r>
            <a:r>
              <a:rPr lang="en-IN" sz="2200" dirty="0"/>
              <a:t>. </a:t>
            </a:r>
          </a:p>
          <a:p>
            <a:pPr lvl="1"/>
            <a:r>
              <a:rPr lang="en-IN" sz="2200" dirty="0"/>
              <a:t>It inherits  property from schema. </a:t>
            </a:r>
          </a:p>
          <a:p>
            <a:pPr lvl="1"/>
            <a:r>
              <a:rPr lang="en-IN" sz="2200" b="1" dirty="0">
                <a:solidFill>
                  <a:schemeClr val="accent6"/>
                </a:solidFill>
              </a:rPr>
              <a:t>View</a:t>
            </a:r>
            <a:r>
              <a:rPr lang="en-IN" sz="2200" dirty="0"/>
              <a:t> is also known as “Sub-schema”.</a:t>
            </a:r>
          </a:p>
          <a:p>
            <a:pPr lvl="1"/>
            <a:r>
              <a:rPr lang="en-IN" sz="2200" dirty="0"/>
              <a:t>Sub-schema allows Application programmer or user to see different view as per the access allocated them by DBA. 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685380" y="3813360"/>
          <a:ext cx="5070955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12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7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0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10400.00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VIRAR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25000.00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ANDHERI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17750.00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POWAI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18900.00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BORIVALI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7016662" y="3810801"/>
          <a:ext cx="4302502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43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10400.00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VIRAR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 Same Side Corner Rectangle 5"/>
          <p:cNvSpPr/>
          <p:nvPr/>
        </p:nvSpPr>
        <p:spPr>
          <a:xfrm>
            <a:off x="4036573" y="3209604"/>
            <a:ext cx="1728592" cy="588723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Employee VIEW</a:t>
            </a:r>
          </a:p>
        </p:txBody>
      </p:sp>
      <p:sp>
        <p:nvSpPr>
          <p:cNvPr id="7" name="Round Same Side Corner Rectangle 6"/>
          <p:cNvSpPr/>
          <p:nvPr/>
        </p:nvSpPr>
        <p:spPr>
          <a:xfrm>
            <a:off x="9589982" y="3212391"/>
            <a:ext cx="1728592" cy="588723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Customer VIEW</a:t>
            </a:r>
          </a:p>
        </p:txBody>
      </p:sp>
    </p:spTree>
    <p:extLst>
      <p:ext uri="{BB962C8B-B14F-4D97-AF65-F5344CB8AC3E}">
        <p14:creationId xmlns:p14="http://schemas.microsoft.com/office/powerpoint/2010/main" val="279957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2020F-870A-E976-3679-20BD4578C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E4F5D6-AA75-C516-3B76-499F647CF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latin typeface="Roboto Condensed (Body)"/>
              </a:rPr>
              <a:t>Mapping and Data Independence</a:t>
            </a:r>
            <a:endParaRPr lang="en-US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D6B612-20E4-303A-211D-BB35DA12B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152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</a:t>
            </a:r>
          </a:p>
        </p:txBody>
      </p:sp>
      <p:sp>
        <p:nvSpPr>
          <p:cNvPr id="4" name="Title 3"/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effectLst/>
                <a:uLnTx/>
                <a:uFillTx/>
                <a:latin typeface="Roboto Condensed (Body)"/>
                <a:ea typeface="+mj-ea"/>
                <a:cs typeface="+mj-cs"/>
              </a:rPr>
              <a:t>Mapping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effectLst/>
              <a:uLnTx/>
              <a:uFillTx/>
              <a:latin typeface="Roboto Condensed (Body)"/>
              <a:ea typeface="+mj-ea"/>
              <a:cs typeface="+mj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240077" y="857182"/>
            <a:ext cx="8793271" cy="5765793"/>
            <a:chOff x="1240077" y="857182"/>
            <a:chExt cx="8793271" cy="5765793"/>
          </a:xfrm>
        </p:grpSpPr>
        <p:sp>
          <p:nvSpPr>
            <p:cNvPr id="6" name="Rounded Rectangle 5"/>
            <p:cNvSpPr/>
            <p:nvPr/>
          </p:nvSpPr>
          <p:spPr>
            <a:xfrm>
              <a:off x="3444358" y="3020867"/>
              <a:ext cx="4397233" cy="812097"/>
            </a:xfrm>
            <a:prstGeom prst="roundRect">
              <a:avLst/>
            </a:prstGeom>
            <a:solidFill>
              <a:srgbClr val="CDDC39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Roboto Condensed (Body)"/>
                </a:rPr>
                <a:t>CONCEPTUAL VIEW </a:t>
              </a:r>
            </a:p>
            <a:p>
              <a:pPr algn="ctr"/>
              <a:r>
                <a:rPr lang="en-US" sz="2400" b="1" dirty="0">
                  <a:latin typeface="Roboto Condensed (Body)"/>
                </a:rPr>
                <a:t>(LOGICAL LEVEL)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444358" y="4249984"/>
              <a:ext cx="4397233" cy="759905"/>
            </a:xfrm>
            <a:prstGeom prst="roundRect">
              <a:avLst/>
            </a:prstGeom>
            <a:solidFill>
              <a:srgbClr val="8CC346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Roboto Condensed (Body)"/>
                </a:rPr>
                <a:t>INTERNAL VIEW</a:t>
              </a:r>
            </a:p>
            <a:p>
              <a:pPr algn="ctr"/>
              <a:r>
                <a:rPr lang="en-US" sz="2400" b="1" dirty="0">
                  <a:latin typeface="Roboto Condensed (Body)"/>
                </a:rPr>
                <a:t>(PHYSICAL LEVEL)</a:t>
              </a:r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0912" y="5564697"/>
              <a:ext cx="869159" cy="759905"/>
            </a:xfrm>
            <a:prstGeom prst="rect">
              <a:avLst/>
            </a:prstGeom>
          </p:spPr>
        </p:pic>
        <p:cxnSp>
          <p:nvCxnSpPr>
            <p:cNvPr id="9" name="Straight Connector 8"/>
            <p:cNvCxnSpPr/>
            <p:nvPr/>
          </p:nvCxnSpPr>
          <p:spPr>
            <a:xfrm>
              <a:off x="3512857" y="2630553"/>
              <a:ext cx="4253280" cy="12438"/>
            </a:xfrm>
            <a:prstGeom prst="line">
              <a:avLst/>
            </a:prstGeom>
            <a:ln w="28575">
              <a:solidFill>
                <a:srgbClr val="387D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5638456" y="2649254"/>
              <a:ext cx="0" cy="371613"/>
            </a:xfrm>
            <a:prstGeom prst="straightConnector1">
              <a:avLst/>
            </a:prstGeom>
            <a:ln w="28575">
              <a:solidFill>
                <a:srgbClr val="387D8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5620009" y="3832964"/>
              <a:ext cx="0" cy="417020"/>
            </a:xfrm>
            <a:prstGeom prst="straightConnector1">
              <a:avLst/>
            </a:prstGeom>
            <a:ln w="28575">
              <a:solidFill>
                <a:srgbClr val="387D8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5620009" y="5009889"/>
              <a:ext cx="0" cy="554808"/>
            </a:xfrm>
            <a:prstGeom prst="straightConnector1">
              <a:avLst/>
            </a:prstGeom>
            <a:ln w="28575">
              <a:solidFill>
                <a:srgbClr val="387D8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 Single Corner Rectangle 12"/>
            <p:cNvSpPr/>
            <p:nvPr/>
          </p:nvSpPr>
          <p:spPr>
            <a:xfrm>
              <a:off x="1240077" y="857182"/>
              <a:ext cx="8793271" cy="1566603"/>
            </a:xfrm>
            <a:prstGeom prst="round1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b="1" dirty="0">
                  <a:solidFill>
                    <a:schemeClr val="accent1"/>
                  </a:solidFill>
                  <a:latin typeface="Roboto Condensed (Body)"/>
                </a:rPr>
                <a:t>EXTERNAL VIEW (VIEW LEVEL)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706879" y="1305464"/>
              <a:ext cx="2351315" cy="861075"/>
            </a:xfrm>
            <a:prstGeom prst="roundRect">
              <a:avLst/>
            </a:prstGeom>
            <a:solidFill>
              <a:srgbClr val="FEC107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Roboto Condensed (Body)"/>
                </a:rPr>
                <a:t>    VIEW 1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608734" y="1305464"/>
              <a:ext cx="2351315" cy="861075"/>
            </a:xfrm>
            <a:prstGeom prst="roundRect">
              <a:avLst/>
            </a:prstGeom>
            <a:solidFill>
              <a:srgbClr val="FF980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Roboto Condensed (Body)"/>
                </a:rPr>
                <a:t> VIEW 2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510589" y="1305464"/>
              <a:ext cx="2351315" cy="861075"/>
            </a:xfrm>
            <a:prstGeom prst="roundRect">
              <a:avLst/>
            </a:prstGeom>
            <a:solidFill>
              <a:srgbClr val="FE5722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Roboto Condensed (Body)"/>
                </a:rPr>
                <a:t>VIEW 3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3512857" y="2187621"/>
              <a:ext cx="0" cy="450937"/>
            </a:xfrm>
            <a:prstGeom prst="line">
              <a:avLst/>
            </a:prstGeom>
            <a:ln w="28575">
              <a:solidFill>
                <a:srgbClr val="387D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759180" y="2181358"/>
              <a:ext cx="0" cy="463463"/>
            </a:xfrm>
            <a:prstGeom prst="line">
              <a:avLst/>
            </a:prstGeom>
            <a:ln w="28575">
              <a:solidFill>
                <a:srgbClr val="387D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5637561" y="2168832"/>
              <a:ext cx="1" cy="463463"/>
            </a:xfrm>
            <a:prstGeom prst="line">
              <a:avLst/>
            </a:prstGeom>
            <a:ln w="28575">
              <a:solidFill>
                <a:srgbClr val="387D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5026842" y="6253643"/>
              <a:ext cx="12322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Roboto Condensed (Body)"/>
                </a:rPr>
                <a:t>DATABASE</a:t>
              </a: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4168" y="1425199"/>
              <a:ext cx="564342" cy="584075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0007" y="1381578"/>
              <a:ext cx="713984" cy="713984"/>
            </a:xfrm>
            <a:prstGeom prst="rect">
              <a:avLst/>
            </a:prstGeom>
          </p:spPr>
        </p:pic>
      </p:grpSp>
      <p:pic>
        <p:nvPicPr>
          <p:cNvPr id="23" name="Content Placeholder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635" y="300505"/>
            <a:ext cx="562940" cy="562940"/>
          </a:xfrm>
          <a:prstGeom prst="rect">
            <a:avLst/>
          </a:prstGeom>
        </p:spPr>
      </p:pic>
      <p:sp>
        <p:nvSpPr>
          <p:cNvPr id="24" name="Oval Callout 23"/>
          <p:cNvSpPr/>
          <p:nvPr/>
        </p:nvSpPr>
        <p:spPr>
          <a:xfrm>
            <a:off x="6661484" y="37543"/>
            <a:ext cx="2233134" cy="709155"/>
          </a:xfrm>
          <a:prstGeom prst="wedgeEllipseCallout">
            <a:avLst>
              <a:gd name="adj1" fmla="val -57498"/>
              <a:gd name="adj2" fmla="val 4075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  <a:latin typeface="Roboto Condensed (Body)"/>
              </a:rPr>
              <a:t>User Want to access data ?</a:t>
            </a:r>
          </a:p>
        </p:txBody>
      </p:sp>
      <p:sp>
        <p:nvSpPr>
          <p:cNvPr id="25" name="Pentagon 24"/>
          <p:cNvSpPr/>
          <p:nvPr/>
        </p:nvSpPr>
        <p:spPr>
          <a:xfrm rot="5400000">
            <a:off x="3796940" y="2703402"/>
            <a:ext cx="867211" cy="263316"/>
          </a:xfrm>
          <a:prstGeom prst="homePlate">
            <a:avLst>
              <a:gd name="adj" fmla="val 6145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6"/>
                </a:solidFill>
                <a:latin typeface="Roboto Condensed (Body)"/>
              </a:rPr>
              <a:t>REQUEST</a:t>
            </a:r>
          </a:p>
        </p:txBody>
      </p:sp>
      <p:sp>
        <p:nvSpPr>
          <p:cNvPr id="26" name="Pentagon 25"/>
          <p:cNvSpPr/>
          <p:nvPr/>
        </p:nvSpPr>
        <p:spPr>
          <a:xfrm rot="5400000">
            <a:off x="3796939" y="3921569"/>
            <a:ext cx="867211" cy="263316"/>
          </a:xfrm>
          <a:prstGeom prst="homePlate">
            <a:avLst>
              <a:gd name="adj" fmla="val 6145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6"/>
                </a:solidFill>
                <a:latin typeface="Roboto Condensed (Body)"/>
              </a:rPr>
              <a:t>REQUEST</a:t>
            </a:r>
          </a:p>
        </p:txBody>
      </p:sp>
      <p:sp>
        <p:nvSpPr>
          <p:cNvPr id="27" name="Pentagon 26"/>
          <p:cNvSpPr/>
          <p:nvPr/>
        </p:nvSpPr>
        <p:spPr>
          <a:xfrm rot="3597637">
            <a:off x="4243394" y="5378279"/>
            <a:ext cx="867211" cy="263316"/>
          </a:xfrm>
          <a:prstGeom prst="homePlate">
            <a:avLst>
              <a:gd name="adj" fmla="val 6145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6"/>
                </a:solidFill>
                <a:latin typeface="Roboto Condensed (Body)"/>
              </a:rPr>
              <a:t>REQUEST</a:t>
            </a:r>
          </a:p>
        </p:txBody>
      </p:sp>
      <p:sp>
        <p:nvSpPr>
          <p:cNvPr id="28" name="Pentagon 27"/>
          <p:cNvSpPr/>
          <p:nvPr/>
        </p:nvSpPr>
        <p:spPr>
          <a:xfrm rot="17899872">
            <a:off x="6097914" y="5345093"/>
            <a:ext cx="867211" cy="263316"/>
          </a:xfrm>
          <a:prstGeom prst="homePlate">
            <a:avLst>
              <a:gd name="adj" fmla="val 61451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3"/>
                </a:solidFill>
                <a:latin typeface="Roboto Condensed (Body)"/>
              </a:rPr>
              <a:t>REPLY</a:t>
            </a:r>
          </a:p>
        </p:txBody>
      </p:sp>
      <p:sp>
        <p:nvSpPr>
          <p:cNvPr id="29" name="Pentagon 28"/>
          <p:cNvSpPr/>
          <p:nvPr/>
        </p:nvSpPr>
        <p:spPr>
          <a:xfrm rot="16200000">
            <a:off x="7017284" y="4121339"/>
            <a:ext cx="867211" cy="263316"/>
          </a:xfrm>
          <a:prstGeom prst="homePlate">
            <a:avLst>
              <a:gd name="adj" fmla="val 61451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3"/>
                </a:solidFill>
                <a:latin typeface="Roboto Condensed (Body)"/>
              </a:rPr>
              <a:t>REPLY</a:t>
            </a:r>
          </a:p>
        </p:txBody>
      </p:sp>
      <p:sp>
        <p:nvSpPr>
          <p:cNvPr id="30" name="Pentagon 29"/>
          <p:cNvSpPr/>
          <p:nvPr/>
        </p:nvSpPr>
        <p:spPr>
          <a:xfrm rot="16200000">
            <a:off x="7022088" y="2827868"/>
            <a:ext cx="867211" cy="263316"/>
          </a:xfrm>
          <a:prstGeom prst="homePlate">
            <a:avLst>
              <a:gd name="adj" fmla="val 61451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3"/>
                </a:solidFill>
                <a:latin typeface="Roboto Condensed (Body)"/>
              </a:rPr>
              <a:t>REPLY</a:t>
            </a:r>
          </a:p>
        </p:txBody>
      </p:sp>
      <p:sp>
        <p:nvSpPr>
          <p:cNvPr id="31" name="Curved Up Arrow 30"/>
          <p:cNvSpPr/>
          <p:nvPr/>
        </p:nvSpPr>
        <p:spPr>
          <a:xfrm>
            <a:off x="4168955" y="2423785"/>
            <a:ext cx="3341634" cy="3140912"/>
          </a:xfrm>
          <a:prstGeom prst="curvedUpArrow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Roboto Condensed (Body)"/>
            </a:endParaRPr>
          </a:p>
        </p:txBody>
      </p:sp>
      <p:sp>
        <p:nvSpPr>
          <p:cNvPr id="32" name="Rounded Rectangular Callout 31"/>
          <p:cNvSpPr/>
          <p:nvPr/>
        </p:nvSpPr>
        <p:spPr>
          <a:xfrm>
            <a:off x="484909" y="5372339"/>
            <a:ext cx="3729645" cy="1029315"/>
          </a:xfrm>
          <a:prstGeom prst="wedgeRoundRectCallout">
            <a:avLst>
              <a:gd name="adj1" fmla="val 59307"/>
              <a:gd name="adj2" fmla="val -8983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Roboto Condensed (Body)"/>
              </a:rPr>
              <a:t>Process of transferring </a:t>
            </a:r>
            <a:r>
              <a:rPr lang="en-US" sz="2000" b="1" dirty="0">
                <a:solidFill>
                  <a:schemeClr val="accent6"/>
                </a:solidFill>
                <a:latin typeface="Roboto Condensed (Body)"/>
              </a:rPr>
              <a:t>requests</a:t>
            </a:r>
            <a:r>
              <a:rPr lang="en-US" sz="2000" dirty="0">
                <a:solidFill>
                  <a:schemeClr val="tx1"/>
                </a:solidFill>
                <a:latin typeface="Roboto Condensed (Body)"/>
              </a:rPr>
              <a:t> and </a:t>
            </a:r>
            <a:r>
              <a:rPr lang="en-US" sz="2000" b="1" dirty="0">
                <a:solidFill>
                  <a:schemeClr val="accent6"/>
                </a:solidFill>
                <a:latin typeface="Roboto Condensed (Body)"/>
              </a:rPr>
              <a:t>replies</a:t>
            </a:r>
            <a:r>
              <a:rPr lang="en-US" sz="2000" dirty="0">
                <a:solidFill>
                  <a:schemeClr val="tx1"/>
                </a:solidFill>
                <a:latin typeface="Roboto Condensed (Body)"/>
              </a:rPr>
              <a:t> between three levels is known as </a:t>
            </a:r>
            <a:r>
              <a:rPr lang="en-US" sz="2000" b="1" dirty="0">
                <a:solidFill>
                  <a:schemeClr val="accent6"/>
                </a:solidFill>
                <a:latin typeface="Roboto Condensed (Body)"/>
              </a:rPr>
              <a:t>Mapping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79" y="1422228"/>
            <a:ext cx="1155255" cy="6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8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0" y="807461"/>
            <a:ext cx="5806219" cy="5649046"/>
          </a:xfrm>
        </p:spPr>
        <p:txBody>
          <a:bodyPr/>
          <a:lstStyle/>
          <a:p>
            <a:r>
              <a:rPr lang="en-US" b="1" dirty="0"/>
              <a:t>Internal Mapping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Relates conceptual view with internal view.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Specifies how conceptual records &amp; field are presented.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Provide physical independence.</a:t>
            </a:r>
          </a:p>
          <a:p>
            <a:r>
              <a:rPr lang="en-US" b="1" dirty="0"/>
              <a:t>External Mapping 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Relates each external schema with conceptual schema.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Several mapping between external and conceptual schema.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Provide Logical independence.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grpSp>
        <p:nvGrpSpPr>
          <p:cNvPr id="2" name="Group 5"/>
          <p:cNvGrpSpPr/>
          <p:nvPr/>
        </p:nvGrpSpPr>
        <p:grpSpPr>
          <a:xfrm>
            <a:off x="7227517" y="1227550"/>
            <a:ext cx="4833304" cy="4583271"/>
            <a:chOff x="7240043" y="1302707"/>
            <a:chExt cx="4833304" cy="4583271"/>
          </a:xfrm>
        </p:grpSpPr>
        <p:grpSp>
          <p:nvGrpSpPr>
            <p:cNvPr id="3" name="Group 6"/>
            <p:cNvGrpSpPr/>
            <p:nvPr/>
          </p:nvGrpSpPr>
          <p:grpSpPr>
            <a:xfrm>
              <a:off x="7240043" y="1302705"/>
              <a:ext cx="4833304" cy="4583270"/>
              <a:chOff x="1240075" y="671393"/>
              <a:chExt cx="8793273" cy="6208016"/>
            </a:xfrm>
          </p:grpSpPr>
          <p:sp>
            <p:nvSpPr>
              <p:cNvPr id="10" name="Rounded Rectangle 9"/>
              <p:cNvSpPr/>
              <p:nvPr/>
            </p:nvSpPr>
            <p:spPr>
              <a:xfrm>
                <a:off x="1240075" y="3020867"/>
                <a:ext cx="8793271" cy="812097"/>
              </a:xfrm>
              <a:prstGeom prst="roundRect">
                <a:avLst/>
              </a:prstGeom>
              <a:solidFill>
                <a:srgbClr val="CDDC39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CONCEPTUAL VIEW</a:t>
                </a:r>
              </a:p>
              <a:p>
                <a:pPr algn="ctr"/>
                <a:r>
                  <a:rPr lang="en-US" sz="1400" b="1" dirty="0"/>
                  <a:t>(LOGICAL LEVEL) 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1240075" y="4249984"/>
                <a:ext cx="8793271" cy="759905"/>
              </a:xfrm>
              <a:prstGeom prst="roundRect">
                <a:avLst/>
              </a:prstGeom>
              <a:solidFill>
                <a:srgbClr val="8CC346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INTERNAL VIEW</a:t>
                </a:r>
              </a:p>
              <a:p>
                <a:pPr algn="ctr"/>
                <a:r>
                  <a:rPr lang="en-US" sz="1400" b="1" dirty="0"/>
                  <a:t>(PHYSICAL LEVEL)</a:t>
                </a:r>
              </a:p>
            </p:txBody>
          </p:sp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9736" y="5564697"/>
                <a:ext cx="935914" cy="759905"/>
              </a:xfrm>
              <a:prstGeom prst="rect">
                <a:avLst/>
              </a:prstGeom>
            </p:spPr>
          </p:pic>
          <p:cxnSp>
            <p:nvCxnSpPr>
              <p:cNvPr id="13" name="Straight Connector 12"/>
              <p:cNvCxnSpPr/>
              <p:nvPr/>
            </p:nvCxnSpPr>
            <p:spPr>
              <a:xfrm>
                <a:off x="3512857" y="2630553"/>
                <a:ext cx="4253280" cy="12438"/>
              </a:xfrm>
              <a:prstGeom prst="line">
                <a:avLst/>
              </a:prstGeom>
              <a:ln w="28575">
                <a:solidFill>
                  <a:srgbClr val="387D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>
                <a:off x="5638456" y="2649254"/>
                <a:ext cx="0" cy="371613"/>
              </a:xfrm>
              <a:prstGeom prst="straightConnector1">
                <a:avLst/>
              </a:prstGeom>
              <a:ln w="28575">
                <a:solidFill>
                  <a:srgbClr val="387D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>
                <a:off x="5620009" y="3832964"/>
                <a:ext cx="0" cy="417020"/>
              </a:xfrm>
              <a:prstGeom prst="straightConnector1">
                <a:avLst/>
              </a:prstGeom>
              <a:ln w="28575">
                <a:solidFill>
                  <a:srgbClr val="387D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>
                <a:off x="5620009" y="5009889"/>
                <a:ext cx="0" cy="554808"/>
              </a:xfrm>
              <a:prstGeom prst="straightConnector1">
                <a:avLst/>
              </a:prstGeom>
              <a:ln w="28575">
                <a:solidFill>
                  <a:srgbClr val="387D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ound Single Corner Rectangle 16"/>
              <p:cNvSpPr/>
              <p:nvPr/>
            </p:nvSpPr>
            <p:spPr>
              <a:xfrm>
                <a:off x="1240077" y="671393"/>
                <a:ext cx="8793271" cy="1752395"/>
              </a:xfrm>
              <a:prstGeom prst="round1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600" b="1" dirty="0">
                    <a:solidFill>
                      <a:schemeClr val="accent1"/>
                    </a:solidFill>
                  </a:rPr>
                  <a:t>EXTERNAL VIEW (VIEW LEVEL)</a:t>
                </a:r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1706879" y="1305464"/>
                <a:ext cx="2293352" cy="770281"/>
              </a:xfrm>
              <a:prstGeom prst="roundRect">
                <a:avLst/>
              </a:prstGeom>
              <a:solidFill>
                <a:srgbClr val="FEC107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    </a:t>
                </a:r>
                <a:r>
                  <a:rPr lang="en-US" sz="1400" b="1" dirty="0"/>
                  <a:t>VIEW 1</a:t>
                </a:r>
                <a:endParaRPr lang="en-US" b="1" dirty="0"/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4608735" y="1305464"/>
                <a:ext cx="2351315" cy="770281"/>
              </a:xfrm>
              <a:prstGeom prst="roundRect">
                <a:avLst/>
              </a:prstGeom>
              <a:solidFill>
                <a:srgbClr val="FF980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    </a:t>
                </a:r>
                <a:r>
                  <a:rPr lang="en-US" sz="1400" b="1" dirty="0"/>
                  <a:t>VIEW 2</a:t>
                </a:r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7510589" y="1305464"/>
                <a:ext cx="2351315" cy="770281"/>
              </a:xfrm>
              <a:prstGeom prst="roundRect">
                <a:avLst/>
              </a:prstGeom>
              <a:solidFill>
                <a:srgbClr val="FE5722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   </a:t>
                </a:r>
                <a:r>
                  <a:rPr lang="en-US" sz="1400" b="1" dirty="0"/>
                  <a:t>VIEW 3</a:t>
                </a:r>
                <a:endParaRPr lang="en-US" b="1" dirty="0"/>
              </a:p>
            </p:txBody>
          </p:sp>
          <p:cxnSp>
            <p:nvCxnSpPr>
              <p:cNvPr id="21" name="Straight Connector 20"/>
              <p:cNvCxnSpPr/>
              <p:nvPr/>
            </p:nvCxnSpPr>
            <p:spPr>
              <a:xfrm>
                <a:off x="3512858" y="2089373"/>
                <a:ext cx="0" cy="545634"/>
              </a:xfrm>
              <a:prstGeom prst="line">
                <a:avLst/>
              </a:prstGeom>
              <a:ln w="28575">
                <a:solidFill>
                  <a:srgbClr val="387D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4464428" y="6292477"/>
                <a:ext cx="2311160" cy="586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DATABASE</a:t>
                </a:r>
              </a:p>
            </p:txBody>
          </p:sp>
          <p:pic>
            <p:nvPicPr>
              <p:cNvPr id="23" name="Picture 22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21668" y="1443964"/>
                <a:ext cx="564342" cy="584074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36920" y="1433405"/>
                <a:ext cx="601640" cy="528929"/>
              </a:xfrm>
              <a:prstGeom prst="rect">
                <a:avLst/>
              </a:prstGeom>
            </p:spPr>
          </p:pic>
        </p:grpSp>
        <p:cxnSp>
          <p:nvCxnSpPr>
            <p:cNvPr id="8" name="Straight Connector 7"/>
            <p:cNvCxnSpPr/>
            <p:nvPr/>
          </p:nvCxnSpPr>
          <p:spPr>
            <a:xfrm>
              <a:off x="9656695" y="2339516"/>
              <a:ext cx="0" cy="402832"/>
            </a:xfrm>
            <a:prstGeom prst="line">
              <a:avLst/>
            </a:prstGeom>
            <a:ln w="28575">
              <a:solidFill>
                <a:srgbClr val="387D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0827154" y="2339516"/>
              <a:ext cx="0" cy="418788"/>
            </a:xfrm>
            <a:prstGeom prst="line">
              <a:avLst/>
            </a:prstGeom>
            <a:ln w="28575">
              <a:solidFill>
                <a:srgbClr val="387D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ound Same Side Corner Rectangle 24"/>
          <p:cNvSpPr/>
          <p:nvPr/>
        </p:nvSpPr>
        <p:spPr>
          <a:xfrm>
            <a:off x="5968184" y="3443784"/>
            <a:ext cx="1008494" cy="592841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accent6"/>
                </a:solidFill>
              </a:rPr>
              <a:t>Internal Mapping </a:t>
            </a:r>
          </a:p>
        </p:txBody>
      </p:sp>
      <p:sp>
        <p:nvSpPr>
          <p:cNvPr id="26" name="Round Same Side Corner Rectangle 25"/>
          <p:cNvSpPr/>
          <p:nvPr/>
        </p:nvSpPr>
        <p:spPr>
          <a:xfrm>
            <a:off x="5954756" y="2286093"/>
            <a:ext cx="1008494" cy="592841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accent6"/>
                </a:solidFill>
              </a:rPr>
              <a:t>External Mapping </a:t>
            </a:r>
          </a:p>
        </p:txBody>
      </p:sp>
      <p:sp>
        <p:nvSpPr>
          <p:cNvPr id="27" name="Right Bracket 26"/>
          <p:cNvSpPr/>
          <p:nvPr/>
        </p:nvSpPr>
        <p:spPr>
          <a:xfrm flipH="1">
            <a:off x="6976678" y="2191512"/>
            <a:ext cx="237412" cy="905502"/>
          </a:xfrm>
          <a:prstGeom prst="rightBracket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ket 27"/>
          <p:cNvSpPr/>
          <p:nvPr/>
        </p:nvSpPr>
        <p:spPr>
          <a:xfrm flipH="1">
            <a:off x="6976678" y="3277515"/>
            <a:ext cx="239180" cy="925381"/>
          </a:xfrm>
          <a:prstGeom prst="rightBracket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170" y="1803698"/>
            <a:ext cx="757676" cy="419667"/>
          </a:xfrm>
          <a:prstGeom prst="rect">
            <a:avLst/>
          </a:prstGeom>
        </p:spPr>
      </p:pic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Internal Mapping and External Mappings</a:t>
            </a:r>
          </a:p>
        </p:txBody>
      </p:sp>
    </p:spTree>
    <p:extLst>
      <p:ext uri="{BB962C8B-B14F-4D97-AF65-F5344CB8AC3E}">
        <p14:creationId xmlns:p14="http://schemas.microsoft.com/office/powerpoint/2010/main" val="392830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Independence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effectLst/>
                <a:uLnTx/>
                <a:uFillTx/>
                <a:latin typeface="Roboto Condensed (Body)"/>
                <a:ea typeface="+mj-ea"/>
                <a:cs typeface="+mj-cs"/>
              </a:rPr>
              <a:t>Data Independence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240077" y="857182"/>
            <a:ext cx="8793271" cy="5765793"/>
            <a:chOff x="1240077" y="857182"/>
            <a:chExt cx="8793271" cy="5765793"/>
          </a:xfrm>
        </p:grpSpPr>
        <p:sp>
          <p:nvSpPr>
            <p:cNvPr id="11" name="Rounded Rectangle 10"/>
            <p:cNvSpPr/>
            <p:nvPr/>
          </p:nvSpPr>
          <p:spPr>
            <a:xfrm>
              <a:off x="3444358" y="3020867"/>
              <a:ext cx="4397233" cy="812097"/>
            </a:xfrm>
            <a:prstGeom prst="roundRect">
              <a:avLst/>
            </a:prstGeom>
            <a:solidFill>
              <a:srgbClr val="CDDC39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Roboto Condensed (Body)"/>
                </a:rPr>
                <a:t>CONCEPTUAL VIEW </a:t>
              </a:r>
            </a:p>
            <a:p>
              <a:pPr algn="ctr"/>
              <a:r>
                <a:rPr lang="en-US" sz="2400" b="1" dirty="0">
                  <a:latin typeface="Roboto Condensed (Body)"/>
                </a:rPr>
                <a:t>(LOGICAL LEVEL)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444358" y="4249984"/>
              <a:ext cx="4397233" cy="759905"/>
            </a:xfrm>
            <a:prstGeom prst="roundRect">
              <a:avLst/>
            </a:prstGeom>
            <a:solidFill>
              <a:srgbClr val="8CC346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Roboto Condensed (Body)"/>
                </a:rPr>
                <a:t>INTERNAL VIEW</a:t>
              </a:r>
            </a:p>
            <a:p>
              <a:pPr algn="ctr"/>
              <a:r>
                <a:rPr lang="en-US" sz="2400" b="1" dirty="0">
                  <a:latin typeface="Roboto Condensed (Body)"/>
                </a:rPr>
                <a:t>(PHYSICAL LEVEL)</a:t>
              </a: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0912" y="5564697"/>
              <a:ext cx="869159" cy="759905"/>
            </a:xfrm>
            <a:prstGeom prst="rect">
              <a:avLst/>
            </a:prstGeom>
          </p:spPr>
        </p:pic>
        <p:cxnSp>
          <p:nvCxnSpPr>
            <p:cNvPr id="14" name="Straight Connector 13"/>
            <p:cNvCxnSpPr/>
            <p:nvPr/>
          </p:nvCxnSpPr>
          <p:spPr>
            <a:xfrm>
              <a:off x="3512857" y="2630553"/>
              <a:ext cx="4253280" cy="12438"/>
            </a:xfrm>
            <a:prstGeom prst="line">
              <a:avLst/>
            </a:prstGeom>
            <a:ln w="28575">
              <a:solidFill>
                <a:srgbClr val="387D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638456" y="2649254"/>
              <a:ext cx="0" cy="371613"/>
            </a:xfrm>
            <a:prstGeom prst="straightConnector1">
              <a:avLst/>
            </a:prstGeom>
            <a:ln w="28575">
              <a:solidFill>
                <a:srgbClr val="387D8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620009" y="3832964"/>
              <a:ext cx="0" cy="417020"/>
            </a:xfrm>
            <a:prstGeom prst="straightConnector1">
              <a:avLst/>
            </a:prstGeom>
            <a:ln w="28575">
              <a:solidFill>
                <a:srgbClr val="387D8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5620009" y="5009889"/>
              <a:ext cx="0" cy="554808"/>
            </a:xfrm>
            <a:prstGeom prst="straightConnector1">
              <a:avLst/>
            </a:prstGeom>
            <a:ln w="28575">
              <a:solidFill>
                <a:srgbClr val="387D8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 Single Corner Rectangle 17"/>
            <p:cNvSpPr/>
            <p:nvPr/>
          </p:nvSpPr>
          <p:spPr>
            <a:xfrm>
              <a:off x="1240077" y="857182"/>
              <a:ext cx="8793271" cy="1566603"/>
            </a:xfrm>
            <a:prstGeom prst="round1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b="1" dirty="0">
                  <a:solidFill>
                    <a:schemeClr val="accent1"/>
                  </a:solidFill>
                  <a:latin typeface="Roboto Condensed (Body)"/>
                </a:rPr>
                <a:t>EXTERNAL VIEW (VIEW LEVEL)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706879" y="1305464"/>
              <a:ext cx="2351315" cy="861075"/>
            </a:xfrm>
            <a:prstGeom prst="roundRect">
              <a:avLst/>
            </a:prstGeom>
            <a:solidFill>
              <a:srgbClr val="FEC107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Roboto Condensed (Body)"/>
                </a:rPr>
                <a:t>    VIEW 1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608734" y="1305464"/>
              <a:ext cx="2351315" cy="861075"/>
            </a:xfrm>
            <a:prstGeom prst="roundRect">
              <a:avLst/>
            </a:prstGeom>
            <a:solidFill>
              <a:srgbClr val="FF980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Roboto Condensed (Body)"/>
                </a:rPr>
                <a:t> VIEW 2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510589" y="1305464"/>
              <a:ext cx="2351315" cy="861075"/>
            </a:xfrm>
            <a:prstGeom prst="roundRect">
              <a:avLst/>
            </a:prstGeom>
            <a:solidFill>
              <a:srgbClr val="FE5722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Roboto Condensed (Body)"/>
                </a:rPr>
                <a:t>VIEW 3</a:t>
              </a: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3512857" y="2187621"/>
              <a:ext cx="0" cy="450937"/>
            </a:xfrm>
            <a:prstGeom prst="line">
              <a:avLst/>
            </a:prstGeom>
            <a:ln w="28575">
              <a:solidFill>
                <a:srgbClr val="387D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7759180" y="2181358"/>
              <a:ext cx="0" cy="463463"/>
            </a:xfrm>
            <a:prstGeom prst="line">
              <a:avLst/>
            </a:prstGeom>
            <a:ln w="28575">
              <a:solidFill>
                <a:srgbClr val="387D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5637561" y="2168832"/>
              <a:ext cx="1" cy="463463"/>
            </a:xfrm>
            <a:prstGeom prst="line">
              <a:avLst/>
            </a:prstGeom>
            <a:ln w="28575">
              <a:solidFill>
                <a:srgbClr val="387D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5026842" y="6253643"/>
              <a:ext cx="12322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Roboto Condensed (Body)"/>
                </a:rPr>
                <a:t>DATABASE</a:t>
              </a:r>
            </a:p>
          </p:txBody>
        </p: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4168" y="1425199"/>
              <a:ext cx="564342" cy="584075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0007" y="1381578"/>
              <a:ext cx="713984" cy="713984"/>
            </a:xfrm>
            <a:prstGeom prst="rect">
              <a:avLst/>
            </a:prstGeom>
          </p:spPr>
        </p:pic>
      </p:grpSp>
      <p:sp>
        <p:nvSpPr>
          <p:cNvPr id="28" name="Rounded Rectangle 27"/>
          <p:cNvSpPr/>
          <p:nvPr/>
        </p:nvSpPr>
        <p:spPr>
          <a:xfrm>
            <a:off x="216321" y="2780019"/>
            <a:ext cx="2914805" cy="21058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2200" b="1" dirty="0">
                <a:solidFill>
                  <a:schemeClr val="accent6"/>
                </a:solidFill>
                <a:latin typeface="Roboto Condensed (Body)"/>
              </a:rPr>
              <a:t>Ability to modify a schema </a:t>
            </a:r>
            <a:r>
              <a:rPr lang="en-IN" sz="2200" dirty="0">
                <a:solidFill>
                  <a:schemeClr val="tx1"/>
                </a:solidFill>
                <a:latin typeface="Roboto Condensed (Body)"/>
              </a:rPr>
              <a:t>definition in one level </a:t>
            </a:r>
            <a:r>
              <a:rPr lang="en-IN" sz="2200" b="1" dirty="0">
                <a:solidFill>
                  <a:schemeClr val="accent6"/>
                </a:solidFill>
                <a:latin typeface="Roboto Condensed (Body)"/>
              </a:rPr>
              <a:t>without affecting</a:t>
            </a:r>
            <a:r>
              <a:rPr lang="en-IN" sz="2200" dirty="0">
                <a:solidFill>
                  <a:schemeClr val="tx1"/>
                </a:solidFill>
                <a:latin typeface="Roboto Condensed (Body)"/>
              </a:rPr>
              <a:t> a schema definition in the next higher level</a:t>
            </a:r>
            <a:endParaRPr lang="en-US" sz="2200" b="1" dirty="0">
              <a:solidFill>
                <a:schemeClr val="tx2"/>
              </a:solidFill>
              <a:latin typeface="Roboto Condensed (Body)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6321" y="5141977"/>
            <a:ext cx="37737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6"/>
                </a:solidFill>
                <a:latin typeface="Roboto Condensed (Body)"/>
              </a:rPr>
              <a:t>1. Physical Data Independence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6321" y="5602372"/>
            <a:ext cx="35521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6"/>
                </a:solidFill>
                <a:latin typeface="Roboto Condensed (Body)"/>
              </a:rPr>
              <a:t>2. Logical Data Independence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79" y="1422228"/>
            <a:ext cx="1155255" cy="6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60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effectLst/>
                <a:uLnTx/>
                <a:uFillTx/>
                <a:latin typeface="Roboto Condensed (Body)"/>
                <a:ea typeface="+mj-ea"/>
                <a:cs typeface="+mj-cs"/>
              </a:rPr>
              <a:t>Data Independence(Conti..)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0" y="606704"/>
            <a:ext cx="7479642" cy="35476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Roboto Condensed (Body)"/>
              </a:rPr>
              <a:t>Physical Data Independence</a:t>
            </a:r>
          </a:p>
          <a:p>
            <a:pPr marL="914400" lvl="1" indent="-457200" algn="just">
              <a:spcBef>
                <a:spcPts val="500"/>
              </a:spcBef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(Body)"/>
              </a:rPr>
              <a:t>Physical Data Independence is the </a:t>
            </a: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Roboto Condensed (Body)"/>
              </a:rPr>
              <a:t>ability to modify the physical schema</a:t>
            </a: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(Body)"/>
              </a:rPr>
              <a:t> without requiring any change in logical (conceptual) schema and application programs.</a:t>
            </a:r>
          </a:p>
          <a:p>
            <a:pPr marL="914400" lvl="1" indent="-457200" algn="just">
              <a:spcBef>
                <a:spcPts val="500"/>
              </a:spcBef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(Body)"/>
              </a:rPr>
              <a:t>Modifications at the internal levels are occasionally necessary to </a:t>
            </a: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Roboto Condensed (Body)"/>
              </a:rPr>
              <a:t>improve performance</a:t>
            </a: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Roboto Condensed (Body)"/>
              </a:rPr>
              <a:t>.</a:t>
            </a:r>
          </a:p>
          <a:p>
            <a:pPr marL="914400" lvl="1" indent="-457200" algn="just">
              <a:spcBef>
                <a:spcPts val="500"/>
              </a:spcBef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(Body)"/>
              </a:rPr>
              <a:t>Possible modifications at internal levels are changes in file structures, compression techniques, hashing algorithms, storage devices, etc.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610822" y="1603330"/>
            <a:ext cx="4550207" cy="4154745"/>
            <a:chOff x="7240044" y="1302705"/>
            <a:chExt cx="4833303" cy="4446392"/>
          </a:xfrm>
        </p:grpSpPr>
        <p:grpSp>
          <p:nvGrpSpPr>
            <p:cNvPr id="11" name="Group 10"/>
            <p:cNvGrpSpPr/>
            <p:nvPr/>
          </p:nvGrpSpPr>
          <p:grpSpPr>
            <a:xfrm>
              <a:off x="7240044" y="1302705"/>
              <a:ext cx="4833303" cy="4446392"/>
              <a:chOff x="1240077" y="671393"/>
              <a:chExt cx="8793271" cy="6022615"/>
            </a:xfrm>
          </p:grpSpPr>
          <p:sp>
            <p:nvSpPr>
              <p:cNvPr id="14" name="Rounded Rectangle 13"/>
              <p:cNvSpPr/>
              <p:nvPr/>
            </p:nvSpPr>
            <p:spPr>
              <a:xfrm>
                <a:off x="3444358" y="3020867"/>
                <a:ext cx="4397233" cy="812097"/>
              </a:xfrm>
              <a:prstGeom prst="roundRect">
                <a:avLst/>
              </a:prstGeom>
              <a:solidFill>
                <a:srgbClr val="CDDC39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latin typeface="Roboto Condensed (Body)"/>
                  </a:rPr>
                  <a:t>CONCEPTUAL VIEW</a:t>
                </a:r>
              </a:p>
              <a:p>
                <a:pPr algn="ctr"/>
                <a:r>
                  <a:rPr lang="en-US" sz="1400" b="1" dirty="0">
                    <a:latin typeface="Roboto Condensed (Body)"/>
                  </a:rPr>
                  <a:t>(LOGICAL LEVEL) </a:t>
                </a:r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3444358" y="4249984"/>
                <a:ext cx="4397233" cy="759905"/>
              </a:xfrm>
              <a:prstGeom prst="roundRect">
                <a:avLst/>
              </a:prstGeom>
              <a:solidFill>
                <a:srgbClr val="8CC346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latin typeface="Roboto Condensed (Body)"/>
                  </a:rPr>
                  <a:t>INTERNAL VIEW</a:t>
                </a:r>
              </a:p>
              <a:p>
                <a:pPr algn="ctr"/>
                <a:r>
                  <a:rPr lang="en-US" sz="1400" b="1" dirty="0">
                    <a:latin typeface="Roboto Condensed (Body)"/>
                  </a:rPr>
                  <a:t>(PHYSICAL LEVEL)</a:t>
                </a:r>
              </a:p>
            </p:txBody>
          </p:sp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80912" y="5564697"/>
                <a:ext cx="869159" cy="759905"/>
              </a:xfrm>
              <a:prstGeom prst="rect">
                <a:avLst/>
              </a:prstGeom>
            </p:spPr>
          </p:pic>
          <p:cxnSp>
            <p:nvCxnSpPr>
              <p:cNvPr id="17" name="Straight Connector 16"/>
              <p:cNvCxnSpPr/>
              <p:nvPr/>
            </p:nvCxnSpPr>
            <p:spPr>
              <a:xfrm>
                <a:off x="3512857" y="2630553"/>
                <a:ext cx="4253280" cy="12438"/>
              </a:xfrm>
              <a:prstGeom prst="line">
                <a:avLst/>
              </a:prstGeom>
              <a:ln w="28575">
                <a:solidFill>
                  <a:srgbClr val="387D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>
                <a:off x="5638456" y="2649254"/>
                <a:ext cx="0" cy="371613"/>
              </a:xfrm>
              <a:prstGeom prst="straightConnector1">
                <a:avLst/>
              </a:prstGeom>
              <a:ln w="28575">
                <a:solidFill>
                  <a:srgbClr val="387D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>
                <a:off x="5620009" y="3832964"/>
                <a:ext cx="0" cy="417020"/>
              </a:xfrm>
              <a:prstGeom prst="straightConnector1">
                <a:avLst/>
              </a:prstGeom>
              <a:ln w="28575">
                <a:solidFill>
                  <a:srgbClr val="387D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>
                <a:off x="5620009" y="5009889"/>
                <a:ext cx="0" cy="554808"/>
              </a:xfrm>
              <a:prstGeom prst="straightConnector1">
                <a:avLst/>
              </a:prstGeom>
              <a:ln w="28575">
                <a:solidFill>
                  <a:srgbClr val="387D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ound Single Corner Rectangle 20"/>
              <p:cNvSpPr/>
              <p:nvPr/>
            </p:nvSpPr>
            <p:spPr>
              <a:xfrm>
                <a:off x="1240077" y="671393"/>
                <a:ext cx="8793271" cy="1752395"/>
              </a:xfrm>
              <a:prstGeom prst="round1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600" b="1" dirty="0">
                    <a:solidFill>
                      <a:schemeClr val="accent1"/>
                    </a:solidFill>
                    <a:latin typeface="Roboto Condensed (Body)"/>
                  </a:rPr>
                  <a:t>EXTERNAL VIEW (VIEW LEVEL)</a:t>
                </a:r>
              </a:p>
            </p:txBody>
          </p:sp>
          <p:sp>
            <p:nvSpPr>
              <p:cNvPr id="22" name="Rounded Rectangle 21"/>
              <p:cNvSpPr/>
              <p:nvPr/>
            </p:nvSpPr>
            <p:spPr>
              <a:xfrm>
                <a:off x="1706879" y="1305464"/>
                <a:ext cx="2293352" cy="770281"/>
              </a:xfrm>
              <a:prstGeom prst="roundRect">
                <a:avLst/>
              </a:prstGeom>
              <a:solidFill>
                <a:srgbClr val="FEC107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latin typeface="Roboto Condensed (Body)"/>
                  </a:rPr>
                  <a:t>    </a:t>
                </a:r>
                <a:r>
                  <a:rPr lang="en-US" sz="1400" b="1" dirty="0">
                    <a:latin typeface="Roboto Condensed (Body)"/>
                  </a:rPr>
                  <a:t>VIEW 1</a:t>
                </a:r>
                <a:endParaRPr lang="en-US" b="1" dirty="0">
                  <a:latin typeface="Roboto Condensed (Body)"/>
                </a:endParaRPr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4608735" y="1305464"/>
                <a:ext cx="2351315" cy="770281"/>
              </a:xfrm>
              <a:prstGeom prst="roundRect">
                <a:avLst/>
              </a:prstGeom>
              <a:solidFill>
                <a:srgbClr val="FF980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Roboto Condensed (Body)"/>
                  </a:rPr>
                  <a:t>    </a:t>
                </a:r>
                <a:r>
                  <a:rPr lang="en-US" sz="1400" b="1" dirty="0">
                    <a:latin typeface="Roboto Condensed (Body)"/>
                  </a:rPr>
                  <a:t>VIEW 2</a:t>
                </a:r>
              </a:p>
            </p:txBody>
          </p:sp>
          <p:sp>
            <p:nvSpPr>
              <p:cNvPr id="24" name="Rounded Rectangle 23"/>
              <p:cNvSpPr/>
              <p:nvPr/>
            </p:nvSpPr>
            <p:spPr>
              <a:xfrm>
                <a:off x="7510589" y="1305464"/>
                <a:ext cx="2351315" cy="770281"/>
              </a:xfrm>
              <a:prstGeom prst="roundRect">
                <a:avLst/>
              </a:prstGeom>
              <a:solidFill>
                <a:srgbClr val="FE5722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Roboto Condensed (Body)"/>
                  </a:rPr>
                  <a:t>   </a:t>
                </a:r>
                <a:r>
                  <a:rPr lang="en-US" sz="1400" b="1" dirty="0">
                    <a:latin typeface="Roboto Condensed (Body)"/>
                  </a:rPr>
                  <a:t>VIEW 3</a:t>
                </a:r>
                <a:endParaRPr lang="en-US" b="1" dirty="0">
                  <a:latin typeface="Roboto Condensed (Body)"/>
                </a:endParaRPr>
              </a:p>
            </p:txBody>
          </p:sp>
          <p:cxnSp>
            <p:nvCxnSpPr>
              <p:cNvPr id="25" name="Straight Connector 24"/>
              <p:cNvCxnSpPr/>
              <p:nvPr/>
            </p:nvCxnSpPr>
            <p:spPr>
              <a:xfrm>
                <a:off x="3512858" y="2089373"/>
                <a:ext cx="0" cy="545634"/>
              </a:xfrm>
              <a:prstGeom prst="line">
                <a:avLst/>
              </a:prstGeom>
              <a:ln w="28575">
                <a:solidFill>
                  <a:srgbClr val="387D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4464429" y="6292477"/>
                <a:ext cx="2311161" cy="401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Roboto Condensed (Body)"/>
                  </a:rPr>
                  <a:t>DATABASE</a:t>
                </a:r>
              </a:p>
            </p:txBody>
          </p:sp>
          <p:pic>
            <p:nvPicPr>
              <p:cNvPr id="27" name="Picture 26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21668" y="1443964"/>
                <a:ext cx="564342" cy="584074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36920" y="1433405"/>
                <a:ext cx="601640" cy="528929"/>
              </a:xfrm>
              <a:prstGeom prst="rect">
                <a:avLst/>
              </a:prstGeom>
            </p:spPr>
          </p:pic>
        </p:grpSp>
        <p:cxnSp>
          <p:nvCxnSpPr>
            <p:cNvPr id="12" name="Straight Connector 11"/>
            <p:cNvCxnSpPr/>
            <p:nvPr/>
          </p:nvCxnSpPr>
          <p:spPr>
            <a:xfrm>
              <a:off x="9656695" y="2339516"/>
              <a:ext cx="0" cy="402832"/>
            </a:xfrm>
            <a:prstGeom prst="line">
              <a:avLst/>
            </a:prstGeom>
            <a:ln w="28575">
              <a:solidFill>
                <a:srgbClr val="387D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0827154" y="2339516"/>
              <a:ext cx="0" cy="418788"/>
            </a:xfrm>
            <a:prstGeom prst="line">
              <a:avLst/>
            </a:prstGeom>
            <a:ln w="28575">
              <a:solidFill>
                <a:srgbClr val="387D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798" y="2118843"/>
            <a:ext cx="757676" cy="41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effectLst/>
                <a:uLnTx/>
                <a:uFillTx/>
                <a:latin typeface="Roboto Condensed (Body)"/>
                <a:ea typeface="+mj-ea"/>
                <a:cs typeface="+mj-cs"/>
              </a:rPr>
              <a:t>Data Independence(Conti..)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-18449" y="604477"/>
            <a:ext cx="7496914" cy="5649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Roboto Condensed (Body)"/>
              </a:rPr>
              <a:t>Logical Data Independence</a:t>
            </a:r>
          </a:p>
          <a:p>
            <a:pPr marL="914400" lvl="1" indent="-457200" algn="just">
              <a:spcBef>
                <a:spcPts val="500"/>
              </a:spcBef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(Body)"/>
              </a:rPr>
              <a:t>Logical data independence is the </a:t>
            </a: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Roboto Condensed (Body)"/>
              </a:rPr>
              <a:t>ability to modify the conceptual schema</a:t>
            </a: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(Body)"/>
              </a:rPr>
              <a:t> without requiring any change in application programs.</a:t>
            </a:r>
          </a:p>
          <a:p>
            <a:pPr marL="914400" lvl="1" indent="-457200" algn="just">
              <a:spcBef>
                <a:spcPts val="500"/>
              </a:spcBef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(Body)"/>
              </a:rPr>
              <a:t>Modification at the logical levels is necessary whenever the </a:t>
            </a: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Roboto Condensed (Body)"/>
              </a:rPr>
              <a:t>logical structure of the database is changed.</a:t>
            </a:r>
          </a:p>
          <a:p>
            <a:pPr marL="914400" lvl="1" indent="-457200" algn="just">
              <a:spcBef>
                <a:spcPts val="500"/>
              </a:spcBef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(Body)"/>
              </a:rPr>
              <a:t>Application programs are heavily dependent on logical structures of the data they access. It is difficult to apply logical data independence compare to physical data independence. </a:t>
            </a:r>
          </a:p>
        </p:txBody>
      </p:sp>
      <p:grpSp>
        <p:nvGrpSpPr>
          <p:cNvPr id="2" name="Group 9"/>
          <p:cNvGrpSpPr/>
          <p:nvPr/>
        </p:nvGrpSpPr>
        <p:grpSpPr>
          <a:xfrm>
            <a:off x="7610822" y="1603330"/>
            <a:ext cx="4550207" cy="4154745"/>
            <a:chOff x="7240044" y="1302705"/>
            <a:chExt cx="4833303" cy="4446392"/>
          </a:xfrm>
        </p:grpSpPr>
        <p:grpSp>
          <p:nvGrpSpPr>
            <p:cNvPr id="4" name="Group 10"/>
            <p:cNvGrpSpPr/>
            <p:nvPr/>
          </p:nvGrpSpPr>
          <p:grpSpPr>
            <a:xfrm>
              <a:off x="7240044" y="1302705"/>
              <a:ext cx="4833303" cy="4446392"/>
              <a:chOff x="1240077" y="671393"/>
              <a:chExt cx="8793271" cy="6022615"/>
            </a:xfrm>
          </p:grpSpPr>
          <p:sp>
            <p:nvSpPr>
              <p:cNvPr id="14" name="Rounded Rectangle 13"/>
              <p:cNvSpPr/>
              <p:nvPr/>
            </p:nvSpPr>
            <p:spPr>
              <a:xfrm>
                <a:off x="3444358" y="3020867"/>
                <a:ext cx="4397233" cy="812097"/>
              </a:xfrm>
              <a:prstGeom prst="roundRect">
                <a:avLst/>
              </a:prstGeom>
              <a:solidFill>
                <a:srgbClr val="CDDC39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latin typeface="Roboto Condensed (Body)"/>
                  </a:rPr>
                  <a:t>CONCEPTUAL VIEW</a:t>
                </a:r>
              </a:p>
              <a:p>
                <a:pPr algn="ctr"/>
                <a:r>
                  <a:rPr lang="en-US" sz="1400" b="1" dirty="0">
                    <a:latin typeface="Roboto Condensed (Body)"/>
                  </a:rPr>
                  <a:t>(LOGICAL LEVEL) </a:t>
                </a:r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3444358" y="4249984"/>
                <a:ext cx="4397233" cy="759905"/>
              </a:xfrm>
              <a:prstGeom prst="roundRect">
                <a:avLst/>
              </a:prstGeom>
              <a:solidFill>
                <a:srgbClr val="8CC346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latin typeface="Roboto Condensed (Body)"/>
                  </a:rPr>
                  <a:t>INTERNAL VIEW</a:t>
                </a:r>
              </a:p>
              <a:p>
                <a:pPr algn="ctr"/>
                <a:r>
                  <a:rPr lang="en-US" sz="1400" b="1" dirty="0">
                    <a:latin typeface="Roboto Condensed (Body)"/>
                  </a:rPr>
                  <a:t>(PHYSICAL LEVEL)</a:t>
                </a:r>
              </a:p>
            </p:txBody>
          </p:sp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80912" y="5564697"/>
                <a:ext cx="869159" cy="759905"/>
              </a:xfrm>
              <a:prstGeom prst="rect">
                <a:avLst/>
              </a:prstGeom>
            </p:spPr>
          </p:pic>
          <p:cxnSp>
            <p:nvCxnSpPr>
              <p:cNvPr id="17" name="Straight Connector 16"/>
              <p:cNvCxnSpPr/>
              <p:nvPr/>
            </p:nvCxnSpPr>
            <p:spPr>
              <a:xfrm>
                <a:off x="3512857" y="2630553"/>
                <a:ext cx="4253280" cy="12438"/>
              </a:xfrm>
              <a:prstGeom prst="line">
                <a:avLst/>
              </a:prstGeom>
              <a:ln w="28575">
                <a:solidFill>
                  <a:srgbClr val="387D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>
                <a:off x="5638456" y="2649254"/>
                <a:ext cx="0" cy="371613"/>
              </a:xfrm>
              <a:prstGeom prst="straightConnector1">
                <a:avLst/>
              </a:prstGeom>
              <a:ln w="28575">
                <a:solidFill>
                  <a:srgbClr val="387D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>
                <a:off x="5620009" y="3832964"/>
                <a:ext cx="0" cy="417020"/>
              </a:xfrm>
              <a:prstGeom prst="straightConnector1">
                <a:avLst/>
              </a:prstGeom>
              <a:ln w="28575">
                <a:solidFill>
                  <a:srgbClr val="387D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>
                <a:off x="5620009" y="5009889"/>
                <a:ext cx="0" cy="554808"/>
              </a:xfrm>
              <a:prstGeom prst="straightConnector1">
                <a:avLst/>
              </a:prstGeom>
              <a:ln w="28575">
                <a:solidFill>
                  <a:srgbClr val="387D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ound Single Corner Rectangle 20"/>
              <p:cNvSpPr/>
              <p:nvPr/>
            </p:nvSpPr>
            <p:spPr>
              <a:xfrm>
                <a:off x="1240077" y="671393"/>
                <a:ext cx="8793271" cy="1752395"/>
              </a:xfrm>
              <a:prstGeom prst="round1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600" b="1" dirty="0">
                    <a:solidFill>
                      <a:schemeClr val="accent1"/>
                    </a:solidFill>
                    <a:latin typeface="Roboto Condensed (Body)"/>
                  </a:rPr>
                  <a:t>EXTERNAL VIEW (VIEW LEVEL)</a:t>
                </a:r>
              </a:p>
            </p:txBody>
          </p:sp>
          <p:sp>
            <p:nvSpPr>
              <p:cNvPr id="22" name="Rounded Rectangle 21"/>
              <p:cNvSpPr/>
              <p:nvPr/>
            </p:nvSpPr>
            <p:spPr>
              <a:xfrm>
                <a:off x="1706879" y="1305464"/>
                <a:ext cx="2293352" cy="770281"/>
              </a:xfrm>
              <a:prstGeom prst="roundRect">
                <a:avLst/>
              </a:prstGeom>
              <a:solidFill>
                <a:srgbClr val="FEC107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latin typeface="Roboto Condensed (Body)"/>
                  </a:rPr>
                  <a:t>    </a:t>
                </a:r>
                <a:r>
                  <a:rPr lang="en-US" sz="1400" b="1" dirty="0">
                    <a:latin typeface="Roboto Condensed (Body)"/>
                  </a:rPr>
                  <a:t>VIEW 1</a:t>
                </a:r>
                <a:endParaRPr lang="en-US" b="1" dirty="0">
                  <a:latin typeface="Roboto Condensed (Body)"/>
                </a:endParaRPr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4608735" y="1305464"/>
                <a:ext cx="2351315" cy="770281"/>
              </a:xfrm>
              <a:prstGeom prst="roundRect">
                <a:avLst/>
              </a:prstGeom>
              <a:solidFill>
                <a:srgbClr val="FF980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Roboto Condensed (Body)"/>
                  </a:rPr>
                  <a:t>    </a:t>
                </a:r>
                <a:r>
                  <a:rPr lang="en-US" sz="1400" b="1" dirty="0">
                    <a:latin typeface="Roboto Condensed (Body)"/>
                  </a:rPr>
                  <a:t>VIEW 2</a:t>
                </a:r>
              </a:p>
            </p:txBody>
          </p:sp>
          <p:sp>
            <p:nvSpPr>
              <p:cNvPr id="24" name="Rounded Rectangle 23"/>
              <p:cNvSpPr/>
              <p:nvPr/>
            </p:nvSpPr>
            <p:spPr>
              <a:xfrm>
                <a:off x="7510589" y="1305464"/>
                <a:ext cx="2351315" cy="770281"/>
              </a:xfrm>
              <a:prstGeom prst="roundRect">
                <a:avLst/>
              </a:prstGeom>
              <a:solidFill>
                <a:srgbClr val="FE5722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Roboto Condensed (Body)"/>
                  </a:rPr>
                  <a:t>   </a:t>
                </a:r>
                <a:r>
                  <a:rPr lang="en-US" sz="1400" b="1" dirty="0">
                    <a:latin typeface="Roboto Condensed (Body)"/>
                  </a:rPr>
                  <a:t>VIEW 3</a:t>
                </a:r>
                <a:endParaRPr lang="en-US" b="1" dirty="0">
                  <a:latin typeface="Roboto Condensed (Body)"/>
                </a:endParaRPr>
              </a:p>
            </p:txBody>
          </p:sp>
          <p:cxnSp>
            <p:nvCxnSpPr>
              <p:cNvPr id="25" name="Straight Connector 24"/>
              <p:cNvCxnSpPr/>
              <p:nvPr/>
            </p:nvCxnSpPr>
            <p:spPr>
              <a:xfrm>
                <a:off x="3512858" y="2089373"/>
                <a:ext cx="0" cy="545634"/>
              </a:xfrm>
              <a:prstGeom prst="line">
                <a:avLst/>
              </a:prstGeom>
              <a:ln w="28575">
                <a:solidFill>
                  <a:srgbClr val="387D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4464429" y="6292477"/>
                <a:ext cx="2311161" cy="401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Roboto Condensed (Body)"/>
                  </a:rPr>
                  <a:t>DATABASE</a:t>
                </a:r>
              </a:p>
            </p:txBody>
          </p:sp>
          <p:pic>
            <p:nvPicPr>
              <p:cNvPr id="27" name="Picture 26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21668" y="1443964"/>
                <a:ext cx="564342" cy="584074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36920" y="1433405"/>
                <a:ext cx="601640" cy="528929"/>
              </a:xfrm>
              <a:prstGeom prst="rect">
                <a:avLst/>
              </a:prstGeom>
            </p:spPr>
          </p:pic>
        </p:grpSp>
        <p:cxnSp>
          <p:nvCxnSpPr>
            <p:cNvPr id="12" name="Straight Connector 11"/>
            <p:cNvCxnSpPr/>
            <p:nvPr/>
          </p:nvCxnSpPr>
          <p:spPr>
            <a:xfrm>
              <a:off x="9656695" y="2339516"/>
              <a:ext cx="0" cy="402832"/>
            </a:xfrm>
            <a:prstGeom prst="line">
              <a:avLst/>
            </a:prstGeom>
            <a:ln w="28575">
              <a:solidFill>
                <a:srgbClr val="387D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0827154" y="2339516"/>
              <a:ext cx="0" cy="418788"/>
            </a:xfrm>
            <a:prstGeom prst="line">
              <a:avLst/>
            </a:prstGeom>
            <a:ln w="28575">
              <a:solidFill>
                <a:srgbClr val="387D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798" y="2118843"/>
            <a:ext cx="757676" cy="41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0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29848-056E-C63E-7772-C66F09D70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EF3F89-A0F8-0A2D-E96A-9FE798FD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latin typeface="Roboto Condensed (Body)"/>
              </a:rPr>
              <a:t>Database System Architecture</a:t>
            </a:r>
            <a:endParaRPr lang="en-US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C49B9-1806-D049-3813-00451B091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918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3"/>
          <p:cNvSpPr>
            <a:spLocks noGrp="1"/>
          </p:cNvSpPr>
          <p:nvPr>
            <p:ph type="title"/>
          </p:nvPr>
        </p:nvSpPr>
        <p:spPr>
          <a:xfrm>
            <a:off x="-1105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Database System Architecture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26083" y="1485765"/>
            <a:ext cx="54864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dirty="0">
                <a:latin typeface="Roboto Condensed (Body)"/>
              </a:rPr>
              <a:t>uses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295020" y="1485765"/>
            <a:ext cx="54864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dirty="0">
                <a:latin typeface="Roboto Condensed (Body)"/>
              </a:rPr>
              <a:t>write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89847" y="1485765"/>
            <a:ext cx="54864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dirty="0">
                <a:latin typeface="Roboto Condensed (Body)"/>
              </a:rPr>
              <a:t>uses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30875" y="1485765"/>
            <a:ext cx="54864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dirty="0">
                <a:latin typeface="Roboto Condensed (Body)"/>
              </a:rPr>
              <a:t>uses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499315" y="4112355"/>
            <a:ext cx="6120000" cy="967756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Condensed (Body)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2502386" y="2606083"/>
            <a:ext cx="6120000" cy="1442917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Condensed (Body)"/>
            </a:endParaRPr>
          </a:p>
        </p:txBody>
      </p:sp>
      <p:sp>
        <p:nvSpPr>
          <p:cNvPr id="104" name="AutoShape 78"/>
          <p:cNvSpPr>
            <a:spLocks noChangeArrowheads="1"/>
          </p:cNvSpPr>
          <p:nvPr/>
        </p:nvSpPr>
        <p:spPr bwMode="auto">
          <a:xfrm>
            <a:off x="2729784" y="1038810"/>
            <a:ext cx="1069045" cy="478494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Calibri" panose="020F0502020204030204" pitchFamily="34" charset="0"/>
              </a:rPr>
              <a:t>Naive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</a:p>
        </p:txBody>
      </p:sp>
      <p:sp>
        <p:nvSpPr>
          <p:cNvPr id="105" name="AutoShape 77"/>
          <p:cNvSpPr>
            <a:spLocks noChangeArrowheads="1"/>
          </p:cNvSpPr>
          <p:nvPr/>
        </p:nvSpPr>
        <p:spPr bwMode="auto">
          <a:xfrm>
            <a:off x="4085660" y="1038810"/>
            <a:ext cx="1313293" cy="479515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Calibri" panose="020F0502020204030204" pitchFamily="34" charset="0"/>
              </a:rPr>
              <a:t>Application programmer</a:t>
            </a:r>
          </a:p>
        </p:txBody>
      </p:sp>
      <p:sp>
        <p:nvSpPr>
          <p:cNvPr id="106" name="AutoShape 76"/>
          <p:cNvSpPr>
            <a:spLocks noChangeArrowheads="1"/>
          </p:cNvSpPr>
          <p:nvPr/>
        </p:nvSpPr>
        <p:spPr bwMode="auto">
          <a:xfrm>
            <a:off x="5682638" y="1038810"/>
            <a:ext cx="1353809" cy="479515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Calibri" panose="020F0502020204030204" pitchFamily="34" charset="0"/>
              </a:rPr>
              <a:t>Sophisticated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</a:p>
        </p:txBody>
      </p:sp>
      <p:sp>
        <p:nvSpPr>
          <p:cNvPr id="107" name="AutoShape 75"/>
          <p:cNvSpPr>
            <a:spLocks noChangeArrowheads="1"/>
          </p:cNvSpPr>
          <p:nvPr/>
        </p:nvSpPr>
        <p:spPr bwMode="auto">
          <a:xfrm>
            <a:off x="7326424" y="1038810"/>
            <a:ext cx="1373845" cy="479515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Calibri" panose="020F0502020204030204" pitchFamily="34" charset="0"/>
              </a:rPr>
              <a:t>Database administrator</a:t>
            </a:r>
          </a:p>
        </p:txBody>
      </p:sp>
      <p:sp>
        <p:nvSpPr>
          <p:cNvPr id="108" name="Oval 70"/>
          <p:cNvSpPr>
            <a:spLocks noChangeArrowheads="1"/>
          </p:cNvSpPr>
          <p:nvPr/>
        </p:nvSpPr>
        <p:spPr bwMode="auto">
          <a:xfrm>
            <a:off x="2536256" y="1756873"/>
            <a:ext cx="1463040" cy="637074"/>
          </a:xfrm>
          <a:prstGeom prst="ellipse">
            <a:avLst/>
          </a:prstGeom>
          <a:solidFill>
            <a:srgbClr val="301B92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Calibri" panose="020F0502020204030204" pitchFamily="34" charset="0"/>
              </a:rPr>
              <a:t>Application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Calibri" panose="020F0502020204030204" pitchFamily="34" charset="0"/>
              </a:rPr>
              <a:t>interfaces</a:t>
            </a:r>
          </a:p>
        </p:txBody>
      </p:sp>
      <p:sp>
        <p:nvSpPr>
          <p:cNvPr id="109" name="Oval 67"/>
          <p:cNvSpPr>
            <a:spLocks noChangeArrowheads="1"/>
          </p:cNvSpPr>
          <p:nvPr/>
        </p:nvSpPr>
        <p:spPr bwMode="auto">
          <a:xfrm>
            <a:off x="4014826" y="1756873"/>
            <a:ext cx="1463040" cy="637200"/>
          </a:xfrm>
          <a:prstGeom prst="ellipse">
            <a:avLst/>
          </a:prstGeom>
          <a:solidFill>
            <a:srgbClr val="301B92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Calibri" panose="020F0502020204030204" pitchFamily="34" charset="0"/>
              </a:rPr>
              <a:t>Application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Calibri" panose="020F0502020204030204" pitchFamily="34" charset="0"/>
              </a:rPr>
              <a:t>programs</a:t>
            </a:r>
          </a:p>
        </p:txBody>
      </p:sp>
      <p:sp>
        <p:nvSpPr>
          <p:cNvPr id="110" name="Oval 64"/>
          <p:cNvSpPr>
            <a:spLocks noChangeArrowheads="1"/>
          </p:cNvSpPr>
          <p:nvPr/>
        </p:nvSpPr>
        <p:spPr bwMode="auto">
          <a:xfrm>
            <a:off x="5636917" y="1756873"/>
            <a:ext cx="1463040" cy="636129"/>
          </a:xfrm>
          <a:prstGeom prst="ellipse">
            <a:avLst/>
          </a:prstGeom>
          <a:solidFill>
            <a:srgbClr val="301B92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Calibri" panose="020F0502020204030204" pitchFamily="34" charset="0"/>
              </a:rPr>
              <a:t>Query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Calibri" panose="020F0502020204030204" pitchFamily="34" charset="0"/>
              </a:rPr>
              <a:t>tool</a:t>
            </a:r>
          </a:p>
        </p:txBody>
      </p:sp>
      <p:sp>
        <p:nvSpPr>
          <p:cNvPr id="111" name="Oval 61"/>
          <p:cNvSpPr>
            <a:spLocks noChangeArrowheads="1"/>
          </p:cNvSpPr>
          <p:nvPr/>
        </p:nvSpPr>
        <p:spPr bwMode="auto">
          <a:xfrm>
            <a:off x="7135924" y="1756873"/>
            <a:ext cx="1754845" cy="637200"/>
          </a:xfrm>
          <a:prstGeom prst="ellipse">
            <a:avLst/>
          </a:prstGeom>
          <a:solidFill>
            <a:srgbClr val="301B92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b="1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Calibri" panose="020F0502020204030204" pitchFamily="34" charset="0"/>
              </a:rPr>
              <a:t>Administration tool</a:t>
            </a:r>
          </a:p>
        </p:txBody>
      </p:sp>
      <p:sp>
        <p:nvSpPr>
          <p:cNvPr id="112" name="Rectangle 58"/>
          <p:cNvSpPr>
            <a:spLocks noChangeArrowheads="1"/>
          </p:cNvSpPr>
          <p:nvPr/>
        </p:nvSpPr>
        <p:spPr bwMode="auto">
          <a:xfrm>
            <a:off x="4329151" y="2667000"/>
            <a:ext cx="1006996" cy="457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Times New Roman" panose="02020603050405020304" pitchFamily="18" charset="0"/>
              </a:rPr>
              <a:t>Compiler and linker</a:t>
            </a:r>
          </a:p>
        </p:txBody>
      </p:sp>
      <p:sp>
        <p:nvSpPr>
          <p:cNvPr id="113" name="Rectangle 55"/>
          <p:cNvSpPr>
            <a:spLocks noChangeArrowheads="1"/>
          </p:cNvSpPr>
          <p:nvPr/>
        </p:nvSpPr>
        <p:spPr bwMode="auto">
          <a:xfrm>
            <a:off x="5849722" y="2667000"/>
            <a:ext cx="1006996" cy="457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Times New Roman" panose="02020603050405020304" pitchFamily="18" charset="0"/>
              </a:rPr>
              <a:t>DML queries</a:t>
            </a:r>
          </a:p>
        </p:txBody>
      </p:sp>
      <p:sp>
        <p:nvSpPr>
          <p:cNvPr id="114" name="Rectangle 52"/>
          <p:cNvSpPr>
            <a:spLocks noChangeArrowheads="1"/>
          </p:cNvSpPr>
          <p:nvPr/>
        </p:nvSpPr>
        <p:spPr bwMode="auto">
          <a:xfrm>
            <a:off x="7509848" y="2667000"/>
            <a:ext cx="1006996" cy="457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Times New Roman" panose="02020603050405020304" pitchFamily="18" charset="0"/>
              </a:rPr>
              <a:t>DDL interpreter</a:t>
            </a:r>
          </a:p>
        </p:txBody>
      </p:sp>
      <p:sp>
        <p:nvSpPr>
          <p:cNvPr id="115" name="Rectangle 49"/>
          <p:cNvSpPr>
            <a:spLocks noChangeArrowheads="1"/>
          </p:cNvSpPr>
          <p:nvPr/>
        </p:nvSpPr>
        <p:spPr bwMode="auto">
          <a:xfrm>
            <a:off x="2621522" y="3093720"/>
            <a:ext cx="1285569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Times New Roman" panose="02020603050405020304" pitchFamily="18" charset="0"/>
              </a:rPr>
              <a:t>Application program object code</a:t>
            </a:r>
          </a:p>
        </p:txBody>
      </p:sp>
      <p:sp>
        <p:nvSpPr>
          <p:cNvPr id="116" name="Rectangle 48"/>
          <p:cNvSpPr>
            <a:spLocks noChangeArrowheads="1"/>
          </p:cNvSpPr>
          <p:nvPr/>
        </p:nvSpPr>
        <p:spPr bwMode="auto">
          <a:xfrm>
            <a:off x="5693444" y="3264689"/>
            <a:ext cx="1335418" cy="457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Times New Roman" panose="02020603050405020304" pitchFamily="18" charset="0"/>
              </a:rPr>
              <a:t>DML compiler and organizer</a:t>
            </a:r>
          </a:p>
        </p:txBody>
      </p:sp>
      <p:sp>
        <p:nvSpPr>
          <p:cNvPr id="117" name="Rectangle 47"/>
          <p:cNvSpPr>
            <a:spLocks noChangeArrowheads="1"/>
          </p:cNvSpPr>
          <p:nvPr/>
        </p:nvSpPr>
        <p:spPr bwMode="auto">
          <a:xfrm>
            <a:off x="4088836" y="3578783"/>
            <a:ext cx="1444752" cy="457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Times New Roman" panose="02020603050405020304" pitchFamily="18" charset="0"/>
              </a:rPr>
              <a:t>Query evaluation engine</a:t>
            </a:r>
          </a:p>
        </p:txBody>
      </p:sp>
      <p:sp>
        <p:nvSpPr>
          <p:cNvPr id="118" name="Rectangle 31"/>
          <p:cNvSpPr>
            <a:spLocks noChangeArrowheads="1"/>
          </p:cNvSpPr>
          <p:nvPr/>
        </p:nvSpPr>
        <p:spPr bwMode="auto">
          <a:xfrm>
            <a:off x="2884459" y="4267199"/>
            <a:ext cx="1132658" cy="4551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Times New Roman" panose="02020603050405020304" pitchFamily="18" charset="0"/>
              </a:rPr>
              <a:t>Buffer manager</a:t>
            </a:r>
          </a:p>
        </p:txBody>
      </p:sp>
      <p:sp>
        <p:nvSpPr>
          <p:cNvPr id="119" name="Rectangle 30"/>
          <p:cNvSpPr>
            <a:spLocks noChangeArrowheads="1"/>
          </p:cNvSpPr>
          <p:nvPr/>
        </p:nvSpPr>
        <p:spPr bwMode="auto">
          <a:xfrm>
            <a:off x="4249585" y="4267199"/>
            <a:ext cx="930082" cy="457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Times New Roman" panose="02020603050405020304" pitchFamily="18" charset="0"/>
              </a:rPr>
              <a:t>File manager</a:t>
            </a:r>
          </a:p>
        </p:txBody>
      </p:sp>
      <p:sp>
        <p:nvSpPr>
          <p:cNvPr id="120" name="Rectangle 29"/>
          <p:cNvSpPr>
            <a:spLocks noChangeArrowheads="1"/>
          </p:cNvSpPr>
          <p:nvPr/>
        </p:nvSpPr>
        <p:spPr bwMode="auto">
          <a:xfrm>
            <a:off x="5412135" y="4267199"/>
            <a:ext cx="1499502" cy="457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Times New Roman" panose="02020603050405020304" pitchFamily="18" charset="0"/>
              </a:rPr>
              <a:t>Authorization and integrity manager</a:t>
            </a:r>
          </a:p>
        </p:txBody>
      </p:sp>
      <p:sp>
        <p:nvSpPr>
          <p:cNvPr id="121" name="Rectangle 28"/>
          <p:cNvSpPr>
            <a:spLocks noChangeArrowheads="1"/>
          </p:cNvSpPr>
          <p:nvPr/>
        </p:nvSpPr>
        <p:spPr bwMode="auto">
          <a:xfrm>
            <a:off x="7144106" y="4267199"/>
            <a:ext cx="1097280" cy="457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Times New Roman" panose="02020603050405020304" pitchFamily="18" charset="0"/>
              </a:rPr>
              <a:t>Transaction manager</a:t>
            </a:r>
          </a:p>
        </p:txBody>
      </p:sp>
      <p:sp>
        <p:nvSpPr>
          <p:cNvPr id="122" name="AutoShape 23"/>
          <p:cNvSpPr>
            <a:spLocks noChangeArrowheads="1"/>
          </p:cNvSpPr>
          <p:nvPr/>
        </p:nvSpPr>
        <p:spPr bwMode="auto">
          <a:xfrm>
            <a:off x="3546561" y="5137903"/>
            <a:ext cx="3017520" cy="1110497"/>
          </a:xfrm>
          <a:prstGeom prst="can">
            <a:avLst>
              <a:gd name="adj" fmla="val 20167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IN">
              <a:latin typeface="Roboto Condensed (Body)"/>
            </a:endParaRPr>
          </a:p>
        </p:txBody>
      </p:sp>
      <p:sp>
        <p:nvSpPr>
          <p:cNvPr id="123" name="Rectangle 22"/>
          <p:cNvSpPr>
            <a:spLocks noChangeArrowheads="1"/>
          </p:cNvSpPr>
          <p:nvPr/>
        </p:nvSpPr>
        <p:spPr bwMode="auto">
          <a:xfrm>
            <a:off x="5117186" y="5486399"/>
            <a:ext cx="1371600" cy="28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Times New Roman" panose="02020603050405020304" pitchFamily="18" charset="0"/>
              </a:rPr>
              <a:t>Data dictionary</a:t>
            </a:r>
          </a:p>
        </p:txBody>
      </p:sp>
      <p:sp>
        <p:nvSpPr>
          <p:cNvPr id="124" name="Rectangle 21"/>
          <p:cNvSpPr>
            <a:spLocks noChangeArrowheads="1"/>
          </p:cNvSpPr>
          <p:nvPr/>
        </p:nvSpPr>
        <p:spPr bwMode="auto">
          <a:xfrm>
            <a:off x="5162906" y="5845840"/>
            <a:ext cx="1280160" cy="28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Times New Roman" panose="02020603050405020304" pitchFamily="18" charset="0"/>
              </a:rPr>
              <a:t>Statistical data </a:t>
            </a:r>
          </a:p>
        </p:txBody>
      </p:sp>
      <p:sp>
        <p:nvSpPr>
          <p:cNvPr id="125" name="Rectangle 20"/>
          <p:cNvSpPr>
            <a:spLocks noChangeArrowheads="1"/>
          </p:cNvSpPr>
          <p:nvPr/>
        </p:nvSpPr>
        <p:spPr bwMode="auto">
          <a:xfrm>
            <a:off x="4175573" y="5497886"/>
            <a:ext cx="731520" cy="28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Times New Roman" panose="02020603050405020304" pitchFamily="18" charset="0"/>
              </a:rPr>
              <a:t>Indices</a:t>
            </a:r>
          </a:p>
        </p:txBody>
      </p:sp>
      <p:sp>
        <p:nvSpPr>
          <p:cNvPr id="126" name="Rectangle 19"/>
          <p:cNvSpPr>
            <a:spLocks noChangeArrowheads="1"/>
          </p:cNvSpPr>
          <p:nvPr/>
        </p:nvSpPr>
        <p:spPr bwMode="auto">
          <a:xfrm>
            <a:off x="3624959" y="5808000"/>
            <a:ext cx="577827" cy="28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  <a:latin typeface="Roboto Condensed (Body)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</a:p>
        </p:txBody>
      </p:sp>
      <p:cxnSp>
        <p:nvCxnSpPr>
          <p:cNvPr id="127" name="Straight Connector 126"/>
          <p:cNvCxnSpPr/>
          <p:nvPr/>
        </p:nvCxnSpPr>
        <p:spPr>
          <a:xfrm flipH="1">
            <a:off x="3262948" y="1517304"/>
            <a:ext cx="2717" cy="2395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>
            <a:off x="8011664" y="1517304"/>
            <a:ext cx="1683" cy="23854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 flipH="1">
            <a:off x="6361330" y="1517304"/>
            <a:ext cx="2717" cy="252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>
            <a:off x="4742306" y="1517304"/>
            <a:ext cx="0" cy="25436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/>
          <p:nvPr/>
        </p:nvCxnSpPr>
        <p:spPr>
          <a:xfrm>
            <a:off x="3264306" y="2392680"/>
            <a:ext cx="1" cy="6949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>
            <a:off x="4751433" y="2390633"/>
            <a:ext cx="1" cy="27432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 flipH="1">
            <a:off x="6357128" y="2388286"/>
            <a:ext cx="4829" cy="27432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8013346" y="2392679"/>
            <a:ext cx="1" cy="27432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111" idx="4"/>
            <a:endCxn id="113" idx="0"/>
          </p:cNvCxnSpPr>
          <p:nvPr/>
        </p:nvCxnSpPr>
        <p:spPr>
          <a:xfrm flipH="1">
            <a:off x="6353220" y="2394073"/>
            <a:ext cx="1660127" cy="27292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>
            <a:off x="5336147" y="2895600"/>
            <a:ext cx="51357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Elbow Connector 136"/>
          <p:cNvCxnSpPr>
            <a:stCxn id="112" idx="1"/>
          </p:cNvCxnSpPr>
          <p:nvPr/>
        </p:nvCxnSpPr>
        <p:spPr>
          <a:xfrm rot="10800000" flipV="1">
            <a:off x="3548953" y="2895600"/>
            <a:ext cx="780199" cy="201634"/>
          </a:xfrm>
          <a:prstGeom prst="bentConnector3">
            <a:avLst>
              <a:gd name="adj1" fmla="val 100319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/>
          <p:nvPr/>
        </p:nvCxnSpPr>
        <p:spPr>
          <a:xfrm flipV="1">
            <a:off x="3907091" y="3411562"/>
            <a:ext cx="853656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/>
          <p:nvPr/>
        </p:nvCxnSpPr>
        <p:spPr>
          <a:xfrm flipV="1">
            <a:off x="4760747" y="2960524"/>
            <a:ext cx="1079563" cy="453193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>
            <a:off x="6357161" y="3119477"/>
            <a:ext cx="5931" cy="157123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lbow Connector 146"/>
          <p:cNvCxnSpPr>
            <a:stCxn id="115" idx="2"/>
            <a:endCxn id="117" idx="1"/>
          </p:cNvCxnSpPr>
          <p:nvPr/>
        </p:nvCxnSpPr>
        <p:spPr>
          <a:xfrm rot="16200000" flipH="1">
            <a:off x="3639780" y="3358326"/>
            <a:ext cx="73583" cy="824529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Elbow Connector 147"/>
          <p:cNvCxnSpPr>
            <a:stCxn id="116" idx="2"/>
            <a:endCxn id="117" idx="3"/>
          </p:cNvCxnSpPr>
          <p:nvPr/>
        </p:nvCxnSpPr>
        <p:spPr>
          <a:xfrm rot="5400000">
            <a:off x="5904624" y="3350854"/>
            <a:ext cx="85494" cy="827565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7010854" y="3702786"/>
            <a:ext cx="16200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b="1" dirty="0">
                <a:latin typeface="Roboto Condensed (Body)"/>
              </a:rPr>
              <a:t>Query</a:t>
            </a:r>
            <a:r>
              <a:rPr lang="en-US" sz="1600" dirty="0">
                <a:latin typeface="Roboto Condensed (Body)"/>
              </a:rPr>
              <a:t> </a:t>
            </a:r>
            <a:r>
              <a:rPr lang="en-US" sz="1600" b="1" dirty="0">
                <a:latin typeface="Roboto Condensed (Body)"/>
              </a:rPr>
              <a:t>processor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991193" y="4724400"/>
            <a:ext cx="16200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b="1" dirty="0">
                <a:latin typeface="Roboto Condensed (Body)"/>
              </a:rPr>
              <a:t>Storage manager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82996" y="5562600"/>
            <a:ext cx="16200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b="1" dirty="0">
                <a:latin typeface="Roboto Condensed (Body)"/>
              </a:rPr>
              <a:t>Disk storage</a:t>
            </a:r>
          </a:p>
        </p:txBody>
      </p:sp>
      <p:cxnSp>
        <p:nvCxnSpPr>
          <p:cNvPr id="146" name="Straight Connector 145"/>
          <p:cNvCxnSpPr>
            <a:stCxn id="117" idx="2"/>
            <a:endCxn id="118" idx="0"/>
          </p:cNvCxnSpPr>
          <p:nvPr/>
        </p:nvCxnSpPr>
        <p:spPr>
          <a:xfrm flipH="1">
            <a:off x="3450788" y="4035983"/>
            <a:ext cx="1360424" cy="23121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>
            <a:stCxn id="117" idx="2"/>
            <a:endCxn id="119" idx="0"/>
          </p:cNvCxnSpPr>
          <p:nvPr/>
        </p:nvCxnSpPr>
        <p:spPr>
          <a:xfrm flipH="1">
            <a:off x="4714626" y="4035983"/>
            <a:ext cx="96586" cy="23121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>
            <a:stCxn id="117" idx="2"/>
            <a:endCxn id="120" idx="0"/>
          </p:cNvCxnSpPr>
          <p:nvPr/>
        </p:nvCxnSpPr>
        <p:spPr>
          <a:xfrm>
            <a:off x="4811212" y="4035983"/>
            <a:ext cx="1350674" cy="23121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117" idx="2"/>
            <a:endCxn id="121" idx="0"/>
          </p:cNvCxnSpPr>
          <p:nvPr/>
        </p:nvCxnSpPr>
        <p:spPr>
          <a:xfrm>
            <a:off x="4811212" y="4035983"/>
            <a:ext cx="2881534" cy="23121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>
            <a:stCxn id="118" idx="2"/>
            <a:endCxn id="126" idx="0"/>
          </p:cNvCxnSpPr>
          <p:nvPr/>
        </p:nvCxnSpPr>
        <p:spPr>
          <a:xfrm>
            <a:off x="3450788" y="4722395"/>
            <a:ext cx="463085" cy="108560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>
            <a:stCxn id="118" idx="2"/>
            <a:endCxn id="125" idx="0"/>
          </p:cNvCxnSpPr>
          <p:nvPr/>
        </p:nvCxnSpPr>
        <p:spPr>
          <a:xfrm>
            <a:off x="3450788" y="4722395"/>
            <a:ext cx="1090545" cy="77549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>
            <a:stCxn id="119" idx="2"/>
            <a:endCxn id="125" idx="0"/>
          </p:cNvCxnSpPr>
          <p:nvPr/>
        </p:nvCxnSpPr>
        <p:spPr>
          <a:xfrm flipH="1">
            <a:off x="4541333" y="4724399"/>
            <a:ext cx="173293" cy="77348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>
            <a:stCxn id="119" idx="2"/>
            <a:endCxn id="126" idx="0"/>
          </p:cNvCxnSpPr>
          <p:nvPr/>
        </p:nvCxnSpPr>
        <p:spPr>
          <a:xfrm flipH="1">
            <a:off x="3913873" y="4724399"/>
            <a:ext cx="800753" cy="108360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>
            <a:stCxn id="120" idx="2"/>
            <a:endCxn id="123" idx="0"/>
          </p:cNvCxnSpPr>
          <p:nvPr/>
        </p:nvCxnSpPr>
        <p:spPr>
          <a:xfrm flipH="1">
            <a:off x="5802986" y="4724399"/>
            <a:ext cx="358900" cy="76200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>
            <a:stCxn id="116" idx="2"/>
            <a:endCxn id="123" idx="0"/>
          </p:cNvCxnSpPr>
          <p:nvPr/>
        </p:nvCxnSpPr>
        <p:spPr>
          <a:xfrm flipH="1">
            <a:off x="5802986" y="3721889"/>
            <a:ext cx="558167" cy="176451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5038286" y="4953000"/>
            <a:ext cx="8883" cy="99991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>
            <a:endCxn id="124" idx="1"/>
          </p:cNvCxnSpPr>
          <p:nvPr/>
        </p:nvCxnSpPr>
        <p:spPr>
          <a:xfrm>
            <a:off x="5038286" y="5952910"/>
            <a:ext cx="124620" cy="3693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 flipV="1">
            <a:off x="5047169" y="4953000"/>
            <a:ext cx="914400" cy="596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Rounded Rectangular Callout 158"/>
          <p:cNvSpPr/>
          <p:nvPr/>
        </p:nvSpPr>
        <p:spPr>
          <a:xfrm>
            <a:off x="8698586" y="2819400"/>
            <a:ext cx="1485900" cy="933549"/>
          </a:xfrm>
          <a:prstGeom prst="wedgeRoundRectCallout">
            <a:avLst>
              <a:gd name="adj1" fmla="val -62859"/>
              <a:gd name="adj2" fmla="val 62598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Roboto Condensed (Body)"/>
              </a:rPr>
              <a:t>Deals with execution of DDL and DML statements</a:t>
            </a:r>
            <a:endParaRPr lang="en-US" sz="1400" dirty="0">
              <a:solidFill>
                <a:schemeClr val="tx1"/>
              </a:solidFill>
              <a:latin typeface="Roboto Condensed (Body)"/>
            </a:endParaRPr>
          </a:p>
        </p:txBody>
      </p:sp>
      <p:sp>
        <p:nvSpPr>
          <p:cNvPr id="160" name="Rounded Rectangular Callout 159"/>
          <p:cNvSpPr/>
          <p:nvPr/>
        </p:nvSpPr>
        <p:spPr>
          <a:xfrm>
            <a:off x="8469986" y="5072798"/>
            <a:ext cx="1808351" cy="1251801"/>
          </a:xfrm>
          <a:prstGeom prst="wedgeRoundRectCallout">
            <a:avLst>
              <a:gd name="adj1" fmla="val -57836"/>
              <a:gd name="adj2" fmla="val -58339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Roboto Condensed (Body)"/>
              </a:rPr>
              <a:t>Provides interface between low-level data stored and application program or queries</a:t>
            </a:r>
          </a:p>
        </p:txBody>
      </p:sp>
      <p:sp>
        <p:nvSpPr>
          <p:cNvPr id="161" name="Rounded Rectangular Callout 160"/>
          <p:cNvSpPr/>
          <p:nvPr/>
        </p:nvSpPr>
        <p:spPr>
          <a:xfrm>
            <a:off x="8705049" y="2575431"/>
            <a:ext cx="1573288" cy="1111211"/>
          </a:xfrm>
          <a:prstGeom prst="wedgeRoundRectCallout">
            <a:avLst>
              <a:gd name="adj1" fmla="val -75967"/>
              <a:gd name="adj2" fmla="val -21302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Roboto Condensed (Body)"/>
              </a:rPr>
              <a:t>Interprets DDL statements into a set of tables containing metadata</a:t>
            </a:r>
            <a:endParaRPr lang="en-US" sz="1400" dirty="0">
              <a:solidFill>
                <a:schemeClr val="tx1"/>
              </a:solidFill>
              <a:latin typeface="Roboto Condensed (Body)"/>
            </a:endParaRPr>
          </a:p>
        </p:txBody>
      </p:sp>
      <p:sp>
        <p:nvSpPr>
          <p:cNvPr id="162" name="Rounded Rectangular Callout 161"/>
          <p:cNvSpPr/>
          <p:nvPr/>
        </p:nvSpPr>
        <p:spPr>
          <a:xfrm>
            <a:off x="8635874" y="2437406"/>
            <a:ext cx="1671927" cy="1645920"/>
          </a:xfrm>
          <a:prstGeom prst="wedgeRoundRectCallout">
            <a:avLst>
              <a:gd name="adj1" fmla="val -153676"/>
              <a:gd name="adj2" fmla="val 17324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Roboto Condensed (Body)"/>
              </a:rPr>
              <a:t>Translates DML statements into low level instructions that the query evaluation engine understands</a:t>
            </a:r>
            <a:endParaRPr lang="en-US" sz="1400" dirty="0">
              <a:solidFill>
                <a:schemeClr val="tx1"/>
              </a:solidFill>
              <a:latin typeface="Roboto Condensed (Body)"/>
            </a:endParaRPr>
          </a:p>
        </p:txBody>
      </p:sp>
      <p:sp>
        <p:nvSpPr>
          <p:cNvPr id="163" name="Rounded Rectangular Callout 162"/>
          <p:cNvSpPr/>
          <p:nvPr/>
        </p:nvSpPr>
        <p:spPr>
          <a:xfrm>
            <a:off x="8622386" y="2761334"/>
            <a:ext cx="1671927" cy="1124866"/>
          </a:xfrm>
          <a:prstGeom prst="wedgeRoundRectCallout">
            <a:avLst>
              <a:gd name="adj1" fmla="val -241708"/>
              <a:gd name="adj2" fmla="val 46975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Roboto Condensed (Body)"/>
              </a:rPr>
              <a:t>Executes low level instructions generated by DML compiler.</a:t>
            </a:r>
            <a:endParaRPr lang="en-US" sz="1400" dirty="0">
              <a:solidFill>
                <a:schemeClr val="tx1"/>
              </a:solidFill>
              <a:latin typeface="Roboto Condensed (Body)"/>
            </a:endParaRPr>
          </a:p>
        </p:txBody>
      </p:sp>
      <p:sp>
        <p:nvSpPr>
          <p:cNvPr id="164" name="Rounded Rectangular Callout 163"/>
          <p:cNvSpPr/>
          <p:nvPr/>
        </p:nvSpPr>
        <p:spPr>
          <a:xfrm>
            <a:off x="8508526" y="5062712"/>
            <a:ext cx="1808351" cy="799624"/>
          </a:xfrm>
          <a:prstGeom prst="wedgeRoundRectCallout">
            <a:avLst>
              <a:gd name="adj1" fmla="val -73147"/>
              <a:gd name="adj2" fmla="val -110050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Roboto Condensed (Body)"/>
              </a:rPr>
              <a:t>Preserves atomicity and controls concurrency</a:t>
            </a:r>
            <a:endParaRPr lang="en-US" sz="1400" dirty="0">
              <a:solidFill>
                <a:schemeClr val="tx1"/>
              </a:solidFill>
              <a:latin typeface="Roboto Condensed (Body)"/>
            </a:endParaRPr>
          </a:p>
        </p:txBody>
      </p:sp>
      <p:sp>
        <p:nvSpPr>
          <p:cNvPr id="165" name="Rounded Rectangular Callout 164"/>
          <p:cNvSpPr/>
          <p:nvPr/>
        </p:nvSpPr>
        <p:spPr>
          <a:xfrm>
            <a:off x="8431446" y="5201650"/>
            <a:ext cx="1808351" cy="971282"/>
          </a:xfrm>
          <a:prstGeom prst="wedgeRoundRectCallout">
            <a:avLst>
              <a:gd name="adj1" fmla="val -140128"/>
              <a:gd name="adj2" fmla="val -119954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Roboto Condensed (Body)"/>
              </a:rPr>
              <a:t>Checks the authority of users to access data and integrity constraints</a:t>
            </a:r>
            <a:endParaRPr lang="en-US" sz="1400" dirty="0">
              <a:solidFill>
                <a:schemeClr val="tx1"/>
              </a:solidFill>
              <a:latin typeface="Roboto Condensed (Body)"/>
            </a:endParaRPr>
          </a:p>
        </p:txBody>
      </p:sp>
      <p:sp>
        <p:nvSpPr>
          <p:cNvPr id="166" name="Rounded Rectangular Callout 165"/>
          <p:cNvSpPr/>
          <p:nvPr/>
        </p:nvSpPr>
        <p:spPr>
          <a:xfrm>
            <a:off x="1450975" y="4722395"/>
            <a:ext cx="1808351" cy="971282"/>
          </a:xfrm>
          <a:prstGeom prst="wedgeRoundRectCallout">
            <a:avLst>
              <a:gd name="adj1" fmla="val 116367"/>
              <a:gd name="adj2" fmla="val -75228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Roboto Condensed (Body)"/>
              </a:rPr>
              <a:t>Manages allocation of space on disk storage</a:t>
            </a:r>
            <a:endParaRPr lang="en-US" sz="1400" dirty="0">
              <a:solidFill>
                <a:schemeClr val="tx1"/>
              </a:solidFill>
              <a:latin typeface="Roboto Condensed (Body)"/>
            </a:endParaRPr>
          </a:p>
        </p:txBody>
      </p:sp>
      <p:sp>
        <p:nvSpPr>
          <p:cNvPr id="167" name="Rounded Rectangular Callout 166"/>
          <p:cNvSpPr/>
          <p:nvPr/>
        </p:nvSpPr>
        <p:spPr>
          <a:xfrm>
            <a:off x="1409164" y="4862733"/>
            <a:ext cx="1881685" cy="971282"/>
          </a:xfrm>
          <a:prstGeom prst="wedgeRoundRectCallout">
            <a:avLst>
              <a:gd name="adj1" fmla="val 44887"/>
              <a:gd name="adj2" fmla="val -88719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Roboto Condensed (Body)"/>
              </a:rPr>
              <a:t>Fetches data from disk storage to memory for being used</a:t>
            </a:r>
            <a:endParaRPr lang="en-US" sz="1400" dirty="0">
              <a:solidFill>
                <a:schemeClr val="tx1"/>
              </a:solidFill>
              <a:latin typeface="Roboto Condensed (Body)"/>
            </a:endParaRPr>
          </a:p>
        </p:txBody>
      </p:sp>
      <p:sp>
        <p:nvSpPr>
          <p:cNvPr id="168" name="Rounded Rectangular Callout 167"/>
          <p:cNvSpPr/>
          <p:nvPr/>
        </p:nvSpPr>
        <p:spPr>
          <a:xfrm>
            <a:off x="6519679" y="5915811"/>
            <a:ext cx="1808351" cy="289110"/>
          </a:xfrm>
          <a:prstGeom prst="wedgeRoundRectCallout">
            <a:avLst>
              <a:gd name="adj1" fmla="val -58702"/>
              <a:gd name="adj2" fmla="val -138903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Roboto Condensed (Body)"/>
              </a:rPr>
              <a:t>To store metadata</a:t>
            </a:r>
            <a:endParaRPr lang="en-US" sz="1400" dirty="0">
              <a:solidFill>
                <a:schemeClr val="tx1"/>
              </a:solidFill>
              <a:latin typeface="Roboto Condensed (Body)"/>
            </a:endParaRPr>
          </a:p>
        </p:txBody>
      </p:sp>
      <p:sp>
        <p:nvSpPr>
          <p:cNvPr id="169" name="Rounded Rectangular Callout 168"/>
          <p:cNvSpPr/>
          <p:nvPr/>
        </p:nvSpPr>
        <p:spPr>
          <a:xfrm>
            <a:off x="1410681" y="5600765"/>
            <a:ext cx="1881685" cy="503521"/>
          </a:xfrm>
          <a:prstGeom prst="wedgeRoundRectCallout">
            <a:avLst>
              <a:gd name="adj1" fmla="val 98580"/>
              <a:gd name="adj2" fmla="val -41907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Roboto Condensed (Body)"/>
              </a:rPr>
              <a:t>To provide faster access to data items</a:t>
            </a:r>
            <a:endParaRPr lang="en-US" sz="1400" dirty="0">
              <a:solidFill>
                <a:schemeClr val="tx1"/>
              </a:solidFill>
              <a:latin typeface="Roboto Condensed (Body)"/>
            </a:endParaRPr>
          </a:p>
        </p:txBody>
      </p:sp>
      <p:sp>
        <p:nvSpPr>
          <p:cNvPr id="170" name="Rounded Rectangular Callout 169"/>
          <p:cNvSpPr/>
          <p:nvPr/>
        </p:nvSpPr>
        <p:spPr>
          <a:xfrm>
            <a:off x="1410972" y="5828302"/>
            <a:ext cx="1881685" cy="503521"/>
          </a:xfrm>
          <a:prstGeom prst="wedgeRoundRectCallout">
            <a:avLst>
              <a:gd name="adj1" fmla="val 72921"/>
              <a:gd name="adj2" fmla="val -21046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Roboto Condensed (Body)"/>
              </a:rPr>
              <a:t>To store user data</a:t>
            </a:r>
            <a:endParaRPr lang="en-US" sz="1400" dirty="0">
              <a:solidFill>
                <a:schemeClr val="tx1"/>
              </a:solidFill>
              <a:latin typeface="Roboto Condensed (Body)"/>
            </a:endParaRPr>
          </a:p>
        </p:txBody>
      </p:sp>
      <p:sp>
        <p:nvSpPr>
          <p:cNvPr id="171" name="Rounded Rectangular Callout 170"/>
          <p:cNvSpPr/>
          <p:nvPr/>
        </p:nvSpPr>
        <p:spPr>
          <a:xfrm>
            <a:off x="6534272" y="5862336"/>
            <a:ext cx="2240514" cy="516949"/>
          </a:xfrm>
          <a:prstGeom prst="wedgeRoundRectCallout">
            <a:avLst>
              <a:gd name="adj1" fmla="val -57639"/>
              <a:gd name="adj2" fmla="val -23588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Roboto Condensed (Body)"/>
              </a:rPr>
              <a:t>To store statistical information about the data</a:t>
            </a:r>
            <a:endParaRPr lang="en-US" sz="1400" dirty="0">
              <a:solidFill>
                <a:schemeClr val="tx1"/>
              </a:solidFill>
              <a:latin typeface="Roboto Condensed (Body)"/>
            </a:endParaRPr>
          </a:p>
        </p:txBody>
      </p:sp>
    </p:spTree>
    <p:extLst>
      <p:ext uri="{BB962C8B-B14F-4D97-AF65-F5344CB8AC3E}">
        <p14:creationId xmlns:p14="http://schemas.microsoft.com/office/powerpoint/2010/main" val="31123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99" grpId="0"/>
      <p:bldP spid="100" grpId="0"/>
      <p:bldP spid="101" grpId="0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43" grpId="0"/>
      <p:bldP spid="144" grpId="0"/>
      <p:bldP spid="145" grpId="0"/>
      <p:bldP spid="159" grpId="0" animBg="1"/>
      <p:bldP spid="159" grpId="1" animBg="1"/>
      <p:bldP spid="160" grpId="0" animBg="1"/>
      <p:bldP spid="160" grpId="1" animBg="1"/>
      <p:bldP spid="161" grpId="0" animBg="1"/>
      <p:bldP spid="161" grpId="1" animBg="1"/>
      <p:bldP spid="162" grpId="0" animBg="1"/>
      <p:bldP spid="162" grpId="1" animBg="1"/>
      <p:bldP spid="163" grpId="0" animBg="1"/>
      <p:bldP spid="163" grpId="1" animBg="1"/>
      <p:bldP spid="164" grpId="0" animBg="1"/>
      <p:bldP spid="164" grpId="1" animBg="1"/>
      <p:bldP spid="165" grpId="0" animBg="1"/>
      <p:bldP spid="165" grpId="1" animBg="1"/>
      <p:bldP spid="166" grpId="0" animBg="1"/>
      <p:bldP spid="166" grpId="1" animBg="1"/>
      <p:bldP spid="167" grpId="0" animBg="1"/>
      <p:bldP spid="167" grpId="1" animBg="1"/>
      <p:bldP spid="168" grpId="0" animBg="1"/>
      <p:bldP spid="168" grpId="1" animBg="1"/>
      <p:bldP spid="169" grpId="0" animBg="1"/>
      <p:bldP spid="169" grpId="1" animBg="1"/>
      <p:bldP spid="170" grpId="0" animBg="1"/>
      <p:bldP spid="170" grpId="1" animBg="1"/>
      <p:bldP spid="171" grpId="0" animBg="1"/>
      <p:bldP spid="171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Execution Steps of DBMS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0" y="776518"/>
            <a:ext cx="12055151" cy="5649046"/>
          </a:xfrm>
        </p:spPr>
        <p:txBody>
          <a:bodyPr/>
          <a:lstStyle/>
          <a:p>
            <a:pPr marL="541338" indent="-363538">
              <a:lnSpc>
                <a:spcPct val="10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dirty="0"/>
              <a:t>User can access the data directly by executing the query using </a:t>
            </a:r>
            <a:r>
              <a:rPr lang="en-US" b="1" dirty="0">
                <a:solidFill>
                  <a:schemeClr val="accent6"/>
                </a:solidFill>
              </a:rPr>
              <a:t>SQL</a:t>
            </a:r>
            <a:r>
              <a:rPr lang="en-US" dirty="0"/>
              <a:t> or by using some </a:t>
            </a:r>
            <a:r>
              <a:rPr lang="en-US" b="1" dirty="0">
                <a:solidFill>
                  <a:schemeClr val="accent6"/>
                </a:solidFill>
              </a:rPr>
              <a:t>pre-developed application </a:t>
            </a:r>
            <a:r>
              <a:rPr lang="en-US" dirty="0"/>
              <a:t>interface.</a:t>
            </a:r>
          </a:p>
          <a:p>
            <a:pPr marL="541338" indent="-363538">
              <a:lnSpc>
                <a:spcPct val="10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dirty="0"/>
              <a:t>Then those request are sent to </a:t>
            </a:r>
            <a:r>
              <a:rPr lang="en-US" b="1" dirty="0">
                <a:solidFill>
                  <a:schemeClr val="accent6"/>
                </a:solidFill>
              </a:rPr>
              <a:t>query evaluation engine </a:t>
            </a:r>
            <a:r>
              <a:rPr lang="en-US" dirty="0"/>
              <a:t>through </a:t>
            </a:r>
            <a:r>
              <a:rPr lang="en-US" b="1" dirty="0">
                <a:solidFill>
                  <a:schemeClr val="accent6"/>
                </a:solidFill>
              </a:rPr>
              <a:t>DML Pre-compiler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6"/>
                </a:solidFill>
              </a:rPr>
              <a:t>DML compiler</a:t>
            </a:r>
            <a:r>
              <a:rPr lang="en-US" dirty="0"/>
              <a:t>.</a:t>
            </a:r>
          </a:p>
          <a:p>
            <a:pPr marL="541338" indent="-363538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dirty="0"/>
              <a:t>Query evaluation engine </a:t>
            </a:r>
            <a:r>
              <a:rPr lang="en-US" b="1" dirty="0">
                <a:solidFill>
                  <a:schemeClr val="accent6"/>
                </a:solidFill>
              </a:rPr>
              <a:t>accepts</a:t>
            </a:r>
            <a:r>
              <a:rPr lang="en-US" dirty="0"/>
              <a:t> the query and </a:t>
            </a:r>
            <a:r>
              <a:rPr lang="en-US" b="1" dirty="0">
                <a:solidFill>
                  <a:schemeClr val="accent6"/>
                </a:solidFill>
              </a:rPr>
              <a:t>analyses</a:t>
            </a:r>
            <a:r>
              <a:rPr lang="en-US" dirty="0"/>
              <a:t> it. </a:t>
            </a:r>
          </a:p>
          <a:p>
            <a:pPr marL="541338" indent="-363538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dirty="0"/>
              <a:t>It finds the </a:t>
            </a:r>
            <a:r>
              <a:rPr lang="en-US" b="1" dirty="0">
                <a:solidFill>
                  <a:schemeClr val="accent6"/>
                </a:solidFill>
              </a:rPr>
              <a:t>suitable way </a:t>
            </a:r>
            <a:r>
              <a:rPr lang="en-US" dirty="0"/>
              <a:t>to execute the </a:t>
            </a:r>
            <a:r>
              <a:rPr lang="en-US" b="1" dirty="0">
                <a:solidFill>
                  <a:schemeClr val="accent6"/>
                </a:solidFill>
              </a:rPr>
              <a:t>compiled SQL statements </a:t>
            </a:r>
            <a:r>
              <a:rPr lang="en-US" dirty="0"/>
              <a:t>of the query.</a:t>
            </a:r>
          </a:p>
          <a:p>
            <a:pPr marL="541338" indent="-363538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dirty="0"/>
              <a:t>Finally compiled SQL statements will be </a:t>
            </a:r>
            <a:r>
              <a:rPr lang="en-US" b="1" dirty="0">
                <a:solidFill>
                  <a:schemeClr val="accent6"/>
                </a:solidFill>
              </a:rPr>
              <a:t>executed</a:t>
            </a:r>
            <a:r>
              <a:rPr lang="en-US" dirty="0"/>
              <a:t> for the </a:t>
            </a:r>
            <a:r>
              <a:rPr lang="en-US" b="1" dirty="0">
                <a:solidFill>
                  <a:schemeClr val="accent6"/>
                </a:solidFill>
              </a:rPr>
              <a:t>desired result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/>
                </a:solidFill>
              </a:rPr>
              <a:t>output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714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Function and Services of DBMS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67954" y="804511"/>
            <a:ext cx="11929641" cy="5593943"/>
          </a:xfrm>
        </p:spPr>
        <p:txBody>
          <a:bodyPr/>
          <a:lstStyle/>
          <a:p>
            <a:r>
              <a:rPr lang="en-US" b="1" dirty="0"/>
              <a:t>Data Storage </a:t>
            </a:r>
          </a:p>
          <a:p>
            <a:pPr lvl="1"/>
            <a:r>
              <a:rPr lang="en-US" sz="2200" dirty="0"/>
              <a:t>Provides a </a:t>
            </a:r>
            <a:r>
              <a:rPr lang="en-US" sz="2200" b="1" dirty="0">
                <a:solidFill>
                  <a:schemeClr val="accent6"/>
                </a:solidFill>
              </a:rPr>
              <a:t>permanent storage </a:t>
            </a:r>
            <a:r>
              <a:rPr lang="en-US" sz="2200" dirty="0"/>
              <a:t>for data on </a:t>
            </a:r>
            <a:r>
              <a:rPr lang="en-US" sz="2200" b="1" dirty="0">
                <a:solidFill>
                  <a:schemeClr val="accent6"/>
                </a:solidFill>
              </a:rPr>
              <a:t>physical devices</a:t>
            </a:r>
            <a:r>
              <a:rPr lang="en-US" sz="2200" dirty="0"/>
              <a:t>.</a:t>
            </a:r>
          </a:p>
          <a:p>
            <a:r>
              <a:rPr lang="en-US" b="1" dirty="0"/>
              <a:t>Data manipulation</a:t>
            </a:r>
          </a:p>
          <a:p>
            <a:pPr lvl="1"/>
            <a:r>
              <a:rPr lang="en-US" sz="2200" dirty="0"/>
              <a:t>Functionality such as</a:t>
            </a:r>
            <a:r>
              <a:rPr lang="en-US" sz="2200" b="1" dirty="0">
                <a:solidFill>
                  <a:schemeClr val="accent6"/>
                </a:solidFill>
              </a:rPr>
              <a:t> insert, update, delete and retrieval </a:t>
            </a:r>
            <a:r>
              <a:rPr lang="en-US" sz="2200" dirty="0"/>
              <a:t>of the data.</a:t>
            </a:r>
          </a:p>
          <a:p>
            <a:r>
              <a:rPr lang="en-US" b="1" dirty="0"/>
              <a:t>Data dictionary</a:t>
            </a:r>
          </a:p>
          <a:p>
            <a:pPr lvl="1"/>
            <a:r>
              <a:rPr lang="en-US" sz="2200" dirty="0"/>
              <a:t>Manages </a:t>
            </a:r>
            <a:r>
              <a:rPr lang="en-US" sz="2200" b="1" dirty="0">
                <a:solidFill>
                  <a:schemeClr val="accent6"/>
                </a:solidFill>
              </a:rPr>
              <a:t>data dictionary </a:t>
            </a:r>
            <a:r>
              <a:rPr lang="en-US" sz="2200" dirty="0"/>
              <a:t>to store the </a:t>
            </a:r>
            <a:r>
              <a:rPr lang="en-US" sz="2200" b="1" dirty="0">
                <a:solidFill>
                  <a:schemeClr val="accent6"/>
                </a:solidFill>
              </a:rPr>
              <a:t>metadata</a:t>
            </a:r>
            <a:r>
              <a:rPr lang="en-US" sz="2200" dirty="0"/>
              <a:t>.</a:t>
            </a:r>
          </a:p>
          <a:p>
            <a:r>
              <a:rPr lang="en-US" b="1" dirty="0"/>
              <a:t>Communication interface</a:t>
            </a:r>
          </a:p>
          <a:p>
            <a:pPr lvl="1"/>
            <a:r>
              <a:rPr lang="en-US" sz="2200" dirty="0"/>
              <a:t>Provides interaction between </a:t>
            </a:r>
            <a:r>
              <a:rPr lang="en-US" sz="2200" b="1" dirty="0">
                <a:solidFill>
                  <a:schemeClr val="accent6"/>
                </a:solidFill>
              </a:rPr>
              <a:t>user request </a:t>
            </a:r>
            <a:r>
              <a:rPr lang="en-US" sz="2200" dirty="0"/>
              <a:t>and </a:t>
            </a:r>
            <a:r>
              <a:rPr lang="en-US" sz="2200" b="1" dirty="0">
                <a:solidFill>
                  <a:schemeClr val="accent6"/>
                </a:solidFill>
              </a:rPr>
              <a:t>database</a:t>
            </a:r>
            <a:r>
              <a:rPr lang="en-US" sz="2200" dirty="0"/>
              <a:t>.</a:t>
            </a:r>
          </a:p>
          <a:p>
            <a:r>
              <a:rPr lang="en-US" b="1" dirty="0"/>
              <a:t>Security</a:t>
            </a:r>
          </a:p>
          <a:p>
            <a:pPr lvl="1"/>
            <a:r>
              <a:rPr lang="en-US" sz="2200" dirty="0"/>
              <a:t>Ensures that only </a:t>
            </a:r>
            <a:r>
              <a:rPr lang="en-US" sz="2200" b="1" dirty="0">
                <a:solidFill>
                  <a:schemeClr val="accent6"/>
                </a:solidFill>
              </a:rPr>
              <a:t>authorized users </a:t>
            </a:r>
            <a:r>
              <a:rPr lang="en-US" sz="2200" dirty="0"/>
              <a:t>having sufficient </a:t>
            </a:r>
            <a:r>
              <a:rPr lang="en-US" sz="2200" b="1" dirty="0">
                <a:solidFill>
                  <a:schemeClr val="accent6"/>
                </a:solidFill>
              </a:rPr>
              <a:t>privileges</a:t>
            </a:r>
            <a:r>
              <a:rPr lang="en-US" sz="2200" dirty="0"/>
              <a:t> to access data.</a:t>
            </a:r>
          </a:p>
          <a:p>
            <a:r>
              <a:rPr lang="en-US" b="1" dirty="0"/>
              <a:t>Back-up and Recovery</a:t>
            </a:r>
          </a:p>
          <a:p>
            <a:pPr lvl="1"/>
            <a:r>
              <a:rPr lang="en-US" sz="2200" dirty="0"/>
              <a:t>Provides a way to </a:t>
            </a:r>
            <a:r>
              <a:rPr lang="en-US" sz="2200" b="1" dirty="0">
                <a:solidFill>
                  <a:schemeClr val="accent6"/>
                </a:solidFill>
              </a:rPr>
              <a:t>back-up</a:t>
            </a:r>
            <a:r>
              <a:rPr lang="en-US" sz="2200" dirty="0"/>
              <a:t> data periodically and </a:t>
            </a:r>
            <a:r>
              <a:rPr lang="en-US" sz="2200" b="1" dirty="0">
                <a:solidFill>
                  <a:schemeClr val="accent6"/>
                </a:solidFill>
              </a:rPr>
              <a:t>recovering</a:t>
            </a:r>
            <a:r>
              <a:rPr lang="en-US" sz="2200" dirty="0"/>
              <a:t> from different type of failures.</a:t>
            </a:r>
            <a:endParaRPr lang="en-US" dirty="0"/>
          </a:p>
          <a:p>
            <a:r>
              <a:rPr lang="en-US" b="1" dirty="0"/>
              <a:t>Concurrency control</a:t>
            </a:r>
          </a:p>
          <a:p>
            <a:pPr lvl="1"/>
            <a:r>
              <a:rPr lang="en-US" sz="2200" b="1" dirty="0">
                <a:solidFill>
                  <a:schemeClr val="accent6"/>
                </a:solidFill>
              </a:rPr>
              <a:t>Controls concurrency </a:t>
            </a:r>
            <a:r>
              <a:rPr lang="en-US" sz="2200" dirty="0"/>
              <a:t>of the same data </a:t>
            </a:r>
            <a:r>
              <a:rPr lang="en-US" sz="2200" b="1" dirty="0">
                <a:solidFill>
                  <a:schemeClr val="accent6"/>
                </a:solidFill>
              </a:rPr>
              <a:t>among multiple users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352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CF7F2-C53B-3D6F-81CD-5234E45AF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2D59674-90B4-C4D5-C3FC-3A7912C02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Function and Services of DBMS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91138A5-CEB3-8E8D-6281-96929018D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54" y="804511"/>
            <a:ext cx="11929641" cy="5593943"/>
          </a:xfrm>
        </p:spPr>
        <p:txBody>
          <a:bodyPr/>
          <a:lstStyle/>
          <a:p>
            <a:r>
              <a:rPr lang="en-US" b="1" dirty="0"/>
              <a:t>Provide Atomicity</a:t>
            </a:r>
          </a:p>
          <a:p>
            <a:pPr lvl="1"/>
            <a:r>
              <a:rPr lang="en-US" sz="2200" dirty="0"/>
              <a:t>Ensures </a:t>
            </a:r>
            <a:r>
              <a:rPr lang="en-US" sz="2200" b="1" dirty="0">
                <a:solidFill>
                  <a:schemeClr val="accent6"/>
                </a:solidFill>
              </a:rPr>
              <a:t>atomicity</a:t>
            </a:r>
            <a:r>
              <a:rPr lang="en-US" sz="2200" dirty="0"/>
              <a:t> of the transaction. All the operations within the transaction perform </a:t>
            </a:r>
            <a:r>
              <a:rPr lang="en-US" sz="2200" b="1" dirty="0">
                <a:solidFill>
                  <a:schemeClr val="accent6"/>
                </a:solidFill>
              </a:rPr>
              <a:t>100%</a:t>
            </a:r>
            <a:r>
              <a:rPr lang="en-US" sz="2200" dirty="0"/>
              <a:t> or </a:t>
            </a:r>
            <a:r>
              <a:rPr lang="en-US" sz="2200" b="1" dirty="0">
                <a:solidFill>
                  <a:schemeClr val="accent6"/>
                </a:solidFill>
              </a:rPr>
              <a:t>0%</a:t>
            </a:r>
            <a:r>
              <a:rPr lang="en-US" sz="2200" dirty="0"/>
              <a:t>.</a:t>
            </a:r>
            <a:endParaRPr lang="en-US" dirty="0"/>
          </a:p>
          <a:p>
            <a:r>
              <a:rPr lang="en-US" b="1" dirty="0"/>
              <a:t>Data Independency</a:t>
            </a:r>
          </a:p>
          <a:p>
            <a:pPr lvl="1">
              <a:lnSpc>
                <a:spcPct val="100000"/>
              </a:lnSpc>
            </a:pPr>
            <a:r>
              <a:rPr lang="en-IN" sz="2200" b="1" dirty="0">
                <a:solidFill>
                  <a:schemeClr val="accent6"/>
                </a:solidFill>
              </a:rPr>
              <a:t>Ability to modify a schema </a:t>
            </a:r>
            <a:r>
              <a:rPr lang="en-IN" sz="2200" dirty="0"/>
              <a:t>definition in one level without affecting a schema definition in the next higher level</a:t>
            </a:r>
            <a:endParaRPr lang="en-US" sz="2200" b="1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7336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996D1-AEB8-DFCC-50F4-6A1A4A48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39C630-E8B7-BE7E-AD8A-2AAE4C65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latin typeface="Roboto Condensed (Body)"/>
              </a:rPr>
              <a:t>Data Models</a:t>
            </a:r>
            <a:endParaRPr lang="en-US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16C77E-55C8-9887-9A03-81EFA08A4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418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Data Models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296" y="757856"/>
            <a:ext cx="11868533" cy="5593943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US" dirty="0"/>
              <a:t>A data model is a collection of </a:t>
            </a:r>
            <a:r>
              <a:rPr lang="en-US" b="1" dirty="0">
                <a:solidFill>
                  <a:schemeClr val="accent6"/>
                </a:solidFill>
              </a:rPr>
              <a:t>conceptual tools </a:t>
            </a:r>
            <a:r>
              <a:rPr lang="en-US" dirty="0"/>
              <a:t>used to describe </a:t>
            </a:r>
          </a:p>
          <a:p>
            <a:pPr lvl="1">
              <a:lnSpc>
                <a:spcPct val="100000"/>
              </a:lnSpc>
            </a:pPr>
            <a:r>
              <a:rPr lang="en-US" sz="2200" b="1" dirty="0">
                <a:solidFill>
                  <a:schemeClr val="accent6"/>
                </a:solidFill>
              </a:rPr>
              <a:t>data</a:t>
            </a:r>
            <a:r>
              <a:rPr lang="en-US" sz="2200" dirty="0"/>
              <a:t>, </a:t>
            </a:r>
          </a:p>
          <a:p>
            <a:pPr lvl="1">
              <a:lnSpc>
                <a:spcPct val="100000"/>
              </a:lnSpc>
            </a:pPr>
            <a:r>
              <a:rPr lang="en-US" sz="2200" b="1" dirty="0">
                <a:solidFill>
                  <a:schemeClr val="accent6"/>
                </a:solidFill>
              </a:rPr>
              <a:t>data relationships</a:t>
            </a:r>
            <a:r>
              <a:rPr lang="en-US" sz="2200" dirty="0"/>
              <a:t>, </a:t>
            </a:r>
          </a:p>
          <a:p>
            <a:pPr lvl="1">
              <a:lnSpc>
                <a:spcPct val="100000"/>
              </a:lnSpc>
            </a:pPr>
            <a:r>
              <a:rPr lang="en-US" sz="2200" b="1" dirty="0">
                <a:solidFill>
                  <a:schemeClr val="accent6"/>
                </a:solidFill>
              </a:rPr>
              <a:t>data semantics </a:t>
            </a:r>
            <a:r>
              <a:rPr lang="en-US" sz="2200" dirty="0"/>
              <a:t>and </a:t>
            </a:r>
          </a:p>
          <a:p>
            <a:pPr lvl="1">
              <a:lnSpc>
                <a:spcPct val="100000"/>
              </a:lnSpc>
            </a:pPr>
            <a:r>
              <a:rPr lang="en-US" sz="2200" b="1" dirty="0">
                <a:solidFill>
                  <a:schemeClr val="accent6"/>
                </a:solidFill>
              </a:rPr>
              <a:t>consistency constraints 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    to ensure a structured and reliable database environment.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In other words, a data model is a </a:t>
            </a:r>
            <a:r>
              <a:rPr lang="en-US" b="1" dirty="0">
                <a:solidFill>
                  <a:schemeClr val="accent6"/>
                </a:solidFill>
              </a:rPr>
              <a:t>set of concepts </a:t>
            </a:r>
            <a:r>
              <a:rPr lang="en-US" dirty="0"/>
              <a:t>used to </a:t>
            </a:r>
            <a:r>
              <a:rPr lang="en-US" b="1" dirty="0">
                <a:solidFill>
                  <a:schemeClr val="accent6"/>
                </a:solidFill>
              </a:rPr>
              <a:t>describe</a:t>
            </a:r>
            <a:r>
              <a:rPr lang="en-US" dirty="0"/>
              <a:t> the </a:t>
            </a:r>
            <a:r>
              <a:rPr lang="en-US" b="1" dirty="0">
                <a:solidFill>
                  <a:schemeClr val="accent6"/>
                </a:solidFill>
              </a:rPr>
              <a:t>structure of a database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Data models are either </a:t>
            </a:r>
            <a:r>
              <a:rPr lang="en-US" b="1" dirty="0">
                <a:solidFill>
                  <a:schemeClr val="accent6"/>
                </a:solidFill>
              </a:rPr>
              <a:t>logical data model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/>
                </a:solidFill>
              </a:rPr>
              <a:t>physical data model</a:t>
            </a:r>
            <a:r>
              <a:rPr lang="en-US" dirty="0"/>
              <a:t>. </a:t>
            </a:r>
          </a:p>
          <a:p>
            <a:pPr marL="1001712" lvl="1" indent="-45720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08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Data Models (Conti..)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0066"/>
            <a:ext cx="11929641" cy="5593943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None/>
            </a:pPr>
            <a:endParaRPr lang="en-US" sz="3000" dirty="0">
              <a:solidFill>
                <a:schemeClr val="accent6"/>
              </a:solidFill>
            </a:endParaRPr>
          </a:p>
          <a:p>
            <a:pPr marL="544512" lvl="1" indent="0">
              <a:buNone/>
            </a:pP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39965" y="738366"/>
            <a:ext cx="11929641" cy="51500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65113" marR="0" lvl="0" indent="-265113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different types of data models are given below in the figure.</a:t>
            </a:r>
          </a:p>
          <a:p>
            <a:pPr marL="265113" marR="0" lvl="0" indent="-265113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001712" marR="0" lvl="1" indent="-4572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105F61-7092-AD59-10F6-4ACD2078B2C0}"/>
              </a:ext>
            </a:extLst>
          </p:cNvPr>
          <p:cNvCxnSpPr>
            <a:cxnSpLocks/>
          </p:cNvCxnSpPr>
          <p:nvPr/>
        </p:nvCxnSpPr>
        <p:spPr>
          <a:xfrm>
            <a:off x="3520466" y="2015435"/>
            <a:ext cx="611116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7043D9-DCC5-3BC0-5773-06EBE52E50C3}"/>
              </a:ext>
            </a:extLst>
          </p:cNvPr>
          <p:cNvSpPr txBox="1"/>
          <p:nvPr/>
        </p:nvSpPr>
        <p:spPr>
          <a:xfrm>
            <a:off x="5533055" y="1277011"/>
            <a:ext cx="2017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DATA MODELS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EA73CD-FC70-E025-EAC8-99C50068C35C}"/>
              </a:ext>
            </a:extLst>
          </p:cNvPr>
          <p:cNvSpPr txBox="1"/>
          <p:nvPr/>
        </p:nvSpPr>
        <p:spPr>
          <a:xfrm>
            <a:off x="770531" y="3198999"/>
            <a:ext cx="2280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accent6"/>
                </a:solidFill>
              </a:rPr>
              <a:t>Object-Based Logical Data Model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F2389E-82D3-5A32-3ED8-8BECB54FB5E9}"/>
              </a:ext>
            </a:extLst>
          </p:cNvPr>
          <p:cNvSpPr txBox="1"/>
          <p:nvPr/>
        </p:nvSpPr>
        <p:spPr>
          <a:xfrm>
            <a:off x="2360649" y="2251125"/>
            <a:ext cx="23459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solidFill>
                  <a:schemeClr val="accent6"/>
                </a:solidFill>
              </a:rPr>
              <a:t>Logical Data Model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FF6200-CCDD-2C05-A960-42544B96634D}"/>
              </a:ext>
            </a:extLst>
          </p:cNvPr>
          <p:cNvCxnSpPr>
            <a:cxnSpLocks/>
          </p:cNvCxnSpPr>
          <p:nvPr/>
        </p:nvCxnSpPr>
        <p:spPr>
          <a:xfrm>
            <a:off x="9630690" y="2615837"/>
            <a:ext cx="0" cy="284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8BC0562-5EDE-0032-5245-6C515AAD764E}"/>
              </a:ext>
            </a:extLst>
          </p:cNvPr>
          <p:cNvCxnSpPr>
            <a:cxnSpLocks/>
          </p:cNvCxnSpPr>
          <p:nvPr/>
        </p:nvCxnSpPr>
        <p:spPr>
          <a:xfrm>
            <a:off x="6519515" y="1689823"/>
            <a:ext cx="0" cy="284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FD6AE8D-F3B8-1542-F8D2-795344EAF6FE}"/>
              </a:ext>
            </a:extLst>
          </p:cNvPr>
          <p:cNvCxnSpPr>
            <a:cxnSpLocks/>
          </p:cNvCxnSpPr>
          <p:nvPr/>
        </p:nvCxnSpPr>
        <p:spPr>
          <a:xfrm>
            <a:off x="3526562" y="2015127"/>
            <a:ext cx="0" cy="284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46C6CCE-55ED-22D1-60BF-09BC219F7EC8}"/>
              </a:ext>
            </a:extLst>
          </p:cNvPr>
          <p:cNvSpPr txBox="1"/>
          <p:nvPr/>
        </p:nvSpPr>
        <p:spPr>
          <a:xfrm>
            <a:off x="8212827" y="2881577"/>
            <a:ext cx="3151342" cy="964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The Unifying Modal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The Frame Memory Model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7116DE-84C5-C8C9-FDA6-7D6ABFE00778}"/>
              </a:ext>
            </a:extLst>
          </p:cNvPr>
          <p:cNvCxnSpPr/>
          <p:nvPr/>
        </p:nvCxnSpPr>
        <p:spPr>
          <a:xfrm>
            <a:off x="1823035" y="2961160"/>
            <a:ext cx="35767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CC7DD9B-28BD-4FC6-821E-DCA46CA0642B}"/>
              </a:ext>
            </a:extLst>
          </p:cNvPr>
          <p:cNvCxnSpPr>
            <a:cxnSpLocks/>
          </p:cNvCxnSpPr>
          <p:nvPr/>
        </p:nvCxnSpPr>
        <p:spPr>
          <a:xfrm>
            <a:off x="3522754" y="2597175"/>
            <a:ext cx="0" cy="342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79DBFB6-9BC3-D05F-EF35-398D4FFAB1DC}"/>
              </a:ext>
            </a:extLst>
          </p:cNvPr>
          <p:cNvCxnSpPr>
            <a:cxnSpLocks/>
          </p:cNvCxnSpPr>
          <p:nvPr/>
        </p:nvCxnSpPr>
        <p:spPr>
          <a:xfrm>
            <a:off x="1824635" y="2961277"/>
            <a:ext cx="0" cy="284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18F952D-67E5-DCC5-AF95-1C23F9694B99}"/>
              </a:ext>
            </a:extLst>
          </p:cNvPr>
          <p:cNvCxnSpPr>
            <a:cxnSpLocks/>
          </p:cNvCxnSpPr>
          <p:nvPr/>
        </p:nvCxnSpPr>
        <p:spPr>
          <a:xfrm>
            <a:off x="5399050" y="2958737"/>
            <a:ext cx="0" cy="284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841E2D7-53EC-D6EA-DF91-15F4EB082975}"/>
              </a:ext>
            </a:extLst>
          </p:cNvPr>
          <p:cNvSpPr txBox="1"/>
          <p:nvPr/>
        </p:nvSpPr>
        <p:spPr>
          <a:xfrm>
            <a:off x="330480" y="4104648"/>
            <a:ext cx="3601592" cy="2349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The Entity-Relationship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The Object-Oriented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The Binary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The Semantic Data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The Functional Data Model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C06398-C7A9-5BD3-6D6C-FC9887317145}"/>
              </a:ext>
            </a:extLst>
          </p:cNvPr>
          <p:cNvSpPr txBox="1"/>
          <p:nvPr/>
        </p:nvSpPr>
        <p:spPr>
          <a:xfrm>
            <a:off x="4072037" y="4107359"/>
            <a:ext cx="2967936" cy="142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The Relational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The Network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The Hierarchical Model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916FD53-2499-1AE3-02E8-E182D091D4A5}"/>
              </a:ext>
            </a:extLst>
          </p:cNvPr>
          <p:cNvCxnSpPr>
            <a:cxnSpLocks/>
          </p:cNvCxnSpPr>
          <p:nvPr/>
        </p:nvCxnSpPr>
        <p:spPr>
          <a:xfrm>
            <a:off x="1823365" y="3851547"/>
            <a:ext cx="0" cy="284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6752B26-A4A3-EE79-F67C-63427B426312}"/>
              </a:ext>
            </a:extLst>
          </p:cNvPr>
          <p:cNvSpPr txBox="1"/>
          <p:nvPr/>
        </p:nvSpPr>
        <p:spPr>
          <a:xfrm>
            <a:off x="8401609" y="2249453"/>
            <a:ext cx="24878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solidFill>
                  <a:schemeClr val="accent6"/>
                </a:solidFill>
              </a:rPr>
              <a:t>Physical Data Model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0A5D123-A260-39D6-1CD8-27FC16B12BFB}"/>
              </a:ext>
            </a:extLst>
          </p:cNvPr>
          <p:cNvCxnSpPr>
            <a:cxnSpLocks/>
          </p:cNvCxnSpPr>
          <p:nvPr/>
        </p:nvCxnSpPr>
        <p:spPr>
          <a:xfrm>
            <a:off x="9626626" y="2006237"/>
            <a:ext cx="0" cy="284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C0402B4-9C19-55DB-EE8B-4918F86FC770}"/>
              </a:ext>
            </a:extLst>
          </p:cNvPr>
          <p:cNvSpPr txBox="1"/>
          <p:nvPr/>
        </p:nvSpPr>
        <p:spPr>
          <a:xfrm>
            <a:off x="4295968" y="3233948"/>
            <a:ext cx="2280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accent6"/>
                </a:solidFill>
              </a:rPr>
              <a:t>Record-Based Logical Data Model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CB3E1E8-D5D6-28F6-9127-C3BDA3E2C4D5}"/>
              </a:ext>
            </a:extLst>
          </p:cNvPr>
          <p:cNvCxnSpPr>
            <a:cxnSpLocks/>
          </p:cNvCxnSpPr>
          <p:nvPr/>
        </p:nvCxnSpPr>
        <p:spPr>
          <a:xfrm>
            <a:off x="5394605" y="3861707"/>
            <a:ext cx="0" cy="284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28">
            <a:extLst>
              <a:ext uri="{FF2B5EF4-FFF2-40B4-BE49-F238E27FC236}">
                <a16:creationId xmlns:a16="http://schemas.microsoft.com/office/drawing/2014/main" id="{F76A4866-4BA2-2B55-035F-A0547374C16E}"/>
              </a:ext>
            </a:extLst>
          </p:cNvPr>
          <p:cNvSpPr/>
          <p:nvPr/>
        </p:nvSpPr>
        <p:spPr>
          <a:xfrm>
            <a:off x="260147" y="4196683"/>
            <a:ext cx="3601591" cy="883245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Condensed (Body)"/>
            </a:endParaRPr>
          </a:p>
        </p:txBody>
      </p:sp>
      <p:sp>
        <p:nvSpPr>
          <p:cNvPr id="5" name="Rounded Rectangle 28">
            <a:extLst>
              <a:ext uri="{FF2B5EF4-FFF2-40B4-BE49-F238E27FC236}">
                <a16:creationId xmlns:a16="http://schemas.microsoft.com/office/drawing/2014/main" id="{55280961-C1DE-4262-E3D7-E45F758A3D6A}"/>
              </a:ext>
            </a:extLst>
          </p:cNvPr>
          <p:cNvSpPr/>
          <p:nvPr/>
        </p:nvSpPr>
        <p:spPr>
          <a:xfrm>
            <a:off x="4033046" y="4196682"/>
            <a:ext cx="3086212" cy="1370027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Condensed (Body)"/>
            </a:endParaRPr>
          </a:p>
        </p:txBody>
      </p:sp>
    </p:spTree>
    <p:extLst>
      <p:ext uri="{BB962C8B-B14F-4D97-AF65-F5344CB8AC3E}">
        <p14:creationId xmlns:p14="http://schemas.microsoft.com/office/powerpoint/2010/main" val="114008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40" grpId="0"/>
      <p:bldP spid="47" grpId="0"/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sz="3500" dirty="0"/>
              <a:t>Record Based </a:t>
            </a:r>
            <a:r>
              <a:rPr sz="3500" dirty="0"/>
              <a:t>D</a:t>
            </a:r>
            <a:r>
              <a:rPr lang="en-US" sz="3500" dirty="0"/>
              <a:t>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895" y="801805"/>
            <a:ext cx="11690705" cy="5593943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Network Data Model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Data in network model are represented by collection of records. A record is defined as a collection of logically related data items.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Relationships among data are represented by links. Links can also be considered as pointers.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Below figure represents a sample network database using the two-table information, Customer and Account.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DCFE4AB-7650-1EA4-7BE0-B85A62A353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051688"/>
              </p:ext>
            </p:extLst>
          </p:nvPr>
        </p:nvGraphicFramePr>
        <p:xfrm>
          <a:off x="7632981" y="3853051"/>
          <a:ext cx="2895227" cy="266750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0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92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chemeClr val="bg1"/>
                          </a:solidFill>
                        </a:rPr>
                        <a:t>Ano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51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516"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A02</a:t>
                      </a:r>
                      <a:endParaRPr lang="en-US" sz="22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6000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516"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A03</a:t>
                      </a:r>
                      <a:endParaRPr lang="en-US" sz="22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7000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51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8000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51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6000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7BC4F02-0AF9-CC9E-5CB4-67EC934CA5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170438"/>
              </p:ext>
            </p:extLst>
          </p:nvPr>
        </p:nvGraphicFramePr>
        <p:xfrm>
          <a:off x="644344" y="3853051"/>
          <a:ext cx="5862215" cy="266750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6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58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2061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Cname</a:t>
                      </a:r>
                      <a:endParaRPr 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Bname</a:t>
                      </a:r>
                      <a:endParaRPr 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06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Ankit Patel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err="1">
                          <a:solidFill>
                            <a:schemeClr val="tx1"/>
                          </a:solidFill>
                        </a:rPr>
                        <a:t>Raiya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 Road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06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Nilesh Shah</a:t>
                      </a:r>
                      <a:endParaRPr lang="en-US" sz="22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Kadva</a:t>
                      </a:r>
                      <a:r>
                        <a:rPr lang="en-US" sz="2200" baseline="0" dirty="0">
                          <a:solidFill>
                            <a:schemeClr val="tx1"/>
                          </a:solidFill>
                        </a:rPr>
                        <a:t> Chock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06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Manish Jain</a:t>
                      </a:r>
                      <a:endParaRPr lang="en-US" sz="22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Indira</a:t>
                      </a:r>
                      <a:r>
                        <a:rPr lang="en-US" sz="2200" baseline="0" dirty="0">
                          <a:solidFill>
                            <a:schemeClr val="tx1"/>
                          </a:solidFill>
                        </a:rPr>
                        <a:t> Circle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06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Bhavin Shah</a:t>
                      </a:r>
                      <a:endParaRPr lang="en-US" sz="22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err="1">
                          <a:solidFill>
                            <a:schemeClr val="tx1"/>
                          </a:solidFill>
                        </a:rPr>
                        <a:t>Limda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 Chowk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Morbi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06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Raj Joshi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Jim </a:t>
                      </a:r>
                      <a:r>
                        <a:rPr lang="en-US" sz="2200" dirty="0" err="1">
                          <a:solidFill>
                            <a:schemeClr val="tx1"/>
                          </a:solidFill>
                        </a:rPr>
                        <a:t>Khana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Surat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 Same Side Corner Rectangle 13">
            <a:extLst>
              <a:ext uri="{FF2B5EF4-FFF2-40B4-BE49-F238E27FC236}">
                <a16:creationId xmlns:a16="http://schemas.microsoft.com/office/drawing/2014/main" id="{20856FC7-53AC-228D-FE2F-A733DB0CEB93}"/>
              </a:ext>
            </a:extLst>
          </p:cNvPr>
          <p:cNvSpPr/>
          <p:nvPr/>
        </p:nvSpPr>
        <p:spPr>
          <a:xfrm>
            <a:off x="643998" y="3331133"/>
            <a:ext cx="1551141" cy="407094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accent6"/>
                </a:solidFill>
              </a:rPr>
              <a:t>CUSTOMER</a:t>
            </a:r>
          </a:p>
        </p:txBody>
      </p:sp>
      <p:sp>
        <p:nvSpPr>
          <p:cNvPr id="7" name="Round Same Side Corner Rectangle 14">
            <a:extLst>
              <a:ext uri="{FF2B5EF4-FFF2-40B4-BE49-F238E27FC236}">
                <a16:creationId xmlns:a16="http://schemas.microsoft.com/office/drawing/2014/main" id="{C6CE176A-C67D-1454-4D3F-76F150383BD5}"/>
              </a:ext>
            </a:extLst>
          </p:cNvPr>
          <p:cNvSpPr/>
          <p:nvPr/>
        </p:nvSpPr>
        <p:spPr>
          <a:xfrm>
            <a:off x="7655616" y="3331133"/>
            <a:ext cx="1551141" cy="407094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accent6"/>
                </a:solidFill>
              </a:rPr>
              <a:t>ACCOUNT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1FA6F9-34BF-427F-FD52-55991EADD94D}"/>
              </a:ext>
            </a:extLst>
          </p:cNvPr>
          <p:cNvCxnSpPr/>
          <p:nvPr/>
        </p:nvCxnSpPr>
        <p:spPr>
          <a:xfrm>
            <a:off x="6506559" y="4555857"/>
            <a:ext cx="1136073" cy="1588"/>
          </a:xfrm>
          <a:prstGeom prst="straightConnector1">
            <a:avLst/>
          </a:prstGeom>
          <a:ln w="2540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AEF0A00-C185-9180-29BD-1B608DD49553}"/>
              </a:ext>
            </a:extLst>
          </p:cNvPr>
          <p:cNvCxnSpPr/>
          <p:nvPr/>
        </p:nvCxnSpPr>
        <p:spPr>
          <a:xfrm>
            <a:off x="6506559" y="4924268"/>
            <a:ext cx="1136073" cy="1588"/>
          </a:xfrm>
          <a:prstGeom prst="straightConnector1">
            <a:avLst/>
          </a:prstGeom>
          <a:ln w="2540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DBD7FF2-E791-A9C2-05E8-E847750AA4A4}"/>
              </a:ext>
            </a:extLst>
          </p:cNvPr>
          <p:cNvCxnSpPr/>
          <p:nvPr/>
        </p:nvCxnSpPr>
        <p:spPr>
          <a:xfrm>
            <a:off x="6519543" y="5418545"/>
            <a:ext cx="1136073" cy="1588"/>
          </a:xfrm>
          <a:prstGeom prst="straightConnector1">
            <a:avLst/>
          </a:prstGeom>
          <a:ln w="2540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337560-30B2-09D7-C1A9-169B5AD348DC}"/>
              </a:ext>
            </a:extLst>
          </p:cNvPr>
          <p:cNvCxnSpPr/>
          <p:nvPr/>
        </p:nvCxnSpPr>
        <p:spPr>
          <a:xfrm>
            <a:off x="6506556" y="5898928"/>
            <a:ext cx="1136073" cy="1588"/>
          </a:xfrm>
          <a:prstGeom prst="straightConnector1">
            <a:avLst/>
          </a:prstGeom>
          <a:ln w="2540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3FD92E-DB63-7868-62B3-3916705E4E2C}"/>
              </a:ext>
            </a:extLst>
          </p:cNvPr>
          <p:cNvCxnSpPr/>
          <p:nvPr/>
        </p:nvCxnSpPr>
        <p:spPr>
          <a:xfrm>
            <a:off x="6506556" y="6253487"/>
            <a:ext cx="1136073" cy="1588"/>
          </a:xfrm>
          <a:prstGeom prst="straightConnector1">
            <a:avLst/>
          </a:prstGeom>
          <a:ln w="2540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8822D7-CD89-B9A1-5F11-DFBB5C12A97F}"/>
              </a:ext>
            </a:extLst>
          </p:cNvPr>
          <p:cNvCxnSpPr/>
          <p:nvPr/>
        </p:nvCxnSpPr>
        <p:spPr>
          <a:xfrm>
            <a:off x="6506126" y="5044440"/>
            <a:ext cx="1136074" cy="762000"/>
          </a:xfrm>
          <a:prstGeom prst="straightConnector1">
            <a:avLst/>
          </a:prstGeom>
          <a:ln w="2540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4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sz="3500" dirty="0"/>
              <a:t>Record Based </a:t>
            </a:r>
            <a:r>
              <a:rPr sz="3500" dirty="0"/>
              <a:t>D</a:t>
            </a:r>
            <a:r>
              <a:rPr lang="en-US" sz="3500" dirty="0"/>
              <a:t>ata</a:t>
            </a:r>
            <a:r>
              <a:rPr sz="3500" dirty="0"/>
              <a:t> Models (Conti…)</a:t>
            </a:r>
            <a:endParaRPr lang="en-US" sz="3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65" y="795180"/>
            <a:ext cx="12060819" cy="5687887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b="1" dirty="0">
                <a:solidFill>
                  <a:schemeClr val="accent6"/>
                </a:solidFill>
              </a:rPr>
              <a:t>Hierarchical Data Model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The hierarchical data model is a special case of the network data model. In hierarchical data model, tree concept is used to represent data and relationship among data.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The nodes of tree are connected by pointer or link.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Below figure shows the hierarchal data model.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A88888-E0B4-6914-F7CE-35BC9E843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936077"/>
              </p:ext>
            </p:extLst>
          </p:nvPr>
        </p:nvGraphicFramePr>
        <p:xfrm>
          <a:off x="3971589" y="3138868"/>
          <a:ext cx="3858016" cy="426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29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9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chemeClr val="tx2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chemeClr val="tx2"/>
                          </a:solidFill>
                        </a:rPr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9150CB-93E7-22BD-77E6-BA3627A191BE}"/>
              </a:ext>
            </a:extLst>
          </p:cNvPr>
          <p:cNvSpPr txBox="1"/>
          <p:nvPr/>
        </p:nvSpPr>
        <p:spPr>
          <a:xfrm>
            <a:off x="4367225" y="2677202"/>
            <a:ext cx="318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/>
                </a:solidFill>
              </a:rPr>
              <a:t>Institute / College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5D5FAE-8665-B272-0721-378AA19C3BCE}"/>
              </a:ext>
            </a:extLst>
          </p:cNvPr>
          <p:cNvGrpSpPr/>
          <p:nvPr/>
        </p:nvGrpSpPr>
        <p:grpSpPr>
          <a:xfrm>
            <a:off x="3729420" y="3598246"/>
            <a:ext cx="4464638" cy="612358"/>
            <a:chOff x="4108537" y="1853852"/>
            <a:chExt cx="3734844" cy="651353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6397DD4-9C2F-5D25-EB2F-DDBFE228FB03}"/>
                </a:ext>
              </a:extLst>
            </p:cNvPr>
            <p:cNvCxnSpPr/>
            <p:nvPr/>
          </p:nvCxnSpPr>
          <p:spPr>
            <a:xfrm>
              <a:off x="5924811" y="1853852"/>
              <a:ext cx="0" cy="2630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21D9268-3C19-50A4-EAAA-C0C07D320CD7}"/>
                </a:ext>
              </a:extLst>
            </p:cNvPr>
            <p:cNvCxnSpPr/>
            <p:nvPr/>
          </p:nvCxnSpPr>
          <p:spPr>
            <a:xfrm>
              <a:off x="4108542" y="2116899"/>
              <a:ext cx="373275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3EFA17D-B6CC-4FA0-8F45-72D690559CB1}"/>
                </a:ext>
              </a:extLst>
            </p:cNvPr>
            <p:cNvCxnSpPr/>
            <p:nvPr/>
          </p:nvCxnSpPr>
          <p:spPr>
            <a:xfrm>
              <a:off x="4108537" y="2116899"/>
              <a:ext cx="0" cy="38830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382064E-4076-671F-7C98-66F3DE80C1D4}"/>
                </a:ext>
              </a:extLst>
            </p:cNvPr>
            <p:cNvCxnSpPr/>
            <p:nvPr/>
          </p:nvCxnSpPr>
          <p:spPr>
            <a:xfrm>
              <a:off x="7843381" y="2116899"/>
              <a:ext cx="0" cy="38830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FA85CEE-F7F2-AE99-EF61-7E9F9C919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318834"/>
              </p:ext>
            </p:extLst>
          </p:nvPr>
        </p:nvGraphicFramePr>
        <p:xfrm>
          <a:off x="1555659" y="4601376"/>
          <a:ext cx="4752110" cy="426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118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chemeClr val="tx2"/>
                          </a:solidFill>
                        </a:rPr>
                        <a:t>Inst.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chemeClr val="tx2"/>
                          </a:solidFill>
                        </a:rPr>
                        <a:t>Name of Principal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EEF4141-7F27-5E36-9FBE-E1812598AF21}"/>
              </a:ext>
            </a:extLst>
          </p:cNvPr>
          <p:cNvSpPr txBox="1"/>
          <p:nvPr/>
        </p:nvSpPr>
        <p:spPr>
          <a:xfrm>
            <a:off x="2636337" y="4118970"/>
            <a:ext cx="2242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/>
                </a:solidFill>
              </a:rPr>
              <a:t>Diploma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5363836-1634-1083-E343-7770B8E99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310298"/>
              </p:ext>
            </p:extLst>
          </p:nvPr>
        </p:nvGraphicFramePr>
        <p:xfrm>
          <a:off x="6666107" y="4601375"/>
          <a:ext cx="4296788" cy="426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16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9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chemeClr val="tx2"/>
                          </a:solidFill>
                        </a:rPr>
                        <a:t>Inst.</a:t>
                      </a:r>
                      <a:r>
                        <a:rPr lang="en-US" sz="2200" b="0" baseline="0" dirty="0">
                          <a:solidFill>
                            <a:schemeClr val="tx2"/>
                          </a:solidFill>
                        </a:rPr>
                        <a:t> Code</a:t>
                      </a:r>
                      <a:endParaRPr lang="en-US" sz="2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chemeClr val="tx2"/>
                          </a:solidFill>
                        </a:rPr>
                        <a:t>Name</a:t>
                      </a:r>
                      <a:r>
                        <a:rPr lang="en-US" sz="2200" b="0" baseline="0" dirty="0">
                          <a:solidFill>
                            <a:schemeClr val="tx2"/>
                          </a:solidFill>
                        </a:rPr>
                        <a:t> of Principal</a:t>
                      </a:r>
                      <a:endParaRPr lang="en-US" sz="2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3988569-60E9-BD37-0647-7B884921A1FD}"/>
              </a:ext>
            </a:extLst>
          </p:cNvPr>
          <p:cNvSpPr txBox="1"/>
          <p:nvPr/>
        </p:nvSpPr>
        <p:spPr>
          <a:xfrm>
            <a:off x="7118090" y="4118970"/>
            <a:ext cx="2242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/>
                </a:solidFill>
              </a:rPr>
              <a:t>Degree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3F1C63B-733D-C65D-BF2F-088AA3FE604E}"/>
              </a:ext>
            </a:extLst>
          </p:cNvPr>
          <p:cNvGrpSpPr/>
          <p:nvPr/>
        </p:nvGrpSpPr>
        <p:grpSpPr>
          <a:xfrm>
            <a:off x="2212216" y="5036816"/>
            <a:ext cx="3734844" cy="651353"/>
            <a:chOff x="4108537" y="1853852"/>
            <a:chExt cx="3734844" cy="651353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38C8A19-F7DF-46CF-32E0-E0D89849813D}"/>
                </a:ext>
              </a:extLst>
            </p:cNvPr>
            <p:cNvCxnSpPr/>
            <p:nvPr/>
          </p:nvCxnSpPr>
          <p:spPr>
            <a:xfrm>
              <a:off x="5924811" y="1853852"/>
              <a:ext cx="0" cy="2630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D669948-CE31-2F9D-E6D5-83664A5F1EE9}"/>
                </a:ext>
              </a:extLst>
            </p:cNvPr>
            <p:cNvCxnSpPr/>
            <p:nvPr/>
          </p:nvCxnSpPr>
          <p:spPr>
            <a:xfrm>
              <a:off x="4108537" y="2116899"/>
              <a:ext cx="373275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9D126AF-5875-845F-417E-70F573EED2FB}"/>
                </a:ext>
              </a:extLst>
            </p:cNvPr>
            <p:cNvCxnSpPr/>
            <p:nvPr/>
          </p:nvCxnSpPr>
          <p:spPr>
            <a:xfrm>
              <a:off x="4108537" y="2116899"/>
              <a:ext cx="0" cy="38830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9BF19BF-9A6F-0F25-87C7-7871C9248F3E}"/>
                </a:ext>
              </a:extLst>
            </p:cNvPr>
            <p:cNvCxnSpPr/>
            <p:nvPr/>
          </p:nvCxnSpPr>
          <p:spPr>
            <a:xfrm>
              <a:off x="7843381" y="2116899"/>
              <a:ext cx="0" cy="38830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D4E088D-3424-91BE-F3CD-0642A61DB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858170"/>
              </p:ext>
            </p:extLst>
          </p:nvPr>
        </p:nvGraphicFramePr>
        <p:xfrm>
          <a:off x="283208" y="6058087"/>
          <a:ext cx="3858016" cy="426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29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9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chemeClr val="tx2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chemeClr val="tx2"/>
                          </a:solidFill>
                        </a:rPr>
                        <a:t>Department</a:t>
                      </a:r>
                      <a:r>
                        <a:rPr lang="en-US" sz="2200" b="0" baseline="0" dirty="0">
                          <a:solidFill>
                            <a:schemeClr val="tx2"/>
                          </a:solidFill>
                        </a:rPr>
                        <a:t> </a:t>
                      </a:r>
                      <a:endParaRPr lang="en-US" sz="22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61502B8-A539-7BA4-831E-FA75D3134F93}"/>
              </a:ext>
            </a:extLst>
          </p:cNvPr>
          <p:cNvSpPr txBox="1"/>
          <p:nvPr/>
        </p:nvSpPr>
        <p:spPr>
          <a:xfrm>
            <a:off x="1222041" y="5590024"/>
            <a:ext cx="2242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/>
                </a:solidFill>
              </a:rPr>
              <a:t>Faculty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EA114F2-731E-0FE1-DD4F-BAB05C857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547753"/>
              </p:ext>
            </p:extLst>
          </p:nvPr>
        </p:nvGraphicFramePr>
        <p:xfrm>
          <a:off x="4451183" y="6056347"/>
          <a:ext cx="4680728" cy="426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28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3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8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chemeClr val="tx2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chemeClr val="tx2"/>
                          </a:solidFill>
                        </a:rP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chemeClr val="tx2"/>
                          </a:solidFill>
                        </a:rPr>
                        <a:t>Semester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CC954609-8C25-E0D4-276E-39E6119A572D}"/>
              </a:ext>
            </a:extLst>
          </p:cNvPr>
          <p:cNvSpPr txBox="1"/>
          <p:nvPr/>
        </p:nvSpPr>
        <p:spPr>
          <a:xfrm>
            <a:off x="4779812" y="5622853"/>
            <a:ext cx="2242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/>
                </a:solidFill>
              </a:rPr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1344769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4" grpId="0"/>
      <p:bldP spid="21" grpId="0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DDEB3C-925E-D30E-2415-10AD4B68C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sz="3500" dirty="0"/>
              <a:t>Record Based </a:t>
            </a:r>
            <a:r>
              <a:rPr sz="3500" dirty="0"/>
              <a:t>D</a:t>
            </a:r>
            <a:r>
              <a:rPr lang="en-US" sz="3500" dirty="0"/>
              <a:t>ata</a:t>
            </a:r>
            <a:r>
              <a:rPr sz="3500" dirty="0"/>
              <a:t> Models (Conti…)</a:t>
            </a:r>
            <a:endParaRPr lang="en-US" sz="35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89078C-D94D-65D0-8C01-CFE1E71BB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27" y="811965"/>
            <a:ext cx="11971240" cy="5593943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b="1" dirty="0">
                <a:solidFill>
                  <a:schemeClr val="accent6"/>
                </a:solidFill>
              </a:rPr>
              <a:t>Relational Data Model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The Relational data model uses a collection of tables to represent both data and relationships among those data. Each table contains multiple columns. Each column has unique name and a fixed width.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The banking database includes Customer, Account, and </a:t>
            </a:r>
            <a:r>
              <a:rPr lang="en-US" sz="2200" dirty="0" err="1"/>
              <a:t>Account_Holder</a:t>
            </a:r>
            <a:r>
              <a:rPr lang="en-US" sz="2200" dirty="0"/>
              <a:t> tables, where </a:t>
            </a:r>
            <a:r>
              <a:rPr lang="en-US" sz="2200" dirty="0" err="1"/>
              <a:t>Account_Holder</a:t>
            </a:r>
            <a:r>
              <a:rPr lang="en-US" sz="2200" dirty="0"/>
              <a:t> relate customers with their respective accounts.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88C512E1-7212-38CC-E930-81E1E7A562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0623759"/>
              </p:ext>
            </p:extLst>
          </p:nvPr>
        </p:nvGraphicFramePr>
        <p:xfrm>
          <a:off x="6527221" y="3791300"/>
          <a:ext cx="2468370" cy="25908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80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8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46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chemeClr val="bg1"/>
                          </a:solidFill>
                        </a:rPr>
                        <a:t>Ano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5000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462"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A02</a:t>
                      </a:r>
                      <a:endParaRPr lang="en-US" sz="22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6000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462"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A03</a:t>
                      </a:r>
                      <a:endParaRPr lang="en-US" sz="22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7000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4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8000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4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6000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50AE4BC2-A4D8-6585-E63F-5D281B7F1B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2078090"/>
              </p:ext>
            </p:extLst>
          </p:nvPr>
        </p:nvGraphicFramePr>
        <p:xfrm>
          <a:off x="371119" y="3779589"/>
          <a:ext cx="5862215" cy="25908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6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58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848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Cname</a:t>
                      </a:r>
                      <a:endParaRPr 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Bname</a:t>
                      </a:r>
                      <a:endParaRPr 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848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 err="1"/>
                        <a:t>Ankit</a:t>
                      </a:r>
                      <a:r>
                        <a:rPr lang="en-US" sz="2200" dirty="0"/>
                        <a:t> Patel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 err="1">
                          <a:solidFill>
                            <a:schemeClr val="tx1"/>
                          </a:solidFill>
                        </a:rPr>
                        <a:t>Raiya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 Road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848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Nilesh</a:t>
                      </a:r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Shah</a:t>
                      </a:r>
                      <a:endParaRPr lang="en-US" sz="22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Kadva</a:t>
                      </a:r>
                      <a:r>
                        <a:rPr lang="en-US" sz="2200" baseline="0" dirty="0">
                          <a:solidFill>
                            <a:schemeClr val="tx1"/>
                          </a:solidFill>
                        </a:rPr>
                        <a:t> Chock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848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Manish Jain</a:t>
                      </a:r>
                      <a:endParaRPr lang="en-US" sz="22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err="1">
                          <a:solidFill>
                            <a:schemeClr val="tx1"/>
                          </a:solidFill>
                        </a:rPr>
                        <a:t>Indira</a:t>
                      </a:r>
                      <a:r>
                        <a:rPr lang="en-US" sz="2200" baseline="0" dirty="0">
                          <a:solidFill>
                            <a:schemeClr val="tx1"/>
                          </a:solidFill>
                        </a:rPr>
                        <a:t> Circle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848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Bhavin</a:t>
                      </a:r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Kaul</a:t>
                      </a:r>
                      <a:endParaRPr lang="en-US" sz="22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err="1">
                          <a:solidFill>
                            <a:schemeClr val="tx1"/>
                          </a:solidFill>
                        </a:rPr>
                        <a:t>Limda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1"/>
                          </a:solidFill>
                        </a:rPr>
                        <a:t>Chowk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848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Raj Joshi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Jim </a:t>
                      </a:r>
                      <a:r>
                        <a:rPr lang="en-US" sz="2200" dirty="0" err="1">
                          <a:solidFill>
                            <a:schemeClr val="tx1"/>
                          </a:solidFill>
                        </a:rPr>
                        <a:t>Khana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err="1">
                          <a:solidFill>
                            <a:schemeClr val="tx1"/>
                          </a:solidFill>
                        </a:rPr>
                        <a:t>Surat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 Same Side Corner Rectangle 5">
            <a:extLst>
              <a:ext uri="{FF2B5EF4-FFF2-40B4-BE49-F238E27FC236}">
                <a16:creationId xmlns:a16="http://schemas.microsoft.com/office/drawing/2014/main" id="{25492FB8-7641-9894-9444-4CD7EE3E2D08}"/>
              </a:ext>
            </a:extLst>
          </p:cNvPr>
          <p:cNvSpPr/>
          <p:nvPr/>
        </p:nvSpPr>
        <p:spPr>
          <a:xfrm>
            <a:off x="370773" y="3257671"/>
            <a:ext cx="1551141" cy="407094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accent6"/>
                </a:solidFill>
              </a:rPr>
              <a:t>CUSTOMER</a:t>
            </a:r>
          </a:p>
        </p:txBody>
      </p:sp>
      <p:sp>
        <p:nvSpPr>
          <p:cNvPr id="9" name="Round Same Side Corner Rectangle 6">
            <a:extLst>
              <a:ext uri="{FF2B5EF4-FFF2-40B4-BE49-F238E27FC236}">
                <a16:creationId xmlns:a16="http://schemas.microsoft.com/office/drawing/2014/main" id="{069C6E3D-F6E7-BC72-41CD-8B90D77D1F75}"/>
              </a:ext>
            </a:extLst>
          </p:cNvPr>
          <p:cNvSpPr/>
          <p:nvPr/>
        </p:nvSpPr>
        <p:spPr>
          <a:xfrm>
            <a:off x="6531052" y="3263933"/>
            <a:ext cx="1551141" cy="407094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accent6"/>
                </a:solidFill>
              </a:rPr>
              <a:t>ACCOUNT</a:t>
            </a:r>
          </a:p>
        </p:txBody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69889D09-85BA-5116-44A7-F47EBC6BED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4308133"/>
              </p:ext>
            </p:extLst>
          </p:nvPr>
        </p:nvGraphicFramePr>
        <p:xfrm>
          <a:off x="9337189" y="3815108"/>
          <a:ext cx="2468370" cy="25908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80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8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46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Cid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Ano</a:t>
                      </a:r>
                      <a:endParaRPr 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4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A02</a:t>
                      </a:r>
                      <a:endParaRPr lang="en-US" sz="22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4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A03</a:t>
                      </a:r>
                      <a:endParaRPr lang="en-US" sz="22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4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A04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4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 Same Side Corner Rectangle 8">
            <a:extLst>
              <a:ext uri="{FF2B5EF4-FFF2-40B4-BE49-F238E27FC236}">
                <a16:creationId xmlns:a16="http://schemas.microsoft.com/office/drawing/2014/main" id="{38289458-C9D2-A4DB-F0C7-D48C291CBAD9}"/>
              </a:ext>
            </a:extLst>
          </p:cNvPr>
          <p:cNvSpPr/>
          <p:nvPr/>
        </p:nvSpPr>
        <p:spPr>
          <a:xfrm>
            <a:off x="9341020" y="3287741"/>
            <a:ext cx="2483490" cy="407094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accent6"/>
                </a:solidFill>
              </a:rPr>
              <a:t>ACCOUNT_HOLDER</a:t>
            </a:r>
          </a:p>
        </p:txBody>
      </p:sp>
    </p:spTree>
    <p:extLst>
      <p:ext uri="{BB962C8B-B14F-4D97-AF65-F5344CB8AC3E}">
        <p14:creationId xmlns:p14="http://schemas.microsoft.com/office/powerpoint/2010/main" val="49487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Object Based Data Models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30634" y="813842"/>
            <a:ext cx="11929641" cy="5649046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Entity Relational Model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Entity refers to a real word object that is different from another object.</a:t>
            </a:r>
          </a:p>
          <a:p>
            <a:pPr lvl="1"/>
            <a:r>
              <a:rPr lang="en-US" sz="2200" dirty="0"/>
              <a:t>Entity has set of properties  know as attribute.</a:t>
            </a:r>
          </a:p>
          <a:p>
            <a:pPr lvl="1"/>
            <a:r>
              <a:rPr lang="en-US" sz="2200" dirty="0"/>
              <a:t>A collection of same kind of entity is called Entity Set.</a:t>
            </a:r>
          </a:p>
          <a:p>
            <a:pPr lvl="1"/>
            <a:r>
              <a:rPr lang="en-US" sz="2200" dirty="0"/>
              <a:t>Relationship refers to the association between entities.</a:t>
            </a:r>
          </a:p>
          <a:p>
            <a:pPr lvl="1"/>
            <a:r>
              <a:rPr lang="en-US" sz="2200" dirty="0"/>
              <a:t>A collection of same kind of relationship is called Relationship Set</a:t>
            </a:r>
            <a:r>
              <a:rPr lang="en-US" sz="2200" i="1" dirty="0"/>
              <a:t>.</a:t>
            </a:r>
            <a:endParaRPr lang="en-US" sz="2200" dirty="0"/>
          </a:p>
        </p:txBody>
      </p:sp>
      <p:sp>
        <p:nvSpPr>
          <p:cNvPr id="8" name="Rectangle 7"/>
          <p:cNvSpPr/>
          <p:nvPr/>
        </p:nvSpPr>
        <p:spPr>
          <a:xfrm>
            <a:off x="2612721" y="2392471"/>
            <a:ext cx="2167003" cy="8392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301B92"/>
                </a:solidFill>
              </a:rPr>
              <a:t>Department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6011" y="2392471"/>
            <a:ext cx="2167003" cy="8392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301B92"/>
                </a:solidFill>
              </a:rPr>
              <a:t>Employee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4779724" y="2812093"/>
            <a:ext cx="100208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903929" y="2812093"/>
            <a:ext cx="100208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5666509" y="2242159"/>
            <a:ext cx="1496291" cy="1139868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301B92"/>
                </a:solidFill>
              </a:rPr>
              <a:t>HAS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742499" y="1966586"/>
            <a:ext cx="288800" cy="4258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004325" y="1966586"/>
            <a:ext cx="382387" cy="4258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 flipV="1">
            <a:off x="8279176" y="1966586"/>
            <a:ext cx="288800" cy="4258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9541002" y="1966586"/>
            <a:ext cx="382387" cy="4258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128723" y="1478070"/>
            <a:ext cx="1227551" cy="4885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301B92"/>
                </a:solidFill>
              </a:rPr>
              <a:t>D_ID</a:t>
            </a:r>
          </a:p>
        </p:txBody>
      </p:sp>
      <p:sp>
        <p:nvSpPr>
          <p:cNvPr id="18" name="Oval 17"/>
          <p:cNvSpPr/>
          <p:nvPr/>
        </p:nvSpPr>
        <p:spPr>
          <a:xfrm>
            <a:off x="3754491" y="1478070"/>
            <a:ext cx="1440964" cy="4885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301B92"/>
                </a:solidFill>
              </a:rPr>
              <a:t>NAME</a:t>
            </a:r>
          </a:p>
        </p:txBody>
      </p:sp>
      <p:sp>
        <p:nvSpPr>
          <p:cNvPr id="19" name="Oval 18"/>
          <p:cNvSpPr/>
          <p:nvPr/>
        </p:nvSpPr>
        <p:spPr>
          <a:xfrm>
            <a:off x="7665400" y="1480777"/>
            <a:ext cx="1227551" cy="4885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301B92"/>
                </a:solidFill>
              </a:rPr>
              <a:t>E_ID</a:t>
            </a:r>
          </a:p>
        </p:txBody>
      </p:sp>
      <p:sp>
        <p:nvSpPr>
          <p:cNvPr id="20" name="Oval 19"/>
          <p:cNvSpPr/>
          <p:nvPr/>
        </p:nvSpPr>
        <p:spPr>
          <a:xfrm>
            <a:off x="9394874" y="1478070"/>
            <a:ext cx="1370108" cy="4885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301B92"/>
                </a:solidFill>
              </a:rPr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08178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Object Based Data Models(Conti..)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65" y="795180"/>
            <a:ext cx="11672893" cy="5649046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>
                <a:solidFill>
                  <a:schemeClr val="accent6"/>
                </a:solidFill>
              </a:rPr>
              <a:t>Object Oriented Data Model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This model is based on collection of objects.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An object body consists of data as well as methods.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The objects that contain same type of data and same type of methods are group together  as a class.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This model is represented by UML class diagram.</a:t>
            </a:r>
          </a:p>
        </p:txBody>
      </p:sp>
    </p:spTree>
    <p:extLst>
      <p:ext uri="{BB962C8B-B14F-4D97-AF65-F5344CB8AC3E}">
        <p14:creationId xmlns:p14="http://schemas.microsoft.com/office/powerpoint/2010/main" val="82104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Object Based Data Models(Conti..)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30634" y="711201"/>
            <a:ext cx="11672893" cy="5649046"/>
          </a:xfrm>
        </p:spPr>
        <p:txBody>
          <a:bodyPr/>
          <a:lstStyle/>
          <a:p>
            <a:pPr marL="0" indent="0">
              <a:buNone/>
            </a:pP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5530" y="1708754"/>
            <a:ext cx="3039934" cy="8392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301B92"/>
                </a:solidFill>
              </a:rPr>
              <a:t>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13060" y="2549392"/>
            <a:ext cx="3039934" cy="20132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accent4"/>
                </a:solidFill>
              </a:rPr>
              <a:t>Cid</a:t>
            </a:r>
          </a:p>
          <a:p>
            <a:pPr algn="ctr"/>
            <a:r>
              <a:rPr lang="en-US" sz="2200" b="1" dirty="0" err="1">
                <a:solidFill>
                  <a:schemeClr val="accent4"/>
                </a:solidFill>
              </a:rPr>
              <a:t>CName</a:t>
            </a:r>
            <a:endParaRPr lang="en-US" sz="2200" b="1" dirty="0">
              <a:solidFill>
                <a:schemeClr val="accent4"/>
              </a:solidFill>
            </a:endParaRPr>
          </a:p>
          <a:p>
            <a:pPr algn="ctr"/>
            <a:r>
              <a:rPr lang="en-US" sz="2200" b="1" dirty="0">
                <a:solidFill>
                  <a:schemeClr val="accent4"/>
                </a:solidFill>
              </a:rPr>
              <a:t>Address</a:t>
            </a:r>
          </a:p>
          <a:p>
            <a:pPr algn="ctr"/>
            <a:r>
              <a:rPr lang="en-US" sz="2200" b="1" dirty="0">
                <a:solidFill>
                  <a:schemeClr val="accent4"/>
                </a:solidFill>
              </a:rPr>
              <a:t>City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13060" y="4562825"/>
            <a:ext cx="3039934" cy="15006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accent6"/>
                </a:solidFill>
              </a:rPr>
              <a:t>Insert( )</a:t>
            </a:r>
          </a:p>
          <a:p>
            <a:pPr algn="ctr"/>
            <a:r>
              <a:rPr lang="en-US" sz="2200" b="1" dirty="0">
                <a:solidFill>
                  <a:schemeClr val="accent6"/>
                </a:solidFill>
              </a:rPr>
              <a:t>Delete( )</a:t>
            </a:r>
          </a:p>
          <a:p>
            <a:pPr algn="ctr"/>
            <a:r>
              <a:rPr lang="en-US" sz="2200" b="1" dirty="0">
                <a:solidFill>
                  <a:schemeClr val="accent6"/>
                </a:solidFill>
              </a:rPr>
              <a:t>Update( )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4292813" y="1565563"/>
            <a:ext cx="1376675" cy="663155"/>
          </a:xfrm>
          <a:prstGeom prst="wedgeRoundRectCallout">
            <a:avLst>
              <a:gd name="adj1" fmla="val -103933"/>
              <a:gd name="adj2" fmla="val 53712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Class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4095870" y="3167932"/>
            <a:ext cx="1470146" cy="663155"/>
          </a:xfrm>
          <a:prstGeom prst="wedgeRoundRectCallout">
            <a:avLst>
              <a:gd name="adj1" fmla="val -86162"/>
              <a:gd name="adj2" fmla="val 43863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 err="1">
                <a:solidFill>
                  <a:schemeClr val="tx1"/>
                </a:solidFill>
              </a:rPr>
              <a:t>DataItems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4645987" y="4806282"/>
            <a:ext cx="1260990" cy="663155"/>
          </a:xfrm>
          <a:prstGeom prst="wedgeRoundRectCallout">
            <a:avLst>
              <a:gd name="adj1" fmla="val -135751"/>
              <a:gd name="adj2" fmla="val 60747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Methods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36170" y="1713598"/>
            <a:ext cx="3039934" cy="8392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301B92"/>
                </a:solidFill>
              </a:rPr>
              <a:t>Account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36170" y="2558723"/>
            <a:ext cx="3039934" cy="20132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accent4"/>
                </a:solidFill>
              </a:rPr>
              <a:t>Ano</a:t>
            </a:r>
            <a:endParaRPr lang="en-US" sz="2200" b="1" dirty="0">
              <a:solidFill>
                <a:schemeClr val="accent4"/>
              </a:solidFill>
            </a:endParaRPr>
          </a:p>
          <a:p>
            <a:pPr algn="ctr"/>
            <a:r>
              <a:rPr lang="en-US" sz="2200" b="1" dirty="0">
                <a:solidFill>
                  <a:schemeClr val="accent4"/>
                </a:solidFill>
              </a:rPr>
              <a:t>Balance</a:t>
            </a:r>
          </a:p>
          <a:p>
            <a:pPr algn="ctr"/>
            <a:r>
              <a:rPr lang="en-US" sz="2200" b="1" dirty="0" err="1">
                <a:solidFill>
                  <a:schemeClr val="accent4"/>
                </a:solidFill>
              </a:rPr>
              <a:t>Bname</a:t>
            </a:r>
            <a:endParaRPr lang="en-US" sz="2200" b="1" dirty="0">
              <a:solidFill>
                <a:schemeClr val="accent4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36170" y="4581487"/>
            <a:ext cx="3039934" cy="15006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accent6"/>
                </a:solidFill>
              </a:rPr>
              <a:t>ViewBalance</a:t>
            </a:r>
            <a:r>
              <a:rPr lang="en-US" sz="2200" b="1" dirty="0">
                <a:solidFill>
                  <a:schemeClr val="accent6"/>
                </a:solidFill>
              </a:rPr>
              <a:t>( )</a:t>
            </a:r>
          </a:p>
        </p:txBody>
      </p:sp>
      <p:sp>
        <p:nvSpPr>
          <p:cNvPr id="15" name="Rounded Rectangular Callout 14"/>
          <p:cNvSpPr/>
          <p:nvPr/>
        </p:nvSpPr>
        <p:spPr>
          <a:xfrm>
            <a:off x="9686772" y="1622844"/>
            <a:ext cx="1376675" cy="663155"/>
          </a:xfrm>
          <a:prstGeom prst="wedgeRoundRectCallout">
            <a:avLst>
              <a:gd name="adj1" fmla="val -85252"/>
              <a:gd name="adj2" fmla="val 42940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Class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10033136" y="3063717"/>
            <a:ext cx="2000130" cy="663155"/>
          </a:xfrm>
          <a:prstGeom prst="wedgeRoundRectCallout">
            <a:avLst>
              <a:gd name="adj1" fmla="val -92504"/>
              <a:gd name="adj2" fmla="val 45094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 err="1">
                <a:solidFill>
                  <a:schemeClr val="tx1"/>
                </a:solidFill>
              </a:rPr>
              <a:t>DataItems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17" name="Rounded Rectangular Callout 16"/>
          <p:cNvSpPr/>
          <p:nvPr/>
        </p:nvSpPr>
        <p:spPr>
          <a:xfrm>
            <a:off x="10060845" y="4781681"/>
            <a:ext cx="2000130" cy="663155"/>
          </a:xfrm>
          <a:prstGeom prst="wedgeRoundRectCallout">
            <a:avLst>
              <a:gd name="adj1" fmla="val -94647"/>
              <a:gd name="adj2" fmla="val 51557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 Methods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 flipH="1">
            <a:off x="3552994" y="3984878"/>
            <a:ext cx="2583177" cy="39800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ounded Rectangular Callout 29"/>
          <p:cNvSpPr/>
          <p:nvPr/>
        </p:nvSpPr>
        <p:spPr>
          <a:xfrm>
            <a:off x="4792909" y="806804"/>
            <a:ext cx="2228136" cy="663155"/>
          </a:xfrm>
          <a:prstGeom prst="wedgeRoundRectCallout">
            <a:avLst>
              <a:gd name="adj1" fmla="val -98019"/>
              <a:gd name="adj2" fmla="val 430357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Association</a:t>
            </a:r>
            <a:endParaRPr lang="en-US" sz="2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3" grpId="0" animBg="1"/>
      <p:bldP spid="14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30" grpId="0" animBg="1"/>
      <p:bldP spid="30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Physical Data Models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40511" y="798129"/>
            <a:ext cx="11929641" cy="564904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Physical data models are used for a higher-level description of storage structure and access mechanism.</a:t>
            </a:r>
          </a:p>
          <a:p>
            <a:pPr>
              <a:lnSpc>
                <a:spcPct val="100000"/>
              </a:lnSpc>
            </a:pPr>
            <a:r>
              <a:rPr lang="en-US" dirty="0"/>
              <a:t>They describe how data is stored in database.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0ECD2-560E-8B21-607A-6EC151112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B68A55-42CE-B5EA-7004-ABE38C427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latin typeface="Roboto Condensed (Body)"/>
              </a:rPr>
              <a:t>Types of Database System</a:t>
            </a:r>
            <a:endParaRPr lang="en-US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B5030-2698-6278-6393-562E9F850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323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Types of Database System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950F033-50BC-4370-6FB1-E38036673D96}"/>
              </a:ext>
            </a:extLst>
          </p:cNvPr>
          <p:cNvSpPr txBox="1">
            <a:spLocks/>
          </p:cNvSpPr>
          <p:nvPr/>
        </p:nvSpPr>
        <p:spPr>
          <a:xfrm>
            <a:off x="186620" y="795180"/>
            <a:ext cx="11929641" cy="5649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The types of database system based on architecture are:</a:t>
            </a:r>
          </a:p>
          <a:p>
            <a:pPr marL="1001712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dirty="0"/>
              <a:t>Centralized Database System</a:t>
            </a:r>
          </a:p>
          <a:p>
            <a:pPr marL="1001712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dirty="0"/>
              <a:t>Parallel Database System</a:t>
            </a:r>
          </a:p>
          <a:p>
            <a:pPr marL="1001712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dirty="0"/>
              <a:t>Client-Server Database System</a:t>
            </a:r>
          </a:p>
          <a:p>
            <a:pPr marL="1001712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dirty="0"/>
              <a:t>Distributed Database System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4A958-69D5-7164-D536-57ADFAEAB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D4FBE7D-B6FF-6531-FECC-D1983CF59310}"/>
              </a:ext>
            </a:extLst>
          </p:cNvPr>
          <p:cNvCxnSpPr>
            <a:cxnSpLocks/>
          </p:cNvCxnSpPr>
          <p:nvPr/>
        </p:nvCxnSpPr>
        <p:spPr>
          <a:xfrm flipV="1">
            <a:off x="5828642" y="3722914"/>
            <a:ext cx="0" cy="300176"/>
          </a:xfrm>
          <a:prstGeom prst="line">
            <a:avLst/>
          </a:prstGeom>
          <a:ln w="2540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B0AF9543-10EC-90C5-83E4-4245099A5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1. Centralized Database System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2D9078-0E6F-4B78-5206-BD11F3F53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20" y="804511"/>
            <a:ext cx="11929641" cy="564904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It consists of a </a:t>
            </a:r>
            <a:r>
              <a:rPr lang="en-US" b="1" dirty="0">
                <a:solidFill>
                  <a:schemeClr val="accent6"/>
                </a:solidFill>
              </a:rPr>
              <a:t>single database server </a:t>
            </a:r>
            <a:r>
              <a:rPr lang="en-US" dirty="0"/>
              <a:t>with multiple users connected to it.</a:t>
            </a:r>
          </a:p>
          <a:p>
            <a:pPr>
              <a:lnSpc>
                <a:spcPct val="100000"/>
              </a:lnSpc>
            </a:pPr>
            <a:r>
              <a:rPr lang="en-US" dirty="0"/>
              <a:t>The database is stored at a </a:t>
            </a:r>
            <a:r>
              <a:rPr lang="en-US" b="1" dirty="0">
                <a:solidFill>
                  <a:schemeClr val="accent6"/>
                </a:solidFill>
              </a:rPr>
              <a:t>single physical location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Different users can access the database from </a:t>
            </a:r>
            <a:r>
              <a:rPr lang="en-US" b="1" dirty="0">
                <a:solidFill>
                  <a:schemeClr val="accent6"/>
                </a:solidFill>
              </a:rPr>
              <a:t>local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/>
                </a:solidFill>
              </a:rPr>
              <a:t>remote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machines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The management of the system and data is </a:t>
            </a:r>
            <a:r>
              <a:rPr lang="en-US" b="1" dirty="0">
                <a:solidFill>
                  <a:schemeClr val="accent6"/>
                </a:solidFill>
              </a:rPr>
              <a:t>controlled centrally</a:t>
            </a:r>
            <a:r>
              <a:rPr lang="en-US" dirty="0"/>
              <a:t>.</a:t>
            </a:r>
          </a:p>
        </p:txBody>
      </p:sp>
      <p:sp>
        <p:nvSpPr>
          <p:cNvPr id="44" name="Flowchart: Magnetic Disk 43">
            <a:extLst>
              <a:ext uri="{FF2B5EF4-FFF2-40B4-BE49-F238E27FC236}">
                <a16:creationId xmlns:a16="http://schemas.microsoft.com/office/drawing/2014/main" id="{B6B15A25-1578-ACAC-14F4-9C5806ADD133}"/>
              </a:ext>
            </a:extLst>
          </p:cNvPr>
          <p:cNvSpPr/>
          <p:nvPr/>
        </p:nvSpPr>
        <p:spPr>
          <a:xfrm>
            <a:off x="4811946" y="4023090"/>
            <a:ext cx="2008618" cy="1823189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CENTRALIZED </a:t>
            </a:r>
          </a:p>
          <a:p>
            <a:pPr algn="ctr"/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DATABASE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0BC429E-B331-4DC7-6F89-F8BBEB8C07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166" y="3264718"/>
            <a:ext cx="717755" cy="71775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8F0EADB-2E0A-661A-2624-3496049DF8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842" y="2720825"/>
            <a:ext cx="717755" cy="71775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0C28B82-F0EB-FDEC-A27A-4121E97386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349" y="3190873"/>
            <a:ext cx="717755" cy="71775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CA98462-2D8D-55A5-81AE-7B8BA81251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835" y="5458234"/>
            <a:ext cx="717755" cy="71775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F7FAB20-00B9-C7F8-FEA7-35E24F6BFA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145" y="5435129"/>
            <a:ext cx="717755" cy="717755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AD88B69E-F7F5-F6DB-9D79-28F6D71D8AA7}"/>
              </a:ext>
            </a:extLst>
          </p:cNvPr>
          <p:cNvSpPr txBox="1"/>
          <p:nvPr/>
        </p:nvSpPr>
        <p:spPr>
          <a:xfrm>
            <a:off x="2209624" y="3989639"/>
            <a:ext cx="14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669FD2-C7DE-6046-0B5C-7A9CED62D19D}"/>
              </a:ext>
            </a:extLst>
          </p:cNvPr>
          <p:cNvSpPr txBox="1"/>
          <p:nvPr/>
        </p:nvSpPr>
        <p:spPr>
          <a:xfrm>
            <a:off x="2209624" y="6177535"/>
            <a:ext cx="14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F37415-1522-F970-1568-F7BC4252C818}"/>
              </a:ext>
            </a:extLst>
          </p:cNvPr>
          <p:cNvSpPr txBox="1"/>
          <p:nvPr/>
        </p:nvSpPr>
        <p:spPr>
          <a:xfrm>
            <a:off x="8277800" y="3894402"/>
            <a:ext cx="14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F33F079-0A1A-8FC9-4724-BD9C83D3C42A}"/>
              </a:ext>
            </a:extLst>
          </p:cNvPr>
          <p:cNvSpPr txBox="1"/>
          <p:nvPr/>
        </p:nvSpPr>
        <p:spPr>
          <a:xfrm>
            <a:off x="8295428" y="6154430"/>
            <a:ext cx="14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37CAF5C-C0DE-4340-0546-859EAE5302E6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3274590" y="5171264"/>
            <a:ext cx="1537356" cy="645848"/>
          </a:xfrm>
          <a:prstGeom prst="line">
            <a:avLst/>
          </a:prstGeom>
          <a:ln w="2540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900F146-D7ED-E8F4-67F1-B0D9E89D3EF3}"/>
              </a:ext>
            </a:extLst>
          </p:cNvPr>
          <p:cNvCxnSpPr>
            <a:cxnSpLocks/>
            <a:endCxn id="45" idx="3"/>
          </p:cNvCxnSpPr>
          <p:nvPr/>
        </p:nvCxnSpPr>
        <p:spPr>
          <a:xfrm flipH="1" flipV="1">
            <a:off x="3283921" y="3623596"/>
            <a:ext cx="1540274" cy="1268159"/>
          </a:xfrm>
          <a:prstGeom prst="line">
            <a:avLst/>
          </a:prstGeom>
          <a:ln w="2540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B929C94-722A-D086-61B7-146811802E0F}"/>
              </a:ext>
            </a:extLst>
          </p:cNvPr>
          <p:cNvCxnSpPr>
            <a:cxnSpLocks/>
          </p:cNvCxnSpPr>
          <p:nvPr/>
        </p:nvCxnSpPr>
        <p:spPr>
          <a:xfrm flipH="1">
            <a:off x="6820564" y="3434584"/>
            <a:ext cx="1787333" cy="1107770"/>
          </a:xfrm>
          <a:prstGeom prst="line">
            <a:avLst/>
          </a:prstGeom>
          <a:ln w="2540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39EBE56-F9F8-E80B-CB48-4F45E77430FF}"/>
              </a:ext>
            </a:extLst>
          </p:cNvPr>
          <p:cNvSpPr txBox="1"/>
          <p:nvPr/>
        </p:nvSpPr>
        <p:spPr>
          <a:xfrm>
            <a:off x="5067300" y="3438580"/>
            <a:ext cx="14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CLIENT3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2EC1BCB-1812-D994-CD5E-2D7293B9485F}"/>
              </a:ext>
            </a:extLst>
          </p:cNvPr>
          <p:cNvCxnSpPr>
            <a:cxnSpLocks/>
            <a:stCxn id="49" idx="1"/>
          </p:cNvCxnSpPr>
          <p:nvPr/>
        </p:nvCxnSpPr>
        <p:spPr>
          <a:xfrm flipH="1" flipV="1">
            <a:off x="6820564" y="5186871"/>
            <a:ext cx="1816581" cy="607136"/>
          </a:xfrm>
          <a:prstGeom prst="line">
            <a:avLst/>
          </a:prstGeom>
          <a:ln w="2540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93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50" grpId="0"/>
      <p:bldP spid="51" grpId="0"/>
      <p:bldP spid="53" grpId="0"/>
      <p:bldP spid="54" grpId="0"/>
      <p:bldP spid="5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Centralized Database System(Conti..)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8506" y="704822"/>
            <a:ext cx="11929641" cy="564904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/>
                </a:solidFill>
              </a:rPr>
              <a:t>ADVANTAGES: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Easy to perform operations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Security in terms of “authorization”</a:t>
            </a:r>
            <a:endParaRPr lang="en-US" sz="2200" b="1" dirty="0">
              <a:solidFill>
                <a:schemeClr val="accent6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/>
                </a:solidFill>
              </a:rPr>
              <a:t>DISADVANTAGES: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When central system goes down, no one can access data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All terminals must be connected with the central computer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Costly to develop</a:t>
            </a:r>
          </a:p>
          <a:p>
            <a:pPr marL="457200" lvl="1" indent="0">
              <a:buNone/>
            </a:pPr>
            <a:endParaRPr lang="en-US" sz="2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2. Parallel Database System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8506" y="798131"/>
            <a:ext cx="11929641" cy="564904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It consists of multiple central processing units (</a:t>
            </a:r>
            <a:r>
              <a:rPr lang="en-US" b="1" dirty="0">
                <a:solidFill>
                  <a:schemeClr val="accent6"/>
                </a:solidFill>
              </a:rPr>
              <a:t>CPUs</a:t>
            </a:r>
            <a:r>
              <a:rPr lang="en-US" dirty="0"/>
              <a:t>) and multiple </a:t>
            </a:r>
            <a:r>
              <a:rPr lang="en-US" b="1" dirty="0">
                <a:solidFill>
                  <a:schemeClr val="accent6"/>
                </a:solidFill>
              </a:rPr>
              <a:t>data storage disks </a:t>
            </a:r>
            <a:r>
              <a:rPr lang="en-US" dirty="0"/>
              <a:t>working in parallel.</a:t>
            </a:r>
          </a:p>
          <a:p>
            <a:pPr>
              <a:lnSpc>
                <a:spcPct val="100000"/>
              </a:lnSpc>
            </a:pPr>
            <a:r>
              <a:rPr lang="en-US" dirty="0"/>
              <a:t>The database is stored across multiple disks to enable </a:t>
            </a:r>
            <a:r>
              <a:rPr lang="en-US" b="1" dirty="0">
                <a:solidFill>
                  <a:schemeClr val="accent6"/>
                </a:solidFill>
              </a:rPr>
              <a:t>parallel access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It is used in applications that must </a:t>
            </a:r>
            <a:r>
              <a:rPr lang="en-US" b="1" dirty="0">
                <a:solidFill>
                  <a:schemeClr val="accent6"/>
                </a:solidFill>
              </a:rPr>
              <a:t>process a large number of transactions per second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Different architectures can be used, such as: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Shared memory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Shared Data Storage Disk</a:t>
            </a:r>
          </a:p>
          <a:p>
            <a:pPr>
              <a:buNone/>
            </a:pPr>
            <a:endParaRPr lang="en-US" b="1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2. Parallel Database System(Conti..)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887" y="904534"/>
            <a:ext cx="1006515" cy="10065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80" y="904534"/>
            <a:ext cx="970582" cy="9705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82725" y="1893214"/>
            <a:ext cx="14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152" y="1898522"/>
            <a:ext cx="14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CLIENT1</a:t>
            </a:r>
          </a:p>
        </p:txBody>
      </p:sp>
      <p:sp>
        <p:nvSpPr>
          <p:cNvPr id="9" name="Freeform 8"/>
          <p:cNvSpPr/>
          <p:nvPr/>
        </p:nvSpPr>
        <p:spPr>
          <a:xfrm>
            <a:off x="762000" y="2602657"/>
            <a:ext cx="4087091" cy="814192"/>
          </a:xfrm>
          <a:custGeom>
            <a:avLst/>
            <a:gdLst>
              <a:gd name="connsiteX0" fmla="*/ 350729 w 3795958"/>
              <a:gd name="connsiteY0" fmla="*/ 37578 h 814192"/>
              <a:gd name="connsiteX1" fmla="*/ 413359 w 3795958"/>
              <a:gd name="connsiteY1" fmla="*/ 25052 h 814192"/>
              <a:gd name="connsiteX2" fmla="*/ 1052187 w 3795958"/>
              <a:gd name="connsiteY2" fmla="*/ 37578 h 814192"/>
              <a:gd name="connsiteX3" fmla="*/ 1127343 w 3795958"/>
              <a:gd name="connsiteY3" fmla="*/ 62630 h 814192"/>
              <a:gd name="connsiteX4" fmla="*/ 2192055 w 3795958"/>
              <a:gd name="connsiteY4" fmla="*/ 75156 h 814192"/>
              <a:gd name="connsiteX5" fmla="*/ 2705622 w 3795958"/>
              <a:gd name="connsiteY5" fmla="*/ 87682 h 814192"/>
              <a:gd name="connsiteX6" fmla="*/ 2880987 w 3795958"/>
              <a:gd name="connsiteY6" fmla="*/ 50104 h 814192"/>
              <a:gd name="connsiteX7" fmla="*/ 3006247 w 3795958"/>
              <a:gd name="connsiteY7" fmla="*/ 25052 h 814192"/>
              <a:gd name="connsiteX8" fmla="*/ 3144033 w 3795958"/>
              <a:gd name="connsiteY8" fmla="*/ 0 h 814192"/>
              <a:gd name="connsiteX9" fmla="*/ 3356976 w 3795958"/>
              <a:gd name="connsiteY9" fmla="*/ 12526 h 814192"/>
              <a:gd name="connsiteX10" fmla="*/ 3494762 w 3795958"/>
              <a:gd name="connsiteY10" fmla="*/ 50104 h 814192"/>
              <a:gd name="connsiteX11" fmla="*/ 3594970 w 3795958"/>
              <a:gd name="connsiteY11" fmla="*/ 75156 h 814192"/>
              <a:gd name="connsiteX12" fmla="*/ 3645074 w 3795958"/>
              <a:gd name="connsiteY12" fmla="*/ 87682 h 814192"/>
              <a:gd name="connsiteX13" fmla="*/ 3745283 w 3795958"/>
              <a:gd name="connsiteY13" fmla="*/ 125260 h 814192"/>
              <a:gd name="connsiteX14" fmla="*/ 3770335 w 3795958"/>
              <a:gd name="connsiteY14" fmla="*/ 162838 h 814192"/>
              <a:gd name="connsiteX15" fmla="*/ 3782861 w 3795958"/>
              <a:gd name="connsiteY15" fmla="*/ 338203 h 814192"/>
              <a:gd name="connsiteX16" fmla="*/ 3732756 w 3795958"/>
              <a:gd name="connsiteY16" fmla="*/ 400833 h 814192"/>
              <a:gd name="connsiteX17" fmla="*/ 3682652 w 3795958"/>
              <a:gd name="connsiteY17" fmla="*/ 475989 h 814192"/>
              <a:gd name="connsiteX18" fmla="*/ 3657600 w 3795958"/>
              <a:gd name="connsiteY18" fmla="*/ 513567 h 814192"/>
              <a:gd name="connsiteX19" fmla="*/ 3582444 w 3795958"/>
              <a:gd name="connsiteY19" fmla="*/ 576197 h 814192"/>
              <a:gd name="connsiteX20" fmla="*/ 3507288 w 3795958"/>
              <a:gd name="connsiteY20" fmla="*/ 626301 h 814192"/>
              <a:gd name="connsiteX21" fmla="*/ 3394554 w 3795958"/>
              <a:gd name="connsiteY21" fmla="*/ 701457 h 814192"/>
              <a:gd name="connsiteX22" fmla="*/ 3356976 w 3795958"/>
              <a:gd name="connsiteY22" fmla="*/ 726509 h 814192"/>
              <a:gd name="connsiteX23" fmla="*/ 3269293 w 3795958"/>
              <a:gd name="connsiteY23" fmla="*/ 739035 h 814192"/>
              <a:gd name="connsiteX24" fmla="*/ 3219189 w 3795958"/>
              <a:gd name="connsiteY24" fmla="*/ 751561 h 814192"/>
              <a:gd name="connsiteX25" fmla="*/ 3181611 w 3795958"/>
              <a:gd name="connsiteY25" fmla="*/ 764088 h 814192"/>
              <a:gd name="connsiteX26" fmla="*/ 3093929 w 3795958"/>
              <a:gd name="connsiteY26" fmla="*/ 776614 h 814192"/>
              <a:gd name="connsiteX27" fmla="*/ 2968669 w 3795958"/>
              <a:gd name="connsiteY27" fmla="*/ 814192 h 814192"/>
              <a:gd name="connsiteX28" fmla="*/ 1903956 w 3795958"/>
              <a:gd name="connsiteY28" fmla="*/ 801666 h 814192"/>
              <a:gd name="connsiteX29" fmla="*/ 1841326 w 3795958"/>
              <a:gd name="connsiteY29" fmla="*/ 789140 h 814192"/>
              <a:gd name="connsiteX30" fmla="*/ 1052187 w 3795958"/>
              <a:gd name="connsiteY30" fmla="*/ 776614 h 814192"/>
              <a:gd name="connsiteX31" fmla="*/ 751562 w 3795958"/>
              <a:gd name="connsiteY31" fmla="*/ 764088 h 814192"/>
              <a:gd name="connsiteX32" fmla="*/ 676406 w 3795958"/>
              <a:gd name="connsiteY32" fmla="*/ 726509 h 814192"/>
              <a:gd name="connsiteX33" fmla="*/ 450937 w 3795958"/>
              <a:gd name="connsiteY33" fmla="*/ 688931 h 814192"/>
              <a:gd name="connsiteX34" fmla="*/ 400833 w 3795958"/>
              <a:gd name="connsiteY34" fmla="*/ 663879 h 814192"/>
              <a:gd name="connsiteX35" fmla="*/ 237995 w 3795958"/>
              <a:gd name="connsiteY35" fmla="*/ 638827 h 814192"/>
              <a:gd name="connsiteX36" fmla="*/ 187891 w 3795958"/>
              <a:gd name="connsiteY36" fmla="*/ 626301 h 814192"/>
              <a:gd name="connsiteX37" fmla="*/ 137787 w 3795958"/>
              <a:gd name="connsiteY37" fmla="*/ 601249 h 814192"/>
              <a:gd name="connsiteX38" fmla="*/ 100209 w 3795958"/>
              <a:gd name="connsiteY38" fmla="*/ 588723 h 814192"/>
              <a:gd name="connsiteX39" fmla="*/ 75156 w 3795958"/>
              <a:gd name="connsiteY39" fmla="*/ 563671 h 814192"/>
              <a:gd name="connsiteX40" fmla="*/ 37578 w 3795958"/>
              <a:gd name="connsiteY40" fmla="*/ 538619 h 814192"/>
              <a:gd name="connsiteX41" fmla="*/ 12526 w 3795958"/>
              <a:gd name="connsiteY41" fmla="*/ 463463 h 814192"/>
              <a:gd name="connsiteX42" fmla="*/ 0 w 3795958"/>
              <a:gd name="connsiteY42" fmla="*/ 425885 h 814192"/>
              <a:gd name="connsiteX43" fmla="*/ 25052 w 3795958"/>
              <a:gd name="connsiteY43" fmla="*/ 162838 h 814192"/>
              <a:gd name="connsiteX44" fmla="*/ 37578 w 3795958"/>
              <a:gd name="connsiteY44" fmla="*/ 125260 h 814192"/>
              <a:gd name="connsiteX45" fmla="*/ 150313 w 3795958"/>
              <a:gd name="connsiteY45" fmla="*/ 75156 h 814192"/>
              <a:gd name="connsiteX46" fmla="*/ 275573 w 3795958"/>
              <a:gd name="connsiteY46" fmla="*/ 50104 h 814192"/>
              <a:gd name="connsiteX47" fmla="*/ 350729 w 3795958"/>
              <a:gd name="connsiteY47" fmla="*/ 37578 h 814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795958" h="814192">
                <a:moveTo>
                  <a:pt x="350729" y="37578"/>
                </a:moveTo>
                <a:cubicBezTo>
                  <a:pt x="373693" y="33403"/>
                  <a:pt x="392069" y="25052"/>
                  <a:pt x="413359" y="25052"/>
                </a:cubicBezTo>
                <a:cubicBezTo>
                  <a:pt x="626343" y="25052"/>
                  <a:pt x="839498" y="26384"/>
                  <a:pt x="1052187" y="37578"/>
                </a:cubicBezTo>
                <a:cubicBezTo>
                  <a:pt x="1078558" y="38966"/>
                  <a:pt x="1100938" y="62319"/>
                  <a:pt x="1127343" y="62630"/>
                </a:cubicBezTo>
                <a:lnTo>
                  <a:pt x="2192055" y="75156"/>
                </a:lnTo>
                <a:cubicBezTo>
                  <a:pt x="2363244" y="79331"/>
                  <a:pt x="2534382" y="87682"/>
                  <a:pt x="2705622" y="87682"/>
                </a:cubicBezTo>
                <a:cubicBezTo>
                  <a:pt x="2814330" y="87682"/>
                  <a:pt x="2787783" y="73405"/>
                  <a:pt x="2880987" y="50104"/>
                </a:cubicBezTo>
                <a:cubicBezTo>
                  <a:pt x="2997366" y="21009"/>
                  <a:pt x="2852685" y="55764"/>
                  <a:pt x="3006247" y="25052"/>
                </a:cubicBezTo>
                <a:cubicBezTo>
                  <a:pt x="3153897" y="-4478"/>
                  <a:pt x="2921141" y="31842"/>
                  <a:pt x="3144033" y="0"/>
                </a:cubicBezTo>
                <a:cubicBezTo>
                  <a:pt x="3215014" y="4175"/>
                  <a:pt x="3286164" y="6089"/>
                  <a:pt x="3356976" y="12526"/>
                </a:cubicBezTo>
                <a:cubicBezTo>
                  <a:pt x="3450936" y="21068"/>
                  <a:pt x="3392666" y="29685"/>
                  <a:pt x="3494762" y="50104"/>
                </a:cubicBezTo>
                <a:cubicBezTo>
                  <a:pt x="3622095" y="75571"/>
                  <a:pt x="3505097" y="49478"/>
                  <a:pt x="3594970" y="75156"/>
                </a:cubicBezTo>
                <a:cubicBezTo>
                  <a:pt x="3611523" y="79885"/>
                  <a:pt x="3628955" y="81637"/>
                  <a:pt x="3645074" y="87682"/>
                </a:cubicBezTo>
                <a:cubicBezTo>
                  <a:pt x="3776076" y="136808"/>
                  <a:pt x="3616674" y="93108"/>
                  <a:pt x="3745283" y="125260"/>
                </a:cubicBezTo>
                <a:cubicBezTo>
                  <a:pt x="3753634" y="137786"/>
                  <a:pt x="3764744" y="148860"/>
                  <a:pt x="3770335" y="162838"/>
                </a:cubicBezTo>
                <a:cubicBezTo>
                  <a:pt x="3798295" y="232738"/>
                  <a:pt x="3804739" y="265274"/>
                  <a:pt x="3782861" y="338203"/>
                </a:cubicBezTo>
                <a:cubicBezTo>
                  <a:pt x="3772643" y="372265"/>
                  <a:pt x="3751679" y="375603"/>
                  <a:pt x="3732756" y="400833"/>
                </a:cubicBezTo>
                <a:cubicBezTo>
                  <a:pt x="3714691" y="424920"/>
                  <a:pt x="3699353" y="450937"/>
                  <a:pt x="3682652" y="475989"/>
                </a:cubicBezTo>
                <a:cubicBezTo>
                  <a:pt x="3674301" y="488515"/>
                  <a:pt x="3670126" y="505216"/>
                  <a:pt x="3657600" y="513567"/>
                </a:cubicBezTo>
                <a:cubicBezTo>
                  <a:pt x="3523319" y="603087"/>
                  <a:pt x="3727113" y="463677"/>
                  <a:pt x="3582444" y="576197"/>
                </a:cubicBezTo>
                <a:cubicBezTo>
                  <a:pt x="3558678" y="594682"/>
                  <a:pt x="3532340" y="609600"/>
                  <a:pt x="3507288" y="626301"/>
                </a:cubicBezTo>
                <a:lnTo>
                  <a:pt x="3394554" y="701457"/>
                </a:lnTo>
                <a:cubicBezTo>
                  <a:pt x="3382028" y="709808"/>
                  <a:pt x="3371879" y="724380"/>
                  <a:pt x="3356976" y="726509"/>
                </a:cubicBezTo>
                <a:cubicBezTo>
                  <a:pt x="3327748" y="730684"/>
                  <a:pt x="3298341" y="733754"/>
                  <a:pt x="3269293" y="739035"/>
                </a:cubicBezTo>
                <a:cubicBezTo>
                  <a:pt x="3252355" y="742115"/>
                  <a:pt x="3235742" y="746831"/>
                  <a:pt x="3219189" y="751561"/>
                </a:cubicBezTo>
                <a:cubicBezTo>
                  <a:pt x="3206493" y="755188"/>
                  <a:pt x="3194558" y="761498"/>
                  <a:pt x="3181611" y="764088"/>
                </a:cubicBezTo>
                <a:cubicBezTo>
                  <a:pt x="3152660" y="769878"/>
                  <a:pt x="3123156" y="772439"/>
                  <a:pt x="3093929" y="776614"/>
                </a:cubicBezTo>
                <a:cubicBezTo>
                  <a:pt x="3002441" y="807110"/>
                  <a:pt x="3044392" y="795261"/>
                  <a:pt x="2968669" y="814192"/>
                </a:cubicBezTo>
                <a:lnTo>
                  <a:pt x="1903956" y="801666"/>
                </a:lnTo>
                <a:cubicBezTo>
                  <a:pt x="1882671" y="801193"/>
                  <a:pt x="1862607" y="789766"/>
                  <a:pt x="1841326" y="789140"/>
                </a:cubicBezTo>
                <a:cubicBezTo>
                  <a:pt x="1578360" y="781406"/>
                  <a:pt x="1315233" y="780789"/>
                  <a:pt x="1052187" y="776614"/>
                </a:cubicBezTo>
                <a:cubicBezTo>
                  <a:pt x="951979" y="772439"/>
                  <a:pt x="850977" y="777344"/>
                  <a:pt x="751562" y="764088"/>
                </a:cubicBezTo>
                <a:cubicBezTo>
                  <a:pt x="723799" y="760386"/>
                  <a:pt x="703140" y="734864"/>
                  <a:pt x="676406" y="726509"/>
                </a:cubicBezTo>
                <a:cubicBezTo>
                  <a:pt x="613099" y="706725"/>
                  <a:pt x="518322" y="697354"/>
                  <a:pt x="450937" y="688931"/>
                </a:cubicBezTo>
                <a:cubicBezTo>
                  <a:pt x="434236" y="680580"/>
                  <a:pt x="418317" y="670435"/>
                  <a:pt x="400833" y="663879"/>
                </a:cubicBezTo>
                <a:cubicBezTo>
                  <a:pt x="355157" y="646751"/>
                  <a:pt x="277555" y="643223"/>
                  <a:pt x="237995" y="638827"/>
                </a:cubicBezTo>
                <a:cubicBezTo>
                  <a:pt x="221294" y="634652"/>
                  <a:pt x="204010" y="632346"/>
                  <a:pt x="187891" y="626301"/>
                </a:cubicBezTo>
                <a:cubicBezTo>
                  <a:pt x="170407" y="619745"/>
                  <a:pt x="154950" y="608605"/>
                  <a:pt x="137787" y="601249"/>
                </a:cubicBezTo>
                <a:cubicBezTo>
                  <a:pt x="125651" y="596048"/>
                  <a:pt x="112735" y="592898"/>
                  <a:pt x="100209" y="588723"/>
                </a:cubicBezTo>
                <a:cubicBezTo>
                  <a:pt x="91858" y="580372"/>
                  <a:pt x="84378" y="571048"/>
                  <a:pt x="75156" y="563671"/>
                </a:cubicBezTo>
                <a:cubicBezTo>
                  <a:pt x="63400" y="554267"/>
                  <a:pt x="45557" y="551385"/>
                  <a:pt x="37578" y="538619"/>
                </a:cubicBezTo>
                <a:cubicBezTo>
                  <a:pt x="23582" y="516226"/>
                  <a:pt x="20877" y="488515"/>
                  <a:pt x="12526" y="463463"/>
                </a:cubicBezTo>
                <a:lnTo>
                  <a:pt x="0" y="425885"/>
                </a:lnTo>
                <a:cubicBezTo>
                  <a:pt x="8983" y="273177"/>
                  <a:pt x="-3617" y="263178"/>
                  <a:pt x="25052" y="162838"/>
                </a:cubicBezTo>
                <a:cubicBezTo>
                  <a:pt x="28679" y="150142"/>
                  <a:pt x="29330" y="135570"/>
                  <a:pt x="37578" y="125260"/>
                </a:cubicBezTo>
                <a:cubicBezTo>
                  <a:pt x="59233" y="98191"/>
                  <a:pt x="127348" y="82811"/>
                  <a:pt x="150313" y="75156"/>
                </a:cubicBezTo>
                <a:cubicBezTo>
                  <a:pt x="205173" y="56870"/>
                  <a:pt x="198807" y="56501"/>
                  <a:pt x="275573" y="50104"/>
                </a:cubicBezTo>
                <a:cubicBezTo>
                  <a:pt x="296378" y="48370"/>
                  <a:pt x="327765" y="41753"/>
                  <a:pt x="350729" y="37578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INTER-CONNECTION NETWORK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685" y="3751652"/>
            <a:ext cx="4208745" cy="801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GLOBAL SHARED MEMORY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749" y="904534"/>
            <a:ext cx="1006515" cy="10065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61587" y="1893214"/>
            <a:ext cx="14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CLIENTn</a:t>
            </a:r>
          </a:p>
        </p:txBody>
      </p:sp>
      <p:sp>
        <p:nvSpPr>
          <p:cNvPr id="13" name="Flowchart: Magnetic Disk 12"/>
          <p:cNvSpPr/>
          <p:nvPr/>
        </p:nvSpPr>
        <p:spPr>
          <a:xfrm>
            <a:off x="698950" y="4900646"/>
            <a:ext cx="1051103" cy="726197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lowchart: Magnetic Disk 13"/>
          <p:cNvSpPr/>
          <p:nvPr/>
        </p:nvSpPr>
        <p:spPr>
          <a:xfrm>
            <a:off x="2024189" y="4923790"/>
            <a:ext cx="1051103" cy="726197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lowchart: Magnetic Disk 14"/>
          <p:cNvSpPr/>
          <p:nvPr/>
        </p:nvSpPr>
        <p:spPr>
          <a:xfrm>
            <a:off x="3880327" y="4923790"/>
            <a:ext cx="1051103" cy="726197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132083" y="5286888"/>
            <a:ext cx="691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.......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1402" y="1885997"/>
            <a:ext cx="691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.......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215332" y="2296691"/>
            <a:ext cx="0" cy="34732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564354" y="2305714"/>
            <a:ext cx="0" cy="34732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132087" y="2268136"/>
            <a:ext cx="0" cy="34732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215332" y="3267825"/>
            <a:ext cx="1911" cy="467174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549740" y="3404042"/>
            <a:ext cx="0" cy="34732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132087" y="3367825"/>
            <a:ext cx="0" cy="34732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1217243" y="4514067"/>
            <a:ext cx="1911" cy="39910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587426" y="4576462"/>
            <a:ext cx="0" cy="34732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 flipV="1">
            <a:off x="4405572" y="4551590"/>
            <a:ext cx="306" cy="36158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5700" y="5974171"/>
            <a:ext cx="45004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5"/>
                </a:solidFill>
              </a:rPr>
              <a:t>SHARED MEMORY MULTIPROCESSOR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629" y="941519"/>
            <a:ext cx="1006515" cy="100651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022" y="941519"/>
            <a:ext cx="970582" cy="97058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85467" y="1930199"/>
            <a:ext cx="14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8343" y="2255329"/>
            <a:ext cx="1430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Private </a:t>
            </a:r>
          </a:p>
          <a:p>
            <a:pPr algn="ctr"/>
            <a:r>
              <a:rPr lang="en-US" b="1" dirty="0">
                <a:solidFill>
                  <a:schemeClr val="tx2"/>
                </a:solidFill>
              </a:rPr>
              <a:t>Memory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121" y="923684"/>
            <a:ext cx="1006515" cy="100651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844959" y="1912364"/>
            <a:ext cx="14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8584" y="1948034"/>
            <a:ext cx="691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.......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6403195" y="2283884"/>
            <a:ext cx="0" cy="34732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752217" y="2267855"/>
            <a:ext cx="0" cy="34732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9545419" y="2255329"/>
            <a:ext cx="0" cy="34732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879022" y="2602657"/>
            <a:ext cx="970582" cy="4814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7266926" y="2602657"/>
            <a:ext cx="970582" cy="4814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9075088" y="2602657"/>
            <a:ext cx="970582" cy="4814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8355457" y="2724829"/>
            <a:ext cx="691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.......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6399889" y="3075246"/>
            <a:ext cx="1911" cy="467174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7752217" y="3094161"/>
            <a:ext cx="0" cy="34732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9546289" y="3084061"/>
            <a:ext cx="0" cy="34732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5948294" y="3288211"/>
            <a:ext cx="4097375" cy="1022314"/>
          </a:xfrm>
          <a:custGeom>
            <a:avLst/>
            <a:gdLst>
              <a:gd name="connsiteX0" fmla="*/ 350729 w 3795958"/>
              <a:gd name="connsiteY0" fmla="*/ 37578 h 814192"/>
              <a:gd name="connsiteX1" fmla="*/ 413359 w 3795958"/>
              <a:gd name="connsiteY1" fmla="*/ 25052 h 814192"/>
              <a:gd name="connsiteX2" fmla="*/ 1052187 w 3795958"/>
              <a:gd name="connsiteY2" fmla="*/ 37578 h 814192"/>
              <a:gd name="connsiteX3" fmla="*/ 1127343 w 3795958"/>
              <a:gd name="connsiteY3" fmla="*/ 62630 h 814192"/>
              <a:gd name="connsiteX4" fmla="*/ 2192055 w 3795958"/>
              <a:gd name="connsiteY4" fmla="*/ 75156 h 814192"/>
              <a:gd name="connsiteX5" fmla="*/ 2705622 w 3795958"/>
              <a:gd name="connsiteY5" fmla="*/ 87682 h 814192"/>
              <a:gd name="connsiteX6" fmla="*/ 2880987 w 3795958"/>
              <a:gd name="connsiteY6" fmla="*/ 50104 h 814192"/>
              <a:gd name="connsiteX7" fmla="*/ 3006247 w 3795958"/>
              <a:gd name="connsiteY7" fmla="*/ 25052 h 814192"/>
              <a:gd name="connsiteX8" fmla="*/ 3144033 w 3795958"/>
              <a:gd name="connsiteY8" fmla="*/ 0 h 814192"/>
              <a:gd name="connsiteX9" fmla="*/ 3356976 w 3795958"/>
              <a:gd name="connsiteY9" fmla="*/ 12526 h 814192"/>
              <a:gd name="connsiteX10" fmla="*/ 3494762 w 3795958"/>
              <a:gd name="connsiteY10" fmla="*/ 50104 h 814192"/>
              <a:gd name="connsiteX11" fmla="*/ 3594970 w 3795958"/>
              <a:gd name="connsiteY11" fmla="*/ 75156 h 814192"/>
              <a:gd name="connsiteX12" fmla="*/ 3645074 w 3795958"/>
              <a:gd name="connsiteY12" fmla="*/ 87682 h 814192"/>
              <a:gd name="connsiteX13" fmla="*/ 3745283 w 3795958"/>
              <a:gd name="connsiteY13" fmla="*/ 125260 h 814192"/>
              <a:gd name="connsiteX14" fmla="*/ 3770335 w 3795958"/>
              <a:gd name="connsiteY14" fmla="*/ 162838 h 814192"/>
              <a:gd name="connsiteX15" fmla="*/ 3782861 w 3795958"/>
              <a:gd name="connsiteY15" fmla="*/ 338203 h 814192"/>
              <a:gd name="connsiteX16" fmla="*/ 3732756 w 3795958"/>
              <a:gd name="connsiteY16" fmla="*/ 400833 h 814192"/>
              <a:gd name="connsiteX17" fmla="*/ 3682652 w 3795958"/>
              <a:gd name="connsiteY17" fmla="*/ 475989 h 814192"/>
              <a:gd name="connsiteX18" fmla="*/ 3657600 w 3795958"/>
              <a:gd name="connsiteY18" fmla="*/ 513567 h 814192"/>
              <a:gd name="connsiteX19" fmla="*/ 3582444 w 3795958"/>
              <a:gd name="connsiteY19" fmla="*/ 576197 h 814192"/>
              <a:gd name="connsiteX20" fmla="*/ 3507288 w 3795958"/>
              <a:gd name="connsiteY20" fmla="*/ 626301 h 814192"/>
              <a:gd name="connsiteX21" fmla="*/ 3394554 w 3795958"/>
              <a:gd name="connsiteY21" fmla="*/ 701457 h 814192"/>
              <a:gd name="connsiteX22" fmla="*/ 3356976 w 3795958"/>
              <a:gd name="connsiteY22" fmla="*/ 726509 h 814192"/>
              <a:gd name="connsiteX23" fmla="*/ 3269293 w 3795958"/>
              <a:gd name="connsiteY23" fmla="*/ 739035 h 814192"/>
              <a:gd name="connsiteX24" fmla="*/ 3219189 w 3795958"/>
              <a:gd name="connsiteY24" fmla="*/ 751561 h 814192"/>
              <a:gd name="connsiteX25" fmla="*/ 3181611 w 3795958"/>
              <a:gd name="connsiteY25" fmla="*/ 764088 h 814192"/>
              <a:gd name="connsiteX26" fmla="*/ 3093929 w 3795958"/>
              <a:gd name="connsiteY26" fmla="*/ 776614 h 814192"/>
              <a:gd name="connsiteX27" fmla="*/ 2968669 w 3795958"/>
              <a:gd name="connsiteY27" fmla="*/ 814192 h 814192"/>
              <a:gd name="connsiteX28" fmla="*/ 1903956 w 3795958"/>
              <a:gd name="connsiteY28" fmla="*/ 801666 h 814192"/>
              <a:gd name="connsiteX29" fmla="*/ 1841326 w 3795958"/>
              <a:gd name="connsiteY29" fmla="*/ 789140 h 814192"/>
              <a:gd name="connsiteX30" fmla="*/ 1052187 w 3795958"/>
              <a:gd name="connsiteY30" fmla="*/ 776614 h 814192"/>
              <a:gd name="connsiteX31" fmla="*/ 751562 w 3795958"/>
              <a:gd name="connsiteY31" fmla="*/ 764088 h 814192"/>
              <a:gd name="connsiteX32" fmla="*/ 676406 w 3795958"/>
              <a:gd name="connsiteY32" fmla="*/ 726509 h 814192"/>
              <a:gd name="connsiteX33" fmla="*/ 450937 w 3795958"/>
              <a:gd name="connsiteY33" fmla="*/ 688931 h 814192"/>
              <a:gd name="connsiteX34" fmla="*/ 400833 w 3795958"/>
              <a:gd name="connsiteY34" fmla="*/ 663879 h 814192"/>
              <a:gd name="connsiteX35" fmla="*/ 237995 w 3795958"/>
              <a:gd name="connsiteY35" fmla="*/ 638827 h 814192"/>
              <a:gd name="connsiteX36" fmla="*/ 187891 w 3795958"/>
              <a:gd name="connsiteY36" fmla="*/ 626301 h 814192"/>
              <a:gd name="connsiteX37" fmla="*/ 137787 w 3795958"/>
              <a:gd name="connsiteY37" fmla="*/ 601249 h 814192"/>
              <a:gd name="connsiteX38" fmla="*/ 100209 w 3795958"/>
              <a:gd name="connsiteY38" fmla="*/ 588723 h 814192"/>
              <a:gd name="connsiteX39" fmla="*/ 75156 w 3795958"/>
              <a:gd name="connsiteY39" fmla="*/ 563671 h 814192"/>
              <a:gd name="connsiteX40" fmla="*/ 37578 w 3795958"/>
              <a:gd name="connsiteY40" fmla="*/ 538619 h 814192"/>
              <a:gd name="connsiteX41" fmla="*/ 12526 w 3795958"/>
              <a:gd name="connsiteY41" fmla="*/ 463463 h 814192"/>
              <a:gd name="connsiteX42" fmla="*/ 0 w 3795958"/>
              <a:gd name="connsiteY42" fmla="*/ 425885 h 814192"/>
              <a:gd name="connsiteX43" fmla="*/ 25052 w 3795958"/>
              <a:gd name="connsiteY43" fmla="*/ 162838 h 814192"/>
              <a:gd name="connsiteX44" fmla="*/ 37578 w 3795958"/>
              <a:gd name="connsiteY44" fmla="*/ 125260 h 814192"/>
              <a:gd name="connsiteX45" fmla="*/ 150313 w 3795958"/>
              <a:gd name="connsiteY45" fmla="*/ 75156 h 814192"/>
              <a:gd name="connsiteX46" fmla="*/ 275573 w 3795958"/>
              <a:gd name="connsiteY46" fmla="*/ 50104 h 814192"/>
              <a:gd name="connsiteX47" fmla="*/ 350729 w 3795958"/>
              <a:gd name="connsiteY47" fmla="*/ 37578 h 814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795958" h="814192">
                <a:moveTo>
                  <a:pt x="350729" y="37578"/>
                </a:moveTo>
                <a:cubicBezTo>
                  <a:pt x="373693" y="33403"/>
                  <a:pt x="392069" y="25052"/>
                  <a:pt x="413359" y="25052"/>
                </a:cubicBezTo>
                <a:cubicBezTo>
                  <a:pt x="626343" y="25052"/>
                  <a:pt x="839498" y="26384"/>
                  <a:pt x="1052187" y="37578"/>
                </a:cubicBezTo>
                <a:cubicBezTo>
                  <a:pt x="1078558" y="38966"/>
                  <a:pt x="1100938" y="62319"/>
                  <a:pt x="1127343" y="62630"/>
                </a:cubicBezTo>
                <a:lnTo>
                  <a:pt x="2192055" y="75156"/>
                </a:lnTo>
                <a:cubicBezTo>
                  <a:pt x="2363244" y="79331"/>
                  <a:pt x="2534382" y="87682"/>
                  <a:pt x="2705622" y="87682"/>
                </a:cubicBezTo>
                <a:cubicBezTo>
                  <a:pt x="2814330" y="87682"/>
                  <a:pt x="2787783" y="73405"/>
                  <a:pt x="2880987" y="50104"/>
                </a:cubicBezTo>
                <a:cubicBezTo>
                  <a:pt x="2997366" y="21009"/>
                  <a:pt x="2852685" y="55764"/>
                  <a:pt x="3006247" y="25052"/>
                </a:cubicBezTo>
                <a:cubicBezTo>
                  <a:pt x="3153897" y="-4478"/>
                  <a:pt x="2921141" y="31842"/>
                  <a:pt x="3144033" y="0"/>
                </a:cubicBezTo>
                <a:cubicBezTo>
                  <a:pt x="3215014" y="4175"/>
                  <a:pt x="3286164" y="6089"/>
                  <a:pt x="3356976" y="12526"/>
                </a:cubicBezTo>
                <a:cubicBezTo>
                  <a:pt x="3450936" y="21068"/>
                  <a:pt x="3392666" y="29685"/>
                  <a:pt x="3494762" y="50104"/>
                </a:cubicBezTo>
                <a:cubicBezTo>
                  <a:pt x="3622095" y="75571"/>
                  <a:pt x="3505097" y="49478"/>
                  <a:pt x="3594970" y="75156"/>
                </a:cubicBezTo>
                <a:cubicBezTo>
                  <a:pt x="3611523" y="79885"/>
                  <a:pt x="3628955" y="81637"/>
                  <a:pt x="3645074" y="87682"/>
                </a:cubicBezTo>
                <a:cubicBezTo>
                  <a:pt x="3776076" y="136808"/>
                  <a:pt x="3616674" y="93108"/>
                  <a:pt x="3745283" y="125260"/>
                </a:cubicBezTo>
                <a:cubicBezTo>
                  <a:pt x="3753634" y="137786"/>
                  <a:pt x="3764744" y="148860"/>
                  <a:pt x="3770335" y="162838"/>
                </a:cubicBezTo>
                <a:cubicBezTo>
                  <a:pt x="3798295" y="232738"/>
                  <a:pt x="3804739" y="265274"/>
                  <a:pt x="3782861" y="338203"/>
                </a:cubicBezTo>
                <a:cubicBezTo>
                  <a:pt x="3772643" y="372265"/>
                  <a:pt x="3751679" y="375603"/>
                  <a:pt x="3732756" y="400833"/>
                </a:cubicBezTo>
                <a:cubicBezTo>
                  <a:pt x="3714691" y="424920"/>
                  <a:pt x="3699353" y="450937"/>
                  <a:pt x="3682652" y="475989"/>
                </a:cubicBezTo>
                <a:cubicBezTo>
                  <a:pt x="3674301" y="488515"/>
                  <a:pt x="3670126" y="505216"/>
                  <a:pt x="3657600" y="513567"/>
                </a:cubicBezTo>
                <a:cubicBezTo>
                  <a:pt x="3523319" y="603087"/>
                  <a:pt x="3727113" y="463677"/>
                  <a:pt x="3582444" y="576197"/>
                </a:cubicBezTo>
                <a:cubicBezTo>
                  <a:pt x="3558678" y="594682"/>
                  <a:pt x="3532340" y="609600"/>
                  <a:pt x="3507288" y="626301"/>
                </a:cubicBezTo>
                <a:lnTo>
                  <a:pt x="3394554" y="701457"/>
                </a:lnTo>
                <a:cubicBezTo>
                  <a:pt x="3382028" y="709808"/>
                  <a:pt x="3371879" y="724380"/>
                  <a:pt x="3356976" y="726509"/>
                </a:cubicBezTo>
                <a:cubicBezTo>
                  <a:pt x="3327748" y="730684"/>
                  <a:pt x="3298341" y="733754"/>
                  <a:pt x="3269293" y="739035"/>
                </a:cubicBezTo>
                <a:cubicBezTo>
                  <a:pt x="3252355" y="742115"/>
                  <a:pt x="3235742" y="746831"/>
                  <a:pt x="3219189" y="751561"/>
                </a:cubicBezTo>
                <a:cubicBezTo>
                  <a:pt x="3206493" y="755188"/>
                  <a:pt x="3194558" y="761498"/>
                  <a:pt x="3181611" y="764088"/>
                </a:cubicBezTo>
                <a:cubicBezTo>
                  <a:pt x="3152660" y="769878"/>
                  <a:pt x="3123156" y="772439"/>
                  <a:pt x="3093929" y="776614"/>
                </a:cubicBezTo>
                <a:cubicBezTo>
                  <a:pt x="3002441" y="807110"/>
                  <a:pt x="3044392" y="795261"/>
                  <a:pt x="2968669" y="814192"/>
                </a:cubicBezTo>
                <a:lnTo>
                  <a:pt x="1903956" y="801666"/>
                </a:lnTo>
                <a:cubicBezTo>
                  <a:pt x="1882671" y="801193"/>
                  <a:pt x="1862607" y="789766"/>
                  <a:pt x="1841326" y="789140"/>
                </a:cubicBezTo>
                <a:cubicBezTo>
                  <a:pt x="1578360" y="781406"/>
                  <a:pt x="1315233" y="780789"/>
                  <a:pt x="1052187" y="776614"/>
                </a:cubicBezTo>
                <a:cubicBezTo>
                  <a:pt x="951979" y="772439"/>
                  <a:pt x="850977" y="777344"/>
                  <a:pt x="751562" y="764088"/>
                </a:cubicBezTo>
                <a:cubicBezTo>
                  <a:pt x="723799" y="760386"/>
                  <a:pt x="703140" y="734864"/>
                  <a:pt x="676406" y="726509"/>
                </a:cubicBezTo>
                <a:cubicBezTo>
                  <a:pt x="613099" y="706725"/>
                  <a:pt x="518322" y="697354"/>
                  <a:pt x="450937" y="688931"/>
                </a:cubicBezTo>
                <a:cubicBezTo>
                  <a:pt x="434236" y="680580"/>
                  <a:pt x="418317" y="670435"/>
                  <a:pt x="400833" y="663879"/>
                </a:cubicBezTo>
                <a:cubicBezTo>
                  <a:pt x="355157" y="646751"/>
                  <a:pt x="277555" y="643223"/>
                  <a:pt x="237995" y="638827"/>
                </a:cubicBezTo>
                <a:cubicBezTo>
                  <a:pt x="221294" y="634652"/>
                  <a:pt x="204010" y="632346"/>
                  <a:pt x="187891" y="626301"/>
                </a:cubicBezTo>
                <a:cubicBezTo>
                  <a:pt x="170407" y="619745"/>
                  <a:pt x="154950" y="608605"/>
                  <a:pt x="137787" y="601249"/>
                </a:cubicBezTo>
                <a:cubicBezTo>
                  <a:pt x="125651" y="596048"/>
                  <a:pt x="112735" y="592898"/>
                  <a:pt x="100209" y="588723"/>
                </a:cubicBezTo>
                <a:cubicBezTo>
                  <a:pt x="91858" y="580372"/>
                  <a:pt x="84378" y="571048"/>
                  <a:pt x="75156" y="563671"/>
                </a:cubicBezTo>
                <a:cubicBezTo>
                  <a:pt x="63400" y="554267"/>
                  <a:pt x="45557" y="551385"/>
                  <a:pt x="37578" y="538619"/>
                </a:cubicBezTo>
                <a:cubicBezTo>
                  <a:pt x="23582" y="516226"/>
                  <a:pt x="20877" y="488515"/>
                  <a:pt x="12526" y="463463"/>
                </a:cubicBezTo>
                <a:lnTo>
                  <a:pt x="0" y="425885"/>
                </a:lnTo>
                <a:cubicBezTo>
                  <a:pt x="8983" y="273177"/>
                  <a:pt x="-3617" y="263178"/>
                  <a:pt x="25052" y="162838"/>
                </a:cubicBezTo>
                <a:cubicBezTo>
                  <a:pt x="28679" y="150142"/>
                  <a:pt x="29330" y="135570"/>
                  <a:pt x="37578" y="125260"/>
                </a:cubicBezTo>
                <a:cubicBezTo>
                  <a:pt x="59233" y="98191"/>
                  <a:pt x="127348" y="82811"/>
                  <a:pt x="150313" y="75156"/>
                </a:cubicBezTo>
                <a:cubicBezTo>
                  <a:pt x="205173" y="56870"/>
                  <a:pt x="198807" y="56501"/>
                  <a:pt x="275573" y="50104"/>
                </a:cubicBezTo>
                <a:cubicBezTo>
                  <a:pt x="296378" y="48370"/>
                  <a:pt x="327765" y="41753"/>
                  <a:pt x="350729" y="37578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INTER-CONNECTION NETWORK</a:t>
            </a:r>
          </a:p>
        </p:txBody>
      </p:sp>
      <p:sp>
        <p:nvSpPr>
          <p:cNvPr id="46" name="Flowchart: Magnetic Disk 45"/>
          <p:cNvSpPr/>
          <p:nvPr/>
        </p:nvSpPr>
        <p:spPr>
          <a:xfrm>
            <a:off x="5873138" y="4565431"/>
            <a:ext cx="1051103" cy="726197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lowchart: Magnetic Disk 46"/>
          <p:cNvSpPr/>
          <p:nvPr/>
        </p:nvSpPr>
        <p:spPr>
          <a:xfrm>
            <a:off x="7198377" y="4588575"/>
            <a:ext cx="1051103" cy="726197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lowchart: Magnetic Disk 47"/>
          <p:cNvSpPr/>
          <p:nvPr/>
        </p:nvSpPr>
        <p:spPr>
          <a:xfrm>
            <a:off x="9054515" y="4588575"/>
            <a:ext cx="1051103" cy="726197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8306271" y="4951673"/>
            <a:ext cx="691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.......</a:t>
            </a:r>
          </a:p>
        </p:txBody>
      </p:sp>
      <p:cxnSp>
        <p:nvCxnSpPr>
          <p:cNvPr id="50" name="Straight Connector 49"/>
          <p:cNvCxnSpPr/>
          <p:nvPr/>
        </p:nvCxnSpPr>
        <p:spPr>
          <a:xfrm flipH="1">
            <a:off x="6396779" y="4152485"/>
            <a:ext cx="1910" cy="38549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7761614" y="4241247"/>
            <a:ext cx="0" cy="34732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 flipV="1">
            <a:off x="9579760" y="4216375"/>
            <a:ext cx="306" cy="36158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845205" y="5974171"/>
            <a:ext cx="42697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5"/>
                </a:solidFill>
              </a:rPr>
              <a:t>SHARED DISK MULTIPROCESSOR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3F537EE-CEC7-4098-D60D-33F7E4D4B808}"/>
              </a:ext>
            </a:extLst>
          </p:cNvPr>
          <p:cNvCxnSpPr>
            <a:cxnSpLocks/>
          </p:cNvCxnSpPr>
          <p:nvPr/>
        </p:nvCxnSpPr>
        <p:spPr>
          <a:xfrm flipH="1">
            <a:off x="10101653" y="2724829"/>
            <a:ext cx="578400" cy="171688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ED6A226-5A41-E26E-6D3B-0F29DBA92AD6}"/>
              </a:ext>
            </a:extLst>
          </p:cNvPr>
          <p:cNvSpPr txBox="1"/>
          <p:nvPr/>
        </p:nvSpPr>
        <p:spPr>
          <a:xfrm>
            <a:off x="5689732" y="1930199"/>
            <a:ext cx="14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 animBg="1"/>
      <p:bldP spid="12" grpId="0"/>
      <p:bldP spid="13" grpId="0" animBg="1"/>
      <p:bldP spid="14" grpId="0" animBg="1"/>
      <p:bldP spid="15" grpId="0" animBg="1"/>
      <p:bldP spid="16" grpId="0"/>
      <p:bldP spid="17" grpId="0"/>
      <p:bldP spid="27" grpId="0"/>
      <p:bldP spid="30" grpId="0"/>
      <p:bldP spid="31" grpId="0"/>
      <p:bldP spid="33" grpId="0"/>
      <p:bldP spid="34" grpId="0"/>
      <p:bldP spid="38" grpId="0" animBg="1"/>
      <p:bldP spid="39" grpId="0" animBg="1"/>
      <p:bldP spid="40" grpId="0" animBg="1"/>
      <p:bldP spid="41" grpId="0"/>
      <p:bldP spid="45" grpId="0" animBg="1"/>
      <p:bldP spid="46" grpId="0" animBg="1"/>
      <p:bldP spid="47" grpId="0" animBg="1"/>
      <p:bldP spid="48" grpId="0" animBg="1"/>
      <p:bldP spid="49" grpId="0"/>
      <p:bldP spid="53" grpId="0"/>
      <p:bldP spid="5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2. Parallel Database System(Conti..)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9174" y="714149"/>
            <a:ext cx="11929641" cy="564904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/>
                </a:solidFill>
              </a:rPr>
              <a:t>ADVANTAGES: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Response time is  very high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System is able to process complex query</a:t>
            </a:r>
            <a:endParaRPr lang="en-US" sz="2200" b="1" dirty="0">
              <a:solidFill>
                <a:schemeClr val="accent6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/>
                </a:solidFill>
              </a:rPr>
              <a:t>DISADVANTAGES: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Networking cost are very high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Management of shared resources becomes very high</a:t>
            </a:r>
          </a:p>
          <a:p>
            <a:pPr lvl="1"/>
            <a:endParaRPr lang="en-US" sz="2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3. Client-Server Database System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9173" y="800116"/>
            <a:ext cx="12191454" cy="590125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It contains two components 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Server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Client  </a:t>
            </a:r>
          </a:p>
          <a:p>
            <a:pPr>
              <a:lnSpc>
                <a:spcPct val="100000"/>
              </a:lnSpc>
            </a:pPr>
            <a:r>
              <a:rPr lang="en-US" dirty="0"/>
              <a:t>Application Programs </a:t>
            </a:r>
            <a:r>
              <a:rPr lang="en-US" b="1" dirty="0">
                <a:solidFill>
                  <a:schemeClr val="accent6"/>
                </a:solidFill>
              </a:rPr>
              <a:t>=</a:t>
            </a:r>
            <a:r>
              <a:rPr lang="en-US" dirty="0"/>
              <a:t> Client Side</a:t>
            </a:r>
          </a:p>
          <a:p>
            <a:pPr>
              <a:lnSpc>
                <a:spcPct val="100000"/>
              </a:lnSpc>
            </a:pPr>
            <a:r>
              <a:rPr lang="en-US" dirty="0"/>
              <a:t>Databases and DBMS S/w’s </a:t>
            </a:r>
            <a:r>
              <a:rPr lang="en-US" b="1" dirty="0">
                <a:solidFill>
                  <a:schemeClr val="accent6"/>
                </a:solidFill>
              </a:rPr>
              <a:t>=</a:t>
            </a:r>
            <a:r>
              <a:rPr lang="en-US" dirty="0"/>
              <a:t> Server Side </a:t>
            </a:r>
          </a:p>
          <a:p>
            <a:pPr>
              <a:lnSpc>
                <a:spcPct val="100000"/>
              </a:lnSpc>
            </a:pPr>
            <a:r>
              <a:rPr lang="en-US" dirty="0"/>
              <a:t>Client </a:t>
            </a:r>
            <a:r>
              <a:rPr lang="en-US" b="1" dirty="0">
                <a:solidFill>
                  <a:schemeClr val="accent6"/>
                </a:solidFill>
              </a:rPr>
              <a:t>requests</a:t>
            </a:r>
            <a:r>
              <a:rPr lang="en-US" dirty="0"/>
              <a:t> data from server as per the requirement.</a:t>
            </a:r>
            <a:endParaRPr lang="en-US" b="1" dirty="0">
              <a:solidFill>
                <a:schemeClr val="accent6"/>
              </a:solidFill>
            </a:endParaRPr>
          </a:p>
          <a:p>
            <a:pPr lvl="1"/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3. Client-Server Database System(Conti..)</a:t>
            </a:r>
          </a:p>
        </p:txBody>
      </p:sp>
      <p:sp>
        <p:nvSpPr>
          <p:cNvPr id="5" name="Flowchart: Magnetic Disk 4"/>
          <p:cNvSpPr/>
          <p:nvPr/>
        </p:nvSpPr>
        <p:spPr>
          <a:xfrm>
            <a:off x="4766153" y="3569916"/>
            <a:ext cx="2254685" cy="2505205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SERVER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495" y="1603332"/>
            <a:ext cx="1427967" cy="14279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264" y="761786"/>
            <a:ext cx="1427967" cy="14279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211" y="1603331"/>
            <a:ext cx="1427967" cy="14279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494" y="4108534"/>
            <a:ext cx="1427967" cy="142796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339" y="4108536"/>
            <a:ext cx="1427967" cy="14279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1631" y="3118981"/>
            <a:ext cx="14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1494" y="5536503"/>
            <a:ext cx="14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5264" y="2214990"/>
            <a:ext cx="14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4211" y="3118632"/>
            <a:ext cx="14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7339" y="5536503"/>
            <a:ext cx="14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CLIENT5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3172380" y="5298012"/>
            <a:ext cx="1290443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28735" y="4611879"/>
            <a:ext cx="1152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REQUEST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3237586" y="2868460"/>
            <a:ext cx="1421574" cy="902478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 rot="2013520">
            <a:off x="3611712" y="2881918"/>
            <a:ext cx="1152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REQUEST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5525689" y="2558218"/>
            <a:ext cx="0" cy="814071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 rot="5400000">
            <a:off x="5384319" y="2877550"/>
            <a:ext cx="1152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REQUEST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7026768" y="2781949"/>
            <a:ext cx="1475531" cy="1022181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 rot="19307906">
            <a:off x="7461387" y="3671340"/>
            <a:ext cx="1152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REQUEST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127831" y="5316861"/>
            <a:ext cx="1669878" cy="3473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8875" y="4607147"/>
            <a:ext cx="1152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REQUEST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3237586" y="5141100"/>
            <a:ext cx="1221680" cy="7098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04822" y="5378920"/>
            <a:ext cx="1221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RESPONSE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3292000" y="2709808"/>
            <a:ext cx="1474153" cy="98079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2052080">
            <a:off x="3248267" y="3373637"/>
            <a:ext cx="1221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RESPONSE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5722209" y="2569233"/>
            <a:ext cx="1436" cy="803056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5400000">
            <a:off x="4673718" y="2881014"/>
            <a:ext cx="1221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RESPONSE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7156460" y="3031298"/>
            <a:ext cx="1524980" cy="1077238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19250521">
            <a:off x="6943417" y="2946192"/>
            <a:ext cx="1221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RESPONSE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7097427" y="5000695"/>
            <a:ext cx="1646784" cy="473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250112" y="5403457"/>
            <a:ext cx="1221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RESPONSE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/>
      <p:bldP spid="13" grpId="0"/>
      <p:bldP spid="14" grpId="0"/>
      <p:bldP spid="15" grpId="0"/>
      <p:bldP spid="17" grpId="0"/>
      <p:bldP spid="19" grpId="0"/>
      <p:bldP spid="21" grpId="0"/>
      <p:bldP spid="23" grpId="0"/>
      <p:bldP spid="25" grpId="0"/>
      <p:bldP spid="27" grpId="0"/>
      <p:bldP spid="29" grpId="0"/>
      <p:bldP spid="31" grpId="0"/>
      <p:bldP spid="33" grpId="0"/>
      <p:bldP spid="3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3. Client-Server Database System(Conti..)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8627" y="796768"/>
            <a:ext cx="11929641" cy="564904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accent6"/>
                </a:solidFill>
              </a:rPr>
              <a:t>ADVANTAGES: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Flexible compare to centralized database system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Better response time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Server contains business logic</a:t>
            </a:r>
            <a:endParaRPr lang="en-US" sz="2200" b="1" dirty="0">
              <a:solidFill>
                <a:schemeClr val="accent6"/>
              </a:solidFill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accent6"/>
                </a:solidFill>
              </a:rPr>
              <a:t>DISADVANTAGES: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It costs is high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Security needs to be implemented in a better way</a:t>
            </a:r>
          </a:p>
          <a:p>
            <a:pPr lvl="1"/>
            <a:endParaRPr lang="en-US" sz="2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4. Distributed Database System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8627" y="813842"/>
            <a:ext cx="11929641" cy="564904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Database is distributed over different computers.</a:t>
            </a:r>
          </a:p>
          <a:p>
            <a:pPr>
              <a:lnSpc>
                <a:spcPct val="100000"/>
              </a:lnSpc>
            </a:pPr>
            <a:r>
              <a:rPr lang="en-US" dirty="0"/>
              <a:t>An application can operate on data which is spread across multiple databases in different computers. </a:t>
            </a:r>
          </a:p>
          <a:p>
            <a:pPr>
              <a:lnSpc>
                <a:spcPct val="100000"/>
              </a:lnSpc>
            </a:pPr>
            <a:r>
              <a:rPr lang="en-US" dirty="0"/>
              <a:t>Each machine can have data and application of its own. </a:t>
            </a:r>
          </a:p>
          <a:p>
            <a:pPr>
              <a:lnSpc>
                <a:spcPct val="100000"/>
              </a:lnSpc>
            </a:pPr>
            <a:r>
              <a:rPr lang="en-US" dirty="0"/>
              <a:t>Each machine can act as server as well as client.</a:t>
            </a:r>
            <a:endParaRPr lang="en-US" b="1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4. Distributed Database System(Conti..)</a:t>
            </a:r>
          </a:p>
        </p:txBody>
      </p:sp>
      <p:sp>
        <p:nvSpPr>
          <p:cNvPr id="5" name="Flowchart: Magnetic Disk 4"/>
          <p:cNvSpPr/>
          <p:nvPr/>
        </p:nvSpPr>
        <p:spPr>
          <a:xfrm>
            <a:off x="3710770" y="1591058"/>
            <a:ext cx="1158658" cy="1315235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SERVER</a:t>
            </a:r>
          </a:p>
        </p:txBody>
      </p:sp>
      <p:sp>
        <p:nvSpPr>
          <p:cNvPr id="6" name="Flowchart: Magnetic Disk 5"/>
          <p:cNvSpPr/>
          <p:nvPr/>
        </p:nvSpPr>
        <p:spPr>
          <a:xfrm>
            <a:off x="5892387" y="1609845"/>
            <a:ext cx="1158658" cy="1315235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SERVER</a:t>
            </a:r>
          </a:p>
        </p:txBody>
      </p:sp>
      <p:sp>
        <p:nvSpPr>
          <p:cNvPr id="7" name="Flowchart: Magnetic Disk 6"/>
          <p:cNvSpPr/>
          <p:nvPr/>
        </p:nvSpPr>
        <p:spPr>
          <a:xfrm>
            <a:off x="4791141" y="3172120"/>
            <a:ext cx="1158658" cy="1315235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SERVER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967548" y="2380200"/>
            <a:ext cx="816281" cy="0"/>
          </a:xfrm>
          <a:prstGeom prst="straightConnector1">
            <a:avLst/>
          </a:pr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69537" y="2944561"/>
            <a:ext cx="605946" cy="734858"/>
          </a:xfrm>
          <a:prstGeom prst="straightConnector1">
            <a:avLst/>
          </a:pr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965458" y="2944561"/>
            <a:ext cx="506258" cy="734858"/>
          </a:xfrm>
          <a:prstGeom prst="straightConnector1">
            <a:avLst/>
          </a:pr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Alternate Process 10"/>
          <p:cNvSpPr/>
          <p:nvPr/>
        </p:nvSpPr>
        <p:spPr>
          <a:xfrm>
            <a:off x="3115785" y="814447"/>
            <a:ext cx="4409161" cy="3845490"/>
          </a:xfrm>
          <a:prstGeom prst="flowChartAlternateProcess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>
            <a:stCxn id="5" idx="2"/>
          </p:cNvCxnSpPr>
          <p:nvPr/>
        </p:nvCxnSpPr>
        <p:spPr>
          <a:xfrm flipH="1" flipV="1">
            <a:off x="2689900" y="2248675"/>
            <a:ext cx="1020870" cy="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 flipV="1">
            <a:off x="7051045" y="2380200"/>
            <a:ext cx="1020870" cy="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366294" y="4487355"/>
            <a:ext cx="4175" cy="84760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89900" y="1694047"/>
            <a:ext cx="0" cy="240221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071915" y="1771980"/>
            <a:ext cx="0" cy="240221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529143" y="5334960"/>
            <a:ext cx="358244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1975916" y="1693510"/>
            <a:ext cx="71398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1975916" y="2737192"/>
            <a:ext cx="71398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8071915" y="1776846"/>
            <a:ext cx="71398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8071915" y="2807465"/>
            <a:ext cx="71398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529143" y="5334960"/>
            <a:ext cx="0" cy="33958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969635" y="5334960"/>
            <a:ext cx="0" cy="33958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261" y="2396170"/>
            <a:ext cx="671638" cy="67163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966" y="1274026"/>
            <a:ext cx="671638" cy="67163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46744" y="3003424"/>
            <a:ext cx="99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446" y="1877841"/>
            <a:ext cx="1033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CLIENT1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1267840" y="3449618"/>
            <a:ext cx="691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.......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3969" y="2608742"/>
            <a:ext cx="671638" cy="67163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8493" y="1502568"/>
            <a:ext cx="671638" cy="67163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572452" y="3215996"/>
            <a:ext cx="99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6973" y="2106383"/>
            <a:ext cx="1033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CLIENT1</a:t>
            </a:r>
          </a:p>
        </p:txBody>
      </p:sp>
      <p:sp>
        <p:nvSpPr>
          <p:cNvPr id="33" name="TextBox 32"/>
          <p:cNvSpPr txBox="1"/>
          <p:nvPr/>
        </p:nvSpPr>
        <p:spPr>
          <a:xfrm rot="16200000">
            <a:off x="8681439" y="3662190"/>
            <a:ext cx="691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.......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324" y="5674165"/>
            <a:ext cx="671638" cy="67163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011804" y="6277980"/>
            <a:ext cx="1033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CLIENT1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729" y="5674165"/>
            <a:ext cx="671638" cy="67163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470212" y="6281419"/>
            <a:ext cx="99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CLIENT2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7527" y="5932254"/>
            <a:ext cx="691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.......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1" grpId="0" animBg="1"/>
      <p:bldP spid="26" grpId="0"/>
      <p:bldP spid="27" grpId="0"/>
      <p:bldP spid="28" grpId="0"/>
      <p:bldP spid="31" grpId="0"/>
      <p:bldP spid="32" grpId="0"/>
      <p:bldP spid="33" grpId="0"/>
      <p:bldP spid="35" grpId="0"/>
      <p:bldP spid="37" grpId="0"/>
      <p:bldP spid="3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4. Distributed Database System(Conti..)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7958" y="795180"/>
            <a:ext cx="11929641" cy="564904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accent6"/>
                </a:solidFill>
              </a:rPr>
              <a:t>ADVANTAGES: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Provide better performance.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Provides high throughput.</a:t>
            </a:r>
            <a:endParaRPr lang="en-US" sz="2200" b="1" dirty="0">
              <a:solidFill>
                <a:schemeClr val="accent6"/>
              </a:solidFill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accent6"/>
                </a:solidFill>
              </a:rPr>
              <a:t>DISADVANTAGES: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Recovery from failure is more complex.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Database design is more complex.</a:t>
            </a:r>
          </a:p>
          <a:p>
            <a:pPr lvl="1"/>
            <a:endParaRPr lang="en-US" sz="2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Frequently asked questions in Exam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18204"/>
            <a:ext cx="11929641" cy="5673593"/>
          </a:xfrm>
        </p:spPr>
        <p:txBody>
          <a:bodyPr/>
          <a:lstStyle/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en-US" sz="2300" dirty="0"/>
              <a:t>Define the terms Schema, Sub-schema and Instance.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en-US" sz="2300" dirty="0"/>
              <a:t>Define Mapping. Explain Internal Mapping and External Mapping. 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en-US" sz="2300" dirty="0"/>
              <a:t>Discuss Physical Data Independence and Logical Data Independence.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en-US" sz="2300" dirty="0"/>
              <a:t>Draw the structure of Database System Architecture. 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en-US" sz="2300" dirty="0"/>
              <a:t>Explain execution steps of Database Management System. 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en-US" sz="2300" dirty="0"/>
              <a:t>Describe functions and services of Database Management System. 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en-US" sz="2300" dirty="0"/>
              <a:t>Explain Hierarchical and Network Data Model.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en-US" sz="2300" dirty="0"/>
              <a:t>Describe Relational Data Model.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en-US" sz="2300" dirty="0"/>
              <a:t>Explain Entity – Relational Data Model.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en-US" sz="2300" dirty="0"/>
              <a:t>Describe Object Oriented Data Model.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en-US" sz="2300" dirty="0"/>
              <a:t>Explain Parallel and Centralized Database System.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en-US" sz="2300" dirty="0"/>
              <a:t>Write a short note on Client-Server Database System.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en-US" sz="2300" dirty="0"/>
              <a:t>Write a short note on Distributed Database System.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endParaRPr lang="en-US" dirty="0"/>
          </a:p>
          <a:p>
            <a:pPr marL="0" indent="0">
              <a:buClr>
                <a:schemeClr val="accent6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21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hemang.chath@darshan.ac.in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8200834776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837677" y="5582493"/>
            <a:ext cx="3825704" cy="265204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>
                <a:latin typeface="Roboto Condensed(Body)"/>
              </a:rPr>
              <a:t>Prof. </a:t>
            </a:r>
            <a:r>
              <a:rPr lang="en-US" dirty="0"/>
              <a:t>Hemang R Chath</a:t>
            </a:r>
            <a:endParaRPr lang="en-IN" dirty="0">
              <a:latin typeface="Roboto Condensed(Body)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D4F84-0571-BC3D-45EF-738514259C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US" b="1" dirty="0">
                <a:latin typeface="Roboto Condensed(Body)"/>
              </a:rPr>
              <a:t>Database Management System-I </a:t>
            </a:r>
            <a:r>
              <a:rPr lang="en-US" dirty="0">
                <a:latin typeface="Roboto Condensed(Body)"/>
                <a:ea typeface="Roboto Condensed Light" panose="02000000000000000000" pitchFamily="2" charset="0"/>
              </a:rPr>
              <a:t>(DBMS-I)</a:t>
            </a:r>
          </a:p>
          <a:p>
            <a:r>
              <a:rPr lang="en-US" dirty="0">
                <a:latin typeface="Roboto Condensed(Body)"/>
              </a:rPr>
              <a:t>DU # </a:t>
            </a:r>
            <a:r>
              <a:rPr dirty="0">
                <a:latin typeface="Roboto Condensed(Body)"/>
              </a:rPr>
              <a:t>2304CS204</a:t>
            </a:r>
            <a:endParaRPr lang="en-US" dirty="0">
              <a:latin typeface="Roboto Condensed(Body)"/>
            </a:endParaRPr>
          </a:p>
        </p:txBody>
      </p:sp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492668EA-FB19-5FCA-2AFB-BDB76F2B1F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" t="-79" r="608" b="11610"/>
          <a:stretch/>
        </p:blipFill>
        <p:spPr>
          <a:xfrm>
            <a:off x="342900" y="5081155"/>
            <a:ext cx="1392382" cy="147550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2105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12174</TotalTime>
  <Words>2468</Words>
  <Application>Microsoft Office PowerPoint</Application>
  <PresentationFormat>Widescreen</PresentationFormat>
  <Paragraphs>661</Paragraphs>
  <Slides>42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Wingdings 3</vt:lpstr>
      <vt:lpstr>Roboto Condensed,Bold</vt:lpstr>
      <vt:lpstr>Roboto Condensed Light</vt:lpstr>
      <vt:lpstr>Roboto Condensed (Body)</vt:lpstr>
      <vt:lpstr>Arial</vt:lpstr>
      <vt:lpstr>Wingdings 2</vt:lpstr>
      <vt:lpstr>Calibri</vt:lpstr>
      <vt:lpstr>Wingdings</vt:lpstr>
      <vt:lpstr>Roboto Condensed(Body)</vt:lpstr>
      <vt:lpstr>Roboto Condensed</vt:lpstr>
      <vt:lpstr>Office Theme</vt:lpstr>
      <vt:lpstr>Unit-2  Database System Architecture</vt:lpstr>
      <vt:lpstr>PowerPoint Presentation</vt:lpstr>
      <vt:lpstr>Schema, Sub-schema &amp; Instance</vt:lpstr>
      <vt:lpstr>Schema and Instance</vt:lpstr>
      <vt:lpstr>Schema Vs Instance</vt:lpstr>
      <vt:lpstr>Sub-schema</vt:lpstr>
      <vt:lpstr>Mapping and Data Independence</vt:lpstr>
      <vt:lpstr>Mapping</vt:lpstr>
      <vt:lpstr>Internal Mapping and External Mappings</vt:lpstr>
      <vt:lpstr>Data Independence</vt:lpstr>
      <vt:lpstr>PowerPoint Presentation</vt:lpstr>
      <vt:lpstr>PowerPoint Presentation</vt:lpstr>
      <vt:lpstr>Database System Architecture</vt:lpstr>
      <vt:lpstr>Database System Architecture</vt:lpstr>
      <vt:lpstr>Execution Steps of DBMS</vt:lpstr>
      <vt:lpstr>Function and Services of DBMS</vt:lpstr>
      <vt:lpstr>Function and Services of DBMS</vt:lpstr>
      <vt:lpstr>Data Models</vt:lpstr>
      <vt:lpstr>Data Models </vt:lpstr>
      <vt:lpstr>Data Models (Conti..) </vt:lpstr>
      <vt:lpstr>Record Based Data Models</vt:lpstr>
      <vt:lpstr>Record Based Data Models (Conti…)</vt:lpstr>
      <vt:lpstr>Record Based Data Models (Conti…)</vt:lpstr>
      <vt:lpstr>Object Based Data Models</vt:lpstr>
      <vt:lpstr>Object Based Data Models(Conti..)</vt:lpstr>
      <vt:lpstr>Object Based Data Models(Conti..)</vt:lpstr>
      <vt:lpstr>Physical Data Models</vt:lpstr>
      <vt:lpstr>Types of Database System</vt:lpstr>
      <vt:lpstr>Types of Database System</vt:lpstr>
      <vt:lpstr>1. Centralized Database System</vt:lpstr>
      <vt:lpstr>Centralized Database System(Conti..)</vt:lpstr>
      <vt:lpstr>2. Parallel Database System</vt:lpstr>
      <vt:lpstr>2. Parallel Database System(Conti..)</vt:lpstr>
      <vt:lpstr>2. Parallel Database System(Conti..)</vt:lpstr>
      <vt:lpstr>3. Client-Server Database System</vt:lpstr>
      <vt:lpstr>3. Client-Server Database System(Conti..)</vt:lpstr>
      <vt:lpstr>3. Client-Server Database System(Conti..)</vt:lpstr>
      <vt:lpstr>4. Distributed Database System</vt:lpstr>
      <vt:lpstr>4. Distributed Database System(Conti..)</vt:lpstr>
      <vt:lpstr>4. Distributed Database System(Conti..)</vt:lpstr>
      <vt:lpstr>Frequently asked questions in Exam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Hemang Chath</cp:lastModifiedBy>
  <cp:revision>402</cp:revision>
  <dcterms:created xsi:type="dcterms:W3CDTF">2020-05-01T05:09:15Z</dcterms:created>
  <dcterms:modified xsi:type="dcterms:W3CDTF">2026-02-12T07:24:19Z</dcterms:modified>
</cp:coreProperties>
</file>