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1"/>
  </p:notesMasterIdLst>
  <p:sldIdLst>
    <p:sldId id="822" r:id="rId2"/>
    <p:sldId id="987" r:id="rId3"/>
    <p:sldId id="988" r:id="rId4"/>
    <p:sldId id="347" r:id="rId5"/>
    <p:sldId id="348" r:id="rId6"/>
    <p:sldId id="350" r:id="rId7"/>
    <p:sldId id="355" r:id="rId8"/>
    <p:sldId id="356" r:id="rId9"/>
    <p:sldId id="357" r:id="rId10"/>
    <p:sldId id="358" r:id="rId11"/>
    <p:sldId id="359" r:id="rId12"/>
    <p:sldId id="351" r:id="rId13"/>
    <p:sldId id="352" r:id="rId14"/>
    <p:sldId id="353" r:id="rId15"/>
    <p:sldId id="354" r:id="rId16"/>
    <p:sldId id="364" r:id="rId17"/>
    <p:sldId id="365" r:id="rId18"/>
    <p:sldId id="366" r:id="rId19"/>
    <p:sldId id="367" r:id="rId20"/>
    <p:sldId id="368" r:id="rId21"/>
    <p:sldId id="369" r:id="rId22"/>
    <p:sldId id="370" r:id="rId23"/>
    <p:sldId id="371" r:id="rId24"/>
    <p:sldId id="372" r:id="rId25"/>
    <p:sldId id="1006" r:id="rId26"/>
    <p:sldId id="1007" r:id="rId27"/>
    <p:sldId id="1008" r:id="rId28"/>
    <p:sldId id="376" r:id="rId29"/>
    <p:sldId id="377" r:id="rId30"/>
    <p:sldId id="378" r:id="rId31"/>
    <p:sldId id="379" r:id="rId32"/>
    <p:sldId id="380" r:id="rId33"/>
    <p:sldId id="381" r:id="rId34"/>
    <p:sldId id="382" r:id="rId35"/>
    <p:sldId id="1009" r:id="rId36"/>
    <p:sldId id="384" r:id="rId37"/>
    <p:sldId id="385" r:id="rId38"/>
    <p:sldId id="386" r:id="rId39"/>
    <p:sldId id="387" r:id="rId40"/>
    <p:sldId id="389" r:id="rId41"/>
    <p:sldId id="390" r:id="rId42"/>
    <p:sldId id="391" r:id="rId43"/>
    <p:sldId id="395" r:id="rId44"/>
    <p:sldId id="403" r:id="rId45"/>
    <p:sldId id="404" r:id="rId46"/>
    <p:sldId id="410" r:id="rId47"/>
    <p:sldId id="490" r:id="rId48"/>
    <p:sldId id="491" r:id="rId49"/>
    <p:sldId id="992" r:id="rId50"/>
    <p:sldId id="993" r:id="rId51"/>
    <p:sldId id="997" r:id="rId52"/>
    <p:sldId id="998" r:id="rId53"/>
    <p:sldId id="996" r:id="rId54"/>
    <p:sldId id="494" r:id="rId55"/>
    <p:sldId id="411" r:id="rId56"/>
    <p:sldId id="1002" r:id="rId57"/>
    <p:sldId id="1003" r:id="rId58"/>
    <p:sldId id="1001" r:id="rId59"/>
    <p:sldId id="1000" r:id="rId60"/>
    <p:sldId id="999" r:id="rId61"/>
    <p:sldId id="488" r:id="rId62"/>
    <p:sldId id="485" r:id="rId63"/>
    <p:sldId id="995" r:id="rId64"/>
    <p:sldId id="1004" r:id="rId65"/>
    <p:sldId id="1005" r:id="rId66"/>
    <p:sldId id="990" r:id="rId67"/>
    <p:sldId id="821" r:id="rId68"/>
    <p:sldId id="1010" r:id="rId69"/>
    <p:sldId id="991" r:id="rId70"/>
  </p:sldIdLst>
  <p:sldSz cx="12192000" cy="6858000"/>
  <p:notesSz cx="6858000" cy="9144000"/>
  <p:embeddedFontLst>
    <p:embeddedFont>
      <p:font typeface="Consolas" panose="020B0609020204030204" pitchFamily="49" charset="0"/>
      <p:regular r:id="rId72"/>
      <p:bold r:id="rId73"/>
      <p:italic r:id="rId74"/>
      <p:boldItalic r:id="rId75"/>
    </p:embeddedFont>
    <p:embeddedFont>
      <p:font typeface="Roboto Condensed" panose="02000000000000000000" pitchFamily="2" charset="0"/>
      <p:regular r:id="rId76"/>
      <p:bold r:id="rId77"/>
      <p:italic r:id="rId78"/>
      <p:boldItalic r:id="rId79"/>
    </p:embeddedFont>
    <p:embeddedFont>
      <p:font typeface="Roboto Condensed Light" panose="02000000000000000000" pitchFamily="2" charset="0"/>
      <p:regular r:id="rId80"/>
      <p:italic r:id="rId81"/>
    </p:embeddedFont>
    <p:embeddedFont>
      <p:font typeface="Wingdings 2" panose="05020102010507070707" pitchFamily="18" charset="2"/>
      <p:regular r:id="rId82"/>
    </p:embeddedFont>
    <p:embeddedFont>
      <p:font typeface="Wingdings 3" panose="05040102010807070707" pitchFamily="18" charset="2"/>
      <p:regular r:id="rId8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7n9OPi3wxWuPaQRDTB8g9w==" hashData="yWk2JzRy1iNs4eLKYxAuL9AB66JLwFnnOrHTHOi2nLrXAdmfgYSwKQTFBCst2GPd6jueVpUEEZQXV3zsc691Dw=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mang Chath" initials="HC" lastIdx="1" clrIdx="0">
    <p:extLst>
      <p:ext uri="{19B8F6BF-5375-455C-9EA6-DF929625EA0E}">
        <p15:presenceInfo xmlns:p15="http://schemas.microsoft.com/office/powerpoint/2012/main" userId="843f6e9c48e3acf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6FA9"/>
    <a:srgbClr val="301B92"/>
    <a:srgbClr val="D10233"/>
    <a:srgbClr val="673BB7"/>
    <a:srgbClr val="607D8B"/>
    <a:srgbClr val="ED524F"/>
    <a:srgbClr val="B71B1C"/>
    <a:srgbClr val="F54337"/>
    <a:srgbClr val="D81A60"/>
    <a:srgbClr val="890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commentAuthors" Target="commentAuthor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3.fntdata"/><Relationship Id="rId79" Type="http://schemas.openxmlformats.org/officeDocument/2006/relationships/font" Target="fonts/font8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.fntdata"/><Relationship Id="rId80" Type="http://schemas.openxmlformats.org/officeDocument/2006/relationships/font" Target="fonts/font9.fntdata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4.fntdata"/><Relationship Id="rId83" Type="http://schemas.openxmlformats.org/officeDocument/2006/relationships/font" Target="fonts/font12.fntdata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2.fntdata"/><Relationship Id="rId78" Type="http://schemas.openxmlformats.org/officeDocument/2006/relationships/font" Target="fonts/font7.fntdata"/><Relationship Id="rId81" Type="http://schemas.openxmlformats.org/officeDocument/2006/relationships/font" Target="fonts/font10.fntdata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5.fntdata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EB9-924B-4EB9-AB14-282C92B55AE8}" type="slidenum">
              <a:rPr lang="en-IN" smtClean="0"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506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4841362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Hemang R. Chath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2364D95-B329-9454-0C65-6DD9D28321C5}"/>
              </a:ext>
            </a:extLst>
          </p:cNvPr>
          <p:cNvSpPr txBox="1">
            <a:spLocks/>
          </p:cNvSpPr>
          <p:nvPr userDrawn="1"/>
        </p:nvSpPr>
        <p:spPr>
          <a:xfrm>
            <a:off x="3766657" y="6604000"/>
            <a:ext cx="577162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Entity Relational Model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Hemang R. Chath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tx2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tx2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tx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tx2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tx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F3D0C57-A7FF-E69D-35D9-B1280605F8A4}"/>
              </a:ext>
            </a:extLst>
          </p:cNvPr>
          <p:cNvSpPr txBox="1">
            <a:spLocks/>
          </p:cNvSpPr>
          <p:nvPr userDrawn="1"/>
        </p:nvSpPr>
        <p:spPr>
          <a:xfrm>
            <a:off x="3766657" y="6604000"/>
            <a:ext cx="577162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 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–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Entity Relational Model </a:t>
            </a:r>
            <a:endParaRPr lang="en-US" sz="1200" b="0" dirty="0">
              <a:solidFill>
                <a:schemeClr val="tx1">
                  <a:lumMod val="75000"/>
                  <a:lumOff val="25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C. Padaliya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DDA11D8-E569-819B-DC85-02C2766C1F57}"/>
              </a:ext>
            </a:extLst>
          </p:cNvPr>
          <p:cNvSpPr txBox="1">
            <a:spLocks/>
          </p:cNvSpPr>
          <p:nvPr userDrawn="1"/>
        </p:nvSpPr>
        <p:spPr>
          <a:xfrm>
            <a:off x="3766657" y="6604000"/>
            <a:ext cx="577162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Introduction to SQL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C. Padaliya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A8709C-9796-95F7-675B-55F1D628076F}"/>
              </a:ext>
            </a:extLst>
          </p:cNvPr>
          <p:cNvSpPr txBox="1">
            <a:spLocks/>
          </p:cNvSpPr>
          <p:nvPr userDrawn="1"/>
        </p:nvSpPr>
        <p:spPr>
          <a:xfrm>
            <a:off x="3766657" y="6604000"/>
            <a:ext cx="577162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Introduction to SQL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C. Padaliya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AF6D8C-880B-49D5-FAC3-E4B236FE216C}"/>
              </a:ext>
            </a:extLst>
          </p:cNvPr>
          <p:cNvSpPr txBox="1">
            <a:spLocks/>
          </p:cNvSpPr>
          <p:nvPr userDrawn="1"/>
        </p:nvSpPr>
        <p:spPr>
          <a:xfrm>
            <a:off x="3766657" y="6604000"/>
            <a:ext cx="577162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Introduction to SQL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20384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baseline="0" dirty="0">
                <a:solidFill>
                  <a:schemeClr val="tx1"/>
                </a:solidFill>
                <a:latin typeface="Roboto Condensed(Body)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	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DBMS-1</a:t>
            </a:r>
          </a:p>
          <a:p>
            <a:pPr lvl="0"/>
            <a:r>
              <a:rPr lang="en-US" dirty="0"/>
              <a:t>DU 2101CS201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85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73" r:id="rId8"/>
    <p:sldLayoutId id="2147483691" r:id="rId9"/>
    <p:sldLayoutId id="214748369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jpeg"/><Relationship Id="rId5" Type="http://schemas.openxmlformats.org/officeDocument/2006/relationships/image" Target="../media/image17.jpeg"/><Relationship Id="rId4" Type="http://schemas.openxmlformats.org/officeDocument/2006/relationships/image" Target="../media/image20.jpe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149" y="1010304"/>
            <a:ext cx="8939075" cy="2578780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Unit-5</a:t>
            </a:r>
            <a:r>
              <a:rPr lang="en-US" dirty="0"/>
              <a:t> </a:t>
            </a:r>
            <a:br>
              <a:rPr lang="en-US" dirty="0"/>
            </a:br>
            <a:r>
              <a:rPr lang="en-US" sz="6000" dirty="0"/>
              <a:t>Entity Relational Model</a:t>
            </a:r>
            <a:endParaRPr lang="en-US" sz="55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hemang.chath@darshan.ac.in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8200834776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826004" cy="309928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Hemang R Chath</a:t>
            </a:r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latin typeface="Roboto Condensed(Body)"/>
              </a:rPr>
              <a:t>Database Management System-I </a:t>
            </a:r>
            <a:r>
              <a:rPr lang="en-US" dirty="0">
                <a:latin typeface="Roboto Condensed(Body)"/>
                <a:ea typeface="Roboto Condensed Light" panose="02000000000000000000" pitchFamily="2" charset="0"/>
              </a:rPr>
              <a:t>(DBMS-I)</a:t>
            </a:r>
          </a:p>
          <a:p>
            <a:r>
              <a:rPr lang="en-US" dirty="0">
                <a:latin typeface="Roboto Condensed(Body)"/>
              </a:rPr>
              <a:t>DU # 2304CS204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B9004DF-727B-4AEF-BA9B-6AF15CF18C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10" name="Picture Placeholder 8">
            <a:extLst>
              <a:ext uri="{FF2B5EF4-FFF2-40B4-BE49-F238E27FC236}">
                <a16:creationId xmlns:a16="http://schemas.microsoft.com/office/drawing/2014/main" id="{9A4FC979-86A3-C87F-8B06-1426545BCD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" t="-79" r="608" b="11610"/>
          <a:stretch/>
        </p:blipFill>
        <p:spPr>
          <a:xfrm>
            <a:off x="342900" y="5081155"/>
            <a:ext cx="1392382" cy="147550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64520C5-AE6B-E485-E4E6-A33C1508BD66}"/>
              </a:ext>
            </a:extLst>
          </p:cNvPr>
          <p:cNvSpPr/>
          <p:nvPr/>
        </p:nvSpPr>
        <p:spPr>
          <a:xfrm>
            <a:off x="678112" y="3889663"/>
            <a:ext cx="6385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1600" b="1" i="1" u="none" strike="noStrike" baseline="0" dirty="0">
                <a:latin typeface="Roboto Condensed,Bold"/>
              </a:rPr>
              <a:t>CO5:</a:t>
            </a:r>
            <a:r>
              <a:rPr lang="en-IN" sz="1600" b="0" i="1" u="none" strike="noStrike" baseline="0" dirty="0">
                <a:latin typeface="Roboto Condensed,Bold"/>
              </a:rPr>
              <a:t> </a:t>
            </a:r>
            <a:r>
              <a:rPr lang="en-US" sz="1800" b="1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the end of this unit, students will be able to,</a:t>
            </a:r>
          </a:p>
          <a:p>
            <a:pPr algn="just"/>
            <a:r>
              <a:rPr lang="en-US" b="1" dirty="0"/>
              <a:t>        </a:t>
            </a:r>
            <a:r>
              <a:rPr lang="en-IN" b="1" dirty="0"/>
              <a:t>prepare</a:t>
            </a:r>
            <a:r>
              <a:rPr lang="en-IN" dirty="0"/>
              <a:t> relational database design.</a:t>
            </a:r>
            <a:endParaRPr lang="en-IN" sz="1600" b="0" i="1" dirty="0"/>
          </a:p>
        </p:txBody>
      </p:sp>
    </p:spTree>
    <p:extLst>
      <p:ext uri="{BB962C8B-B14F-4D97-AF65-F5344CB8AC3E}">
        <p14:creationId xmlns:p14="http://schemas.microsoft.com/office/powerpoint/2010/main" val="202525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3429000"/>
            <a:ext cx="0" cy="279451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3" y="731706"/>
            <a:ext cx="7111293" cy="5088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Basic concept of E - R Diagram</a:t>
            </a:r>
          </a:p>
          <a:p>
            <a:pPr marL="742950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Types of Attributes</a:t>
            </a:r>
          </a:p>
          <a:p>
            <a:pPr marL="742950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Mapping Cardinality </a:t>
            </a:r>
          </a:p>
          <a:p>
            <a:pPr marL="742950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Participation Constraints</a:t>
            </a:r>
          </a:p>
          <a:p>
            <a:pPr marL="742950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Weak Entity Set</a:t>
            </a:r>
          </a:p>
          <a:p>
            <a:pPr marL="742950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Superclass vs Subclass</a:t>
            </a:r>
          </a:p>
          <a:p>
            <a:pPr marL="742950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Generalization vs Specialization</a:t>
            </a:r>
          </a:p>
          <a:p>
            <a:pPr marL="742950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Constraints on Specialization and Generalization</a:t>
            </a:r>
            <a:endParaRPr lang="en-GB" sz="2400" dirty="0"/>
          </a:p>
          <a:p>
            <a:pPr marL="742950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Symbols  used in E - R Diagram</a:t>
            </a:r>
            <a:endParaRPr lang="en-GB" sz="2400" dirty="0"/>
          </a:p>
          <a:p>
            <a:pPr marL="742950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Requirements of Key in a Relation</a:t>
            </a:r>
          </a:p>
          <a:p>
            <a:pPr marL="742950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dirty="0"/>
              <a:t>Constraints</a:t>
            </a:r>
          </a:p>
        </p:txBody>
      </p:sp>
    </p:spTree>
    <p:extLst>
      <p:ext uri="{BB962C8B-B14F-4D97-AF65-F5344CB8AC3E}">
        <p14:creationId xmlns:p14="http://schemas.microsoft.com/office/powerpoint/2010/main" val="59511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Basic concept of E-R Diagram</a:t>
            </a:r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243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1179" y="757856"/>
            <a:ext cx="11929641" cy="55905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dirty="0"/>
              <a:t>What is E-R Diagram?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E - R Diagram: (</a:t>
            </a:r>
            <a:r>
              <a:rPr lang="en-US" sz="2200" b="1" dirty="0">
                <a:solidFill>
                  <a:schemeClr val="accent6"/>
                </a:solidFill>
              </a:rPr>
              <a:t>E</a:t>
            </a:r>
            <a:r>
              <a:rPr lang="en-US" sz="2200" dirty="0"/>
              <a:t>ntity-</a:t>
            </a:r>
            <a:r>
              <a:rPr lang="en-US" sz="2200" b="1" dirty="0">
                <a:solidFill>
                  <a:schemeClr val="accent6"/>
                </a:solidFill>
              </a:rPr>
              <a:t>R</a:t>
            </a:r>
            <a:r>
              <a:rPr lang="en-US" sz="2200" dirty="0"/>
              <a:t>elationship </a:t>
            </a:r>
            <a:r>
              <a:rPr lang="en-US" sz="2200" b="1" dirty="0">
                <a:solidFill>
                  <a:schemeClr val="accent6"/>
                </a:solidFill>
              </a:rPr>
              <a:t>D</a:t>
            </a:r>
            <a:r>
              <a:rPr lang="en-US" sz="2200" dirty="0"/>
              <a:t>iagram) 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It is </a:t>
            </a:r>
            <a:r>
              <a:rPr lang="en-US" sz="2200" b="1" dirty="0">
                <a:solidFill>
                  <a:schemeClr val="accent6"/>
                </a:solidFill>
              </a:rPr>
              <a:t>graphical </a:t>
            </a:r>
            <a:r>
              <a:rPr lang="en-US" sz="2200" b="1" dirty="0"/>
              <a:t>(</a:t>
            </a:r>
            <a:r>
              <a:rPr lang="en-US" sz="2200" b="1" dirty="0">
                <a:solidFill>
                  <a:schemeClr val="accent6"/>
                </a:solidFill>
              </a:rPr>
              <a:t>pictorial</a:t>
            </a:r>
            <a:r>
              <a:rPr lang="en-US" sz="2200" b="1" dirty="0"/>
              <a:t>)</a:t>
            </a:r>
            <a:r>
              <a:rPr lang="en-US" sz="2200" b="1" dirty="0">
                <a:solidFill>
                  <a:schemeClr val="accent6"/>
                </a:solidFill>
              </a:rPr>
              <a:t> representation </a:t>
            </a:r>
            <a:r>
              <a:rPr lang="en-US" sz="2200" dirty="0"/>
              <a:t>of database.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It uses different types of </a:t>
            </a:r>
            <a:r>
              <a:rPr lang="en-US" sz="2200" b="1" dirty="0">
                <a:solidFill>
                  <a:schemeClr val="accent6"/>
                </a:solidFill>
              </a:rPr>
              <a:t>shapes</a:t>
            </a:r>
            <a:r>
              <a:rPr lang="en-US" sz="2200" dirty="0"/>
              <a:t> to represent </a:t>
            </a:r>
            <a:r>
              <a:rPr lang="en-US" sz="2200" b="1" dirty="0">
                <a:solidFill>
                  <a:schemeClr val="accent6"/>
                </a:solidFill>
              </a:rPr>
              <a:t>different objects of database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9392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95204"/>
            <a:ext cx="11929641" cy="5590565"/>
          </a:xfrm>
        </p:spPr>
        <p:txBody>
          <a:bodyPr/>
          <a:lstStyle/>
          <a:p>
            <a:r>
              <a:rPr lang="en-US" dirty="0"/>
              <a:t>An entity is a </a:t>
            </a:r>
            <a:r>
              <a:rPr lang="en-US" b="1" dirty="0">
                <a:solidFill>
                  <a:schemeClr val="accent6"/>
                </a:solidFill>
              </a:rPr>
              <a:t>person</a:t>
            </a:r>
            <a:r>
              <a:rPr lang="en-US" dirty="0"/>
              <a:t>, a </a:t>
            </a:r>
            <a:r>
              <a:rPr lang="en-US" b="1" dirty="0">
                <a:solidFill>
                  <a:schemeClr val="accent6"/>
                </a:solidFill>
              </a:rPr>
              <a:t>place</a:t>
            </a:r>
            <a:r>
              <a:rPr lang="en-US" dirty="0"/>
              <a:t> or an </a:t>
            </a:r>
            <a:r>
              <a:rPr lang="en-US" b="1" dirty="0">
                <a:solidFill>
                  <a:schemeClr val="accent6"/>
                </a:solidFill>
              </a:rPr>
              <a:t>object</a:t>
            </a:r>
            <a:r>
              <a:rPr lang="en-US" dirty="0"/>
              <a:t>.</a:t>
            </a:r>
          </a:p>
          <a:p>
            <a:r>
              <a:rPr lang="en-US" dirty="0"/>
              <a:t>An entity is represented by a </a:t>
            </a:r>
            <a:r>
              <a:rPr lang="en-US" b="1" dirty="0">
                <a:solidFill>
                  <a:schemeClr val="accent6"/>
                </a:solidFill>
              </a:rPr>
              <a:t>rectangle</a:t>
            </a:r>
            <a:r>
              <a:rPr lang="en-US" dirty="0"/>
              <a:t> which contains the name of an entity.</a:t>
            </a:r>
          </a:p>
          <a:p>
            <a:r>
              <a:rPr lang="en-US" dirty="0"/>
              <a:t>Entities of a college database are:</a:t>
            </a:r>
          </a:p>
          <a:p>
            <a:pPr lvl="1"/>
            <a:r>
              <a:rPr lang="en-US" sz="2200" dirty="0"/>
              <a:t>Student</a:t>
            </a:r>
          </a:p>
          <a:p>
            <a:pPr lvl="1"/>
            <a:r>
              <a:rPr lang="en-US" sz="2200" dirty="0"/>
              <a:t>Professor/Faculty</a:t>
            </a:r>
          </a:p>
          <a:p>
            <a:pPr lvl="1"/>
            <a:r>
              <a:rPr lang="en-US" sz="2200" dirty="0"/>
              <a:t>Course</a:t>
            </a:r>
          </a:p>
          <a:p>
            <a:pPr lvl="1"/>
            <a:r>
              <a:rPr lang="en-US" sz="2200" dirty="0"/>
              <a:t>Department</a:t>
            </a:r>
          </a:p>
          <a:p>
            <a:pPr lvl="1"/>
            <a:r>
              <a:rPr lang="en-US" sz="2200" dirty="0"/>
              <a:t>Result</a:t>
            </a:r>
          </a:p>
          <a:p>
            <a:pPr lvl="1"/>
            <a:r>
              <a:rPr lang="en-US" sz="2200" dirty="0"/>
              <a:t>Class</a:t>
            </a:r>
          </a:p>
          <a:p>
            <a:pPr lvl="1"/>
            <a:r>
              <a:rPr lang="en-US" sz="2200" dirty="0"/>
              <a:t>Subject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40288" y="968188"/>
            <a:ext cx="1774209" cy="7707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</a:rPr>
              <a:t>Entity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22426" y="1842880"/>
            <a:ext cx="10390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Symbol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988" y="3139716"/>
            <a:ext cx="1502228" cy="7707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</a:rPr>
              <a:t>Student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688676" y="3139715"/>
            <a:ext cx="1502228" cy="7707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</a:rPr>
              <a:t>Faculty</a:t>
            </a:r>
          </a:p>
        </p:txBody>
      </p:sp>
      <p:sp>
        <p:nvSpPr>
          <p:cNvPr id="8" name="Rectangle 7"/>
          <p:cNvSpPr/>
          <p:nvPr/>
        </p:nvSpPr>
        <p:spPr>
          <a:xfrm>
            <a:off x="9056364" y="3139715"/>
            <a:ext cx="1502228" cy="7707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</a:rPr>
              <a:t>Course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878" y="5525766"/>
            <a:ext cx="621792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8612276"/>
              </p:ext>
            </p:extLst>
          </p:nvPr>
        </p:nvGraphicFramePr>
        <p:xfrm>
          <a:off x="688878" y="5137781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4988334"/>
              </p:ext>
            </p:extLst>
          </p:nvPr>
        </p:nvGraphicFramePr>
        <p:xfrm>
          <a:off x="1787807" y="5128893"/>
          <a:ext cx="532003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32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Write down the different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entities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bank database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Straight Connector 11"/>
          <p:cNvCxnSpPr/>
          <p:nvPr/>
        </p:nvCxnSpPr>
        <p:spPr>
          <a:xfrm>
            <a:off x="688878" y="6171222"/>
            <a:ext cx="658368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4911888"/>
              </p:ext>
            </p:extLst>
          </p:nvPr>
        </p:nvGraphicFramePr>
        <p:xfrm>
          <a:off x="688878" y="5783237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2772201"/>
              </p:ext>
            </p:extLst>
          </p:nvPr>
        </p:nvGraphicFramePr>
        <p:xfrm>
          <a:off x="1787807" y="5774349"/>
          <a:ext cx="564070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640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Write down the different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entities</a:t>
                      </a:r>
                      <a:r>
                        <a:rPr lang="en-US" sz="20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hospital database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40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73619"/>
            <a:ext cx="11929641" cy="585125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Attribute is </a:t>
            </a:r>
            <a:r>
              <a:rPr lang="en-GB" b="1" dirty="0">
                <a:solidFill>
                  <a:schemeClr val="accent6"/>
                </a:solidFill>
              </a:rPr>
              <a:t>properties</a:t>
            </a:r>
            <a:r>
              <a:rPr lang="en-GB" dirty="0"/>
              <a:t> or details about an entity.</a:t>
            </a:r>
          </a:p>
          <a:p>
            <a:pPr>
              <a:lnSpc>
                <a:spcPct val="100000"/>
              </a:lnSpc>
            </a:pPr>
            <a:r>
              <a:rPr lang="en-GB" dirty="0"/>
              <a:t>An attribute is represented by an </a:t>
            </a:r>
            <a:r>
              <a:rPr lang="en-GB" b="1" dirty="0">
                <a:solidFill>
                  <a:schemeClr val="accent6"/>
                </a:solidFill>
              </a:rPr>
              <a:t>oval</a:t>
            </a:r>
            <a:r>
              <a:rPr lang="en-GB" dirty="0"/>
              <a:t> containing name of an attribute. </a:t>
            </a:r>
          </a:p>
          <a:p>
            <a:pPr>
              <a:lnSpc>
                <a:spcPct val="100000"/>
              </a:lnSpc>
            </a:pPr>
            <a:r>
              <a:rPr lang="en-GB" dirty="0"/>
              <a:t>Attributes of Student are:</a:t>
            </a:r>
          </a:p>
          <a:p>
            <a:pPr lvl="1">
              <a:lnSpc>
                <a:spcPct val="100000"/>
              </a:lnSpc>
            </a:pPr>
            <a:r>
              <a:rPr lang="en-GB" sz="2400" dirty="0"/>
              <a:t>Roll No</a:t>
            </a:r>
          </a:p>
          <a:p>
            <a:pPr lvl="1">
              <a:lnSpc>
                <a:spcPct val="100000"/>
              </a:lnSpc>
            </a:pPr>
            <a:r>
              <a:rPr lang="en-GB" sz="2400" dirty="0" err="1"/>
              <a:t>StudentName</a:t>
            </a:r>
            <a:endParaRPr lang="en-GB" sz="2400" dirty="0"/>
          </a:p>
          <a:p>
            <a:pPr lvl="1">
              <a:lnSpc>
                <a:spcPct val="100000"/>
              </a:lnSpc>
            </a:pPr>
            <a:r>
              <a:rPr lang="en-GB" sz="2400" dirty="0"/>
              <a:t>Branch</a:t>
            </a:r>
          </a:p>
          <a:p>
            <a:pPr lvl="1">
              <a:lnSpc>
                <a:spcPct val="100000"/>
              </a:lnSpc>
            </a:pPr>
            <a:r>
              <a:rPr lang="en-GB" sz="2400" dirty="0"/>
              <a:t>Semester</a:t>
            </a:r>
          </a:p>
          <a:p>
            <a:pPr lvl="1">
              <a:lnSpc>
                <a:spcPct val="100000"/>
              </a:lnSpc>
            </a:pPr>
            <a:r>
              <a:rPr lang="en-GB" sz="2400" dirty="0"/>
              <a:t>Address</a:t>
            </a:r>
          </a:p>
          <a:p>
            <a:pPr lvl="1">
              <a:lnSpc>
                <a:spcPct val="100000"/>
              </a:lnSpc>
            </a:pPr>
            <a:r>
              <a:rPr lang="en-GB" sz="2400" dirty="0"/>
              <a:t>Mobile No</a:t>
            </a:r>
          </a:p>
          <a:p>
            <a:pPr lvl="1">
              <a:lnSpc>
                <a:spcPct val="100000"/>
              </a:lnSpc>
            </a:pPr>
            <a:r>
              <a:rPr lang="en-GB" sz="2400" dirty="0"/>
              <a:t>Age</a:t>
            </a:r>
          </a:p>
          <a:p>
            <a:pPr lvl="1">
              <a:lnSpc>
                <a:spcPct val="100000"/>
              </a:lnSpc>
            </a:pPr>
            <a:r>
              <a:rPr lang="en-GB" sz="2400" dirty="0"/>
              <a:t>SPI</a:t>
            </a:r>
          </a:p>
          <a:p>
            <a:pPr lvl="1">
              <a:lnSpc>
                <a:spcPct val="100000"/>
              </a:lnSpc>
            </a:pPr>
            <a:r>
              <a:rPr lang="en-GB" sz="2400" dirty="0"/>
              <a:t>Backlogs</a:t>
            </a:r>
          </a:p>
          <a:p>
            <a:pPr lvl="1"/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0" r="24991" b="7451"/>
          <a:stretch/>
        </p:blipFill>
        <p:spPr>
          <a:xfrm>
            <a:off x="3566392" y="2149077"/>
            <a:ext cx="1013672" cy="29534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89637" y="1787559"/>
            <a:ext cx="9807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dirty="0"/>
              <a:t>Symbol</a:t>
            </a:r>
          </a:p>
        </p:txBody>
      </p:sp>
      <p:sp>
        <p:nvSpPr>
          <p:cNvPr id="16" name="Oval 15"/>
          <p:cNvSpPr/>
          <p:nvPr/>
        </p:nvSpPr>
        <p:spPr>
          <a:xfrm>
            <a:off x="9480689" y="884827"/>
            <a:ext cx="1998617" cy="792730"/>
          </a:xfrm>
          <a:prstGeom prst="ellips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Attribute 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66190" y="3557610"/>
            <a:ext cx="1698171" cy="7445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</a:rPr>
              <a:t>Student</a:t>
            </a:r>
          </a:p>
        </p:txBody>
      </p:sp>
      <p:cxnSp>
        <p:nvCxnSpPr>
          <p:cNvPr id="18" name="Straight Connector 17"/>
          <p:cNvCxnSpPr>
            <a:cxnSpLocks/>
            <a:stCxn id="19" idx="4"/>
          </p:cNvCxnSpPr>
          <p:nvPr/>
        </p:nvCxnSpPr>
        <p:spPr>
          <a:xfrm>
            <a:off x="6939704" y="3091245"/>
            <a:ext cx="812223" cy="457172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9" name="Oval 18"/>
          <p:cNvSpPr/>
          <p:nvPr/>
        </p:nvSpPr>
        <p:spPr>
          <a:xfrm>
            <a:off x="6096000" y="2551245"/>
            <a:ext cx="1687407" cy="540000"/>
          </a:xfrm>
          <a:prstGeom prst="ellips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 err="1">
                <a:solidFill>
                  <a:schemeClr val="tx1"/>
                </a:solidFill>
              </a:rPr>
              <a:t>RollNo</a:t>
            </a:r>
            <a:endParaRPr lang="en-US" sz="2200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/>
          <p:cNvCxnSpPr>
            <a:cxnSpLocks/>
            <a:stCxn id="21" idx="4"/>
          </p:cNvCxnSpPr>
          <p:nvPr/>
        </p:nvCxnSpPr>
        <p:spPr>
          <a:xfrm flipH="1">
            <a:off x="8313576" y="3068834"/>
            <a:ext cx="896409" cy="488778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1" name="Oval 20"/>
          <p:cNvSpPr/>
          <p:nvPr/>
        </p:nvSpPr>
        <p:spPr>
          <a:xfrm>
            <a:off x="7938489" y="2528834"/>
            <a:ext cx="2542992" cy="540000"/>
          </a:xfrm>
          <a:prstGeom prst="ellips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 err="1">
                <a:solidFill>
                  <a:schemeClr val="tx1"/>
                </a:solidFill>
              </a:rPr>
              <a:t>StudentName</a:t>
            </a:r>
            <a:endParaRPr lang="en-US" sz="2200" dirty="0">
              <a:solidFill>
                <a:schemeClr val="tx1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2749726" y="5745577"/>
            <a:ext cx="6327648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4671423"/>
              </p:ext>
            </p:extLst>
          </p:nvPr>
        </p:nvGraphicFramePr>
        <p:xfrm>
          <a:off x="2654190" y="5366923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7795526"/>
              </p:ext>
            </p:extLst>
          </p:nvPr>
        </p:nvGraphicFramePr>
        <p:xfrm>
          <a:off x="3753119" y="5348704"/>
          <a:ext cx="5420043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420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Write down the different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attributes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Faculty entity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2" name="Straight Connector 21"/>
          <p:cNvCxnSpPr/>
          <p:nvPr/>
        </p:nvCxnSpPr>
        <p:spPr>
          <a:xfrm>
            <a:off x="2695134" y="6391033"/>
            <a:ext cx="644652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29557"/>
              </p:ext>
            </p:extLst>
          </p:nvPr>
        </p:nvGraphicFramePr>
        <p:xfrm>
          <a:off x="2654190" y="6012379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3025376"/>
              </p:ext>
            </p:extLst>
          </p:nvPr>
        </p:nvGraphicFramePr>
        <p:xfrm>
          <a:off x="3753119" y="5994160"/>
          <a:ext cx="564070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640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Write down the different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attributes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Account entity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277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 animBg="1"/>
      <p:bldP spid="19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Types of Attributes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383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Attributes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0825091"/>
              </p:ext>
            </p:extLst>
          </p:nvPr>
        </p:nvGraphicFramePr>
        <p:xfrm>
          <a:off x="285453" y="1009360"/>
          <a:ext cx="10800000" cy="630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l"/>
                      <a:r>
                        <a:rPr lang="en-US" sz="2500" b="1" dirty="0">
                          <a:solidFill>
                            <a:schemeClr val="bg1"/>
                          </a:solidFill>
                        </a:rPr>
                        <a:t>Simple 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kern="1200" dirty="0">
                          <a:solidFill>
                            <a:schemeClr val="bg1"/>
                          </a:solidFill>
                        </a:rPr>
                        <a:t>Composite Attribute</a:t>
                      </a:r>
                      <a:endParaRPr lang="en-US" sz="2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476679"/>
              </p:ext>
            </p:extLst>
          </p:nvPr>
        </p:nvGraphicFramePr>
        <p:xfrm>
          <a:off x="285453" y="1639360"/>
          <a:ext cx="10800000" cy="540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Cannot be divided into subparts</a:t>
                      </a:r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be divided into subparts</a:t>
                      </a:r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8125830"/>
              </p:ext>
            </p:extLst>
          </p:nvPr>
        </p:nvGraphicFramePr>
        <p:xfrm>
          <a:off x="285453" y="2179360"/>
          <a:ext cx="10800000" cy="11887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E.g. </a:t>
                      </a:r>
                      <a:r>
                        <a:rPr lang="en-GB" sz="24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RollNo</a:t>
                      </a:r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CPI</a:t>
                      </a:r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E.g.</a:t>
                      </a:r>
                    </a:p>
                    <a:p>
                      <a:pPr marL="0" algn="l" defTabSz="914400" rtl="0" eaLnBrk="1" latinLnBrk="0" hangingPunct="1"/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 (first name, middle name, last name) </a:t>
                      </a:r>
                    </a:p>
                    <a:p>
                      <a:pPr marL="0" algn="l" defTabSz="914400" rtl="0" eaLnBrk="1" latinLnBrk="0" hangingPunct="1"/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Address (street, road, city)</a:t>
                      </a:r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4361250"/>
              </p:ext>
            </p:extLst>
          </p:nvPr>
        </p:nvGraphicFramePr>
        <p:xfrm>
          <a:off x="285453" y="3359823"/>
          <a:ext cx="10800000" cy="2386177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6177">
                <a:tc>
                  <a:txBody>
                    <a:bodyPr/>
                    <a:lstStyle/>
                    <a:p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Symbol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Symbol</a:t>
                      </a:r>
                    </a:p>
                    <a:p>
                      <a:pPr marL="0" algn="l" defTabSz="914400" rtl="0" eaLnBrk="1" latinLnBrk="0" hangingPunct="1"/>
                      <a:endParaRPr lang="en-GB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GB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GB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GB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Oval 32"/>
          <p:cNvSpPr/>
          <p:nvPr/>
        </p:nvSpPr>
        <p:spPr>
          <a:xfrm>
            <a:off x="1730297" y="4374011"/>
            <a:ext cx="1645920" cy="422910"/>
          </a:xfrm>
          <a:prstGeom prst="ellips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Roll No</a:t>
            </a:r>
          </a:p>
        </p:txBody>
      </p:sp>
      <p:sp>
        <p:nvSpPr>
          <p:cNvPr id="34" name="Oval 33"/>
          <p:cNvSpPr/>
          <p:nvPr/>
        </p:nvSpPr>
        <p:spPr>
          <a:xfrm>
            <a:off x="7673255" y="3893105"/>
            <a:ext cx="1645920" cy="422910"/>
          </a:xfrm>
          <a:prstGeom prst="ellips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Name</a:t>
            </a:r>
          </a:p>
        </p:txBody>
      </p:sp>
      <p:cxnSp>
        <p:nvCxnSpPr>
          <p:cNvPr id="35" name="Straight Connector 34"/>
          <p:cNvCxnSpPr>
            <a:stCxn id="38" idx="0"/>
            <a:endCxn id="34" idx="5"/>
          </p:cNvCxnSpPr>
          <p:nvPr/>
        </p:nvCxnSpPr>
        <p:spPr>
          <a:xfrm rot="16200000" flipV="1">
            <a:off x="9300426" y="4031791"/>
            <a:ext cx="399893" cy="844473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36" name="Oval 35"/>
          <p:cNvSpPr/>
          <p:nvPr/>
        </p:nvSpPr>
        <p:spPr>
          <a:xfrm>
            <a:off x="6194969" y="4608998"/>
            <a:ext cx="2046352" cy="422910"/>
          </a:xfrm>
          <a:prstGeom prst="ellips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First name</a:t>
            </a:r>
          </a:p>
        </p:txBody>
      </p:sp>
      <p:cxnSp>
        <p:nvCxnSpPr>
          <p:cNvPr id="37" name="Straight Connector 36"/>
          <p:cNvCxnSpPr>
            <a:stCxn id="40" idx="0"/>
            <a:endCxn id="34" idx="4"/>
          </p:cNvCxnSpPr>
          <p:nvPr/>
        </p:nvCxnSpPr>
        <p:spPr>
          <a:xfrm rot="16200000" flipV="1">
            <a:off x="8045368" y="4766863"/>
            <a:ext cx="927393" cy="25697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38" name="Oval 37"/>
          <p:cNvSpPr/>
          <p:nvPr/>
        </p:nvSpPr>
        <p:spPr>
          <a:xfrm>
            <a:off x="8955417" y="4653974"/>
            <a:ext cx="1934382" cy="442411"/>
          </a:xfrm>
          <a:prstGeom prst="ellips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Last name</a:t>
            </a:r>
          </a:p>
        </p:txBody>
      </p:sp>
      <p:cxnSp>
        <p:nvCxnSpPr>
          <p:cNvPr id="39" name="Straight Connector 38"/>
          <p:cNvCxnSpPr>
            <a:stCxn id="36" idx="0"/>
            <a:endCxn id="34" idx="3"/>
          </p:cNvCxnSpPr>
          <p:nvPr/>
        </p:nvCxnSpPr>
        <p:spPr>
          <a:xfrm rot="5400000" flipH="1" flipV="1">
            <a:off x="7388762" y="4083465"/>
            <a:ext cx="354917" cy="69615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40" name="Oval 39"/>
          <p:cNvSpPr/>
          <p:nvPr/>
        </p:nvSpPr>
        <p:spPr>
          <a:xfrm>
            <a:off x="7355028" y="5243408"/>
            <a:ext cx="2333768" cy="422910"/>
          </a:xfrm>
          <a:prstGeom prst="ellips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Middle name</a:t>
            </a:r>
          </a:p>
        </p:txBody>
      </p:sp>
    </p:spTree>
    <p:extLst>
      <p:ext uri="{BB962C8B-B14F-4D97-AF65-F5344CB8AC3E}">
        <p14:creationId xmlns:p14="http://schemas.microsoft.com/office/powerpoint/2010/main" val="3012044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6" grpId="0" animBg="1"/>
      <p:bldP spid="38" grpId="0" animBg="1"/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Attributes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6412928"/>
              </p:ext>
            </p:extLst>
          </p:nvPr>
        </p:nvGraphicFramePr>
        <p:xfrm>
          <a:off x="276123" y="981367"/>
          <a:ext cx="10800000" cy="630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l"/>
                      <a:r>
                        <a:rPr lang="en-US" sz="2500" b="1" dirty="0">
                          <a:solidFill>
                            <a:schemeClr val="bg1"/>
                          </a:solidFill>
                        </a:rPr>
                        <a:t>Single-valued 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kern="1200" dirty="0">
                          <a:solidFill>
                            <a:schemeClr val="bg1"/>
                          </a:solidFill>
                        </a:rPr>
                        <a:t>Multi-valued Attribute</a:t>
                      </a:r>
                      <a:endParaRPr lang="en-US" sz="2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5805762"/>
              </p:ext>
            </p:extLst>
          </p:nvPr>
        </p:nvGraphicFramePr>
        <p:xfrm>
          <a:off x="276123" y="1611367"/>
          <a:ext cx="10800000" cy="540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Has single value</a:t>
                      </a:r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Has multiple (more than one) value</a:t>
                      </a:r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1575938"/>
              </p:ext>
            </p:extLst>
          </p:nvPr>
        </p:nvGraphicFramePr>
        <p:xfrm>
          <a:off x="276123" y="2151367"/>
          <a:ext cx="10800000" cy="1920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E.g. </a:t>
                      </a:r>
                      <a:r>
                        <a:rPr lang="en-GB" sz="24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RollNo</a:t>
                      </a:r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CPI</a:t>
                      </a:r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E.g. </a:t>
                      </a:r>
                      <a:r>
                        <a:rPr lang="en-GB" sz="24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PhoneNo</a:t>
                      </a:r>
                      <a:endParaRPr lang="en-GB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(person may have multiple phone </a:t>
                      </a:r>
                    </a:p>
                    <a:p>
                      <a:pPr marL="0" algn="l" defTabSz="914400" rtl="0" eaLnBrk="1" latinLnBrk="0" hangingPunct="1"/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  <a:r>
                        <a:rPr lang="en-GB" sz="24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nos</a:t>
                      </a:r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marL="0" algn="l" defTabSz="914400" rtl="0" eaLnBrk="1" latinLnBrk="0" hangingPunct="1"/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  <a:r>
                        <a:rPr lang="en-GB" sz="24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EmailID</a:t>
                      </a:r>
                      <a:endParaRPr lang="en-GB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r>
                        <a:rPr lang="en-GB" sz="2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(person may have multiple emails)</a:t>
                      </a:r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6079125"/>
              </p:ext>
            </p:extLst>
          </p:nvPr>
        </p:nvGraphicFramePr>
        <p:xfrm>
          <a:off x="276123" y="4075519"/>
          <a:ext cx="10800000" cy="1256616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56616">
                <a:tc>
                  <a:txBody>
                    <a:bodyPr/>
                    <a:lstStyle/>
                    <a:p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Symbol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Symbol</a:t>
                      </a:r>
                    </a:p>
                    <a:p>
                      <a:pPr marL="0" algn="l" defTabSz="914400" rtl="0" eaLnBrk="1" latinLnBrk="0" hangingPunct="1"/>
                      <a:endParaRPr lang="en-GB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GB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Oval 32"/>
          <p:cNvSpPr/>
          <p:nvPr/>
        </p:nvSpPr>
        <p:spPr>
          <a:xfrm>
            <a:off x="1611785" y="4720482"/>
            <a:ext cx="1645920" cy="422910"/>
          </a:xfrm>
          <a:prstGeom prst="ellips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Roll No</a:t>
            </a:r>
          </a:p>
        </p:txBody>
      </p:sp>
      <p:grpSp>
        <p:nvGrpSpPr>
          <p:cNvPr id="2" name="Group 15"/>
          <p:cNvGrpSpPr/>
          <p:nvPr/>
        </p:nvGrpSpPr>
        <p:grpSpPr>
          <a:xfrm>
            <a:off x="7564063" y="4619160"/>
            <a:ext cx="2014751" cy="544899"/>
            <a:chOff x="5938171" y="3429000"/>
            <a:chExt cx="1758029" cy="544899"/>
          </a:xfrm>
        </p:grpSpPr>
        <p:sp>
          <p:nvSpPr>
            <p:cNvPr id="17" name="Oval 16"/>
            <p:cNvSpPr/>
            <p:nvPr/>
          </p:nvSpPr>
          <p:spPr>
            <a:xfrm>
              <a:off x="6039945" y="3489994"/>
              <a:ext cx="1554480" cy="42291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>
                  <a:solidFill>
                    <a:schemeClr val="tx1"/>
                  </a:solidFill>
                </a:rPr>
                <a:t>Phone No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5938171" y="3429000"/>
              <a:ext cx="1758029" cy="544899"/>
            </a:xfrm>
            <a:prstGeom prst="ellipse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602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Attributes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6482807"/>
              </p:ext>
            </p:extLst>
          </p:nvPr>
        </p:nvGraphicFramePr>
        <p:xfrm>
          <a:off x="304114" y="1009359"/>
          <a:ext cx="10800000" cy="630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l"/>
                      <a:r>
                        <a:rPr lang="en-US" sz="2500" b="1" dirty="0">
                          <a:solidFill>
                            <a:schemeClr val="bg1"/>
                          </a:solidFill>
                        </a:rPr>
                        <a:t>Stored 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kern="1200" dirty="0">
                          <a:solidFill>
                            <a:schemeClr val="bg1"/>
                          </a:solidFill>
                        </a:rPr>
                        <a:t>Derived Attribute</a:t>
                      </a:r>
                      <a:endParaRPr lang="en-US" sz="2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9158751"/>
              </p:ext>
            </p:extLst>
          </p:nvPr>
        </p:nvGraphicFramePr>
        <p:xfrm>
          <a:off x="304114" y="1639359"/>
          <a:ext cx="10800000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Its value is stored manually in database</a:t>
                      </a:r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Its value is derived or calculated from other attributes</a:t>
                      </a:r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3084490"/>
              </p:ext>
            </p:extLst>
          </p:nvPr>
        </p:nvGraphicFramePr>
        <p:xfrm>
          <a:off x="304114" y="2447277"/>
          <a:ext cx="10800000" cy="11887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E.g. Birthdate</a:t>
                      </a:r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E.g. Age</a:t>
                      </a:r>
                    </a:p>
                    <a:p>
                      <a:pPr marL="0" algn="just" defTabSz="914400" rtl="0" eaLnBrk="1" latinLnBrk="0" hangingPunct="1"/>
                      <a:r>
                        <a:rPr lang="en-GB" sz="2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(can be calculated using current date </a:t>
                      </a:r>
                    </a:p>
                    <a:p>
                      <a:pPr marL="0" algn="just" defTabSz="914400" rtl="0" eaLnBrk="1" latinLnBrk="0" hangingPunct="1"/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and</a:t>
                      </a:r>
                      <a:r>
                        <a:rPr lang="en-GB" sz="24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24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birthdate</a:t>
                      </a:r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7858461"/>
              </p:ext>
            </p:extLst>
          </p:nvPr>
        </p:nvGraphicFramePr>
        <p:xfrm>
          <a:off x="304114" y="3633249"/>
          <a:ext cx="10800000" cy="11887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Symbol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Symbol</a:t>
                      </a:r>
                    </a:p>
                    <a:p>
                      <a:pPr marL="0" algn="l" defTabSz="914400" rtl="0" eaLnBrk="1" latinLnBrk="0" hangingPunct="1"/>
                      <a:endParaRPr lang="en-GB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GB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Oval 32"/>
          <p:cNvSpPr/>
          <p:nvPr/>
        </p:nvSpPr>
        <p:spPr>
          <a:xfrm>
            <a:off x="1748958" y="3990129"/>
            <a:ext cx="1857950" cy="422910"/>
          </a:xfrm>
          <a:prstGeom prst="ellipse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Birthdate</a:t>
            </a:r>
          </a:p>
        </p:txBody>
      </p:sp>
      <p:sp>
        <p:nvSpPr>
          <p:cNvPr id="12" name="Oval 11"/>
          <p:cNvSpPr/>
          <p:nvPr/>
        </p:nvSpPr>
        <p:spPr>
          <a:xfrm>
            <a:off x="7788270" y="3992461"/>
            <a:ext cx="1554480" cy="42291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Age</a:t>
            </a:r>
          </a:p>
        </p:txBody>
      </p:sp>
    </p:spTree>
    <p:extLst>
      <p:ext uri="{BB962C8B-B14F-4D97-AF65-F5344CB8AC3E}">
        <p14:creationId xmlns:p14="http://schemas.microsoft.com/office/powerpoint/2010/main" val="160758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Entity with all types of Attributes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95968" y="3660869"/>
            <a:ext cx="1698171" cy="7445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</a:rPr>
              <a:t>Student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888141" y="4028804"/>
            <a:ext cx="881753" cy="1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Straight Connector 5"/>
          <p:cNvCxnSpPr>
            <a:stCxn id="7" idx="4"/>
            <a:endCxn id="4" idx="0"/>
          </p:cNvCxnSpPr>
          <p:nvPr/>
        </p:nvCxnSpPr>
        <p:spPr>
          <a:xfrm>
            <a:off x="4081665" y="3224896"/>
            <a:ext cx="963389" cy="435973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Oval 6"/>
          <p:cNvSpPr/>
          <p:nvPr/>
        </p:nvSpPr>
        <p:spPr>
          <a:xfrm>
            <a:off x="3350145" y="2801986"/>
            <a:ext cx="1463040" cy="42291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u="sng" dirty="0" err="1">
                <a:solidFill>
                  <a:schemeClr val="tx1"/>
                </a:solidFill>
              </a:rPr>
              <a:t>RollNo</a:t>
            </a:r>
            <a:endParaRPr lang="en-US" sz="2200" u="sng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>
            <a:stCxn id="9" idx="4"/>
            <a:endCxn id="4" idx="0"/>
          </p:cNvCxnSpPr>
          <p:nvPr/>
        </p:nvCxnSpPr>
        <p:spPr>
          <a:xfrm flipH="1">
            <a:off x="5045054" y="3202485"/>
            <a:ext cx="654734" cy="458384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Oval 8"/>
          <p:cNvSpPr/>
          <p:nvPr/>
        </p:nvSpPr>
        <p:spPr>
          <a:xfrm>
            <a:off x="4968268" y="2779575"/>
            <a:ext cx="1463040" cy="42291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Name</a:t>
            </a:r>
          </a:p>
        </p:txBody>
      </p:sp>
      <p:cxnSp>
        <p:nvCxnSpPr>
          <p:cNvPr id="10" name="Straight Connector 9"/>
          <p:cNvCxnSpPr>
            <a:stCxn id="4" idx="2"/>
            <a:endCxn id="23" idx="0"/>
          </p:cNvCxnSpPr>
          <p:nvPr/>
        </p:nvCxnSpPr>
        <p:spPr>
          <a:xfrm rot="5400000">
            <a:off x="4380283" y="4084577"/>
            <a:ext cx="343897" cy="985646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Oval 10"/>
          <p:cNvSpPr/>
          <p:nvPr/>
        </p:nvSpPr>
        <p:spPr>
          <a:xfrm>
            <a:off x="3192568" y="4808587"/>
            <a:ext cx="1746530" cy="644529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Phone No</a:t>
            </a:r>
          </a:p>
        </p:txBody>
      </p:sp>
      <p:sp>
        <p:nvSpPr>
          <p:cNvPr id="12" name="Oval 11"/>
          <p:cNvSpPr/>
          <p:nvPr/>
        </p:nvSpPr>
        <p:spPr>
          <a:xfrm>
            <a:off x="5321235" y="4795096"/>
            <a:ext cx="1753863" cy="685316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Birth Date</a:t>
            </a:r>
          </a:p>
        </p:txBody>
      </p:sp>
      <p:cxnSp>
        <p:nvCxnSpPr>
          <p:cNvPr id="13" name="Straight Connector 12"/>
          <p:cNvCxnSpPr>
            <a:stCxn id="4" idx="2"/>
            <a:endCxn id="12" idx="0"/>
          </p:cNvCxnSpPr>
          <p:nvPr/>
        </p:nvCxnSpPr>
        <p:spPr>
          <a:xfrm rot="16200000" flipH="1">
            <a:off x="5426788" y="4023717"/>
            <a:ext cx="389644" cy="1153113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/>
          <p:cNvCxnSpPr>
            <a:stCxn id="15" idx="4"/>
            <a:endCxn id="9" idx="1"/>
          </p:cNvCxnSpPr>
          <p:nvPr/>
        </p:nvCxnSpPr>
        <p:spPr>
          <a:xfrm rot="16200000" flipH="1">
            <a:off x="4453627" y="2112611"/>
            <a:ext cx="484844" cy="972951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Oval 14"/>
          <p:cNvSpPr/>
          <p:nvPr/>
        </p:nvSpPr>
        <p:spPr>
          <a:xfrm>
            <a:off x="3340894" y="1618096"/>
            <a:ext cx="1737360" cy="738569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First Name</a:t>
            </a:r>
          </a:p>
        </p:txBody>
      </p:sp>
      <p:cxnSp>
        <p:nvCxnSpPr>
          <p:cNvPr id="16" name="Straight Connector 15"/>
          <p:cNvCxnSpPr>
            <a:stCxn id="17" idx="4"/>
            <a:endCxn id="9" idx="7"/>
          </p:cNvCxnSpPr>
          <p:nvPr/>
        </p:nvCxnSpPr>
        <p:spPr>
          <a:xfrm rot="5400000">
            <a:off x="6615274" y="1820376"/>
            <a:ext cx="622911" cy="1419355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Oval 16"/>
          <p:cNvSpPr/>
          <p:nvPr/>
        </p:nvSpPr>
        <p:spPr>
          <a:xfrm>
            <a:off x="6813446" y="1577154"/>
            <a:ext cx="1645920" cy="641444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Last Name</a:t>
            </a:r>
          </a:p>
        </p:txBody>
      </p:sp>
      <p:cxnSp>
        <p:nvCxnSpPr>
          <p:cNvPr id="18" name="Straight Connector 17"/>
          <p:cNvCxnSpPr>
            <a:stCxn id="19" idx="4"/>
            <a:endCxn id="9" idx="0"/>
          </p:cNvCxnSpPr>
          <p:nvPr/>
        </p:nvCxnSpPr>
        <p:spPr>
          <a:xfrm rot="5400000">
            <a:off x="5471077" y="2281096"/>
            <a:ext cx="727191" cy="269767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Oval 18"/>
          <p:cNvSpPr/>
          <p:nvPr/>
        </p:nvSpPr>
        <p:spPr>
          <a:xfrm>
            <a:off x="5184859" y="1317846"/>
            <a:ext cx="1569392" cy="73453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Middle Name</a:t>
            </a:r>
          </a:p>
        </p:txBody>
      </p:sp>
      <p:sp>
        <p:nvSpPr>
          <p:cNvPr id="20" name="Oval 19"/>
          <p:cNvSpPr/>
          <p:nvPr/>
        </p:nvSpPr>
        <p:spPr>
          <a:xfrm>
            <a:off x="6769894" y="3817349"/>
            <a:ext cx="1645920" cy="42291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Address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301515" y="4035791"/>
            <a:ext cx="881753" cy="1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Oval 21"/>
          <p:cNvSpPr/>
          <p:nvPr/>
        </p:nvSpPr>
        <p:spPr>
          <a:xfrm>
            <a:off x="1639467" y="3824336"/>
            <a:ext cx="1645920" cy="422910"/>
          </a:xfrm>
          <a:prstGeom prst="ellipse">
            <a:avLst/>
          </a:prstGeom>
          <a:noFill/>
          <a:ln w="2857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Age</a:t>
            </a:r>
          </a:p>
        </p:txBody>
      </p:sp>
      <p:sp>
        <p:nvSpPr>
          <p:cNvPr id="23" name="Oval 22"/>
          <p:cNvSpPr/>
          <p:nvPr/>
        </p:nvSpPr>
        <p:spPr>
          <a:xfrm>
            <a:off x="3084183" y="4749349"/>
            <a:ext cx="1950449" cy="772007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>
            <a:endCxn id="20" idx="7"/>
          </p:cNvCxnSpPr>
          <p:nvPr/>
        </p:nvCxnSpPr>
        <p:spPr>
          <a:xfrm flipH="1">
            <a:off x="8174775" y="3222009"/>
            <a:ext cx="700242" cy="657274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Oval 24"/>
          <p:cNvSpPr/>
          <p:nvPr/>
        </p:nvSpPr>
        <p:spPr>
          <a:xfrm>
            <a:off x="8328929" y="2587087"/>
            <a:ext cx="1905499" cy="658155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Apartment</a:t>
            </a:r>
          </a:p>
        </p:txBody>
      </p:sp>
      <p:cxnSp>
        <p:nvCxnSpPr>
          <p:cNvPr id="26" name="Straight Connector 25"/>
          <p:cNvCxnSpPr>
            <a:stCxn id="27" idx="0"/>
            <a:endCxn id="20" idx="5"/>
          </p:cNvCxnSpPr>
          <p:nvPr/>
        </p:nvCxnSpPr>
        <p:spPr>
          <a:xfrm flipH="1" flipV="1">
            <a:off x="8174775" y="4178325"/>
            <a:ext cx="1022835" cy="633709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Oval 26"/>
          <p:cNvSpPr/>
          <p:nvPr/>
        </p:nvSpPr>
        <p:spPr>
          <a:xfrm>
            <a:off x="8374650" y="4812034"/>
            <a:ext cx="1645920" cy="442411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Area</a:t>
            </a:r>
          </a:p>
        </p:txBody>
      </p:sp>
      <p:cxnSp>
        <p:nvCxnSpPr>
          <p:cNvPr id="28" name="Straight Connector 27"/>
          <p:cNvCxnSpPr>
            <a:stCxn id="29" idx="2"/>
            <a:endCxn id="20" idx="6"/>
          </p:cNvCxnSpPr>
          <p:nvPr/>
        </p:nvCxnSpPr>
        <p:spPr>
          <a:xfrm flipH="1">
            <a:off x="8415814" y="4018851"/>
            <a:ext cx="295013" cy="9953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Oval 28"/>
          <p:cNvSpPr/>
          <p:nvPr/>
        </p:nvSpPr>
        <p:spPr>
          <a:xfrm>
            <a:off x="8710827" y="3698811"/>
            <a:ext cx="1463040" cy="6400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Street</a:t>
            </a:r>
          </a:p>
        </p:txBody>
      </p:sp>
      <p:sp>
        <p:nvSpPr>
          <p:cNvPr id="30" name="Rounded Rectangular Callout 29"/>
          <p:cNvSpPr/>
          <p:nvPr/>
        </p:nvSpPr>
        <p:spPr>
          <a:xfrm>
            <a:off x="6699659" y="3212103"/>
            <a:ext cx="1437994" cy="457200"/>
          </a:xfrm>
          <a:prstGeom prst="wedgeRoundRectCallout">
            <a:avLst>
              <a:gd name="adj1" fmla="val -20833"/>
              <a:gd name="adj2" fmla="val 84375"/>
              <a:gd name="adj3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Composite</a:t>
            </a:r>
          </a:p>
        </p:txBody>
      </p:sp>
      <p:sp>
        <p:nvSpPr>
          <p:cNvPr id="31" name="Rounded Rectangular Callout 30"/>
          <p:cNvSpPr/>
          <p:nvPr/>
        </p:nvSpPr>
        <p:spPr>
          <a:xfrm>
            <a:off x="2018045" y="2347496"/>
            <a:ext cx="1307334" cy="457200"/>
          </a:xfrm>
          <a:prstGeom prst="wedgeRoundRectCallout">
            <a:avLst>
              <a:gd name="adj1" fmla="val 52389"/>
              <a:gd name="adj2" fmla="val 81250"/>
              <a:gd name="adj3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Simple</a:t>
            </a:r>
          </a:p>
        </p:txBody>
      </p:sp>
      <p:sp>
        <p:nvSpPr>
          <p:cNvPr id="32" name="Rounded Rectangular Callout 31"/>
          <p:cNvSpPr/>
          <p:nvPr/>
        </p:nvSpPr>
        <p:spPr>
          <a:xfrm>
            <a:off x="6585462" y="2718636"/>
            <a:ext cx="1506267" cy="457200"/>
          </a:xfrm>
          <a:prstGeom prst="wedgeRoundRectCallout">
            <a:avLst>
              <a:gd name="adj1" fmla="val -65641"/>
              <a:gd name="adj2" fmla="val 28125"/>
              <a:gd name="adj3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Composite</a:t>
            </a:r>
          </a:p>
        </p:txBody>
      </p:sp>
      <p:sp>
        <p:nvSpPr>
          <p:cNvPr id="33" name="Rounded Rectangular Callout 32"/>
          <p:cNvSpPr/>
          <p:nvPr/>
        </p:nvSpPr>
        <p:spPr>
          <a:xfrm>
            <a:off x="2018045" y="2212911"/>
            <a:ext cx="1307334" cy="640080"/>
          </a:xfrm>
          <a:prstGeom prst="wedgeRoundRectCallout">
            <a:avLst>
              <a:gd name="adj1" fmla="val 52389"/>
              <a:gd name="adj2" fmla="val 81250"/>
              <a:gd name="adj3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Single Value</a:t>
            </a:r>
          </a:p>
        </p:txBody>
      </p:sp>
      <p:sp>
        <p:nvSpPr>
          <p:cNvPr id="34" name="Rounded Rectangular Callout 33"/>
          <p:cNvSpPr/>
          <p:nvPr/>
        </p:nvSpPr>
        <p:spPr>
          <a:xfrm>
            <a:off x="1726015" y="4359145"/>
            <a:ext cx="1307334" cy="640080"/>
          </a:xfrm>
          <a:prstGeom prst="wedgeRoundRectCallout">
            <a:avLst>
              <a:gd name="adj1" fmla="val 62103"/>
              <a:gd name="adj2" fmla="val 71329"/>
              <a:gd name="adj3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Multiple Value</a:t>
            </a:r>
          </a:p>
        </p:txBody>
      </p:sp>
      <p:sp>
        <p:nvSpPr>
          <p:cNvPr id="35" name="Rounded Rectangular Callout 34"/>
          <p:cNvSpPr/>
          <p:nvPr/>
        </p:nvSpPr>
        <p:spPr>
          <a:xfrm>
            <a:off x="6698148" y="4310816"/>
            <a:ext cx="1307334" cy="457200"/>
          </a:xfrm>
          <a:prstGeom prst="wedgeRoundRectCallout">
            <a:avLst>
              <a:gd name="adj1" fmla="val -65641"/>
              <a:gd name="adj2" fmla="val 53125"/>
              <a:gd name="adj3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Stored</a:t>
            </a:r>
          </a:p>
        </p:txBody>
      </p:sp>
      <p:sp>
        <p:nvSpPr>
          <p:cNvPr id="36" name="Rounded Rectangular Callout 35"/>
          <p:cNvSpPr/>
          <p:nvPr/>
        </p:nvSpPr>
        <p:spPr>
          <a:xfrm>
            <a:off x="1747667" y="3200031"/>
            <a:ext cx="1307334" cy="457200"/>
          </a:xfrm>
          <a:prstGeom prst="wedgeRoundRectCallout">
            <a:avLst>
              <a:gd name="adj1" fmla="val -23869"/>
              <a:gd name="adj2" fmla="val 92014"/>
              <a:gd name="adj3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Derived</a:t>
            </a:r>
          </a:p>
        </p:txBody>
      </p:sp>
    </p:spTree>
    <p:extLst>
      <p:ext uri="{BB962C8B-B14F-4D97-AF65-F5344CB8AC3E}">
        <p14:creationId xmlns:p14="http://schemas.microsoft.com/office/powerpoint/2010/main" val="3015154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1" grpId="0" animBg="1"/>
      <p:bldP spid="12" grpId="0" animBg="1"/>
      <p:bldP spid="15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7" grpId="0" animBg="1"/>
      <p:bldP spid="29" grpId="0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67908"/>
            <a:ext cx="11929641" cy="55905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Relationship is an </a:t>
            </a:r>
            <a:r>
              <a:rPr lang="en-GB" b="1" dirty="0">
                <a:solidFill>
                  <a:schemeClr val="accent6"/>
                </a:solidFill>
              </a:rPr>
              <a:t>association</a:t>
            </a:r>
            <a:r>
              <a:rPr lang="en-GB" dirty="0"/>
              <a:t> (</a:t>
            </a:r>
            <a:r>
              <a:rPr lang="en-GB" b="1" dirty="0">
                <a:solidFill>
                  <a:schemeClr val="accent6"/>
                </a:solidFill>
              </a:rPr>
              <a:t>connection</a:t>
            </a:r>
            <a:r>
              <a:rPr lang="en-GB" dirty="0"/>
              <a:t>) between several entities.</a:t>
            </a:r>
          </a:p>
          <a:p>
            <a:pPr>
              <a:lnSpc>
                <a:spcPct val="100000"/>
              </a:lnSpc>
            </a:pPr>
            <a:r>
              <a:rPr lang="en-GB" dirty="0"/>
              <a:t>It should be placed between two entities and a line connecting it to an entity.</a:t>
            </a:r>
          </a:p>
          <a:p>
            <a:pPr>
              <a:lnSpc>
                <a:spcPct val="100000"/>
              </a:lnSpc>
            </a:pPr>
            <a:r>
              <a:rPr lang="en-GB" dirty="0"/>
              <a:t>A relationship is represented by a </a:t>
            </a:r>
            <a:r>
              <a:rPr lang="en-GB" b="1" dirty="0">
                <a:solidFill>
                  <a:schemeClr val="accent6"/>
                </a:solidFill>
              </a:rPr>
              <a:t>diamond</a:t>
            </a:r>
            <a:r>
              <a:rPr lang="en-GB" dirty="0"/>
              <a:t> containing relationship's name.</a:t>
            </a:r>
          </a:p>
        </p:txBody>
      </p:sp>
      <p:sp>
        <p:nvSpPr>
          <p:cNvPr id="13" name="Diamond 12"/>
          <p:cNvSpPr/>
          <p:nvPr/>
        </p:nvSpPr>
        <p:spPr>
          <a:xfrm>
            <a:off x="3485430" y="2963613"/>
            <a:ext cx="3575713" cy="1323833"/>
          </a:xfrm>
          <a:prstGeom prst="diamond">
            <a:avLst/>
          </a:prstGeom>
          <a:noFill/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</a:rPr>
              <a:t>Relationship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6434" y="4427010"/>
            <a:ext cx="1236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Symbol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81166" y="5235894"/>
            <a:ext cx="1698171" cy="7445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</a:rPr>
              <a:t>Student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61143" y="5235894"/>
            <a:ext cx="1698171" cy="7445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</a:rPr>
              <a:t>Book</a:t>
            </a:r>
          </a:p>
        </p:txBody>
      </p:sp>
      <p:sp>
        <p:nvSpPr>
          <p:cNvPr id="24" name="Diamond 23"/>
          <p:cNvSpPr/>
          <p:nvPr/>
        </p:nvSpPr>
        <p:spPr>
          <a:xfrm>
            <a:off x="4455092" y="5161870"/>
            <a:ext cx="1724298" cy="892630"/>
          </a:xfrm>
          <a:prstGeom prst="diamond">
            <a:avLst/>
          </a:prstGeom>
          <a:noFill/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</a:rPr>
              <a:t>Issue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6179390" y="5608185"/>
            <a:ext cx="881753" cy="1"/>
          </a:xfrm>
          <a:prstGeom prst="line">
            <a:avLst/>
          </a:prstGeom>
          <a:noFill/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573339" y="5608185"/>
            <a:ext cx="881753" cy="1"/>
          </a:xfrm>
          <a:prstGeom prst="line">
            <a:avLst/>
          </a:prstGeom>
          <a:noFill/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980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E-R Diagram of a Library System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63114" y="2733157"/>
            <a:ext cx="1698171" cy="7445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</a:rPr>
              <a:t>Student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43091" y="2728801"/>
            <a:ext cx="1698171" cy="7445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</a:rPr>
              <a:t>Book</a:t>
            </a:r>
          </a:p>
        </p:txBody>
      </p:sp>
      <p:sp>
        <p:nvSpPr>
          <p:cNvPr id="51" name="Diamond 50"/>
          <p:cNvSpPr/>
          <p:nvPr/>
        </p:nvSpPr>
        <p:spPr>
          <a:xfrm>
            <a:off x="5537040" y="2654777"/>
            <a:ext cx="1724298" cy="892630"/>
          </a:xfrm>
          <a:prstGeom prst="diamond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Issue</a:t>
            </a:r>
          </a:p>
        </p:txBody>
      </p:sp>
      <p:cxnSp>
        <p:nvCxnSpPr>
          <p:cNvPr id="52" name="Straight Connector 51"/>
          <p:cNvCxnSpPr>
            <a:stCxn id="51" idx="3"/>
            <a:endCxn id="50" idx="1"/>
          </p:cNvCxnSpPr>
          <p:nvPr/>
        </p:nvCxnSpPr>
        <p:spPr>
          <a:xfrm>
            <a:off x="7261338" y="3101092"/>
            <a:ext cx="881753" cy="1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4655287" y="3101092"/>
            <a:ext cx="881753" cy="1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Straight Connector 53"/>
          <p:cNvCxnSpPr>
            <a:stCxn id="55" idx="4"/>
            <a:endCxn id="49" idx="0"/>
          </p:cNvCxnSpPr>
          <p:nvPr/>
        </p:nvCxnSpPr>
        <p:spPr>
          <a:xfrm>
            <a:off x="2848811" y="2297184"/>
            <a:ext cx="963389" cy="43597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55" name="Oval 54"/>
          <p:cNvSpPr/>
          <p:nvPr/>
        </p:nvSpPr>
        <p:spPr>
          <a:xfrm>
            <a:off x="2117291" y="1874274"/>
            <a:ext cx="1463040" cy="422910"/>
          </a:xfrm>
          <a:prstGeom prst="ellips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u="sng" dirty="0" err="1">
                <a:solidFill>
                  <a:schemeClr val="tx1"/>
                </a:solidFill>
              </a:rPr>
              <a:t>RollNo</a:t>
            </a:r>
            <a:endParaRPr lang="en-US" sz="2200" u="sng" dirty="0">
              <a:solidFill>
                <a:schemeClr val="tx1"/>
              </a:solidFill>
            </a:endParaRPr>
          </a:p>
        </p:txBody>
      </p:sp>
      <p:cxnSp>
        <p:nvCxnSpPr>
          <p:cNvPr id="56" name="Straight Connector 55"/>
          <p:cNvCxnSpPr>
            <a:stCxn id="57" idx="4"/>
            <a:endCxn id="49" idx="0"/>
          </p:cNvCxnSpPr>
          <p:nvPr/>
        </p:nvCxnSpPr>
        <p:spPr>
          <a:xfrm flipH="1">
            <a:off x="3812200" y="2274773"/>
            <a:ext cx="654734" cy="45838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57" name="Oval 56"/>
          <p:cNvSpPr/>
          <p:nvPr/>
        </p:nvSpPr>
        <p:spPr>
          <a:xfrm>
            <a:off x="3735414" y="1851863"/>
            <a:ext cx="1463040" cy="422910"/>
          </a:xfrm>
          <a:prstGeom prst="ellips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Name</a:t>
            </a:r>
          </a:p>
        </p:txBody>
      </p:sp>
      <p:cxnSp>
        <p:nvCxnSpPr>
          <p:cNvPr id="58" name="Straight Connector 57"/>
          <p:cNvCxnSpPr/>
          <p:nvPr/>
        </p:nvCxnSpPr>
        <p:spPr>
          <a:xfrm flipH="1">
            <a:off x="2981400" y="3473384"/>
            <a:ext cx="830800" cy="40487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59" name="Oval 58"/>
          <p:cNvSpPr/>
          <p:nvPr/>
        </p:nvSpPr>
        <p:spPr>
          <a:xfrm>
            <a:off x="2231594" y="3883968"/>
            <a:ext cx="1463040" cy="422910"/>
          </a:xfrm>
          <a:prstGeom prst="ellips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Branch</a:t>
            </a:r>
          </a:p>
        </p:txBody>
      </p:sp>
      <p:sp>
        <p:nvSpPr>
          <p:cNvPr id="60" name="Oval 59"/>
          <p:cNvSpPr/>
          <p:nvPr/>
        </p:nvSpPr>
        <p:spPr>
          <a:xfrm>
            <a:off x="3867945" y="3896789"/>
            <a:ext cx="1463040" cy="422910"/>
          </a:xfrm>
          <a:prstGeom prst="ellips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 err="1">
                <a:solidFill>
                  <a:schemeClr val="tx1"/>
                </a:solidFill>
              </a:rPr>
              <a:t>Sem</a:t>
            </a:r>
            <a:endParaRPr lang="en-US" sz="2200" dirty="0">
              <a:solidFill>
                <a:schemeClr val="tx1"/>
              </a:solidFill>
            </a:endParaRPr>
          </a:p>
        </p:txBody>
      </p:sp>
      <p:cxnSp>
        <p:nvCxnSpPr>
          <p:cNvPr id="61" name="Straight Connector 60"/>
          <p:cNvCxnSpPr>
            <a:stCxn id="49" idx="2"/>
            <a:endCxn id="60" idx="0"/>
          </p:cNvCxnSpPr>
          <p:nvPr/>
        </p:nvCxnSpPr>
        <p:spPr>
          <a:xfrm>
            <a:off x="3812200" y="3477740"/>
            <a:ext cx="787265" cy="41904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62" name="Straight Connector 61"/>
          <p:cNvCxnSpPr>
            <a:stCxn id="63" idx="4"/>
          </p:cNvCxnSpPr>
          <p:nvPr/>
        </p:nvCxnSpPr>
        <p:spPr>
          <a:xfrm rot="16200000" flipH="1">
            <a:off x="8400641" y="2075818"/>
            <a:ext cx="435972" cy="87067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63" name="Oval 62"/>
          <p:cNvSpPr/>
          <p:nvPr/>
        </p:nvSpPr>
        <p:spPr>
          <a:xfrm>
            <a:off x="7359056" y="1870261"/>
            <a:ext cx="1648466" cy="422910"/>
          </a:xfrm>
          <a:prstGeom prst="ellips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u="sng" dirty="0" err="1">
                <a:solidFill>
                  <a:schemeClr val="tx1"/>
                </a:solidFill>
              </a:rPr>
              <a:t>BookNo</a:t>
            </a:r>
            <a:endParaRPr lang="en-US" sz="2200" u="sng" dirty="0">
              <a:solidFill>
                <a:schemeClr val="tx1"/>
              </a:solidFill>
            </a:endParaRPr>
          </a:p>
        </p:txBody>
      </p:sp>
      <p:cxnSp>
        <p:nvCxnSpPr>
          <p:cNvPr id="64" name="Straight Connector 63"/>
          <p:cNvCxnSpPr/>
          <p:nvPr/>
        </p:nvCxnSpPr>
        <p:spPr>
          <a:xfrm rot="5400000">
            <a:off x="9380820" y="2134975"/>
            <a:ext cx="458384" cy="70266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65" name="Oval 64"/>
          <p:cNvSpPr/>
          <p:nvPr/>
        </p:nvSpPr>
        <p:spPr>
          <a:xfrm>
            <a:off x="9181895" y="1834203"/>
            <a:ext cx="1558893" cy="422910"/>
          </a:xfrm>
          <a:prstGeom prst="ellips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Name</a:t>
            </a:r>
          </a:p>
        </p:txBody>
      </p:sp>
      <p:cxnSp>
        <p:nvCxnSpPr>
          <p:cNvPr id="66" name="Straight Connector 65"/>
          <p:cNvCxnSpPr/>
          <p:nvPr/>
        </p:nvCxnSpPr>
        <p:spPr>
          <a:xfrm flipH="1">
            <a:off x="8223165" y="3469371"/>
            <a:ext cx="830800" cy="40487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67" name="Oval 66"/>
          <p:cNvSpPr/>
          <p:nvPr/>
        </p:nvSpPr>
        <p:spPr>
          <a:xfrm>
            <a:off x="7473359" y="3879955"/>
            <a:ext cx="1463040" cy="422910"/>
          </a:xfrm>
          <a:prstGeom prst="ellips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Author</a:t>
            </a:r>
          </a:p>
        </p:txBody>
      </p:sp>
      <p:sp>
        <p:nvSpPr>
          <p:cNvPr id="68" name="Oval 67"/>
          <p:cNvSpPr/>
          <p:nvPr/>
        </p:nvSpPr>
        <p:spPr>
          <a:xfrm>
            <a:off x="9109710" y="3920072"/>
            <a:ext cx="1463040" cy="422910"/>
          </a:xfrm>
          <a:prstGeom prst="ellips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Price</a:t>
            </a:r>
          </a:p>
        </p:txBody>
      </p:sp>
      <p:cxnSp>
        <p:nvCxnSpPr>
          <p:cNvPr id="69" name="Straight Connector 68"/>
          <p:cNvCxnSpPr>
            <a:endCxn id="68" idx="0"/>
          </p:cNvCxnSpPr>
          <p:nvPr/>
        </p:nvCxnSpPr>
        <p:spPr>
          <a:xfrm>
            <a:off x="9053965" y="3501023"/>
            <a:ext cx="787265" cy="41904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70" name="Rounded Rectangular Callout 69"/>
          <p:cNvSpPr/>
          <p:nvPr/>
        </p:nvSpPr>
        <p:spPr>
          <a:xfrm>
            <a:off x="2247002" y="1162050"/>
            <a:ext cx="1574371" cy="457200"/>
          </a:xfrm>
          <a:prstGeom prst="wedgeRoundRectCallout">
            <a:avLst>
              <a:gd name="adj1" fmla="val -30669"/>
              <a:gd name="adj2" fmla="val 108681"/>
              <a:gd name="adj3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Primary Key</a:t>
            </a:r>
          </a:p>
        </p:txBody>
      </p:sp>
      <p:sp>
        <p:nvSpPr>
          <p:cNvPr id="71" name="Rounded Rectangular Callout 70"/>
          <p:cNvSpPr/>
          <p:nvPr/>
        </p:nvSpPr>
        <p:spPr>
          <a:xfrm>
            <a:off x="7233313" y="1162050"/>
            <a:ext cx="1555845" cy="457200"/>
          </a:xfrm>
          <a:prstGeom prst="wedgeRoundRectCallout">
            <a:avLst>
              <a:gd name="adj1" fmla="val 28747"/>
              <a:gd name="adj2" fmla="val 105904"/>
              <a:gd name="adj3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Primary Key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704727" y="3831373"/>
            <a:ext cx="1412988" cy="4572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</a:rPr>
              <a:t>Entities</a:t>
            </a:r>
          </a:p>
        </p:txBody>
      </p:sp>
      <p:cxnSp>
        <p:nvCxnSpPr>
          <p:cNvPr id="73" name="Straight Arrow Connector 72"/>
          <p:cNvCxnSpPr/>
          <p:nvPr/>
        </p:nvCxnSpPr>
        <p:spPr>
          <a:xfrm flipV="1">
            <a:off x="6925697" y="3477743"/>
            <a:ext cx="1217394" cy="623439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 flipV="1">
            <a:off x="4664071" y="3473385"/>
            <a:ext cx="1220970" cy="579865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5622879" y="1386253"/>
            <a:ext cx="1603366" cy="4572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</a:rPr>
              <a:t>Attributes</a:t>
            </a:r>
          </a:p>
        </p:txBody>
      </p:sp>
      <p:cxnSp>
        <p:nvCxnSpPr>
          <p:cNvPr id="76" name="Straight Arrow Connector 75"/>
          <p:cNvCxnSpPr>
            <a:endCxn id="63" idx="2"/>
          </p:cNvCxnSpPr>
          <p:nvPr/>
        </p:nvCxnSpPr>
        <p:spPr>
          <a:xfrm>
            <a:off x="7009818" y="1736659"/>
            <a:ext cx="349238" cy="345057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endCxn id="57" idx="6"/>
          </p:cNvCxnSpPr>
          <p:nvPr/>
        </p:nvCxnSpPr>
        <p:spPr>
          <a:xfrm flipH="1">
            <a:off x="5198454" y="1737726"/>
            <a:ext cx="567475" cy="325592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5476874" y="1924050"/>
            <a:ext cx="1828800" cy="4572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</a:rPr>
              <a:t>Relationship</a:t>
            </a:r>
          </a:p>
        </p:txBody>
      </p:sp>
      <p:cxnSp>
        <p:nvCxnSpPr>
          <p:cNvPr id="79" name="Straight Arrow Connector 78"/>
          <p:cNvCxnSpPr/>
          <p:nvPr/>
        </p:nvCxnSpPr>
        <p:spPr>
          <a:xfrm>
            <a:off x="6391274" y="2292349"/>
            <a:ext cx="7915" cy="36576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ounded Rectangular Callout 79"/>
          <p:cNvSpPr/>
          <p:nvPr/>
        </p:nvSpPr>
        <p:spPr>
          <a:xfrm>
            <a:off x="2270673" y="5006305"/>
            <a:ext cx="7883263" cy="1188000"/>
          </a:xfrm>
          <a:prstGeom prst="wedgeRoundRectCallout">
            <a:avLst>
              <a:gd name="adj1" fmla="val -47354"/>
              <a:gd name="adj2" fmla="val 3057"/>
              <a:gd name="adj3" fmla="val 16667"/>
            </a:avLst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2400" dirty="0">
                <a:solidFill>
                  <a:schemeClr val="lt1"/>
                </a:solidFill>
              </a:rPr>
              <a:t>Each and every entity must have one primary key attribute.</a:t>
            </a:r>
          </a:p>
          <a:p>
            <a:pPr algn="ctr"/>
            <a:r>
              <a:rPr lang="en-GB" sz="2400" dirty="0">
                <a:solidFill>
                  <a:schemeClr val="lt1"/>
                </a:solidFill>
              </a:rPr>
              <a:t>Relationship between 2 entities is called binary relationship.</a:t>
            </a:r>
            <a:endParaRPr lang="en-US" sz="24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442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1" grpId="0" animBg="1"/>
      <p:bldP spid="55" grpId="0" animBg="1"/>
      <p:bldP spid="57" grpId="0" animBg="1"/>
      <p:bldP spid="59" grpId="0" animBg="1"/>
      <p:bldP spid="60" grpId="0" animBg="1"/>
      <p:bldP spid="63" grpId="0" animBg="1"/>
      <p:bldP spid="65" grpId="0" animBg="1"/>
      <p:bldP spid="67" grpId="0" animBg="1"/>
      <p:bldP spid="68" grpId="0" animBg="1"/>
      <p:bldP spid="70" grpId="0" animBg="1"/>
      <p:bldP spid="71" grpId="0" animBg="1"/>
      <p:bldP spid="72" grpId="0"/>
      <p:bldP spid="75" grpId="0"/>
      <p:bldP spid="78" grpId="0"/>
      <p:bldP spid="8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Ternary Relationship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2696414" y="3614108"/>
            <a:ext cx="1698171" cy="7445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</a:rPr>
              <a:t>Faculty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876391" y="3609752"/>
            <a:ext cx="1698171" cy="7445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</a:rPr>
              <a:t>Student</a:t>
            </a:r>
          </a:p>
        </p:txBody>
      </p:sp>
      <p:sp>
        <p:nvSpPr>
          <p:cNvPr id="6" name="Diamond 5"/>
          <p:cNvSpPr/>
          <p:nvPr/>
        </p:nvSpPr>
        <p:spPr>
          <a:xfrm>
            <a:off x="5270340" y="3535728"/>
            <a:ext cx="1724298" cy="892630"/>
          </a:xfrm>
          <a:prstGeom prst="diamond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Guide</a:t>
            </a:r>
          </a:p>
        </p:txBody>
      </p:sp>
      <p:cxnSp>
        <p:nvCxnSpPr>
          <p:cNvPr id="7" name="Straight Connector 6"/>
          <p:cNvCxnSpPr>
            <a:stCxn id="6" idx="3"/>
            <a:endCxn id="5" idx="1"/>
          </p:cNvCxnSpPr>
          <p:nvPr/>
        </p:nvCxnSpPr>
        <p:spPr>
          <a:xfrm>
            <a:off x="6994638" y="3982043"/>
            <a:ext cx="881753" cy="1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388587" y="3982043"/>
            <a:ext cx="881753" cy="1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Straight Connector 8"/>
          <p:cNvCxnSpPr>
            <a:cxnSpLocks/>
            <a:stCxn id="10" idx="4"/>
          </p:cNvCxnSpPr>
          <p:nvPr/>
        </p:nvCxnSpPr>
        <p:spPr>
          <a:xfrm>
            <a:off x="2582111" y="3178135"/>
            <a:ext cx="646281" cy="4316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0" name="Oval 9"/>
          <p:cNvSpPr/>
          <p:nvPr/>
        </p:nvSpPr>
        <p:spPr>
          <a:xfrm>
            <a:off x="1850591" y="2755225"/>
            <a:ext cx="1463040" cy="422910"/>
          </a:xfrm>
          <a:prstGeom prst="ellips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u="sng" dirty="0" err="1">
                <a:solidFill>
                  <a:schemeClr val="tx1"/>
                </a:solidFill>
              </a:rPr>
              <a:t>FacID</a:t>
            </a:r>
            <a:endParaRPr lang="en-US" sz="2200" u="sng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/>
          <p:cNvCxnSpPr>
            <a:cxnSpLocks/>
            <a:stCxn id="12" idx="4"/>
          </p:cNvCxnSpPr>
          <p:nvPr/>
        </p:nvCxnSpPr>
        <p:spPr>
          <a:xfrm flipH="1">
            <a:off x="3816220" y="3155724"/>
            <a:ext cx="384014" cy="45402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2" name="Oval 11"/>
          <p:cNvSpPr/>
          <p:nvPr/>
        </p:nvSpPr>
        <p:spPr>
          <a:xfrm>
            <a:off x="3468714" y="2732814"/>
            <a:ext cx="1463040" cy="422910"/>
          </a:xfrm>
          <a:prstGeom prst="ellips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Name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 flipH="1">
            <a:off x="2714700" y="4354335"/>
            <a:ext cx="513692" cy="40487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4" name="Oval 13"/>
          <p:cNvSpPr/>
          <p:nvPr/>
        </p:nvSpPr>
        <p:spPr>
          <a:xfrm>
            <a:off x="1964894" y="4764919"/>
            <a:ext cx="1463040" cy="422910"/>
          </a:xfrm>
          <a:prstGeom prst="ellips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Branch</a:t>
            </a:r>
          </a:p>
        </p:txBody>
      </p:sp>
      <p:sp>
        <p:nvSpPr>
          <p:cNvPr id="15" name="Oval 14"/>
          <p:cNvSpPr/>
          <p:nvPr/>
        </p:nvSpPr>
        <p:spPr>
          <a:xfrm>
            <a:off x="3601245" y="4777740"/>
            <a:ext cx="2076224" cy="422910"/>
          </a:xfrm>
          <a:prstGeom prst="ellips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Technology</a:t>
            </a:r>
          </a:p>
        </p:txBody>
      </p:sp>
      <p:cxnSp>
        <p:nvCxnSpPr>
          <p:cNvPr id="16" name="Straight Connector 15"/>
          <p:cNvCxnSpPr>
            <a:cxnSpLocks/>
            <a:endCxn id="15" idx="0"/>
          </p:cNvCxnSpPr>
          <p:nvPr/>
        </p:nvCxnSpPr>
        <p:spPr>
          <a:xfrm>
            <a:off x="3881535" y="4354335"/>
            <a:ext cx="757822" cy="423405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7" name="Straight Connector 16"/>
          <p:cNvCxnSpPr>
            <a:cxnSpLocks/>
            <a:stCxn id="18" idx="4"/>
          </p:cNvCxnSpPr>
          <p:nvPr/>
        </p:nvCxnSpPr>
        <p:spPr>
          <a:xfrm>
            <a:off x="7823876" y="3174122"/>
            <a:ext cx="610997" cy="43563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8" name="Oval 17"/>
          <p:cNvSpPr/>
          <p:nvPr/>
        </p:nvSpPr>
        <p:spPr>
          <a:xfrm>
            <a:off x="7092356" y="2751212"/>
            <a:ext cx="1463040" cy="422910"/>
          </a:xfrm>
          <a:prstGeom prst="ellips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u="sng" dirty="0" err="1">
                <a:solidFill>
                  <a:schemeClr val="tx1"/>
                </a:solidFill>
              </a:rPr>
              <a:t>RollNo</a:t>
            </a:r>
            <a:endParaRPr lang="en-US" sz="2200" u="sng" dirty="0">
              <a:solidFill>
                <a:schemeClr val="tx1"/>
              </a:solidFill>
            </a:endParaRPr>
          </a:p>
        </p:txBody>
      </p:sp>
      <p:cxnSp>
        <p:nvCxnSpPr>
          <p:cNvPr id="19" name="Straight Connector 18"/>
          <p:cNvCxnSpPr>
            <a:stCxn id="20" idx="4"/>
          </p:cNvCxnSpPr>
          <p:nvPr/>
        </p:nvCxnSpPr>
        <p:spPr>
          <a:xfrm flipH="1">
            <a:off x="8787265" y="3151711"/>
            <a:ext cx="654734" cy="45838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0" name="Oval 19"/>
          <p:cNvSpPr/>
          <p:nvPr/>
        </p:nvSpPr>
        <p:spPr>
          <a:xfrm>
            <a:off x="8710479" y="2728801"/>
            <a:ext cx="1463040" cy="422910"/>
          </a:xfrm>
          <a:prstGeom prst="ellips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Name</a:t>
            </a:r>
          </a:p>
        </p:txBody>
      </p:sp>
      <p:cxnSp>
        <p:nvCxnSpPr>
          <p:cNvPr id="21" name="Straight Connector 20"/>
          <p:cNvCxnSpPr>
            <a:cxnSpLocks/>
          </p:cNvCxnSpPr>
          <p:nvPr/>
        </p:nvCxnSpPr>
        <p:spPr>
          <a:xfrm flipH="1">
            <a:off x="7956465" y="4354335"/>
            <a:ext cx="478408" cy="40086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2" name="Oval 21"/>
          <p:cNvSpPr/>
          <p:nvPr/>
        </p:nvSpPr>
        <p:spPr>
          <a:xfrm>
            <a:off x="7206659" y="4760906"/>
            <a:ext cx="1463040" cy="422910"/>
          </a:xfrm>
          <a:prstGeom prst="ellips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Branch</a:t>
            </a:r>
          </a:p>
        </p:txBody>
      </p:sp>
      <p:sp>
        <p:nvSpPr>
          <p:cNvPr id="23" name="Oval 22"/>
          <p:cNvSpPr/>
          <p:nvPr/>
        </p:nvSpPr>
        <p:spPr>
          <a:xfrm>
            <a:off x="8843010" y="4773727"/>
            <a:ext cx="1463040" cy="422910"/>
          </a:xfrm>
          <a:prstGeom prst="ellips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 err="1">
                <a:solidFill>
                  <a:schemeClr val="tx1"/>
                </a:solidFill>
              </a:rPr>
              <a:t>Sem</a:t>
            </a:r>
            <a:endParaRPr lang="en-US" sz="2200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>
            <a:cxnSpLocks/>
            <a:endCxn id="23" idx="0"/>
          </p:cNvCxnSpPr>
          <p:nvPr/>
        </p:nvCxnSpPr>
        <p:spPr>
          <a:xfrm>
            <a:off x="9060024" y="4354335"/>
            <a:ext cx="514506" cy="41939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5" name="Rectangle 24"/>
          <p:cNvSpPr/>
          <p:nvPr/>
        </p:nvSpPr>
        <p:spPr>
          <a:xfrm>
            <a:off x="5284628" y="1859911"/>
            <a:ext cx="1698171" cy="7445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chemeClr val="tx1"/>
                </a:solidFill>
              </a:rPr>
              <a:t>Project</a:t>
            </a:r>
          </a:p>
        </p:txBody>
      </p:sp>
      <p:cxnSp>
        <p:nvCxnSpPr>
          <p:cNvPr id="26" name="Straight Connector 25"/>
          <p:cNvCxnSpPr>
            <a:cxnSpLocks/>
            <a:stCxn id="27" idx="4"/>
          </p:cNvCxnSpPr>
          <p:nvPr/>
        </p:nvCxnSpPr>
        <p:spPr>
          <a:xfrm>
            <a:off x="5108820" y="1424281"/>
            <a:ext cx="769469" cy="43563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7" name="Oval 26"/>
          <p:cNvSpPr/>
          <p:nvPr/>
        </p:nvSpPr>
        <p:spPr>
          <a:xfrm>
            <a:off x="4162567" y="1001371"/>
            <a:ext cx="1892506" cy="422910"/>
          </a:xfrm>
          <a:prstGeom prst="ellips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u="sng" dirty="0" err="1">
                <a:solidFill>
                  <a:schemeClr val="tx1"/>
                </a:solidFill>
              </a:rPr>
              <a:t>ProjectID</a:t>
            </a:r>
            <a:endParaRPr lang="en-US" sz="2200" u="sng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/>
          <p:cNvCxnSpPr>
            <a:cxnSpLocks/>
            <a:stCxn id="29" idx="4"/>
          </p:cNvCxnSpPr>
          <p:nvPr/>
        </p:nvCxnSpPr>
        <p:spPr>
          <a:xfrm flipH="1">
            <a:off x="6391469" y="1401870"/>
            <a:ext cx="973757" cy="45804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9" name="Oval 28"/>
          <p:cNvSpPr/>
          <p:nvPr/>
        </p:nvSpPr>
        <p:spPr>
          <a:xfrm>
            <a:off x="6118715" y="978960"/>
            <a:ext cx="2493021" cy="422910"/>
          </a:xfrm>
          <a:prstGeom prst="ellipse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Project Name</a:t>
            </a:r>
          </a:p>
        </p:txBody>
      </p:sp>
      <p:cxnSp>
        <p:nvCxnSpPr>
          <p:cNvPr id="30" name="Straight Connector 29"/>
          <p:cNvCxnSpPr>
            <a:stCxn id="25" idx="2"/>
            <a:endCxn id="6" idx="0"/>
          </p:cNvCxnSpPr>
          <p:nvPr/>
        </p:nvCxnSpPr>
        <p:spPr>
          <a:xfrm flipH="1">
            <a:off x="6132489" y="2604494"/>
            <a:ext cx="1225" cy="931234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" name="Rounded Rectangular Callout 30"/>
          <p:cNvSpPr/>
          <p:nvPr/>
        </p:nvSpPr>
        <p:spPr>
          <a:xfrm>
            <a:off x="2374710" y="5604064"/>
            <a:ext cx="7896519" cy="756000"/>
          </a:xfrm>
          <a:prstGeom prst="wedgeRoundRectCallout">
            <a:avLst>
              <a:gd name="adj1" fmla="val -48112"/>
              <a:gd name="adj2" fmla="val 5518"/>
              <a:gd name="adj3" fmla="val 16667"/>
            </a:avLst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2400" dirty="0">
                <a:solidFill>
                  <a:schemeClr val="lt1"/>
                </a:solidFill>
              </a:rPr>
              <a:t>Relationship between 3 entities is called ternary relationship.</a:t>
            </a:r>
            <a:endParaRPr lang="en-US" sz="24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49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2" grpId="0" animBg="1"/>
      <p:bldP spid="14" grpId="0" animBg="1"/>
      <p:bldP spid="15" grpId="0" animBg="1"/>
      <p:bldP spid="18" grpId="0" animBg="1"/>
      <p:bldP spid="20" grpId="0" animBg="1"/>
      <p:bldP spid="22" grpId="0" animBg="1"/>
      <p:bldP spid="23" grpId="0" animBg="1"/>
      <p:bldP spid="25" grpId="0" animBg="1"/>
      <p:bldP spid="27" grpId="0" animBg="1"/>
      <p:bldP spid="29" grpId="0" animBg="1"/>
      <p:bldP spid="3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26964"/>
            <a:ext cx="11929641" cy="559056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Draw an E-R diagram of following pair of entities: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Customer &amp; Account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Customer &amp; Loan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Doctor &amp; Patient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Student &amp; Project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Student &amp; Teacher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2500" dirty="0"/>
          </a:p>
          <a:p>
            <a:pPr marL="801688" lvl="2" indent="-354013">
              <a:lnSpc>
                <a:spcPct val="100000"/>
              </a:lnSpc>
            </a:pPr>
            <a:r>
              <a:rPr lang="en-US" sz="2200" b="1" u="sng" dirty="0"/>
              <a:t>Note</a:t>
            </a:r>
            <a:r>
              <a:rPr lang="en-US" sz="2200" b="1" dirty="0"/>
              <a:t>: </a:t>
            </a:r>
            <a:r>
              <a:rPr lang="en-US" sz="2200" dirty="0"/>
              <a:t>Take</a:t>
            </a:r>
            <a:r>
              <a:rPr lang="en-US" sz="2200" b="1" dirty="0"/>
              <a:t> </a:t>
            </a:r>
            <a:r>
              <a:rPr lang="en-US" sz="2200" dirty="0"/>
              <a:t>four</a:t>
            </a:r>
            <a:r>
              <a:rPr lang="en-US" sz="2200" b="1" dirty="0"/>
              <a:t> </a:t>
            </a:r>
            <a:r>
              <a:rPr lang="en-US" sz="2200" b="1" dirty="0">
                <a:solidFill>
                  <a:schemeClr val="accent6"/>
                </a:solidFill>
              </a:rPr>
              <a:t>attributes</a:t>
            </a:r>
            <a:r>
              <a:rPr lang="en-US" sz="2200" b="1" dirty="0">
                <a:solidFill>
                  <a:schemeClr val="accent5"/>
                </a:solidFill>
              </a:rPr>
              <a:t> </a:t>
            </a:r>
            <a:r>
              <a:rPr lang="en-US" sz="2200" dirty="0"/>
              <a:t>per </a:t>
            </a:r>
            <a:r>
              <a:rPr lang="en-US" sz="2200" b="1" dirty="0">
                <a:solidFill>
                  <a:schemeClr val="accent6"/>
                </a:solidFill>
              </a:rPr>
              <a:t>entity</a:t>
            </a:r>
            <a:r>
              <a:rPr lang="en-US" sz="2200" dirty="0"/>
              <a:t> with one</a:t>
            </a:r>
            <a:r>
              <a:rPr lang="en-US" sz="2200" b="1" dirty="0">
                <a:solidFill>
                  <a:schemeClr val="accent5"/>
                </a:solidFill>
              </a:rPr>
              <a:t> </a:t>
            </a:r>
            <a:r>
              <a:rPr lang="en-US" sz="2200" b="1" dirty="0">
                <a:solidFill>
                  <a:schemeClr val="accent6"/>
                </a:solidFill>
              </a:rPr>
              <a:t>primary key </a:t>
            </a:r>
            <a:r>
              <a:rPr lang="en-US" sz="2200" dirty="0"/>
              <a:t>attribute.</a:t>
            </a:r>
            <a:r>
              <a:rPr lang="en-GB" sz="2200" dirty="0"/>
              <a:t> </a:t>
            </a:r>
            <a:r>
              <a:rPr lang="en-US" sz="2200" dirty="0"/>
              <a:t>Keep proper </a:t>
            </a:r>
            <a:r>
              <a:rPr lang="en-US" sz="2200" b="1" dirty="0">
                <a:solidFill>
                  <a:schemeClr val="accent6"/>
                </a:solidFill>
              </a:rPr>
              <a:t>relationship</a:t>
            </a:r>
            <a:r>
              <a:rPr lang="en-US" sz="2200" dirty="0"/>
              <a:t> between two entities.  </a:t>
            </a:r>
          </a:p>
        </p:txBody>
      </p:sp>
    </p:spTree>
    <p:extLst>
      <p:ext uri="{BB962C8B-B14F-4D97-AF65-F5344CB8AC3E}">
        <p14:creationId xmlns:p14="http://schemas.microsoft.com/office/powerpoint/2010/main" val="552242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Mapping Cardinality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621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Mapping Cardinality (Cardinality Constraints)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1180" y="773619"/>
            <a:ext cx="11929641" cy="55905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It represents the </a:t>
            </a:r>
            <a:r>
              <a:rPr lang="en-GB" b="1" dirty="0">
                <a:solidFill>
                  <a:schemeClr val="accent6"/>
                </a:solidFill>
              </a:rPr>
              <a:t>number of entities of another entity set </a:t>
            </a:r>
            <a:r>
              <a:rPr lang="en-GB" dirty="0"/>
              <a:t>which are </a:t>
            </a:r>
            <a:r>
              <a:rPr lang="en-GB" b="1" dirty="0">
                <a:solidFill>
                  <a:schemeClr val="accent6"/>
                </a:solidFill>
              </a:rPr>
              <a:t>connected to an entity </a:t>
            </a:r>
            <a:r>
              <a:rPr lang="en-GB" dirty="0"/>
              <a:t>using a relationship set.</a:t>
            </a:r>
          </a:p>
          <a:p>
            <a:pPr>
              <a:lnSpc>
                <a:spcPct val="100000"/>
              </a:lnSpc>
            </a:pPr>
            <a:r>
              <a:rPr lang="en-GB" dirty="0"/>
              <a:t>It is most useful in </a:t>
            </a:r>
            <a:r>
              <a:rPr lang="en-GB" b="1" dirty="0">
                <a:solidFill>
                  <a:schemeClr val="accent6"/>
                </a:solidFill>
              </a:rPr>
              <a:t>describing binary relationship sets</a:t>
            </a:r>
            <a:r>
              <a:rPr lang="en-GB" dirty="0"/>
              <a:t>.</a:t>
            </a:r>
          </a:p>
          <a:p>
            <a:pPr>
              <a:lnSpc>
                <a:spcPct val="100000"/>
              </a:lnSpc>
            </a:pPr>
            <a:r>
              <a:rPr lang="en-GB" dirty="0"/>
              <a:t>For a binary relationship set the mapping cardinality must be one of the following types:</a:t>
            </a:r>
          </a:p>
          <a:p>
            <a:pPr lvl="1" indent="446088">
              <a:lnSpc>
                <a:spcPct val="100000"/>
              </a:lnSpc>
            </a:pPr>
            <a:r>
              <a:rPr lang="en-GB" sz="2200" dirty="0"/>
              <a:t>One to One</a:t>
            </a:r>
          </a:p>
          <a:p>
            <a:pPr lvl="1" indent="446088">
              <a:lnSpc>
                <a:spcPct val="100000"/>
              </a:lnSpc>
            </a:pPr>
            <a:r>
              <a:rPr lang="en-GB" sz="2200" dirty="0"/>
              <a:t>One to Many</a:t>
            </a:r>
          </a:p>
          <a:p>
            <a:pPr lvl="1" indent="446088">
              <a:lnSpc>
                <a:spcPct val="100000"/>
              </a:lnSpc>
            </a:pPr>
            <a:r>
              <a:rPr lang="en-GB" sz="2200" dirty="0"/>
              <a:t>Many to One</a:t>
            </a:r>
          </a:p>
          <a:p>
            <a:pPr lvl="1" indent="446088">
              <a:lnSpc>
                <a:spcPct val="100000"/>
              </a:lnSpc>
            </a:pPr>
            <a:r>
              <a:rPr lang="en-GB" sz="2200" dirty="0"/>
              <a:t>Many to Many</a:t>
            </a:r>
          </a:p>
        </p:txBody>
      </p:sp>
    </p:spTree>
    <p:extLst>
      <p:ext uri="{BB962C8B-B14F-4D97-AF65-F5344CB8AC3E}">
        <p14:creationId xmlns:p14="http://schemas.microsoft.com/office/powerpoint/2010/main" val="539850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One-to-One relationship (1 – 1)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1180" y="726964"/>
            <a:ext cx="11929641" cy="55905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An entity in </a:t>
            </a:r>
            <a:r>
              <a:rPr lang="en-GB" b="1" dirty="0">
                <a:solidFill>
                  <a:schemeClr val="accent6"/>
                </a:solidFill>
              </a:rPr>
              <a:t>A is associated with only one entity in B </a:t>
            </a:r>
            <a:r>
              <a:rPr lang="en-GB" dirty="0"/>
              <a:t>and an entity in </a:t>
            </a:r>
            <a:r>
              <a:rPr lang="en-GB" b="1" dirty="0">
                <a:solidFill>
                  <a:schemeClr val="accent6"/>
                </a:solidFill>
              </a:rPr>
              <a:t>B is associated with only one entity in A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>
              <a:buNone/>
            </a:pP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Example: A </a:t>
            </a:r>
            <a:r>
              <a:rPr lang="en-GB" b="1" dirty="0">
                <a:solidFill>
                  <a:schemeClr val="accent6"/>
                </a:solidFill>
              </a:rPr>
              <a:t>customer is connected with only one loan </a:t>
            </a:r>
            <a:r>
              <a:rPr lang="en-GB" dirty="0"/>
              <a:t>using the relationship borrow and a </a:t>
            </a:r>
            <a:r>
              <a:rPr lang="en-GB" b="1" dirty="0">
                <a:solidFill>
                  <a:schemeClr val="accent6"/>
                </a:solidFill>
              </a:rPr>
              <a:t>loan is connected with only one customer </a:t>
            </a:r>
            <a:r>
              <a:rPr lang="en-GB" dirty="0"/>
              <a:t>using borrow.</a:t>
            </a:r>
          </a:p>
        </p:txBody>
      </p:sp>
      <p:sp>
        <p:nvSpPr>
          <p:cNvPr id="6" name="Oval 5"/>
          <p:cNvSpPr/>
          <p:nvPr/>
        </p:nvSpPr>
        <p:spPr>
          <a:xfrm>
            <a:off x="1238250" y="2019300"/>
            <a:ext cx="1219200" cy="1981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543050" y="2324100"/>
            <a:ext cx="6096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A1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543050" y="3086100"/>
            <a:ext cx="6096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A2</a:t>
            </a:r>
            <a:endParaRPr lang="en-IN" dirty="0"/>
          </a:p>
        </p:txBody>
      </p:sp>
      <p:sp>
        <p:nvSpPr>
          <p:cNvPr id="9" name="Oval 8"/>
          <p:cNvSpPr/>
          <p:nvPr/>
        </p:nvSpPr>
        <p:spPr>
          <a:xfrm>
            <a:off x="3067050" y="2019300"/>
            <a:ext cx="1219200" cy="1981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3371850" y="2324100"/>
            <a:ext cx="6096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3371850" y="3086100"/>
            <a:ext cx="6096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  <a:endParaRPr lang="en-IN" dirty="0"/>
          </a:p>
        </p:txBody>
      </p:sp>
      <p:cxnSp>
        <p:nvCxnSpPr>
          <p:cNvPr id="12" name="Straight Connector 11"/>
          <p:cNvCxnSpPr>
            <a:stCxn id="7" idx="3"/>
            <a:endCxn id="10" idx="1"/>
          </p:cNvCxnSpPr>
          <p:nvPr/>
        </p:nvCxnSpPr>
        <p:spPr>
          <a:xfrm>
            <a:off x="2152650" y="2628900"/>
            <a:ext cx="1219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38250" y="4000500"/>
            <a:ext cx="121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</a:t>
            </a:r>
            <a:endParaRPr lang="en-IN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3067050" y="4012167"/>
            <a:ext cx="121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B</a:t>
            </a:r>
            <a:endParaRPr lang="en-IN" sz="2000" dirty="0"/>
          </a:p>
        </p:txBody>
      </p:sp>
      <p:sp>
        <p:nvSpPr>
          <p:cNvPr id="15" name="Rectangle 14"/>
          <p:cNvSpPr/>
          <p:nvPr/>
        </p:nvSpPr>
        <p:spPr>
          <a:xfrm>
            <a:off x="6307720" y="2171700"/>
            <a:ext cx="1295400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Customer</a:t>
            </a:r>
            <a:endParaRPr lang="en-IN" sz="2200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152650" y="3390900"/>
            <a:ext cx="1219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0346320" y="2171700"/>
            <a:ext cx="775770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Loan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18" name="Diamond 17"/>
          <p:cNvSpPr/>
          <p:nvPr/>
        </p:nvSpPr>
        <p:spPr>
          <a:xfrm>
            <a:off x="7988131" y="2095500"/>
            <a:ext cx="1977189" cy="609600"/>
          </a:xfrm>
          <a:prstGeom prst="diamond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Borrow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145920" y="27813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7145920" y="33147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C2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10346320" y="27813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10346320" y="33147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7145920" y="38481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C3</a:t>
            </a:r>
            <a:endParaRPr lang="en-IN" dirty="0"/>
          </a:p>
        </p:txBody>
      </p:sp>
      <p:sp>
        <p:nvSpPr>
          <p:cNvPr id="24" name="Rectangle 23"/>
          <p:cNvSpPr/>
          <p:nvPr/>
        </p:nvSpPr>
        <p:spPr>
          <a:xfrm>
            <a:off x="10346320" y="38481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L3</a:t>
            </a:r>
            <a:endParaRPr lang="en-IN" dirty="0"/>
          </a:p>
        </p:txBody>
      </p:sp>
      <p:cxnSp>
        <p:nvCxnSpPr>
          <p:cNvPr id="25" name="Straight Connector 24"/>
          <p:cNvCxnSpPr>
            <a:stCxn id="19" idx="3"/>
            <a:endCxn id="21" idx="1"/>
          </p:cNvCxnSpPr>
          <p:nvPr/>
        </p:nvCxnSpPr>
        <p:spPr>
          <a:xfrm>
            <a:off x="7577920" y="2979300"/>
            <a:ext cx="2768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20" idx="3"/>
            <a:endCxn id="22" idx="1"/>
          </p:cNvCxnSpPr>
          <p:nvPr/>
        </p:nvCxnSpPr>
        <p:spPr>
          <a:xfrm>
            <a:off x="7577920" y="3512700"/>
            <a:ext cx="2768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3" idx="3"/>
            <a:endCxn id="24" idx="1"/>
          </p:cNvCxnSpPr>
          <p:nvPr/>
        </p:nvCxnSpPr>
        <p:spPr>
          <a:xfrm>
            <a:off x="7577920" y="4046100"/>
            <a:ext cx="2768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7603120" y="2400300"/>
            <a:ext cx="384048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9965320" y="2400300"/>
            <a:ext cx="381000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00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/>
      <p:bldP spid="14" grpId="0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One-to-Many relationship (1 – N)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1180" y="726964"/>
            <a:ext cx="11929641" cy="55905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An entity in </a:t>
            </a:r>
            <a:r>
              <a:rPr lang="en-GB" b="1" dirty="0">
                <a:solidFill>
                  <a:schemeClr val="accent6"/>
                </a:solidFill>
              </a:rPr>
              <a:t>A is associated with more than one entities in B </a:t>
            </a:r>
            <a:r>
              <a:rPr lang="en-GB" dirty="0"/>
              <a:t>and an entity in </a:t>
            </a:r>
            <a:r>
              <a:rPr lang="en-GB" b="1" dirty="0">
                <a:solidFill>
                  <a:schemeClr val="accent6"/>
                </a:solidFill>
              </a:rPr>
              <a:t>B is associated with only one entity in A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>
              <a:buNone/>
            </a:pP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Example: A </a:t>
            </a:r>
            <a:r>
              <a:rPr lang="en-GB" b="1" dirty="0">
                <a:solidFill>
                  <a:schemeClr val="accent6"/>
                </a:solidFill>
              </a:rPr>
              <a:t>loan is connected with only one customer </a:t>
            </a:r>
            <a:r>
              <a:rPr lang="en-GB" dirty="0"/>
              <a:t>using borrow and a </a:t>
            </a:r>
            <a:r>
              <a:rPr lang="en-GB" b="1" dirty="0">
                <a:solidFill>
                  <a:schemeClr val="accent6"/>
                </a:solidFill>
              </a:rPr>
              <a:t>customer is connected with more than one loans using borrow</a:t>
            </a:r>
            <a:r>
              <a:rPr lang="en-GB" dirty="0"/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1238250" y="2019300"/>
            <a:ext cx="1219200" cy="1981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543050" y="2324100"/>
            <a:ext cx="6096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A1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543050" y="3086100"/>
            <a:ext cx="6096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A2</a:t>
            </a:r>
            <a:endParaRPr lang="en-IN" dirty="0"/>
          </a:p>
        </p:txBody>
      </p:sp>
      <p:sp>
        <p:nvSpPr>
          <p:cNvPr id="9" name="Oval 8"/>
          <p:cNvSpPr/>
          <p:nvPr/>
        </p:nvSpPr>
        <p:spPr>
          <a:xfrm>
            <a:off x="3067050" y="2019300"/>
            <a:ext cx="1219200" cy="1981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3371850" y="2324100"/>
            <a:ext cx="6096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3371850" y="3086100"/>
            <a:ext cx="6096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  <a:endParaRPr lang="en-IN" dirty="0"/>
          </a:p>
        </p:txBody>
      </p:sp>
      <p:cxnSp>
        <p:nvCxnSpPr>
          <p:cNvPr id="12" name="Straight Connector 11"/>
          <p:cNvCxnSpPr>
            <a:stCxn id="7" idx="3"/>
            <a:endCxn id="10" idx="1"/>
          </p:cNvCxnSpPr>
          <p:nvPr/>
        </p:nvCxnSpPr>
        <p:spPr>
          <a:xfrm>
            <a:off x="2152650" y="2628900"/>
            <a:ext cx="1219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38250" y="4000500"/>
            <a:ext cx="121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</a:t>
            </a:r>
            <a:endParaRPr lang="en-IN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3067050" y="4012167"/>
            <a:ext cx="121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B</a:t>
            </a:r>
            <a:endParaRPr lang="en-IN" sz="2000" dirty="0"/>
          </a:p>
        </p:txBody>
      </p:sp>
      <p:sp>
        <p:nvSpPr>
          <p:cNvPr id="15" name="Rectangle 14"/>
          <p:cNvSpPr/>
          <p:nvPr/>
        </p:nvSpPr>
        <p:spPr>
          <a:xfrm>
            <a:off x="6307720" y="2171700"/>
            <a:ext cx="1295400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Customer</a:t>
            </a:r>
            <a:endParaRPr lang="en-IN" sz="2200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/>
          <p:cNvCxnSpPr>
            <a:stCxn id="7" idx="3"/>
          </p:cNvCxnSpPr>
          <p:nvPr/>
        </p:nvCxnSpPr>
        <p:spPr>
          <a:xfrm>
            <a:off x="2152650" y="2628900"/>
            <a:ext cx="1219200" cy="762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0346320" y="2171700"/>
            <a:ext cx="747778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Loan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18" name="Diamond 17"/>
          <p:cNvSpPr/>
          <p:nvPr/>
        </p:nvSpPr>
        <p:spPr>
          <a:xfrm>
            <a:off x="7988131" y="2095500"/>
            <a:ext cx="1977189" cy="609600"/>
          </a:xfrm>
          <a:prstGeom prst="diamond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Borrow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145920" y="27813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7145920" y="33147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C2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10346320" y="27813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10346320" y="33147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7145920" y="38481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C3</a:t>
            </a:r>
            <a:endParaRPr lang="en-IN" dirty="0"/>
          </a:p>
        </p:txBody>
      </p:sp>
      <p:sp>
        <p:nvSpPr>
          <p:cNvPr id="24" name="Rectangle 23"/>
          <p:cNvSpPr/>
          <p:nvPr/>
        </p:nvSpPr>
        <p:spPr>
          <a:xfrm>
            <a:off x="10346320" y="38481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L3</a:t>
            </a:r>
            <a:endParaRPr lang="en-IN" dirty="0"/>
          </a:p>
        </p:txBody>
      </p:sp>
      <p:cxnSp>
        <p:nvCxnSpPr>
          <p:cNvPr id="25" name="Straight Connector 24"/>
          <p:cNvCxnSpPr>
            <a:stCxn id="19" idx="3"/>
            <a:endCxn id="21" idx="1"/>
          </p:cNvCxnSpPr>
          <p:nvPr/>
        </p:nvCxnSpPr>
        <p:spPr>
          <a:xfrm>
            <a:off x="7577920" y="2979300"/>
            <a:ext cx="2768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3"/>
            <a:endCxn id="22" idx="1"/>
          </p:cNvCxnSpPr>
          <p:nvPr/>
        </p:nvCxnSpPr>
        <p:spPr>
          <a:xfrm>
            <a:off x="7577920" y="2979300"/>
            <a:ext cx="2768400" cy="533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0" idx="3"/>
            <a:endCxn id="24" idx="1"/>
          </p:cNvCxnSpPr>
          <p:nvPr/>
        </p:nvCxnSpPr>
        <p:spPr>
          <a:xfrm>
            <a:off x="7577920" y="3512700"/>
            <a:ext cx="2768400" cy="533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7603120" y="2400300"/>
            <a:ext cx="384048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0348490" y="43815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L4</a:t>
            </a:r>
            <a:endParaRPr lang="en-IN" dirty="0"/>
          </a:p>
        </p:txBody>
      </p:sp>
      <p:cxnSp>
        <p:nvCxnSpPr>
          <p:cNvPr id="32" name="Straight Connector 31"/>
          <p:cNvCxnSpPr>
            <a:stCxn id="20" idx="3"/>
            <a:endCxn id="30" idx="1"/>
          </p:cNvCxnSpPr>
          <p:nvPr/>
        </p:nvCxnSpPr>
        <p:spPr>
          <a:xfrm>
            <a:off x="7577920" y="3512700"/>
            <a:ext cx="2770570" cy="1066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9944944" y="2400300"/>
            <a:ext cx="385011" cy="0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51181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/>
      <p:bldP spid="14" grpId="0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Many-to-One relationship (N – 1)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1180" y="726964"/>
            <a:ext cx="11929641" cy="55905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An entity in </a:t>
            </a:r>
            <a:r>
              <a:rPr lang="en-GB" b="1" dirty="0">
                <a:solidFill>
                  <a:schemeClr val="accent6"/>
                </a:solidFill>
              </a:rPr>
              <a:t>A is associated with only one entity in B </a:t>
            </a:r>
            <a:r>
              <a:rPr lang="en-GB" dirty="0"/>
              <a:t>and an entity in </a:t>
            </a:r>
            <a:r>
              <a:rPr lang="en-GB" b="1" dirty="0">
                <a:solidFill>
                  <a:schemeClr val="accent6"/>
                </a:solidFill>
              </a:rPr>
              <a:t>B is associated with more than one entities in A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>
              <a:buNone/>
            </a:pP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Example: A </a:t>
            </a:r>
            <a:r>
              <a:rPr lang="en-GB" b="1" dirty="0">
                <a:solidFill>
                  <a:schemeClr val="accent6"/>
                </a:solidFill>
              </a:rPr>
              <a:t>loan is connected with more than one customer </a:t>
            </a:r>
            <a:r>
              <a:rPr lang="en-GB" dirty="0"/>
              <a:t>using borrow and a </a:t>
            </a:r>
            <a:r>
              <a:rPr lang="en-GB" b="1" dirty="0">
                <a:solidFill>
                  <a:schemeClr val="accent6"/>
                </a:solidFill>
              </a:rPr>
              <a:t>customer is connected with only one loan</a:t>
            </a:r>
            <a:r>
              <a:rPr lang="en-GB" dirty="0"/>
              <a:t> using borrow.</a:t>
            </a:r>
          </a:p>
        </p:txBody>
      </p:sp>
      <p:sp>
        <p:nvSpPr>
          <p:cNvPr id="6" name="Oval 5"/>
          <p:cNvSpPr/>
          <p:nvPr/>
        </p:nvSpPr>
        <p:spPr>
          <a:xfrm>
            <a:off x="1238250" y="2019300"/>
            <a:ext cx="1219200" cy="1981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543050" y="2324100"/>
            <a:ext cx="6096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A1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543050" y="3086100"/>
            <a:ext cx="6096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A2</a:t>
            </a:r>
            <a:endParaRPr lang="en-IN" dirty="0"/>
          </a:p>
        </p:txBody>
      </p:sp>
      <p:sp>
        <p:nvSpPr>
          <p:cNvPr id="9" name="Oval 8"/>
          <p:cNvSpPr/>
          <p:nvPr/>
        </p:nvSpPr>
        <p:spPr>
          <a:xfrm>
            <a:off x="3067050" y="2019300"/>
            <a:ext cx="1219200" cy="1981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3371850" y="2324100"/>
            <a:ext cx="6096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3371850" y="3086100"/>
            <a:ext cx="6096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  <a:endParaRPr lang="en-IN" dirty="0"/>
          </a:p>
        </p:txBody>
      </p:sp>
      <p:cxnSp>
        <p:nvCxnSpPr>
          <p:cNvPr id="12" name="Straight Connector 11"/>
          <p:cNvCxnSpPr>
            <a:stCxn id="7" idx="3"/>
            <a:endCxn id="10" idx="1"/>
          </p:cNvCxnSpPr>
          <p:nvPr/>
        </p:nvCxnSpPr>
        <p:spPr>
          <a:xfrm>
            <a:off x="2152650" y="2628900"/>
            <a:ext cx="1219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38250" y="4000500"/>
            <a:ext cx="121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</a:t>
            </a:r>
            <a:endParaRPr lang="en-IN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3067050" y="4012167"/>
            <a:ext cx="121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B</a:t>
            </a:r>
            <a:endParaRPr lang="en-IN" sz="2000" dirty="0"/>
          </a:p>
        </p:txBody>
      </p:sp>
      <p:sp>
        <p:nvSpPr>
          <p:cNvPr id="15" name="Rectangle 14"/>
          <p:cNvSpPr/>
          <p:nvPr/>
        </p:nvSpPr>
        <p:spPr>
          <a:xfrm>
            <a:off x="6307720" y="2171700"/>
            <a:ext cx="1295400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Customer</a:t>
            </a:r>
            <a:endParaRPr lang="en-IN" sz="2200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/>
          <p:cNvCxnSpPr>
            <a:stCxn id="8" idx="3"/>
          </p:cNvCxnSpPr>
          <p:nvPr/>
        </p:nvCxnSpPr>
        <p:spPr>
          <a:xfrm flipV="1">
            <a:off x="2152650" y="2628900"/>
            <a:ext cx="1219200" cy="762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0346319" y="2171700"/>
            <a:ext cx="729117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Loan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18" name="Diamond 17"/>
          <p:cNvSpPr/>
          <p:nvPr/>
        </p:nvSpPr>
        <p:spPr>
          <a:xfrm>
            <a:off x="7988131" y="2095500"/>
            <a:ext cx="1977189" cy="609600"/>
          </a:xfrm>
          <a:prstGeom prst="diamond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Borrow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145920" y="27813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7145920" y="33147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C2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10346320" y="27813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10346320" y="33147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7145920" y="38481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C3</a:t>
            </a:r>
            <a:endParaRPr lang="en-IN" dirty="0"/>
          </a:p>
        </p:txBody>
      </p:sp>
      <p:sp>
        <p:nvSpPr>
          <p:cNvPr id="24" name="Rectangle 23"/>
          <p:cNvSpPr/>
          <p:nvPr/>
        </p:nvSpPr>
        <p:spPr>
          <a:xfrm>
            <a:off x="10346320" y="38481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L3</a:t>
            </a:r>
            <a:endParaRPr lang="en-IN" dirty="0"/>
          </a:p>
        </p:txBody>
      </p:sp>
      <p:cxnSp>
        <p:nvCxnSpPr>
          <p:cNvPr id="25" name="Straight Connector 24"/>
          <p:cNvCxnSpPr>
            <a:stCxn id="19" idx="3"/>
            <a:endCxn id="21" idx="1"/>
          </p:cNvCxnSpPr>
          <p:nvPr/>
        </p:nvCxnSpPr>
        <p:spPr>
          <a:xfrm>
            <a:off x="7577920" y="2979300"/>
            <a:ext cx="2768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20" idx="3"/>
            <a:endCxn id="21" idx="1"/>
          </p:cNvCxnSpPr>
          <p:nvPr/>
        </p:nvCxnSpPr>
        <p:spPr>
          <a:xfrm flipV="1">
            <a:off x="7577920" y="2979300"/>
            <a:ext cx="2768400" cy="533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3" idx="3"/>
            <a:endCxn id="22" idx="1"/>
          </p:cNvCxnSpPr>
          <p:nvPr/>
        </p:nvCxnSpPr>
        <p:spPr>
          <a:xfrm flipV="1">
            <a:off x="7577920" y="3512700"/>
            <a:ext cx="2768400" cy="533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9965320" y="2400300"/>
            <a:ext cx="381000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145920" y="4386629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C4</a:t>
            </a:r>
            <a:endParaRPr lang="en-IN" dirty="0"/>
          </a:p>
        </p:txBody>
      </p:sp>
      <p:cxnSp>
        <p:nvCxnSpPr>
          <p:cNvPr id="32" name="Straight Connector 31"/>
          <p:cNvCxnSpPr>
            <a:stCxn id="30" idx="3"/>
            <a:endCxn id="22" idx="1"/>
          </p:cNvCxnSpPr>
          <p:nvPr/>
        </p:nvCxnSpPr>
        <p:spPr>
          <a:xfrm flipV="1">
            <a:off x="7577920" y="3512700"/>
            <a:ext cx="2768400" cy="10719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7607229" y="2400300"/>
            <a:ext cx="385011" cy="0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18263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/>
      <p:bldP spid="14" grpId="0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Many-to-Many relationship (N – N)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1180" y="726964"/>
            <a:ext cx="11929641" cy="55905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An entity in </a:t>
            </a:r>
            <a:r>
              <a:rPr lang="en-GB" b="1" dirty="0">
                <a:solidFill>
                  <a:schemeClr val="accent6"/>
                </a:solidFill>
              </a:rPr>
              <a:t>A is associated with more than one entities in B</a:t>
            </a:r>
            <a:r>
              <a:rPr lang="en-GB" dirty="0"/>
              <a:t> and an entity in </a:t>
            </a:r>
            <a:r>
              <a:rPr lang="en-GB" b="1" dirty="0">
                <a:solidFill>
                  <a:schemeClr val="accent6"/>
                </a:solidFill>
              </a:rPr>
              <a:t>B is associated with more than one entities in A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>
              <a:buNone/>
            </a:pP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Example: A </a:t>
            </a:r>
            <a:r>
              <a:rPr lang="en-GB" b="1" dirty="0">
                <a:solidFill>
                  <a:schemeClr val="accent6"/>
                </a:solidFill>
              </a:rPr>
              <a:t>customer is connected with more than one loan </a:t>
            </a:r>
            <a:r>
              <a:rPr lang="en-GB" dirty="0"/>
              <a:t>using borrow and a </a:t>
            </a:r>
            <a:r>
              <a:rPr lang="en-GB" b="1" dirty="0">
                <a:solidFill>
                  <a:schemeClr val="accent6"/>
                </a:solidFill>
              </a:rPr>
              <a:t>loan is connected with more than one customer</a:t>
            </a:r>
            <a:r>
              <a:rPr lang="en-GB" dirty="0"/>
              <a:t> using borrow.</a:t>
            </a:r>
          </a:p>
        </p:txBody>
      </p:sp>
      <p:sp>
        <p:nvSpPr>
          <p:cNvPr id="6" name="Oval 5"/>
          <p:cNvSpPr/>
          <p:nvPr/>
        </p:nvSpPr>
        <p:spPr>
          <a:xfrm>
            <a:off x="1238250" y="2019300"/>
            <a:ext cx="1219200" cy="1981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543050" y="2324100"/>
            <a:ext cx="6096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A1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543050" y="3086100"/>
            <a:ext cx="6096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A2</a:t>
            </a:r>
            <a:endParaRPr lang="en-IN" dirty="0"/>
          </a:p>
        </p:txBody>
      </p:sp>
      <p:sp>
        <p:nvSpPr>
          <p:cNvPr id="9" name="Oval 8"/>
          <p:cNvSpPr/>
          <p:nvPr/>
        </p:nvSpPr>
        <p:spPr>
          <a:xfrm>
            <a:off x="3067050" y="2019300"/>
            <a:ext cx="1219200" cy="19812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3371850" y="2324100"/>
            <a:ext cx="6096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3371850" y="3086100"/>
            <a:ext cx="6096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  <a:endParaRPr lang="en-IN" dirty="0"/>
          </a:p>
        </p:txBody>
      </p:sp>
      <p:cxnSp>
        <p:nvCxnSpPr>
          <p:cNvPr id="12" name="Straight Connector 11"/>
          <p:cNvCxnSpPr>
            <a:stCxn id="7" idx="3"/>
            <a:endCxn id="10" idx="1"/>
          </p:cNvCxnSpPr>
          <p:nvPr/>
        </p:nvCxnSpPr>
        <p:spPr>
          <a:xfrm>
            <a:off x="2152650" y="2628900"/>
            <a:ext cx="1219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38250" y="4000500"/>
            <a:ext cx="121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</a:t>
            </a:r>
            <a:endParaRPr lang="en-IN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3067050" y="4012167"/>
            <a:ext cx="121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B</a:t>
            </a:r>
            <a:endParaRPr lang="en-IN" sz="2000" dirty="0"/>
          </a:p>
        </p:txBody>
      </p:sp>
      <p:sp>
        <p:nvSpPr>
          <p:cNvPr id="15" name="Rectangle 14"/>
          <p:cNvSpPr/>
          <p:nvPr/>
        </p:nvSpPr>
        <p:spPr>
          <a:xfrm>
            <a:off x="6307720" y="2171700"/>
            <a:ext cx="1295400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Customer</a:t>
            </a:r>
            <a:endParaRPr lang="en-IN" sz="2200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/>
          <p:cNvCxnSpPr>
            <a:stCxn id="8" idx="3"/>
          </p:cNvCxnSpPr>
          <p:nvPr/>
        </p:nvCxnSpPr>
        <p:spPr>
          <a:xfrm flipV="1">
            <a:off x="2152650" y="2628900"/>
            <a:ext cx="1219200" cy="762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0346320" y="2171700"/>
            <a:ext cx="685800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Loan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18" name="Diamond 17"/>
          <p:cNvSpPr/>
          <p:nvPr/>
        </p:nvSpPr>
        <p:spPr>
          <a:xfrm>
            <a:off x="7988131" y="2095500"/>
            <a:ext cx="1977189" cy="609600"/>
          </a:xfrm>
          <a:prstGeom prst="diamond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Borrow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145920" y="27813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7145920" y="33147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C2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10346320" y="27813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10346320" y="33147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7145920" y="38481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C3</a:t>
            </a:r>
            <a:endParaRPr lang="en-IN" dirty="0"/>
          </a:p>
        </p:txBody>
      </p:sp>
      <p:sp>
        <p:nvSpPr>
          <p:cNvPr id="24" name="Rectangle 23"/>
          <p:cNvSpPr/>
          <p:nvPr/>
        </p:nvSpPr>
        <p:spPr>
          <a:xfrm>
            <a:off x="10346320" y="3848100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L3</a:t>
            </a:r>
            <a:endParaRPr lang="en-IN" dirty="0"/>
          </a:p>
        </p:txBody>
      </p:sp>
      <p:cxnSp>
        <p:nvCxnSpPr>
          <p:cNvPr id="25" name="Straight Connector 24"/>
          <p:cNvCxnSpPr>
            <a:stCxn id="19" idx="3"/>
            <a:endCxn id="21" idx="1"/>
          </p:cNvCxnSpPr>
          <p:nvPr/>
        </p:nvCxnSpPr>
        <p:spPr>
          <a:xfrm>
            <a:off x="7577920" y="2979300"/>
            <a:ext cx="2768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20" idx="3"/>
            <a:endCxn id="21" idx="1"/>
          </p:cNvCxnSpPr>
          <p:nvPr/>
        </p:nvCxnSpPr>
        <p:spPr>
          <a:xfrm flipV="1">
            <a:off x="7577920" y="2979300"/>
            <a:ext cx="2768400" cy="533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3" idx="3"/>
            <a:endCxn id="22" idx="1"/>
          </p:cNvCxnSpPr>
          <p:nvPr/>
        </p:nvCxnSpPr>
        <p:spPr>
          <a:xfrm flipV="1">
            <a:off x="7577920" y="3512700"/>
            <a:ext cx="2768400" cy="533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145920" y="4386629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C4</a:t>
            </a:r>
            <a:endParaRPr lang="en-IN" dirty="0"/>
          </a:p>
        </p:txBody>
      </p:sp>
      <p:cxnSp>
        <p:nvCxnSpPr>
          <p:cNvPr id="32" name="Straight Connector 31"/>
          <p:cNvCxnSpPr>
            <a:stCxn id="30" idx="3"/>
            <a:endCxn id="24" idx="1"/>
          </p:cNvCxnSpPr>
          <p:nvPr/>
        </p:nvCxnSpPr>
        <p:spPr>
          <a:xfrm flipV="1">
            <a:off x="7577920" y="4046100"/>
            <a:ext cx="2768400" cy="5385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7607229" y="2400300"/>
            <a:ext cx="385011" cy="0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2152650" y="3390900"/>
            <a:ext cx="1219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7" idx="3"/>
            <a:endCxn id="11" idx="1"/>
          </p:cNvCxnSpPr>
          <p:nvPr/>
        </p:nvCxnSpPr>
        <p:spPr>
          <a:xfrm>
            <a:off x="2152650" y="2628900"/>
            <a:ext cx="1219200" cy="762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9965320" y="2400048"/>
            <a:ext cx="385011" cy="0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Straight Connector 34"/>
          <p:cNvCxnSpPr>
            <a:stCxn id="19" idx="3"/>
            <a:endCxn id="22" idx="1"/>
          </p:cNvCxnSpPr>
          <p:nvPr/>
        </p:nvCxnSpPr>
        <p:spPr>
          <a:xfrm>
            <a:off x="7577920" y="2979300"/>
            <a:ext cx="2768400" cy="533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346320" y="4381499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L4</a:t>
            </a:r>
            <a:endParaRPr lang="en-IN" dirty="0"/>
          </a:p>
        </p:txBody>
      </p:sp>
      <p:cxnSp>
        <p:nvCxnSpPr>
          <p:cNvPr id="39" name="Straight Connector 38"/>
          <p:cNvCxnSpPr>
            <a:stCxn id="20" idx="3"/>
          </p:cNvCxnSpPr>
          <p:nvPr/>
        </p:nvCxnSpPr>
        <p:spPr>
          <a:xfrm>
            <a:off x="7577920" y="3512700"/>
            <a:ext cx="2768400" cy="5333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7577920" y="4046099"/>
            <a:ext cx="2768400" cy="533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7577920" y="4588171"/>
            <a:ext cx="2768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816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/>
      <p:bldP spid="14" grpId="0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0" grpId="0" animBg="1"/>
      <p:bldP spid="3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Mapping Cardinality (Cardinality Constraints)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[Exercise]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1180" y="795204"/>
            <a:ext cx="11929641" cy="55905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Draw an E-R diagram and specify which type of mapping cardinality will be there in the following examples:</a:t>
            </a:r>
          </a:p>
          <a:p>
            <a:pPr lvl="1">
              <a:lnSpc>
                <a:spcPct val="100000"/>
              </a:lnSpc>
            </a:pPr>
            <a:r>
              <a:rPr lang="en-GB" sz="2200" dirty="0"/>
              <a:t>Each customer has only one account in the bank and each account is held by only one customer. [single account]</a:t>
            </a:r>
          </a:p>
          <a:p>
            <a:pPr lvl="1">
              <a:lnSpc>
                <a:spcPct val="100000"/>
              </a:lnSpc>
            </a:pPr>
            <a:r>
              <a:rPr lang="en-GB" sz="2200" dirty="0"/>
              <a:t>A customer may have more than one account in the bank but each account is held by only one customer. [multiple accounts]</a:t>
            </a:r>
          </a:p>
          <a:p>
            <a:pPr lvl="1">
              <a:lnSpc>
                <a:spcPct val="100000"/>
              </a:lnSpc>
            </a:pPr>
            <a:r>
              <a:rPr lang="en-GB" sz="2200" dirty="0"/>
              <a:t>Each customer has only one account in the bank but an account can be held by more than one customer. [joint account]</a:t>
            </a:r>
          </a:p>
          <a:p>
            <a:pPr lvl="1">
              <a:lnSpc>
                <a:spcPct val="100000"/>
              </a:lnSpc>
            </a:pPr>
            <a:r>
              <a:rPr lang="en-GB" sz="2200" dirty="0"/>
              <a:t>A customer may have more than one account in the bank and each account is held by more than one customer. [join account as well as multiple accounts]</a:t>
            </a:r>
          </a:p>
          <a:p>
            <a:pPr lvl="1">
              <a:lnSpc>
                <a:spcPct val="100000"/>
              </a:lnSpc>
            </a:pPr>
            <a:endParaRPr lang="en-GB" sz="2800" dirty="0"/>
          </a:p>
          <a:p>
            <a:pPr marL="457200" lvl="1" indent="0">
              <a:lnSpc>
                <a:spcPct val="100000"/>
              </a:lnSpc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393534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Participation Constraints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387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ular Callout 19"/>
          <p:cNvSpPr/>
          <p:nvPr/>
        </p:nvSpPr>
        <p:spPr>
          <a:xfrm>
            <a:off x="6660820" y="2537928"/>
            <a:ext cx="5400000" cy="1440000"/>
          </a:xfrm>
          <a:prstGeom prst="wedgeRoundRectCallout">
            <a:avLst>
              <a:gd name="adj1" fmla="val -33981"/>
              <a:gd name="adj2" fmla="val 95347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Total participation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</a:t>
            </a:r>
            <a:r>
              <a:rPr lang="en-IN" dirty="0">
                <a:solidFill>
                  <a:schemeClr val="tx1"/>
                </a:solidFill>
              </a:rPr>
              <a:t>very entity in the entity set participates in at least one relationship in the relationship 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</a:t>
            </a:r>
            <a:r>
              <a:rPr lang="en-IN" dirty="0">
                <a:solidFill>
                  <a:schemeClr val="tx1"/>
                </a:solidFill>
              </a:rPr>
              <a:t>ndicated by </a:t>
            </a:r>
            <a:r>
              <a:rPr lang="en-IN" dirty="0">
                <a:solidFill>
                  <a:schemeClr val="accent6"/>
                </a:solidFill>
              </a:rPr>
              <a:t>double line</a:t>
            </a:r>
          </a:p>
        </p:txBody>
      </p:sp>
      <p:sp>
        <p:nvSpPr>
          <p:cNvPr id="21" name="Rounded Rectangular Callout 20"/>
          <p:cNvSpPr/>
          <p:nvPr/>
        </p:nvSpPr>
        <p:spPr>
          <a:xfrm>
            <a:off x="555372" y="2552573"/>
            <a:ext cx="5400000" cy="1440000"/>
          </a:xfrm>
          <a:prstGeom prst="wedgeRoundRectCallout">
            <a:avLst>
              <a:gd name="adj1" fmla="val 34452"/>
              <a:gd name="adj2" fmla="val 99857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Partial participation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</a:t>
            </a:r>
            <a:r>
              <a:rPr lang="en-IN" dirty="0">
                <a:solidFill>
                  <a:schemeClr val="tx1"/>
                </a:solidFill>
              </a:rPr>
              <a:t>ome entities in the entity set may not participate in any relationship in the relationship 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</a:t>
            </a:r>
            <a:r>
              <a:rPr lang="en-IN" dirty="0">
                <a:solidFill>
                  <a:schemeClr val="tx1"/>
                </a:solidFill>
              </a:rPr>
              <a:t>ndicated by </a:t>
            </a:r>
            <a:r>
              <a:rPr lang="en-IN" dirty="0">
                <a:solidFill>
                  <a:schemeClr val="accent6"/>
                </a:solidFill>
              </a:rPr>
              <a:t>single line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Participation Constraints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1180" y="773619"/>
            <a:ext cx="11929641" cy="5851257"/>
          </a:xfrm>
        </p:spPr>
        <p:txBody>
          <a:bodyPr/>
          <a:lstStyle/>
          <a:p>
            <a:r>
              <a:rPr lang="en-GB" dirty="0"/>
              <a:t>It specifies the </a:t>
            </a:r>
            <a:r>
              <a:rPr lang="en-GB" b="1" dirty="0">
                <a:solidFill>
                  <a:schemeClr val="accent6"/>
                </a:solidFill>
              </a:rPr>
              <a:t>participation of an entity set </a:t>
            </a:r>
            <a:r>
              <a:rPr lang="en-GB" dirty="0"/>
              <a:t>in a relationship set.</a:t>
            </a:r>
          </a:p>
          <a:p>
            <a:r>
              <a:rPr lang="en-GB" dirty="0"/>
              <a:t>There are two types participation constraints</a:t>
            </a:r>
          </a:p>
          <a:p>
            <a:pPr lvl="1"/>
            <a:r>
              <a:rPr lang="en-GB" sz="2200" dirty="0"/>
              <a:t>Total participation</a:t>
            </a:r>
          </a:p>
          <a:p>
            <a:pPr lvl="1"/>
            <a:r>
              <a:rPr lang="en-GB" sz="2200" dirty="0"/>
              <a:t>Partial participation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55372" y="4525972"/>
            <a:ext cx="1295400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8527" y="4525972"/>
            <a:ext cx="685800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Loan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Diamond 7"/>
          <p:cNvSpPr/>
          <p:nvPr/>
        </p:nvSpPr>
        <p:spPr>
          <a:xfrm>
            <a:off x="5318338" y="4428466"/>
            <a:ext cx="1977189" cy="609600"/>
          </a:xfrm>
          <a:prstGeom prst="diamond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Borrow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>
            <a:stCxn id="6" idx="3"/>
            <a:endCxn id="8" idx="1"/>
          </p:cNvCxnSpPr>
          <p:nvPr/>
        </p:nvCxnSpPr>
        <p:spPr>
          <a:xfrm flipV="1">
            <a:off x="4550772" y="4733266"/>
            <a:ext cx="767566" cy="21306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Straight Connector 9"/>
          <p:cNvCxnSpPr>
            <a:cxnSpLocks/>
          </p:cNvCxnSpPr>
          <p:nvPr/>
        </p:nvCxnSpPr>
        <p:spPr>
          <a:xfrm>
            <a:off x="7168179" y="4682118"/>
            <a:ext cx="940348" cy="0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Rectangle 10"/>
          <p:cNvSpPr/>
          <p:nvPr/>
        </p:nvSpPr>
        <p:spPr>
          <a:xfrm>
            <a:off x="4476127" y="5099266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4476127" y="5632666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C2</a:t>
            </a:r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7676527" y="5099266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7676527" y="5632666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4476127" y="6166066"/>
            <a:ext cx="432000" cy="39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C3</a:t>
            </a:r>
            <a:endParaRPr lang="en-IN" dirty="0"/>
          </a:p>
        </p:txBody>
      </p:sp>
      <p:cxnSp>
        <p:nvCxnSpPr>
          <p:cNvPr id="16" name="Straight Connector 15"/>
          <p:cNvCxnSpPr>
            <a:stCxn id="11" idx="3"/>
            <a:endCxn id="13" idx="1"/>
          </p:cNvCxnSpPr>
          <p:nvPr/>
        </p:nvCxnSpPr>
        <p:spPr>
          <a:xfrm>
            <a:off x="4908127" y="5297266"/>
            <a:ext cx="2768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2" idx="3"/>
            <a:endCxn id="14" idx="1"/>
          </p:cNvCxnSpPr>
          <p:nvPr/>
        </p:nvCxnSpPr>
        <p:spPr>
          <a:xfrm>
            <a:off x="4908127" y="5830666"/>
            <a:ext cx="2768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62575" y="5440736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customer has maximum one  loan</a:t>
            </a:r>
            <a:endParaRPr lang="en-IN" dirty="0"/>
          </a:p>
        </p:txBody>
      </p:sp>
      <p:cxnSp>
        <p:nvCxnSpPr>
          <p:cNvPr id="19" name="Straight Connector 18"/>
          <p:cNvCxnSpPr>
            <a:cxnSpLocks/>
          </p:cNvCxnSpPr>
          <p:nvPr/>
        </p:nvCxnSpPr>
        <p:spPr>
          <a:xfrm>
            <a:off x="7168179" y="4784414"/>
            <a:ext cx="940348" cy="0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486163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Weak Entity Set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174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Weak Entity Set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1180" y="795204"/>
            <a:ext cx="11929641" cy="5590565"/>
          </a:xfrm>
        </p:spPr>
        <p:txBody>
          <a:bodyPr/>
          <a:lstStyle/>
          <a:p>
            <a:r>
              <a:rPr lang="en-GB" dirty="0"/>
              <a:t>An </a:t>
            </a:r>
            <a:r>
              <a:rPr lang="en-GB" b="1" dirty="0">
                <a:solidFill>
                  <a:schemeClr val="accent6"/>
                </a:solidFill>
              </a:rPr>
              <a:t>entity set that does not have a primary key </a:t>
            </a:r>
            <a:r>
              <a:rPr lang="en-GB" dirty="0"/>
              <a:t>is called weak entity set.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81422" y="2918627"/>
            <a:ext cx="1398477" cy="6480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467238" y="3053642"/>
            <a:ext cx="1295400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Loan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474518" y="3014027"/>
            <a:ext cx="1219200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Payment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5" name="Diamond 44"/>
          <p:cNvSpPr/>
          <p:nvPr/>
        </p:nvSpPr>
        <p:spPr>
          <a:xfrm>
            <a:off x="4074754" y="2787618"/>
            <a:ext cx="3557081" cy="1010669"/>
          </a:xfrm>
          <a:prstGeom prst="diamond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46" name="Straight Connector 45"/>
          <p:cNvCxnSpPr>
            <a:cxnSpLocks/>
          </p:cNvCxnSpPr>
          <p:nvPr/>
        </p:nvCxnSpPr>
        <p:spPr>
          <a:xfrm>
            <a:off x="2770996" y="3292953"/>
            <a:ext cx="1295400" cy="0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Straight Connector 46"/>
          <p:cNvCxnSpPr>
            <a:cxnSpLocks/>
          </p:cNvCxnSpPr>
          <p:nvPr/>
        </p:nvCxnSpPr>
        <p:spPr>
          <a:xfrm>
            <a:off x="7315920" y="3204078"/>
            <a:ext cx="1057338" cy="0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8" name="Straight Connector 47"/>
          <p:cNvCxnSpPr>
            <a:cxnSpLocks/>
          </p:cNvCxnSpPr>
          <p:nvPr/>
        </p:nvCxnSpPr>
        <p:spPr>
          <a:xfrm>
            <a:off x="7315920" y="3381131"/>
            <a:ext cx="1057338" cy="0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Straight Connector 48"/>
          <p:cNvCxnSpPr>
            <a:stCxn id="50" idx="4"/>
            <a:endCxn id="43" idx="0"/>
          </p:cNvCxnSpPr>
          <p:nvPr/>
        </p:nvCxnSpPr>
        <p:spPr>
          <a:xfrm>
            <a:off x="999659" y="2630596"/>
            <a:ext cx="1115279" cy="423046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Oval 49"/>
          <p:cNvSpPr/>
          <p:nvPr/>
        </p:nvSpPr>
        <p:spPr>
          <a:xfrm>
            <a:off x="283420" y="2045131"/>
            <a:ext cx="1432477" cy="585465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Loan_no</a:t>
            </a:r>
            <a:endParaRPr lang="en-US" u="sng" dirty="0">
              <a:solidFill>
                <a:schemeClr val="tx1"/>
              </a:solidFill>
            </a:endParaRPr>
          </a:p>
        </p:txBody>
      </p:sp>
      <p:cxnSp>
        <p:nvCxnSpPr>
          <p:cNvPr id="51" name="Straight Connector 50"/>
          <p:cNvCxnSpPr>
            <a:stCxn id="52" idx="4"/>
            <a:endCxn id="43" idx="0"/>
          </p:cNvCxnSpPr>
          <p:nvPr/>
        </p:nvCxnSpPr>
        <p:spPr>
          <a:xfrm flipH="1">
            <a:off x="2114938" y="2617088"/>
            <a:ext cx="656059" cy="436554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2" name="Oval 51"/>
          <p:cNvSpPr/>
          <p:nvPr/>
        </p:nvSpPr>
        <p:spPr>
          <a:xfrm>
            <a:off x="2054758" y="2031623"/>
            <a:ext cx="1432477" cy="585465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Amount</a:t>
            </a:r>
          </a:p>
        </p:txBody>
      </p:sp>
      <p:cxnSp>
        <p:nvCxnSpPr>
          <p:cNvPr id="53" name="Straight Connector 52"/>
          <p:cNvCxnSpPr>
            <a:cxnSpLocks/>
            <a:stCxn id="54" idx="4"/>
          </p:cNvCxnSpPr>
          <p:nvPr/>
        </p:nvCxnSpPr>
        <p:spPr>
          <a:xfrm>
            <a:off x="7697403" y="2604489"/>
            <a:ext cx="1383258" cy="315731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4" name="Oval 53"/>
          <p:cNvSpPr/>
          <p:nvPr/>
        </p:nvSpPr>
        <p:spPr>
          <a:xfrm>
            <a:off x="6756187" y="2019024"/>
            <a:ext cx="1882431" cy="58546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dash" dirty="0" err="1">
                <a:solidFill>
                  <a:schemeClr val="tx1"/>
                </a:solidFill>
              </a:rPr>
              <a:t>Payment_no</a:t>
            </a:r>
            <a:endParaRPr lang="en-US" u="dash" dirty="0">
              <a:solidFill>
                <a:schemeClr val="tx1"/>
              </a:solidFill>
            </a:endParaRPr>
          </a:p>
        </p:txBody>
      </p:sp>
      <p:cxnSp>
        <p:nvCxnSpPr>
          <p:cNvPr id="55" name="Straight Connector 54"/>
          <p:cNvCxnSpPr>
            <a:cxnSpLocks/>
            <a:stCxn id="56" idx="4"/>
          </p:cNvCxnSpPr>
          <p:nvPr/>
        </p:nvCxnSpPr>
        <p:spPr>
          <a:xfrm flipH="1">
            <a:off x="9080661" y="2005516"/>
            <a:ext cx="3457" cy="914704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6" name="Oval 55"/>
          <p:cNvSpPr/>
          <p:nvPr/>
        </p:nvSpPr>
        <p:spPr>
          <a:xfrm>
            <a:off x="8006626" y="1420051"/>
            <a:ext cx="2154983" cy="585465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Payment_date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7" name="Straight Connector 56"/>
          <p:cNvCxnSpPr>
            <a:cxnSpLocks/>
            <a:stCxn id="59" idx="4"/>
          </p:cNvCxnSpPr>
          <p:nvPr/>
        </p:nvCxnSpPr>
        <p:spPr>
          <a:xfrm flipH="1">
            <a:off x="9080661" y="2604488"/>
            <a:ext cx="1699999" cy="315732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8" name="Diamond 57"/>
          <p:cNvSpPr/>
          <p:nvPr/>
        </p:nvSpPr>
        <p:spPr>
          <a:xfrm>
            <a:off x="4287111" y="2885004"/>
            <a:ext cx="3115345" cy="806193"/>
          </a:xfrm>
          <a:prstGeom prst="diamond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Loan_Payment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9500500" y="2019023"/>
            <a:ext cx="2560320" cy="585465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Payment_amount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0" name="Rounded Rectangular Callout 59"/>
          <p:cNvSpPr/>
          <p:nvPr/>
        </p:nvSpPr>
        <p:spPr>
          <a:xfrm>
            <a:off x="1274733" y="3886945"/>
            <a:ext cx="1487905" cy="720000"/>
          </a:xfrm>
          <a:prstGeom prst="wedgeRoundRectCallout">
            <a:avLst>
              <a:gd name="adj1" fmla="val -12298"/>
              <a:gd name="adj2" fmla="val -93422"/>
              <a:gd name="adj3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Strong Entity Set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1" name="Rounded Rectangular Callout 60"/>
          <p:cNvSpPr/>
          <p:nvPr/>
        </p:nvSpPr>
        <p:spPr>
          <a:xfrm>
            <a:off x="8367385" y="3900201"/>
            <a:ext cx="1487905" cy="720000"/>
          </a:xfrm>
          <a:prstGeom prst="wedgeRoundRectCallout">
            <a:avLst>
              <a:gd name="adj1" fmla="val 505"/>
              <a:gd name="adj2" fmla="val -87500"/>
              <a:gd name="adj3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Weak Entity Set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2" name="Rounded Rectangular Callout 61"/>
          <p:cNvSpPr/>
          <p:nvPr/>
        </p:nvSpPr>
        <p:spPr>
          <a:xfrm>
            <a:off x="5268282" y="4073924"/>
            <a:ext cx="1487905" cy="720000"/>
          </a:xfrm>
          <a:prstGeom prst="wedgeRoundRectCallout">
            <a:avLst>
              <a:gd name="adj1" fmla="val 505"/>
              <a:gd name="adj2" fmla="val -87500"/>
              <a:gd name="adj3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Weak Entity Relationship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715897" y="5057746"/>
            <a:ext cx="7884000" cy="1328023"/>
          </a:xfrm>
          <a:prstGeom prst="round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>
              <a:defRPr sz="2400">
                <a:solidFill>
                  <a:schemeClr val="lt1"/>
                </a:solidFill>
              </a:defRPr>
            </a:lvl1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Weak entity set is indicated by double rectangle.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Weak entity relationship set is indicated by double diamond.</a:t>
            </a:r>
          </a:p>
        </p:txBody>
      </p:sp>
    </p:spTree>
    <p:extLst>
      <p:ext uri="{BB962C8B-B14F-4D97-AF65-F5344CB8AC3E}">
        <p14:creationId xmlns:p14="http://schemas.microsoft.com/office/powerpoint/2010/main" val="389301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50" grpId="0" animBg="1"/>
      <p:bldP spid="52" grpId="0" animBg="1"/>
      <p:bldP spid="54" grpId="0" animBg="1"/>
      <p:bldP spid="56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Weak Entity Set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b="1" dirty="0">
                <a:solidFill>
                  <a:schemeClr val="accent6"/>
                </a:solidFill>
              </a:rPr>
              <a:t>existence of a weak entity set</a:t>
            </a:r>
            <a:r>
              <a:rPr lang="en-GB" dirty="0"/>
              <a:t> depends on the </a:t>
            </a:r>
            <a:r>
              <a:rPr lang="en-GB" b="1" dirty="0">
                <a:solidFill>
                  <a:schemeClr val="accent6"/>
                </a:solidFill>
              </a:rPr>
              <a:t>existence of a strong entity set</a:t>
            </a:r>
            <a:r>
              <a:rPr lang="en-GB" dirty="0"/>
              <a:t>.</a:t>
            </a:r>
          </a:p>
          <a:p>
            <a:r>
              <a:rPr lang="en-GB" dirty="0"/>
              <a:t>The </a:t>
            </a:r>
            <a:r>
              <a:rPr lang="en-GB" b="1" dirty="0">
                <a:solidFill>
                  <a:schemeClr val="accent6"/>
                </a:solidFill>
              </a:rPr>
              <a:t>discriminator (partial key) </a:t>
            </a:r>
            <a:r>
              <a:rPr lang="en-GB" dirty="0"/>
              <a:t>of a weak entity set is the set of </a:t>
            </a:r>
            <a:r>
              <a:rPr lang="en-GB" b="1" dirty="0">
                <a:solidFill>
                  <a:schemeClr val="accent6"/>
                </a:solidFill>
              </a:rPr>
              <a:t>attributes that distinguishes all the entities</a:t>
            </a:r>
            <a:r>
              <a:rPr lang="en-GB" dirty="0"/>
              <a:t> of a weak entity set.</a:t>
            </a:r>
          </a:p>
          <a:p>
            <a:r>
              <a:rPr lang="en-GB" dirty="0"/>
              <a:t>The </a:t>
            </a:r>
            <a:r>
              <a:rPr lang="en-GB" b="1" dirty="0">
                <a:solidFill>
                  <a:schemeClr val="accent6"/>
                </a:solidFill>
              </a:rPr>
              <a:t>primary key </a:t>
            </a:r>
            <a:r>
              <a:rPr lang="en-GB" dirty="0"/>
              <a:t>of a weak entity set is created by </a:t>
            </a:r>
            <a:r>
              <a:rPr lang="en-GB" b="1" dirty="0">
                <a:solidFill>
                  <a:schemeClr val="accent6"/>
                </a:solidFill>
              </a:rPr>
              <a:t>combining the primary key of the strong entity set</a:t>
            </a:r>
            <a:r>
              <a:rPr lang="en-GB" dirty="0"/>
              <a:t> on which the weak entity set is existence dependent and the </a:t>
            </a:r>
            <a:r>
              <a:rPr lang="en-GB" b="1" dirty="0">
                <a:solidFill>
                  <a:schemeClr val="accent6"/>
                </a:solidFill>
              </a:rPr>
              <a:t>weak entity set’s discriminator</a:t>
            </a:r>
            <a:r>
              <a:rPr lang="en-GB" dirty="0"/>
              <a:t>.</a:t>
            </a:r>
          </a:p>
          <a:p>
            <a:r>
              <a:rPr lang="en-GB" dirty="0"/>
              <a:t>We underline the discriminator attribute of a weak entity set with a </a:t>
            </a:r>
            <a:r>
              <a:rPr lang="en-GB" b="1" dirty="0">
                <a:solidFill>
                  <a:schemeClr val="accent6"/>
                </a:solidFill>
              </a:rPr>
              <a:t>dashed line</a:t>
            </a:r>
            <a:r>
              <a:rPr lang="en-GB" dirty="0"/>
              <a:t>.</a:t>
            </a:r>
          </a:p>
          <a:p>
            <a:r>
              <a:rPr lang="en-GB" dirty="0"/>
              <a:t>Payment entity has </a:t>
            </a:r>
            <a:r>
              <a:rPr lang="en-GB" dirty="0" err="1"/>
              <a:t>payment_no</a:t>
            </a:r>
            <a:r>
              <a:rPr lang="en-GB" dirty="0"/>
              <a:t> which is discriminator.</a:t>
            </a:r>
          </a:p>
          <a:p>
            <a:r>
              <a:rPr lang="en-GB" dirty="0"/>
              <a:t>Loan entity has </a:t>
            </a:r>
            <a:r>
              <a:rPr lang="en-GB" dirty="0" err="1"/>
              <a:t>loan_no</a:t>
            </a:r>
            <a:r>
              <a:rPr lang="en-GB" dirty="0"/>
              <a:t> as primary key.</a:t>
            </a:r>
          </a:p>
          <a:p>
            <a:r>
              <a:rPr lang="en-GB" dirty="0"/>
              <a:t>So primary key for payment is </a:t>
            </a:r>
            <a:r>
              <a:rPr lang="en-GB" b="1" dirty="0">
                <a:solidFill>
                  <a:schemeClr val="accent6"/>
                </a:solidFill>
              </a:rPr>
              <a:t>(</a:t>
            </a:r>
            <a:r>
              <a:rPr lang="en-GB" b="1" dirty="0" err="1">
                <a:solidFill>
                  <a:schemeClr val="accent6"/>
                </a:solidFill>
              </a:rPr>
              <a:t>loan_no</a:t>
            </a:r>
            <a:r>
              <a:rPr lang="en-GB" b="1" dirty="0">
                <a:solidFill>
                  <a:schemeClr val="accent6"/>
                </a:solidFill>
              </a:rPr>
              <a:t>, </a:t>
            </a:r>
            <a:r>
              <a:rPr lang="en-GB" b="1" dirty="0" err="1">
                <a:solidFill>
                  <a:schemeClr val="accent6"/>
                </a:solidFill>
              </a:rPr>
              <a:t>payment_no</a:t>
            </a:r>
            <a:r>
              <a:rPr lang="en-GB" b="1" dirty="0">
                <a:solidFill>
                  <a:schemeClr val="accent6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80845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Superclass vs Subclass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2582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Superclass v/s Subclass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4393014"/>
              </p:ext>
            </p:extLst>
          </p:nvPr>
        </p:nvGraphicFramePr>
        <p:xfrm>
          <a:off x="131178" y="859690"/>
          <a:ext cx="11929642" cy="630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964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4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Super Class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kern="1200" dirty="0">
                          <a:solidFill>
                            <a:schemeClr val="bg1"/>
                          </a:solidFill>
                        </a:rPr>
                        <a:t>Sub Class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2974043"/>
              </p:ext>
            </p:extLst>
          </p:nvPr>
        </p:nvGraphicFramePr>
        <p:xfrm>
          <a:off x="131178" y="1503193"/>
          <a:ext cx="11929642" cy="762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964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4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GB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superclass is an entity from which </a:t>
                      </a:r>
                      <a:r>
                        <a:rPr lang="en-GB" sz="22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other entities can be derived</a:t>
                      </a:r>
                      <a:r>
                        <a:rPr lang="en-GB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2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subclass is an entity that is </a:t>
                      </a:r>
                      <a:r>
                        <a:rPr lang="en-GB" sz="22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derived from another entity</a:t>
                      </a:r>
                      <a:r>
                        <a:rPr lang="en-GB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2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4475140"/>
              </p:ext>
            </p:extLst>
          </p:nvPr>
        </p:nvGraphicFramePr>
        <p:xfrm>
          <a:off x="131178" y="2319178"/>
          <a:ext cx="11929642" cy="17678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964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4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GB" sz="2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E.g</a:t>
                      </a:r>
                      <a:r>
                        <a:rPr lang="en-GB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r>
                        <a:rPr lang="en-GB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 entity account has two subsets </a:t>
                      </a:r>
                    </a:p>
                    <a:p>
                      <a:r>
                        <a:rPr lang="en-GB" sz="2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saving_account</a:t>
                      </a:r>
                      <a:r>
                        <a:rPr lang="en-GB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GB" sz="2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current_account</a:t>
                      </a:r>
                      <a:endParaRPr lang="en-GB" sz="2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So, an </a:t>
                      </a:r>
                      <a:r>
                        <a:rPr lang="en-GB" sz="22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account is superclass</a:t>
                      </a:r>
                      <a:r>
                        <a:rPr lang="en-GB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2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E.g</a:t>
                      </a:r>
                      <a:r>
                        <a:rPr lang="en-GB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algn="l" defTabSz="914400" rtl="0" eaLnBrk="1" latinLnBrk="0" hangingPunct="1"/>
                      <a:r>
                        <a:rPr lang="en-GB" sz="2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saving_account</a:t>
                      </a:r>
                      <a:r>
                        <a:rPr lang="en-GB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GB" sz="22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current_account</a:t>
                      </a:r>
                      <a:r>
                        <a:rPr lang="en-GB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entities are derived from entity account. </a:t>
                      </a:r>
                    </a:p>
                    <a:p>
                      <a:pPr marL="0" algn="l" defTabSz="914400" rtl="0" eaLnBrk="1" latinLnBrk="0" hangingPunct="1"/>
                      <a:r>
                        <a:rPr lang="en-GB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So, </a:t>
                      </a:r>
                      <a:r>
                        <a:rPr lang="en-GB" sz="2200" b="1" kern="1200" dirty="0" err="1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saving_account</a:t>
                      </a:r>
                      <a:r>
                        <a:rPr lang="en-GB" sz="22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GB" sz="2200" b="1" kern="1200" dirty="0" err="1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current_account</a:t>
                      </a:r>
                      <a:r>
                        <a:rPr lang="en-GB" sz="22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 are subclass</a:t>
                      </a:r>
                      <a:r>
                        <a:rPr lang="en-GB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2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3312696" y="4366391"/>
            <a:ext cx="1828800" cy="5400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51630" y="5179595"/>
            <a:ext cx="2046866" cy="5400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err="1">
                <a:solidFill>
                  <a:schemeClr val="tx1"/>
                </a:solidFill>
              </a:rPr>
              <a:t>Saving_Account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455695" y="5179595"/>
            <a:ext cx="2095229" cy="5400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err="1">
                <a:solidFill>
                  <a:schemeClr val="tx1"/>
                </a:solidFill>
              </a:rPr>
              <a:t>Current_Account</a:t>
            </a:r>
            <a:endParaRPr lang="en-US" sz="2200" dirty="0">
              <a:solidFill>
                <a:schemeClr val="tx1"/>
              </a:solidFill>
            </a:endParaRPr>
          </a:p>
        </p:txBody>
      </p:sp>
      <p:cxnSp>
        <p:nvCxnSpPr>
          <p:cNvPr id="44" name="Straight Connector 43"/>
          <p:cNvCxnSpPr>
            <a:stCxn id="41" idx="2"/>
            <a:endCxn id="42" idx="0"/>
          </p:cNvCxnSpPr>
          <p:nvPr/>
        </p:nvCxnSpPr>
        <p:spPr>
          <a:xfrm rot="5400000">
            <a:off x="3464478" y="4416977"/>
            <a:ext cx="273204" cy="1252033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1" idx="2"/>
            <a:endCxn id="43" idx="0"/>
          </p:cNvCxnSpPr>
          <p:nvPr/>
        </p:nvCxnSpPr>
        <p:spPr>
          <a:xfrm rot="16200000" flipH="1">
            <a:off x="4728601" y="4404886"/>
            <a:ext cx="273204" cy="1276214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341896" y="4346621"/>
            <a:ext cx="1371600" cy="2057400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8722896" y="4460921"/>
            <a:ext cx="609600" cy="762000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8722896" y="5489621"/>
            <a:ext cx="609600" cy="762000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6223380" y="4344274"/>
            <a:ext cx="1570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Super Class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3096" y="6067563"/>
            <a:ext cx="129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Sub Class</a:t>
            </a:r>
          </a:p>
        </p:txBody>
      </p:sp>
      <p:cxnSp>
        <p:nvCxnSpPr>
          <p:cNvPr id="51" name="Straight Arrow Connector 50"/>
          <p:cNvCxnSpPr>
            <a:stCxn id="49" idx="3"/>
            <a:endCxn id="46" idx="1"/>
          </p:cNvCxnSpPr>
          <p:nvPr/>
        </p:nvCxnSpPr>
        <p:spPr>
          <a:xfrm>
            <a:off x="7794210" y="4559718"/>
            <a:ext cx="748552" cy="8820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9" idx="1"/>
            <a:endCxn id="41" idx="3"/>
          </p:cNvCxnSpPr>
          <p:nvPr/>
        </p:nvCxnSpPr>
        <p:spPr>
          <a:xfrm rot="10800000" flipV="1">
            <a:off x="5141496" y="4559717"/>
            <a:ext cx="1081884" cy="7667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50" idx="1"/>
          </p:cNvCxnSpPr>
          <p:nvPr/>
        </p:nvCxnSpPr>
        <p:spPr>
          <a:xfrm rot="10800000">
            <a:off x="3084096" y="5719595"/>
            <a:ext cx="3429000" cy="56341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endCxn id="43" idx="2"/>
          </p:cNvCxnSpPr>
          <p:nvPr/>
        </p:nvCxnSpPr>
        <p:spPr>
          <a:xfrm rot="10800000">
            <a:off x="5503310" y="5719595"/>
            <a:ext cx="995500" cy="53263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0" idx="3"/>
          </p:cNvCxnSpPr>
          <p:nvPr/>
        </p:nvCxnSpPr>
        <p:spPr>
          <a:xfrm flipV="1">
            <a:off x="7808496" y="4841921"/>
            <a:ext cx="914400" cy="144108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0" idx="3"/>
            <a:endCxn id="48" idx="2"/>
          </p:cNvCxnSpPr>
          <p:nvPr/>
        </p:nvCxnSpPr>
        <p:spPr>
          <a:xfrm flipV="1">
            <a:off x="7808496" y="5870621"/>
            <a:ext cx="914400" cy="41238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721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6" grpId="0" animBg="1"/>
      <p:bldP spid="47" grpId="0" animBg="1"/>
      <p:bldP spid="48" grpId="0" animBg="1"/>
      <p:bldP spid="49" grpId="0"/>
      <p:bldP spid="5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Generalization vs Specialization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4846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Generalization v/s Specialization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2709986"/>
              </p:ext>
            </p:extLst>
          </p:nvPr>
        </p:nvGraphicFramePr>
        <p:xfrm>
          <a:off x="131178" y="859690"/>
          <a:ext cx="11929642" cy="630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964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4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Generalization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kern="1200" dirty="0">
                          <a:solidFill>
                            <a:schemeClr val="bg1"/>
                          </a:solidFill>
                        </a:rPr>
                        <a:t>Specialization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8387819"/>
              </p:ext>
            </p:extLst>
          </p:nvPr>
        </p:nvGraphicFramePr>
        <p:xfrm>
          <a:off x="131178" y="1503193"/>
          <a:ext cx="11929642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964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4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</a:t>
                      </a:r>
                      <a:r>
                        <a:rPr lang="en-US" sz="24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extracts </a:t>
                      </a: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</a:t>
                      </a:r>
                      <a:r>
                        <a:rPr lang="en-US" sz="24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 common features </a:t>
                      </a:r>
                      <a:r>
                        <a:rPr lang="en-US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24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multiple entities</a:t>
                      </a:r>
                      <a:r>
                        <a:rPr lang="en-US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to </a:t>
                      </a:r>
                      <a:r>
                        <a:rPr lang="en-US" sz="24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form a new entity</a:t>
                      </a:r>
                      <a:r>
                        <a:rPr lang="en-US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</a:t>
                      </a:r>
                      <a:r>
                        <a:rPr lang="en-US" sz="24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splits an entity to form multiple new entities </a:t>
                      </a:r>
                      <a:r>
                        <a:rPr lang="en-US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that </a:t>
                      </a:r>
                      <a:r>
                        <a:rPr lang="en-US" sz="24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inherit some feature of the splitting entity</a:t>
                      </a:r>
                      <a:r>
                        <a:rPr lang="en-US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31178" y="2319178"/>
          <a:ext cx="11929642" cy="41148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964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4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4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5" name="Rectangle 64"/>
          <p:cNvSpPr/>
          <p:nvPr/>
        </p:nvSpPr>
        <p:spPr>
          <a:xfrm>
            <a:off x="1084967" y="4748953"/>
            <a:ext cx="1463040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Student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70967" y="4748953"/>
            <a:ext cx="1463040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Faculty</a:t>
            </a:r>
          </a:p>
        </p:txBody>
      </p:sp>
      <p:sp>
        <p:nvSpPr>
          <p:cNvPr id="67" name="Oval 66"/>
          <p:cNvSpPr/>
          <p:nvPr/>
        </p:nvSpPr>
        <p:spPr>
          <a:xfrm>
            <a:off x="828527" y="3615438"/>
            <a:ext cx="1047750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Name</a:t>
            </a:r>
          </a:p>
        </p:txBody>
      </p:sp>
      <p:sp>
        <p:nvSpPr>
          <p:cNvPr id="68" name="Oval 67"/>
          <p:cNvSpPr/>
          <p:nvPr/>
        </p:nvSpPr>
        <p:spPr>
          <a:xfrm>
            <a:off x="1658471" y="4052118"/>
            <a:ext cx="1357625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Address</a:t>
            </a:r>
          </a:p>
        </p:txBody>
      </p:sp>
      <p:sp>
        <p:nvSpPr>
          <p:cNvPr id="69" name="Oval 68"/>
          <p:cNvSpPr/>
          <p:nvPr/>
        </p:nvSpPr>
        <p:spPr>
          <a:xfrm>
            <a:off x="1353671" y="5611287"/>
            <a:ext cx="907413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SPI</a:t>
            </a:r>
          </a:p>
        </p:txBody>
      </p:sp>
      <p:sp>
        <p:nvSpPr>
          <p:cNvPr id="70" name="Oval 69"/>
          <p:cNvSpPr/>
          <p:nvPr/>
        </p:nvSpPr>
        <p:spPr>
          <a:xfrm>
            <a:off x="2815759" y="3618020"/>
            <a:ext cx="1071563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Name</a:t>
            </a:r>
          </a:p>
        </p:txBody>
      </p:sp>
      <p:sp>
        <p:nvSpPr>
          <p:cNvPr id="71" name="Oval 70"/>
          <p:cNvSpPr/>
          <p:nvPr/>
        </p:nvSpPr>
        <p:spPr>
          <a:xfrm>
            <a:off x="3715871" y="4056490"/>
            <a:ext cx="1404937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Address</a:t>
            </a:r>
          </a:p>
        </p:txBody>
      </p:sp>
      <p:sp>
        <p:nvSpPr>
          <p:cNvPr id="72" name="Oval 71"/>
          <p:cNvSpPr/>
          <p:nvPr/>
        </p:nvSpPr>
        <p:spPr>
          <a:xfrm>
            <a:off x="3564583" y="5611288"/>
            <a:ext cx="1064575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Salary</a:t>
            </a:r>
          </a:p>
        </p:txBody>
      </p:sp>
      <p:cxnSp>
        <p:nvCxnSpPr>
          <p:cNvPr id="73" name="Straight Connector 72"/>
          <p:cNvCxnSpPr>
            <a:stCxn id="65" idx="0"/>
            <a:endCxn id="67" idx="4"/>
          </p:cNvCxnSpPr>
          <p:nvPr/>
        </p:nvCxnSpPr>
        <p:spPr>
          <a:xfrm flipH="1" flipV="1">
            <a:off x="1352402" y="4026918"/>
            <a:ext cx="464085" cy="722035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Straight Connector 73"/>
          <p:cNvCxnSpPr>
            <a:stCxn id="65" idx="0"/>
            <a:endCxn id="68" idx="4"/>
          </p:cNvCxnSpPr>
          <p:nvPr/>
        </p:nvCxnSpPr>
        <p:spPr>
          <a:xfrm flipV="1">
            <a:off x="1816487" y="4463598"/>
            <a:ext cx="520797" cy="285355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5" name="Straight Connector 74"/>
          <p:cNvCxnSpPr>
            <a:stCxn id="66" idx="0"/>
            <a:endCxn id="70" idx="4"/>
          </p:cNvCxnSpPr>
          <p:nvPr/>
        </p:nvCxnSpPr>
        <p:spPr>
          <a:xfrm flipH="1" flipV="1">
            <a:off x="3351541" y="4029500"/>
            <a:ext cx="750946" cy="719453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6" name="Straight Connector 75"/>
          <p:cNvCxnSpPr>
            <a:stCxn id="66" idx="0"/>
            <a:endCxn id="71" idx="4"/>
          </p:cNvCxnSpPr>
          <p:nvPr/>
        </p:nvCxnSpPr>
        <p:spPr>
          <a:xfrm flipV="1">
            <a:off x="4102487" y="4467970"/>
            <a:ext cx="315853" cy="280983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Straight Connector 76"/>
          <p:cNvCxnSpPr>
            <a:stCxn id="65" idx="2"/>
            <a:endCxn id="69" idx="0"/>
          </p:cNvCxnSpPr>
          <p:nvPr/>
        </p:nvCxnSpPr>
        <p:spPr>
          <a:xfrm flipH="1">
            <a:off x="1807378" y="5206153"/>
            <a:ext cx="9109" cy="405134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8" name="Straight Connector 77"/>
          <p:cNvCxnSpPr>
            <a:stCxn id="66" idx="2"/>
            <a:endCxn id="72" idx="0"/>
          </p:cNvCxnSpPr>
          <p:nvPr/>
        </p:nvCxnSpPr>
        <p:spPr>
          <a:xfrm flipH="1">
            <a:off x="4096871" y="5206153"/>
            <a:ext cx="5616" cy="405135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Rectangle 78"/>
          <p:cNvSpPr/>
          <p:nvPr/>
        </p:nvSpPr>
        <p:spPr>
          <a:xfrm>
            <a:off x="2218442" y="3228329"/>
            <a:ext cx="1463040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Person</a:t>
            </a:r>
          </a:p>
        </p:txBody>
      </p:sp>
      <p:sp>
        <p:nvSpPr>
          <p:cNvPr id="80" name="Oval 79"/>
          <p:cNvSpPr/>
          <p:nvPr/>
        </p:nvSpPr>
        <p:spPr>
          <a:xfrm>
            <a:off x="1899990" y="2501882"/>
            <a:ext cx="1071563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Name</a:t>
            </a:r>
          </a:p>
        </p:txBody>
      </p:sp>
      <p:sp>
        <p:nvSpPr>
          <p:cNvPr id="81" name="Oval 80"/>
          <p:cNvSpPr/>
          <p:nvPr/>
        </p:nvSpPr>
        <p:spPr>
          <a:xfrm>
            <a:off x="3072934" y="2466329"/>
            <a:ext cx="1404937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Address</a:t>
            </a:r>
          </a:p>
        </p:txBody>
      </p:sp>
      <p:cxnSp>
        <p:nvCxnSpPr>
          <p:cNvPr id="82" name="Straight Connector 81"/>
          <p:cNvCxnSpPr>
            <a:stCxn id="66" idx="0"/>
            <a:endCxn id="79" idx="2"/>
          </p:cNvCxnSpPr>
          <p:nvPr/>
        </p:nvCxnSpPr>
        <p:spPr>
          <a:xfrm flipH="1" flipV="1">
            <a:off x="2949962" y="3685529"/>
            <a:ext cx="1152525" cy="1063424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3" name="Straight Connector 82"/>
          <p:cNvCxnSpPr>
            <a:stCxn id="65" idx="0"/>
            <a:endCxn id="79" idx="2"/>
          </p:cNvCxnSpPr>
          <p:nvPr/>
        </p:nvCxnSpPr>
        <p:spPr>
          <a:xfrm flipV="1">
            <a:off x="1816487" y="3685529"/>
            <a:ext cx="1133475" cy="1063424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Straight Connector 83"/>
          <p:cNvCxnSpPr>
            <a:stCxn id="79" idx="0"/>
            <a:endCxn id="80" idx="4"/>
          </p:cNvCxnSpPr>
          <p:nvPr/>
        </p:nvCxnSpPr>
        <p:spPr>
          <a:xfrm flipH="1" flipV="1">
            <a:off x="2435772" y="2913362"/>
            <a:ext cx="514190" cy="314967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5" name="Straight Connector 84"/>
          <p:cNvCxnSpPr>
            <a:stCxn id="81" idx="4"/>
            <a:endCxn id="79" idx="0"/>
          </p:cNvCxnSpPr>
          <p:nvPr/>
        </p:nvCxnSpPr>
        <p:spPr>
          <a:xfrm flipH="1">
            <a:off x="2949962" y="2877809"/>
            <a:ext cx="825441" cy="350520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6" name="Flowchart: Merge 85"/>
          <p:cNvSpPr/>
          <p:nvPr/>
        </p:nvSpPr>
        <p:spPr>
          <a:xfrm>
            <a:off x="2536362" y="3994098"/>
            <a:ext cx="812798" cy="544671"/>
          </a:xfrm>
          <a:prstGeom prst="flowChartMerg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ISA</a:t>
            </a:r>
          </a:p>
        </p:txBody>
      </p:sp>
      <p:cxnSp>
        <p:nvCxnSpPr>
          <p:cNvPr id="87" name="Straight Connector 86"/>
          <p:cNvCxnSpPr>
            <a:stCxn id="79" idx="2"/>
            <a:endCxn id="86" idx="0"/>
          </p:cNvCxnSpPr>
          <p:nvPr/>
        </p:nvCxnSpPr>
        <p:spPr>
          <a:xfrm flipH="1">
            <a:off x="2942761" y="3685529"/>
            <a:ext cx="7201" cy="308569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Straight Connector 87"/>
          <p:cNvCxnSpPr>
            <a:stCxn id="65" idx="0"/>
            <a:endCxn id="86" idx="1"/>
          </p:cNvCxnSpPr>
          <p:nvPr/>
        </p:nvCxnSpPr>
        <p:spPr>
          <a:xfrm flipV="1">
            <a:off x="1816487" y="4266434"/>
            <a:ext cx="923075" cy="482519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Straight Connector 88"/>
          <p:cNvCxnSpPr>
            <a:stCxn id="66" idx="0"/>
            <a:endCxn id="86" idx="3"/>
          </p:cNvCxnSpPr>
          <p:nvPr/>
        </p:nvCxnSpPr>
        <p:spPr>
          <a:xfrm flipH="1" flipV="1">
            <a:off x="3145961" y="4266434"/>
            <a:ext cx="956526" cy="482519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0" name="Up Arrow 89"/>
          <p:cNvSpPr/>
          <p:nvPr/>
        </p:nvSpPr>
        <p:spPr>
          <a:xfrm>
            <a:off x="5283171" y="3877426"/>
            <a:ext cx="673546" cy="219456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en-US" dirty="0"/>
              <a:t>Bottom-up approach</a:t>
            </a:r>
            <a:endParaRPr lang="en-US" dirty="0">
              <a:pattFill prst="pct5">
                <a:fgClr>
                  <a:schemeClr val="accent1"/>
                </a:fgClr>
                <a:bgClr>
                  <a:schemeClr val="bg1"/>
                </a:bgClr>
              </a:patt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7129716" y="4746106"/>
            <a:ext cx="1463040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Student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415716" y="4746106"/>
            <a:ext cx="1463040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Faculty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315327" y="3226114"/>
            <a:ext cx="1463040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Person</a:t>
            </a:r>
          </a:p>
        </p:txBody>
      </p:sp>
      <p:sp>
        <p:nvSpPr>
          <p:cNvPr id="94" name="Oval 93"/>
          <p:cNvSpPr/>
          <p:nvPr/>
        </p:nvSpPr>
        <p:spPr>
          <a:xfrm>
            <a:off x="7996875" y="2499667"/>
            <a:ext cx="1071563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Name</a:t>
            </a:r>
          </a:p>
        </p:txBody>
      </p:sp>
      <p:sp>
        <p:nvSpPr>
          <p:cNvPr id="95" name="Oval 94"/>
          <p:cNvSpPr/>
          <p:nvPr/>
        </p:nvSpPr>
        <p:spPr>
          <a:xfrm>
            <a:off x="9169819" y="2464114"/>
            <a:ext cx="1404937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Address</a:t>
            </a:r>
          </a:p>
        </p:txBody>
      </p:sp>
      <p:cxnSp>
        <p:nvCxnSpPr>
          <p:cNvPr id="96" name="Straight Connector 95"/>
          <p:cNvCxnSpPr>
            <a:stCxn id="93" idx="0"/>
            <a:endCxn id="94" idx="4"/>
          </p:cNvCxnSpPr>
          <p:nvPr/>
        </p:nvCxnSpPr>
        <p:spPr>
          <a:xfrm flipH="1" flipV="1">
            <a:off x="8532657" y="2911147"/>
            <a:ext cx="514190" cy="314967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7" name="Straight Connector 96"/>
          <p:cNvCxnSpPr>
            <a:stCxn id="95" idx="4"/>
            <a:endCxn id="93" idx="0"/>
          </p:cNvCxnSpPr>
          <p:nvPr/>
        </p:nvCxnSpPr>
        <p:spPr>
          <a:xfrm flipH="1">
            <a:off x="9046847" y="2875594"/>
            <a:ext cx="825441" cy="350520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8" name="Oval 97"/>
          <p:cNvSpPr/>
          <p:nvPr/>
        </p:nvSpPr>
        <p:spPr>
          <a:xfrm>
            <a:off x="7044241" y="3049579"/>
            <a:ext cx="907413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SPI</a:t>
            </a:r>
          </a:p>
        </p:txBody>
      </p:sp>
      <p:sp>
        <p:nvSpPr>
          <p:cNvPr id="99" name="Oval 98"/>
          <p:cNvSpPr/>
          <p:nvPr/>
        </p:nvSpPr>
        <p:spPr>
          <a:xfrm>
            <a:off x="10172906" y="3049579"/>
            <a:ext cx="1064575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Salary</a:t>
            </a:r>
          </a:p>
        </p:txBody>
      </p:sp>
      <p:cxnSp>
        <p:nvCxnSpPr>
          <p:cNvPr id="100" name="Straight Connector 99"/>
          <p:cNvCxnSpPr>
            <a:stCxn id="99" idx="3"/>
            <a:endCxn id="93" idx="3"/>
          </p:cNvCxnSpPr>
          <p:nvPr/>
        </p:nvCxnSpPr>
        <p:spPr>
          <a:xfrm flipH="1">
            <a:off x="9778367" y="3400799"/>
            <a:ext cx="550442" cy="53915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1" name="Straight Connector 100"/>
          <p:cNvCxnSpPr>
            <a:stCxn id="93" idx="1"/>
            <a:endCxn id="98" idx="5"/>
          </p:cNvCxnSpPr>
          <p:nvPr/>
        </p:nvCxnSpPr>
        <p:spPr>
          <a:xfrm flipH="1" flipV="1">
            <a:off x="7818766" y="3400799"/>
            <a:ext cx="496561" cy="53915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2" name="Oval 101"/>
          <p:cNvSpPr/>
          <p:nvPr/>
        </p:nvSpPr>
        <p:spPr>
          <a:xfrm>
            <a:off x="7328427" y="5596372"/>
            <a:ext cx="907413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SPI</a:t>
            </a:r>
          </a:p>
        </p:txBody>
      </p:sp>
      <p:sp>
        <p:nvSpPr>
          <p:cNvPr id="103" name="Oval 102"/>
          <p:cNvSpPr/>
          <p:nvPr/>
        </p:nvSpPr>
        <p:spPr>
          <a:xfrm>
            <a:off x="9568938" y="5608440"/>
            <a:ext cx="1064575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Salary</a:t>
            </a:r>
          </a:p>
        </p:txBody>
      </p:sp>
      <p:cxnSp>
        <p:nvCxnSpPr>
          <p:cNvPr id="104" name="Straight Connector 103"/>
          <p:cNvCxnSpPr/>
          <p:nvPr/>
        </p:nvCxnSpPr>
        <p:spPr>
          <a:xfrm flipH="1">
            <a:off x="7782134" y="5203938"/>
            <a:ext cx="3493" cy="402336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5" name="Straight Connector 104"/>
          <p:cNvCxnSpPr/>
          <p:nvPr/>
        </p:nvCxnSpPr>
        <p:spPr>
          <a:xfrm>
            <a:off x="10101226" y="5216004"/>
            <a:ext cx="0" cy="402336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6" name="Straight Connector 105"/>
          <p:cNvCxnSpPr>
            <a:stCxn id="92" idx="0"/>
            <a:endCxn id="93" idx="2"/>
          </p:cNvCxnSpPr>
          <p:nvPr/>
        </p:nvCxnSpPr>
        <p:spPr>
          <a:xfrm flipH="1" flipV="1">
            <a:off x="9046847" y="3683314"/>
            <a:ext cx="1100389" cy="1062792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7" name="Straight Connector 106"/>
          <p:cNvCxnSpPr>
            <a:stCxn id="91" idx="0"/>
            <a:endCxn id="93" idx="2"/>
          </p:cNvCxnSpPr>
          <p:nvPr/>
        </p:nvCxnSpPr>
        <p:spPr>
          <a:xfrm flipV="1">
            <a:off x="7861236" y="3683314"/>
            <a:ext cx="1185611" cy="1062792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8" name="Flowchart: Merge 107"/>
          <p:cNvSpPr/>
          <p:nvPr/>
        </p:nvSpPr>
        <p:spPr>
          <a:xfrm>
            <a:off x="8643022" y="3991251"/>
            <a:ext cx="812798" cy="544671"/>
          </a:xfrm>
          <a:prstGeom prst="flowChartMerg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ISA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09" name="Straight Connector 108"/>
          <p:cNvCxnSpPr>
            <a:stCxn id="93" idx="2"/>
            <a:endCxn id="108" idx="0"/>
          </p:cNvCxnSpPr>
          <p:nvPr/>
        </p:nvCxnSpPr>
        <p:spPr>
          <a:xfrm>
            <a:off x="9046847" y="3683314"/>
            <a:ext cx="2574" cy="307937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Straight Connector 109"/>
          <p:cNvCxnSpPr>
            <a:stCxn id="91" idx="0"/>
            <a:endCxn id="108" idx="1"/>
          </p:cNvCxnSpPr>
          <p:nvPr/>
        </p:nvCxnSpPr>
        <p:spPr>
          <a:xfrm flipV="1">
            <a:off x="7861236" y="4263587"/>
            <a:ext cx="984986" cy="482519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Straight Connector 110"/>
          <p:cNvCxnSpPr>
            <a:stCxn id="92" idx="0"/>
            <a:endCxn id="108" idx="3"/>
          </p:cNvCxnSpPr>
          <p:nvPr/>
        </p:nvCxnSpPr>
        <p:spPr>
          <a:xfrm flipH="1" flipV="1">
            <a:off x="9252621" y="4263587"/>
            <a:ext cx="894615" cy="482519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Up Arrow 111"/>
          <p:cNvSpPr/>
          <p:nvPr/>
        </p:nvSpPr>
        <p:spPr>
          <a:xfrm flipV="1">
            <a:off x="11267278" y="2499667"/>
            <a:ext cx="673546" cy="219740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en-US" dirty="0">
                <a:pattFill prst="pct5">
                  <a:fgClr>
                    <a:schemeClr val="accent1"/>
                  </a:fgClr>
                  <a:bgClr>
                    <a:schemeClr val="bg1"/>
                  </a:bgClr>
                </a:pattFill>
              </a:rPr>
              <a:t>Top-down approach</a:t>
            </a:r>
          </a:p>
        </p:txBody>
      </p:sp>
    </p:spTree>
    <p:extLst>
      <p:ext uri="{BB962C8B-B14F-4D97-AF65-F5344CB8AC3E}">
        <p14:creationId xmlns:p14="http://schemas.microsoft.com/office/powerpoint/2010/main" val="181204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2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1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4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 animBg="1"/>
      <p:bldP spid="67" grpId="1" animBg="1"/>
      <p:bldP spid="68" grpId="0" animBg="1"/>
      <p:bldP spid="68" grpId="1" animBg="1"/>
      <p:bldP spid="69" grpId="0" animBg="1"/>
      <p:bldP spid="70" grpId="0" animBg="1"/>
      <p:bldP spid="70" grpId="1" animBg="1"/>
      <p:bldP spid="71" grpId="0" animBg="1"/>
      <p:bldP spid="71" grpId="1" animBg="1"/>
      <p:bldP spid="72" grpId="0" animBg="1"/>
      <p:bldP spid="79" grpId="0" animBg="1"/>
      <p:bldP spid="80" grpId="0" animBg="1"/>
      <p:bldP spid="81" grpId="0" animBg="1"/>
      <p:bldP spid="86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8" grpId="0" animBg="1"/>
      <p:bldP spid="98" grpId="1" animBg="1"/>
      <p:bldP spid="99" grpId="0" animBg="1"/>
      <p:bldP spid="99" grpId="1" animBg="1"/>
      <p:bldP spid="102" grpId="0" animBg="1"/>
      <p:bldP spid="103" grpId="0" animBg="1"/>
      <p:bldP spid="108" grpId="0" animBg="1"/>
      <p:bldP spid="1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Generalization v/s Specialization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7248759"/>
              </p:ext>
            </p:extLst>
          </p:nvPr>
        </p:nvGraphicFramePr>
        <p:xfrm>
          <a:off x="131178" y="859690"/>
          <a:ext cx="11929642" cy="630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964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4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00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Generalization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kern="1200" dirty="0">
                          <a:solidFill>
                            <a:schemeClr val="bg1"/>
                          </a:solidFill>
                        </a:rPr>
                        <a:t>Specialization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0039373"/>
              </p:ext>
            </p:extLst>
          </p:nvPr>
        </p:nvGraphicFramePr>
        <p:xfrm>
          <a:off x="131178" y="1485035"/>
          <a:ext cx="11929642" cy="762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964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4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process of </a:t>
                      </a:r>
                      <a:r>
                        <a:rPr lang="en-US" sz="22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creation of group from various entities</a:t>
                      </a:r>
                      <a:r>
                        <a:rPr lang="en-US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is called generalization.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process of </a:t>
                      </a:r>
                      <a:r>
                        <a:rPr lang="en-US" sz="22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creation of sub-groups within an entity</a:t>
                      </a:r>
                      <a:r>
                        <a:rPr lang="en-US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is called specialization.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2275903"/>
              </p:ext>
            </p:extLst>
          </p:nvPr>
        </p:nvGraphicFramePr>
        <p:xfrm>
          <a:off x="131179" y="2244530"/>
          <a:ext cx="11929642" cy="540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964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4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GB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is </a:t>
                      </a:r>
                      <a:r>
                        <a:rPr lang="en-GB" sz="22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Bottom-up</a:t>
                      </a:r>
                      <a:r>
                        <a:rPr lang="en-GB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approach.</a:t>
                      </a:r>
                      <a:endParaRPr lang="en-US" sz="2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is </a:t>
                      </a:r>
                      <a:r>
                        <a:rPr lang="en-GB" sz="22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Top-down</a:t>
                      </a:r>
                      <a:r>
                        <a:rPr lang="en-GB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approach.</a:t>
                      </a:r>
                      <a:endParaRPr lang="en-US" sz="2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3183184"/>
              </p:ext>
            </p:extLst>
          </p:nvPr>
        </p:nvGraphicFramePr>
        <p:xfrm>
          <a:off x="131180" y="2787096"/>
          <a:ext cx="11929642" cy="10972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964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4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process of taking the </a:t>
                      </a:r>
                      <a:r>
                        <a:rPr lang="en-US" sz="22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union of two or more lower-level entity </a:t>
                      </a:r>
                      <a:r>
                        <a:rPr lang="en-US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sets to produce a higher-level entity set.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process of taking a </a:t>
                      </a:r>
                      <a:r>
                        <a:rPr lang="en-US" sz="22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sub set of higher-level entity set</a:t>
                      </a:r>
                      <a:r>
                        <a:rPr lang="en-US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to form a lower-level entity set.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5330333"/>
              </p:ext>
            </p:extLst>
          </p:nvPr>
        </p:nvGraphicFramePr>
        <p:xfrm>
          <a:off x="131180" y="3888431"/>
          <a:ext cx="11929642" cy="10972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964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4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en-US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starts from the number of entity sets and creates high-level entity set using some common features.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starts from a single entity set and creates different low-level entity sets using some different features.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58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 &amp; Specialization example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1499" y="3283478"/>
            <a:ext cx="1463040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Employee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7499" y="3283478"/>
            <a:ext cx="1463040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77110" y="1763486"/>
            <a:ext cx="1463040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Person</a:t>
            </a:r>
          </a:p>
        </p:txBody>
      </p:sp>
      <p:sp>
        <p:nvSpPr>
          <p:cNvPr id="36" name="Oval 35"/>
          <p:cNvSpPr/>
          <p:nvPr/>
        </p:nvSpPr>
        <p:spPr>
          <a:xfrm>
            <a:off x="4758658" y="1037039"/>
            <a:ext cx="1071563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Name</a:t>
            </a:r>
          </a:p>
        </p:txBody>
      </p:sp>
      <p:sp>
        <p:nvSpPr>
          <p:cNvPr id="37" name="Oval 36"/>
          <p:cNvSpPr/>
          <p:nvPr/>
        </p:nvSpPr>
        <p:spPr>
          <a:xfrm>
            <a:off x="5931602" y="1001486"/>
            <a:ext cx="1404937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Address</a:t>
            </a:r>
          </a:p>
        </p:txBody>
      </p:sp>
      <p:cxnSp>
        <p:nvCxnSpPr>
          <p:cNvPr id="38" name="Straight Connector 37"/>
          <p:cNvCxnSpPr>
            <a:stCxn id="35" idx="0"/>
            <a:endCxn id="36" idx="4"/>
          </p:cNvCxnSpPr>
          <p:nvPr/>
        </p:nvCxnSpPr>
        <p:spPr>
          <a:xfrm flipH="1" flipV="1">
            <a:off x="5294440" y="1448519"/>
            <a:ext cx="514190" cy="314967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Straight Connector 38"/>
          <p:cNvCxnSpPr>
            <a:stCxn id="37" idx="4"/>
            <a:endCxn id="35" idx="0"/>
          </p:cNvCxnSpPr>
          <p:nvPr/>
        </p:nvCxnSpPr>
        <p:spPr>
          <a:xfrm flipH="1">
            <a:off x="5808630" y="1412966"/>
            <a:ext cx="825441" cy="350520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" name="Oval 39"/>
          <p:cNvSpPr/>
          <p:nvPr/>
        </p:nvSpPr>
        <p:spPr>
          <a:xfrm>
            <a:off x="3806024" y="1586951"/>
            <a:ext cx="907413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PID</a:t>
            </a:r>
          </a:p>
        </p:txBody>
      </p:sp>
      <p:sp>
        <p:nvSpPr>
          <p:cNvPr id="41" name="Oval 40"/>
          <p:cNvSpPr/>
          <p:nvPr/>
        </p:nvSpPr>
        <p:spPr>
          <a:xfrm>
            <a:off x="6934689" y="1586951"/>
            <a:ext cx="1064575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City</a:t>
            </a:r>
          </a:p>
        </p:txBody>
      </p:sp>
      <p:cxnSp>
        <p:nvCxnSpPr>
          <p:cNvPr id="42" name="Straight Connector 41"/>
          <p:cNvCxnSpPr>
            <a:stCxn id="41" idx="3"/>
            <a:endCxn id="35" idx="3"/>
          </p:cNvCxnSpPr>
          <p:nvPr/>
        </p:nvCxnSpPr>
        <p:spPr>
          <a:xfrm flipH="1">
            <a:off x="6540150" y="1938171"/>
            <a:ext cx="550442" cy="53915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Straight Connector 42"/>
          <p:cNvCxnSpPr>
            <a:stCxn id="35" idx="1"/>
            <a:endCxn id="40" idx="5"/>
          </p:cNvCxnSpPr>
          <p:nvPr/>
        </p:nvCxnSpPr>
        <p:spPr>
          <a:xfrm flipH="1" flipV="1">
            <a:off x="4580549" y="1938171"/>
            <a:ext cx="496561" cy="53915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Oval 43"/>
          <p:cNvSpPr/>
          <p:nvPr/>
        </p:nvSpPr>
        <p:spPr>
          <a:xfrm>
            <a:off x="2358223" y="3307862"/>
            <a:ext cx="1080000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Salary</a:t>
            </a:r>
          </a:p>
        </p:txBody>
      </p:sp>
      <p:sp>
        <p:nvSpPr>
          <p:cNvPr id="45" name="Oval 44"/>
          <p:cNvSpPr/>
          <p:nvPr/>
        </p:nvSpPr>
        <p:spPr>
          <a:xfrm>
            <a:off x="8225623" y="3306338"/>
            <a:ext cx="1296000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Balance</a:t>
            </a:r>
          </a:p>
        </p:txBody>
      </p:sp>
      <p:cxnSp>
        <p:nvCxnSpPr>
          <p:cNvPr id="46" name="Straight Connector 45"/>
          <p:cNvCxnSpPr>
            <a:stCxn id="44" idx="6"/>
            <a:endCxn id="33" idx="1"/>
          </p:cNvCxnSpPr>
          <p:nvPr/>
        </p:nvCxnSpPr>
        <p:spPr>
          <a:xfrm flipV="1">
            <a:off x="3438223" y="3512078"/>
            <a:ext cx="453276" cy="1524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Straight Connector 46"/>
          <p:cNvCxnSpPr>
            <a:endCxn id="45" idx="2"/>
          </p:cNvCxnSpPr>
          <p:nvPr/>
        </p:nvCxnSpPr>
        <p:spPr>
          <a:xfrm flipV="1">
            <a:off x="7640539" y="3512078"/>
            <a:ext cx="585084" cy="1524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Flowchart: Merge 47"/>
          <p:cNvSpPr/>
          <p:nvPr/>
        </p:nvSpPr>
        <p:spPr>
          <a:xfrm>
            <a:off x="5404805" y="2528623"/>
            <a:ext cx="812798" cy="544671"/>
          </a:xfrm>
          <a:prstGeom prst="flowChartMerg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ISA</a:t>
            </a:r>
          </a:p>
        </p:txBody>
      </p:sp>
      <p:cxnSp>
        <p:nvCxnSpPr>
          <p:cNvPr id="49" name="Straight Connector 48"/>
          <p:cNvCxnSpPr>
            <a:stCxn id="35" idx="2"/>
            <a:endCxn id="48" idx="0"/>
          </p:cNvCxnSpPr>
          <p:nvPr/>
        </p:nvCxnSpPr>
        <p:spPr>
          <a:xfrm>
            <a:off x="5808630" y="2220686"/>
            <a:ext cx="2574" cy="307937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" name="Straight Connector 49"/>
          <p:cNvCxnSpPr>
            <a:stCxn id="33" idx="0"/>
            <a:endCxn id="48" idx="1"/>
          </p:cNvCxnSpPr>
          <p:nvPr/>
        </p:nvCxnSpPr>
        <p:spPr>
          <a:xfrm flipV="1">
            <a:off x="4623019" y="2800959"/>
            <a:ext cx="984986" cy="482519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" name="Straight Connector 50"/>
          <p:cNvCxnSpPr>
            <a:stCxn id="34" idx="0"/>
            <a:endCxn id="48" idx="3"/>
          </p:cNvCxnSpPr>
          <p:nvPr/>
        </p:nvCxnSpPr>
        <p:spPr>
          <a:xfrm flipH="1" flipV="1">
            <a:off x="6014404" y="2800959"/>
            <a:ext cx="894615" cy="482519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2" name="Rectangle 51"/>
          <p:cNvSpPr/>
          <p:nvPr/>
        </p:nvSpPr>
        <p:spPr>
          <a:xfrm>
            <a:off x="2700607" y="4803676"/>
            <a:ext cx="1463040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Full Time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86607" y="4803676"/>
            <a:ext cx="1463040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Part Time</a:t>
            </a:r>
          </a:p>
        </p:txBody>
      </p:sp>
      <p:sp>
        <p:nvSpPr>
          <p:cNvPr id="54" name="Oval 53"/>
          <p:cNvSpPr/>
          <p:nvPr/>
        </p:nvSpPr>
        <p:spPr>
          <a:xfrm>
            <a:off x="2434424" y="5649686"/>
            <a:ext cx="1980000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Days Worked</a:t>
            </a:r>
          </a:p>
        </p:txBody>
      </p:sp>
      <p:sp>
        <p:nvSpPr>
          <p:cNvPr id="55" name="Oval 54"/>
          <p:cNvSpPr/>
          <p:nvPr/>
        </p:nvSpPr>
        <p:spPr>
          <a:xfrm>
            <a:off x="4711750" y="5649686"/>
            <a:ext cx="2016000" cy="4114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Hour Worked</a:t>
            </a:r>
          </a:p>
        </p:txBody>
      </p:sp>
      <p:cxnSp>
        <p:nvCxnSpPr>
          <p:cNvPr id="56" name="Straight Connector 55"/>
          <p:cNvCxnSpPr>
            <a:stCxn id="54" idx="0"/>
            <a:endCxn id="52" idx="2"/>
          </p:cNvCxnSpPr>
          <p:nvPr/>
        </p:nvCxnSpPr>
        <p:spPr>
          <a:xfrm flipV="1">
            <a:off x="3424424" y="5260876"/>
            <a:ext cx="7703" cy="388810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Straight Connector 56"/>
          <p:cNvCxnSpPr>
            <a:stCxn id="53" idx="2"/>
            <a:endCxn id="55" idx="0"/>
          </p:cNvCxnSpPr>
          <p:nvPr/>
        </p:nvCxnSpPr>
        <p:spPr>
          <a:xfrm>
            <a:off x="5718127" y="5260876"/>
            <a:ext cx="1623" cy="388810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8" name="Flowchart: Merge 57"/>
          <p:cNvSpPr/>
          <p:nvPr/>
        </p:nvSpPr>
        <p:spPr>
          <a:xfrm>
            <a:off x="4213913" y="4048821"/>
            <a:ext cx="812798" cy="544671"/>
          </a:xfrm>
          <a:prstGeom prst="flowChartMerg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ISA</a:t>
            </a:r>
          </a:p>
        </p:txBody>
      </p:sp>
      <p:cxnSp>
        <p:nvCxnSpPr>
          <p:cNvPr id="59" name="Straight Connector 58"/>
          <p:cNvCxnSpPr>
            <a:endCxn id="58" idx="0"/>
          </p:cNvCxnSpPr>
          <p:nvPr/>
        </p:nvCxnSpPr>
        <p:spPr>
          <a:xfrm>
            <a:off x="4617738" y="3740884"/>
            <a:ext cx="2574" cy="307937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Straight Connector 59"/>
          <p:cNvCxnSpPr>
            <a:stCxn id="52" idx="0"/>
            <a:endCxn id="58" idx="1"/>
          </p:cNvCxnSpPr>
          <p:nvPr/>
        </p:nvCxnSpPr>
        <p:spPr>
          <a:xfrm flipV="1">
            <a:off x="3432127" y="4321157"/>
            <a:ext cx="984986" cy="482519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1" name="Straight Connector 60"/>
          <p:cNvCxnSpPr>
            <a:stCxn id="53" idx="0"/>
            <a:endCxn id="58" idx="3"/>
          </p:cNvCxnSpPr>
          <p:nvPr/>
        </p:nvCxnSpPr>
        <p:spPr>
          <a:xfrm flipH="1" flipV="1">
            <a:off x="4823512" y="4321157"/>
            <a:ext cx="894615" cy="482519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75486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7" grpId="0" animBg="1"/>
      <p:bldP spid="40" grpId="0" animBg="1"/>
      <p:bldP spid="41" grpId="0" animBg="1"/>
      <p:bldP spid="44" grpId="0" animBg="1"/>
      <p:bldP spid="45" grpId="0" animBg="1"/>
      <p:bldP spid="48" grpId="0" animBg="1"/>
      <p:bldP spid="52" grpId="0" animBg="1"/>
      <p:bldP spid="53" grpId="0" animBg="1"/>
      <p:bldP spid="54" grpId="0" animBg="1"/>
      <p:bldP spid="55" grpId="0" animBg="1"/>
      <p:bldP spid="5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1180" y="795204"/>
            <a:ext cx="11929641" cy="55905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600" dirty="0"/>
              <a:t>Give the examples of Generalization/Specialization in the following E-R diagram</a:t>
            </a:r>
            <a:r>
              <a:rPr lang="en-GB" sz="2600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Hospital Management System.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College Management System.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Bank Management System.</a:t>
            </a:r>
          </a:p>
        </p:txBody>
      </p:sp>
    </p:spTree>
    <p:extLst>
      <p:ext uri="{BB962C8B-B14F-4D97-AF65-F5344CB8AC3E}">
        <p14:creationId xmlns:p14="http://schemas.microsoft.com/office/powerpoint/2010/main" val="291306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F4DF5-6675-C779-9DDC-78A7804B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3E6ECA-8C3B-F1F4-AE2A-E6647F18E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Constraints on Generalization and Specialization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9DA523-BFE9-25AF-39EF-5088248C5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416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 on Specialization and Generalization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835588" y="1057329"/>
            <a:ext cx="1828800" cy="838200"/>
          </a:xfrm>
          <a:prstGeom prst="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Constraints</a:t>
            </a:r>
          </a:p>
        </p:txBody>
      </p:sp>
      <p:cxnSp>
        <p:nvCxnSpPr>
          <p:cNvPr id="7" name="Straight Connector 6"/>
          <p:cNvCxnSpPr>
            <a:stCxn id="6" idx="2"/>
          </p:cNvCxnSpPr>
          <p:nvPr/>
        </p:nvCxnSpPr>
        <p:spPr>
          <a:xfrm>
            <a:off x="5749988" y="1895529"/>
            <a:ext cx="0" cy="51954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502089" y="2415074"/>
            <a:ext cx="449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endCxn id="11" idx="0"/>
          </p:cNvCxnSpPr>
          <p:nvPr/>
        </p:nvCxnSpPr>
        <p:spPr>
          <a:xfrm>
            <a:off x="3502089" y="2415074"/>
            <a:ext cx="0" cy="552432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endCxn id="12" idx="0"/>
          </p:cNvCxnSpPr>
          <p:nvPr/>
        </p:nvCxnSpPr>
        <p:spPr>
          <a:xfrm>
            <a:off x="7997888" y="2415074"/>
            <a:ext cx="1" cy="5461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587689" y="2967506"/>
            <a:ext cx="1828800" cy="838200"/>
          </a:xfrm>
          <a:prstGeom prst="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Disjoint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3489" y="2961174"/>
            <a:ext cx="1828800" cy="838200"/>
          </a:xfrm>
          <a:prstGeom prst="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Participation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3516744" y="3805706"/>
            <a:ext cx="1" cy="49115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364953" y="4281962"/>
            <a:ext cx="2356336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364953" y="4281962"/>
            <a:ext cx="486" cy="53340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721289" y="4281962"/>
            <a:ext cx="0" cy="503116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451039" y="4758218"/>
            <a:ext cx="1828800" cy="838200"/>
          </a:xfrm>
          <a:prstGeom prst="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Disjoint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24823" y="4785078"/>
            <a:ext cx="1972899" cy="838200"/>
          </a:xfrm>
          <a:prstGeom prst="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Non-disjoint (Overlapping)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34629" y="4785584"/>
            <a:ext cx="1828800" cy="838200"/>
          </a:xfrm>
          <a:prstGeom prst="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Total (Mandatory)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0289" y="4777274"/>
            <a:ext cx="1828800" cy="838200"/>
          </a:xfrm>
          <a:prstGeom prst="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Partial (Optional)</a:t>
            </a:r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7997889" y="3799374"/>
            <a:ext cx="1" cy="49115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6849029" y="4284967"/>
            <a:ext cx="2209805" cy="5564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19" idx="0"/>
          </p:cNvCxnSpPr>
          <p:nvPr/>
        </p:nvCxnSpPr>
        <p:spPr>
          <a:xfrm>
            <a:off x="6849029" y="4290531"/>
            <a:ext cx="0" cy="49505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endCxn id="20" idx="0"/>
          </p:cNvCxnSpPr>
          <p:nvPr/>
        </p:nvCxnSpPr>
        <p:spPr>
          <a:xfrm>
            <a:off x="9058834" y="4283655"/>
            <a:ext cx="5855" cy="493619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39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Disjoint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26120"/>
            <a:ext cx="11929641" cy="55905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It describes </a:t>
            </a:r>
            <a:r>
              <a:rPr lang="en-US" b="1" dirty="0">
                <a:solidFill>
                  <a:schemeClr val="accent6"/>
                </a:solidFill>
              </a:rPr>
              <a:t>relationship between members of the superclass and subclass </a:t>
            </a:r>
            <a:r>
              <a:rPr lang="en-US" dirty="0"/>
              <a:t>and indicates whether member of a superclass can be a member of one, or more than one subclass.</a:t>
            </a:r>
          </a:p>
          <a:p>
            <a:pPr>
              <a:lnSpc>
                <a:spcPct val="100000"/>
              </a:lnSpc>
            </a:pPr>
            <a:r>
              <a:rPr lang="en-US" dirty="0"/>
              <a:t>Types of disjoint constraints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Disjoint Constraint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Non-disjoint (Overlapping) Constraint</a:t>
            </a:r>
          </a:p>
        </p:txBody>
      </p:sp>
    </p:spTree>
    <p:extLst>
      <p:ext uri="{BB962C8B-B14F-4D97-AF65-F5344CB8AC3E}">
        <p14:creationId xmlns:p14="http://schemas.microsoft.com/office/powerpoint/2010/main" val="1584124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Disjoint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specifies that the </a:t>
            </a:r>
            <a:r>
              <a:rPr lang="en-US" b="1" dirty="0">
                <a:solidFill>
                  <a:schemeClr val="accent6"/>
                </a:solidFill>
              </a:rPr>
              <a:t>entity of a super class can belong to only one lower-level entity set</a:t>
            </a:r>
            <a:r>
              <a:rPr lang="en-US" dirty="0"/>
              <a:t> (sub class).</a:t>
            </a:r>
          </a:p>
          <a:p>
            <a:r>
              <a:rPr lang="en-US" dirty="0"/>
              <a:t>Specified by ‘</a:t>
            </a:r>
            <a:r>
              <a:rPr lang="en-US" b="1" dirty="0">
                <a:solidFill>
                  <a:schemeClr val="accent6"/>
                </a:solidFill>
              </a:rPr>
              <a:t>d</a:t>
            </a:r>
            <a:r>
              <a:rPr lang="en-US" dirty="0"/>
              <a:t>’ or by writing </a:t>
            </a:r>
            <a:r>
              <a:rPr lang="en-US" b="1" dirty="0">
                <a:solidFill>
                  <a:schemeClr val="accent6"/>
                </a:solidFill>
              </a:rPr>
              <a:t>disjoint</a:t>
            </a:r>
            <a:r>
              <a:rPr lang="en-US" dirty="0"/>
              <a:t> near to the ISA triangle.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749928" y="2110030"/>
            <a:ext cx="1828800" cy="838200"/>
          </a:xfrm>
          <a:prstGeom prst="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Cricketer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(Super class)</a:t>
            </a:r>
          </a:p>
        </p:txBody>
      </p:sp>
      <p:cxnSp>
        <p:nvCxnSpPr>
          <p:cNvPr id="5" name="Straight Connector 4"/>
          <p:cNvCxnSpPr>
            <a:stCxn id="4" idx="2"/>
          </p:cNvCxnSpPr>
          <p:nvPr/>
        </p:nvCxnSpPr>
        <p:spPr>
          <a:xfrm>
            <a:off x="3664328" y="2948230"/>
            <a:ext cx="0" cy="2286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403569" y="3176830"/>
            <a:ext cx="4517136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416428" y="3184450"/>
            <a:ext cx="0" cy="2286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02028" y="3399080"/>
            <a:ext cx="1828800" cy="838200"/>
          </a:xfrm>
          <a:prstGeom prst="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Batsman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(Sub class)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997828" y="3411072"/>
            <a:ext cx="1828800" cy="838200"/>
          </a:xfrm>
          <a:prstGeom prst="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Bowler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(Sub class)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912228" y="3178213"/>
            <a:ext cx="0" cy="2286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https://hindi.sportzwiki.com/wp-content/uploads/2016/08/Gautam-Gambhir3.jpg"/>
          <p:cNvPicPr>
            <a:picLocks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39"/>
          <a:stretch/>
        </p:blipFill>
        <p:spPr bwMode="auto">
          <a:xfrm>
            <a:off x="730628" y="4536439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Related image"/>
          <p:cNvPicPr>
            <a:picLocks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5" r="9438"/>
          <a:stretch/>
        </p:blipFill>
        <p:spPr bwMode="auto">
          <a:xfrm>
            <a:off x="5226428" y="4536439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730627" y="6004633"/>
            <a:ext cx="7539313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en-US" b="0" dirty="0">
                <a:solidFill>
                  <a:schemeClr val="tx1"/>
                </a:solidFill>
              </a:rPr>
              <a:t>All the players are associated with only one sub class either (Batsman or Bowler).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2977" y="1743634"/>
            <a:ext cx="1828800" cy="838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Employee</a:t>
            </a:r>
          </a:p>
          <a:p>
            <a:pPr algn="ctr"/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(Super class)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9809618" y="2578092"/>
            <a:ext cx="0" cy="1005840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Straight Connector 15"/>
          <p:cNvCxnSpPr>
            <a:stCxn id="20" idx="1"/>
          </p:cNvCxnSpPr>
          <p:nvPr/>
        </p:nvCxnSpPr>
        <p:spPr>
          <a:xfrm flipH="1">
            <a:off x="8590421" y="4013522"/>
            <a:ext cx="895347" cy="872631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Rectangle 16"/>
          <p:cNvSpPr/>
          <p:nvPr/>
        </p:nvSpPr>
        <p:spPr>
          <a:xfrm>
            <a:off x="7656968" y="4886153"/>
            <a:ext cx="1828800" cy="838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Full-time</a:t>
            </a:r>
          </a:p>
          <a:p>
            <a:pPr algn="ctr"/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(Sub class)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28718" y="4886153"/>
            <a:ext cx="1828800" cy="838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Part-time</a:t>
            </a:r>
          </a:p>
          <a:p>
            <a:pPr algn="ctr"/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(Sub class)</a:t>
            </a:r>
          </a:p>
        </p:txBody>
      </p:sp>
      <p:cxnSp>
        <p:nvCxnSpPr>
          <p:cNvPr id="19" name="Straight Connector 18"/>
          <p:cNvCxnSpPr>
            <a:stCxn id="20" idx="3"/>
            <a:endCxn id="18" idx="0"/>
          </p:cNvCxnSpPr>
          <p:nvPr/>
        </p:nvCxnSpPr>
        <p:spPr>
          <a:xfrm>
            <a:off x="10133468" y="4013522"/>
            <a:ext cx="1009650" cy="872631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Flowchart: Merge 19"/>
          <p:cNvSpPr/>
          <p:nvPr/>
        </p:nvSpPr>
        <p:spPr>
          <a:xfrm>
            <a:off x="9161918" y="3607444"/>
            <a:ext cx="1295400" cy="812156"/>
          </a:xfrm>
          <a:prstGeom prst="flowChartMerg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ISA</a:t>
            </a:r>
          </a:p>
        </p:txBody>
      </p:sp>
      <p:sp>
        <p:nvSpPr>
          <p:cNvPr id="22" name="TextBox 21"/>
          <p:cNvSpPr txBox="1"/>
          <p:nvPr/>
        </p:nvSpPr>
        <p:spPr>
          <a:xfrm rot="16200000" flipH="1">
            <a:off x="9612702" y="2903374"/>
            <a:ext cx="82296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Disjoint</a:t>
            </a:r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7233932" y="2110030"/>
            <a:ext cx="13447" cy="37980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" descr="https://hindi.sportzwiki.com/wp-content/uploads/2016/08/Gautam-Gambhir3.jpg"/>
          <p:cNvPicPr>
            <a:picLocks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39"/>
          <a:stretch/>
        </p:blipFill>
        <p:spPr bwMode="auto">
          <a:xfrm>
            <a:off x="604591" y="211003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Related image"/>
          <p:cNvPicPr>
            <a:picLocks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5" r="9438"/>
          <a:stretch/>
        </p:blipFill>
        <p:spPr bwMode="auto">
          <a:xfrm>
            <a:off x="1631876" y="211003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5636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3" grpId="0" animBg="1"/>
      <p:bldP spid="14" grpId="0" animBg="1"/>
      <p:bldP spid="17" grpId="0" animBg="1"/>
      <p:bldP spid="18" grpId="0" animBg="1"/>
      <p:bldP spid="20" grpId="0" animBg="1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Non-disjoint (Overlapping)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specifies that an </a:t>
            </a:r>
            <a:r>
              <a:rPr lang="en-US" b="1" dirty="0">
                <a:solidFill>
                  <a:schemeClr val="accent6"/>
                </a:solidFill>
              </a:rPr>
              <a:t>entity of a super class can belong to more than one lower-level entity </a:t>
            </a:r>
            <a:r>
              <a:rPr lang="en-US" dirty="0"/>
              <a:t>set (sub class).</a:t>
            </a:r>
          </a:p>
          <a:p>
            <a:r>
              <a:rPr lang="en-US" dirty="0"/>
              <a:t>Specified by ‘</a:t>
            </a:r>
            <a:r>
              <a:rPr lang="en-US" b="1" dirty="0">
                <a:solidFill>
                  <a:schemeClr val="accent6"/>
                </a:solidFill>
              </a:rPr>
              <a:t>o</a:t>
            </a:r>
            <a:r>
              <a:rPr lang="en-US" dirty="0"/>
              <a:t>’ or by writing </a:t>
            </a:r>
            <a:r>
              <a:rPr lang="en-US" b="1" dirty="0">
                <a:solidFill>
                  <a:schemeClr val="accent6"/>
                </a:solidFill>
              </a:rPr>
              <a:t>overlapping</a:t>
            </a:r>
            <a:r>
              <a:rPr lang="en-US" dirty="0"/>
              <a:t> near to the ISA triangle.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749928" y="2110030"/>
            <a:ext cx="1828800" cy="838200"/>
          </a:xfrm>
          <a:prstGeom prst="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Cricketer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(Super class)</a:t>
            </a:r>
          </a:p>
        </p:txBody>
      </p:sp>
      <p:cxnSp>
        <p:nvCxnSpPr>
          <p:cNvPr id="5" name="Straight Connector 4"/>
          <p:cNvCxnSpPr>
            <a:stCxn id="4" idx="2"/>
          </p:cNvCxnSpPr>
          <p:nvPr/>
        </p:nvCxnSpPr>
        <p:spPr>
          <a:xfrm>
            <a:off x="3664328" y="2948230"/>
            <a:ext cx="0" cy="2286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403569" y="3176830"/>
            <a:ext cx="4517136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416428" y="3184450"/>
            <a:ext cx="0" cy="2286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02028" y="3399080"/>
            <a:ext cx="1828800" cy="838200"/>
          </a:xfrm>
          <a:prstGeom prst="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Batsman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(Sub class)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997828" y="3411072"/>
            <a:ext cx="1828800" cy="838200"/>
          </a:xfrm>
          <a:prstGeom prst="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Bowler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(Sub class)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912228" y="3178213"/>
            <a:ext cx="0" cy="2286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https://hindi.sportzwiki.com/wp-content/uploads/2016/08/Gautam-Gambhir3.jpg"/>
          <p:cNvPicPr>
            <a:picLocks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39"/>
          <a:stretch/>
        </p:blipFill>
        <p:spPr bwMode="auto">
          <a:xfrm>
            <a:off x="730628" y="4536439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Related image"/>
          <p:cNvPicPr>
            <a:picLocks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5" r="9438"/>
          <a:stretch/>
        </p:blipFill>
        <p:spPr bwMode="auto">
          <a:xfrm>
            <a:off x="5226428" y="4536439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730627" y="6004633"/>
            <a:ext cx="649224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en-US" b="0" dirty="0">
                <a:solidFill>
                  <a:schemeClr val="tx1"/>
                </a:solidFill>
              </a:rPr>
              <a:t>One player (</a:t>
            </a:r>
            <a:r>
              <a:rPr lang="en-US" b="0" dirty="0" err="1">
                <a:solidFill>
                  <a:schemeClr val="tx1"/>
                </a:solidFill>
              </a:rPr>
              <a:t>Yuvraj</a:t>
            </a:r>
            <a:r>
              <a:rPr lang="en-US" b="0" dirty="0">
                <a:solidFill>
                  <a:schemeClr val="tx1"/>
                </a:solidFill>
              </a:rPr>
              <a:t> </a:t>
            </a:r>
            <a:r>
              <a:rPr lang="en-US" b="0" dirty="0" err="1">
                <a:solidFill>
                  <a:schemeClr val="tx1"/>
                </a:solidFill>
              </a:rPr>
              <a:t>singh</a:t>
            </a:r>
            <a:r>
              <a:rPr lang="en-US" b="0" dirty="0">
                <a:solidFill>
                  <a:schemeClr val="tx1"/>
                </a:solidFill>
              </a:rPr>
              <a:t>) is associated with more than one sub class.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2977" y="1743634"/>
            <a:ext cx="1828800" cy="838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Employee</a:t>
            </a:r>
          </a:p>
          <a:p>
            <a:pPr algn="ctr"/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(Super class)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9809618" y="2578092"/>
            <a:ext cx="0" cy="1005840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Straight Connector 15"/>
          <p:cNvCxnSpPr>
            <a:stCxn id="20" idx="1"/>
          </p:cNvCxnSpPr>
          <p:nvPr/>
        </p:nvCxnSpPr>
        <p:spPr>
          <a:xfrm flipH="1">
            <a:off x="8590421" y="4013522"/>
            <a:ext cx="895347" cy="872631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Rectangle 16"/>
          <p:cNvSpPr/>
          <p:nvPr/>
        </p:nvSpPr>
        <p:spPr>
          <a:xfrm>
            <a:off x="7656968" y="4886153"/>
            <a:ext cx="1828800" cy="838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Faculty</a:t>
            </a:r>
          </a:p>
          <a:p>
            <a:pPr algn="ctr"/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(Sub class)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28718" y="4886153"/>
            <a:ext cx="1828800" cy="838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Head</a:t>
            </a:r>
          </a:p>
          <a:p>
            <a:pPr algn="ctr"/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(Sub class)</a:t>
            </a:r>
          </a:p>
        </p:txBody>
      </p:sp>
      <p:cxnSp>
        <p:nvCxnSpPr>
          <p:cNvPr id="19" name="Straight Connector 18"/>
          <p:cNvCxnSpPr>
            <a:stCxn id="20" idx="3"/>
            <a:endCxn id="18" idx="0"/>
          </p:cNvCxnSpPr>
          <p:nvPr/>
        </p:nvCxnSpPr>
        <p:spPr>
          <a:xfrm>
            <a:off x="10133468" y="4013522"/>
            <a:ext cx="1009650" cy="872631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Flowchart: Merge 19"/>
          <p:cNvSpPr/>
          <p:nvPr/>
        </p:nvSpPr>
        <p:spPr>
          <a:xfrm>
            <a:off x="9161918" y="3607444"/>
            <a:ext cx="1295400" cy="812156"/>
          </a:xfrm>
          <a:prstGeom prst="flowChartMerg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ISA</a:t>
            </a:r>
          </a:p>
        </p:txBody>
      </p:sp>
      <p:sp>
        <p:nvSpPr>
          <p:cNvPr id="22" name="TextBox 21"/>
          <p:cNvSpPr txBox="1"/>
          <p:nvPr/>
        </p:nvSpPr>
        <p:spPr>
          <a:xfrm rot="16200000" flipH="1">
            <a:off x="9612702" y="2959294"/>
            <a:ext cx="8229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Non-disjoint</a:t>
            </a:r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7233932" y="2110030"/>
            <a:ext cx="13447" cy="37980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" descr="Related image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528" y="4536439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Straight Arrow Connector 23"/>
          <p:cNvCxnSpPr>
            <a:stCxn id="23" idx="0"/>
          </p:cNvCxnSpPr>
          <p:nvPr/>
        </p:nvCxnSpPr>
        <p:spPr>
          <a:xfrm flipH="1" flipV="1">
            <a:off x="2330828" y="3818180"/>
            <a:ext cx="1333500" cy="71825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3" idx="0"/>
          </p:cNvCxnSpPr>
          <p:nvPr/>
        </p:nvCxnSpPr>
        <p:spPr>
          <a:xfrm flipV="1">
            <a:off x="3664328" y="3830172"/>
            <a:ext cx="1333500" cy="70626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" descr="Related image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380" y="211003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https://hindi.sportzwiki.com/wp-content/uploads/2016/08/Gautam-Gambhir3.jpg"/>
          <p:cNvPicPr>
            <a:picLocks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39"/>
          <a:stretch/>
        </p:blipFill>
        <p:spPr bwMode="auto">
          <a:xfrm>
            <a:off x="604591" y="211003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" descr="Related image"/>
          <p:cNvPicPr>
            <a:picLocks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5" r="9438"/>
          <a:stretch/>
        </p:blipFill>
        <p:spPr bwMode="auto">
          <a:xfrm>
            <a:off x="1631876" y="211003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504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3" grpId="0" animBg="1"/>
      <p:bldP spid="14" grpId="0" animBg="1"/>
      <p:bldP spid="17" grpId="0" animBg="1"/>
      <p:bldP spid="18" grpId="0" animBg="1"/>
      <p:bldP spid="20" grpId="0" animBg="1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Participation (Completeness)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It determines </a:t>
            </a:r>
            <a:r>
              <a:rPr lang="en-US" b="1" dirty="0">
                <a:solidFill>
                  <a:schemeClr val="accent6"/>
                </a:solidFill>
              </a:rPr>
              <a:t>whether every member of super class must participate as a member of subclass or not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Types of participation (Completeness) Constraint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Total (Mandatory) participation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Partial (Optional) participation</a:t>
            </a:r>
          </a:p>
        </p:txBody>
      </p:sp>
    </p:spTree>
    <p:extLst>
      <p:ext uri="{BB962C8B-B14F-4D97-AF65-F5344CB8AC3E}">
        <p14:creationId xmlns:p14="http://schemas.microsoft.com/office/powerpoint/2010/main" val="289314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(Mandatory) Participation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participation specifies that </a:t>
            </a:r>
            <a:r>
              <a:rPr lang="en-US" b="1" dirty="0">
                <a:solidFill>
                  <a:schemeClr val="accent6"/>
                </a:solidFill>
              </a:rPr>
              <a:t>every entity in the superclass must be a member of some subclass</a:t>
            </a:r>
            <a:r>
              <a:rPr lang="en-US" dirty="0"/>
              <a:t> in the specialization.</a:t>
            </a:r>
          </a:p>
          <a:p>
            <a:r>
              <a:rPr lang="en-US" dirty="0"/>
              <a:t>Specified by a </a:t>
            </a:r>
            <a:r>
              <a:rPr lang="en-US" b="1" dirty="0">
                <a:solidFill>
                  <a:schemeClr val="accent6"/>
                </a:solidFill>
              </a:rPr>
              <a:t>double line </a:t>
            </a:r>
            <a:r>
              <a:rPr lang="en-US" dirty="0"/>
              <a:t>in E-R diagram.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749928" y="2110030"/>
            <a:ext cx="1828800" cy="838200"/>
          </a:xfrm>
          <a:prstGeom prst="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Cricketer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(Super class)</a:t>
            </a:r>
          </a:p>
        </p:txBody>
      </p:sp>
      <p:cxnSp>
        <p:nvCxnSpPr>
          <p:cNvPr id="5" name="Straight Connector 4"/>
          <p:cNvCxnSpPr>
            <a:stCxn id="4" idx="2"/>
          </p:cNvCxnSpPr>
          <p:nvPr/>
        </p:nvCxnSpPr>
        <p:spPr>
          <a:xfrm>
            <a:off x="3664328" y="2948230"/>
            <a:ext cx="0" cy="2286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403569" y="3176830"/>
            <a:ext cx="4517136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416428" y="3184450"/>
            <a:ext cx="0" cy="2286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02028" y="3399080"/>
            <a:ext cx="1828800" cy="838200"/>
          </a:xfrm>
          <a:prstGeom prst="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Batsman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(Sub class)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997828" y="3411072"/>
            <a:ext cx="1828800" cy="838200"/>
          </a:xfrm>
          <a:prstGeom prst="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Bowler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(Sub class)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912228" y="3178213"/>
            <a:ext cx="0" cy="2286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https://hindi.sportzwiki.com/wp-content/uploads/2016/08/Gautam-Gambhir3.jpg"/>
          <p:cNvPicPr>
            <a:picLocks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39"/>
          <a:stretch/>
        </p:blipFill>
        <p:spPr bwMode="auto">
          <a:xfrm>
            <a:off x="730628" y="4536439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Related image"/>
          <p:cNvPicPr>
            <a:picLocks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5" r="9438"/>
          <a:stretch/>
        </p:blipFill>
        <p:spPr bwMode="auto">
          <a:xfrm>
            <a:off x="5226428" y="4536439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730627" y="6004633"/>
            <a:ext cx="804672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en-US" b="0" dirty="0">
                <a:solidFill>
                  <a:schemeClr val="tx1"/>
                </a:solidFill>
              </a:rPr>
              <a:t>All the players are associated with minimum one sub class either (Batsman or Bowler).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2977" y="1743634"/>
            <a:ext cx="1828800" cy="838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Employee</a:t>
            </a:r>
          </a:p>
          <a:p>
            <a:pPr algn="ctr"/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(Super class)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9809618" y="2581267"/>
            <a:ext cx="0" cy="1024128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Straight Connector 15"/>
          <p:cNvCxnSpPr>
            <a:stCxn id="20" idx="1"/>
          </p:cNvCxnSpPr>
          <p:nvPr/>
        </p:nvCxnSpPr>
        <p:spPr>
          <a:xfrm flipH="1">
            <a:off x="8590421" y="4013522"/>
            <a:ext cx="895347" cy="872631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Rectangle 16"/>
          <p:cNvSpPr/>
          <p:nvPr/>
        </p:nvSpPr>
        <p:spPr>
          <a:xfrm>
            <a:off x="7656968" y="4886153"/>
            <a:ext cx="1828800" cy="838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Professor</a:t>
            </a:r>
          </a:p>
          <a:p>
            <a:pPr algn="ctr"/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(Sub class)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28718" y="4886153"/>
            <a:ext cx="1828800" cy="838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Head</a:t>
            </a:r>
          </a:p>
          <a:p>
            <a:pPr algn="ctr"/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(Sub class)</a:t>
            </a:r>
          </a:p>
        </p:txBody>
      </p:sp>
      <p:cxnSp>
        <p:nvCxnSpPr>
          <p:cNvPr id="19" name="Straight Connector 18"/>
          <p:cNvCxnSpPr>
            <a:stCxn id="20" idx="3"/>
            <a:endCxn id="18" idx="0"/>
          </p:cNvCxnSpPr>
          <p:nvPr/>
        </p:nvCxnSpPr>
        <p:spPr>
          <a:xfrm>
            <a:off x="10133468" y="4013522"/>
            <a:ext cx="1009650" cy="872631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Flowchart: Merge 19"/>
          <p:cNvSpPr/>
          <p:nvPr/>
        </p:nvSpPr>
        <p:spPr>
          <a:xfrm>
            <a:off x="9161918" y="3607444"/>
            <a:ext cx="1295400" cy="812156"/>
          </a:xfrm>
          <a:prstGeom prst="flowChartMerg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ISA</a:t>
            </a:r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7233932" y="2110030"/>
            <a:ext cx="13447" cy="37980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9921677" y="2582575"/>
            <a:ext cx="0" cy="1024128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3" name="Picture 2" descr="https://hindi.sportzwiki.com/wp-content/uploads/2016/08/Gautam-Gambhir3.jpg"/>
          <p:cNvPicPr>
            <a:picLocks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39"/>
          <a:stretch/>
        </p:blipFill>
        <p:spPr bwMode="auto">
          <a:xfrm>
            <a:off x="604591" y="211003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Related image"/>
          <p:cNvPicPr>
            <a:picLocks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5" r="9438"/>
          <a:stretch/>
        </p:blipFill>
        <p:spPr bwMode="auto">
          <a:xfrm>
            <a:off x="1631876" y="211003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1757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3" grpId="0" animBg="1"/>
      <p:bldP spid="14" grpId="0" animBg="1"/>
      <p:bldP spid="17" grpId="0" animBg="1"/>
      <p:bldP spid="18" grpId="0" animBg="1"/>
      <p:bldP spid="2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(Optional) Participation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Partial participation specifies that </a:t>
            </a:r>
            <a:r>
              <a:rPr lang="en-US" b="1" dirty="0">
                <a:solidFill>
                  <a:schemeClr val="accent6"/>
                </a:solidFill>
              </a:rPr>
              <a:t>every entity in the super class does not belong to any of the subclass </a:t>
            </a:r>
            <a:r>
              <a:rPr lang="en-US" dirty="0"/>
              <a:t>of specialization.</a:t>
            </a:r>
          </a:p>
          <a:p>
            <a:r>
              <a:rPr lang="en-US" dirty="0"/>
              <a:t>Specified by a </a:t>
            </a:r>
            <a:r>
              <a:rPr lang="en-US" b="1" dirty="0">
                <a:solidFill>
                  <a:schemeClr val="accent6"/>
                </a:solidFill>
              </a:rPr>
              <a:t>single line </a:t>
            </a:r>
            <a:r>
              <a:rPr lang="en-US" dirty="0"/>
              <a:t>in E-R diagram.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749928" y="2110030"/>
            <a:ext cx="1828800" cy="838200"/>
          </a:xfrm>
          <a:prstGeom prst="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Cricketer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(Super class)</a:t>
            </a:r>
          </a:p>
        </p:txBody>
      </p:sp>
      <p:cxnSp>
        <p:nvCxnSpPr>
          <p:cNvPr id="5" name="Straight Connector 4"/>
          <p:cNvCxnSpPr>
            <a:stCxn id="4" idx="2"/>
          </p:cNvCxnSpPr>
          <p:nvPr/>
        </p:nvCxnSpPr>
        <p:spPr>
          <a:xfrm>
            <a:off x="3664328" y="2948230"/>
            <a:ext cx="0" cy="2286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403569" y="3176830"/>
            <a:ext cx="4517136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416428" y="3184450"/>
            <a:ext cx="0" cy="2286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02028" y="3399080"/>
            <a:ext cx="1828800" cy="838200"/>
          </a:xfrm>
          <a:prstGeom prst="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Batsman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(Sub class)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997828" y="3411072"/>
            <a:ext cx="1828800" cy="838200"/>
          </a:xfrm>
          <a:prstGeom prst="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Bowler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(Sub class)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912228" y="3178213"/>
            <a:ext cx="0" cy="2286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https://hindi.sportzwiki.com/wp-content/uploads/2016/08/Gautam-Gambhir3.jpg"/>
          <p:cNvPicPr>
            <a:picLocks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39"/>
          <a:stretch/>
        </p:blipFill>
        <p:spPr bwMode="auto">
          <a:xfrm>
            <a:off x="730628" y="4536439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Related image"/>
          <p:cNvPicPr>
            <a:picLocks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5" r="9438"/>
          <a:stretch/>
        </p:blipFill>
        <p:spPr bwMode="auto">
          <a:xfrm>
            <a:off x="5226428" y="4536439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8892977" y="1743634"/>
            <a:ext cx="1828800" cy="838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Employee</a:t>
            </a:r>
          </a:p>
          <a:p>
            <a:pPr algn="ctr"/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(Super class)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9809618" y="2581267"/>
            <a:ext cx="0" cy="1024128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Straight Connector 15"/>
          <p:cNvCxnSpPr>
            <a:stCxn id="20" idx="1"/>
          </p:cNvCxnSpPr>
          <p:nvPr/>
        </p:nvCxnSpPr>
        <p:spPr>
          <a:xfrm flipH="1">
            <a:off x="8590421" y="4013522"/>
            <a:ext cx="895347" cy="872631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Rectangle 16"/>
          <p:cNvSpPr/>
          <p:nvPr/>
        </p:nvSpPr>
        <p:spPr>
          <a:xfrm>
            <a:off x="7656968" y="4886153"/>
            <a:ext cx="1828800" cy="838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Professor</a:t>
            </a:r>
          </a:p>
          <a:p>
            <a:pPr algn="ctr"/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(Sub class)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28718" y="4886153"/>
            <a:ext cx="1828800" cy="838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Head</a:t>
            </a:r>
          </a:p>
          <a:p>
            <a:pPr algn="ctr"/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(Sub class)</a:t>
            </a:r>
          </a:p>
        </p:txBody>
      </p:sp>
      <p:cxnSp>
        <p:nvCxnSpPr>
          <p:cNvPr id="19" name="Straight Connector 18"/>
          <p:cNvCxnSpPr>
            <a:stCxn id="20" idx="3"/>
            <a:endCxn id="18" idx="0"/>
          </p:cNvCxnSpPr>
          <p:nvPr/>
        </p:nvCxnSpPr>
        <p:spPr>
          <a:xfrm>
            <a:off x="10133468" y="4013522"/>
            <a:ext cx="1009650" cy="872631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Flowchart: Merge 19"/>
          <p:cNvSpPr/>
          <p:nvPr/>
        </p:nvSpPr>
        <p:spPr>
          <a:xfrm>
            <a:off x="9161918" y="3607444"/>
            <a:ext cx="1295400" cy="812156"/>
          </a:xfrm>
          <a:prstGeom prst="flowChartMerg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ISA</a:t>
            </a:r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7233932" y="2110030"/>
            <a:ext cx="13447" cy="37980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ular Callout 22"/>
          <p:cNvSpPr/>
          <p:nvPr/>
        </p:nvSpPr>
        <p:spPr>
          <a:xfrm>
            <a:off x="2632237" y="3468182"/>
            <a:ext cx="2103120" cy="723980"/>
          </a:xfrm>
          <a:prstGeom prst="wedgeRoundRectCallout">
            <a:avLst>
              <a:gd name="adj1" fmla="val -13582"/>
              <a:gd name="adj2" fmla="val 99062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dirty="0"/>
              <a:t>Not associated with any sub class</a:t>
            </a:r>
            <a:endParaRPr lang="en-IN" dirty="0"/>
          </a:p>
        </p:txBody>
      </p:sp>
      <p:pic>
        <p:nvPicPr>
          <p:cNvPr id="24" name="Picture 2" descr="Related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589" y="4536439"/>
            <a:ext cx="1828799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https://hindi.sportzwiki.com/wp-content/uploads/2016/08/Gautam-Gambhir3.jpg"/>
          <p:cNvPicPr>
            <a:picLocks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39"/>
          <a:stretch/>
        </p:blipFill>
        <p:spPr bwMode="auto">
          <a:xfrm>
            <a:off x="604591" y="211003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Related image"/>
          <p:cNvPicPr>
            <a:picLocks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5" r="9438"/>
          <a:stretch/>
        </p:blipFill>
        <p:spPr bwMode="auto">
          <a:xfrm>
            <a:off x="1631876" y="211003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Related imag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380" y="2110030"/>
            <a:ext cx="1219199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031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4" grpId="0" animBg="1"/>
      <p:bldP spid="17" grpId="0" animBg="1"/>
      <p:bldP spid="18" grpId="0" animBg="1"/>
      <p:bldP spid="20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Symbol used in </a:t>
            </a: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E-R diagram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4130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8" y="-6145"/>
            <a:ext cx="12192000" cy="711200"/>
          </a:xfrm>
        </p:spPr>
        <p:txBody>
          <a:bodyPr/>
          <a:lstStyle/>
          <a:p>
            <a:r>
              <a:rPr lang="en-US" dirty="0"/>
              <a:t>Symbols used in E-R diagram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2957" y="1219200"/>
            <a:ext cx="1698171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6742" y="16764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Entity</a:t>
            </a:r>
            <a:endParaRPr lang="en-IN" dirty="0"/>
          </a:p>
        </p:txBody>
      </p:sp>
      <p:sp>
        <p:nvSpPr>
          <p:cNvPr id="27" name="Oval 26"/>
          <p:cNvSpPr/>
          <p:nvPr/>
        </p:nvSpPr>
        <p:spPr>
          <a:xfrm>
            <a:off x="1062957" y="2286000"/>
            <a:ext cx="1698171" cy="4572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EmpID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64042" y="2743200"/>
            <a:ext cx="1296000" cy="57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Primary Key</a:t>
            </a:r>
          </a:p>
          <a:p>
            <a:pPr algn="ctr"/>
            <a:r>
              <a:rPr lang="en-US" dirty="0"/>
              <a:t>Attribute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1091398" y="3595301"/>
            <a:ext cx="1698171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6483" y="4119330"/>
            <a:ext cx="12960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Weak Entity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1264042" y="5513677"/>
            <a:ext cx="1368000" cy="64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Total</a:t>
            </a:r>
          </a:p>
          <a:p>
            <a:pPr algn="ctr"/>
            <a:r>
              <a:rPr lang="en-US" dirty="0"/>
              <a:t>Participation</a:t>
            </a:r>
            <a:endParaRPr lang="en-IN" dirty="0"/>
          </a:p>
        </p:txBody>
      </p:sp>
      <p:sp>
        <p:nvSpPr>
          <p:cNvPr id="32" name="Oval 31"/>
          <p:cNvSpPr/>
          <p:nvPr/>
        </p:nvSpPr>
        <p:spPr>
          <a:xfrm>
            <a:off x="4913295" y="1219200"/>
            <a:ext cx="1698171" cy="4572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6380" y="1676400"/>
            <a:ext cx="1332000" cy="37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Attribute</a:t>
            </a:r>
            <a:endParaRPr lang="en-IN" dirty="0"/>
          </a:p>
        </p:txBody>
      </p:sp>
      <p:sp>
        <p:nvSpPr>
          <p:cNvPr id="34" name="Oval 33"/>
          <p:cNvSpPr/>
          <p:nvPr/>
        </p:nvSpPr>
        <p:spPr>
          <a:xfrm>
            <a:off x="4913295" y="2286000"/>
            <a:ext cx="1698171" cy="457200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40380" y="2743200"/>
            <a:ext cx="10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Derived</a:t>
            </a:r>
          </a:p>
          <a:p>
            <a:pPr algn="ctr"/>
            <a:r>
              <a:rPr lang="en-US" dirty="0"/>
              <a:t>Attribute</a:t>
            </a:r>
            <a:endParaRPr lang="en-IN" dirty="0"/>
          </a:p>
        </p:txBody>
      </p:sp>
      <p:sp>
        <p:nvSpPr>
          <p:cNvPr id="36" name="Oval 35"/>
          <p:cNvSpPr/>
          <p:nvPr/>
        </p:nvSpPr>
        <p:spPr>
          <a:xfrm>
            <a:off x="4901332" y="3580468"/>
            <a:ext cx="1698171" cy="4572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dash" dirty="0" err="1">
                <a:solidFill>
                  <a:schemeClr val="tx1"/>
                </a:solidFill>
              </a:rPr>
              <a:t>PymtID</a:t>
            </a:r>
            <a:endParaRPr lang="en-US" u="dash" dirty="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626839" y="4037419"/>
            <a:ext cx="2271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Discriminating</a:t>
            </a:r>
          </a:p>
          <a:p>
            <a:pPr algn="ctr"/>
            <a:r>
              <a:rPr lang="en-US" dirty="0"/>
              <a:t>Attribute / Partial Key</a:t>
            </a:r>
            <a:endParaRPr lang="en-IN" dirty="0"/>
          </a:p>
        </p:txBody>
      </p:sp>
      <p:sp>
        <p:nvSpPr>
          <p:cNvPr id="38" name="Diamond 37"/>
          <p:cNvSpPr/>
          <p:nvPr/>
        </p:nvSpPr>
        <p:spPr>
          <a:xfrm>
            <a:off x="8259474" y="1219200"/>
            <a:ext cx="1698171" cy="457200"/>
          </a:xfrm>
          <a:prstGeom prst="diamond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42559" y="1676400"/>
            <a:ext cx="133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Relationship</a:t>
            </a:r>
            <a:endParaRPr lang="en-IN" dirty="0"/>
          </a:p>
        </p:txBody>
      </p:sp>
      <p:sp>
        <p:nvSpPr>
          <p:cNvPr id="40" name="Oval 39"/>
          <p:cNvSpPr/>
          <p:nvPr/>
        </p:nvSpPr>
        <p:spPr>
          <a:xfrm>
            <a:off x="8259474" y="2270869"/>
            <a:ext cx="1698171" cy="4572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PhoneNo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424559" y="2813531"/>
            <a:ext cx="1368000" cy="57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Multi Valued Attribute</a:t>
            </a:r>
            <a:endParaRPr lang="en-IN" dirty="0"/>
          </a:p>
        </p:txBody>
      </p:sp>
      <p:sp>
        <p:nvSpPr>
          <p:cNvPr id="42" name="Flowchart: Decision 41"/>
          <p:cNvSpPr/>
          <p:nvPr/>
        </p:nvSpPr>
        <p:spPr>
          <a:xfrm>
            <a:off x="8269239" y="3595856"/>
            <a:ext cx="1698171" cy="457200"/>
          </a:xfrm>
          <a:prstGeom prst="flowChartDecision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Issue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2324" y="4063094"/>
            <a:ext cx="1332000" cy="61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Weak Entity</a:t>
            </a:r>
            <a:endParaRPr lang="en-IN" dirty="0"/>
          </a:p>
          <a:p>
            <a:pPr algn="ctr"/>
            <a:r>
              <a:rPr lang="en-US" dirty="0"/>
              <a:t>Relationship</a:t>
            </a:r>
            <a:endParaRPr lang="en-IN" dirty="0"/>
          </a:p>
        </p:txBody>
      </p:sp>
      <p:sp>
        <p:nvSpPr>
          <p:cNvPr id="44" name="Flowchart: Merge 43"/>
          <p:cNvSpPr/>
          <p:nvPr/>
        </p:nvSpPr>
        <p:spPr>
          <a:xfrm>
            <a:off x="8386449" y="5029200"/>
            <a:ext cx="1260000" cy="457200"/>
          </a:xfrm>
          <a:prstGeom prst="flowChartMerg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4739" y="5562600"/>
            <a:ext cx="15840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Specialization/</a:t>
            </a:r>
          </a:p>
          <a:p>
            <a:pPr algn="ctr"/>
            <a:r>
              <a:rPr lang="en-US" dirty="0"/>
              <a:t>Generalization</a:t>
            </a:r>
            <a:endParaRPr lang="en-IN" dirty="0"/>
          </a:p>
        </p:txBody>
      </p:sp>
      <p:sp>
        <p:nvSpPr>
          <p:cNvPr id="46" name="Oval 45"/>
          <p:cNvSpPr/>
          <p:nvPr/>
        </p:nvSpPr>
        <p:spPr>
          <a:xfrm>
            <a:off x="8172559" y="2175469"/>
            <a:ext cx="1872000" cy="648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004483" y="3527330"/>
            <a:ext cx="1872000" cy="59314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Flowchart: Decision 47"/>
          <p:cNvSpPr/>
          <p:nvPr/>
        </p:nvSpPr>
        <p:spPr>
          <a:xfrm>
            <a:off x="8088724" y="3527330"/>
            <a:ext cx="2059200" cy="594252"/>
          </a:xfrm>
          <a:prstGeom prst="flowChartDecision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49" name="Diamond 48"/>
          <p:cNvSpPr/>
          <p:nvPr/>
        </p:nvSpPr>
        <p:spPr>
          <a:xfrm>
            <a:off x="2205956" y="5013278"/>
            <a:ext cx="1016909" cy="457200"/>
          </a:xfrm>
          <a:prstGeom prst="diamond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820186" y="5014403"/>
            <a:ext cx="876703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1696888" y="5172363"/>
            <a:ext cx="684000" cy="1125"/>
          </a:xfrm>
          <a:prstGeom prst="lin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2" name="Straight Connector 51"/>
          <p:cNvCxnSpPr/>
          <p:nvPr/>
        </p:nvCxnSpPr>
        <p:spPr>
          <a:xfrm flipH="1">
            <a:off x="1696888" y="5323638"/>
            <a:ext cx="684000" cy="1125"/>
          </a:xfrm>
          <a:prstGeom prst="lin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3" name="TextBox 52"/>
          <p:cNvSpPr txBox="1"/>
          <p:nvPr/>
        </p:nvSpPr>
        <p:spPr>
          <a:xfrm>
            <a:off x="5000483" y="5504885"/>
            <a:ext cx="136800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Partial</a:t>
            </a:r>
          </a:p>
          <a:p>
            <a:pPr algn="ctr"/>
            <a:r>
              <a:rPr lang="en-US" dirty="0"/>
              <a:t>Participation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54" name="Diamond 53"/>
          <p:cNvSpPr/>
          <p:nvPr/>
        </p:nvSpPr>
        <p:spPr>
          <a:xfrm>
            <a:off x="5942397" y="5004486"/>
            <a:ext cx="1016909" cy="457200"/>
          </a:xfrm>
          <a:prstGeom prst="diamond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556627" y="5005611"/>
            <a:ext cx="876703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 flipH="1">
            <a:off x="5427045" y="5229557"/>
            <a:ext cx="540000" cy="1125"/>
          </a:xfrm>
          <a:prstGeom prst="lin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8" name="Straight Connector 57"/>
          <p:cNvCxnSpPr>
            <a:stCxn id="44" idx="0"/>
          </p:cNvCxnSpPr>
          <p:nvPr/>
        </p:nvCxnSpPr>
        <p:spPr>
          <a:xfrm flipV="1">
            <a:off x="9016449" y="4724400"/>
            <a:ext cx="0" cy="304800"/>
          </a:xfrm>
          <a:prstGeom prst="lin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Straight Connector 58"/>
          <p:cNvCxnSpPr>
            <a:endCxn id="44" idx="1"/>
          </p:cNvCxnSpPr>
          <p:nvPr/>
        </p:nvCxnSpPr>
        <p:spPr>
          <a:xfrm flipV="1">
            <a:off x="8386449" y="5257800"/>
            <a:ext cx="315000" cy="255877"/>
          </a:xfrm>
          <a:prstGeom prst="lin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Straight Connector 59"/>
          <p:cNvCxnSpPr>
            <a:endCxn id="44" idx="3"/>
          </p:cNvCxnSpPr>
          <p:nvPr/>
        </p:nvCxnSpPr>
        <p:spPr>
          <a:xfrm flipH="1" flipV="1">
            <a:off x="9331449" y="5257800"/>
            <a:ext cx="315000" cy="247085"/>
          </a:xfrm>
          <a:prstGeom prst="lin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576092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 animBg="1"/>
      <p:bldP spid="43" grpId="0"/>
      <p:bldP spid="44" grpId="0" animBg="1"/>
      <p:bldP spid="45" grpId="0"/>
      <p:bldP spid="46" grpId="0" animBg="1"/>
      <p:bldP spid="47" grpId="0" animBg="1"/>
      <p:bldP spid="48" grpId="0" animBg="1"/>
      <p:bldP spid="49" grpId="0" animBg="1"/>
      <p:bldP spid="50" grpId="0" animBg="1"/>
      <p:bldP spid="53" grpId="0"/>
      <p:bldP spid="54" grpId="0" animBg="1"/>
      <p:bldP spid="5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24C88B44-9BCB-3F7C-FA30-DDF9C9084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Symbols used in E-R diagram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ED3CD8-0782-C163-C360-D9183AC8F362}"/>
              </a:ext>
            </a:extLst>
          </p:cNvPr>
          <p:cNvSpPr txBox="1"/>
          <p:nvPr/>
        </p:nvSpPr>
        <p:spPr>
          <a:xfrm>
            <a:off x="1927591" y="1972151"/>
            <a:ext cx="1368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One to One</a:t>
            </a:r>
            <a:endParaRPr lang="en-IN" dirty="0"/>
          </a:p>
        </p:txBody>
      </p:sp>
      <p:sp>
        <p:nvSpPr>
          <p:cNvPr id="56" name="Diamond 55">
            <a:extLst>
              <a:ext uri="{FF2B5EF4-FFF2-40B4-BE49-F238E27FC236}">
                <a16:creationId xmlns:a16="http://schemas.microsoft.com/office/drawing/2014/main" id="{42C02448-CAED-5DAB-B847-261A086DB472}"/>
              </a:ext>
            </a:extLst>
          </p:cNvPr>
          <p:cNvSpPr/>
          <p:nvPr/>
        </p:nvSpPr>
        <p:spPr>
          <a:xfrm>
            <a:off x="2107505" y="1471752"/>
            <a:ext cx="1016909" cy="457200"/>
          </a:xfrm>
          <a:prstGeom prst="diamond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212604C-A7B4-C897-C443-CCCAE2665498}"/>
              </a:ext>
            </a:extLst>
          </p:cNvPr>
          <p:cNvSpPr/>
          <p:nvPr/>
        </p:nvSpPr>
        <p:spPr>
          <a:xfrm>
            <a:off x="721735" y="1472877"/>
            <a:ext cx="876703" cy="4572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17BBF58-83C9-6C03-A805-83F0620D6049}"/>
              </a:ext>
            </a:extLst>
          </p:cNvPr>
          <p:cNvSpPr/>
          <p:nvPr/>
        </p:nvSpPr>
        <p:spPr>
          <a:xfrm>
            <a:off x="3654717" y="1470340"/>
            <a:ext cx="876703" cy="4572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8C5F500-B903-B3E7-133E-14A2970B070F}"/>
              </a:ext>
            </a:extLst>
          </p:cNvPr>
          <p:cNvCxnSpPr/>
          <p:nvPr/>
        </p:nvCxnSpPr>
        <p:spPr>
          <a:xfrm flipH="1">
            <a:off x="3095213" y="2745981"/>
            <a:ext cx="540000" cy="1125"/>
          </a:xfrm>
          <a:prstGeom prst="lin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40DFA8E-875F-B3B3-F794-E41A67EB2C8E}"/>
              </a:ext>
            </a:extLst>
          </p:cNvPr>
          <p:cNvCxnSpPr/>
          <p:nvPr/>
        </p:nvCxnSpPr>
        <p:spPr>
          <a:xfrm flipH="1">
            <a:off x="1589508" y="1697365"/>
            <a:ext cx="540000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9FD9B55-F436-A9A1-0D7D-8DB03AE07DF2}"/>
              </a:ext>
            </a:extLst>
          </p:cNvPr>
          <p:cNvCxnSpPr/>
          <p:nvPr/>
        </p:nvCxnSpPr>
        <p:spPr>
          <a:xfrm>
            <a:off x="3114717" y="1697365"/>
            <a:ext cx="540000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B7FF3405-4A65-0F98-6A2F-4EC83DCE9A4A}"/>
              </a:ext>
            </a:extLst>
          </p:cNvPr>
          <p:cNvSpPr txBox="1"/>
          <p:nvPr/>
        </p:nvSpPr>
        <p:spPr>
          <a:xfrm>
            <a:off x="1905179" y="3017749"/>
            <a:ext cx="1404000" cy="3708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One to Many</a:t>
            </a:r>
            <a:endParaRPr lang="en-IN" dirty="0"/>
          </a:p>
        </p:txBody>
      </p:sp>
      <p:sp>
        <p:nvSpPr>
          <p:cNvPr id="63" name="Diamond 62">
            <a:extLst>
              <a:ext uri="{FF2B5EF4-FFF2-40B4-BE49-F238E27FC236}">
                <a16:creationId xmlns:a16="http://schemas.microsoft.com/office/drawing/2014/main" id="{C043D658-057C-0E99-6319-FE13E79B21D5}"/>
              </a:ext>
            </a:extLst>
          </p:cNvPr>
          <p:cNvSpPr/>
          <p:nvPr/>
        </p:nvSpPr>
        <p:spPr>
          <a:xfrm>
            <a:off x="2085093" y="2517350"/>
            <a:ext cx="1016909" cy="457200"/>
          </a:xfrm>
          <a:prstGeom prst="diamond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9DA58D7-20D1-F65F-42D1-884E3484D7A0}"/>
              </a:ext>
            </a:extLst>
          </p:cNvPr>
          <p:cNvSpPr/>
          <p:nvPr/>
        </p:nvSpPr>
        <p:spPr>
          <a:xfrm>
            <a:off x="699323" y="2518475"/>
            <a:ext cx="876703" cy="4572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9EAC19D-81BF-6E87-D8FA-C522F7A5037D}"/>
              </a:ext>
            </a:extLst>
          </p:cNvPr>
          <p:cNvSpPr/>
          <p:nvPr/>
        </p:nvSpPr>
        <p:spPr>
          <a:xfrm>
            <a:off x="3632305" y="2515938"/>
            <a:ext cx="876703" cy="4572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E33B51A-4CF9-B9E0-7AB0-F8B3B0004FF1}"/>
              </a:ext>
            </a:extLst>
          </p:cNvPr>
          <p:cNvCxnSpPr/>
          <p:nvPr/>
        </p:nvCxnSpPr>
        <p:spPr>
          <a:xfrm flipH="1">
            <a:off x="1567096" y="2742963"/>
            <a:ext cx="540000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9EBBE265-2638-777A-155E-F6D9982A0C47}"/>
              </a:ext>
            </a:extLst>
          </p:cNvPr>
          <p:cNvSpPr txBox="1"/>
          <p:nvPr/>
        </p:nvSpPr>
        <p:spPr>
          <a:xfrm>
            <a:off x="1897611" y="4012301"/>
            <a:ext cx="1404000" cy="3708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Many to One</a:t>
            </a:r>
            <a:endParaRPr lang="en-IN" dirty="0"/>
          </a:p>
        </p:txBody>
      </p:sp>
      <p:sp>
        <p:nvSpPr>
          <p:cNvPr id="68" name="Diamond 67">
            <a:extLst>
              <a:ext uri="{FF2B5EF4-FFF2-40B4-BE49-F238E27FC236}">
                <a16:creationId xmlns:a16="http://schemas.microsoft.com/office/drawing/2014/main" id="{497F7918-99B3-3D93-2D16-F8ADE1FDE009}"/>
              </a:ext>
            </a:extLst>
          </p:cNvPr>
          <p:cNvSpPr/>
          <p:nvPr/>
        </p:nvSpPr>
        <p:spPr>
          <a:xfrm>
            <a:off x="2077525" y="3511902"/>
            <a:ext cx="1016909" cy="457200"/>
          </a:xfrm>
          <a:prstGeom prst="diamond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4FDB069-2E62-7641-5A26-3A6F7188DF64}"/>
              </a:ext>
            </a:extLst>
          </p:cNvPr>
          <p:cNvSpPr/>
          <p:nvPr/>
        </p:nvSpPr>
        <p:spPr>
          <a:xfrm>
            <a:off x="691755" y="3513027"/>
            <a:ext cx="876703" cy="4572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702A56E-AF4B-2DFC-7CD1-EA6CB47A0D9C}"/>
              </a:ext>
            </a:extLst>
          </p:cNvPr>
          <p:cNvSpPr/>
          <p:nvPr/>
        </p:nvSpPr>
        <p:spPr>
          <a:xfrm>
            <a:off x="3624737" y="3510490"/>
            <a:ext cx="876703" cy="4572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C2E3C3A-D5D3-E257-BA77-8FCF64A46091}"/>
              </a:ext>
            </a:extLst>
          </p:cNvPr>
          <p:cNvCxnSpPr/>
          <p:nvPr/>
        </p:nvCxnSpPr>
        <p:spPr>
          <a:xfrm>
            <a:off x="3087755" y="3740120"/>
            <a:ext cx="540000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2B4A538-A50F-B785-FE4C-C7B1CE7F9405}"/>
              </a:ext>
            </a:extLst>
          </p:cNvPr>
          <p:cNvCxnSpPr/>
          <p:nvPr/>
        </p:nvCxnSpPr>
        <p:spPr>
          <a:xfrm flipH="1">
            <a:off x="1565315" y="3740807"/>
            <a:ext cx="540000" cy="1125"/>
          </a:xfrm>
          <a:prstGeom prst="lin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2D9B2B57-4B0B-6D17-B766-6B9DE4BF3A66}"/>
              </a:ext>
            </a:extLst>
          </p:cNvPr>
          <p:cNvSpPr txBox="1"/>
          <p:nvPr/>
        </p:nvSpPr>
        <p:spPr>
          <a:xfrm>
            <a:off x="1807986" y="5070136"/>
            <a:ext cx="1548000" cy="3708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Many to Many</a:t>
            </a:r>
            <a:endParaRPr lang="en-IN" dirty="0"/>
          </a:p>
        </p:txBody>
      </p:sp>
      <p:sp>
        <p:nvSpPr>
          <p:cNvPr id="74" name="Diamond 73">
            <a:extLst>
              <a:ext uri="{FF2B5EF4-FFF2-40B4-BE49-F238E27FC236}">
                <a16:creationId xmlns:a16="http://schemas.microsoft.com/office/drawing/2014/main" id="{871BCB33-374A-AAD9-2E3C-4AC8435FEC1C}"/>
              </a:ext>
            </a:extLst>
          </p:cNvPr>
          <p:cNvSpPr/>
          <p:nvPr/>
        </p:nvSpPr>
        <p:spPr>
          <a:xfrm>
            <a:off x="2077840" y="4569737"/>
            <a:ext cx="1016909" cy="457200"/>
          </a:xfrm>
          <a:prstGeom prst="diamond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860CD83-EC7E-2BF2-E6C3-6EB5E26E0539}"/>
              </a:ext>
            </a:extLst>
          </p:cNvPr>
          <p:cNvSpPr/>
          <p:nvPr/>
        </p:nvSpPr>
        <p:spPr>
          <a:xfrm>
            <a:off x="692070" y="4570862"/>
            <a:ext cx="876703" cy="4572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D9A6BCE-CE25-30EB-D755-65CF0A0DA7C5}"/>
              </a:ext>
            </a:extLst>
          </p:cNvPr>
          <p:cNvSpPr/>
          <p:nvPr/>
        </p:nvSpPr>
        <p:spPr>
          <a:xfrm>
            <a:off x="3625052" y="4568325"/>
            <a:ext cx="876703" cy="4572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7639F22-FFED-164E-AC9B-7132413F002F}"/>
              </a:ext>
            </a:extLst>
          </p:cNvPr>
          <p:cNvCxnSpPr/>
          <p:nvPr/>
        </p:nvCxnSpPr>
        <p:spPr>
          <a:xfrm flipH="1">
            <a:off x="1555948" y="4798642"/>
            <a:ext cx="540000" cy="1125"/>
          </a:xfrm>
          <a:prstGeom prst="lin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F926D88-3C03-8323-2307-279973EBF97C}"/>
              </a:ext>
            </a:extLst>
          </p:cNvPr>
          <p:cNvCxnSpPr/>
          <p:nvPr/>
        </p:nvCxnSpPr>
        <p:spPr>
          <a:xfrm flipH="1">
            <a:off x="3075888" y="4795624"/>
            <a:ext cx="540000" cy="1125"/>
          </a:xfrm>
          <a:prstGeom prst="lin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Flowchart: Merge 78">
            <a:extLst>
              <a:ext uri="{FF2B5EF4-FFF2-40B4-BE49-F238E27FC236}">
                <a16:creationId xmlns:a16="http://schemas.microsoft.com/office/drawing/2014/main" id="{B3576FE2-95C1-35CD-919B-64398E1AA668}"/>
              </a:ext>
            </a:extLst>
          </p:cNvPr>
          <p:cNvSpPr/>
          <p:nvPr/>
        </p:nvSpPr>
        <p:spPr>
          <a:xfrm>
            <a:off x="6258370" y="1514951"/>
            <a:ext cx="1260000" cy="457200"/>
          </a:xfrm>
          <a:prstGeom prst="flowChartMerge">
            <a:avLst/>
          </a:prstGeom>
          <a:noFill/>
          <a:ln w="28575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ISA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C5A855B-9808-2892-BBF2-C4233D87D377}"/>
              </a:ext>
            </a:extLst>
          </p:cNvPr>
          <p:cNvSpPr txBox="1"/>
          <p:nvPr/>
        </p:nvSpPr>
        <p:spPr>
          <a:xfrm>
            <a:off x="6114370" y="1972151"/>
            <a:ext cx="154800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Total</a:t>
            </a:r>
          </a:p>
          <a:p>
            <a:pPr algn="ctr"/>
            <a:r>
              <a:rPr lang="en-US" dirty="0"/>
              <a:t>Specialization/</a:t>
            </a:r>
          </a:p>
          <a:p>
            <a:pPr algn="ctr"/>
            <a:r>
              <a:rPr lang="en-US" dirty="0"/>
              <a:t>Generalization</a:t>
            </a:r>
            <a:endParaRPr lang="en-IN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69B553E-9A79-3A49-B7EA-4FD2A2F47FD2}"/>
              </a:ext>
            </a:extLst>
          </p:cNvPr>
          <p:cNvCxnSpPr>
            <a:stCxn id="79" idx="0"/>
          </p:cNvCxnSpPr>
          <p:nvPr/>
        </p:nvCxnSpPr>
        <p:spPr>
          <a:xfrm flipV="1">
            <a:off x="6888370" y="1210151"/>
            <a:ext cx="0" cy="304800"/>
          </a:xfrm>
          <a:prstGeom prst="lin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02F03F0-A0E3-8195-CC29-3CF42AB69866}"/>
              </a:ext>
            </a:extLst>
          </p:cNvPr>
          <p:cNvCxnSpPr>
            <a:endCxn id="79" idx="1"/>
          </p:cNvCxnSpPr>
          <p:nvPr/>
        </p:nvCxnSpPr>
        <p:spPr>
          <a:xfrm flipV="1">
            <a:off x="6258370" y="1743551"/>
            <a:ext cx="315000" cy="255877"/>
          </a:xfrm>
          <a:prstGeom prst="lin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23EA707-217B-3BAF-464B-7E2F7FEC4C70}"/>
              </a:ext>
            </a:extLst>
          </p:cNvPr>
          <p:cNvCxnSpPr>
            <a:endCxn id="79" idx="3"/>
          </p:cNvCxnSpPr>
          <p:nvPr/>
        </p:nvCxnSpPr>
        <p:spPr>
          <a:xfrm flipH="1" flipV="1">
            <a:off x="7203370" y="1743551"/>
            <a:ext cx="315000" cy="247085"/>
          </a:xfrm>
          <a:prstGeom prst="lin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3AA5DDE-5E20-B01D-2AA4-506DB7690446}"/>
              </a:ext>
            </a:extLst>
          </p:cNvPr>
          <p:cNvCxnSpPr/>
          <p:nvPr/>
        </p:nvCxnSpPr>
        <p:spPr>
          <a:xfrm flipV="1">
            <a:off x="6952570" y="1210151"/>
            <a:ext cx="0" cy="304800"/>
          </a:xfrm>
          <a:prstGeom prst="lin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Flowchart: Merge 84">
            <a:extLst>
              <a:ext uri="{FF2B5EF4-FFF2-40B4-BE49-F238E27FC236}">
                <a16:creationId xmlns:a16="http://schemas.microsoft.com/office/drawing/2014/main" id="{96DA2920-8018-2E66-CC27-8DC93D932D2D}"/>
              </a:ext>
            </a:extLst>
          </p:cNvPr>
          <p:cNvSpPr/>
          <p:nvPr/>
        </p:nvSpPr>
        <p:spPr>
          <a:xfrm>
            <a:off x="8973581" y="1583634"/>
            <a:ext cx="1260000" cy="457200"/>
          </a:xfrm>
          <a:prstGeom prst="flowChartMerge">
            <a:avLst/>
          </a:prstGeom>
          <a:noFill/>
          <a:ln w="28575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ISA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D65E71F-9106-0D89-D32E-62277C6B27AE}"/>
              </a:ext>
            </a:extLst>
          </p:cNvPr>
          <p:cNvSpPr txBox="1"/>
          <p:nvPr/>
        </p:nvSpPr>
        <p:spPr>
          <a:xfrm>
            <a:off x="8829581" y="2040834"/>
            <a:ext cx="154800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Disjoint</a:t>
            </a:r>
          </a:p>
          <a:p>
            <a:pPr algn="ctr"/>
            <a:r>
              <a:rPr lang="en-US" dirty="0"/>
              <a:t>Specialization/</a:t>
            </a:r>
          </a:p>
          <a:p>
            <a:pPr algn="ctr"/>
            <a:r>
              <a:rPr lang="en-US" dirty="0"/>
              <a:t>Generalization</a:t>
            </a:r>
            <a:endParaRPr lang="en-IN" dirty="0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36CC3F7-6A38-EF39-6E6E-B3F79004DEBC}"/>
              </a:ext>
            </a:extLst>
          </p:cNvPr>
          <p:cNvCxnSpPr>
            <a:stCxn id="85" idx="0"/>
          </p:cNvCxnSpPr>
          <p:nvPr/>
        </p:nvCxnSpPr>
        <p:spPr>
          <a:xfrm flipV="1">
            <a:off x="9603581" y="1278834"/>
            <a:ext cx="0" cy="304800"/>
          </a:xfrm>
          <a:prstGeom prst="lin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657B74B-1599-9910-EAB9-112BDFE30A40}"/>
              </a:ext>
            </a:extLst>
          </p:cNvPr>
          <p:cNvCxnSpPr>
            <a:endCxn id="85" idx="1"/>
          </p:cNvCxnSpPr>
          <p:nvPr/>
        </p:nvCxnSpPr>
        <p:spPr>
          <a:xfrm flipV="1">
            <a:off x="8973581" y="1812234"/>
            <a:ext cx="315000" cy="255877"/>
          </a:xfrm>
          <a:prstGeom prst="lin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F1E81D8-35D1-09D7-6990-CA4C75352ACF}"/>
              </a:ext>
            </a:extLst>
          </p:cNvPr>
          <p:cNvCxnSpPr>
            <a:endCxn id="85" idx="3"/>
          </p:cNvCxnSpPr>
          <p:nvPr/>
        </p:nvCxnSpPr>
        <p:spPr>
          <a:xfrm flipH="1" flipV="1">
            <a:off x="9918581" y="1812234"/>
            <a:ext cx="315000" cy="247085"/>
          </a:xfrm>
          <a:prstGeom prst="lin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73B8B180-4A31-0470-4CF0-F7E0DA513B27}"/>
              </a:ext>
            </a:extLst>
          </p:cNvPr>
          <p:cNvSpPr txBox="1"/>
          <p:nvPr/>
        </p:nvSpPr>
        <p:spPr>
          <a:xfrm>
            <a:off x="9618298" y="1243743"/>
            <a:ext cx="95820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r>
              <a:rPr lang="en-US" sz="1400" dirty="0"/>
              <a:t>Disjoint</a:t>
            </a:r>
            <a:endParaRPr lang="en-IN" sz="1400" dirty="0"/>
          </a:p>
        </p:txBody>
      </p:sp>
      <p:sp>
        <p:nvSpPr>
          <p:cNvPr id="91" name="Flowchart: Merge 90">
            <a:extLst>
              <a:ext uri="{FF2B5EF4-FFF2-40B4-BE49-F238E27FC236}">
                <a16:creationId xmlns:a16="http://schemas.microsoft.com/office/drawing/2014/main" id="{4702222C-13E6-D670-9FD2-F44B88EF250D}"/>
              </a:ext>
            </a:extLst>
          </p:cNvPr>
          <p:cNvSpPr/>
          <p:nvPr/>
        </p:nvSpPr>
        <p:spPr>
          <a:xfrm>
            <a:off x="9117581" y="4043582"/>
            <a:ext cx="1260000" cy="457200"/>
          </a:xfrm>
          <a:prstGeom prst="flowChartMerge">
            <a:avLst/>
          </a:prstGeom>
          <a:noFill/>
          <a:ln w="28575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ISA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59F6E57-41A7-3DCD-EF13-272DF9F97D9B}"/>
              </a:ext>
            </a:extLst>
          </p:cNvPr>
          <p:cNvSpPr txBox="1"/>
          <p:nvPr/>
        </p:nvSpPr>
        <p:spPr>
          <a:xfrm>
            <a:off x="8973581" y="4509712"/>
            <a:ext cx="154800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Overlapping</a:t>
            </a:r>
          </a:p>
          <a:p>
            <a:pPr algn="ctr"/>
            <a:r>
              <a:rPr lang="en-US" dirty="0"/>
              <a:t>Specialization/</a:t>
            </a:r>
          </a:p>
          <a:p>
            <a:pPr algn="ctr"/>
            <a:r>
              <a:rPr lang="en-US" dirty="0"/>
              <a:t>Generalization</a:t>
            </a:r>
            <a:endParaRPr lang="en-IN" dirty="0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CD23367-B210-50E3-AEF6-EC2DB8E72A34}"/>
              </a:ext>
            </a:extLst>
          </p:cNvPr>
          <p:cNvCxnSpPr/>
          <p:nvPr/>
        </p:nvCxnSpPr>
        <p:spPr>
          <a:xfrm flipV="1">
            <a:off x="9747581" y="3747712"/>
            <a:ext cx="0" cy="304800"/>
          </a:xfrm>
          <a:prstGeom prst="lin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384C70F-0743-D5CB-ECE5-429EB84FBBE3}"/>
              </a:ext>
            </a:extLst>
          </p:cNvPr>
          <p:cNvCxnSpPr>
            <a:endCxn id="91" idx="1"/>
          </p:cNvCxnSpPr>
          <p:nvPr/>
        </p:nvCxnSpPr>
        <p:spPr>
          <a:xfrm flipV="1">
            <a:off x="9117581" y="4272182"/>
            <a:ext cx="315000" cy="255877"/>
          </a:xfrm>
          <a:prstGeom prst="lin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0D5D535-F28A-69CB-1487-8F6C288DE71C}"/>
              </a:ext>
            </a:extLst>
          </p:cNvPr>
          <p:cNvCxnSpPr>
            <a:endCxn id="91" idx="3"/>
          </p:cNvCxnSpPr>
          <p:nvPr/>
        </p:nvCxnSpPr>
        <p:spPr>
          <a:xfrm flipH="1" flipV="1">
            <a:off x="10062581" y="4272182"/>
            <a:ext cx="315000" cy="247085"/>
          </a:xfrm>
          <a:prstGeom prst="lin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53144EDD-7B2F-9D1A-5360-888D3AD15DD0}"/>
              </a:ext>
            </a:extLst>
          </p:cNvPr>
          <p:cNvSpPr txBox="1"/>
          <p:nvPr/>
        </p:nvSpPr>
        <p:spPr>
          <a:xfrm>
            <a:off x="9747581" y="3689017"/>
            <a:ext cx="1080000" cy="309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r>
              <a:rPr lang="en-US" sz="1400" dirty="0"/>
              <a:t>Overlapping</a:t>
            </a:r>
            <a:endParaRPr lang="en-IN" sz="1400" dirty="0"/>
          </a:p>
        </p:txBody>
      </p:sp>
      <p:sp>
        <p:nvSpPr>
          <p:cNvPr id="97" name="Flowchart: Merge 96">
            <a:extLst>
              <a:ext uri="{FF2B5EF4-FFF2-40B4-BE49-F238E27FC236}">
                <a16:creationId xmlns:a16="http://schemas.microsoft.com/office/drawing/2014/main" id="{1F6C2A13-CF9B-A142-D8A9-B4CACE6FD0CA}"/>
              </a:ext>
            </a:extLst>
          </p:cNvPr>
          <p:cNvSpPr/>
          <p:nvPr/>
        </p:nvSpPr>
        <p:spPr>
          <a:xfrm>
            <a:off x="6137019" y="4014066"/>
            <a:ext cx="1260000" cy="457200"/>
          </a:xfrm>
          <a:prstGeom prst="flowChartMerge">
            <a:avLst/>
          </a:prstGeom>
          <a:noFill/>
          <a:ln w="28575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ISA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9B1EA7A-5502-3BB0-527E-F328F7ABCB77}"/>
              </a:ext>
            </a:extLst>
          </p:cNvPr>
          <p:cNvSpPr txBox="1"/>
          <p:nvPr/>
        </p:nvSpPr>
        <p:spPr>
          <a:xfrm>
            <a:off x="5993019" y="4471266"/>
            <a:ext cx="154800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Partial</a:t>
            </a:r>
          </a:p>
          <a:p>
            <a:pPr algn="ctr"/>
            <a:r>
              <a:rPr lang="en-US" dirty="0"/>
              <a:t>Specialization/</a:t>
            </a:r>
          </a:p>
          <a:p>
            <a:pPr algn="ctr"/>
            <a:r>
              <a:rPr lang="en-US" dirty="0"/>
              <a:t>Generalization</a:t>
            </a:r>
            <a:endParaRPr lang="en-IN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31191F22-0F92-CF96-4405-7BC2121C3A66}"/>
              </a:ext>
            </a:extLst>
          </p:cNvPr>
          <p:cNvCxnSpPr>
            <a:stCxn id="97" idx="0"/>
          </p:cNvCxnSpPr>
          <p:nvPr/>
        </p:nvCxnSpPr>
        <p:spPr>
          <a:xfrm flipV="1">
            <a:off x="6767019" y="3709266"/>
            <a:ext cx="0" cy="304800"/>
          </a:xfrm>
          <a:prstGeom prst="lin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CA2B2BD-29FD-CCE7-692F-AED50E509746}"/>
              </a:ext>
            </a:extLst>
          </p:cNvPr>
          <p:cNvCxnSpPr>
            <a:endCxn id="97" idx="1"/>
          </p:cNvCxnSpPr>
          <p:nvPr/>
        </p:nvCxnSpPr>
        <p:spPr>
          <a:xfrm flipV="1">
            <a:off x="6137019" y="4242666"/>
            <a:ext cx="315000" cy="255877"/>
          </a:xfrm>
          <a:prstGeom prst="lin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0FE3FCC2-C3DC-8C54-0F38-DF5225F6BA86}"/>
              </a:ext>
            </a:extLst>
          </p:cNvPr>
          <p:cNvCxnSpPr>
            <a:endCxn id="97" idx="3"/>
          </p:cNvCxnSpPr>
          <p:nvPr/>
        </p:nvCxnSpPr>
        <p:spPr>
          <a:xfrm flipH="1" flipV="1">
            <a:off x="7082019" y="4242666"/>
            <a:ext cx="315000" cy="247085"/>
          </a:xfrm>
          <a:prstGeom prst="lin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619462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 animBg="1"/>
      <p:bldP spid="57" grpId="0" animBg="1"/>
      <p:bldP spid="58" grpId="0" animBg="1"/>
      <p:bldP spid="62" grpId="0"/>
      <p:bldP spid="63" grpId="0" animBg="1"/>
      <p:bldP spid="64" grpId="0" animBg="1"/>
      <p:bldP spid="65" grpId="0" animBg="1"/>
      <p:bldP spid="67" grpId="0"/>
      <p:bldP spid="68" grpId="0" animBg="1"/>
      <p:bldP spid="69" grpId="0" animBg="1"/>
      <p:bldP spid="70" grpId="0" animBg="1"/>
      <p:bldP spid="73" grpId="0"/>
      <p:bldP spid="74" grpId="0" animBg="1"/>
      <p:bldP spid="75" grpId="0" animBg="1"/>
      <p:bldP spid="76" grpId="0" animBg="1"/>
      <p:bldP spid="79" grpId="0" animBg="1"/>
      <p:bldP spid="80" grpId="0"/>
      <p:bldP spid="85" grpId="0" animBg="1"/>
      <p:bldP spid="86" grpId="0"/>
      <p:bldP spid="90" grpId="0"/>
      <p:bldP spid="91" grpId="0" animBg="1"/>
      <p:bldP spid="92" grpId="0"/>
      <p:bldP spid="96" grpId="0"/>
      <p:bldP spid="97" grpId="0" animBg="1"/>
      <p:bldP spid="9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E-R diagram of Hospital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1775" y="2809206"/>
            <a:ext cx="1698171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Patient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9569564" y="2804850"/>
            <a:ext cx="1698171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Hospital</a:t>
            </a:r>
          </a:p>
        </p:txBody>
      </p:sp>
      <p:sp>
        <p:nvSpPr>
          <p:cNvPr id="8" name="Diamond 7"/>
          <p:cNvSpPr/>
          <p:nvPr/>
        </p:nvSpPr>
        <p:spPr>
          <a:xfrm>
            <a:off x="6951183" y="2799907"/>
            <a:ext cx="2150296" cy="457200"/>
          </a:xfrm>
          <a:prstGeom prst="diamond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Admitted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6533844" y="2981108"/>
            <a:ext cx="594360" cy="9299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Straight Connector 9"/>
          <p:cNvCxnSpPr>
            <a:cxnSpLocks/>
            <a:stCxn id="11" idx="4"/>
            <a:endCxn id="6" idx="0"/>
          </p:cNvCxnSpPr>
          <p:nvPr/>
        </p:nvCxnSpPr>
        <p:spPr>
          <a:xfrm>
            <a:off x="3920329" y="2036264"/>
            <a:ext cx="1750532" cy="772942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Oval 10"/>
          <p:cNvSpPr/>
          <p:nvPr/>
        </p:nvSpPr>
        <p:spPr>
          <a:xfrm>
            <a:off x="3188809" y="1613354"/>
            <a:ext cx="1463040" cy="42291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PatID</a:t>
            </a:r>
            <a:endParaRPr lang="en-US" u="sng" dirty="0">
              <a:solidFill>
                <a:schemeClr val="tx1"/>
              </a:solidFill>
            </a:endParaRPr>
          </a:p>
        </p:txBody>
      </p:sp>
      <p:cxnSp>
        <p:nvCxnSpPr>
          <p:cNvPr id="12" name="Straight Connector 11"/>
          <p:cNvCxnSpPr>
            <a:stCxn id="13" idx="4"/>
            <a:endCxn id="6" idx="0"/>
          </p:cNvCxnSpPr>
          <p:nvPr/>
        </p:nvCxnSpPr>
        <p:spPr>
          <a:xfrm>
            <a:off x="5657163" y="2343802"/>
            <a:ext cx="13698" cy="465404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Oval 12"/>
          <p:cNvSpPr/>
          <p:nvPr/>
        </p:nvSpPr>
        <p:spPr>
          <a:xfrm>
            <a:off x="4925643" y="1920892"/>
            <a:ext cx="1463040" cy="42291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Name</a:t>
            </a:r>
          </a:p>
        </p:txBody>
      </p:sp>
      <p:cxnSp>
        <p:nvCxnSpPr>
          <p:cNvPr id="14" name="Straight Connector 13"/>
          <p:cNvCxnSpPr>
            <a:stCxn id="15" idx="4"/>
          </p:cNvCxnSpPr>
          <p:nvPr/>
        </p:nvCxnSpPr>
        <p:spPr>
          <a:xfrm>
            <a:off x="9489592" y="2369221"/>
            <a:ext cx="963389" cy="435973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Oval 14"/>
          <p:cNvSpPr/>
          <p:nvPr/>
        </p:nvSpPr>
        <p:spPr>
          <a:xfrm>
            <a:off x="8758072" y="1946311"/>
            <a:ext cx="1463040" cy="42291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HosID</a:t>
            </a:r>
            <a:endParaRPr lang="en-US" u="sng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/>
          <p:cNvCxnSpPr>
            <a:stCxn id="17" idx="4"/>
          </p:cNvCxnSpPr>
          <p:nvPr/>
        </p:nvCxnSpPr>
        <p:spPr>
          <a:xfrm flipH="1">
            <a:off x="10452981" y="2346810"/>
            <a:ext cx="654734" cy="458384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Oval 16"/>
          <p:cNvSpPr/>
          <p:nvPr/>
        </p:nvSpPr>
        <p:spPr>
          <a:xfrm>
            <a:off x="10376195" y="1923900"/>
            <a:ext cx="1463040" cy="42291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Name</a:t>
            </a:r>
          </a:p>
        </p:txBody>
      </p:sp>
      <p:sp>
        <p:nvSpPr>
          <p:cNvPr id="18" name="Diamond 17"/>
          <p:cNvSpPr/>
          <p:nvPr/>
        </p:nvSpPr>
        <p:spPr>
          <a:xfrm>
            <a:off x="2520142" y="2809206"/>
            <a:ext cx="1724298" cy="457200"/>
          </a:xfrm>
          <a:prstGeom prst="diamond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2452" y="2803131"/>
            <a:ext cx="1698171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Medical Record</a:t>
            </a:r>
          </a:p>
        </p:txBody>
      </p:sp>
      <p:cxnSp>
        <p:nvCxnSpPr>
          <p:cNvPr id="20" name="Straight Connector 19"/>
          <p:cNvCxnSpPr>
            <a:stCxn id="19" idx="0"/>
            <a:endCxn id="21" idx="4"/>
          </p:cNvCxnSpPr>
          <p:nvPr/>
        </p:nvCxnSpPr>
        <p:spPr>
          <a:xfrm flipV="1">
            <a:off x="1071538" y="2225969"/>
            <a:ext cx="0" cy="577162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Oval 20"/>
          <p:cNvSpPr/>
          <p:nvPr/>
        </p:nvSpPr>
        <p:spPr>
          <a:xfrm>
            <a:off x="340018" y="1768769"/>
            <a:ext cx="1463040" cy="45720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MRID</a:t>
            </a:r>
          </a:p>
        </p:txBody>
      </p:sp>
      <p:cxnSp>
        <p:nvCxnSpPr>
          <p:cNvPr id="22" name="Straight Connector 21"/>
          <p:cNvCxnSpPr/>
          <p:nvPr/>
        </p:nvCxnSpPr>
        <p:spPr>
          <a:xfrm rot="5400000" flipV="1">
            <a:off x="4512652" y="2717766"/>
            <a:ext cx="526" cy="640080"/>
          </a:xfrm>
          <a:prstGeom prst="line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5400000" flipV="1">
            <a:off x="2294696" y="2630458"/>
            <a:ext cx="527" cy="731520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Diamond 23"/>
          <p:cNvSpPr/>
          <p:nvPr/>
        </p:nvSpPr>
        <p:spPr>
          <a:xfrm>
            <a:off x="9553235" y="3703622"/>
            <a:ext cx="1724298" cy="457200"/>
          </a:xfrm>
          <a:prstGeom prst="diamond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66298" y="4567650"/>
            <a:ext cx="1698171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Doctor</a:t>
            </a:r>
          </a:p>
        </p:txBody>
      </p:sp>
      <p:cxnSp>
        <p:nvCxnSpPr>
          <p:cNvPr id="26" name="Straight Connector 25"/>
          <p:cNvCxnSpPr>
            <a:stCxn id="25" idx="2"/>
            <a:endCxn id="27" idx="0"/>
          </p:cNvCxnSpPr>
          <p:nvPr/>
        </p:nvCxnSpPr>
        <p:spPr>
          <a:xfrm flipH="1">
            <a:off x="9598955" y="5024850"/>
            <a:ext cx="816429" cy="404250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Oval 26"/>
          <p:cNvSpPr/>
          <p:nvPr/>
        </p:nvSpPr>
        <p:spPr>
          <a:xfrm>
            <a:off x="8867435" y="5429100"/>
            <a:ext cx="1463040" cy="45720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>
                <a:solidFill>
                  <a:schemeClr val="tx1"/>
                </a:solidFill>
              </a:rPr>
              <a:t>DrID</a:t>
            </a:r>
            <a:endParaRPr lang="en-US" u="sng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10414857" y="4146266"/>
            <a:ext cx="526" cy="404250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" name="Straight Connector 28"/>
          <p:cNvCxnSpPr>
            <a:stCxn id="24" idx="0"/>
            <a:endCxn id="7" idx="2"/>
          </p:cNvCxnSpPr>
          <p:nvPr/>
        </p:nvCxnSpPr>
        <p:spPr>
          <a:xfrm flipV="1">
            <a:off x="10415384" y="3262050"/>
            <a:ext cx="3266" cy="441572"/>
          </a:xfrm>
          <a:prstGeom prst="line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Diamond 29"/>
          <p:cNvSpPr/>
          <p:nvPr/>
        </p:nvSpPr>
        <p:spPr>
          <a:xfrm rot="1261021">
            <a:off x="6975631" y="3752700"/>
            <a:ext cx="2150296" cy="457200"/>
          </a:xfrm>
          <a:prstGeom prst="diamond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Treats</a:t>
            </a:r>
          </a:p>
        </p:txBody>
      </p:sp>
      <p:cxnSp>
        <p:nvCxnSpPr>
          <p:cNvPr id="31" name="Straight Connector 30"/>
          <p:cNvCxnSpPr>
            <a:stCxn id="30" idx="3"/>
          </p:cNvCxnSpPr>
          <p:nvPr/>
        </p:nvCxnSpPr>
        <p:spPr>
          <a:xfrm>
            <a:off x="9054402" y="4366897"/>
            <a:ext cx="511369" cy="198175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" name="Straight Connector 31"/>
          <p:cNvCxnSpPr>
            <a:endCxn id="30" idx="1"/>
          </p:cNvCxnSpPr>
          <p:nvPr/>
        </p:nvCxnSpPr>
        <p:spPr>
          <a:xfrm>
            <a:off x="6057260" y="3272324"/>
            <a:ext cx="989896" cy="323379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" name="Straight Connector 32"/>
          <p:cNvCxnSpPr>
            <a:stCxn id="25" idx="2"/>
            <a:endCxn id="34" idx="0"/>
          </p:cNvCxnSpPr>
          <p:nvPr/>
        </p:nvCxnSpPr>
        <p:spPr>
          <a:xfrm>
            <a:off x="10415384" y="5024850"/>
            <a:ext cx="824894" cy="403829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Oval 33"/>
          <p:cNvSpPr/>
          <p:nvPr/>
        </p:nvSpPr>
        <p:spPr>
          <a:xfrm>
            <a:off x="10508758" y="5428679"/>
            <a:ext cx="1463040" cy="45720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Dr</a:t>
            </a:r>
            <a:r>
              <a:rPr lang="en-US" dirty="0">
                <a:solidFill>
                  <a:schemeClr val="tx1"/>
                </a:solidFill>
              </a:rPr>
              <a:t> Name</a:t>
            </a:r>
          </a:p>
        </p:txBody>
      </p:sp>
      <p:cxnSp>
        <p:nvCxnSpPr>
          <p:cNvPr id="35" name="Straight Connector 34"/>
          <p:cNvCxnSpPr>
            <a:stCxn id="19" idx="2"/>
            <a:endCxn id="36" idx="0"/>
          </p:cNvCxnSpPr>
          <p:nvPr/>
        </p:nvCxnSpPr>
        <p:spPr>
          <a:xfrm>
            <a:off x="1071538" y="3260331"/>
            <a:ext cx="138381" cy="342252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Oval 35"/>
          <p:cNvSpPr/>
          <p:nvPr/>
        </p:nvSpPr>
        <p:spPr>
          <a:xfrm>
            <a:off x="203084" y="3602583"/>
            <a:ext cx="2013670" cy="45720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Report Name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9019788" y="3022507"/>
            <a:ext cx="566928" cy="11864"/>
          </a:xfrm>
          <a:prstGeom prst="line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57" idx="1"/>
          </p:cNvCxnSpPr>
          <p:nvPr/>
        </p:nvCxnSpPr>
        <p:spPr>
          <a:xfrm flipH="1">
            <a:off x="4952693" y="3928135"/>
            <a:ext cx="467329" cy="4101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56" name="Straight Connector 55"/>
          <p:cNvCxnSpPr>
            <a:stCxn id="57" idx="3"/>
          </p:cNvCxnSpPr>
          <p:nvPr/>
        </p:nvCxnSpPr>
        <p:spPr>
          <a:xfrm>
            <a:off x="5928022" y="3928135"/>
            <a:ext cx="389415" cy="4101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57" name="Flowchart: Merge 56"/>
          <p:cNvSpPr/>
          <p:nvPr/>
        </p:nvSpPr>
        <p:spPr>
          <a:xfrm>
            <a:off x="5166022" y="3724074"/>
            <a:ext cx="1016000" cy="408122"/>
          </a:xfrm>
          <a:prstGeom prst="flowChartMerg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sz="1600" dirty="0"/>
              <a:t>ISA</a:t>
            </a:r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4512915" y="4323063"/>
            <a:ext cx="884247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Indoor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81017" y="4335610"/>
            <a:ext cx="984674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Outdoor</a:t>
            </a:r>
          </a:p>
        </p:txBody>
      </p:sp>
      <p:cxnSp>
        <p:nvCxnSpPr>
          <p:cNvPr id="60" name="Straight Connector 59"/>
          <p:cNvCxnSpPr>
            <a:stCxn id="61" idx="0"/>
          </p:cNvCxnSpPr>
          <p:nvPr/>
        </p:nvCxnSpPr>
        <p:spPr>
          <a:xfrm flipV="1">
            <a:off x="4898593" y="4787642"/>
            <a:ext cx="54100" cy="477643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1" name="Oval 60"/>
          <p:cNvSpPr/>
          <p:nvPr/>
        </p:nvSpPr>
        <p:spPr>
          <a:xfrm>
            <a:off x="4167073" y="5265285"/>
            <a:ext cx="1463040" cy="42291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IPDID</a:t>
            </a:r>
          </a:p>
        </p:txBody>
      </p:sp>
      <p:cxnSp>
        <p:nvCxnSpPr>
          <p:cNvPr id="62" name="Straight Connector 61"/>
          <p:cNvCxnSpPr>
            <a:stCxn id="63" idx="0"/>
            <a:endCxn id="59" idx="2"/>
          </p:cNvCxnSpPr>
          <p:nvPr/>
        </p:nvCxnSpPr>
        <p:spPr>
          <a:xfrm flipH="1" flipV="1">
            <a:off x="6273354" y="4792810"/>
            <a:ext cx="1034754" cy="542362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Oval 62"/>
          <p:cNvSpPr/>
          <p:nvPr/>
        </p:nvSpPr>
        <p:spPr>
          <a:xfrm>
            <a:off x="6576588" y="5335172"/>
            <a:ext cx="1463040" cy="42291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OPDID</a:t>
            </a:r>
          </a:p>
        </p:txBody>
      </p:sp>
      <p:cxnSp>
        <p:nvCxnSpPr>
          <p:cNvPr id="64" name="Straight Connector 63"/>
          <p:cNvCxnSpPr>
            <a:cxnSpLocks/>
            <a:stCxn id="65" idx="0"/>
          </p:cNvCxnSpPr>
          <p:nvPr/>
        </p:nvCxnSpPr>
        <p:spPr>
          <a:xfrm flipV="1">
            <a:off x="3451261" y="4561294"/>
            <a:ext cx="1050760" cy="444475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Oval 64"/>
          <p:cNvSpPr/>
          <p:nvPr/>
        </p:nvSpPr>
        <p:spPr>
          <a:xfrm>
            <a:off x="2719741" y="5005769"/>
            <a:ext cx="1463040" cy="42291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RoomNo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6" name="Straight Connector 65"/>
          <p:cNvCxnSpPr>
            <a:stCxn id="59" idx="2"/>
            <a:endCxn id="67" idx="0"/>
          </p:cNvCxnSpPr>
          <p:nvPr/>
        </p:nvCxnSpPr>
        <p:spPr>
          <a:xfrm flipH="1">
            <a:off x="6209820" y="4792810"/>
            <a:ext cx="63534" cy="996901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Oval 66"/>
          <p:cNvSpPr/>
          <p:nvPr/>
        </p:nvSpPr>
        <p:spPr>
          <a:xfrm>
            <a:off x="5615820" y="5789711"/>
            <a:ext cx="1188000" cy="42291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Charge</a:t>
            </a:r>
          </a:p>
        </p:txBody>
      </p:sp>
      <p:cxnSp>
        <p:nvCxnSpPr>
          <p:cNvPr id="50" name="Straight Connector 49"/>
          <p:cNvCxnSpPr/>
          <p:nvPr/>
        </p:nvCxnSpPr>
        <p:spPr>
          <a:xfrm rot="5400000" flipV="1">
            <a:off x="2294697" y="2714445"/>
            <a:ext cx="527" cy="731520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" name="Straight Connector 50"/>
          <p:cNvCxnSpPr>
            <a:cxnSpLocks/>
          </p:cNvCxnSpPr>
          <p:nvPr/>
        </p:nvCxnSpPr>
        <p:spPr>
          <a:xfrm>
            <a:off x="5617688" y="3266842"/>
            <a:ext cx="3161" cy="457668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6538113" y="3070642"/>
            <a:ext cx="594360" cy="9299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5CFE1F2-9876-BB92-35CD-80C090ED2757}"/>
              </a:ext>
            </a:extLst>
          </p:cNvPr>
          <p:cNvCxnSpPr>
            <a:cxnSpLocks/>
          </p:cNvCxnSpPr>
          <p:nvPr/>
        </p:nvCxnSpPr>
        <p:spPr>
          <a:xfrm>
            <a:off x="5678640" y="3266874"/>
            <a:ext cx="3161" cy="457668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07731D25-026C-2806-26E9-95EDE8AA5BA6}"/>
              </a:ext>
            </a:extLst>
          </p:cNvPr>
          <p:cNvSpPr/>
          <p:nvPr/>
        </p:nvSpPr>
        <p:spPr>
          <a:xfrm>
            <a:off x="6595308" y="1858381"/>
            <a:ext cx="1544040" cy="389236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PhoneNo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C14A1F9-987C-ED65-186C-D13076306F53}"/>
              </a:ext>
            </a:extLst>
          </p:cNvPr>
          <p:cNvSpPr/>
          <p:nvPr/>
        </p:nvSpPr>
        <p:spPr>
          <a:xfrm>
            <a:off x="6508392" y="1762981"/>
            <a:ext cx="1702092" cy="55167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B20F6B3-C23F-D700-6A4E-C9A460549B8C}"/>
              </a:ext>
            </a:extLst>
          </p:cNvPr>
          <p:cNvCxnSpPr>
            <a:cxnSpLocks/>
            <a:stCxn id="38" idx="3"/>
            <a:endCxn id="6" idx="0"/>
          </p:cNvCxnSpPr>
          <p:nvPr/>
        </p:nvCxnSpPr>
        <p:spPr>
          <a:xfrm flipH="1">
            <a:off x="5670861" y="2233863"/>
            <a:ext cx="1086797" cy="575343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ED1F974-3779-03C0-4688-592C59B6403E}"/>
              </a:ext>
            </a:extLst>
          </p:cNvPr>
          <p:cNvCxnSpPr>
            <a:cxnSpLocks/>
            <a:stCxn id="48" idx="5"/>
          </p:cNvCxnSpPr>
          <p:nvPr/>
        </p:nvCxnSpPr>
        <p:spPr>
          <a:xfrm>
            <a:off x="3722313" y="2485929"/>
            <a:ext cx="1357515" cy="318921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992BF004-0822-0381-30E0-C03111C33ED1}"/>
              </a:ext>
            </a:extLst>
          </p:cNvPr>
          <p:cNvSpPr/>
          <p:nvPr/>
        </p:nvSpPr>
        <p:spPr>
          <a:xfrm>
            <a:off x="2473530" y="2124953"/>
            <a:ext cx="1463040" cy="422910"/>
          </a:xfrm>
          <a:prstGeom prst="ellipse">
            <a:avLst/>
          </a:prstGeom>
          <a:noFill/>
          <a:ln w="28575">
            <a:solidFill>
              <a:schemeClr val="tx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FA7EA1C-4936-987E-3B77-1D25C4B60D4B}"/>
              </a:ext>
            </a:extLst>
          </p:cNvPr>
          <p:cNvSpPr/>
          <p:nvPr/>
        </p:nvSpPr>
        <p:spPr>
          <a:xfrm>
            <a:off x="3143000" y="990172"/>
            <a:ext cx="1587139" cy="42291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FirstName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C16CF3C-D1DC-FDF5-9A35-8EB33692EBE5}"/>
              </a:ext>
            </a:extLst>
          </p:cNvPr>
          <p:cNvSpPr/>
          <p:nvPr/>
        </p:nvSpPr>
        <p:spPr>
          <a:xfrm>
            <a:off x="4925643" y="802574"/>
            <a:ext cx="1463040" cy="574275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Middle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Name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180A3C2-88FC-6CDF-9F4C-C65013C60771}"/>
              </a:ext>
            </a:extLst>
          </p:cNvPr>
          <p:cNvSpPr/>
          <p:nvPr/>
        </p:nvSpPr>
        <p:spPr>
          <a:xfrm>
            <a:off x="6565868" y="1015422"/>
            <a:ext cx="1587140" cy="42291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LastName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81C127D-175A-5A52-93EF-1170D6727226}"/>
              </a:ext>
            </a:extLst>
          </p:cNvPr>
          <p:cNvCxnSpPr>
            <a:cxnSpLocks/>
            <a:stCxn id="83" idx="4"/>
            <a:endCxn id="13" idx="0"/>
          </p:cNvCxnSpPr>
          <p:nvPr/>
        </p:nvCxnSpPr>
        <p:spPr>
          <a:xfrm>
            <a:off x="5657163" y="1376849"/>
            <a:ext cx="0" cy="544043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33392C1-EC3D-9091-9BDA-CCBB63E5A65F}"/>
              </a:ext>
            </a:extLst>
          </p:cNvPr>
          <p:cNvCxnSpPr>
            <a:cxnSpLocks/>
            <a:stCxn id="84" idx="3"/>
            <a:endCxn id="13" idx="7"/>
          </p:cNvCxnSpPr>
          <p:nvPr/>
        </p:nvCxnSpPr>
        <p:spPr>
          <a:xfrm flipH="1">
            <a:off x="6174426" y="1376398"/>
            <a:ext cx="623873" cy="606428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8C90A92-2ABB-4B0B-1FA1-ED4A9CDE5A5B}"/>
              </a:ext>
            </a:extLst>
          </p:cNvPr>
          <p:cNvCxnSpPr>
            <a:cxnSpLocks/>
            <a:stCxn id="82" idx="5"/>
            <a:endCxn id="13" idx="1"/>
          </p:cNvCxnSpPr>
          <p:nvPr/>
        </p:nvCxnSpPr>
        <p:spPr>
          <a:xfrm>
            <a:off x="4497708" y="1351148"/>
            <a:ext cx="642192" cy="631678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5661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 animBg="1"/>
      <p:bldP spid="13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4" grpId="0" animBg="1"/>
      <p:bldP spid="25" grpId="0" animBg="1"/>
      <p:bldP spid="27" grpId="0" animBg="1"/>
      <p:bldP spid="30" grpId="0" animBg="1"/>
      <p:bldP spid="34" grpId="0" animBg="1"/>
      <p:bldP spid="36" grpId="0" animBg="1"/>
      <p:bldP spid="57" grpId="0" animBg="1"/>
      <p:bldP spid="58" grpId="0" animBg="1"/>
      <p:bldP spid="59" grpId="0" animBg="1"/>
      <p:bldP spid="61" grpId="0" animBg="1"/>
      <p:bldP spid="63" grpId="0" animBg="1"/>
      <p:bldP spid="65" grpId="0" animBg="1"/>
      <p:bldP spid="67" grpId="0" animBg="1"/>
      <p:bldP spid="5" grpId="0" animBg="1"/>
      <p:bldP spid="38" grpId="0" animBg="1"/>
      <p:bldP spid="48" grpId="0" animBg="1"/>
      <p:bldP spid="82" grpId="0" animBg="1"/>
      <p:bldP spid="83" grpId="0" animBg="1"/>
      <p:bldP spid="8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Requirements of Key in a Relation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1349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208624-99F0-4324-BA51-191516272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286824-5EAB-41F6-9EC8-48F6842C4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16789"/>
            <a:ext cx="11891606" cy="55905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 key in DBMS is an </a:t>
            </a:r>
            <a:r>
              <a:rPr lang="en-US" b="1" dirty="0">
                <a:solidFill>
                  <a:schemeClr val="accent6"/>
                </a:solidFill>
              </a:rPr>
              <a:t>attribute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dirty="0"/>
              <a:t>or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6"/>
                </a:solidFill>
              </a:rPr>
              <a:t>set of attributes </a:t>
            </a:r>
            <a:r>
              <a:rPr lang="en-US" dirty="0"/>
              <a:t>that help to </a:t>
            </a:r>
            <a:r>
              <a:rPr lang="en-US" b="1" dirty="0">
                <a:solidFill>
                  <a:schemeClr val="accent6"/>
                </a:solidFill>
              </a:rPr>
              <a:t>uniquely identify </a:t>
            </a:r>
            <a:r>
              <a:rPr lang="en-US" dirty="0"/>
              <a:t>a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6"/>
                </a:solidFill>
              </a:rPr>
              <a:t>tuple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dirty="0"/>
              <a:t>(or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6"/>
                </a:solidFill>
              </a:rPr>
              <a:t>row</a:t>
            </a:r>
            <a:r>
              <a:rPr lang="en-US" dirty="0"/>
              <a:t>) in a </a:t>
            </a:r>
            <a:r>
              <a:rPr lang="en-US" b="1" dirty="0">
                <a:solidFill>
                  <a:schemeClr val="accent6"/>
                </a:solidFill>
              </a:rPr>
              <a:t>relation</a:t>
            </a:r>
            <a:r>
              <a:rPr lang="en-US" dirty="0"/>
              <a:t> (or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6"/>
                </a:solidFill>
              </a:rPr>
              <a:t>table</a:t>
            </a:r>
            <a:r>
              <a:rPr lang="en-US" dirty="0"/>
              <a:t>).</a:t>
            </a:r>
          </a:p>
          <a:p>
            <a:pPr>
              <a:lnSpc>
                <a:spcPct val="100000"/>
              </a:lnSpc>
            </a:pPr>
            <a:r>
              <a:rPr lang="en-US" dirty="0"/>
              <a:t>Keys are also used to establish </a:t>
            </a:r>
            <a:r>
              <a:rPr lang="en-US" b="1" dirty="0">
                <a:solidFill>
                  <a:schemeClr val="accent6"/>
                </a:solidFill>
              </a:rPr>
              <a:t>relationships</a:t>
            </a:r>
            <a:r>
              <a:rPr lang="en-US" dirty="0"/>
              <a:t> between the different relations and attributes of a relational database.</a:t>
            </a:r>
            <a:endParaRPr lang="en-US" b="1" dirty="0">
              <a:solidFill>
                <a:schemeClr val="accent6"/>
              </a:solidFill>
            </a:endParaRPr>
          </a:p>
          <a:p>
            <a:endParaRPr lang="en-US" b="1" dirty="0">
              <a:solidFill>
                <a:schemeClr val="accent6"/>
              </a:solidFill>
            </a:endParaRPr>
          </a:p>
          <a:p>
            <a:endParaRPr lang="en-US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71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FC22F-78F2-A5C3-D09F-F7A07E860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33A864-0B94-5B31-1877-35639E35C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Super</a:t>
            </a:r>
            <a:r>
              <a:rPr lang="en-US" dirty="0"/>
              <a:t> Key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925745-D506-0B43-0EAC-3B7B919E8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798127"/>
            <a:ext cx="11891606" cy="5590565"/>
          </a:xfrm>
        </p:spPr>
        <p:txBody>
          <a:bodyPr/>
          <a:lstStyle/>
          <a:p>
            <a:r>
              <a:rPr lang="en-US" dirty="0"/>
              <a:t>A super key is a </a:t>
            </a:r>
            <a:r>
              <a:rPr lang="en-US" b="1" dirty="0">
                <a:solidFill>
                  <a:schemeClr val="accent6"/>
                </a:solidFill>
              </a:rPr>
              <a:t>set of one or more attributes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that can uniquely identify each tuple (row) a relation.</a:t>
            </a:r>
          </a:p>
          <a:p>
            <a:r>
              <a:rPr lang="en-US" dirty="0"/>
              <a:t>It may contain </a:t>
            </a:r>
            <a:r>
              <a:rPr lang="en-US" b="1" dirty="0">
                <a:solidFill>
                  <a:schemeClr val="accent6"/>
                </a:solidFill>
              </a:rPr>
              <a:t>extra attributes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that are not necessary for uniqueness.</a:t>
            </a: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3D1BC3FE-4830-7488-B7CA-09BA92B993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4908666"/>
              </p:ext>
            </p:extLst>
          </p:nvPr>
        </p:nvGraphicFramePr>
        <p:xfrm>
          <a:off x="1886411" y="3221847"/>
          <a:ext cx="7259782" cy="32918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9732">
                  <a:extLst>
                    <a:ext uri="{9D8B030D-6E8A-4147-A177-3AD203B41FA5}">
                      <a16:colId xmlns:a16="http://schemas.microsoft.com/office/drawing/2014/main" val="804896088"/>
                    </a:ext>
                  </a:extLst>
                </a:gridCol>
                <a:gridCol w="1539990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940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4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461">
                  <a:extLst>
                    <a:ext uri="{9D8B030D-6E8A-4147-A177-3AD203B41FA5}">
                      <a16:colId xmlns:a16="http://schemas.microsoft.com/office/drawing/2014/main" val="75849082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7666">
                  <a:extLst>
                    <a:ext uri="{9D8B030D-6E8A-4147-A177-3AD203B41FA5}">
                      <a16:colId xmlns:a16="http://schemas.microsoft.com/office/drawing/2014/main" val="2967019785"/>
                    </a:ext>
                  </a:extLst>
                </a:gridCol>
              </a:tblGrid>
              <a:tr h="411480">
                <a:tc rowSpan="8">
                  <a:txBody>
                    <a:bodyPr/>
                    <a:lstStyle/>
                    <a:p>
                      <a:pPr algn="l"/>
                      <a:r>
                        <a:rPr lang="en-US" sz="2500" b="1" dirty="0">
                          <a:solidFill>
                            <a:schemeClr val="accent6"/>
                          </a:solidFill>
                        </a:rPr>
                        <a:t>Student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EnrollmentNo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196620307020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Raju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196620306001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Mitesh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196620307045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196620309014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196620306023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105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Hitesh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196620319023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Tarun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196620307056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Suresh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F808489E-53E0-EF31-424E-180CF3FFA59E}"/>
              </a:ext>
            </a:extLst>
          </p:cNvPr>
          <p:cNvSpPr/>
          <p:nvPr/>
        </p:nvSpPr>
        <p:spPr>
          <a:xfrm>
            <a:off x="437690" y="2597315"/>
            <a:ext cx="1704109" cy="721826"/>
          </a:xfrm>
          <a:prstGeom prst="wedgeRoundRectCallout">
            <a:avLst>
              <a:gd name="adj1" fmla="val 68577"/>
              <a:gd name="adj2" fmla="val 4201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6"/>
                </a:solidFill>
              </a:rPr>
              <a:t>Super Key</a:t>
            </a:r>
          </a:p>
          <a:p>
            <a:pPr algn="ctr"/>
            <a:r>
              <a:rPr lang="en-US" sz="2000" b="1" dirty="0" err="1">
                <a:solidFill>
                  <a:schemeClr val="accent6"/>
                </a:solidFill>
              </a:rPr>
              <a:t>EnrollmentNo</a:t>
            </a:r>
            <a:endParaRPr lang="en-US" sz="2000" b="1" dirty="0">
              <a:solidFill>
                <a:schemeClr val="accent6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D532A8-0873-5FB5-C814-299849224203}"/>
              </a:ext>
            </a:extLst>
          </p:cNvPr>
          <p:cNvSpPr/>
          <p:nvPr/>
        </p:nvSpPr>
        <p:spPr>
          <a:xfrm>
            <a:off x="2363472" y="3235704"/>
            <a:ext cx="1496290" cy="3291840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2EB43F-9133-FD56-1413-D879FA04B5FF}"/>
              </a:ext>
            </a:extLst>
          </p:cNvPr>
          <p:cNvSpPr/>
          <p:nvPr/>
        </p:nvSpPr>
        <p:spPr>
          <a:xfrm>
            <a:off x="3936400" y="3221847"/>
            <a:ext cx="2781084" cy="3291841"/>
          </a:xfrm>
          <a:prstGeom prst="roundRect">
            <a:avLst>
              <a:gd name="adj" fmla="val 9505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DA5B5BBD-D6E1-B1F5-719C-9BE11E401404}"/>
              </a:ext>
            </a:extLst>
          </p:cNvPr>
          <p:cNvSpPr/>
          <p:nvPr/>
        </p:nvSpPr>
        <p:spPr>
          <a:xfrm>
            <a:off x="3600212" y="1993444"/>
            <a:ext cx="3117272" cy="721826"/>
          </a:xfrm>
          <a:prstGeom prst="wedgeRoundRectCallout">
            <a:avLst>
              <a:gd name="adj1" fmla="val -78"/>
              <a:gd name="adj2" fmla="val 11298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6"/>
                </a:solidFill>
              </a:rPr>
              <a:t>Super Key</a:t>
            </a:r>
          </a:p>
          <a:p>
            <a:pPr algn="ctr"/>
            <a:r>
              <a:rPr lang="en-US" sz="2000" b="1" dirty="0">
                <a:solidFill>
                  <a:schemeClr val="accent6"/>
                </a:solidFill>
              </a:rPr>
              <a:t>(RollNo, Branch, Semester)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6A2B80-8462-7033-366D-9113EE53A10F}"/>
              </a:ext>
            </a:extLst>
          </p:cNvPr>
          <p:cNvSpPr/>
          <p:nvPr/>
        </p:nvSpPr>
        <p:spPr>
          <a:xfrm>
            <a:off x="6796925" y="3221846"/>
            <a:ext cx="2289684" cy="3291841"/>
          </a:xfrm>
          <a:prstGeom prst="roundRect">
            <a:avLst>
              <a:gd name="adj" fmla="val 5046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E7491614-F1E2-52F7-A38F-A9AEAD1F7399}"/>
              </a:ext>
            </a:extLst>
          </p:cNvPr>
          <p:cNvSpPr/>
          <p:nvPr/>
        </p:nvSpPr>
        <p:spPr>
          <a:xfrm>
            <a:off x="8307071" y="2208692"/>
            <a:ext cx="2507674" cy="721826"/>
          </a:xfrm>
          <a:prstGeom prst="wedgeRoundRectCallout">
            <a:avLst>
              <a:gd name="adj1" fmla="val -86765"/>
              <a:gd name="adj2" fmla="val 82317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6"/>
                </a:solidFill>
              </a:rPr>
              <a:t>Super Key</a:t>
            </a:r>
          </a:p>
          <a:p>
            <a:pPr algn="ctr"/>
            <a:r>
              <a:rPr lang="en-US" sz="2000" b="1" dirty="0">
                <a:solidFill>
                  <a:schemeClr val="accent6"/>
                </a:solidFill>
              </a:rPr>
              <a:t>(Name, SPI, Backlog)</a:t>
            </a:r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DB67A0BB-B914-375D-4360-F7D838B74AF3}"/>
              </a:ext>
            </a:extLst>
          </p:cNvPr>
          <p:cNvSpPr/>
          <p:nvPr/>
        </p:nvSpPr>
        <p:spPr>
          <a:xfrm>
            <a:off x="8788737" y="1851595"/>
            <a:ext cx="1098193" cy="1491439"/>
          </a:xfrm>
          <a:prstGeom prst="mathMultiply">
            <a:avLst>
              <a:gd name="adj1" fmla="val 18446"/>
            </a:avLst>
          </a:prstGeom>
          <a:solidFill>
            <a:srgbClr val="ED524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FCCEE-A154-F1D6-F177-8D781416F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DEDEC6-C52A-B06B-677E-58CDF8FC0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Candidate </a:t>
            </a:r>
            <a:r>
              <a:rPr lang="en-US" dirty="0"/>
              <a:t>Key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A725FAF-C6FE-CAB5-6AB5-45327DE67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16789"/>
            <a:ext cx="11891606" cy="5590565"/>
          </a:xfrm>
        </p:spPr>
        <p:txBody>
          <a:bodyPr/>
          <a:lstStyle/>
          <a:p>
            <a:r>
              <a:rPr lang="en-US" dirty="0"/>
              <a:t>A candidate is a </a:t>
            </a:r>
            <a:r>
              <a:rPr lang="en-US" b="1" dirty="0">
                <a:solidFill>
                  <a:schemeClr val="accent6"/>
                </a:solidFill>
              </a:rPr>
              <a:t>subset</a:t>
            </a:r>
            <a:r>
              <a:rPr lang="en-US" dirty="0"/>
              <a:t> of a </a:t>
            </a:r>
            <a:r>
              <a:rPr lang="en-US" b="1" dirty="0">
                <a:solidFill>
                  <a:schemeClr val="accent6"/>
                </a:solidFill>
              </a:rPr>
              <a:t>super key</a:t>
            </a:r>
            <a:r>
              <a:rPr lang="en-US" dirty="0"/>
              <a:t>.</a:t>
            </a:r>
          </a:p>
          <a:p>
            <a:r>
              <a:rPr lang="en-US" dirty="0"/>
              <a:t>A candidate key is the </a:t>
            </a:r>
            <a:r>
              <a:rPr lang="en-US" b="1" dirty="0">
                <a:solidFill>
                  <a:schemeClr val="accent6"/>
                </a:solidFill>
              </a:rPr>
              <a:t>least combination of attribute </a:t>
            </a:r>
            <a:r>
              <a:rPr lang="en-US" dirty="0"/>
              <a:t>that uniquely identifies each tuple in the relation.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least combination </a:t>
            </a:r>
            <a:r>
              <a:rPr lang="en-US" dirty="0"/>
              <a:t>of attributes differentiates a candidate key from a super key.</a:t>
            </a:r>
          </a:p>
          <a:p>
            <a:r>
              <a:rPr lang="en-US" b="1" dirty="0">
                <a:solidFill>
                  <a:schemeClr val="accent6"/>
                </a:solidFill>
              </a:rPr>
              <a:t>Every candidate key is a super key </a:t>
            </a:r>
            <a:r>
              <a:rPr lang="en-US" dirty="0"/>
              <a:t>but </a:t>
            </a:r>
            <a:r>
              <a:rPr lang="en-US" b="1" dirty="0">
                <a:solidFill>
                  <a:schemeClr val="accent6"/>
                </a:solidFill>
              </a:rPr>
              <a:t>every super key is not a candidate key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30F5E306-BD17-FC26-8B98-7C653BFE1342}"/>
              </a:ext>
            </a:extLst>
          </p:cNvPr>
          <p:cNvGraphicFramePr>
            <a:graphicFrameLocks/>
          </p:cNvGraphicFramePr>
          <p:nvPr/>
        </p:nvGraphicFramePr>
        <p:xfrm>
          <a:off x="2457840" y="4351717"/>
          <a:ext cx="7259782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9732">
                  <a:extLst>
                    <a:ext uri="{9D8B030D-6E8A-4147-A177-3AD203B41FA5}">
                      <a16:colId xmlns:a16="http://schemas.microsoft.com/office/drawing/2014/main" val="804896088"/>
                    </a:ext>
                  </a:extLst>
                </a:gridCol>
                <a:gridCol w="1539990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940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4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461">
                  <a:extLst>
                    <a:ext uri="{9D8B030D-6E8A-4147-A177-3AD203B41FA5}">
                      <a16:colId xmlns:a16="http://schemas.microsoft.com/office/drawing/2014/main" val="75849082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7666">
                  <a:extLst>
                    <a:ext uri="{9D8B030D-6E8A-4147-A177-3AD203B41FA5}">
                      <a16:colId xmlns:a16="http://schemas.microsoft.com/office/drawing/2014/main" val="2967019785"/>
                    </a:ext>
                  </a:extLst>
                </a:gridCol>
              </a:tblGrid>
              <a:tr h="411480">
                <a:tc rowSpan="5"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Student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EnrollmentNo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196620307020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Raju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196620306001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Mitesh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196620307045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196620309014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Rectangle: Rounded Corners 7">
            <a:extLst>
              <a:ext uri="{FF2B5EF4-FFF2-40B4-BE49-F238E27FC236}">
                <a16:creationId xmlns:a16="http://schemas.microsoft.com/office/drawing/2014/main" id="{EFF9E9E2-E92F-13CE-70C5-2DD86D3D7256}"/>
              </a:ext>
            </a:extLst>
          </p:cNvPr>
          <p:cNvSpPr/>
          <p:nvPr/>
        </p:nvSpPr>
        <p:spPr>
          <a:xfrm>
            <a:off x="2934901" y="4351719"/>
            <a:ext cx="1496290" cy="2057398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8">
            <a:extLst>
              <a:ext uri="{FF2B5EF4-FFF2-40B4-BE49-F238E27FC236}">
                <a16:creationId xmlns:a16="http://schemas.microsoft.com/office/drawing/2014/main" id="{694F796F-9A58-7871-299B-67ED2FB365B2}"/>
              </a:ext>
            </a:extLst>
          </p:cNvPr>
          <p:cNvSpPr/>
          <p:nvPr/>
        </p:nvSpPr>
        <p:spPr>
          <a:xfrm>
            <a:off x="4507829" y="4351717"/>
            <a:ext cx="2781084" cy="2057399"/>
          </a:xfrm>
          <a:prstGeom prst="roundRect">
            <a:avLst>
              <a:gd name="adj" fmla="val 9505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peech Bubble: Rectangle with Corners Rounded 13">
            <a:extLst>
              <a:ext uri="{FF2B5EF4-FFF2-40B4-BE49-F238E27FC236}">
                <a16:creationId xmlns:a16="http://schemas.microsoft.com/office/drawing/2014/main" id="{58606449-4DBE-9B1D-043F-7CFC5F7C9E27}"/>
              </a:ext>
            </a:extLst>
          </p:cNvPr>
          <p:cNvSpPr/>
          <p:nvPr/>
        </p:nvSpPr>
        <p:spPr>
          <a:xfrm>
            <a:off x="690465" y="3838560"/>
            <a:ext cx="1911927" cy="721826"/>
          </a:xfrm>
          <a:prstGeom prst="wedgeRoundRectCallout">
            <a:avLst>
              <a:gd name="adj1" fmla="val 68577"/>
              <a:gd name="adj2" fmla="val 4201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6"/>
                </a:solidFill>
              </a:rPr>
              <a:t>Candidate Key</a:t>
            </a:r>
          </a:p>
          <a:p>
            <a:pPr algn="ctr"/>
            <a:r>
              <a:rPr lang="en-US" sz="2000" b="1" dirty="0" err="1">
                <a:solidFill>
                  <a:schemeClr val="accent6"/>
                </a:solidFill>
              </a:rPr>
              <a:t>EnrollmentNo</a:t>
            </a:r>
            <a:endParaRPr lang="en-US" sz="2000" b="1" dirty="0">
              <a:solidFill>
                <a:schemeClr val="accent6"/>
              </a:solidFill>
            </a:endParaRPr>
          </a:p>
        </p:txBody>
      </p:sp>
      <p:sp>
        <p:nvSpPr>
          <p:cNvPr id="8" name="Speech Bubble: Rectangle with Corners Rounded 14">
            <a:extLst>
              <a:ext uri="{FF2B5EF4-FFF2-40B4-BE49-F238E27FC236}">
                <a16:creationId xmlns:a16="http://schemas.microsoft.com/office/drawing/2014/main" id="{C1E840FE-62FB-4013-DF9B-F14B397FD490}"/>
              </a:ext>
            </a:extLst>
          </p:cNvPr>
          <p:cNvSpPr/>
          <p:nvPr/>
        </p:nvSpPr>
        <p:spPr>
          <a:xfrm>
            <a:off x="4126391" y="3068087"/>
            <a:ext cx="3214255" cy="721826"/>
          </a:xfrm>
          <a:prstGeom prst="wedgeRoundRectCallout">
            <a:avLst>
              <a:gd name="adj1" fmla="val 3036"/>
              <a:gd name="adj2" fmla="val 11686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6"/>
                </a:solidFill>
              </a:rPr>
              <a:t>Candidate Key</a:t>
            </a:r>
          </a:p>
          <a:p>
            <a:pPr algn="ctr"/>
            <a:r>
              <a:rPr lang="en-US" sz="2000" b="1" dirty="0">
                <a:solidFill>
                  <a:schemeClr val="accent6"/>
                </a:solidFill>
              </a:rPr>
              <a:t>(RollNo, Branch, Semester)</a:t>
            </a:r>
          </a:p>
        </p:txBody>
      </p:sp>
    </p:spTree>
    <p:extLst>
      <p:ext uri="{BB962C8B-B14F-4D97-AF65-F5344CB8AC3E}">
        <p14:creationId xmlns:p14="http://schemas.microsoft.com/office/powerpoint/2010/main" val="251577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F24EE-753B-9B09-F848-A4713891D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7F50A0B-E700-ECAD-1F8C-D9676C76F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Primary Key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DB2217-413B-906C-EC55-4A1CCD12A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81164"/>
            <a:ext cx="11929641" cy="564904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 Primary key is a </a:t>
            </a:r>
            <a:r>
              <a:rPr lang="en-US" b="1" dirty="0">
                <a:solidFill>
                  <a:schemeClr val="accent6"/>
                </a:solidFill>
              </a:rPr>
              <a:t>candidate key that is chosen by database designer </a:t>
            </a:r>
            <a:r>
              <a:rPr lang="en-US" dirty="0"/>
              <a:t>to identify tuples uniquely in a relation. 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FB32B428-00DB-5EC3-041C-2195DFF20294}"/>
              </a:ext>
            </a:extLst>
          </p:cNvPr>
          <p:cNvGraphicFramePr>
            <a:graphicFrameLocks/>
          </p:cNvGraphicFramePr>
          <p:nvPr/>
        </p:nvGraphicFramePr>
        <p:xfrm>
          <a:off x="2391714" y="3647770"/>
          <a:ext cx="7259782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9732">
                  <a:extLst>
                    <a:ext uri="{9D8B030D-6E8A-4147-A177-3AD203B41FA5}">
                      <a16:colId xmlns:a16="http://schemas.microsoft.com/office/drawing/2014/main" val="804896088"/>
                    </a:ext>
                  </a:extLst>
                </a:gridCol>
                <a:gridCol w="1539990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940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4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461">
                  <a:extLst>
                    <a:ext uri="{9D8B030D-6E8A-4147-A177-3AD203B41FA5}">
                      <a16:colId xmlns:a16="http://schemas.microsoft.com/office/drawing/2014/main" val="75849082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7666">
                  <a:extLst>
                    <a:ext uri="{9D8B030D-6E8A-4147-A177-3AD203B41FA5}">
                      <a16:colId xmlns:a16="http://schemas.microsoft.com/office/drawing/2014/main" val="2967019785"/>
                    </a:ext>
                  </a:extLst>
                </a:gridCol>
              </a:tblGrid>
              <a:tr h="411480">
                <a:tc rowSpan="5"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Student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EnrollmentNo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196620307020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Raju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196620306001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Mitesh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196620307045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196620309014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A4161E1-343B-0313-CC4D-2807FE273D8C}"/>
              </a:ext>
            </a:extLst>
          </p:cNvPr>
          <p:cNvSpPr/>
          <p:nvPr/>
        </p:nvSpPr>
        <p:spPr>
          <a:xfrm>
            <a:off x="2868775" y="3647772"/>
            <a:ext cx="1496290" cy="2057398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F1FD288-7FB3-B515-CB78-9787D52164AA}"/>
              </a:ext>
            </a:extLst>
          </p:cNvPr>
          <p:cNvSpPr/>
          <p:nvPr/>
        </p:nvSpPr>
        <p:spPr>
          <a:xfrm>
            <a:off x="4441703" y="3647770"/>
            <a:ext cx="2781084" cy="2057399"/>
          </a:xfrm>
          <a:prstGeom prst="roundRect">
            <a:avLst>
              <a:gd name="adj" fmla="val 9505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6C13026-B325-137E-BD1B-FC853F2D4EA8}"/>
              </a:ext>
            </a:extLst>
          </p:cNvPr>
          <p:cNvSpPr/>
          <p:nvPr/>
        </p:nvSpPr>
        <p:spPr>
          <a:xfrm>
            <a:off x="610485" y="3134613"/>
            <a:ext cx="1911927" cy="721826"/>
          </a:xfrm>
          <a:prstGeom prst="wedgeRoundRectCallout">
            <a:avLst>
              <a:gd name="adj1" fmla="val 68577"/>
              <a:gd name="adj2" fmla="val 4201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6"/>
                </a:solidFill>
              </a:rPr>
              <a:t>Candidate Key</a:t>
            </a:r>
          </a:p>
          <a:p>
            <a:pPr algn="ctr"/>
            <a:r>
              <a:rPr lang="en-US" sz="2000" b="1" dirty="0" err="1">
                <a:solidFill>
                  <a:schemeClr val="accent6"/>
                </a:solidFill>
              </a:rPr>
              <a:t>EnrollmentNo</a:t>
            </a:r>
            <a:endParaRPr lang="en-US" sz="2000" b="1" dirty="0">
              <a:solidFill>
                <a:schemeClr val="accent6"/>
              </a:solidFill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29EECC71-0EEF-1047-EA4B-AE333F224DA5}"/>
              </a:ext>
            </a:extLst>
          </p:cNvPr>
          <p:cNvSpPr/>
          <p:nvPr/>
        </p:nvSpPr>
        <p:spPr>
          <a:xfrm>
            <a:off x="4087975" y="2364140"/>
            <a:ext cx="3158837" cy="721826"/>
          </a:xfrm>
          <a:prstGeom prst="wedgeRoundRectCallout">
            <a:avLst>
              <a:gd name="adj1" fmla="val 3036"/>
              <a:gd name="adj2" fmla="val 11686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6"/>
                </a:solidFill>
              </a:rPr>
              <a:t>Candidate Key</a:t>
            </a:r>
          </a:p>
          <a:p>
            <a:pPr algn="ctr"/>
            <a:r>
              <a:rPr lang="en-US" sz="2000" b="1" dirty="0">
                <a:solidFill>
                  <a:schemeClr val="accent6"/>
                </a:solidFill>
              </a:rPr>
              <a:t>(RollNo, Branch, Semester)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E6011D-0087-FED1-C9BA-44485D9CF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412" y="2364140"/>
            <a:ext cx="1188000" cy="783206"/>
          </a:xfrm>
          <a:prstGeom prst="rect">
            <a:avLst/>
          </a:prstGeom>
        </p:spPr>
      </p:pic>
      <p:sp>
        <p:nvSpPr>
          <p:cNvPr id="10" name="Rounded Rectangular Callout 14">
            <a:extLst>
              <a:ext uri="{FF2B5EF4-FFF2-40B4-BE49-F238E27FC236}">
                <a16:creationId xmlns:a16="http://schemas.microsoft.com/office/drawing/2014/main" id="{4E593D11-838D-F6D0-BBB3-ACDCB01B80D7}"/>
              </a:ext>
            </a:extLst>
          </p:cNvPr>
          <p:cNvSpPr/>
          <p:nvPr/>
        </p:nvSpPr>
        <p:spPr>
          <a:xfrm>
            <a:off x="998405" y="1896140"/>
            <a:ext cx="1512000" cy="468000"/>
          </a:xfrm>
          <a:prstGeom prst="wedgeRoundRectCallout">
            <a:avLst>
              <a:gd name="adj1" fmla="val 60473"/>
              <a:gd name="adj2" fmla="val 125703"/>
              <a:gd name="adj3" fmla="val 16667"/>
            </a:avLst>
          </a:prstGeom>
          <a:solidFill>
            <a:srgbClr val="F0F0F0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6"/>
                </a:solidFill>
              </a:rPr>
              <a:t>Primary Key</a:t>
            </a:r>
          </a:p>
        </p:txBody>
      </p:sp>
    </p:spTree>
    <p:extLst>
      <p:ext uri="{BB962C8B-B14F-4D97-AF65-F5344CB8AC3E}">
        <p14:creationId xmlns:p14="http://schemas.microsoft.com/office/powerpoint/2010/main" val="350145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947C4-F319-CD46-DFFA-9440E4751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32E4C8-FF32-2FA1-1935-FA2BDBA7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Rules for define Primary Key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09B4A33-0455-F1F6-BDF9-342B16E49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01811"/>
            <a:ext cx="11929641" cy="564904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 primary key </a:t>
            </a:r>
            <a:r>
              <a:rPr lang="en-US" b="1" dirty="0">
                <a:solidFill>
                  <a:schemeClr val="accent6"/>
                </a:solidFill>
              </a:rPr>
              <a:t>may have one or more attributes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There is </a:t>
            </a:r>
            <a:r>
              <a:rPr lang="en-US" b="1" dirty="0">
                <a:solidFill>
                  <a:schemeClr val="accent6"/>
                </a:solidFill>
              </a:rPr>
              <a:t>only one primary key </a:t>
            </a:r>
            <a:r>
              <a:rPr lang="en-US" dirty="0"/>
              <a:t>in the relation (table).</a:t>
            </a:r>
          </a:p>
          <a:p>
            <a:pPr>
              <a:lnSpc>
                <a:spcPct val="100000"/>
              </a:lnSpc>
            </a:pPr>
            <a:r>
              <a:rPr lang="en-US" dirty="0"/>
              <a:t>A primary key </a:t>
            </a:r>
            <a:r>
              <a:rPr lang="en-US" b="1" dirty="0">
                <a:solidFill>
                  <a:schemeClr val="accent6"/>
                </a:solidFill>
              </a:rPr>
              <a:t>attribute value cannot be NULL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A primary key </a:t>
            </a:r>
            <a:r>
              <a:rPr lang="en-US" b="1" dirty="0">
                <a:solidFill>
                  <a:schemeClr val="accent6"/>
                </a:solidFill>
              </a:rPr>
              <a:t>attribute value must be Unique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Generally, the </a:t>
            </a:r>
            <a:r>
              <a:rPr lang="en-US" b="1" dirty="0">
                <a:solidFill>
                  <a:schemeClr val="accent6"/>
                </a:solidFill>
              </a:rPr>
              <a:t>value of a primary key attribute does not change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2092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4D1F2-FF14-0FDA-081D-17C50459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0061EE-5123-DBFF-E931-854ECA08C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Alternate </a:t>
            </a:r>
            <a:r>
              <a:rPr lang="en-US" dirty="0"/>
              <a:t>Key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1F4E3C-D842-5282-7DFC-D8F0C1A24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16789"/>
            <a:ext cx="11891606" cy="5590565"/>
          </a:xfrm>
        </p:spPr>
        <p:txBody>
          <a:bodyPr/>
          <a:lstStyle/>
          <a:p>
            <a:r>
              <a:rPr lang="en-US" dirty="0"/>
              <a:t>A Candidate Key </a:t>
            </a:r>
            <a:r>
              <a:rPr lang="en-US" b="1" dirty="0">
                <a:solidFill>
                  <a:schemeClr val="accent6"/>
                </a:solidFill>
              </a:rPr>
              <a:t>that is NOT chosen as the Primary Key </a:t>
            </a:r>
            <a:r>
              <a:rPr lang="en-US" dirty="0"/>
              <a:t>is known as an </a:t>
            </a:r>
            <a:r>
              <a:rPr lang="en-US" b="1" dirty="0">
                <a:solidFill>
                  <a:schemeClr val="accent6"/>
                </a:solidFill>
              </a:rPr>
              <a:t>alternate key</a:t>
            </a:r>
            <a:r>
              <a:rPr lang="en-US" dirty="0"/>
              <a:t>.</a:t>
            </a:r>
          </a:p>
          <a:p>
            <a:r>
              <a:rPr lang="en-US" dirty="0"/>
              <a:t>The database designer selects one Candidate Key as the </a:t>
            </a:r>
            <a:r>
              <a:rPr lang="en-US" b="1" dirty="0">
                <a:solidFill>
                  <a:schemeClr val="accent6"/>
                </a:solidFill>
              </a:rPr>
              <a:t>Primary Key</a:t>
            </a:r>
            <a:r>
              <a:rPr lang="en-US" dirty="0"/>
              <a:t> rest of the remaining candidate keys are </a:t>
            </a:r>
            <a:r>
              <a:rPr lang="en-US" b="1" dirty="0">
                <a:solidFill>
                  <a:schemeClr val="accent6"/>
                </a:solidFill>
              </a:rPr>
              <a:t>Alternate Keys</a:t>
            </a:r>
            <a:r>
              <a:rPr lang="en-US" dirty="0"/>
              <a:t>.</a:t>
            </a: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2869B8DD-B321-6368-9F40-0AE624CD59BF}"/>
              </a:ext>
            </a:extLst>
          </p:cNvPr>
          <p:cNvGraphicFramePr>
            <a:graphicFrameLocks/>
          </p:cNvGraphicFramePr>
          <p:nvPr/>
        </p:nvGraphicFramePr>
        <p:xfrm>
          <a:off x="2099884" y="4226719"/>
          <a:ext cx="7259782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9732">
                  <a:extLst>
                    <a:ext uri="{9D8B030D-6E8A-4147-A177-3AD203B41FA5}">
                      <a16:colId xmlns:a16="http://schemas.microsoft.com/office/drawing/2014/main" val="804896088"/>
                    </a:ext>
                  </a:extLst>
                </a:gridCol>
                <a:gridCol w="1539990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940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4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461">
                  <a:extLst>
                    <a:ext uri="{9D8B030D-6E8A-4147-A177-3AD203B41FA5}">
                      <a16:colId xmlns:a16="http://schemas.microsoft.com/office/drawing/2014/main" val="75849082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7666">
                  <a:extLst>
                    <a:ext uri="{9D8B030D-6E8A-4147-A177-3AD203B41FA5}">
                      <a16:colId xmlns:a16="http://schemas.microsoft.com/office/drawing/2014/main" val="2967019785"/>
                    </a:ext>
                  </a:extLst>
                </a:gridCol>
              </a:tblGrid>
              <a:tr h="411480">
                <a:tc rowSpan="5"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Student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EnrollmentNo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196620307020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Raju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196620306001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Mitesh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196620307045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196620309014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Rectangle: Rounded Corners 4">
            <a:extLst>
              <a:ext uri="{FF2B5EF4-FFF2-40B4-BE49-F238E27FC236}">
                <a16:creationId xmlns:a16="http://schemas.microsoft.com/office/drawing/2014/main" id="{7409EB7C-3111-7FD1-BCA6-468BDCB2B417}"/>
              </a:ext>
            </a:extLst>
          </p:cNvPr>
          <p:cNvSpPr/>
          <p:nvPr/>
        </p:nvSpPr>
        <p:spPr>
          <a:xfrm>
            <a:off x="2576945" y="4226721"/>
            <a:ext cx="1496290" cy="2057398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5">
            <a:extLst>
              <a:ext uri="{FF2B5EF4-FFF2-40B4-BE49-F238E27FC236}">
                <a16:creationId xmlns:a16="http://schemas.microsoft.com/office/drawing/2014/main" id="{D9D4ED06-8E9E-AA37-55F7-C5601012C356}"/>
              </a:ext>
            </a:extLst>
          </p:cNvPr>
          <p:cNvSpPr/>
          <p:nvPr/>
        </p:nvSpPr>
        <p:spPr>
          <a:xfrm>
            <a:off x="4149873" y="4226719"/>
            <a:ext cx="2781084" cy="2057399"/>
          </a:xfrm>
          <a:prstGeom prst="roundRect">
            <a:avLst>
              <a:gd name="adj" fmla="val 9505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peech Bubble: Rectangle with Corners Rounded 6">
            <a:extLst>
              <a:ext uri="{FF2B5EF4-FFF2-40B4-BE49-F238E27FC236}">
                <a16:creationId xmlns:a16="http://schemas.microsoft.com/office/drawing/2014/main" id="{F3DC71C1-041F-EA4F-825D-2FE13AB243E1}"/>
              </a:ext>
            </a:extLst>
          </p:cNvPr>
          <p:cNvSpPr/>
          <p:nvPr/>
        </p:nvSpPr>
        <p:spPr>
          <a:xfrm>
            <a:off x="498764" y="3713562"/>
            <a:ext cx="1731818" cy="721826"/>
          </a:xfrm>
          <a:prstGeom prst="wedgeRoundRectCallout">
            <a:avLst>
              <a:gd name="adj1" fmla="val 68577"/>
              <a:gd name="adj2" fmla="val 4201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6"/>
                </a:solidFill>
              </a:rPr>
              <a:t>Candidate Key</a:t>
            </a:r>
          </a:p>
          <a:p>
            <a:pPr algn="ctr"/>
            <a:r>
              <a:rPr lang="en-US" sz="2000" b="1" dirty="0" err="1">
                <a:solidFill>
                  <a:schemeClr val="accent6"/>
                </a:solidFill>
              </a:rPr>
              <a:t>EnrollmentNo</a:t>
            </a:r>
            <a:endParaRPr lang="en-US" sz="2000" b="1" dirty="0">
              <a:solidFill>
                <a:schemeClr val="accent6"/>
              </a:solidFill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C428F3B8-24CB-ADEE-62B5-90212B124F8A}"/>
              </a:ext>
            </a:extLst>
          </p:cNvPr>
          <p:cNvSpPr/>
          <p:nvPr/>
        </p:nvSpPr>
        <p:spPr>
          <a:xfrm>
            <a:off x="3837709" y="2943089"/>
            <a:ext cx="3144981" cy="721826"/>
          </a:xfrm>
          <a:prstGeom prst="wedgeRoundRectCallout">
            <a:avLst>
              <a:gd name="adj1" fmla="val 3036"/>
              <a:gd name="adj2" fmla="val 11686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6"/>
                </a:solidFill>
              </a:rPr>
              <a:t>Candidate Key</a:t>
            </a:r>
          </a:p>
          <a:p>
            <a:pPr algn="ctr"/>
            <a:r>
              <a:rPr lang="en-US" sz="2000" b="1" dirty="0">
                <a:solidFill>
                  <a:schemeClr val="accent6"/>
                </a:solidFill>
              </a:rPr>
              <a:t>(RollNo, Branch, Semester)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54B871-B3AF-0630-BB4D-12F00034B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582" y="2943089"/>
            <a:ext cx="1188000" cy="783206"/>
          </a:xfrm>
          <a:prstGeom prst="rect">
            <a:avLst/>
          </a:prstGeom>
        </p:spPr>
      </p:pic>
      <p:sp>
        <p:nvSpPr>
          <p:cNvPr id="10" name="Rounded Rectangular Callout 14">
            <a:extLst>
              <a:ext uri="{FF2B5EF4-FFF2-40B4-BE49-F238E27FC236}">
                <a16:creationId xmlns:a16="http://schemas.microsoft.com/office/drawing/2014/main" id="{DC44B9AF-76A9-6369-0BB5-DADE0BA3D994}"/>
              </a:ext>
            </a:extLst>
          </p:cNvPr>
          <p:cNvSpPr/>
          <p:nvPr/>
        </p:nvSpPr>
        <p:spPr>
          <a:xfrm>
            <a:off x="706575" y="2475089"/>
            <a:ext cx="1512000" cy="468000"/>
          </a:xfrm>
          <a:prstGeom prst="wedgeRoundRectCallout">
            <a:avLst>
              <a:gd name="adj1" fmla="val 60473"/>
              <a:gd name="adj2" fmla="val 125703"/>
              <a:gd name="adj3" fmla="val 16667"/>
            </a:avLst>
          </a:prstGeom>
          <a:solidFill>
            <a:srgbClr val="F0F0F0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6"/>
                </a:solidFill>
              </a:rPr>
              <a:t>Primary Key</a:t>
            </a:r>
          </a:p>
        </p:txBody>
      </p:sp>
      <p:sp>
        <p:nvSpPr>
          <p:cNvPr id="11" name="Rounded Rectangular Callout 14">
            <a:extLst>
              <a:ext uri="{FF2B5EF4-FFF2-40B4-BE49-F238E27FC236}">
                <a16:creationId xmlns:a16="http://schemas.microsoft.com/office/drawing/2014/main" id="{E1EEA098-6D49-316C-B921-39F7B6747BC8}"/>
              </a:ext>
            </a:extLst>
          </p:cNvPr>
          <p:cNvSpPr/>
          <p:nvPr/>
        </p:nvSpPr>
        <p:spPr>
          <a:xfrm>
            <a:off x="6662194" y="2077815"/>
            <a:ext cx="2233762" cy="671164"/>
          </a:xfrm>
          <a:prstGeom prst="wedgeRoundRectCallout">
            <a:avLst>
              <a:gd name="adj1" fmla="val -46961"/>
              <a:gd name="adj2" fmla="val 100660"/>
              <a:gd name="adj3" fmla="val 16667"/>
            </a:avLst>
          </a:prstGeom>
          <a:solidFill>
            <a:srgbClr val="F0F0F0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6"/>
                </a:solidFill>
              </a:rPr>
              <a:t>Alternate Key</a:t>
            </a:r>
          </a:p>
        </p:txBody>
      </p:sp>
    </p:spTree>
    <p:extLst>
      <p:ext uri="{BB962C8B-B14F-4D97-AF65-F5344CB8AC3E}">
        <p14:creationId xmlns:p14="http://schemas.microsoft.com/office/powerpoint/2010/main" val="3769678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10" grpId="0" animBg="1"/>
      <p:bldP spid="1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208624-99F0-4324-BA51-191516272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286824-5EAB-41F6-9EC8-48F6842C4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26120"/>
            <a:ext cx="11929641" cy="5590565"/>
          </a:xfrm>
        </p:spPr>
        <p:txBody>
          <a:bodyPr/>
          <a:lstStyle/>
          <a:p>
            <a:r>
              <a:rPr lang="en-US" dirty="0"/>
              <a:t>Foreign key provides the </a:t>
            </a:r>
            <a:r>
              <a:rPr lang="en-US" b="1" dirty="0">
                <a:solidFill>
                  <a:schemeClr val="accent6"/>
                </a:solidFill>
              </a:rPr>
              <a:t>link between two relation </a:t>
            </a:r>
            <a:r>
              <a:rPr lang="en-US" dirty="0"/>
              <a:t>(table). </a:t>
            </a:r>
          </a:p>
          <a:p>
            <a:r>
              <a:rPr lang="en-US" dirty="0"/>
              <a:t>A foreign key is a </a:t>
            </a:r>
            <a:r>
              <a:rPr lang="en-US" b="1" dirty="0">
                <a:solidFill>
                  <a:schemeClr val="accent6"/>
                </a:solidFill>
              </a:rPr>
              <a:t>set of one or more attributes </a:t>
            </a:r>
            <a:r>
              <a:rPr lang="en-US" dirty="0"/>
              <a:t>whose values are </a:t>
            </a:r>
            <a:r>
              <a:rPr lang="en-US" b="1" dirty="0">
                <a:solidFill>
                  <a:schemeClr val="accent6"/>
                </a:solidFill>
              </a:rPr>
              <a:t>derived from the primary key </a:t>
            </a:r>
            <a:r>
              <a:rPr lang="en-US" dirty="0"/>
              <a:t>attribute of another relation. </a:t>
            </a:r>
          </a:p>
          <a:p>
            <a:r>
              <a:rPr lang="en-US" dirty="0"/>
              <a:t>A table containing foreign key is known as </a:t>
            </a:r>
            <a:r>
              <a:rPr lang="en-US" b="1" dirty="0">
                <a:solidFill>
                  <a:schemeClr val="accent6"/>
                </a:solidFill>
              </a:rPr>
              <a:t>child table </a:t>
            </a:r>
            <a:r>
              <a:rPr lang="en-US" dirty="0"/>
              <a:t>and a table containing primary key is known as </a:t>
            </a:r>
            <a:r>
              <a:rPr lang="en-US" b="1" dirty="0">
                <a:solidFill>
                  <a:schemeClr val="accent6"/>
                </a:solidFill>
              </a:rPr>
              <a:t>parent table</a:t>
            </a:r>
            <a:r>
              <a:rPr lang="en-US" dirty="0"/>
              <a:t>. </a:t>
            </a:r>
          </a:p>
          <a:p>
            <a:pPr>
              <a:lnSpc>
                <a:spcPct val="100000"/>
              </a:lnSpc>
            </a:pPr>
            <a:endParaRPr lang="en-US" b="1" dirty="0">
              <a:solidFill>
                <a:schemeClr val="accent6"/>
              </a:solidFill>
            </a:endParaRPr>
          </a:p>
          <a:p>
            <a:pPr>
              <a:lnSpc>
                <a:spcPct val="100000"/>
              </a:lnSpc>
            </a:pPr>
            <a:endParaRPr lang="en-US" b="1" dirty="0">
              <a:solidFill>
                <a:schemeClr val="accent6"/>
              </a:solidFill>
            </a:endParaRPr>
          </a:p>
          <a:p>
            <a:pPr>
              <a:lnSpc>
                <a:spcPct val="100000"/>
              </a:lnSpc>
            </a:pPr>
            <a:endParaRPr lang="en-US" b="1" dirty="0">
              <a:solidFill>
                <a:schemeClr val="accent6"/>
              </a:solidFill>
            </a:endParaRP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7FEF4E9C-CD0F-4442-00CC-AE0445B8BD49}"/>
              </a:ext>
            </a:extLst>
          </p:cNvPr>
          <p:cNvGraphicFramePr>
            <a:graphicFrameLocks/>
          </p:cNvGraphicFramePr>
          <p:nvPr/>
        </p:nvGraphicFramePr>
        <p:xfrm>
          <a:off x="252477" y="3714772"/>
          <a:ext cx="5770856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38294">
                  <a:extLst>
                    <a:ext uri="{9D8B030D-6E8A-4147-A177-3AD203B41FA5}">
                      <a16:colId xmlns:a16="http://schemas.microsoft.com/office/drawing/2014/main" val="804896088"/>
                    </a:ext>
                  </a:extLst>
                </a:gridCol>
                <a:gridCol w="1616583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87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2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7249">
                  <a:extLst>
                    <a:ext uri="{9D8B030D-6E8A-4147-A177-3AD203B41FA5}">
                      <a16:colId xmlns:a16="http://schemas.microsoft.com/office/drawing/2014/main" val="176505781"/>
                    </a:ext>
                  </a:extLst>
                </a:gridCol>
              </a:tblGrid>
              <a:tr h="411480">
                <a:tc rowSpan="5">
                  <a:txBody>
                    <a:bodyPr/>
                    <a:lstStyle/>
                    <a:p>
                      <a:pPr algn="l"/>
                      <a:r>
                        <a:rPr lang="en-US" sz="2500" b="1" dirty="0">
                          <a:solidFill>
                            <a:schemeClr val="accent1"/>
                          </a:solidFill>
                        </a:rPr>
                        <a:t>Student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EnrollmentNo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196620307020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196620306001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196620307045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196620309014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EE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07D4BB7A-8B74-BB8F-2948-BDE9C98717C6}"/>
              </a:ext>
            </a:extLst>
          </p:cNvPr>
          <p:cNvGraphicFramePr>
            <a:graphicFrameLocks/>
          </p:cNvGraphicFramePr>
          <p:nvPr/>
        </p:nvGraphicFramePr>
        <p:xfrm>
          <a:off x="7193604" y="3719357"/>
          <a:ext cx="4676349" cy="20574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34408">
                  <a:extLst>
                    <a:ext uri="{9D8B030D-6E8A-4147-A177-3AD203B41FA5}">
                      <a16:colId xmlns:a16="http://schemas.microsoft.com/office/drawing/2014/main" val="804896088"/>
                    </a:ext>
                  </a:extLst>
                </a:gridCol>
                <a:gridCol w="896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3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1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 rowSpan="5">
                  <a:txBody>
                    <a:bodyPr/>
                    <a:lstStyle/>
                    <a:p>
                      <a:pPr algn="l"/>
                      <a:r>
                        <a:rPr lang="en-US" sz="2500" b="1" dirty="0">
                          <a:solidFill>
                            <a:schemeClr val="accent1"/>
                          </a:solidFill>
                        </a:rPr>
                        <a:t>Project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RollNo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Title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EnrollmentNo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Library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196620307020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Hotel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196620307020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109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School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196620307045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109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Hospital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196620307045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ular Callout 14">
            <a:extLst>
              <a:ext uri="{FF2B5EF4-FFF2-40B4-BE49-F238E27FC236}">
                <a16:creationId xmlns:a16="http://schemas.microsoft.com/office/drawing/2014/main" id="{81D6ADCB-E8DE-E674-7ECF-DBDE67AFBF5E}"/>
              </a:ext>
            </a:extLst>
          </p:cNvPr>
          <p:cNvSpPr/>
          <p:nvPr/>
        </p:nvSpPr>
        <p:spPr>
          <a:xfrm>
            <a:off x="5798203" y="4155362"/>
            <a:ext cx="1395401" cy="468000"/>
          </a:xfrm>
          <a:prstGeom prst="wedgeRoundRectCallout">
            <a:avLst>
              <a:gd name="adj1" fmla="val 60473"/>
              <a:gd name="adj2" fmla="val 125703"/>
              <a:gd name="adj3" fmla="val 16667"/>
            </a:avLst>
          </a:prstGeom>
          <a:solidFill>
            <a:srgbClr val="F0F0F0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Child Table</a:t>
            </a:r>
          </a:p>
        </p:txBody>
      </p:sp>
      <p:sp>
        <p:nvSpPr>
          <p:cNvPr id="6" name="Rounded Rectangular Callout 14">
            <a:extLst>
              <a:ext uri="{FF2B5EF4-FFF2-40B4-BE49-F238E27FC236}">
                <a16:creationId xmlns:a16="http://schemas.microsoft.com/office/drawing/2014/main" id="{71B42F76-0C7F-64C6-B87C-508990FEA5D6}"/>
              </a:ext>
            </a:extLst>
          </p:cNvPr>
          <p:cNvSpPr/>
          <p:nvPr/>
        </p:nvSpPr>
        <p:spPr>
          <a:xfrm>
            <a:off x="998631" y="5841447"/>
            <a:ext cx="1533359" cy="468000"/>
          </a:xfrm>
          <a:prstGeom prst="wedgeRoundRectCallout">
            <a:avLst>
              <a:gd name="adj1" fmla="val -74218"/>
              <a:gd name="adj2" fmla="val -63761"/>
              <a:gd name="adj3" fmla="val 16667"/>
            </a:avLst>
          </a:prstGeom>
          <a:solidFill>
            <a:srgbClr val="F0F0F0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Parent Table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19E1CE11-4D74-6AB9-661B-EFF57BCB0C82}"/>
              </a:ext>
            </a:extLst>
          </p:cNvPr>
          <p:cNvSpPr/>
          <p:nvPr/>
        </p:nvSpPr>
        <p:spPr>
          <a:xfrm>
            <a:off x="1423625" y="3023966"/>
            <a:ext cx="9171709" cy="1654759"/>
          </a:xfrm>
          <a:prstGeom prst="arc">
            <a:avLst>
              <a:gd name="adj1" fmla="val 10817153"/>
              <a:gd name="adj2" fmla="val 21490033"/>
            </a:avLst>
          </a:prstGeom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793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Constraints</a:t>
            </a:r>
            <a:endParaRPr lang="en-US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8280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6A1CD-FD07-1DD9-F909-89FAFB569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B40E34-E2C6-5DAE-B8F7-0BF96EBB2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057AE93-6F71-3114-D34E-AC99DE25B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A</a:t>
            </a:r>
            <a:r>
              <a:rPr lang="en-US" b="1" dirty="0"/>
              <a:t> </a:t>
            </a:r>
            <a:r>
              <a:rPr lang="en-US" dirty="0"/>
              <a:t>constraint</a:t>
            </a:r>
            <a:r>
              <a:rPr lang="en-US" b="1" dirty="0"/>
              <a:t> </a:t>
            </a:r>
            <a:r>
              <a:rPr lang="en-US" dirty="0"/>
              <a:t>is a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6"/>
                </a:solidFill>
              </a:rPr>
              <a:t>rule</a:t>
            </a:r>
            <a:r>
              <a:rPr lang="en-US" b="1" dirty="0"/>
              <a:t> </a:t>
            </a:r>
            <a:r>
              <a:rPr lang="en-US" dirty="0"/>
              <a:t>that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6"/>
                </a:solidFill>
              </a:rPr>
              <a:t>restricts</a:t>
            </a:r>
            <a:r>
              <a:rPr lang="en-US" b="1" dirty="0"/>
              <a:t> </a:t>
            </a:r>
            <a:r>
              <a:rPr lang="en-US" dirty="0"/>
              <a:t>the values that can be stored in the database</a:t>
            </a:r>
            <a:r>
              <a:rPr lang="en-US" b="1" dirty="0"/>
              <a:t>.</a:t>
            </a:r>
          </a:p>
          <a:p>
            <a:r>
              <a:rPr lang="en-US" dirty="0"/>
              <a:t>The data stored in a database should be valid, correct and consistent. Therefore, when data is manipulated, certain rules (constraints) must be followed.</a:t>
            </a:r>
          </a:p>
          <a:p>
            <a:r>
              <a:rPr lang="en-US" dirty="0"/>
              <a:t>SQL Server provides various constraints to ensure the validity, correctness and consistency of data in a database.</a:t>
            </a:r>
          </a:p>
          <a:p>
            <a:r>
              <a:rPr lang="en-US" dirty="0"/>
              <a:t>These constraints are classified into two categories:</a:t>
            </a:r>
          </a:p>
          <a:p>
            <a:pPr marL="1001712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/>
              <a:t>Entity Integrity Constraints</a:t>
            </a:r>
            <a:endParaRPr lang="en-US" sz="2200" dirty="0"/>
          </a:p>
          <a:p>
            <a:pPr marL="1001712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/>
              <a:t>Referential Integrity Constraints</a:t>
            </a:r>
            <a:endParaRPr lang="en-US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806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37A4CE-D045-616B-07A9-4432FF24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Constraints</a:t>
            </a:r>
          </a:p>
        </p:txBody>
      </p:sp>
      <p:sp>
        <p:nvSpPr>
          <p:cNvPr id="5" name="Freeform: Shape 10">
            <a:extLst>
              <a:ext uri="{FF2B5EF4-FFF2-40B4-BE49-F238E27FC236}">
                <a16:creationId xmlns:a16="http://schemas.microsoft.com/office/drawing/2014/main" id="{5C8B3E94-4231-DD6F-7723-8291759CCC25}"/>
              </a:ext>
            </a:extLst>
          </p:cNvPr>
          <p:cNvSpPr/>
          <p:nvPr/>
        </p:nvSpPr>
        <p:spPr>
          <a:xfrm>
            <a:off x="8816929" y="3388223"/>
            <a:ext cx="144834" cy="50908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45720" y="0"/>
                </a:moveTo>
                <a:lnTo>
                  <a:pt x="45720" y="475959"/>
                </a:lnTo>
              </a:path>
            </a:pathLst>
          </a:custGeom>
          <a:noFill/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2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AC0C57CA-B753-74B7-9340-0EA01C438186}"/>
              </a:ext>
            </a:extLst>
          </p:cNvPr>
          <p:cNvSpPr/>
          <p:nvPr/>
        </p:nvSpPr>
        <p:spPr>
          <a:xfrm>
            <a:off x="6358586" y="1751876"/>
            <a:ext cx="2000210" cy="47595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24352"/>
                </a:lnTo>
                <a:lnTo>
                  <a:pt x="2000210" y="324352"/>
                </a:lnTo>
                <a:lnTo>
                  <a:pt x="2000210" y="475959"/>
                </a:lnTo>
              </a:path>
            </a:pathLst>
          </a:custGeom>
          <a:noFill/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2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Freeform: Shape 12">
            <a:extLst>
              <a:ext uri="{FF2B5EF4-FFF2-40B4-BE49-F238E27FC236}">
                <a16:creationId xmlns:a16="http://schemas.microsoft.com/office/drawing/2014/main" id="{9187C798-AF4E-3802-15F6-8DC14AA63145}"/>
              </a:ext>
            </a:extLst>
          </p:cNvPr>
          <p:cNvSpPr/>
          <p:nvPr/>
        </p:nvSpPr>
        <p:spPr>
          <a:xfrm>
            <a:off x="6358586" y="4782195"/>
            <a:ext cx="1000105" cy="47595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24352"/>
                </a:lnTo>
                <a:lnTo>
                  <a:pt x="1000105" y="324352"/>
                </a:lnTo>
                <a:lnTo>
                  <a:pt x="1000105" y="475959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6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Freeform: Shape 38">
            <a:extLst>
              <a:ext uri="{FF2B5EF4-FFF2-40B4-BE49-F238E27FC236}">
                <a16:creationId xmlns:a16="http://schemas.microsoft.com/office/drawing/2014/main" id="{6981E84B-E3EB-7E31-C647-D5C7FC96FDB5}"/>
              </a:ext>
            </a:extLst>
          </p:cNvPr>
          <p:cNvSpPr/>
          <p:nvPr/>
        </p:nvSpPr>
        <p:spPr>
          <a:xfrm>
            <a:off x="5358481" y="4782195"/>
            <a:ext cx="1000105" cy="47595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000105" y="0"/>
                </a:moveTo>
                <a:lnTo>
                  <a:pt x="1000105" y="324352"/>
                </a:lnTo>
                <a:lnTo>
                  <a:pt x="0" y="324352"/>
                </a:lnTo>
                <a:lnTo>
                  <a:pt x="0" y="475959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6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9" name="Freeform: Shape 39">
            <a:extLst>
              <a:ext uri="{FF2B5EF4-FFF2-40B4-BE49-F238E27FC236}">
                <a16:creationId xmlns:a16="http://schemas.microsoft.com/office/drawing/2014/main" id="{8F3AB2C3-D6EF-C73C-9BB7-C404EB12A2C9}"/>
              </a:ext>
            </a:extLst>
          </p:cNvPr>
          <p:cNvSpPr/>
          <p:nvPr/>
        </p:nvSpPr>
        <p:spPr>
          <a:xfrm>
            <a:off x="4358376" y="3267036"/>
            <a:ext cx="2000210" cy="47595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24352"/>
                </a:lnTo>
                <a:lnTo>
                  <a:pt x="2000210" y="324352"/>
                </a:lnTo>
                <a:lnTo>
                  <a:pt x="2000210" y="475959"/>
                </a:lnTo>
              </a:path>
            </a:pathLst>
          </a:custGeom>
          <a:noFill/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2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Freeform: Shape 40">
            <a:extLst>
              <a:ext uri="{FF2B5EF4-FFF2-40B4-BE49-F238E27FC236}">
                <a16:creationId xmlns:a16="http://schemas.microsoft.com/office/drawing/2014/main" id="{C238F422-4650-AAFE-AA56-CE524109FFB2}"/>
              </a:ext>
            </a:extLst>
          </p:cNvPr>
          <p:cNvSpPr/>
          <p:nvPr/>
        </p:nvSpPr>
        <p:spPr>
          <a:xfrm>
            <a:off x="2358165" y="4782195"/>
            <a:ext cx="1000105" cy="47595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24352"/>
                </a:lnTo>
                <a:lnTo>
                  <a:pt x="1000105" y="324352"/>
                </a:lnTo>
                <a:lnTo>
                  <a:pt x="1000105" y="475959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6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Freeform: Shape 41">
            <a:extLst>
              <a:ext uri="{FF2B5EF4-FFF2-40B4-BE49-F238E27FC236}">
                <a16:creationId xmlns:a16="http://schemas.microsoft.com/office/drawing/2014/main" id="{C7C22716-02F0-112A-770F-F4603353715E}"/>
              </a:ext>
            </a:extLst>
          </p:cNvPr>
          <p:cNvSpPr/>
          <p:nvPr/>
        </p:nvSpPr>
        <p:spPr>
          <a:xfrm>
            <a:off x="1358060" y="4782195"/>
            <a:ext cx="1000105" cy="47595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000105" y="0"/>
                </a:moveTo>
                <a:lnTo>
                  <a:pt x="1000105" y="324352"/>
                </a:lnTo>
                <a:lnTo>
                  <a:pt x="0" y="324352"/>
                </a:lnTo>
                <a:lnTo>
                  <a:pt x="0" y="475959"/>
                </a:lnTo>
              </a:path>
            </a:pathLst>
          </a:custGeom>
          <a:noFill/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6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Freeform: Shape 42">
            <a:extLst>
              <a:ext uri="{FF2B5EF4-FFF2-40B4-BE49-F238E27FC236}">
                <a16:creationId xmlns:a16="http://schemas.microsoft.com/office/drawing/2014/main" id="{DF876D15-BFC0-7C4C-626C-2AE5505D4B6E}"/>
              </a:ext>
            </a:extLst>
          </p:cNvPr>
          <p:cNvSpPr/>
          <p:nvPr/>
        </p:nvSpPr>
        <p:spPr>
          <a:xfrm>
            <a:off x="2358165" y="3267036"/>
            <a:ext cx="2000210" cy="47595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2000210" y="0"/>
                </a:moveTo>
                <a:lnTo>
                  <a:pt x="2000210" y="324352"/>
                </a:lnTo>
                <a:lnTo>
                  <a:pt x="0" y="324352"/>
                </a:lnTo>
                <a:lnTo>
                  <a:pt x="0" y="475959"/>
                </a:lnTo>
              </a:path>
            </a:pathLst>
          </a:custGeom>
          <a:noFill/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2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Freeform: Shape 43">
            <a:extLst>
              <a:ext uri="{FF2B5EF4-FFF2-40B4-BE49-F238E27FC236}">
                <a16:creationId xmlns:a16="http://schemas.microsoft.com/office/drawing/2014/main" id="{42042044-64A6-B20F-4599-0AAD51DD5992}"/>
              </a:ext>
            </a:extLst>
          </p:cNvPr>
          <p:cNvSpPr/>
          <p:nvPr/>
        </p:nvSpPr>
        <p:spPr>
          <a:xfrm>
            <a:off x="4358376" y="1751876"/>
            <a:ext cx="2000210" cy="47595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2000210" y="0"/>
                </a:moveTo>
                <a:lnTo>
                  <a:pt x="2000210" y="324352"/>
                </a:lnTo>
                <a:lnTo>
                  <a:pt x="0" y="324352"/>
                </a:lnTo>
                <a:lnTo>
                  <a:pt x="0" y="475959"/>
                </a:lnTo>
              </a:path>
            </a:pathLst>
          </a:custGeom>
          <a:noFill/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2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4" name="Rectangle: Rounded Corners 44">
            <a:extLst>
              <a:ext uri="{FF2B5EF4-FFF2-40B4-BE49-F238E27FC236}">
                <a16:creationId xmlns:a16="http://schemas.microsoft.com/office/drawing/2014/main" id="{65E19AE9-82BA-1B55-1A45-1E9CB7FC46C5}"/>
              </a:ext>
            </a:extLst>
          </p:cNvPr>
          <p:cNvSpPr/>
          <p:nvPr/>
        </p:nvSpPr>
        <p:spPr>
          <a:xfrm>
            <a:off x="5581881" y="740385"/>
            <a:ext cx="1636535" cy="1039200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Freeform: Shape 45">
            <a:extLst>
              <a:ext uri="{FF2B5EF4-FFF2-40B4-BE49-F238E27FC236}">
                <a16:creationId xmlns:a16="http://schemas.microsoft.com/office/drawing/2014/main" id="{042F0AF4-7973-65A0-3EA8-F0544DDD5C36}"/>
              </a:ext>
            </a:extLst>
          </p:cNvPr>
          <p:cNvSpPr/>
          <p:nvPr/>
        </p:nvSpPr>
        <p:spPr>
          <a:xfrm>
            <a:off x="5722156" y="885422"/>
            <a:ext cx="1636535" cy="1039200"/>
          </a:xfrm>
          <a:custGeom>
            <a:avLst/>
            <a:gdLst>
              <a:gd name="connsiteX0" fmla="*/ 0 w 1636535"/>
              <a:gd name="connsiteY0" fmla="*/ 103920 h 1039200"/>
              <a:gd name="connsiteX1" fmla="*/ 103920 w 1636535"/>
              <a:gd name="connsiteY1" fmla="*/ 0 h 1039200"/>
              <a:gd name="connsiteX2" fmla="*/ 1532615 w 1636535"/>
              <a:gd name="connsiteY2" fmla="*/ 0 h 1039200"/>
              <a:gd name="connsiteX3" fmla="*/ 1636535 w 1636535"/>
              <a:gd name="connsiteY3" fmla="*/ 103920 h 1039200"/>
              <a:gd name="connsiteX4" fmla="*/ 1636535 w 1636535"/>
              <a:gd name="connsiteY4" fmla="*/ 935280 h 1039200"/>
              <a:gd name="connsiteX5" fmla="*/ 1532615 w 1636535"/>
              <a:gd name="connsiteY5" fmla="*/ 1039200 h 1039200"/>
              <a:gd name="connsiteX6" fmla="*/ 103920 w 1636535"/>
              <a:gd name="connsiteY6" fmla="*/ 1039200 h 1039200"/>
              <a:gd name="connsiteX7" fmla="*/ 0 w 1636535"/>
              <a:gd name="connsiteY7" fmla="*/ 935280 h 1039200"/>
              <a:gd name="connsiteX8" fmla="*/ 0 w 1636535"/>
              <a:gd name="connsiteY8" fmla="*/ 103920 h 103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6535" h="1039200">
                <a:moveTo>
                  <a:pt x="0" y="103920"/>
                </a:moveTo>
                <a:cubicBezTo>
                  <a:pt x="0" y="46527"/>
                  <a:pt x="46527" y="0"/>
                  <a:pt x="103920" y="0"/>
                </a:cubicBezTo>
                <a:lnTo>
                  <a:pt x="1532615" y="0"/>
                </a:lnTo>
                <a:cubicBezTo>
                  <a:pt x="1590008" y="0"/>
                  <a:pt x="1636535" y="46527"/>
                  <a:pt x="1636535" y="103920"/>
                </a:cubicBezTo>
                <a:lnTo>
                  <a:pt x="1636535" y="935280"/>
                </a:lnTo>
                <a:cubicBezTo>
                  <a:pt x="1636535" y="992673"/>
                  <a:pt x="1590008" y="1039200"/>
                  <a:pt x="1532615" y="1039200"/>
                </a:cubicBezTo>
                <a:lnTo>
                  <a:pt x="103920" y="1039200"/>
                </a:lnTo>
                <a:cubicBezTo>
                  <a:pt x="46527" y="1039200"/>
                  <a:pt x="0" y="992673"/>
                  <a:pt x="0" y="935280"/>
                </a:cubicBezTo>
                <a:lnTo>
                  <a:pt x="0" y="103920"/>
                </a:lnTo>
                <a:close/>
              </a:path>
            </a:pathLst>
          </a:custGeom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9017" tIns="99017" rIns="99017" bIns="99017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kern="1200" dirty="0"/>
              <a:t>SQL</a:t>
            </a:r>
          </a:p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kern="1200" dirty="0"/>
              <a:t>CONSTRAINTS</a:t>
            </a:r>
          </a:p>
        </p:txBody>
      </p:sp>
      <p:sp>
        <p:nvSpPr>
          <p:cNvPr id="16" name="Rectangle: Rounded Corners 46">
            <a:extLst>
              <a:ext uri="{FF2B5EF4-FFF2-40B4-BE49-F238E27FC236}">
                <a16:creationId xmlns:a16="http://schemas.microsoft.com/office/drawing/2014/main" id="{69FFFB5A-CF0D-EA4F-392A-EF6C6B8C6977}"/>
              </a:ext>
            </a:extLst>
          </p:cNvPr>
          <p:cNvSpPr/>
          <p:nvPr/>
        </p:nvSpPr>
        <p:spPr>
          <a:xfrm>
            <a:off x="3540108" y="2227836"/>
            <a:ext cx="1636535" cy="1039200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7" name="Freeform: Shape 47">
            <a:extLst>
              <a:ext uri="{FF2B5EF4-FFF2-40B4-BE49-F238E27FC236}">
                <a16:creationId xmlns:a16="http://schemas.microsoft.com/office/drawing/2014/main" id="{FADCAEEA-2C99-F539-DBEC-381136ED84B2}"/>
              </a:ext>
            </a:extLst>
          </p:cNvPr>
          <p:cNvSpPr/>
          <p:nvPr/>
        </p:nvSpPr>
        <p:spPr>
          <a:xfrm>
            <a:off x="3721945" y="2400581"/>
            <a:ext cx="1636535" cy="1039200"/>
          </a:xfrm>
          <a:custGeom>
            <a:avLst/>
            <a:gdLst>
              <a:gd name="connsiteX0" fmla="*/ 0 w 1636535"/>
              <a:gd name="connsiteY0" fmla="*/ 103920 h 1039200"/>
              <a:gd name="connsiteX1" fmla="*/ 103920 w 1636535"/>
              <a:gd name="connsiteY1" fmla="*/ 0 h 1039200"/>
              <a:gd name="connsiteX2" fmla="*/ 1532615 w 1636535"/>
              <a:gd name="connsiteY2" fmla="*/ 0 h 1039200"/>
              <a:gd name="connsiteX3" fmla="*/ 1636535 w 1636535"/>
              <a:gd name="connsiteY3" fmla="*/ 103920 h 1039200"/>
              <a:gd name="connsiteX4" fmla="*/ 1636535 w 1636535"/>
              <a:gd name="connsiteY4" fmla="*/ 935280 h 1039200"/>
              <a:gd name="connsiteX5" fmla="*/ 1532615 w 1636535"/>
              <a:gd name="connsiteY5" fmla="*/ 1039200 h 1039200"/>
              <a:gd name="connsiteX6" fmla="*/ 103920 w 1636535"/>
              <a:gd name="connsiteY6" fmla="*/ 1039200 h 1039200"/>
              <a:gd name="connsiteX7" fmla="*/ 0 w 1636535"/>
              <a:gd name="connsiteY7" fmla="*/ 935280 h 1039200"/>
              <a:gd name="connsiteX8" fmla="*/ 0 w 1636535"/>
              <a:gd name="connsiteY8" fmla="*/ 103920 h 103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6535" h="1039200">
                <a:moveTo>
                  <a:pt x="0" y="103920"/>
                </a:moveTo>
                <a:cubicBezTo>
                  <a:pt x="0" y="46527"/>
                  <a:pt x="46527" y="0"/>
                  <a:pt x="103920" y="0"/>
                </a:cubicBezTo>
                <a:lnTo>
                  <a:pt x="1532615" y="0"/>
                </a:lnTo>
                <a:cubicBezTo>
                  <a:pt x="1590008" y="0"/>
                  <a:pt x="1636535" y="46527"/>
                  <a:pt x="1636535" y="103920"/>
                </a:cubicBezTo>
                <a:lnTo>
                  <a:pt x="1636535" y="935280"/>
                </a:lnTo>
                <a:cubicBezTo>
                  <a:pt x="1636535" y="992673"/>
                  <a:pt x="1590008" y="1039200"/>
                  <a:pt x="1532615" y="1039200"/>
                </a:cubicBezTo>
                <a:lnTo>
                  <a:pt x="103920" y="1039200"/>
                </a:lnTo>
                <a:cubicBezTo>
                  <a:pt x="46527" y="1039200"/>
                  <a:pt x="0" y="992673"/>
                  <a:pt x="0" y="935280"/>
                </a:cubicBezTo>
                <a:lnTo>
                  <a:pt x="0" y="103920"/>
                </a:lnTo>
                <a:close/>
              </a:path>
            </a:pathLst>
          </a:custGeom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9017" tIns="99017" rIns="99017" bIns="99017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kern="1200" dirty="0"/>
              <a:t>Entity Constraint</a:t>
            </a:r>
          </a:p>
        </p:txBody>
      </p:sp>
      <p:sp>
        <p:nvSpPr>
          <p:cNvPr id="18" name="Rectangle: Rounded Corners 48">
            <a:extLst>
              <a:ext uri="{FF2B5EF4-FFF2-40B4-BE49-F238E27FC236}">
                <a16:creationId xmlns:a16="http://schemas.microsoft.com/office/drawing/2014/main" id="{FA878A31-EC3E-C01A-395E-6947B3314662}"/>
              </a:ext>
            </a:extLst>
          </p:cNvPr>
          <p:cNvSpPr/>
          <p:nvPr/>
        </p:nvSpPr>
        <p:spPr>
          <a:xfrm>
            <a:off x="1539898" y="3742995"/>
            <a:ext cx="1636535" cy="1039200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9" name="Freeform: Shape 49">
            <a:extLst>
              <a:ext uri="{FF2B5EF4-FFF2-40B4-BE49-F238E27FC236}">
                <a16:creationId xmlns:a16="http://schemas.microsoft.com/office/drawing/2014/main" id="{BEE76F55-7736-9505-DF08-352FC219C7BF}"/>
              </a:ext>
            </a:extLst>
          </p:cNvPr>
          <p:cNvSpPr/>
          <p:nvPr/>
        </p:nvSpPr>
        <p:spPr>
          <a:xfrm>
            <a:off x="1721735" y="3915740"/>
            <a:ext cx="1636535" cy="1039200"/>
          </a:xfrm>
          <a:custGeom>
            <a:avLst/>
            <a:gdLst>
              <a:gd name="connsiteX0" fmla="*/ 0 w 1636535"/>
              <a:gd name="connsiteY0" fmla="*/ 103920 h 1039200"/>
              <a:gd name="connsiteX1" fmla="*/ 103920 w 1636535"/>
              <a:gd name="connsiteY1" fmla="*/ 0 h 1039200"/>
              <a:gd name="connsiteX2" fmla="*/ 1532615 w 1636535"/>
              <a:gd name="connsiteY2" fmla="*/ 0 h 1039200"/>
              <a:gd name="connsiteX3" fmla="*/ 1636535 w 1636535"/>
              <a:gd name="connsiteY3" fmla="*/ 103920 h 1039200"/>
              <a:gd name="connsiteX4" fmla="*/ 1636535 w 1636535"/>
              <a:gd name="connsiteY4" fmla="*/ 935280 h 1039200"/>
              <a:gd name="connsiteX5" fmla="*/ 1532615 w 1636535"/>
              <a:gd name="connsiteY5" fmla="*/ 1039200 h 1039200"/>
              <a:gd name="connsiteX6" fmla="*/ 103920 w 1636535"/>
              <a:gd name="connsiteY6" fmla="*/ 1039200 h 1039200"/>
              <a:gd name="connsiteX7" fmla="*/ 0 w 1636535"/>
              <a:gd name="connsiteY7" fmla="*/ 935280 h 1039200"/>
              <a:gd name="connsiteX8" fmla="*/ 0 w 1636535"/>
              <a:gd name="connsiteY8" fmla="*/ 103920 h 103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6535" h="1039200">
                <a:moveTo>
                  <a:pt x="0" y="103920"/>
                </a:moveTo>
                <a:cubicBezTo>
                  <a:pt x="0" y="46527"/>
                  <a:pt x="46527" y="0"/>
                  <a:pt x="103920" y="0"/>
                </a:cubicBezTo>
                <a:lnTo>
                  <a:pt x="1532615" y="0"/>
                </a:lnTo>
                <a:cubicBezTo>
                  <a:pt x="1590008" y="0"/>
                  <a:pt x="1636535" y="46527"/>
                  <a:pt x="1636535" y="103920"/>
                </a:cubicBezTo>
                <a:lnTo>
                  <a:pt x="1636535" y="935280"/>
                </a:lnTo>
                <a:cubicBezTo>
                  <a:pt x="1636535" y="992673"/>
                  <a:pt x="1590008" y="1039200"/>
                  <a:pt x="1532615" y="1039200"/>
                </a:cubicBezTo>
                <a:lnTo>
                  <a:pt x="103920" y="1039200"/>
                </a:lnTo>
                <a:cubicBezTo>
                  <a:pt x="46527" y="1039200"/>
                  <a:pt x="0" y="992673"/>
                  <a:pt x="0" y="935280"/>
                </a:cubicBezTo>
                <a:lnTo>
                  <a:pt x="0" y="103920"/>
                </a:lnTo>
                <a:close/>
              </a:path>
            </a:pathLst>
          </a:custGeom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9017" tIns="99017" rIns="99017" bIns="99017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kern="1200" dirty="0"/>
              <a:t>Domain Constraint</a:t>
            </a:r>
          </a:p>
        </p:txBody>
      </p:sp>
      <p:sp>
        <p:nvSpPr>
          <p:cNvPr id="20" name="Rectangle: Rounded Corners 50">
            <a:extLst>
              <a:ext uri="{FF2B5EF4-FFF2-40B4-BE49-F238E27FC236}">
                <a16:creationId xmlns:a16="http://schemas.microsoft.com/office/drawing/2014/main" id="{C78467A1-5FF5-8622-8736-55C43F9EE56F}"/>
              </a:ext>
            </a:extLst>
          </p:cNvPr>
          <p:cNvSpPr/>
          <p:nvPr/>
        </p:nvSpPr>
        <p:spPr>
          <a:xfrm>
            <a:off x="539792" y="5258154"/>
            <a:ext cx="1636535" cy="1039200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1" name="Freeform: Shape 51">
            <a:extLst>
              <a:ext uri="{FF2B5EF4-FFF2-40B4-BE49-F238E27FC236}">
                <a16:creationId xmlns:a16="http://schemas.microsoft.com/office/drawing/2014/main" id="{8B24F966-8FFF-90AC-3012-0B2B5CE43D26}"/>
              </a:ext>
            </a:extLst>
          </p:cNvPr>
          <p:cNvSpPr/>
          <p:nvPr/>
        </p:nvSpPr>
        <p:spPr>
          <a:xfrm>
            <a:off x="721630" y="5430900"/>
            <a:ext cx="1636535" cy="1039200"/>
          </a:xfrm>
          <a:custGeom>
            <a:avLst/>
            <a:gdLst>
              <a:gd name="connsiteX0" fmla="*/ 0 w 1636535"/>
              <a:gd name="connsiteY0" fmla="*/ 103920 h 1039200"/>
              <a:gd name="connsiteX1" fmla="*/ 103920 w 1636535"/>
              <a:gd name="connsiteY1" fmla="*/ 0 h 1039200"/>
              <a:gd name="connsiteX2" fmla="*/ 1532615 w 1636535"/>
              <a:gd name="connsiteY2" fmla="*/ 0 h 1039200"/>
              <a:gd name="connsiteX3" fmla="*/ 1636535 w 1636535"/>
              <a:gd name="connsiteY3" fmla="*/ 103920 h 1039200"/>
              <a:gd name="connsiteX4" fmla="*/ 1636535 w 1636535"/>
              <a:gd name="connsiteY4" fmla="*/ 935280 h 1039200"/>
              <a:gd name="connsiteX5" fmla="*/ 1532615 w 1636535"/>
              <a:gd name="connsiteY5" fmla="*/ 1039200 h 1039200"/>
              <a:gd name="connsiteX6" fmla="*/ 103920 w 1636535"/>
              <a:gd name="connsiteY6" fmla="*/ 1039200 h 1039200"/>
              <a:gd name="connsiteX7" fmla="*/ 0 w 1636535"/>
              <a:gd name="connsiteY7" fmla="*/ 935280 h 1039200"/>
              <a:gd name="connsiteX8" fmla="*/ 0 w 1636535"/>
              <a:gd name="connsiteY8" fmla="*/ 103920 h 103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6535" h="1039200">
                <a:moveTo>
                  <a:pt x="0" y="103920"/>
                </a:moveTo>
                <a:cubicBezTo>
                  <a:pt x="0" y="46527"/>
                  <a:pt x="46527" y="0"/>
                  <a:pt x="103920" y="0"/>
                </a:cubicBezTo>
                <a:lnTo>
                  <a:pt x="1532615" y="0"/>
                </a:lnTo>
                <a:cubicBezTo>
                  <a:pt x="1590008" y="0"/>
                  <a:pt x="1636535" y="46527"/>
                  <a:pt x="1636535" y="103920"/>
                </a:cubicBezTo>
                <a:lnTo>
                  <a:pt x="1636535" y="935280"/>
                </a:lnTo>
                <a:cubicBezTo>
                  <a:pt x="1636535" y="992673"/>
                  <a:pt x="1590008" y="1039200"/>
                  <a:pt x="1532615" y="1039200"/>
                </a:cubicBezTo>
                <a:lnTo>
                  <a:pt x="103920" y="1039200"/>
                </a:lnTo>
                <a:cubicBezTo>
                  <a:pt x="46527" y="1039200"/>
                  <a:pt x="0" y="992673"/>
                  <a:pt x="0" y="935280"/>
                </a:cubicBezTo>
                <a:lnTo>
                  <a:pt x="0" y="103920"/>
                </a:lnTo>
                <a:close/>
              </a:path>
            </a:pathLst>
          </a:custGeom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9017" tIns="99017" rIns="99017" bIns="99017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kern="1200" dirty="0"/>
              <a:t>Not Null</a:t>
            </a:r>
          </a:p>
        </p:txBody>
      </p:sp>
      <p:sp>
        <p:nvSpPr>
          <p:cNvPr id="22" name="Rectangle: Rounded Corners 52">
            <a:extLst>
              <a:ext uri="{FF2B5EF4-FFF2-40B4-BE49-F238E27FC236}">
                <a16:creationId xmlns:a16="http://schemas.microsoft.com/office/drawing/2014/main" id="{528796C0-FDE3-61A3-50A9-4E5CD07A022A}"/>
              </a:ext>
            </a:extLst>
          </p:cNvPr>
          <p:cNvSpPr/>
          <p:nvPr/>
        </p:nvSpPr>
        <p:spPr>
          <a:xfrm>
            <a:off x="2540003" y="5258154"/>
            <a:ext cx="1636535" cy="1039200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3" name="Freeform: Shape 53">
            <a:extLst>
              <a:ext uri="{FF2B5EF4-FFF2-40B4-BE49-F238E27FC236}">
                <a16:creationId xmlns:a16="http://schemas.microsoft.com/office/drawing/2014/main" id="{014EA51A-B47B-6E50-CF78-F1E1F368D68C}"/>
              </a:ext>
            </a:extLst>
          </p:cNvPr>
          <p:cNvSpPr/>
          <p:nvPr/>
        </p:nvSpPr>
        <p:spPr>
          <a:xfrm>
            <a:off x="2721840" y="5430900"/>
            <a:ext cx="1636535" cy="1039200"/>
          </a:xfrm>
          <a:custGeom>
            <a:avLst/>
            <a:gdLst>
              <a:gd name="connsiteX0" fmla="*/ 0 w 1636535"/>
              <a:gd name="connsiteY0" fmla="*/ 103920 h 1039200"/>
              <a:gd name="connsiteX1" fmla="*/ 103920 w 1636535"/>
              <a:gd name="connsiteY1" fmla="*/ 0 h 1039200"/>
              <a:gd name="connsiteX2" fmla="*/ 1532615 w 1636535"/>
              <a:gd name="connsiteY2" fmla="*/ 0 h 1039200"/>
              <a:gd name="connsiteX3" fmla="*/ 1636535 w 1636535"/>
              <a:gd name="connsiteY3" fmla="*/ 103920 h 1039200"/>
              <a:gd name="connsiteX4" fmla="*/ 1636535 w 1636535"/>
              <a:gd name="connsiteY4" fmla="*/ 935280 h 1039200"/>
              <a:gd name="connsiteX5" fmla="*/ 1532615 w 1636535"/>
              <a:gd name="connsiteY5" fmla="*/ 1039200 h 1039200"/>
              <a:gd name="connsiteX6" fmla="*/ 103920 w 1636535"/>
              <a:gd name="connsiteY6" fmla="*/ 1039200 h 1039200"/>
              <a:gd name="connsiteX7" fmla="*/ 0 w 1636535"/>
              <a:gd name="connsiteY7" fmla="*/ 935280 h 1039200"/>
              <a:gd name="connsiteX8" fmla="*/ 0 w 1636535"/>
              <a:gd name="connsiteY8" fmla="*/ 103920 h 103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6535" h="1039200">
                <a:moveTo>
                  <a:pt x="0" y="103920"/>
                </a:moveTo>
                <a:cubicBezTo>
                  <a:pt x="0" y="46527"/>
                  <a:pt x="46527" y="0"/>
                  <a:pt x="103920" y="0"/>
                </a:cubicBezTo>
                <a:lnTo>
                  <a:pt x="1532615" y="0"/>
                </a:lnTo>
                <a:cubicBezTo>
                  <a:pt x="1590008" y="0"/>
                  <a:pt x="1636535" y="46527"/>
                  <a:pt x="1636535" y="103920"/>
                </a:cubicBezTo>
                <a:lnTo>
                  <a:pt x="1636535" y="935280"/>
                </a:lnTo>
                <a:cubicBezTo>
                  <a:pt x="1636535" y="992673"/>
                  <a:pt x="1590008" y="1039200"/>
                  <a:pt x="1532615" y="1039200"/>
                </a:cubicBezTo>
                <a:lnTo>
                  <a:pt x="103920" y="1039200"/>
                </a:lnTo>
                <a:cubicBezTo>
                  <a:pt x="46527" y="1039200"/>
                  <a:pt x="0" y="992673"/>
                  <a:pt x="0" y="935280"/>
                </a:cubicBezTo>
                <a:lnTo>
                  <a:pt x="0" y="103920"/>
                </a:lnTo>
                <a:close/>
              </a:path>
            </a:pathLst>
          </a:custGeom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9017" tIns="99017" rIns="99017" bIns="99017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kern="1200" dirty="0"/>
              <a:t>Check</a:t>
            </a:r>
          </a:p>
        </p:txBody>
      </p:sp>
      <p:sp>
        <p:nvSpPr>
          <p:cNvPr id="24" name="Rectangle: Rounded Corners 54">
            <a:extLst>
              <a:ext uri="{FF2B5EF4-FFF2-40B4-BE49-F238E27FC236}">
                <a16:creationId xmlns:a16="http://schemas.microsoft.com/office/drawing/2014/main" id="{C5640BC2-DEC1-E0F6-F3DE-BB94F75830A4}"/>
              </a:ext>
            </a:extLst>
          </p:cNvPr>
          <p:cNvSpPr/>
          <p:nvPr/>
        </p:nvSpPr>
        <p:spPr>
          <a:xfrm>
            <a:off x="5540318" y="3742995"/>
            <a:ext cx="1636535" cy="1039200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5" name="Freeform: Shape 55">
            <a:extLst>
              <a:ext uri="{FF2B5EF4-FFF2-40B4-BE49-F238E27FC236}">
                <a16:creationId xmlns:a16="http://schemas.microsoft.com/office/drawing/2014/main" id="{89D8ACEF-A67C-E85B-2AEC-A1EFF52105FD}"/>
              </a:ext>
            </a:extLst>
          </p:cNvPr>
          <p:cNvSpPr/>
          <p:nvPr/>
        </p:nvSpPr>
        <p:spPr>
          <a:xfrm>
            <a:off x="5722156" y="3915740"/>
            <a:ext cx="1636535" cy="1039200"/>
          </a:xfrm>
          <a:custGeom>
            <a:avLst/>
            <a:gdLst>
              <a:gd name="connsiteX0" fmla="*/ 0 w 1636535"/>
              <a:gd name="connsiteY0" fmla="*/ 103920 h 1039200"/>
              <a:gd name="connsiteX1" fmla="*/ 103920 w 1636535"/>
              <a:gd name="connsiteY1" fmla="*/ 0 h 1039200"/>
              <a:gd name="connsiteX2" fmla="*/ 1532615 w 1636535"/>
              <a:gd name="connsiteY2" fmla="*/ 0 h 1039200"/>
              <a:gd name="connsiteX3" fmla="*/ 1636535 w 1636535"/>
              <a:gd name="connsiteY3" fmla="*/ 103920 h 1039200"/>
              <a:gd name="connsiteX4" fmla="*/ 1636535 w 1636535"/>
              <a:gd name="connsiteY4" fmla="*/ 935280 h 1039200"/>
              <a:gd name="connsiteX5" fmla="*/ 1532615 w 1636535"/>
              <a:gd name="connsiteY5" fmla="*/ 1039200 h 1039200"/>
              <a:gd name="connsiteX6" fmla="*/ 103920 w 1636535"/>
              <a:gd name="connsiteY6" fmla="*/ 1039200 h 1039200"/>
              <a:gd name="connsiteX7" fmla="*/ 0 w 1636535"/>
              <a:gd name="connsiteY7" fmla="*/ 935280 h 1039200"/>
              <a:gd name="connsiteX8" fmla="*/ 0 w 1636535"/>
              <a:gd name="connsiteY8" fmla="*/ 103920 h 103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6535" h="1039200">
                <a:moveTo>
                  <a:pt x="0" y="103920"/>
                </a:moveTo>
                <a:cubicBezTo>
                  <a:pt x="0" y="46527"/>
                  <a:pt x="46527" y="0"/>
                  <a:pt x="103920" y="0"/>
                </a:cubicBezTo>
                <a:lnTo>
                  <a:pt x="1532615" y="0"/>
                </a:lnTo>
                <a:cubicBezTo>
                  <a:pt x="1590008" y="0"/>
                  <a:pt x="1636535" y="46527"/>
                  <a:pt x="1636535" y="103920"/>
                </a:cubicBezTo>
                <a:lnTo>
                  <a:pt x="1636535" y="935280"/>
                </a:lnTo>
                <a:cubicBezTo>
                  <a:pt x="1636535" y="992673"/>
                  <a:pt x="1590008" y="1039200"/>
                  <a:pt x="1532615" y="1039200"/>
                </a:cubicBezTo>
                <a:lnTo>
                  <a:pt x="103920" y="1039200"/>
                </a:lnTo>
                <a:cubicBezTo>
                  <a:pt x="46527" y="1039200"/>
                  <a:pt x="0" y="992673"/>
                  <a:pt x="0" y="935280"/>
                </a:cubicBezTo>
                <a:lnTo>
                  <a:pt x="0" y="103920"/>
                </a:lnTo>
                <a:close/>
              </a:path>
            </a:pathLst>
          </a:custGeom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9017" tIns="99017" rIns="99017" bIns="99017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kern="1200" dirty="0"/>
              <a:t>Key Constraint </a:t>
            </a:r>
          </a:p>
        </p:txBody>
      </p:sp>
      <p:sp>
        <p:nvSpPr>
          <p:cNvPr id="26" name="Rectangle: Rounded Corners 56">
            <a:extLst>
              <a:ext uri="{FF2B5EF4-FFF2-40B4-BE49-F238E27FC236}">
                <a16:creationId xmlns:a16="http://schemas.microsoft.com/office/drawing/2014/main" id="{BB43CCD5-60B5-D867-156A-CA3DEC60B777}"/>
              </a:ext>
            </a:extLst>
          </p:cNvPr>
          <p:cNvSpPr/>
          <p:nvPr/>
        </p:nvSpPr>
        <p:spPr>
          <a:xfrm>
            <a:off x="4540213" y="5258154"/>
            <a:ext cx="1636535" cy="1039200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7" name="Freeform: Shape 57">
            <a:extLst>
              <a:ext uri="{FF2B5EF4-FFF2-40B4-BE49-F238E27FC236}">
                <a16:creationId xmlns:a16="http://schemas.microsoft.com/office/drawing/2014/main" id="{ECA06B65-A021-6C2F-A00A-7B3F843BBCAF}"/>
              </a:ext>
            </a:extLst>
          </p:cNvPr>
          <p:cNvSpPr/>
          <p:nvPr/>
        </p:nvSpPr>
        <p:spPr>
          <a:xfrm>
            <a:off x="4722050" y="5430900"/>
            <a:ext cx="1636535" cy="1039200"/>
          </a:xfrm>
          <a:custGeom>
            <a:avLst/>
            <a:gdLst>
              <a:gd name="connsiteX0" fmla="*/ 0 w 1636535"/>
              <a:gd name="connsiteY0" fmla="*/ 103920 h 1039200"/>
              <a:gd name="connsiteX1" fmla="*/ 103920 w 1636535"/>
              <a:gd name="connsiteY1" fmla="*/ 0 h 1039200"/>
              <a:gd name="connsiteX2" fmla="*/ 1532615 w 1636535"/>
              <a:gd name="connsiteY2" fmla="*/ 0 h 1039200"/>
              <a:gd name="connsiteX3" fmla="*/ 1636535 w 1636535"/>
              <a:gd name="connsiteY3" fmla="*/ 103920 h 1039200"/>
              <a:gd name="connsiteX4" fmla="*/ 1636535 w 1636535"/>
              <a:gd name="connsiteY4" fmla="*/ 935280 h 1039200"/>
              <a:gd name="connsiteX5" fmla="*/ 1532615 w 1636535"/>
              <a:gd name="connsiteY5" fmla="*/ 1039200 h 1039200"/>
              <a:gd name="connsiteX6" fmla="*/ 103920 w 1636535"/>
              <a:gd name="connsiteY6" fmla="*/ 1039200 h 1039200"/>
              <a:gd name="connsiteX7" fmla="*/ 0 w 1636535"/>
              <a:gd name="connsiteY7" fmla="*/ 935280 h 1039200"/>
              <a:gd name="connsiteX8" fmla="*/ 0 w 1636535"/>
              <a:gd name="connsiteY8" fmla="*/ 103920 h 103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6535" h="1039200">
                <a:moveTo>
                  <a:pt x="0" y="103920"/>
                </a:moveTo>
                <a:cubicBezTo>
                  <a:pt x="0" y="46527"/>
                  <a:pt x="46527" y="0"/>
                  <a:pt x="103920" y="0"/>
                </a:cubicBezTo>
                <a:lnTo>
                  <a:pt x="1532615" y="0"/>
                </a:lnTo>
                <a:cubicBezTo>
                  <a:pt x="1590008" y="0"/>
                  <a:pt x="1636535" y="46527"/>
                  <a:pt x="1636535" y="103920"/>
                </a:cubicBezTo>
                <a:lnTo>
                  <a:pt x="1636535" y="935280"/>
                </a:lnTo>
                <a:cubicBezTo>
                  <a:pt x="1636535" y="992673"/>
                  <a:pt x="1590008" y="1039200"/>
                  <a:pt x="1532615" y="1039200"/>
                </a:cubicBezTo>
                <a:lnTo>
                  <a:pt x="103920" y="1039200"/>
                </a:lnTo>
                <a:cubicBezTo>
                  <a:pt x="46527" y="1039200"/>
                  <a:pt x="0" y="992673"/>
                  <a:pt x="0" y="935280"/>
                </a:cubicBezTo>
                <a:lnTo>
                  <a:pt x="0" y="103920"/>
                </a:lnTo>
                <a:close/>
              </a:path>
            </a:pathLst>
          </a:custGeom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9017" tIns="99017" rIns="99017" bIns="99017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kern="1200" dirty="0"/>
              <a:t>Unique</a:t>
            </a:r>
          </a:p>
        </p:txBody>
      </p:sp>
      <p:sp>
        <p:nvSpPr>
          <p:cNvPr id="28" name="Rectangle: Rounded Corners 58">
            <a:extLst>
              <a:ext uri="{FF2B5EF4-FFF2-40B4-BE49-F238E27FC236}">
                <a16:creationId xmlns:a16="http://schemas.microsoft.com/office/drawing/2014/main" id="{F010BAA4-D5A1-3A5F-40AA-9CC38B834849}"/>
              </a:ext>
            </a:extLst>
          </p:cNvPr>
          <p:cNvSpPr/>
          <p:nvPr/>
        </p:nvSpPr>
        <p:spPr>
          <a:xfrm>
            <a:off x="6540423" y="5258154"/>
            <a:ext cx="1636535" cy="1039200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id="{AE92B0A7-526D-E165-DEF2-B5A97F0AD572}"/>
              </a:ext>
            </a:extLst>
          </p:cNvPr>
          <p:cNvSpPr/>
          <p:nvPr/>
        </p:nvSpPr>
        <p:spPr>
          <a:xfrm>
            <a:off x="6722261" y="5430900"/>
            <a:ext cx="1636535" cy="1039200"/>
          </a:xfrm>
          <a:custGeom>
            <a:avLst/>
            <a:gdLst>
              <a:gd name="connsiteX0" fmla="*/ 0 w 1636535"/>
              <a:gd name="connsiteY0" fmla="*/ 103920 h 1039200"/>
              <a:gd name="connsiteX1" fmla="*/ 103920 w 1636535"/>
              <a:gd name="connsiteY1" fmla="*/ 0 h 1039200"/>
              <a:gd name="connsiteX2" fmla="*/ 1532615 w 1636535"/>
              <a:gd name="connsiteY2" fmla="*/ 0 h 1039200"/>
              <a:gd name="connsiteX3" fmla="*/ 1636535 w 1636535"/>
              <a:gd name="connsiteY3" fmla="*/ 103920 h 1039200"/>
              <a:gd name="connsiteX4" fmla="*/ 1636535 w 1636535"/>
              <a:gd name="connsiteY4" fmla="*/ 935280 h 1039200"/>
              <a:gd name="connsiteX5" fmla="*/ 1532615 w 1636535"/>
              <a:gd name="connsiteY5" fmla="*/ 1039200 h 1039200"/>
              <a:gd name="connsiteX6" fmla="*/ 103920 w 1636535"/>
              <a:gd name="connsiteY6" fmla="*/ 1039200 h 1039200"/>
              <a:gd name="connsiteX7" fmla="*/ 0 w 1636535"/>
              <a:gd name="connsiteY7" fmla="*/ 935280 h 1039200"/>
              <a:gd name="connsiteX8" fmla="*/ 0 w 1636535"/>
              <a:gd name="connsiteY8" fmla="*/ 103920 h 103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6535" h="1039200">
                <a:moveTo>
                  <a:pt x="0" y="103920"/>
                </a:moveTo>
                <a:cubicBezTo>
                  <a:pt x="0" y="46527"/>
                  <a:pt x="46527" y="0"/>
                  <a:pt x="103920" y="0"/>
                </a:cubicBezTo>
                <a:lnTo>
                  <a:pt x="1532615" y="0"/>
                </a:lnTo>
                <a:cubicBezTo>
                  <a:pt x="1590008" y="0"/>
                  <a:pt x="1636535" y="46527"/>
                  <a:pt x="1636535" y="103920"/>
                </a:cubicBezTo>
                <a:lnTo>
                  <a:pt x="1636535" y="935280"/>
                </a:lnTo>
                <a:cubicBezTo>
                  <a:pt x="1636535" y="992673"/>
                  <a:pt x="1590008" y="1039200"/>
                  <a:pt x="1532615" y="1039200"/>
                </a:cubicBezTo>
                <a:lnTo>
                  <a:pt x="103920" y="1039200"/>
                </a:lnTo>
                <a:cubicBezTo>
                  <a:pt x="46527" y="1039200"/>
                  <a:pt x="0" y="992673"/>
                  <a:pt x="0" y="935280"/>
                </a:cubicBezTo>
                <a:lnTo>
                  <a:pt x="0" y="103920"/>
                </a:lnTo>
                <a:close/>
              </a:path>
            </a:pathLst>
          </a:custGeom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9017" tIns="99017" rIns="99017" bIns="99017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kern="1200" dirty="0"/>
              <a:t>Primary Key</a:t>
            </a:r>
          </a:p>
        </p:txBody>
      </p:sp>
      <p:sp>
        <p:nvSpPr>
          <p:cNvPr id="30" name="Rectangle: Rounded Corners 60">
            <a:extLst>
              <a:ext uri="{FF2B5EF4-FFF2-40B4-BE49-F238E27FC236}">
                <a16:creationId xmlns:a16="http://schemas.microsoft.com/office/drawing/2014/main" id="{8672D2C9-397F-93BD-FC8F-8A2DB173D13D}"/>
              </a:ext>
            </a:extLst>
          </p:cNvPr>
          <p:cNvSpPr/>
          <p:nvPr/>
        </p:nvSpPr>
        <p:spPr>
          <a:xfrm>
            <a:off x="7540529" y="2227836"/>
            <a:ext cx="1636535" cy="1039200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1" name="Freeform: Shape 61">
            <a:extLst>
              <a:ext uri="{FF2B5EF4-FFF2-40B4-BE49-F238E27FC236}">
                <a16:creationId xmlns:a16="http://schemas.microsoft.com/office/drawing/2014/main" id="{05478328-6B7F-EC3F-9BEB-16CEB0C28918}"/>
              </a:ext>
            </a:extLst>
          </p:cNvPr>
          <p:cNvSpPr/>
          <p:nvPr/>
        </p:nvSpPr>
        <p:spPr>
          <a:xfrm>
            <a:off x="7722366" y="2400581"/>
            <a:ext cx="1636535" cy="1039200"/>
          </a:xfrm>
          <a:custGeom>
            <a:avLst/>
            <a:gdLst>
              <a:gd name="connsiteX0" fmla="*/ 0 w 1636535"/>
              <a:gd name="connsiteY0" fmla="*/ 103920 h 1039200"/>
              <a:gd name="connsiteX1" fmla="*/ 103920 w 1636535"/>
              <a:gd name="connsiteY1" fmla="*/ 0 h 1039200"/>
              <a:gd name="connsiteX2" fmla="*/ 1532615 w 1636535"/>
              <a:gd name="connsiteY2" fmla="*/ 0 h 1039200"/>
              <a:gd name="connsiteX3" fmla="*/ 1636535 w 1636535"/>
              <a:gd name="connsiteY3" fmla="*/ 103920 h 1039200"/>
              <a:gd name="connsiteX4" fmla="*/ 1636535 w 1636535"/>
              <a:gd name="connsiteY4" fmla="*/ 935280 h 1039200"/>
              <a:gd name="connsiteX5" fmla="*/ 1532615 w 1636535"/>
              <a:gd name="connsiteY5" fmla="*/ 1039200 h 1039200"/>
              <a:gd name="connsiteX6" fmla="*/ 103920 w 1636535"/>
              <a:gd name="connsiteY6" fmla="*/ 1039200 h 1039200"/>
              <a:gd name="connsiteX7" fmla="*/ 0 w 1636535"/>
              <a:gd name="connsiteY7" fmla="*/ 935280 h 1039200"/>
              <a:gd name="connsiteX8" fmla="*/ 0 w 1636535"/>
              <a:gd name="connsiteY8" fmla="*/ 103920 h 103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6535" h="1039200">
                <a:moveTo>
                  <a:pt x="0" y="103920"/>
                </a:moveTo>
                <a:cubicBezTo>
                  <a:pt x="0" y="46527"/>
                  <a:pt x="46527" y="0"/>
                  <a:pt x="103920" y="0"/>
                </a:cubicBezTo>
                <a:lnTo>
                  <a:pt x="1532615" y="0"/>
                </a:lnTo>
                <a:cubicBezTo>
                  <a:pt x="1590008" y="0"/>
                  <a:pt x="1636535" y="46527"/>
                  <a:pt x="1636535" y="103920"/>
                </a:cubicBezTo>
                <a:lnTo>
                  <a:pt x="1636535" y="935280"/>
                </a:lnTo>
                <a:cubicBezTo>
                  <a:pt x="1636535" y="992673"/>
                  <a:pt x="1590008" y="1039200"/>
                  <a:pt x="1532615" y="1039200"/>
                </a:cubicBezTo>
                <a:lnTo>
                  <a:pt x="103920" y="1039200"/>
                </a:lnTo>
                <a:cubicBezTo>
                  <a:pt x="46527" y="1039200"/>
                  <a:pt x="0" y="992673"/>
                  <a:pt x="0" y="935280"/>
                </a:cubicBezTo>
                <a:lnTo>
                  <a:pt x="0" y="103920"/>
                </a:lnTo>
                <a:close/>
              </a:path>
            </a:pathLst>
          </a:custGeom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9017" tIns="99017" rIns="99017" bIns="99017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kern="1200" dirty="0"/>
              <a:t>Referential Constraint </a:t>
            </a:r>
          </a:p>
        </p:txBody>
      </p:sp>
      <p:sp>
        <p:nvSpPr>
          <p:cNvPr id="32" name="Rectangle: Rounded Corners 58">
            <a:extLst>
              <a:ext uri="{FF2B5EF4-FFF2-40B4-BE49-F238E27FC236}">
                <a16:creationId xmlns:a16="http://schemas.microsoft.com/office/drawing/2014/main" id="{4AE2D8CE-C4F1-E1E8-C061-5AA789BA3951}"/>
              </a:ext>
            </a:extLst>
          </p:cNvPr>
          <p:cNvSpPr/>
          <p:nvPr/>
        </p:nvSpPr>
        <p:spPr>
          <a:xfrm>
            <a:off x="8358796" y="3822660"/>
            <a:ext cx="1636535" cy="1039200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id="{EC848DC4-2A25-EBED-F26A-D10F5E316152}"/>
              </a:ext>
            </a:extLst>
          </p:cNvPr>
          <p:cNvSpPr/>
          <p:nvPr/>
        </p:nvSpPr>
        <p:spPr>
          <a:xfrm>
            <a:off x="8540634" y="3995406"/>
            <a:ext cx="1636535" cy="1039200"/>
          </a:xfrm>
          <a:custGeom>
            <a:avLst/>
            <a:gdLst>
              <a:gd name="connsiteX0" fmla="*/ 0 w 1636535"/>
              <a:gd name="connsiteY0" fmla="*/ 103920 h 1039200"/>
              <a:gd name="connsiteX1" fmla="*/ 103920 w 1636535"/>
              <a:gd name="connsiteY1" fmla="*/ 0 h 1039200"/>
              <a:gd name="connsiteX2" fmla="*/ 1532615 w 1636535"/>
              <a:gd name="connsiteY2" fmla="*/ 0 h 1039200"/>
              <a:gd name="connsiteX3" fmla="*/ 1636535 w 1636535"/>
              <a:gd name="connsiteY3" fmla="*/ 103920 h 1039200"/>
              <a:gd name="connsiteX4" fmla="*/ 1636535 w 1636535"/>
              <a:gd name="connsiteY4" fmla="*/ 935280 h 1039200"/>
              <a:gd name="connsiteX5" fmla="*/ 1532615 w 1636535"/>
              <a:gd name="connsiteY5" fmla="*/ 1039200 h 1039200"/>
              <a:gd name="connsiteX6" fmla="*/ 103920 w 1636535"/>
              <a:gd name="connsiteY6" fmla="*/ 1039200 h 1039200"/>
              <a:gd name="connsiteX7" fmla="*/ 0 w 1636535"/>
              <a:gd name="connsiteY7" fmla="*/ 935280 h 1039200"/>
              <a:gd name="connsiteX8" fmla="*/ 0 w 1636535"/>
              <a:gd name="connsiteY8" fmla="*/ 103920 h 103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6535" h="1039200">
                <a:moveTo>
                  <a:pt x="0" y="103920"/>
                </a:moveTo>
                <a:cubicBezTo>
                  <a:pt x="0" y="46527"/>
                  <a:pt x="46527" y="0"/>
                  <a:pt x="103920" y="0"/>
                </a:cubicBezTo>
                <a:lnTo>
                  <a:pt x="1532615" y="0"/>
                </a:lnTo>
                <a:cubicBezTo>
                  <a:pt x="1590008" y="0"/>
                  <a:pt x="1636535" y="46527"/>
                  <a:pt x="1636535" y="103920"/>
                </a:cubicBezTo>
                <a:lnTo>
                  <a:pt x="1636535" y="935280"/>
                </a:lnTo>
                <a:cubicBezTo>
                  <a:pt x="1636535" y="992673"/>
                  <a:pt x="1590008" y="1039200"/>
                  <a:pt x="1532615" y="1039200"/>
                </a:cubicBezTo>
                <a:lnTo>
                  <a:pt x="103920" y="1039200"/>
                </a:lnTo>
                <a:cubicBezTo>
                  <a:pt x="46527" y="1039200"/>
                  <a:pt x="0" y="992673"/>
                  <a:pt x="0" y="935280"/>
                </a:cubicBezTo>
                <a:lnTo>
                  <a:pt x="0" y="103920"/>
                </a:lnTo>
                <a:close/>
              </a:path>
            </a:pathLst>
          </a:custGeom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9017" tIns="99017" rIns="99017" bIns="99017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kern="1200" dirty="0"/>
              <a:t>Foreign Key</a:t>
            </a:r>
          </a:p>
        </p:txBody>
      </p:sp>
    </p:spTree>
    <p:extLst>
      <p:ext uri="{BB962C8B-B14F-4D97-AF65-F5344CB8AC3E}">
        <p14:creationId xmlns:p14="http://schemas.microsoft.com/office/powerpoint/2010/main" val="407963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DB7F0-2F23-D580-D077-0D583D6AE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150EF2-E895-3DD1-810F-7FB7BA6CF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DBBABE7-75ED-D21F-CE66-BA3C951DF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NOT NULL</a:t>
            </a:r>
            <a:endParaRPr lang="en-US" b="1" dirty="0"/>
          </a:p>
          <a:p>
            <a:pPr lvl="1"/>
            <a:r>
              <a:rPr lang="en-US" dirty="0"/>
              <a:t>The NOT NULL constraint enforces a column to </a:t>
            </a:r>
            <a:r>
              <a:rPr lang="en-US" b="1" dirty="0">
                <a:solidFill>
                  <a:schemeClr val="accent6"/>
                </a:solidFill>
              </a:rPr>
              <a:t>NOT accept NULL</a:t>
            </a:r>
            <a:r>
              <a:rPr lang="en-US" dirty="0"/>
              <a:t> values.</a:t>
            </a:r>
          </a:p>
          <a:p>
            <a:r>
              <a:rPr lang="en-IN" b="1" dirty="0"/>
              <a:t>Unique Key</a:t>
            </a:r>
          </a:p>
          <a:p>
            <a:pPr lvl="1"/>
            <a:r>
              <a:rPr lang="en-US" dirty="0"/>
              <a:t>The </a:t>
            </a:r>
            <a:r>
              <a:rPr lang="en-IN" dirty="0"/>
              <a:t>Unique</a:t>
            </a:r>
            <a:r>
              <a:rPr lang="en-US" dirty="0"/>
              <a:t> constraint ensures that </a:t>
            </a:r>
            <a:r>
              <a:rPr lang="en-US" b="1" dirty="0"/>
              <a:t>all values</a:t>
            </a:r>
            <a:r>
              <a:rPr lang="en-US" dirty="0"/>
              <a:t> in a column are </a:t>
            </a:r>
            <a:r>
              <a:rPr lang="en-US" b="1" dirty="0"/>
              <a:t>different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Both the </a:t>
            </a:r>
            <a:r>
              <a:rPr lang="en-IN" dirty="0"/>
              <a:t>Unique</a:t>
            </a:r>
            <a:r>
              <a:rPr lang="en-US" dirty="0"/>
              <a:t> and Primary Key constraints provide a guarantee for uniqueness for a column or set of columns.</a:t>
            </a:r>
          </a:p>
          <a:p>
            <a:r>
              <a:rPr lang="en-IN" b="1" dirty="0"/>
              <a:t>Primary Key</a:t>
            </a:r>
          </a:p>
          <a:p>
            <a:pPr lvl="1"/>
            <a:r>
              <a:rPr lang="en-US" dirty="0"/>
              <a:t>Primary key constraint uniquely identifies each record in a table.</a:t>
            </a:r>
          </a:p>
          <a:p>
            <a:pPr lvl="1"/>
            <a:r>
              <a:rPr lang="en-US" dirty="0"/>
              <a:t>Primary keys must contain Unique values, and cannot contain NULL values.</a:t>
            </a:r>
          </a:p>
          <a:p>
            <a:pPr lvl="1"/>
            <a:r>
              <a:rPr lang="en-US" dirty="0"/>
              <a:t>A table can have only one primary key, and this primary key can consist of a single column or multiple columns (composite primary key).</a:t>
            </a:r>
          </a:p>
          <a:p>
            <a:r>
              <a:rPr lang="en-IN" b="1" dirty="0"/>
              <a:t>Foreign Key</a:t>
            </a:r>
            <a:endParaRPr lang="en-US" b="1" dirty="0"/>
          </a:p>
          <a:p>
            <a:pPr lvl="1"/>
            <a:r>
              <a:rPr lang="en-US" dirty="0"/>
              <a:t>Foreign Key constraint is used to prevent actions that would destroy links between tables.</a:t>
            </a:r>
          </a:p>
          <a:p>
            <a:pPr lvl="1"/>
            <a:r>
              <a:rPr lang="en-US" dirty="0"/>
              <a:t>Foreign Key is a field (or collection of fields) in one table, that refers to the PRIMARY KEY in another table.</a:t>
            </a:r>
          </a:p>
          <a:p>
            <a:pPr lvl="1"/>
            <a:r>
              <a:rPr lang="en-US" dirty="0"/>
              <a:t>The table with the foreign key is called the child table, and the table with the primary key is called the referenced or parent table.</a:t>
            </a:r>
          </a:p>
        </p:txBody>
      </p:sp>
    </p:spTree>
    <p:extLst>
      <p:ext uri="{BB962C8B-B14F-4D97-AF65-F5344CB8AC3E}">
        <p14:creationId xmlns:p14="http://schemas.microsoft.com/office/powerpoint/2010/main" val="159927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7F475-4787-4CC7-93AE-5A28C3B74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A0C399-222D-66BD-EA77-7DEF677E3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 (Conti..)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F0CE1F-47C1-AEFC-BA8A-467706640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Check Constraint</a:t>
            </a:r>
          </a:p>
          <a:p>
            <a:pPr lvl="1"/>
            <a:r>
              <a:rPr lang="en-US" dirty="0"/>
              <a:t>CHECK constraint is used to limit the value range that can be placed in a column.</a:t>
            </a:r>
          </a:p>
          <a:p>
            <a:r>
              <a:rPr lang="en-US" b="1" dirty="0"/>
              <a:t>Default Constraint</a:t>
            </a:r>
          </a:p>
          <a:p>
            <a:pPr lvl="1"/>
            <a:r>
              <a:rPr lang="en-US" dirty="0"/>
              <a:t>The Default constraint is used to set a default value for a column.</a:t>
            </a:r>
          </a:p>
          <a:p>
            <a:pPr lvl="1"/>
            <a:r>
              <a:rPr lang="en-US" dirty="0"/>
              <a:t>The default value will be added to all new records, if no other value is specified.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965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7A73A-9811-A4BA-9F21-CBFBD5861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96983B-A857-564C-6F2D-26A6213B8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Null Constraint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7D20283-8062-88BC-6298-1543EE007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null value indicates </a:t>
            </a:r>
            <a:r>
              <a:rPr lang="en-US" i="1" dirty="0"/>
              <a:t>‘not applicable’</a:t>
            </a:r>
            <a:r>
              <a:rPr lang="en-US" dirty="0"/>
              <a:t>, </a:t>
            </a:r>
            <a:r>
              <a:rPr lang="en-US" i="1" dirty="0"/>
              <a:t>‘missing’</a:t>
            </a:r>
            <a:r>
              <a:rPr lang="en-US" dirty="0"/>
              <a:t> or </a:t>
            </a:r>
            <a:r>
              <a:rPr lang="en-US" i="1" dirty="0"/>
              <a:t>‘not known’</a:t>
            </a:r>
            <a:r>
              <a:rPr lang="en-US" dirty="0"/>
              <a:t>.</a:t>
            </a:r>
          </a:p>
          <a:p>
            <a:r>
              <a:rPr lang="en-US" dirty="0"/>
              <a:t>A null value is distinct from zero or blank space.</a:t>
            </a:r>
          </a:p>
          <a:p>
            <a:r>
              <a:rPr lang="en-US" dirty="0"/>
              <a:t>A column, defined as a not null, cannot have a null value.</a:t>
            </a:r>
          </a:p>
          <a:p>
            <a:r>
              <a:rPr lang="en-US" dirty="0"/>
              <a:t>Such a column become a mandatory (compulsory) column and cannot be left empty for any record.</a:t>
            </a:r>
          </a:p>
          <a:p>
            <a:r>
              <a:rPr lang="en-US" b="1" dirty="0">
                <a:solidFill>
                  <a:schemeClr val="accent6"/>
                </a:solidFill>
              </a:rPr>
              <a:t>SYNTAX:</a:t>
            </a:r>
          </a:p>
          <a:p>
            <a:pPr marL="0" indent="0">
              <a:buNone/>
            </a:pPr>
            <a:endParaRPr lang="en-US" b="1" dirty="0">
              <a:solidFill>
                <a:schemeClr val="accent6"/>
              </a:solidFill>
            </a:endParaRPr>
          </a:p>
          <a:p>
            <a:r>
              <a:rPr lang="en-US" b="1" dirty="0">
                <a:solidFill>
                  <a:schemeClr val="accent6"/>
                </a:solidFill>
              </a:rPr>
              <a:t>EXAMPLE:</a:t>
            </a:r>
          </a:p>
          <a:p>
            <a:endParaRPr lang="en-US" b="1" dirty="0">
              <a:solidFill>
                <a:schemeClr val="accent6"/>
              </a:solidFill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Now, if we insert NULL value to Balance column then it will generate an error.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411C92-5099-24D3-805E-1C5F76F2EB51}"/>
              </a:ext>
            </a:extLst>
          </p:cNvPr>
          <p:cNvSpPr txBox="1"/>
          <p:nvPr/>
        </p:nvSpPr>
        <p:spPr>
          <a:xfrm>
            <a:off x="359566" y="4375286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CREATE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88E8DA-9061-9242-E2DD-95AD1E2D5FDB}"/>
              </a:ext>
            </a:extLst>
          </p:cNvPr>
          <p:cNvSpPr txBox="1"/>
          <p:nvPr/>
        </p:nvSpPr>
        <p:spPr>
          <a:xfrm>
            <a:off x="1149713" y="4375286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F1653-4231-B16B-4956-67FAA64796E9}"/>
              </a:ext>
            </a:extLst>
          </p:cNvPr>
          <p:cNvSpPr txBox="1"/>
          <p:nvPr/>
        </p:nvSpPr>
        <p:spPr>
          <a:xfrm>
            <a:off x="1939860" y="4375286"/>
            <a:ext cx="1204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ACCOUNT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7F3096-DB3B-9F27-0BBA-DBCE86B2AB8C}"/>
              </a:ext>
            </a:extLst>
          </p:cNvPr>
          <p:cNvSpPr txBox="1"/>
          <p:nvPr/>
        </p:nvSpPr>
        <p:spPr>
          <a:xfrm>
            <a:off x="424222" y="4712195"/>
            <a:ext cx="262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(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4742F2-9835-9DB3-54EB-9DD73A76228B}"/>
              </a:ext>
            </a:extLst>
          </p:cNvPr>
          <p:cNvSpPr txBox="1"/>
          <p:nvPr/>
        </p:nvSpPr>
        <p:spPr>
          <a:xfrm>
            <a:off x="678658" y="4749748"/>
            <a:ext cx="2314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ACC_NO  INT,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3626E0-E1D1-25A5-7488-4D6376C640E9}"/>
              </a:ext>
            </a:extLst>
          </p:cNvPr>
          <p:cNvSpPr txBox="1"/>
          <p:nvPr/>
        </p:nvSpPr>
        <p:spPr>
          <a:xfrm>
            <a:off x="1077736" y="5104687"/>
            <a:ext cx="2561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BALANCE  DECIMAL(9,2)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F3CCA2-A395-12B4-F36C-16168DAD738D}"/>
              </a:ext>
            </a:extLst>
          </p:cNvPr>
          <p:cNvSpPr txBox="1"/>
          <p:nvPr/>
        </p:nvSpPr>
        <p:spPr>
          <a:xfrm>
            <a:off x="3439938" y="5111683"/>
            <a:ext cx="1273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NOT NULL,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605350-0142-3755-53D7-D0E658DE5410}"/>
              </a:ext>
            </a:extLst>
          </p:cNvPr>
          <p:cNvSpPr txBox="1"/>
          <p:nvPr/>
        </p:nvSpPr>
        <p:spPr>
          <a:xfrm>
            <a:off x="1128085" y="5454996"/>
            <a:ext cx="2520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BRANCH VARCHAR2 (20)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8751D4-2A6F-1C77-9BDD-66FB5283CE6B}"/>
              </a:ext>
            </a:extLst>
          </p:cNvPr>
          <p:cNvSpPr txBox="1"/>
          <p:nvPr/>
        </p:nvSpPr>
        <p:spPr>
          <a:xfrm>
            <a:off x="446371" y="5739316"/>
            <a:ext cx="390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) 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CCE5DA-5ACD-FD2E-8A8E-12B7CB924F2E}"/>
              </a:ext>
            </a:extLst>
          </p:cNvPr>
          <p:cNvSpPr txBox="1"/>
          <p:nvPr/>
        </p:nvSpPr>
        <p:spPr>
          <a:xfrm>
            <a:off x="359566" y="3429000"/>
            <a:ext cx="3477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COLUMN_NAME  DATATYPE (SIZE)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76989E-E2D8-DD2F-9CA8-EC3947945907}"/>
              </a:ext>
            </a:extLst>
          </p:cNvPr>
          <p:cNvSpPr txBox="1"/>
          <p:nvPr/>
        </p:nvSpPr>
        <p:spPr>
          <a:xfrm>
            <a:off x="3742485" y="3429000"/>
            <a:ext cx="1273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NOT NULL</a:t>
            </a:r>
          </a:p>
        </p:txBody>
      </p:sp>
    </p:spTree>
    <p:extLst>
      <p:ext uri="{BB962C8B-B14F-4D97-AF65-F5344CB8AC3E}">
        <p14:creationId xmlns:p14="http://schemas.microsoft.com/office/powerpoint/2010/main" val="3030040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208624-99F0-4324-BA51-191516272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Unique Constraint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286824-5EAB-41F6-9EC8-48F6842C4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 there may be requirement that column cannot contain duplicate values.</a:t>
            </a:r>
          </a:p>
          <a:p>
            <a:r>
              <a:rPr lang="en-US" dirty="0"/>
              <a:t>A column, defined as a unique, cannot have duplicate values across all records.</a:t>
            </a:r>
          </a:p>
          <a:p>
            <a:r>
              <a:rPr lang="en-US" b="1" dirty="0">
                <a:solidFill>
                  <a:schemeClr val="accent6"/>
                </a:solidFill>
              </a:rPr>
              <a:t>SYNTAX:</a:t>
            </a:r>
          </a:p>
          <a:p>
            <a:endParaRPr lang="en-US" b="1" dirty="0">
              <a:solidFill>
                <a:schemeClr val="accent6"/>
              </a:solidFill>
            </a:endParaRPr>
          </a:p>
          <a:p>
            <a:r>
              <a:rPr lang="en-US" b="1" dirty="0">
                <a:solidFill>
                  <a:schemeClr val="accent6"/>
                </a:solidFill>
              </a:rPr>
              <a:t>EXAMPLE:</a:t>
            </a:r>
          </a:p>
          <a:p>
            <a:endParaRPr lang="en-US" b="1" dirty="0">
              <a:solidFill>
                <a:schemeClr val="accent6"/>
              </a:solidFill>
            </a:endParaRPr>
          </a:p>
          <a:p>
            <a:endParaRPr lang="en-US" b="1" dirty="0">
              <a:solidFill>
                <a:schemeClr val="accent6"/>
              </a:solidFill>
            </a:endParaRPr>
          </a:p>
          <a:p>
            <a:endParaRPr lang="en-US" b="1" dirty="0">
              <a:solidFill>
                <a:schemeClr val="accent6"/>
              </a:solidFill>
            </a:endParaRPr>
          </a:p>
          <a:p>
            <a:r>
              <a:rPr lang="en-US" dirty="0"/>
              <a:t>Though, a unique constraint does not allow duplicate values, NULL values can be duplicated in a column defined as a UNIQUE column.</a:t>
            </a:r>
          </a:p>
          <a:p>
            <a:r>
              <a:rPr lang="en-US" dirty="0"/>
              <a:t>A table can have more than one column defined as a unique column.</a:t>
            </a:r>
            <a:endParaRPr lang="en-US" b="1" dirty="0">
              <a:solidFill>
                <a:schemeClr val="accent6"/>
              </a:solidFill>
            </a:endParaRPr>
          </a:p>
          <a:p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5E48FD-1024-4A9C-9887-92DCC5529E44}"/>
              </a:ext>
            </a:extLst>
          </p:cNvPr>
          <p:cNvSpPr txBox="1"/>
          <p:nvPr/>
        </p:nvSpPr>
        <p:spPr>
          <a:xfrm>
            <a:off x="297655" y="3087563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CREATE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3FEE0D-ED85-4A19-A3A8-D418CA2889DD}"/>
              </a:ext>
            </a:extLst>
          </p:cNvPr>
          <p:cNvSpPr txBox="1"/>
          <p:nvPr/>
        </p:nvSpPr>
        <p:spPr>
          <a:xfrm>
            <a:off x="1087802" y="3087563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TABLE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5A16B6-A47A-48A6-8F37-6E27B51307BC}"/>
              </a:ext>
            </a:extLst>
          </p:cNvPr>
          <p:cNvSpPr txBox="1"/>
          <p:nvPr/>
        </p:nvSpPr>
        <p:spPr>
          <a:xfrm>
            <a:off x="1877949" y="3087563"/>
            <a:ext cx="1204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ACCOUNT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06C838-B379-4878-8970-67A78CAAF7A3}"/>
              </a:ext>
            </a:extLst>
          </p:cNvPr>
          <p:cNvSpPr txBox="1"/>
          <p:nvPr/>
        </p:nvSpPr>
        <p:spPr>
          <a:xfrm>
            <a:off x="2900772" y="3101046"/>
            <a:ext cx="262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29FD55-78BB-4EC8-8364-D12608C70B73}"/>
              </a:ext>
            </a:extLst>
          </p:cNvPr>
          <p:cNvSpPr txBox="1"/>
          <p:nvPr/>
        </p:nvSpPr>
        <p:spPr>
          <a:xfrm>
            <a:off x="2769443" y="3100953"/>
            <a:ext cx="2251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ACC_NO INT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FC3B50-4C48-4FB6-8C68-65790700F757}"/>
              </a:ext>
            </a:extLst>
          </p:cNvPr>
          <p:cNvSpPr txBox="1"/>
          <p:nvPr/>
        </p:nvSpPr>
        <p:spPr>
          <a:xfrm>
            <a:off x="3191073" y="3474793"/>
            <a:ext cx="249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BALANCE DECIMAL(9,2),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43CE21-31C3-4A30-A838-7671E6FBF62D}"/>
              </a:ext>
            </a:extLst>
          </p:cNvPr>
          <p:cNvSpPr txBox="1"/>
          <p:nvPr/>
        </p:nvSpPr>
        <p:spPr>
          <a:xfrm>
            <a:off x="4516581" y="3096445"/>
            <a:ext cx="1057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UNIQUE,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8E4C9A-F527-4BDE-AF3D-64906614B6DC}"/>
              </a:ext>
            </a:extLst>
          </p:cNvPr>
          <p:cNvSpPr txBox="1"/>
          <p:nvPr/>
        </p:nvSpPr>
        <p:spPr>
          <a:xfrm>
            <a:off x="3204156" y="3875744"/>
            <a:ext cx="249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BRANCH VARCHAR2(20)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D98970-8E03-4B34-B0F2-039F39DC83B8}"/>
              </a:ext>
            </a:extLst>
          </p:cNvPr>
          <p:cNvSpPr txBox="1"/>
          <p:nvPr/>
        </p:nvSpPr>
        <p:spPr>
          <a:xfrm>
            <a:off x="2951238" y="4060410"/>
            <a:ext cx="262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47524D-6B3D-4490-B70C-60C9A920B8BA}"/>
              </a:ext>
            </a:extLst>
          </p:cNvPr>
          <p:cNvSpPr txBox="1"/>
          <p:nvPr/>
        </p:nvSpPr>
        <p:spPr>
          <a:xfrm>
            <a:off x="3065853" y="4060410"/>
            <a:ext cx="262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56E351-6C91-4381-AF9E-45335932E2FF}"/>
              </a:ext>
            </a:extLst>
          </p:cNvPr>
          <p:cNvSpPr txBox="1"/>
          <p:nvPr/>
        </p:nvSpPr>
        <p:spPr>
          <a:xfrm>
            <a:off x="297655" y="2252847"/>
            <a:ext cx="3477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COLUMN NAME DATATYPE (SIZE)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86AE75-0CD0-47A9-9BA4-C8B8D1C72108}"/>
              </a:ext>
            </a:extLst>
          </p:cNvPr>
          <p:cNvSpPr txBox="1"/>
          <p:nvPr/>
        </p:nvSpPr>
        <p:spPr>
          <a:xfrm>
            <a:off x="3564082" y="2266702"/>
            <a:ext cx="952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UNIQUE</a:t>
            </a:r>
          </a:p>
        </p:txBody>
      </p:sp>
    </p:spTree>
    <p:extLst>
      <p:ext uri="{BB962C8B-B14F-4D97-AF65-F5344CB8AC3E}">
        <p14:creationId xmlns:p14="http://schemas.microsoft.com/office/powerpoint/2010/main" val="142274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208624-99F0-4324-BA51-191516272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Constraint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286824-5EAB-41F6-9EC8-48F6842C4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check constraint is used to implement business rule. So, it is also called </a:t>
            </a:r>
            <a:r>
              <a:rPr lang="en-US" b="1" dirty="0"/>
              <a:t>Business rule constraint</a:t>
            </a:r>
            <a:r>
              <a:rPr lang="en-US" dirty="0"/>
              <a:t>.</a:t>
            </a:r>
          </a:p>
          <a:p>
            <a:r>
              <a:rPr lang="en-US" dirty="0"/>
              <a:t>Example of business rule: A balance in any account should not be negative.</a:t>
            </a:r>
          </a:p>
          <a:p>
            <a:r>
              <a:rPr lang="en-US" dirty="0"/>
              <a:t>Business rule define a domain for a particular column.</a:t>
            </a:r>
          </a:p>
          <a:p>
            <a:r>
              <a:rPr lang="en-US" dirty="0"/>
              <a:t>The check constraint is bound to a particular column.</a:t>
            </a:r>
          </a:p>
          <a:p>
            <a:r>
              <a:rPr lang="en-US" dirty="0"/>
              <a:t>Once check constraint is implemented, any insert or update operation on that table must follow this constraint. If any operation violates condition, it will be rejected</a:t>
            </a:r>
          </a:p>
          <a:p>
            <a:r>
              <a:rPr lang="en-US" b="1" dirty="0">
                <a:solidFill>
                  <a:schemeClr val="accent6"/>
                </a:solidFill>
              </a:rPr>
              <a:t>SYNTAX:</a:t>
            </a:r>
          </a:p>
          <a:p>
            <a:endParaRPr lang="en-US" b="1" dirty="0">
              <a:solidFill>
                <a:schemeClr val="accent6"/>
              </a:solidFill>
            </a:endParaRPr>
          </a:p>
          <a:p>
            <a:r>
              <a:rPr lang="en-US" b="1" dirty="0">
                <a:solidFill>
                  <a:schemeClr val="accent6"/>
                </a:solidFill>
              </a:rPr>
              <a:t>EXAMPLE:</a:t>
            </a:r>
          </a:p>
          <a:p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5E48FD-1024-4A9C-9887-92DCC5529E44}"/>
              </a:ext>
            </a:extLst>
          </p:cNvPr>
          <p:cNvSpPr txBox="1"/>
          <p:nvPr/>
        </p:nvSpPr>
        <p:spPr>
          <a:xfrm>
            <a:off x="297655" y="5160211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CREATE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3FEE0D-ED85-4A19-A3A8-D418CA2889DD}"/>
              </a:ext>
            </a:extLst>
          </p:cNvPr>
          <p:cNvSpPr txBox="1"/>
          <p:nvPr/>
        </p:nvSpPr>
        <p:spPr>
          <a:xfrm>
            <a:off x="1087802" y="5160211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TABLE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5A16B6-A47A-48A6-8F37-6E27B51307BC}"/>
              </a:ext>
            </a:extLst>
          </p:cNvPr>
          <p:cNvSpPr txBox="1"/>
          <p:nvPr/>
        </p:nvSpPr>
        <p:spPr>
          <a:xfrm>
            <a:off x="1877949" y="5160211"/>
            <a:ext cx="1204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ACCOUNT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06C838-B379-4878-8970-67A78CAAF7A3}"/>
              </a:ext>
            </a:extLst>
          </p:cNvPr>
          <p:cNvSpPr txBox="1"/>
          <p:nvPr/>
        </p:nvSpPr>
        <p:spPr>
          <a:xfrm>
            <a:off x="2900772" y="5173694"/>
            <a:ext cx="262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29FD55-78BB-4EC8-8364-D12608C70B73}"/>
              </a:ext>
            </a:extLst>
          </p:cNvPr>
          <p:cNvSpPr txBox="1"/>
          <p:nvPr/>
        </p:nvSpPr>
        <p:spPr>
          <a:xfrm>
            <a:off x="3082419" y="5193919"/>
            <a:ext cx="1384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ACC_NO INT,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FC3B50-4C48-4FB6-8C68-65790700F757}"/>
              </a:ext>
            </a:extLst>
          </p:cNvPr>
          <p:cNvSpPr txBox="1"/>
          <p:nvPr/>
        </p:nvSpPr>
        <p:spPr>
          <a:xfrm>
            <a:off x="3031952" y="5556416"/>
            <a:ext cx="249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BALANCE DECIMAL(9,2)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43CE21-31C3-4A30-A838-7671E6FBF62D}"/>
              </a:ext>
            </a:extLst>
          </p:cNvPr>
          <p:cNvSpPr txBox="1"/>
          <p:nvPr/>
        </p:nvSpPr>
        <p:spPr>
          <a:xfrm>
            <a:off x="5332091" y="5570178"/>
            <a:ext cx="2352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CHECK (BALANCE &gt; 0),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8E4C9A-F527-4BDE-AF3D-64906614B6DC}"/>
              </a:ext>
            </a:extLst>
          </p:cNvPr>
          <p:cNvSpPr txBox="1"/>
          <p:nvPr/>
        </p:nvSpPr>
        <p:spPr>
          <a:xfrm>
            <a:off x="3056712" y="5897796"/>
            <a:ext cx="249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BRANCH VARCHAR2(20)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47524D-6B3D-4490-B70C-60C9A920B8BA}"/>
              </a:ext>
            </a:extLst>
          </p:cNvPr>
          <p:cNvSpPr txBox="1"/>
          <p:nvPr/>
        </p:nvSpPr>
        <p:spPr>
          <a:xfrm>
            <a:off x="2909405" y="6183515"/>
            <a:ext cx="430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) 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56E351-6C91-4381-AF9E-45335932E2FF}"/>
              </a:ext>
            </a:extLst>
          </p:cNvPr>
          <p:cNvSpPr txBox="1"/>
          <p:nvPr/>
        </p:nvSpPr>
        <p:spPr>
          <a:xfrm>
            <a:off x="277090" y="4177263"/>
            <a:ext cx="3477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COLUMN NAME DATATYPE (SIZE)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86AE75-0CD0-47A9-9BA4-C8B8D1C72108}"/>
              </a:ext>
            </a:extLst>
          </p:cNvPr>
          <p:cNvSpPr txBox="1"/>
          <p:nvPr/>
        </p:nvSpPr>
        <p:spPr>
          <a:xfrm>
            <a:off x="3557372" y="4177263"/>
            <a:ext cx="2122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CHECK (CONDITION)</a:t>
            </a:r>
          </a:p>
        </p:txBody>
      </p:sp>
    </p:spTree>
    <p:extLst>
      <p:ext uri="{BB962C8B-B14F-4D97-AF65-F5344CB8AC3E}">
        <p14:creationId xmlns:p14="http://schemas.microsoft.com/office/powerpoint/2010/main" val="113742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6" grpId="0"/>
      <p:bldP spid="27" grpId="0"/>
      <p:bldP spid="2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6472B-D5F2-35DF-740C-7209C4196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46F8A7-0117-5983-40F2-5C83B010C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Key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C744378-8F89-D8DD-76EB-5CFAD078D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11891606" cy="5590565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PRIMARY KEY </a:t>
            </a:r>
            <a:r>
              <a:rPr lang="en-US" b="1" dirty="0"/>
              <a:t>=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NOT NULL </a:t>
            </a:r>
            <a:r>
              <a:rPr lang="en-US" b="1" dirty="0"/>
              <a:t>+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UNIQUE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dirty="0"/>
              <a:t>A primary key is a set of one or more columns used to identify each record uniquely in a column.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chemeClr val="accent6"/>
                </a:solidFill>
              </a:rPr>
              <a:t>single column </a:t>
            </a:r>
            <a:r>
              <a:rPr lang="en-US" dirty="0"/>
              <a:t>primary key is called a </a:t>
            </a:r>
            <a:r>
              <a:rPr lang="en-US" b="1" dirty="0">
                <a:solidFill>
                  <a:schemeClr val="accent6"/>
                </a:solidFill>
              </a:rPr>
              <a:t>simple primary key</a:t>
            </a:r>
            <a:r>
              <a:rPr lang="en-US" dirty="0"/>
              <a:t>, while a multi-column primary key is called </a:t>
            </a:r>
            <a:r>
              <a:rPr lang="en-US" b="1" dirty="0">
                <a:solidFill>
                  <a:schemeClr val="accent6"/>
                </a:solidFill>
              </a:rPr>
              <a:t>composite primary key</a:t>
            </a:r>
            <a:r>
              <a:rPr lang="en-US" dirty="0"/>
              <a:t>.</a:t>
            </a:r>
          </a:p>
          <a:p>
            <a:r>
              <a:rPr lang="en-US" dirty="0"/>
              <a:t>A column, defined as a primary key, </a:t>
            </a:r>
            <a:r>
              <a:rPr lang="en-US" b="1" dirty="0">
                <a:solidFill>
                  <a:schemeClr val="accent6"/>
                </a:solidFill>
              </a:rPr>
              <a:t>cannot have duplicate values </a:t>
            </a:r>
            <a:r>
              <a:rPr lang="en-US" dirty="0"/>
              <a:t>across all records and </a:t>
            </a:r>
            <a:r>
              <a:rPr lang="en-US" b="1" dirty="0">
                <a:solidFill>
                  <a:schemeClr val="accent6"/>
                </a:solidFill>
              </a:rPr>
              <a:t>cannot have a null value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/>
                </a:solidFill>
              </a:rPr>
              <a:t>SYNTAX:</a:t>
            </a:r>
          </a:p>
          <a:p>
            <a:endParaRPr lang="en-US" b="1" dirty="0">
              <a:solidFill>
                <a:schemeClr val="accent6"/>
              </a:solidFill>
            </a:endParaRPr>
          </a:p>
          <a:p>
            <a:r>
              <a:rPr lang="en-US" b="1" dirty="0">
                <a:solidFill>
                  <a:schemeClr val="accent6"/>
                </a:solidFill>
              </a:rPr>
              <a:t>EXAMPLE:</a:t>
            </a:r>
          </a:p>
          <a:p>
            <a:endParaRPr lang="en-US" b="1" dirty="0">
              <a:solidFill>
                <a:schemeClr val="accent6"/>
              </a:solidFill>
            </a:endParaRPr>
          </a:p>
          <a:p>
            <a:endParaRPr lang="en-US" b="1" dirty="0">
              <a:solidFill>
                <a:schemeClr val="accent6"/>
              </a:solidFill>
            </a:endParaRPr>
          </a:p>
          <a:p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DE362B-E9FF-983B-7B65-A37528F7BA59}"/>
              </a:ext>
            </a:extLst>
          </p:cNvPr>
          <p:cNvSpPr txBox="1"/>
          <p:nvPr/>
        </p:nvSpPr>
        <p:spPr>
          <a:xfrm>
            <a:off x="313572" y="511032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CREATE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83D7E1-B666-9C3E-59A8-1D6B2199C528}"/>
              </a:ext>
            </a:extLst>
          </p:cNvPr>
          <p:cNvSpPr txBox="1"/>
          <p:nvPr/>
        </p:nvSpPr>
        <p:spPr>
          <a:xfrm>
            <a:off x="1103719" y="511032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TABLE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E6666A-73A6-F891-44C1-20A5497CCC03}"/>
              </a:ext>
            </a:extLst>
          </p:cNvPr>
          <p:cNvSpPr txBox="1"/>
          <p:nvPr/>
        </p:nvSpPr>
        <p:spPr>
          <a:xfrm>
            <a:off x="1893866" y="5110320"/>
            <a:ext cx="1204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ACCOUNT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DACE90-C0BD-81C9-DBB1-42A3437A5639}"/>
              </a:ext>
            </a:extLst>
          </p:cNvPr>
          <p:cNvSpPr txBox="1"/>
          <p:nvPr/>
        </p:nvSpPr>
        <p:spPr>
          <a:xfrm>
            <a:off x="2960666" y="5110320"/>
            <a:ext cx="262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(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B3E49A-B165-4630-62B3-EC8632D7588B}"/>
              </a:ext>
            </a:extLst>
          </p:cNvPr>
          <p:cNvSpPr txBox="1"/>
          <p:nvPr/>
        </p:nvSpPr>
        <p:spPr>
          <a:xfrm>
            <a:off x="2994237" y="5125499"/>
            <a:ext cx="1553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ACC_NO INT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AED8B5-E3B9-172F-0D4C-061777B1F0F8}"/>
              </a:ext>
            </a:extLst>
          </p:cNvPr>
          <p:cNvSpPr txBox="1"/>
          <p:nvPr/>
        </p:nvSpPr>
        <p:spPr>
          <a:xfrm>
            <a:off x="3066009" y="5475503"/>
            <a:ext cx="2681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BALANCE DECIMAL(10,2),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03728-3ABE-F3AD-B6C3-32A2DEDCAFDF}"/>
              </a:ext>
            </a:extLst>
          </p:cNvPr>
          <p:cNvSpPr txBox="1"/>
          <p:nvPr/>
        </p:nvSpPr>
        <p:spPr>
          <a:xfrm>
            <a:off x="4323398" y="5137720"/>
            <a:ext cx="155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PRIMARY KEY,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5A91B8-CD01-B5A5-E8C3-B468A19C73D6}"/>
              </a:ext>
            </a:extLst>
          </p:cNvPr>
          <p:cNvSpPr txBox="1"/>
          <p:nvPr/>
        </p:nvSpPr>
        <p:spPr>
          <a:xfrm>
            <a:off x="3042877" y="5797769"/>
            <a:ext cx="249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BRANCH VARCHAR(20)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01EECD-B5C3-D0E3-445E-77F7556E66F7}"/>
              </a:ext>
            </a:extLst>
          </p:cNvPr>
          <p:cNvSpPr txBox="1"/>
          <p:nvPr/>
        </p:nvSpPr>
        <p:spPr>
          <a:xfrm>
            <a:off x="2960666" y="6084677"/>
            <a:ext cx="438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 ) 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29A543-485A-CFCE-E979-EE4FE0310A32}"/>
              </a:ext>
            </a:extLst>
          </p:cNvPr>
          <p:cNvSpPr txBox="1"/>
          <p:nvPr/>
        </p:nvSpPr>
        <p:spPr>
          <a:xfrm>
            <a:off x="313572" y="4123059"/>
            <a:ext cx="3477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COLUMN NAME DATATYPE (SIZE)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F08561-D807-2B1F-CDD0-9AFAB8F3654E}"/>
              </a:ext>
            </a:extLst>
          </p:cNvPr>
          <p:cNvSpPr txBox="1"/>
          <p:nvPr/>
        </p:nvSpPr>
        <p:spPr>
          <a:xfrm>
            <a:off x="3730670" y="4119576"/>
            <a:ext cx="1536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PRIMARY KEY</a:t>
            </a:r>
          </a:p>
        </p:txBody>
      </p:sp>
    </p:spTree>
    <p:extLst>
      <p:ext uri="{BB962C8B-B14F-4D97-AF65-F5344CB8AC3E}">
        <p14:creationId xmlns:p14="http://schemas.microsoft.com/office/powerpoint/2010/main" val="425493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6" grpId="0"/>
      <p:bldP spid="27" grpId="0"/>
      <p:bldP spid="2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10A4B-2896-35D4-15A3-745D3F765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F9C844-7B5E-38A3-8D8B-CEA9F533D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Foreign Key </a:t>
            </a:r>
            <a:r>
              <a:rPr lang="en-US" dirty="0"/>
              <a:t>Constraint (Conti..)</a:t>
            </a:r>
            <a:endParaRPr lang="en-IN" dirty="0"/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3D5351B9-DB05-C7A0-497F-21F87CFE2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6"/>
                </a:solidFill>
              </a:rPr>
              <a:t>Foreign Key constraint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in SQL Server is used to </a:t>
            </a:r>
            <a:r>
              <a:rPr lang="en-US" b="1" dirty="0">
                <a:solidFill>
                  <a:schemeClr val="accent6"/>
                </a:solidFill>
              </a:rPr>
              <a:t>create a relationship between two tables</a:t>
            </a:r>
            <a:r>
              <a:rPr lang="en-US" dirty="0"/>
              <a:t>.</a:t>
            </a:r>
          </a:p>
          <a:p>
            <a:r>
              <a:rPr lang="en-US" dirty="0"/>
              <a:t>It ensures that the </a:t>
            </a:r>
            <a:r>
              <a:rPr lang="en-US" b="1" dirty="0">
                <a:solidFill>
                  <a:schemeClr val="accent6"/>
                </a:solidFill>
              </a:rPr>
              <a:t>value in one table must match a value in another table’s Primary Key column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In simple words: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>
                <a:solidFill>
                  <a:schemeClr val="accent6"/>
                </a:solidFill>
              </a:rPr>
              <a:t>Foreign Key maintains referential integrity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between two tables.</a:t>
            </a:r>
          </a:p>
          <a:p>
            <a:r>
              <a:rPr lang="en-US" b="1" dirty="0">
                <a:solidFill>
                  <a:schemeClr val="accent6"/>
                </a:solidFill>
              </a:rPr>
              <a:t>SYNTAX:</a:t>
            </a:r>
          </a:p>
          <a:p>
            <a:endParaRPr lang="en-US" b="1" dirty="0">
              <a:solidFill>
                <a:schemeClr val="accent6"/>
              </a:solidFill>
            </a:endParaRPr>
          </a:p>
          <a:p>
            <a:r>
              <a:rPr lang="en-US" b="1" dirty="0">
                <a:solidFill>
                  <a:schemeClr val="accent6"/>
                </a:solidFill>
              </a:rPr>
              <a:t>EXAMPLE:</a:t>
            </a:r>
          </a:p>
          <a:p>
            <a:pPr lvl="1"/>
            <a:r>
              <a:rPr lang="en-US" sz="2200" dirty="0"/>
              <a:t>Assume that we have a Department table and one of its columns, </a:t>
            </a:r>
            <a:r>
              <a:rPr lang="en-US" sz="2200" dirty="0" err="1"/>
              <a:t>DepartmentID</a:t>
            </a:r>
            <a:r>
              <a:rPr lang="en-US" sz="2200" dirty="0"/>
              <a:t>, is the primary key of that table.</a:t>
            </a:r>
          </a:p>
          <a:p>
            <a:pPr lvl="1"/>
            <a:endParaRPr lang="en-US" sz="2200" b="1" dirty="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en-US" sz="2200" b="1" dirty="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DEAA96-0339-F4A0-30B0-CE58ECC49019}"/>
              </a:ext>
            </a:extLst>
          </p:cNvPr>
          <p:cNvSpPr txBox="1"/>
          <p:nvPr/>
        </p:nvSpPr>
        <p:spPr>
          <a:xfrm>
            <a:off x="359279" y="3359863"/>
            <a:ext cx="3316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Column_Name</a:t>
            </a:r>
            <a:r>
              <a:rPr lang="en-US" b="1" dirty="0"/>
              <a:t>  Data Type (Size)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3A8967-3B08-FE8A-5EEA-B62C1BD25274}"/>
              </a:ext>
            </a:extLst>
          </p:cNvPr>
          <p:cNvSpPr txBox="1"/>
          <p:nvPr/>
        </p:nvSpPr>
        <p:spPr>
          <a:xfrm>
            <a:off x="3533917" y="3366859"/>
            <a:ext cx="2638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Foreign Key  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32F7F9-717A-CE78-D9A7-9BA284F38D5D}"/>
              </a:ext>
            </a:extLst>
          </p:cNvPr>
          <p:cNvSpPr txBox="1"/>
          <p:nvPr/>
        </p:nvSpPr>
        <p:spPr>
          <a:xfrm>
            <a:off x="5858237" y="3352867"/>
            <a:ext cx="2561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ParentTable_Name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2663D3-CA10-D4F3-5630-6D4E540554B6}"/>
              </a:ext>
            </a:extLst>
          </p:cNvPr>
          <p:cNvSpPr txBox="1"/>
          <p:nvPr/>
        </p:nvSpPr>
        <p:spPr>
          <a:xfrm>
            <a:off x="8033660" y="3359863"/>
            <a:ext cx="2169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(</a:t>
            </a:r>
            <a:r>
              <a:rPr lang="en-US" b="1" dirty="0" err="1">
                <a:solidFill>
                  <a:schemeClr val="accent6"/>
                </a:solidFill>
              </a:rPr>
              <a:t>PrimaryKey</a:t>
            </a:r>
            <a:r>
              <a:rPr lang="en-US" b="1" dirty="0">
                <a:solidFill>
                  <a:schemeClr val="accent6"/>
                </a:solidFill>
              </a:rPr>
              <a:t> Column)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D2151C-4753-774D-0C2D-92235C728144}"/>
              </a:ext>
            </a:extLst>
          </p:cNvPr>
          <p:cNvSpPr txBox="1"/>
          <p:nvPr/>
        </p:nvSpPr>
        <p:spPr>
          <a:xfrm>
            <a:off x="948160" y="5575881"/>
            <a:ext cx="2682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 </a:t>
            </a:r>
            <a:r>
              <a:rPr lang="en-US" b="1" dirty="0" err="1"/>
              <a:t>EmpName</a:t>
            </a:r>
            <a:r>
              <a:rPr lang="en-US" b="1" dirty="0"/>
              <a:t> VARCHAR(30),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C826DE-7514-C2A1-9BC6-C3767536201C}"/>
              </a:ext>
            </a:extLst>
          </p:cNvPr>
          <p:cNvSpPr txBox="1"/>
          <p:nvPr/>
        </p:nvSpPr>
        <p:spPr>
          <a:xfrm>
            <a:off x="1013474" y="5905794"/>
            <a:ext cx="1843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DepartmentID</a:t>
            </a:r>
            <a:r>
              <a:rPr lang="en-US" b="1" dirty="0"/>
              <a:t> INT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B5DB8D-8F33-B647-25FD-EBF09D2C2236}"/>
              </a:ext>
            </a:extLst>
          </p:cNvPr>
          <p:cNvSpPr txBox="1"/>
          <p:nvPr/>
        </p:nvSpPr>
        <p:spPr>
          <a:xfrm>
            <a:off x="2799947" y="5912790"/>
            <a:ext cx="2638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Foreign Key REFERENCES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4E598B-7B94-828D-68F5-7726B37422FD}"/>
              </a:ext>
            </a:extLst>
          </p:cNvPr>
          <p:cNvSpPr txBox="1"/>
          <p:nvPr/>
        </p:nvSpPr>
        <p:spPr>
          <a:xfrm>
            <a:off x="777320" y="4849349"/>
            <a:ext cx="1898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CREATE TABLE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262624-8E65-7739-B557-CC4493C0807A}"/>
              </a:ext>
            </a:extLst>
          </p:cNvPr>
          <p:cNvSpPr txBox="1"/>
          <p:nvPr/>
        </p:nvSpPr>
        <p:spPr>
          <a:xfrm>
            <a:off x="2242757" y="4856345"/>
            <a:ext cx="1618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Employee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6666BF-F5BF-A380-5C46-31BA1DD143B1}"/>
              </a:ext>
            </a:extLst>
          </p:cNvPr>
          <p:cNvSpPr txBox="1"/>
          <p:nvPr/>
        </p:nvSpPr>
        <p:spPr>
          <a:xfrm>
            <a:off x="866244" y="5213545"/>
            <a:ext cx="1898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( </a:t>
            </a:r>
            <a:r>
              <a:rPr lang="en-US" b="1" dirty="0" err="1"/>
              <a:t>EmployeeID</a:t>
            </a:r>
            <a:r>
              <a:rPr lang="en-US" b="1" dirty="0"/>
              <a:t> INT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F1ECB2-55AF-D89E-6C52-3631F749093F}"/>
              </a:ext>
            </a:extLst>
          </p:cNvPr>
          <p:cNvSpPr txBox="1"/>
          <p:nvPr/>
        </p:nvSpPr>
        <p:spPr>
          <a:xfrm>
            <a:off x="2538652" y="5220541"/>
            <a:ext cx="1618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PRIMARY KEY,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2EC267-14F2-227A-0C28-755724901B33}"/>
              </a:ext>
            </a:extLst>
          </p:cNvPr>
          <p:cNvSpPr txBox="1"/>
          <p:nvPr/>
        </p:nvSpPr>
        <p:spPr>
          <a:xfrm>
            <a:off x="5072434" y="5912790"/>
            <a:ext cx="1843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Department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4728A5-7A99-B196-82F2-6B68E9194AA5}"/>
              </a:ext>
            </a:extLst>
          </p:cNvPr>
          <p:cNvSpPr txBox="1"/>
          <p:nvPr/>
        </p:nvSpPr>
        <p:spPr>
          <a:xfrm>
            <a:off x="5994170" y="5903509"/>
            <a:ext cx="2638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(</a:t>
            </a:r>
            <a:r>
              <a:rPr lang="en-US" b="1" dirty="0" err="1">
                <a:solidFill>
                  <a:schemeClr val="accent6"/>
                </a:solidFill>
              </a:rPr>
              <a:t>DepartmentID</a:t>
            </a:r>
            <a:r>
              <a:rPr lang="en-US" b="1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F16468-E7A8-B80F-DE33-ED64E2A5EC1E}"/>
              </a:ext>
            </a:extLst>
          </p:cNvPr>
          <p:cNvSpPr txBox="1"/>
          <p:nvPr/>
        </p:nvSpPr>
        <p:spPr>
          <a:xfrm>
            <a:off x="977228" y="6216283"/>
            <a:ext cx="380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) ;</a:t>
            </a:r>
          </a:p>
        </p:txBody>
      </p:sp>
    </p:spTree>
    <p:extLst>
      <p:ext uri="{BB962C8B-B14F-4D97-AF65-F5344CB8AC3E}">
        <p14:creationId xmlns:p14="http://schemas.microsoft.com/office/powerpoint/2010/main" val="213659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1" grpId="0"/>
      <p:bldP spid="12" grpId="0"/>
      <p:bldP spid="13" grpId="0"/>
      <p:bldP spid="14" grpId="0"/>
      <p:bldP spid="17" grpId="0"/>
      <p:bldP spid="18" grpId="0"/>
      <p:bldP spid="21" grpId="0"/>
      <p:bldP spid="22" grpId="0"/>
      <p:bldP spid="2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9E440-BB09-2E11-D9E5-714105CA0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B07184-ED87-F75C-265B-D1E028BD4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Foreign Key </a:t>
            </a:r>
            <a:r>
              <a:rPr lang="en-US" dirty="0"/>
              <a:t>Constraint (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Example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5D050E6-16DD-73E0-1A00-916B22AE1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accent6"/>
                </a:solidFill>
                <a:latin typeface="Consolas" panose="020B0609020204030204" pitchFamily="49" charset="0"/>
              </a:rPr>
              <a:t>Parent Table (Primary Key Table)</a:t>
            </a:r>
          </a:p>
          <a:p>
            <a:pPr marL="0" indent="269875">
              <a:buNone/>
            </a:pP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</a:rPr>
              <a:t> Department</a:t>
            </a:r>
          </a:p>
          <a:p>
            <a:pPr marL="0" indent="269875">
              <a:buNone/>
            </a:pPr>
            <a:r>
              <a:rPr lang="en-IN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IN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269875">
              <a:buNone/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DeptID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</a:rPr>
              <a:t>PRIMARY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</a:rPr>
              <a:t>KEY</a:t>
            </a:r>
            <a:r>
              <a:rPr lang="en-IN" sz="2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269875">
              <a:buNone/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DeptName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IN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</a:rPr>
              <a:t>50</a:t>
            </a:r>
            <a:r>
              <a:rPr lang="en-IN" sz="2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IN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269875">
              <a:buNone/>
            </a:pPr>
            <a:r>
              <a:rPr lang="en-IN" sz="22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6"/>
                </a:solidFill>
                <a:latin typeface="Consolas" panose="020B0609020204030204" pitchFamily="49" charset="0"/>
              </a:rPr>
              <a:t>Child Table (Foreign Key Table)</a:t>
            </a:r>
          </a:p>
          <a:p>
            <a:pPr marL="0" indent="269875">
              <a:buNone/>
            </a:pP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</a:rPr>
              <a:t> Employee</a:t>
            </a:r>
          </a:p>
          <a:p>
            <a:pPr marL="0" indent="269875">
              <a:buNone/>
            </a:pPr>
            <a:r>
              <a:rPr lang="en-IN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IN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269875">
              <a:buNone/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EmpID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</a:rPr>
              <a:t>PRIMARY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</a:rPr>
              <a:t>KEY</a:t>
            </a:r>
            <a:r>
              <a:rPr lang="en-IN" sz="2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IN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269875">
              <a:buNone/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EmpName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IN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</a:rPr>
              <a:t>50</a:t>
            </a:r>
            <a:r>
              <a:rPr lang="en-IN" sz="22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en-IN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269875"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DeptID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Foreign Key REFERENCES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Department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DeptID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269875">
              <a:buNone/>
            </a:pPr>
            <a:r>
              <a:rPr lang="en-IN" sz="22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US" sz="2200" dirty="0"/>
          </a:p>
        </p:txBody>
      </p:sp>
      <p:sp>
        <p:nvSpPr>
          <p:cNvPr id="4" name="Rounded Rectangular Callout 70">
            <a:extLst>
              <a:ext uri="{FF2B5EF4-FFF2-40B4-BE49-F238E27FC236}">
                <a16:creationId xmlns:a16="http://schemas.microsoft.com/office/drawing/2014/main" id="{B7A33833-AB72-3258-6FA9-E2EB4F60F41D}"/>
              </a:ext>
            </a:extLst>
          </p:cNvPr>
          <p:cNvSpPr/>
          <p:nvPr/>
        </p:nvSpPr>
        <p:spPr>
          <a:xfrm>
            <a:off x="5246723" y="4747726"/>
            <a:ext cx="2341983" cy="457200"/>
          </a:xfrm>
          <a:prstGeom prst="wedgeRoundRectCallout">
            <a:avLst>
              <a:gd name="adj1" fmla="val 6847"/>
              <a:gd name="adj2" fmla="val 152843"/>
              <a:gd name="adj3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Parent Table Name</a:t>
            </a:r>
          </a:p>
        </p:txBody>
      </p:sp>
      <p:sp>
        <p:nvSpPr>
          <p:cNvPr id="5" name="Rounded Rectangular Callout 70">
            <a:extLst>
              <a:ext uri="{FF2B5EF4-FFF2-40B4-BE49-F238E27FC236}">
                <a16:creationId xmlns:a16="http://schemas.microsoft.com/office/drawing/2014/main" id="{C12F8299-86F2-F6D2-3245-79119BCDDD5A}"/>
              </a:ext>
            </a:extLst>
          </p:cNvPr>
          <p:cNvSpPr/>
          <p:nvPr/>
        </p:nvSpPr>
        <p:spPr>
          <a:xfrm>
            <a:off x="7687682" y="4295969"/>
            <a:ext cx="4274163" cy="457200"/>
          </a:xfrm>
          <a:prstGeom prst="wedgeRoundRectCallout">
            <a:avLst>
              <a:gd name="adj1" fmla="val -34953"/>
              <a:gd name="adj2" fmla="val 248760"/>
              <a:gd name="adj3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Primary Key Column of Parent Table</a:t>
            </a:r>
          </a:p>
        </p:txBody>
      </p:sp>
      <p:sp>
        <p:nvSpPr>
          <p:cNvPr id="6" name="Rounded Rectangular Callout 70">
            <a:extLst>
              <a:ext uri="{FF2B5EF4-FFF2-40B4-BE49-F238E27FC236}">
                <a16:creationId xmlns:a16="http://schemas.microsoft.com/office/drawing/2014/main" id="{E8BE7335-4542-403C-AA2C-358BA233FD20}"/>
              </a:ext>
            </a:extLst>
          </p:cNvPr>
          <p:cNvSpPr/>
          <p:nvPr/>
        </p:nvSpPr>
        <p:spPr>
          <a:xfrm>
            <a:off x="1721531" y="6200051"/>
            <a:ext cx="2509207" cy="378208"/>
          </a:xfrm>
          <a:prstGeom prst="wedgeRoundRectCallout">
            <a:avLst>
              <a:gd name="adj1" fmla="val -37420"/>
              <a:gd name="adj2" fmla="val -119758"/>
              <a:gd name="adj3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Foreign Key Column</a:t>
            </a:r>
          </a:p>
        </p:txBody>
      </p:sp>
    </p:spTree>
    <p:extLst>
      <p:ext uri="{BB962C8B-B14F-4D97-AF65-F5344CB8AC3E}">
        <p14:creationId xmlns:p14="http://schemas.microsoft.com/office/powerpoint/2010/main" val="217603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EC5F6A-6824-ABE3-3442-0CFB7ACE8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Default </a:t>
            </a:r>
            <a:r>
              <a:rPr lang="en-US" dirty="0"/>
              <a:t>Constraint</a:t>
            </a:r>
            <a:endParaRPr lang="en-IN" dirty="0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133EF581-14EF-3146-1385-174E821A7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A DEFAULT constraint in SQL Server is used to </a:t>
            </a:r>
            <a:r>
              <a:rPr lang="en-US" b="1" dirty="0">
                <a:solidFill>
                  <a:schemeClr val="accent6"/>
                </a:solidFill>
              </a:rPr>
              <a:t>automatically assign a default value </a:t>
            </a:r>
            <a:r>
              <a:rPr lang="en-US" dirty="0"/>
              <a:t>to a column when </a:t>
            </a:r>
            <a:r>
              <a:rPr lang="en-US" b="1" dirty="0">
                <a:solidFill>
                  <a:schemeClr val="accent6"/>
                </a:solidFill>
              </a:rPr>
              <a:t>no value is specified </a:t>
            </a:r>
            <a:r>
              <a:rPr lang="en-US" dirty="0"/>
              <a:t>during an </a:t>
            </a:r>
            <a:r>
              <a:rPr lang="en-US" b="1" dirty="0">
                <a:solidFill>
                  <a:schemeClr val="accent6"/>
                </a:solidFill>
              </a:rPr>
              <a:t>INSERT</a:t>
            </a:r>
            <a:r>
              <a:rPr lang="en-US" dirty="0"/>
              <a:t> operation.</a:t>
            </a:r>
          </a:p>
          <a:p>
            <a:r>
              <a:rPr lang="en-US" dirty="0"/>
              <a:t>It ensures </a:t>
            </a:r>
            <a:r>
              <a:rPr lang="en-US" b="1" dirty="0">
                <a:solidFill>
                  <a:schemeClr val="accent6"/>
                </a:solidFill>
              </a:rPr>
              <a:t>consistent data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and prevents </a:t>
            </a:r>
            <a:r>
              <a:rPr lang="en-US" b="1" dirty="0">
                <a:solidFill>
                  <a:schemeClr val="accent6"/>
                </a:solidFill>
              </a:rPr>
              <a:t>NULL values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when no value is entered.</a:t>
            </a:r>
          </a:p>
          <a:p>
            <a:r>
              <a:rPr lang="en-US" b="1" dirty="0">
                <a:solidFill>
                  <a:schemeClr val="accent6"/>
                </a:solidFill>
              </a:rPr>
              <a:t>SYNTAX:</a:t>
            </a:r>
          </a:p>
          <a:p>
            <a:endParaRPr lang="en-US" b="1" dirty="0">
              <a:solidFill>
                <a:schemeClr val="accent6"/>
              </a:solidFill>
            </a:endParaRPr>
          </a:p>
          <a:p>
            <a:r>
              <a:rPr lang="en-US" b="1" dirty="0">
                <a:solidFill>
                  <a:schemeClr val="accent6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   </a:t>
            </a:r>
            <a:r>
              <a:rPr lang="en-US" sz="1800" b="1" dirty="0"/>
              <a:t>CREATE TABLE Student</a:t>
            </a:r>
          </a:p>
          <a:p>
            <a:pPr marL="0" indent="269875">
              <a:buNone/>
            </a:pPr>
            <a:r>
              <a:rPr lang="en-US" sz="1800" b="1" dirty="0"/>
              <a:t>(   </a:t>
            </a:r>
            <a:r>
              <a:rPr lang="en-US" sz="1800" b="1" dirty="0" err="1"/>
              <a:t>StudentID</a:t>
            </a:r>
            <a:r>
              <a:rPr lang="en-US" sz="1800" b="1" dirty="0"/>
              <a:t> INT </a:t>
            </a:r>
            <a:r>
              <a:rPr lang="en-US" sz="1800" b="1" dirty="0">
                <a:solidFill>
                  <a:schemeClr val="accent6"/>
                </a:solidFill>
              </a:rPr>
              <a:t>PRIMARY KEY</a:t>
            </a:r>
            <a:r>
              <a:rPr lang="en-US" sz="1800" b="1" dirty="0"/>
              <a:t>,</a:t>
            </a:r>
          </a:p>
          <a:p>
            <a:pPr marL="0" indent="269875">
              <a:buNone/>
            </a:pPr>
            <a:r>
              <a:rPr lang="en-US" sz="1800" b="1" dirty="0"/>
              <a:t>    Name VARCHAR(50),</a:t>
            </a:r>
          </a:p>
          <a:p>
            <a:pPr marL="0" indent="269875">
              <a:buNone/>
            </a:pPr>
            <a:r>
              <a:rPr lang="en-US" sz="1800" b="1" dirty="0"/>
              <a:t>    City VARCHAR(50) </a:t>
            </a:r>
            <a:r>
              <a:rPr lang="en-US" sz="1800" b="1" dirty="0">
                <a:solidFill>
                  <a:schemeClr val="accent6"/>
                </a:solidFill>
              </a:rPr>
              <a:t>DEFAULT</a:t>
            </a:r>
            <a:r>
              <a:rPr lang="en-US" sz="1800" b="1" dirty="0"/>
              <a:t> 'Rajkot'</a:t>
            </a:r>
          </a:p>
          <a:p>
            <a:pPr marL="0" indent="269875">
              <a:buNone/>
            </a:pPr>
            <a:r>
              <a:rPr lang="en-US" sz="1800" b="1" dirty="0"/>
              <a:t>);</a:t>
            </a:r>
          </a:p>
          <a:p>
            <a:r>
              <a:rPr lang="en-US" dirty="0"/>
              <a:t>Now, if you insert a record into Student table and skip the value of the city column, SQL SERVER will insert ‘Rajkot’ as the default value.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B2F4A0-8CBA-990F-0415-B8C52432E6ED}"/>
              </a:ext>
            </a:extLst>
          </p:cNvPr>
          <p:cNvSpPr txBox="1"/>
          <p:nvPr/>
        </p:nvSpPr>
        <p:spPr>
          <a:xfrm>
            <a:off x="612350" y="2542926"/>
            <a:ext cx="3477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COLUMN_NAME DATATYPE (SIZE)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CC1E93-8086-940E-B983-95A1C97906E2}"/>
              </a:ext>
            </a:extLst>
          </p:cNvPr>
          <p:cNvSpPr txBox="1"/>
          <p:nvPr/>
        </p:nvSpPr>
        <p:spPr>
          <a:xfrm>
            <a:off x="3936139" y="2539443"/>
            <a:ext cx="1536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DEFAULT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8CC8AF-0452-6C58-DADD-73F61DFAF4DA}"/>
              </a:ext>
            </a:extLst>
          </p:cNvPr>
          <p:cNvSpPr txBox="1"/>
          <p:nvPr/>
        </p:nvSpPr>
        <p:spPr>
          <a:xfrm>
            <a:off x="5290614" y="2542926"/>
            <a:ext cx="193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‘</a:t>
            </a:r>
            <a:r>
              <a:rPr lang="en-US" b="1" dirty="0">
                <a:solidFill>
                  <a:schemeClr val="accent6"/>
                </a:solidFill>
              </a:rPr>
              <a:t> DEFAULT VALUE </a:t>
            </a:r>
            <a:r>
              <a:rPr lang="en-US" b="1" dirty="0"/>
              <a:t>‘</a:t>
            </a:r>
          </a:p>
        </p:txBody>
      </p:sp>
    </p:spTree>
    <p:extLst>
      <p:ext uri="{BB962C8B-B14F-4D97-AF65-F5344CB8AC3E}">
        <p14:creationId xmlns:p14="http://schemas.microsoft.com/office/powerpoint/2010/main" val="3304908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A00B2-9959-A602-81F5-67C5A93FC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25D0B-BE61-83D7-1425-BF24A1F58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Frequently asked questions in Exam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D2CEC-D289-D5DE-8479-29BD58C5D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805" y="864859"/>
            <a:ext cx="11929641" cy="5673593"/>
          </a:xfrm>
        </p:spPr>
        <p:txBody>
          <a:bodyPr/>
          <a:lstStyle/>
          <a:p>
            <a:pPr marL="457200" indent="-457200">
              <a:buClr>
                <a:srgbClr val="1D6FA9"/>
              </a:buClr>
              <a:buFont typeface="+mj-lt"/>
              <a:buAutoNum type="arabicPeriod"/>
            </a:pPr>
            <a:r>
              <a:rPr lang="en-US" dirty="0"/>
              <a:t>Define the following terms: (</a:t>
            </a:r>
            <a:r>
              <a:rPr lang="en-US" dirty="0" err="1"/>
              <a:t>i</a:t>
            </a:r>
            <a:r>
              <a:rPr lang="en-US" dirty="0"/>
              <a:t>) Entity (ii) Attribute (iii) Relationship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/>
            </a:pPr>
            <a:r>
              <a:rPr lang="en-US" dirty="0"/>
              <a:t>Discuss different types of Attributes in E-R Model.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/>
            </a:pPr>
            <a:r>
              <a:rPr lang="en-IN" dirty="0"/>
              <a:t>Describe Mapping Cardinality in E-R Model.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/>
            </a:pPr>
            <a:r>
              <a:rPr lang="en-US" dirty="0"/>
              <a:t>Define Weak Entity, Strong Entity and Weak Relationship with suitable example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/>
            </a:pPr>
            <a:r>
              <a:rPr lang="en-IN" dirty="0"/>
              <a:t>Describe Participation constraints with suitable example</a:t>
            </a:r>
            <a:endParaRPr lang="en-US" dirty="0"/>
          </a:p>
          <a:p>
            <a:pPr marL="0" indent="0">
              <a:buClr>
                <a:srgbClr val="1D6FA9"/>
              </a:buClr>
              <a:buNone/>
            </a:pPr>
            <a:r>
              <a:rPr lang="en-US" dirty="0"/>
              <a:t>					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OR</a:t>
            </a:r>
          </a:p>
          <a:p>
            <a:pPr marL="0" indent="0">
              <a:buClr>
                <a:srgbClr val="1D6FA9"/>
              </a:buClr>
              <a:buNone/>
            </a:pPr>
            <a:r>
              <a:rPr lang="en-US" dirty="0"/>
              <a:t>       Describe Total and Partial participation with suitable example.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6"/>
            </a:pPr>
            <a:r>
              <a:rPr lang="en-US" dirty="0"/>
              <a:t>Discuss Specialization with suitable diagram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6"/>
            </a:pPr>
            <a:r>
              <a:rPr lang="en-IN" dirty="0"/>
              <a:t>Explain Generalization with diagram. 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6"/>
            </a:pPr>
            <a:r>
              <a:rPr lang="en-IN" dirty="0"/>
              <a:t>Explain constraints on Specialization and Generalization.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6"/>
            </a:pPr>
            <a:r>
              <a:rPr lang="en-US" dirty="0"/>
              <a:t>Explain E-R diagram with its symbols.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6"/>
            </a:pPr>
            <a:r>
              <a:rPr lang="en-US" dirty="0"/>
              <a:t>Explain NOT NULL and UNIQUE Constraint with suitable example.</a:t>
            </a:r>
            <a:endParaRPr lang="en-US" sz="2200" dirty="0"/>
          </a:p>
          <a:p>
            <a:pPr marL="544512" lvl="1" indent="0">
              <a:buClr>
                <a:srgbClr val="1D6FA9"/>
              </a:buClr>
              <a:buNone/>
            </a:pPr>
            <a:endParaRPr lang="en-US" sz="2200" dirty="0"/>
          </a:p>
          <a:p>
            <a:pPr marL="457200" indent="-457200">
              <a:buClr>
                <a:srgbClr val="1D6FA9"/>
              </a:buClr>
              <a:buFont typeface="+mj-lt"/>
              <a:buAutoNum type="arabicPeriod" startAt="5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152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31310-E87D-5DF8-1BBC-F48BEDB44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2D6D2-286B-4D72-5C4A-54FC5F120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Frequently asked questions in Exam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0FB16-0EEC-8C0A-B8C5-6E6647193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805" y="864859"/>
            <a:ext cx="11929641" cy="5673593"/>
          </a:xfrm>
        </p:spPr>
        <p:txBody>
          <a:bodyPr/>
          <a:lstStyle/>
          <a:p>
            <a:pPr marL="457200" indent="-457200">
              <a:buClr>
                <a:srgbClr val="1D6FA9"/>
              </a:buClr>
              <a:buFont typeface="+mj-lt"/>
              <a:buAutoNum type="arabicPeriod" startAt="11"/>
            </a:pPr>
            <a:r>
              <a:rPr lang="en-US" dirty="0"/>
              <a:t>Describe CHECK Constraint with suitable example. 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11"/>
            </a:pPr>
            <a:r>
              <a:rPr lang="en-US" dirty="0"/>
              <a:t>Explain PRIMARY Key and FOREIGN Key Constraint with suitable example.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11"/>
            </a:pPr>
            <a:r>
              <a:rPr lang="en-US" dirty="0"/>
              <a:t>State the difference between PRIMARY Key and UNIQUE Key.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11"/>
            </a:pPr>
            <a:r>
              <a:rPr lang="en-US" dirty="0"/>
              <a:t>Prepare E-R diagram of Bank Management System that include Specialization and Generalization symbols also.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11"/>
            </a:pPr>
            <a:r>
              <a:rPr lang="en-US" dirty="0"/>
              <a:t>Prepare E-R diagram of the following Systems and assume suitable entities and attributes. </a:t>
            </a:r>
          </a:p>
          <a:p>
            <a:pPr marL="1058862" lvl="1" indent="-514350">
              <a:lnSpc>
                <a:spcPct val="150000"/>
              </a:lnSpc>
              <a:buClr>
                <a:srgbClr val="1D6FA9"/>
              </a:buClr>
              <a:buFont typeface="+mj-lt"/>
              <a:buAutoNum type="romanUcPeriod"/>
            </a:pPr>
            <a:r>
              <a:rPr lang="en-US" sz="2200" dirty="0"/>
              <a:t>Hospital Management System </a:t>
            </a:r>
          </a:p>
          <a:p>
            <a:pPr marL="1058862" lvl="1" indent="-514350">
              <a:lnSpc>
                <a:spcPct val="150000"/>
              </a:lnSpc>
              <a:buClr>
                <a:srgbClr val="1D6FA9"/>
              </a:buClr>
              <a:buFont typeface="+mj-lt"/>
              <a:buAutoNum type="romanUcPeriod"/>
            </a:pPr>
            <a:r>
              <a:rPr lang="en-US" sz="2200" dirty="0"/>
              <a:t>Library Management System </a:t>
            </a:r>
          </a:p>
          <a:p>
            <a:pPr marL="1058862" lvl="1" indent="-514350">
              <a:lnSpc>
                <a:spcPct val="150000"/>
              </a:lnSpc>
              <a:buClr>
                <a:srgbClr val="1D6FA9"/>
              </a:buClr>
              <a:buFont typeface="+mj-lt"/>
              <a:buAutoNum type="romanUcPeriod"/>
            </a:pPr>
            <a:r>
              <a:rPr lang="en-IN" sz="2200" dirty="0"/>
              <a:t>College Management System </a:t>
            </a:r>
            <a:endParaRPr lang="en-US" sz="2200" dirty="0"/>
          </a:p>
          <a:p>
            <a:pPr marL="544512" lvl="1" indent="0">
              <a:buClr>
                <a:srgbClr val="1D6FA9"/>
              </a:buClr>
              <a:buNone/>
            </a:pPr>
            <a:endParaRPr lang="en-US" sz="2200" dirty="0"/>
          </a:p>
          <a:p>
            <a:pPr marL="457200" indent="-457200">
              <a:buClr>
                <a:srgbClr val="1D6FA9"/>
              </a:buClr>
              <a:buFont typeface="+mj-lt"/>
              <a:buAutoNum type="arabicPeriod" startAt="5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8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hemang.chath@darshan.ac.in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8200834776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837676" y="5582493"/>
            <a:ext cx="3826005" cy="265204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Hemang R Chath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D4F84-0571-BC3D-45EF-738514259C9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/>
          <a:lstStyle/>
          <a:p>
            <a:r>
              <a:rPr lang="en-US" b="1" dirty="0">
                <a:latin typeface="Roboto Condensed(Body)"/>
              </a:rPr>
              <a:t>Database Management System-I </a:t>
            </a:r>
            <a:r>
              <a:rPr lang="en-US" dirty="0">
                <a:latin typeface="Roboto Condensed(Body)"/>
                <a:ea typeface="Roboto Condensed Light" panose="02000000000000000000" pitchFamily="2" charset="0"/>
              </a:rPr>
              <a:t>(DBMS-I)</a:t>
            </a:r>
          </a:p>
          <a:p>
            <a:r>
              <a:rPr lang="en-US" dirty="0">
                <a:latin typeface="Roboto Condensed(Body)"/>
              </a:rPr>
              <a:t>DU # </a:t>
            </a:r>
            <a:r>
              <a:rPr dirty="0">
                <a:latin typeface="Roboto Condensed(Body)"/>
              </a:rPr>
              <a:t>2304CS204</a:t>
            </a:r>
            <a:endParaRPr lang="en-US" dirty="0">
              <a:latin typeface="Roboto Condensed(Body)"/>
            </a:endParaRPr>
          </a:p>
        </p:txBody>
      </p:sp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id="{C941DD83-654D-F7AD-56F2-E785F26269E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" t="-79" r="608" b="11610"/>
          <a:stretch/>
        </p:blipFill>
        <p:spPr>
          <a:xfrm>
            <a:off x="342900" y="5081155"/>
            <a:ext cx="1392382" cy="147550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48659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12911</TotalTime>
  <Words>4268</Words>
  <Application>Microsoft Office PowerPoint</Application>
  <PresentationFormat>Widescreen</PresentationFormat>
  <Paragraphs>1103</Paragraphs>
  <Slides>69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0" baseType="lpstr">
      <vt:lpstr>Consolas</vt:lpstr>
      <vt:lpstr>Roboto Condensed,Bold</vt:lpstr>
      <vt:lpstr>Roboto Condensed Light</vt:lpstr>
      <vt:lpstr>Roboto Condensed(Body)</vt:lpstr>
      <vt:lpstr>Wingdings 3</vt:lpstr>
      <vt:lpstr>Wingdings</vt:lpstr>
      <vt:lpstr>Wingdings 2</vt:lpstr>
      <vt:lpstr>Calibri</vt:lpstr>
      <vt:lpstr>Arial</vt:lpstr>
      <vt:lpstr>Roboto Condensed</vt:lpstr>
      <vt:lpstr>Office Theme</vt:lpstr>
      <vt:lpstr>Unit-5  Entity Relational Model</vt:lpstr>
      <vt:lpstr>PowerPoint Presentation</vt:lpstr>
      <vt:lpstr>Basic concept of E-R Diagram </vt:lpstr>
      <vt:lpstr>Basic concepts</vt:lpstr>
      <vt:lpstr>Entity</vt:lpstr>
      <vt:lpstr>Attributes</vt:lpstr>
      <vt:lpstr>Types of Attributes</vt:lpstr>
      <vt:lpstr>Types of Attributes</vt:lpstr>
      <vt:lpstr>Types of Attributes</vt:lpstr>
      <vt:lpstr>Types of Attributes</vt:lpstr>
      <vt:lpstr>Entity with all types of Attributes</vt:lpstr>
      <vt:lpstr>Relationship</vt:lpstr>
      <vt:lpstr>E-R Diagram of a Library System</vt:lpstr>
      <vt:lpstr>Ternary Relationship</vt:lpstr>
      <vt:lpstr>Exercise</vt:lpstr>
      <vt:lpstr>Mapping Cardinality</vt:lpstr>
      <vt:lpstr>Mapping Cardinality (Cardinality Constraints)</vt:lpstr>
      <vt:lpstr>One-to-One relationship (1 – 1)</vt:lpstr>
      <vt:lpstr>One-to-Many relationship (1 – N)</vt:lpstr>
      <vt:lpstr>Many-to-One relationship (N – 1)</vt:lpstr>
      <vt:lpstr>Many-to-Many relationship (N – N)</vt:lpstr>
      <vt:lpstr>Mapping Cardinality (Cardinality Constraints) [Exercise]</vt:lpstr>
      <vt:lpstr>Participation Constraints</vt:lpstr>
      <vt:lpstr>Participation Constraints</vt:lpstr>
      <vt:lpstr>Weak Entity Set</vt:lpstr>
      <vt:lpstr>Weak Entity Set</vt:lpstr>
      <vt:lpstr>Weak Entity Set</vt:lpstr>
      <vt:lpstr>Superclass vs Subclass</vt:lpstr>
      <vt:lpstr>Superclass v/s Subclass</vt:lpstr>
      <vt:lpstr>Generalization vs Specialization</vt:lpstr>
      <vt:lpstr>Generalization v/s Specialization</vt:lpstr>
      <vt:lpstr>Generalization v/s Specialization</vt:lpstr>
      <vt:lpstr>Generalization &amp; Specialization example</vt:lpstr>
      <vt:lpstr>Exercise</vt:lpstr>
      <vt:lpstr>Constraints on Generalization and Specialization</vt:lpstr>
      <vt:lpstr>Constraints on Specialization and Generalization</vt:lpstr>
      <vt:lpstr>Disjoint Constraint</vt:lpstr>
      <vt:lpstr>Disjoint Constraint</vt:lpstr>
      <vt:lpstr>Non-disjoint (Overlapping) Constraint</vt:lpstr>
      <vt:lpstr>Participation (Completeness) Constraint</vt:lpstr>
      <vt:lpstr>Total (Mandatory) Participation</vt:lpstr>
      <vt:lpstr>Partial (Optional) Participation</vt:lpstr>
      <vt:lpstr>Symbol used in E-R diagram</vt:lpstr>
      <vt:lpstr>Symbols used in E-R diagram</vt:lpstr>
      <vt:lpstr>Symbols used in E-R diagram</vt:lpstr>
      <vt:lpstr>E-R diagram of Hospital Management System</vt:lpstr>
      <vt:lpstr>Requirements of Key in a Relation</vt:lpstr>
      <vt:lpstr>Key</vt:lpstr>
      <vt:lpstr>Super Key</vt:lpstr>
      <vt:lpstr>Candidate Key</vt:lpstr>
      <vt:lpstr>Primary Key</vt:lpstr>
      <vt:lpstr>Rules for define Primary Key</vt:lpstr>
      <vt:lpstr>Alternate Key</vt:lpstr>
      <vt:lpstr>Foreign Key</vt:lpstr>
      <vt:lpstr>Constraints</vt:lpstr>
      <vt:lpstr>Constraints</vt:lpstr>
      <vt:lpstr>Constraints</vt:lpstr>
      <vt:lpstr>Constraints</vt:lpstr>
      <vt:lpstr>Constraints (Conti..)</vt:lpstr>
      <vt:lpstr>Not Null Constraint </vt:lpstr>
      <vt:lpstr>Unique Constraint </vt:lpstr>
      <vt:lpstr>Check Constraint </vt:lpstr>
      <vt:lpstr>Primary Key</vt:lpstr>
      <vt:lpstr>Foreign Key Constraint (Conti..)</vt:lpstr>
      <vt:lpstr>Foreign Key Constraint (Example)</vt:lpstr>
      <vt:lpstr>Default Constraint</vt:lpstr>
      <vt:lpstr>Frequently asked questions in Exam</vt:lpstr>
      <vt:lpstr>Frequently asked questions in Exam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Hemang Chath</cp:lastModifiedBy>
  <cp:revision>519</cp:revision>
  <dcterms:created xsi:type="dcterms:W3CDTF">2020-05-01T05:09:15Z</dcterms:created>
  <dcterms:modified xsi:type="dcterms:W3CDTF">2026-03-22T07:15:45Z</dcterms:modified>
</cp:coreProperties>
</file>