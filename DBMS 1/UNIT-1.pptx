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sldIdLst>
    <p:sldId id="283" r:id="rId2"/>
    <p:sldId id="292" r:id="rId3"/>
    <p:sldId id="288" r:id="rId4"/>
    <p:sldId id="325" r:id="rId5"/>
    <p:sldId id="366" r:id="rId6"/>
    <p:sldId id="335" r:id="rId7"/>
    <p:sldId id="327" r:id="rId8"/>
    <p:sldId id="315" r:id="rId9"/>
    <p:sldId id="317" r:id="rId10"/>
    <p:sldId id="319" r:id="rId11"/>
    <p:sldId id="320" r:id="rId12"/>
    <p:sldId id="321" r:id="rId13"/>
    <p:sldId id="322" r:id="rId14"/>
    <p:sldId id="323" r:id="rId15"/>
    <p:sldId id="746" r:id="rId16"/>
    <p:sldId id="324" r:id="rId17"/>
    <p:sldId id="735" r:id="rId18"/>
    <p:sldId id="326" r:id="rId19"/>
    <p:sldId id="355" r:id="rId20"/>
    <p:sldId id="747" r:id="rId21"/>
    <p:sldId id="328" r:id="rId22"/>
    <p:sldId id="329" r:id="rId23"/>
    <p:sldId id="351" r:id="rId24"/>
    <p:sldId id="748" r:id="rId25"/>
    <p:sldId id="339" r:id="rId26"/>
    <p:sldId id="755" r:id="rId27"/>
    <p:sldId id="749" r:id="rId28"/>
    <p:sldId id="348" r:id="rId29"/>
    <p:sldId id="349" r:id="rId30"/>
    <p:sldId id="750" r:id="rId31"/>
    <p:sldId id="341" r:id="rId32"/>
    <p:sldId id="342" r:id="rId33"/>
    <p:sldId id="751" r:id="rId34"/>
    <p:sldId id="756" r:id="rId35"/>
    <p:sldId id="754" r:id="rId36"/>
    <p:sldId id="333" r:id="rId37"/>
    <p:sldId id="370" r:id="rId38"/>
    <p:sldId id="346" r:id="rId39"/>
    <p:sldId id="752" r:id="rId40"/>
    <p:sldId id="344" r:id="rId41"/>
  </p:sldIdLst>
  <p:sldSz cx="12192000" cy="6858000"/>
  <p:notesSz cx="6858000" cy="9144000"/>
  <p:embeddedFontLst>
    <p:embeddedFont>
      <p:font typeface="Roboto Condensed" panose="02000000000000000000" pitchFamily="2" charset="0"/>
      <p:regular r:id="rId43"/>
      <p:bold r:id="rId44"/>
      <p:italic r:id="rId45"/>
      <p:boldItalic r:id="rId46"/>
    </p:embeddedFont>
    <p:embeddedFont>
      <p:font typeface="Roboto Condensed Light" panose="02000000000000000000" pitchFamily="2" charset="0"/>
      <p:regular r:id="rId47"/>
      <p:italic r:id="rId48"/>
    </p:embeddedFont>
    <p:embeddedFont>
      <p:font typeface="Wingdings 2" panose="05020102010507070707" pitchFamily="18" charset="2"/>
      <p:regular r:id="rId49"/>
    </p:embeddedFont>
    <p:embeddedFont>
      <p:font typeface="Wingdings 3" panose="05040102010807070707" pitchFamily="18" charset="2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KN8mBvjCZMvpyyXWElwLDQ==" hashData="ADYDY5Blohdcd+mohd0bvoaY/qpGp6D7HSo/gasB3Q36uy3q5ujTKbZHS6oC8Ynz439UtODihjwVLa/8LOSUb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D10233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EDA1D-7901-444C-80C6-B3DB9F434288}" v="148" dt="2025-01-19T16:20:14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0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7076107" y="389730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 Chath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5141CA-3257-6BFB-BB04-3762FEDA1C9B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B458A6-BA3D-1695-F4B0-6ACF702C566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9FED5C-F4D5-E957-DC81-3C6139158BA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System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14633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0959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Database System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 (Body)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469696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C5BE08B-A0EF-DA4F-5388-3C2EAD6F29E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 Chath</a:t>
            </a:r>
          </a:p>
        </p:txBody>
      </p:sp>
    </p:spTree>
    <p:extLst>
      <p:ext uri="{BB962C8B-B14F-4D97-AF65-F5344CB8AC3E}">
        <p14:creationId xmlns:p14="http://schemas.microsoft.com/office/powerpoint/2010/main" val="3266657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Roboto Condensed(Body)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	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DBMS-1</a:t>
            </a:r>
          </a:p>
          <a:p>
            <a:pPr lvl="0"/>
            <a:r>
              <a:rPr lang="en-US" dirty="0"/>
              <a:t>DU 2101CS201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7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g"/><Relationship Id="rId11" Type="http://schemas.openxmlformats.org/officeDocument/2006/relationships/image" Target="../media/image23.png"/><Relationship Id="rId5" Type="http://schemas.openxmlformats.org/officeDocument/2006/relationships/image" Target="../media/image17.jp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jp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02404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Database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15870" cy="29276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 Management System-I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/>
              <a:t>DU # 2304CS204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080FAF3-BB9F-EFA1-E2E7-3D084D925D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4" name="Picture Placeholder 8">
            <a:extLst>
              <a:ext uri="{FF2B5EF4-FFF2-40B4-BE49-F238E27FC236}">
                <a16:creationId xmlns:a16="http://schemas.microsoft.com/office/drawing/2014/main" id="{132498E1-FC9D-C097-8F7B-FFAE54DA78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CC73D57-B553-CA6A-14E0-FA89BC75BA0A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CO1: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discuss</a:t>
            </a:r>
            <a:r>
              <a:rPr lang="en-US" dirty="0"/>
              <a:t> the basic elements of the database. 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2822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711129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Introduction to DBMS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Applications of DBMS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Advantages of DBMS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Basic terms of DBMS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Types of Database Users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DA Vs DBA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Functions and responsibilities of DBA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 (Body)"/>
              </a:rPr>
              <a:t>Three Level ANSI SPARC Database Architecture 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DBMS</a:t>
            </a:r>
          </a:p>
        </p:txBody>
      </p:sp>
    </p:spTree>
    <p:extLst>
      <p:ext uri="{BB962C8B-B14F-4D97-AF65-F5344CB8AC3E}">
        <p14:creationId xmlns:p14="http://schemas.microsoft.com/office/powerpoint/2010/main" val="27245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 Management System (DBMS)?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16789"/>
            <a:ext cx="11929641" cy="5590565"/>
          </a:xfrm>
        </p:spPr>
        <p:txBody>
          <a:bodyPr/>
          <a:lstStyle/>
          <a:p>
            <a:r>
              <a:rPr lang="en-US" b="1" dirty="0"/>
              <a:t>Data</a:t>
            </a:r>
            <a:r>
              <a:rPr lang="en-US" dirty="0"/>
              <a:t> – </a:t>
            </a:r>
            <a:r>
              <a:rPr lang="en-US" dirty="0">
                <a:latin typeface="Roboto Condensed" pitchFamily="2" charset="0"/>
                <a:ea typeface="Roboto Condensed" pitchFamily="2" charset="0"/>
                <a:cs typeface="Times New Roman" pitchFamily="18" charset="0"/>
              </a:rPr>
              <a:t>Data can be known </a:t>
            </a:r>
            <a:r>
              <a:rPr lang="en-US" b="1" dirty="0">
                <a:solidFill>
                  <a:schemeClr val="accent6"/>
                </a:solidFill>
                <a:latin typeface="Roboto Condensed" pitchFamily="2" charset="0"/>
                <a:ea typeface="Roboto Condensed" pitchFamily="2" charset="0"/>
                <a:cs typeface="Times New Roman" pitchFamily="18" charset="0"/>
              </a:rPr>
              <a:t>facts</a:t>
            </a:r>
            <a:r>
              <a:rPr lang="en-US" dirty="0">
                <a:latin typeface="Roboto Condensed" pitchFamily="2" charset="0"/>
                <a:ea typeface="Roboto Condensed" pitchFamily="2" charset="0"/>
                <a:cs typeface="Times New Roman" pitchFamily="18" charset="0"/>
              </a:rPr>
              <a:t> that can be recorded and stored.</a:t>
            </a:r>
            <a:endParaRPr lang="en-US" dirty="0">
              <a:latin typeface="Roboto Condensed" pitchFamily="2" charset="0"/>
              <a:ea typeface="Roboto Condensed" pitchFamily="2" charset="0"/>
            </a:endParaRPr>
          </a:p>
          <a:p>
            <a:pPr lvl="1"/>
            <a:r>
              <a:rPr lang="en-US" dirty="0"/>
              <a:t>e.g. Person Name, Age, Salary, Result, etc.</a:t>
            </a:r>
          </a:p>
          <a:p>
            <a:r>
              <a:rPr lang="en-US" b="1" dirty="0"/>
              <a:t>Database</a:t>
            </a:r>
            <a:r>
              <a:rPr lang="en-US" dirty="0"/>
              <a:t> – Collection of </a:t>
            </a:r>
            <a:r>
              <a:rPr lang="en-US" b="1" dirty="0">
                <a:solidFill>
                  <a:schemeClr val="accent6"/>
                </a:solidFill>
              </a:rPr>
              <a:t>logically related data</a:t>
            </a:r>
          </a:p>
          <a:p>
            <a:pPr lvl="1"/>
            <a:r>
              <a:rPr lang="en-US" dirty="0"/>
              <a:t>e.g. Books Database in Library, Student Database in University etc.</a:t>
            </a:r>
          </a:p>
          <a:p>
            <a:r>
              <a:rPr lang="en-US" b="1" dirty="0"/>
              <a:t>Management</a:t>
            </a:r>
            <a:r>
              <a:rPr lang="en-US" dirty="0"/>
              <a:t> – It is a way in which we </a:t>
            </a:r>
            <a:r>
              <a:rPr lang="en-US" b="1" dirty="0">
                <a:solidFill>
                  <a:schemeClr val="accent6"/>
                </a:solidFill>
              </a:rPr>
              <a:t>maintain</a:t>
            </a:r>
            <a:r>
              <a:rPr lang="en-US" dirty="0"/>
              <a:t> the data in database.</a:t>
            </a:r>
          </a:p>
          <a:p>
            <a:pPr lvl="1"/>
            <a:r>
              <a:rPr lang="en-US" dirty="0"/>
              <a:t>e.g. Viewing result in University website, Searching exam papers in University website, Updating or Deleting the data in database, etc.</a:t>
            </a:r>
          </a:p>
          <a:p>
            <a:r>
              <a:rPr lang="en-US" b="1" dirty="0"/>
              <a:t>System</a:t>
            </a:r>
            <a:r>
              <a:rPr lang="en-US" dirty="0"/>
              <a:t> – </a:t>
            </a:r>
            <a:r>
              <a:rPr lang="en-US" b="1" dirty="0">
                <a:solidFill>
                  <a:schemeClr val="accent6"/>
                </a:solidFill>
              </a:rPr>
              <a:t>Programs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tools</a:t>
            </a:r>
            <a:r>
              <a:rPr lang="en-US" dirty="0"/>
              <a:t> used to manage database</a:t>
            </a:r>
          </a:p>
          <a:p>
            <a:pPr lvl="1"/>
            <a:r>
              <a:rPr lang="en-US" dirty="0"/>
              <a:t>e.g. Microsoft Access, SQL Server, Oracle, etc.</a:t>
            </a:r>
          </a:p>
          <a:p>
            <a:r>
              <a:rPr lang="en-US" b="1" dirty="0"/>
              <a:t>Database Management System (DBMS) </a:t>
            </a:r>
            <a:r>
              <a:rPr lang="en-US" dirty="0"/>
              <a:t>– A Database Management System is a </a:t>
            </a:r>
            <a:r>
              <a:rPr lang="en-US" b="1" dirty="0">
                <a:solidFill>
                  <a:schemeClr val="accent6"/>
                </a:solidFill>
              </a:rPr>
              <a:t>collection of logically related data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set of programs </a:t>
            </a:r>
            <a:r>
              <a:rPr lang="en-US" dirty="0"/>
              <a:t>to manipulate those data in database. </a:t>
            </a:r>
          </a:p>
          <a:p>
            <a:pPr marL="0" indent="0">
              <a:buNone/>
            </a:pPr>
            <a:r>
              <a:rPr lang="en-US" b="1" dirty="0"/>
              <a:t>						OR</a:t>
            </a:r>
          </a:p>
          <a:p>
            <a:r>
              <a:rPr lang="en-US" b="1" dirty="0"/>
              <a:t>Database Management System (DBMS) </a:t>
            </a:r>
            <a:r>
              <a:rPr lang="en-US" dirty="0"/>
              <a:t>is a </a:t>
            </a:r>
            <a:r>
              <a:rPr lang="en-US" b="1" dirty="0">
                <a:solidFill>
                  <a:schemeClr val="accent6"/>
                </a:solidFill>
              </a:rPr>
              <a:t>software designed </a:t>
            </a:r>
            <a:r>
              <a:rPr lang="en-US" dirty="0"/>
              <a:t>to</a:t>
            </a:r>
            <a:r>
              <a:rPr lang="en-US" b="1" dirty="0">
                <a:solidFill>
                  <a:schemeClr val="accent6"/>
                </a:solidFill>
              </a:rPr>
              <a:t> define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manipulate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retrieve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6"/>
                </a:solidFill>
              </a:rPr>
              <a:t> manage data </a:t>
            </a:r>
            <a:r>
              <a:rPr lang="en-US" dirty="0"/>
              <a:t>in a</a:t>
            </a:r>
            <a:r>
              <a:rPr lang="en-US" b="1" dirty="0">
                <a:solidFill>
                  <a:schemeClr val="accent6"/>
                </a:solidFill>
              </a:rPr>
              <a:t> database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e.g. MS SQL Server, Oracle, My SQL, SQLite, MongoDB, etc.</a:t>
            </a:r>
          </a:p>
        </p:txBody>
      </p:sp>
    </p:spTree>
    <p:extLst>
      <p:ext uri="{BB962C8B-B14F-4D97-AF65-F5344CB8AC3E}">
        <p14:creationId xmlns:p14="http://schemas.microsoft.com/office/powerpoint/2010/main" val="123456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DBMS</a:t>
            </a:r>
          </a:p>
        </p:txBody>
      </p:sp>
    </p:spTree>
    <p:extLst>
      <p:ext uri="{BB962C8B-B14F-4D97-AF65-F5344CB8AC3E}">
        <p14:creationId xmlns:p14="http://schemas.microsoft.com/office/powerpoint/2010/main" val="2669232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Applications of DBMS</a:t>
            </a:r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CE5AC1DC-FED0-8B1A-C2A7-64924A51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4"/>
          <a:stretch/>
        </p:blipFill>
        <p:spPr>
          <a:xfrm>
            <a:off x="4692305" y="830635"/>
            <a:ext cx="5638799" cy="5477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3218" y="1417001"/>
            <a:ext cx="1515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Roboto Condensed (Body)"/>
              </a:rPr>
              <a:t>E-commerce</a:t>
            </a:r>
          </a:p>
          <a:p>
            <a:pPr algn="ctr"/>
            <a:endParaRPr lang="en-US" sz="2000" b="1" dirty="0">
              <a:latin typeface="Roboto Condensed (Body)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15391" y="1889527"/>
            <a:ext cx="1652874" cy="117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latin typeface="Roboto Condensed (Body)"/>
              </a:rPr>
              <a:t>Universities, Colleges,</a:t>
            </a:r>
          </a:p>
          <a:p>
            <a:pPr algn="ctr">
              <a:lnSpc>
                <a:spcPct val="120000"/>
              </a:lnSpc>
            </a:pPr>
            <a:r>
              <a:rPr lang="en-US" sz="2000" b="1" dirty="0">
                <a:latin typeface="Roboto Condensed (Body)"/>
              </a:rPr>
              <a:t>Schools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8362" y="3535303"/>
            <a:ext cx="1447800" cy="802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Roboto Condensed (Body)"/>
              </a:rPr>
              <a:t>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7385" y="5252196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Roboto Condensed (Body)"/>
              </a:rPr>
              <a:t>Banking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3721" y="5100334"/>
            <a:ext cx="152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oboto Condensed (Body)"/>
              </a:rPr>
              <a:t>Government </a:t>
            </a:r>
          </a:p>
          <a:p>
            <a:r>
              <a:rPr lang="en-US" sz="2000" b="1" dirty="0">
                <a:solidFill>
                  <a:schemeClr val="bg1"/>
                </a:solidFill>
                <a:latin typeface="Roboto Condensed (Body)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9279" y="3495225"/>
            <a:ext cx="14692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Roboto Condensed (Body)"/>
              </a:rPr>
              <a:t>Online Television Streaming</a:t>
            </a:r>
          </a:p>
          <a:p>
            <a:endParaRPr lang="en-US" sz="2000" b="1" dirty="0">
              <a:latin typeface="Roboto Condensed (Body)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8363" y="2046995"/>
            <a:ext cx="1545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Roboto Condensed (Body)"/>
              </a:rPr>
              <a:t>Airline and railways</a:t>
            </a:r>
          </a:p>
        </p:txBody>
      </p:sp>
      <p:sp>
        <p:nvSpPr>
          <p:cNvPr id="14" name="Oval 13"/>
          <p:cNvSpPr/>
          <p:nvPr/>
        </p:nvSpPr>
        <p:spPr>
          <a:xfrm>
            <a:off x="6582948" y="2527111"/>
            <a:ext cx="1650642" cy="16506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472721" y="2846782"/>
            <a:ext cx="1830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 Application</a:t>
            </a:r>
            <a:r>
              <a:rPr lang="en-US" sz="1500" b="1" dirty="0"/>
              <a:t>s</a:t>
            </a:r>
          </a:p>
          <a:p>
            <a:pPr algn="ctr"/>
            <a:r>
              <a:rPr lang="en-US" sz="2400" b="1" dirty="0"/>
              <a:t>Of</a:t>
            </a:r>
          </a:p>
          <a:p>
            <a:pPr algn="ctr"/>
            <a:r>
              <a:rPr lang="en-US" sz="2400" b="1" dirty="0"/>
              <a:t>DBMS</a:t>
            </a:r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68005" y="731710"/>
            <a:ext cx="602354" cy="6023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60095" y="4380260"/>
            <a:ext cx="653900" cy="65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468833" y="3271785"/>
            <a:ext cx="901827" cy="90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60242" y="4614842"/>
            <a:ext cx="1116004" cy="5859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55486" y="3952277"/>
            <a:ext cx="1114294" cy="5859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93952" y="2094231"/>
            <a:ext cx="960624" cy="828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87790" y="1389929"/>
            <a:ext cx="1207086" cy="66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28983" y="5468509"/>
            <a:ext cx="1143051" cy="1129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66530" y="5482958"/>
            <a:ext cx="1380845" cy="1004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Connector 25"/>
          <p:cNvCxnSpPr/>
          <p:nvPr/>
        </p:nvCxnSpPr>
        <p:spPr>
          <a:xfrm>
            <a:off x="8673009" y="1350468"/>
            <a:ext cx="3476168" cy="0"/>
          </a:xfrm>
          <a:prstGeom prst="line">
            <a:avLst/>
          </a:prstGeom>
          <a:ln>
            <a:solidFill>
              <a:srgbClr val="FF8C5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0033180" y="2976760"/>
            <a:ext cx="2115997" cy="0"/>
          </a:xfrm>
          <a:prstGeom prst="line">
            <a:avLst/>
          </a:prstGeom>
          <a:ln>
            <a:solidFill>
              <a:srgbClr val="FF8C5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0033180" y="3091368"/>
            <a:ext cx="2115997" cy="0"/>
          </a:xfrm>
          <a:prstGeom prst="line">
            <a:avLst/>
          </a:prstGeom>
          <a:ln>
            <a:solidFill>
              <a:srgbClr val="5A547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612977" y="5235906"/>
            <a:ext cx="2609152" cy="0"/>
          </a:xfrm>
          <a:prstGeom prst="line">
            <a:avLst/>
          </a:prstGeom>
          <a:ln>
            <a:solidFill>
              <a:srgbClr val="5A547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9530499" y="5338960"/>
            <a:ext cx="2691630" cy="0"/>
          </a:xfrm>
          <a:prstGeom prst="line">
            <a:avLst/>
          </a:prstGeom>
          <a:ln>
            <a:solidFill>
              <a:srgbClr val="0570A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3338551" y="5334841"/>
            <a:ext cx="2119101" cy="0"/>
          </a:xfrm>
          <a:prstGeom prst="line">
            <a:avLst/>
          </a:prstGeom>
          <a:ln>
            <a:solidFill>
              <a:srgbClr val="2590B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338551" y="5242165"/>
            <a:ext cx="2042901" cy="0"/>
          </a:xfrm>
          <a:prstGeom prst="line">
            <a:avLst/>
          </a:prstGeom>
          <a:ln>
            <a:solidFill>
              <a:srgbClr val="34BBD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338551" y="3100327"/>
            <a:ext cx="1600200" cy="0"/>
          </a:xfrm>
          <a:prstGeom prst="line">
            <a:avLst/>
          </a:prstGeom>
          <a:ln>
            <a:solidFill>
              <a:srgbClr val="34BBD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338551" y="2966821"/>
            <a:ext cx="1620078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338551" y="1390246"/>
            <a:ext cx="2757449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5486" y="5454277"/>
            <a:ext cx="1862837" cy="1043188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1023" y="3160846"/>
            <a:ext cx="731253" cy="7312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" name="Rectangle 38"/>
          <p:cNvSpPr/>
          <p:nvPr/>
        </p:nvSpPr>
        <p:spPr>
          <a:xfrm flipH="1">
            <a:off x="0" y="711202"/>
            <a:ext cx="3300412" cy="5887066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E-commerce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Universities and Colleges/Schools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Social Media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Banking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Government Organizations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Online Television streaming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Roboto Condensed (Body)"/>
              </a:rPr>
              <a:t>Airline and railway</a:t>
            </a:r>
          </a:p>
          <a:p>
            <a:pPr>
              <a:lnSpc>
                <a:spcPct val="120000"/>
              </a:lnSpc>
            </a:pPr>
            <a:endParaRPr lang="en-US" sz="2400" dirty="0">
              <a:latin typeface="Roboto Condensed (Body)"/>
            </a:endParaRPr>
          </a:p>
        </p:txBody>
      </p:sp>
      <p:sp>
        <p:nvSpPr>
          <p:cNvPr id="2" name="AutoShape 2" descr="Introduction to Microsoft Office Software|SoftwareKeep"/>
          <p:cNvSpPr>
            <a:spLocks noChangeAspect="1" noChangeArrowheads="1"/>
          </p:cNvSpPr>
          <p:nvPr/>
        </p:nvSpPr>
        <p:spPr bwMode="auto">
          <a:xfrm>
            <a:off x="5943600" y="32863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51991" y="1386244"/>
            <a:ext cx="1911444" cy="62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14910" y="854612"/>
            <a:ext cx="1110827" cy="444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19704" y="832784"/>
            <a:ext cx="1738659" cy="52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75" t="-1" r="14367" b="-27124"/>
          <a:stretch/>
        </p:blipFill>
        <p:spPr bwMode="auto">
          <a:xfrm>
            <a:off x="5381452" y="784607"/>
            <a:ext cx="714548" cy="73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3F54D41-8FD8-F69D-87B1-B7B778FBD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167324" y="4042616"/>
            <a:ext cx="776048" cy="77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0" name="Content Placeholder 4">
            <a:extLst>
              <a:ext uri="{FF2B5EF4-FFF2-40B4-BE49-F238E27FC236}">
                <a16:creationId xmlns:a16="http://schemas.microsoft.com/office/drawing/2014/main" id="{3D3CDAF7-93C5-FAE9-D487-745A74E03A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4526760"/>
              </p:ext>
            </p:extLst>
          </p:nvPr>
        </p:nvGraphicFramePr>
        <p:xfrm>
          <a:off x="8209" y="4898065"/>
          <a:ext cx="1291810" cy="426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91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Exercise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Content Placeholder 4">
            <a:extLst>
              <a:ext uri="{FF2B5EF4-FFF2-40B4-BE49-F238E27FC236}">
                <a16:creationId xmlns:a16="http://schemas.microsoft.com/office/drawing/2014/main" id="{93400B4B-A91B-09BA-9373-603CEB4926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9281442"/>
              </p:ext>
            </p:extLst>
          </p:nvPr>
        </p:nvGraphicFramePr>
        <p:xfrm>
          <a:off x="-137729" y="5351926"/>
          <a:ext cx="3359451" cy="11887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359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lvl="1" algn="just"/>
                      <a:r>
                        <a:rPr lang="en-US" sz="2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Write down any five applications of DBMS other than above.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6" name="Picture 2" descr="Gujarat Technological University">
            <a:extLst>
              <a:ext uri="{FF2B5EF4-FFF2-40B4-BE49-F238E27FC236}">
                <a16:creationId xmlns:a16="http://schemas.microsoft.com/office/drawing/2014/main" id="{C08B7D71-AFB1-A0D4-E3FA-F45F1111A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748" y="1951096"/>
            <a:ext cx="1034421" cy="100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2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1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13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4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12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11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10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 animBg="1"/>
      <p:bldP spid="15" grpId="0"/>
      <p:bldP spid="39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DBMS</a:t>
            </a:r>
          </a:p>
        </p:txBody>
      </p:sp>
    </p:spTree>
    <p:extLst>
      <p:ext uri="{BB962C8B-B14F-4D97-AF65-F5344CB8AC3E}">
        <p14:creationId xmlns:p14="http://schemas.microsoft.com/office/powerpoint/2010/main" val="20037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Data Redundancy (Duplication)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3731" y="1430135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4981" y="5535584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Electrical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731" y="5535584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Mechanical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79502" y="3247246"/>
            <a:ext cx="3028458" cy="822960"/>
          </a:xfrm>
          <a:prstGeom prst="roundRect">
            <a:avLst>
              <a:gd name="adj" fmla="val 686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 indent="-187325"/>
            <a:r>
              <a:rPr lang="en-US" sz="2000" dirty="0">
                <a:latin typeface="Roboto Condensed (Body)"/>
              </a:rPr>
              <a:t>Same data is stored at </a:t>
            </a:r>
          </a:p>
          <a:p>
            <a:pPr lvl="1" indent="-187325"/>
            <a:r>
              <a:rPr lang="en-US" sz="2000" dirty="0">
                <a:latin typeface="Roboto Condensed (Body)"/>
              </a:rPr>
              <a:t>four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039" y="3002643"/>
            <a:ext cx="3859989" cy="1317430"/>
          </a:xfrm>
          <a:prstGeom prst="roundRect">
            <a:avLst>
              <a:gd name="adj" fmla="val 550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69875" lvl="1"/>
            <a:r>
              <a:rPr lang="en-US" sz="2000" dirty="0">
                <a:latin typeface="Roboto Condensed (Body)"/>
              </a:rPr>
              <a:t>Database management system can remove such data redundancy by storing data centrally.</a:t>
            </a:r>
          </a:p>
        </p:txBody>
      </p:sp>
      <p:pic>
        <p:nvPicPr>
          <p:cNvPr id="9" name="Picture 2" descr="Image result for teacher ic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r="6430"/>
          <a:stretch/>
        </p:blipFill>
        <p:spPr bwMode="auto">
          <a:xfrm>
            <a:off x="5265336" y="2998900"/>
            <a:ext cx="1378858" cy="139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2254981" y="1430135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</a:rPr>
              <a:t>Computer</a:t>
            </a: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12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Data Inconsistency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3731" y="1430135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4981" y="5535583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Electrical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731" y="5535583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Mechanical</a:t>
            </a:r>
          </a:p>
        </p:txBody>
      </p:sp>
      <p:pic>
        <p:nvPicPr>
          <p:cNvPr id="9" name="Picture 2" descr="Image result for teacher ic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2" r="6430"/>
          <a:stretch/>
        </p:blipFill>
        <p:spPr bwMode="auto">
          <a:xfrm>
            <a:off x="5265336" y="2998900"/>
            <a:ext cx="1378858" cy="139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2254981" y="1430135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Computer</a:t>
            </a: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152349" y="2998900"/>
            <a:ext cx="3028458" cy="732071"/>
          </a:xfrm>
          <a:prstGeom prst="roundRect">
            <a:avLst>
              <a:gd name="adj" fmla="val 6865"/>
            </a:avLst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/>
            <a:r>
              <a:rPr lang="en-IN" dirty="0">
                <a:latin typeface="Roboto Condensed (Body)"/>
              </a:rPr>
              <a:t>Same data having </a:t>
            </a:r>
          </a:p>
          <a:p>
            <a:pPr lvl="1"/>
            <a:r>
              <a:rPr lang="en-IN" dirty="0">
                <a:latin typeface="Roboto Condensed (Body)"/>
              </a:rPr>
              <a:t>different state (values)</a:t>
            </a:r>
            <a:endParaRPr lang="en-US" dirty="0">
              <a:latin typeface="Roboto Condensed (Body)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514706" y="3139984"/>
            <a:ext cx="3167830" cy="1148381"/>
          </a:xfrm>
          <a:prstGeom prst="roundRect">
            <a:avLst>
              <a:gd name="adj" fmla="val 29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69875" lvl="1"/>
            <a:r>
              <a:rPr lang="en-IN" sz="2000" dirty="0">
                <a:latin typeface="Roboto Condensed (Body)"/>
              </a:rPr>
              <a:t>Database management system can keep data in consistent state.</a:t>
            </a:r>
            <a:endParaRPr lang="en-US" sz="2000" dirty="0">
              <a:latin typeface="Roboto Condensed (Body)"/>
            </a:endParaRPr>
          </a:p>
        </p:txBody>
      </p:sp>
      <p:sp>
        <p:nvSpPr>
          <p:cNvPr id="29" name="Rounded Rectangular Callout 28"/>
          <p:cNvSpPr/>
          <p:nvPr/>
        </p:nvSpPr>
        <p:spPr>
          <a:xfrm>
            <a:off x="7152349" y="3842162"/>
            <a:ext cx="2977097" cy="633692"/>
          </a:xfrm>
          <a:prstGeom prst="wedgeRoundRectCallout">
            <a:avLst>
              <a:gd name="adj1" fmla="val -75092"/>
              <a:gd name="adj2" fmla="val -6446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1" indent="-187325"/>
            <a:r>
              <a:rPr lang="en-IN" sz="2000" dirty="0">
                <a:latin typeface="Roboto Condensed (Body)"/>
              </a:rPr>
              <a:t>Mobile no is changed</a:t>
            </a:r>
            <a:endParaRPr lang="en-US" sz="2000" dirty="0">
              <a:latin typeface="Roboto Condensed (Body)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74524" y="2428826"/>
            <a:ext cx="913655" cy="4253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Roboto Condensed (Body)"/>
              </a:rPr>
              <a:t>6789</a:t>
            </a:r>
            <a:endParaRPr lang="en-IN" dirty="0">
              <a:latin typeface="Roboto Condensed (Body)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574524" y="4973236"/>
            <a:ext cx="913655" cy="42531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Roboto Condensed (Body)"/>
              </a:rPr>
              <a:t>6789</a:t>
            </a:r>
            <a:endParaRPr lang="en-IN" dirty="0">
              <a:latin typeface="Roboto Condensed (Body)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822242" y="2429137"/>
            <a:ext cx="914400" cy="429768"/>
          </a:xfrm>
          <a:prstGeom prst="roundRect">
            <a:avLst>
              <a:gd name="adj" fmla="val 778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822242" y="4968784"/>
            <a:ext cx="914400" cy="429768"/>
          </a:xfrm>
          <a:prstGeom prst="roundRect">
            <a:avLst>
              <a:gd name="adj" fmla="val 778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 (Body)"/>
            </a:endParaRPr>
          </a:p>
        </p:txBody>
      </p:sp>
    </p:spTree>
    <p:extLst>
      <p:ext uri="{BB962C8B-B14F-4D97-AF65-F5344CB8AC3E}">
        <p14:creationId xmlns:p14="http://schemas.microsoft.com/office/powerpoint/2010/main" val="12574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6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Guaranteed Atomicity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Atomicity: Either transaction </a:t>
            </a:r>
            <a:r>
              <a:rPr lang="en-US" b="1" dirty="0">
                <a:solidFill>
                  <a:schemeClr val="accent6"/>
                </a:solidFill>
              </a:rPr>
              <a:t>execute</a:t>
            </a:r>
            <a:r>
              <a:rPr lang="en-US" dirty="0"/>
              <a:t> </a:t>
            </a:r>
            <a:r>
              <a:rPr lang="en-US" b="1" dirty="0">
                <a:solidFill>
                  <a:schemeClr val="accent6"/>
                </a:solidFill>
              </a:rPr>
              <a:t>0% or 100%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081" y="3828764"/>
            <a:ext cx="1276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 Condensed (Body)"/>
              </a:rPr>
              <a:t>Person A</a:t>
            </a:r>
          </a:p>
          <a:p>
            <a:pPr algn="ctr"/>
            <a:r>
              <a:rPr lang="en-US" sz="2000" dirty="0">
                <a:latin typeface="Roboto Condensed (Body)"/>
              </a:rPr>
              <a:t>Account A</a:t>
            </a:r>
          </a:p>
          <a:p>
            <a:pPr algn="ctr"/>
            <a:r>
              <a:rPr lang="en-US" sz="2000" dirty="0">
                <a:latin typeface="Roboto Condensed (Body)"/>
              </a:rPr>
              <a:t>Bal :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1331" y="3828764"/>
            <a:ext cx="1238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 Condensed (Body)"/>
              </a:rPr>
              <a:t>Person B</a:t>
            </a:r>
          </a:p>
          <a:p>
            <a:pPr algn="ctr"/>
            <a:r>
              <a:rPr lang="en-US" sz="2000" dirty="0">
                <a:latin typeface="Roboto Condensed (Body)"/>
              </a:rPr>
              <a:t>Account B</a:t>
            </a:r>
          </a:p>
          <a:p>
            <a:pPr algn="ctr"/>
            <a:r>
              <a:rPr lang="en-US" sz="2000" dirty="0">
                <a:latin typeface="Roboto Condensed (Body)"/>
              </a:rPr>
              <a:t>Bal : 1000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6181" y="3828764"/>
            <a:ext cx="2438400" cy="8763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Transfer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0368" y="4781264"/>
            <a:ext cx="4010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boto Condensed (Body)"/>
              </a:rPr>
              <a:t>Step 1 : Debit 500 from Account A</a:t>
            </a:r>
          </a:p>
          <a:p>
            <a:pPr algn="ctr"/>
            <a:r>
              <a:rPr lang="en-US" sz="2000" dirty="0">
                <a:latin typeface="Roboto Condensed (Body)"/>
              </a:rPr>
              <a:t>Step 2 : Credit 500 into Account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6181" y="2190464"/>
            <a:ext cx="2438400" cy="1066800"/>
          </a:xfrm>
          <a:prstGeom prst="roundRect">
            <a:avLst>
              <a:gd name="adj" fmla="val 11970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Sum of both account before transfer is 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5217" y="5584400"/>
            <a:ext cx="2600326" cy="687289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Sum of both account </a:t>
            </a:r>
          </a:p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after transfer is 3000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88906" y="5124166"/>
            <a:ext cx="457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>
          <a:xfrm>
            <a:off x="6613328" y="5295617"/>
            <a:ext cx="1971677" cy="1009647"/>
          </a:xfrm>
          <a:prstGeom prst="wedgeRoundRectCallout">
            <a:avLst>
              <a:gd name="adj1" fmla="val -88224"/>
              <a:gd name="adj2" fmla="val -67469"/>
              <a:gd name="adj3" fmla="val 16667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Sum of both account is 2500</a:t>
            </a:r>
          </a:p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so inconsistent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85198" y="5332749"/>
            <a:ext cx="1464467" cy="595295"/>
          </a:xfrm>
          <a:prstGeom prst="wedgeRoundRectCallout">
            <a:avLst>
              <a:gd name="adj1" fmla="val 45202"/>
              <a:gd name="adj2" fmla="val -82104"/>
              <a:gd name="adj3" fmla="val 1666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 (Body)"/>
              </a:rPr>
              <a:t>Transaction is failed</a:t>
            </a:r>
          </a:p>
        </p:txBody>
      </p:sp>
      <p:pic>
        <p:nvPicPr>
          <p:cNvPr id="13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9" t="2449" r="27511"/>
          <a:stretch/>
        </p:blipFill>
        <p:spPr bwMode="auto">
          <a:xfrm>
            <a:off x="541256" y="1515808"/>
            <a:ext cx="1800000" cy="220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 resul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7" t="6774" r="15457" b="6843"/>
          <a:stretch/>
        </p:blipFill>
        <p:spPr bwMode="auto">
          <a:xfrm>
            <a:off x="5583642" y="1533984"/>
            <a:ext cx="1773627" cy="22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3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 animBg="1"/>
      <p:bldP spid="9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Allow to Implement Integrity Constraints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25686" y="1255811"/>
          <a:ext cx="5041583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625686" y="3111497"/>
          <a:ext cx="5041583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Student_Name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Branch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Backlog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 err="1">
                          <a:latin typeface="Roboto Condensed (Body)"/>
                        </a:rPr>
                        <a:t>Nirav</a:t>
                      </a:r>
                      <a:r>
                        <a:rPr lang="en-US" sz="1900" baseline="0" dirty="0">
                          <a:latin typeface="Roboto Condensed (Body)"/>
                        </a:rPr>
                        <a:t> Patel</a:t>
                      </a:r>
                      <a:endParaRPr lang="en-US" sz="1900" dirty="0"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ular Callout 5"/>
          <p:cNvSpPr/>
          <p:nvPr/>
        </p:nvSpPr>
        <p:spPr>
          <a:xfrm>
            <a:off x="3146407" y="2210445"/>
            <a:ext cx="3017520" cy="468000"/>
          </a:xfrm>
          <a:prstGeom prst="wedgeRoundRectCallout">
            <a:avLst>
              <a:gd name="adj1" fmla="val -22194"/>
              <a:gd name="adj2" fmla="val -8987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  <a:latin typeface="Roboto Condensed (Body)"/>
              </a:rPr>
              <a:t>Should contain exact 10 digits</a:t>
            </a:r>
            <a:endParaRPr lang="en-US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4271274" y="4116930"/>
            <a:ext cx="2651760" cy="468000"/>
          </a:xfrm>
          <a:prstGeom prst="wedgeRoundRectCallout">
            <a:avLst>
              <a:gd name="adj1" fmla="val -23686"/>
              <a:gd name="adj2" fmla="val -9948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  <a:latin typeface="Roboto Condensed (Body)"/>
              </a:rPr>
              <a:t>Should be between 0 to 10</a:t>
            </a:r>
            <a:endParaRPr lang="en-US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266700" y="5009267"/>
            <a:ext cx="7040880" cy="640080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sz="2000" dirty="0">
                <a:solidFill>
                  <a:schemeClr val="lt1"/>
                </a:solidFill>
                <a:latin typeface="Roboto Condensed (Body)"/>
              </a:rPr>
              <a:t>DBMS allows us to implement such business rules in our database.</a:t>
            </a:r>
            <a:r>
              <a:rPr lang="en-IN" sz="2000" dirty="0">
                <a:latin typeface="Roboto Condensed (Body)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026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of Data Among Multiple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3731" y="1430135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Civil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4981" y="5535583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Electrical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3731" y="5535583"/>
            <a:ext cx="1800000" cy="432000"/>
          </a:xfrm>
          <a:prstGeom prst="roundRect">
            <a:avLst>
              <a:gd name="adj" fmla="val 11813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Mechanical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4981" y="1430135"/>
            <a:ext cx="1800000" cy="432000"/>
          </a:xfrm>
          <a:prstGeom prst="roundRect">
            <a:avLst/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 (Body)"/>
              </a:rPr>
              <a:t>Computer</a:t>
            </a:r>
          </a:p>
        </p:txBody>
      </p:sp>
      <p:graphicFrame>
        <p:nvGraphicFramePr>
          <p:cNvPr id="1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032462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244290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88977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565205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6128527" y="4975644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371" y="1379673"/>
            <a:ext cx="555241" cy="55524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100" y="1375931"/>
            <a:ext cx="555241" cy="55524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371" y="5473962"/>
            <a:ext cx="555241" cy="55524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099" y="5473962"/>
            <a:ext cx="555241" cy="55524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73491" y="3032233"/>
            <a:ext cx="3734199" cy="1346975"/>
          </a:xfrm>
          <a:prstGeom prst="roundRect">
            <a:avLst>
              <a:gd name="adj" fmla="val 29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69875" lvl="1">
              <a:tabLst>
                <a:tab pos="269875" algn="l"/>
              </a:tabLst>
            </a:pPr>
            <a:r>
              <a:rPr lang="en-IN" sz="2000" dirty="0">
                <a:solidFill>
                  <a:schemeClr val="tx1"/>
                </a:solidFill>
                <a:latin typeface="Roboto Condensed (Body)"/>
              </a:rPr>
              <a:t>Database management system allows more than one user to access same data simultaneously.</a:t>
            </a:r>
            <a:endParaRPr lang="en-US" sz="2000" dirty="0">
              <a:solidFill>
                <a:schemeClr val="tx1"/>
              </a:solidFill>
              <a:latin typeface="Roboto Condensed (Body)"/>
            </a:endParaRPr>
          </a:p>
        </p:txBody>
      </p:sp>
      <p:cxnSp>
        <p:nvCxnSpPr>
          <p:cNvPr id="35" name="Straight Arrow Connector 34"/>
          <p:cNvCxnSpPr>
            <a:endCxn id="23" idx="0"/>
          </p:cNvCxnSpPr>
          <p:nvPr/>
        </p:nvCxnSpPr>
        <p:spPr>
          <a:xfrm flipH="1">
            <a:off x="3154981" y="1944632"/>
            <a:ext cx="1293104" cy="262057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725705" y="1725422"/>
            <a:ext cx="1395695" cy="3065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" name="Multiply 36"/>
          <p:cNvSpPr/>
          <p:nvPr/>
        </p:nvSpPr>
        <p:spPr>
          <a:xfrm>
            <a:off x="5314964" y="1371788"/>
            <a:ext cx="822325" cy="1118347"/>
          </a:xfrm>
          <a:prstGeom prst="mathMultiply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ultiply 37"/>
          <p:cNvSpPr/>
          <p:nvPr/>
        </p:nvSpPr>
        <p:spPr>
          <a:xfrm>
            <a:off x="3193819" y="3139685"/>
            <a:ext cx="822325" cy="1118347"/>
          </a:xfrm>
          <a:prstGeom prst="mathMultiply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ular Callout 38"/>
          <p:cNvSpPr/>
          <p:nvPr/>
        </p:nvSpPr>
        <p:spPr>
          <a:xfrm>
            <a:off x="4016144" y="3254918"/>
            <a:ext cx="1709983" cy="432000"/>
          </a:xfrm>
          <a:prstGeom prst="wedgeRoundRectCallout">
            <a:avLst>
              <a:gd name="adj1" fmla="val -53781"/>
              <a:gd name="adj2" fmla="val -112720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  <a:latin typeface="Roboto Condensed (Body)"/>
              </a:rPr>
              <a:t>Want to access</a:t>
            </a:r>
            <a:endParaRPr lang="en-US" dirty="0">
              <a:solidFill>
                <a:schemeClr val="tx1"/>
              </a:solidFill>
              <a:latin typeface="Roboto Condensed (Body)"/>
            </a:endParaRPr>
          </a:p>
        </p:txBody>
      </p:sp>
      <p:sp>
        <p:nvSpPr>
          <p:cNvPr id="40" name="Rounded Rectangular Callout 39"/>
          <p:cNvSpPr/>
          <p:nvPr/>
        </p:nvSpPr>
        <p:spPr>
          <a:xfrm>
            <a:off x="5199979" y="1059818"/>
            <a:ext cx="1709983" cy="432000"/>
          </a:xfrm>
          <a:prstGeom prst="wedgeRoundRectCallout">
            <a:avLst>
              <a:gd name="adj1" fmla="val -71057"/>
              <a:gd name="adj2" fmla="val 108716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IN" dirty="0">
                <a:solidFill>
                  <a:schemeClr val="tx1"/>
                </a:solidFill>
                <a:latin typeface="Roboto Condensed (Body)"/>
              </a:rPr>
              <a:t>Want to access</a:t>
            </a:r>
            <a:endParaRPr lang="en-US" dirty="0">
              <a:solidFill>
                <a:schemeClr val="tx1"/>
              </a:solidFill>
              <a:latin typeface="Roboto Condensed (Body)"/>
            </a:endParaRPr>
          </a:p>
        </p:txBody>
      </p:sp>
    </p:spTree>
    <p:extLst>
      <p:ext uri="{BB962C8B-B14F-4D97-AF65-F5344CB8AC3E}">
        <p14:creationId xmlns:p14="http://schemas.microsoft.com/office/powerpoint/2010/main" val="239892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34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F1AA-B384-4B3C-AA64-26D31B98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Restricting Unauthorized Access to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1510161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Mobile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1920600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1234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3072180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Post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Salary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Load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3482337"/>
          <a:ext cx="45304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Lecturer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4623475"/>
          <a:ext cx="4873308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Teaching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Knowledge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Rating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3723" y="5033914"/>
          <a:ext cx="487113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1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Good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Excellent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1908" y="2706138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File - 2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1908" y="4255846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File - 3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964939" y="1145357"/>
          <a:ext cx="82296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File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 - 1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786272" y="5776440"/>
            <a:ext cx="530352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>
                <a:solidFill>
                  <a:schemeClr val="lt1"/>
                </a:solidFill>
                <a:latin typeface="Roboto Condensed (Body)"/>
              </a:rPr>
              <a:t>DBMS prevents unauthorized user to access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891" y="1041488"/>
            <a:ext cx="5611091" cy="4653063"/>
          </a:xfrm>
          <a:prstGeom prst="roundRect">
            <a:avLst>
              <a:gd name="adj" fmla="val 3354"/>
            </a:avLst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734292" y="1136486"/>
            <a:ext cx="5292436" cy="2880360"/>
          </a:xfrm>
          <a:prstGeom prst="roundRect">
            <a:avLst>
              <a:gd name="adj" fmla="val 3354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734292" y="4260606"/>
            <a:ext cx="5292436" cy="1281704"/>
          </a:xfrm>
          <a:prstGeom prst="roundRect">
            <a:avLst>
              <a:gd name="adj" fmla="val 3354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96" y="2512328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965598" y="2533226"/>
            <a:ext cx="1016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Roboto Condensed (Body)"/>
              </a:rPr>
              <a:t>Faculty of other college  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6208190" y="2817128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6181296" y="2260444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Condensed (Body)"/>
              </a:rPr>
              <a:t>Wants to access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96" y="3923397"/>
            <a:ext cx="914400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71536" y="4057431"/>
            <a:ext cx="1004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Roboto Condensed (Body)"/>
              </a:rPr>
              <a:t>Darshan</a:t>
            </a:r>
            <a:r>
              <a:rPr lang="en-US" dirty="0">
                <a:latin typeface="Roboto Condensed (Body)"/>
              </a:rPr>
              <a:t> Faculty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6208190" y="4228197"/>
            <a:ext cx="7620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181296" y="3671513"/>
            <a:ext cx="102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Condensed (Body)"/>
              </a:rPr>
              <a:t>Wants to access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477" y="2348396"/>
            <a:ext cx="755604" cy="700474"/>
          </a:xfrm>
          <a:prstGeom prst="rect">
            <a:avLst/>
          </a:prstGeom>
        </p:spPr>
      </p:pic>
      <p:sp>
        <p:nvSpPr>
          <p:cNvPr id="47" name="Multiply 46"/>
          <p:cNvSpPr/>
          <p:nvPr/>
        </p:nvSpPr>
        <p:spPr>
          <a:xfrm>
            <a:off x="5253709" y="4093151"/>
            <a:ext cx="822325" cy="1118347"/>
          </a:xfrm>
          <a:prstGeom prst="mathMultiply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/>
          <p:cNvSpPr/>
          <p:nvPr/>
        </p:nvSpPr>
        <p:spPr>
          <a:xfrm>
            <a:off x="6280227" y="2396363"/>
            <a:ext cx="822325" cy="1118347"/>
          </a:xfrm>
          <a:prstGeom prst="mathMultiply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 animBg="1"/>
      <p:bldP spid="33" grpId="0" animBg="1"/>
      <p:bldP spid="35" grpId="0" animBg="1"/>
      <p:bldP spid="37" grpId="0"/>
      <p:bldP spid="38" grpId="0" animBg="1"/>
      <p:bldP spid="39" grpId="0"/>
      <p:bldP spid="41" grpId="0"/>
      <p:bldP spid="42" grpId="0" animBg="1"/>
      <p:bldP spid="43" grpId="0"/>
      <p:bldP spid="47" grpId="0" animBg="1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Providing Backup and Recovery Services</a:t>
            </a:r>
          </a:p>
        </p:txBody>
      </p:sp>
      <p:pic>
        <p:nvPicPr>
          <p:cNvPr id="4" name="Picture 2" descr="Image result for backup and recover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" t="5000" r="10000" b="5000"/>
          <a:stretch/>
        </p:blipFill>
        <p:spPr bwMode="auto">
          <a:xfrm>
            <a:off x="1902298" y="1371600"/>
            <a:ext cx="6366112" cy="3819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ular Callout 4"/>
          <p:cNvSpPr/>
          <p:nvPr/>
        </p:nvSpPr>
        <p:spPr>
          <a:xfrm>
            <a:off x="1336314" y="5505791"/>
            <a:ext cx="7498080" cy="633692"/>
          </a:xfrm>
          <a:prstGeom prst="wedgeRoundRectCallout">
            <a:avLst>
              <a:gd name="adj1" fmla="val -46835"/>
              <a:gd name="adj2" fmla="val 1908"/>
              <a:gd name="adj3" fmla="val 16667"/>
            </a:avLst>
          </a:pr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000" dirty="0">
                <a:solidFill>
                  <a:schemeClr val="lt1"/>
                </a:solidFill>
                <a:latin typeface="Roboto Condensed (Body)"/>
              </a:rPr>
              <a:t>Provides facilities to backup and restore the database in case of failure.</a:t>
            </a:r>
          </a:p>
        </p:txBody>
      </p:sp>
    </p:spTree>
    <p:extLst>
      <p:ext uri="{BB962C8B-B14F-4D97-AF65-F5344CB8AC3E}">
        <p14:creationId xmlns:p14="http://schemas.microsoft.com/office/powerpoint/2010/main" val="222855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DBMS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Reduce Data Redundancy (Duplication)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Avoids unnecessary duplication</a:t>
            </a:r>
            <a:r>
              <a:rPr lang="en-US" sz="2200" dirty="0"/>
              <a:t> of data by storing data centrally.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Remove Data Inconsistency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By </a:t>
            </a:r>
            <a:r>
              <a:rPr lang="en-US" sz="2200" b="1" dirty="0">
                <a:solidFill>
                  <a:schemeClr val="accent6"/>
                </a:solidFill>
              </a:rPr>
              <a:t>eliminating redundancy</a:t>
            </a:r>
            <a:r>
              <a:rPr lang="en-US" sz="2200" dirty="0"/>
              <a:t>, data </a:t>
            </a:r>
            <a:r>
              <a:rPr lang="en-US" sz="2200" b="1" dirty="0">
                <a:solidFill>
                  <a:schemeClr val="accent6"/>
                </a:solidFill>
              </a:rPr>
              <a:t>inconsistency can be removed</a:t>
            </a:r>
            <a:r>
              <a:rPr lang="en-US" sz="2200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Guaranteed Atomicity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Either transaction </a:t>
            </a:r>
            <a:r>
              <a:rPr lang="en-US" sz="2200" b="1" dirty="0">
                <a:solidFill>
                  <a:schemeClr val="accent6"/>
                </a:solidFill>
              </a:rPr>
              <a:t>executes 0% or 100%.</a:t>
            </a:r>
          </a:p>
          <a:p>
            <a:pPr>
              <a:lnSpc>
                <a:spcPct val="100000"/>
              </a:lnSpc>
            </a:pPr>
            <a:r>
              <a:rPr lang="en-US" dirty="0"/>
              <a:t>Allow Implementing Integrity Constraints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Business rules can be implemented </a:t>
            </a:r>
            <a:r>
              <a:rPr lang="en-US" sz="2200" dirty="0"/>
              <a:t>such as do not allow to store SPI less than 0 and greater then 10. </a:t>
            </a:r>
          </a:p>
          <a:p>
            <a:pPr>
              <a:lnSpc>
                <a:spcPct val="100000"/>
              </a:lnSpc>
            </a:pPr>
            <a:r>
              <a:rPr lang="en-US" dirty="0"/>
              <a:t>Sharing of Data Among Multiple Users</a:t>
            </a:r>
          </a:p>
          <a:p>
            <a:pPr lvl="1">
              <a:lnSpc>
                <a:spcPct val="100000"/>
              </a:lnSpc>
            </a:pPr>
            <a:r>
              <a:rPr lang="en-US" sz="2200" b="1" dirty="0">
                <a:solidFill>
                  <a:schemeClr val="accent6"/>
                </a:solidFill>
              </a:rPr>
              <a:t>More than one users can access </a:t>
            </a:r>
            <a:r>
              <a:rPr lang="en-US" sz="2200" dirty="0"/>
              <a:t>same data at the same time.</a:t>
            </a:r>
            <a:endParaRPr lang="en-US" sz="22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30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DBMS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Restricting Unauthorized Access to Data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A user can </a:t>
            </a:r>
            <a:r>
              <a:rPr lang="en-US" sz="2200" b="1" dirty="0">
                <a:solidFill>
                  <a:schemeClr val="accent6"/>
                </a:solidFill>
              </a:rPr>
              <a:t>only access data which is authorized </a:t>
            </a:r>
            <a:r>
              <a:rPr lang="en-US" sz="2200" dirty="0"/>
              <a:t>to him/her.</a:t>
            </a:r>
          </a:p>
          <a:p>
            <a:pPr>
              <a:lnSpc>
                <a:spcPct val="100000"/>
              </a:lnSpc>
            </a:pPr>
            <a:r>
              <a:rPr lang="en-US" dirty="0"/>
              <a:t>Providing Backup and Recovery Services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Can </a:t>
            </a:r>
            <a:r>
              <a:rPr lang="en-US" sz="2200" b="1" dirty="0">
                <a:solidFill>
                  <a:schemeClr val="accent6"/>
                </a:solidFill>
              </a:rPr>
              <a:t>take a regular auto or manual backup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chemeClr val="accent6"/>
                </a:solidFill>
              </a:rPr>
              <a:t>use it to restore </a:t>
            </a:r>
            <a:r>
              <a:rPr lang="en-US" sz="2200" dirty="0"/>
              <a:t>the database if it corrupts.</a:t>
            </a:r>
          </a:p>
          <a:p>
            <a:pPr>
              <a:lnSpc>
                <a:spcPct val="10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432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of DBMS</a:t>
            </a:r>
          </a:p>
        </p:txBody>
      </p:sp>
    </p:spTree>
    <p:extLst>
      <p:ext uri="{BB962C8B-B14F-4D97-AF65-F5344CB8AC3E}">
        <p14:creationId xmlns:p14="http://schemas.microsoft.com/office/powerpoint/2010/main" val="2453953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of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Data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Data is </a:t>
            </a:r>
            <a:r>
              <a:rPr lang="en-US" sz="2200" b="1" dirty="0">
                <a:solidFill>
                  <a:schemeClr val="accent6"/>
                </a:solidFill>
              </a:rPr>
              <a:t>raw material, unorganized facts </a:t>
            </a:r>
            <a:r>
              <a:rPr lang="en-US" sz="2200" dirty="0"/>
              <a:t>that need to be processed.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Example: Marks of students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Student-1 got 50 marks in </a:t>
            </a:r>
            <a:r>
              <a:rPr lang="en-US" sz="2200" dirty="0" err="1"/>
              <a:t>Maths</a:t>
            </a:r>
            <a:r>
              <a:rPr lang="en-US" sz="2200" dirty="0"/>
              <a:t> and 58 marks in Science, Student-2 got 62 marks in C language and 48 marks in Java.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Information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When data is </a:t>
            </a:r>
            <a:r>
              <a:rPr lang="en-US" sz="2200" b="1" dirty="0">
                <a:solidFill>
                  <a:schemeClr val="accent6"/>
                </a:solidFill>
              </a:rPr>
              <a:t>processed</a:t>
            </a:r>
            <a:r>
              <a:rPr lang="en-US" sz="2200" dirty="0"/>
              <a:t>,</a:t>
            </a:r>
            <a:r>
              <a:rPr lang="en-US" sz="2200" b="1" dirty="0">
                <a:solidFill>
                  <a:schemeClr val="accent6"/>
                </a:solidFill>
              </a:rPr>
              <a:t> organized</a:t>
            </a:r>
            <a:r>
              <a:rPr lang="en-US" sz="2200" dirty="0"/>
              <a:t>,</a:t>
            </a:r>
            <a:r>
              <a:rPr lang="en-US" sz="2200" b="1" dirty="0">
                <a:solidFill>
                  <a:schemeClr val="accent6"/>
                </a:solidFill>
              </a:rPr>
              <a:t> structured </a:t>
            </a:r>
            <a:r>
              <a:rPr lang="en-US" sz="2200" dirty="0"/>
              <a:t>or </a:t>
            </a:r>
            <a:r>
              <a:rPr lang="en-US" sz="2200" b="1" dirty="0">
                <a:solidFill>
                  <a:schemeClr val="accent6"/>
                </a:solidFill>
              </a:rPr>
              <a:t>meaningful</a:t>
            </a:r>
            <a:r>
              <a:rPr lang="en-US" sz="2200" dirty="0"/>
              <a:t>, it is called information.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Example: Result of students (Pass or Fail) or Percentage of result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Student-1 = Pass, Student-2 = Fail. Or Student-3 pass with 72%</a:t>
            </a:r>
          </a:p>
        </p:txBody>
      </p:sp>
    </p:spTree>
    <p:extLst>
      <p:ext uri="{BB962C8B-B14F-4D97-AF65-F5344CB8AC3E}">
        <p14:creationId xmlns:p14="http://schemas.microsoft.com/office/powerpoint/2010/main" val="212110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v/s Information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20AFC5-C450-7C81-2EBA-32BDF68B0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70715"/>
              </p:ext>
            </p:extLst>
          </p:nvPr>
        </p:nvGraphicFramePr>
        <p:xfrm>
          <a:off x="282363" y="948348"/>
          <a:ext cx="9904551" cy="5791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6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9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5CCB67-DDA2-C3FC-662E-298C104D5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529073"/>
              </p:ext>
            </p:extLst>
          </p:nvPr>
        </p:nvGraphicFramePr>
        <p:xfrm>
          <a:off x="282360" y="3533678"/>
          <a:ext cx="9904551" cy="58040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634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9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</a:rPr>
                        <a:t>Row materials used to derive information.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Product derived from Data.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37BC1C-0D0B-DD60-1FDB-75ED5CCDE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616917"/>
              </p:ext>
            </p:extLst>
          </p:nvPr>
        </p:nvGraphicFramePr>
        <p:xfrm>
          <a:off x="282359" y="4112571"/>
          <a:ext cx="9904551" cy="43641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634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Less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</a:rPr>
                        <a:t> useful.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More useful.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9D15A6-413D-0739-32DC-D7A33D336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57075"/>
              </p:ext>
            </p:extLst>
          </p:nvPr>
        </p:nvGraphicFramePr>
        <p:xfrm>
          <a:off x="282363" y="2225350"/>
          <a:ext cx="9916393" cy="13106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6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1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</a:rPr>
                        <a:t>Examples: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Student No: 112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Student Name: ANKITA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Marks : 250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</a:rPr>
                        <a:t>Examples: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Percentage : 81.31%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     (Derived from the marks of all subjects)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6695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37CC6F-20B8-3E2C-4488-763727A58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360255"/>
              </p:ext>
            </p:extLst>
          </p:nvPr>
        </p:nvGraphicFramePr>
        <p:xfrm>
          <a:off x="282363" y="1525889"/>
          <a:ext cx="9904551" cy="7010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63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9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Means knows facts, that can be recorded and have implicit meaning.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tx1"/>
                          </a:solidFill>
                        </a:rPr>
                        <a:t>Means processed or organized data.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16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</a:t>
            </a:r>
            <a:r>
              <a:t>of DBMS (cont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53612"/>
            <a:ext cx="11929641" cy="5590565"/>
          </a:xfrm>
        </p:spPr>
        <p:txBody>
          <a:bodyPr/>
          <a:lstStyle/>
          <a:p>
            <a:r>
              <a:rPr lang="en-US" b="1" dirty="0"/>
              <a:t>Metadata</a:t>
            </a:r>
          </a:p>
          <a:p>
            <a:pPr lvl="1"/>
            <a:r>
              <a:rPr lang="en-US" sz="2200" dirty="0"/>
              <a:t>Metadata is </a:t>
            </a:r>
            <a:r>
              <a:rPr lang="en-US" sz="2200" b="1" dirty="0">
                <a:solidFill>
                  <a:schemeClr val="accent6"/>
                </a:solidFill>
              </a:rPr>
              <a:t>data about data</a:t>
            </a:r>
            <a:r>
              <a:rPr lang="en-US" sz="2200" dirty="0"/>
              <a:t>. </a:t>
            </a:r>
          </a:p>
          <a:p>
            <a:pPr lvl="1"/>
            <a:r>
              <a:rPr lang="en-US" sz="2200" dirty="0"/>
              <a:t>Data such as table name, column name, data type, authorized user and user access privileges for any table is called metadata for that table.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200" dirty="0"/>
              <a:t>Metadata of above table is: </a:t>
            </a:r>
          </a:p>
          <a:p>
            <a:pPr lvl="2"/>
            <a:r>
              <a:rPr lang="en-US" sz="2000" dirty="0"/>
              <a:t>Table name such as </a:t>
            </a:r>
            <a:r>
              <a:rPr lang="en-US" sz="2000" dirty="0">
                <a:solidFill>
                  <a:schemeClr val="accent6"/>
                </a:solidFill>
              </a:rPr>
              <a:t>Faculty</a:t>
            </a:r>
          </a:p>
          <a:p>
            <a:pPr lvl="2"/>
            <a:r>
              <a:rPr lang="en-US" sz="2000" dirty="0"/>
              <a:t>Column name such as </a:t>
            </a:r>
            <a:r>
              <a:rPr lang="en-US" sz="2000" dirty="0" err="1">
                <a:solidFill>
                  <a:schemeClr val="accent6"/>
                </a:solidFill>
              </a:rPr>
              <a:t>Emp_Name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6"/>
                </a:solidFill>
              </a:rPr>
              <a:t> Address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6"/>
                </a:solidFill>
              </a:rPr>
              <a:t> </a:t>
            </a:r>
            <a:r>
              <a:rPr lang="en-US" sz="2000" dirty="0" err="1">
                <a:solidFill>
                  <a:schemeClr val="accent6"/>
                </a:solidFill>
              </a:rPr>
              <a:t>Mobile_No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6"/>
                </a:solidFill>
              </a:rPr>
              <a:t> Subject</a:t>
            </a:r>
          </a:p>
          <a:p>
            <a:pPr lvl="2"/>
            <a:r>
              <a:rPr lang="en-US" sz="2000" dirty="0" err="1"/>
              <a:t>Datatype</a:t>
            </a:r>
            <a:r>
              <a:rPr lang="en-US" sz="2000" dirty="0"/>
              <a:t>  such as </a:t>
            </a:r>
            <a:r>
              <a:rPr lang="en-US" sz="2000" dirty="0" err="1">
                <a:solidFill>
                  <a:schemeClr val="accent6"/>
                </a:solidFill>
              </a:rPr>
              <a:t>Varchar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6"/>
                </a:solidFill>
              </a:rPr>
              <a:t> Integer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6"/>
                </a:solidFill>
              </a:rPr>
              <a:t> Decimal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6"/>
                </a:solidFill>
              </a:rPr>
              <a:t>etc.</a:t>
            </a:r>
          </a:p>
          <a:p>
            <a:pPr lvl="2"/>
            <a:r>
              <a:rPr lang="en-US" sz="2000" dirty="0"/>
              <a:t>Access privileges such as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>
                <a:solidFill>
                  <a:schemeClr val="accent6"/>
                </a:solidFill>
              </a:rPr>
              <a:t>Read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6"/>
                </a:solidFill>
              </a:rPr>
              <a:t> Write </a:t>
            </a:r>
            <a:r>
              <a:rPr lang="en-US" sz="2000" dirty="0"/>
              <a:t>(</a:t>
            </a:r>
            <a:r>
              <a:rPr lang="en-US" sz="2000" dirty="0">
                <a:solidFill>
                  <a:schemeClr val="accent6"/>
                </a:solidFill>
              </a:rPr>
              <a:t>Update</a:t>
            </a:r>
            <a:r>
              <a:rPr lang="en-US" sz="2000" dirty="0"/>
              <a:t>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1089709" y="2811663"/>
          <a:ext cx="5999349" cy="8229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70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</a:t>
                      </a:r>
                      <a:r>
                        <a:rPr lang="en-US" sz="1900" dirty="0" err="1">
                          <a:latin typeface="Roboto Condensed (Body)"/>
                        </a:rPr>
                        <a:t>Anuj</a:t>
                      </a:r>
                      <a:r>
                        <a:rPr lang="en-US" sz="1900" baseline="0" dirty="0">
                          <a:latin typeface="Roboto Condensed (Body)"/>
                        </a:rPr>
                        <a:t> Sharma</a:t>
                      </a:r>
                      <a:endParaRPr lang="en-US" sz="1900" dirty="0"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CN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088109" y="2440948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2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</a:t>
            </a:r>
            <a:r>
              <a:t>of DBMS (cont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Dictionary</a:t>
            </a:r>
          </a:p>
          <a:p>
            <a:pPr lvl="1"/>
            <a:r>
              <a:rPr lang="en-US" dirty="0"/>
              <a:t>A data dictionary is an information repository which </a:t>
            </a:r>
            <a:r>
              <a:rPr lang="en-US" b="1" dirty="0">
                <a:solidFill>
                  <a:schemeClr val="accent6"/>
                </a:solidFill>
              </a:rPr>
              <a:t>contains metadata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Data Warehouse</a:t>
            </a:r>
          </a:p>
          <a:p>
            <a:pPr lvl="1"/>
            <a:r>
              <a:rPr lang="en-US" dirty="0"/>
              <a:t>A data warehouse is an information repository which </a:t>
            </a:r>
            <a:r>
              <a:rPr lang="en-US" b="1" dirty="0">
                <a:solidFill>
                  <a:schemeClr val="accent6"/>
                </a:solidFill>
              </a:rPr>
              <a:t>stores data</a:t>
            </a:r>
            <a:r>
              <a:rPr lang="en-US" dirty="0"/>
              <a:t>. </a:t>
            </a:r>
          </a:p>
          <a:p>
            <a:pPr lvl="2"/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9203731"/>
              </p:ext>
            </p:extLst>
          </p:nvPr>
        </p:nvGraphicFramePr>
        <p:xfrm>
          <a:off x="1089710" y="4281411"/>
          <a:ext cx="5041583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Raj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9023456789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088109" y="3910696"/>
          <a:ext cx="906907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06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6273" y="1709532"/>
            <a:ext cx="6583680" cy="1188720"/>
          </a:xfrm>
          <a:prstGeom prst="roundRect">
            <a:avLst>
              <a:gd name="adj" fmla="val 818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 Condensed (Body)"/>
              </a:rPr>
              <a:t>Table Name – 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Faculty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 Condensed (Body)"/>
              </a:rPr>
              <a:t>Column Name – </a:t>
            </a:r>
            <a:r>
              <a:rPr lang="en-US" dirty="0" err="1">
                <a:solidFill>
                  <a:schemeClr val="accent6"/>
                </a:solidFill>
                <a:latin typeface="Roboto Condensed (Body)"/>
              </a:rPr>
              <a:t>EmpName</a:t>
            </a:r>
            <a:r>
              <a:rPr lang="en-US" dirty="0">
                <a:latin typeface="Roboto Condensed (Body)"/>
              </a:rPr>
              <a:t>,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 Address</a:t>
            </a:r>
            <a:r>
              <a:rPr lang="en-US" dirty="0">
                <a:latin typeface="Roboto Condensed (Body)"/>
              </a:rPr>
              <a:t>,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 Mob</a:t>
            </a:r>
            <a:r>
              <a:rPr lang="en-US" dirty="0">
                <a:latin typeface="Roboto Condensed (Body)"/>
              </a:rPr>
              <a:t>,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 Subject</a:t>
            </a:r>
            <a:r>
              <a:rPr lang="en-US" dirty="0">
                <a:latin typeface="Roboto Condensed (Body)"/>
              </a:rPr>
              <a:t>,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 Salary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Roboto Condensed (Body)"/>
              </a:rPr>
              <a:t>Datatype</a:t>
            </a:r>
            <a:r>
              <a:rPr lang="en-US" dirty="0">
                <a:latin typeface="Roboto Condensed (Body)"/>
              </a:rPr>
              <a:t> – </a:t>
            </a:r>
            <a:r>
              <a:rPr lang="en-US" dirty="0" err="1">
                <a:solidFill>
                  <a:schemeClr val="accent6"/>
                </a:solidFill>
                <a:latin typeface="Roboto Condensed (Body)"/>
              </a:rPr>
              <a:t>Varchar</a:t>
            </a:r>
            <a:r>
              <a:rPr lang="en-US" dirty="0">
                <a:latin typeface="Roboto Condensed (Body)"/>
              </a:rPr>
              <a:t>,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 Decimal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 Condensed (Body)"/>
              </a:rPr>
              <a:t>Access Privileges – 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Read</a:t>
            </a:r>
            <a:r>
              <a:rPr lang="en-US" dirty="0">
                <a:latin typeface="Roboto Condensed (Body)"/>
              </a:rPr>
              <a:t>,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 Write </a:t>
            </a:r>
            <a:r>
              <a:rPr lang="en-US" dirty="0">
                <a:latin typeface="Roboto Condensed (Body)"/>
              </a:rPr>
              <a:t>(</a:t>
            </a:r>
            <a:r>
              <a:rPr lang="en-US" dirty="0">
                <a:solidFill>
                  <a:schemeClr val="accent6"/>
                </a:solidFill>
                <a:latin typeface="Roboto Condensed (Body)"/>
              </a:rPr>
              <a:t>Update</a:t>
            </a:r>
            <a:r>
              <a:rPr lang="en-US" dirty="0">
                <a:latin typeface="Roboto Condensed (Body)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6272" y="4694889"/>
            <a:ext cx="5037827" cy="807202"/>
          </a:xfrm>
          <a:prstGeom prst="roundRect">
            <a:avLst>
              <a:gd name="adj" fmla="val 778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1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</a:t>
            </a:r>
            <a:r>
              <a:t>of DBMS (cont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/>
              <a:t>Field</a:t>
            </a:r>
          </a:p>
          <a:p>
            <a:pPr lvl="1"/>
            <a:r>
              <a:rPr lang="en-US" dirty="0"/>
              <a:t>A field is a </a:t>
            </a:r>
            <a:r>
              <a:rPr lang="en-US" b="1" dirty="0">
                <a:solidFill>
                  <a:schemeClr val="accent6"/>
                </a:solidFill>
              </a:rPr>
              <a:t>character </a:t>
            </a:r>
            <a:r>
              <a:rPr lang="en-US" dirty="0"/>
              <a:t>or</a:t>
            </a:r>
            <a:r>
              <a:rPr lang="en-US" b="1" dirty="0">
                <a:solidFill>
                  <a:schemeClr val="accent6"/>
                </a:solidFill>
              </a:rPr>
              <a:t> group of characters </a:t>
            </a:r>
            <a:r>
              <a:rPr lang="en-US" dirty="0"/>
              <a:t>that have a specific meaning.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, </a:t>
            </a:r>
            <a:r>
              <a:rPr lang="en-US" dirty="0" err="1"/>
              <a:t>Emp_Name</a:t>
            </a:r>
            <a:r>
              <a:rPr lang="en-US" dirty="0"/>
              <a:t>, Address, </a:t>
            </a:r>
            <a:r>
              <a:rPr lang="en-US" dirty="0" err="1"/>
              <a:t>Mobile_No</a:t>
            </a:r>
            <a:r>
              <a:rPr lang="en-US" dirty="0"/>
              <a:t>, etc are all fields of Faculty table.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Record / Tuple</a:t>
            </a:r>
          </a:p>
          <a:p>
            <a:pPr lvl="1"/>
            <a:r>
              <a:rPr lang="en-US" dirty="0"/>
              <a:t>A record is a </a:t>
            </a:r>
            <a:r>
              <a:rPr lang="en-US" b="1" dirty="0">
                <a:solidFill>
                  <a:schemeClr val="accent6"/>
                </a:solidFill>
              </a:rPr>
              <a:t>collection </a:t>
            </a:r>
            <a:r>
              <a:rPr lang="en-US" dirty="0"/>
              <a:t>of</a:t>
            </a:r>
            <a:r>
              <a:rPr lang="en-US" b="1" dirty="0">
                <a:solidFill>
                  <a:schemeClr val="accent6"/>
                </a:solidFill>
              </a:rPr>
              <a:t> logically related fields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, the collection of fields (</a:t>
            </a:r>
            <a:r>
              <a:rPr lang="en-US" dirty="0" err="1"/>
              <a:t>Emp_Name</a:t>
            </a:r>
            <a:r>
              <a:rPr lang="en-US" dirty="0"/>
              <a:t>, Address, </a:t>
            </a:r>
            <a:r>
              <a:rPr lang="en-US" dirty="0" err="1"/>
              <a:t>Mobile_No</a:t>
            </a:r>
            <a:r>
              <a:rPr lang="en-US" dirty="0"/>
              <a:t>, Subject) forms a record for the Faculty.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1117657" y="2429520"/>
          <a:ext cx="5041583" cy="12344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116684" y="2058805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117657" y="5137851"/>
          <a:ext cx="504158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/>
        </p:nvGraphicFramePr>
        <p:xfrm>
          <a:off x="1117657" y="5549012"/>
          <a:ext cx="5041583" cy="411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 err="1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Surat</a:t>
                      </a:r>
                      <a:endParaRPr lang="en-US" sz="1900" b="0" kern="1200" dirty="0">
                        <a:solidFill>
                          <a:schemeClr val="dk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900" b="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31235" y="3105184"/>
          <a:ext cx="1663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507446" y="3105184"/>
          <a:ext cx="1340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8558649" y="2468828"/>
            <a:ext cx="1238480" cy="515938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Roboto Condensed (Body)"/>
              </a:rPr>
              <a:t>Fields</a:t>
            </a:r>
          </a:p>
        </p:txBody>
      </p:sp>
      <p:sp>
        <p:nvSpPr>
          <p:cNvPr id="15" name="Rounded Rectangular Callout 14"/>
          <p:cNvSpPr/>
          <p:nvPr/>
        </p:nvSpPr>
        <p:spPr>
          <a:xfrm>
            <a:off x="6404033" y="5294853"/>
            <a:ext cx="1612324" cy="547909"/>
          </a:xfrm>
          <a:prstGeom prst="wedgeRoundRectCallout">
            <a:avLst>
              <a:gd name="adj1" fmla="val -49350"/>
              <a:gd name="adj2" fmla="val 19073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Roboto Condensed (Body)"/>
              </a:rPr>
              <a:t>Record / Tuple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960775" y="3105184"/>
          <a:ext cx="1340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Mobile_No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08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</a:t>
            </a:r>
            <a:r>
              <a:t>of DBMS (cont</a:t>
            </a:r>
            <a:r>
              <a:rPr lang="en-US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/>
              <a:t>File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A file is a </a:t>
            </a:r>
            <a:r>
              <a:rPr lang="en-US" sz="2200" b="1" dirty="0">
                <a:solidFill>
                  <a:schemeClr val="accent6"/>
                </a:solidFill>
              </a:rPr>
              <a:t>collection of records</a:t>
            </a:r>
            <a:r>
              <a:rPr lang="en-US" sz="2200" dirty="0"/>
              <a:t>. For example, if you insert 100 records in Faculty database then these 100 records create a file.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6318223"/>
              </p:ext>
            </p:extLst>
          </p:nvPr>
        </p:nvGraphicFramePr>
        <p:xfrm>
          <a:off x="1089665" y="2598613"/>
          <a:ext cx="5041583" cy="24688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698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Emp_Name</a:t>
                      </a:r>
                      <a:endParaRPr lang="en-US" b="1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Address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Roboto Condensed (Body)"/>
                        </a:rPr>
                        <a:t>Mobile_No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Ajay Shah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9876543210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Ajay Patel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0123456789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DBMS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 </a:t>
                      </a:r>
                      <a:r>
                        <a:rPr lang="en-US" sz="1900" dirty="0" err="1">
                          <a:latin typeface="Roboto Condensed (Body)"/>
                        </a:rPr>
                        <a:t>Bimal</a:t>
                      </a:r>
                      <a:r>
                        <a:rPr lang="en-US" sz="1900" dirty="0">
                          <a:latin typeface="Roboto Condensed (Body)"/>
                        </a:rPr>
                        <a:t> </a:t>
                      </a:r>
                      <a:r>
                        <a:rPr lang="en-US" sz="1900" dirty="0" err="1">
                          <a:latin typeface="Roboto Condensed (Body)"/>
                        </a:rPr>
                        <a:t>Rai</a:t>
                      </a:r>
                      <a:endParaRPr lang="en-US" sz="1900" dirty="0"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Rajkot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8099766551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Roboto Condensed (Body)"/>
                        </a:rPr>
                        <a:t>Prof.</a:t>
                      </a:r>
                      <a:r>
                        <a:rPr lang="en-US" sz="1900" baseline="0" dirty="0">
                          <a:latin typeface="Roboto Condensed (Body)"/>
                        </a:rPr>
                        <a:t> Ram </a:t>
                      </a:r>
                      <a:r>
                        <a:rPr lang="en-US" sz="1900" baseline="0" dirty="0" err="1">
                          <a:latin typeface="Roboto Condensed (Body)"/>
                        </a:rPr>
                        <a:t>Zala</a:t>
                      </a:r>
                      <a:endParaRPr lang="en-US" sz="1900" dirty="0">
                        <a:latin typeface="Roboto Condensed (Body)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 err="1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Surat</a:t>
                      </a:r>
                      <a:endParaRPr lang="en-US" sz="1900" kern="1200" dirty="0">
                        <a:solidFill>
                          <a:schemeClr val="dk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7888900112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OOP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…….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…….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…….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…….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26B864CA-85CD-4666-B9D1-870ED08B2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4034614"/>
              </p:ext>
            </p:extLst>
          </p:nvPr>
        </p:nvGraphicFramePr>
        <p:xfrm>
          <a:off x="1088692" y="2227898"/>
          <a:ext cx="914400" cy="3657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48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Faculty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ounded Rectangular Callout 13"/>
          <p:cNvSpPr/>
          <p:nvPr/>
        </p:nvSpPr>
        <p:spPr>
          <a:xfrm>
            <a:off x="6895821" y="3108964"/>
            <a:ext cx="1238480" cy="515938"/>
          </a:xfrm>
          <a:prstGeom prst="wedgeRoundRectCallout">
            <a:avLst>
              <a:gd name="adj1" fmla="val -49350"/>
              <a:gd name="adj2" fmla="val 412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Roboto Condensed (Body)"/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27452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3B984-B517-CDF9-3525-147F27116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980C8-487F-1CFA-9755-74DB690B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 Users</a:t>
            </a:r>
          </a:p>
        </p:txBody>
      </p:sp>
    </p:spTree>
    <p:extLst>
      <p:ext uri="{BB962C8B-B14F-4D97-AF65-F5344CB8AC3E}">
        <p14:creationId xmlns:p14="http://schemas.microsoft.com/office/powerpoint/2010/main" val="2580658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/>
              <a:t>Naive Users </a:t>
            </a:r>
            <a:r>
              <a:rPr lang="en-US" dirty="0"/>
              <a:t>(</a:t>
            </a:r>
            <a:r>
              <a:rPr lang="en-US" b="1" dirty="0"/>
              <a:t>End Users</a:t>
            </a:r>
            <a:r>
              <a:rPr lang="en-US" dirty="0"/>
              <a:t>)</a:t>
            </a:r>
          </a:p>
          <a:p>
            <a:pPr lvl="1"/>
            <a:r>
              <a:rPr lang="en-US" sz="2200" dirty="0"/>
              <a:t>Naive users are </a:t>
            </a:r>
            <a:r>
              <a:rPr lang="en-US" sz="2200" b="1" dirty="0">
                <a:solidFill>
                  <a:schemeClr val="accent6"/>
                </a:solidFill>
              </a:rPr>
              <a:t>unsophisticated</a:t>
            </a:r>
            <a:r>
              <a:rPr lang="en-US" sz="2200" dirty="0"/>
              <a:t> users who have </a:t>
            </a:r>
            <a:r>
              <a:rPr lang="en-US" sz="2200" b="1" dirty="0">
                <a:solidFill>
                  <a:schemeClr val="accent6"/>
                </a:solidFill>
              </a:rPr>
              <a:t>little</a:t>
            </a:r>
            <a:r>
              <a:rPr lang="en-US" sz="2200" b="1" dirty="0"/>
              <a:t> </a:t>
            </a:r>
            <a:r>
              <a:rPr lang="en-US" sz="2200" dirty="0"/>
              <a:t>or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chemeClr val="accent6"/>
                </a:solidFill>
              </a:rPr>
              <a:t>no knowledge </a:t>
            </a:r>
            <a:r>
              <a:rPr lang="en-US" sz="2200" dirty="0"/>
              <a:t>of database systems.</a:t>
            </a:r>
            <a:endParaRPr lang="en-US" sz="2200" b="1" dirty="0">
              <a:solidFill>
                <a:schemeClr val="accent6"/>
              </a:solidFill>
            </a:endParaRPr>
          </a:p>
          <a:p>
            <a:pPr lvl="1"/>
            <a:r>
              <a:rPr lang="en-US" sz="2200" dirty="0"/>
              <a:t>They do not write SQL queries. </a:t>
            </a:r>
          </a:p>
          <a:p>
            <a:pPr lvl="1"/>
            <a:r>
              <a:rPr lang="en-US" sz="2200" dirty="0"/>
              <a:t>They just interact with the database through </a:t>
            </a:r>
            <a:r>
              <a:rPr lang="en-US" sz="2200" b="1" dirty="0">
                <a:solidFill>
                  <a:schemeClr val="accent6"/>
                </a:solidFill>
              </a:rPr>
              <a:t>ready-made application software</a:t>
            </a:r>
            <a:r>
              <a:rPr lang="en-US" sz="2200" dirty="0"/>
              <a:t> or </a:t>
            </a:r>
            <a:r>
              <a:rPr lang="en-US" sz="2200" b="1" dirty="0">
                <a:solidFill>
                  <a:schemeClr val="accent6"/>
                </a:solidFill>
              </a:rPr>
              <a:t>database tools</a:t>
            </a:r>
            <a:r>
              <a:rPr lang="en-US" sz="2200" dirty="0"/>
              <a:t>.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Examples</a:t>
            </a:r>
            <a:r>
              <a:rPr lang="en-US" sz="2200" dirty="0"/>
              <a:t>: Bank clerk, Data entry operator, Railway reservation counter staff</a:t>
            </a:r>
          </a:p>
          <a:p>
            <a:r>
              <a:rPr lang="en-US" b="1" dirty="0"/>
              <a:t>Application Programmers</a:t>
            </a:r>
          </a:p>
          <a:p>
            <a:pPr lvl="1"/>
            <a:r>
              <a:rPr lang="en-US" sz="2200" dirty="0"/>
              <a:t>Application programmers are users who </a:t>
            </a:r>
            <a:r>
              <a:rPr lang="en-US" sz="2200" b="1" dirty="0">
                <a:solidFill>
                  <a:schemeClr val="accent6"/>
                </a:solidFill>
              </a:rPr>
              <a:t>develop application software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/>
              <a:t>or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b="1" dirty="0">
                <a:solidFill>
                  <a:schemeClr val="accent6"/>
                </a:solidFill>
              </a:rPr>
              <a:t>programs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/>
              <a:t>using languages such as </a:t>
            </a:r>
            <a:r>
              <a:rPr lang="en-US" sz="2200" b="1" dirty="0">
                <a:solidFill>
                  <a:schemeClr val="accent6"/>
                </a:solidFill>
              </a:rPr>
              <a:t>Java</a:t>
            </a:r>
            <a:r>
              <a:rPr lang="en-US" sz="2200" dirty="0"/>
              <a:t>, </a:t>
            </a:r>
            <a:r>
              <a:rPr lang="en-US" sz="2200" b="1" dirty="0">
                <a:solidFill>
                  <a:schemeClr val="accent6"/>
                </a:solidFill>
              </a:rPr>
              <a:t>.NET</a:t>
            </a:r>
            <a:r>
              <a:rPr lang="en-US" sz="2200" dirty="0"/>
              <a:t>, </a:t>
            </a:r>
            <a:r>
              <a:rPr lang="en-US" sz="2200" b="1" dirty="0">
                <a:solidFill>
                  <a:schemeClr val="accent6"/>
                </a:solidFill>
              </a:rPr>
              <a:t>PHP</a:t>
            </a:r>
            <a:r>
              <a:rPr lang="en-US" sz="2200" dirty="0"/>
              <a:t>, </a:t>
            </a:r>
            <a:r>
              <a:rPr lang="en-US" sz="2200" b="1" dirty="0">
                <a:solidFill>
                  <a:schemeClr val="accent6"/>
                </a:solidFill>
              </a:rPr>
              <a:t>Python</a:t>
            </a:r>
            <a:r>
              <a:rPr lang="en-US" sz="2200" dirty="0"/>
              <a:t>, etc.</a:t>
            </a:r>
            <a:endParaRPr lang="en-US" sz="2200" b="1" dirty="0">
              <a:solidFill>
                <a:schemeClr val="accent6"/>
              </a:solidFill>
            </a:endParaRP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Examples</a:t>
            </a:r>
            <a:r>
              <a:rPr lang="en-US" sz="2200" dirty="0"/>
              <a:t>: Software developers, Web developers</a:t>
            </a:r>
          </a:p>
          <a:p>
            <a:r>
              <a:rPr lang="en-US" b="1" dirty="0"/>
              <a:t>Sophisticated Users</a:t>
            </a:r>
          </a:p>
          <a:p>
            <a:pPr lvl="1"/>
            <a:r>
              <a:rPr lang="en-US" sz="2200" dirty="0"/>
              <a:t>Sophisticated users are users who </a:t>
            </a:r>
            <a:r>
              <a:rPr lang="en-US" sz="2200" b="1" dirty="0">
                <a:solidFill>
                  <a:schemeClr val="accent6"/>
                </a:solidFill>
              </a:rPr>
              <a:t>directly interact with the database system</a:t>
            </a:r>
            <a:r>
              <a:rPr lang="en-US" sz="2200" dirty="0">
                <a:solidFill>
                  <a:schemeClr val="accent6"/>
                </a:solidFill>
              </a:rPr>
              <a:t> </a:t>
            </a:r>
            <a:r>
              <a:rPr lang="en-US" sz="2200" dirty="0"/>
              <a:t>without using application programs.</a:t>
            </a:r>
            <a:endParaRPr lang="en-US" sz="2200" b="1" dirty="0">
              <a:solidFill>
                <a:schemeClr val="accent6"/>
              </a:solidFill>
            </a:endParaRPr>
          </a:p>
          <a:p>
            <a:pPr lvl="1"/>
            <a:r>
              <a:rPr lang="en-US" sz="2200" dirty="0"/>
              <a:t>They have good knowledge of DBMS and SQL</a:t>
            </a:r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Examples</a:t>
            </a:r>
            <a:r>
              <a:rPr lang="en-US" sz="2200" dirty="0"/>
              <a:t>: Data Analysts, Engineers, Scientists</a:t>
            </a:r>
          </a:p>
        </p:txBody>
      </p:sp>
    </p:spTree>
    <p:extLst>
      <p:ext uri="{BB962C8B-B14F-4D97-AF65-F5344CB8AC3E}">
        <p14:creationId xmlns:p14="http://schemas.microsoft.com/office/powerpoint/2010/main" val="208446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92FD-B3C8-A01C-755F-1B7E0A2C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2AB3-683A-4D37-E820-45CCDFAC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85205-0259-7F26-7143-5E8441DD9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/>
              <a:t>Specialized Users </a:t>
            </a:r>
            <a:r>
              <a:rPr lang="en-US" dirty="0"/>
              <a:t>(</a:t>
            </a:r>
            <a:r>
              <a:rPr lang="en-US" b="1" dirty="0"/>
              <a:t>DBA </a:t>
            </a:r>
            <a:r>
              <a:rPr lang="en-IN" dirty="0"/>
              <a:t>– </a:t>
            </a:r>
            <a:r>
              <a:rPr lang="en-IN" b="1" dirty="0"/>
              <a:t>D</a:t>
            </a:r>
            <a:r>
              <a:rPr lang="en-IN" dirty="0"/>
              <a:t>atabase </a:t>
            </a:r>
            <a:r>
              <a:rPr lang="en-IN" b="1" dirty="0"/>
              <a:t>A</a:t>
            </a:r>
            <a:r>
              <a:rPr lang="en-IN" dirty="0"/>
              <a:t>dministrator</a:t>
            </a:r>
            <a:r>
              <a:rPr lang="en-US" dirty="0"/>
              <a:t>)</a:t>
            </a:r>
          </a:p>
          <a:p>
            <a:pPr lvl="1"/>
            <a:r>
              <a:rPr lang="en-US" sz="2400" dirty="0"/>
              <a:t>Specialized users develop and manage </a:t>
            </a:r>
            <a:r>
              <a:rPr lang="en-US" sz="2400" b="1" dirty="0">
                <a:solidFill>
                  <a:schemeClr val="accent6"/>
                </a:solidFill>
              </a:rPr>
              <a:t>special-purpose database applications</a:t>
            </a:r>
            <a:r>
              <a:rPr 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/>
              <a:t>and maintain the database system.</a:t>
            </a:r>
          </a:p>
          <a:p>
            <a:pPr lvl="1"/>
            <a:r>
              <a:rPr lang="en-US" sz="2400" dirty="0"/>
              <a:t>They use </a:t>
            </a:r>
            <a:r>
              <a:rPr lang="en-US" sz="2400" b="1" dirty="0">
                <a:solidFill>
                  <a:schemeClr val="accent6"/>
                </a:solidFill>
              </a:rPr>
              <a:t>administration</a:t>
            </a:r>
            <a:r>
              <a:rPr lang="en-US" sz="2400" b="1" dirty="0"/>
              <a:t> </a:t>
            </a:r>
            <a:r>
              <a:rPr lang="en-US" sz="2400" dirty="0"/>
              <a:t>and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accent6"/>
                </a:solidFill>
              </a:rPr>
              <a:t>monitoring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chemeClr val="accent6"/>
                </a:solidFill>
              </a:rPr>
              <a:t>tools</a:t>
            </a:r>
            <a:r>
              <a:rPr lang="en-US" sz="2400" dirty="0"/>
              <a:t>.</a:t>
            </a:r>
            <a:endParaRPr lang="en-US" sz="2200" dirty="0"/>
          </a:p>
          <a:p>
            <a:pPr lvl="1"/>
            <a:r>
              <a:rPr lang="en-US" sz="2200" b="1" dirty="0">
                <a:solidFill>
                  <a:schemeClr val="accent6"/>
                </a:solidFill>
              </a:rPr>
              <a:t>Example</a:t>
            </a:r>
            <a:r>
              <a:rPr lang="en-US" sz="2200" dirty="0"/>
              <a:t>: Database Administrator</a:t>
            </a:r>
          </a:p>
        </p:txBody>
      </p:sp>
    </p:spTree>
    <p:extLst>
      <p:ext uri="{BB962C8B-B14F-4D97-AF65-F5344CB8AC3E}">
        <p14:creationId xmlns:p14="http://schemas.microsoft.com/office/powerpoint/2010/main" val="101261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16A3-E163-BD02-3D7F-C1979D92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96A3E-5F69-E772-FF23-3F9BED2A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183"/>
            <a:ext cx="10515600" cy="2852737"/>
          </a:xfrm>
        </p:spPr>
        <p:txBody>
          <a:bodyPr/>
          <a:lstStyle/>
          <a:p>
            <a:r>
              <a:rPr lang="en-US" dirty="0"/>
              <a:t>DA (Data Administrator) and</a:t>
            </a:r>
            <a:br>
              <a:rPr lang="en-US" dirty="0"/>
            </a:br>
            <a:r>
              <a:rPr lang="en-US" dirty="0"/>
              <a:t>DBA (Database Administrator)</a:t>
            </a:r>
          </a:p>
        </p:txBody>
      </p:sp>
    </p:spTree>
    <p:extLst>
      <p:ext uri="{BB962C8B-B14F-4D97-AF65-F5344CB8AC3E}">
        <p14:creationId xmlns:p14="http://schemas.microsoft.com/office/powerpoint/2010/main" val="3840183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 (Data Administrator) and DBA (Database Administrator)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/>
              <a:t>DA</a:t>
            </a:r>
            <a:r>
              <a:rPr lang="en-GB" dirty="0"/>
              <a:t> (Data Administrator)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The </a:t>
            </a:r>
            <a:r>
              <a:rPr lang="en-GB" sz="2200" dirty="0">
                <a:latin typeface="Roboto Condensed (Body)"/>
              </a:rPr>
              <a:t>data administrator</a:t>
            </a: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 is a person in the organization who </a:t>
            </a:r>
            <a:r>
              <a:rPr lang="en-US" sz="2200" b="1" dirty="0">
                <a:solidFill>
                  <a:schemeClr val="accent6"/>
                </a:solidFill>
                <a:latin typeface="Roboto Condensed (Body)"/>
                <a:ea typeface="Times New Roman" pitchFamily="18" charset="0"/>
                <a:cs typeface="Times New Roman" pitchFamily="18" charset="0"/>
              </a:rPr>
              <a:t>controls</a:t>
            </a: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 the </a:t>
            </a:r>
            <a:r>
              <a:rPr lang="en-US" sz="2200" b="1" dirty="0">
                <a:solidFill>
                  <a:schemeClr val="accent6"/>
                </a:solidFill>
                <a:latin typeface="Roboto Condensed (Body)"/>
                <a:ea typeface="Times New Roman" pitchFamily="18" charset="0"/>
                <a:cs typeface="Times New Roman" pitchFamily="18" charset="0"/>
              </a:rPr>
              <a:t>data</a:t>
            </a: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 of </a:t>
            </a:r>
            <a:r>
              <a:rPr lang="en-US" sz="2200" b="1" dirty="0">
                <a:solidFill>
                  <a:schemeClr val="accent6"/>
                </a:solidFill>
                <a:latin typeface="Roboto Condensed (Body)"/>
                <a:ea typeface="Times New Roman" pitchFamily="18" charset="0"/>
                <a:cs typeface="Times New Roman" pitchFamily="18" charset="0"/>
              </a:rPr>
              <a:t>the database</a:t>
            </a: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.</a:t>
            </a:r>
            <a:endParaRPr lang="en-GB" sz="2200" dirty="0">
              <a:latin typeface="Roboto Condensed (Body)"/>
            </a:endParaRPr>
          </a:p>
          <a:p>
            <a:pPr>
              <a:lnSpc>
                <a:spcPct val="100000"/>
              </a:lnSpc>
            </a:pPr>
            <a:r>
              <a:rPr lang="en-GB" b="1" dirty="0"/>
              <a:t>DBA</a:t>
            </a:r>
            <a:r>
              <a:rPr lang="en-GB" dirty="0"/>
              <a:t> (Database Administrator)</a:t>
            </a:r>
          </a:p>
          <a:p>
            <a:pPr lvl="1">
              <a:lnSpc>
                <a:spcPct val="100000"/>
              </a:lnSpc>
            </a:pP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The </a:t>
            </a:r>
            <a:r>
              <a:rPr lang="en-GB" sz="2200" dirty="0">
                <a:latin typeface="Roboto Condensed (Body)"/>
              </a:rPr>
              <a:t>database administrator </a:t>
            </a: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is a person in the organization who </a:t>
            </a:r>
            <a:r>
              <a:rPr lang="en-US" sz="2200" b="1" dirty="0">
                <a:solidFill>
                  <a:schemeClr val="accent6"/>
                </a:solidFill>
                <a:latin typeface="Roboto Condensed (Body)"/>
                <a:ea typeface="Times New Roman" pitchFamily="18" charset="0"/>
                <a:cs typeface="Times New Roman" pitchFamily="18" charset="0"/>
              </a:rPr>
              <a:t>controls</a:t>
            </a:r>
            <a:r>
              <a:rPr lang="en-US" sz="2200" dirty="0">
                <a:latin typeface="Roboto Condensed (Body)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Roboto Condensed (Body)"/>
              </a:rPr>
              <a:t>the </a:t>
            </a:r>
            <a:r>
              <a:rPr lang="en-US" sz="2200" b="1" dirty="0">
                <a:solidFill>
                  <a:schemeClr val="accent6"/>
                </a:solidFill>
                <a:latin typeface="Roboto Condensed (Body)"/>
              </a:rPr>
              <a:t>database system </a:t>
            </a:r>
            <a:r>
              <a:rPr lang="en-US" sz="2200" dirty="0">
                <a:latin typeface="Roboto Condensed (Body)"/>
              </a:rPr>
              <a:t>and </a:t>
            </a:r>
            <a:r>
              <a:rPr lang="en-US" sz="2200" b="1" dirty="0">
                <a:solidFill>
                  <a:schemeClr val="accent6"/>
                </a:solidFill>
                <a:latin typeface="Roboto Condensed (Body)"/>
              </a:rPr>
              <a:t>DBMS software</a:t>
            </a:r>
            <a:r>
              <a:rPr lang="en-US" sz="2200" dirty="0">
                <a:latin typeface="Roboto Condensed (Body)"/>
              </a:rPr>
              <a:t>.</a:t>
            </a:r>
            <a:endParaRPr lang="en-GB" sz="2200" dirty="0">
              <a:latin typeface="Roboto Condensed (Body)"/>
            </a:endParaRPr>
          </a:p>
        </p:txBody>
      </p:sp>
    </p:spTree>
    <p:extLst>
      <p:ext uri="{BB962C8B-B14F-4D97-AF65-F5344CB8AC3E}">
        <p14:creationId xmlns:p14="http://schemas.microsoft.com/office/powerpoint/2010/main" val="92820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 Vs DBA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C38D64-FAA6-D073-53EC-3A0C62BE7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07366"/>
              </p:ext>
            </p:extLst>
          </p:nvPr>
        </p:nvGraphicFramePr>
        <p:xfrm>
          <a:off x="254375" y="748525"/>
          <a:ext cx="9904551" cy="5791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98159">
                  <a:extLst>
                    <a:ext uri="{9D8B030D-6E8A-4147-A177-3AD203B41FA5}">
                      <a16:colId xmlns:a16="http://schemas.microsoft.com/office/drawing/2014/main" val="3828327794"/>
                    </a:ext>
                  </a:extLst>
                </a:gridCol>
                <a:gridCol w="3816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9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5EFAF7-B331-F937-AA9A-032A2966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476711"/>
              </p:ext>
            </p:extLst>
          </p:nvPr>
        </p:nvGraphicFramePr>
        <p:xfrm>
          <a:off x="248453" y="3423335"/>
          <a:ext cx="9904550" cy="1005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081">
                  <a:extLst>
                    <a:ext uri="{9D8B030D-6E8A-4147-A177-3AD203B41FA5}">
                      <a16:colId xmlns:a16="http://schemas.microsoft.com/office/drawing/2014/main" val="110840607"/>
                    </a:ext>
                  </a:extLst>
                </a:gridCol>
                <a:gridCol w="381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2000" dirty="0"/>
                        <a:t>Responsibilities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Involves more in the requirements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gathering, analysis of data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Involved more in the design, development, testing and operational phases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502905-A58D-A09F-9C4E-24BCC2B43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274144"/>
              </p:ext>
            </p:extLst>
          </p:nvPr>
        </p:nvGraphicFramePr>
        <p:xfrm>
          <a:off x="248453" y="4429175"/>
          <a:ext cx="9904552" cy="43641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081">
                  <a:extLst>
                    <a:ext uri="{9D8B030D-6E8A-4147-A177-3AD203B41FA5}">
                      <a16:colId xmlns:a16="http://schemas.microsoft.com/office/drawing/2014/main" val="2578408889"/>
                    </a:ext>
                  </a:extLst>
                </a:gridCol>
                <a:gridCol w="38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Interaction with DBMS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Roboto Condensed (Body)"/>
                        </a:rPr>
                        <a:t>DBMS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Independent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Roboto Condensed (Body)"/>
                        </a:rPr>
                        <a:t>DBMS </a:t>
                      </a: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dependent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2EA25A-61F8-98DC-C21C-853EFA169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883763"/>
              </p:ext>
            </p:extLst>
          </p:nvPr>
        </p:nvGraphicFramePr>
        <p:xfrm>
          <a:off x="248453" y="1841846"/>
          <a:ext cx="9916393" cy="1005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081">
                  <a:extLst>
                    <a:ext uri="{9D8B030D-6E8A-4147-A177-3AD203B41FA5}">
                      <a16:colId xmlns:a16="http://schemas.microsoft.com/office/drawing/2014/main" val="555593106"/>
                    </a:ext>
                  </a:extLst>
                </a:gridCol>
                <a:gridCol w="3813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IN" sz="2000" dirty="0"/>
                        <a:t>Role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Person in the organization who controls the data of the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Person in the organization who controls the database system and DBMS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966955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56FBBA2-2C50-5473-D269-49EC08E7B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08682"/>
              </p:ext>
            </p:extLst>
          </p:nvPr>
        </p:nvGraphicFramePr>
        <p:xfrm>
          <a:off x="254375" y="1326066"/>
          <a:ext cx="9904551" cy="51058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98159">
                  <a:extLst>
                    <a:ext uri="{9D8B030D-6E8A-4147-A177-3AD203B41FA5}">
                      <a16:colId xmlns:a16="http://schemas.microsoft.com/office/drawing/2014/main" val="3910683972"/>
                    </a:ext>
                  </a:extLst>
                </a:gridCol>
                <a:gridCol w="3816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baseline="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Abbreviation 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DA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 –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  <a:latin typeface="Roboto Condensed (Body)"/>
                        </a:rPr>
                        <a:t>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ata </a:t>
                      </a:r>
                      <a:r>
                        <a:rPr lang="en-US" sz="2000" b="1" dirty="0">
                          <a:solidFill>
                            <a:schemeClr val="accent6"/>
                          </a:solidFill>
                          <a:latin typeface="Roboto Condensed (Body)"/>
                        </a:rPr>
                        <a:t>A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dministrator</a:t>
                      </a:r>
                      <a:endParaRPr lang="en-US" sz="2000" b="0" kern="1200" baseline="0" dirty="0">
                        <a:solidFill>
                          <a:schemeClr val="tx1"/>
                        </a:solidFill>
                        <a:latin typeface="Roboto Condensed (Body)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DBA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 –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ata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b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ase </a:t>
                      </a:r>
                      <a:r>
                        <a:rPr lang="en-US" sz="2000" b="1" kern="1200" dirty="0">
                          <a:solidFill>
                            <a:schemeClr val="accent6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A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dministrator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4A9AFB-0336-F1BD-9845-63E82C8A3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550907"/>
              </p:ext>
            </p:extLst>
          </p:nvPr>
        </p:nvGraphicFramePr>
        <p:xfrm>
          <a:off x="248453" y="2848920"/>
          <a:ext cx="9904550" cy="58040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081">
                  <a:extLst>
                    <a:ext uri="{9D8B030D-6E8A-4147-A177-3AD203B41FA5}">
                      <a16:colId xmlns:a16="http://schemas.microsoft.com/office/drawing/2014/main" val="1325141967"/>
                    </a:ext>
                  </a:extLst>
                </a:gridCol>
                <a:gridCol w="381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Business focused person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Roboto Condensed (Body)"/>
                          <a:ea typeface="+mn-ea"/>
                          <a:cs typeface="+mn-cs"/>
                        </a:rPr>
                        <a:t>Technically focused person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CB498E-0B77-9B0C-85B9-3F0798044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04745"/>
              </p:ext>
            </p:extLst>
          </p:nvPr>
        </p:nvGraphicFramePr>
        <p:xfrm>
          <a:off x="248451" y="4865594"/>
          <a:ext cx="9904552" cy="7010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081">
                  <a:extLst>
                    <a:ext uri="{9D8B030D-6E8A-4147-A177-3AD203B41FA5}">
                      <a16:colId xmlns:a16="http://schemas.microsoft.com/office/drawing/2014/main" val="2578408889"/>
                    </a:ext>
                  </a:extLst>
                </a:gridCol>
                <a:gridCol w="38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User Management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Defines who should access what data</a:t>
                      </a:r>
                      <a:endParaRPr lang="en-US" sz="2000" b="0" dirty="0">
                        <a:solidFill>
                          <a:schemeClr val="accent6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Creates users and grants permissions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02E269-CF19-8C76-984C-50AEBBE69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0545"/>
              </p:ext>
            </p:extLst>
          </p:nvPr>
        </p:nvGraphicFramePr>
        <p:xfrm>
          <a:off x="248451" y="5563270"/>
          <a:ext cx="9904552" cy="1005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04081">
                  <a:extLst>
                    <a:ext uri="{9D8B030D-6E8A-4147-A177-3AD203B41FA5}">
                      <a16:colId xmlns:a16="http://schemas.microsoft.com/office/drawing/2014/main" val="2578408889"/>
                    </a:ext>
                  </a:extLst>
                </a:gridCol>
                <a:gridCol w="38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4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/>
                        <a:t>Tools Used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Data modeling tools, documentation tools, etc.</a:t>
                      </a:r>
                      <a:endParaRPr lang="en-US" sz="2000" b="0" dirty="0">
                        <a:solidFill>
                          <a:schemeClr val="accent6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/>
                        <a:t>DBMS tools like SQL Server Management Studio, Oracle tools, etc.</a:t>
                      </a:r>
                      <a:endParaRPr lang="en-IN" sz="2000" b="0" dirty="0">
                        <a:solidFill>
                          <a:schemeClr val="accent6"/>
                        </a:solidFill>
                        <a:latin typeface="Roboto Condensed (Body)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35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7AB4-1864-CFC4-CC4C-1C1DAC41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5CCC-A2B2-919E-E5E9-BE17FAC3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7183"/>
            <a:ext cx="10515600" cy="2852737"/>
          </a:xfrm>
        </p:spPr>
        <p:txBody>
          <a:bodyPr/>
          <a:lstStyle/>
          <a:p>
            <a:r>
              <a:rPr lang="en-US" dirty="0"/>
              <a:t>Functions and Responsibilities of DBA (Database Administrator)</a:t>
            </a:r>
          </a:p>
        </p:txBody>
      </p:sp>
    </p:spTree>
    <p:extLst>
      <p:ext uri="{BB962C8B-B14F-4D97-AF65-F5344CB8AC3E}">
        <p14:creationId xmlns:p14="http://schemas.microsoft.com/office/powerpoint/2010/main" val="35201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and Responsibilities of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359" y="711201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/>
              <a:t>Schema Definition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defines the logical schema </a:t>
            </a:r>
            <a:r>
              <a:rPr lang="en-GB" sz="2200" dirty="0"/>
              <a:t>of the database. </a:t>
            </a:r>
          </a:p>
          <a:p>
            <a:pPr>
              <a:lnSpc>
                <a:spcPct val="100000"/>
              </a:lnSpc>
            </a:pPr>
            <a:r>
              <a:rPr lang="en-GB" b="1" dirty="0"/>
              <a:t>Storage Structure and Access Method Definition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decides how the data is to be represented </a:t>
            </a:r>
            <a:r>
              <a:rPr lang="en-GB" sz="2200" dirty="0"/>
              <a:t>in the database &amp; how to access it.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Defining Security and Integrity Constraints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decides on various security and integrity constraints</a:t>
            </a:r>
            <a:r>
              <a:rPr lang="en-GB" sz="2200" dirty="0"/>
              <a:t>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Granting of Authorization for Data Access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determines which user needs access to which part </a:t>
            </a:r>
            <a:r>
              <a:rPr lang="en-GB" sz="2200" dirty="0"/>
              <a:t>of the database.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Assisting Application Programmer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provides assistance to application programmers </a:t>
            </a:r>
            <a:r>
              <a:rPr lang="en-GB" sz="2200" dirty="0"/>
              <a:t>to develop application programs.</a:t>
            </a:r>
          </a:p>
          <a:p>
            <a:pPr>
              <a:lnSpc>
                <a:spcPct val="100000"/>
              </a:lnSpc>
            </a:pPr>
            <a:r>
              <a:rPr lang="en-GB" b="1" dirty="0"/>
              <a:t>Monitoring Performance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ensures that better performance is maintained </a:t>
            </a:r>
            <a:r>
              <a:rPr lang="en-GB" sz="2200" dirty="0"/>
              <a:t>by making a change in the physical or logical schema if required.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57731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and Responsibilities </a:t>
            </a:r>
            <a:r>
              <a:rPr lang="en-US" dirty="0"/>
              <a:t>of DBA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/>
              <a:t>Backup and Recovery</a:t>
            </a:r>
          </a:p>
          <a:p>
            <a:pPr lvl="1">
              <a:lnSpc>
                <a:spcPct val="100000"/>
              </a:lnSpc>
            </a:pPr>
            <a:r>
              <a:rPr lang="en-GB" sz="2200" dirty="0"/>
              <a:t>DBA </a:t>
            </a:r>
            <a:r>
              <a:rPr lang="en-GB" sz="2200" b="1" dirty="0">
                <a:solidFill>
                  <a:schemeClr val="accent6"/>
                </a:solidFill>
              </a:rPr>
              <a:t>backing up the database </a:t>
            </a:r>
            <a:r>
              <a:rPr lang="en-GB" sz="2200" dirty="0"/>
              <a:t>on some storage devices such as DVD, CD or magnetic tape or remote servers and  </a:t>
            </a:r>
            <a:r>
              <a:rPr lang="en-GB" sz="2200" b="1" dirty="0">
                <a:solidFill>
                  <a:schemeClr val="accent6"/>
                </a:solidFill>
              </a:rPr>
              <a:t>recover the system in case of failures</a:t>
            </a:r>
            <a:r>
              <a:rPr lang="en-GB" sz="2200" dirty="0"/>
              <a:t>, such as flood or virus attack from this backup.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15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D5D0-E521-6340-6687-947FE36B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ACE5E-EAB8-21A4-82D4-E768DC03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4976"/>
            <a:ext cx="10515600" cy="2852737"/>
          </a:xfrm>
        </p:spPr>
        <p:txBody>
          <a:bodyPr/>
          <a:lstStyle/>
          <a:p>
            <a:r>
              <a:rPr lang="en-US" dirty="0"/>
              <a:t>Three level ANSI SPARC</a:t>
            </a:r>
            <a:br>
              <a:rPr lang="en-US" dirty="0"/>
            </a:br>
            <a:r>
              <a:rPr lang="en-US" dirty="0"/>
              <a:t>Database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95093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41B68-C5D2-125B-60D7-8FD6C10E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B893-81DC-9D5A-B4BF-945915DC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Levels ANSI SPARC Database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3F8F-525A-0FBC-A137-65C184906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IN" dirty="0"/>
              <a:t>Three Level </a:t>
            </a:r>
            <a:r>
              <a:rPr lang="en-US" b="1" dirty="0">
                <a:solidFill>
                  <a:schemeClr val="accent6"/>
                </a:solidFill>
              </a:rPr>
              <a:t>ANSI - SPARC </a:t>
            </a:r>
            <a:r>
              <a:rPr lang="en-US" dirty="0"/>
              <a:t>(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dirty="0"/>
              <a:t>merican </a:t>
            </a:r>
            <a:r>
              <a:rPr lang="en-US" b="1" dirty="0">
                <a:solidFill>
                  <a:schemeClr val="accent6"/>
                </a:solidFill>
              </a:rPr>
              <a:t>N</a:t>
            </a:r>
            <a:r>
              <a:rPr lang="en-US" dirty="0"/>
              <a:t>ational </a:t>
            </a:r>
            <a:r>
              <a:rPr lang="en-US" b="1" dirty="0">
                <a:solidFill>
                  <a:schemeClr val="accent6"/>
                </a:solidFill>
              </a:rPr>
              <a:t>S</a:t>
            </a:r>
            <a:r>
              <a:rPr lang="en-US" dirty="0"/>
              <a:t>tandards </a:t>
            </a:r>
            <a:r>
              <a:rPr lang="en-US" b="1" dirty="0">
                <a:solidFill>
                  <a:schemeClr val="accent6"/>
                </a:solidFill>
              </a:rPr>
              <a:t>I</a:t>
            </a:r>
            <a:r>
              <a:rPr lang="en-US" dirty="0"/>
              <a:t>nstitute - </a:t>
            </a:r>
            <a:r>
              <a:rPr lang="en-US" b="1" dirty="0">
                <a:solidFill>
                  <a:schemeClr val="accent6"/>
                </a:solidFill>
              </a:rPr>
              <a:t>S</a:t>
            </a:r>
            <a:r>
              <a:rPr lang="en-US" dirty="0"/>
              <a:t>tandards </a:t>
            </a:r>
            <a:r>
              <a:rPr lang="en-US" b="1" dirty="0">
                <a:solidFill>
                  <a:schemeClr val="accent6"/>
                </a:solidFill>
              </a:rPr>
              <a:t>P</a:t>
            </a:r>
            <a:r>
              <a:rPr lang="en-US" dirty="0"/>
              <a:t>lanning 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US" dirty="0"/>
              <a:t>nd </a:t>
            </a:r>
            <a:r>
              <a:rPr lang="en-US" b="1" dirty="0">
                <a:solidFill>
                  <a:schemeClr val="accent6"/>
                </a:solidFill>
              </a:rPr>
              <a:t>R</a:t>
            </a:r>
            <a:r>
              <a:rPr lang="en-US" dirty="0"/>
              <a:t>equirements </a:t>
            </a:r>
            <a:r>
              <a:rPr lang="en-US" b="1" dirty="0">
                <a:solidFill>
                  <a:schemeClr val="accent6"/>
                </a:solidFill>
              </a:rPr>
              <a:t>C</a:t>
            </a:r>
            <a:r>
              <a:rPr lang="en-US" dirty="0"/>
              <a:t>ommittee) </a:t>
            </a:r>
            <a:r>
              <a:rPr lang="en-IN" dirty="0"/>
              <a:t>database architecture </a:t>
            </a:r>
            <a:r>
              <a:rPr lang="en-US" dirty="0"/>
              <a:t>divides a database system into three levels to achieve </a:t>
            </a:r>
            <a:r>
              <a:rPr lang="en-US" b="1" dirty="0">
                <a:solidFill>
                  <a:schemeClr val="accent6"/>
                </a:solidFill>
              </a:rPr>
              <a:t>data abstraction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data independence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/>
                </a:solidFill>
              </a:rPr>
              <a:t>security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500" dirty="0"/>
          </a:p>
          <a:p>
            <a:pPr marL="1001712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External Level (External View)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Conceptual Level (Logical View)</a:t>
            </a:r>
          </a:p>
          <a:p>
            <a:pPr marL="1001712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Internal Level (Physical View)</a:t>
            </a:r>
          </a:p>
        </p:txBody>
      </p:sp>
    </p:spTree>
    <p:extLst>
      <p:ext uri="{BB962C8B-B14F-4D97-AF65-F5344CB8AC3E}">
        <p14:creationId xmlns:p14="http://schemas.microsoft.com/office/powerpoint/2010/main" val="378671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753E-10C7-82C7-9D47-01A0676F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EA1220-3503-A500-3C11-EC605FA67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 Levels ANSI SPARC Database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17EF4-33C9-CC82-C76A-6540F7EBDB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06" y="5546035"/>
            <a:ext cx="869159" cy="759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2B31A3-ABA8-ECF8-E55B-BE60127DD109}"/>
              </a:ext>
            </a:extLst>
          </p:cNvPr>
          <p:cNvSpPr txBox="1"/>
          <p:nvPr/>
        </p:nvSpPr>
        <p:spPr>
          <a:xfrm>
            <a:off x="5861636" y="6234981"/>
            <a:ext cx="1232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Roboto Condensed (Body)"/>
              </a:rPr>
              <a:t>DATABASE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A7671006-BF18-5952-2423-F0B81AE7C2A4}"/>
              </a:ext>
            </a:extLst>
          </p:cNvPr>
          <p:cNvSpPr/>
          <p:nvPr/>
        </p:nvSpPr>
        <p:spPr>
          <a:xfrm>
            <a:off x="4778682" y="4262026"/>
            <a:ext cx="3441630" cy="759905"/>
          </a:xfrm>
          <a:prstGeom prst="roundRect">
            <a:avLst/>
          </a:prstGeom>
          <a:solidFill>
            <a:srgbClr val="8CC346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Roboto Condensed (Body)"/>
              </a:rPr>
              <a:t>INTERNAL LEVEL</a:t>
            </a:r>
          </a:p>
          <a:p>
            <a:pPr algn="ctr"/>
            <a:r>
              <a:rPr lang="en-US" sz="2400" b="1" dirty="0">
                <a:latin typeface="Roboto Condensed (Body)"/>
              </a:rPr>
              <a:t>(PHYSICAL VIEW)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35B295-8F84-DF91-E1AA-E0D4AB221FBF}"/>
              </a:ext>
            </a:extLst>
          </p:cNvPr>
          <p:cNvCxnSpPr/>
          <p:nvPr/>
        </p:nvCxnSpPr>
        <p:spPr>
          <a:xfrm>
            <a:off x="6454803" y="4991227"/>
            <a:ext cx="0" cy="554808"/>
          </a:xfrm>
          <a:prstGeom prst="straightConnector1">
            <a:avLst/>
          </a:prstGeom>
          <a:ln w="28575">
            <a:solidFill>
              <a:srgbClr val="387D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CB553582-87A2-5215-819B-51B3866441E6}"/>
              </a:ext>
            </a:extLst>
          </p:cNvPr>
          <p:cNvSpPr/>
          <p:nvPr/>
        </p:nvSpPr>
        <p:spPr>
          <a:xfrm>
            <a:off x="4279152" y="3002205"/>
            <a:ext cx="4397233" cy="812097"/>
          </a:xfrm>
          <a:prstGeom prst="roundRect">
            <a:avLst/>
          </a:prstGeom>
          <a:solidFill>
            <a:srgbClr val="CDDC39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Roboto Condensed (Body)"/>
              </a:rPr>
              <a:t>CONCEPTUAL LEVEL</a:t>
            </a:r>
          </a:p>
          <a:p>
            <a:pPr algn="ctr"/>
            <a:r>
              <a:rPr lang="en-US" sz="2400" b="1" dirty="0">
                <a:latin typeface="Roboto Condensed (Body)"/>
              </a:rPr>
              <a:t>(LOGICAL VIEW)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70F125-BA0A-15F2-0F42-706FA604C90A}"/>
              </a:ext>
            </a:extLst>
          </p:cNvPr>
          <p:cNvCxnSpPr/>
          <p:nvPr/>
        </p:nvCxnSpPr>
        <p:spPr>
          <a:xfrm>
            <a:off x="6454803" y="3814302"/>
            <a:ext cx="0" cy="417020"/>
          </a:xfrm>
          <a:prstGeom prst="straightConnector1">
            <a:avLst/>
          </a:prstGeom>
          <a:ln w="28575">
            <a:solidFill>
              <a:srgbClr val="387D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208837-BFE8-5279-4E2C-215228B094FF}"/>
              </a:ext>
            </a:extLst>
          </p:cNvPr>
          <p:cNvCxnSpPr/>
          <p:nvPr/>
        </p:nvCxnSpPr>
        <p:spPr>
          <a:xfrm>
            <a:off x="4347651" y="2611891"/>
            <a:ext cx="4253280" cy="12438"/>
          </a:xfrm>
          <a:prstGeom prst="line">
            <a:avLst/>
          </a:prstGeom>
          <a:ln w="28575">
            <a:solidFill>
              <a:srgbClr val="387D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72E7BD-2291-455F-CC6E-F45AEEFEDA6B}"/>
              </a:ext>
            </a:extLst>
          </p:cNvPr>
          <p:cNvCxnSpPr/>
          <p:nvPr/>
        </p:nvCxnSpPr>
        <p:spPr>
          <a:xfrm>
            <a:off x="6473250" y="2630592"/>
            <a:ext cx="0" cy="371613"/>
          </a:xfrm>
          <a:prstGeom prst="straightConnector1">
            <a:avLst/>
          </a:prstGeom>
          <a:ln w="28575">
            <a:solidFill>
              <a:srgbClr val="387D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D9BD55-E906-8A50-291C-F1ACAF6A20FB}"/>
              </a:ext>
            </a:extLst>
          </p:cNvPr>
          <p:cNvCxnSpPr/>
          <p:nvPr/>
        </p:nvCxnSpPr>
        <p:spPr>
          <a:xfrm>
            <a:off x="4347651" y="2168959"/>
            <a:ext cx="0" cy="450937"/>
          </a:xfrm>
          <a:prstGeom prst="line">
            <a:avLst/>
          </a:prstGeom>
          <a:ln w="28575">
            <a:solidFill>
              <a:srgbClr val="387D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CC2C9D-3A1D-C059-3FB1-7E13B6B9F62B}"/>
              </a:ext>
            </a:extLst>
          </p:cNvPr>
          <p:cNvCxnSpPr/>
          <p:nvPr/>
        </p:nvCxnSpPr>
        <p:spPr>
          <a:xfrm>
            <a:off x="8593974" y="2162696"/>
            <a:ext cx="0" cy="463463"/>
          </a:xfrm>
          <a:prstGeom prst="line">
            <a:avLst/>
          </a:prstGeom>
          <a:ln w="28575">
            <a:solidFill>
              <a:srgbClr val="387D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F5B50B-2AFB-3FCD-4660-762DF915EA73}"/>
              </a:ext>
            </a:extLst>
          </p:cNvPr>
          <p:cNvCxnSpPr/>
          <p:nvPr/>
        </p:nvCxnSpPr>
        <p:spPr>
          <a:xfrm flipH="1">
            <a:off x="6472355" y="2150170"/>
            <a:ext cx="1" cy="463463"/>
          </a:xfrm>
          <a:prstGeom prst="line">
            <a:avLst/>
          </a:prstGeom>
          <a:ln w="28575">
            <a:solidFill>
              <a:srgbClr val="387D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789613-4D2D-144B-67D9-C0093D0DE642}"/>
              </a:ext>
            </a:extLst>
          </p:cNvPr>
          <p:cNvGrpSpPr/>
          <p:nvPr/>
        </p:nvGrpSpPr>
        <p:grpSpPr>
          <a:xfrm>
            <a:off x="2102862" y="838520"/>
            <a:ext cx="8793271" cy="1566603"/>
            <a:chOff x="1240077" y="857182"/>
            <a:chExt cx="8793271" cy="1566603"/>
          </a:xfrm>
        </p:grpSpPr>
        <p:sp>
          <p:nvSpPr>
            <p:cNvPr id="18" name="Round Single Corner Rectangle 12">
              <a:extLst>
                <a:ext uri="{FF2B5EF4-FFF2-40B4-BE49-F238E27FC236}">
                  <a16:creationId xmlns:a16="http://schemas.microsoft.com/office/drawing/2014/main" id="{A72D9E8A-C3EC-670D-487E-8BEB8B845F1A}"/>
                </a:ext>
              </a:extLst>
            </p:cNvPr>
            <p:cNvSpPr/>
            <p:nvPr/>
          </p:nvSpPr>
          <p:spPr>
            <a:xfrm>
              <a:off x="1240077" y="857182"/>
              <a:ext cx="8793271" cy="1566603"/>
            </a:xfrm>
            <a:prstGeom prst="round1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Roboto Condensed (Body)"/>
                </a:rPr>
                <a:t>EXTERNAL LEVEL (EXTERNAL VIEW)</a:t>
              </a:r>
            </a:p>
          </p:txBody>
        </p:sp>
        <p:sp>
          <p:nvSpPr>
            <p:cNvPr id="19" name="Rounded Rectangle 13">
              <a:extLst>
                <a:ext uri="{FF2B5EF4-FFF2-40B4-BE49-F238E27FC236}">
                  <a16:creationId xmlns:a16="http://schemas.microsoft.com/office/drawing/2014/main" id="{5BC6A195-41DE-FD66-4B1B-8449DC03F5E4}"/>
                </a:ext>
              </a:extLst>
            </p:cNvPr>
            <p:cNvSpPr/>
            <p:nvPr/>
          </p:nvSpPr>
          <p:spPr>
            <a:xfrm>
              <a:off x="1706879" y="1305464"/>
              <a:ext cx="2351315" cy="861075"/>
            </a:xfrm>
            <a:prstGeom prst="roundRect">
              <a:avLst/>
            </a:prstGeom>
            <a:solidFill>
              <a:srgbClr val="FEC107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    VIEW 1</a:t>
              </a:r>
            </a:p>
          </p:txBody>
        </p:sp>
        <p:sp>
          <p:nvSpPr>
            <p:cNvPr id="20" name="Rounded Rectangle 14">
              <a:extLst>
                <a:ext uri="{FF2B5EF4-FFF2-40B4-BE49-F238E27FC236}">
                  <a16:creationId xmlns:a16="http://schemas.microsoft.com/office/drawing/2014/main" id="{E36FF63C-1F37-E78F-A715-5DFBCC2BBDA6}"/>
                </a:ext>
              </a:extLst>
            </p:cNvPr>
            <p:cNvSpPr/>
            <p:nvPr/>
          </p:nvSpPr>
          <p:spPr>
            <a:xfrm>
              <a:off x="4608734" y="1305464"/>
              <a:ext cx="2351315" cy="861075"/>
            </a:xfrm>
            <a:prstGeom prst="roundRect">
              <a:avLst/>
            </a:prstGeom>
            <a:solidFill>
              <a:srgbClr val="FF980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 VIEW 2</a:t>
              </a:r>
            </a:p>
          </p:txBody>
        </p:sp>
        <p:sp>
          <p:nvSpPr>
            <p:cNvPr id="21" name="Rounded Rectangle 15">
              <a:extLst>
                <a:ext uri="{FF2B5EF4-FFF2-40B4-BE49-F238E27FC236}">
                  <a16:creationId xmlns:a16="http://schemas.microsoft.com/office/drawing/2014/main" id="{2B8E64EA-287B-03F2-0FDA-63883811579B}"/>
                </a:ext>
              </a:extLst>
            </p:cNvPr>
            <p:cNvSpPr/>
            <p:nvPr/>
          </p:nvSpPr>
          <p:spPr>
            <a:xfrm>
              <a:off x="7510589" y="1305464"/>
              <a:ext cx="2351315" cy="861075"/>
            </a:xfrm>
            <a:prstGeom prst="roundRect">
              <a:avLst/>
            </a:prstGeom>
            <a:solidFill>
              <a:srgbClr val="FE5722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Roboto Condensed (Body)"/>
                </a:rPr>
                <a:t>VIEW 3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380D87E-75D1-DCE8-BF3E-B1F36A204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4168" y="1425199"/>
              <a:ext cx="564342" cy="58407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88892FE-9F08-6CAD-AE2F-82A10AC18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0007" y="1381578"/>
              <a:ext cx="713984" cy="713984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154310DD-9FAC-4B28-BE90-1C06B95013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673" y="1403566"/>
            <a:ext cx="1155255" cy="6398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5CB532A-B798-E045-7887-D9A2E9037D98}"/>
              </a:ext>
            </a:extLst>
          </p:cNvPr>
          <p:cNvSpPr/>
          <p:nvPr/>
        </p:nvSpPr>
        <p:spPr>
          <a:xfrm>
            <a:off x="1984117" y="4368198"/>
            <a:ext cx="27520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Roboto Condensed (Body)"/>
              </a:rPr>
              <a:t>How</a:t>
            </a:r>
            <a:r>
              <a:rPr lang="en-IN" b="1" dirty="0">
                <a:latin typeface="Roboto Condensed (Body)"/>
              </a:rPr>
              <a:t> </a:t>
            </a:r>
            <a:r>
              <a:rPr lang="en-IN" dirty="0">
                <a:latin typeface="Roboto Condensed (Body)"/>
              </a:rPr>
              <a:t>the data are actually stored on storage devices?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D3C026-7F25-4953-76A0-FA8AFF9EFB66}"/>
              </a:ext>
            </a:extLst>
          </p:cNvPr>
          <p:cNvSpPr/>
          <p:nvPr/>
        </p:nvSpPr>
        <p:spPr>
          <a:xfrm>
            <a:off x="1615400" y="3121754"/>
            <a:ext cx="2538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Roboto Condensed (Body)"/>
              </a:rPr>
              <a:t>What</a:t>
            </a:r>
            <a:r>
              <a:rPr lang="en-IN" b="1" dirty="0">
                <a:latin typeface="Roboto Condensed (Body)"/>
              </a:rPr>
              <a:t> </a:t>
            </a:r>
            <a:r>
              <a:rPr lang="en-IN" dirty="0">
                <a:latin typeface="Roboto Condensed (Body)"/>
              </a:rPr>
              <a:t>data are stored and </a:t>
            </a:r>
          </a:p>
          <a:p>
            <a:r>
              <a:rPr lang="en-IN" b="1" dirty="0">
                <a:solidFill>
                  <a:schemeClr val="accent6"/>
                </a:solidFill>
                <a:latin typeface="Roboto Condensed (Body)"/>
              </a:rPr>
              <a:t>What</a:t>
            </a:r>
            <a:r>
              <a:rPr lang="en-IN" dirty="0">
                <a:solidFill>
                  <a:schemeClr val="accent6"/>
                </a:solidFill>
                <a:latin typeface="Roboto Condensed (Body)"/>
              </a:rPr>
              <a:t> </a:t>
            </a:r>
            <a:r>
              <a:rPr lang="en-IN" dirty="0">
                <a:latin typeface="Roboto Condensed (Body)"/>
              </a:rPr>
              <a:t>relationships exist?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71A1CE-A07A-C4A6-51CE-76BB80CECCC8}"/>
              </a:ext>
            </a:extLst>
          </p:cNvPr>
          <p:cNvSpPr/>
          <p:nvPr/>
        </p:nvSpPr>
        <p:spPr>
          <a:xfrm>
            <a:off x="-2751" y="1375408"/>
            <a:ext cx="21056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Roboto Condensed (Body)"/>
              </a:rPr>
              <a:t>How</a:t>
            </a:r>
            <a:r>
              <a:rPr lang="en-IN" b="1" dirty="0">
                <a:latin typeface="Roboto Condensed (Body)"/>
              </a:rPr>
              <a:t> </a:t>
            </a:r>
            <a:r>
              <a:rPr lang="en-IN" dirty="0">
                <a:latin typeface="Roboto Condensed (Body)"/>
              </a:rPr>
              <a:t>data are viewed by each users?</a:t>
            </a:r>
          </a:p>
        </p:txBody>
      </p:sp>
    </p:spTree>
    <p:extLst>
      <p:ext uri="{BB962C8B-B14F-4D97-AF65-F5344CB8AC3E}">
        <p14:creationId xmlns:p14="http://schemas.microsoft.com/office/powerpoint/2010/main" val="139491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 animBg="1"/>
      <p:bldP spid="25" grpId="0"/>
      <p:bldP spid="26" grpId="0"/>
      <p:bldP spid="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Levels ANSI SPARC Database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US" b="1" dirty="0"/>
              <a:t>Internal level </a:t>
            </a:r>
            <a:r>
              <a:rPr lang="en-US" dirty="0"/>
              <a:t>(Physical level) </a:t>
            </a:r>
          </a:p>
          <a:p>
            <a:pPr lvl="1"/>
            <a:r>
              <a:rPr lang="en-US" dirty="0"/>
              <a:t>It describes </a:t>
            </a:r>
            <a:r>
              <a:rPr lang="en-US" b="1" dirty="0">
                <a:solidFill>
                  <a:schemeClr val="accent6"/>
                </a:solidFill>
              </a:rPr>
              <a:t>how a data is stored </a:t>
            </a:r>
            <a:r>
              <a:rPr lang="en-US" dirty="0"/>
              <a:t>on the storage device.</a:t>
            </a:r>
          </a:p>
          <a:p>
            <a:pPr lvl="1"/>
            <a:r>
              <a:rPr lang="en-US" dirty="0"/>
              <a:t>Deals with physical storage of data.</a:t>
            </a:r>
          </a:p>
          <a:p>
            <a:pPr lvl="2"/>
            <a:r>
              <a:rPr lang="en-US" dirty="0"/>
              <a:t>Structure of records on disk - files, pages, blocks and indexes and ordering of records</a:t>
            </a:r>
          </a:p>
          <a:p>
            <a:pPr lvl="1"/>
            <a:r>
              <a:rPr lang="en-US" dirty="0"/>
              <a:t>Internal view is described by the internal schema.</a:t>
            </a:r>
          </a:p>
          <a:p>
            <a:r>
              <a:rPr lang="en-US" b="1" dirty="0"/>
              <a:t>Conceptual level </a:t>
            </a:r>
            <a:r>
              <a:rPr lang="en-US" dirty="0"/>
              <a:t>(Logical level) 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What data are stored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6"/>
                </a:solidFill>
              </a:rPr>
              <a:t> what relationships exist </a:t>
            </a:r>
            <a:r>
              <a:rPr lang="en-US" dirty="0"/>
              <a:t>among those data? </a:t>
            </a:r>
          </a:p>
          <a:p>
            <a:pPr lvl="1"/>
            <a:r>
              <a:rPr lang="en-US" dirty="0"/>
              <a:t>It hides low level complexities of physical storage.</a:t>
            </a:r>
          </a:p>
          <a:p>
            <a:pPr lvl="1"/>
            <a:r>
              <a:rPr lang="en-US" dirty="0"/>
              <a:t>For Example, STUDENT database may contain STUDENT and COURSE tables which will be visible to users but users are unaware about their storage.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Database administrator </a:t>
            </a:r>
            <a:r>
              <a:rPr lang="en-US" dirty="0"/>
              <a:t>works at this level to determine what data to keep in the database.</a:t>
            </a:r>
          </a:p>
          <a:p>
            <a:r>
              <a:rPr lang="en-US" b="1" dirty="0"/>
              <a:t>External level </a:t>
            </a:r>
            <a:r>
              <a:rPr lang="en-US" dirty="0"/>
              <a:t>(View level) </a:t>
            </a:r>
          </a:p>
          <a:p>
            <a:pPr lvl="1"/>
            <a:r>
              <a:rPr lang="en-US" dirty="0"/>
              <a:t>It describes only part of the entire database that an end user concern or </a:t>
            </a:r>
            <a:r>
              <a:rPr lang="en-US" b="1" dirty="0">
                <a:solidFill>
                  <a:schemeClr val="accent6"/>
                </a:solidFill>
              </a:rPr>
              <a:t>how data are viewed </a:t>
            </a:r>
            <a:r>
              <a:rPr lang="en-US" dirty="0"/>
              <a:t>by each user.</a:t>
            </a:r>
          </a:p>
          <a:p>
            <a:pPr lvl="1"/>
            <a:r>
              <a:rPr lang="en-US" dirty="0"/>
              <a:t>Different user needs different views of the database, so there can be many views in a view level abstraction of the database. Used by end users and application programmers.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End users </a:t>
            </a:r>
            <a:r>
              <a:rPr lang="en-US" dirty="0"/>
              <a:t>need to access only part of the database rather than the entire database.</a:t>
            </a:r>
          </a:p>
        </p:txBody>
      </p:sp>
    </p:spTree>
    <p:extLst>
      <p:ext uri="{BB962C8B-B14F-4D97-AF65-F5344CB8AC3E}">
        <p14:creationId xmlns:p14="http://schemas.microsoft.com/office/powerpoint/2010/main" val="270173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9D9B-141C-6867-6D4C-FD6B9841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B216-CBAD-584B-8C66-EE2152D2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3 Levels ANSI SPARC Database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309B-1907-DD7B-11E5-F3279B57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3444"/>
            <a:ext cx="11929641" cy="5590565"/>
          </a:xfrm>
        </p:spPr>
        <p:txBody>
          <a:bodyPr/>
          <a:lstStyle/>
          <a:p>
            <a:r>
              <a:rPr lang="en-IN" b="1" dirty="0"/>
              <a:t>Data independence</a:t>
            </a:r>
          </a:p>
          <a:p>
            <a:pPr lvl="1"/>
            <a:r>
              <a:rPr lang="en-US" dirty="0"/>
              <a:t>Changes to one user's view do not affect other users' views.</a:t>
            </a:r>
          </a:p>
          <a:p>
            <a:r>
              <a:rPr lang="en-US" b="1" dirty="0"/>
              <a:t>Flexibility</a:t>
            </a:r>
          </a:p>
          <a:p>
            <a:pPr lvl="1"/>
            <a:r>
              <a:rPr lang="en-US" dirty="0"/>
              <a:t>Allows changes at any level without </a:t>
            </a:r>
            <a:r>
              <a:rPr lang="en-IN" dirty="0"/>
              <a:t>affecting</a:t>
            </a:r>
            <a:r>
              <a:rPr lang="en-US" dirty="0"/>
              <a:t> other levels. </a:t>
            </a:r>
          </a:p>
          <a:p>
            <a:r>
              <a:rPr lang="en-IN" b="1" dirty="0"/>
              <a:t>Hides Complexity</a:t>
            </a:r>
            <a:endParaRPr lang="en-US" b="1" dirty="0"/>
          </a:p>
          <a:p>
            <a:pPr lvl="1"/>
            <a:r>
              <a:rPr lang="en-US" dirty="0"/>
              <a:t>Abstracts low-level details of data storage and organization.</a:t>
            </a:r>
          </a:p>
          <a:p>
            <a:r>
              <a:rPr lang="en-IN" b="1" dirty="0"/>
              <a:t>Enhanced Security</a:t>
            </a:r>
            <a:endParaRPr lang="en-US" dirty="0"/>
          </a:p>
          <a:p>
            <a:pPr lvl="1"/>
            <a:r>
              <a:rPr lang="en-US" dirty="0"/>
              <a:t>Limits data access to each user's view, keeping sensitive data safe.</a:t>
            </a:r>
          </a:p>
          <a:p>
            <a:r>
              <a:rPr lang="en-IN" b="1" dirty="0"/>
              <a:t>Storage independence</a:t>
            </a:r>
            <a:endParaRPr lang="en-US" b="1" dirty="0"/>
          </a:p>
          <a:p>
            <a:pPr lvl="1"/>
            <a:r>
              <a:rPr lang="en-US" dirty="0"/>
              <a:t>The internal structure of the database is not affected by changes to the physical storage.</a:t>
            </a:r>
          </a:p>
          <a:p>
            <a:r>
              <a:rPr lang="en-IN" b="1" dirty="0"/>
              <a:t>Easy Database Management</a:t>
            </a:r>
            <a:endParaRPr lang="en-US" b="1" dirty="0"/>
          </a:p>
          <a:p>
            <a:pPr lvl="1"/>
            <a:r>
              <a:rPr lang="en-US" dirty="0"/>
              <a:t>Database administrators (DBAs) can change the database structure without affecting users.</a:t>
            </a:r>
          </a:p>
        </p:txBody>
      </p:sp>
    </p:spTree>
    <p:extLst>
      <p:ext uri="{BB962C8B-B14F-4D97-AF65-F5344CB8AC3E}">
        <p14:creationId xmlns:p14="http://schemas.microsoft.com/office/powerpoint/2010/main" val="368531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en-US" dirty="0"/>
              <a:t>Define the following terms: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	Data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	Information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	Database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	DBMS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	Metadata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	Data Dictionary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</a:tabLst>
            </a:pPr>
            <a:r>
              <a:rPr lang="en-US" dirty="0"/>
              <a:t>Data Warehouse</a:t>
            </a:r>
          </a:p>
          <a:p>
            <a:pPr marL="1235075" indent="-514350" defTabSz="249238">
              <a:buClr>
                <a:schemeClr val="accent6"/>
              </a:buClr>
              <a:buFont typeface="+mj-lt"/>
              <a:buAutoNum type="romanLcPeriod"/>
              <a:tabLst>
                <a:tab pos="1081088" algn="l"/>
                <a:tab pos="1258888" algn="l"/>
                <a:tab pos="1343025" algn="l"/>
              </a:tabLst>
            </a:pPr>
            <a:r>
              <a:rPr lang="en-US" dirty="0"/>
              <a:t>Field, Record, File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2"/>
            </a:pPr>
            <a:r>
              <a:rPr lang="en-US" dirty="0"/>
              <a:t>Data VS Information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2"/>
            </a:pPr>
            <a:r>
              <a:rPr lang="en-US" dirty="0"/>
              <a:t>List out applications of database management system.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2"/>
            </a:pPr>
            <a:r>
              <a:rPr lang="en-US" dirty="0"/>
              <a:t>List out and explain advantages of database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415921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188C-2CC5-61DD-472C-AB9D65D7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35F7-27A1-78A6-9B9A-0610D9E8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Frequently asked questions in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63355-E4F4-8CE5-00C7-066E16BCD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chemeClr val="accent6"/>
              </a:buClr>
              <a:buFont typeface="+mj-lt"/>
              <a:buAutoNum type="arabicPeriod" startAt="5"/>
            </a:pPr>
            <a:r>
              <a:rPr lang="en-US" dirty="0"/>
              <a:t>List out and explain different types of database users.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5"/>
            </a:pPr>
            <a:r>
              <a:rPr lang="en-US" dirty="0"/>
              <a:t>Compare DA Vs DBA.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5"/>
            </a:pPr>
            <a:r>
              <a:rPr lang="en-US" dirty="0"/>
              <a:t>List and explain different tasks/roles/functions/duties of DBA.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5"/>
            </a:pPr>
            <a:r>
              <a:rPr lang="en-US" dirty="0"/>
              <a:t>Explain three level ANSI SPARC database architecture with suitable diagram.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 startAt="5"/>
            </a:pPr>
            <a:r>
              <a:rPr lang="en-US" dirty="0"/>
              <a:t>List out advantages of 3 Levels ANSI SPARC Database Architecture.</a:t>
            </a:r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  <a:p>
            <a:pPr marL="457200" indent="-457200">
              <a:buFont typeface="+mj-lt"/>
              <a:buAutoNum type="arabicPeriod" startAt="5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96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37677" y="5582493"/>
            <a:ext cx="3825704" cy="26520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>
                <a:latin typeface="Roboto Condensed(Body)"/>
              </a:rPr>
              <a:t>Prof. </a:t>
            </a:r>
            <a:r>
              <a:rPr lang="en-US" dirty="0"/>
              <a:t>Hemang R Chath</a:t>
            </a:r>
            <a:endParaRPr lang="en-IN" dirty="0">
              <a:latin typeface="Roboto Condensed(Body)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D4F84-0571-BC3D-45EF-738514259C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</a:t>
            </a:r>
            <a:r>
              <a:rPr dirty="0">
                <a:latin typeface="Roboto Condensed(Body)"/>
              </a:rPr>
              <a:t>2304CS204</a:t>
            </a:r>
            <a:endParaRPr lang="en-US" dirty="0">
              <a:latin typeface="Roboto Condensed(Body)"/>
            </a:endParaRP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492668EA-FB19-5FCA-2AFB-BDB76F2B1F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11093</TotalTime>
  <Words>2607</Words>
  <Application>Microsoft Office PowerPoint</Application>
  <PresentationFormat>Widescreen</PresentationFormat>
  <Paragraphs>553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Roboto Condensed (Body)</vt:lpstr>
      <vt:lpstr>Wingdings 2</vt:lpstr>
      <vt:lpstr>Roboto Condensed</vt:lpstr>
      <vt:lpstr>Roboto Condensed Light</vt:lpstr>
      <vt:lpstr>Wingdings 3</vt:lpstr>
      <vt:lpstr>Calibri</vt:lpstr>
      <vt:lpstr>Arial</vt:lpstr>
      <vt:lpstr>Roboto Condensed,Bold</vt:lpstr>
      <vt:lpstr>Roboto Condensed(Body)</vt:lpstr>
      <vt:lpstr>Wingdings</vt:lpstr>
      <vt:lpstr>Office Theme</vt:lpstr>
      <vt:lpstr>Unit-1  Introduction to Database System</vt:lpstr>
      <vt:lpstr>PowerPoint Presentation</vt:lpstr>
      <vt:lpstr>Introduction to DBMS</vt:lpstr>
      <vt:lpstr>What is Database Management System (DBMS)?</vt:lpstr>
      <vt:lpstr>Applications of DBMS</vt:lpstr>
      <vt:lpstr>Applications of DBMS</vt:lpstr>
      <vt:lpstr>Advantages of DBMS</vt:lpstr>
      <vt:lpstr>Reduce Data Redundancy (Duplication)</vt:lpstr>
      <vt:lpstr>Remove Data Inconsistency</vt:lpstr>
      <vt:lpstr>Guaranteed Atomicity</vt:lpstr>
      <vt:lpstr>Allow to Implement Integrity Constraints</vt:lpstr>
      <vt:lpstr>Sharing of Data Among Multiple Users</vt:lpstr>
      <vt:lpstr>Restricting Unauthorized Access to Data</vt:lpstr>
      <vt:lpstr>Providing Backup and Recovery Services</vt:lpstr>
      <vt:lpstr>Advantages of DBMS (Summary)</vt:lpstr>
      <vt:lpstr>Advantages of DBMS (Summary)</vt:lpstr>
      <vt:lpstr>Basic Terms of DBMS</vt:lpstr>
      <vt:lpstr>Basic terms of DBMS</vt:lpstr>
      <vt:lpstr>Data v/s Information</vt:lpstr>
      <vt:lpstr>Basic terms of DBMS (cont…)</vt:lpstr>
      <vt:lpstr>Basic terms of DBMS (cont…)</vt:lpstr>
      <vt:lpstr>Basic terms of DBMS (cont…)</vt:lpstr>
      <vt:lpstr>Basic terms of DBMS (cont…)</vt:lpstr>
      <vt:lpstr>Types of Database Users</vt:lpstr>
      <vt:lpstr>Types of Database Users</vt:lpstr>
      <vt:lpstr>Types of Database Users</vt:lpstr>
      <vt:lpstr>DA (Data Administrator) and DBA (Database Administrator)</vt:lpstr>
      <vt:lpstr>DA (Data Administrator) and DBA (Database Administrator)</vt:lpstr>
      <vt:lpstr>DA Vs DBA</vt:lpstr>
      <vt:lpstr>Functions and Responsibilities of DBA (Database Administrator)</vt:lpstr>
      <vt:lpstr>Functions and Responsibilities of DBA</vt:lpstr>
      <vt:lpstr>Functions and Responsibilities of DBA</vt:lpstr>
      <vt:lpstr>Three level ANSI SPARC Database Architecture</vt:lpstr>
      <vt:lpstr>3 Levels ANSI SPARC Database Architecture</vt:lpstr>
      <vt:lpstr>3 Levels ANSI SPARC Database Architecture</vt:lpstr>
      <vt:lpstr>3 Levels ANSI SPARC Database Architecture</vt:lpstr>
      <vt:lpstr>Advantages of 3 Levels ANSI SPARC Database Architecture</vt:lpstr>
      <vt:lpstr>Frequently asked questions in Exam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Hemang Chath</cp:lastModifiedBy>
  <cp:revision>379</cp:revision>
  <dcterms:created xsi:type="dcterms:W3CDTF">2020-05-01T05:09:15Z</dcterms:created>
  <dcterms:modified xsi:type="dcterms:W3CDTF">2026-02-01T17:11:41Z</dcterms:modified>
</cp:coreProperties>
</file>