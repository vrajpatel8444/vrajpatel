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6"/>
  </p:notesMasterIdLst>
  <p:sldIdLst>
    <p:sldId id="283" r:id="rId2"/>
    <p:sldId id="512" r:id="rId3"/>
    <p:sldId id="352" r:id="rId4"/>
    <p:sldId id="729" r:id="rId5"/>
    <p:sldId id="728" r:id="rId6"/>
    <p:sldId id="730" r:id="rId7"/>
    <p:sldId id="726" r:id="rId8"/>
    <p:sldId id="703" r:id="rId9"/>
    <p:sldId id="731" r:id="rId10"/>
    <p:sldId id="732" r:id="rId11"/>
    <p:sldId id="705" r:id="rId12"/>
    <p:sldId id="733" r:id="rId13"/>
    <p:sldId id="758" r:id="rId14"/>
    <p:sldId id="734" r:id="rId15"/>
    <p:sldId id="739" r:id="rId16"/>
    <p:sldId id="743" r:id="rId17"/>
    <p:sldId id="735" r:id="rId18"/>
    <p:sldId id="742" r:id="rId19"/>
    <p:sldId id="744" r:id="rId20"/>
    <p:sldId id="740" r:id="rId21"/>
    <p:sldId id="788" r:id="rId22"/>
    <p:sldId id="789" r:id="rId23"/>
    <p:sldId id="747" r:id="rId24"/>
    <p:sldId id="748" r:id="rId25"/>
    <p:sldId id="749" r:id="rId26"/>
    <p:sldId id="759" r:id="rId27"/>
    <p:sldId id="750" r:id="rId28"/>
    <p:sldId id="751" r:id="rId29"/>
    <p:sldId id="753" r:id="rId30"/>
    <p:sldId id="752" r:id="rId31"/>
    <p:sldId id="776" r:id="rId32"/>
    <p:sldId id="791" r:id="rId33"/>
    <p:sldId id="757" r:id="rId34"/>
    <p:sldId id="760" r:id="rId35"/>
    <p:sldId id="761" r:id="rId36"/>
    <p:sldId id="762" r:id="rId37"/>
    <p:sldId id="763" r:id="rId38"/>
    <p:sldId id="764" r:id="rId39"/>
    <p:sldId id="765" r:id="rId40"/>
    <p:sldId id="766" r:id="rId41"/>
    <p:sldId id="779" r:id="rId42"/>
    <p:sldId id="767" r:id="rId43"/>
    <p:sldId id="771" r:id="rId44"/>
    <p:sldId id="768" r:id="rId45"/>
    <p:sldId id="769" r:id="rId46"/>
    <p:sldId id="770" r:id="rId47"/>
    <p:sldId id="772" r:id="rId48"/>
    <p:sldId id="773" r:id="rId49"/>
    <p:sldId id="774" r:id="rId50"/>
    <p:sldId id="775" r:id="rId51"/>
    <p:sldId id="780" r:id="rId52"/>
    <p:sldId id="781" r:id="rId53"/>
    <p:sldId id="783" r:id="rId54"/>
    <p:sldId id="784" r:id="rId55"/>
    <p:sldId id="785" r:id="rId56"/>
    <p:sldId id="786" r:id="rId57"/>
    <p:sldId id="787" r:id="rId58"/>
    <p:sldId id="792" r:id="rId59"/>
    <p:sldId id="793" r:id="rId60"/>
    <p:sldId id="794" r:id="rId61"/>
    <p:sldId id="795" r:id="rId62"/>
    <p:sldId id="697" r:id="rId63"/>
    <p:sldId id="724" r:id="rId64"/>
    <p:sldId id="284" r:id="rId65"/>
  </p:sldIdLst>
  <p:sldSz cx="12192000" cy="6858000"/>
  <p:notesSz cx="6858000" cy="9144000"/>
  <p:embeddedFontLst>
    <p:embeddedFont>
      <p:font typeface="Calibri" panose="020F0502020204030204" pitchFamily="34" charset="0"/>
      <p:regular r:id="rId67"/>
      <p:bold r:id="rId68"/>
      <p:italic r:id="rId69"/>
      <p:boldItalic r:id="rId70"/>
    </p:embeddedFont>
    <p:embeddedFont>
      <p:font typeface="Segoe UI Black" panose="020B0A02040204020203" pitchFamily="34" charset="0"/>
      <p:bold r:id="rId71"/>
      <p:boldItalic r:id="rId72"/>
    </p:embeddedFont>
    <p:embeddedFont>
      <p:font typeface="Roboto Condensed Light" panose="02000000000000000000" pitchFamily="2" charset="0"/>
      <p:regular r:id="rId73"/>
      <p:italic r:id="rId74"/>
    </p:embeddedFont>
    <p:embeddedFont>
      <p:font typeface="Wingdings 3" panose="05040102010807070707" pitchFamily="18" charset="2"/>
      <p:regular r:id="rId75"/>
    </p:embeddedFont>
    <p:embeddedFont>
      <p:font typeface="Wingdings 2" panose="05020102010507070707" pitchFamily="18" charset="2"/>
      <p:regular r:id="rId76"/>
    </p:embeddedFont>
    <p:embeddedFont>
      <p:font typeface="Roboto Condensed" panose="02000000000000000000" pitchFamily="2" charset="0"/>
      <p:regular r:id="rId77"/>
      <p:bold r:id="rId78"/>
      <p:italic r:id="rId79"/>
      <p:boldItalic r:id="rId8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hKsUnokIKl5JgLpzMOjeoA==" hashData="gSbrngFSMFCberqTV6KWdcHE7gMHi+NS+XBQrpYoShyxP1T7Di3/M24K9jeuM86zPFdBTOfQ4r1QomFuOP5vHw=="/>
  <p:extLst>
    <p:ext uri="{521415D9-36F7-43E2-AB2F-B90AF26B5E84}">
      <p14:sectionLst xmlns:p14="http://schemas.microsoft.com/office/powerpoint/2010/main">
        <p14:section name="Default Section" id="{1390711D-F853-48E3-A520-8D024CB230CB}">
          <p14:sldIdLst>
            <p14:sldId id="283"/>
            <p14:sldId id="512"/>
            <p14:sldId id="352"/>
            <p14:sldId id="729"/>
            <p14:sldId id="728"/>
            <p14:sldId id="730"/>
            <p14:sldId id="726"/>
            <p14:sldId id="703"/>
            <p14:sldId id="731"/>
            <p14:sldId id="732"/>
            <p14:sldId id="705"/>
            <p14:sldId id="733"/>
            <p14:sldId id="758"/>
            <p14:sldId id="734"/>
            <p14:sldId id="739"/>
            <p14:sldId id="743"/>
            <p14:sldId id="735"/>
            <p14:sldId id="742"/>
            <p14:sldId id="744"/>
            <p14:sldId id="740"/>
            <p14:sldId id="788"/>
            <p14:sldId id="789"/>
            <p14:sldId id="747"/>
            <p14:sldId id="748"/>
            <p14:sldId id="749"/>
            <p14:sldId id="759"/>
            <p14:sldId id="750"/>
            <p14:sldId id="751"/>
            <p14:sldId id="753"/>
            <p14:sldId id="752"/>
            <p14:sldId id="776"/>
            <p14:sldId id="791"/>
            <p14:sldId id="757"/>
            <p14:sldId id="760"/>
            <p14:sldId id="761"/>
            <p14:sldId id="762"/>
            <p14:sldId id="763"/>
            <p14:sldId id="764"/>
            <p14:sldId id="765"/>
            <p14:sldId id="766"/>
            <p14:sldId id="779"/>
            <p14:sldId id="767"/>
            <p14:sldId id="771"/>
            <p14:sldId id="768"/>
            <p14:sldId id="769"/>
            <p14:sldId id="770"/>
            <p14:sldId id="772"/>
            <p14:sldId id="773"/>
            <p14:sldId id="774"/>
            <p14:sldId id="775"/>
            <p14:sldId id="780"/>
            <p14:sldId id="781"/>
            <p14:sldId id="783"/>
            <p14:sldId id="784"/>
            <p14:sldId id="785"/>
            <p14:sldId id="786"/>
            <p14:sldId id="787"/>
            <p14:sldId id="792"/>
            <p14:sldId id="793"/>
            <p14:sldId id="794"/>
            <p14:sldId id="795"/>
            <p14:sldId id="697"/>
            <p14:sldId id="724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B71B1C"/>
    <a:srgbClr val="C62827"/>
    <a:srgbClr val="301B92"/>
    <a:srgbClr val="673BB7"/>
    <a:srgbClr val="607D8B"/>
    <a:srgbClr val="ED524F"/>
    <a:srgbClr val="F54337"/>
    <a:srgbClr val="D81A60"/>
    <a:srgbClr val="890E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99" autoAdjust="0"/>
    <p:restoredTop sz="94660"/>
  </p:normalViewPr>
  <p:slideViewPr>
    <p:cSldViewPr snapToGrid="0">
      <p:cViewPr varScale="1">
        <p:scale>
          <a:sx n="83" d="100"/>
          <a:sy n="83" d="100"/>
        </p:scale>
        <p:origin x="34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2.fntdata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8.fntdata"/><Relationship Id="rId79" Type="http://schemas.openxmlformats.org/officeDocument/2006/relationships/font" Target="fonts/font13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3.fntdata"/><Relationship Id="rId77" Type="http://schemas.openxmlformats.org/officeDocument/2006/relationships/font" Target="fonts/font11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6.fntdata"/><Relationship Id="rId80" Type="http://schemas.openxmlformats.org/officeDocument/2006/relationships/font" Target="fonts/font1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4.fntdata"/><Relationship Id="rId75" Type="http://schemas.openxmlformats.org/officeDocument/2006/relationships/font" Target="fonts/font9.fntdata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7.fntdata"/><Relationship Id="rId78" Type="http://schemas.openxmlformats.org/officeDocument/2006/relationships/font" Target="fonts/font12.fntdata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0.fntdata"/><Relationship Id="rId7" Type="http://schemas.openxmlformats.org/officeDocument/2006/relationships/slide" Target="slides/slide6.xml"/><Relationship Id="rId71" Type="http://schemas.openxmlformats.org/officeDocument/2006/relationships/font" Target="fonts/font5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9.jpe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10" Type="http://schemas.openxmlformats.org/officeDocument/2006/relationships/image" Target="../media/image15.png"/><Relationship Id="rId4" Type="http://schemas.openxmlformats.org/officeDocument/2006/relationships/image" Target="../media/image4.png"/><Relationship Id="rId9" Type="http://schemas.openxmlformats.org/officeDocument/2006/relationships/image" Target="../media/image9.jpe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16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7.png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image" Target="../media/image5.png"/><Relationship Id="rId10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Umesh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H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Thoriya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#2304CS205 (OS)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Memory Management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13118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285419" y="983643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Umesh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H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Thoriya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543711"/>
            <a:ext cx="4498910" cy="4039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2304CS205 (OS)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Memory Management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Umesh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H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Thoriya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2304CS205 (OS)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Memory Management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227019" y="5869049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Hemang R. Chath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#2304CS205 (OS)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Process Management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191CF5-3D57-422B-B2EB-FF235E30DB22}"/>
              </a:ext>
            </a:extLst>
          </p:cNvPr>
          <p:cNvGrpSpPr/>
          <p:nvPr userDrawn="1"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3602D2-CAF0-4790-95E8-87990761ED0C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C60ED7-12D4-496E-AF73-0995BE8C12FD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4" descr="https://cdn5.vectorstock.com/i/1000x1000/21/59/dbms-database-management-system-computer-data-vector-8212159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4" t="9689" r="5315" b="18089"/>
          <a:stretch/>
        </p:blipFill>
        <p:spPr bwMode="auto">
          <a:xfrm>
            <a:off x="8407803" y="2089594"/>
            <a:ext cx="2880000" cy="2678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5" name="Picture 4" descr="https://cdn5.vectorstock.com/i/1000x1000/21/59/dbms-database-management-system-computer-data-vector-8212159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4" t="9689" r="5315" b="18089"/>
          <a:stretch/>
        </p:blipFill>
        <p:spPr bwMode="auto">
          <a:xfrm>
            <a:off x="8453395" y="1794986"/>
            <a:ext cx="2880000" cy="2678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28737" y="307556"/>
            <a:ext cx="270809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C09A94-F153-8F2D-41CA-BCD1F183E99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2509" y="1539743"/>
            <a:ext cx="3080554" cy="2831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608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solidFill>
            <a:srgbClr val="4B302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0" name="Hexagon 29">
            <a:extLst>
              <a:ext uri="{FF2B5EF4-FFF2-40B4-BE49-F238E27FC236}">
                <a16:creationId xmlns:a16="http://schemas.microsoft.com/office/drawing/2014/main" id="{1BB32699-4C62-4BBF-9A17-90008E297198}"/>
              </a:ext>
            </a:extLst>
          </p:cNvPr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4B302A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2C58FA9-71EA-487D-8A75-915EC6877722}"/>
              </a:ext>
            </a:extLst>
          </p:cNvPr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4B302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7A77512-C96D-4B1D-861C-3369397D6121}"/>
              </a:ext>
            </a:extLst>
          </p:cNvPr>
          <p:cNvSpPr/>
          <p:nvPr userDrawn="1"/>
        </p:nvSpPr>
        <p:spPr>
          <a:xfrm flipH="1">
            <a:off x="7678346" y="2221532"/>
            <a:ext cx="4513654" cy="1951692"/>
          </a:xfrm>
          <a:prstGeom prst="rect">
            <a:avLst/>
          </a:prstGeom>
          <a:solidFill>
            <a:srgbClr val="4B302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342F5D-5C3A-4D09-B74D-32BF20197BBC}"/>
              </a:ext>
            </a:extLst>
          </p:cNvPr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1" name="Freeform 13">
            <a:extLst>
              <a:ext uri="{FF2B5EF4-FFF2-40B4-BE49-F238E27FC236}">
                <a16:creationId xmlns:a16="http://schemas.microsoft.com/office/drawing/2014/main" id="{7DBD9FF3-DB58-439A-9C3F-981DC0699B89}"/>
              </a:ext>
            </a:extLst>
          </p:cNvPr>
          <p:cNvSpPr>
            <a:spLocks/>
          </p:cNvSpPr>
          <p:nvPr userDrawn="1"/>
        </p:nvSpPr>
        <p:spPr bwMode="auto">
          <a:xfrm>
            <a:off x="2736224" y="-2949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solidFill>
            <a:srgbClr val="4B302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655B1926-C5B6-4865-B639-303A5A9FEE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63466" y="1743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93477C7-FE49-4FB9-9AE0-0169DC1D0A63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26880" y="58321"/>
            <a:ext cx="2801872" cy="119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907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  <p:sldLayoutId id="2147483692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jpe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89" y="1122364"/>
            <a:ext cx="8024674" cy="257878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4800" b="0" dirty="0"/>
              <a:t>Unit-4 </a:t>
            </a:r>
            <a:br>
              <a:rPr lang="en-US" sz="4800" b="0" dirty="0"/>
            </a:br>
            <a:r>
              <a:rPr lang="en-IN" sz="5500" dirty="0"/>
              <a:t>Memory Management </a:t>
            </a:r>
            <a:endParaRPr lang="en-US" sz="55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u</a:t>
            </a:r>
            <a:r>
              <a:rPr lang="en-US" dirty="0" smtClean="0"/>
              <a:t>mesh.thoriya@darshan.ac.in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smtClean="0"/>
              <a:t>9714233355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9A7BEC-5E94-41D6-95AB-3D2BFB0D5E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1400" dirty="0"/>
              <a:t>Computer Science &amp; Engineering Department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BE85B2E-33FC-6B45-7B2E-92B4F7EF49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b="1" dirty="0"/>
              <a:t>Operating</a:t>
            </a:r>
            <a:r>
              <a:rPr lang="en-US" b="1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b="1" dirty="0"/>
              <a:t>System </a:t>
            </a:r>
            <a:r>
              <a:rPr lang="en-US" b="1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(OS)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 2304CS205</a:t>
            </a: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9D2D46-64B7-7EB1-5FBC-8717156BEC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Prof. </a:t>
            </a:r>
            <a:r>
              <a:rPr lang="en-US" dirty="0" err="1" smtClean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Umesh</a:t>
            </a:r>
            <a:r>
              <a:rPr lang="en-US" dirty="0" smtClean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 H </a:t>
            </a:r>
            <a:r>
              <a:rPr lang="en-US" dirty="0" err="1" smtClean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Thoriya</a:t>
            </a:r>
            <a:endParaRPr lang="en-US" dirty="0">
              <a:gradFill flip="none" rotWithShape="1">
                <a:gsLst>
                  <a:gs pos="10000">
                    <a:srgbClr val="B71B1C"/>
                  </a:gs>
                  <a:gs pos="95000">
                    <a:srgbClr val="ED524F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E6FCF4A-F975-C0C2-C25F-D81555564E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pic>
        <p:nvPicPr>
          <p:cNvPr id="8" name="Picture Placeholder 23">
            <a:extLst>
              <a:ext uri="{FF2B5EF4-FFF2-40B4-BE49-F238E27FC236}">
                <a16:creationId xmlns:a16="http://schemas.microsoft.com/office/drawing/2014/main" id="{3EBBF228-CC66-ED4A-A378-9975D9DE9B2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103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6655BF-EB8E-4232-65E0-DB27F353750E}"/>
              </a:ext>
            </a:extLst>
          </p:cNvPr>
          <p:cNvSpPr/>
          <p:nvPr/>
        </p:nvSpPr>
        <p:spPr>
          <a:xfrm>
            <a:off x="678112" y="3889663"/>
            <a:ext cx="63858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1600" b="1" i="1" u="none" strike="noStrike" baseline="0" dirty="0">
                <a:latin typeface="Roboto Condensed,Bold"/>
              </a:rPr>
              <a:t>CO4:</a:t>
            </a:r>
            <a:r>
              <a:rPr lang="en-IN" sz="1600" b="0" i="1" u="none" strike="noStrike" baseline="0" dirty="0">
                <a:latin typeface="Roboto Condensed,Bold"/>
              </a:rPr>
              <a:t> </a:t>
            </a:r>
            <a:r>
              <a:rPr lang="en-US" sz="1800" b="1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 the end of this unit, students will be able to,</a:t>
            </a:r>
          </a:p>
          <a:p>
            <a:pPr algn="just"/>
            <a:r>
              <a:rPr lang="en-US" b="1" dirty="0"/>
              <a:t>        use</a:t>
            </a:r>
            <a:r>
              <a:rPr lang="en-US" dirty="0"/>
              <a:t> memory management strategies and allocation techniques.</a:t>
            </a:r>
            <a:r>
              <a:rPr lang="en-IN" sz="1600" b="0" i="1" u="none" strike="noStrike" baseline="0" dirty="0">
                <a:latin typeface="Roboto Condensed,Bold"/>
              </a:rPr>
              <a:t> </a:t>
            </a:r>
            <a:endParaRPr lang="en-IN" sz="1600" b="0" i="1" dirty="0"/>
          </a:p>
        </p:txBody>
      </p:sp>
    </p:spTree>
    <p:extLst>
      <p:ext uri="{BB962C8B-B14F-4D97-AF65-F5344CB8AC3E}">
        <p14:creationId xmlns:p14="http://schemas.microsoft.com/office/powerpoint/2010/main" val="661001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</p:cNvCxnSpPr>
          <p:nvPr/>
        </p:nvCxnSpPr>
        <p:spPr>
          <a:xfrm>
            <a:off x="1179243" y="0"/>
            <a:ext cx="0" cy="23503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235034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 flipH="1">
            <a:off x="1179243" y="709589"/>
            <a:ext cx="12203" cy="55232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DAC9BCC-6D7A-4119-BBFE-F1E0245720C7}"/>
              </a:ext>
            </a:extLst>
          </p:cNvPr>
          <p:cNvSpPr txBox="1"/>
          <p:nvPr/>
        </p:nvSpPr>
        <p:spPr>
          <a:xfrm>
            <a:off x="1458963" y="255843"/>
            <a:ext cx="9956750" cy="5182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Topics 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Basic concept of Memory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Logical and Physical Address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Basic Memory Management Techniques</a:t>
            </a:r>
          </a:p>
          <a:p>
            <a:pPr marL="1257300" lvl="2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IN" sz="2200" dirty="0"/>
              <a:t>Contagious Memory Allocation: Fixed Partition, Variable Partition, Swapping</a:t>
            </a:r>
          </a:p>
          <a:p>
            <a:pPr marL="1257300" lvl="2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IN" sz="2200" dirty="0"/>
              <a:t>Non-Contagious Memory Allocation: Paging, Segmentation, Virtual Memory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Memory Allocation Strategies: First Fit, Best Fit, and Worst Fit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Concept of a Page Fault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Page Replacement Algorithms: FIFO, LRU, </a:t>
            </a:r>
            <a:r>
              <a:rPr lang="en-US" sz="2400" dirty="0" smtClean="0"/>
              <a:t>OPT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concept of virtual memory</a:t>
            </a:r>
            <a:endParaRPr lang="en-IN" sz="2400" dirty="0"/>
          </a:p>
          <a:p>
            <a:pPr lvl="1">
              <a:lnSpc>
                <a:spcPct val="130000"/>
              </a:lnSpc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85608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>Basic Concept of Memory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</a:t>
            </a:r>
          </a:p>
        </p:txBody>
      </p:sp>
    </p:spTree>
    <p:extLst>
      <p:ext uri="{BB962C8B-B14F-4D97-AF65-F5344CB8AC3E}">
        <p14:creationId xmlns:p14="http://schemas.microsoft.com/office/powerpoint/2010/main" val="2041777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62680-77FC-C39D-438A-0FBF275B6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17106-A08B-B127-048D-3A18098C1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What is Memory?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26A34-D62C-BBA3-B5A6-201F8EB83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9" y="855354"/>
            <a:ext cx="11929641" cy="5590565"/>
          </a:xfrm>
        </p:spPr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Memory</a:t>
            </a:r>
            <a:r>
              <a:rPr lang="en-US" dirty="0">
                <a:solidFill>
                  <a:schemeClr val="accent6"/>
                </a:solidFill>
              </a:rPr>
              <a:t> </a:t>
            </a:r>
            <a:r>
              <a:rPr lang="en-US" dirty="0"/>
              <a:t>refers to the </a:t>
            </a:r>
            <a:r>
              <a:rPr lang="en-US" b="1" dirty="0">
                <a:solidFill>
                  <a:schemeClr val="accent6"/>
                </a:solidFill>
              </a:rPr>
              <a:t>physical hardware devices </a:t>
            </a:r>
            <a:r>
              <a:rPr lang="en-US" dirty="0"/>
              <a:t>in a computer system that are used to store data and instructions </a:t>
            </a:r>
            <a:r>
              <a:rPr lang="en-US" b="1" dirty="0">
                <a:solidFill>
                  <a:schemeClr val="accent6"/>
                </a:solidFill>
              </a:rPr>
              <a:t>temporarily</a:t>
            </a:r>
            <a:r>
              <a:rPr lang="en-US" b="1" dirty="0"/>
              <a:t> </a:t>
            </a:r>
            <a:r>
              <a:rPr lang="en-US" dirty="0"/>
              <a:t>or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6"/>
                </a:solidFill>
              </a:rPr>
              <a:t>permanently</a:t>
            </a:r>
            <a:r>
              <a:rPr lang="en-US" dirty="0"/>
              <a:t> for processing by the </a:t>
            </a:r>
            <a:r>
              <a:rPr lang="en-US" b="1" dirty="0">
                <a:solidFill>
                  <a:schemeClr val="accent6"/>
                </a:solidFill>
              </a:rPr>
              <a:t>CPU</a:t>
            </a:r>
            <a:r>
              <a:rPr lang="en-US" dirty="0"/>
              <a:t>. </a:t>
            </a:r>
          </a:p>
          <a:p>
            <a:r>
              <a:rPr lang="en-US" dirty="0"/>
              <a:t>In the context of an operating system, memory is primarily categorized into two types: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0ED22DC-43EC-08BD-064E-8E284A220F74}"/>
              </a:ext>
            </a:extLst>
          </p:cNvPr>
          <p:cNvSpPr/>
          <p:nvPr/>
        </p:nvSpPr>
        <p:spPr>
          <a:xfrm>
            <a:off x="5144358" y="2127660"/>
            <a:ext cx="1809750" cy="8001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bg1"/>
                </a:solidFill>
              </a:rPr>
              <a:t>Memory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DF10887-BAB6-21E6-6806-494DB383151E}"/>
              </a:ext>
            </a:extLst>
          </p:cNvPr>
          <p:cNvSpPr/>
          <p:nvPr/>
        </p:nvSpPr>
        <p:spPr>
          <a:xfrm>
            <a:off x="2479141" y="3455717"/>
            <a:ext cx="1809750" cy="80010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Primary </a:t>
            </a:r>
          </a:p>
          <a:p>
            <a:pPr algn="ctr"/>
            <a:r>
              <a:rPr lang="en-IN" sz="2000" b="1" dirty="0">
                <a:solidFill>
                  <a:schemeClr val="bg1"/>
                </a:solidFill>
              </a:rPr>
              <a:t>Memory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DD61782-E03B-4B39-498C-14C8C19F0D90}"/>
              </a:ext>
            </a:extLst>
          </p:cNvPr>
          <p:cNvSpPr/>
          <p:nvPr/>
        </p:nvSpPr>
        <p:spPr>
          <a:xfrm>
            <a:off x="7477983" y="3536103"/>
            <a:ext cx="1809750" cy="80010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Secondary</a:t>
            </a:r>
          </a:p>
          <a:p>
            <a:pPr algn="ctr"/>
            <a:r>
              <a:rPr lang="en-IN" sz="2000" b="1" dirty="0">
                <a:solidFill>
                  <a:schemeClr val="bg1"/>
                </a:solidFill>
              </a:rPr>
              <a:t>Memory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25A0670-F9F1-199B-DABD-4D2076D895ED}"/>
              </a:ext>
            </a:extLst>
          </p:cNvPr>
          <p:cNvSpPr/>
          <p:nvPr/>
        </p:nvSpPr>
        <p:spPr>
          <a:xfrm>
            <a:off x="201515" y="4996674"/>
            <a:ext cx="1235739" cy="703095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Register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326B47C-0C9A-FC40-29D7-ADFEE87223F7}"/>
              </a:ext>
            </a:extLst>
          </p:cNvPr>
          <p:cNvSpPr/>
          <p:nvPr/>
        </p:nvSpPr>
        <p:spPr>
          <a:xfrm>
            <a:off x="1698003" y="5015366"/>
            <a:ext cx="1235739" cy="703095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Cache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D02F274-EBB7-AACF-01FE-784B3D6B412E}"/>
              </a:ext>
            </a:extLst>
          </p:cNvPr>
          <p:cNvSpPr/>
          <p:nvPr/>
        </p:nvSpPr>
        <p:spPr>
          <a:xfrm>
            <a:off x="3194492" y="5015632"/>
            <a:ext cx="1235739" cy="703095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RAM</a:t>
            </a:r>
          </a:p>
        </p:txBody>
      </p:sp>
      <p:cxnSp>
        <p:nvCxnSpPr>
          <p:cNvPr id="10" name="Elbow Connector 17">
            <a:extLst>
              <a:ext uri="{FF2B5EF4-FFF2-40B4-BE49-F238E27FC236}">
                <a16:creationId xmlns:a16="http://schemas.microsoft.com/office/drawing/2014/main" id="{E6453616-8EBA-BC93-8AB9-F086B67C21DD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4452647" y="1859130"/>
            <a:ext cx="527957" cy="266521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" name="Elbow Connector 19">
            <a:extLst>
              <a:ext uri="{FF2B5EF4-FFF2-40B4-BE49-F238E27FC236}">
                <a16:creationId xmlns:a16="http://schemas.microsoft.com/office/drawing/2014/main" id="{FBC2DE1E-F366-4393-FB30-6D2088A80854}"/>
              </a:ext>
            </a:extLst>
          </p:cNvPr>
          <p:cNvCxnSpPr>
            <a:stCxn id="4" idx="2"/>
            <a:endCxn id="6" idx="0"/>
          </p:cNvCxnSpPr>
          <p:nvPr/>
        </p:nvCxnSpPr>
        <p:spPr>
          <a:xfrm rot="16200000" flipH="1">
            <a:off x="6911874" y="2065118"/>
            <a:ext cx="608343" cy="2333625"/>
          </a:xfrm>
          <a:prstGeom prst="bentConnector3">
            <a:avLst>
              <a:gd name="adj1" fmla="val 43737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" name="Elbow Connector 22">
            <a:extLst>
              <a:ext uri="{FF2B5EF4-FFF2-40B4-BE49-F238E27FC236}">
                <a16:creationId xmlns:a16="http://schemas.microsoft.com/office/drawing/2014/main" id="{E288D691-4CF9-0626-02AA-BC8733654922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5400000">
            <a:off x="1731273" y="3343930"/>
            <a:ext cx="740857" cy="256463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" name="Elbow Connector 24">
            <a:extLst>
              <a:ext uri="{FF2B5EF4-FFF2-40B4-BE49-F238E27FC236}">
                <a16:creationId xmlns:a16="http://schemas.microsoft.com/office/drawing/2014/main" id="{85DD5CB6-E687-EBC3-DA65-89738036F757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18282" y="4411503"/>
            <a:ext cx="759815" cy="42834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" name="Elbow Connector 26">
            <a:extLst>
              <a:ext uri="{FF2B5EF4-FFF2-40B4-BE49-F238E27FC236}">
                <a16:creationId xmlns:a16="http://schemas.microsoft.com/office/drawing/2014/main" id="{2543DBA7-C462-A015-23C3-3B20D454528F}"/>
              </a:ext>
            </a:extLst>
          </p:cNvPr>
          <p:cNvCxnSpPr>
            <a:cxnSpLocks/>
          </p:cNvCxnSpPr>
          <p:nvPr/>
        </p:nvCxnSpPr>
        <p:spPr>
          <a:xfrm rot="5400000">
            <a:off x="2470171" y="4091472"/>
            <a:ext cx="759549" cy="106814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" name="Elbow Connector 28">
            <a:extLst>
              <a:ext uri="{FF2B5EF4-FFF2-40B4-BE49-F238E27FC236}">
                <a16:creationId xmlns:a16="http://schemas.microsoft.com/office/drawing/2014/main" id="{8EC0939F-282C-781B-6468-76BE97F8ED55}"/>
              </a:ext>
            </a:extLst>
          </p:cNvPr>
          <p:cNvCxnSpPr>
            <a:cxnSpLocks/>
          </p:cNvCxnSpPr>
          <p:nvPr/>
        </p:nvCxnSpPr>
        <p:spPr>
          <a:xfrm rot="5400000">
            <a:off x="7454276" y="4057326"/>
            <a:ext cx="660471" cy="119669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6" name="Elbow Connector 30">
            <a:extLst>
              <a:ext uri="{FF2B5EF4-FFF2-40B4-BE49-F238E27FC236}">
                <a16:creationId xmlns:a16="http://schemas.microsoft.com/office/drawing/2014/main" id="{B8C8427A-1C93-9AF9-8639-7D79F34E9A90}"/>
              </a:ext>
            </a:extLst>
          </p:cNvPr>
          <p:cNvCxnSpPr>
            <a:cxnSpLocks/>
            <a:stCxn id="6" idx="2"/>
            <a:endCxn id="19" idx="0"/>
          </p:cNvCxnSpPr>
          <p:nvPr/>
        </p:nvCxnSpPr>
        <p:spPr>
          <a:xfrm rot="16200000" flipH="1">
            <a:off x="8155326" y="4563735"/>
            <a:ext cx="641778" cy="18671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7" name="Elbow Connector 32">
            <a:extLst>
              <a:ext uri="{FF2B5EF4-FFF2-40B4-BE49-F238E27FC236}">
                <a16:creationId xmlns:a16="http://schemas.microsoft.com/office/drawing/2014/main" id="{78C38C75-BC30-6FCA-AC7D-1FF56E399F80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8400464" y="4655673"/>
            <a:ext cx="1518981" cy="32230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8" name="Rounded Rectangle 6">
            <a:extLst>
              <a:ext uri="{FF2B5EF4-FFF2-40B4-BE49-F238E27FC236}">
                <a16:creationId xmlns:a16="http://schemas.microsoft.com/office/drawing/2014/main" id="{FE440494-BB7E-C039-A532-3B0431F41EA5}"/>
              </a:ext>
            </a:extLst>
          </p:cNvPr>
          <p:cNvSpPr/>
          <p:nvPr/>
        </p:nvSpPr>
        <p:spPr>
          <a:xfrm>
            <a:off x="6506856" y="4985908"/>
            <a:ext cx="1330712" cy="721787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HDD &amp; SSD</a:t>
            </a:r>
          </a:p>
        </p:txBody>
      </p:sp>
      <p:sp>
        <p:nvSpPr>
          <p:cNvPr id="19" name="Rounded Rectangle 7">
            <a:extLst>
              <a:ext uri="{FF2B5EF4-FFF2-40B4-BE49-F238E27FC236}">
                <a16:creationId xmlns:a16="http://schemas.microsoft.com/office/drawing/2014/main" id="{1F813E9C-0EBA-98A5-8AF7-F3EA3DAB39D5}"/>
              </a:ext>
            </a:extLst>
          </p:cNvPr>
          <p:cNvSpPr/>
          <p:nvPr/>
        </p:nvSpPr>
        <p:spPr>
          <a:xfrm>
            <a:off x="7951702" y="4977981"/>
            <a:ext cx="1235739" cy="721787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Optical </a:t>
            </a:r>
          </a:p>
          <a:p>
            <a:pPr algn="ctr"/>
            <a:r>
              <a:rPr lang="en-IN" sz="2000" b="1" dirty="0">
                <a:solidFill>
                  <a:schemeClr val="bg1"/>
                </a:solidFill>
              </a:rPr>
              <a:t>Discs</a:t>
            </a:r>
          </a:p>
        </p:txBody>
      </p:sp>
      <p:sp>
        <p:nvSpPr>
          <p:cNvPr id="20" name="Rounded Rectangle 8">
            <a:extLst>
              <a:ext uri="{FF2B5EF4-FFF2-40B4-BE49-F238E27FC236}">
                <a16:creationId xmlns:a16="http://schemas.microsoft.com/office/drawing/2014/main" id="{BC63ED8A-691A-7654-02AB-1CD86A4D135B}"/>
              </a:ext>
            </a:extLst>
          </p:cNvPr>
          <p:cNvSpPr/>
          <p:nvPr/>
        </p:nvSpPr>
        <p:spPr>
          <a:xfrm>
            <a:off x="9301575" y="4977980"/>
            <a:ext cx="1235739" cy="721787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Flash </a:t>
            </a:r>
          </a:p>
          <a:p>
            <a:pPr algn="ctr"/>
            <a:r>
              <a:rPr lang="en-IN" sz="2000" b="1" dirty="0">
                <a:solidFill>
                  <a:schemeClr val="bg1"/>
                </a:solidFill>
              </a:rPr>
              <a:t>Memory</a:t>
            </a:r>
          </a:p>
        </p:txBody>
      </p:sp>
      <p:cxnSp>
        <p:nvCxnSpPr>
          <p:cNvPr id="25" name="Elbow Connector 19">
            <a:extLst>
              <a:ext uri="{FF2B5EF4-FFF2-40B4-BE49-F238E27FC236}">
                <a16:creationId xmlns:a16="http://schemas.microsoft.com/office/drawing/2014/main" id="{F9AD73F8-33A4-3282-10AB-21325926849F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9579552" y="4655673"/>
            <a:ext cx="1752558" cy="33023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7" name="Rounded Rectangle 5">
            <a:extLst>
              <a:ext uri="{FF2B5EF4-FFF2-40B4-BE49-F238E27FC236}">
                <a16:creationId xmlns:a16="http://schemas.microsoft.com/office/drawing/2014/main" id="{8F166D91-BFD2-D37E-EA22-B30B2F5C0DF4}"/>
              </a:ext>
            </a:extLst>
          </p:cNvPr>
          <p:cNvSpPr/>
          <p:nvPr/>
        </p:nvSpPr>
        <p:spPr>
          <a:xfrm>
            <a:off x="10666754" y="4985908"/>
            <a:ext cx="1330712" cy="721787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Magnetic </a:t>
            </a:r>
          </a:p>
          <a:p>
            <a:pPr algn="ctr"/>
            <a:r>
              <a:rPr lang="en-IN" sz="2000" b="1" dirty="0">
                <a:solidFill>
                  <a:schemeClr val="bg1"/>
                </a:solidFill>
              </a:rPr>
              <a:t>Tape</a:t>
            </a:r>
          </a:p>
        </p:txBody>
      </p:sp>
      <p:cxnSp>
        <p:nvCxnSpPr>
          <p:cNvPr id="39" name="Elbow Connector 19">
            <a:extLst>
              <a:ext uri="{FF2B5EF4-FFF2-40B4-BE49-F238E27FC236}">
                <a16:creationId xmlns:a16="http://schemas.microsoft.com/office/drawing/2014/main" id="{C0261D2E-0662-109A-893A-117F0A12B925}"/>
              </a:ext>
            </a:extLst>
          </p:cNvPr>
          <p:cNvCxnSpPr>
            <a:cxnSpLocks/>
            <a:endCxn id="40" idx="0"/>
          </p:cNvCxnSpPr>
          <p:nvPr/>
        </p:nvCxnSpPr>
        <p:spPr>
          <a:xfrm>
            <a:off x="3380849" y="4625530"/>
            <a:ext cx="1937459" cy="37114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0" name="Rounded Rectangle 5">
            <a:extLst>
              <a:ext uri="{FF2B5EF4-FFF2-40B4-BE49-F238E27FC236}">
                <a16:creationId xmlns:a16="http://schemas.microsoft.com/office/drawing/2014/main" id="{7370D45D-163D-6CBA-A626-6443D84B67C1}"/>
              </a:ext>
            </a:extLst>
          </p:cNvPr>
          <p:cNvSpPr/>
          <p:nvPr/>
        </p:nvSpPr>
        <p:spPr>
          <a:xfrm>
            <a:off x="4675049" y="4996674"/>
            <a:ext cx="1286517" cy="703095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ROM</a:t>
            </a:r>
          </a:p>
        </p:txBody>
      </p:sp>
    </p:spTree>
    <p:extLst>
      <p:ext uri="{BB962C8B-B14F-4D97-AF65-F5344CB8AC3E}">
        <p14:creationId xmlns:p14="http://schemas.microsoft.com/office/powerpoint/2010/main" val="2505885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8" grpId="0" animBg="1"/>
      <p:bldP spid="19" grpId="0" animBg="1"/>
      <p:bldP spid="20" grpId="0" animBg="1"/>
      <p:bldP spid="27" grpId="0" animBg="1"/>
      <p:bldP spid="4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8EB84-A509-4DE0-C3A0-1A9D0D342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26CEC-0D84-07DA-E225-C2A65A93F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Types of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F2F05-FEBE-CFC2-FFBF-732105CD3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9" y="912462"/>
            <a:ext cx="11929641" cy="559056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Primary </a:t>
            </a:r>
            <a:r>
              <a:rPr lang="en-US" b="1" dirty="0" smtClean="0"/>
              <a:t>Memory</a:t>
            </a:r>
            <a:endParaRPr lang="en-US" b="1" dirty="0"/>
          </a:p>
          <a:p>
            <a:pPr lvl="1"/>
            <a:r>
              <a:rPr lang="en-US" sz="2200" dirty="0"/>
              <a:t>Directly accessible by the CPU, fast but temporary.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IN" sz="2200" b="1" dirty="0">
                <a:solidFill>
                  <a:schemeClr val="accent6"/>
                </a:solidFill>
              </a:rPr>
              <a:t>Register</a:t>
            </a:r>
            <a:r>
              <a:rPr lang="en-IN" sz="2200" dirty="0"/>
              <a:t>: </a:t>
            </a:r>
          </a:p>
          <a:p>
            <a:pPr marL="1436688" lvl="2" indent="-271463"/>
            <a:r>
              <a:rPr lang="en-US" sz="2000" dirty="0"/>
              <a:t>Smallest, fastest memory inside the </a:t>
            </a:r>
            <a:r>
              <a:rPr lang="en-US" sz="2000" b="1" dirty="0">
                <a:solidFill>
                  <a:schemeClr val="tx2"/>
                </a:solidFill>
              </a:rPr>
              <a:t>CPU</a:t>
            </a:r>
            <a:r>
              <a:rPr lang="en-US" sz="2000" dirty="0"/>
              <a:t>.</a:t>
            </a:r>
          </a:p>
          <a:p>
            <a:pPr marL="1436688" lvl="2" indent="-271463"/>
            <a:r>
              <a:rPr lang="en-US" sz="2000" dirty="0"/>
              <a:t>Stores temporary values for quick processing.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IN" sz="2200" b="1" dirty="0">
                <a:solidFill>
                  <a:schemeClr val="accent6"/>
                </a:solidFill>
              </a:rPr>
              <a:t>Cache</a:t>
            </a:r>
            <a:r>
              <a:rPr lang="en-IN" sz="2200" dirty="0"/>
              <a:t>: </a:t>
            </a:r>
          </a:p>
          <a:p>
            <a:pPr marL="1436688" lvl="2" indent="-271463"/>
            <a:r>
              <a:rPr lang="en-US" sz="2000" dirty="0"/>
              <a:t>High-speed memory between </a:t>
            </a:r>
            <a:r>
              <a:rPr lang="en-US" sz="2000" b="1" dirty="0">
                <a:solidFill>
                  <a:schemeClr val="tx2"/>
                </a:solidFill>
              </a:rPr>
              <a:t>CPU</a:t>
            </a:r>
            <a:r>
              <a:rPr lang="en-US" sz="2000" dirty="0"/>
              <a:t> and </a:t>
            </a:r>
            <a:r>
              <a:rPr lang="en-US" sz="2000" b="1" dirty="0">
                <a:solidFill>
                  <a:schemeClr val="tx2"/>
                </a:solidFill>
              </a:rPr>
              <a:t>RAM</a:t>
            </a:r>
            <a:r>
              <a:rPr lang="en-US" sz="2000" dirty="0"/>
              <a:t>.</a:t>
            </a:r>
          </a:p>
          <a:p>
            <a:pPr marL="1436688" lvl="2" indent="-271463"/>
            <a:r>
              <a:rPr lang="en-US" sz="2000" dirty="0"/>
              <a:t>Reduces the time to access frequently used data.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IN" sz="2200" b="1" dirty="0">
                <a:solidFill>
                  <a:schemeClr val="accent6"/>
                </a:solidFill>
              </a:rPr>
              <a:t>RAM </a:t>
            </a:r>
            <a:r>
              <a:rPr lang="en-IN" sz="2200" b="1" dirty="0"/>
              <a:t>(</a:t>
            </a:r>
            <a:r>
              <a:rPr lang="en-IN" sz="2200" b="1" dirty="0">
                <a:solidFill>
                  <a:schemeClr val="accent6"/>
                </a:solidFill>
              </a:rPr>
              <a:t>Random Access Memory</a:t>
            </a:r>
            <a:r>
              <a:rPr lang="en-IN" sz="2200" b="1" dirty="0"/>
              <a:t>)</a:t>
            </a:r>
            <a:r>
              <a:rPr lang="en-IN" sz="2200" dirty="0"/>
              <a:t>: </a:t>
            </a:r>
          </a:p>
          <a:p>
            <a:pPr marL="1436688" lvl="2" indent="-271463"/>
            <a:r>
              <a:rPr lang="en-US" sz="2000" dirty="0"/>
              <a:t>Stores active processes and running programs.</a:t>
            </a:r>
          </a:p>
          <a:p>
            <a:pPr marL="1436688" lvl="2" indent="-271463"/>
            <a:r>
              <a:rPr lang="en-US" sz="2000" b="1" dirty="0"/>
              <a:t>Volatile</a:t>
            </a:r>
            <a:r>
              <a:rPr lang="en-US" sz="2000" dirty="0"/>
              <a:t> (Data lost when power is off).</a:t>
            </a:r>
          </a:p>
          <a:p>
            <a:pPr marL="1436688" lvl="2" indent="-271463"/>
            <a:r>
              <a:rPr lang="en-US" sz="2000" b="1" dirty="0"/>
              <a:t>Types</a:t>
            </a:r>
            <a:r>
              <a:rPr lang="en-US" sz="2000" dirty="0"/>
              <a:t>: </a:t>
            </a:r>
            <a:r>
              <a:rPr lang="en-US" sz="2000" b="1" dirty="0">
                <a:solidFill>
                  <a:schemeClr val="tx2"/>
                </a:solidFill>
              </a:rPr>
              <a:t>SRAM</a:t>
            </a:r>
            <a:r>
              <a:rPr lang="en-US" sz="2000" dirty="0"/>
              <a:t> (Static RAM) and </a:t>
            </a:r>
            <a:r>
              <a:rPr lang="en-US" sz="2000" b="1" dirty="0">
                <a:solidFill>
                  <a:schemeClr val="tx2"/>
                </a:solidFill>
              </a:rPr>
              <a:t>DRAM</a:t>
            </a:r>
            <a:r>
              <a:rPr lang="en-US" sz="2000" dirty="0"/>
              <a:t> (Dynamic RAM)</a:t>
            </a:r>
            <a:endParaRPr lang="en-IN" sz="2000" dirty="0"/>
          </a:p>
          <a:p>
            <a:pPr marL="914400" lvl="1" indent="-457200">
              <a:buFont typeface="+mj-lt"/>
              <a:buAutoNum type="alphaLcPeriod"/>
            </a:pPr>
            <a:r>
              <a:rPr lang="en-IN" sz="2200" b="1" dirty="0">
                <a:solidFill>
                  <a:schemeClr val="accent6"/>
                </a:solidFill>
              </a:rPr>
              <a:t>ROM </a:t>
            </a:r>
            <a:r>
              <a:rPr lang="en-IN" sz="2200" b="1" dirty="0"/>
              <a:t>(</a:t>
            </a:r>
            <a:r>
              <a:rPr lang="en-IN" sz="2200" b="1" dirty="0">
                <a:solidFill>
                  <a:schemeClr val="accent6"/>
                </a:solidFill>
              </a:rPr>
              <a:t>Read-Only Memory</a:t>
            </a:r>
            <a:r>
              <a:rPr lang="en-IN" sz="2200" b="1" dirty="0"/>
              <a:t>)</a:t>
            </a:r>
            <a:r>
              <a:rPr lang="en-IN" sz="2200" dirty="0"/>
              <a:t>: </a:t>
            </a:r>
          </a:p>
          <a:p>
            <a:pPr marL="1436688" lvl="2" indent="-271463"/>
            <a:r>
              <a:rPr lang="en-IN" sz="2000" b="1" dirty="0"/>
              <a:t>Non-volatile</a:t>
            </a:r>
            <a:r>
              <a:rPr lang="en-IN" sz="2000" dirty="0"/>
              <a:t> but read-only.</a:t>
            </a:r>
          </a:p>
          <a:p>
            <a:pPr marL="1436688" lvl="2" indent="-271463"/>
            <a:r>
              <a:rPr lang="en-IN" sz="2000" dirty="0"/>
              <a:t>Stores firmware &amp; bootloader.</a:t>
            </a:r>
          </a:p>
          <a:p>
            <a:pPr marL="1436688" lvl="2" indent="-271463"/>
            <a:r>
              <a:rPr lang="en-US" sz="2000" b="1" dirty="0"/>
              <a:t>Types</a:t>
            </a:r>
            <a:r>
              <a:rPr lang="en-US" sz="2000" dirty="0"/>
              <a:t>: </a:t>
            </a:r>
            <a:r>
              <a:rPr lang="en-US" sz="2000" b="1" dirty="0">
                <a:solidFill>
                  <a:schemeClr val="tx2"/>
                </a:solidFill>
              </a:rPr>
              <a:t>PROM</a:t>
            </a:r>
            <a:r>
              <a:rPr lang="en-US" sz="2000" dirty="0"/>
              <a:t>(</a:t>
            </a:r>
            <a:r>
              <a:rPr lang="en-IN" sz="1600" dirty="0"/>
              <a:t>Programmable ROM</a:t>
            </a:r>
            <a:r>
              <a:rPr lang="en-US" sz="2000" dirty="0"/>
              <a:t>), </a:t>
            </a:r>
            <a:r>
              <a:rPr lang="en-US" sz="2000" b="1" dirty="0">
                <a:solidFill>
                  <a:schemeClr val="tx2"/>
                </a:solidFill>
              </a:rPr>
              <a:t>EPROM</a:t>
            </a:r>
            <a:r>
              <a:rPr lang="en-US" sz="2000" dirty="0"/>
              <a:t>(</a:t>
            </a:r>
            <a:r>
              <a:rPr lang="en-IN" sz="1600" dirty="0"/>
              <a:t>Erasable PROM</a:t>
            </a:r>
            <a:r>
              <a:rPr lang="en-US" sz="2000" dirty="0"/>
              <a:t>), </a:t>
            </a:r>
            <a:r>
              <a:rPr lang="en-US" sz="2000" b="1" dirty="0">
                <a:solidFill>
                  <a:schemeClr val="tx2"/>
                </a:solidFill>
              </a:rPr>
              <a:t>EEPROM</a:t>
            </a:r>
            <a:r>
              <a:rPr lang="en-US" sz="2000" dirty="0"/>
              <a:t>(</a:t>
            </a:r>
            <a:r>
              <a:rPr lang="en-IN" sz="1600" dirty="0"/>
              <a:t>Electrically Erasable PROM</a:t>
            </a:r>
            <a:r>
              <a:rPr lang="en-US" sz="2000" dirty="0"/>
              <a:t>)</a:t>
            </a:r>
            <a:endParaRPr lang="en-IN" sz="2000" dirty="0"/>
          </a:p>
          <a:p>
            <a:pPr marL="914400" lvl="2" indent="0">
              <a:buNone/>
            </a:pPr>
            <a:endParaRPr lang="en-IN" sz="2200" dirty="0"/>
          </a:p>
          <a:p>
            <a:pPr marL="914400" lvl="1" indent="-457200">
              <a:buFont typeface="+mj-lt"/>
              <a:buAutoNum type="alphaLcPeriod"/>
            </a:pPr>
            <a:endParaRPr lang="en-US" sz="2200" dirty="0"/>
          </a:p>
          <a:p>
            <a:pPr marL="457200" lvl="1" indent="0">
              <a:buNone/>
            </a:pPr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027DAC-5BBE-6C35-E47D-DBCF36B3445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39" b="16391"/>
          <a:stretch/>
        </p:blipFill>
        <p:spPr>
          <a:xfrm>
            <a:off x="8316046" y="1779331"/>
            <a:ext cx="1317249" cy="6635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831780-ECF9-7D2C-E9B9-69345656F3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3381" y="2757159"/>
            <a:ext cx="1122578" cy="9505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F0A9A27-6598-CA54-1F5F-D614F581CA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4796" y="3957393"/>
            <a:ext cx="1859748" cy="1011703"/>
          </a:xfrm>
          <a:prstGeom prst="rect">
            <a:avLst/>
          </a:prstGeom>
        </p:spPr>
      </p:pic>
      <p:pic>
        <p:nvPicPr>
          <p:cNvPr id="1030" name="Picture 6" descr="What is ROM | Read-Only Memory - Tpoint Tech">
            <a:extLst>
              <a:ext uri="{FF2B5EF4-FFF2-40B4-BE49-F238E27FC236}">
                <a16:creationId xmlns:a16="http://schemas.microsoft.com/office/drawing/2014/main" id="{D4A6DB6E-D331-D45A-71B3-00D325213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5280" y="5008880"/>
            <a:ext cx="1859748" cy="1051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6355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071DF-D1BE-644F-DA35-31201D478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ED3FD-0E7A-48A0-72F1-94073F18A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Types of Memory (Conti..)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39B8E-B314-6355-F232-C14D718EF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b="1" dirty="0"/>
              <a:t>Secondary Memory (Non-</a:t>
            </a:r>
            <a:r>
              <a:rPr lang="en-IN" b="1" dirty="0"/>
              <a:t>Volatile Memory</a:t>
            </a:r>
            <a:r>
              <a:rPr lang="en-US" b="1" dirty="0"/>
              <a:t>):</a:t>
            </a:r>
          </a:p>
          <a:p>
            <a:pPr lvl="1"/>
            <a:r>
              <a:rPr lang="en-IN" sz="2400" dirty="0"/>
              <a:t>Permanent storage used for storing data and programs.</a:t>
            </a:r>
            <a:r>
              <a:rPr lang="en-US" sz="2200" dirty="0"/>
              <a:t>.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IN" sz="2200" b="1" dirty="0">
                <a:solidFill>
                  <a:schemeClr val="accent6"/>
                </a:solidFill>
              </a:rPr>
              <a:t>HDD &amp; SSD</a:t>
            </a:r>
            <a:r>
              <a:rPr lang="en-IN" sz="2200" dirty="0"/>
              <a:t>: </a:t>
            </a:r>
          </a:p>
          <a:p>
            <a:pPr marL="1436688" lvl="2" indent="-271463"/>
            <a:r>
              <a:rPr lang="en-US" sz="2000" b="1" dirty="0"/>
              <a:t>HHD</a:t>
            </a:r>
            <a:r>
              <a:rPr lang="en-US" sz="2000" dirty="0"/>
              <a:t>: Uses magnetic storage, large capacity, slow speed .</a:t>
            </a:r>
          </a:p>
          <a:p>
            <a:pPr marL="1436688" lvl="2" indent="-271463"/>
            <a:r>
              <a:rPr lang="en-US" sz="2000" b="1" dirty="0"/>
              <a:t>SSD</a:t>
            </a:r>
            <a:r>
              <a:rPr lang="en-US" sz="2000" dirty="0"/>
              <a:t>: Uses flash memory, faster than HDD, but more expensive.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IN" sz="2200" b="1" dirty="0">
                <a:solidFill>
                  <a:schemeClr val="accent6"/>
                </a:solidFill>
              </a:rPr>
              <a:t>Optical Discs</a:t>
            </a:r>
            <a:r>
              <a:rPr lang="en-IN" sz="2200" dirty="0"/>
              <a:t>: </a:t>
            </a:r>
          </a:p>
          <a:p>
            <a:pPr marL="1436688" lvl="2" indent="-271463"/>
            <a:r>
              <a:rPr lang="en-US" sz="2000" dirty="0"/>
              <a:t>Use laser technology to read and write data.</a:t>
            </a:r>
          </a:p>
          <a:p>
            <a:pPr marL="1436688" lvl="2" indent="-271463"/>
            <a:r>
              <a:rPr lang="en-US" sz="2000" dirty="0"/>
              <a:t>Used for data storage &amp; backup.</a:t>
            </a:r>
          </a:p>
          <a:p>
            <a:pPr marL="1436688" lvl="2" indent="-271463"/>
            <a:r>
              <a:rPr lang="en-IN" sz="2000" b="1" dirty="0"/>
              <a:t>Examples</a:t>
            </a:r>
            <a:r>
              <a:rPr lang="en-IN" sz="2000" dirty="0"/>
              <a:t>: CDs, DVDs and Blu-ray disc.</a:t>
            </a:r>
            <a:endParaRPr lang="en-US" sz="2000" dirty="0"/>
          </a:p>
          <a:p>
            <a:pPr marL="914400" lvl="1" indent="-457200">
              <a:buFont typeface="+mj-lt"/>
              <a:buAutoNum type="alphaLcPeriod"/>
            </a:pPr>
            <a:r>
              <a:rPr lang="en-IN" sz="2200" b="1" dirty="0">
                <a:solidFill>
                  <a:schemeClr val="accent6"/>
                </a:solidFill>
              </a:rPr>
              <a:t>Flash Memory</a:t>
            </a:r>
            <a:r>
              <a:rPr lang="en-IN" sz="2200" dirty="0"/>
              <a:t>: </a:t>
            </a:r>
          </a:p>
          <a:p>
            <a:pPr marL="1436688" lvl="2" indent="-271463"/>
            <a:r>
              <a:rPr lang="en-IN" sz="2000" dirty="0"/>
              <a:t>Non-volatile, rewritable, portable storage</a:t>
            </a:r>
            <a:r>
              <a:rPr lang="en-US" sz="2000" dirty="0"/>
              <a:t>.</a:t>
            </a:r>
          </a:p>
          <a:p>
            <a:pPr marL="1436688" lvl="2" indent="-271463"/>
            <a:r>
              <a:rPr lang="en-US" sz="2000" b="1" dirty="0"/>
              <a:t>Examples</a:t>
            </a:r>
            <a:r>
              <a:rPr lang="en-US" sz="2000" dirty="0"/>
              <a:t>: USB drives, Memory Cards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IN" sz="2200" b="1" dirty="0">
                <a:solidFill>
                  <a:schemeClr val="accent6"/>
                </a:solidFill>
              </a:rPr>
              <a:t>Magnetic Tape</a:t>
            </a:r>
            <a:r>
              <a:rPr lang="en-IN" sz="2200" dirty="0"/>
              <a:t>: </a:t>
            </a:r>
          </a:p>
          <a:p>
            <a:pPr marL="1436688" lvl="2" indent="-271463"/>
            <a:r>
              <a:rPr lang="en-IN" sz="2000" dirty="0"/>
              <a:t>Used for backup purpose only.</a:t>
            </a:r>
          </a:p>
          <a:p>
            <a:pPr marL="1436688" lvl="2" indent="-271463"/>
            <a:r>
              <a:rPr lang="en-US" sz="2000" b="1" dirty="0"/>
              <a:t>Examples</a:t>
            </a:r>
            <a:r>
              <a:rPr lang="en-US" sz="2000" dirty="0"/>
              <a:t>: </a:t>
            </a:r>
            <a:r>
              <a:rPr lang="en-IN" sz="2000" dirty="0"/>
              <a:t>Digital Audio Tap</a:t>
            </a:r>
            <a:endParaRPr lang="en-IN" sz="2200" dirty="0"/>
          </a:p>
          <a:p>
            <a:pPr marL="914400" lvl="1" indent="-457200">
              <a:buFont typeface="+mj-lt"/>
              <a:buAutoNum type="alphaLcPeriod"/>
            </a:pPr>
            <a:endParaRPr lang="en-US" sz="2200" dirty="0"/>
          </a:p>
          <a:p>
            <a:pPr marL="457200" lvl="1" indent="0">
              <a:buNone/>
            </a:pPr>
            <a:endParaRPr lang="en-US" sz="2200" dirty="0"/>
          </a:p>
        </p:txBody>
      </p:sp>
      <p:pic>
        <p:nvPicPr>
          <p:cNvPr id="2050" name="Picture 2" descr="Benefits of SSD over HDD">
            <a:extLst>
              <a:ext uri="{FF2B5EF4-FFF2-40B4-BE49-F238E27FC236}">
                <a16:creationId xmlns:a16="http://schemas.microsoft.com/office/drawing/2014/main" id="{26403FDF-2C02-71FF-A8A1-7C99AC2D9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7098" y="1143885"/>
            <a:ext cx="3048000" cy="1595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A6AE10-9223-58A1-B37D-E11105129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7098" y="2706226"/>
            <a:ext cx="3565957" cy="13241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A7781B-0D8D-0C46-E2D4-7944E766ED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7098" y="4211273"/>
            <a:ext cx="3248478" cy="943107"/>
          </a:xfrm>
          <a:prstGeom prst="rect">
            <a:avLst/>
          </a:prstGeom>
        </p:spPr>
      </p:pic>
      <p:pic>
        <p:nvPicPr>
          <p:cNvPr id="2056" name="Picture 8" descr="It's cool to spool again as the cassette returns on a wave of nostalgia |  Cassette tape | The Guardian">
            <a:extLst>
              <a:ext uri="{FF2B5EF4-FFF2-40B4-BE49-F238E27FC236}">
                <a16:creationId xmlns:a16="http://schemas.microsoft.com/office/drawing/2014/main" id="{A6E3D6BA-9967-748A-6573-397FB3DBC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7276" y="5224152"/>
            <a:ext cx="1842800" cy="138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7157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3929E-1A25-D919-324C-5FA907F6A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A194C-4F9E-DFF1-058D-2BA349DF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Memory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974C6-1C79-37B7-ED3B-AD6C28675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23252"/>
            <a:ext cx="11929641" cy="5590565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chemeClr val="accent6"/>
                </a:solidFill>
              </a:rPr>
              <a:t>memory hierarchy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/>
              <a:t>in an operating system refers to the organization of different types of memory/storage based on </a:t>
            </a:r>
            <a:r>
              <a:rPr lang="en-US" b="1" dirty="0">
                <a:solidFill>
                  <a:schemeClr val="accent6"/>
                </a:solidFill>
              </a:rPr>
              <a:t>speed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6"/>
                </a:solidFill>
              </a:rPr>
              <a:t>cost</a:t>
            </a:r>
            <a:r>
              <a:rPr lang="en-US" dirty="0"/>
              <a:t>, and </a:t>
            </a:r>
            <a:r>
              <a:rPr lang="en-US" b="1" dirty="0">
                <a:solidFill>
                  <a:schemeClr val="accent6"/>
                </a:solidFill>
              </a:rPr>
              <a:t>capacity</a:t>
            </a:r>
            <a:r>
              <a:rPr lang="en-US" dirty="0"/>
              <a:t>.</a:t>
            </a:r>
            <a:endParaRPr lang="en-US" sz="22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DEDEB55-F2AE-FEFC-91F0-9D9E72FD3414}"/>
              </a:ext>
            </a:extLst>
          </p:cNvPr>
          <p:cNvGrpSpPr/>
          <p:nvPr/>
        </p:nvGrpSpPr>
        <p:grpSpPr>
          <a:xfrm>
            <a:off x="5021425" y="2237146"/>
            <a:ext cx="1066800" cy="736600"/>
            <a:chOff x="2667000" y="0"/>
            <a:chExt cx="1066800" cy="736600"/>
          </a:xfrm>
        </p:grpSpPr>
        <p:sp>
          <p:nvSpPr>
            <p:cNvPr id="17" name="Trapezoid 16">
              <a:extLst>
                <a:ext uri="{FF2B5EF4-FFF2-40B4-BE49-F238E27FC236}">
                  <a16:creationId xmlns:a16="http://schemas.microsoft.com/office/drawing/2014/main" id="{7EFEA0D4-74B6-98A1-35FA-3C7FA32C359B}"/>
                </a:ext>
              </a:extLst>
            </p:cNvPr>
            <p:cNvSpPr/>
            <p:nvPr/>
          </p:nvSpPr>
          <p:spPr>
            <a:xfrm>
              <a:off x="2667000" y="0"/>
              <a:ext cx="1066800" cy="736600"/>
            </a:xfrm>
            <a:prstGeom prst="trapezoid">
              <a:avLst>
                <a:gd name="adj" fmla="val 72414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" name="Trapezoid 4">
              <a:extLst>
                <a:ext uri="{FF2B5EF4-FFF2-40B4-BE49-F238E27FC236}">
                  <a16:creationId xmlns:a16="http://schemas.microsoft.com/office/drawing/2014/main" id="{97A3A9F3-181E-547A-6AC3-2C4774EACFF6}"/>
                </a:ext>
              </a:extLst>
            </p:cNvPr>
            <p:cNvSpPr txBox="1"/>
            <p:nvPr/>
          </p:nvSpPr>
          <p:spPr>
            <a:xfrm>
              <a:off x="2667000" y="0"/>
              <a:ext cx="1066800" cy="7366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0320" tIns="20320" rIns="20320" bIns="20320" numCol="1" spcCol="1270" anchor="b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/>
                <a:t>Register</a:t>
              </a:r>
              <a:endParaRPr lang="en-US" sz="2400" kern="12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9163A88-DEAE-EE39-89B4-03EE07FEB3A8}"/>
              </a:ext>
            </a:extLst>
          </p:cNvPr>
          <p:cNvGrpSpPr/>
          <p:nvPr/>
        </p:nvGrpSpPr>
        <p:grpSpPr>
          <a:xfrm>
            <a:off x="4488025" y="2973746"/>
            <a:ext cx="2133600" cy="736600"/>
            <a:chOff x="2133600" y="736600"/>
            <a:chExt cx="2133600" cy="736600"/>
          </a:xfrm>
        </p:grpSpPr>
        <p:sp>
          <p:nvSpPr>
            <p:cNvPr id="15" name="Trapezoid 14">
              <a:extLst>
                <a:ext uri="{FF2B5EF4-FFF2-40B4-BE49-F238E27FC236}">
                  <a16:creationId xmlns:a16="http://schemas.microsoft.com/office/drawing/2014/main" id="{F194AAAE-845D-1B88-5EF9-EE451C950C47}"/>
                </a:ext>
              </a:extLst>
            </p:cNvPr>
            <p:cNvSpPr/>
            <p:nvPr/>
          </p:nvSpPr>
          <p:spPr>
            <a:xfrm>
              <a:off x="2133600" y="736600"/>
              <a:ext cx="2133600" cy="736600"/>
            </a:xfrm>
            <a:prstGeom prst="trapezoid">
              <a:avLst>
                <a:gd name="adj" fmla="val 72414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409491"/>
                <a:satOff val="-8265"/>
                <a:lumOff val="-627"/>
                <a:alphaOff val="0"/>
              </a:schemeClr>
            </a:fillRef>
            <a:effectRef idx="0">
              <a:schemeClr val="accent5">
                <a:hueOff val="-409491"/>
                <a:satOff val="-8265"/>
                <a:lumOff val="-627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Trapezoid 6">
              <a:extLst>
                <a:ext uri="{FF2B5EF4-FFF2-40B4-BE49-F238E27FC236}">
                  <a16:creationId xmlns:a16="http://schemas.microsoft.com/office/drawing/2014/main" id="{78827CAA-8B37-4F03-7757-645B09A10749}"/>
                </a:ext>
              </a:extLst>
            </p:cNvPr>
            <p:cNvSpPr txBox="1"/>
            <p:nvPr/>
          </p:nvSpPr>
          <p:spPr>
            <a:xfrm>
              <a:off x="2506980" y="736600"/>
              <a:ext cx="1386840" cy="7366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860" tIns="22860" rIns="22860" bIns="2286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/>
                <a:t>Cache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2852DF9-334A-5DD6-CF99-2D1A5091DD05}"/>
              </a:ext>
            </a:extLst>
          </p:cNvPr>
          <p:cNvGrpSpPr/>
          <p:nvPr/>
        </p:nvGrpSpPr>
        <p:grpSpPr>
          <a:xfrm>
            <a:off x="3954625" y="3710346"/>
            <a:ext cx="3200400" cy="736600"/>
            <a:chOff x="1600200" y="1473200"/>
            <a:chExt cx="3200400" cy="736600"/>
          </a:xfrm>
        </p:grpSpPr>
        <p:sp>
          <p:nvSpPr>
            <p:cNvPr id="13" name="Trapezoid 12">
              <a:extLst>
                <a:ext uri="{FF2B5EF4-FFF2-40B4-BE49-F238E27FC236}">
                  <a16:creationId xmlns:a16="http://schemas.microsoft.com/office/drawing/2014/main" id="{F6092D2E-E473-5DE7-03BC-3905EE737C45}"/>
                </a:ext>
              </a:extLst>
            </p:cNvPr>
            <p:cNvSpPr/>
            <p:nvPr/>
          </p:nvSpPr>
          <p:spPr>
            <a:xfrm>
              <a:off x="1600200" y="1473200"/>
              <a:ext cx="3200400" cy="736600"/>
            </a:xfrm>
            <a:prstGeom prst="trapezoid">
              <a:avLst>
                <a:gd name="adj" fmla="val 72414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818982"/>
                <a:satOff val="-16530"/>
                <a:lumOff val="-1254"/>
                <a:alphaOff val="0"/>
              </a:schemeClr>
            </a:fillRef>
            <a:effectRef idx="0">
              <a:schemeClr val="accent5">
                <a:hueOff val="-818982"/>
                <a:satOff val="-16530"/>
                <a:lumOff val="-1254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Trapezoid 8">
              <a:extLst>
                <a:ext uri="{FF2B5EF4-FFF2-40B4-BE49-F238E27FC236}">
                  <a16:creationId xmlns:a16="http://schemas.microsoft.com/office/drawing/2014/main" id="{E2D46B12-0DC0-8555-03D4-7C5C22E1947F}"/>
                </a:ext>
              </a:extLst>
            </p:cNvPr>
            <p:cNvSpPr txBox="1"/>
            <p:nvPr/>
          </p:nvSpPr>
          <p:spPr>
            <a:xfrm>
              <a:off x="2160269" y="1473200"/>
              <a:ext cx="2080260" cy="7366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 kern="1200" dirty="0"/>
                <a:t>Main Memory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32A97F2-603A-29FA-81EB-122D8DDAFAA5}"/>
              </a:ext>
            </a:extLst>
          </p:cNvPr>
          <p:cNvGrpSpPr/>
          <p:nvPr/>
        </p:nvGrpSpPr>
        <p:grpSpPr>
          <a:xfrm>
            <a:off x="3421225" y="4446946"/>
            <a:ext cx="4267200" cy="736600"/>
            <a:chOff x="1066800" y="2209800"/>
            <a:chExt cx="4267200" cy="736600"/>
          </a:xfrm>
        </p:grpSpPr>
        <p:sp>
          <p:nvSpPr>
            <p:cNvPr id="11" name="Trapezoid 10">
              <a:extLst>
                <a:ext uri="{FF2B5EF4-FFF2-40B4-BE49-F238E27FC236}">
                  <a16:creationId xmlns:a16="http://schemas.microsoft.com/office/drawing/2014/main" id="{9D58C84B-17FF-5550-84D2-F61B25711A73}"/>
                </a:ext>
              </a:extLst>
            </p:cNvPr>
            <p:cNvSpPr/>
            <p:nvPr/>
          </p:nvSpPr>
          <p:spPr>
            <a:xfrm>
              <a:off x="1066800" y="2209800"/>
              <a:ext cx="4267200" cy="736600"/>
            </a:xfrm>
            <a:prstGeom prst="trapezoid">
              <a:avLst>
                <a:gd name="adj" fmla="val 72414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1228474"/>
                <a:satOff val="-24794"/>
                <a:lumOff val="-1882"/>
                <a:alphaOff val="0"/>
              </a:schemeClr>
            </a:fillRef>
            <a:effectRef idx="0">
              <a:schemeClr val="accent5">
                <a:hueOff val="-1228474"/>
                <a:satOff val="-24794"/>
                <a:lumOff val="-1882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Trapezoid 10">
              <a:extLst>
                <a:ext uri="{FF2B5EF4-FFF2-40B4-BE49-F238E27FC236}">
                  <a16:creationId xmlns:a16="http://schemas.microsoft.com/office/drawing/2014/main" id="{9C21D521-88A2-2E86-4CD3-B9A516C3DC9D}"/>
                </a:ext>
              </a:extLst>
            </p:cNvPr>
            <p:cNvSpPr txBox="1"/>
            <p:nvPr/>
          </p:nvSpPr>
          <p:spPr>
            <a:xfrm>
              <a:off x="1813559" y="2209800"/>
              <a:ext cx="2773680" cy="7366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940" tIns="27940" rIns="27940" bIns="27940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Magnetic Disk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722B876-E863-5824-1993-028A84A13317}"/>
              </a:ext>
            </a:extLst>
          </p:cNvPr>
          <p:cNvGrpSpPr/>
          <p:nvPr/>
        </p:nvGrpSpPr>
        <p:grpSpPr>
          <a:xfrm>
            <a:off x="2887825" y="5178942"/>
            <a:ext cx="5334000" cy="736600"/>
            <a:chOff x="533400" y="2941796"/>
            <a:chExt cx="5334000" cy="736600"/>
          </a:xfrm>
        </p:grpSpPr>
        <p:sp>
          <p:nvSpPr>
            <p:cNvPr id="9" name="Trapezoid 8">
              <a:extLst>
                <a:ext uri="{FF2B5EF4-FFF2-40B4-BE49-F238E27FC236}">
                  <a16:creationId xmlns:a16="http://schemas.microsoft.com/office/drawing/2014/main" id="{832957AF-4FE1-1A33-8E9B-65A00A152F9C}"/>
                </a:ext>
              </a:extLst>
            </p:cNvPr>
            <p:cNvSpPr/>
            <p:nvPr/>
          </p:nvSpPr>
          <p:spPr>
            <a:xfrm>
              <a:off x="533400" y="2941796"/>
              <a:ext cx="5334000" cy="736600"/>
            </a:xfrm>
            <a:prstGeom prst="trapezoid">
              <a:avLst>
                <a:gd name="adj" fmla="val 72414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1637965"/>
                <a:satOff val="-33059"/>
                <a:lumOff val="-2509"/>
                <a:alphaOff val="0"/>
              </a:schemeClr>
            </a:fillRef>
            <a:effectRef idx="0">
              <a:schemeClr val="accent5">
                <a:hueOff val="-1637965"/>
                <a:satOff val="-33059"/>
                <a:lumOff val="-2509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Trapezoid 12">
              <a:extLst>
                <a:ext uri="{FF2B5EF4-FFF2-40B4-BE49-F238E27FC236}">
                  <a16:creationId xmlns:a16="http://schemas.microsoft.com/office/drawing/2014/main" id="{EC9A7E00-881D-D49A-7C34-86B7032BDBBD}"/>
                </a:ext>
              </a:extLst>
            </p:cNvPr>
            <p:cNvSpPr txBox="1"/>
            <p:nvPr/>
          </p:nvSpPr>
          <p:spPr>
            <a:xfrm>
              <a:off x="1466849" y="2941796"/>
              <a:ext cx="3467100" cy="7366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0480" tIns="30480" rIns="30480" bIns="3048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kern="1200" dirty="0"/>
                <a:t>Magnetic Tap</a:t>
              </a:r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1F1A2DC-4A03-02DB-CD16-F311CB8B2ACE}"/>
              </a:ext>
            </a:extLst>
          </p:cNvPr>
          <p:cNvCxnSpPr>
            <a:cxnSpLocks/>
          </p:cNvCxnSpPr>
          <p:nvPr/>
        </p:nvCxnSpPr>
        <p:spPr>
          <a:xfrm flipV="1">
            <a:off x="2718669" y="2110609"/>
            <a:ext cx="0" cy="380493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03836A1-A411-BC7B-B527-E136FD8B1A05}"/>
              </a:ext>
            </a:extLst>
          </p:cNvPr>
          <p:cNvSpPr txBox="1"/>
          <p:nvPr/>
        </p:nvSpPr>
        <p:spPr>
          <a:xfrm>
            <a:off x="782828" y="2014976"/>
            <a:ext cx="19334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Faster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Expensive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Less Capacity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3D0FD8E-7AD4-2049-7DEF-F384F872F4BD}"/>
              </a:ext>
            </a:extLst>
          </p:cNvPr>
          <p:cNvCxnSpPr>
            <a:cxnSpLocks/>
          </p:cNvCxnSpPr>
          <p:nvPr/>
        </p:nvCxnSpPr>
        <p:spPr>
          <a:xfrm>
            <a:off x="8401055" y="2110609"/>
            <a:ext cx="18650" cy="380493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6C67FA8F-DB92-78C4-3F64-C113B246871B}"/>
              </a:ext>
            </a:extLst>
          </p:cNvPr>
          <p:cNvSpPr txBox="1"/>
          <p:nvPr/>
        </p:nvSpPr>
        <p:spPr>
          <a:xfrm>
            <a:off x="8486501" y="4899879"/>
            <a:ext cx="21231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Slower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Cheaper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More Capacity</a:t>
            </a:r>
          </a:p>
        </p:txBody>
      </p:sp>
    </p:spTree>
    <p:extLst>
      <p:ext uri="{BB962C8B-B14F-4D97-AF65-F5344CB8AC3E}">
        <p14:creationId xmlns:p14="http://schemas.microsoft.com/office/powerpoint/2010/main" val="649764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C4184-1124-3CDF-81F2-959BFF304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6A35E-4C18-C1DB-ED50-C7BB2B57E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>Logical and Physical Address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6CBD58-822B-C51D-AC23-8FC23BBFC1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- 2</a:t>
            </a:r>
          </a:p>
        </p:txBody>
      </p:sp>
    </p:spTree>
    <p:extLst>
      <p:ext uri="{BB962C8B-B14F-4D97-AF65-F5344CB8AC3E}">
        <p14:creationId xmlns:p14="http://schemas.microsoft.com/office/powerpoint/2010/main" val="589087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42FA9-D8D2-FADF-3E43-206218D5D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DFB08-EDB4-EBF5-B6B8-79CF960E3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Logical and Physical Address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23564-6307-DF39-9F62-9A0644B60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9" y="855354"/>
            <a:ext cx="11929641" cy="5590565"/>
          </a:xfrm>
        </p:spPr>
        <p:txBody>
          <a:bodyPr/>
          <a:lstStyle/>
          <a:p>
            <a:r>
              <a:rPr lang="en-US" dirty="0"/>
              <a:t>In an operating system, </a:t>
            </a:r>
            <a:r>
              <a:rPr lang="en-US" b="1" dirty="0">
                <a:solidFill>
                  <a:schemeClr val="accent6"/>
                </a:solidFill>
              </a:rPr>
              <a:t>Logical Address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chemeClr val="accent6"/>
                </a:solidFill>
              </a:rPr>
              <a:t>Physical Address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/>
              <a:t>are used for </a:t>
            </a:r>
            <a:r>
              <a:rPr lang="en-US" b="1" dirty="0">
                <a:solidFill>
                  <a:schemeClr val="accent6"/>
                </a:solidFill>
              </a:rPr>
              <a:t>memory management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/>
              <a:t>during program execution.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chemeClr val="accent6"/>
                </a:solidFill>
              </a:rPr>
              <a:t>CPU generates logical addresses</a:t>
            </a:r>
            <a:r>
              <a:rPr lang="en-US" dirty="0"/>
              <a:t>, which are then translated into </a:t>
            </a:r>
            <a:r>
              <a:rPr lang="en-US" b="1" dirty="0">
                <a:solidFill>
                  <a:schemeClr val="accent6"/>
                </a:solidFill>
              </a:rPr>
              <a:t>physical addresses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/>
              <a:t>by the </a:t>
            </a:r>
            <a:r>
              <a:rPr lang="en-US" b="1" dirty="0">
                <a:solidFill>
                  <a:schemeClr val="accent6"/>
                </a:solidFill>
              </a:rPr>
              <a:t>Memory Management Unit </a:t>
            </a:r>
            <a:r>
              <a:rPr lang="en-US" dirty="0"/>
              <a:t>(</a:t>
            </a:r>
            <a:r>
              <a:rPr lang="en-US" b="1" dirty="0">
                <a:solidFill>
                  <a:schemeClr val="accent6"/>
                </a:solidFill>
              </a:rPr>
              <a:t>MMU</a:t>
            </a:r>
            <a:r>
              <a:rPr lang="en-US" dirty="0"/>
              <a:t>).</a:t>
            </a:r>
          </a:p>
          <a:p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48D274-70BC-6594-D65D-45D030417FA6}"/>
              </a:ext>
            </a:extLst>
          </p:cNvPr>
          <p:cNvSpPr/>
          <p:nvPr/>
        </p:nvSpPr>
        <p:spPr>
          <a:xfrm>
            <a:off x="1125331" y="3642827"/>
            <a:ext cx="914400" cy="1204169"/>
          </a:xfrm>
          <a:prstGeom prst="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2"/>
                </a:solidFill>
              </a:rPr>
              <a:t> </a:t>
            </a:r>
            <a:r>
              <a:rPr sz="2200" b="1" dirty="0">
                <a:solidFill>
                  <a:schemeClr val="tx2"/>
                </a:solidFill>
              </a:rPr>
              <a:t>CPU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419543-87DC-2ED3-CF2D-CE37CE820A3B}"/>
              </a:ext>
            </a:extLst>
          </p:cNvPr>
          <p:cNvSpPr/>
          <p:nvPr/>
        </p:nvSpPr>
        <p:spPr>
          <a:xfrm>
            <a:off x="4005563" y="2661009"/>
            <a:ext cx="2260944" cy="3257550"/>
          </a:xfrm>
          <a:prstGeom prst="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CF6DCA-B9DE-F737-82FE-BCE5776B72B3}"/>
              </a:ext>
            </a:extLst>
          </p:cNvPr>
          <p:cNvSpPr/>
          <p:nvPr/>
        </p:nvSpPr>
        <p:spPr>
          <a:xfrm>
            <a:off x="8416841" y="2783402"/>
            <a:ext cx="1828800" cy="2743200"/>
          </a:xfrm>
          <a:prstGeom prst="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2200" b="1" dirty="0">
                <a:solidFill>
                  <a:schemeClr val="tx2"/>
                </a:solidFill>
              </a:rPr>
              <a:t>Memory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5322F1-D460-2302-4CBE-F24D4685107D}"/>
              </a:ext>
            </a:extLst>
          </p:cNvPr>
          <p:cNvSpPr txBox="1"/>
          <p:nvPr/>
        </p:nvSpPr>
        <p:spPr>
          <a:xfrm>
            <a:off x="2242956" y="3531502"/>
            <a:ext cx="1649811" cy="646331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>
              <a:defRPr>
                <a:solidFill>
                  <a:srgbClr val="008000"/>
                </a:solidFill>
              </a:defRPr>
            </a:pPr>
            <a:r>
              <a:rPr dirty="0">
                <a:solidFill>
                  <a:schemeClr val="tx1">
                    <a:lumMod val="90000"/>
                    <a:lumOff val="10000"/>
                  </a:schemeClr>
                </a:solidFill>
              </a:rPr>
              <a:t>Logical Address</a:t>
            </a:r>
          </a:p>
          <a:p>
            <a:r>
              <a:rPr lang="en-IN" dirty="0"/>
              <a:t>         </a:t>
            </a:r>
            <a:r>
              <a:rPr dirty="0"/>
              <a:t>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D5CC6D-5C89-57BF-96DC-9927A32C8951}"/>
              </a:ext>
            </a:extLst>
          </p:cNvPr>
          <p:cNvSpPr txBox="1"/>
          <p:nvPr/>
        </p:nvSpPr>
        <p:spPr>
          <a:xfrm>
            <a:off x="6464671" y="3546956"/>
            <a:ext cx="1754006" cy="646331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>
              <a:defRPr>
                <a:solidFill>
                  <a:srgbClr val="008000"/>
                </a:solidFill>
              </a:defRPr>
            </a:pPr>
            <a:r>
              <a:rPr dirty="0">
                <a:solidFill>
                  <a:schemeClr val="tx1">
                    <a:lumMod val="90000"/>
                    <a:lumOff val="10000"/>
                  </a:schemeClr>
                </a:solidFill>
              </a:rPr>
              <a:t>Physical Address</a:t>
            </a:r>
          </a:p>
          <a:p>
            <a:r>
              <a:rPr lang="en-IN" dirty="0"/>
              <a:t>        </a:t>
            </a:r>
            <a:r>
              <a:rPr dirty="0"/>
              <a:t>14346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DD62A8F-9433-398A-6D98-E2E936BF01B0}"/>
              </a:ext>
            </a:extLst>
          </p:cNvPr>
          <p:cNvSpPr/>
          <p:nvPr/>
        </p:nvSpPr>
        <p:spPr>
          <a:xfrm>
            <a:off x="4678834" y="3686534"/>
            <a:ext cx="914400" cy="914400"/>
          </a:xfrm>
          <a:prstGeom prst="ellipse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F1CCF64-68E3-4F7D-FB61-363B4F11BB6D}"/>
              </a:ext>
            </a:extLst>
          </p:cNvPr>
          <p:cNvSpPr/>
          <p:nvPr/>
        </p:nvSpPr>
        <p:spPr>
          <a:xfrm>
            <a:off x="4328690" y="5004159"/>
            <a:ext cx="1614689" cy="622299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14000</a:t>
            </a:r>
            <a:endParaRPr lang="en-IN" b="1" dirty="0">
              <a:solidFill>
                <a:schemeClr val="tx2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A0B2699-1D7E-74E5-BE36-BD09E4D3599B}"/>
              </a:ext>
            </a:extLst>
          </p:cNvPr>
          <p:cNvSpPr/>
          <p:nvPr/>
        </p:nvSpPr>
        <p:spPr>
          <a:xfrm>
            <a:off x="4328690" y="2954696"/>
            <a:ext cx="1614689" cy="4921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2"/>
                </a:solidFill>
              </a:rPr>
              <a:t>Relocation Register</a:t>
            </a:r>
            <a:endParaRPr lang="en-IN" sz="2000" b="1" dirty="0">
              <a:solidFill>
                <a:schemeClr val="tx2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3966E68-9DAE-0413-C3AF-B6AEE9E2AD00}"/>
              </a:ext>
            </a:extLst>
          </p:cNvPr>
          <p:cNvSpPr/>
          <p:nvPr/>
        </p:nvSpPr>
        <p:spPr>
          <a:xfrm>
            <a:off x="3892767" y="5918559"/>
            <a:ext cx="2528198" cy="671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2"/>
                </a:solidFill>
              </a:rPr>
              <a:t>MMU</a:t>
            </a:r>
            <a:endParaRPr lang="en-IN" sz="2200" b="1" dirty="0">
              <a:solidFill>
                <a:schemeClr val="tx2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EAFF4BC-2362-99F5-ED42-903D05412A99}"/>
              </a:ext>
            </a:extLst>
          </p:cNvPr>
          <p:cNvCxnSpPr>
            <a:endCxn id="28" idx="2"/>
          </p:cNvCxnSpPr>
          <p:nvPr/>
        </p:nvCxnSpPr>
        <p:spPr>
          <a:xfrm flipV="1">
            <a:off x="2039731" y="4143734"/>
            <a:ext cx="2639103" cy="1126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6C18CD4-E9DB-DC2F-6311-7507EDD3E8D1}"/>
              </a:ext>
            </a:extLst>
          </p:cNvPr>
          <p:cNvCxnSpPr>
            <a:endCxn id="23" idx="1"/>
          </p:cNvCxnSpPr>
          <p:nvPr/>
        </p:nvCxnSpPr>
        <p:spPr>
          <a:xfrm flipV="1">
            <a:off x="5593236" y="4155002"/>
            <a:ext cx="2823605" cy="891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0231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6" grpId="0" animBg="1"/>
      <p:bldP spid="28" grpId="0" animBg="1"/>
      <p:bldP spid="29" grpId="0" animBg="1"/>
      <p:bldP spid="30" grpId="0"/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3D509-9342-A2BB-2A8B-241610757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B1CDE-02F9-BEE7-4F0D-E6716DEB6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Logical Address VS Physical Address</a:t>
            </a:r>
          </a:p>
        </p:txBody>
      </p:sp>
      <p:graphicFrame>
        <p:nvGraphicFramePr>
          <p:cNvPr id="18" name="Content Placeholder 4">
            <a:extLst>
              <a:ext uri="{FF2B5EF4-FFF2-40B4-BE49-F238E27FC236}">
                <a16:creationId xmlns:a16="http://schemas.microsoft.com/office/drawing/2014/main" id="{4540526A-1F36-B192-FA46-D014B1AA70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2767478"/>
              </p:ext>
            </p:extLst>
          </p:nvPr>
        </p:nvGraphicFramePr>
        <p:xfrm>
          <a:off x="280731" y="963398"/>
          <a:ext cx="11000934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0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Logical Address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Physical Address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Content Placeholder 4">
            <a:extLst>
              <a:ext uri="{FF2B5EF4-FFF2-40B4-BE49-F238E27FC236}">
                <a16:creationId xmlns:a16="http://schemas.microsoft.com/office/drawing/2014/main" id="{984298EE-41C6-52C6-BB07-6FE374A965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8311044"/>
              </p:ext>
            </p:extLst>
          </p:nvPr>
        </p:nvGraphicFramePr>
        <p:xfrm>
          <a:off x="280731" y="1412241"/>
          <a:ext cx="11000934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0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</a:rPr>
                        <a:t>Generated by the </a:t>
                      </a:r>
                      <a:r>
                        <a:rPr lang="en-US" sz="2200" b="1" dirty="0">
                          <a:solidFill>
                            <a:schemeClr val="accent6"/>
                          </a:solidFill>
                        </a:rPr>
                        <a:t>CPU</a:t>
                      </a:r>
                      <a:r>
                        <a:rPr lang="en-US" sz="2200" b="0" dirty="0">
                          <a:solidFill>
                            <a:schemeClr val="tx1"/>
                          </a:solidFill>
                        </a:rPr>
                        <a:t> during program execution.</a:t>
                      </a:r>
                      <a:endParaRPr lang="en-US" sz="22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00500000000000000" pitchFamily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</a:rPr>
                        <a:t>Actual address in </a:t>
                      </a:r>
                      <a:r>
                        <a:rPr lang="en-US" sz="2200" b="1" dirty="0">
                          <a:solidFill>
                            <a:schemeClr val="accent6"/>
                          </a:solidFill>
                        </a:rPr>
                        <a:t>RAM</a:t>
                      </a:r>
                      <a:r>
                        <a:rPr lang="en-US" sz="2200" b="0" dirty="0">
                          <a:solidFill>
                            <a:schemeClr val="tx1"/>
                          </a:solidFill>
                        </a:rPr>
                        <a:t> (Main Memory).</a:t>
                      </a:r>
                      <a:endParaRPr lang="en-US" sz="22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00500000000000000" pitchFamily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Content Placeholder 4">
            <a:extLst>
              <a:ext uri="{FF2B5EF4-FFF2-40B4-BE49-F238E27FC236}">
                <a16:creationId xmlns:a16="http://schemas.microsoft.com/office/drawing/2014/main" id="{A99DFA3D-9DDA-1A80-DE52-64E8D1A3A4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9390928"/>
              </p:ext>
            </p:extLst>
          </p:nvPr>
        </p:nvGraphicFramePr>
        <p:xfrm>
          <a:off x="280731" y="2171878"/>
          <a:ext cx="11000934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0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</a:rPr>
                        <a:t>Logical Address Space is </a:t>
                      </a:r>
                      <a:r>
                        <a:rPr lang="en-US" sz="2200" b="1" dirty="0">
                          <a:solidFill>
                            <a:schemeClr val="accent6"/>
                          </a:solidFill>
                          <a:effectLst/>
                        </a:rPr>
                        <a:t>set of all logical addresses</a:t>
                      </a: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</a:rPr>
                        <a:t> generated by CPU in reference to a program.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</a:rPr>
                        <a:t>Physical Address is </a:t>
                      </a:r>
                      <a:r>
                        <a:rPr lang="en-US" sz="2200" b="1" dirty="0">
                          <a:solidFill>
                            <a:schemeClr val="accent6"/>
                          </a:solidFill>
                          <a:effectLst/>
                        </a:rPr>
                        <a:t>set of all physical addresses</a:t>
                      </a: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</a:rPr>
                        <a:t> mapped to the corresponding logical addresses.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Content Placeholder 4">
            <a:extLst>
              <a:ext uri="{FF2B5EF4-FFF2-40B4-BE49-F238E27FC236}">
                <a16:creationId xmlns:a16="http://schemas.microsoft.com/office/drawing/2014/main" id="{9456B683-2FB8-CC24-AE0F-D90A698EA1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8079203"/>
              </p:ext>
            </p:extLst>
          </p:nvPr>
        </p:nvGraphicFramePr>
        <p:xfrm>
          <a:off x="280735" y="3268119"/>
          <a:ext cx="11000934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0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200" b="1" dirty="0">
                          <a:solidFill>
                            <a:schemeClr val="accent6"/>
                          </a:solidFill>
                          <a:effectLst/>
                        </a:rPr>
                        <a:t>User can view</a:t>
                      </a: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</a:rPr>
                        <a:t> the </a:t>
                      </a:r>
                      <a:r>
                        <a:rPr lang="en-US" sz="2200" b="1" dirty="0">
                          <a:solidFill>
                            <a:schemeClr val="accent6"/>
                          </a:solidFill>
                          <a:effectLst/>
                        </a:rPr>
                        <a:t>logical address </a:t>
                      </a: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</a:rPr>
                        <a:t>of a program.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200" b="1" dirty="0">
                          <a:solidFill>
                            <a:schemeClr val="accent6"/>
                          </a:solidFill>
                          <a:effectLst/>
                        </a:rPr>
                        <a:t>User can never view physical address</a:t>
                      </a: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</a:rPr>
                        <a:t> of program.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Content Placeholder 4">
            <a:extLst>
              <a:ext uri="{FF2B5EF4-FFF2-40B4-BE49-F238E27FC236}">
                <a16:creationId xmlns:a16="http://schemas.microsoft.com/office/drawing/2014/main" id="{931C2FF2-5B29-EF0B-6A7E-4BECCF7878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4526866"/>
              </p:ext>
            </p:extLst>
          </p:nvPr>
        </p:nvGraphicFramePr>
        <p:xfrm>
          <a:off x="280731" y="4031350"/>
          <a:ext cx="11000934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0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Generated by the </a:t>
                      </a:r>
                      <a:r>
                        <a:rPr kumimoji="0" lang="en-US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CPU</a:t>
                      </a:r>
                      <a:r>
                        <a:rPr kumimoji="0" lang="en-US" sz="2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</a:rPr>
                        <a:t>Computed by </a:t>
                      </a:r>
                      <a:r>
                        <a:rPr lang="en-US" sz="2200" b="1" dirty="0">
                          <a:solidFill>
                            <a:schemeClr val="accent6"/>
                          </a:solidFill>
                          <a:effectLst/>
                        </a:rPr>
                        <a:t>MMU</a:t>
                      </a: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Content Placeholder 4">
            <a:extLst>
              <a:ext uri="{FF2B5EF4-FFF2-40B4-BE49-F238E27FC236}">
                <a16:creationId xmlns:a16="http://schemas.microsoft.com/office/drawing/2014/main" id="{4E8446F9-6F68-76B9-CB3C-ABA27E9428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5344789"/>
              </p:ext>
            </p:extLst>
          </p:nvPr>
        </p:nvGraphicFramePr>
        <p:xfrm>
          <a:off x="280731" y="4460330"/>
          <a:ext cx="11000934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0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</a:rPr>
                        <a:t>The user can use the logical address to access the physical address.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</a:rPr>
                        <a:t>The user can indirectly access physical address but not directly.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Content Placeholder 4">
            <a:extLst>
              <a:ext uri="{FF2B5EF4-FFF2-40B4-BE49-F238E27FC236}">
                <a16:creationId xmlns:a16="http://schemas.microsoft.com/office/drawing/2014/main" id="{7ABB16CC-CB61-EF60-DAB8-A13278E491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1511602"/>
              </p:ext>
            </p:extLst>
          </p:nvPr>
        </p:nvGraphicFramePr>
        <p:xfrm>
          <a:off x="280731" y="5220262"/>
          <a:ext cx="11000934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0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</a:rPr>
                        <a:t>Logical address </a:t>
                      </a:r>
                      <a:r>
                        <a:rPr lang="en-US" sz="2200" b="1" dirty="0">
                          <a:solidFill>
                            <a:schemeClr val="accent6"/>
                          </a:solidFill>
                          <a:effectLst/>
                        </a:rPr>
                        <a:t>can be change</a:t>
                      </a: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</a:rPr>
                        <a:t>Physical address </a:t>
                      </a:r>
                      <a:r>
                        <a:rPr lang="en-US" sz="2200" b="1" dirty="0">
                          <a:solidFill>
                            <a:schemeClr val="accent6"/>
                          </a:solidFill>
                          <a:effectLst/>
                        </a:rPr>
                        <a:t>will not change</a:t>
                      </a: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3056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A2B2B-0D57-19E2-61AD-6A409A6BA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5FD753-7F8F-FD55-6FA0-58D50DB8C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Basic Memory Management Techniques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B33684-D817-5BA4-4B70-3A87E9090C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471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29581-FA17-9855-0227-E946B2779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BBF9F-93B7-39FC-E4B8-A5FFBD2F5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Memory Management Techniques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D93012-98D8-67F2-BC82-B4D883811452}"/>
              </a:ext>
            </a:extLst>
          </p:cNvPr>
          <p:cNvSpPr txBox="1"/>
          <p:nvPr/>
        </p:nvSpPr>
        <p:spPr>
          <a:xfrm>
            <a:off x="4595428" y="948316"/>
            <a:ext cx="30476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212121"/>
                </a:solidFill>
              </a:rPr>
              <a:t>MEMORY ALLOCATION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A3232B-ACA9-D49D-8527-C04B77C13E6F}"/>
              </a:ext>
            </a:extLst>
          </p:cNvPr>
          <p:cNvCxnSpPr>
            <a:stCxn id="6" idx="2"/>
          </p:cNvCxnSpPr>
          <p:nvPr/>
        </p:nvCxnSpPr>
        <p:spPr>
          <a:xfrm flipH="1">
            <a:off x="6119242" y="1409981"/>
            <a:ext cx="1" cy="695623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C10153-1DF3-FCC5-7FA0-36C654250AFD}"/>
              </a:ext>
            </a:extLst>
          </p:cNvPr>
          <p:cNvCxnSpPr/>
          <p:nvPr/>
        </p:nvCxnSpPr>
        <p:spPr>
          <a:xfrm>
            <a:off x="3132038" y="2105604"/>
            <a:ext cx="642991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975350-E19C-97DD-B151-22E2A48DA37D}"/>
              </a:ext>
            </a:extLst>
          </p:cNvPr>
          <p:cNvCxnSpPr/>
          <p:nvPr/>
        </p:nvCxnSpPr>
        <p:spPr>
          <a:xfrm>
            <a:off x="9548953" y="2105604"/>
            <a:ext cx="0" cy="600075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D78634-F883-111A-5B37-7399B3EB8468}"/>
              </a:ext>
            </a:extLst>
          </p:cNvPr>
          <p:cNvCxnSpPr/>
          <p:nvPr/>
        </p:nvCxnSpPr>
        <p:spPr>
          <a:xfrm>
            <a:off x="3145679" y="2105604"/>
            <a:ext cx="0" cy="600075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6814EBE-24F0-DD90-80E9-771E7F008D0A}"/>
              </a:ext>
            </a:extLst>
          </p:cNvPr>
          <p:cNvSpPr txBox="1"/>
          <p:nvPr/>
        </p:nvSpPr>
        <p:spPr>
          <a:xfrm>
            <a:off x="8287032" y="2772471"/>
            <a:ext cx="25138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B84742"/>
                </a:solidFill>
              </a:rPr>
              <a:t>Non – Contiguous </a:t>
            </a:r>
          </a:p>
          <a:p>
            <a:pPr algn="ctr"/>
            <a:r>
              <a:rPr lang="en-US" sz="2400" b="1" dirty="0">
                <a:solidFill>
                  <a:srgbClr val="B84742"/>
                </a:solidFill>
              </a:rPr>
              <a:t>Memory Allocation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44D175-5732-436C-3289-B2207521074F}"/>
              </a:ext>
            </a:extLst>
          </p:cNvPr>
          <p:cNvSpPr txBox="1"/>
          <p:nvPr/>
        </p:nvSpPr>
        <p:spPr>
          <a:xfrm>
            <a:off x="1898812" y="2801228"/>
            <a:ext cx="25138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B84742"/>
                </a:solidFill>
              </a:rPr>
              <a:t>Contiguous </a:t>
            </a:r>
          </a:p>
          <a:p>
            <a:pPr algn="ctr"/>
            <a:r>
              <a:rPr lang="en-US" sz="2400" b="1" dirty="0">
                <a:solidFill>
                  <a:srgbClr val="B84742"/>
                </a:solidFill>
              </a:rPr>
              <a:t>Memory Allocation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07A6C62-D91D-780B-3F42-C8981A671922}"/>
              </a:ext>
            </a:extLst>
          </p:cNvPr>
          <p:cNvCxnSpPr/>
          <p:nvPr/>
        </p:nvCxnSpPr>
        <p:spPr>
          <a:xfrm flipH="1">
            <a:off x="3157831" y="3571535"/>
            <a:ext cx="1" cy="6382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04D33EF-B723-1F12-19A1-0E77649A26AE}"/>
              </a:ext>
            </a:extLst>
          </p:cNvPr>
          <p:cNvCxnSpPr/>
          <p:nvPr/>
        </p:nvCxnSpPr>
        <p:spPr>
          <a:xfrm flipV="1">
            <a:off x="846161" y="4213064"/>
            <a:ext cx="4642099" cy="55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D2B6DDD-AF6F-1A83-C928-66D3690F5CEA}"/>
              </a:ext>
            </a:extLst>
          </p:cNvPr>
          <p:cNvCxnSpPr/>
          <p:nvPr/>
        </p:nvCxnSpPr>
        <p:spPr>
          <a:xfrm flipH="1">
            <a:off x="860919" y="4206231"/>
            <a:ext cx="1" cy="638296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6AFF227-E683-E477-B1E7-44CD0748B416}"/>
              </a:ext>
            </a:extLst>
          </p:cNvPr>
          <p:cNvCxnSpPr/>
          <p:nvPr/>
        </p:nvCxnSpPr>
        <p:spPr>
          <a:xfrm flipH="1">
            <a:off x="3152725" y="4231694"/>
            <a:ext cx="1" cy="638296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052971E-6ABB-13ED-F54E-2D57C4F85BD4}"/>
              </a:ext>
            </a:extLst>
          </p:cNvPr>
          <p:cNvCxnSpPr/>
          <p:nvPr/>
        </p:nvCxnSpPr>
        <p:spPr>
          <a:xfrm flipH="1">
            <a:off x="5488260" y="4213064"/>
            <a:ext cx="1" cy="638296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5253F67-A5E6-8BF2-0BF2-F95B106D342A}"/>
              </a:ext>
            </a:extLst>
          </p:cNvPr>
          <p:cNvCxnSpPr/>
          <p:nvPr/>
        </p:nvCxnSpPr>
        <p:spPr>
          <a:xfrm flipH="1">
            <a:off x="9543947" y="3571535"/>
            <a:ext cx="1" cy="6382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E4BD160-12E8-D552-0778-8526077196CE}"/>
              </a:ext>
            </a:extLst>
          </p:cNvPr>
          <p:cNvCxnSpPr/>
          <p:nvPr/>
        </p:nvCxnSpPr>
        <p:spPr>
          <a:xfrm>
            <a:off x="7915701" y="4222512"/>
            <a:ext cx="3637568" cy="96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34AA057-EF8C-6784-794A-38525DC6310E}"/>
              </a:ext>
            </a:extLst>
          </p:cNvPr>
          <p:cNvCxnSpPr>
            <a:cxnSpLocks/>
          </p:cNvCxnSpPr>
          <p:nvPr/>
        </p:nvCxnSpPr>
        <p:spPr>
          <a:xfrm>
            <a:off x="7926449" y="4221641"/>
            <a:ext cx="2900" cy="607426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2AEDAFD-D465-0761-BD1B-A19EEB6DCA9E}"/>
              </a:ext>
            </a:extLst>
          </p:cNvPr>
          <p:cNvCxnSpPr/>
          <p:nvPr/>
        </p:nvCxnSpPr>
        <p:spPr>
          <a:xfrm flipH="1">
            <a:off x="11539621" y="4216693"/>
            <a:ext cx="1" cy="638296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C295090-155D-FCC0-F726-E62C978E787A}"/>
              </a:ext>
            </a:extLst>
          </p:cNvPr>
          <p:cNvSpPr txBox="1"/>
          <p:nvPr/>
        </p:nvSpPr>
        <p:spPr>
          <a:xfrm>
            <a:off x="364183" y="4883023"/>
            <a:ext cx="122341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212121"/>
                </a:solidFill>
              </a:rPr>
              <a:t>Fixed </a:t>
            </a:r>
          </a:p>
          <a:p>
            <a:pPr algn="ctr"/>
            <a:r>
              <a:rPr lang="en-US" sz="2400" dirty="0">
                <a:solidFill>
                  <a:srgbClr val="212121"/>
                </a:solidFill>
              </a:rPr>
              <a:t>Partition</a:t>
            </a:r>
          </a:p>
          <a:p>
            <a:pPr algn="ctr"/>
            <a:r>
              <a:rPr lang="en-US" sz="2400" dirty="0">
                <a:solidFill>
                  <a:srgbClr val="212121"/>
                </a:solidFill>
              </a:rPr>
              <a:t>(</a:t>
            </a:r>
            <a:r>
              <a:rPr lang="en-US" sz="2400" b="1" dirty="0">
                <a:solidFill>
                  <a:schemeClr val="accent6"/>
                </a:solidFill>
              </a:rPr>
              <a:t>Static</a:t>
            </a:r>
            <a:r>
              <a:rPr lang="en-US" sz="2400" dirty="0">
                <a:solidFill>
                  <a:srgbClr val="212121"/>
                </a:solidFill>
              </a:rPr>
              <a:t>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399E21-0A33-CEEF-9197-F5FD3336CF82}"/>
              </a:ext>
            </a:extLst>
          </p:cNvPr>
          <p:cNvSpPr txBox="1"/>
          <p:nvPr/>
        </p:nvSpPr>
        <p:spPr>
          <a:xfrm>
            <a:off x="2381431" y="4890675"/>
            <a:ext cx="15199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212121"/>
                </a:solidFill>
              </a:rPr>
              <a:t>Variable</a:t>
            </a:r>
          </a:p>
          <a:p>
            <a:pPr algn="ctr"/>
            <a:r>
              <a:rPr lang="en-US" sz="2400" dirty="0">
                <a:solidFill>
                  <a:srgbClr val="212121"/>
                </a:solidFill>
              </a:rPr>
              <a:t>Partition</a:t>
            </a:r>
          </a:p>
          <a:p>
            <a:pPr algn="ctr"/>
            <a:r>
              <a:rPr lang="en-US" sz="2400" dirty="0">
                <a:solidFill>
                  <a:srgbClr val="212121"/>
                </a:solidFill>
              </a:rPr>
              <a:t>(</a:t>
            </a:r>
            <a:r>
              <a:rPr lang="en-US" sz="2400" b="1" dirty="0">
                <a:solidFill>
                  <a:schemeClr val="accent6"/>
                </a:solidFill>
              </a:rPr>
              <a:t>Dynamic</a:t>
            </a:r>
            <a:r>
              <a:rPr lang="en-US" sz="2400" dirty="0">
                <a:solidFill>
                  <a:srgbClr val="212121"/>
                </a:solidFill>
              </a:rPr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842C49-A56D-FB79-0150-51649EDD0D5F}"/>
              </a:ext>
            </a:extLst>
          </p:cNvPr>
          <p:cNvSpPr txBox="1"/>
          <p:nvPr/>
        </p:nvSpPr>
        <p:spPr>
          <a:xfrm>
            <a:off x="4829963" y="4890675"/>
            <a:ext cx="13676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212121"/>
                </a:solidFill>
              </a:rPr>
              <a:t>Swapping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7C4FBB-8DF9-28C8-AF27-574F15DABD47}"/>
              </a:ext>
            </a:extLst>
          </p:cNvPr>
          <p:cNvSpPr txBox="1"/>
          <p:nvPr/>
        </p:nvSpPr>
        <p:spPr>
          <a:xfrm>
            <a:off x="7500610" y="4839412"/>
            <a:ext cx="10262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212121"/>
                </a:solidFill>
              </a:rPr>
              <a:t>Paging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4803BF-77AE-CF39-6697-2DF67665A16A}"/>
              </a:ext>
            </a:extLst>
          </p:cNvPr>
          <p:cNvSpPr txBox="1"/>
          <p:nvPr/>
        </p:nvSpPr>
        <p:spPr>
          <a:xfrm>
            <a:off x="10367537" y="4829067"/>
            <a:ext cx="1867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212121"/>
                </a:solidFill>
              </a:rPr>
              <a:t>Segmentation</a:t>
            </a:r>
          </a:p>
        </p:txBody>
      </p:sp>
    </p:spTree>
    <p:extLst>
      <p:ext uri="{BB962C8B-B14F-4D97-AF65-F5344CB8AC3E}">
        <p14:creationId xmlns:p14="http://schemas.microsoft.com/office/powerpoint/2010/main" val="3668143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2" grpId="0"/>
      <p:bldP spid="27" grpId="0"/>
      <p:bldP spid="34" grpId="0"/>
      <p:bldP spid="35" grpId="0"/>
      <p:bldP spid="36" grpId="0"/>
      <p:bldP spid="3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FA4E9-01AA-DD5C-0F7E-0C1F069CF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FBB4C5-CE3B-83BE-0028-C3CE8B46B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Contiguous Memory Allocation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9A7C2E-1A85-3584-82A0-6FE18EFA8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3.1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390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BD719-89A3-16DA-32CC-A0A612316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96D17-12EE-45BB-9214-43DC0434F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Contiguous Memory Allocation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C9D67-8C98-4DE2-E91D-C60905278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55354"/>
            <a:ext cx="6112340" cy="2734657"/>
          </a:xfrm>
        </p:spPr>
        <p:txBody>
          <a:bodyPr/>
          <a:lstStyle/>
          <a:p>
            <a:r>
              <a:rPr lang="en-US" dirty="0"/>
              <a:t>This method is </a:t>
            </a:r>
            <a:r>
              <a:rPr lang="en-US" b="1" dirty="0">
                <a:solidFill>
                  <a:schemeClr val="accent6"/>
                </a:solidFill>
              </a:rPr>
              <a:t>not used </a:t>
            </a:r>
            <a:r>
              <a:rPr lang="en-US" dirty="0"/>
              <a:t>in </a:t>
            </a:r>
            <a:r>
              <a:rPr lang="en-US" b="1" dirty="0">
                <a:solidFill>
                  <a:schemeClr val="accent6"/>
                </a:solidFill>
              </a:rPr>
              <a:t>modern operating systems</a:t>
            </a:r>
            <a:r>
              <a:rPr lang="en-US" dirty="0"/>
              <a:t>. </a:t>
            </a:r>
          </a:p>
          <a:p>
            <a:r>
              <a:rPr lang="en-US" dirty="0"/>
              <a:t>In this approach, each process </a:t>
            </a:r>
            <a:r>
              <a:rPr lang="en-US" b="1" dirty="0">
                <a:solidFill>
                  <a:schemeClr val="accent6"/>
                </a:solidFill>
              </a:rPr>
              <a:t>occupies</a:t>
            </a:r>
            <a:r>
              <a:rPr lang="en-US" dirty="0"/>
              <a:t> a block of </a:t>
            </a:r>
            <a:r>
              <a:rPr lang="en-US" b="1" dirty="0">
                <a:solidFill>
                  <a:schemeClr val="accent6"/>
                </a:solidFill>
              </a:rPr>
              <a:t>contiguous memory locations </a:t>
            </a:r>
            <a:r>
              <a:rPr lang="en-US" dirty="0"/>
              <a:t>in the main memory. </a:t>
            </a:r>
          </a:p>
          <a:p>
            <a:r>
              <a:rPr lang="en-US" dirty="0"/>
              <a:t>The entire process is kept in a </a:t>
            </a:r>
            <a:r>
              <a:rPr lang="en-US" b="1" dirty="0">
                <a:solidFill>
                  <a:schemeClr val="accent6"/>
                </a:solidFill>
              </a:rPr>
              <a:t>contiguous section of memory</a:t>
            </a:r>
            <a:r>
              <a:rPr lang="en-US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2437C5-79CD-B1EE-01F6-763CAC881927}"/>
              </a:ext>
            </a:extLst>
          </p:cNvPr>
          <p:cNvSpPr txBox="1"/>
          <p:nvPr/>
        </p:nvSpPr>
        <p:spPr>
          <a:xfrm>
            <a:off x="6717582" y="1107337"/>
            <a:ext cx="1407758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212121"/>
                </a:solidFill>
              </a:rPr>
              <a:t>Logical </a:t>
            </a:r>
          </a:p>
          <a:p>
            <a:pPr algn="ctr"/>
            <a:r>
              <a:rPr lang="en-US" sz="2400" dirty="0">
                <a:solidFill>
                  <a:srgbClr val="212121"/>
                </a:solidFill>
              </a:rPr>
              <a:t>Address </a:t>
            </a:r>
          </a:p>
          <a:p>
            <a:pPr algn="ctr"/>
            <a:r>
              <a:rPr lang="en-US" sz="2400" dirty="0">
                <a:solidFill>
                  <a:srgbClr val="212121"/>
                </a:solidFill>
              </a:rPr>
              <a:t>Space of</a:t>
            </a:r>
          </a:p>
          <a:p>
            <a:pPr algn="ctr"/>
            <a:r>
              <a:rPr lang="en-US" sz="2400" dirty="0">
                <a:solidFill>
                  <a:srgbClr val="212121"/>
                </a:solidFill>
              </a:rPr>
              <a:t>Process </a:t>
            </a:r>
            <a:r>
              <a:rPr lang="en-US" sz="2400" b="1" dirty="0">
                <a:solidFill>
                  <a:schemeClr val="accent6"/>
                </a:solidFill>
              </a:rPr>
              <a:t>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79D69D-64D9-C451-A187-FB4B7ABB2B4A}"/>
              </a:ext>
            </a:extLst>
          </p:cNvPr>
          <p:cNvSpPr txBox="1"/>
          <p:nvPr/>
        </p:nvSpPr>
        <p:spPr>
          <a:xfrm>
            <a:off x="9668063" y="1762326"/>
            <a:ext cx="1819276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212121"/>
                </a:solidFill>
              </a:rPr>
              <a:t>Physical</a:t>
            </a:r>
          </a:p>
          <a:p>
            <a:pPr algn="ctr"/>
            <a:r>
              <a:rPr lang="en-US" sz="2400" dirty="0">
                <a:solidFill>
                  <a:srgbClr val="212121"/>
                </a:solidFill>
              </a:rPr>
              <a:t>Address </a:t>
            </a:r>
          </a:p>
          <a:p>
            <a:pPr algn="ctr"/>
            <a:r>
              <a:rPr lang="en-US" sz="2400" dirty="0">
                <a:solidFill>
                  <a:srgbClr val="212121"/>
                </a:solidFill>
              </a:rPr>
              <a:t>Space of</a:t>
            </a:r>
          </a:p>
          <a:p>
            <a:pPr algn="ctr"/>
            <a:r>
              <a:rPr lang="en-US" sz="2400" dirty="0">
                <a:solidFill>
                  <a:srgbClr val="212121"/>
                </a:solidFill>
              </a:rPr>
              <a:t>Process </a:t>
            </a:r>
            <a:r>
              <a:rPr lang="en-US" sz="2400" b="1" dirty="0">
                <a:solidFill>
                  <a:schemeClr val="accent6"/>
                </a:solidFill>
              </a:rPr>
              <a:t>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4D63AB-7D42-7C9C-A47E-33C7C2DDD340}"/>
              </a:ext>
            </a:extLst>
          </p:cNvPr>
          <p:cNvSpPr txBox="1"/>
          <p:nvPr/>
        </p:nvSpPr>
        <p:spPr>
          <a:xfrm>
            <a:off x="9668063" y="933565"/>
            <a:ext cx="1815383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2400" dirty="0">
              <a:solidFill>
                <a:srgbClr val="212121"/>
              </a:solidFill>
            </a:endParaRPr>
          </a:p>
          <a:p>
            <a:pPr algn="ctr"/>
            <a:endParaRPr lang="en-US" sz="2400" dirty="0">
              <a:solidFill>
                <a:srgbClr val="21212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E881DB-2C5A-EE24-46E7-72C0338CFA15}"/>
              </a:ext>
            </a:extLst>
          </p:cNvPr>
          <p:cNvSpPr txBox="1"/>
          <p:nvPr/>
        </p:nvSpPr>
        <p:spPr>
          <a:xfrm>
            <a:off x="9668063" y="3329750"/>
            <a:ext cx="1815383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2400" dirty="0">
              <a:solidFill>
                <a:srgbClr val="212121"/>
              </a:solidFill>
            </a:endParaRPr>
          </a:p>
          <a:p>
            <a:pPr algn="ctr"/>
            <a:endParaRPr lang="en-US" sz="2400" dirty="0">
              <a:solidFill>
                <a:srgbClr val="21212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EB6B4D-B295-560B-3348-94FEA48C8CE4}"/>
              </a:ext>
            </a:extLst>
          </p:cNvPr>
          <p:cNvCxnSpPr/>
          <p:nvPr/>
        </p:nvCxnSpPr>
        <p:spPr>
          <a:xfrm>
            <a:off x="8139628" y="1121625"/>
            <a:ext cx="1542723" cy="654989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243D36-569F-CF89-D90A-C5A22889ECDD}"/>
              </a:ext>
            </a:extLst>
          </p:cNvPr>
          <p:cNvCxnSpPr/>
          <p:nvPr/>
        </p:nvCxnSpPr>
        <p:spPr>
          <a:xfrm>
            <a:off x="8125340" y="2665916"/>
            <a:ext cx="1542723" cy="654989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3FA3E29-3B9B-3895-0EA3-82C6C6D04D9A}"/>
              </a:ext>
            </a:extLst>
          </p:cNvPr>
          <p:cNvSpPr txBox="1"/>
          <p:nvPr/>
        </p:nvSpPr>
        <p:spPr>
          <a:xfrm>
            <a:off x="6243520" y="979731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000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5938F3-4A97-825F-021F-C170753A55C9}"/>
              </a:ext>
            </a:extLst>
          </p:cNvPr>
          <p:cNvSpPr txBox="1"/>
          <p:nvPr/>
        </p:nvSpPr>
        <p:spPr>
          <a:xfrm>
            <a:off x="6243520" y="2456530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799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C934B8-F498-B58C-F784-AFCA592C7CFC}"/>
              </a:ext>
            </a:extLst>
          </p:cNvPr>
          <p:cNvSpPr txBox="1"/>
          <p:nvPr/>
        </p:nvSpPr>
        <p:spPr>
          <a:xfrm>
            <a:off x="11483446" y="1613461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6000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332FA6-299E-E274-F5C1-48943EEFF8E4}"/>
              </a:ext>
            </a:extLst>
          </p:cNvPr>
          <p:cNvSpPr txBox="1"/>
          <p:nvPr/>
        </p:nvSpPr>
        <p:spPr>
          <a:xfrm>
            <a:off x="11483445" y="3153696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6799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6FBE00A-72C9-88D2-73A2-4FF2422861F4}"/>
              </a:ext>
            </a:extLst>
          </p:cNvPr>
          <p:cNvCxnSpPr>
            <a:stCxn id="6" idx="1"/>
            <a:endCxn id="6" idx="3"/>
          </p:cNvCxnSpPr>
          <p:nvPr/>
        </p:nvCxnSpPr>
        <p:spPr>
          <a:xfrm>
            <a:off x="9668063" y="1349064"/>
            <a:ext cx="181538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D873AD9-7892-6AD1-5D11-D337983FFC36}"/>
              </a:ext>
            </a:extLst>
          </p:cNvPr>
          <p:cNvCxnSpPr>
            <a:stCxn id="7" idx="1"/>
            <a:endCxn id="7" idx="3"/>
          </p:cNvCxnSpPr>
          <p:nvPr/>
        </p:nvCxnSpPr>
        <p:spPr>
          <a:xfrm>
            <a:off x="9668063" y="3745249"/>
            <a:ext cx="181538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78AA711-D26B-CD20-61B5-086F63C27341}"/>
              </a:ext>
            </a:extLst>
          </p:cNvPr>
          <p:cNvSpPr txBox="1">
            <a:spLocks/>
          </p:cNvSpPr>
          <p:nvPr/>
        </p:nvSpPr>
        <p:spPr>
          <a:xfrm>
            <a:off x="131180" y="3570995"/>
            <a:ext cx="9304222" cy="30070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When a process is brought into memory, it searches for a </a:t>
            </a:r>
            <a:r>
              <a:rPr lang="en-US" b="1" dirty="0">
                <a:solidFill>
                  <a:schemeClr val="accent6"/>
                </a:solidFill>
              </a:rPr>
              <a:t>chunk of free memory </a:t>
            </a:r>
            <a:r>
              <a:rPr lang="en-US" dirty="0"/>
              <a:t>that is </a:t>
            </a:r>
            <a:r>
              <a:rPr lang="en-US" b="1" dirty="0">
                <a:solidFill>
                  <a:schemeClr val="accent6"/>
                </a:solidFill>
              </a:rPr>
              <a:t>large enough </a:t>
            </a:r>
            <a:r>
              <a:rPr lang="en-US" dirty="0"/>
              <a:t>to hold the process. Once a suitable chunk is found, the required memory is </a:t>
            </a:r>
            <a:r>
              <a:rPr lang="en-US" b="1" dirty="0">
                <a:solidFill>
                  <a:schemeClr val="accent6"/>
                </a:solidFill>
              </a:rPr>
              <a:t>allocated</a:t>
            </a:r>
            <a:r>
              <a:rPr lang="en-US" dirty="0"/>
              <a:t> to the process.</a:t>
            </a:r>
          </a:p>
          <a:p>
            <a:r>
              <a:rPr lang="en-US" dirty="0"/>
              <a:t>If a memory space of the required size is </a:t>
            </a:r>
            <a:r>
              <a:rPr lang="en-US" b="1" dirty="0">
                <a:solidFill>
                  <a:schemeClr val="accent6"/>
                </a:solidFill>
              </a:rPr>
              <a:t>not available</a:t>
            </a:r>
            <a:r>
              <a:rPr lang="en-US" dirty="0"/>
              <a:t> in the main memory, the process must </a:t>
            </a:r>
            <a:r>
              <a:rPr lang="en-US" b="1" dirty="0">
                <a:solidFill>
                  <a:schemeClr val="accent6"/>
                </a:solidFill>
              </a:rPr>
              <a:t>wait</a:t>
            </a:r>
            <a:r>
              <a:rPr lang="en-US" dirty="0"/>
              <a:t> until the required size becomes available.</a:t>
            </a:r>
          </a:p>
          <a:p>
            <a:r>
              <a:rPr lang="en-US" dirty="0"/>
              <a:t>In this method, the logical address space is </a:t>
            </a:r>
            <a:r>
              <a:rPr lang="en-US" b="1" dirty="0">
                <a:solidFill>
                  <a:schemeClr val="accent6"/>
                </a:solidFill>
              </a:rPr>
              <a:t>not divided into any partitions</a:t>
            </a:r>
            <a:r>
              <a:rPr lang="en-US" dirty="0"/>
              <a:t>. The physical address space remains </a:t>
            </a:r>
            <a:r>
              <a:rPr lang="en-US" b="1" dirty="0">
                <a:solidFill>
                  <a:schemeClr val="accent6"/>
                </a:solidFill>
              </a:rPr>
              <a:t>contiguous</a:t>
            </a:r>
            <a:r>
              <a:rPr lang="en-US" dirty="0"/>
              <a:t> without any </a:t>
            </a:r>
            <a:r>
              <a:rPr lang="en-US" b="1" dirty="0">
                <a:solidFill>
                  <a:schemeClr val="accent6"/>
                </a:solidFill>
              </a:rPr>
              <a:t>gaps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3581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0" grpId="0"/>
      <p:bldP spid="11" grpId="0"/>
      <p:bldP spid="12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EFFA7-9FC3-8088-D031-4317155E1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EF355-83BB-4A8B-4FC4-BEBE80D0C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Contiguous Memory Allocation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48D36-728F-2912-A545-54F4EFB21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55354"/>
            <a:ext cx="11916794" cy="2734657"/>
          </a:xfrm>
        </p:spPr>
        <p:txBody>
          <a:bodyPr/>
          <a:lstStyle/>
          <a:p>
            <a:pPr fontAlgn="base"/>
            <a:r>
              <a:rPr lang="en-US" dirty="0"/>
              <a:t>Contiguous Memory Allocation techniques has two types:</a:t>
            </a:r>
          </a:p>
          <a:p>
            <a:pPr marL="1001712" lvl="1" indent="-457200" fontAlgn="base">
              <a:lnSpc>
                <a:spcPct val="150000"/>
              </a:lnSpc>
              <a:buFont typeface="+mj-lt"/>
              <a:buAutoNum type="arabicPeriod"/>
            </a:pPr>
            <a:r>
              <a:rPr lang="en-US" sz="2200" b="1" dirty="0">
                <a:solidFill>
                  <a:schemeClr val="accent6"/>
                </a:solidFill>
              </a:rPr>
              <a:t>Fixed</a:t>
            </a:r>
            <a:r>
              <a:rPr lang="en-US" sz="2200" dirty="0"/>
              <a:t> (or </a:t>
            </a:r>
            <a:r>
              <a:rPr lang="en-US" sz="2200" b="1" dirty="0">
                <a:solidFill>
                  <a:schemeClr val="accent6"/>
                </a:solidFill>
              </a:rPr>
              <a:t>Static</a:t>
            </a:r>
            <a:r>
              <a:rPr lang="en-US" sz="2200" dirty="0"/>
              <a:t>) </a:t>
            </a:r>
            <a:r>
              <a:rPr lang="en-US" sz="2200" b="1" dirty="0">
                <a:solidFill>
                  <a:schemeClr val="accent6"/>
                </a:solidFill>
              </a:rPr>
              <a:t>Partition</a:t>
            </a:r>
          </a:p>
          <a:p>
            <a:pPr marL="1001712" lvl="1" indent="-457200" fontAlgn="base">
              <a:lnSpc>
                <a:spcPct val="150000"/>
              </a:lnSpc>
              <a:buFont typeface="+mj-lt"/>
              <a:buAutoNum type="arabicPeriod"/>
            </a:pPr>
            <a:r>
              <a:rPr lang="en-US" sz="2200" b="1" dirty="0">
                <a:solidFill>
                  <a:schemeClr val="accent6"/>
                </a:solidFill>
              </a:rPr>
              <a:t>Variable</a:t>
            </a:r>
            <a:r>
              <a:rPr lang="en-US" sz="2200" dirty="0"/>
              <a:t> (or </a:t>
            </a:r>
            <a:r>
              <a:rPr lang="en-US" sz="2200" b="1" dirty="0">
                <a:solidFill>
                  <a:schemeClr val="accent6"/>
                </a:solidFill>
              </a:rPr>
              <a:t>Dynamic</a:t>
            </a:r>
            <a:r>
              <a:rPr lang="en-US" sz="2200" dirty="0"/>
              <a:t>) </a:t>
            </a:r>
            <a:r>
              <a:rPr lang="en-US" sz="2200" b="1" dirty="0">
                <a:solidFill>
                  <a:schemeClr val="accent6"/>
                </a:solidFill>
              </a:rPr>
              <a:t>Partition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78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148654-AFAF-38F4-522D-CCBC8A1C42F5}"/>
              </a:ext>
            </a:extLst>
          </p:cNvPr>
          <p:cNvSpPr/>
          <p:nvPr/>
        </p:nvSpPr>
        <p:spPr>
          <a:xfrm>
            <a:off x="5816188" y="1216805"/>
            <a:ext cx="2008682" cy="95083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Operating System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627ECB-066B-83D0-B1EE-28253643E234}"/>
              </a:ext>
            </a:extLst>
          </p:cNvPr>
          <p:cNvSpPr/>
          <p:nvPr/>
        </p:nvSpPr>
        <p:spPr>
          <a:xfrm>
            <a:off x="5816188" y="2167641"/>
            <a:ext cx="2008682" cy="622924"/>
          </a:xfrm>
          <a:prstGeom prst="rect">
            <a:avLst/>
          </a:prstGeom>
          <a:solidFill>
            <a:schemeClr val="accent2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2D45C4-334D-F77A-9FFF-A669C4032B16}"/>
              </a:ext>
            </a:extLst>
          </p:cNvPr>
          <p:cNvSpPr/>
          <p:nvPr/>
        </p:nvSpPr>
        <p:spPr>
          <a:xfrm>
            <a:off x="5816188" y="2790563"/>
            <a:ext cx="2008682" cy="1199421"/>
          </a:xfrm>
          <a:prstGeom prst="rect">
            <a:avLst/>
          </a:prstGeom>
          <a:solidFill>
            <a:schemeClr val="accent5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D60C6E-9E29-563E-F20B-ADD083D72E72}"/>
              </a:ext>
            </a:extLst>
          </p:cNvPr>
          <p:cNvSpPr/>
          <p:nvPr/>
        </p:nvSpPr>
        <p:spPr>
          <a:xfrm>
            <a:off x="5816188" y="3989983"/>
            <a:ext cx="2008682" cy="929391"/>
          </a:xfrm>
          <a:prstGeom prst="rect">
            <a:avLst/>
          </a:prstGeom>
          <a:solidFill>
            <a:srgbClr val="0070C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FDE788-19F3-CD0D-EA16-DA4E32A13649}"/>
              </a:ext>
            </a:extLst>
          </p:cNvPr>
          <p:cNvSpPr/>
          <p:nvPr/>
        </p:nvSpPr>
        <p:spPr>
          <a:xfrm>
            <a:off x="5816188" y="4919374"/>
            <a:ext cx="2008682" cy="487181"/>
          </a:xfrm>
          <a:prstGeom prst="rect">
            <a:avLst/>
          </a:prstGeom>
          <a:solidFill>
            <a:srgbClr val="FFFF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6259FD-1CEA-33FF-9A82-4819B027F253}"/>
              </a:ext>
            </a:extLst>
          </p:cNvPr>
          <p:cNvSpPr txBox="1"/>
          <p:nvPr/>
        </p:nvSpPr>
        <p:spPr>
          <a:xfrm>
            <a:off x="7884357" y="2279048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8 MB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EAD7E5-2C51-D96E-5DFF-13BE4E094DA8}"/>
              </a:ext>
            </a:extLst>
          </p:cNvPr>
          <p:cNvSpPr txBox="1"/>
          <p:nvPr/>
        </p:nvSpPr>
        <p:spPr>
          <a:xfrm>
            <a:off x="7884357" y="306678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20 MB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0027EB-DF76-DF1F-00D7-853870FE9436}"/>
              </a:ext>
            </a:extLst>
          </p:cNvPr>
          <p:cNvSpPr txBox="1"/>
          <p:nvPr/>
        </p:nvSpPr>
        <p:spPr>
          <a:xfrm>
            <a:off x="7908720" y="4254623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10 MB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5D46C5-6C01-2D8E-4C5F-92F2604DC244}"/>
              </a:ext>
            </a:extLst>
          </p:cNvPr>
          <p:cNvSpPr txBox="1"/>
          <p:nvPr/>
        </p:nvSpPr>
        <p:spPr>
          <a:xfrm>
            <a:off x="7970085" y="5006445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5 MB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DD1F15-78A3-6D15-146A-4E9B2CC7B38D}"/>
              </a:ext>
            </a:extLst>
          </p:cNvPr>
          <p:cNvSpPr/>
          <p:nvPr/>
        </p:nvSpPr>
        <p:spPr>
          <a:xfrm>
            <a:off x="764502" y="1902628"/>
            <a:ext cx="1798819" cy="36088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P1  15 MB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4352E76-862C-8E22-6E02-99DB2B509747}"/>
              </a:ext>
            </a:extLst>
          </p:cNvPr>
          <p:cNvCxnSpPr>
            <a:cxnSpLocks/>
            <a:stCxn id="13" idx="3"/>
            <a:endCxn id="6" idx="1"/>
          </p:cNvCxnSpPr>
          <p:nvPr/>
        </p:nvCxnSpPr>
        <p:spPr>
          <a:xfrm>
            <a:off x="2563321" y="2083073"/>
            <a:ext cx="3252867" cy="130720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FBC1DF4-85BE-773E-B7CA-655AC4440970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2563321" y="2479103"/>
            <a:ext cx="3252867" cy="36659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B417A0E-3B47-0682-BD3B-C5CCA1FDF28F}"/>
              </a:ext>
            </a:extLst>
          </p:cNvPr>
          <p:cNvSpPr/>
          <p:nvPr/>
        </p:nvSpPr>
        <p:spPr>
          <a:xfrm>
            <a:off x="5816188" y="5397604"/>
            <a:ext cx="2008682" cy="938341"/>
          </a:xfrm>
          <a:prstGeom prst="rect">
            <a:avLst/>
          </a:prstGeom>
          <a:solidFill>
            <a:srgbClr val="CCECFF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1CBE48-D0A5-7626-ADDA-C00BA76B8B26}"/>
              </a:ext>
            </a:extLst>
          </p:cNvPr>
          <p:cNvSpPr txBox="1"/>
          <p:nvPr/>
        </p:nvSpPr>
        <p:spPr>
          <a:xfrm>
            <a:off x="7898874" y="5666719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15 MB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1694911-901B-C433-A693-0B9A0CA5F55F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2563321" y="3823806"/>
            <a:ext cx="3252867" cy="204296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AD67F84-4AD7-6C35-316F-E02C0E14AF4E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2563321" y="4454679"/>
            <a:ext cx="3252867" cy="20005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814D23C-2A21-1DE8-7A66-4AE3EAEB0A37}"/>
              </a:ext>
            </a:extLst>
          </p:cNvPr>
          <p:cNvSpPr/>
          <p:nvPr/>
        </p:nvSpPr>
        <p:spPr>
          <a:xfrm>
            <a:off x="764502" y="2704821"/>
            <a:ext cx="1798819" cy="36088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P2  6 MB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F607FF-48C7-852A-449E-19C95B8D2C43}"/>
              </a:ext>
            </a:extLst>
          </p:cNvPr>
          <p:cNvSpPr/>
          <p:nvPr/>
        </p:nvSpPr>
        <p:spPr>
          <a:xfrm>
            <a:off x="769971" y="3643361"/>
            <a:ext cx="1798819" cy="36088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P3  12  MB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82E52BE-8CA5-7BDD-7D99-2A1678B90133}"/>
              </a:ext>
            </a:extLst>
          </p:cNvPr>
          <p:cNvSpPr/>
          <p:nvPr/>
        </p:nvSpPr>
        <p:spPr>
          <a:xfrm>
            <a:off x="764502" y="4408001"/>
            <a:ext cx="1798819" cy="36088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P4  5 MB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D59DCA-1057-9FFA-0742-046E75B61E08}"/>
              </a:ext>
            </a:extLst>
          </p:cNvPr>
          <p:cNvSpPr txBox="1"/>
          <p:nvPr/>
        </p:nvSpPr>
        <p:spPr>
          <a:xfrm>
            <a:off x="8887278" y="2263517"/>
            <a:ext cx="9144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2 MB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799E63-DAE6-090A-951A-9D0CDFD2A27F}"/>
              </a:ext>
            </a:extLst>
          </p:cNvPr>
          <p:cNvSpPr txBox="1"/>
          <p:nvPr/>
        </p:nvSpPr>
        <p:spPr>
          <a:xfrm>
            <a:off x="8887278" y="3051249"/>
            <a:ext cx="9144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5 MB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15215B-27F3-46C2-77B7-D9C184C34547}"/>
              </a:ext>
            </a:extLst>
          </p:cNvPr>
          <p:cNvSpPr txBox="1"/>
          <p:nvPr/>
        </p:nvSpPr>
        <p:spPr>
          <a:xfrm>
            <a:off x="8911641" y="4239092"/>
            <a:ext cx="9144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5 MB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0E4A27-0F75-FB86-AE9B-66F0815C1BFF}"/>
              </a:ext>
            </a:extLst>
          </p:cNvPr>
          <p:cNvSpPr txBox="1"/>
          <p:nvPr/>
        </p:nvSpPr>
        <p:spPr>
          <a:xfrm>
            <a:off x="8901795" y="5651188"/>
            <a:ext cx="9144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3 MB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8CB5C5-CEB3-1D88-8F26-87053AD097AD}"/>
              </a:ext>
            </a:extLst>
          </p:cNvPr>
          <p:cNvSpPr txBox="1"/>
          <p:nvPr/>
        </p:nvSpPr>
        <p:spPr>
          <a:xfrm>
            <a:off x="11072268" y="3235188"/>
            <a:ext cx="44970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7EAF56-9B1A-9352-959D-B39291720073}"/>
              </a:ext>
            </a:extLst>
          </p:cNvPr>
          <p:cNvSpPr txBox="1"/>
          <p:nvPr/>
        </p:nvSpPr>
        <p:spPr>
          <a:xfrm>
            <a:off x="8677141" y="1377209"/>
            <a:ext cx="142359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Free slot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4531FE54-DA61-0BD1-D748-A949B029E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Fixed (or </a:t>
            </a:r>
            <a:r>
              <a:rPr lang="en-US" dirty="0">
                <a:solidFill>
                  <a:schemeClr val="accent6"/>
                </a:solidFill>
              </a:rPr>
              <a:t>Static</a:t>
            </a:r>
            <a:r>
              <a:rPr lang="en-US" dirty="0"/>
              <a:t>) Partition</a:t>
            </a:r>
          </a:p>
        </p:txBody>
      </p:sp>
    </p:spTree>
    <p:extLst>
      <p:ext uri="{BB962C8B-B14F-4D97-AF65-F5344CB8AC3E}">
        <p14:creationId xmlns:p14="http://schemas.microsoft.com/office/powerpoint/2010/main" val="2631354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3.7037E-6 L 0.42422 0.18403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11" y="9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0.00139 L 0.42292 -0.06412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146" y="-32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2.59259E-6 L 0.42383 0.29791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185" y="148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48148E-6 L 0.42643 -0.01481 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15" y="-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/>
      <p:bldP spid="10" grpId="0"/>
      <p:bldP spid="11" grpId="0"/>
      <p:bldP spid="12" grpId="0"/>
      <p:bldP spid="13" grpId="0" animBg="1"/>
      <p:bldP spid="16" grpId="0" animBg="1"/>
      <p:bldP spid="17" grpId="0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BB6E0-5635-82F9-DDF6-CB932FEC0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EC05B-5FDA-6442-0F02-8496CDB6B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Fixed (or </a:t>
            </a:r>
            <a:r>
              <a:rPr lang="en-US" dirty="0">
                <a:solidFill>
                  <a:schemeClr val="accent6"/>
                </a:solidFill>
              </a:rPr>
              <a:t>Static</a:t>
            </a:r>
            <a:r>
              <a:rPr lang="en-US" dirty="0"/>
              <a:t>) Partition (Conti..)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D5A21ED-7F83-C2BA-7649-334A18C30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61" y="796901"/>
            <a:ext cx="8047656" cy="5590565"/>
          </a:xfrm>
        </p:spPr>
        <p:txBody>
          <a:bodyPr/>
          <a:lstStyle/>
          <a:p>
            <a:r>
              <a:rPr lang="en-US" dirty="0"/>
              <a:t>Here memory is divided into </a:t>
            </a:r>
            <a:r>
              <a:rPr lang="en-US" b="1" dirty="0">
                <a:solidFill>
                  <a:schemeClr val="accent6"/>
                </a:solidFill>
              </a:rPr>
              <a:t>fixed sized partitions</a:t>
            </a:r>
            <a:r>
              <a:rPr lang="en-US" dirty="0"/>
              <a:t>. </a:t>
            </a:r>
          </a:p>
          <a:p>
            <a:r>
              <a:rPr lang="en-US" dirty="0"/>
              <a:t>Size can be </a:t>
            </a:r>
            <a:r>
              <a:rPr lang="en-US" b="1" dirty="0">
                <a:solidFill>
                  <a:schemeClr val="accent6"/>
                </a:solidFill>
              </a:rPr>
              <a:t>equal or unequal </a:t>
            </a:r>
            <a:r>
              <a:rPr lang="en-US" dirty="0"/>
              <a:t>for different partitions.</a:t>
            </a:r>
          </a:p>
          <a:p>
            <a:r>
              <a:rPr lang="en-US" dirty="0"/>
              <a:t>Generally </a:t>
            </a:r>
            <a:r>
              <a:rPr lang="en-US" b="1" dirty="0">
                <a:solidFill>
                  <a:schemeClr val="accent6"/>
                </a:solidFill>
              </a:rPr>
              <a:t>unequal partitions </a:t>
            </a:r>
            <a:r>
              <a:rPr lang="en-US" dirty="0"/>
              <a:t>are used for </a:t>
            </a:r>
            <a:r>
              <a:rPr lang="en-US" b="1" dirty="0">
                <a:solidFill>
                  <a:schemeClr val="accent6"/>
                </a:solidFill>
              </a:rPr>
              <a:t>better utilizations</a:t>
            </a:r>
            <a:r>
              <a:rPr lang="en-US" dirty="0"/>
              <a:t>.</a:t>
            </a:r>
          </a:p>
          <a:p>
            <a:r>
              <a:rPr lang="en-US" dirty="0"/>
              <a:t>Each partition can </a:t>
            </a:r>
            <a:r>
              <a:rPr lang="en-US" b="1" dirty="0">
                <a:solidFill>
                  <a:schemeClr val="accent6"/>
                </a:solidFill>
              </a:rPr>
              <a:t>accommodate exactly one process</a:t>
            </a:r>
            <a:r>
              <a:rPr lang="en-US" dirty="0"/>
              <a:t>, means only single process can be placed in one partition.</a:t>
            </a:r>
          </a:p>
          <a:p>
            <a:r>
              <a:rPr lang="en-US" dirty="0"/>
              <a:t>The partition </a:t>
            </a:r>
            <a:r>
              <a:rPr lang="en-US" b="1" dirty="0">
                <a:solidFill>
                  <a:schemeClr val="accent6"/>
                </a:solidFill>
              </a:rPr>
              <a:t>boundaries are not movable</a:t>
            </a:r>
            <a:r>
              <a:rPr lang="en-US" dirty="0"/>
              <a:t>.</a:t>
            </a:r>
          </a:p>
          <a:p>
            <a:r>
              <a:rPr lang="en-US" dirty="0"/>
              <a:t>Whenever any program needs to be </a:t>
            </a:r>
            <a:r>
              <a:rPr lang="en-US" b="1" dirty="0">
                <a:solidFill>
                  <a:schemeClr val="accent6"/>
                </a:solidFill>
              </a:rPr>
              <a:t>loaded in memory</a:t>
            </a:r>
            <a:r>
              <a:rPr lang="en-US" dirty="0"/>
              <a:t>, a free partition big enough to hold the program is found. This partition will be allocated to that </a:t>
            </a:r>
            <a:r>
              <a:rPr lang="en-US" b="1" dirty="0">
                <a:solidFill>
                  <a:schemeClr val="accent6"/>
                </a:solidFill>
              </a:rPr>
              <a:t>program</a:t>
            </a:r>
            <a:r>
              <a:rPr lang="en-US" dirty="0"/>
              <a:t> or </a:t>
            </a:r>
            <a:r>
              <a:rPr lang="en-US" b="1" dirty="0">
                <a:solidFill>
                  <a:schemeClr val="accent6"/>
                </a:solidFill>
              </a:rPr>
              <a:t>process</a:t>
            </a:r>
            <a:r>
              <a:rPr lang="en-US" dirty="0"/>
              <a:t>.</a:t>
            </a:r>
          </a:p>
          <a:p>
            <a:r>
              <a:rPr lang="en-US" dirty="0"/>
              <a:t>If there is </a:t>
            </a:r>
            <a:r>
              <a:rPr lang="en-US" b="1" dirty="0">
                <a:solidFill>
                  <a:schemeClr val="accent6"/>
                </a:solidFill>
              </a:rPr>
              <a:t>no free partition available of required size</a:t>
            </a:r>
            <a:r>
              <a:rPr lang="en-US" dirty="0"/>
              <a:t>, then the process needs to </a:t>
            </a:r>
            <a:r>
              <a:rPr lang="en-US" b="1" dirty="0">
                <a:solidFill>
                  <a:schemeClr val="accent6"/>
                </a:solidFill>
              </a:rPr>
              <a:t>wait</a:t>
            </a:r>
            <a:r>
              <a:rPr lang="en-US" dirty="0"/>
              <a:t>. Such process will be put in a </a:t>
            </a:r>
            <a:r>
              <a:rPr lang="en-US" b="1" dirty="0">
                <a:solidFill>
                  <a:schemeClr val="accent6"/>
                </a:solidFill>
              </a:rPr>
              <a:t>queue</a:t>
            </a:r>
            <a:r>
              <a:rPr lang="en-US" dirty="0"/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95DA33-5133-55EC-ADC0-B4B79DEDF5DF}"/>
              </a:ext>
            </a:extLst>
          </p:cNvPr>
          <p:cNvSpPr/>
          <p:nvPr/>
        </p:nvSpPr>
        <p:spPr>
          <a:xfrm>
            <a:off x="9325988" y="932591"/>
            <a:ext cx="1828800" cy="4572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C31460D-3A21-954C-F4A5-AA9B1592BEB7}"/>
              </a:ext>
            </a:extLst>
          </p:cNvPr>
          <p:cNvCxnSpPr/>
          <p:nvPr/>
        </p:nvCxnSpPr>
        <p:spPr>
          <a:xfrm flipV="1">
            <a:off x="9325988" y="4956916"/>
            <a:ext cx="1828800" cy="3414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37B8BFA-3E88-252C-98C3-9823E99E3BB0}"/>
              </a:ext>
            </a:extLst>
          </p:cNvPr>
          <p:cNvCxnSpPr/>
          <p:nvPr/>
        </p:nvCxnSpPr>
        <p:spPr>
          <a:xfrm flipV="1">
            <a:off x="9325988" y="4576055"/>
            <a:ext cx="1828800" cy="15082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BA0CA6-22F4-5A52-2AAF-88CCF6E7B3E0}"/>
              </a:ext>
            </a:extLst>
          </p:cNvPr>
          <p:cNvCxnSpPr/>
          <p:nvPr/>
        </p:nvCxnSpPr>
        <p:spPr>
          <a:xfrm>
            <a:off x="9325988" y="2913791"/>
            <a:ext cx="18288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D221641-663C-F387-3DCE-55234F1D02BA}"/>
              </a:ext>
            </a:extLst>
          </p:cNvPr>
          <p:cNvCxnSpPr/>
          <p:nvPr/>
        </p:nvCxnSpPr>
        <p:spPr>
          <a:xfrm>
            <a:off x="9334084" y="1310018"/>
            <a:ext cx="18288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7EB85D2-2501-20AB-E64C-A752B01A5F5A}"/>
              </a:ext>
            </a:extLst>
          </p:cNvPr>
          <p:cNvSpPr txBox="1"/>
          <p:nvPr/>
        </p:nvSpPr>
        <p:spPr>
          <a:xfrm>
            <a:off x="9334084" y="4964184"/>
            <a:ext cx="1828800" cy="530352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EF0A68-7473-0A10-1249-8837A12BE808}"/>
              </a:ext>
            </a:extLst>
          </p:cNvPr>
          <p:cNvSpPr txBox="1"/>
          <p:nvPr/>
        </p:nvSpPr>
        <p:spPr>
          <a:xfrm>
            <a:off x="9325988" y="4586055"/>
            <a:ext cx="1828800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Partition 1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0B9F9E-0585-F0CF-2CCA-3374156C9E9F}"/>
              </a:ext>
            </a:extLst>
          </p:cNvPr>
          <p:cNvSpPr txBox="1"/>
          <p:nvPr/>
        </p:nvSpPr>
        <p:spPr>
          <a:xfrm>
            <a:off x="9319638" y="3222852"/>
            <a:ext cx="1828800" cy="36933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Partition 3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1790D9-024D-5D58-455D-6AECAB0815AD}"/>
              </a:ext>
            </a:extLst>
          </p:cNvPr>
          <p:cNvSpPr txBox="1"/>
          <p:nvPr/>
        </p:nvSpPr>
        <p:spPr>
          <a:xfrm>
            <a:off x="9325988" y="1967125"/>
            <a:ext cx="1828800" cy="36933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Partition 4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477E3C-54BF-B899-5479-CCC0305636DA}"/>
              </a:ext>
            </a:extLst>
          </p:cNvPr>
          <p:cNvSpPr txBox="1"/>
          <p:nvPr/>
        </p:nvSpPr>
        <p:spPr>
          <a:xfrm>
            <a:off x="9334084" y="937568"/>
            <a:ext cx="1828800" cy="369332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Partition 5</a:t>
            </a:r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8322BDC-1DA9-EE0F-0ED4-8B3B928B7F1E}"/>
              </a:ext>
            </a:extLst>
          </p:cNvPr>
          <p:cNvCxnSpPr/>
          <p:nvPr/>
        </p:nvCxnSpPr>
        <p:spPr>
          <a:xfrm flipV="1">
            <a:off x="9319638" y="3968729"/>
            <a:ext cx="1828800" cy="15082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E28E6D5-3344-11A5-2E86-15F7BFD61022}"/>
              </a:ext>
            </a:extLst>
          </p:cNvPr>
          <p:cNvSpPr txBox="1"/>
          <p:nvPr/>
        </p:nvSpPr>
        <p:spPr>
          <a:xfrm>
            <a:off x="9325988" y="4083826"/>
            <a:ext cx="1828800" cy="36933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Partition 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8231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3" grpId="0" animBg="1"/>
      <p:bldP spid="14" grpId="0"/>
      <p:bldP spid="15" grpId="0"/>
      <p:bldP spid="16" grpId="0" animBg="1"/>
      <p:bldP spid="1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C503291-62B6-DF35-7DAA-67D6D0FAD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Fixed (or </a:t>
            </a:r>
            <a:r>
              <a:rPr lang="en-US" dirty="0">
                <a:solidFill>
                  <a:schemeClr val="accent6"/>
                </a:solidFill>
              </a:rPr>
              <a:t>Static</a:t>
            </a:r>
            <a:r>
              <a:rPr lang="en-US" dirty="0"/>
              <a:t>) Partition (Conti..)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D2E2DD7-CB8A-B56F-FE0F-518DE19B7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 numCol="2"/>
          <a:lstStyle/>
          <a:p>
            <a:r>
              <a:rPr lang="en-US" dirty="0"/>
              <a:t>There are two ways to maintain queue</a:t>
            </a:r>
          </a:p>
          <a:p>
            <a:pPr marL="2162175" lvl="4" indent="-457200">
              <a:buFont typeface="+mj-lt"/>
              <a:buAutoNum type="arabicPeriod"/>
            </a:pPr>
            <a:r>
              <a:rPr lang="en-US" sz="2000" b="1" dirty="0">
                <a:solidFill>
                  <a:schemeClr val="accent6"/>
                </a:solidFill>
              </a:rPr>
              <a:t>Using Multiple Input Queues</a:t>
            </a:r>
            <a:r>
              <a:rPr lang="en-US" sz="2000" dirty="0"/>
              <a:t>	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2162175" lvl="4" indent="-457200">
              <a:buFont typeface="+mj-lt"/>
              <a:buAutoNum type="arabicPeriod" startAt="2"/>
            </a:pPr>
            <a:r>
              <a:rPr lang="en-US" sz="2000" b="1" dirty="0">
                <a:solidFill>
                  <a:schemeClr val="accent6"/>
                </a:solidFill>
              </a:rPr>
              <a:t>Using Single Input Queue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1934A6-7922-CFA2-1524-DFD7193365CF}"/>
              </a:ext>
            </a:extLst>
          </p:cNvPr>
          <p:cNvSpPr/>
          <p:nvPr/>
        </p:nvSpPr>
        <p:spPr>
          <a:xfrm>
            <a:off x="3126852" y="1713088"/>
            <a:ext cx="1828800" cy="45720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D1C238E-97B5-CBF4-FA9B-F676CF52CF80}"/>
              </a:ext>
            </a:extLst>
          </p:cNvPr>
          <p:cNvCxnSpPr/>
          <p:nvPr/>
        </p:nvCxnSpPr>
        <p:spPr>
          <a:xfrm flipV="1">
            <a:off x="3126852" y="5737413"/>
            <a:ext cx="1828800" cy="3414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E30A4C-A5A0-5CFD-216A-4E5C0A0BA6DC}"/>
              </a:ext>
            </a:extLst>
          </p:cNvPr>
          <p:cNvCxnSpPr/>
          <p:nvPr/>
        </p:nvCxnSpPr>
        <p:spPr>
          <a:xfrm flipV="1">
            <a:off x="3126852" y="5356552"/>
            <a:ext cx="1828800" cy="15082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722B1E0-E529-C9FB-6657-8E0DC7B0E8A3}"/>
              </a:ext>
            </a:extLst>
          </p:cNvPr>
          <p:cNvCxnSpPr/>
          <p:nvPr/>
        </p:nvCxnSpPr>
        <p:spPr>
          <a:xfrm>
            <a:off x="3126852" y="3694288"/>
            <a:ext cx="18288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1D10A-DA34-3778-6CEF-25A51348FC49}"/>
              </a:ext>
            </a:extLst>
          </p:cNvPr>
          <p:cNvCxnSpPr/>
          <p:nvPr/>
        </p:nvCxnSpPr>
        <p:spPr>
          <a:xfrm>
            <a:off x="3126852" y="2170288"/>
            <a:ext cx="18288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178A73-6936-7B11-BF7B-B94A63E2441C}"/>
              </a:ext>
            </a:extLst>
          </p:cNvPr>
          <p:cNvSpPr txBox="1"/>
          <p:nvPr/>
        </p:nvSpPr>
        <p:spPr>
          <a:xfrm>
            <a:off x="3134948" y="5754736"/>
            <a:ext cx="1828800" cy="530352"/>
          </a:xfrm>
          <a:prstGeom prst="rect">
            <a:avLst/>
          </a:prstGeom>
          <a:solidFill>
            <a:schemeClr val="tx2"/>
          </a:solidFill>
          <a:ln w="28575"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498FD4-D284-3C83-C73C-71997A2C5346}"/>
              </a:ext>
            </a:extLst>
          </p:cNvPr>
          <p:cNvSpPr txBox="1"/>
          <p:nvPr/>
        </p:nvSpPr>
        <p:spPr>
          <a:xfrm>
            <a:off x="3126852" y="5371495"/>
            <a:ext cx="1828800" cy="36933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Partition 1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5DB75D-A6D0-8DBF-5504-A49C9DB7A94D}"/>
              </a:ext>
            </a:extLst>
          </p:cNvPr>
          <p:cNvSpPr txBox="1"/>
          <p:nvPr/>
        </p:nvSpPr>
        <p:spPr>
          <a:xfrm>
            <a:off x="3120502" y="4003349"/>
            <a:ext cx="1828800" cy="36933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Partition 3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FCBB10-C162-CB51-10E5-A08A83226260}"/>
              </a:ext>
            </a:extLst>
          </p:cNvPr>
          <p:cNvSpPr txBox="1"/>
          <p:nvPr/>
        </p:nvSpPr>
        <p:spPr>
          <a:xfrm>
            <a:off x="3126852" y="2747622"/>
            <a:ext cx="1828800" cy="36933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Partition 4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E671E5-97DA-6AAE-F802-BCBC1327E778}"/>
              </a:ext>
            </a:extLst>
          </p:cNvPr>
          <p:cNvSpPr txBox="1"/>
          <p:nvPr/>
        </p:nvSpPr>
        <p:spPr>
          <a:xfrm>
            <a:off x="3126852" y="1764563"/>
            <a:ext cx="1828800" cy="36933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Partition 5</a:t>
            </a:r>
            <a:endParaRPr lang="en-IN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0A87B28-03B0-A5B8-2CC5-1B339760AB71}"/>
              </a:ext>
            </a:extLst>
          </p:cNvPr>
          <p:cNvCxnSpPr/>
          <p:nvPr/>
        </p:nvCxnSpPr>
        <p:spPr>
          <a:xfrm flipV="1">
            <a:off x="3120502" y="4749226"/>
            <a:ext cx="1828800" cy="15082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D6AB57F-1FA9-EF90-7BCD-20D0C9812F68}"/>
              </a:ext>
            </a:extLst>
          </p:cNvPr>
          <p:cNvSpPr txBox="1"/>
          <p:nvPr/>
        </p:nvSpPr>
        <p:spPr>
          <a:xfrm>
            <a:off x="3126852" y="4864323"/>
            <a:ext cx="1828800" cy="36933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Partition 2</a:t>
            </a:r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236EAD-E3C1-3000-22E2-508C0FAB8502}"/>
              </a:ext>
            </a:extLst>
          </p:cNvPr>
          <p:cNvSpPr/>
          <p:nvPr/>
        </p:nvSpPr>
        <p:spPr>
          <a:xfrm>
            <a:off x="8785973" y="1713088"/>
            <a:ext cx="1828800" cy="45720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A856C1E-EB87-B838-558D-5074E0079DC1}"/>
              </a:ext>
            </a:extLst>
          </p:cNvPr>
          <p:cNvCxnSpPr/>
          <p:nvPr/>
        </p:nvCxnSpPr>
        <p:spPr>
          <a:xfrm flipV="1">
            <a:off x="8785973" y="5737413"/>
            <a:ext cx="1828800" cy="3414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889B00F-32F7-1A5A-59E4-A9475B587E53}"/>
              </a:ext>
            </a:extLst>
          </p:cNvPr>
          <p:cNvCxnSpPr/>
          <p:nvPr/>
        </p:nvCxnSpPr>
        <p:spPr>
          <a:xfrm flipV="1">
            <a:off x="8785973" y="5356552"/>
            <a:ext cx="1828800" cy="15082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E1D6A20-2D00-413A-58A5-FCD7D4ADC83A}"/>
              </a:ext>
            </a:extLst>
          </p:cNvPr>
          <p:cNvCxnSpPr/>
          <p:nvPr/>
        </p:nvCxnSpPr>
        <p:spPr>
          <a:xfrm>
            <a:off x="8785973" y="3694288"/>
            <a:ext cx="18288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38001C4-12C4-3772-464F-66497EBABF5E}"/>
              </a:ext>
            </a:extLst>
          </p:cNvPr>
          <p:cNvCxnSpPr/>
          <p:nvPr/>
        </p:nvCxnSpPr>
        <p:spPr>
          <a:xfrm>
            <a:off x="8785973" y="2170288"/>
            <a:ext cx="18288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E96787E-C3F6-1DF6-EAD0-FAE1445255ED}"/>
              </a:ext>
            </a:extLst>
          </p:cNvPr>
          <p:cNvSpPr txBox="1"/>
          <p:nvPr/>
        </p:nvSpPr>
        <p:spPr>
          <a:xfrm>
            <a:off x="8794069" y="5754736"/>
            <a:ext cx="1828800" cy="530352"/>
          </a:xfrm>
          <a:prstGeom prst="rect">
            <a:avLst/>
          </a:prstGeom>
          <a:solidFill>
            <a:schemeClr val="tx2"/>
          </a:solidFill>
          <a:ln w="28575"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175AC4-3B1E-9A77-6329-E890AF2837F8}"/>
              </a:ext>
            </a:extLst>
          </p:cNvPr>
          <p:cNvSpPr txBox="1"/>
          <p:nvPr/>
        </p:nvSpPr>
        <p:spPr>
          <a:xfrm>
            <a:off x="8785973" y="5371495"/>
            <a:ext cx="1828800" cy="36933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Partition 1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BD7AA2-40E2-3D9A-B2F5-11BC30B44538}"/>
              </a:ext>
            </a:extLst>
          </p:cNvPr>
          <p:cNvSpPr txBox="1"/>
          <p:nvPr/>
        </p:nvSpPr>
        <p:spPr>
          <a:xfrm>
            <a:off x="8779623" y="4003349"/>
            <a:ext cx="1828800" cy="36933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Partition 3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BC16D0-D9D6-7524-606D-228C03A3DB26}"/>
              </a:ext>
            </a:extLst>
          </p:cNvPr>
          <p:cNvSpPr txBox="1"/>
          <p:nvPr/>
        </p:nvSpPr>
        <p:spPr>
          <a:xfrm>
            <a:off x="8785973" y="2747622"/>
            <a:ext cx="1828800" cy="36933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Partition 4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996332-B9C9-F284-1766-865F7444014A}"/>
              </a:ext>
            </a:extLst>
          </p:cNvPr>
          <p:cNvSpPr txBox="1"/>
          <p:nvPr/>
        </p:nvSpPr>
        <p:spPr>
          <a:xfrm>
            <a:off x="8785973" y="1764563"/>
            <a:ext cx="1828800" cy="36933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Partition 5</a:t>
            </a:r>
            <a:endParaRPr lang="en-IN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96C05B8-17E1-DFE3-F064-7D074AD5C19B}"/>
              </a:ext>
            </a:extLst>
          </p:cNvPr>
          <p:cNvCxnSpPr/>
          <p:nvPr/>
        </p:nvCxnSpPr>
        <p:spPr>
          <a:xfrm flipV="1">
            <a:off x="8779623" y="4749226"/>
            <a:ext cx="1828800" cy="15082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023D4AF-D0E4-F51D-618D-BB3EEAEB437E}"/>
              </a:ext>
            </a:extLst>
          </p:cNvPr>
          <p:cNvSpPr txBox="1"/>
          <p:nvPr/>
        </p:nvSpPr>
        <p:spPr>
          <a:xfrm>
            <a:off x="8785973" y="4864323"/>
            <a:ext cx="1828800" cy="36933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Partition 2</a:t>
            </a:r>
            <a:endParaRPr lang="en-IN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C5CA69E-500D-B254-DCD3-CC955D886B57}"/>
              </a:ext>
            </a:extLst>
          </p:cNvPr>
          <p:cNvSpPr/>
          <p:nvPr/>
        </p:nvSpPr>
        <p:spPr>
          <a:xfrm>
            <a:off x="2297542" y="1764563"/>
            <a:ext cx="365760" cy="36576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200266B-D2F9-70C1-F65A-38B766E98F19}"/>
              </a:ext>
            </a:extLst>
          </p:cNvPr>
          <p:cNvCxnSpPr/>
          <p:nvPr/>
        </p:nvCxnSpPr>
        <p:spPr>
          <a:xfrm>
            <a:off x="2663302" y="1947443"/>
            <a:ext cx="4572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B11A71D5-E651-80A2-DD96-35B96D2CA502}"/>
              </a:ext>
            </a:extLst>
          </p:cNvPr>
          <p:cNvSpPr/>
          <p:nvPr/>
        </p:nvSpPr>
        <p:spPr>
          <a:xfrm>
            <a:off x="1474582" y="1764563"/>
            <a:ext cx="365760" cy="36576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8A30E22-CE39-5320-7D48-08466D5D15AA}"/>
              </a:ext>
            </a:extLst>
          </p:cNvPr>
          <p:cNvCxnSpPr/>
          <p:nvPr/>
        </p:nvCxnSpPr>
        <p:spPr>
          <a:xfrm>
            <a:off x="1840342" y="1947443"/>
            <a:ext cx="4572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75C18D81-E545-96B0-15BC-4676CD203F5B}"/>
              </a:ext>
            </a:extLst>
          </p:cNvPr>
          <p:cNvSpPr/>
          <p:nvPr/>
        </p:nvSpPr>
        <p:spPr>
          <a:xfrm>
            <a:off x="2311988" y="4110004"/>
            <a:ext cx="365760" cy="36576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004E4AB-1C35-C091-F053-877C75637252}"/>
              </a:ext>
            </a:extLst>
          </p:cNvPr>
          <p:cNvCxnSpPr/>
          <p:nvPr/>
        </p:nvCxnSpPr>
        <p:spPr>
          <a:xfrm>
            <a:off x="2677748" y="4292884"/>
            <a:ext cx="4572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5DC4BC4D-1F3D-0EEC-8ED5-D8705E2A5BA3}"/>
              </a:ext>
            </a:extLst>
          </p:cNvPr>
          <p:cNvSpPr/>
          <p:nvPr/>
        </p:nvSpPr>
        <p:spPr>
          <a:xfrm>
            <a:off x="2311988" y="5371495"/>
            <a:ext cx="365760" cy="36576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4150B89-F4B0-7B3C-1533-FCE550B4EA9A}"/>
              </a:ext>
            </a:extLst>
          </p:cNvPr>
          <p:cNvCxnSpPr/>
          <p:nvPr/>
        </p:nvCxnSpPr>
        <p:spPr>
          <a:xfrm>
            <a:off x="2677748" y="5554375"/>
            <a:ext cx="4572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899CE593-98FC-D987-47ED-D8D4FFA9AD96}"/>
              </a:ext>
            </a:extLst>
          </p:cNvPr>
          <p:cNvSpPr/>
          <p:nvPr/>
        </p:nvSpPr>
        <p:spPr>
          <a:xfrm>
            <a:off x="1497124" y="5371495"/>
            <a:ext cx="365760" cy="36576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2D7B5FD-9226-C574-959A-89F9C133A994}"/>
              </a:ext>
            </a:extLst>
          </p:cNvPr>
          <p:cNvCxnSpPr/>
          <p:nvPr/>
        </p:nvCxnSpPr>
        <p:spPr>
          <a:xfrm>
            <a:off x="1862884" y="5554375"/>
            <a:ext cx="4572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8AB14D2A-865A-01FE-975B-F849A676C0AC}"/>
              </a:ext>
            </a:extLst>
          </p:cNvPr>
          <p:cNvSpPr/>
          <p:nvPr/>
        </p:nvSpPr>
        <p:spPr>
          <a:xfrm>
            <a:off x="682260" y="5371495"/>
            <a:ext cx="365760" cy="36576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F588050-5F27-893D-58AC-D09C344C96B7}"/>
              </a:ext>
            </a:extLst>
          </p:cNvPr>
          <p:cNvCxnSpPr/>
          <p:nvPr/>
        </p:nvCxnSpPr>
        <p:spPr>
          <a:xfrm>
            <a:off x="1048020" y="5554375"/>
            <a:ext cx="4572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CA89C0DB-5804-48D8-D85B-446D545D0412}"/>
              </a:ext>
            </a:extLst>
          </p:cNvPr>
          <p:cNvSpPr/>
          <p:nvPr/>
        </p:nvSpPr>
        <p:spPr>
          <a:xfrm>
            <a:off x="6364643" y="3694288"/>
            <a:ext cx="365760" cy="36576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39C6EF3-1F11-EC67-CEC6-ACC0F9A6236D}"/>
              </a:ext>
            </a:extLst>
          </p:cNvPr>
          <p:cNvCxnSpPr/>
          <p:nvPr/>
        </p:nvCxnSpPr>
        <p:spPr>
          <a:xfrm>
            <a:off x="6730403" y="3877168"/>
            <a:ext cx="4572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E711FD40-50B9-6A3D-DDE9-C6756DD7F8CA}"/>
              </a:ext>
            </a:extLst>
          </p:cNvPr>
          <p:cNvSpPr/>
          <p:nvPr/>
        </p:nvSpPr>
        <p:spPr>
          <a:xfrm>
            <a:off x="7191291" y="3694288"/>
            <a:ext cx="365760" cy="36576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E711515-BAD3-F5B5-3618-7B720DD83776}"/>
              </a:ext>
            </a:extLst>
          </p:cNvPr>
          <p:cNvCxnSpPr>
            <a:stCxn id="44" idx="3"/>
            <a:endCxn id="27" idx="1"/>
          </p:cNvCxnSpPr>
          <p:nvPr/>
        </p:nvCxnSpPr>
        <p:spPr>
          <a:xfrm flipV="1">
            <a:off x="7557051" y="1949229"/>
            <a:ext cx="1228922" cy="1927939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B9641CA3-332D-F260-4CDF-E08D56C0D8A8}"/>
              </a:ext>
            </a:extLst>
          </p:cNvPr>
          <p:cNvSpPr/>
          <p:nvPr/>
        </p:nvSpPr>
        <p:spPr>
          <a:xfrm>
            <a:off x="5544309" y="3694288"/>
            <a:ext cx="365760" cy="36576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271FDF2-8454-4F19-6547-EB53FA3FF87D}"/>
              </a:ext>
            </a:extLst>
          </p:cNvPr>
          <p:cNvCxnSpPr/>
          <p:nvPr/>
        </p:nvCxnSpPr>
        <p:spPr>
          <a:xfrm>
            <a:off x="5910069" y="3877168"/>
            <a:ext cx="4572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65561FA-A0C4-B645-3314-16715E0C8D51}"/>
              </a:ext>
            </a:extLst>
          </p:cNvPr>
          <p:cNvCxnSpPr>
            <a:stCxn id="44" idx="3"/>
            <a:endCxn id="26" idx="1"/>
          </p:cNvCxnSpPr>
          <p:nvPr/>
        </p:nvCxnSpPr>
        <p:spPr>
          <a:xfrm flipV="1">
            <a:off x="7557051" y="2932288"/>
            <a:ext cx="1228922" cy="94488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8BB856C-47E6-69E7-506C-5E0B1B14D5F1}"/>
              </a:ext>
            </a:extLst>
          </p:cNvPr>
          <p:cNvCxnSpPr>
            <a:stCxn id="44" idx="3"/>
            <a:endCxn id="25" idx="1"/>
          </p:cNvCxnSpPr>
          <p:nvPr/>
        </p:nvCxnSpPr>
        <p:spPr>
          <a:xfrm>
            <a:off x="7557051" y="3877168"/>
            <a:ext cx="1222572" cy="310847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BDCF8BB-7637-6CAD-6E96-A16059ED804A}"/>
              </a:ext>
            </a:extLst>
          </p:cNvPr>
          <p:cNvCxnSpPr>
            <a:stCxn id="44" idx="3"/>
            <a:endCxn id="29" idx="1"/>
          </p:cNvCxnSpPr>
          <p:nvPr/>
        </p:nvCxnSpPr>
        <p:spPr>
          <a:xfrm>
            <a:off x="7557051" y="3877168"/>
            <a:ext cx="1228922" cy="1171821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CF0B92D-D636-8089-1B77-450C6D611B33}"/>
              </a:ext>
            </a:extLst>
          </p:cNvPr>
          <p:cNvCxnSpPr>
            <a:stCxn id="44" idx="3"/>
            <a:endCxn id="24" idx="1"/>
          </p:cNvCxnSpPr>
          <p:nvPr/>
        </p:nvCxnSpPr>
        <p:spPr>
          <a:xfrm>
            <a:off x="7557051" y="3877168"/>
            <a:ext cx="1228922" cy="1678993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201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2" grpId="0"/>
      <p:bldP spid="13" grpId="0"/>
      <p:bldP spid="14" grpId="0"/>
      <p:bldP spid="15" grpId="0"/>
      <p:bldP spid="17" grpId="0"/>
      <p:bldP spid="18" grpId="0" animBg="1"/>
      <p:bldP spid="23" grpId="0" animBg="1"/>
      <p:bldP spid="24" grpId="0"/>
      <p:bldP spid="25" grpId="0"/>
      <p:bldP spid="26" grpId="0"/>
      <p:bldP spid="27" grpId="0"/>
      <p:bldP spid="29" grpId="0"/>
      <p:bldP spid="30" grpId="0" animBg="1"/>
      <p:bldP spid="32" grpId="0" animBg="1"/>
      <p:bldP spid="34" grpId="0" animBg="1"/>
      <p:bldP spid="36" grpId="0" animBg="1"/>
      <p:bldP spid="38" grpId="0" animBg="1"/>
      <p:bldP spid="40" grpId="0" animBg="1"/>
      <p:bldP spid="42" grpId="0" animBg="1"/>
      <p:bldP spid="44" grpId="0" animBg="1"/>
      <p:bldP spid="4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41E6A43-3AA3-69BB-EB0F-0A0C3674F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Fixed (or </a:t>
            </a:r>
            <a:r>
              <a:rPr lang="en-US" dirty="0">
                <a:solidFill>
                  <a:schemeClr val="accent6"/>
                </a:solidFill>
              </a:rPr>
              <a:t>Static</a:t>
            </a:r>
            <a:r>
              <a:rPr lang="en-US" dirty="0"/>
              <a:t>) Partition (Conti..)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BDF8309-0E3A-537F-609A-7C03895B14C7}"/>
              </a:ext>
            </a:extLst>
          </p:cNvPr>
          <p:cNvSpPr txBox="1">
            <a:spLocks/>
          </p:cNvSpPr>
          <p:nvPr/>
        </p:nvSpPr>
        <p:spPr>
          <a:xfrm>
            <a:off x="131179" y="855354"/>
            <a:ext cx="11929641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Advantages</a:t>
            </a:r>
            <a:endParaRPr lang="en-US" dirty="0"/>
          </a:p>
          <a:p>
            <a:pPr lvl="1"/>
            <a:r>
              <a:rPr lang="en-US" sz="2200" dirty="0"/>
              <a:t>Simple Implementation</a:t>
            </a:r>
          </a:p>
          <a:p>
            <a:pPr lvl="1"/>
            <a:r>
              <a:rPr lang="en-US" sz="2200" dirty="0"/>
              <a:t>Efficient for Small, Fixed Workloads </a:t>
            </a:r>
          </a:p>
          <a:p>
            <a:r>
              <a:rPr lang="en-US" b="1" dirty="0"/>
              <a:t>Disadvantages</a:t>
            </a:r>
            <a:endParaRPr lang="en-US" dirty="0"/>
          </a:p>
          <a:p>
            <a:pPr lvl="1"/>
            <a:r>
              <a:rPr lang="en-IN" sz="2200" b="1" dirty="0">
                <a:solidFill>
                  <a:schemeClr val="accent6"/>
                </a:solidFill>
              </a:rPr>
              <a:t>Limited Number of Processes</a:t>
            </a:r>
            <a:r>
              <a:rPr lang="en-IN" sz="2200" dirty="0"/>
              <a:t>: </a:t>
            </a:r>
            <a:r>
              <a:rPr lang="en-US" sz="2200" dirty="0"/>
              <a:t>Even if enough memory is available, no new process can start if all partitions are occupied.</a:t>
            </a:r>
          </a:p>
          <a:p>
            <a:pPr lvl="1"/>
            <a:r>
              <a:rPr lang="en-US" sz="2200" b="1" dirty="0">
                <a:solidFill>
                  <a:schemeClr val="accent6"/>
                </a:solidFill>
              </a:rPr>
              <a:t>Internal Fragmentation occurs</a:t>
            </a:r>
            <a:r>
              <a:rPr lang="en-US" sz="2200" dirty="0"/>
              <a:t>: If a process does not fully utilize its allocated partition, </a:t>
            </a:r>
            <a:r>
              <a:rPr lang="en-US" sz="2200" b="1" dirty="0">
                <a:solidFill>
                  <a:schemeClr val="tx2"/>
                </a:solidFill>
              </a:rPr>
              <a:t>wasted space</a:t>
            </a:r>
            <a:r>
              <a:rPr lang="en-US" sz="2200" dirty="0"/>
              <a:t> (</a:t>
            </a:r>
            <a:r>
              <a:rPr lang="en-US" sz="2200" b="1" dirty="0">
                <a:solidFill>
                  <a:schemeClr val="tx2"/>
                </a:solidFill>
              </a:rPr>
              <a:t>internal fragmentation</a:t>
            </a:r>
            <a:r>
              <a:rPr lang="en-US" sz="2200" dirty="0"/>
              <a:t>) occurs.</a:t>
            </a:r>
          </a:p>
          <a:p>
            <a:pPr lvl="2"/>
            <a:r>
              <a:rPr lang="en-US" sz="2000" b="1" dirty="0">
                <a:solidFill>
                  <a:schemeClr val="accent6"/>
                </a:solidFill>
              </a:rPr>
              <a:t>Example</a:t>
            </a:r>
            <a:r>
              <a:rPr lang="en-US" sz="2000" dirty="0"/>
              <a:t>: If a partition is </a:t>
            </a:r>
            <a:r>
              <a:rPr lang="en-US" sz="2000" b="1" dirty="0">
                <a:solidFill>
                  <a:schemeClr val="tx2"/>
                </a:solidFill>
              </a:rPr>
              <a:t>1 MB </a:t>
            </a:r>
            <a:r>
              <a:rPr lang="en-US" sz="2000" dirty="0"/>
              <a:t>and the </a:t>
            </a:r>
            <a:r>
              <a:rPr lang="en-US" sz="2000" b="1" dirty="0">
                <a:solidFill>
                  <a:schemeClr val="tx2"/>
                </a:solidFill>
              </a:rPr>
              <a:t>process needs </a:t>
            </a:r>
            <a:r>
              <a:rPr lang="en-US" sz="2000" dirty="0"/>
              <a:t>only </a:t>
            </a:r>
            <a:r>
              <a:rPr lang="en-US" sz="2000" b="1" dirty="0">
                <a:solidFill>
                  <a:schemeClr val="tx2"/>
                </a:solidFill>
              </a:rPr>
              <a:t>600 KB</a:t>
            </a:r>
            <a:r>
              <a:rPr lang="en-US" sz="2000" dirty="0"/>
              <a:t>, the remaining </a:t>
            </a:r>
            <a:r>
              <a:rPr lang="en-US" sz="2000" b="1" dirty="0">
                <a:solidFill>
                  <a:schemeClr val="tx2"/>
                </a:solidFill>
              </a:rPr>
              <a:t>400 KB is wasted</a:t>
            </a:r>
            <a:r>
              <a:rPr lang="en-US" sz="2000" dirty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435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68B04-5824-A7A4-53A4-B2682EC5F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967FB-C9ED-E6A6-C46C-D16B7DAAE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Variable (or </a:t>
            </a:r>
            <a:r>
              <a:rPr lang="en-US" dirty="0">
                <a:solidFill>
                  <a:schemeClr val="accent6"/>
                </a:solidFill>
              </a:rPr>
              <a:t>Dynamic</a:t>
            </a:r>
            <a:r>
              <a:rPr lang="en-US" dirty="0"/>
              <a:t>) Partition</a:t>
            </a: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8EDDA001-4399-584C-C9BD-4A60C0901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654" y="853917"/>
            <a:ext cx="9573889" cy="5590565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b="1" dirty="0">
                <a:solidFill>
                  <a:schemeClr val="accent6"/>
                </a:solidFill>
              </a:rPr>
              <a:t>dynamic partitioning</a:t>
            </a:r>
            <a:r>
              <a:rPr lang="en-US" dirty="0"/>
              <a:t>, memory is </a:t>
            </a:r>
            <a:r>
              <a:rPr lang="en-US" b="1" dirty="0">
                <a:solidFill>
                  <a:schemeClr val="accent6"/>
                </a:solidFill>
              </a:rPr>
              <a:t>not</a:t>
            </a:r>
            <a:r>
              <a:rPr lang="en-US" dirty="0"/>
              <a:t> divided into fixed partitions at startup.</a:t>
            </a:r>
          </a:p>
          <a:p>
            <a:r>
              <a:rPr lang="en-US" dirty="0"/>
              <a:t>Initially, the entire available memory is treated as a </a:t>
            </a:r>
            <a:r>
              <a:rPr lang="en-US" b="1" dirty="0">
                <a:solidFill>
                  <a:schemeClr val="accent6"/>
                </a:solidFill>
              </a:rPr>
              <a:t>single free partition</a:t>
            </a:r>
            <a:r>
              <a:rPr lang="en-US" dirty="0"/>
              <a:t>.</a:t>
            </a:r>
          </a:p>
          <a:p>
            <a:r>
              <a:rPr lang="en-US" dirty="0"/>
              <a:t>When a </a:t>
            </a:r>
            <a:r>
              <a:rPr lang="en-US" b="1" dirty="0">
                <a:solidFill>
                  <a:schemeClr val="accent6"/>
                </a:solidFill>
              </a:rPr>
              <a:t>new process arrives</a:t>
            </a:r>
            <a:r>
              <a:rPr lang="en-US" dirty="0"/>
              <a:t>, the OS searches for a </a:t>
            </a:r>
            <a:r>
              <a:rPr lang="en-US" b="1" dirty="0">
                <a:solidFill>
                  <a:schemeClr val="accent6"/>
                </a:solidFill>
              </a:rPr>
              <a:t>sufficiently large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/>
              <a:t>free memory block (</a:t>
            </a:r>
            <a:r>
              <a:rPr lang="en-US" b="1" dirty="0">
                <a:solidFill>
                  <a:schemeClr val="accent6"/>
                </a:solidFill>
              </a:rPr>
              <a:t>hole</a:t>
            </a:r>
            <a:r>
              <a:rPr lang="en-US" dirty="0"/>
              <a:t>) to accommodate the process.</a:t>
            </a:r>
          </a:p>
          <a:p>
            <a:r>
              <a:rPr lang="en-US" dirty="0"/>
              <a:t>Once allocated, the remaining free space is treated as a </a:t>
            </a:r>
            <a:r>
              <a:rPr lang="en-US" b="1" dirty="0">
                <a:solidFill>
                  <a:schemeClr val="accent6"/>
                </a:solidFill>
              </a:rPr>
              <a:t>new free partition</a:t>
            </a:r>
            <a:r>
              <a:rPr lang="en-US" dirty="0"/>
              <a:t> for future allocations.</a:t>
            </a:r>
          </a:p>
          <a:p>
            <a:r>
              <a:rPr lang="en-US" dirty="0"/>
              <a:t>If enough free memory is not available to fit the process, process needs to </a:t>
            </a:r>
            <a:r>
              <a:rPr lang="en-US" b="1" dirty="0">
                <a:solidFill>
                  <a:schemeClr val="accent6"/>
                </a:solidFill>
              </a:rPr>
              <a:t>wait</a:t>
            </a:r>
            <a:r>
              <a:rPr lang="en-US" dirty="0"/>
              <a:t> until required memory becomes available.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E3A4D3F-A6D0-2F06-4A8A-40ED9644EB93}"/>
              </a:ext>
            </a:extLst>
          </p:cNvPr>
          <p:cNvSpPr/>
          <p:nvPr/>
        </p:nvSpPr>
        <p:spPr>
          <a:xfrm>
            <a:off x="10149952" y="1023027"/>
            <a:ext cx="1828800" cy="45720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E93785E-A47F-7E80-1552-4EDE46936C54}"/>
              </a:ext>
            </a:extLst>
          </p:cNvPr>
          <p:cNvCxnSpPr/>
          <p:nvPr/>
        </p:nvCxnSpPr>
        <p:spPr>
          <a:xfrm flipV="1">
            <a:off x="10149952" y="5047352"/>
            <a:ext cx="1828800" cy="3414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0D2BE1CC-5899-F6C8-6D2C-E2EE1F3D41BE}"/>
              </a:ext>
            </a:extLst>
          </p:cNvPr>
          <p:cNvSpPr txBox="1"/>
          <p:nvPr/>
        </p:nvSpPr>
        <p:spPr>
          <a:xfrm>
            <a:off x="10158048" y="5064675"/>
            <a:ext cx="1828800" cy="530352"/>
          </a:xfrm>
          <a:prstGeom prst="rect">
            <a:avLst/>
          </a:prstGeom>
          <a:solidFill>
            <a:schemeClr val="tx2"/>
          </a:solidFill>
          <a:ln w="28575"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3CF5F93-D0AB-5713-5EA7-05CA653CD461}"/>
              </a:ext>
            </a:extLst>
          </p:cNvPr>
          <p:cNvSpPr txBox="1"/>
          <p:nvPr/>
        </p:nvSpPr>
        <p:spPr>
          <a:xfrm>
            <a:off x="10149952" y="2838606"/>
            <a:ext cx="1828800" cy="769441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User</a:t>
            </a:r>
          </a:p>
          <a:p>
            <a:pPr algn="ctr"/>
            <a:r>
              <a:rPr lang="en-US" sz="2200" dirty="0"/>
              <a:t>Program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693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8" grpId="0" animBg="1"/>
      <p:bldP spid="5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/ Variable Partitions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method allows </a:t>
            </a:r>
            <a:r>
              <a:rPr lang="en-US" dirty="0">
                <a:solidFill>
                  <a:schemeClr val="accent6"/>
                </a:solidFill>
              </a:rPr>
              <a:t>multiple process </a:t>
            </a:r>
            <a:r>
              <a:rPr lang="en-US" dirty="0"/>
              <a:t>to </a:t>
            </a:r>
            <a:r>
              <a:rPr lang="en-US" dirty="0">
                <a:solidFill>
                  <a:schemeClr val="accent6"/>
                </a:solidFill>
              </a:rPr>
              <a:t>execute</a:t>
            </a:r>
            <a:r>
              <a:rPr lang="en-US" dirty="0"/>
              <a:t> Simultaneously.</a:t>
            </a:r>
          </a:p>
          <a:p>
            <a:r>
              <a:rPr lang="en-US" dirty="0"/>
              <a:t>The memory is shared among OS and various running process simultaneously.</a:t>
            </a:r>
          </a:p>
          <a:p>
            <a:r>
              <a:rPr lang="en-US" dirty="0"/>
              <a:t>Memory is </a:t>
            </a:r>
            <a:r>
              <a:rPr lang="en-US" dirty="0">
                <a:solidFill>
                  <a:schemeClr val="accent6"/>
                </a:solidFill>
              </a:rPr>
              <a:t>not divides </a:t>
            </a:r>
            <a:r>
              <a:rPr lang="en-US" dirty="0"/>
              <a:t>in </a:t>
            </a:r>
            <a:r>
              <a:rPr lang="en-US" dirty="0">
                <a:solidFill>
                  <a:schemeClr val="accent6"/>
                </a:solidFill>
              </a:rPr>
              <a:t>fixed</a:t>
            </a:r>
            <a:r>
              <a:rPr lang="en-US" dirty="0"/>
              <a:t> partitions. Process  allocated </a:t>
            </a:r>
            <a:r>
              <a:rPr lang="en-US" dirty="0">
                <a:solidFill>
                  <a:schemeClr val="accent6"/>
                </a:solidFill>
              </a:rPr>
              <a:t>exactly</a:t>
            </a:r>
            <a:r>
              <a:rPr lang="en-US" dirty="0"/>
              <a:t> as much </a:t>
            </a:r>
            <a:r>
              <a:rPr lang="en-US" dirty="0">
                <a:solidFill>
                  <a:schemeClr val="accent6"/>
                </a:solidFill>
              </a:rPr>
              <a:t>memory required</a:t>
            </a:r>
            <a:r>
              <a:rPr lang="en-US"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329" y="2914189"/>
            <a:ext cx="1307307" cy="31289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328" y="2267399"/>
            <a:ext cx="130730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12121"/>
                </a:solidFill>
              </a:rPr>
              <a:t>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328" y="6043151"/>
            <a:ext cx="130730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12121"/>
                </a:solidFill>
              </a:rPr>
              <a:t>Initial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8584" y="2914189"/>
            <a:ext cx="1307307" cy="31289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18583" y="2267399"/>
            <a:ext cx="130730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12121"/>
                </a:solidFill>
              </a:rPr>
              <a:t>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18583" y="6043151"/>
            <a:ext cx="130730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12121"/>
                </a:solidFill>
              </a:rPr>
              <a:t>Process 1 - Enters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0054" y="2914648"/>
            <a:ext cx="1307307" cy="31289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00053" y="2267858"/>
            <a:ext cx="130730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12121"/>
                </a:solidFill>
              </a:rPr>
              <a:t>Operating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0053" y="6043610"/>
            <a:ext cx="130730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12121"/>
                </a:solidFill>
              </a:rPr>
              <a:t>Process 2 - Enters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1522" y="2914189"/>
            <a:ext cx="1307307" cy="31289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81521" y="2267399"/>
            <a:ext cx="130730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12121"/>
                </a:solidFill>
              </a:rPr>
              <a:t>Operating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1521" y="6043151"/>
            <a:ext cx="130730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12121"/>
                </a:solidFill>
              </a:rPr>
              <a:t>Process 3 - Enters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1" y="2405898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8M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1" y="3993692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56M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2684" y="2405439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8M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75877" y="2405439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8M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6260" y="2405439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8M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8892" y="2913730"/>
            <a:ext cx="1307307" cy="31289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58891" y="2266940"/>
            <a:ext cx="130730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12121"/>
                </a:solidFill>
              </a:rPr>
              <a:t>Operating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8891" y="6042692"/>
            <a:ext cx="130730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12121"/>
                </a:solidFill>
              </a:rPr>
              <a:t>Process 2 - terminates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44457" y="2913730"/>
            <a:ext cx="1307307" cy="31289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344456" y="2266940"/>
            <a:ext cx="130730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12121"/>
                </a:solidFill>
              </a:rPr>
              <a:t>Operating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44456" y="6042692"/>
            <a:ext cx="130730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12121"/>
                </a:solidFill>
              </a:rPr>
              <a:t>Process 4 - Enters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26826" y="2403600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8M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19690" y="2403600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8M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2414489" y="3995663"/>
            <a:ext cx="13073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4400052" y="3993692"/>
            <a:ext cx="13073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4400052" y="4742402"/>
            <a:ext cx="13073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6381520" y="3997058"/>
            <a:ext cx="13073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6381520" y="4722563"/>
            <a:ext cx="13073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6381521" y="5631074"/>
            <a:ext cx="13073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8358891" y="3995663"/>
            <a:ext cx="13073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8358891" y="4719183"/>
            <a:ext cx="13073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8358891" y="5628810"/>
            <a:ext cx="13073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10349885" y="3962762"/>
            <a:ext cx="13073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10349885" y="4704895"/>
            <a:ext cx="13073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10344455" y="5648401"/>
            <a:ext cx="13073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10339753" y="4412296"/>
            <a:ext cx="13073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2526256" y="3324966"/>
            <a:ext cx="1091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Process 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93390" y="3153792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20M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75877" y="3153792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20M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40693" y="3324966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20M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26826" y="3155774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20M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604980" y="3150643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20M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603958" y="3991698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11M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618328" y="4415125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3M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603958" y="4927068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18M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602955" y="5707717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4M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26826" y="5745378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4M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25293" y="5588210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4M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70760" y="3936491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14M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25293" y="4117368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14M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26256" y="4189686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14M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33082" y="4932180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18M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25293" y="4927068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18M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54179" y="5116846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22M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721796" y="4557736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36M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21734" y="3333903"/>
            <a:ext cx="1091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Process 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13204" y="4145049"/>
            <a:ext cx="1091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Process 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85095" y="4145049"/>
            <a:ext cx="1091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Process 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91622" y="3333903"/>
            <a:ext cx="1091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Process 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68700" y="3327152"/>
            <a:ext cx="1091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Process 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447424" y="3149237"/>
            <a:ext cx="1091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Process 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457556" y="4002837"/>
            <a:ext cx="1091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Process 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457556" y="4927068"/>
            <a:ext cx="1091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Process 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68700" y="4923271"/>
            <a:ext cx="1091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Process 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85096" y="4920374"/>
            <a:ext cx="1091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Process 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477741" y="4143079"/>
            <a:ext cx="1091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Process 2</a:t>
            </a:r>
          </a:p>
        </p:txBody>
      </p:sp>
    </p:spTree>
    <p:extLst>
      <p:ext uri="{BB962C8B-B14F-4D97-AF65-F5344CB8AC3E}">
        <p14:creationId xmlns:p14="http://schemas.microsoft.com/office/powerpoint/2010/main" val="2787976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8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 animBg="1"/>
      <p:bldP spid="10" grpId="0" animBg="1"/>
      <p:bldP spid="11" grpId="0"/>
      <p:bldP spid="12" grpId="0" animBg="1"/>
      <p:bldP spid="13" grpId="0" animBg="1"/>
      <p:bldP spid="14" grpId="0"/>
      <p:bldP spid="15" grpId="0" animBg="1"/>
      <p:bldP spid="16" grpId="0" animBg="1"/>
      <p:bldP spid="17" grpId="0"/>
      <p:bldP spid="19" grpId="0"/>
      <p:bldP spid="20" grpId="0"/>
      <p:bldP spid="21" grpId="0"/>
      <p:bldP spid="22" grpId="0"/>
      <p:bldP spid="23" grpId="0"/>
      <p:bldP spid="24" grpId="0" animBg="1"/>
      <p:bldP spid="25" grpId="0" animBg="1"/>
      <p:bldP spid="26" grpId="0"/>
      <p:bldP spid="27" grpId="0" animBg="1"/>
      <p:bldP spid="28" grpId="0" animBg="1"/>
      <p:bldP spid="29" grpId="0"/>
      <p:bldP spid="30" grpId="0"/>
      <p:bldP spid="31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80" grpId="0"/>
      <p:bldP spid="81" grpId="0"/>
      <p:bldP spid="82" grpId="0"/>
      <p:bldP spid="83" grpId="0"/>
      <p:bldP spid="84" grpId="0"/>
      <p:bldP spid="85" grpId="0"/>
      <p:bldP spid="108" grpId="0"/>
      <p:bldP spid="108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/ Variable Partitions(Conti..)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Initially, the </a:t>
            </a:r>
            <a:r>
              <a:rPr lang="en-US" dirty="0">
                <a:solidFill>
                  <a:schemeClr val="accent6"/>
                </a:solidFill>
              </a:rPr>
              <a:t>entire memory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is treated as </a:t>
            </a:r>
            <a:r>
              <a:rPr lang="en-US" dirty="0">
                <a:solidFill>
                  <a:schemeClr val="accent6"/>
                </a:solidFill>
              </a:rPr>
              <a:t>single fixed partition</a:t>
            </a:r>
            <a:r>
              <a:rPr lang="en-US" dirty="0"/>
              <a:t>. </a:t>
            </a:r>
          </a:p>
          <a:p>
            <a:r>
              <a:rPr lang="en-US" dirty="0"/>
              <a:t>Whenever, any process enters in system, a </a:t>
            </a:r>
            <a:r>
              <a:rPr lang="en-US" dirty="0">
                <a:solidFill>
                  <a:schemeClr val="accent6"/>
                </a:solidFill>
              </a:rPr>
              <a:t>chunk free memory </a:t>
            </a:r>
            <a:r>
              <a:rPr lang="en-US" dirty="0"/>
              <a:t>big enough to fit process is </a:t>
            </a:r>
            <a:r>
              <a:rPr lang="en-US" dirty="0">
                <a:solidFill>
                  <a:schemeClr val="accent6"/>
                </a:solidFill>
              </a:rPr>
              <a:t>found</a:t>
            </a:r>
            <a:r>
              <a:rPr lang="en-US" dirty="0"/>
              <a:t> and </a:t>
            </a:r>
            <a:r>
              <a:rPr lang="en-US" dirty="0">
                <a:solidFill>
                  <a:schemeClr val="accent6"/>
                </a:solidFill>
              </a:rPr>
              <a:t>allocated</a:t>
            </a:r>
            <a:r>
              <a:rPr lang="en-US" dirty="0"/>
              <a:t>. The </a:t>
            </a:r>
            <a:r>
              <a:rPr lang="en-US" dirty="0">
                <a:solidFill>
                  <a:schemeClr val="accent6"/>
                </a:solidFill>
              </a:rPr>
              <a:t>remaining space </a:t>
            </a:r>
            <a:r>
              <a:rPr lang="en-US" dirty="0"/>
              <a:t>is treated as </a:t>
            </a:r>
            <a:r>
              <a:rPr lang="en-US" dirty="0">
                <a:solidFill>
                  <a:schemeClr val="accent6"/>
                </a:solidFill>
              </a:rPr>
              <a:t>another free partition</a:t>
            </a:r>
            <a:r>
              <a:rPr lang="en-US" dirty="0"/>
              <a:t>.</a:t>
            </a:r>
          </a:p>
          <a:p>
            <a:r>
              <a:rPr lang="en-US" dirty="0"/>
              <a:t>If enough free </a:t>
            </a:r>
            <a:r>
              <a:rPr lang="en-US" dirty="0">
                <a:solidFill>
                  <a:schemeClr val="accent6"/>
                </a:solidFill>
              </a:rPr>
              <a:t>memory</a:t>
            </a:r>
            <a:r>
              <a:rPr lang="en-US" dirty="0"/>
              <a:t> is </a:t>
            </a:r>
            <a:r>
              <a:rPr lang="en-US" dirty="0">
                <a:solidFill>
                  <a:schemeClr val="accent6"/>
                </a:solidFill>
              </a:rPr>
              <a:t>not available</a:t>
            </a:r>
            <a:r>
              <a:rPr lang="en-US" dirty="0"/>
              <a:t>, then process needs to </a:t>
            </a:r>
            <a:r>
              <a:rPr lang="en-US" dirty="0">
                <a:solidFill>
                  <a:schemeClr val="accent6"/>
                </a:solidFill>
              </a:rPr>
              <a:t>wait</a:t>
            </a:r>
            <a:r>
              <a:rPr lang="en-US" dirty="0"/>
              <a:t> until </a:t>
            </a:r>
            <a:r>
              <a:rPr lang="en-US" dirty="0">
                <a:solidFill>
                  <a:schemeClr val="accent6"/>
                </a:solidFill>
              </a:rPr>
              <a:t>required memory </a:t>
            </a:r>
            <a:r>
              <a:rPr lang="en-US" dirty="0"/>
              <a:t>is </a:t>
            </a:r>
            <a:r>
              <a:rPr lang="en-US" dirty="0">
                <a:solidFill>
                  <a:schemeClr val="accent6"/>
                </a:solidFill>
              </a:rPr>
              <a:t>available</a:t>
            </a:r>
            <a:r>
              <a:rPr lang="en-US" dirty="0"/>
              <a:t>. </a:t>
            </a:r>
          </a:p>
          <a:p>
            <a:r>
              <a:rPr lang="en-US" dirty="0"/>
              <a:t>When </a:t>
            </a:r>
            <a:r>
              <a:rPr lang="en-US" dirty="0">
                <a:solidFill>
                  <a:schemeClr val="accent6"/>
                </a:solidFill>
              </a:rPr>
              <a:t>process</a:t>
            </a:r>
            <a:r>
              <a:rPr lang="en-US" dirty="0"/>
              <a:t> get </a:t>
            </a:r>
            <a:r>
              <a:rPr lang="en-US" dirty="0">
                <a:solidFill>
                  <a:schemeClr val="accent6"/>
                </a:solidFill>
              </a:rPr>
              <a:t>terminate</a:t>
            </a:r>
            <a:r>
              <a:rPr lang="en-US" dirty="0"/>
              <a:t>, it </a:t>
            </a:r>
            <a:r>
              <a:rPr lang="en-US" dirty="0">
                <a:solidFill>
                  <a:schemeClr val="accent6"/>
                </a:solidFill>
              </a:rPr>
              <a:t>release space </a:t>
            </a:r>
            <a:r>
              <a:rPr lang="en-US" dirty="0"/>
              <a:t>occupied. If </a:t>
            </a:r>
            <a:r>
              <a:rPr lang="en-US" dirty="0">
                <a:solidFill>
                  <a:schemeClr val="accent6"/>
                </a:solidFill>
              </a:rPr>
              <a:t>free space </a:t>
            </a:r>
            <a:r>
              <a:rPr lang="en-US" dirty="0"/>
              <a:t>is </a:t>
            </a:r>
            <a:r>
              <a:rPr lang="en-US" dirty="0">
                <a:solidFill>
                  <a:schemeClr val="accent6"/>
                </a:solidFill>
              </a:rPr>
              <a:t>contiguous</a:t>
            </a:r>
            <a:r>
              <a:rPr lang="en-US" dirty="0"/>
              <a:t> to </a:t>
            </a:r>
            <a:r>
              <a:rPr lang="en-US" dirty="0">
                <a:solidFill>
                  <a:schemeClr val="accent6"/>
                </a:solidFill>
              </a:rPr>
              <a:t>another</a:t>
            </a:r>
            <a:r>
              <a:rPr lang="en-US" dirty="0"/>
              <a:t> free partition</a:t>
            </a:r>
            <a:r>
              <a:rPr lang="en-US" dirty="0">
                <a:solidFill>
                  <a:schemeClr val="accent6"/>
                </a:solidFill>
              </a:rPr>
              <a:t>, both free partition </a:t>
            </a:r>
            <a:r>
              <a:rPr lang="en-US" dirty="0"/>
              <a:t>are </a:t>
            </a:r>
            <a:r>
              <a:rPr lang="en-US" dirty="0">
                <a:solidFill>
                  <a:schemeClr val="accent6"/>
                </a:solidFill>
              </a:rPr>
              <a:t>clubbed</a:t>
            </a:r>
            <a:r>
              <a:rPr lang="en-US" dirty="0"/>
              <a:t> together </a:t>
            </a:r>
            <a:r>
              <a:rPr lang="en-US" dirty="0">
                <a:solidFill>
                  <a:schemeClr val="accent6"/>
                </a:solidFill>
              </a:rPr>
              <a:t>into single </a:t>
            </a:r>
            <a:r>
              <a:rPr lang="en-US" dirty="0"/>
              <a:t>free partition.</a:t>
            </a:r>
          </a:p>
          <a:p>
            <a:r>
              <a:rPr lang="en-US" dirty="0"/>
              <a:t>Figure explains working of method : </a:t>
            </a:r>
          </a:p>
          <a:p>
            <a:pPr lvl="1"/>
            <a:r>
              <a:rPr lang="en-US" dirty="0"/>
              <a:t>Only an </a:t>
            </a:r>
            <a:r>
              <a:rPr lang="en-US" dirty="0">
                <a:solidFill>
                  <a:schemeClr val="accent6"/>
                </a:solidFill>
              </a:rPr>
              <a:t>OS</a:t>
            </a:r>
            <a:r>
              <a:rPr lang="en-US" dirty="0"/>
              <a:t> has been </a:t>
            </a:r>
            <a:r>
              <a:rPr lang="en-US" dirty="0">
                <a:solidFill>
                  <a:schemeClr val="accent6"/>
                </a:solidFill>
              </a:rPr>
              <a:t>loaded</a:t>
            </a:r>
            <a:r>
              <a:rPr lang="en-US" dirty="0"/>
              <a:t> in </a:t>
            </a:r>
            <a:r>
              <a:rPr lang="en-US" dirty="0">
                <a:solidFill>
                  <a:schemeClr val="accent6"/>
                </a:solidFill>
              </a:rPr>
              <a:t>memory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If </a:t>
            </a:r>
            <a:r>
              <a:rPr lang="en-US" dirty="0">
                <a:solidFill>
                  <a:schemeClr val="accent6"/>
                </a:solidFill>
              </a:rPr>
              <a:t>new process </a:t>
            </a:r>
            <a:r>
              <a:rPr lang="en-US" dirty="0"/>
              <a:t>comes, it will </a:t>
            </a:r>
            <a:r>
              <a:rPr lang="en-US" dirty="0">
                <a:solidFill>
                  <a:schemeClr val="accent6"/>
                </a:solidFill>
              </a:rPr>
              <a:t>allocated</a:t>
            </a:r>
            <a:r>
              <a:rPr lang="en-US" dirty="0"/>
              <a:t> into </a:t>
            </a:r>
            <a:r>
              <a:rPr lang="en-US" dirty="0">
                <a:solidFill>
                  <a:schemeClr val="accent6"/>
                </a:solidFill>
              </a:rPr>
              <a:t>memory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Same if any </a:t>
            </a:r>
            <a:r>
              <a:rPr lang="en-US" dirty="0">
                <a:solidFill>
                  <a:schemeClr val="accent6"/>
                </a:solidFill>
              </a:rPr>
              <a:t>process terminates</a:t>
            </a:r>
            <a:r>
              <a:rPr lang="en-US" dirty="0"/>
              <a:t>, </a:t>
            </a:r>
            <a:r>
              <a:rPr lang="en-US" dirty="0">
                <a:solidFill>
                  <a:schemeClr val="accent6"/>
                </a:solidFill>
              </a:rPr>
              <a:t>memory</a:t>
            </a:r>
            <a:r>
              <a:rPr lang="en-US" dirty="0"/>
              <a:t> is </a:t>
            </a:r>
            <a:r>
              <a:rPr lang="en-US" dirty="0">
                <a:solidFill>
                  <a:schemeClr val="accent6"/>
                </a:solidFill>
              </a:rPr>
              <a:t>released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797883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120D7-09D3-4A79-E353-BC48B856D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6E950-6768-989C-1E8B-56BE5EAA6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Variable (or </a:t>
            </a:r>
            <a:r>
              <a:rPr lang="en-US" dirty="0">
                <a:solidFill>
                  <a:schemeClr val="accent6"/>
                </a:solidFill>
              </a:rPr>
              <a:t>Dynamic</a:t>
            </a:r>
            <a:r>
              <a:rPr lang="en-US" dirty="0"/>
              <a:t>) Partition (Conti..)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3AC69-1899-2CD7-4129-0B5B918A090F}"/>
              </a:ext>
            </a:extLst>
          </p:cNvPr>
          <p:cNvSpPr txBox="1">
            <a:spLocks/>
          </p:cNvSpPr>
          <p:nvPr/>
        </p:nvSpPr>
        <p:spPr>
          <a:xfrm>
            <a:off x="131179" y="855354"/>
            <a:ext cx="11929641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Advantages</a:t>
            </a:r>
            <a:endParaRPr lang="en-US" dirty="0"/>
          </a:p>
          <a:p>
            <a:pPr lvl="1"/>
            <a:r>
              <a:rPr lang="en-US" sz="2200" dirty="0"/>
              <a:t>Efficient Memory Utilization</a:t>
            </a:r>
          </a:p>
          <a:p>
            <a:pPr lvl="1"/>
            <a:r>
              <a:rPr lang="en-US" sz="2200" dirty="0"/>
              <a:t>No Internal Fragmentation</a:t>
            </a:r>
          </a:p>
          <a:p>
            <a:r>
              <a:rPr lang="en-US" b="1" dirty="0"/>
              <a:t>Disadvantages</a:t>
            </a:r>
            <a:endParaRPr lang="en-US" dirty="0"/>
          </a:p>
          <a:p>
            <a:pPr lvl="1"/>
            <a:r>
              <a:rPr lang="en-IN" sz="2200" b="1" dirty="0">
                <a:solidFill>
                  <a:schemeClr val="accent6"/>
                </a:solidFill>
              </a:rPr>
              <a:t>External Fragmentation</a:t>
            </a:r>
          </a:p>
          <a:p>
            <a:pPr lvl="2"/>
            <a:r>
              <a:rPr lang="en-US" sz="2000" dirty="0"/>
              <a:t>Memory is allocated when a process enters the system and released when it terminates. This process can create </a:t>
            </a:r>
            <a:r>
              <a:rPr lang="en-US" sz="2000" b="1" dirty="0">
                <a:solidFill>
                  <a:schemeClr val="tx2"/>
                </a:solidFill>
              </a:rPr>
              <a:t>holes</a:t>
            </a:r>
            <a:r>
              <a:rPr lang="en-US" sz="2000" dirty="0"/>
              <a:t> (</a:t>
            </a:r>
            <a:r>
              <a:rPr lang="en-US" sz="2000" b="1" dirty="0">
                <a:solidFill>
                  <a:schemeClr val="tx2"/>
                </a:solidFill>
              </a:rPr>
              <a:t>free spaces</a:t>
            </a:r>
            <a:r>
              <a:rPr lang="en-US" sz="2000" dirty="0"/>
              <a:t>) in memory, </a:t>
            </a:r>
            <a:r>
              <a:rPr lang="en-IN" sz="2000" dirty="0"/>
              <a:t>leading to </a:t>
            </a:r>
            <a:r>
              <a:rPr lang="en-IN" sz="2000" b="1" dirty="0">
                <a:solidFill>
                  <a:schemeClr val="tx2"/>
                </a:solidFill>
              </a:rPr>
              <a:t>external fragmentation</a:t>
            </a:r>
            <a:r>
              <a:rPr lang="en-US" sz="2000" dirty="0"/>
              <a:t>.</a:t>
            </a:r>
          </a:p>
          <a:p>
            <a:pPr lvl="1"/>
            <a:r>
              <a:rPr lang="en-US" sz="2200" b="1" dirty="0">
                <a:solidFill>
                  <a:schemeClr val="accent6"/>
                </a:solidFill>
              </a:rPr>
              <a:t>Difficulty in Allocating Large Processes</a:t>
            </a:r>
          </a:p>
          <a:p>
            <a:pPr lvl="2"/>
            <a:r>
              <a:rPr lang="en-US" sz="2000" dirty="0"/>
              <a:t>If memory becomes </a:t>
            </a:r>
            <a:r>
              <a:rPr lang="en-US" sz="2000" b="1" dirty="0">
                <a:solidFill>
                  <a:schemeClr val="tx2"/>
                </a:solidFill>
              </a:rPr>
              <a:t>fragmented</a:t>
            </a:r>
            <a:r>
              <a:rPr lang="en-US" sz="2000" dirty="0"/>
              <a:t>, it may be challenging to allocate memory blocks for new processes, even if the total free memory is sufficient.</a:t>
            </a:r>
          </a:p>
          <a:p>
            <a:pPr marL="914400" lvl="2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68878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9637-7E24-8BB1-0061-B23AC0EB1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D3A40-5624-FDAE-875C-64BDE740D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Swapping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3367D-9FFC-ABC8-A7CD-52D975B8264E}"/>
              </a:ext>
            </a:extLst>
          </p:cNvPr>
          <p:cNvSpPr txBox="1">
            <a:spLocks/>
          </p:cNvSpPr>
          <p:nvPr/>
        </p:nvSpPr>
        <p:spPr>
          <a:xfrm>
            <a:off x="131179" y="855354"/>
            <a:ext cx="11929641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Scenario:</a:t>
            </a:r>
          </a:p>
          <a:p>
            <a:pPr lvl="1"/>
            <a:r>
              <a:rPr lang="en-US" sz="2200" dirty="0"/>
              <a:t>The system has a </a:t>
            </a:r>
            <a:r>
              <a:rPr lang="en-US" sz="2200" b="1" dirty="0">
                <a:solidFill>
                  <a:schemeClr val="accent6"/>
                </a:solidFill>
              </a:rPr>
              <a:t>physical memory </a:t>
            </a:r>
            <a:r>
              <a:rPr lang="en-US" sz="2200" b="1" dirty="0"/>
              <a:t>(</a:t>
            </a:r>
            <a:r>
              <a:rPr lang="en-US" sz="2200" b="1" dirty="0">
                <a:solidFill>
                  <a:schemeClr val="accent6"/>
                </a:solidFill>
              </a:rPr>
              <a:t>RAM</a:t>
            </a:r>
            <a:r>
              <a:rPr lang="en-US" sz="2200" b="1" dirty="0"/>
              <a:t>)</a:t>
            </a:r>
            <a:r>
              <a:rPr lang="en-US" sz="2200" dirty="0"/>
              <a:t> size of </a:t>
            </a:r>
            <a:r>
              <a:rPr lang="en-US" sz="2200" b="1" dirty="0">
                <a:solidFill>
                  <a:schemeClr val="accent6"/>
                </a:solidFill>
              </a:rPr>
              <a:t>32 MB</a:t>
            </a:r>
            <a:r>
              <a:rPr lang="en-US" sz="2200" dirty="0"/>
              <a:t>.</a:t>
            </a:r>
          </a:p>
          <a:p>
            <a:pPr lvl="1"/>
            <a:r>
              <a:rPr lang="en-US" sz="2200" dirty="0"/>
              <a:t>There are </a:t>
            </a:r>
            <a:r>
              <a:rPr lang="en-US" sz="2200" b="1" dirty="0">
                <a:solidFill>
                  <a:schemeClr val="accent6"/>
                </a:solidFill>
              </a:rPr>
              <a:t>5 processes</a:t>
            </a:r>
            <a:r>
              <a:rPr lang="en-US" sz="2200" dirty="0"/>
              <a:t>, each with a size of </a:t>
            </a:r>
            <a:r>
              <a:rPr lang="en-US" sz="2200" b="1" dirty="0">
                <a:solidFill>
                  <a:schemeClr val="accent6"/>
                </a:solidFill>
              </a:rPr>
              <a:t>8 MB</a:t>
            </a:r>
            <a:r>
              <a:rPr lang="en-US" sz="2200" dirty="0"/>
              <a:t>.</a:t>
            </a:r>
          </a:p>
          <a:p>
            <a:pPr lvl="1"/>
            <a:r>
              <a:rPr lang="en-US" sz="2200" dirty="0"/>
              <a:t>All 5 processes want to be executed </a:t>
            </a:r>
            <a:r>
              <a:rPr lang="en-US" sz="2200" b="1" dirty="0">
                <a:solidFill>
                  <a:schemeClr val="accent6"/>
                </a:solidFill>
              </a:rPr>
              <a:t>simultaneously</a:t>
            </a:r>
            <a:r>
              <a:rPr lang="en-US" sz="2200" dirty="0"/>
              <a:t>.</a:t>
            </a:r>
          </a:p>
          <a:p>
            <a:pPr lvl="1"/>
            <a:r>
              <a:rPr lang="en-US" sz="2200" dirty="0"/>
              <a:t>The total memory required for all 5 processes to reside in memory is </a:t>
            </a:r>
            <a:r>
              <a:rPr lang="en-US" sz="2200" b="1" dirty="0">
                <a:solidFill>
                  <a:schemeClr val="accent6"/>
                </a:solidFill>
              </a:rPr>
              <a:t>40 MB</a:t>
            </a:r>
            <a:r>
              <a:rPr lang="en-US" sz="2200" dirty="0">
                <a:solidFill>
                  <a:schemeClr val="accent6"/>
                </a:solidFill>
              </a:rPr>
              <a:t> </a:t>
            </a:r>
            <a:r>
              <a:rPr lang="en-US" sz="2200" dirty="0"/>
              <a:t>(5 processes × 8 MB each).</a:t>
            </a:r>
          </a:p>
          <a:p>
            <a:r>
              <a:rPr lang="en-IN" b="1" dirty="0"/>
              <a:t>Problem:</a:t>
            </a:r>
          </a:p>
          <a:p>
            <a:pPr lvl="1"/>
            <a:r>
              <a:rPr lang="en-US" sz="2200" dirty="0"/>
              <a:t>The </a:t>
            </a:r>
            <a:r>
              <a:rPr lang="en-US" sz="2200" b="1" dirty="0">
                <a:solidFill>
                  <a:schemeClr val="accent6"/>
                </a:solidFill>
              </a:rPr>
              <a:t>physical memory </a:t>
            </a:r>
            <a:r>
              <a:rPr lang="en-US" sz="2200" dirty="0"/>
              <a:t>(32 MB) is </a:t>
            </a:r>
            <a:r>
              <a:rPr lang="en-US" sz="2200" b="1" dirty="0">
                <a:solidFill>
                  <a:schemeClr val="accent6"/>
                </a:solidFill>
              </a:rPr>
              <a:t>insufficient</a:t>
            </a:r>
            <a:r>
              <a:rPr lang="en-US" sz="2200" dirty="0"/>
              <a:t> to accommodate all 5 processes simultaneously, as they require 40 MB in total.</a:t>
            </a:r>
          </a:p>
          <a:p>
            <a:r>
              <a:rPr lang="en-IN" b="1" dirty="0"/>
              <a:t>Solution: </a:t>
            </a:r>
            <a:r>
              <a:rPr lang="en-US" b="1" dirty="0">
                <a:solidFill>
                  <a:schemeClr val="accent6"/>
                </a:solidFill>
              </a:rPr>
              <a:t>Swapping</a:t>
            </a:r>
            <a:endParaRPr lang="en-IN" b="1" dirty="0"/>
          </a:p>
          <a:p>
            <a:pPr lvl="1"/>
            <a:r>
              <a:rPr lang="en-US" sz="2200" b="1" dirty="0">
                <a:solidFill>
                  <a:schemeClr val="accent6"/>
                </a:solidFill>
              </a:rPr>
              <a:t>Swapping</a:t>
            </a:r>
            <a:r>
              <a:rPr lang="en-US" sz="2200" dirty="0"/>
              <a:t> is a memory management technique used in operating systems to </a:t>
            </a:r>
            <a:r>
              <a:rPr lang="en-US" sz="2200" b="1" dirty="0">
                <a:solidFill>
                  <a:schemeClr val="accent6"/>
                </a:solidFill>
              </a:rPr>
              <a:t>temporarily move processes</a:t>
            </a:r>
            <a:r>
              <a:rPr lang="en-US" sz="2200" dirty="0"/>
              <a:t> from the main memory (</a:t>
            </a:r>
            <a:r>
              <a:rPr lang="en-US" sz="2200" b="1" dirty="0">
                <a:solidFill>
                  <a:schemeClr val="accent6"/>
                </a:solidFill>
              </a:rPr>
              <a:t>RAM</a:t>
            </a:r>
            <a:r>
              <a:rPr lang="en-US" sz="2200" dirty="0"/>
              <a:t>) to a secondary storage (</a:t>
            </a:r>
            <a:r>
              <a:rPr lang="en-US" sz="2200" b="1" dirty="0">
                <a:solidFill>
                  <a:schemeClr val="accent6"/>
                </a:solidFill>
              </a:rPr>
              <a:t>disk</a:t>
            </a:r>
            <a:r>
              <a:rPr lang="en-US" sz="2200" dirty="0"/>
              <a:t>) and vice versa. </a:t>
            </a:r>
          </a:p>
          <a:p>
            <a:pPr lvl="1"/>
            <a:r>
              <a:rPr lang="en-US" sz="2200" dirty="0"/>
              <a:t>This allows the system to </a:t>
            </a:r>
            <a:r>
              <a:rPr lang="en-US" sz="2200" b="1" dirty="0">
                <a:solidFill>
                  <a:schemeClr val="accent6"/>
                </a:solidFill>
              </a:rPr>
              <a:t>free up memory </a:t>
            </a:r>
            <a:r>
              <a:rPr lang="en-US" sz="2200" dirty="0"/>
              <a:t>for other processes when the </a:t>
            </a:r>
            <a:r>
              <a:rPr lang="en-US" sz="2200" b="1" dirty="0">
                <a:solidFill>
                  <a:schemeClr val="accent6"/>
                </a:solidFill>
              </a:rPr>
              <a:t>main memory is full </a:t>
            </a:r>
            <a:r>
              <a:rPr lang="en-US" sz="2200" dirty="0"/>
              <a:t>or when a </a:t>
            </a:r>
            <a:r>
              <a:rPr lang="en-US" sz="2200" b="1" dirty="0">
                <a:solidFill>
                  <a:schemeClr val="accent6"/>
                </a:solidFill>
              </a:rPr>
              <a:t>higher-priority process </a:t>
            </a:r>
            <a:r>
              <a:rPr lang="en-US" sz="2200" dirty="0"/>
              <a:t>needs to be </a:t>
            </a:r>
            <a:r>
              <a:rPr lang="en-US" sz="2200" b="1" dirty="0">
                <a:solidFill>
                  <a:schemeClr val="accent6"/>
                </a:solidFill>
              </a:rPr>
              <a:t>executed</a:t>
            </a:r>
            <a:r>
              <a:rPr lang="en-US" sz="22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139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0CAA663-115D-4714-7C6B-E54FC4C34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2" y="-3"/>
            <a:ext cx="12192000" cy="711200"/>
          </a:xfrm>
        </p:spPr>
        <p:txBody>
          <a:bodyPr/>
          <a:lstStyle/>
          <a:p>
            <a:r>
              <a:rPr lang="en-US" dirty="0"/>
              <a:t>Swapping (Conti..)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527F22E-A491-EB07-1C68-80FE2DED6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74" y="827854"/>
            <a:ext cx="11929641" cy="5649046"/>
          </a:xfrm>
        </p:spPr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2F028C-FD74-A20B-13F9-3E986107B2E1}"/>
              </a:ext>
            </a:extLst>
          </p:cNvPr>
          <p:cNvSpPr txBox="1"/>
          <p:nvPr/>
        </p:nvSpPr>
        <p:spPr>
          <a:xfrm>
            <a:off x="4278462" y="2612526"/>
            <a:ext cx="1828800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212121"/>
                </a:solidFill>
              </a:rPr>
              <a:t>Operating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415D58-D80D-FB37-6B45-DD3EB7ABBC7C}"/>
              </a:ext>
            </a:extLst>
          </p:cNvPr>
          <p:cNvSpPr txBox="1"/>
          <p:nvPr/>
        </p:nvSpPr>
        <p:spPr>
          <a:xfrm>
            <a:off x="4278462" y="3320412"/>
            <a:ext cx="1828800" cy="20397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sp>
        <p:nvSpPr>
          <p:cNvPr id="8" name="Flowchart: Magnetic Disk 7">
            <a:extLst>
              <a:ext uri="{FF2B5EF4-FFF2-40B4-BE49-F238E27FC236}">
                <a16:creationId xmlns:a16="http://schemas.microsoft.com/office/drawing/2014/main" id="{B6824A84-1360-389B-B6FD-197E97611784}"/>
              </a:ext>
            </a:extLst>
          </p:cNvPr>
          <p:cNvSpPr/>
          <p:nvPr/>
        </p:nvSpPr>
        <p:spPr>
          <a:xfrm>
            <a:off x="7952939" y="2438272"/>
            <a:ext cx="3028950" cy="2857500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52648D-D11B-451F-29B6-38A19A5CD5D3}"/>
              </a:ext>
            </a:extLst>
          </p:cNvPr>
          <p:cNvSpPr txBox="1"/>
          <p:nvPr/>
        </p:nvSpPr>
        <p:spPr>
          <a:xfrm>
            <a:off x="8470721" y="3543856"/>
            <a:ext cx="92525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212121"/>
                </a:solidFill>
              </a:rPr>
              <a:t>Process</a:t>
            </a:r>
          </a:p>
          <a:p>
            <a:pPr algn="ctr"/>
            <a:r>
              <a:rPr lang="en-US" dirty="0">
                <a:solidFill>
                  <a:srgbClr val="212121"/>
                </a:solidFill>
              </a:rPr>
              <a:t>P1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064793-D9FC-068C-9C50-C0A8984E788B}"/>
              </a:ext>
            </a:extLst>
          </p:cNvPr>
          <p:cNvSpPr txBox="1"/>
          <p:nvPr/>
        </p:nvSpPr>
        <p:spPr>
          <a:xfrm>
            <a:off x="9510278" y="4340272"/>
            <a:ext cx="92525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212121"/>
                </a:solidFill>
              </a:rPr>
              <a:t>Process</a:t>
            </a:r>
          </a:p>
          <a:p>
            <a:pPr algn="ctr"/>
            <a:r>
              <a:rPr lang="en-US" dirty="0">
                <a:solidFill>
                  <a:srgbClr val="212121"/>
                </a:solidFill>
              </a:rPr>
              <a:t>P2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903C96-2A7E-4C2E-5F5B-9010B70547A1}"/>
              </a:ext>
            </a:extLst>
          </p:cNvPr>
          <p:cNvSpPr txBox="1"/>
          <p:nvPr/>
        </p:nvSpPr>
        <p:spPr>
          <a:xfrm>
            <a:off x="4586200" y="4973197"/>
            <a:ext cx="1196161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212121"/>
                </a:solidFill>
              </a:rPr>
              <a:t>User space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259604-4ECC-603C-D970-9353877EC859}"/>
              </a:ext>
            </a:extLst>
          </p:cNvPr>
          <p:cNvSpPr txBox="1"/>
          <p:nvPr/>
        </p:nvSpPr>
        <p:spPr>
          <a:xfrm>
            <a:off x="4331087" y="5546529"/>
            <a:ext cx="1723550" cy="4308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/>
              <a:t>Main Memory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0E6816-C4A7-9C87-BA1D-4FC82AD71198}"/>
              </a:ext>
            </a:extLst>
          </p:cNvPr>
          <p:cNvSpPr txBox="1"/>
          <p:nvPr/>
        </p:nvSpPr>
        <p:spPr>
          <a:xfrm>
            <a:off x="8512559" y="5546529"/>
            <a:ext cx="1766830" cy="4308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/>
              <a:t>Backing Store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AA9CE35-2E73-6979-9C09-EECBA9397566}"/>
              </a:ext>
            </a:extLst>
          </p:cNvPr>
          <p:cNvCxnSpPr>
            <a:endCxn id="9" idx="1"/>
          </p:cNvCxnSpPr>
          <p:nvPr/>
        </p:nvCxnSpPr>
        <p:spPr>
          <a:xfrm flipV="1">
            <a:off x="5678007" y="3867022"/>
            <a:ext cx="2792714" cy="20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14E265D-F2F9-51AE-B321-6453C695BDC0}"/>
              </a:ext>
            </a:extLst>
          </p:cNvPr>
          <p:cNvCxnSpPr>
            <a:stCxn id="10" idx="1"/>
          </p:cNvCxnSpPr>
          <p:nvPr/>
        </p:nvCxnSpPr>
        <p:spPr>
          <a:xfrm flipH="1" flipV="1">
            <a:off x="5678007" y="4663437"/>
            <a:ext cx="3832271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3DF5C91-62D3-CCB7-97FC-2FADD172ECEF}"/>
              </a:ext>
            </a:extLst>
          </p:cNvPr>
          <p:cNvSpPr txBox="1"/>
          <p:nvPr/>
        </p:nvSpPr>
        <p:spPr>
          <a:xfrm>
            <a:off x="6533147" y="3489736"/>
            <a:ext cx="1051891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212121"/>
                </a:solidFill>
              </a:rPr>
              <a:t>Swap Out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454AF9-1B8D-D599-1BD2-10461C1AB22A}"/>
              </a:ext>
            </a:extLst>
          </p:cNvPr>
          <p:cNvSpPr txBox="1"/>
          <p:nvPr/>
        </p:nvSpPr>
        <p:spPr>
          <a:xfrm>
            <a:off x="6533147" y="4307683"/>
            <a:ext cx="90281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212121"/>
                </a:solidFill>
              </a:rPr>
              <a:t>Swap In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4FB0FC-FE90-F85C-FDE4-672F741838E8}"/>
              </a:ext>
            </a:extLst>
          </p:cNvPr>
          <p:cNvSpPr txBox="1"/>
          <p:nvPr/>
        </p:nvSpPr>
        <p:spPr>
          <a:xfrm>
            <a:off x="104440" y="806550"/>
            <a:ext cx="379667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When any process goes in </a:t>
            </a:r>
            <a:r>
              <a:rPr lang="en-US" sz="2200" b="1" dirty="0">
                <a:solidFill>
                  <a:schemeClr val="accent6"/>
                </a:solidFill>
              </a:rPr>
              <a:t>blocked</a:t>
            </a:r>
            <a:r>
              <a:rPr lang="en-US" sz="2200" dirty="0"/>
              <a:t> state and there is not enough space in memory to run all process, then that process is moved to </a:t>
            </a:r>
            <a:r>
              <a:rPr lang="en-US" sz="2200" b="1" dirty="0">
                <a:solidFill>
                  <a:schemeClr val="accent6"/>
                </a:solidFill>
              </a:rPr>
              <a:t>swap area</a:t>
            </a:r>
            <a:r>
              <a:rPr lang="en-US" sz="2200" dirty="0"/>
              <a:t>.</a:t>
            </a:r>
            <a:endParaRPr lang="en-US" sz="2200" b="1" dirty="0">
              <a:solidFill>
                <a:schemeClr val="accent6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788900-69B5-DAB6-6AF8-8752800AE9A8}"/>
              </a:ext>
            </a:extLst>
          </p:cNvPr>
          <p:cNvSpPr txBox="1"/>
          <p:nvPr/>
        </p:nvSpPr>
        <p:spPr>
          <a:xfrm>
            <a:off x="104441" y="2795281"/>
            <a:ext cx="376255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A process will </a:t>
            </a:r>
            <a:r>
              <a:rPr lang="en-US" sz="2200" b="1" dirty="0">
                <a:solidFill>
                  <a:schemeClr val="accent6"/>
                </a:solidFill>
              </a:rPr>
              <a:t>remain in memory</a:t>
            </a:r>
            <a:r>
              <a:rPr lang="en-US" sz="2200" dirty="0"/>
              <a:t> until it is </a:t>
            </a:r>
            <a:r>
              <a:rPr lang="en-US" sz="2200" b="1" dirty="0">
                <a:solidFill>
                  <a:schemeClr val="accent6"/>
                </a:solidFill>
              </a:rPr>
              <a:t>ready to run</a:t>
            </a:r>
            <a:r>
              <a:rPr lang="en-US" sz="2200" dirty="0"/>
              <a:t>, and it will be brought into memory when needed.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DE6663-CFB7-4D17-8426-D726E37DDF44}"/>
              </a:ext>
            </a:extLst>
          </p:cNvPr>
          <p:cNvSpPr txBox="1"/>
          <p:nvPr/>
        </p:nvSpPr>
        <p:spPr>
          <a:xfrm>
            <a:off x="7919407" y="806550"/>
            <a:ext cx="37448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Operation of moving process from </a:t>
            </a:r>
            <a:r>
              <a:rPr lang="en-US" sz="2200" b="1" dirty="0">
                <a:solidFill>
                  <a:schemeClr val="accent6"/>
                </a:solidFill>
              </a:rPr>
              <a:t>memory</a:t>
            </a:r>
            <a:r>
              <a:rPr lang="en-US" sz="2200" dirty="0"/>
              <a:t> to </a:t>
            </a:r>
            <a:r>
              <a:rPr lang="en-US" sz="2200" b="1" dirty="0">
                <a:solidFill>
                  <a:schemeClr val="accent6"/>
                </a:solidFill>
              </a:rPr>
              <a:t>swap area </a:t>
            </a:r>
            <a:r>
              <a:rPr lang="en-US" sz="2200" dirty="0"/>
              <a:t>is called </a:t>
            </a:r>
            <a:r>
              <a:rPr lang="en-US" sz="2200" b="1" dirty="0">
                <a:solidFill>
                  <a:schemeClr val="tx2"/>
                </a:solidFill>
              </a:rPr>
              <a:t>Swap Out</a:t>
            </a:r>
            <a:r>
              <a:rPr lang="en-US" sz="2200" dirty="0"/>
              <a:t>.</a:t>
            </a:r>
            <a:endParaRPr lang="en-US" sz="2200" b="1" dirty="0">
              <a:solidFill>
                <a:schemeClr val="tx2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DD0CE9-F7A2-24AF-10A4-F5785674FC46}"/>
              </a:ext>
            </a:extLst>
          </p:cNvPr>
          <p:cNvSpPr txBox="1"/>
          <p:nvPr/>
        </p:nvSpPr>
        <p:spPr>
          <a:xfrm>
            <a:off x="4165175" y="810182"/>
            <a:ext cx="34963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Operation of moving process from </a:t>
            </a:r>
            <a:r>
              <a:rPr lang="en-US" sz="2200" b="1" dirty="0">
                <a:solidFill>
                  <a:schemeClr val="accent6"/>
                </a:solidFill>
              </a:rPr>
              <a:t>swap area </a:t>
            </a:r>
            <a:r>
              <a:rPr lang="en-US" sz="2200" dirty="0"/>
              <a:t>to </a:t>
            </a:r>
            <a:r>
              <a:rPr lang="en-US" sz="2200" b="1" dirty="0">
                <a:solidFill>
                  <a:schemeClr val="accent6"/>
                </a:solidFill>
              </a:rPr>
              <a:t>memory</a:t>
            </a:r>
            <a:r>
              <a:rPr lang="en-US" sz="2200" dirty="0"/>
              <a:t> is called </a:t>
            </a:r>
            <a:r>
              <a:rPr lang="en-US" sz="2200" b="1" dirty="0">
                <a:solidFill>
                  <a:schemeClr val="tx2"/>
                </a:solidFill>
              </a:rPr>
              <a:t>Swap In</a:t>
            </a:r>
            <a:r>
              <a:rPr lang="en-US" sz="2200" dirty="0"/>
              <a:t>.</a:t>
            </a:r>
            <a:endParaRPr lang="en-US" sz="2200" b="1" dirty="0">
              <a:solidFill>
                <a:schemeClr val="tx2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567F71-5D76-2DE8-47AD-C8217DD4C3EE}"/>
              </a:ext>
            </a:extLst>
          </p:cNvPr>
          <p:cNvSpPr txBox="1"/>
          <p:nvPr/>
        </p:nvSpPr>
        <p:spPr>
          <a:xfrm>
            <a:off x="108704" y="4364053"/>
            <a:ext cx="379667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When process brought back to memory then it may be </a:t>
            </a:r>
            <a:r>
              <a:rPr lang="en-US" sz="2200" b="1" dirty="0">
                <a:solidFill>
                  <a:schemeClr val="accent6"/>
                </a:solidFill>
              </a:rPr>
              <a:t>loaded</a:t>
            </a:r>
            <a:r>
              <a:rPr lang="en-US" sz="2200" dirty="0"/>
              <a:t> on </a:t>
            </a:r>
            <a:r>
              <a:rPr lang="en-US" sz="2200" b="1" dirty="0">
                <a:solidFill>
                  <a:schemeClr val="accent6"/>
                </a:solidFill>
              </a:rPr>
              <a:t>different location </a:t>
            </a:r>
            <a:r>
              <a:rPr lang="en-US" sz="2200" dirty="0"/>
              <a:t>rather </a:t>
            </a:r>
            <a:r>
              <a:rPr lang="en-US" sz="2200" b="1" dirty="0">
                <a:solidFill>
                  <a:schemeClr val="accent6"/>
                </a:solidFill>
              </a:rPr>
              <a:t>than</a:t>
            </a:r>
            <a:r>
              <a:rPr lang="en-US" sz="2200" dirty="0"/>
              <a:t> </a:t>
            </a:r>
            <a:r>
              <a:rPr lang="en-US" sz="2200" b="1" dirty="0">
                <a:solidFill>
                  <a:schemeClr val="accent6"/>
                </a:solidFill>
              </a:rPr>
              <a:t>original one</a:t>
            </a:r>
            <a:r>
              <a:rPr lang="en-US" sz="220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So, there is need of </a:t>
            </a:r>
            <a:r>
              <a:rPr lang="en-US" sz="2200" b="1" dirty="0">
                <a:solidFill>
                  <a:schemeClr val="accent6"/>
                </a:solidFill>
              </a:rPr>
              <a:t>Memory Relocation</a:t>
            </a:r>
            <a:r>
              <a:rPr lang="en-US" sz="2200" dirty="0"/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3E4C7D-FB0E-F06A-FFFC-F2F5309A0E5E}"/>
              </a:ext>
            </a:extLst>
          </p:cNvPr>
          <p:cNvSpPr txBox="1"/>
          <p:nvPr/>
        </p:nvSpPr>
        <p:spPr>
          <a:xfrm>
            <a:off x="7615588" y="2243193"/>
            <a:ext cx="3744803" cy="30993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FCBEF7-5FA1-6748-27E4-5C6D118CEA46}"/>
              </a:ext>
            </a:extLst>
          </p:cNvPr>
          <p:cNvSpPr txBox="1"/>
          <p:nvPr/>
        </p:nvSpPr>
        <p:spPr>
          <a:xfrm>
            <a:off x="11253990" y="3535902"/>
            <a:ext cx="8756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2"/>
                </a:solidFill>
              </a:rPr>
              <a:t>Swap Area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356AA3-9666-7D9E-EDDE-6227CA1B87BA}"/>
              </a:ext>
            </a:extLst>
          </p:cNvPr>
          <p:cNvSpPr txBox="1"/>
          <p:nvPr/>
        </p:nvSpPr>
        <p:spPr>
          <a:xfrm>
            <a:off x="6422205" y="3465812"/>
            <a:ext cx="1328968" cy="4861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3AA5BE-A9AF-AE14-B722-392A97567374}"/>
              </a:ext>
            </a:extLst>
          </p:cNvPr>
          <p:cNvSpPr txBox="1"/>
          <p:nvPr/>
        </p:nvSpPr>
        <p:spPr>
          <a:xfrm>
            <a:off x="6394607" y="4288155"/>
            <a:ext cx="1328969" cy="4530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C3AF7B-82C4-1D15-1F52-0DF0DF2E1C77}"/>
              </a:ext>
            </a:extLst>
          </p:cNvPr>
          <p:cNvSpPr txBox="1"/>
          <p:nvPr/>
        </p:nvSpPr>
        <p:spPr>
          <a:xfrm>
            <a:off x="6154104" y="3485127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1C2BD4-3D35-114C-E76B-6C7AC656A422}"/>
              </a:ext>
            </a:extLst>
          </p:cNvPr>
          <p:cNvSpPr txBox="1"/>
          <p:nvPr/>
        </p:nvSpPr>
        <p:spPr>
          <a:xfrm>
            <a:off x="6152232" y="4314609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63AB80-D325-8E52-BAF8-A6E7FF043F8C}"/>
              </a:ext>
            </a:extLst>
          </p:cNvPr>
          <p:cNvSpPr txBox="1"/>
          <p:nvPr/>
        </p:nvSpPr>
        <p:spPr>
          <a:xfrm>
            <a:off x="4139096" y="2513603"/>
            <a:ext cx="2072815" cy="29762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2879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6" presetClass="emph" presetSubtype="0" repeatCount="indefinite" fill="hold" grpId="4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53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2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75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6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86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7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2" grpId="0"/>
      <p:bldP spid="13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 animBg="1"/>
      <p:bldP spid="23" grpId="1" animBg="1"/>
      <p:bldP spid="23" grpId="2" animBg="1"/>
      <p:bldP spid="23" grpId="3" animBg="1"/>
      <p:bldP spid="23" grpId="4" animBg="1"/>
      <p:bldP spid="23" grpId="5" animBg="1"/>
      <p:bldP spid="24" grpId="0"/>
      <p:bldP spid="25" grpId="0" animBg="1"/>
      <p:bldP spid="25" grpId="1" animBg="1"/>
      <p:bldP spid="25" grpId="2" animBg="1"/>
      <p:bldP spid="26" grpId="0" animBg="1"/>
      <p:bldP spid="26" grpId="1" animBg="1"/>
      <p:bldP spid="26" grpId="2" animBg="1"/>
      <p:bldP spid="27" grpId="0"/>
      <p:bldP spid="28" grpId="0"/>
      <p:bldP spid="29" grpId="0" animBg="1"/>
      <p:bldP spid="29" grpId="1" animBg="1"/>
      <p:bldP spid="29" grpId="2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8852A-15C5-636C-A868-CA388201B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8BDB79-8EBC-954E-5D5A-5061FBF85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Non-Contiguous Memory Allocation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478BC2-2486-0B86-B83E-71A963D57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3.2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1966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663EF8C-0812-6747-7475-B0633A7DE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Non-Contiguous Memory Allocation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F4B5537-C95B-AA12-D482-BEE0F1E6E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5465752" cy="5656790"/>
          </a:xfrm>
        </p:spPr>
        <p:txBody>
          <a:bodyPr/>
          <a:lstStyle/>
          <a:p>
            <a:r>
              <a:rPr lang="en-US" dirty="0"/>
              <a:t>This method is used by </a:t>
            </a:r>
            <a:r>
              <a:rPr lang="en-US" b="1" dirty="0">
                <a:solidFill>
                  <a:schemeClr val="accent6"/>
                </a:solidFill>
              </a:rPr>
              <a:t>modern operating systems</a:t>
            </a:r>
            <a:r>
              <a:rPr lang="en-US" dirty="0"/>
              <a:t>. The </a:t>
            </a:r>
            <a:r>
              <a:rPr lang="en-US" b="1" dirty="0">
                <a:solidFill>
                  <a:schemeClr val="accent6"/>
                </a:solidFill>
              </a:rPr>
              <a:t>logical address space </a:t>
            </a:r>
            <a:r>
              <a:rPr lang="en-US" dirty="0"/>
              <a:t>of a process is divided into partitions (e.g., </a:t>
            </a:r>
            <a:r>
              <a:rPr lang="en-US" b="1" dirty="0">
                <a:solidFill>
                  <a:schemeClr val="accent6"/>
                </a:solidFill>
              </a:rPr>
              <a:t>segments</a:t>
            </a:r>
            <a:r>
              <a:rPr lang="en-US" dirty="0"/>
              <a:t> or </a:t>
            </a:r>
            <a:r>
              <a:rPr lang="en-US" b="1" dirty="0">
                <a:solidFill>
                  <a:schemeClr val="accent6"/>
                </a:solidFill>
              </a:rPr>
              <a:t>pages</a:t>
            </a:r>
            <a:r>
              <a:rPr lang="en-US" dirty="0"/>
              <a:t>).</a:t>
            </a:r>
          </a:p>
          <a:p>
            <a:r>
              <a:rPr lang="en-US" dirty="0"/>
              <a:t>For each partition, a </a:t>
            </a:r>
            <a:r>
              <a:rPr lang="en-US" b="1" dirty="0">
                <a:solidFill>
                  <a:schemeClr val="accent6"/>
                </a:solidFill>
              </a:rPr>
              <a:t>contiguous chunk of free memory</a:t>
            </a:r>
            <a:r>
              <a:rPr lang="en-US" dirty="0">
                <a:solidFill>
                  <a:schemeClr val="accent6"/>
                </a:solidFill>
              </a:rPr>
              <a:t> </a:t>
            </a:r>
            <a:r>
              <a:rPr lang="en-US" dirty="0"/>
              <a:t>is allocated in the </a:t>
            </a:r>
            <a:r>
              <a:rPr lang="en-US" b="1" dirty="0">
                <a:solidFill>
                  <a:schemeClr val="accent6"/>
                </a:solidFill>
              </a:rPr>
              <a:t>physical address space</a:t>
            </a:r>
            <a:r>
              <a:rPr lang="en-US" dirty="0"/>
              <a:t>.</a:t>
            </a:r>
          </a:p>
          <a:p>
            <a:r>
              <a:rPr lang="en-US" dirty="0"/>
              <a:t>However, the physical memory allocated to different partitions of the same process </a:t>
            </a:r>
            <a:r>
              <a:rPr lang="en-US" b="1" dirty="0">
                <a:solidFill>
                  <a:schemeClr val="accent6"/>
                </a:solidFill>
              </a:rPr>
              <a:t>may not be contiguous</a:t>
            </a:r>
            <a:r>
              <a:rPr lang="en-US" dirty="0"/>
              <a:t>.</a:t>
            </a:r>
          </a:p>
          <a:p>
            <a:r>
              <a:rPr lang="en-US" dirty="0"/>
              <a:t>For </a:t>
            </a:r>
            <a:r>
              <a:rPr lang="en-US" b="1" dirty="0">
                <a:solidFill>
                  <a:schemeClr val="accent6"/>
                </a:solidFill>
              </a:rPr>
              <a:t>example</a:t>
            </a:r>
            <a:r>
              <a:rPr lang="en-US" dirty="0"/>
              <a:t>, if the logical address space of a process is divided into three partitions—</a:t>
            </a:r>
            <a:r>
              <a:rPr lang="en-US" b="1" dirty="0">
                <a:solidFill>
                  <a:schemeClr val="accent6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chemeClr val="accent6"/>
                </a:solidFill>
              </a:rPr>
              <a:t>B</a:t>
            </a:r>
            <a:r>
              <a:rPr lang="en-US" dirty="0"/>
              <a:t>, and </a:t>
            </a:r>
            <a:r>
              <a:rPr lang="en-US" b="1" dirty="0">
                <a:solidFill>
                  <a:schemeClr val="accent6"/>
                </a:solidFill>
              </a:rPr>
              <a:t>C</a:t>
            </a:r>
            <a:r>
              <a:rPr lang="en-US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13AFDC-F4C9-91FD-13D2-35D37C6CCE50}"/>
              </a:ext>
            </a:extLst>
          </p:cNvPr>
          <p:cNvSpPr txBox="1"/>
          <p:nvPr/>
        </p:nvSpPr>
        <p:spPr>
          <a:xfrm>
            <a:off x="5732557" y="2841447"/>
            <a:ext cx="2492083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212121"/>
                </a:solidFill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2FD888-22EF-28A4-8A45-2CB0EAF1C181}"/>
              </a:ext>
            </a:extLst>
          </p:cNvPr>
          <p:cNvSpPr txBox="1"/>
          <p:nvPr/>
        </p:nvSpPr>
        <p:spPr>
          <a:xfrm>
            <a:off x="5732557" y="3210779"/>
            <a:ext cx="2492083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212121"/>
                </a:solidFill>
              </a:rPr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DD72A3-ABD8-81F5-15AF-A5E85096AF3C}"/>
              </a:ext>
            </a:extLst>
          </p:cNvPr>
          <p:cNvSpPr txBox="1"/>
          <p:nvPr/>
        </p:nvSpPr>
        <p:spPr>
          <a:xfrm>
            <a:off x="5732557" y="3580111"/>
            <a:ext cx="2492083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212121"/>
                </a:solidFill>
              </a:rPr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DD1F4A-DA3A-29B5-9298-285DC24772BB}"/>
              </a:ext>
            </a:extLst>
          </p:cNvPr>
          <p:cNvSpPr txBox="1"/>
          <p:nvPr/>
        </p:nvSpPr>
        <p:spPr>
          <a:xfrm>
            <a:off x="9498398" y="2102783"/>
            <a:ext cx="24920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12121"/>
                </a:solidFill>
              </a:rPr>
              <a:t>……….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27EB7E-22EA-4DFF-9297-B0302C317C38}"/>
              </a:ext>
            </a:extLst>
          </p:cNvPr>
          <p:cNvSpPr txBox="1"/>
          <p:nvPr/>
        </p:nvSpPr>
        <p:spPr>
          <a:xfrm>
            <a:off x="9498398" y="2472115"/>
            <a:ext cx="2492083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212121"/>
                </a:solidFill>
              </a:rPr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271774-4D23-D730-DB2D-C8E868762FEE}"/>
              </a:ext>
            </a:extLst>
          </p:cNvPr>
          <p:cNvSpPr txBox="1"/>
          <p:nvPr/>
        </p:nvSpPr>
        <p:spPr>
          <a:xfrm>
            <a:off x="9498398" y="2841447"/>
            <a:ext cx="24920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12121"/>
                </a:solidFill>
              </a:rPr>
              <a:t>……….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1E0354-A367-A7F2-0401-A50DF465EF53}"/>
              </a:ext>
            </a:extLst>
          </p:cNvPr>
          <p:cNvSpPr txBox="1"/>
          <p:nvPr/>
        </p:nvSpPr>
        <p:spPr>
          <a:xfrm>
            <a:off x="9498398" y="3210779"/>
            <a:ext cx="2492083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212121"/>
                </a:solidFill>
              </a:rPr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108208-31D3-54E3-1CDC-CDADA0B58E9D}"/>
              </a:ext>
            </a:extLst>
          </p:cNvPr>
          <p:cNvSpPr txBox="1"/>
          <p:nvPr/>
        </p:nvSpPr>
        <p:spPr>
          <a:xfrm>
            <a:off x="9498398" y="3582379"/>
            <a:ext cx="24920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12121"/>
                </a:solidFill>
              </a:rPr>
              <a:t>……….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4C721D-8FA5-3970-E8EE-6CBF2B3D750D}"/>
              </a:ext>
            </a:extLst>
          </p:cNvPr>
          <p:cNvSpPr txBox="1"/>
          <p:nvPr/>
        </p:nvSpPr>
        <p:spPr>
          <a:xfrm>
            <a:off x="9498398" y="3949443"/>
            <a:ext cx="2492083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212121"/>
                </a:solidFill>
              </a:rPr>
              <a:t>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25322E-784F-2B69-5713-C1148060DE7B}"/>
              </a:ext>
            </a:extLst>
          </p:cNvPr>
          <p:cNvSpPr txBox="1"/>
          <p:nvPr/>
        </p:nvSpPr>
        <p:spPr>
          <a:xfrm>
            <a:off x="9498398" y="4311782"/>
            <a:ext cx="24920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12121"/>
                </a:solidFill>
              </a:rPr>
              <a:t>……….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FB174DB-2118-0F76-973B-B4D83F92B44C}"/>
              </a:ext>
            </a:extLst>
          </p:cNvPr>
          <p:cNvCxnSpPr>
            <a:stCxn id="6" idx="3"/>
            <a:endCxn id="12" idx="1"/>
          </p:cNvCxnSpPr>
          <p:nvPr/>
        </p:nvCxnSpPr>
        <p:spPr>
          <a:xfrm>
            <a:off x="8224640" y="3026113"/>
            <a:ext cx="1273758" cy="369332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0DCD6AB-0D85-1719-4BEF-09AD2EAE1941}"/>
              </a:ext>
            </a:extLst>
          </p:cNvPr>
          <p:cNvCxnSpPr>
            <a:stCxn id="8" idx="3"/>
            <a:endCxn id="14" idx="1"/>
          </p:cNvCxnSpPr>
          <p:nvPr/>
        </p:nvCxnSpPr>
        <p:spPr>
          <a:xfrm>
            <a:off x="8224640" y="3764777"/>
            <a:ext cx="1273758" cy="369332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C7A2E42-FD44-65A4-1C26-7FE851FC18CC}"/>
              </a:ext>
            </a:extLst>
          </p:cNvPr>
          <p:cNvCxnSpPr>
            <a:stCxn id="7" idx="3"/>
            <a:endCxn id="10" idx="1"/>
          </p:cNvCxnSpPr>
          <p:nvPr/>
        </p:nvCxnSpPr>
        <p:spPr>
          <a:xfrm flipV="1">
            <a:off x="8224640" y="2656781"/>
            <a:ext cx="1273758" cy="738664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A6158E1-9104-579B-2AF3-4C1C7D9DB68B}"/>
              </a:ext>
            </a:extLst>
          </p:cNvPr>
          <p:cNvSpPr txBox="1"/>
          <p:nvPr/>
        </p:nvSpPr>
        <p:spPr>
          <a:xfrm>
            <a:off x="5287902" y="4043797"/>
            <a:ext cx="33692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212121"/>
                </a:solidFill>
              </a:rPr>
              <a:t>Logical Address Space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FDAC97-C199-F8A2-6A84-B2D80177389E}"/>
              </a:ext>
            </a:extLst>
          </p:cNvPr>
          <p:cNvSpPr txBox="1"/>
          <p:nvPr/>
        </p:nvSpPr>
        <p:spPr>
          <a:xfrm>
            <a:off x="9932180" y="4724725"/>
            <a:ext cx="16245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212121"/>
                </a:solidFill>
              </a:rPr>
              <a:t>Memory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4050A42-218D-1A7A-9997-CDE6677A5FD2}"/>
              </a:ext>
            </a:extLst>
          </p:cNvPr>
          <p:cNvSpPr txBox="1">
            <a:spLocks/>
          </p:cNvSpPr>
          <p:nvPr/>
        </p:nvSpPr>
        <p:spPr>
          <a:xfrm>
            <a:off x="131180" y="5670043"/>
            <a:ext cx="5465752" cy="9445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Each partition is allocated a </a:t>
            </a:r>
            <a:r>
              <a:rPr lang="en-US" b="1" dirty="0">
                <a:solidFill>
                  <a:schemeClr val="accent6"/>
                </a:solidFill>
              </a:rPr>
              <a:t>separate chunk of memory </a:t>
            </a:r>
            <a:r>
              <a:rPr lang="en-US" dirty="0"/>
              <a:t>in </a:t>
            </a:r>
            <a:r>
              <a:rPr lang="en-US" b="1" dirty="0">
                <a:solidFill>
                  <a:schemeClr val="accent6"/>
                </a:solidFill>
              </a:rPr>
              <a:t>physical memory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0114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9" grpId="0"/>
      <p:bldP spid="2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B914EAD-2A6A-735F-1E5C-ECA00FCA5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Non-Contiguous Memory Allocation (Conti..)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9DF9807-4546-5396-0DDA-019C032D7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65679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Advantage</a:t>
            </a:r>
          </a:p>
          <a:p>
            <a:pPr lvl="1"/>
            <a:r>
              <a:rPr lang="en-US" sz="2200" b="1" dirty="0">
                <a:solidFill>
                  <a:schemeClr val="accent6"/>
                </a:solidFill>
              </a:rPr>
              <a:t>Efficient</a:t>
            </a:r>
            <a:r>
              <a:rPr lang="en-US" sz="2200" dirty="0"/>
              <a:t> Memory Utilization</a:t>
            </a:r>
            <a:endParaRPr lang="en-US" sz="2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/>
              <a:t>Disadvantage</a:t>
            </a:r>
          </a:p>
          <a:p>
            <a:pPr lvl="1"/>
            <a:r>
              <a:rPr lang="en-US" sz="2200" dirty="0"/>
              <a:t>It is </a:t>
            </a:r>
            <a:r>
              <a:rPr lang="en-US" sz="2200" b="1" dirty="0">
                <a:solidFill>
                  <a:schemeClr val="accent6"/>
                </a:solidFill>
              </a:rPr>
              <a:t>complex</a:t>
            </a:r>
            <a:r>
              <a:rPr lang="en-US" sz="2200" dirty="0"/>
              <a:t> to implement and </a:t>
            </a:r>
            <a:r>
              <a:rPr lang="en-US" sz="2200" b="1" dirty="0">
                <a:solidFill>
                  <a:schemeClr val="accent6"/>
                </a:solidFill>
              </a:rPr>
              <a:t>difficult</a:t>
            </a:r>
            <a:r>
              <a:rPr lang="en-US" sz="2200" dirty="0"/>
              <a:t> to manage as compare to contiguous memory allocation.</a:t>
            </a:r>
          </a:p>
        </p:txBody>
      </p:sp>
    </p:spTree>
    <p:extLst>
      <p:ext uri="{BB962C8B-B14F-4D97-AF65-F5344CB8AC3E}">
        <p14:creationId xmlns:p14="http://schemas.microsoft.com/office/powerpoint/2010/main" val="1302504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73E50-2744-03E1-7E07-A2E438063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DF2A554-D4AC-FB9F-C4E3-67C4182008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761038"/>
              </p:ext>
            </p:extLst>
          </p:nvPr>
        </p:nvGraphicFramePr>
        <p:xfrm>
          <a:off x="3141425" y="2370818"/>
          <a:ext cx="968692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86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Page 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Page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Page 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Page 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Page 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Page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Page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Page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Page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Page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Page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1F37921-569F-7FAF-6EC5-1D45917F8D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381847"/>
              </p:ext>
            </p:extLst>
          </p:nvPr>
        </p:nvGraphicFramePr>
        <p:xfrm>
          <a:off x="5638309" y="4224860"/>
          <a:ext cx="97200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Frame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Frame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Frame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Frame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Frame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Frame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F68B058-E57C-C956-CCE6-3F2F26E03F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039579"/>
              </p:ext>
            </p:extLst>
          </p:nvPr>
        </p:nvGraphicFramePr>
        <p:xfrm>
          <a:off x="1846025" y="2370818"/>
          <a:ext cx="1295400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40K – 44K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36K – 40K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32K – 36K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28K – 32K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24K – 28K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20K – 24K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16K – 20K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12K – 16K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8K – 12K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4K – 8K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0K – 4K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30ABB0-96B9-EA0E-AF1E-B08773CB48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182905"/>
              </p:ext>
            </p:extLst>
          </p:nvPr>
        </p:nvGraphicFramePr>
        <p:xfrm>
          <a:off x="6610907" y="4225814"/>
          <a:ext cx="1216818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6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20K – 24K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16K – 20K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12K – 16K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8K – 12K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4K – 8K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0K – 4K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Left Brace 5">
            <a:extLst>
              <a:ext uri="{FF2B5EF4-FFF2-40B4-BE49-F238E27FC236}">
                <a16:creationId xmlns:a16="http://schemas.microsoft.com/office/drawing/2014/main" id="{C4442B3D-C5B3-05E3-F432-331D8A66A10C}"/>
              </a:ext>
            </a:extLst>
          </p:cNvPr>
          <p:cNvSpPr/>
          <p:nvPr/>
        </p:nvSpPr>
        <p:spPr>
          <a:xfrm>
            <a:off x="1388825" y="2374390"/>
            <a:ext cx="457200" cy="4075668"/>
          </a:xfrm>
          <a:prstGeom prst="leftBrac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ECCA4563-E545-202C-7179-4D751C511B83}"/>
              </a:ext>
            </a:extLst>
          </p:cNvPr>
          <p:cNvSpPr/>
          <p:nvPr/>
        </p:nvSpPr>
        <p:spPr>
          <a:xfrm>
            <a:off x="7827725" y="4226765"/>
            <a:ext cx="457200" cy="2221992"/>
          </a:xfrm>
          <a:prstGeom prst="rightBrac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ular Callout 9">
            <a:extLst>
              <a:ext uri="{FF2B5EF4-FFF2-40B4-BE49-F238E27FC236}">
                <a16:creationId xmlns:a16="http://schemas.microsoft.com/office/drawing/2014/main" id="{1404B158-2512-E9D1-24F5-5EFD4296EF00}"/>
              </a:ext>
            </a:extLst>
          </p:cNvPr>
          <p:cNvSpPr/>
          <p:nvPr/>
        </p:nvSpPr>
        <p:spPr>
          <a:xfrm>
            <a:off x="8475231" y="4133549"/>
            <a:ext cx="1219200" cy="1066800"/>
          </a:xfrm>
          <a:prstGeom prst="wedgeRoundRectCallout">
            <a:avLst>
              <a:gd name="adj1" fmla="val -71630"/>
              <a:gd name="adj2" fmla="val 55883"/>
              <a:gd name="adj3" fmla="val 16667"/>
            </a:avLst>
          </a:prstGeom>
          <a:ln w="28575"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Physical Memory Address</a:t>
            </a:r>
          </a:p>
        </p:txBody>
      </p:sp>
      <p:sp>
        <p:nvSpPr>
          <p:cNvPr id="9" name="Rounded Rectangular Callout 10">
            <a:extLst>
              <a:ext uri="{FF2B5EF4-FFF2-40B4-BE49-F238E27FC236}">
                <a16:creationId xmlns:a16="http://schemas.microsoft.com/office/drawing/2014/main" id="{B05FAE17-AEF6-4695-2737-7DBC8F08BCEA}"/>
              </a:ext>
            </a:extLst>
          </p:cNvPr>
          <p:cNvSpPr/>
          <p:nvPr/>
        </p:nvSpPr>
        <p:spPr>
          <a:xfrm>
            <a:off x="188754" y="2864505"/>
            <a:ext cx="1219200" cy="1126465"/>
          </a:xfrm>
          <a:prstGeom prst="wedgeRoundRectCallout">
            <a:avLst>
              <a:gd name="adj1" fmla="val 57826"/>
              <a:gd name="adj2" fmla="val 81315"/>
              <a:gd name="adj3" fmla="val 16667"/>
            </a:avLst>
          </a:prstGeom>
          <a:ln w="28575"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Logical/ Virtual Address Space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B01C9616-6A2E-8BBF-8913-493A53889327}"/>
              </a:ext>
            </a:extLst>
          </p:cNvPr>
          <p:cNvSpPr/>
          <p:nvPr/>
        </p:nvSpPr>
        <p:spPr>
          <a:xfrm>
            <a:off x="4135972" y="2738560"/>
            <a:ext cx="152400" cy="381000"/>
          </a:xfrm>
          <a:prstGeom prst="rightBrac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1BD66FD4-8666-2B3B-CC02-CBDDA5DE0010}"/>
              </a:ext>
            </a:extLst>
          </p:cNvPr>
          <p:cNvSpPr/>
          <p:nvPr/>
        </p:nvSpPr>
        <p:spPr>
          <a:xfrm flipH="1">
            <a:off x="5462949" y="4226764"/>
            <a:ext cx="152400" cy="369849"/>
          </a:xfrm>
          <a:prstGeom prst="rightBrac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57A042-7343-67F9-84DA-5EA89726D62B}"/>
              </a:ext>
            </a:extLst>
          </p:cNvPr>
          <p:cNvSpPr txBox="1"/>
          <p:nvPr/>
        </p:nvSpPr>
        <p:spPr>
          <a:xfrm>
            <a:off x="4269906" y="2740704"/>
            <a:ext cx="1362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Virtual page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37BEA0-7E78-2FE9-0798-C43D510BF49C}"/>
              </a:ext>
            </a:extLst>
          </p:cNvPr>
          <p:cNvSpPr txBox="1"/>
          <p:nvPr/>
        </p:nvSpPr>
        <p:spPr>
          <a:xfrm>
            <a:off x="4223638" y="4217757"/>
            <a:ext cx="1258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Page frame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967F3A-3B13-3B63-BDAD-40CBAB17EB35}"/>
              </a:ext>
            </a:extLst>
          </p:cNvPr>
          <p:cNvSpPr txBox="1"/>
          <p:nvPr/>
        </p:nvSpPr>
        <p:spPr>
          <a:xfrm>
            <a:off x="5648482" y="2063060"/>
            <a:ext cx="6304219" cy="19389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The main idea behind the paging is </a:t>
            </a:r>
            <a:r>
              <a:rPr lang="en-US" sz="2000" b="1" dirty="0">
                <a:solidFill>
                  <a:schemeClr val="accent6"/>
                </a:solidFill>
              </a:rPr>
              <a:t>to divide each process in the form of pages</a:t>
            </a:r>
            <a:r>
              <a:rPr lang="en-US" sz="2000" dirty="0"/>
              <a:t>. </a:t>
            </a:r>
          </a:p>
          <a:p>
            <a:pPr marL="285750" indent="-28575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The main memory will also be divided in the form of </a:t>
            </a:r>
            <a:r>
              <a:rPr lang="en-US" sz="2000" b="1" dirty="0">
                <a:solidFill>
                  <a:schemeClr val="accent6"/>
                </a:solidFill>
              </a:rPr>
              <a:t>frames</a:t>
            </a:r>
            <a:r>
              <a:rPr lang="en-US" sz="2000" dirty="0"/>
              <a:t>.</a:t>
            </a:r>
          </a:p>
          <a:p>
            <a:pPr marL="285750" indent="-28575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6"/>
                </a:solidFill>
              </a:rPr>
              <a:t>One page of the process is to be stored in one of the frames </a:t>
            </a:r>
            <a:r>
              <a:rPr lang="en-US" sz="2000" dirty="0"/>
              <a:t>of the memory.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22725E0-5BEA-AAF8-3C56-5B1724841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Paging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DB9673C-7A8E-094C-8A50-2187CE9EF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67188"/>
            <a:ext cx="11929641" cy="5742808"/>
          </a:xfrm>
        </p:spPr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Paging</a:t>
            </a:r>
            <a:r>
              <a:rPr lang="en-US" dirty="0"/>
              <a:t> is a memory management technique used by operating systems to </a:t>
            </a:r>
            <a:r>
              <a:rPr lang="en-US" b="1" dirty="0">
                <a:solidFill>
                  <a:schemeClr val="accent6"/>
                </a:solidFill>
              </a:rPr>
              <a:t>manage memory efficiently</a:t>
            </a:r>
            <a:r>
              <a:rPr lang="en-US" dirty="0"/>
              <a:t>. </a:t>
            </a:r>
          </a:p>
          <a:p>
            <a:r>
              <a:rPr lang="en-US" dirty="0"/>
              <a:t>Paging retrieves processes from the secondary storage (</a:t>
            </a:r>
            <a:r>
              <a:rPr lang="en-US" b="1" dirty="0">
                <a:solidFill>
                  <a:schemeClr val="accent6"/>
                </a:solidFill>
              </a:rPr>
              <a:t>Hard disk</a:t>
            </a:r>
            <a:r>
              <a:rPr lang="en-US" dirty="0"/>
              <a:t>) into the main memory (</a:t>
            </a:r>
            <a:r>
              <a:rPr lang="en-US" b="1" dirty="0">
                <a:solidFill>
                  <a:schemeClr val="accent6"/>
                </a:solidFill>
              </a:rPr>
              <a:t>RAM</a:t>
            </a:r>
            <a:r>
              <a:rPr lang="en-US" dirty="0"/>
              <a:t>) in the form of </a:t>
            </a:r>
            <a:r>
              <a:rPr lang="en-US" b="1" dirty="0">
                <a:solidFill>
                  <a:schemeClr val="accent6"/>
                </a:solidFill>
              </a:rPr>
              <a:t>pages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5208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65C77-626D-F72F-985B-79E372FAD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F46E1-2EFE-9ED1-F2F4-F5757FF00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Paging (Conti..)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88ECF-630F-8892-1BE4-C11C491BB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19668"/>
            <a:ext cx="11929641" cy="5656790"/>
          </a:xfrm>
        </p:spPr>
        <p:txBody>
          <a:bodyPr/>
          <a:lstStyle/>
          <a:p>
            <a:r>
              <a:rPr lang="en-US" dirty="0"/>
              <a:t>The operating system maintains a table known as the </a:t>
            </a:r>
            <a:r>
              <a:rPr lang="en-US" b="1" dirty="0">
                <a:solidFill>
                  <a:schemeClr val="accent6"/>
                </a:solidFill>
              </a:rPr>
              <a:t>Page Table </a:t>
            </a:r>
            <a:r>
              <a:rPr lang="en-US" dirty="0"/>
              <a:t>to map </a:t>
            </a:r>
            <a:r>
              <a:rPr lang="en-US" b="1" dirty="0">
                <a:solidFill>
                  <a:schemeClr val="accent6"/>
                </a:solidFill>
              </a:rPr>
              <a:t>logical addresses</a:t>
            </a:r>
            <a:r>
              <a:rPr lang="en-US" dirty="0">
                <a:solidFill>
                  <a:schemeClr val="accent6"/>
                </a:solidFill>
              </a:rPr>
              <a:t> </a:t>
            </a:r>
            <a:r>
              <a:rPr lang="en-US" dirty="0"/>
              <a:t>(used by a </a:t>
            </a:r>
            <a:r>
              <a:rPr lang="en-US" b="1" dirty="0">
                <a:solidFill>
                  <a:schemeClr val="tx2"/>
                </a:solidFill>
              </a:rPr>
              <a:t>process</a:t>
            </a:r>
            <a:r>
              <a:rPr lang="en-US" dirty="0"/>
              <a:t>) to </a:t>
            </a:r>
            <a:r>
              <a:rPr lang="en-US" b="1" dirty="0">
                <a:solidFill>
                  <a:schemeClr val="accent6"/>
                </a:solidFill>
              </a:rPr>
              <a:t>physical addresses</a:t>
            </a:r>
            <a:r>
              <a:rPr lang="en-US" dirty="0">
                <a:solidFill>
                  <a:schemeClr val="accent6"/>
                </a:solidFill>
              </a:rPr>
              <a:t> </a:t>
            </a:r>
            <a:r>
              <a:rPr lang="en-US" dirty="0"/>
              <a:t>(in </a:t>
            </a:r>
            <a:r>
              <a:rPr lang="en-US" b="1" dirty="0">
                <a:solidFill>
                  <a:schemeClr val="tx2"/>
                </a:solidFill>
              </a:rPr>
              <a:t>RAM</a:t>
            </a:r>
            <a:r>
              <a:rPr lang="en-US" dirty="0"/>
              <a:t>).</a:t>
            </a:r>
          </a:p>
          <a:p>
            <a:r>
              <a:rPr lang="en-US" dirty="0"/>
              <a:t>The page table contains mappings between </a:t>
            </a:r>
            <a:r>
              <a:rPr lang="en-US" b="1" dirty="0">
                <a:solidFill>
                  <a:schemeClr val="accent6"/>
                </a:solidFill>
              </a:rPr>
              <a:t>page numbers </a:t>
            </a:r>
            <a:r>
              <a:rPr lang="en-US" dirty="0"/>
              <a:t>(from the logical address space) and </a:t>
            </a:r>
            <a:r>
              <a:rPr lang="en-US" b="1" dirty="0">
                <a:solidFill>
                  <a:schemeClr val="accent6"/>
                </a:solidFill>
              </a:rPr>
              <a:t>frame numbers </a:t>
            </a:r>
            <a:r>
              <a:rPr lang="en-US" dirty="0"/>
              <a:t>(in the physical address space).</a:t>
            </a:r>
          </a:p>
          <a:p>
            <a:r>
              <a:rPr lang="en-US" dirty="0"/>
              <a:t>The </a:t>
            </a:r>
            <a:r>
              <a:rPr lang="en-US" b="1" dirty="0">
                <a:solidFill>
                  <a:schemeClr val="accent6"/>
                </a:solidFill>
              </a:rPr>
              <a:t>logical address space</a:t>
            </a:r>
            <a:r>
              <a:rPr lang="en-US" dirty="0">
                <a:solidFill>
                  <a:schemeClr val="accent6"/>
                </a:solidFill>
              </a:rPr>
              <a:t> </a:t>
            </a:r>
            <a:r>
              <a:rPr lang="en-US" dirty="0"/>
              <a:t>of a process is divided into fixed-size blocks called </a:t>
            </a:r>
            <a:r>
              <a:rPr lang="en-US" b="1" dirty="0">
                <a:solidFill>
                  <a:schemeClr val="accent6"/>
                </a:solidFill>
              </a:rPr>
              <a:t>pages</a:t>
            </a:r>
            <a:r>
              <a:rPr lang="en-US" dirty="0"/>
              <a:t>, and each page is identified by a </a:t>
            </a:r>
            <a:r>
              <a:rPr lang="en-US" b="1" dirty="0">
                <a:solidFill>
                  <a:schemeClr val="accent6"/>
                </a:solidFill>
              </a:rPr>
              <a:t>page number</a:t>
            </a:r>
            <a:r>
              <a:rPr lang="en-US" dirty="0"/>
              <a:t>.</a:t>
            </a:r>
          </a:p>
          <a:p>
            <a:r>
              <a:rPr lang="en-US" dirty="0"/>
              <a:t>The </a:t>
            </a:r>
            <a:r>
              <a:rPr lang="en-US" b="1" dirty="0">
                <a:solidFill>
                  <a:schemeClr val="accent6"/>
                </a:solidFill>
              </a:rPr>
              <a:t>physical address space</a:t>
            </a:r>
            <a:r>
              <a:rPr lang="en-US" dirty="0">
                <a:solidFill>
                  <a:schemeClr val="accent6"/>
                </a:solidFill>
              </a:rPr>
              <a:t> </a:t>
            </a:r>
            <a:r>
              <a:rPr lang="en-US" dirty="0"/>
              <a:t>(RAM) is divided into fixed-size blocks called </a:t>
            </a:r>
            <a:r>
              <a:rPr lang="en-US" b="1" dirty="0">
                <a:solidFill>
                  <a:schemeClr val="accent6"/>
                </a:solidFill>
              </a:rPr>
              <a:t>frames</a:t>
            </a:r>
            <a:r>
              <a:rPr lang="en-US" dirty="0"/>
              <a:t>, and each frame is identified by a </a:t>
            </a:r>
            <a:r>
              <a:rPr lang="en-US" b="1" dirty="0">
                <a:solidFill>
                  <a:schemeClr val="accent6"/>
                </a:solidFill>
              </a:rPr>
              <a:t>frame number</a:t>
            </a:r>
            <a:r>
              <a:rPr lang="en-US" dirty="0"/>
              <a:t>.</a:t>
            </a:r>
          </a:p>
          <a:p>
            <a:r>
              <a:rPr lang="en-US" dirty="0"/>
              <a:t>The page table is used to </a:t>
            </a:r>
            <a:r>
              <a:rPr lang="en-US" b="1" dirty="0">
                <a:solidFill>
                  <a:schemeClr val="accent6"/>
                </a:solidFill>
              </a:rPr>
              <a:t>translate</a:t>
            </a:r>
            <a:r>
              <a:rPr lang="en-US" dirty="0"/>
              <a:t> logical addresses (</a:t>
            </a:r>
            <a:r>
              <a:rPr lang="en-US" b="1" dirty="0">
                <a:solidFill>
                  <a:schemeClr val="accent6"/>
                </a:solidFill>
              </a:rPr>
              <a:t>page number </a:t>
            </a:r>
            <a:r>
              <a:rPr lang="en-US" b="1" dirty="0"/>
              <a:t>+</a:t>
            </a:r>
            <a:r>
              <a:rPr lang="en-US" b="1" dirty="0">
                <a:solidFill>
                  <a:schemeClr val="accent6"/>
                </a:solidFill>
              </a:rPr>
              <a:t> offset</a:t>
            </a:r>
            <a:r>
              <a:rPr lang="en-US" dirty="0"/>
              <a:t>) into physical addresses (</a:t>
            </a:r>
            <a:r>
              <a:rPr lang="en-US" b="1" dirty="0">
                <a:solidFill>
                  <a:schemeClr val="accent6"/>
                </a:solidFill>
              </a:rPr>
              <a:t>frame number </a:t>
            </a:r>
            <a:r>
              <a:rPr lang="en-US" b="1" dirty="0"/>
              <a:t>+</a:t>
            </a:r>
            <a:r>
              <a:rPr lang="en-US" b="1" dirty="0">
                <a:solidFill>
                  <a:schemeClr val="accent6"/>
                </a:solidFill>
              </a:rPr>
              <a:t> offset</a:t>
            </a:r>
            <a:r>
              <a:rPr lang="en-US" dirty="0"/>
              <a:t>).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chemeClr val="accent6"/>
                </a:solidFill>
              </a:rPr>
              <a:t>size</a:t>
            </a:r>
            <a:r>
              <a:rPr lang="en-US" dirty="0"/>
              <a:t> of a </a:t>
            </a:r>
            <a:r>
              <a:rPr lang="en-US" b="1" dirty="0">
                <a:solidFill>
                  <a:schemeClr val="accent6"/>
                </a:solidFill>
              </a:rPr>
              <a:t>page</a:t>
            </a:r>
            <a:r>
              <a:rPr lang="en-US" dirty="0"/>
              <a:t> and a </a:t>
            </a:r>
            <a:r>
              <a:rPr lang="en-US" b="1" dirty="0">
                <a:solidFill>
                  <a:schemeClr val="accent6"/>
                </a:solidFill>
              </a:rPr>
              <a:t>frame</a:t>
            </a:r>
            <a:r>
              <a:rPr lang="en-US" dirty="0"/>
              <a:t> is the </a:t>
            </a:r>
            <a:r>
              <a:rPr lang="en-US" b="1" dirty="0">
                <a:solidFill>
                  <a:schemeClr val="accent6"/>
                </a:solidFill>
              </a:rPr>
              <a:t>same</a:t>
            </a:r>
            <a:r>
              <a:rPr lang="en-US" dirty="0"/>
              <a:t> (e.g., </a:t>
            </a:r>
            <a:r>
              <a:rPr lang="en-US" b="1" dirty="0">
                <a:solidFill>
                  <a:schemeClr val="accent6"/>
                </a:solidFill>
              </a:rPr>
              <a:t>4 KB</a:t>
            </a:r>
            <a:r>
              <a:rPr lang="en-US" dirty="0"/>
              <a:t>). </a:t>
            </a:r>
          </a:p>
        </p:txBody>
      </p:sp>
    </p:spTree>
    <p:extLst>
      <p:ext uri="{BB962C8B-B14F-4D97-AF65-F5344CB8AC3E}">
        <p14:creationId xmlns:p14="http://schemas.microsoft.com/office/powerpoint/2010/main" val="2040288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CCBA5-B058-EEC5-89BC-1B2EFC77C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E96D6DA-F6BD-1003-1343-0002CA54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Paging(Conti..)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86C0785-B82B-B455-362F-863119527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EF5E69-F4C6-DA50-149B-D084B428BE7F}"/>
              </a:ext>
            </a:extLst>
          </p:cNvPr>
          <p:cNvSpPr txBox="1"/>
          <p:nvPr/>
        </p:nvSpPr>
        <p:spPr>
          <a:xfrm>
            <a:off x="489170" y="1024292"/>
            <a:ext cx="18288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Logical Address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DE93A2-36F6-91EB-AF5B-6F7014116FE0}"/>
              </a:ext>
            </a:extLst>
          </p:cNvPr>
          <p:cNvSpPr txBox="1"/>
          <p:nvPr/>
        </p:nvSpPr>
        <p:spPr>
          <a:xfrm>
            <a:off x="605905" y="1436703"/>
            <a:ext cx="60048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33C447-4485-58D4-12CE-7C1346B26383}"/>
              </a:ext>
            </a:extLst>
          </p:cNvPr>
          <p:cNvSpPr txBox="1"/>
          <p:nvPr/>
        </p:nvSpPr>
        <p:spPr>
          <a:xfrm>
            <a:off x="1225052" y="1437955"/>
            <a:ext cx="105768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B13105-5973-CC9E-17AE-E067BE0C0ACB}"/>
              </a:ext>
            </a:extLst>
          </p:cNvPr>
          <p:cNvSpPr txBox="1"/>
          <p:nvPr/>
        </p:nvSpPr>
        <p:spPr>
          <a:xfrm>
            <a:off x="624567" y="1758376"/>
            <a:ext cx="600485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3B34A9-8FF4-896B-89EB-5FEA0F94BA75}"/>
              </a:ext>
            </a:extLst>
          </p:cNvPr>
          <p:cNvSpPr txBox="1"/>
          <p:nvPr/>
        </p:nvSpPr>
        <p:spPr>
          <a:xfrm>
            <a:off x="1225052" y="1757363"/>
            <a:ext cx="1151438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Offset within page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56F36E-C166-6BFE-1E2E-BB956D4A55E6}"/>
              </a:ext>
            </a:extLst>
          </p:cNvPr>
          <p:cNvSpPr txBox="1"/>
          <p:nvPr/>
        </p:nvSpPr>
        <p:spPr>
          <a:xfrm>
            <a:off x="420627" y="1390695"/>
            <a:ext cx="778512" cy="6504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703871-C941-610B-F176-FEBE4E213860}"/>
              </a:ext>
            </a:extLst>
          </p:cNvPr>
          <p:cNvSpPr txBox="1"/>
          <p:nvPr/>
        </p:nvSpPr>
        <p:spPr>
          <a:xfrm>
            <a:off x="1206985" y="1387822"/>
            <a:ext cx="1179611" cy="9543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CC2203-1036-8FFE-AB62-308B31D48AAB}"/>
              </a:ext>
            </a:extLst>
          </p:cNvPr>
          <p:cNvSpPr txBox="1"/>
          <p:nvPr/>
        </p:nvSpPr>
        <p:spPr>
          <a:xfrm>
            <a:off x="237939" y="2464080"/>
            <a:ext cx="2190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p: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b="1" dirty="0">
                <a:solidFill>
                  <a:schemeClr val="tx2"/>
                </a:solidFill>
              </a:rPr>
              <a:t>Gives Page number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F93091-0C72-49A6-68C6-862D7D3C603B}"/>
              </a:ext>
            </a:extLst>
          </p:cNvPr>
          <p:cNvSpPr txBox="1"/>
          <p:nvPr/>
        </p:nvSpPr>
        <p:spPr>
          <a:xfrm>
            <a:off x="237939" y="2878726"/>
            <a:ext cx="350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d:</a:t>
            </a:r>
            <a:r>
              <a:rPr lang="en-US" b="1" dirty="0">
                <a:solidFill>
                  <a:srgbClr val="7030A0"/>
                </a:solidFill>
              </a:rPr>
              <a:t> </a:t>
            </a:r>
            <a:r>
              <a:rPr lang="en-US" b="1" dirty="0">
                <a:solidFill>
                  <a:schemeClr val="tx2"/>
                </a:solidFill>
              </a:rPr>
              <a:t>Gives Actual location within Page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2DE9FA-C6A6-29FF-1E8A-350BABBBB5E9}"/>
              </a:ext>
            </a:extLst>
          </p:cNvPr>
          <p:cNvSpPr txBox="1"/>
          <p:nvPr/>
        </p:nvSpPr>
        <p:spPr>
          <a:xfrm>
            <a:off x="220856" y="4153497"/>
            <a:ext cx="3470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Secondary Memory </a:t>
            </a:r>
            <a:r>
              <a:rPr lang="en-US" dirty="0">
                <a:solidFill>
                  <a:schemeClr val="tx2"/>
                </a:solidFill>
              </a:rPr>
              <a:t>contain </a:t>
            </a:r>
            <a:r>
              <a:rPr lang="en-US" b="1" dirty="0">
                <a:solidFill>
                  <a:schemeClr val="tx2"/>
                </a:solidFill>
              </a:rPr>
              <a:t>4</a:t>
            </a:r>
            <a:r>
              <a:rPr lang="en-US" dirty="0">
                <a:solidFill>
                  <a:schemeClr val="tx2"/>
                </a:solidFill>
              </a:rPr>
              <a:t> pages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C5BBA9-6B26-D38E-5ECA-D2860022998F}"/>
              </a:ext>
            </a:extLst>
          </p:cNvPr>
          <p:cNvSpPr txBox="1"/>
          <p:nvPr/>
        </p:nvSpPr>
        <p:spPr>
          <a:xfrm>
            <a:off x="2568575" y="4504067"/>
            <a:ext cx="229136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Secondary  Memory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7BCDA2-A66F-3F29-E6A5-B999365E5682}"/>
              </a:ext>
            </a:extLst>
          </p:cNvPr>
          <p:cNvSpPr txBox="1"/>
          <p:nvPr/>
        </p:nvSpPr>
        <p:spPr>
          <a:xfrm>
            <a:off x="2680769" y="4867358"/>
            <a:ext cx="18288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73DAEA-D196-753F-5667-5AED72EBF49C}"/>
              </a:ext>
            </a:extLst>
          </p:cNvPr>
          <p:cNvSpPr txBox="1"/>
          <p:nvPr/>
        </p:nvSpPr>
        <p:spPr>
          <a:xfrm>
            <a:off x="2680769" y="5233346"/>
            <a:ext cx="18288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DF0DB6-4CE4-F941-BD0A-6BC31AB5732E}"/>
              </a:ext>
            </a:extLst>
          </p:cNvPr>
          <p:cNvSpPr txBox="1"/>
          <p:nvPr/>
        </p:nvSpPr>
        <p:spPr>
          <a:xfrm>
            <a:off x="2680769" y="5609224"/>
            <a:ext cx="18288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9A9F72-3243-0BDF-4368-D6DA97524741}"/>
              </a:ext>
            </a:extLst>
          </p:cNvPr>
          <p:cNvSpPr txBox="1"/>
          <p:nvPr/>
        </p:nvSpPr>
        <p:spPr>
          <a:xfrm>
            <a:off x="2680769" y="5968666"/>
            <a:ext cx="18288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AFDC16-C54C-142E-13DD-1FB515D911D1}"/>
              </a:ext>
            </a:extLst>
          </p:cNvPr>
          <p:cNvSpPr txBox="1"/>
          <p:nvPr/>
        </p:nvSpPr>
        <p:spPr>
          <a:xfrm>
            <a:off x="3203127" y="5319839"/>
            <a:ext cx="485775" cy="21544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US" sz="80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EF2E789-B5E4-B0AB-3074-A6074483C67C}"/>
              </a:ext>
            </a:extLst>
          </p:cNvPr>
          <p:cNvCxnSpPr>
            <a:endCxn id="23" idx="1"/>
          </p:cNvCxnSpPr>
          <p:nvPr/>
        </p:nvCxnSpPr>
        <p:spPr>
          <a:xfrm>
            <a:off x="2680769" y="5268465"/>
            <a:ext cx="522358" cy="1590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C0782C0-FF00-AAD4-1230-415A7479C9D1}"/>
              </a:ext>
            </a:extLst>
          </p:cNvPr>
          <p:cNvSpPr txBox="1"/>
          <p:nvPr/>
        </p:nvSpPr>
        <p:spPr>
          <a:xfrm>
            <a:off x="2416246" y="4867213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D417AA-0858-8D71-3E6E-0A190EAF0CDC}"/>
              </a:ext>
            </a:extLst>
          </p:cNvPr>
          <p:cNvSpPr txBox="1"/>
          <p:nvPr/>
        </p:nvSpPr>
        <p:spPr>
          <a:xfrm>
            <a:off x="2397209" y="5249183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F0F432-99F8-450C-3B2A-24429F70B6E6}"/>
              </a:ext>
            </a:extLst>
          </p:cNvPr>
          <p:cNvSpPr txBox="1"/>
          <p:nvPr/>
        </p:nvSpPr>
        <p:spPr>
          <a:xfrm>
            <a:off x="2397209" y="5631607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BA9022-22D3-CDF2-AE89-7221F9AFD459}"/>
              </a:ext>
            </a:extLst>
          </p:cNvPr>
          <p:cNvSpPr txBox="1"/>
          <p:nvPr/>
        </p:nvSpPr>
        <p:spPr>
          <a:xfrm>
            <a:off x="2397750" y="5991049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AF98F5-7653-53F0-28B2-F53AC377FAE0}"/>
              </a:ext>
            </a:extLst>
          </p:cNvPr>
          <p:cNvSpPr txBox="1"/>
          <p:nvPr/>
        </p:nvSpPr>
        <p:spPr>
          <a:xfrm>
            <a:off x="2396297" y="4685740"/>
            <a:ext cx="387032" cy="17751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B9C908-3871-6210-CC03-3E2408880BE5}"/>
              </a:ext>
            </a:extLst>
          </p:cNvPr>
          <p:cNvSpPr txBox="1"/>
          <p:nvPr/>
        </p:nvSpPr>
        <p:spPr>
          <a:xfrm>
            <a:off x="2721860" y="5258484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EFBA64-1D11-01F9-51FB-1370BE13AA8D}"/>
              </a:ext>
            </a:extLst>
          </p:cNvPr>
          <p:cNvSpPr txBox="1"/>
          <p:nvPr/>
        </p:nvSpPr>
        <p:spPr>
          <a:xfrm>
            <a:off x="6586747" y="3638495"/>
            <a:ext cx="18288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Page Table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A5A339-482F-A0E2-A768-14D7D171F48F}"/>
              </a:ext>
            </a:extLst>
          </p:cNvPr>
          <p:cNvSpPr txBox="1"/>
          <p:nvPr/>
        </p:nvSpPr>
        <p:spPr>
          <a:xfrm>
            <a:off x="6614606" y="4100903"/>
            <a:ext cx="18288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971550" algn="ctr"/>
            <a:r>
              <a:rPr lang="en-US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87F0F5-1B23-5620-D1E1-D421E58CCF10}"/>
              </a:ext>
            </a:extLst>
          </p:cNvPr>
          <p:cNvSpPr txBox="1"/>
          <p:nvPr/>
        </p:nvSpPr>
        <p:spPr>
          <a:xfrm>
            <a:off x="6614606" y="4466891"/>
            <a:ext cx="18288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1257300"/>
            <a:r>
              <a:rPr lang="en-US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267FFC-4E93-5FEC-038F-C1B156D2A398}"/>
              </a:ext>
            </a:extLst>
          </p:cNvPr>
          <p:cNvSpPr txBox="1"/>
          <p:nvPr/>
        </p:nvSpPr>
        <p:spPr>
          <a:xfrm>
            <a:off x="6614606" y="4842769"/>
            <a:ext cx="18288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1257300"/>
            <a:r>
              <a:rPr lang="en-US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73DBA86-73AE-778E-F2A7-1B1603A0E869}"/>
              </a:ext>
            </a:extLst>
          </p:cNvPr>
          <p:cNvSpPr txBox="1"/>
          <p:nvPr/>
        </p:nvSpPr>
        <p:spPr>
          <a:xfrm>
            <a:off x="6614606" y="5202211"/>
            <a:ext cx="18288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1257300"/>
            <a:r>
              <a:rPr lang="en-US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709E843-DC74-C9D5-7FA6-FFCB25E4EA00}"/>
              </a:ext>
            </a:extLst>
          </p:cNvPr>
          <p:cNvSpPr txBox="1"/>
          <p:nvPr/>
        </p:nvSpPr>
        <p:spPr>
          <a:xfrm>
            <a:off x="6335163" y="4078375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4F9BD7D-0810-F16D-4B69-48BBBD5E58FC}"/>
              </a:ext>
            </a:extLst>
          </p:cNvPr>
          <p:cNvSpPr txBox="1"/>
          <p:nvPr/>
        </p:nvSpPr>
        <p:spPr>
          <a:xfrm>
            <a:off x="6316126" y="4460345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0B28563-CBE4-0709-3D4D-9F8631BFE848}"/>
              </a:ext>
            </a:extLst>
          </p:cNvPr>
          <p:cNvSpPr txBox="1"/>
          <p:nvPr/>
        </p:nvSpPr>
        <p:spPr>
          <a:xfrm>
            <a:off x="6316126" y="4842769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1E423DD-5066-9919-EB64-73034298BCF6}"/>
              </a:ext>
            </a:extLst>
          </p:cNvPr>
          <p:cNvSpPr txBox="1"/>
          <p:nvPr/>
        </p:nvSpPr>
        <p:spPr>
          <a:xfrm>
            <a:off x="6316667" y="5202211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02C544-D88B-654F-EE2C-F147D53ACF48}"/>
              </a:ext>
            </a:extLst>
          </p:cNvPr>
          <p:cNvSpPr txBox="1"/>
          <p:nvPr/>
        </p:nvSpPr>
        <p:spPr>
          <a:xfrm>
            <a:off x="6621091" y="3582568"/>
            <a:ext cx="1836865" cy="4318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141E047-FBCD-41FE-4226-5CC3520566B7}"/>
              </a:ext>
            </a:extLst>
          </p:cNvPr>
          <p:cNvSpPr txBox="1"/>
          <p:nvPr/>
        </p:nvSpPr>
        <p:spPr>
          <a:xfrm>
            <a:off x="4014862" y="3499995"/>
            <a:ext cx="2612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chemeClr val="accent6"/>
                </a:solidFill>
              </a:rPr>
              <a:t>Page table </a:t>
            </a:r>
            <a:r>
              <a:rPr lang="en-US" dirty="0">
                <a:solidFill>
                  <a:schemeClr val="tx2"/>
                </a:solidFill>
              </a:rPr>
              <a:t>Contains page number and frame number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AC3D18C-391B-4D96-68F3-4BC1C8ADB244}"/>
              </a:ext>
            </a:extLst>
          </p:cNvPr>
          <p:cNvSpPr txBox="1"/>
          <p:nvPr/>
        </p:nvSpPr>
        <p:spPr>
          <a:xfrm>
            <a:off x="7830755" y="3969287"/>
            <a:ext cx="387032" cy="17751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24EF2FE-E744-27FF-E9FD-52D5790C1D78}"/>
              </a:ext>
            </a:extLst>
          </p:cNvPr>
          <p:cNvSpPr txBox="1"/>
          <p:nvPr/>
        </p:nvSpPr>
        <p:spPr>
          <a:xfrm>
            <a:off x="5546338" y="5747722"/>
            <a:ext cx="3113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chemeClr val="accent6"/>
                </a:solidFill>
              </a:rPr>
              <a:t>Frame number </a:t>
            </a:r>
            <a:r>
              <a:rPr lang="en-US" dirty="0">
                <a:solidFill>
                  <a:schemeClr val="tx2"/>
                </a:solidFill>
              </a:rPr>
              <a:t>indicates actual frame on physical address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1B7DE93-2960-BFE0-5B2C-C4E3D2DA216F}"/>
              </a:ext>
            </a:extLst>
          </p:cNvPr>
          <p:cNvSpPr txBox="1"/>
          <p:nvPr/>
        </p:nvSpPr>
        <p:spPr>
          <a:xfrm>
            <a:off x="6584542" y="1229620"/>
            <a:ext cx="176525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Physical Address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E9ABF5B-2CC8-7C86-79C0-BDBC53E7F1F6}"/>
              </a:ext>
            </a:extLst>
          </p:cNvPr>
          <p:cNvSpPr txBox="1"/>
          <p:nvPr/>
        </p:nvSpPr>
        <p:spPr>
          <a:xfrm>
            <a:off x="6607772" y="1695780"/>
            <a:ext cx="57961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675A835-2F41-809C-2A41-55604EF9832C}"/>
              </a:ext>
            </a:extLst>
          </p:cNvPr>
          <p:cNvSpPr txBox="1"/>
          <p:nvPr/>
        </p:nvSpPr>
        <p:spPr>
          <a:xfrm>
            <a:off x="7208257" y="1697032"/>
            <a:ext cx="102093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C7C5DE8-AB15-68B6-7E1E-6EBD5A471007}"/>
              </a:ext>
            </a:extLst>
          </p:cNvPr>
          <p:cNvSpPr txBox="1"/>
          <p:nvPr/>
        </p:nvSpPr>
        <p:spPr>
          <a:xfrm>
            <a:off x="6530896" y="2017453"/>
            <a:ext cx="687854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Frame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F2C8630-66CC-9858-6148-4151FB719FBD}"/>
              </a:ext>
            </a:extLst>
          </p:cNvPr>
          <p:cNvSpPr txBox="1"/>
          <p:nvPr/>
        </p:nvSpPr>
        <p:spPr>
          <a:xfrm>
            <a:off x="7208257" y="2016440"/>
            <a:ext cx="1111428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Offset within page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D8F4B28-DAD5-8C1A-69E3-08884DB0EDFF}"/>
              </a:ext>
            </a:extLst>
          </p:cNvPr>
          <p:cNvSpPr txBox="1"/>
          <p:nvPr/>
        </p:nvSpPr>
        <p:spPr>
          <a:xfrm>
            <a:off x="6518759" y="1612044"/>
            <a:ext cx="751460" cy="6504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A1B5D71-71FA-7620-4E1A-514C021DF02C}"/>
              </a:ext>
            </a:extLst>
          </p:cNvPr>
          <p:cNvSpPr txBox="1"/>
          <p:nvPr/>
        </p:nvSpPr>
        <p:spPr>
          <a:xfrm>
            <a:off x="3244538" y="1002111"/>
            <a:ext cx="3348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f:</a:t>
            </a:r>
            <a:r>
              <a:rPr lang="en-US" b="1" dirty="0">
                <a:solidFill>
                  <a:srgbClr val="7030A0"/>
                </a:solidFill>
              </a:rPr>
              <a:t> </a:t>
            </a:r>
            <a:r>
              <a:rPr lang="en-US" b="1" dirty="0">
                <a:solidFill>
                  <a:schemeClr val="tx2"/>
                </a:solidFill>
              </a:rPr>
              <a:t>Contains Frame from Page table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D70FE4B-AB06-3F88-4E75-5932DDB891A5}"/>
              </a:ext>
            </a:extLst>
          </p:cNvPr>
          <p:cNvSpPr txBox="1"/>
          <p:nvPr/>
        </p:nvSpPr>
        <p:spPr>
          <a:xfrm>
            <a:off x="7239616" y="1615772"/>
            <a:ext cx="1179611" cy="9543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6216BCF-17E5-093E-BA8B-D8A8909A09E1}"/>
              </a:ext>
            </a:extLst>
          </p:cNvPr>
          <p:cNvSpPr txBox="1"/>
          <p:nvPr/>
        </p:nvSpPr>
        <p:spPr>
          <a:xfrm>
            <a:off x="3204110" y="1382103"/>
            <a:ext cx="3020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d:</a:t>
            </a:r>
            <a:r>
              <a:rPr lang="en-US" b="1" dirty="0">
                <a:solidFill>
                  <a:srgbClr val="7030A0"/>
                </a:solidFill>
              </a:rPr>
              <a:t> </a:t>
            </a:r>
            <a:r>
              <a:rPr lang="en-US" b="1" dirty="0">
                <a:solidFill>
                  <a:schemeClr val="tx2"/>
                </a:solidFill>
              </a:rPr>
              <a:t>Copies from virtual address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DE3AB1A-6003-F53F-0FAE-9F7FC93E0D86}"/>
              </a:ext>
            </a:extLst>
          </p:cNvPr>
          <p:cNvSpPr txBox="1"/>
          <p:nvPr/>
        </p:nvSpPr>
        <p:spPr>
          <a:xfrm>
            <a:off x="9683764" y="2654525"/>
            <a:ext cx="18288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Main Memory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F9AF0F9-11E5-225E-3A8F-F72C6FC75CF2}"/>
              </a:ext>
            </a:extLst>
          </p:cNvPr>
          <p:cNvSpPr txBox="1"/>
          <p:nvPr/>
        </p:nvSpPr>
        <p:spPr>
          <a:xfrm>
            <a:off x="9695292" y="3023857"/>
            <a:ext cx="1828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207AA9C-4049-19DB-5F54-484CF33222B8}"/>
              </a:ext>
            </a:extLst>
          </p:cNvPr>
          <p:cNvSpPr txBox="1"/>
          <p:nvPr/>
        </p:nvSpPr>
        <p:spPr>
          <a:xfrm>
            <a:off x="9696364" y="3331332"/>
            <a:ext cx="1828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4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3426F6E-6B0D-6863-866C-1C3C389294A5}"/>
              </a:ext>
            </a:extLst>
          </p:cNvPr>
          <p:cNvSpPr txBox="1"/>
          <p:nvPr/>
        </p:nvSpPr>
        <p:spPr>
          <a:xfrm>
            <a:off x="9696364" y="3634098"/>
            <a:ext cx="1828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srgbClr val="00B05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D67C9CA-330B-B876-D9FC-B60280AA5062}"/>
              </a:ext>
            </a:extLst>
          </p:cNvPr>
          <p:cNvSpPr txBox="1"/>
          <p:nvPr/>
        </p:nvSpPr>
        <p:spPr>
          <a:xfrm>
            <a:off x="9696364" y="3936864"/>
            <a:ext cx="1828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70A9D8E-88D1-AD24-E67A-8579880A4BDF}"/>
              </a:ext>
            </a:extLst>
          </p:cNvPr>
          <p:cNvSpPr txBox="1"/>
          <p:nvPr/>
        </p:nvSpPr>
        <p:spPr>
          <a:xfrm>
            <a:off x="9696364" y="4239630"/>
            <a:ext cx="1828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59A2E0E-8C92-720B-EDDB-39C7FE5F6798}"/>
              </a:ext>
            </a:extLst>
          </p:cNvPr>
          <p:cNvSpPr txBox="1"/>
          <p:nvPr/>
        </p:nvSpPr>
        <p:spPr>
          <a:xfrm>
            <a:off x="9696364" y="4547105"/>
            <a:ext cx="1828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1672CD3-C7C1-A166-CBF0-55E56C64985C}"/>
              </a:ext>
            </a:extLst>
          </p:cNvPr>
          <p:cNvSpPr txBox="1"/>
          <p:nvPr/>
        </p:nvSpPr>
        <p:spPr>
          <a:xfrm>
            <a:off x="9696364" y="4854580"/>
            <a:ext cx="1828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4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2FD4BD3-E361-F68C-E378-470B061668BB}"/>
              </a:ext>
            </a:extLst>
          </p:cNvPr>
          <p:cNvSpPr txBox="1"/>
          <p:nvPr/>
        </p:nvSpPr>
        <p:spPr>
          <a:xfrm>
            <a:off x="9696364" y="5161753"/>
            <a:ext cx="1828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44CA33B-77EF-5E7C-7FC2-BC0C22FBCA14}"/>
              </a:ext>
            </a:extLst>
          </p:cNvPr>
          <p:cNvSpPr txBox="1"/>
          <p:nvPr/>
        </p:nvSpPr>
        <p:spPr>
          <a:xfrm>
            <a:off x="9696364" y="5468624"/>
            <a:ext cx="1828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4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5220582-1591-46DA-7CD7-47E351466A80}"/>
              </a:ext>
            </a:extLst>
          </p:cNvPr>
          <p:cNvSpPr txBox="1"/>
          <p:nvPr/>
        </p:nvSpPr>
        <p:spPr>
          <a:xfrm>
            <a:off x="9696364" y="5775797"/>
            <a:ext cx="1828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0115905-51E7-9090-7854-D88533941782}"/>
              </a:ext>
            </a:extLst>
          </p:cNvPr>
          <p:cNvSpPr txBox="1"/>
          <p:nvPr/>
        </p:nvSpPr>
        <p:spPr>
          <a:xfrm>
            <a:off x="9696364" y="6082668"/>
            <a:ext cx="1828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4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6E656DA-0BFF-1766-D141-16E5E25AFAA8}"/>
              </a:ext>
            </a:extLst>
          </p:cNvPr>
          <p:cNvSpPr txBox="1"/>
          <p:nvPr/>
        </p:nvSpPr>
        <p:spPr>
          <a:xfrm>
            <a:off x="11540803" y="3009019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5516FC0-CD3F-7E7F-3E79-AC17DAF59078}"/>
              </a:ext>
            </a:extLst>
          </p:cNvPr>
          <p:cNvSpPr txBox="1"/>
          <p:nvPr/>
        </p:nvSpPr>
        <p:spPr>
          <a:xfrm>
            <a:off x="11542689" y="3291361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9D1CD63-DE96-1718-94E7-B089C466A562}"/>
              </a:ext>
            </a:extLst>
          </p:cNvPr>
          <p:cNvSpPr txBox="1"/>
          <p:nvPr/>
        </p:nvSpPr>
        <p:spPr>
          <a:xfrm>
            <a:off x="11542689" y="3616633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E6694F2-4A50-59AA-110C-B44B5DC1F1DE}"/>
              </a:ext>
            </a:extLst>
          </p:cNvPr>
          <p:cNvSpPr txBox="1"/>
          <p:nvPr/>
        </p:nvSpPr>
        <p:spPr>
          <a:xfrm>
            <a:off x="11543230" y="3918927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316DFBA-7437-E288-116E-B2AAC9717EFF}"/>
              </a:ext>
            </a:extLst>
          </p:cNvPr>
          <p:cNvSpPr txBox="1"/>
          <p:nvPr/>
        </p:nvSpPr>
        <p:spPr>
          <a:xfrm>
            <a:off x="11543119" y="4240856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5681928-00B7-7A19-1981-5054A72BA016}"/>
              </a:ext>
            </a:extLst>
          </p:cNvPr>
          <p:cNvSpPr txBox="1"/>
          <p:nvPr/>
        </p:nvSpPr>
        <p:spPr>
          <a:xfrm>
            <a:off x="11538370" y="4537098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0517500-B4E2-0761-CA2F-F321F2BB7DE1}"/>
              </a:ext>
            </a:extLst>
          </p:cNvPr>
          <p:cNvSpPr txBox="1"/>
          <p:nvPr/>
        </p:nvSpPr>
        <p:spPr>
          <a:xfrm>
            <a:off x="11538370" y="4848470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CF87248-5C76-2331-0EF9-DDACE90B5761}"/>
              </a:ext>
            </a:extLst>
          </p:cNvPr>
          <p:cNvSpPr txBox="1"/>
          <p:nvPr/>
        </p:nvSpPr>
        <p:spPr>
          <a:xfrm>
            <a:off x="11538370" y="5165847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891DBCF-7CFB-A1EF-407E-3DB0C3A7CF8A}"/>
              </a:ext>
            </a:extLst>
          </p:cNvPr>
          <p:cNvSpPr txBox="1"/>
          <p:nvPr/>
        </p:nvSpPr>
        <p:spPr>
          <a:xfrm>
            <a:off x="11533150" y="5462621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C4EB79D-6F10-080F-54BB-C58C2C7D40FB}"/>
              </a:ext>
            </a:extLst>
          </p:cNvPr>
          <p:cNvSpPr txBox="1"/>
          <p:nvPr/>
        </p:nvSpPr>
        <p:spPr>
          <a:xfrm>
            <a:off x="11542159" y="5757045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FF62D53-05FC-34DE-CC13-0B620AC93DB3}"/>
              </a:ext>
            </a:extLst>
          </p:cNvPr>
          <p:cNvSpPr txBox="1"/>
          <p:nvPr/>
        </p:nvSpPr>
        <p:spPr>
          <a:xfrm>
            <a:off x="11481668" y="6054250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65A129B-1D68-4D72-DFB1-2456792A82FA}"/>
              </a:ext>
            </a:extLst>
          </p:cNvPr>
          <p:cNvSpPr txBox="1"/>
          <p:nvPr/>
        </p:nvSpPr>
        <p:spPr>
          <a:xfrm>
            <a:off x="10218666" y="3689076"/>
            <a:ext cx="485775" cy="19585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US" sz="800" dirty="0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0E3CCE92-C38F-7B68-6C7D-3589C7EDEBC8}"/>
              </a:ext>
            </a:extLst>
          </p:cNvPr>
          <p:cNvCxnSpPr>
            <a:endCxn id="76" idx="1"/>
          </p:cNvCxnSpPr>
          <p:nvPr/>
        </p:nvCxnSpPr>
        <p:spPr>
          <a:xfrm>
            <a:off x="9696362" y="3667953"/>
            <a:ext cx="522304" cy="1190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AA422A07-6B2D-8B76-09D9-5F517164B19F}"/>
              </a:ext>
            </a:extLst>
          </p:cNvPr>
          <p:cNvSpPr txBox="1"/>
          <p:nvPr/>
        </p:nvSpPr>
        <p:spPr>
          <a:xfrm>
            <a:off x="9713889" y="3656495"/>
            <a:ext cx="2856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</a:rPr>
              <a:t>d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8DC60ED-8184-AAC0-E33A-DF8F3A128153}"/>
              </a:ext>
            </a:extLst>
          </p:cNvPr>
          <p:cNvSpPr txBox="1"/>
          <p:nvPr/>
        </p:nvSpPr>
        <p:spPr>
          <a:xfrm>
            <a:off x="11436633" y="2844806"/>
            <a:ext cx="404005" cy="37008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484B6A6-C681-7BE6-45F1-3A10A9CDD76E}"/>
              </a:ext>
            </a:extLst>
          </p:cNvPr>
          <p:cNvSpPr txBox="1"/>
          <p:nvPr/>
        </p:nvSpPr>
        <p:spPr>
          <a:xfrm>
            <a:off x="9486914" y="1915267"/>
            <a:ext cx="2158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chemeClr val="accent6"/>
                </a:solidFill>
              </a:rPr>
              <a:t>Main memory </a:t>
            </a:r>
            <a:r>
              <a:rPr lang="en-US" b="1" dirty="0"/>
              <a:t>(</a:t>
            </a:r>
            <a:r>
              <a:rPr lang="en-US" b="1" dirty="0">
                <a:solidFill>
                  <a:schemeClr val="accent6"/>
                </a:solidFill>
              </a:rPr>
              <a:t>RAM</a:t>
            </a:r>
            <a:r>
              <a:rPr lang="en-US" b="1" dirty="0"/>
              <a:t>)</a:t>
            </a:r>
            <a:r>
              <a:rPr lang="en-US" b="1" dirty="0">
                <a:solidFill>
                  <a:schemeClr val="accent6"/>
                </a:solidFill>
              </a:rPr>
              <a:t> </a:t>
            </a:r>
            <a:r>
              <a:rPr lang="en-US" dirty="0">
                <a:solidFill>
                  <a:schemeClr val="tx2"/>
                </a:solidFill>
              </a:rPr>
              <a:t>contains </a:t>
            </a:r>
            <a:r>
              <a:rPr lang="en-US" b="1" dirty="0">
                <a:solidFill>
                  <a:schemeClr val="tx2"/>
                </a:solidFill>
              </a:rPr>
              <a:t>11</a:t>
            </a:r>
            <a:r>
              <a:rPr lang="en-US" dirty="0">
                <a:solidFill>
                  <a:schemeClr val="tx2"/>
                </a:solidFill>
              </a:rPr>
              <a:t> frames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CE6FD87-0A24-D8BC-684A-C72E3499A128}"/>
              </a:ext>
            </a:extLst>
          </p:cNvPr>
          <p:cNvSpPr txBox="1"/>
          <p:nvPr/>
        </p:nvSpPr>
        <p:spPr>
          <a:xfrm>
            <a:off x="8537333" y="924778"/>
            <a:ext cx="36814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chemeClr val="accent6"/>
                </a:solidFill>
              </a:rPr>
              <a:t>Frame number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>
                <a:solidFill>
                  <a:schemeClr val="tx2"/>
                </a:solidFill>
              </a:rPr>
              <a:t>obtain from Page table.</a:t>
            </a:r>
          </a:p>
          <a:p>
            <a:pPr algn="just"/>
            <a:r>
              <a:rPr lang="en-US" dirty="0">
                <a:solidFill>
                  <a:schemeClr val="tx2"/>
                </a:solidFill>
              </a:rPr>
              <a:t>It indicates actual frame on physical memory in which frame is stored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CD09E026-3899-F016-3903-53CC6E087F48}"/>
              </a:ext>
            </a:extLst>
          </p:cNvPr>
          <p:cNvCxnSpPr>
            <a:cxnSpLocks/>
            <a:stCxn id="32" idx="3"/>
            <a:endCxn id="61" idx="1"/>
          </p:cNvCxnSpPr>
          <p:nvPr/>
        </p:nvCxnSpPr>
        <p:spPr>
          <a:xfrm>
            <a:off x="8443406" y="4285569"/>
            <a:ext cx="1252958" cy="10300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D5E3B922-5365-B48F-5D66-B86B92B442FB}"/>
              </a:ext>
            </a:extLst>
          </p:cNvPr>
          <p:cNvCxnSpPr>
            <a:cxnSpLocks/>
            <a:stCxn id="34" idx="3"/>
            <a:endCxn id="63" idx="1"/>
          </p:cNvCxnSpPr>
          <p:nvPr/>
        </p:nvCxnSpPr>
        <p:spPr>
          <a:xfrm>
            <a:off x="8443406" y="5027435"/>
            <a:ext cx="1252958" cy="9022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C8A85832-C014-E8D9-81AC-F9BA1FC3B925}"/>
              </a:ext>
            </a:extLst>
          </p:cNvPr>
          <p:cNvCxnSpPr>
            <a:cxnSpLocks/>
            <a:stCxn id="33" idx="3"/>
            <a:endCxn id="78" idx="1"/>
          </p:cNvCxnSpPr>
          <p:nvPr/>
        </p:nvCxnSpPr>
        <p:spPr>
          <a:xfrm flipV="1">
            <a:off x="8443406" y="3825772"/>
            <a:ext cx="1270483" cy="8257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1A40EEAB-941A-0AE2-8EE1-6519520CBD51}"/>
              </a:ext>
            </a:extLst>
          </p:cNvPr>
          <p:cNvCxnSpPr>
            <a:cxnSpLocks/>
            <a:stCxn id="35" idx="3"/>
            <a:endCxn id="59" idx="1"/>
          </p:cNvCxnSpPr>
          <p:nvPr/>
        </p:nvCxnSpPr>
        <p:spPr>
          <a:xfrm flipV="1">
            <a:off x="8443406" y="4700994"/>
            <a:ext cx="1252958" cy="6858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641B5B3D-F662-EFA2-DEEE-F5D2544978CE}"/>
              </a:ext>
            </a:extLst>
          </p:cNvPr>
          <p:cNvSpPr txBox="1"/>
          <p:nvPr/>
        </p:nvSpPr>
        <p:spPr>
          <a:xfrm>
            <a:off x="6623234" y="2708734"/>
            <a:ext cx="30107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chemeClr val="tx2"/>
                </a:solidFill>
              </a:rPr>
              <a:t>Physical address of particular location obtained by combining frame number with offset(d)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69875363-8B7F-3F2E-267A-814B7A1D6DAC}"/>
              </a:ext>
            </a:extLst>
          </p:cNvPr>
          <p:cNvCxnSpPr>
            <a:cxnSpLocks/>
          </p:cNvCxnSpPr>
          <p:nvPr/>
        </p:nvCxnSpPr>
        <p:spPr>
          <a:xfrm flipH="1">
            <a:off x="11744599" y="1671442"/>
            <a:ext cx="1" cy="1115280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7623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6" presetClass="emph" presetSubtype="0" repeatCount="indefinite" fill="hold" grpId="2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35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72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3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01" dur="5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2" dur="25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2" dur="500" tmFilter="0, 0; .2, .5; .8, .5; 1, 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3" dur="250" autoRev="1" fill="hold"/>
                                        <p:tgtEl>
                                          <p:spTgt spid="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" dur="500" tmFilter="0, 0; .2, .5; .8, .5; 1, 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" dur="250" autoRev="1" fill="hold"/>
                                        <p:tgtEl>
                                          <p:spTgt spid="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26" presetClass="emph" presetSubtype="0" repeatCount="indefinite" fill="hold" grpId="2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46" dur="500" tmFilter="0, 0; .2, .5; .8, .5; 1, 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7" dur="250" autoRev="1" fill="hold"/>
                                        <p:tgtEl>
                                          <p:spTgt spid="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211" dur="500" tmFilter="0, 0; .2, .5; .8, .5; 1, 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2" dur="250" autoRev="1" fill="hold"/>
                                        <p:tgtEl>
                                          <p:spTgt spid="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1" grpId="0"/>
      <p:bldP spid="12" grpId="0"/>
      <p:bldP spid="13" grpId="0" animBg="1"/>
      <p:bldP spid="13" grpId="1" animBg="1"/>
      <p:bldP spid="13" grpId="2" animBg="1"/>
      <p:bldP spid="14" grpId="0" animBg="1"/>
      <p:bldP spid="14" grpId="1" animBg="1"/>
      <p:bldP spid="14" grpId="2" animBg="1"/>
      <p:bldP spid="15" grpId="0"/>
      <p:bldP spid="16" grpId="0"/>
      <p:bldP spid="17" grpId="0"/>
      <p:bldP spid="18" grpId="0"/>
      <p:bldP spid="19" grpId="0" animBg="1"/>
      <p:bldP spid="20" grpId="0" animBg="1"/>
      <p:bldP spid="21" grpId="0" animBg="1"/>
      <p:bldP spid="22" grpId="0" animBg="1"/>
      <p:bldP spid="23" grpId="0" animBg="1"/>
      <p:bldP spid="25" grpId="0"/>
      <p:bldP spid="26" grpId="0"/>
      <p:bldP spid="27" grpId="0"/>
      <p:bldP spid="28" grpId="0"/>
      <p:bldP spid="29" grpId="0" animBg="1"/>
      <p:bldP spid="29" grpId="1" animBg="1"/>
      <p:bldP spid="29" grpId="2" animBg="1"/>
      <p:bldP spid="30" grpId="0"/>
      <p:bldP spid="31" grpId="0"/>
      <p:bldP spid="32" grpId="0" animBg="1"/>
      <p:bldP spid="33" grpId="0" animBg="1"/>
      <p:bldP spid="34" grpId="0" animBg="1"/>
      <p:bldP spid="35" grpId="0" animBg="1"/>
      <p:bldP spid="36" grpId="0"/>
      <p:bldP spid="37" grpId="0"/>
      <p:bldP spid="38" grpId="0"/>
      <p:bldP spid="39" grpId="0"/>
      <p:bldP spid="40" grpId="0" animBg="1"/>
      <p:bldP spid="40" grpId="1" animBg="1"/>
      <p:bldP spid="40" grpId="2" animBg="1"/>
      <p:bldP spid="41" grpId="0"/>
      <p:bldP spid="42" grpId="0" animBg="1"/>
      <p:bldP spid="42" grpId="1" animBg="1"/>
      <p:bldP spid="42" grpId="2" animBg="1"/>
      <p:bldP spid="43" grpId="0"/>
      <p:bldP spid="44" grpId="0"/>
      <p:bldP spid="45" grpId="0" animBg="1"/>
      <p:bldP spid="46" grpId="0" animBg="1"/>
      <p:bldP spid="47" grpId="0"/>
      <p:bldP spid="48" grpId="0"/>
      <p:bldP spid="49" grpId="0" animBg="1"/>
      <p:bldP spid="49" grpId="1" animBg="1"/>
      <p:bldP spid="49" grpId="2" animBg="1"/>
      <p:bldP spid="50" grpId="0"/>
      <p:bldP spid="51" grpId="0" animBg="1"/>
      <p:bldP spid="51" grpId="1" animBg="1"/>
      <p:bldP spid="51" grpId="2" animBg="1"/>
      <p:bldP spid="52" grpId="0"/>
      <p:bldP spid="53" grpId="0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 animBg="1"/>
      <p:bldP spid="78" grpId="0"/>
      <p:bldP spid="79" grpId="0" animBg="1"/>
      <p:bldP spid="79" grpId="1" animBg="1"/>
      <p:bldP spid="79" grpId="2" animBg="1"/>
      <p:bldP spid="80" grpId="0"/>
      <p:bldP spid="81" grpId="0"/>
      <p:bldP spid="8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Internal operation of the MMU </a:t>
            </a:r>
            <a:endParaRPr lang="en-US" dirty="0"/>
          </a:p>
        </p:txBody>
      </p:sp>
      <p:graphicFrame>
        <p:nvGraphicFramePr>
          <p:cNvPr id="4" name="Content Placeholder 12"/>
          <p:cNvGraphicFramePr>
            <a:graphicFrameLocks/>
          </p:cNvGraphicFramePr>
          <p:nvPr>
            <p:extLst/>
          </p:nvPr>
        </p:nvGraphicFramePr>
        <p:xfrm>
          <a:off x="4316410" y="4800600"/>
          <a:ext cx="1524000" cy="14782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2240">
                <a:tc>
                  <a:txBody>
                    <a:bodyPr/>
                    <a:lstStyle/>
                    <a:p>
                      <a:r>
                        <a:rPr lang="en-US" dirty="0"/>
                        <a:t>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357318" y="3004066"/>
            <a:ext cx="1143000" cy="533400"/>
          </a:xfrm>
          <a:prstGeom prst="rect">
            <a:avLst/>
          </a:prstGeom>
          <a:solidFill>
            <a:srgbClr val="2489CE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</a:p>
        </p:txBody>
      </p:sp>
      <p:cxnSp>
        <p:nvCxnSpPr>
          <p:cNvPr id="6" name="Elbow Connector 5"/>
          <p:cNvCxnSpPr>
            <a:stCxn id="5" idx="0"/>
          </p:cNvCxnSpPr>
          <p:nvPr/>
        </p:nvCxnSpPr>
        <p:spPr>
          <a:xfrm rot="5400000" flipH="1" flipV="1">
            <a:off x="1833568" y="1956316"/>
            <a:ext cx="1143000" cy="952500"/>
          </a:xfrm>
          <a:prstGeom prst="bentConnector3">
            <a:avLst>
              <a:gd name="adj1" fmla="val 100000"/>
            </a:avLst>
          </a:prstGeom>
          <a:ln w="38100">
            <a:solidFill>
              <a:schemeClr val="tx2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881318" y="1556801"/>
            <a:ext cx="838200" cy="609600"/>
          </a:xfrm>
          <a:prstGeom prst="rect">
            <a:avLst/>
          </a:prstGeom>
          <a:solidFill>
            <a:srgbClr val="2489CE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8" name="Rectangle 7"/>
          <p:cNvSpPr/>
          <p:nvPr/>
        </p:nvSpPr>
        <p:spPr>
          <a:xfrm>
            <a:off x="3719518" y="1556801"/>
            <a:ext cx="838200" cy="609600"/>
          </a:xfrm>
          <a:prstGeom prst="rect">
            <a:avLst/>
          </a:prstGeom>
          <a:solidFill>
            <a:srgbClr val="2489CE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4118" y="1176453"/>
            <a:ext cx="1714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Logical Address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2918" y="2432566"/>
            <a:ext cx="1143000" cy="2590800"/>
          </a:xfrm>
          <a:prstGeom prst="rect">
            <a:avLst/>
          </a:prstGeom>
          <a:solidFill>
            <a:srgbClr val="2489CE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3118" y="1556801"/>
            <a:ext cx="838200" cy="609600"/>
          </a:xfrm>
          <a:prstGeom prst="rect">
            <a:avLst/>
          </a:prstGeom>
          <a:solidFill>
            <a:srgbClr val="2489CE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91318" y="1556801"/>
            <a:ext cx="838200" cy="609600"/>
          </a:xfrm>
          <a:prstGeom prst="rect">
            <a:avLst/>
          </a:prstGeom>
          <a:solidFill>
            <a:srgbClr val="2489CE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4138618" y="1133476"/>
            <a:ext cx="0" cy="413266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/>
          <p:cNvCxnSpPr/>
          <p:nvPr/>
        </p:nvCxnSpPr>
        <p:spPr>
          <a:xfrm>
            <a:off x="4138618" y="1143000"/>
            <a:ext cx="3086100" cy="413266"/>
          </a:xfrm>
          <a:prstGeom prst="bentConnector3">
            <a:avLst>
              <a:gd name="adj1" fmla="val 99621"/>
            </a:avLst>
          </a:prstGeom>
          <a:ln w="38100">
            <a:solidFill>
              <a:schemeClr val="tx2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7" idx="2"/>
          </p:cNvCxnSpPr>
          <p:nvPr/>
        </p:nvCxnSpPr>
        <p:spPr>
          <a:xfrm rot="16200000" flipH="1">
            <a:off x="2040469" y="3426350"/>
            <a:ext cx="3548599" cy="1028700"/>
          </a:xfrm>
          <a:prstGeom prst="bentConnector3">
            <a:avLst>
              <a:gd name="adj1" fmla="val 100309"/>
            </a:avLst>
          </a:prstGeom>
          <a:ln w="38100">
            <a:solidFill>
              <a:schemeClr val="tx2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529518" y="1481770"/>
            <a:ext cx="1843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Physical Address</a:t>
            </a:r>
          </a:p>
        </p:txBody>
      </p:sp>
      <p:cxnSp>
        <p:nvCxnSpPr>
          <p:cNvPr id="17" name="Elbow Connector 16"/>
          <p:cNvCxnSpPr>
            <a:stCxn id="12" idx="3"/>
            <a:endCxn id="10" idx="0"/>
          </p:cNvCxnSpPr>
          <p:nvPr/>
        </p:nvCxnSpPr>
        <p:spPr>
          <a:xfrm>
            <a:off x="7529518" y="1861601"/>
            <a:ext cx="1104900" cy="570965"/>
          </a:xfrm>
          <a:prstGeom prst="bentConnector2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endCxn id="11" idx="2"/>
          </p:cNvCxnSpPr>
          <p:nvPr/>
        </p:nvCxnSpPr>
        <p:spPr>
          <a:xfrm rot="5400000" flipH="1" flipV="1">
            <a:off x="4288369" y="3731151"/>
            <a:ext cx="3548599" cy="419100"/>
          </a:xfrm>
          <a:prstGeom prst="bentConnector3">
            <a:avLst>
              <a:gd name="adj1" fmla="val 509"/>
            </a:avLst>
          </a:prstGeom>
          <a:ln w="38100">
            <a:solidFill>
              <a:schemeClr val="tx2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300417" y="217539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8330" y="4431082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Page Table</a:t>
            </a:r>
          </a:p>
        </p:txBody>
      </p:sp>
    </p:spTree>
    <p:extLst>
      <p:ext uri="{BB962C8B-B14F-4D97-AF65-F5344CB8AC3E}">
        <p14:creationId xmlns:p14="http://schemas.microsoft.com/office/powerpoint/2010/main" val="4047448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/>
      <p:bldP spid="10" grpId="0" animBg="1"/>
      <p:bldP spid="11" grpId="0" animBg="1"/>
      <p:bldP spid="12" grpId="0" animBg="1"/>
      <p:bldP spid="16" grpId="0"/>
      <p:bldP spid="19" grpId="0"/>
      <p:bldP spid="2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F8C60-0EA4-D51C-9E6F-7E9130F32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6781A-5D5A-6DD0-C94B-BE19C74F0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Paging (Conti..)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61AF6-C3BE-AF67-1964-1FBB63468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65679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Advantages</a:t>
            </a:r>
          </a:p>
          <a:p>
            <a:pPr lvl="1"/>
            <a:r>
              <a:rPr lang="en-US" sz="2200" dirty="0"/>
              <a:t>There is no </a:t>
            </a:r>
            <a:r>
              <a:rPr lang="en-US" sz="2200" b="1" dirty="0">
                <a:solidFill>
                  <a:schemeClr val="accent6"/>
                </a:solidFill>
              </a:rPr>
              <a:t>external fragmentation </a:t>
            </a:r>
            <a:r>
              <a:rPr lang="en-US" sz="2200" dirty="0"/>
              <a:t>as it allows us to store the data in a non-contiguous way.</a:t>
            </a:r>
          </a:p>
          <a:p>
            <a:pPr lvl="1"/>
            <a:r>
              <a:rPr lang="en-US" sz="2200" dirty="0"/>
              <a:t>Swapping is easy between </a:t>
            </a:r>
            <a:r>
              <a:rPr lang="en-US" sz="2200" b="1" dirty="0">
                <a:solidFill>
                  <a:schemeClr val="accent6"/>
                </a:solidFill>
              </a:rPr>
              <a:t>equal-sized pages and frames</a:t>
            </a:r>
            <a:r>
              <a:rPr lang="en-US" sz="2200" dirty="0"/>
              <a:t>.</a:t>
            </a:r>
          </a:p>
          <a:p>
            <a:pPr lvl="1"/>
            <a:r>
              <a:rPr lang="en-US" sz="2200" dirty="0"/>
              <a:t>Allocating memory is </a:t>
            </a:r>
            <a:r>
              <a:rPr lang="en-US" sz="2200" b="1" dirty="0">
                <a:solidFill>
                  <a:schemeClr val="accent6"/>
                </a:solidFill>
              </a:rPr>
              <a:t>easy</a:t>
            </a:r>
            <a:r>
              <a:rPr lang="en-US" sz="2200" dirty="0"/>
              <a:t>.</a:t>
            </a:r>
            <a:endParaRPr lang="en-US" sz="2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/>
              <a:t>Disadvantages</a:t>
            </a:r>
          </a:p>
          <a:p>
            <a:pPr lvl="1"/>
            <a:r>
              <a:rPr lang="en-US" sz="2200" dirty="0"/>
              <a:t>As the size of the frame is fixed, so it may suffer from </a:t>
            </a:r>
            <a:r>
              <a:rPr lang="en-US" sz="2200" b="1" dirty="0">
                <a:solidFill>
                  <a:schemeClr val="accent6"/>
                </a:solidFill>
              </a:rPr>
              <a:t>internal fragmentation</a:t>
            </a:r>
            <a:r>
              <a:rPr lang="en-US" sz="2200" dirty="0"/>
              <a:t>. It may happen that the process is too small and it may not acquire the entire frame size.</a:t>
            </a:r>
          </a:p>
          <a:p>
            <a:pPr lvl="1"/>
            <a:r>
              <a:rPr lang="en-US" sz="2200" b="1" dirty="0">
                <a:solidFill>
                  <a:schemeClr val="accent6"/>
                </a:solidFill>
              </a:rPr>
              <a:t>Longer memory access times </a:t>
            </a:r>
            <a:r>
              <a:rPr lang="en-US" sz="2200" dirty="0"/>
              <a:t>(page table lookup for translate logical address to physical address).</a:t>
            </a:r>
          </a:p>
          <a:p>
            <a:pPr lvl="1"/>
            <a:r>
              <a:rPr lang="en-US" sz="2200" dirty="0"/>
              <a:t>For every process, we have an </a:t>
            </a:r>
            <a:r>
              <a:rPr lang="en-US" sz="2200" b="1" dirty="0">
                <a:solidFill>
                  <a:schemeClr val="accent6"/>
                </a:solidFill>
              </a:rPr>
              <a:t>independent page table </a:t>
            </a:r>
            <a:r>
              <a:rPr lang="en-US" sz="2200" dirty="0"/>
              <a:t>and maintaining the page table is extra </a:t>
            </a:r>
            <a:r>
              <a:rPr lang="en-US" sz="2200" b="1" dirty="0">
                <a:solidFill>
                  <a:schemeClr val="accent6"/>
                </a:solidFill>
              </a:rPr>
              <a:t>overhead</a:t>
            </a:r>
            <a:r>
              <a:rPr 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574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74E21-DDCF-1DE7-5979-CAAC67EDC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DA5FC8-4496-C12C-B2B7-0A88FDD0C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Memory Allocation Strategies: First Fit, Next Fit, Best Fit and Worst Fit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A16A87-4EC8-5EF6-12C0-86E9E0071F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449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68ECA-9927-CC5E-B7AB-A13431E0D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50E92-B6B4-5D31-6C1A-AE67A8A30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Memory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2FBBC-8540-5579-918C-6D1CD201F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The different memory allocation strategies are as follows: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/>
              <a:t>First Fit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/>
              <a:t>Next Fit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/>
              <a:t>Best Fit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/>
              <a:t>Worst Fit</a:t>
            </a:r>
          </a:p>
        </p:txBody>
      </p:sp>
    </p:spTree>
    <p:extLst>
      <p:ext uri="{BB962C8B-B14F-4D97-AF65-F5344CB8AC3E}">
        <p14:creationId xmlns:p14="http://schemas.microsoft.com/office/powerpoint/2010/main" val="2482311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F0717-184E-6E02-C58B-82E86D9BB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54973-69A7-BEB6-7D93-E105F7599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First fit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04BA4-8486-471F-45F9-3B2A708D6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Search </a:t>
            </a:r>
            <a:r>
              <a:rPr lang="en-US" b="1" dirty="0">
                <a:solidFill>
                  <a:schemeClr val="accent6"/>
                </a:solidFill>
              </a:rPr>
              <a:t>starts from the starting location </a:t>
            </a:r>
            <a:r>
              <a:rPr lang="en-US" dirty="0"/>
              <a:t>of the memory.</a:t>
            </a:r>
          </a:p>
          <a:p>
            <a:r>
              <a:rPr lang="en-US" b="1" dirty="0">
                <a:solidFill>
                  <a:schemeClr val="accent6"/>
                </a:solidFill>
              </a:rPr>
              <a:t>First available hole that is large enough to hold the process is selected </a:t>
            </a:r>
            <a:r>
              <a:rPr lang="en-US" dirty="0"/>
              <a:t>for allocation.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chemeClr val="accent6"/>
                </a:solidFill>
              </a:rPr>
              <a:t>hole is then broken up into two pieces</a:t>
            </a:r>
            <a:r>
              <a:rPr lang="en-US" dirty="0"/>
              <a:t>, one </a:t>
            </a:r>
            <a:r>
              <a:rPr lang="en-US" b="1" dirty="0">
                <a:solidFill>
                  <a:schemeClr val="accent6"/>
                </a:solidFill>
              </a:rPr>
              <a:t>for process </a:t>
            </a:r>
            <a:r>
              <a:rPr lang="en-US" dirty="0"/>
              <a:t>and another </a:t>
            </a:r>
            <a:r>
              <a:rPr lang="en-US" b="1" dirty="0">
                <a:solidFill>
                  <a:schemeClr val="accent6"/>
                </a:solidFill>
              </a:rPr>
              <a:t>for unused memory</a:t>
            </a:r>
            <a:r>
              <a:rPr lang="en-US" dirty="0"/>
              <a:t>.</a:t>
            </a:r>
          </a:p>
          <a:p>
            <a:r>
              <a:rPr lang="en-US" b="1" dirty="0"/>
              <a:t>Example</a:t>
            </a:r>
            <a:r>
              <a:rPr lang="en-US" dirty="0"/>
              <a:t>: Processes of </a:t>
            </a:r>
            <a:r>
              <a:rPr lang="en-US" b="1" dirty="0">
                <a:solidFill>
                  <a:schemeClr val="tx2"/>
                </a:solidFill>
              </a:rPr>
              <a:t>212K, 417K, 112K</a:t>
            </a:r>
            <a:r>
              <a:rPr lang="en-US" dirty="0"/>
              <a:t> and </a:t>
            </a:r>
            <a:r>
              <a:rPr lang="en-US" b="1" dirty="0">
                <a:solidFill>
                  <a:schemeClr val="tx2"/>
                </a:solidFill>
              </a:rPr>
              <a:t>426K</a:t>
            </a:r>
            <a:r>
              <a:rPr lang="en-US" dirty="0"/>
              <a:t> arrives in order.</a:t>
            </a:r>
          </a:p>
          <a:p>
            <a:endParaRPr lang="en-US" b="1" dirty="0">
              <a:solidFill>
                <a:schemeClr val="accent6"/>
              </a:solidFill>
            </a:endParaRPr>
          </a:p>
          <a:p>
            <a:endParaRPr lang="en-US" b="1" dirty="0">
              <a:solidFill>
                <a:schemeClr val="accent6"/>
              </a:solidFill>
            </a:endParaRPr>
          </a:p>
          <a:p>
            <a:endParaRPr lang="en-US" b="1" dirty="0">
              <a:solidFill>
                <a:schemeClr val="accent6"/>
              </a:solidFill>
            </a:endParaRPr>
          </a:p>
          <a:p>
            <a:endParaRPr lang="en-US" b="1" dirty="0">
              <a:solidFill>
                <a:schemeClr val="accent6"/>
              </a:solidFill>
            </a:endParaRPr>
          </a:p>
          <a:p>
            <a:r>
              <a:rPr lang="en-US" dirty="0"/>
              <a:t>Here process of size </a:t>
            </a:r>
            <a:r>
              <a:rPr lang="en-US" b="1" dirty="0">
                <a:solidFill>
                  <a:schemeClr val="accent6"/>
                </a:solidFill>
              </a:rPr>
              <a:t>426k will not get any partition</a:t>
            </a:r>
            <a:r>
              <a:rPr lang="en-US" dirty="0"/>
              <a:t> for allocation.</a:t>
            </a:r>
          </a:p>
          <a:p>
            <a:r>
              <a:rPr lang="en-US" b="1" dirty="0">
                <a:solidFill>
                  <a:schemeClr val="accent6"/>
                </a:solidFill>
              </a:rPr>
              <a:t>Fastest algorithm </a:t>
            </a:r>
            <a:r>
              <a:rPr lang="en-US" dirty="0"/>
              <a:t>because it searches as little as possible.</a:t>
            </a:r>
          </a:p>
          <a:p>
            <a:r>
              <a:rPr lang="en-US" b="1" dirty="0">
                <a:solidFill>
                  <a:schemeClr val="accent6"/>
                </a:solidFill>
              </a:rPr>
              <a:t>Memory loss is higher</a:t>
            </a:r>
            <a:r>
              <a:rPr lang="en-US" dirty="0"/>
              <a:t>, as very large hole may be selected for small process.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B95AFA-E3D1-1DC6-505E-9B8D86075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8968" y="3044680"/>
            <a:ext cx="4572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4B7506-60FA-42D2-FAF8-61D27D103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2152" y="3044680"/>
            <a:ext cx="22860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4CE9F0-827B-6B95-AB95-45AAD38DB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4136" y="3044680"/>
            <a:ext cx="9144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2BB2EE-801F-3FEE-2CF0-F13EFCCE3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4520" y="3044680"/>
            <a:ext cx="13716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98ECDA-74F2-3F59-FCA7-48FB6741C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2104" y="3044680"/>
            <a:ext cx="27432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9" name="Text Box 87">
            <a:extLst>
              <a:ext uri="{FF2B5EF4-FFF2-40B4-BE49-F238E27FC236}">
                <a16:creationId xmlns:a16="http://schemas.microsoft.com/office/drawing/2014/main" id="{97D65CC3-0F6B-65CB-E1FC-492877DD6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5279" y="2756449"/>
            <a:ext cx="807740" cy="240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100k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Box 88">
            <a:extLst>
              <a:ext uri="{FF2B5EF4-FFF2-40B4-BE49-F238E27FC236}">
                <a16:creationId xmlns:a16="http://schemas.microsoft.com/office/drawing/2014/main" id="{D1E97FE6-7519-CD2C-CE32-807C9997B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393" y="2746988"/>
            <a:ext cx="690834" cy="249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500k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Box 89">
            <a:extLst>
              <a:ext uri="{FF2B5EF4-FFF2-40B4-BE49-F238E27FC236}">
                <a16:creationId xmlns:a16="http://schemas.microsoft.com/office/drawing/2014/main" id="{FB022000-A4E2-C058-3AF8-D66B14C24D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1937" y="2746988"/>
            <a:ext cx="807739" cy="249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200k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Box 90">
            <a:extLst>
              <a:ext uri="{FF2B5EF4-FFF2-40B4-BE49-F238E27FC236}">
                <a16:creationId xmlns:a16="http://schemas.microsoft.com/office/drawing/2014/main" id="{F4DF734C-AB71-3C30-BAB7-2C36D127B8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1585" y="2757495"/>
            <a:ext cx="728372" cy="201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300k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Box 91">
            <a:extLst>
              <a:ext uri="{FF2B5EF4-FFF2-40B4-BE49-F238E27FC236}">
                <a16:creationId xmlns:a16="http://schemas.microsoft.com/office/drawing/2014/main" id="{CDE36196-AAE4-75D6-36DC-2D6D380A0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0135" y="2708248"/>
            <a:ext cx="690834" cy="326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600k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181FF8-E86E-5A74-1131-0B1519B47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8968" y="3838312"/>
            <a:ext cx="4572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BBC9C2-45F3-CBE6-B7B7-5C678E107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2152" y="3838312"/>
            <a:ext cx="22860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E0023B-F5EC-D2CC-B406-6E366F51C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4136" y="3838312"/>
            <a:ext cx="9144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960628-8875-E802-E20E-64101C33A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4520" y="3838312"/>
            <a:ext cx="13716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239C33-B55D-D994-B527-6209D29E1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2104" y="3838312"/>
            <a:ext cx="27432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19" name="Text Box 87">
            <a:extLst>
              <a:ext uri="{FF2B5EF4-FFF2-40B4-BE49-F238E27FC236}">
                <a16:creationId xmlns:a16="http://schemas.microsoft.com/office/drawing/2014/main" id="{CC975638-E624-0FE9-5221-ED7055B6E7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7790" y="3571483"/>
            <a:ext cx="735670" cy="246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100k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Box 88">
            <a:extLst>
              <a:ext uri="{FF2B5EF4-FFF2-40B4-BE49-F238E27FC236}">
                <a16:creationId xmlns:a16="http://schemas.microsoft.com/office/drawing/2014/main" id="{E2CE4D46-5FF1-3150-2BA8-44A552AB61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6179" y="3552347"/>
            <a:ext cx="728934" cy="260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500k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Box 89">
            <a:extLst>
              <a:ext uri="{FF2B5EF4-FFF2-40B4-BE49-F238E27FC236}">
                <a16:creationId xmlns:a16="http://schemas.microsoft.com/office/drawing/2014/main" id="{12BABFE5-87D3-74B5-3D61-52D710F7D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1999" y="3542273"/>
            <a:ext cx="697233" cy="319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200k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Box 90">
            <a:extLst>
              <a:ext uri="{FF2B5EF4-FFF2-40B4-BE49-F238E27FC236}">
                <a16:creationId xmlns:a16="http://schemas.microsoft.com/office/drawing/2014/main" id="{320B8B83-BEA3-3C4B-40BF-DCA00964B5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1585" y="3543911"/>
            <a:ext cx="766757" cy="246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300k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Box 91">
            <a:extLst>
              <a:ext uri="{FF2B5EF4-FFF2-40B4-BE49-F238E27FC236}">
                <a16:creationId xmlns:a16="http://schemas.microsoft.com/office/drawing/2014/main" id="{AB6E16D4-6883-DF28-B75B-D3A84B4A0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1743" y="3545549"/>
            <a:ext cx="709884" cy="24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600k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Box 105" descr="Light upward diagonal">
            <a:extLst>
              <a:ext uri="{FF2B5EF4-FFF2-40B4-BE49-F238E27FC236}">
                <a16:creationId xmlns:a16="http://schemas.microsoft.com/office/drawing/2014/main" id="{346055D9-2E4B-B906-4FA2-D02B16C2B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2151" y="3838312"/>
            <a:ext cx="914400" cy="457200"/>
          </a:xfrm>
          <a:prstGeom prst="rect">
            <a:avLst/>
          </a:prstGeom>
          <a:pattFill prst="ltUpDiag">
            <a:fgClr>
              <a:srgbClr val="000000"/>
            </a:fgClr>
            <a:bgClr>
              <a:srgbClr val="FFFFFF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ln w="3175">
                  <a:solidFill>
                    <a:schemeClr val="tx1"/>
                  </a:solidFill>
                </a:ln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212k</a:t>
            </a:r>
            <a:endParaRPr lang="en-IN" sz="2000" dirty="0">
              <a:ln w="3175">
                <a:solidFill>
                  <a:schemeClr val="tx1"/>
                </a:solidFill>
              </a:ln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Box 88">
            <a:extLst>
              <a:ext uri="{FF2B5EF4-FFF2-40B4-BE49-F238E27FC236}">
                <a16:creationId xmlns:a16="http://schemas.microsoft.com/office/drawing/2014/main" id="{89E88146-B99D-578C-3E2A-79EA4E73A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2977" y="3531636"/>
            <a:ext cx="689398" cy="309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288k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Box 105" descr="Light upward diagonal">
            <a:extLst>
              <a:ext uri="{FF2B5EF4-FFF2-40B4-BE49-F238E27FC236}">
                <a16:creationId xmlns:a16="http://schemas.microsoft.com/office/drawing/2014/main" id="{77B3B4F2-9300-7958-2229-17715DE539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7613" y="3838312"/>
            <a:ext cx="1828800" cy="457200"/>
          </a:xfrm>
          <a:prstGeom prst="rect">
            <a:avLst/>
          </a:prstGeom>
          <a:pattFill prst="ltUpDiag">
            <a:fgClr>
              <a:srgbClr val="000000"/>
            </a:fgClr>
            <a:bgClr>
              <a:srgbClr val="FFFFFF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ln w="3175">
                  <a:solidFill>
                    <a:schemeClr val="tx1"/>
                  </a:solidFill>
                </a:ln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417k</a:t>
            </a:r>
            <a:endParaRPr lang="en-IN" sz="2000" dirty="0">
              <a:ln w="3175">
                <a:solidFill>
                  <a:schemeClr val="tx1"/>
                </a:solidFill>
              </a:ln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Box 91">
            <a:extLst>
              <a:ext uri="{FF2B5EF4-FFF2-40B4-BE49-F238E27FC236}">
                <a16:creationId xmlns:a16="http://schemas.microsoft.com/office/drawing/2014/main" id="{F8DE8B8C-3EEF-5114-D82F-C732B6C310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5668" y="3545549"/>
            <a:ext cx="709884" cy="24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183k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Box 105" descr="Light upward diagonal">
            <a:extLst>
              <a:ext uri="{FF2B5EF4-FFF2-40B4-BE49-F238E27FC236}">
                <a16:creationId xmlns:a16="http://schemas.microsoft.com/office/drawing/2014/main" id="{A4D703DD-D256-71C2-75A9-EB77ABFFA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6076" y="3838312"/>
            <a:ext cx="689397" cy="457200"/>
          </a:xfrm>
          <a:prstGeom prst="rect">
            <a:avLst/>
          </a:prstGeom>
          <a:pattFill prst="ltUpDiag">
            <a:fgClr>
              <a:srgbClr val="000000"/>
            </a:fgClr>
            <a:bgClr>
              <a:srgbClr val="FFFFFF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ln w="3175">
                  <a:solidFill>
                    <a:schemeClr val="tx1"/>
                  </a:solidFill>
                </a:ln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112k</a:t>
            </a:r>
            <a:endParaRPr lang="en-IN" sz="2000" dirty="0">
              <a:ln w="3175">
                <a:solidFill>
                  <a:schemeClr val="tx1"/>
                </a:solidFill>
              </a:ln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Box 88">
            <a:extLst>
              <a:ext uri="{FF2B5EF4-FFF2-40B4-BE49-F238E27FC236}">
                <a16:creationId xmlns:a16="http://schemas.microsoft.com/office/drawing/2014/main" id="{420EC1C5-24B3-8955-3D2D-4D6EC839A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576" y="3561393"/>
            <a:ext cx="689398" cy="24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176k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8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/>
      <p:bldP spid="10" grpId="0"/>
      <p:bldP spid="11" grpId="0"/>
      <p:bldP spid="12" grpId="0"/>
      <p:bldP spid="13" grpId="0"/>
      <p:bldP spid="14" grpId="0" animBg="1"/>
      <p:bldP spid="15" grpId="0" animBg="1"/>
      <p:bldP spid="16" grpId="0" animBg="1"/>
      <p:bldP spid="17" grpId="0" animBg="1"/>
      <p:bldP spid="18" grpId="0" animBg="1"/>
      <p:bldP spid="19" grpId="0"/>
      <p:bldP spid="20" grpId="0"/>
      <p:bldP spid="20" grpId="1"/>
      <p:bldP spid="21" grpId="0"/>
      <p:bldP spid="22" grpId="0"/>
      <p:bldP spid="23" grpId="0"/>
      <p:bldP spid="23" grpId="1"/>
      <p:bldP spid="24" grpId="0" animBg="1"/>
      <p:bldP spid="25" grpId="0"/>
      <p:bldP spid="25" grpId="1"/>
      <p:bldP spid="26" grpId="0" animBg="1"/>
      <p:bldP spid="27" grpId="0"/>
      <p:bldP spid="28" grpId="0" animBg="1"/>
      <p:bldP spid="2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414D5-5DB4-E3DA-3E7A-141B0A0D6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191C3-1162-F919-0FC0-6FF03926B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Next fit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D5366-2455-2DDA-9FBC-D9E1E06DD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This strategy works similarly to </a:t>
            </a:r>
            <a:r>
              <a:rPr lang="en-US" b="1" dirty="0">
                <a:solidFill>
                  <a:schemeClr val="accent6"/>
                </a:solidFill>
              </a:rPr>
              <a:t>First Fit</a:t>
            </a:r>
            <a:r>
              <a:rPr lang="en-US" dirty="0"/>
              <a:t>, but with one key difference: it </a:t>
            </a:r>
            <a:r>
              <a:rPr lang="en-US" b="1" dirty="0">
                <a:solidFill>
                  <a:schemeClr val="accent6"/>
                </a:solidFill>
              </a:rPr>
              <a:t>keeps track of its last position </a:t>
            </a:r>
            <a:r>
              <a:rPr lang="en-US" dirty="0"/>
              <a:t>whenever it finds a suitable memory hole.</a:t>
            </a:r>
          </a:p>
          <a:p>
            <a:r>
              <a:rPr lang="en-US" dirty="0"/>
              <a:t>The next time it is called to allocate memory, it </a:t>
            </a:r>
            <a:r>
              <a:rPr lang="en-US" b="1" dirty="0">
                <a:solidFill>
                  <a:schemeClr val="accent6"/>
                </a:solidFill>
              </a:rPr>
              <a:t>starts searching from where it left off</a:t>
            </a:r>
            <a:r>
              <a:rPr lang="en-US" dirty="0">
                <a:solidFill>
                  <a:schemeClr val="accent6"/>
                </a:solidFill>
              </a:rPr>
              <a:t> </a:t>
            </a:r>
            <a:r>
              <a:rPr lang="en-US" dirty="0"/>
              <a:t>instead of beginning from the start of the list.</a:t>
            </a:r>
          </a:p>
          <a:p>
            <a:r>
              <a:rPr lang="en-US" b="1" dirty="0">
                <a:solidFill>
                  <a:schemeClr val="accent6"/>
                </a:solidFill>
              </a:rPr>
              <a:t>Example</a:t>
            </a:r>
            <a:r>
              <a:rPr lang="en-US" dirty="0"/>
              <a:t>: Processes of </a:t>
            </a:r>
            <a:r>
              <a:rPr lang="en-US" b="1" dirty="0">
                <a:solidFill>
                  <a:schemeClr val="tx2"/>
                </a:solidFill>
              </a:rPr>
              <a:t>212K, 417K, 112K</a:t>
            </a:r>
            <a:r>
              <a:rPr lang="en-US" dirty="0"/>
              <a:t> and </a:t>
            </a:r>
            <a:r>
              <a:rPr lang="en-US" b="1" dirty="0">
                <a:solidFill>
                  <a:schemeClr val="tx2"/>
                </a:solidFill>
              </a:rPr>
              <a:t>426K</a:t>
            </a:r>
            <a:r>
              <a:rPr lang="en-US" dirty="0"/>
              <a:t> arrives in order.</a:t>
            </a:r>
          </a:p>
          <a:p>
            <a:endParaRPr lang="en-US" b="1" dirty="0">
              <a:solidFill>
                <a:schemeClr val="accent6"/>
              </a:solidFill>
            </a:endParaRPr>
          </a:p>
          <a:p>
            <a:endParaRPr lang="en-US" b="1" dirty="0">
              <a:solidFill>
                <a:schemeClr val="accent6"/>
              </a:solidFill>
            </a:endParaRPr>
          </a:p>
          <a:p>
            <a:endParaRPr lang="en-US" b="1" dirty="0">
              <a:solidFill>
                <a:schemeClr val="accent6"/>
              </a:solidFill>
            </a:endParaRPr>
          </a:p>
          <a:p>
            <a:endParaRPr lang="en-US" b="1" dirty="0">
              <a:solidFill>
                <a:schemeClr val="accent6"/>
              </a:solidFill>
            </a:endParaRPr>
          </a:p>
          <a:p>
            <a:r>
              <a:rPr lang="en-US" dirty="0"/>
              <a:t>Here process of size </a:t>
            </a:r>
            <a:r>
              <a:rPr lang="en-US" b="1" dirty="0">
                <a:solidFill>
                  <a:schemeClr val="accent6"/>
                </a:solidFill>
              </a:rPr>
              <a:t>426k will not get any partition</a:t>
            </a:r>
            <a:r>
              <a:rPr lang="en-US" dirty="0"/>
              <a:t> for allocation.</a:t>
            </a:r>
          </a:p>
          <a:p>
            <a:r>
              <a:rPr lang="en-US" b="1" dirty="0">
                <a:solidFill>
                  <a:schemeClr val="accent6"/>
                </a:solidFill>
              </a:rPr>
              <a:t>Search time is smaller.</a:t>
            </a:r>
          </a:p>
          <a:p>
            <a:r>
              <a:rPr lang="en-US" dirty="0"/>
              <a:t>Memory manager must have to </a:t>
            </a:r>
            <a:r>
              <a:rPr lang="en-US" b="1" dirty="0">
                <a:solidFill>
                  <a:schemeClr val="accent6"/>
                </a:solidFill>
              </a:rPr>
              <a:t>keep track of last allotted hole to process</a:t>
            </a:r>
            <a:r>
              <a:rPr lang="en-US" dirty="0"/>
              <a:t>.</a:t>
            </a:r>
          </a:p>
          <a:p>
            <a:r>
              <a:rPr lang="en-US" dirty="0"/>
              <a:t>It gives</a:t>
            </a:r>
            <a:r>
              <a:rPr lang="en-US" b="1" dirty="0">
                <a:solidFill>
                  <a:schemeClr val="accent6"/>
                </a:solidFill>
              </a:rPr>
              <a:t> slightly worse performance </a:t>
            </a:r>
            <a:r>
              <a:rPr lang="en-US" dirty="0"/>
              <a:t>than first fit.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C11C73-3F5C-6B39-4E59-1B4A37F61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8299" y="3261354"/>
            <a:ext cx="4572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776A1A-491E-C55A-4C33-9FB5B8AC5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483" y="3261354"/>
            <a:ext cx="22860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A73588-541A-8CB3-F17C-FDDD8D32C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3467" y="3261354"/>
            <a:ext cx="9144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A0DCD6-052A-0A4A-A5E8-48BD936F9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3851" y="3261354"/>
            <a:ext cx="13716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5635A5-A92F-EB40-E9BF-E8C98F1BD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1435" y="3261354"/>
            <a:ext cx="27432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9" name="Text Box 87">
            <a:extLst>
              <a:ext uri="{FF2B5EF4-FFF2-40B4-BE49-F238E27FC236}">
                <a16:creationId xmlns:a16="http://schemas.microsoft.com/office/drawing/2014/main" id="{3BC9B5A1-8A2B-36BB-0DBB-C771B009A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9289" y="2928983"/>
            <a:ext cx="708798" cy="24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100k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Box 88">
            <a:extLst>
              <a:ext uri="{FF2B5EF4-FFF2-40B4-BE49-F238E27FC236}">
                <a16:creationId xmlns:a16="http://schemas.microsoft.com/office/drawing/2014/main" id="{2AB2657D-E273-5546-1D3C-FB3E4925FF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6873" y="2928983"/>
            <a:ext cx="708798" cy="24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500k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Box 89">
            <a:extLst>
              <a:ext uri="{FF2B5EF4-FFF2-40B4-BE49-F238E27FC236}">
                <a16:creationId xmlns:a16="http://schemas.microsoft.com/office/drawing/2014/main" id="{86AEEE71-3A0A-AD13-148D-04234EFB7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3057" y="2928983"/>
            <a:ext cx="708798" cy="24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200k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Box 90">
            <a:extLst>
              <a:ext uri="{FF2B5EF4-FFF2-40B4-BE49-F238E27FC236}">
                <a16:creationId xmlns:a16="http://schemas.microsoft.com/office/drawing/2014/main" id="{C24663E0-5D11-972E-9395-FF290EFC0E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2041" y="2928983"/>
            <a:ext cx="708798" cy="24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300k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Box 91">
            <a:extLst>
              <a:ext uri="{FF2B5EF4-FFF2-40B4-BE49-F238E27FC236}">
                <a16:creationId xmlns:a16="http://schemas.microsoft.com/office/drawing/2014/main" id="{36BE4A24-B47C-ED8B-EAE1-E28E965AF7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5425" y="2928983"/>
            <a:ext cx="708798" cy="24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600k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19341C-AA47-5C7D-1CF0-76AB5D080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8299" y="4054986"/>
            <a:ext cx="4572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F1620A-21F3-44FA-7C5C-1CF7EC54A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483" y="4054986"/>
            <a:ext cx="22860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E7662F-9741-C715-2325-A29DF1A30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3467" y="4054986"/>
            <a:ext cx="9144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14CA28-BD79-0C78-EA24-EC96E2F64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3851" y="4054986"/>
            <a:ext cx="13716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47D574-4F37-5D7F-2E75-DB5BEEDDC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1435" y="4054986"/>
            <a:ext cx="27432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19" name="Text Box 87">
            <a:extLst>
              <a:ext uri="{FF2B5EF4-FFF2-40B4-BE49-F238E27FC236}">
                <a16:creationId xmlns:a16="http://schemas.microsoft.com/office/drawing/2014/main" id="{F1DC8E35-1F5C-5FA9-C7BF-C90E3F86F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9290" y="3784192"/>
            <a:ext cx="708797" cy="205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100k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Box 88">
            <a:extLst>
              <a:ext uri="{FF2B5EF4-FFF2-40B4-BE49-F238E27FC236}">
                <a16:creationId xmlns:a16="http://schemas.microsoft.com/office/drawing/2014/main" id="{C2424D33-9934-F8E5-7309-E941264662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6874" y="3784192"/>
            <a:ext cx="708797" cy="205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500k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Box 89">
            <a:extLst>
              <a:ext uri="{FF2B5EF4-FFF2-40B4-BE49-F238E27FC236}">
                <a16:creationId xmlns:a16="http://schemas.microsoft.com/office/drawing/2014/main" id="{0FF9903B-E9F3-B353-B124-0092D7691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3492" y="3766676"/>
            <a:ext cx="708798" cy="246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200k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Box 90">
            <a:extLst>
              <a:ext uri="{FF2B5EF4-FFF2-40B4-BE49-F238E27FC236}">
                <a16:creationId xmlns:a16="http://schemas.microsoft.com/office/drawing/2014/main" id="{6150757C-18B2-C911-7C90-813569CA3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2476" y="3766676"/>
            <a:ext cx="708798" cy="246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300k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Box 91">
            <a:extLst>
              <a:ext uri="{FF2B5EF4-FFF2-40B4-BE49-F238E27FC236}">
                <a16:creationId xmlns:a16="http://schemas.microsoft.com/office/drawing/2014/main" id="{23169926-1F37-ACD6-0106-31BB5C96A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5860" y="3766676"/>
            <a:ext cx="708798" cy="246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600k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Box 105" descr="Light upward diagonal">
            <a:extLst>
              <a:ext uri="{FF2B5EF4-FFF2-40B4-BE49-F238E27FC236}">
                <a16:creationId xmlns:a16="http://schemas.microsoft.com/office/drawing/2014/main" id="{67665853-7ABA-EEC7-48E6-FC232CBE8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1482" y="4054986"/>
            <a:ext cx="914400" cy="457200"/>
          </a:xfrm>
          <a:prstGeom prst="rect">
            <a:avLst/>
          </a:prstGeom>
          <a:pattFill prst="ltUpDiag">
            <a:fgClr>
              <a:srgbClr val="000000"/>
            </a:fgClr>
            <a:bgClr>
              <a:srgbClr val="FFFFFF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ln w="3175">
                  <a:solidFill>
                    <a:schemeClr val="tx1"/>
                  </a:solidFill>
                </a:ln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212k</a:t>
            </a:r>
            <a:endParaRPr lang="en-IN" sz="2000" dirty="0">
              <a:ln w="3175">
                <a:solidFill>
                  <a:schemeClr val="tx1"/>
                </a:solidFill>
              </a:ln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Box 88">
            <a:extLst>
              <a:ext uri="{FF2B5EF4-FFF2-40B4-BE49-F238E27FC236}">
                <a16:creationId xmlns:a16="http://schemas.microsoft.com/office/drawing/2014/main" id="{515E5840-6E6C-CF2C-F1D3-FC121340C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7499" y="3766676"/>
            <a:ext cx="708798" cy="246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288k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Box 105" descr="Light upward diagonal">
            <a:extLst>
              <a:ext uri="{FF2B5EF4-FFF2-40B4-BE49-F238E27FC236}">
                <a16:creationId xmlns:a16="http://schemas.microsoft.com/office/drawing/2014/main" id="{4D4D52E5-2BDA-FC15-EF01-D746754688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6944" y="4054986"/>
            <a:ext cx="1828800" cy="457200"/>
          </a:xfrm>
          <a:prstGeom prst="rect">
            <a:avLst/>
          </a:prstGeom>
          <a:pattFill prst="ltUpDiag">
            <a:fgClr>
              <a:srgbClr val="000000"/>
            </a:fgClr>
            <a:bgClr>
              <a:srgbClr val="FFFFFF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ln w="3175">
                  <a:solidFill>
                    <a:schemeClr val="tx1"/>
                  </a:solidFill>
                </a:ln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417k</a:t>
            </a:r>
            <a:endParaRPr lang="en-IN" sz="2000" dirty="0">
              <a:ln w="3175">
                <a:solidFill>
                  <a:schemeClr val="tx1"/>
                </a:solidFill>
              </a:ln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Box 91">
            <a:extLst>
              <a:ext uri="{FF2B5EF4-FFF2-40B4-BE49-F238E27FC236}">
                <a16:creationId xmlns:a16="http://schemas.microsoft.com/office/drawing/2014/main" id="{8B816252-EC82-C889-2B7D-0204A6E867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4185" y="3775354"/>
            <a:ext cx="693749" cy="244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183k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Box 105" descr="Light upward diagonal">
            <a:extLst>
              <a:ext uri="{FF2B5EF4-FFF2-40B4-BE49-F238E27FC236}">
                <a16:creationId xmlns:a16="http://schemas.microsoft.com/office/drawing/2014/main" id="{46CC1464-01BD-2716-564B-80C50E0CA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4658" y="4054986"/>
            <a:ext cx="717706" cy="457200"/>
          </a:xfrm>
          <a:prstGeom prst="rect">
            <a:avLst/>
          </a:prstGeom>
          <a:pattFill prst="ltUpDiag">
            <a:fgClr>
              <a:srgbClr val="000000"/>
            </a:fgClr>
            <a:bgClr>
              <a:srgbClr val="FFFFFF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ln w="3175">
                  <a:solidFill>
                    <a:schemeClr val="tx1"/>
                  </a:solidFill>
                </a:ln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112k</a:t>
            </a:r>
            <a:endParaRPr lang="en-IN" sz="2000" dirty="0">
              <a:ln w="3175">
                <a:solidFill>
                  <a:schemeClr val="tx1"/>
                </a:solidFill>
              </a:ln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Box 88">
            <a:extLst>
              <a:ext uri="{FF2B5EF4-FFF2-40B4-BE49-F238E27FC236}">
                <a16:creationId xmlns:a16="http://schemas.microsoft.com/office/drawing/2014/main" id="{B18535DA-CBF1-EF93-A196-19E3E4D8F2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3512" y="3804100"/>
            <a:ext cx="616666" cy="244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71k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602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/>
      <p:bldP spid="10" grpId="0"/>
      <p:bldP spid="11" grpId="0"/>
      <p:bldP spid="12" grpId="0"/>
      <p:bldP spid="13" grpId="0"/>
      <p:bldP spid="14" grpId="0" animBg="1"/>
      <p:bldP spid="15" grpId="0" animBg="1"/>
      <p:bldP spid="16" grpId="0" animBg="1"/>
      <p:bldP spid="17" grpId="0" animBg="1"/>
      <p:bldP spid="18" grpId="0" animBg="1"/>
      <p:bldP spid="19" grpId="0"/>
      <p:bldP spid="20" grpId="0"/>
      <p:bldP spid="20" grpId="1"/>
      <p:bldP spid="21" grpId="0"/>
      <p:bldP spid="22" grpId="0"/>
      <p:bldP spid="23" grpId="0"/>
      <p:bldP spid="23" grpId="1"/>
      <p:bldP spid="24" grpId="0" animBg="1"/>
      <p:bldP spid="25" grpId="0"/>
      <p:bldP spid="26" grpId="0" animBg="1"/>
      <p:bldP spid="27" grpId="0"/>
      <p:bldP spid="27" grpId="1"/>
      <p:bldP spid="28" grpId="0" animBg="1"/>
      <p:bldP spid="2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754E-A779-16B9-DEAD-01B303C8C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88FBBE0-A6A7-F23D-F062-0460727A5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Best fit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0F59A8B-1E3F-ED74-48A0-D2206C2CA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Entire memory is searched </a:t>
            </a:r>
            <a:r>
              <a:rPr lang="en-US" dirty="0"/>
              <a:t>here.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chemeClr val="accent6"/>
                </a:solidFill>
              </a:rPr>
              <a:t>smallest hole, which is large enough to hold the process, is selected </a:t>
            </a:r>
            <a:r>
              <a:rPr lang="en-US" dirty="0"/>
              <a:t>for allocation.</a:t>
            </a:r>
          </a:p>
          <a:p>
            <a:r>
              <a:rPr lang="en-US" b="1" dirty="0"/>
              <a:t>Example</a:t>
            </a:r>
            <a:r>
              <a:rPr lang="en-US" dirty="0"/>
              <a:t>: Processes of </a:t>
            </a:r>
            <a:r>
              <a:rPr lang="en-US" b="1" dirty="0">
                <a:solidFill>
                  <a:schemeClr val="tx2"/>
                </a:solidFill>
              </a:rPr>
              <a:t>212K, 417K, 112K</a:t>
            </a:r>
            <a:r>
              <a:rPr lang="en-US" dirty="0"/>
              <a:t> and </a:t>
            </a:r>
            <a:r>
              <a:rPr lang="en-US" b="1" dirty="0">
                <a:solidFill>
                  <a:schemeClr val="tx2"/>
                </a:solidFill>
              </a:rPr>
              <a:t>426K</a:t>
            </a:r>
            <a:r>
              <a:rPr lang="en-US" dirty="0"/>
              <a:t> arrives in order.</a:t>
            </a:r>
          </a:p>
          <a:p>
            <a:endParaRPr lang="en-US" b="1" dirty="0">
              <a:solidFill>
                <a:schemeClr val="accent6"/>
              </a:solidFill>
            </a:endParaRPr>
          </a:p>
          <a:p>
            <a:endParaRPr lang="en-US" b="1" dirty="0">
              <a:solidFill>
                <a:schemeClr val="accent6"/>
              </a:solidFill>
            </a:endParaRPr>
          </a:p>
          <a:p>
            <a:endParaRPr lang="en-US" b="1" dirty="0">
              <a:solidFill>
                <a:schemeClr val="accent6"/>
              </a:solidFill>
            </a:endParaRPr>
          </a:p>
          <a:p>
            <a:endParaRPr lang="en-US" b="1" dirty="0">
              <a:solidFill>
                <a:schemeClr val="accent6"/>
              </a:solidFill>
            </a:endParaRPr>
          </a:p>
          <a:p>
            <a:r>
              <a:rPr lang="en-US" b="1" dirty="0">
                <a:solidFill>
                  <a:schemeClr val="accent6"/>
                </a:solidFill>
              </a:rPr>
              <a:t>Search time </a:t>
            </a:r>
            <a:r>
              <a:rPr lang="en-US" dirty="0"/>
              <a:t>is</a:t>
            </a:r>
            <a:r>
              <a:rPr lang="en-US" b="1" dirty="0">
                <a:solidFill>
                  <a:schemeClr val="accent6"/>
                </a:solidFill>
              </a:rPr>
              <a:t> high</a:t>
            </a:r>
            <a:r>
              <a:rPr lang="en-US" dirty="0"/>
              <a:t>, as it searches entire memory every time.</a:t>
            </a:r>
          </a:p>
          <a:p>
            <a:r>
              <a:rPr lang="en-US" b="1" dirty="0">
                <a:solidFill>
                  <a:schemeClr val="accent6"/>
                </a:solidFill>
              </a:rPr>
              <a:t>Memory loss </a:t>
            </a:r>
            <a:r>
              <a:rPr lang="en-US" dirty="0"/>
              <a:t>is</a:t>
            </a:r>
            <a:r>
              <a:rPr lang="en-US" b="1" dirty="0">
                <a:solidFill>
                  <a:schemeClr val="accent6"/>
                </a:solidFill>
              </a:rPr>
              <a:t> less</a:t>
            </a:r>
            <a:r>
              <a:rPr lang="en-US" dirty="0"/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578238-9B22-6999-C769-8AE08386F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8299" y="2564671"/>
            <a:ext cx="4572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63172A-A9CA-A2D3-95B7-AFD35A0C8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483" y="2564671"/>
            <a:ext cx="22860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26B6F9-0B54-E880-3388-C2CF36D2D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3467" y="2564671"/>
            <a:ext cx="9144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D3134D-9A8C-8456-0D9B-D952B5932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3851" y="2564671"/>
            <a:ext cx="13716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A89E85-693B-4DE9-74B8-FCB7902B1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1435" y="2564671"/>
            <a:ext cx="27432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15" name="Text Box 87">
            <a:extLst>
              <a:ext uri="{FF2B5EF4-FFF2-40B4-BE49-F238E27FC236}">
                <a16:creationId xmlns:a16="http://schemas.microsoft.com/office/drawing/2014/main" id="{1A9BCED3-8956-3290-ABA0-F3C0FB5B34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9947" y="2259098"/>
            <a:ext cx="694659" cy="24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100k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Box 88">
            <a:extLst>
              <a:ext uri="{FF2B5EF4-FFF2-40B4-BE49-F238E27FC236}">
                <a16:creationId xmlns:a16="http://schemas.microsoft.com/office/drawing/2014/main" id="{AAF66C87-189D-0AA3-00C8-655CD5749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7531" y="2259098"/>
            <a:ext cx="694659" cy="24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500k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Box 89">
            <a:extLst>
              <a:ext uri="{FF2B5EF4-FFF2-40B4-BE49-F238E27FC236}">
                <a16:creationId xmlns:a16="http://schemas.microsoft.com/office/drawing/2014/main" id="{96FC3D93-9568-6FAC-EB56-812636C55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3715" y="2259098"/>
            <a:ext cx="694659" cy="24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200k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Box 90">
            <a:extLst>
              <a:ext uri="{FF2B5EF4-FFF2-40B4-BE49-F238E27FC236}">
                <a16:creationId xmlns:a16="http://schemas.microsoft.com/office/drawing/2014/main" id="{6130081E-6A01-0AE5-E555-490D91F783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2699" y="2259098"/>
            <a:ext cx="694659" cy="24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300k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Box 91">
            <a:extLst>
              <a:ext uri="{FF2B5EF4-FFF2-40B4-BE49-F238E27FC236}">
                <a16:creationId xmlns:a16="http://schemas.microsoft.com/office/drawing/2014/main" id="{8F5BF684-082D-0E22-8B73-A0D631D0F4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6083" y="2259098"/>
            <a:ext cx="694659" cy="24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600k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B5B654-1591-E6C5-03B8-B9BB0AA53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8299" y="3358303"/>
            <a:ext cx="4572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23CDC1-952C-6A20-9EBA-59E0FD604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483" y="3358303"/>
            <a:ext cx="22860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D59B47-B10A-B169-BBC0-A8AD8F2F6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3467" y="3358303"/>
            <a:ext cx="9144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367FCB7-C63D-25EF-9EB0-5D720E336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3851" y="3358303"/>
            <a:ext cx="13716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47F28FB-BAF5-4310-22B9-A4948BDC6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1435" y="3358303"/>
            <a:ext cx="27432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25" name="Text Box 87">
            <a:extLst>
              <a:ext uri="{FF2B5EF4-FFF2-40B4-BE49-F238E27FC236}">
                <a16:creationId xmlns:a16="http://schemas.microsoft.com/office/drawing/2014/main" id="{53A3382F-DB78-266C-97BE-B71D5E8A6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4205" y="3040873"/>
            <a:ext cx="830070" cy="317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100k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Box 88">
            <a:extLst>
              <a:ext uri="{FF2B5EF4-FFF2-40B4-BE49-F238E27FC236}">
                <a16:creationId xmlns:a16="http://schemas.microsoft.com/office/drawing/2014/main" id="{55974C33-D280-1D48-8F77-CADBC2A84E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1789" y="3040873"/>
            <a:ext cx="830070" cy="317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500k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Box 89">
            <a:extLst>
              <a:ext uri="{FF2B5EF4-FFF2-40B4-BE49-F238E27FC236}">
                <a16:creationId xmlns:a16="http://schemas.microsoft.com/office/drawing/2014/main" id="{C45C49E6-2708-4D39-625E-EDCFB162B7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5344" y="3053509"/>
            <a:ext cx="714375" cy="285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200k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Box 90">
            <a:extLst>
              <a:ext uri="{FF2B5EF4-FFF2-40B4-BE49-F238E27FC236}">
                <a16:creationId xmlns:a16="http://schemas.microsoft.com/office/drawing/2014/main" id="{6714D690-414B-BDA9-4FDD-946F456EF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866" y="3071737"/>
            <a:ext cx="737840" cy="227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300k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Box 91">
            <a:extLst>
              <a:ext uri="{FF2B5EF4-FFF2-40B4-BE49-F238E27FC236}">
                <a16:creationId xmlns:a16="http://schemas.microsoft.com/office/drawing/2014/main" id="{1F5CDE11-8290-D9BA-1DBB-E55B167CD8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0341" y="3040873"/>
            <a:ext cx="830070" cy="317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600k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Box 105" descr="Light upward diagonal">
            <a:extLst>
              <a:ext uri="{FF2B5EF4-FFF2-40B4-BE49-F238E27FC236}">
                <a16:creationId xmlns:a16="http://schemas.microsoft.com/office/drawing/2014/main" id="{20A75448-356B-C48C-ADB9-982121BEC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3306" y="3358303"/>
            <a:ext cx="914400" cy="457200"/>
          </a:xfrm>
          <a:prstGeom prst="rect">
            <a:avLst/>
          </a:prstGeom>
          <a:pattFill prst="ltUpDiag">
            <a:fgClr>
              <a:srgbClr val="000000"/>
            </a:fgClr>
            <a:bgClr>
              <a:srgbClr val="FFFFFF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ln w="3175">
                  <a:solidFill>
                    <a:schemeClr val="tx1"/>
                  </a:solidFill>
                </a:ln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212k</a:t>
            </a:r>
            <a:endParaRPr lang="en-IN" sz="2000" b="1" dirty="0">
              <a:ln w="3175">
                <a:solidFill>
                  <a:schemeClr val="tx1"/>
                </a:solidFill>
              </a:ln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Box 88">
            <a:extLst>
              <a:ext uri="{FF2B5EF4-FFF2-40B4-BE49-F238E27FC236}">
                <a16:creationId xmlns:a16="http://schemas.microsoft.com/office/drawing/2014/main" id="{B351147E-A75B-9782-B438-DECA4FF03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0406" y="3040873"/>
            <a:ext cx="737840" cy="317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88k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Box 105" descr="Light upward diagonal">
            <a:extLst>
              <a:ext uri="{FF2B5EF4-FFF2-40B4-BE49-F238E27FC236}">
                <a16:creationId xmlns:a16="http://schemas.microsoft.com/office/drawing/2014/main" id="{B593AA35-E6B7-9212-CB1D-BAC800B406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2094" y="3358303"/>
            <a:ext cx="1907150" cy="457200"/>
          </a:xfrm>
          <a:prstGeom prst="rect">
            <a:avLst/>
          </a:prstGeom>
          <a:pattFill prst="ltUpDiag">
            <a:fgClr>
              <a:srgbClr val="000000"/>
            </a:fgClr>
            <a:bgClr>
              <a:srgbClr val="FFFFFF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ln w="3175">
                  <a:solidFill>
                    <a:schemeClr val="tx1"/>
                  </a:solidFill>
                </a:ln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417k</a:t>
            </a:r>
            <a:endParaRPr lang="en-IN" sz="2000" b="1" dirty="0">
              <a:ln w="3175">
                <a:solidFill>
                  <a:schemeClr val="tx1"/>
                </a:solidFill>
              </a:ln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Box 91">
            <a:extLst>
              <a:ext uri="{FF2B5EF4-FFF2-40B4-BE49-F238E27FC236}">
                <a16:creationId xmlns:a16="http://schemas.microsoft.com/office/drawing/2014/main" id="{292AA62B-1B38-16B6-D194-3284F0762F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6410" y="3040873"/>
            <a:ext cx="737840" cy="317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83k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Box 105" descr="Light upward diagonal">
            <a:extLst>
              <a:ext uri="{FF2B5EF4-FFF2-40B4-BE49-F238E27FC236}">
                <a16:creationId xmlns:a16="http://schemas.microsoft.com/office/drawing/2014/main" id="{41D0C6C0-33A3-1CCD-C581-636C73294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2208" y="3358303"/>
            <a:ext cx="1920240" cy="457200"/>
          </a:xfrm>
          <a:prstGeom prst="rect">
            <a:avLst/>
          </a:prstGeom>
          <a:pattFill prst="ltUpDiag">
            <a:fgClr>
              <a:srgbClr val="000000"/>
            </a:fgClr>
            <a:bgClr>
              <a:srgbClr val="FFFFFF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ln w="3175">
                  <a:solidFill>
                    <a:schemeClr val="tx1"/>
                  </a:solidFill>
                </a:ln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426k</a:t>
            </a:r>
            <a:endParaRPr lang="en-IN" sz="2000" b="1" dirty="0">
              <a:ln w="3175">
                <a:solidFill>
                  <a:schemeClr val="tx1"/>
                </a:solidFill>
              </a:ln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Box 88">
            <a:extLst>
              <a:ext uri="{FF2B5EF4-FFF2-40B4-BE49-F238E27FC236}">
                <a16:creationId xmlns:a16="http://schemas.microsoft.com/office/drawing/2014/main" id="{73F868C7-6249-5499-6ADB-3AB6E7901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6795" y="3040873"/>
            <a:ext cx="737840" cy="317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174k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Box 105" descr="Light upward diagonal">
            <a:extLst>
              <a:ext uri="{FF2B5EF4-FFF2-40B4-BE49-F238E27FC236}">
                <a16:creationId xmlns:a16="http://schemas.microsoft.com/office/drawing/2014/main" id="{DEA1BF4E-246E-E56E-B627-C5F3BA0CEF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6718" y="3358303"/>
            <a:ext cx="643001" cy="457200"/>
          </a:xfrm>
          <a:prstGeom prst="rect">
            <a:avLst/>
          </a:prstGeom>
          <a:pattFill prst="ltUpDiag">
            <a:fgClr>
              <a:srgbClr val="000000"/>
            </a:fgClr>
            <a:bgClr>
              <a:srgbClr val="FFFFFF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b="1" dirty="0">
                <a:ln w="3175">
                  <a:solidFill>
                    <a:schemeClr val="tx1"/>
                  </a:solidFill>
                </a:ln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112k</a:t>
            </a:r>
            <a:endParaRPr lang="en-IN" dirty="0">
              <a:ln w="3175">
                <a:solidFill>
                  <a:schemeClr val="tx1"/>
                </a:solidFill>
              </a:ln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Box 88">
            <a:extLst>
              <a:ext uri="{FF2B5EF4-FFF2-40B4-BE49-F238E27FC236}">
                <a16:creationId xmlns:a16="http://schemas.microsoft.com/office/drawing/2014/main" id="{E2914176-DD50-961A-5B95-2154F8878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8801" y="3057138"/>
            <a:ext cx="1058439" cy="301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88k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296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17" grpId="0"/>
      <p:bldP spid="18" grpId="0"/>
      <p:bldP spid="19" grpId="0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/>
      <p:bldP spid="26" grpId="1"/>
      <p:bldP spid="27" grpId="0"/>
      <p:bldP spid="27" grpId="1"/>
      <p:bldP spid="28" grpId="0"/>
      <p:bldP spid="28" grpId="1"/>
      <p:bldP spid="29" grpId="0"/>
      <p:bldP spid="29" grpId="1"/>
      <p:bldP spid="30" grpId="0" animBg="1"/>
      <p:bldP spid="31" grpId="0"/>
      <p:bldP spid="32" grpId="0" animBg="1"/>
      <p:bldP spid="33" grpId="0"/>
      <p:bldP spid="34" grpId="0" animBg="1"/>
      <p:bldP spid="35" grpId="0"/>
      <p:bldP spid="36" grpId="0" animBg="1"/>
      <p:bldP spid="3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A6CE4-4609-C01C-D137-A68A2FD79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F3AC5-5AE0-CFF8-1883-AA61BCF30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Worst fit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B97BB-B1DF-7327-4462-1EAB21A12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Entire memory is searched </a:t>
            </a:r>
            <a:r>
              <a:rPr lang="en-US" dirty="0"/>
              <a:t>here also. The </a:t>
            </a:r>
            <a:r>
              <a:rPr lang="en-US" b="1" dirty="0">
                <a:solidFill>
                  <a:schemeClr val="accent6"/>
                </a:solidFill>
              </a:rPr>
              <a:t>largest hole, which is largest enough to hold the process, is selected</a:t>
            </a:r>
            <a:r>
              <a:rPr lang="en-US" dirty="0"/>
              <a:t> for allocation.</a:t>
            </a:r>
          </a:p>
          <a:p>
            <a:r>
              <a:rPr lang="en-US" dirty="0"/>
              <a:t>Example: Processes of </a:t>
            </a:r>
            <a:r>
              <a:rPr lang="en-US" b="1" dirty="0">
                <a:solidFill>
                  <a:schemeClr val="tx2"/>
                </a:solidFill>
              </a:rPr>
              <a:t>212K, 417K, 112K</a:t>
            </a:r>
            <a:r>
              <a:rPr lang="en-US" dirty="0"/>
              <a:t> and </a:t>
            </a:r>
            <a:r>
              <a:rPr lang="en-US" b="1" dirty="0">
                <a:solidFill>
                  <a:schemeClr val="tx2"/>
                </a:solidFill>
              </a:rPr>
              <a:t>426K</a:t>
            </a:r>
            <a:r>
              <a:rPr lang="en-US" dirty="0"/>
              <a:t> arrives in order.</a:t>
            </a:r>
          </a:p>
          <a:p>
            <a:endParaRPr lang="en-US" b="1" dirty="0">
              <a:solidFill>
                <a:schemeClr val="accent6"/>
              </a:solidFill>
            </a:endParaRPr>
          </a:p>
          <a:p>
            <a:endParaRPr lang="en-US" b="1" dirty="0">
              <a:solidFill>
                <a:schemeClr val="accent6"/>
              </a:solidFill>
            </a:endParaRPr>
          </a:p>
          <a:p>
            <a:endParaRPr lang="en-US" b="1" dirty="0">
              <a:solidFill>
                <a:schemeClr val="accent6"/>
              </a:solidFill>
            </a:endParaRPr>
          </a:p>
          <a:p>
            <a:endParaRPr lang="en-US" b="1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US" sz="1000" b="1" dirty="0">
              <a:solidFill>
                <a:schemeClr val="accent6"/>
              </a:solidFill>
            </a:endParaRPr>
          </a:p>
          <a:p>
            <a:r>
              <a:rPr lang="en-US" dirty="0"/>
              <a:t>Here process of size </a:t>
            </a:r>
            <a:r>
              <a:rPr lang="en-US" b="1" dirty="0">
                <a:solidFill>
                  <a:schemeClr val="accent6"/>
                </a:solidFill>
              </a:rPr>
              <a:t>426k will not get any partition</a:t>
            </a:r>
            <a:r>
              <a:rPr lang="en-US" dirty="0"/>
              <a:t> for allocation.</a:t>
            </a:r>
          </a:p>
          <a:p>
            <a:r>
              <a:rPr lang="en-US" b="1" dirty="0">
                <a:solidFill>
                  <a:schemeClr val="accent6"/>
                </a:solidFill>
              </a:rPr>
              <a:t>Search time</a:t>
            </a:r>
            <a:r>
              <a:rPr lang="en-US" dirty="0"/>
              <a:t> is </a:t>
            </a:r>
            <a:r>
              <a:rPr lang="en-US" b="1" dirty="0">
                <a:solidFill>
                  <a:schemeClr val="accent6"/>
                </a:solidFill>
              </a:rPr>
              <a:t>high</a:t>
            </a:r>
            <a:r>
              <a:rPr lang="en-US" dirty="0"/>
              <a:t>, as it searches entire memory every time.</a:t>
            </a:r>
          </a:p>
          <a:p>
            <a:r>
              <a:rPr lang="en-US" dirty="0"/>
              <a:t>This algorithm can be </a:t>
            </a:r>
            <a:r>
              <a:rPr lang="en-US" b="1" dirty="0">
                <a:solidFill>
                  <a:schemeClr val="accent6"/>
                </a:solidFill>
              </a:rPr>
              <a:t>used only with dynamic partitioning.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7B55B7-6999-2E88-ADD6-2925E0903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6960" y="2555341"/>
            <a:ext cx="4572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95AA92-218E-37AF-2CE6-8A49C9D29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0144" y="2555341"/>
            <a:ext cx="22860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452236-1AAA-A6EF-D0E4-A11042F6C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2128" y="2555341"/>
            <a:ext cx="9144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39BA05-4AEF-4D0A-D415-677101556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2512" y="2555341"/>
            <a:ext cx="13716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9C6BEF-D74C-07F9-0EB1-45CBBB0BA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0096" y="2555341"/>
            <a:ext cx="27432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11" name="Text Box 87">
            <a:extLst>
              <a:ext uri="{FF2B5EF4-FFF2-40B4-BE49-F238E27FC236}">
                <a16:creationId xmlns:a16="http://schemas.microsoft.com/office/drawing/2014/main" id="{F3125394-DECA-B762-BA81-9A614AFCC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7755" y="2229728"/>
            <a:ext cx="741331" cy="249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100k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Box 88">
            <a:extLst>
              <a:ext uri="{FF2B5EF4-FFF2-40B4-BE49-F238E27FC236}">
                <a16:creationId xmlns:a16="http://schemas.microsoft.com/office/drawing/2014/main" id="{7C00864F-2AE3-E0D2-6D02-D27DD78A02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339" y="2229728"/>
            <a:ext cx="741331" cy="249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500k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Box 89">
            <a:extLst>
              <a:ext uri="{FF2B5EF4-FFF2-40B4-BE49-F238E27FC236}">
                <a16:creationId xmlns:a16="http://schemas.microsoft.com/office/drawing/2014/main" id="{CF07991F-C536-84D5-3452-99FF0CAC89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1523" y="2229728"/>
            <a:ext cx="741331" cy="249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200k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Box 90">
            <a:extLst>
              <a:ext uri="{FF2B5EF4-FFF2-40B4-BE49-F238E27FC236}">
                <a16:creationId xmlns:a16="http://schemas.microsoft.com/office/drawing/2014/main" id="{FB6449E3-EAA7-AA70-1B8D-4DB8AB571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0507" y="2229728"/>
            <a:ext cx="741331" cy="249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300k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Box 91">
            <a:extLst>
              <a:ext uri="{FF2B5EF4-FFF2-40B4-BE49-F238E27FC236}">
                <a16:creationId xmlns:a16="http://schemas.microsoft.com/office/drawing/2014/main" id="{79304A57-23CC-A812-58D6-A37FF10FE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3891" y="2229728"/>
            <a:ext cx="741331" cy="249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600k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459A6C-D244-3DEE-2C60-99161093D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6960" y="3348973"/>
            <a:ext cx="4572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BD32B6-2F0F-6294-8441-C1605C4F7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0144" y="3348973"/>
            <a:ext cx="22860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5DFFD8-2139-2EA9-1415-09FECDB25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2128" y="3348973"/>
            <a:ext cx="9144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A71BFE-2246-3E9A-DC20-84AE5D0F5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2512" y="3348973"/>
            <a:ext cx="13716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F71951-B6EA-E408-0578-18ECC1E37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0096" y="3348973"/>
            <a:ext cx="2743200" cy="4572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21" name="Text Box 87">
            <a:extLst>
              <a:ext uri="{FF2B5EF4-FFF2-40B4-BE49-F238E27FC236}">
                <a16:creationId xmlns:a16="http://schemas.microsoft.com/office/drawing/2014/main" id="{C0CA1808-B42F-7746-502F-E8DF34DA6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7755" y="3057390"/>
            <a:ext cx="851846" cy="246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100k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Box 88">
            <a:extLst>
              <a:ext uri="{FF2B5EF4-FFF2-40B4-BE49-F238E27FC236}">
                <a16:creationId xmlns:a16="http://schemas.microsoft.com/office/drawing/2014/main" id="{056A048F-ADD0-323D-080A-1F7899E41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339" y="3057390"/>
            <a:ext cx="851846" cy="246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500k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Box 89">
            <a:extLst>
              <a:ext uri="{FF2B5EF4-FFF2-40B4-BE49-F238E27FC236}">
                <a16:creationId xmlns:a16="http://schemas.microsoft.com/office/drawing/2014/main" id="{3C9D9DF4-332A-F9EA-D40B-5B1C014120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1523" y="3057390"/>
            <a:ext cx="851846" cy="246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200k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Box 90">
            <a:extLst>
              <a:ext uri="{FF2B5EF4-FFF2-40B4-BE49-F238E27FC236}">
                <a16:creationId xmlns:a16="http://schemas.microsoft.com/office/drawing/2014/main" id="{A941455D-E180-5C08-B9AB-72AF007DC9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0507" y="3057390"/>
            <a:ext cx="851846" cy="246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300k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Box 91">
            <a:extLst>
              <a:ext uri="{FF2B5EF4-FFF2-40B4-BE49-F238E27FC236}">
                <a16:creationId xmlns:a16="http://schemas.microsoft.com/office/drawing/2014/main" id="{BD8E42B2-31E4-6D41-1B1D-B172A7021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2584" y="3031543"/>
            <a:ext cx="872123" cy="317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600k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Box 105" descr="Light upward diagonal">
            <a:extLst>
              <a:ext uri="{FF2B5EF4-FFF2-40B4-BE49-F238E27FC236}">
                <a16:creationId xmlns:a16="http://schemas.microsoft.com/office/drawing/2014/main" id="{1A348DC9-9F8D-49F1-620F-687C6C345C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8184" y="3348973"/>
            <a:ext cx="914400" cy="457200"/>
          </a:xfrm>
          <a:prstGeom prst="rect">
            <a:avLst/>
          </a:prstGeom>
          <a:pattFill prst="ltUpDiag">
            <a:fgClr>
              <a:srgbClr val="000000"/>
            </a:fgClr>
            <a:bgClr>
              <a:srgbClr val="FFFFFF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ln w="3175">
                  <a:solidFill>
                    <a:schemeClr val="tx1"/>
                  </a:solidFill>
                </a:ln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212k</a:t>
            </a:r>
            <a:endParaRPr lang="en-IN" sz="2000" dirty="0">
              <a:ln w="3175">
                <a:solidFill>
                  <a:schemeClr val="tx1"/>
                </a:solidFill>
              </a:ln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Box 88">
            <a:extLst>
              <a:ext uri="{FF2B5EF4-FFF2-40B4-BE49-F238E27FC236}">
                <a16:creationId xmlns:a16="http://schemas.microsoft.com/office/drawing/2014/main" id="{FC6C10F2-8D68-17AF-64E1-E5A3217B95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4683" y="3031543"/>
            <a:ext cx="775220" cy="317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388k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Box 105" descr="Light upward diagonal">
            <a:extLst>
              <a:ext uri="{FF2B5EF4-FFF2-40B4-BE49-F238E27FC236}">
                <a16:creationId xmlns:a16="http://schemas.microsoft.com/office/drawing/2014/main" id="{813C263D-9006-14D4-F3C1-C2BFB1C641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0755" y="3348973"/>
            <a:ext cx="1828800" cy="457200"/>
          </a:xfrm>
          <a:prstGeom prst="rect">
            <a:avLst/>
          </a:prstGeom>
          <a:pattFill prst="ltUpDiag">
            <a:fgClr>
              <a:srgbClr val="000000"/>
            </a:fgClr>
            <a:bgClr>
              <a:srgbClr val="FFFFFF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ln w="3175">
                  <a:solidFill>
                    <a:schemeClr val="tx1"/>
                  </a:solidFill>
                </a:ln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417k</a:t>
            </a:r>
            <a:endParaRPr lang="en-IN" sz="2000" dirty="0">
              <a:ln w="3175">
                <a:solidFill>
                  <a:schemeClr val="tx1"/>
                </a:solidFill>
              </a:ln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Box 91">
            <a:extLst>
              <a:ext uri="{FF2B5EF4-FFF2-40B4-BE49-F238E27FC236}">
                <a16:creationId xmlns:a16="http://schemas.microsoft.com/office/drawing/2014/main" id="{07168526-0605-7834-32C1-0C2B29896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1645" y="3057390"/>
            <a:ext cx="757196" cy="246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83k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Box 105" descr="Light upward diagonal">
            <a:extLst>
              <a:ext uri="{FF2B5EF4-FFF2-40B4-BE49-F238E27FC236}">
                <a16:creationId xmlns:a16="http://schemas.microsoft.com/office/drawing/2014/main" id="{2E7A7FCB-87BC-BF2F-90A8-6AF8244C5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6729" y="3348973"/>
            <a:ext cx="674814" cy="457200"/>
          </a:xfrm>
          <a:prstGeom prst="rect">
            <a:avLst/>
          </a:prstGeom>
          <a:pattFill prst="ltUpDiag">
            <a:fgClr>
              <a:srgbClr val="000000"/>
            </a:fgClr>
            <a:bgClr>
              <a:srgbClr val="FFFFFF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b="1" dirty="0">
                <a:ln w="3175">
                  <a:solidFill>
                    <a:schemeClr val="tx1"/>
                  </a:solidFill>
                </a:ln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112k</a:t>
            </a:r>
            <a:endParaRPr lang="en-IN" dirty="0">
              <a:ln w="3175">
                <a:solidFill>
                  <a:schemeClr val="tx1"/>
                </a:solidFill>
              </a:ln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Box 88">
            <a:extLst>
              <a:ext uri="{FF2B5EF4-FFF2-40B4-BE49-F238E27FC236}">
                <a16:creationId xmlns:a16="http://schemas.microsoft.com/office/drawing/2014/main" id="{B55AA777-44D1-C02A-FCD5-B6162E697D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5222" y="3057390"/>
            <a:ext cx="757196" cy="246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276k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749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9" grpId="0" animBg="1"/>
      <p:bldP spid="10" grpId="0" animBg="1"/>
      <p:bldP spid="11" grpId="0"/>
      <p:bldP spid="12" grpId="0"/>
      <p:bldP spid="13" grpId="0"/>
      <p:bldP spid="14" grpId="0"/>
      <p:bldP spid="15" grpId="0"/>
      <p:bldP spid="16" grpId="0" animBg="1"/>
      <p:bldP spid="17" grpId="0" animBg="1"/>
      <p:bldP spid="18" grpId="0" animBg="1"/>
      <p:bldP spid="19" grpId="0" animBg="1"/>
      <p:bldP spid="20" grpId="0" animBg="1"/>
      <p:bldP spid="21" grpId="0"/>
      <p:bldP spid="22" grpId="0"/>
      <p:bldP spid="22" grpId="1"/>
      <p:bldP spid="23" grpId="0"/>
      <p:bldP spid="24" grpId="0"/>
      <p:bldP spid="25" grpId="0"/>
      <p:bldP spid="25" grpId="1"/>
      <p:bldP spid="26" grpId="0" animBg="1"/>
      <p:bldP spid="27" grpId="0"/>
      <p:bldP spid="27" grpId="1"/>
      <p:bldP spid="28" grpId="0" animBg="1"/>
      <p:bldP spid="29" grpId="0"/>
      <p:bldP spid="30" grpId="0" animBg="1"/>
      <p:bldP spid="3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3DCB3-86EA-8D5C-E0C5-F36B712DF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8AEEE-977B-BA4B-A664-EEA6DFAFF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AD034-96EE-91E5-3E1E-B520C9491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Consider </a:t>
            </a:r>
            <a:r>
              <a:rPr lang="en-US" b="1" dirty="0">
                <a:solidFill>
                  <a:schemeClr val="accent6"/>
                </a:solidFill>
              </a:rPr>
              <a:t>six memory partitions </a:t>
            </a:r>
            <a:r>
              <a:rPr lang="en-US" dirty="0"/>
              <a:t>of size </a:t>
            </a:r>
            <a:r>
              <a:rPr lang="en-US" b="1" dirty="0">
                <a:solidFill>
                  <a:schemeClr val="tx2"/>
                </a:solidFill>
              </a:rPr>
              <a:t>200 KB</a:t>
            </a:r>
            <a:r>
              <a:rPr lang="en-US" dirty="0"/>
              <a:t>, </a:t>
            </a:r>
            <a:r>
              <a:rPr lang="en-US" b="1" dirty="0">
                <a:solidFill>
                  <a:schemeClr val="tx2"/>
                </a:solidFill>
              </a:rPr>
              <a:t>400 KB</a:t>
            </a:r>
            <a:r>
              <a:rPr lang="en-US" dirty="0"/>
              <a:t>, </a:t>
            </a:r>
            <a:r>
              <a:rPr lang="en-US" b="1" dirty="0">
                <a:solidFill>
                  <a:schemeClr val="tx2"/>
                </a:solidFill>
              </a:rPr>
              <a:t>600 KB</a:t>
            </a:r>
            <a:r>
              <a:rPr lang="en-US" dirty="0"/>
              <a:t>, </a:t>
            </a:r>
            <a:r>
              <a:rPr lang="en-US" b="1" dirty="0">
                <a:solidFill>
                  <a:schemeClr val="tx2"/>
                </a:solidFill>
              </a:rPr>
              <a:t>500 KB</a:t>
            </a:r>
            <a:r>
              <a:rPr lang="en-US" dirty="0"/>
              <a:t>, </a:t>
            </a:r>
            <a:r>
              <a:rPr lang="en-US" b="1" dirty="0">
                <a:solidFill>
                  <a:schemeClr val="tx2"/>
                </a:solidFill>
              </a:rPr>
              <a:t>300 KB </a:t>
            </a:r>
            <a:r>
              <a:rPr lang="en-US" dirty="0"/>
              <a:t>and </a:t>
            </a:r>
            <a:r>
              <a:rPr lang="en-US" b="1" dirty="0">
                <a:solidFill>
                  <a:schemeClr val="tx2"/>
                </a:solidFill>
              </a:rPr>
              <a:t>250 KB</a:t>
            </a:r>
            <a:r>
              <a:rPr lang="en-US" dirty="0"/>
              <a:t>. These partitions need to be allocated to </a:t>
            </a:r>
            <a:r>
              <a:rPr lang="en-US" b="1" dirty="0">
                <a:solidFill>
                  <a:schemeClr val="accent6"/>
                </a:solidFill>
              </a:rPr>
              <a:t>four processes </a:t>
            </a:r>
            <a:r>
              <a:rPr lang="en-US" dirty="0"/>
              <a:t>of sizes </a:t>
            </a:r>
            <a:r>
              <a:rPr lang="en-US" b="1" dirty="0">
                <a:solidFill>
                  <a:schemeClr val="tx2"/>
                </a:solidFill>
              </a:rPr>
              <a:t>357 KB</a:t>
            </a:r>
            <a:r>
              <a:rPr lang="en-US" dirty="0"/>
              <a:t>,</a:t>
            </a:r>
            <a:r>
              <a:rPr lang="en-US" b="1" dirty="0">
                <a:solidFill>
                  <a:schemeClr val="tx2"/>
                </a:solidFill>
              </a:rPr>
              <a:t> 210 KB</a:t>
            </a:r>
            <a:r>
              <a:rPr lang="en-US" dirty="0"/>
              <a:t>,</a:t>
            </a:r>
            <a:r>
              <a:rPr lang="en-US" b="1" dirty="0">
                <a:solidFill>
                  <a:schemeClr val="tx2"/>
                </a:solidFill>
              </a:rPr>
              <a:t> 468 KB </a:t>
            </a:r>
            <a:r>
              <a:rPr lang="en-US" dirty="0"/>
              <a:t>and </a:t>
            </a:r>
            <a:r>
              <a:rPr lang="en-US" b="1" dirty="0">
                <a:solidFill>
                  <a:schemeClr val="tx2"/>
                </a:solidFill>
              </a:rPr>
              <a:t>491 KB </a:t>
            </a:r>
            <a:r>
              <a:rPr lang="en-US" dirty="0"/>
              <a:t>in that order. Perform the allocation of processes using </a:t>
            </a:r>
            <a:r>
              <a:rPr lang="en-US" b="1" dirty="0">
                <a:solidFill>
                  <a:schemeClr val="accent6"/>
                </a:solidFill>
              </a:rPr>
              <a:t>first fit</a:t>
            </a:r>
            <a:r>
              <a:rPr lang="en-US" dirty="0"/>
              <a:t>,</a:t>
            </a:r>
            <a:r>
              <a:rPr lang="en-US" b="1" dirty="0">
                <a:solidFill>
                  <a:schemeClr val="accent6"/>
                </a:solidFill>
              </a:rPr>
              <a:t> next fit</a:t>
            </a:r>
            <a:r>
              <a:rPr lang="en-US" dirty="0"/>
              <a:t>,</a:t>
            </a:r>
            <a:r>
              <a:rPr lang="en-US" b="1" dirty="0">
                <a:solidFill>
                  <a:schemeClr val="accent6"/>
                </a:solidFill>
              </a:rPr>
              <a:t> best fit</a:t>
            </a:r>
            <a:r>
              <a:rPr lang="en-US" dirty="0"/>
              <a:t>,</a:t>
            </a:r>
            <a:r>
              <a:rPr lang="en-US" b="1" dirty="0">
                <a:solidFill>
                  <a:schemeClr val="accent6"/>
                </a:solidFill>
              </a:rPr>
              <a:t> </a:t>
            </a:r>
            <a:r>
              <a:rPr lang="en-US" dirty="0"/>
              <a:t>and</a:t>
            </a:r>
            <a:r>
              <a:rPr lang="en-US" b="1" dirty="0">
                <a:solidFill>
                  <a:schemeClr val="accent6"/>
                </a:solidFill>
              </a:rPr>
              <a:t> worst fit </a:t>
            </a:r>
            <a:r>
              <a:rPr lang="en-US" dirty="0"/>
              <a:t>memory allocation scheme.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Suppose we have some memory frames of </a:t>
            </a:r>
            <a:r>
              <a:rPr lang="en-US" b="1" dirty="0">
                <a:solidFill>
                  <a:schemeClr val="tx2"/>
                </a:solidFill>
              </a:rPr>
              <a:t>16KB</a:t>
            </a:r>
            <a:r>
              <a:rPr lang="en-US" dirty="0"/>
              <a:t>, </a:t>
            </a:r>
            <a:r>
              <a:rPr lang="en-US" b="1" dirty="0">
                <a:solidFill>
                  <a:schemeClr val="tx2"/>
                </a:solidFill>
              </a:rPr>
              <a:t>14KB</a:t>
            </a:r>
            <a:r>
              <a:rPr lang="en-US" dirty="0"/>
              <a:t>,</a:t>
            </a:r>
            <a:r>
              <a:rPr lang="en-US" b="1" dirty="0">
                <a:solidFill>
                  <a:schemeClr val="tx2"/>
                </a:solidFill>
              </a:rPr>
              <a:t> 4KB</a:t>
            </a:r>
            <a:r>
              <a:rPr lang="en-US" dirty="0"/>
              <a:t>,</a:t>
            </a:r>
            <a:r>
              <a:rPr lang="en-US" b="1" dirty="0">
                <a:solidFill>
                  <a:schemeClr val="tx2"/>
                </a:solidFill>
              </a:rPr>
              <a:t> 20KB</a:t>
            </a:r>
            <a:r>
              <a:rPr lang="en-US" dirty="0"/>
              <a:t>,</a:t>
            </a:r>
            <a:r>
              <a:rPr lang="en-US" b="1" dirty="0">
                <a:solidFill>
                  <a:schemeClr val="tx2"/>
                </a:solidFill>
              </a:rPr>
              <a:t> 18KB</a:t>
            </a:r>
            <a:r>
              <a:rPr lang="en-US" dirty="0"/>
              <a:t>,</a:t>
            </a:r>
            <a:r>
              <a:rPr lang="en-US" b="1" dirty="0">
                <a:solidFill>
                  <a:schemeClr val="tx2"/>
                </a:solidFill>
              </a:rPr>
              <a:t> 7KB</a:t>
            </a:r>
            <a:r>
              <a:rPr lang="en-US" dirty="0"/>
              <a:t>,</a:t>
            </a:r>
            <a:r>
              <a:rPr lang="en-US" b="1" dirty="0">
                <a:solidFill>
                  <a:schemeClr val="tx2"/>
                </a:solidFill>
              </a:rPr>
              <a:t> 9KB</a:t>
            </a:r>
            <a:r>
              <a:rPr lang="en-US" dirty="0"/>
              <a:t>,</a:t>
            </a:r>
            <a:r>
              <a:rPr lang="en-US" b="1" dirty="0">
                <a:solidFill>
                  <a:schemeClr val="tx2"/>
                </a:solidFill>
              </a:rPr>
              <a:t> 12KB</a:t>
            </a:r>
            <a:r>
              <a:rPr lang="en-US" dirty="0"/>
              <a:t>,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dirty="0"/>
              <a:t>and</a:t>
            </a:r>
            <a:r>
              <a:rPr lang="en-US" b="1" dirty="0">
                <a:solidFill>
                  <a:schemeClr val="tx2"/>
                </a:solidFill>
              </a:rPr>
              <a:t> 15K</a:t>
            </a:r>
            <a:r>
              <a:rPr lang="en-US" dirty="0"/>
              <a:t>. Similarly, we, have pages of </a:t>
            </a:r>
            <a:r>
              <a:rPr lang="en-US" b="1" dirty="0">
                <a:solidFill>
                  <a:schemeClr val="tx2"/>
                </a:solidFill>
              </a:rPr>
              <a:t>12KB, 10KB, and 9KB</a:t>
            </a:r>
            <a:r>
              <a:rPr lang="en-US" dirty="0"/>
              <a:t>. How you will allocate the memory if you follow </a:t>
            </a:r>
            <a:r>
              <a:rPr lang="en-US" b="1" dirty="0">
                <a:solidFill>
                  <a:schemeClr val="accent6"/>
                </a:solidFill>
              </a:rPr>
              <a:t>first fit</a:t>
            </a:r>
            <a:r>
              <a:rPr lang="en-US" dirty="0"/>
              <a:t>,</a:t>
            </a:r>
            <a:r>
              <a:rPr lang="en-US" b="1" dirty="0">
                <a:solidFill>
                  <a:schemeClr val="accent6"/>
                </a:solidFill>
              </a:rPr>
              <a:t> next fit</a:t>
            </a:r>
            <a:r>
              <a:rPr lang="en-US" dirty="0"/>
              <a:t>,</a:t>
            </a:r>
            <a:r>
              <a:rPr lang="en-US" b="1" dirty="0">
                <a:solidFill>
                  <a:schemeClr val="accent6"/>
                </a:solidFill>
              </a:rPr>
              <a:t> best fit</a:t>
            </a:r>
            <a:r>
              <a:rPr lang="en-US" dirty="0"/>
              <a:t>, and </a:t>
            </a:r>
            <a:r>
              <a:rPr lang="en-US" b="1" dirty="0">
                <a:solidFill>
                  <a:schemeClr val="accent6"/>
                </a:solidFill>
              </a:rPr>
              <a:t>worst </a:t>
            </a:r>
            <a:r>
              <a:rPr lang="en-US" dirty="0"/>
              <a:t>fit memory allocation scheme.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746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C36AE-D5B0-0CF0-A200-1F7BC48B1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524705-78EE-A459-628A-571489D4A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Concept of Page Fault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B1E2B1-0AA3-C785-6CD8-35B203E012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2719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6A8C1-A76D-1E38-B3DE-5AF190186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EDE3FC0-0688-B695-FFD7-257BAA9FB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Page Fault</a:t>
            </a:r>
            <a:r>
              <a:rPr lang="en-US" dirty="0"/>
              <a:t>: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dirty="0"/>
              <a:t>A page fault occurs when a process tries to access a page that is not currently in physical memory (RAM). The page fault is also called </a:t>
            </a:r>
            <a:r>
              <a:rPr lang="en-US" b="1" dirty="0">
                <a:solidFill>
                  <a:schemeClr val="accent6"/>
                </a:solidFill>
              </a:rPr>
              <a:t>page miss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chemeClr val="accent6"/>
                </a:solidFill>
              </a:rPr>
              <a:t>Page Hit</a:t>
            </a:r>
            <a:r>
              <a:rPr lang="en-US" dirty="0"/>
              <a:t>: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dirty="0"/>
              <a:t>When process needs the page on the memory, and the page is already available on memory, then it is called </a:t>
            </a:r>
            <a:r>
              <a:rPr lang="en-US" b="1" dirty="0">
                <a:solidFill>
                  <a:schemeClr val="accent6"/>
                </a:solidFill>
              </a:rPr>
              <a:t>page hit</a:t>
            </a:r>
            <a:r>
              <a:rPr lang="en-US" dirty="0"/>
              <a:t>.</a:t>
            </a:r>
          </a:p>
          <a:p>
            <a:r>
              <a:rPr lang="en-US" dirty="0"/>
              <a:t>To </a:t>
            </a:r>
            <a:r>
              <a:rPr lang="en-US" b="1" dirty="0">
                <a:solidFill>
                  <a:schemeClr val="accent6"/>
                </a:solidFill>
              </a:rPr>
              <a:t>resolve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dirty="0"/>
              <a:t>the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b="1" dirty="0">
                <a:solidFill>
                  <a:schemeClr val="accent6"/>
                </a:solidFill>
              </a:rPr>
              <a:t>page fault</a:t>
            </a:r>
            <a:r>
              <a:rPr lang="en-US" dirty="0"/>
              <a:t>, the required page must be loaded into </a:t>
            </a:r>
            <a:r>
              <a:rPr lang="en-US" b="1" dirty="0">
                <a:solidFill>
                  <a:schemeClr val="accent6"/>
                </a:solidFill>
              </a:rPr>
              <a:t>RAM</a:t>
            </a:r>
            <a:r>
              <a:rPr lang="en-US" dirty="0"/>
              <a:t>. </a:t>
            </a:r>
          </a:p>
          <a:p>
            <a:r>
              <a:rPr lang="en-US" dirty="0"/>
              <a:t>If no free frame is available, a </a:t>
            </a:r>
            <a:r>
              <a:rPr lang="en-US" b="1" dirty="0">
                <a:solidFill>
                  <a:schemeClr val="accent6"/>
                </a:solidFill>
              </a:rPr>
              <a:t>page replacement </a:t>
            </a:r>
            <a:r>
              <a:rPr lang="en-US" dirty="0"/>
              <a:t>is necessary.</a:t>
            </a:r>
            <a:endParaRPr lang="en-US" b="1" dirty="0">
              <a:solidFill>
                <a:schemeClr val="accent6"/>
              </a:solidFill>
            </a:endParaRPr>
          </a:p>
          <a:p>
            <a:r>
              <a:rPr lang="en-US" dirty="0"/>
              <a:t>A page from the main memory is </a:t>
            </a:r>
            <a:r>
              <a:rPr lang="en-US" b="1" dirty="0">
                <a:solidFill>
                  <a:schemeClr val="accent6"/>
                </a:solidFill>
              </a:rPr>
              <a:t>replaced</a:t>
            </a:r>
            <a:r>
              <a:rPr lang="en-US" dirty="0"/>
              <a:t> with a page from the secondary memory is called </a:t>
            </a:r>
            <a:r>
              <a:rPr lang="en-US" b="1" dirty="0">
                <a:solidFill>
                  <a:schemeClr val="accent6"/>
                </a:solidFill>
              </a:rPr>
              <a:t>page replacement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6113FB1-5041-14AF-0CFA-087D1B948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Page Fault</a:t>
            </a:r>
          </a:p>
        </p:txBody>
      </p:sp>
    </p:spTree>
    <p:extLst>
      <p:ext uri="{BB962C8B-B14F-4D97-AF65-F5344CB8AC3E}">
        <p14:creationId xmlns:p14="http://schemas.microsoft.com/office/powerpoint/2010/main" val="299107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50F7C-BE77-386D-3C53-EF78D7FE3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F1FF6F-61A2-5CE7-05EB-4715280B7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/>
            </a:r>
            <a:b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Page Replacement Algorithm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15DC0F-7746-194A-73AC-1D1EE24B0B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0365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E609C-649E-9001-9FBF-43227E57B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8046F-81B4-2CF2-722A-99CC85EA6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Page Replacement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B81A1-8204-B9CA-8C54-108197EE9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Following are different types of page replacement algorithms: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b="1" dirty="0">
                <a:solidFill>
                  <a:schemeClr val="accent6"/>
                </a:solidFill>
              </a:rPr>
              <a:t>FIFO</a:t>
            </a:r>
            <a:r>
              <a:rPr lang="en-US" sz="2200" dirty="0"/>
              <a:t> Page Replacement Algorithm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b="1" dirty="0">
                <a:solidFill>
                  <a:schemeClr val="accent6"/>
                </a:solidFill>
              </a:rPr>
              <a:t>LRU</a:t>
            </a:r>
            <a:r>
              <a:rPr lang="en-US" sz="2200" dirty="0"/>
              <a:t> (Least Recently Used) Page Replacement Algorithm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b="1" dirty="0">
                <a:solidFill>
                  <a:schemeClr val="accent6"/>
                </a:solidFill>
              </a:rPr>
              <a:t>OPT</a:t>
            </a:r>
            <a:r>
              <a:rPr lang="en-US" sz="2200" dirty="0"/>
              <a:t> (Optimal) Page Replacement Algorithm</a:t>
            </a:r>
          </a:p>
        </p:txBody>
      </p:sp>
    </p:spTree>
    <p:extLst>
      <p:ext uri="{BB962C8B-B14F-4D97-AF65-F5344CB8AC3E}">
        <p14:creationId xmlns:p14="http://schemas.microsoft.com/office/powerpoint/2010/main" val="1552737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8653F-0C5C-0F34-D72D-CC7C3E3B5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D031A-69B4-5716-026F-48BEC0BA0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FIFO Page Replacement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34FB1-81E0-EA41-F819-E9F576A05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FIFO</a:t>
            </a:r>
            <a:r>
              <a:rPr lang="en-US" dirty="0"/>
              <a:t> page replacement algorithm is the simplest page replacement algorithm. </a:t>
            </a:r>
          </a:p>
          <a:p>
            <a:r>
              <a:rPr lang="en-US" dirty="0"/>
              <a:t>In this algorithm, the operating system keeps track of all pages in the memory in a queue, the </a:t>
            </a:r>
            <a:r>
              <a:rPr lang="en-US" b="1" dirty="0">
                <a:solidFill>
                  <a:schemeClr val="accent6"/>
                </a:solidFill>
              </a:rPr>
              <a:t>oldest page </a:t>
            </a:r>
            <a:r>
              <a:rPr lang="en-US" dirty="0"/>
              <a:t>is in the </a:t>
            </a:r>
            <a:r>
              <a:rPr lang="en-US" b="1" dirty="0">
                <a:solidFill>
                  <a:schemeClr val="accent6"/>
                </a:solidFill>
              </a:rPr>
              <a:t>front </a:t>
            </a:r>
            <a:r>
              <a:rPr lang="en-US" dirty="0"/>
              <a:t>of the queue. </a:t>
            </a:r>
          </a:p>
          <a:p>
            <a:r>
              <a:rPr lang="en-US" dirty="0"/>
              <a:t>When a page needs to be replaced </a:t>
            </a:r>
            <a:r>
              <a:rPr lang="en-US" b="1" dirty="0">
                <a:solidFill>
                  <a:schemeClr val="accent6"/>
                </a:solidFill>
              </a:rPr>
              <a:t>page in the front of the queue </a:t>
            </a:r>
            <a:r>
              <a:rPr lang="en-US" dirty="0"/>
              <a:t>is </a:t>
            </a:r>
            <a:r>
              <a:rPr lang="en-US" b="1" dirty="0">
                <a:solidFill>
                  <a:schemeClr val="accent6"/>
                </a:solidFill>
              </a:rPr>
              <a:t>selected for removal</a:t>
            </a:r>
            <a:r>
              <a:rPr lang="en-US" dirty="0"/>
              <a:t>.</a:t>
            </a:r>
          </a:p>
          <a:p>
            <a:r>
              <a:rPr lang="en-US" dirty="0"/>
              <a:t>The performance of the FIFO algorithm is </a:t>
            </a:r>
            <a:r>
              <a:rPr lang="en-US" b="1" dirty="0">
                <a:solidFill>
                  <a:schemeClr val="accent6"/>
                </a:solidFill>
              </a:rPr>
              <a:t>not always good </a:t>
            </a:r>
            <a:r>
              <a:rPr lang="en-US" dirty="0"/>
              <a:t>because it may happen that the page which is the oldest is frequently referred by OS. </a:t>
            </a:r>
          </a:p>
          <a:p>
            <a:r>
              <a:rPr lang="en-US" dirty="0"/>
              <a:t>Hence removing the </a:t>
            </a:r>
            <a:r>
              <a:rPr lang="en-US" b="1" dirty="0">
                <a:solidFill>
                  <a:schemeClr val="accent6"/>
                </a:solidFill>
              </a:rPr>
              <a:t>oldest page may create page fault again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8186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E1066-E7B9-5E02-AB05-A26FC6FE6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C3D0-241A-6FF8-CC0E-0ACA2F7A2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FIFO Page Replacement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C7E8B-D252-3E2C-EF5F-A1641E4F2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Page Reference String: </a:t>
            </a:r>
          </a:p>
          <a:p>
            <a:pPr lvl="1"/>
            <a:r>
              <a:rPr lang="en-US" sz="2200" spc="600" dirty="0"/>
              <a:t>4,7,6,1,7,6,1,2,7,2</a:t>
            </a:r>
          </a:p>
          <a:p>
            <a:pPr lvl="1"/>
            <a:r>
              <a:rPr lang="en-US" sz="2200" dirty="0"/>
              <a:t>Three frames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275E500-7775-2BC2-C342-EE907E82A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743047"/>
              </p:ext>
            </p:extLst>
          </p:nvPr>
        </p:nvGraphicFramePr>
        <p:xfrm>
          <a:off x="955144" y="2123917"/>
          <a:ext cx="7083969" cy="5403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82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40327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accent6"/>
                          </a:solidFill>
                        </a:rPr>
                        <a:t>Page</a:t>
                      </a:r>
                      <a:r>
                        <a:rPr lang="en-US" sz="2200" b="1" baseline="0" dirty="0">
                          <a:solidFill>
                            <a:schemeClr val="accent6"/>
                          </a:solidFill>
                        </a:rPr>
                        <a:t> Request</a:t>
                      </a:r>
                      <a:endParaRPr lang="en-US" sz="2200" b="1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C796FEF-C7DF-1275-9B1B-00BAA165B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21678"/>
              </p:ext>
            </p:extLst>
          </p:nvPr>
        </p:nvGraphicFramePr>
        <p:xfrm>
          <a:off x="955144" y="2654498"/>
          <a:ext cx="7083969" cy="225973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2382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40517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Frame – 1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accent6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37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/>
                        <a:t>Frame – 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7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7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7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7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7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7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accent6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47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/>
                        <a:t>Frame –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accent6"/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D3BD357-0DBE-4E54-6C56-F615D7A421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748348"/>
              </p:ext>
            </p:extLst>
          </p:nvPr>
        </p:nvGraphicFramePr>
        <p:xfrm>
          <a:off x="955141" y="4919694"/>
          <a:ext cx="7083970" cy="711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accent6"/>
                          </a:solidFill>
                        </a:rPr>
                        <a:t>Page</a:t>
                      </a:r>
                      <a:r>
                        <a:rPr lang="en-US" sz="2200" b="1" baseline="0" dirty="0">
                          <a:solidFill>
                            <a:schemeClr val="accent6"/>
                          </a:solidFill>
                        </a:rPr>
                        <a:t> Faults (6)</a:t>
                      </a:r>
                      <a:endParaRPr lang="en-US" sz="22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2"/>
                          </a:solidFill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2"/>
                          </a:solidFill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2"/>
                          </a:solidFill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2"/>
                          </a:solidFill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2"/>
                          </a:solidFill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2"/>
                          </a:solidFill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2"/>
                          </a:solidFill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2"/>
                          </a:solidFill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2"/>
                          </a:solidFill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2"/>
                          </a:solidFill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8942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A00AA-DFD9-EE58-4165-F6DB68B36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6B824-0F6B-261E-6EB0-52867AB18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FIFO Page Replacement Algorithm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A31196E-8D91-41F0-A3CC-589EF9C50A2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FIFO Page Replacement Algorithm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E571BEC-1304-49DF-FE6C-776B19B34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878583"/>
            <a:ext cx="11929641" cy="5649046"/>
          </a:xfrm>
        </p:spPr>
        <p:txBody>
          <a:bodyPr/>
          <a:lstStyle/>
          <a:p>
            <a:r>
              <a:rPr lang="en-US" dirty="0"/>
              <a:t>Page Reference String: </a:t>
            </a:r>
          </a:p>
          <a:p>
            <a:pPr lvl="1"/>
            <a:r>
              <a:rPr lang="en-US" sz="2200" spc="600" dirty="0"/>
              <a:t>4,7,6,1,7,6,1,2,7,2</a:t>
            </a:r>
          </a:p>
          <a:p>
            <a:pPr lvl="1"/>
            <a:r>
              <a:rPr lang="en-US" sz="2200" dirty="0"/>
              <a:t>Three frames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695EF71-336E-4221-7428-75D14550A6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69728"/>
              </p:ext>
            </p:extLst>
          </p:nvPr>
        </p:nvGraphicFramePr>
        <p:xfrm>
          <a:off x="1019969" y="2248428"/>
          <a:ext cx="8324056" cy="457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30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Page</a:t>
                      </a:r>
                      <a:r>
                        <a:rPr lang="en-US" sz="2400" baseline="0" dirty="0"/>
                        <a:t> Request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511D896-0E04-82DB-A05E-B847EC8A1A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926605"/>
              </p:ext>
            </p:extLst>
          </p:nvPr>
        </p:nvGraphicFramePr>
        <p:xfrm>
          <a:off x="1019969" y="2705152"/>
          <a:ext cx="832405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30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Frame – 1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Frame –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33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Frame –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6BD219C-6B06-035C-62CA-9E427EB75E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279227"/>
              </p:ext>
            </p:extLst>
          </p:nvPr>
        </p:nvGraphicFramePr>
        <p:xfrm>
          <a:off x="1019969" y="4078382"/>
          <a:ext cx="8324056" cy="426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30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chemeClr val="tx2"/>
                          </a:solidFill>
                        </a:rPr>
                        <a:t>Page</a:t>
                      </a:r>
                      <a:r>
                        <a:rPr lang="en-US" sz="2200" b="1" baseline="0" dirty="0">
                          <a:solidFill>
                            <a:schemeClr val="tx2"/>
                          </a:solidFill>
                        </a:rPr>
                        <a:t> Faults </a:t>
                      </a:r>
                      <a:r>
                        <a:rPr lang="en-US" sz="2200" b="1" baseline="0" dirty="0">
                          <a:solidFill>
                            <a:schemeClr val="accent6"/>
                          </a:solidFill>
                        </a:rPr>
                        <a:t>(6)</a:t>
                      </a:r>
                      <a:endParaRPr lang="en-US" sz="2200" b="1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38C8119-57FC-17F1-3DAC-4C6B027D00C5}"/>
              </a:ext>
            </a:extLst>
          </p:cNvPr>
          <p:cNvCxnSpPr/>
          <p:nvPr/>
        </p:nvCxnSpPr>
        <p:spPr>
          <a:xfrm>
            <a:off x="3950494" y="1868772"/>
            <a:ext cx="1" cy="295965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E7A50EF-D42E-4BB1-45EB-D05C66A13196}"/>
              </a:ext>
            </a:extLst>
          </p:cNvPr>
          <p:cNvSpPr txBox="1"/>
          <p:nvPr/>
        </p:nvSpPr>
        <p:spPr>
          <a:xfrm>
            <a:off x="3729038" y="2228332"/>
            <a:ext cx="442914" cy="42672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E5D7617-E015-C233-7705-7B567BB47981}"/>
              </a:ext>
            </a:extLst>
          </p:cNvPr>
          <p:cNvCxnSpPr/>
          <p:nvPr/>
        </p:nvCxnSpPr>
        <p:spPr>
          <a:xfrm>
            <a:off x="4486280" y="1868771"/>
            <a:ext cx="1" cy="295965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AE52C2C-274F-91D0-5AA0-E7A6E226DB62}"/>
              </a:ext>
            </a:extLst>
          </p:cNvPr>
          <p:cNvSpPr txBox="1"/>
          <p:nvPr/>
        </p:nvSpPr>
        <p:spPr>
          <a:xfrm>
            <a:off x="4329116" y="2223238"/>
            <a:ext cx="442914" cy="42672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A8A997B-EFBA-BA82-2E94-24F9E027A577}"/>
              </a:ext>
            </a:extLst>
          </p:cNvPr>
          <p:cNvCxnSpPr/>
          <p:nvPr/>
        </p:nvCxnSpPr>
        <p:spPr>
          <a:xfrm>
            <a:off x="5079213" y="1868772"/>
            <a:ext cx="1" cy="295965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D1EA83C-657F-DD88-D0DF-AB3976FB1803}"/>
              </a:ext>
            </a:extLst>
          </p:cNvPr>
          <p:cNvSpPr txBox="1"/>
          <p:nvPr/>
        </p:nvSpPr>
        <p:spPr>
          <a:xfrm>
            <a:off x="4857757" y="2228332"/>
            <a:ext cx="442914" cy="42672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707C8B6-678F-4810-1B80-3C9F4A95BB21}"/>
              </a:ext>
            </a:extLst>
          </p:cNvPr>
          <p:cNvCxnSpPr/>
          <p:nvPr/>
        </p:nvCxnSpPr>
        <p:spPr>
          <a:xfrm>
            <a:off x="5623220" y="1843252"/>
            <a:ext cx="1" cy="295965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D16D34D-5DDC-9073-7519-BDB728C89C84}"/>
              </a:ext>
            </a:extLst>
          </p:cNvPr>
          <p:cNvSpPr txBox="1"/>
          <p:nvPr/>
        </p:nvSpPr>
        <p:spPr>
          <a:xfrm>
            <a:off x="5401764" y="2222908"/>
            <a:ext cx="442914" cy="42672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7D1A8D3-11CA-AA47-6FF6-DCBE23A087B6}"/>
              </a:ext>
            </a:extLst>
          </p:cNvPr>
          <p:cNvCxnSpPr/>
          <p:nvPr/>
        </p:nvCxnSpPr>
        <p:spPr>
          <a:xfrm>
            <a:off x="6228809" y="1832480"/>
            <a:ext cx="1" cy="295965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EB121C8-270D-F5CC-456F-89CD0C2E75A9}"/>
              </a:ext>
            </a:extLst>
          </p:cNvPr>
          <p:cNvSpPr txBox="1"/>
          <p:nvPr/>
        </p:nvSpPr>
        <p:spPr>
          <a:xfrm>
            <a:off x="6007353" y="2222184"/>
            <a:ext cx="442914" cy="42672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FDC5A02-4ABD-36C2-C01C-B2F11D3F11CD}"/>
              </a:ext>
            </a:extLst>
          </p:cNvPr>
          <p:cNvCxnSpPr/>
          <p:nvPr/>
        </p:nvCxnSpPr>
        <p:spPr>
          <a:xfrm>
            <a:off x="6786566" y="1868772"/>
            <a:ext cx="1" cy="295965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E69D9A0-9C06-DF22-73D2-535D0D762FB1}"/>
              </a:ext>
            </a:extLst>
          </p:cNvPr>
          <p:cNvSpPr txBox="1"/>
          <p:nvPr/>
        </p:nvSpPr>
        <p:spPr>
          <a:xfrm>
            <a:off x="6565110" y="2228332"/>
            <a:ext cx="442914" cy="42672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31D91DF-C4AE-F4FE-5710-E9D1BAE72671}"/>
              </a:ext>
            </a:extLst>
          </p:cNvPr>
          <p:cNvCxnSpPr/>
          <p:nvPr/>
        </p:nvCxnSpPr>
        <p:spPr>
          <a:xfrm>
            <a:off x="7355853" y="1843252"/>
            <a:ext cx="1" cy="295965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95B413D-8B37-1F1A-BFF9-C0A56FA66F86}"/>
              </a:ext>
            </a:extLst>
          </p:cNvPr>
          <p:cNvSpPr txBox="1"/>
          <p:nvPr/>
        </p:nvSpPr>
        <p:spPr>
          <a:xfrm>
            <a:off x="7134397" y="2222908"/>
            <a:ext cx="442914" cy="42672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00A8EB2-FCF1-AF4F-DA77-01AE50823DCA}"/>
              </a:ext>
            </a:extLst>
          </p:cNvPr>
          <p:cNvCxnSpPr/>
          <p:nvPr/>
        </p:nvCxnSpPr>
        <p:spPr>
          <a:xfrm>
            <a:off x="7936161" y="1844168"/>
            <a:ext cx="1" cy="295965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4300079-89E4-8F88-324E-9AC9A92882D5}"/>
              </a:ext>
            </a:extLst>
          </p:cNvPr>
          <p:cNvSpPr txBox="1"/>
          <p:nvPr/>
        </p:nvSpPr>
        <p:spPr>
          <a:xfrm>
            <a:off x="7714705" y="2223824"/>
            <a:ext cx="442914" cy="42672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7EADC98-0231-D3C8-79CD-E1DF93487FD7}"/>
              </a:ext>
            </a:extLst>
          </p:cNvPr>
          <p:cNvCxnSpPr/>
          <p:nvPr/>
        </p:nvCxnSpPr>
        <p:spPr>
          <a:xfrm>
            <a:off x="8487332" y="1829165"/>
            <a:ext cx="1" cy="295965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CFD3213-9225-AC33-1559-67FFB49CA863}"/>
              </a:ext>
            </a:extLst>
          </p:cNvPr>
          <p:cNvSpPr txBox="1"/>
          <p:nvPr/>
        </p:nvSpPr>
        <p:spPr>
          <a:xfrm>
            <a:off x="8265875" y="2222908"/>
            <a:ext cx="442914" cy="42672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2A248FF-0580-34B4-D4D1-9BB4EE94B3A5}"/>
              </a:ext>
            </a:extLst>
          </p:cNvPr>
          <p:cNvCxnSpPr/>
          <p:nvPr/>
        </p:nvCxnSpPr>
        <p:spPr>
          <a:xfrm>
            <a:off x="9085756" y="1832480"/>
            <a:ext cx="1" cy="295965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8CEB8BD-9798-FE68-A7C7-0A1CDB689D00}"/>
              </a:ext>
            </a:extLst>
          </p:cNvPr>
          <p:cNvSpPr txBox="1"/>
          <p:nvPr/>
        </p:nvSpPr>
        <p:spPr>
          <a:xfrm>
            <a:off x="8864300" y="2222184"/>
            <a:ext cx="442914" cy="42672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F8EC53C-ADE6-15F8-3C6E-E2CCBC3061C7}"/>
              </a:ext>
            </a:extLst>
          </p:cNvPr>
          <p:cNvSpPr txBox="1"/>
          <p:nvPr/>
        </p:nvSpPr>
        <p:spPr>
          <a:xfrm>
            <a:off x="5411812" y="2740280"/>
            <a:ext cx="442914" cy="36933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212121"/>
                </a:solidFill>
              </a:defRPr>
            </a:lvl1pPr>
          </a:lstStyle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BD854FC-3C30-3301-D8C7-495925FEB812}"/>
              </a:ext>
            </a:extLst>
          </p:cNvPr>
          <p:cNvSpPr txBox="1"/>
          <p:nvPr/>
        </p:nvSpPr>
        <p:spPr>
          <a:xfrm>
            <a:off x="7701508" y="3177830"/>
            <a:ext cx="442913" cy="42672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D10E49-5B29-0620-A346-8775BE167AB2}"/>
              </a:ext>
            </a:extLst>
          </p:cNvPr>
          <p:cNvSpPr txBox="1"/>
          <p:nvPr/>
        </p:nvSpPr>
        <p:spPr>
          <a:xfrm>
            <a:off x="8269335" y="3624646"/>
            <a:ext cx="442914" cy="42672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233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2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75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6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80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1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97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8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0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1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3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7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41" dur="500" tmFilter="0, 0; .2, .5; .8, .5; 1, 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2" dur="250" autoRev="1" fill="hold"/>
                                        <p:tgtEl>
                                          <p:spTgt spid="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58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9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71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2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82" dur="500" tmFilter="0, 0; .2, .5; .8, .5; 1, 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3" dur="250" autoRev="1" fill="hold"/>
                                        <p:tgtEl>
                                          <p:spTgt spid="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5" grpId="2" animBg="1"/>
      <p:bldP spid="17" grpId="0" animBg="1"/>
      <p:bldP spid="17" grpId="1" animBg="1"/>
      <p:bldP spid="17" grpId="2" animBg="1"/>
      <p:bldP spid="19" grpId="0" animBg="1"/>
      <p:bldP spid="19" grpId="1" animBg="1"/>
      <p:bldP spid="19" grpId="2" animBg="1"/>
      <p:bldP spid="21" grpId="0" animBg="1"/>
      <p:bldP spid="21" grpId="1" animBg="1"/>
      <p:bldP spid="21" grpId="2" animBg="1"/>
      <p:bldP spid="23" grpId="0" animBg="1"/>
      <p:bldP spid="23" grpId="1" animBg="1"/>
      <p:bldP spid="23" grpId="2" animBg="1"/>
      <p:bldP spid="25" grpId="0" animBg="1"/>
      <p:bldP spid="25" grpId="1" animBg="1"/>
      <p:bldP spid="25" grpId="2" animBg="1"/>
      <p:bldP spid="27" grpId="0" animBg="1"/>
      <p:bldP spid="27" grpId="1" animBg="1"/>
      <p:bldP spid="27" grpId="2" animBg="1"/>
      <p:bldP spid="29" grpId="0" animBg="1"/>
      <p:bldP spid="29" grpId="1" animBg="1"/>
      <p:bldP spid="29" grpId="2" animBg="1"/>
      <p:bldP spid="31" grpId="0" animBg="1"/>
      <p:bldP spid="31" grpId="1" animBg="1"/>
      <p:bldP spid="31" grpId="2" animBg="1"/>
      <p:bldP spid="33" grpId="0" animBg="1"/>
      <p:bldP spid="33" grpId="1" animBg="1"/>
      <p:bldP spid="33" grpId="2" animBg="1"/>
      <p:bldP spid="34" grpId="0" animBg="1"/>
      <p:bldP spid="34" grpId="1" animBg="1"/>
      <p:bldP spid="34" grpId="2" animBg="1"/>
      <p:bldP spid="35" grpId="0" animBg="1"/>
      <p:bldP spid="35" grpId="1" animBg="1"/>
      <p:bldP spid="35" grpId="2" animBg="1"/>
      <p:bldP spid="36" grpId="0" animBg="1"/>
      <p:bldP spid="36" grpId="1" animBg="1"/>
      <p:bldP spid="36" grpId="2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3C378-CE12-EFA9-0F2D-063CE64A2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67B4C-4FBD-8EB8-4152-3F49392F3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LRU (Least Recently Used) Page Replacement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F758E-8439-6ED6-135A-9E68326A3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The </a:t>
            </a:r>
            <a:r>
              <a:rPr lang="en-US" b="1" dirty="0">
                <a:solidFill>
                  <a:schemeClr val="accent6"/>
                </a:solidFill>
              </a:rPr>
              <a:t>LRU </a:t>
            </a:r>
            <a:r>
              <a:rPr lang="en-US" b="1" dirty="0"/>
              <a:t>(</a:t>
            </a:r>
            <a:r>
              <a:rPr lang="en-US" b="1" dirty="0">
                <a:solidFill>
                  <a:schemeClr val="tx2"/>
                </a:solidFill>
              </a:rPr>
              <a:t>Least Recently Used</a:t>
            </a:r>
            <a:r>
              <a:rPr lang="en-US" b="1" dirty="0"/>
              <a:t>)</a:t>
            </a:r>
            <a:r>
              <a:rPr lang="en-US" dirty="0"/>
              <a:t> algorithm is a page replacement strategy that removes the </a:t>
            </a:r>
            <a:r>
              <a:rPr lang="en-US" b="1" dirty="0">
                <a:solidFill>
                  <a:schemeClr val="accent6"/>
                </a:solidFill>
              </a:rPr>
              <a:t>least recently accessed</a:t>
            </a:r>
            <a:r>
              <a:rPr lang="en-US" dirty="0">
                <a:solidFill>
                  <a:schemeClr val="accent6"/>
                </a:solidFill>
              </a:rPr>
              <a:t> </a:t>
            </a:r>
            <a:r>
              <a:rPr lang="en-US" dirty="0"/>
              <a:t>page when a new page needs to be loaded into memory (when a page fault occurs).</a:t>
            </a:r>
          </a:p>
          <a:p>
            <a:r>
              <a:rPr lang="en-US" b="1" dirty="0">
                <a:solidFill>
                  <a:schemeClr val="accent6"/>
                </a:solidFill>
              </a:rPr>
              <a:t>When a new page is referenced</a:t>
            </a:r>
            <a:r>
              <a:rPr lang="en-US" dirty="0"/>
              <a:t>:</a:t>
            </a:r>
          </a:p>
          <a:p>
            <a:pPr lvl="1"/>
            <a:r>
              <a:rPr lang="en-US" sz="2200" dirty="0"/>
              <a:t>If the page is already in memory (</a:t>
            </a:r>
            <a:r>
              <a:rPr lang="en-US" sz="2200" b="1" dirty="0">
                <a:solidFill>
                  <a:schemeClr val="tx2"/>
                </a:solidFill>
              </a:rPr>
              <a:t>hit</a:t>
            </a:r>
            <a:r>
              <a:rPr lang="en-US" sz="2200" dirty="0"/>
              <a:t>), update its "</a:t>
            </a:r>
            <a:r>
              <a:rPr lang="en-US" sz="2200" b="1" dirty="0">
                <a:solidFill>
                  <a:schemeClr val="accent6"/>
                </a:solidFill>
              </a:rPr>
              <a:t>last used</a:t>
            </a:r>
            <a:r>
              <a:rPr lang="en-US" sz="2200" dirty="0"/>
              <a:t>" time.</a:t>
            </a:r>
          </a:p>
          <a:p>
            <a:pPr lvl="1"/>
            <a:r>
              <a:rPr lang="en-US" sz="2200" dirty="0"/>
              <a:t>If the page is not in memory (</a:t>
            </a:r>
            <a:r>
              <a:rPr lang="en-US" sz="2200" b="1" dirty="0">
                <a:solidFill>
                  <a:schemeClr val="tx2"/>
                </a:solidFill>
              </a:rPr>
              <a:t>page fault</a:t>
            </a:r>
            <a:r>
              <a:rPr lang="en-US" sz="2200" dirty="0"/>
              <a:t>), replace the </a:t>
            </a:r>
            <a:r>
              <a:rPr lang="en-US" sz="2200" b="1" dirty="0">
                <a:solidFill>
                  <a:schemeClr val="accent6"/>
                </a:solidFill>
              </a:rPr>
              <a:t>least recently used</a:t>
            </a:r>
            <a:r>
              <a:rPr lang="en-US" sz="2200" dirty="0">
                <a:solidFill>
                  <a:schemeClr val="accent6"/>
                </a:solidFill>
              </a:rPr>
              <a:t> </a:t>
            </a:r>
            <a:r>
              <a:rPr lang="en-US" sz="2200" dirty="0"/>
              <a:t>page with the new one.</a:t>
            </a:r>
          </a:p>
          <a:p>
            <a:r>
              <a:rPr lang="en-US" dirty="0"/>
              <a:t>LRU </a:t>
            </a:r>
            <a:r>
              <a:rPr lang="en-US" b="1" dirty="0">
                <a:solidFill>
                  <a:schemeClr val="accent6"/>
                </a:solidFill>
              </a:rPr>
              <a:t>minimize</a:t>
            </a:r>
            <a:r>
              <a:rPr lang="en-US" dirty="0"/>
              <a:t> page faults by keeping frequently/recently used pages in memory.</a:t>
            </a:r>
          </a:p>
        </p:txBody>
      </p:sp>
    </p:spTree>
    <p:extLst>
      <p:ext uri="{BB962C8B-B14F-4D97-AF65-F5344CB8AC3E}">
        <p14:creationId xmlns:p14="http://schemas.microsoft.com/office/powerpoint/2010/main" val="3050985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822CA-9A88-0067-5EAC-527DA4063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D6D5D-605F-6FF7-3A0A-51DC3FE5E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LRU (Least Recently Used) Page Replacement Algorithm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8AE44B9-2703-BD49-CB99-B59FDB5A7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Page Reference String: </a:t>
            </a:r>
          </a:p>
          <a:p>
            <a:pPr lvl="1"/>
            <a:r>
              <a:rPr lang="en-US" sz="2200" spc="600" dirty="0"/>
              <a:t>4,7,6,1,7,6,1,2,7,2</a:t>
            </a:r>
          </a:p>
          <a:p>
            <a:pPr lvl="1"/>
            <a:r>
              <a:rPr lang="en-US" sz="2200" dirty="0"/>
              <a:t>Three frames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F114130-0A1B-6615-331D-2A213B827A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025027"/>
              </p:ext>
            </p:extLst>
          </p:nvPr>
        </p:nvGraphicFramePr>
        <p:xfrm>
          <a:off x="955144" y="2123917"/>
          <a:ext cx="7083969" cy="5403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82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40327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accent6"/>
                          </a:solidFill>
                        </a:rPr>
                        <a:t>Page</a:t>
                      </a:r>
                      <a:r>
                        <a:rPr lang="en-US" sz="2200" b="1" baseline="0" dirty="0">
                          <a:solidFill>
                            <a:schemeClr val="accent6"/>
                          </a:solidFill>
                        </a:rPr>
                        <a:t> Request</a:t>
                      </a:r>
                      <a:endParaRPr lang="en-US" sz="2200" b="1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C6DEDA0-63DB-ECD3-0112-8E52990BC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479276"/>
              </p:ext>
            </p:extLst>
          </p:nvPr>
        </p:nvGraphicFramePr>
        <p:xfrm>
          <a:off x="955144" y="2654498"/>
          <a:ext cx="7083969" cy="225973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2382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40517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Frame – 1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accent6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37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/>
                        <a:t>Frame – 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7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7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7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7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7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7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accent6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47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/>
                        <a:t>Frame –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accent6"/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172B88F-2F7F-EC48-1A95-7CC370BF4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117566"/>
              </p:ext>
            </p:extLst>
          </p:nvPr>
        </p:nvGraphicFramePr>
        <p:xfrm>
          <a:off x="955141" y="4919694"/>
          <a:ext cx="7083970" cy="711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accent6"/>
                          </a:solidFill>
                        </a:rPr>
                        <a:t>Page</a:t>
                      </a:r>
                      <a:r>
                        <a:rPr lang="en-US" sz="2200" b="1" baseline="0" dirty="0">
                          <a:solidFill>
                            <a:schemeClr val="accent6"/>
                          </a:solidFill>
                        </a:rPr>
                        <a:t> Faults (6)</a:t>
                      </a:r>
                      <a:endParaRPr lang="en-US" sz="22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2"/>
                          </a:solidFill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2"/>
                          </a:solidFill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2"/>
                          </a:solidFill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2"/>
                          </a:solidFill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2"/>
                          </a:solidFill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2"/>
                          </a:solidFill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2"/>
                          </a:solidFill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2"/>
                          </a:solidFill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2"/>
                          </a:solidFill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2"/>
                          </a:solidFill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8940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E4A5B-FD36-4463-F7C1-5BD935BBE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CE6E1-A8DF-E24E-D0F7-2EA607899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LRU (Least Recently Used) Page Replacement Algorithm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1FA476F-8AA1-6044-691C-0AB2B9011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878583"/>
            <a:ext cx="11929641" cy="5649046"/>
          </a:xfrm>
        </p:spPr>
        <p:txBody>
          <a:bodyPr/>
          <a:lstStyle/>
          <a:p>
            <a:r>
              <a:rPr lang="en-US" dirty="0"/>
              <a:t>Page Reference String: </a:t>
            </a:r>
          </a:p>
          <a:p>
            <a:pPr lvl="1"/>
            <a:r>
              <a:rPr lang="en-US" sz="2200" spc="600" dirty="0"/>
              <a:t>4,7,6,1,7,6,1,2,7,2</a:t>
            </a:r>
          </a:p>
          <a:p>
            <a:pPr lvl="1"/>
            <a:r>
              <a:rPr lang="en-US" sz="2200" dirty="0"/>
              <a:t>Three frames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6131ABC-6B76-483B-592F-A4B8959450C6}"/>
              </a:ext>
            </a:extLst>
          </p:cNvPr>
          <p:cNvGraphicFramePr>
            <a:graphicFrameLocks noGrp="1"/>
          </p:cNvGraphicFramePr>
          <p:nvPr/>
        </p:nvGraphicFramePr>
        <p:xfrm>
          <a:off x="1019969" y="2248428"/>
          <a:ext cx="8324056" cy="457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30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Page</a:t>
                      </a:r>
                      <a:r>
                        <a:rPr lang="en-US" sz="2400" baseline="0" dirty="0"/>
                        <a:t> Request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4FEDD49-67BD-EFFD-4D6B-6005E79FB3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858756"/>
              </p:ext>
            </p:extLst>
          </p:nvPr>
        </p:nvGraphicFramePr>
        <p:xfrm>
          <a:off x="1019969" y="2705152"/>
          <a:ext cx="832405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30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Frame – 1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Frame –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33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Frame –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643D492-9DD9-FC95-4F7D-657F50E2CA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8484936"/>
              </p:ext>
            </p:extLst>
          </p:nvPr>
        </p:nvGraphicFramePr>
        <p:xfrm>
          <a:off x="1019969" y="4078382"/>
          <a:ext cx="8324056" cy="426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30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chemeClr val="tx2"/>
                          </a:solidFill>
                        </a:rPr>
                        <a:t>Page</a:t>
                      </a:r>
                      <a:r>
                        <a:rPr lang="en-US" sz="2200" b="1" baseline="0" dirty="0">
                          <a:solidFill>
                            <a:schemeClr val="tx2"/>
                          </a:solidFill>
                        </a:rPr>
                        <a:t> Faults </a:t>
                      </a:r>
                      <a:r>
                        <a:rPr lang="en-US" sz="2200" b="1" baseline="0" dirty="0">
                          <a:solidFill>
                            <a:schemeClr val="accent6"/>
                          </a:solidFill>
                        </a:rPr>
                        <a:t>(6)</a:t>
                      </a:r>
                      <a:endParaRPr lang="en-US" sz="2200" b="1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2051C22-4A43-64FD-963A-CFA9BE6EB9EB}"/>
              </a:ext>
            </a:extLst>
          </p:cNvPr>
          <p:cNvCxnSpPr/>
          <p:nvPr/>
        </p:nvCxnSpPr>
        <p:spPr>
          <a:xfrm>
            <a:off x="3950494" y="1868772"/>
            <a:ext cx="1" cy="295965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FA985D6-6459-A415-747C-F62E68FEC3F2}"/>
              </a:ext>
            </a:extLst>
          </p:cNvPr>
          <p:cNvSpPr txBox="1"/>
          <p:nvPr/>
        </p:nvSpPr>
        <p:spPr>
          <a:xfrm>
            <a:off x="3729038" y="2248428"/>
            <a:ext cx="442914" cy="42672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1DD1B3F-A270-8FC2-0621-05AEC3C66F9F}"/>
              </a:ext>
            </a:extLst>
          </p:cNvPr>
          <p:cNvCxnSpPr/>
          <p:nvPr/>
        </p:nvCxnSpPr>
        <p:spPr>
          <a:xfrm>
            <a:off x="4486280" y="1868771"/>
            <a:ext cx="1" cy="295965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98863D8-AEB7-726C-2E77-AEFF6E2A66A4}"/>
              </a:ext>
            </a:extLst>
          </p:cNvPr>
          <p:cNvSpPr txBox="1"/>
          <p:nvPr/>
        </p:nvSpPr>
        <p:spPr>
          <a:xfrm>
            <a:off x="4329116" y="2263430"/>
            <a:ext cx="442914" cy="42672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D4134F9-09B3-2AF0-7A94-1F2A419D7FF6}"/>
              </a:ext>
            </a:extLst>
          </p:cNvPr>
          <p:cNvCxnSpPr/>
          <p:nvPr/>
        </p:nvCxnSpPr>
        <p:spPr>
          <a:xfrm>
            <a:off x="5079213" y="1868772"/>
            <a:ext cx="1" cy="295965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A77D4D2-CBE1-C116-8383-EF47F39AE69B}"/>
              </a:ext>
            </a:extLst>
          </p:cNvPr>
          <p:cNvSpPr txBox="1"/>
          <p:nvPr/>
        </p:nvSpPr>
        <p:spPr>
          <a:xfrm>
            <a:off x="4857757" y="2248428"/>
            <a:ext cx="442914" cy="42672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0A13B92-F429-BEFF-F951-E5CF54CCBF04}"/>
              </a:ext>
            </a:extLst>
          </p:cNvPr>
          <p:cNvCxnSpPr/>
          <p:nvPr/>
        </p:nvCxnSpPr>
        <p:spPr>
          <a:xfrm>
            <a:off x="5623220" y="1843252"/>
            <a:ext cx="1" cy="295965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DB278B4-2B7F-229B-F532-B594DE2BE3A5}"/>
              </a:ext>
            </a:extLst>
          </p:cNvPr>
          <p:cNvSpPr txBox="1"/>
          <p:nvPr/>
        </p:nvSpPr>
        <p:spPr>
          <a:xfrm>
            <a:off x="5401764" y="2222908"/>
            <a:ext cx="442914" cy="42672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8B91E55-CC00-C15A-4A6E-122F48DD20A1}"/>
              </a:ext>
            </a:extLst>
          </p:cNvPr>
          <p:cNvCxnSpPr/>
          <p:nvPr/>
        </p:nvCxnSpPr>
        <p:spPr>
          <a:xfrm>
            <a:off x="6228809" y="1832480"/>
            <a:ext cx="1" cy="295965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BE400CA-D05F-48E5-B3A9-C9E2318BE035}"/>
              </a:ext>
            </a:extLst>
          </p:cNvPr>
          <p:cNvSpPr txBox="1"/>
          <p:nvPr/>
        </p:nvSpPr>
        <p:spPr>
          <a:xfrm>
            <a:off x="6007353" y="2212136"/>
            <a:ext cx="442914" cy="42672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1764135-8AA9-9579-D8BF-6A0D3E6997D1}"/>
              </a:ext>
            </a:extLst>
          </p:cNvPr>
          <p:cNvCxnSpPr/>
          <p:nvPr/>
        </p:nvCxnSpPr>
        <p:spPr>
          <a:xfrm>
            <a:off x="6786566" y="1868772"/>
            <a:ext cx="1" cy="295965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EC3EB04-BAC6-2C54-9351-38291F29B6E3}"/>
              </a:ext>
            </a:extLst>
          </p:cNvPr>
          <p:cNvSpPr txBox="1"/>
          <p:nvPr/>
        </p:nvSpPr>
        <p:spPr>
          <a:xfrm>
            <a:off x="6565110" y="2248428"/>
            <a:ext cx="442914" cy="42672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8FA98EE-6A09-C134-D047-4B499BA43914}"/>
              </a:ext>
            </a:extLst>
          </p:cNvPr>
          <p:cNvCxnSpPr/>
          <p:nvPr/>
        </p:nvCxnSpPr>
        <p:spPr>
          <a:xfrm>
            <a:off x="7355853" y="1843252"/>
            <a:ext cx="1" cy="295965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E52985D-448F-2E78-ADD3-DC707AB7B5C8}"/>
              </a:ext>
            </a:extLst>
          </p:cNvPr>
          <p:cNvSpPr txBox="1"/>
          <p:nvPr/>
        </p:nvSpPr>
        <p:spPr>
          <a:xfrm>
            <a:off x="7134397" y="2222908"/>
            <a:ext cx="442914" cy="42672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C75097A-A647-B51E-9427-5F9730CFC2AE}"/>
              </a:ext>
            </a:extLst>
          </p:cNvPr>
          <p:cNvCxnSpPr/>
          <p:nvPr/>
        </p:nvCxnSpPr>
        <p:spPr>
          <a:xfrm>
            <a:off x="7936161" y="1844168"/>
            <a:ext cx="1" cy="295965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339E7BE-CFF4-DFA3-E141-104D7CE81928}"/>
              </a:ext>
            </a:extLst>
          </p:cNvPr>
          <p:cNvSpPr txBox="1"/>
          <p:nvPr/>
        </p:nvSpPr>
        <p:spPr>
          <a:xfrm>
            <a:off x="7714705" y="2223824"/>
            <a:ext cx="442914" cy="42672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E5F2D8A-92D6-4E5F-0709-65A56BBDE7D9}"/>
              </a:ext>
            </a:extLst>
          </p:cNvPr>
          <p:cNvCxnSpPr/>
          <p:nvPr/>
        </p:nvCxnSpPr>
        <p:spPr>
          <a:xfrm>
            <a:off x="8487332" y="1829165"/>
            <a:ext cx="1" cy="295965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AA33D9E-F685-792E-B995-6101D9BF925A}"/>
              </a:ext>
            </a:extLst>
          </p:cNvPr>
          <p:cNvSpPr txBox="1"/>
          <p:nvPr/>
        </p:nvSpPr>
        <p:spPr>
          <a:xfrm>
            <a:off x="8265875" y="2222908"/>
            <a:ext cx="442914" cy="42672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D2EBBFA-A2D0-DD7E-28DA-7D538A26D12E}"/>
              </a:ext>
            </a:extLst>
          </p:cNvPr>
          <p:cNvCxnSpPr/>
          <p:nvPr/>
        </p:nvCxnSpPr>
        <p:spPr>
          <a:xfrm>
            <a:off x="9085756" y="1832480"/>
            <a:ext cx="1" cy="295965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34E9670-C1E5-3513-B033-B6DF59D517A9}"/>
              </a:ext>
            </a:extLst>
          </p:cNvPr>
          <p:cNvSpPr txBox="1"/>
          <p:nvPr/>
        </p:nvSpPr>
        <p:spPr>
          <a:xfrm>
            <a:off x="8864300" y="2212136"/>
            <a:ext cx="442914" cy="42672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EC6F9ED-9DD9-D56D-70E9-44D1FFC110F0}"/>
              </a:ext>
            </a:extLst>
          </p:cNvPr>
          <p:cNvSpPr txBox="1"/>
          <p:nvPr/>
        </p:nvSpPr>
        <p:spPr>
          <a:xfrm>
            <a:off x="5401764" y="2730232"/>
            <a:ext cx="442914" cy="36933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212121"/>
                </a:solidFill>
              </a:defRPr>
            </a:lvl1pPr>
          </a:lstStyle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C4107AA-A804-FF48-79CC-A3F18E6DAF18}"/>
              </a:ext>
            </a:extLst>
          </p:cNvPr>
          <p:cNvSpPr txBox="1"/>
          <p:nvPr/>
        </p:nvSpPr>
        <p:spPr>
          <a:xfrm>
            <a:off x="7714704" y="3155215"/>
            <a:ext cx="442914" cy="42672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EA891BF-461C-DCC7-02CA-2D25728AA106}"/>
              </a:ext>
            </a:extLst>
          </p:cNvPr>
          <p:cNvSpPr txBox="1"/>
          <p:nvPr/>
        </p:nvSpPr>
        <p:spPr>
          <a:xfrm>
            <a:off x="8265875" y="3631895"/>
            <a:ext cx="442914" cy="36933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21212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2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75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6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80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1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97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8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0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1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3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7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41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2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60" dur="500" tmFilter="0, 0; .2, .5; .8, .5; 1, 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1" dur="250" autoRev="1" fill="hold"/>
                                        <p:tgtEl>
                                          <p:spTgt spid="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67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8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80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1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4" grpId="2" animBg="1"/>
      <p:bldP spid="16" grpId="0" animBg="1"/>
      <p:bldP spid="16" grpId="1" animBg="1"/>
      <p:bldP spid="16" grpId="2" animBg="1"/>
      <p:bldP spid="18" grpId="0" animBg="1"/>
      <p:bldP spid="18" grpId="1" animBg="1"/>
      <p:bldP spid="18" grpId="2" animBg="1"/>
      <p:bldP spid="20" grpId="0" animBg="1"/>
      <p:bldP spid="20" grpId="1" animBg="1"/>
      <p:bldP spid="20" grpId="2" animBg="1"/>
      <p:bldP spid="22" grpId="0" animBg="1"/>
      <p:bldP spid="22" grpId="1" animBg="1"/>
      <p:bldP spid="22" grpId="2" animBg="1"/>
      <p:bldP spid="24" grpId="0" animBg="1"/>
      <p:bldP spid="24" grpId="1" animBg="1"/>
      <p:bldP spid="24" grpId="2" animBg="1"/>
      <p:bldP spid="26" grpId="0" animBg="1"/>
      <p:bldP spid="26" grpId="1" animBg="1"/>
      <p:bldP spid="26" grpId="2" animBg="1"/>
      <p:bldP spid="28" grpId="0" animBg="1"/>
      <p:bldP spid="28" grpId="1" animBg="1"/>
      <p:bldP spid="28" grpId="2" animBg="1"/>
      <p:bldP spid="30" grpId="0" animBg="1"/>
      <p:bldP spid="30" grpId="1" animBg="1"/>
      <p:bldP spid="30" grpId="2" animBg="1"/>
      <p:bldP spid="32" grpId="0" animBg="1"/>
      <p:bldP spid="32" grpId="1" animBg="1"/>
      <p:bldP spid="32" grpId="2" animBg="1"/>
      <p:bldP spid="33" grpId="0" animBg="1"/>
      <p:bldP spid="33" grpId="1" animBg="1"/>
      <p:bldP spid="33" grpId="2" animBg="1"/>
      <p:bldP spid="34" grpId="0" animBg="1"/>
      <p:bldP spid="34" grpId="1" animBg="1"/>
      <p:bldP spid="34" grpId="2" animBg="1"/>
      <p:bldP spid="35" grpId="0" animBg="1"/>
      <p:bldP spid="35" grpId="1" animBg="1"/>
      <p:bldP spid="35" grpId="2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D2B07-010F-A884-EA6B-6B0502EBA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9675C-005E-393A-0E83-4915E42F4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Optimal Page Replacement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D2958-A25C-F608-598E-24215D548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The </a:t>
            </a:r>
            <a:r>
              <a:rPr lang="en-US" b="1" dirty="0">
                <a:solidFill>
                  <a:schemeClr val="accent6"/>
                </a:solidFill>
              </a:rPr>
              <a:t>Optimal Page Replacement </a:t>
            </a:r>
            <a:r>
              <a:rPr lang="en-US" b="1" dirty="0"/>
              <a:t>(</a:t>
            </a:r>
            <a:r>
              <a:rPr lang="en-US" b="1" dirty="0">
                <a:solidFill>
                  <a:schemeClr val="tx2"/>
                </a:solidFill>
              </a:rPr>
              <a:t>OPT</a:t>
            </a:r>
            <a:r>
              <a:rPr lang="en-US" b="1" dirty="0"/>
              <a:t>)</a:t>
            </a:r>
            <a:r>
              <a:rPr lang="en-US" dirty="0"/>
              <a:t> algorithm is a theoretical page replacement strategy that replaces the page that </a:t>
            </a:r>
            <a:r>
              <a:rPr lang="en-US" b="1" dirty="0">
                <a:solidFill>
                  <a:schemeClr val="accent6"/>
                </a:solidFill>
              </a:rPr>
              <a:t>will not be used for the longest time in the future</a:t>
            </a:r>
            <a:r>
              <a:rPr lang="en-US" dirty="0"/>
              <a:t>.</a:t>
            </a:r>
          </a:p>
          <a:p>
            <a:r>
              <a:rPr lang="en-US" dirty="0"/>
              <a:t>It guarantees the </a:t>
            </a:r>
            <a:r>
              <a:rPr lang="en-US" b="1" dirty="0">
                <a:solidFill>
                  <a:schemeClr val="accent6"/>
                </a:solidFill>
              </a:rPr>
              <a:t>minimum possible page faults</a:t>
            </a:r>
            <a:r>
              <a:rPr lang="en-US" dirty="0"/>
              <a:t>.</a:t>
            </a:r>
          </a:p>
          <a:p>
            <a:r>
              <a:rPr lang="en-US" dirty="0"/>
              <a:t>The only </a:t>
            </a:r>
            <a:r>
              <a:rPr lang="en-US" b="1" dirty="0">
                <a:solidFill>
                  <a:schemeClr val="accent6"/>
                </a:solidFill>
              </a:rPr>
              <a:t>problem</a:t>
            </a:r>
            <a:r>
              <a:rPr lang="en-US" dirty="0"/>
              <a:t> with this algorithm is that it is </a:t>
            </a:r>
            <a:r>
              <a:rPr lang="en-US" b="1" dirty="0">
                <a:solidFill>
                  <a:schemeClr val="accent6"/>
                </a:solidFill>
              </a:rPr>
              <a:t>unrealizable</a:t>
            </a:r>
            <a:r>
              <a:rPr lang="en-US" dirty="0"/>
              <a:t> because future references are unknown in real systems.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823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3FA24-02A3-4AD9-230C-0A11E511B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F7CD0-8F1E-7411-3695-3467F68B28BF}"/>
              </a:ext>
            </a:extLst>
          </p:cNvPr>
          <p:cNvSpPr txBox="1">
            <a:spLocks/>
          </p:cNvSpPr>
          <p:nvPr/>
        </p:nvSpPr>
        <p:spPr>
          <a:xfrm>
            <a:off x="0" y="498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Optimal Page Replacement Algorithm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B7295EE-A6F7-1C2B-9B29-08CFF6718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Page Reference String: </a:t>
            </a:r>
          </a:p>
          <a:p>
            <a:pPr lvl="1"/>
            <a:r>
              <a:rPr lang="en-US" sz="2200" spc="600" dirty="0"/>
              <a:t>4,7,6,1,7,6,1,2,7,2</a:t>
            </a:r>
          </a:p>
          <a:p>
            <a:pPr lvl="1"/>
            <a:r>
              <a:rPr lang="en-US" sz="2200" dirty="0"/>
              <a:t>Three frames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A1AC143-501C-5F6B-50EE-15D6B3795A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183035"/>
              </p:ext>
            </p:extLst>
          </p:nvPr>
        </p:nvGraphicFramePr>
        <p:xfrm>
          <a:off x="955144" y="2123917"/>
          <a:ext cx="7083969" cy="5403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82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40327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accent6"/>
                          </a:solidFill>
                        </a:rPr>
                        <a:t>Page</a:t>
                      </a:r>
                      <a:r>
                        <a:rPr lang="en-US" sz="2200" b="1" baseline="0" dirty="0">
                          <a:solidFill>
                            <a:schemeClr val="accent6"/>
                          </a:solidFill>
                        </a:rPr>
                        <a:t> Request</a:t>
                      </a:r>
                      <a:endParaRPr lang="en-US" sz="2200" b="1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C97EF83-EF2F-2732-2D77-51C39B259D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903466"/>
              </p:ext>
            </p:extLst>
          </p:nvPr>
        </p:nvGraphicFramePr>
        <p:xfrm>
          <a:off x="955144" y="2654498"/>
          <a:ext cx="7083969" cy="225973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2382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40517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Frame – 1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accent6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 smtClean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/>
                        <a:t>1</a:t>
                      </a:r>
                      <a:endParaRPr lang="en-US" sz="2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37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/>
                        <a:t>Frame – 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7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7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7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7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7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7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7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7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7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47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/>
                        <a:t>Frame –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2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70AB96D-3E3C-44B8-77C8-489E2C4F1B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290643"/>
              </p:ext>
            </p:extLst>
          </p:nvPr>
        </p:nvGraphicFramePr>
        <p:xfrm>
          <a:off x="955141" y="4919694"/>
          <a:ext cx="7083970" cy="711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456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accent6"/>
                          </a:solidFill>
                        </a:rPr>
                        <a:t>Page</a:t>
                      </a:r>
                      <a:r>
                        <a:rPr lang="en-US" sz="2200" b="1" baseline="0" dirty="0">
                          <a:solidFill>
                            <a:schemeClr val="accent6"/>
                          </a:solidFill>
                        </a:rPr>
                        <a:t> Faults (5)</a:t>
                      </a:r>
                      <a:endParaRPr lang="en-US" sz="22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2"/>
                          </a:solidFill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2"/>
                          </a:solidFill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2"/>
                          </a:solidFill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2"/>
                          </a:solidFill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2"/>
                          </a:solidFill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2"/>
                          </a:solidFill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2"/>
                          </a:solidFill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2"/>
                          </a:solidFill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2"/>
                          </a:solidFill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2"/>
                          </a:solidFill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8639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0D207-D667-D0D9-2D5B-3B7C74B40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CF62A-973E-7C8B-9B6B-A5AB049BA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Optimal Page Replacement Algorithm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94E4313-3D75-5AEB-5AA0-CC66CAD68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878583"/>
            <a:ext cx="11929641" cy="5649046"/>
          </a:xfrm>
        </p:spPr>
        <p:txBody>
          <a:bodyPr/>
          <a:lstStyle/>
          <a:p>
            <a:r>
              <a:rPr lang="en-US" dirty="0"/>
              <a:t>Page Reference String: </a:t>
            </a:r>
          </a:p>
          <a:p>
            <a:pPr lvl="1"/>
            <a:r>
              <a:rPr lang="en-US" sz="2200" spc="600" dirty="0"/>
              <a:t>4,7,6,1,7,6,1,2,7,2</a:t>
            </a:r>
          </a:p>
          <a:p>
            <a:pPr lvl="1"/>
            <a:r>
              <a:rPr lang="en-US" sz="2200" dirty="0"/>
              <a:t>Three frames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B9F4726-42B6-BC03-EB82-F72EC10ADB70}"/>
              </a:ext>
            </a:extLst>
          </p:cNvPr>
          <p:cNvGraphicFramePr>
            <a:graphicFrameLocks noGrp="1"/>
          </p:cNvGraphicFramePr>
          <p:nvPr/>
        </p:nvGraphicFramePr>
        <p:xfrm>
          <a:off x="1019969" y="2248428"/>
          <a:ext cx="8324056" cy="457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30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Page</a:t>
                      </a:r>
                      <a:r>
                        <a:rPr lang="en-US" sz="2400" baseline="0" dirty="0"/>
                        <a:t> Request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847533E-4631-46DC-DAF1-EFD3EBE3ED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385855"/>
              </p:ext>
            </p:extLst>
          </p:nvPr>
        </p:nvGraphicFramePr>
        <p:xfrm>
          <a:off x="1019969" y="2705152"/>
          <a:ext cx="832405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30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Frame – 1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Frame – 2</a:t>
                      </a:r>
                      <a:endParaRPr 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33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Frame – 3</a:t>
                      </a:r>
                      <a:endParaRPr 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E40C30C-D34E-1320-C555-27407A503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188570"/>
              </p:ext>
            </p:extLst>
          </p:nvPr>
        </p:nvGraphicFramePr>
        <p:xfrm>
          <a:off x="1019969" y="4078382"/>
          <a:ext cx="8324056" cy="426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30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939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chemeClr val="tx2"/>
                          </a:solidFill>
                        </a:rPr>
                        <a:t>Page</a:t>
                      </a:r>
                      <a:r>
                        <a:rPr lang="en-US" sz="2200" b="1" baseline="0" dirty="0">
                          <a:solidFill>
                            <a:schemeClr val="tx2"/>
                          </a:solidFill>
                        </a:rPr>
                        <a:t> Faults </a:t>
                      </a:r>
                      <a:r>
                        <a:rPr lang="en-US" sz="2200" b="1" baseline="0" dirty="0">
                          <a:solidFill>
                            <a:schemeClr val="accent6"/>
                          </a:solidFill>
                        </a:rPr>
                        <a:t>(5)</a:t>
                      </a:r>
                      <a:endParaRPr lang="en-US" sz="2200" b="1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E290005-FE51-4865-9459-8F4CC69DBC82}"/>
              </a:ext>
            </a:extLst>
          </p:cNvPr>
          <p:cNvCxnSpPr/>
          <p:nvPr/>
        </p:nvCxnSpPr>
        <p:spPr>
          <a:xfrm>
            <a:off x="3950494" y="1868772"/>
            <a:ext cx="1" cy="295965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145A001-50EB-F366-F1C6-5A2EECDC86F0}"/>
              </a:ext>
            </a:extLst>
          </p:cNvPr>
          <p:cNvSpPr txBox="1"/>
          <p:nvPr/>
        </p:nvSpPr>
        <p:spPr>
          <a:xfrm>
            <a:off x="3729038" y="2248428"/>
            <a:ext cx="442914" cy="42672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782BA41-9B2E-2235-83E8-AE904B1B74ED}"/>
              </a:ext>
            </a:extLst>
          </p:cNvPr>
          <p:cNvCxnSpPr/>
          <p:nvPr/>
        </p:nvCxnSpPr>
        <p:spPr>
          <a:xfrm>
            <a:off x="4486280" y="1868771"/>
            <a:ext cx="1" cy="295965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ED624AC-AEE0-14A6-BC1F-D00517C4EE4C}"/>
              </a:ext>
            </a:extLst>
          </p:cNvPr>
          <p:cNvSpPr txBox="1"/>
          <p:nvPr/>
        </p:nvSpPr>
        <p:spPr>
          <a:xfrm>
            <a:off x="4329116" y="2263430"/>
            <a:ext cx="442914" cy="42672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1E8E4BC-1A44-FCC8-32F9-7C4319DBFFEA}"/>
              </a:ext>
            </a:extLst>
          </p:cNvPr>
          <p:cNvCxnSpPr/>
          <p:nvPr/>
        </p:nvCxnSpPr>
        <p:spPr>
          <a:xfrm>
            <a:off x="5079213" y="1868772"/>
            <a:ext cx="1" cy="295965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B54541F-C4D4-BA4C-E6A7-1F775EFAD724}"/>
              </a:ext>
            </a:extLst>
          </p:cNvPr>
          <p:cNvSpPr txBox="1"/>
          <p:nvPr/>
        </p:nvSpPr>
        <p:spPr>
          <a:xfrm>
            <a:off x="4857757" y="2248428"/>
            <a:ext cx="442914" cy="42672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BFCC7CD-50C2-4F11-AADB-B78C784B7AE2}"/>
              </a:ext>
            </a:extLst>
          </p:cNvPr>
          <p:cNvCxnSpPr/>
          <p:nvPr/>
        </p:nvCxnSpPr>
        <p:spPr>
          <a:xfrm>
            <a:off x="5623220" y="1843252"/>
            <a:ext cx="1" cy="295965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D7E4807-55A3-2E3E-5850-6A9D7A789016}"/>
              </a:ext>
            </a:extLst>
          </p:cNvPr>
          <p:cNvSpPr txBox="1"/>
          <p:nvPr/>
        </p:nvSpPr>
        <p:spPr>
          <a:xfrm>
            <a:off x="5401764" y="2222908"/>
            <a:ext cx="442914" cy="42672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F0733E7-38FA-43EE-2EE8-A30B1CFB96E9}"/>
              </a:ext>
            </a:extLst>
          </p:cNvPr>
          <p:cNvCxnSpPr/>
          <p:nvPr/>
        </p:nvCxnSpPr>
        <p:spPr>
          <a:xfrm>
            <a:off x="6228809" y="1832480"/>
            <a:ext cx="1" cy="295965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32DBEB8-9957-A065-39BC-98611550E238}"/>
              </a:ext>
            </a:extLst>
          </p:cNvPr>
          <p:cNvSpPr txBox="1"/>
          <p:nvPr/>
        </p:nvSpPr>
        <p:spPr>
          <a:xfrm>
            <a:off x="6007353" y="2212136"/>
            <a:ext cx="442914" cy="42672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6C7A70D-C85F-E6DE-D5E0-ABCA3ABC57EE}"/>
              </a:ext>
            </a:extLst>
          </p:cNvPr>
          <p:cNvCxnSpPr/>
          <p:nvPr/>
        </p:nvCxnSpPr>
        <p:spPr>
          <a:xfrm>
            <a:off x="6786566" y="1868772"/>
            <a:ext cx="1" cy="295965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A1BF578-4223-7736-44AA-D7671F0D1CF0}"/>
              </a:ext>
            </a:extLst>
          </p:cNvPr>
          <p:cNvSpPr txBox="1"/>
          <p:nvPr/>
        </p:nvSpPr>
        <p:spPr>
          <a:xfrm>
            <a:off x="6565110" y="2248428"/>
            <a:ext cx="442914" cy="42672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064A45C-9931-9A37-F60F-0049FA789EC2}"/>
              </a:ext>
            </a:extLst>
          </p:cNvPr>
          <p:cNvCxnSpPr/>
          <p:nvPr/>
        </p:nvCxnSpPr>
        <p:spPr>
          <a:xfrm>
            <a:off x="7355853" y="1843252"/>
            <a:ext cx="1" cy="295965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B238C97-A620-6E95-B837-17D4B69B36AA}"/>
              </a:ext>
            </a:extLst>
          </p:cNvPr>
          <p:cNvSpPr txBox="1"/>
          <p:nvPr/>
        </p:nvSpPr>
        <p:spPr>
          <a:xfrm>
            <a:off x="7134397" y="2222908"/>
            <a:ext cx="442914" cy="42672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DFDBD89-BAEB-4864-BF4D-A6ACF5C4C6D8}"/>
              </a:ext>
            </a:extLst>
          </p:cNvPr>
          <p:cNvCxnSpPr/>
          <p:nvPr/>
        </p:nvCxnSpPr>
        <p:spPr>
          <a:xfrm>
            <a:off x="7936161" y="1844168"/>
            <a:ext cx="1" cy="295965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571101D-7648-C3A8-91F8-1C0FB5724759}"/>
              </a:ext>
            </a:extLst>
          </p:cNvPr>
          <p:cNvSpPr txBox="1"/>
          <p:nvPr/>
        </p:nvSpPr>
        <p:spPr>
          <a:xfrm>
            <a:off x="7714705" y="2223824"/>
            <a:ext cx="442914" cy="42672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B653C58-11E9-B569-9268-4A22BA9B540C}"/>
              </a:ext>
            </a:extLst>
          </p:cNvPr>
          <p:cNvCxnSpPr/>
          <p:nvPr/>
        </p:nvCxnSpPr>
        <p:spPr>
          <a:xfrm>
            <a:off x="8487332" y="1829165"/>
            <a:ext cx="1" cy="295965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5789085-C150-B1EB-81B3-3C23E440F06A}"/>
              </a:ext>
            </a:extLst>
          </p:cNvPr>
          <p:cNvSpPr txBox="1"/>
          <p:nvPr/>
        </p:nvSpPr>
        <p:spPr>
          <a:xfrm>
            <a:off x="8265875" y="2222908"/>
            <a:ext cx="442914" cy="42672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04C18EB-B2F7-5B3E-8ECE-3D92A6C67657}"/>
              </a:ext>
            </a:extLst>
          </p:cNvPr>
          <p:cNvCxnSpPr/>
          <p:nvPr/>
        </p:nvCxnSpPr>
        <p:spPr>
          <a:xfrm>
            <a:off x="9085756" y="1832480"/>
            <a:ext cx="1" cy="295965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791BC9A-A1CE-1070-9002-3B349484D25B}"/>
              </a:ext>
            </a:extLst>
          </p:cNvPr>
          <p:cNvSpPr txBox="1"/>
          <p:nvPr/>
        </p:nvSpPr>
        <p:spPr>
          <a:xfrm>
            <a:off x="8864300" y="2212136"/>
            <a:ext cx="442914" cy="42672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C19A93-012B-3D4E-3A68-C49F181F8A23}"/>
              </a:ext>
            </a:extLst>
          </p:cNvPr>
          <p:cNvSpPr txBox="1"/>
          <p:nvPr/>
        </p:nvSpPr>
        <p:spPr>
          <a:xfrm>
            <a:off x="5401764" y="2730232"/>
            <a:ext cx="442914" cy="36933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212121"/>
                </a:solidFill>
              </a:defRPr>
            </a:lvl1pPr>
          </a:lstStyle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79B9538-9066-1F0A-7501-807B92646398}"/>
              </a:ext>
            </a:extLst>
          </p:cNvPr>
          <p:cNvSpPr txBox="1"/>
          <p:nvPr/>
        </p:nvSpPr>
        <p:spPr>
          <a:xfrm>
            <a:off x="7714704" y="3610049"/>
            <a:ext cx="442914" cy="42672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121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962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2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75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6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80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1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97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8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0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1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3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7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41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2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58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9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71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2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4" grpId="2" animBg="1"/>
      <p:bldP spid="16" grpId="0" animBg="1"/>
      <p:bldP spid="16" grpId="1" animBg="1"/>
      <p:bldP spid="16" grpId="2" animBg="1"/>
      <p:bldP spid="18" grpId="0" animBg="1"/>
      <p:bldP spid="18" grpId="1" animBg="1"/>
      <p:bldP spid="18" grpId="2" animBg="1"/>
      <p:bldP spid="20" grpId="0" animBg="1"/>
      <p:bldP spid="20" grpId="1" animBg="1"/>
      <p:bldP spid="20" grpId="2" animBg="1"/>
      <p:bldP spid="22" grpId="0" animBg="1"/>
      <p:bldP spid="22" grpId="1" animBg="1"/>
      <p:bldP spid="22" grpId="2" animBg="1"/>
      <p:bldP spid="24" grpId="0" animBg="1"/>
      <p:bldP spid="24" grpId="1" animBg="1"/>
      <p:bldP spid="24" grpId="2" animBg="1"/>
      <p:bldP spid="26" grpId="0" animBg="1"/>
      <p:bldP spid="26" grpId="1" animBg="1"/>
      <p:bldP spid="26" grpId="2" animBg="1"/>
      <p:bldP spid="28" grpId="0" animBg="1"/>
      <p:bldP spid="28" grpId="1" animBg="1"/>
      <p:bldP spid="28" grpId="2" animBg="1"/>
      <p:bldP spid="30" grpId="0" animBg="1"/>
      <p:bldP spid="30" grpId="1" animBg="1"/>
      <p:bldP spid="30" grpId="2" animBg="1"/>
      <p:bldP spid="32" grpId="0" animBg="1"/>
      <p:bldP spid="32" grpId="1" animBg="1"/>
      <p:bldP spid="32" grpId="2" animBg="1"/>
      <p:bldP spid="33" grpId="0" animBg="1"/>
      <p:bldP spid="33" grpId="1" animBg="1"/>
      <p:bldP spid="33" grpId="2" animBg="1"/>
      <p:bldP spid="34" grpId="0" animBg="1"/>
      <p:bldP spid="34" grpId="1" animBg="1"/>
      <p:bldP spid="34" grpId="2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C0CF9-C341-388E-3A87-228AA1C8C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CCEFE-671E-9280-294F-8AACDC623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DF2A1-88AC-0C97-B226-AF76A8D0E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504811" cy="5590565"/>
          </a:xfrm>
        </p:spPr>
        <p:txBody>
          <a:bodyPr/>
          <a:lstStyle/>
          <a:p>
            <a:pPr marL="457200" indent="-457200">
              <a:lnSpc>
                <a:spcPct val="70000"/>
              </a:lnSpc>
              <a:buFont typeface="+mj-lt"/>
              <a:buAutoNum type="arabicPeriod"/>
            </a:pPr>
            <a:r>
              <a:rPr lang="en-US" dirty="0"/>
              <a:t>Given the following </a:t>
            </a:r>
            <a:r>
              <a:rPr lang="en-US" b="1" dirty="0">
                <a:solidFill>
                  <a:schemeClr val="accent6"/>
                </a:solidFill>
              </a:rPr>
              <a:t>Page Reference String</a:t>
            </a:r>
            <a:r>
              <a:rPr lang="en-US" dirty="0"/>
              <a:t>: </a:t>
            </a:r>
          </a:p>
          <a:p>
            <a:pPr marL="0" indent="0">
              <a:lnSpc>
                <a:spcPct val="70000"/>
              </a:lnSpc>
              <a:buNone/>
              <a:tabLst>
                <a:tab pos="447675" algn="l"/>
                <a:tab pos="541338" algn="l"/>
                <a:tab pos="625475" algn="l"/>
              </a:tabLst>
            </a:pPr>
            <a:r>
              <a:rPr lang="en-US" dirty="0"/>
              <a:t>      </a:t>
            </a:r>
            <a:r>
              <a:rPr lang="en-US" b="1" dirty="0"/>
              <a:t>7, 0, 1, 2, 0, 3, 0, 4, 2, 3, 0, 3, 2, </a:t>
            </a:r>
            <a:r>
              <a:rPr lang="en-US" b="1" dirty="0">
                <a:solidFill>
                  <a:schemeClr val="accent6"/>
                </a:solidFill>
              </a:rPr>
              <a:t>1</a:t>
            </a:r>
            <a:r>
              <a:rPr lang="en-US" b="1" dirty="0"/>
              <a:t>, 2, 0, 1, 7, 0, 1</a:t>
            </a:r>
          </a:p>
          <a:p>
            <a:pPr marL="0" indent="0">
              <a:lnSpc>
                <a:spcPct val="70000"/>
              </a:lnSpc>
              <a:buNone/>
              <a:tabLst>
                <a:tab pos="447675" algn="l"/>
                <a:tab pos="541338" algn="l"/>
                <a:tab pos="625475" algn="l"/>
              </a:tabLst>
            </a:pPr>
            <a:r>
              <a:rPr lang="en-US" dirty="0"/>
              <a:t>      And assuming a system with </a:t>
            </a:r>
            <a:r>
              <a:rPr lang="en-US" b="1" dirty="0">
                <a:solidFill>
                  <a:schemeClr val="accent6"/>
                </a:solidFill>
              </a:rPr>
              <a:t>3-page frames</a:t>
            </a:r>
            <a:r>
              <a:rPr lang="en-US" dirty="0"/>
              <a:t>, answer the following:</a:t>
            </a:r>
          </a:p>
          <a:p>
            <a:pPr marL="1346200" indent="-542925">
              <a:buFont typeface="+mj-lt"/>
              <a:buAutoNum type="romanUcPeriod"/>
            </a:pPr>
            <a:r>
              <a:rPr lang="en-US" dirty="0"/>
              <a:t>Simulate the </a:t>
            </a:r>
            <a:r>
              <a:rPr lang="en-US" b="1" dirty="0">
                <a:solidFill>
                  <a:schemeClr val="accent6"/>
                </a:solidFill>
              </a:rPr>
              <a:t>FIFO</a:t>
            </a:r>
            <a:r>
              <a:rPr lang="en-US" dirty="0"/>
              <a:t> (First-In-First-Out) page replacement algorithm and calculate the total number of page faults.</a:t>
            </a:r>
          </a:p>
          <a:p>
            <a:pPr marL="803275" indent="0">
              <a:buNone/>
            </a:pPr>
            <a:r>
              <a:rPr lang="en-US" b="1" dirty="0">
                <a:solidFill>
                  <a:schemeClr val="tx2"/>
                </a:solidFill>
              </a:rPr>
              <a:t>        Answer</a:t>
            </a:r>
            <a:r>
              <a:rPr lang="en-US" dirty="0"/>
              <a:t>: Total Page faults occurs: </a:t>
            </a:r>
            <a:r>
              <a:rPr lang="en-US" b="1" dirty="0"/>
              <a:t>15</a:t>
            </a:r>
            <a:endParaRPr lang="en-US" dirty="0"/>
          </a:p>
          <a:p>
            <a:pPr marL="1346200" indent="-542925">
              <a:buFont typeface="+mj-lt"/>
              <a:buAutoNum type="romanUcPeriod" startAt="2"/>
            </a:pPr>
            <a:r>
              <a:rPr lang="en-US" dirty="0"/>
              <a:t>Simulate the </a:t>
            </a:r>
            <a:r>
              <a:rPr lang="en-US" b="1" dirty="0">
                <a:solidFill>
                  <a:schemeClr val="accent6"/>
                </a:solidFill>
              </a:rPr>
              <a:t>LRU</a:t>
            </a:r>
            <a:r>
              <a:rPr lang="en-US" dirty="0"/>
              <a:t> (Least Recently Used) page replacement algorithm and calculate the total number of page faults.</a:t>
            </a:r>
          </a:p>
          <a:p>
            <a:pPr marL="803275" indent="0">
              <a:buNone/>
            </a:pPr>
            <a:r>
              <a:rPr lang="en-US" dirty="0"/>
              <a:t>        </a:t>
            </a:r>
            <a:r>
              <a:rPr lang="en-US" b="1" dirty="0">
                <a:solidFill>
                  <a:schemeClr val="tx2"/>
                </a:solidFill>
              </a:rPr>
              <a:t>Answer</a:t>
            </a:r>
            <a:r>
              <a:rPr lang="en-US" dirty="0"/>
              <a:t>: Total Page faults occurs: </a:t>
            </a:r>
            <a:r>
              <a:rPr lang="en-US" b="1" dirty="0"/>
              <a:t>12</a:t>
            </a:r>
          </a:p>
          <a:p>
            <a:pPr marL="457200" indent="-457200">
              <a:lnSpc>
                <a:spcPct val="70000"/>
              </a:lnSpc>
              <a:buFont typeface="+mj-lt"/>
              <a:buAutoNum type="arabicPeriod" startAt="2"/>
            </a:pPr>
            <a:r>
              <a:rPr lang="en-US" b="1" dirty="0"/>
              <a:t>7, 0, 1, 2, 0, 3, 0, 4, 2, 3, 0, 3, 2, </a:t>
            </a:r>
            <a:r>
              <a:rPr lang="en-US" b="1" dirty="0">
                <a:solidFill>
                  <a:schemeClr val="accent6"/>
                </a:solidFill>
              </a:rPr>
              <a:t>0</a:t>
            </a:r>
            <a:r>
              <a:rPr lang="en-US" b="1" dirty="0"/>
              <a:t>, 2, 0, 1, 7, 0, 1 (Given </a:t>
            </a:r>
            <a:r>
              <a:rPr lang="en-US" b="1" dirty="0">
                <a:solidFill>
                  <a:schemeClr val="accent6"/>
                </a:solidFill>
              </a:rPr>
              <a:t>Page Reference String</a:t>
            </a:r>
            <a:r>
              <a:rPr lang="en-US" b="1" dirty="0"/>
              <a:t>)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/>
              <a:t>      And assuming a system with </a:t>
            </a:r>
            <a:r>
              <a:rPr lang="en-US" b="1" dirty="0">
                <a:solidFill>
                  <a:schemeClr val="accent6"/>
                </a:solidFill>
              </a:rPr>
              <a:t>3-page frames</a:t>
            </a:r>
            <a:r>
              <a:rPr lang="en-US" dirty="0"/>
              <a:t>, answer the following:</a:t>
            </a:r>
          </a:p>
          <a:p>
            <a:pPr marL="1346200" indent="-542925">
              <a:buFont typeface="+mj-lt"/>
              <a:buAutoNum type="romanUcPeriod" startAt="3"/>
            </a:pPr>
            <a:r>
              <a:rPr lang="en-US" dirty="0"/>
              <a:t>Simulate the </a:t>
            </a:r>
            <a:r>
              <a:rPr lang="en-US" b="1" dirty="0">
                <a:solidFill>
                  <a:schemeClr val="accent6"/>
                </a:solidFill>
              </a:rPr>
              <a:t>Optimal</a:t>
            </a:r>
            <a:r>
              <a:rPr lang="en-US" dirty="0"/>
              <a:t> page replacement algorithm and calculate the total number of page faults.</a:t>
            </a:r>
          </a:p>
          <a:p>
            <a:pPr marL="803275" indent="0">
              <a:buNone/>
            </a:pPr>
            <a:r>
              <a:rPr lang="en-US" b="1" dirty="0">
                <a:solidFill>
                  <a:schemeClr val="tx2"/>
                </a:solidFill>
              </a:rPr>
              <a:t>        Answer</a:t>
            </a:r>
            <a:r>
              <a:rPr lang="en-US" dirty="0"/>
              <a:t>: Total Page faults occurs: </a:t>
            </a:r>
            <a:r>
              <a:rPr lang="en-US" b="1" dirty="0"/>
              <a:t>9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582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C11A93E-8AF4-BE4E-2258-E7D01402C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FIFO Page Replacement Algorithm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B394BB4-EB91-243E-CB67-783B321BC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Page Reference String: </a:t>
            </a:r>
          </a:p>
          <a:p>
            <a:pPr lvl="1"/>
            <a:r>
              <a:rPr lang="en-US" dirty="0"/>
              <a:t>7, 0, 1, 2, 0, 3, 0, 4, 2, 3, 0, 3, 2, 1, 2, 0, 1, 7, 0, 1</a:t>
            </a:r>
          </a:p>
          <a:p>
            <a:pPr lvl="1"/>
            <a:r>
              <a:rPr lang="en-US" dirty="0"/>
              <a:t>Three frames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45E2BB4-8318-3A13-C600-86A70A9EDD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565957"/>
              </p:ext>
            </p:extLst>
          </p:nvPr>
        </p:nvGraphicFramePr>
        <p:xfrm>
          <a:off x="1019969" y="2248428"/>
          <a:ext cx="10112497" cy="457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973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Page</a:t>
                      </a:r>
                      <a:r>
                        <a:rPr lang="en-US" sz="2400" baseline="0" dirty="0"/>
                        <a:t> Request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F6DA3A7-6523-E705-EEEE-D207B9E742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53137"/>
              </p:ext>
            </p:extLst>
          </p:nvPr>
        </p:nvGraphicFramePr>
        <p:xfrm>
          <a:off x="1019969" y="2705152"/>
          <a:ext cx="10112499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97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Frame – 1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Frame – 2</a:t>
                      </a:r>
                      <a:endParaRPr 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33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Frame – 3</a:t>
                      </a:r>
                      <a:endParaRPr 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0A10037-BDE5-1CCF-4AB4-EFDDF2B0FD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255684"/>
              </p:ext>
            </p:extLst>
          </p:nvPr>
        </p:nvGraphicFramePr>
        <p:xfrm>
          <a:off x="1010722" y="4081117"/>
          <a:ext cx="10112499" cy="457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97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410757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Page</a:t>
                      </a:r>
                      <a:r>
                        <a:rPr lang="en-US" sz="2000" b="0" baseline="0" dirty="0">
                          <a:solidFill>
                            <a:schemeClr val="tx1"/>
                          </a:solidFill>
                        </a:rPr>
                        <a:t> Faults </a:t>
                      </a:r>
                      <a:r>
                        <a:rPr lang="en-US" sz="2000" b="1" baseline="0" dirty="0">
                          <a:solidFill>
                            <a:schemeClr val="accent6"/>
                          </a:solidFill>
                        </a:rPr>
                        <a:t>(15)</a:t>
                      </a:r>
                      <a:endParaRPr lang="en-US" sz="2000" b="1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0098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0BF0BC9-8E23-71FF-A5FD-FFBE16998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LRU (Least Recently Used) Page Replacement Algorithm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46C5CC6-E82A-63ED-956A-4E2AF89D9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Page Reference String: </a:t>
            </a:r>
          </a:p>
          <a:p>
            <a:pPr lvl="1"/>
            <a:r>
              <a:rPr lang="en-US" dirty="0"/>
              <a:t>7, 0, 1, 2, 0, 3, 0, 4, 2, 3, 0, 3, 2, 1, 2, 0, 1, 7, 0, 1</a:t>
            </a:r>
          </a:p>
          <a:p>
            <a:pPr lvl="1"/>
            <a:r>
              <a:rPr lang="en-US" dirty="0"/>
              <a:t>Three frames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3FD5681-05F9-1FFE-9BAF-D70D0F059D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456824"/>
              </p:ext>
            </p:extLst>
          </p:nvPr>
        </p:nvGraphicFramePr>
        <p:xfrm>
          <a:off x="1019969" y="2248428"/>
          <a:ext cx="10301180" cy="457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932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Page</a:t>
                      </a:r>
                      <a:r>
                        <a:rPr lang="en-US" sz="2400" baseline="0" dirty="0"/>
                        <a:t> Request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A9C3184-B8E1-6620-7CDF-AFA3306E3E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399114"/>
              </p:ext>
            </p:extLst>
          </p:nvPr>
        </p:nvGraphicFramePr>
        <p:xfrm>
          <a:off x="1019969" y="2705152"/>
          <a:ext cx="10301180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32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Frame – 1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Frame – 2</a:t>
                      </a:r>
                      <a:endParaRPr 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33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Frame – 3</a:t>
                      </a:r>
                      <a:endParaRPr 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8CBA694-B0DB-39CA-7A74-1E9629C1E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224797"/>
              </p:ext>
            </p:extLst>
          </p:nvPr>
        </p:nvGraphicFramePr>
        <p:xfrm>
          <a:off x="1019969" y="4089192"/>
          <a:ext cx="10301180" cy="457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95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418421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Page</a:t>
                      </a:r>
                      <a:r>
                        <a:rPr lang="en-US" sz="1800" b="0" baseline="0" dirty="0">
                          <a:solidFill>
                            <a:schemeClr val="tx1"/>
                          </a:solidFill>
                        </a:rPr>
                        <a:t> Faults </a:t>
                      </a:r>
                      <a:r>
                        <a:rPr lang="en-US" sz="1800" b="1" baseline="0" dirty="0">
                          <a:solidFill>
                            <a:schemeClr val="accent6"/>
                          </a:solidFill>
                        </a:rPr>
                        <a:t>(12)</a:t>
                      </a:r>
                      <a:endParaRPr lang="en-US" sz="1800" b="1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0846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9CC658C-E349-7C78-6D0B-602FD9827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Optimal Page Replacement Algorithm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6F2565B-4456-9035-6322-AE41F5E84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Page Reference String: </a:t>
            </a:r>
          </a:p>
          <a:p>
            <a:pPr lvl="1"/>
            <a:r>
              <a:rPr lang="en-US" dirty="0"/>
              <a:t>7, 0, 1, 2, 0, 3, 0, 4, 2, 3, 0, 3, 2, 0, 2, 0, 1, 7, 0, 1</a:t>
            </a:r>
          </a:p>
          <a:p>
            <a:pPr lvl="1"/>
            <a:r>
              <a:rPr lang="en-US" dirty="0"/>
              <a:t>Three frames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F57A0D5-86E7-86BE-8BF4-00AE8034B3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073061"/>
              </p:ext>
            </p:extLst>
          </p:nvPr>
        </p:nvGraphicFramePr>
        <p:xfrm>
          <a:off x="1019969" y="2248428"/>
          <a:ext cx="10402782" cy="457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951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Page</a:t>
                      </a:r>
                      <a:r>
                        <a:rPr lang="en-US" sz="2400" baseline="0" dirty="0"/>
                        <a:t> Request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16E5BAB-6B1D-4BE1-FA8F-4346C8166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884828"/>
              </p:ext>
            </p:extLst>
          </p:nvPr>
        </p:nvGraphicFramePr>
        <p:xfrm>
          <a:off x="1019969" y="2705152"/>
          <a:ext cx="10402783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18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Frame – 1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Frame – 2</a:t>
                      </a:r>
                      <a:endParaRPr 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33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Frame – 3</a:t>
                      </a:r>
                      <a:endParaRPr 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D96CCCB-A55E-F330-2D95-AC27501E14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920856"/>
              </p:ext>
            </p:extLst>
          </p:nvPr>
        </p:nvGraphicFramePr>
        <p:xfrm>
          <a:off x="1019969" y="4079803"/>
          <a:ext cx="10402783" cy="457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9518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422548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100" b="0" dirty="0">
                          <a:solidFill>
                            <a:schemeClr val="tx1"/>
                          </a:solidFill>
                        </a:rPr>
                        <a:t>Page</a:t>
                      </a:r>
                      <a:r>
                        <a:rPr lang="en-US" sz="2100" b="0" baseline="0" dirty="0">
                          <a:solidFill>
                            <a:schemeClr val="tx1"/>
                          </a:solidFill>
                        </a:rPr>
                        <a:t> Faults </a:t>
                      </a:r>
                      <a:r>
                        <a:rPr lang="en-US" sz="2100" b="1" baseline="0" dirty="0">
                          <a:solidFill>
                            <a:schemeClr val="accent6"/>
                          </a:solidFill>
                        </a:rPr>
                        <a:t>(9)</a:t>
                      </a:r>
                      <a:endParaRPr lang="en-US" sz="2100" b="1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6384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Virtual Memory: Basics of Virtual Memory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337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Virtual Memory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Memory is </a:t>
            </a:r>
            <a:r>
              <a:rPr lang="en-US" b="1" dirty="0">
                <a:solidFill>
                  <a:schemeClr val="accent6"/>
                </a:solidFill>
              </a:rPr>
              <a:t>hardware that your computer uses to load the operating system and run programs</a:t>
            </a:r>
            <a:r>
              <a:rPr lang="en-US" dirty="0"/>
              <a:t>. </a:t>
            </a:r>
          </a:p>
          <a:p>
            <a:r>
              <a:rPr lang="en-US" dirty="0"/>
              <a:t>Computer </a:t>
            </a:r>
            <a:r>
              <a:rPr lang="en-US" b="1" dirty="0">
                <a:solidFill>
                  <a:schemeClr val="accent6"/>
                </a:solidFill>
              </a:rPr>
              <a:t>consists of one or more RAM chips </a:t>
            </a:r>
            <a:r>
              <a:rPr lang="en-US" dirty="0"/>
              <a:t>that each have several memory modules. </a:t>
            </a:r>
          </a:p>
          <a:p>
            <a:r>
              <a:rPr lang="en-US" dirty="0"/>
              <a:t>The amount of real </a:t>
            </a:r>
            <a:r>
              <a:rPr lang="en-US" b="1" dirty="0">
                <a:solidFill>
                  <a:schemeClr val="accent6"/>
                </a:solidFill>
              </a:rPr>
              <a:t>memory in a computer is limited </a:t>
            </a:r>
            <a:r>
              <a:rPr lang="en-US" dirty="0"/>
              <a:t>to the amount of RAM installed. Common memory sizes are </a:t>
            </a:r>
            <a:r>
              <a:rPr lang="en-US" b="1" dirty="0">
                <a:solidFill>
                  <a:schemeClr val="accent6"/>
                </a:solidFill>
              </a:rPr>
              <a:t>1GB, 2GB, and 4GB</a:t>
            </a:r>
            <a:r>
              <a:rPr lang="en-US" dirty="0"/>
              <a:t>.</a:t>
            </a:r>
          </a:p>
          <a:p>
            <a:r>
              <a:rPr lang="en-US" dirty="0"/>
              <a:t>Because your computer has a finite amount of RAM, </a:t>
            </a:r>
            <a:r>
              <a:rPr lang="en-US" b="1" dirty="0">
                <a:solidFill>
                  <a:schemeClr val="accent6"/>
                </a:solidFill>
              </a:rPr>
              <a:t>it is possible to run out of memory when too many programs are running at one time</a:t>
            </a:r>
            <a:r>
              <a:rPr lang="en-US" dirty="0"/>
              <a:t>. </a:t>
            </a:r>
          </a:p>
          <a:p>
            <a:r>
              <a:rPr lang="en-US" dirty="0"/>
              <a:t>This is where </a:t>
            </a:r>
            <a:r>
              <a:rPr lang="en-US" b="1" dirty="0">
                <a:solidFill>
                  <a:schemeClr val="accent6"/>
                </a:solidFill>
              </a:rPr>
              <a:t>virtual memory comes into the picture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21803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Virtual Memory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7627365" cy="5590565"/>
          </a:xfrm>
        </p:spPr>
        <p:txBody>
          <a:bodyPr/>
          <a:lstStyle/>
          <a:p>
            <a:r>
              <a:rPr lang="en-US" dirty="0"/>
              <a:t>Virtual Memory is a </a:t>
            </a:r>
            <a:r>
              <a:rPr lang="en-US" b="1" dirty="0">
                <a:solidFill>
                  <a:schemeClr val="accent6"/>
                </a:solidFill>
              </a:rPr>
              <a:t>storage mechanism </a:t>
            </a:r>
            <a:r>
              <a:rPr lang="en-US" dirty="0"/>
              <a:t>which offers user an </a:t>
            </a:r>
            <a:r>
              <a:rPr lang="en-US" b="1" dirty="0">
                <a:solidFill>
                  <a:schemeClr val="accent6"/>
                </a:solidFill>
              </a:rPr>
              <a:t>illusion of having a very big main memory.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/>
              <a:t>When the </a:t>
            </a:r>
            <a:r>
              <a:rPr lang="en-US" b="1" dirty="0">
                <a:solidFill>
                  <a:schemeClr val="accent6"/>
                </a:solidFill>
              </a:rPr>
              <a:t>RAM becomes full</a:t>
            </a:r>
            <a:r>
              <a:rPr lang="en-US" dirty="0"/>
              <a:t>, the OS temporarily moves some data from RAM to the hard disk/SSD</a:t>
            </a:r>
            <a:r>
              <a:rPr lang="en-US" dirty="0" smtClean="0"/>
              <a:t>. This </a:t>
            </a:r>
            <a:r>
              <a:rPr lang="en-US" dirty="0"/>
              <a:t>disk space used as extra memory is called </a:t>
            </a:r>
            <a:r>
              <a:rPr lang="en-US" b="1" dirty="0">
                <a:solidFill>
                  <a:schemeClr val="accent6"/>
                </a:solidFill>
              </a:rPr>
              <a:t>virtual memory</a:t>
            </a:r>
            <a:r>
              <a:rPr lang="en-US" dirty="0"/>
              <a:t>.</a:t>
            </a:r>
          </a:p>
          <a:p>
            <a:r>
              <a:rPr lang="en-US" dirty="0"/>
              <a:t>It is done by treating a part of secondary memory as the main memory. </a:t>
            </a:r>
          </a:p>
          <a:p>
            <a:r>
              <a:rPr lang="en-US" dirty="0"/>
              <a:t>In Virtual memory, the user can store processes with a bigger size than the available main memory. </a:t>
            </a:r>
          </a:p>
          <a:p>
            <a:r>
              <a:rPr lang="en-US" dirty="0"/>
              <a:t>Instead of loading one long process in the main memory, the OS loads the various parts of more than one process in the main memory.</a:t>
            </a:r>
          </a:p>
        </p:txBody>
      </p:sp>
      <p:graphicFrame>
        <p:nvGraphicFramePr>
          <p:cNvPr id="4" name="Content Placeholder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5291075"/>
              </p:ext>
            </p:extLst>
          </p:nvPr>
        </p:nvGraphicFramePr>
        <p:xfrm>
          <a:off x="8669641" y="842531"/>
          <a:ext cx="1066800" cy="45643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7177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RAM</a:t>
                      </a:r>
                    </a:p>
                  </a:txBody>
                  <a:tcPr anchor="ctr">
                    <a:solidFill>
                      <a:srgbClr val="D6B5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55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RAM</a:t>
                      </a:r>
                    </a:p>
                  </a:txBody>
                  <a:tcPr anchor="ctr">
                    <a:solidFill>
                      <a:srgbClr val="D6B5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56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HDD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97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RAM</a:t>
                      </a:r>
                    </a:p>
                  </a:txBody>
                  <a:tcPr anchor="ctr">
                    <a:solidFill>
                      <a:srgbClr val="D6B5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148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HDD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Content Placeholder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6647409"/>
              </p:ext>
            </p:extLst>
          </p:nvPr>
        </p:nvGraphicFramePr>
        <p:xfrm>
          <a:off x="10498441" y="842531"/>
          <a:ext cx="1066800" cy="3749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Another</a:t>
                      </a:r>
                    </a:p>
                    <a:p>
                      <a:pPr algn="ctr"/>
                      <a:r>
                        <a:rPr lang="en-US" dirty="0"/>
                        <a:t>Process’s</a:t>
                      </a:r>
                    </a:p>
                    <a:p>
                      <a:pPr algn="ctr"/>
                      <a:r>
                        <a:rPr lang="en-US" dirty="0"/>
                        <a:t>Memory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2" descr="Image result for hard dis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10497507" y="4957331"/>
            <a:ext cx="1143934" cy="848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>
            <a:off x="9736441" y="1179716"/>
            <a:ext cx="761066" cy="577215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9743584" y="1071131"/>
            <a:ext cx="753923" cy="619125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9743584" y="2557031"/>
            <a:ext cx="907257" cy="2612464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9736441" y="3465716"/>
            <a:ext cx="761066" cy="387169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endCxn id="6" idx="1"/>
          </p:cNvCxnSpPr>
          <p:nvPr/>
        </p:nvCxnSpPr>
        <p:spPr>
          <a:xfrm>
            <a:off x="9743584" y="4587999"/>
            <a:ext cx="753923" cy="79366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07524" y="4587999"/>
            <a:ext cx="723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1344" y="5805987"/>
            <a:ext cx="723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HDD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1052" y="5455929"/>
            <a:ext cx="1523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Virtual Address space</a:t>
            </a:r>
          </a:p>
        </p:txBody>
      </p:sp>
    </p:spTree>
    <p:extLst>
      <p:ext uri="{BB962C8B-B14F-4D97-AF65-F5344CB8AC3E}">
        <p14:creationId xmlns:p14="http://schemas.microsoft.com/office/powerpoint/2010/main" val="3159741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Benefits of </a:t>
            </a:r>
            <a:r>
              <a:rPr lang="en-US" sz="3200" dirty="0" smtClean="0"/>
              <a:t>Virtual Memory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Large programs can be written</a:t>
            </a:r>
            <a:r>
              <a:rPr lang="en-US" dirty="0"/>
              <a:t>, as virtual space available is huge compared to physical memory.</a:t>
            </a:r>
          </a:p>
          <a:p>
            <a:r>
              <a:rPr lang="en-US" dirty="0" smtClean="0"/>
              <a:t>Less </a:t>
            </a:r>
            <a:r>
              <a:rPr lang="en-US" dirty="0"/>
              <a:t>I/O required, leads to </a:t>
            </a:r>
            <a:r>
              <a:rPr lang="en-US" b="1" dirty="0">
                <a:solidFill>
                  <a:schemeClr val="accent6"/>
                </a:solidFill>
              </a:rPr>
              <a:t>faster and easy swapping </a:t>
            </a:r>
            <a:r>
              <a:rPr lang="en-US" dirty="0"/>
              <a:t>of processes.</a:t>
            </a:r>
          </a:p>
          <a:p>
            <a:r>
              <a:rPr lang="en-US" dirty="0" smtClean="0"/>
              <a:t>More </a:t>
            </a:r>
            <a:r>
              <a:rPr lang="en-US" dirty="0"/>
              <a:t>physical memory available, as programs are stored on virtual memory, so they </a:t>
            </a:r>
            <a:r>
              <a:rPr lang="en-US" b="1" dirty="0">
                <a:solidFill>
                  <a:schemeClr val="accent6"/>
                </a:solidFill>
              </a:rPr>
              <a:t>occupy very less space </a:t>
            </a:r>
            <a:r>
              <a:rPr lang="en-US" dirty="0"/>
              <a:t>on actual physical memory.</a:t>
            </a:r>
          </a:p>
        </p:txBody>
      </p:sp>
    </p:spTree>
    <p:extLst>
      <p:ext uri="{BB962C8B-B14F-4D97-AF65-F5344CB8AC3E}">
        <p14:creationId xmlns:p14="http://schemas.microsoft.com/office/powerpoint/2010/main" val="3533947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E506F-75B1-DE8F-86C5-2C2E16DB1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4F197-3565-9376-D48E-5471FECD2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Frequently asked Questions in Exam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90E99-4450-ADCA-10EF-4853AA9AD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16789"/>
            <a:ext cx="11929641" cy="5590565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What is Memory? Explain types of memory in brief.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State the difference between Logical Address and Physical Address.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Explain fixed (static) partition memory allocation technique with a suitable example.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Explain variable (dynamic) partition memory allocation technique with a suitable example.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Describe swapping technique with suitable example.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Discuss Non-contagious memory allocation with simple example.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Explain Paging technique with a suitable example.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Explain Segmentation technique with a suitable example.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Explain memory allocation strategies with a proper example.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	                                        </a:t>
            </a:r>
            <a:r>
              <a:rPr lang="en-US" b="1" dirty="0"/>
              <a:t>OR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       Explain First Fit, Next Fit, Best Fit and Worst Fit with a suitable examples.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56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BABE2-F684-3761-0AFC-A61E68E41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29F47-2083-E2AC-426A-A736A35B5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Frequently asked Questions in Exam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F6215-0F80-EAB6-C919-CF36443DC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16789"/>
            <a:ext cx="11929641" cy="5590565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buFont typeface="+mj-lt"/>
              <a:buAutoNum type="arabicPeriod" startAt="10"/>
            </a:pPr>
            <a:r>
              <a:rPr lang="en-US" dirty="0"/>
              <a:t>Explain FIFO page replacement algorithm with suitable example.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10"/>
            </a:pPr>
            <a:r>
              <a:rPr lang="en-US" dirty="0"/>
              <a:t>Explain LRU page replacement algorithm with suitable example.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10"/>
            </a:pPr>
            <a:r>
              <a:rPr lang="en-US" dirty="0"/>
              <a:t>Explain Optimal page replacement algorithm with suitable example.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10"/>
            </a:pPr>
            <a:r>
              <a:rPr lang="en-US" dirty="0"/>
              <a:t>Consider page reference string 1, 3, 0, 3, 5, 6, 3 with 3-page frames. Find the number of page faults using FIFO Page Replacement Algorithm.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10"/>
            </a:pPr>
            <a:r>
              <a:rPr lang="en-US" dirty="0"/>
              <a:t>Consider Page Reference String 3, 1, 2, 1, 4, 5, 4, 3, 2 with 3-page frames. Find the number of page faults using LRU page replacement algorithm.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10"/>
            </a:pPr>
            <a:r>
              <a:rPr lang="en-US" dirty="0"/>
              <a:t>Consider the page reference string 7, 0, 1, 2, 0, 3, 0, 4, 2, 3, 0, 3, 2, 3 with 4-page frames. Find number of page faults using LRU Page Replacement Algorithm.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10"/>
            </a:pPr>
            <a:r>
              <a:rPr lang="en-US" dirty="0"/>
              <a:t>Consider the page references 7, 0, 1, 2, 0, 3, 0, 4, 2, 3, 0, 3, 2, 3 with 4-page frame. Find number of page fault using Optimal Page Replacement Algorithm.</a:t>
            </a:r>
            <a:r>
              <a:rPr lang="en-US" b="1" dirty="0"/>
              <a:t>				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342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7076983-6098-4D75-8E3B-99B088ABB8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u</a:t>
            </a:r>
            <a:r>
              <a:rPr lang="en-US" dirty="0" smtClean="0"/>
              <a:t>mesh.thoriya@darshan.ac.in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05BAC4B-D894-4260-872E-77744EE844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smtClean="0"/>
              <a:t>9714233355</a:t>
            </a:r>
            <a:endParaRPr lang="en-US" dirty="0"/>
          </a:p>
          <a:p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E20B01-2C98-438F-91A2-5BCFB793FE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1400" dirty="0"/>
              <a:t>Computer Science &amp; Engineering Department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283884-0326-C47B-1F6B-60B10599E4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Prof. </a:t>
            </a:r>
            <a:r>
              <a:rPr lang="en-US" dirty="0" err="1" smtClean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Umesh</a:t>
            </a:r>
            <a:r>
              <a:rPr lang="en-US" dirty="0" smtClean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 H </a:t>
            </a:r>
            <a:r>
              <a:rPr lang="en-US" dirty="0" err="1" smtClean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Thoriya</a:t>
            </a:r>
            <a:endParaRPr lang="en-US" dirty="0">
              <a:gradFill flip="none" rotWithShape="1">
                <a:gsLst>
                  <a:gs pos="10000">
                    <a:srgbClr val="B71B1C"/>
                  </a:gs>
                  <a:gs pos="95000">
                    <a:srgbClr val="ED524F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4F77176-AD0A-BB46-F2E7-9F5B86D3FA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20293" y="20384"/>
            <a:ext cx="4646358" cy="73465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b="1" dirty="0"/>
              <a:t>Operating</a:t>
            </a:r>
            <a:r>
              <a:rPr lang="en-US" b="1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b="1" dirty="0"/>
              <a:t>System </a:t>
            </a:r>
            <a:r>
              <a:rPr lang="en-US" b="1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(OS)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 2304CS205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6E6A818-F69B-CD7F-6278-AF751628F0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pic>
        <p:nvPicPr>
          <p:cNvPr id="5" name="Picture Placeholder 23">
            <a:extLst>
              <a:ext uri="{FF2B5EF4-FFF2-40B4-BE49-F238E27FC236}">
                <a16:creationId xmlns:a16="http://schemas.microsoft.com/office/drawing/2014/main" id="{3F3F50B8-ED61-2110-7E0B-7F324C1DDDC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103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2141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41489</TotalTime>
  <Words>4566</Words>
  <Application>Microsoft Office PowerPoint</Application>
  <PresentationFormat>Widescreen</PresentationFormat>
  <Paragraphs>1336</Paragraphs>
  <Slides>64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6" baseType="lpstr">
      <vt:lpstr>Wingdings</vt:lpstr>
      <vt:lpstr>Calibri</vt:lpstr>
      <vt:lpstr>Segoe UI Black</vt:lpstr>
      <vt:lpstr>Shruti</vt:lpstr>
      <vt:lpstr>Roboto Condensed Light</vt:lpstr>
      <vt:lpstr>Times New Roman</vt:lpstr>
      <vt:lpstr>Wingdings 3</vt:lpstr>
      <vt:lpstr>Arial</vt:lpstr>
      <vt:lpstr>Roboto Condensed,Bold</vt:lpstr>
      <vt:lpstr>Wingdings 2</vt:lpstr>
      <vt:lpstr>Roboto Condensed</vt:lpstr>
      <vt:lpstr>Office Theme</vt:lpstr>
      <vt:lpstr>Unit-4  Memory Management </vt:lpstr>
      <vt:lpstr>PowerPoint Presentation</vt:lpstr>
      <vt:lpstr>Basic Concept of Memory </vt:lpstr>
      <vt:lpstr>What is Memory?</vt:lpstr>
      <vt:lpstr>Types of Memory</vt:lpstr>
      <vt:lpstr>Types of Memory (Conti..)</vt:lpstr>
      <vt:lpstr>Memory Hierarchy</vt:lpstr>
      <vt:lpstr>                                                       Logical and Physical Address</vt:lpstr>
      <vt:lpstr>Logical and Physical Address</vt:lpstr>
      <vt:lpstr>Logical Address VS Physical Address</vt:lpstr>
      <vt:lpstr>    Basic Memory Management Techniques</vt:lpstr>
      <vt:lpstr>Memory Management Techniques</vt:lpstr>
      <vt:lpstr>    Contiguous Memory Allocation</vt:lpstr>
      <vt:lpstr>Contiguous Memory Allocation </vt:lpstr>
      <vt:lpstr>Contiguous Memory Allocation </vt:lpstr>
      <vt:lpstr>Fixed (or Static) Partition</vt:lpstr>
      <vt:lpstr>Fixed (or Static) Partition (Conti..)</vt:lpstr>
      <vt:lpstr>Fixed (or Static) Partition (Conti..)</vt:lpstr>
      <vt:lpstr>Fixed (or Static) Partition (Conti..)</vt:lpstr>
      <vt:lpstr>Variable (or Dynamic) Partition</vt:lpstr>
      <vt:lpstr>Dynamic / Variable Partitions</vt:lpstr>
      <vt:lpstr>Dynamic / Variable Partitions(Conti..)</vt:lpstr>
      <vt:lpstr>Variable (or Dynamic) Partition (Conti..)</vt:lpstr>
      <vt:lpstr>Swapping</vt:lpstr>
      <vt:lpstr>Swapping (Conti..) </vt:lpstr>
      <vt:lpstr>    Non-Contiguous Memory Allocation</vt:lpstr>
      <vt:lpstr>Non-Contiguous Memory Allocation </vt:lpstr>
      <vt:lpstr>Non-Contiguous Memory Allocation (Conti..)</vt:lpstr>
      <vt:lpstr>Paging</vt:lpstr>
      <vt:lpstr>Paging (Conti..)</vt:lpstr>
      <vt:lpstr>Paging(Conti..)</vt:lpstr>
      <vt:lpstr>Internal operation of the MMU </vt:lpstr>
      <vt:lpstr>Paging (Conti..)</vt:lpstr>
      <vt:lpstr>      Memory Allocation Strategies: First Fit, Next Fit, Best Fit and Worst Fit</vt:lpstr>
      <vt:lpstr>Memory allocation</vt:lpstr>
      <vt:lpstr>First fit</vt:lpstr>
      <vt:lpstr>Next fit</vt:lpstr>
      <vt:lpstr>Best fit</vt:lpstr>
      <vt:lpstr>Worst fit</vt:lpstr>
      <vt:lpstr>Exercise</vt:lpstr>
      <vt:lpstr>      Concept of Page Fault</vt:lpstr>
      <vt:lpstr>Page Fault</vt:lpstr>
      <vt:lpstr>      Page Replacement Algorithm</vt:lpstr>
      <vt:lpstr>Page Replacement Algorithms</vt:lpstr>
      <vt:lpstr>FIFO Page Replacement Algorithm</vt:lpstr>
      <vt:lpstr>FIFO Page Replacement Algorithm</vt:lpstr>
      <vt:lpstr>FIFO Page Replacement Algorithm</vt:lpstr>
      <vt:lpstr>LRU (Least Recently Used) Page Replacement Algorithm</vt:lpstr>
      <vt:lpstr>LRU (Least Recently Used) Page Replacement Algorithm</vt:lpstr>
      <vt:lpstr>LRU (Least Recently Used) Page Replacement Algorithm</vt:lpstr>
      <vt:lpstr>Optimal Page Replacement Algorithm</vt:lpstr>
      <vt:lpstr>PowerPoint Presentation</vt:lpstr>
      <vt:lpstr>Optimal Page Replacement Algorithm</vt:lpstr>
      <vt:lpstr>Exercise</vt:lpstr>
      <vt:lpstr>FIFO Page Replacement Algorithm</vt:lpstr>
      <vt:lpstr>LRU (Least Recently Used) Page Replacement Algorithm</vt:lpstr>
      <vt:lpstr>Optimal Page Replacement Algorithm</vt:lpstr>
      <vt:lpstr>Virtual Memory: Basics of Virtual Memory</vt:lpstr>
      <vt:lpstr>Virtual Memory</vt:lpstr>
      <vt:lpstr>Virtual Memory</vt:lpstr>
      <vt:lpstr>Benefits of Virtual Memory</vt:lpstr>
      <vt:lpstr>Frequently asked Questions in Exam</vt:lpstr>
      <vt:lpstr>Frequently asked Questions in Exam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1871</cp:revision>
  <dcterms:created xsi:type="dcterms:W3CDTF">2020-05-01T05:09:15Z</dcterms:created>
  <dcterms:modified xsi:type="dcterms:W3CDTF">2026-03-17T05:31:16Z</dcterms:modified>
</cp:coreProperties>
</file>