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3"/>
  </p:notesMasterIdLst>
  <p:sldIdLst>
    <p:sldId id="283" r:id="rId2"/>
    <p:sldId id="512" r:id="rId3"/>
    <p:sldId id="513" r:id="rId4"/>
    <p:sldId id="352" r:id="rId5"/>
    <p:sldId id="515" r:id="rId6"/>
    <p:sldId id="516" r:id="rId7"/>
    <p:sldId id="650" r:id="rId8"/>
    <p:sldId id="651" r:id="rId9"/>
    <p:sldId id="518" r:id="rId10"/>
    <p:sldId id="519" r:id="rId11"/>
    <p:sldId id="520" r:id="rId12"/>
    <p:sldId id="521" r:id="rId13"/>
    <p:sldId id="522" r:id="rId14"/>
    <p:sldId id="523" r:id="rId15"/>
    <p:sldId id="524" r:id="rId16"/>
    <p:sldId id="526" r:id="rId17"/>
    <p:sldId id="527" r:id="rId18"/>
    <p:sldId id="653" r:id="rId19"/>
    <p:sldId id="529" r:id="rId20"/>
    <p:sldId id="530" r:id="rId21"/>
    <p:sldId id="531" r:id="rId22"/>
    <p:sldId id="532" r:id="rId23"/>
    <p:sldId id="655" r:id="rId24"/>
    <p:sldId id="533" r:id="rId25"/>
    <p:sldId id="534" r:id="rId26"/>
    <p:sldId id="535" r:id="rId27"/>
    <p:sldId id="536" r:id="rId28"/>
    <p:sldId id="537" r:id="rId29"/>
    <p:sldId id="538" r:id="rId30"/>
    <p:sldId id="539" r:id="rId31"/>
    <p:sldId id="552" r:id="rId32"/>
    <p:sldId id="553" r:id="rId33"/>
    <p:sldId id="540" r:id="rId34"/>
    <p:sldId id="541" r:id="rId35"/>
    <p:sldId id="542" r:id="rId36"/>
    <p:sldId id="543" r:id="rId37"/>
    <p:sldId id="656" r:id="rId38"/>
    <p:sldId id="544" r:id="rId39"/>
    <p:sldId id="545" r:id="rId40"/>
    <p:sldId id="546" r:id="rId41"/>
    <p:sldId id="547" r:id="rId42"/>
    <p:sldId id="548" r:id="rId43"/>
    <p:sldId id="549" r:id="rId44"/>
    <p:sldId id="550" r:id="rId45"/>
    <p:sldId id="658" r:id="rId46"/>
    <p:sldId id="554" r:id="rId47"/>
    <p:sldId id="555" r:id="rId48"/>
    <p:sldId id="559" r:id="rId49"/>
    <p:sldId id="560" r:id="rId50"/>
    <p:sldId id="561" r:id="rId51"/>
    <p:sldId id="562" r:id="rId52"/>
    <p:sldId id="563" r:id="rId53"/>
    <p:sldId id="654" r:id="rId54"/>
    <p:sldId id="565" r:id="rId55"/>
    <p:sldId id="566" r:id="rId56"/>
    <p:sldId id="567" r:id="rId57"/>
    <p:sldId id="568" r:id="rId58"/>
    <p:sldId id="569" r:id="rId59"/>
    <p:sldId id="570" r:id="rId60"/>
    <p:sldId id="571" r:id="rId61"/>
    <p:sldId id="572" r:id="rId62"/>
    <p:sldId id="573" r:id="rId63"/>
    <p:sldId id="574" r:id="rId64"/>
    <p:sldId id="575" r:id="rId65"/>
    <p:sldId id="576" r:id="rId66"/>
    <p:sldId id="659" r:id="rId67"/>
    <p:sldId id="577" r:id="rId68"/>
    <p:sldId id="578" r:id="rId69"/>
    <p:sldId id="579" r:id="rId70"/>
    <p:sldId id="580" r:id="rId71"/>
    <p:sldId id="581" r:id="rId72"/>
    <p:sldId id="582" r:id="rId73"/>
    <p:sldId id="583" r:id="rId74"/>
    <p:sldId id="584" r:id="rId75"/>
    <p:sldId id="585" r:id="rId76"/>
    <p:sldId id="586" r:id="rId77"/>
    <p:sldId id="587" r:id="rId78"/>
    <p:sldId id="588" r:id="rId79"/>
    <p:sldId id="589" r:id="rId80"/>
    <p:sldId id="590" r:id="rId81"/>
    <p:sldId id="591" r:id="rId82"/>
    <p:sldId id="592" r:id="rId83"/>
    <p:sldId id="593" r:id="rId84"/>
    <p:sldId id="594" r:id="rId85"/>
    <p:sldId id="595" r:id="rId86"/>
    <p:sldId id="596" r:id="rId87"/>
    <p:sldId id="597" r:id="rId88"/>
    <p:sldId id="598" r:id="rId89"/>
    <p:sldId id="599" r:id="rId90"/>
    <p:sldId id="600" r:id="rId91"/>
    <p:sldId id="601" r:id="rId92"/>
    <p:sldId id="602" r:id="rId93"/>
    <p:sldId id="603" r:id="rId94"/>
    <p:sldId id="604" r:id="rId95"/>
    <p:sldId id="605" r:id="rId96"/>
    <p:sldId id="606" r:id="rId97"/>
    <p:sldId id="607" r:id="rId98"/>
    <p:sldId id="608" r:id="rId99"/>
    <p:sldId id="609" r:id="rId100"/>
    <p:sldId id="610" r:id="rId101"/>
    <p:sldId id="611" r:id="rId102"/>
    <p:sldId id="612" r:id="rId103"/>
    <p:sldId id="613" r:id="rId104"/>
    <p:sldId id="614" r:id="rId105"/>
    <p:sldId id="615" r:id="rId106"/>
    <p:sldId id="616" r:id="rId107"/>
    <p:sldId id="617" r:id="rId108"/>
    <p:sldId id="618" r:id="rId109"/>
    <p:sldId id="619" r:id="rId110"/>
    <p:sldId id="620" r:id="rId111"/>
    <p:sldId id="621" r:id="rId112"/>
    <p:sldId id="622" r:id="rId113"/>
    <p:sldId id="623" r:id="rId114"/>
    <p:sldId id="624" r:id="rId115"/>
    <p:sldId id="625" r:id="rId116"/>
    <p:sldId id="626" r:id="rId117"/>
    <p:sldId id="627" r:id="rId118"/>
    <p:sldId id="628" r:id="rId119"/>
    <p:sldId id="629" r:id="rId120"/>
    <p:sldId id="630" r:id="rId121"/>
    <p:sldId id="631" r:id="rId122"/>
    <p:sldId id="632" r:id="rId123"/>
    <p:sldId id="633" r:id="rId124"/>
    <p:sldId id="634" r:id="rId125"/>
    <p:sldId id="635" r:id="rId126"/>
    <p:sldId id="636" r:id="rId127"/>
    <p:sldId id="637" r:id="rId128"/>
    <p:sldId id="638" r:id="rId129"/>
    <p:sldId id="639" r:id="rId130"/>
    <p:sldId id="640" r:id="rId131"/>
    <p:sldId id="641" r:id="rId132"/>
    <p:sldId id="642" r:id="rId133"/>
    <p:sldId id="643" r:id="rId134"/>
    <p:sldId id="644" r:id="rId135"/>
    <p:sldId id="645" r:id="rId136"/>
    <p:sldId id="646" r:id="rId137"/>
    <p:sldId id="647" r:id="rId138"/>
    <p:sldId id="648" r:id="rId139"/>
    <p:sldId id="697" r:id="rId140"/>
    <p:sldId id="698" r:id="rId141"/>
    <p:sldId id="284" r:id="rId142"/>
  </p:sldIdLst>
  <p:sldSz cx="12192000" cy="6858000"/>
  <p:notesSz cx="6858000" cy="9144000"/>
  <p:embeddedFontLst>
    <p:embeddedFont>
      <p:font typeface="Roboto Condensed Light" panose="02000000000000000000" pitchFamily="2" charset="0"/>
      <p:regular r:id="rId144"/>
      <p:italic r:id="rId145"/>
    </p:embeddedFont>
    <p:embeddedFont>
      <p:font typeface="Calibri" panose="020F0502020204030204" pitchFamily="34" charset="0"/>
      <p:regular r:id="rId146"/>
      <p:bold r:id="rId147"/>
      <p:italic r:id="rId148"/>
      <p:boldItalic r:id="rId149"/>
    </p:embeddedFont>
    <p:embeddedFont>
      <p:font typeface="Cambria Math" panose="02040503050406030204" pitchFamily="18" charset="0"/>
      <p:regular r:id="rId150"/>
    </p:embeddedFont>
    <p:embeddedFont>
      <p:font typeface="Segoe UI Black" panose="020B0A02040204020203" pitchFamily="34" charset="0"/>
      <p:bold r:id="rId151"/>
      <p:boldItalic r:id="rId152"/>
    </p:embeddedFont>
    <p:embeddedFont>
      <p:font typeface="Wingdings 3" panose="05040102010807070707" pitchFamily="18" charset="2"/>
      <p:regular r:id="rId153"/>
    </p:embeddedFont>
    <p:embeddedFont>
      <p:font typeface="Wingdings 2" panose="05020102010507070707" pitchFamily="18" charset="2"/>
      <p:regular r:id="rId154"/>
    </p:embeddedFont>
    <p:embeddedFont>
      <p:font typeface="Roboto Condensed" panose="02000000000000000000" pitchFamily="2" charset="0"/>
      <p:regular r:id="rId155"/>
      <p:bold r:id="rId156"/>
      <p:italic r:id="rId157"/>
      <p:boldItalic r:id="rId15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8P2MA87Eq3PBS9NW2YZOQg==" hashData="1XZcefSZawyuxYjgODdVgMpgkXvuHE2dh+hg3wUnnx4j+pJS9qW04Mjd5PM+u8j4A+QeO2XRlSiBWUBXBW0f4Q=="/>
  <p:extLst>
    <p:ext uri="{521415D9-36F7-43E2-AB2F-B90AF26B5E84}">
      <p14:sectionLst xmlns:p14="http://schemas.microsoft.com/office/powerpoint/2010/main">
        <p14:section name="Default Section" id="{1390711D-F853-48E3-A520-8D024CB230CB}">
          <p14:sldIdLst>
            <p14:sldId id="283"/>
            <p14:sldId id="512"/>
            <p14:sldId id="513"/>
            <p14:sldId id="352"/>
            <p14:sldId id="515"/>
            <p14:sldId id="516"/>
            <p14:sldId id="650"/>
            <p14:sldId id="651"/>
            <p14:sldId id="518"/>
            <p14:sldId id="519"/>
            <p14:sldId id="520"/>
            <p14:sldId id="521"/>
            <p14:sldId id="522"/>
            <p14:sldId id="523"/>
            <p14:sldId id="524"/>
            <p14:sldId id="526"/>
            <p14:sldId id="527"/>
            <p14:sldId id="653"/>
            <p14:sldId id="529"/>
            <p14:sldId id="530"/>
            <p14:sldId id="531"/>
            <p14:sldId id="532"/>
            <p14:sldId id="655"/>
            <p14:sldId id="533"/>
            <p14:sldId id="534"/>
            <p14:sldId id="535"/>
            <p14:sldId id="536"/>
            <p14:sldId id="537"/>
            <p14:sldId id="538"/>
            <p14:sldId id="539"/>
            <p14:sldId id="552"/>
            <p14:sldId id="553"/>
            <p14:sldId id="540"/>
            <p14:sldId id="541"/>
            <p14:sldId id="542"/>
            <p14:sldId id="543"/>
            <p14:sldId id="656"/>
            <p14:sldId id="544"/>
            <p14:sldId id="545"/>
            <p14:sldId id="546"/>
            <p14:sldId id="547"/>
            <p14:sldId id="548"/>
            <p14:sldId id="549"/>
            <p14:sldId id="550"/>
            <p14:sldId id="658"/>
            <p14:sldId id="554"/>
            <p14:sldId id="555"/>
            <p14:sldId id="559"/>
            <p14:sldId id="560"/>
            <p14:sldId id="561"/>
            <p14:sldId id="562"/>
            <p14:sldId id="563"/>
            <p14:sldId id="654"/>
            <p14:sldId id="565"/>
            <p14:sldId id="566"/>
            <p14:sldId id="567"/>
            <p14:sldId id="568"/>
            <p14:sldId id="569"/>
            <p14:sldId id="570"/>
            <p14:sldId id="571"/>
            <p14:sldId id="572"/>
            <p14:sldId id="573"/>
            <p14:sldId id="574"/>
            <p14:sldId id="575"/>
            <p14:sldId id="576"/>
            <p14:sldId id="659"/>
            <p14:sldId id="577"/>
            <p14:sldId id="578"/>
            <p14:sldId id="579"/>
            <p14:sldId id="580"/>
            <p14:sldId id="581"/>
            <p14:sldId id="582"/>
            <p14:sldId id="583"/>
            <p14:sldId id="584"/>
            <p14:sldId id="585"/>
            <p14:sldId id="586"/>
            <p14:sldId id="587"/>
            <p14:sldId id="588"/>
            <p14:sldId id="589"/>
            <p14:sldId id="590"/>
            <p14:sldId id="591"/>
            <p14:sldId id="592"/>
            <p14:sldId id="593"/>
            <p14:sldId id="594"/>
            <p14:sldId id="595"/>
            <p14:sldId id="596"/>
            <p14:sldId id="597"/>
            <p14:sldId id="598"/>
            <p14:sldId id="599"/>
            <p14:sldId id="600"/>
            <p14:sldId id="601"/>
            <p14:sldId id="602"/>
            <p14:sldId id="603"/>
            <p14:sldId id="604"/>
            <p14:sldId id="605"/>
            <p14:sldId id="606"/>
            <p14:sldId id="607"/>
            <p14:sldId id="608"/>
            <p14:sldId id="609"/>
            <p14:sldId id="610"/>
            <p14:sldId id="611"/>
            <p14:sldId id="612"/>
            <p14:sldId id="613"/>
            <p14:sldId id="614"/>
            <p14:sldId id="615"/>
            <p14:sldId id="616"/>
            <p14:sldId id="617"/>
            <p14:sldId id="618"/>
            <p14:sldId id="619"/>
            <p14:sldId id="620"/>
            <p14:sldId id="621"/>
            <p14:sldId id="622"/>
            <p14:sldId id="623"/>
            <p14:sldId id="624"/>
            <p14:sldId id="625"/>
            <p14:sldId id="626"/>
            <p14:sldId id="627"/>
            <p14:sldId id="628"/>
            <p14:sldId id="629"/>
            <p14:sldId id="630"/>
            <p14:sldId id="631"/>
            <p14:sldId id="632"/>
            <p14:sldId id="633"/>
            <p14:sldId id="634"/>
            <p14:sldId id="635"/>
            <p14:sldId id="636"/>
            <p14:sldId id="637"/>
            <p14:sldId id="638"/>
            <p14:sldId id="639"/>
            <p14:sldId id="640"/>
            <p14:sldId id="641"/>
            <p14:sldId id="642"/>
            <p14:sldId id="643"/>
            <p14:sldId id="644"/>
            <p14:sldId id="645"/>
            <p14:sldId id="646"/>
            <p14:sldId id="647"/>
            <p14:sldId id="648"/>
            <p14:sldId id="697"/>
            <p14:sldId id="698"/>
            <p14:sldId id="28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C62827"/>
    <a:srgbClr val="301B92"/>
    <a:srgbClr val="673BB7"/>
    <a:srgbClr val="607D8B"/>
    <a:srgbClr val="ED524F"/>
    <a:srgbClr val="B71B1C"/>
    <a:srgbClr val="F54337"/>
    <a:srgbClr val="D81A60"/>
    <a:srgbClr val="890E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899" autoAdjust="0"/>
    <p:restoredTop sz="94660"/>
  </p:normalViewPr>
  <p:slideViewPr>
    <p:cSldViewPr snapToGrid="0">
      <p:cViewPr varScale="1">
        <p:scale>
          <a:sx n="83" d="100"/>
          <a:sy n="83" d="100"/>
        </p:scale>
        <p:origin x="62" y="101"/>
      </p:cViewPr>
      <p:guideLst/>
    </p:cSldViewPr>
  </p:slideViewPr>
  <p:notesTextViewPr>
    <p:cViewPr>
      <p:scale>
        <a:sx n="1" d="1"/>
        <a:sy n="1" d="1"/>
      </p:scale>
      <p:origin x="0" y="0"/>
    </p:cViewPr>
  </p:notesTextViewPr>
  <p:notesViewPr>
    <p:cSldViewPr snapToGrid="0">
      <p:cViewPr varScale="1">
        <p:scale>
          <a:sx n="65" d="100"/>
          <a:sy n="65" d="100"/>
        </p:scale>
        <p:origin x="2299" y="3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6.fntdata"/><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viewProps" Target="viewProp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font" Target="fonts/font7.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font" Target="fonts/font2.fntdata"/><Relationship Id="rId16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8.fntdata"/><Relationship Id="rId156" Type="http://schemas.openxmlformats.org/officeDocument/2006/relationships/font" Target="fonts/font13.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font" Target="fonts/font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font" Target="fonts/font14.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10.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notesMaster" Target="notesMasters/notesMaster1.xml"/><Relationship Id="rId148"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11.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fntdata"/><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79BDEF-6165-4E72-B1A6-6E8034CEC248}" type="slidenum">
              <a:rPr lang="en-US" smtClean="0"/>
              <a:t>42</a:t>
            </a:fld>
            <a:endParaRPr lang="en-US" dirty="0"/>
          </a:p>
        </p:txBody>
      </p:sp>
    </p:spTree>
    <p:extLst>
      <p:ext uri="{BB962C8B-B14F-4D97-AF65-F5344CB8AC3E}">
        <p14:creationId xmlns:p14="http://schemas.microsoft.com/office/powerpoint/2010/main" val="375530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79BDEF-6165-4E72-B1A6-6E8034CEC248}" type="slidenum">
              <a:rPr lang="en-US" smtClean="0"/>
              <a:t>72</a:t>
            </a:fld>
            <a:endParaRPr lang="en-US" dirty="0"/>
          </a:p>
        </p:txBody>
      </p:sp>
    </p:spTree>
    <p:extLst>
      <p:ext uri="{BB962C8B-B14F-4D97-AF65-F5344CB8AC3E}">
        <p14:creationId xmlns:p14="http://schemas.microsoft.com/office/powerpoint/2010/main" val="280154674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1.png"/><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9.jpe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5.png"/><Relationship Id="rId10" Type="http://schemas.openxmlformats.org/officeDocument/2006/relationships/image" Target="../media/image15.png"/><Relationship Id="rId4" Type="http://schemas.openxmlformats.org/officeDocument/2006/relationships/image" Target="../media/image4.png"/><Relationship Id="rId9" Type="http://schemas.openxmlformats.org/officeDocument/2006/relationships/image" Target="../media/image9.jpe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6.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7.png"/><Relationship Id="rId7" Type="http://schemas.microsoft.com/office/2007/relationships/hdphoto" Target="../media/hdphoto3.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5.png"/><Relationship Id="rId10"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Umesh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#2304CS205 (OS)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Process Management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285419" y="983643"/>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Umesh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#2304CS205 (OS)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Process Management</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Umesh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2304CS422 (DBMS-II)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Relational Database Design</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227019" y="5869049"/>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0"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grpSp>
        <p:nvGrpSpPr>
          <p:cNvPr id="15" name="Group 14">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6" name="Picture 15">
              <a:extLst>
                <a:ext uri="{FF2B5EF4-FFF2-40B4-BE49-F238E27FC236}">
                  <a16:creationId xmlns:a16="http://schemas.microsoft.com/office/drawing/2014/main" id="{B49C31A0-0173-45C3-B715-F73A797EA642}"/>
                </a:ext>
              </a:extLst>
            </p:cNvPr>
            <p:cNvPicPr>
              <a:picLocks noChangeAspect="1"/>
            </p:cNvPicPr>
            <p:nvPr userDrawn="1"/>
          </p:nvPicPr>
          <p:blipFill>
            <a:blip r:embed="rId5" cstate="hq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7" name="Rectangle 16">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Umesh</a:t>
            </a:r>
            <a:r>
              <a:rPr lang="en-US" dirty="0" smtClean="0">
                <a:solidFill>
                  <a:schemeClr val="tx1">
                    <a:lumMod val="90000"/>
                    <a:lumOff val="10000"/>
                  </a:schemeClr>
                </a:solidFill>
                <a:latin typeface="Roboto Condensed Light" panose="02000000000000000000" pitchFamily="2" charset="0"/>
                <a:ea typeface="Roboto Condensed Light" panose="02000000000000000000" pitchFamily="2" charset="0"/>
              </a:rPr>
              <a:t> H </a:t>
            </a:r>
            <a:r>
              <a:rPr lang="en-US" dirty="0" err="1" smtClean="0">
                <a:solidFill>
                  <a:schemeClr val="tx1">
                    <a:lumMod val="90000"/>
                    <a:lumOff val="10000"/>
                  </a:schemeClr>
                </a:solidFill>
                <a:latin typeface="Roboto Condensed Light" panose="02000000000000000000" pitchFamily="2" charset="0"/>
                <a:ea typeface="Roboto Condensed Light" panose="02000000000000000000" pitchFamily="2" charset="0"/>
              </a:rPr>
              <a:t>Thoriya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#2304CS205 (OS)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2 – Process Management</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id="{C9B183D5-5DE8-48E7-85E7-60CE9D0FD2D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id="{A378A2C8-EF9C-479C-ACF0-D9819B46DF5C}"/>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id="{30CB04CE-0025-4B1F-B962-A759D179D84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34" name="Picture 4" descr="https://cdn5.vectorstock.com/i/1000x1000/21/59/dbms-database-management-system-computer-data-vector-8212159.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6294" t="9689" r="5315" b="18089"/>
          <a:stretch/>
        </p:blipFill>
        <p:spPr bwMode="auto">
          <a:xfrm>
            <a:off x="8407803" y="2089594"/>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5" name="Picture 4" descr="https://cdn5.vectorstock.com/i/1000x1000/21/59/dbms-database-management-system-computer-data-vector-8212159.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6294" t="9689" r="5315" b="18089"/>
          <a:stretch/>
        </p:blipFill>
        <p:spPr bwMode="auto">
          <a:xfrm>
            <a:off x="8453395" y="1794986"/>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10" cstate="hq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8728737" y="307556"/>
            <a:ext cx="270809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4" name="Picture 3">
            <a:extLst>
              <a:ext uri="{FF2B5EF4-FFF2-40B4-BE49-F238E27FC236}">
                <a16:creationId xmlns:a16="http://schemas.microsoft.com/office/drawing/2014/main" id="{E5C09A94-F153-8F2D-41CA-BCD1F183E994}"/>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7678882" y="1565161"/>
            <a:ext cx="3080554" cy="2831620"/>
          </a:xfrm>
          <a:prstGeom prst="rect">
            <a:avLst/>
          </a:prstGeom>
        </p:spPr>
      </p:pic>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hq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60864" cy="338554"/>
          </a:xfrm>
          <a:prstGeom prst="rect">
            <a:avLst/>
          </a:prstGeom>
          <a:noFill/>
        </p:spPr>
        <p:txBody>
          <a:bodyPr wrap="none" rtlCol="0">
            <a:spAutoFit/>
          </a:bodyPr>
          <a:lstStyle/>
          <a:p>
            <a:r>
              <a:rPr lang="en-US" sz="1600" dirty="0"/>
              <a:t>Darshan Institute of Engineering &amp; Technology, Rajkot</a:t>
            </a:r>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5883522" cy="16661"/>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endParaRPr lang="en-US" dirty="0"/>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0" name="Hexagon 29">
            <a:extLst>
              <a:ext uri="{FF2B5EF4-FFF2-40B4-BE49-F238E27FC236}">
                <a16:creationId xmlns:a16="http://schemas.microsoft.com/office/drawing/2014/main" id="{1BB32699-4C62-4BBF-9A17-90008E297198}"/>
              </a:ext>
            </a:extLst>
          </p:cNvPr>
          <p:cNvSpPr/>
          <p:nvPr userDrawn="1"/>
        </p:nvSpPr>
        <p:spPr>
          <a:xfrm rot="5400000">
            <a:off x="4309292" y="1717040"/>
            <a:ext cx="3461658" cy="2984188"/>
          </a:xfrm>
          <a:prstGeom prst="hexagon">
            <a:avLst/>
          </a:prstGeom>
          <a:solidFill>
            <a:schemeClr val="bg1">
              <a:lumMod val="95000"/>
            </a:schemeClr>
          </a:solidFill>
          <a:ln w="57150">
            <a:solidFill>
              <a:srgbClr val="4B302A"/>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02C58FA9-71EA-487D-8A75-915EC6877722}"/>
              </a:ext>
            </a:extLst>
          </p:cNvPr>
          <p:cNvSpPr/>
          <p:nvPr userDrawn="1"/>
        </p:nvSpPr>
        <p:spPr>
          <a:xfrm>
            <a:off x="0" y="2221532"/>
            <a:ext cx="4402106"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33" name="Rectangle 32">
            <a:extLst>
              <a:ext uri="{FF2B5EF4-FFF2-40B4-BE49-F238E27FC236}">
                <a16:creationId xmlns:a16="http://schemas.microsoft.com/office/drawing/2014/main" id="{97A77512-C96D-4B1D-861C-3369397D6121}"/>
              </a:ext>
            </a:extLst>
          </p:cNvPr>
          <p:cNvSpPr/>
          <p:nvPr userDrawn="1"/>
        </p:nvSpPr>
        <p:spPr>
          <a:xfrm flipH="1">
            <a:off x="7678346" y="2221532"/>
            <a:ext cx="4513654" cy="1951692"/>
          </a:xfrm>
          <a:prstGeom prst="rect">
            <a:avLst/>
          </a:prstGeom>
          <a:solidFill>
            <a:srgbClr val="4B302A"/>
          </a:soli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34" name="TextBox 33">
            <a:extLst>
              <a:ext uri="{FF2B5EF4-FFF2-40B4-BE49-F238E27FC236}">
                <a16:creationId xmlns:a16="http://schemas.microsoft.com/office/drawing/2014/main" id="{88342F5D-5C3A-4D09-B74D-32BF20197BBC}"/>
              </a:ext>
            </a:extLst>
          </p:cNvPr>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Freeform 13">
            <a:extLst>
              <a:ext uri="{FF2B5EF4-FFF2-40B4-BE49-F238E27FC236}">
                <a16:creationId xmlns:a16="http://schemas.microsoft.com/office/drawing/2014/main" id="{7DBD9FF3-DB58-439A-9C3F-981DC0699B89}"/>
              </a:ext>
            </a:extLst>
          </p:cNvPr>
          <p:cNvSpPr>
            <a:spLocks/>
          </p:cNvSpPr>
          <p:nvPr userDrawn="1"/>
        </p:nvSpPr>
        <p:spPr bwMode="auto">
          <a:xfrm>
            <a:off x="2736224" y="-2949"/>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solidFill>
            <a:srgbClr val="4B302A"/>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Text Placeholder 2">
            <a:extLst>
              <a:ext uri="{FF2B5EF4-FFF2-40B4-BE49-F238E27FC236}">
                <a16:creationId xmlns:a16="http://schemas.microsoft.com/office/drawing/2014/main" id="{655B1926-C5B6-4865-B639-303A5A9FEE4F}"/>
              </a:ext>
            </a:extLst>
          </p:cNvPr>
          <p:cNvSpPr>
            <a:spLocks noGrp="1"/>
          </p:cNvSpPr>
          <p:nvPr>
            <p:ph type="body" sz="quarter" idx="17" hasCustomPrompt="1"/>
          </p:nvPr>
        </p:nvSpPr>
        <p:spPr>
          <a:xfrm>
            <a:off x="2763466" y="1743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5" name="Picture 34">
            <a:extLst>
              <a:ext uri="{FF2B5EF4-FFF2-40B4-BE49-F238E27FC236}">
                <a16:creationId xmlns:a16="http://schemas.microsoft.com/office/drawing/2014/main" id="{693477C7-FE49-4FB9-9AE0-0169DC1D0A63}"/>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a:stretch/>
        </p:blipFill>
        <p:spPr>
          <a:xfrm>
            <a:off x="9326880" y="58321"/>
            <a:ext cx="2801872" cy="1192189"/>
          </a:xfrm>
          <a:prstGeom prst="rect">
            <a:avLst/>
          </a:prstGeom>
        </p:spPr>
      </p:pic>
    </p:spTree>
    <p:extLst>
      <p:ext uri="{BB962C8B-B14F-4D97-AF65-F5344CB8AC3E}">
        <p14:creationId xmlns:p14="http://schemas.microsoft.com/office/powerpoint/2010/main" val="3327907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1/5/2026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692"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20.png"/><Relationship Id="rId1" Type="http://schemas.openxmlformats.org/officeDocument/2006/relationships/slideLayout" Target="../slideLayouts/slideLayout6.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60.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3.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330.png"/><Relationship Id="rId1" Type="http://schemas.openxmlformats.org/officeDocument/2006/relationships/slideLayout" Target="../slideLayouts/slideLayout6.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64.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8.png"/><Relationship Id="rId7" Type="http://schemas.openxmlformats.org/officeDocument/2006/relationships/image" Target="../media/image48.png"/><Relationship Id="rId2"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6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8.png"/><Relationship Id="rId7" Type="http://schemas.openxmlformats.org/officeDocument/2006/relationships/image" Target="../media/image48.png"/><Relationship Id="rId2"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6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7.png"/><Relationship Id="rId2" Type="http://schemas.openxmlformats.org/officeDocument/2006/relationships/image" Target="../media/image34.png"/><Relationship Id="rId1" Type="http://schemas.openxmlformats.org/officeDocument/2006/relationships/slideLayout" Target="../slideLayouts/slideLayout6.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39.png"/></Relationships>
</file>

<file path=ppt/slides/_rels/slide7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7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image" Target="../media/image4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image" Target="../media/image35.png"/><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7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75.png"/><Relationship Id="rId7" Type="http://schemas.openxmlformats.org/officeDocument/2006/relationships/image" Target="../media/image48.png"/><Relationship Id="rId2"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7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75.png"/><Relationship Id="rId7" Type="http://schemas.openxmlformats.org/officeDocument/2006/relationships/image" Target="../media/image48.png"/><Relationship Id="rId2"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370.png"/><Relationship Id="rId1" Type="http://schemas.openxmlformats.org/officeDocument/2006/relationships/slideLayout" Target="../slideLayouts/slideLayout6.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8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image" Target="../media/image840.png"/><Relationship Id="rId11" Type="http://schemas.openxmlformats.org/officeDocument/2006/relationships/image" Target="../media/image89.png"/><Relationship Id="rId5" Type="http://schemas.openxmlformats.org/officeDocument/2006/relationships/image" Target="../media/image83.png"/><Relationship Id="rId4" Type="http://schemas.openxmlformats.org/officeDocument/2006/relationships/image" Target="../media/image82.png"/></Relationships>
</file>

<file path=ppt/slides/_rels/slide83.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5.png"/><Relationship Id="rId12" Type="http://schemas.openxmlformats.org/officeDocument/2006/relationships/image" Target="../media/image90.png"/><Relationship Id="rId2"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image" Target="../media/image840.png"/><Relationship Id="rId5" Type="http://schemas.openxmlformats.org/officeDocument/2006/relationships/image" Target="../media/image83.png"/><Relationship Id="rId4" Type="http://schemas.openxmlformats.org/officeDocument/2006/relationships/image" Target="../media/image82.png"/></Relationships>
</file>

<file path=ppt/slides/_rels/slide84.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image" Target="../media/image91.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image" Target="../media/image840.png"/><Relationship Id="rId5" Type="http://schemas.openxmlformats.org/officeDocument/2006/relationships/image" Target="../media/image83.png"/><Relationship Id="rId4" Type="http://schemas.openxmlformats.org/officeDocument/2006/relationships/image" Target="../media/image82.png"/></Relationships>
</file>

<file path=ppt/slides/_rels/slide85.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image" Target="../media/image840.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87.png"/><Relationship Id="rId14" Type="http://schemas.openxmlformats.org/officeDocument/2006/relationships/image" Target="../media/image92.png"/></Relationships>
</file>

<file path=ppt/slides/_rels/slide86.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93.png"/><Relationship Id="rId7" Type="http://schemas.openxmlformats.org/officeDocument/2006/relationships/image" Target="../media/image95.png"/><Relationship Id="rId2" Type="http://schemas.openxmlformats.org/officeDocument/2006/relationships/image" Target="../media/image43.png"/><Relationship Id="rId1" Type="http://schemas.openxmlformats.org/officeDocument/2006/relationships/slideLayout" Target="../slideLayouts/slideLayout3.xml"/><Relationship Id="rId6" Type="http://schemas.openxmlformats.org/officeDocument/2006/relationships/image" Target="../media/image94.png"/><Relationship Id="rId5" Type="http://schemas.openxmlformats.org/officeDocument/2006/relationships/image" Target="../media/image49.png"/><Relationship Id="rId10" Type="http://schemas.openxmlformats.org/officeDocument/2006/relationships/image" Target="../media/image98.png"/><Relationship Id="rId4" Type="http://schemas.openxmlformats.org/officeDocument/2006/relationships/image" Target="../media/image48.png"/><Relationship Id="rId9" Type="http://schemas.openxmlformats.org/officeDocument/2006/relationships/image" Target="../media/image97.png"/></Relationships>
</file>

<file path=ppt/slides/_rels/slide87.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93.png"/><Relationship Id="rId7" Type="http://schemas.openxmlformats.org/officeDocument/2006/relationships/image" Target="../media/image95.png"/><Relationship Id="rId2" Type="http://schemas.openxmlformats.org/officeDocument/2006/relationships/image" Target="../media/image43.png"/><Relationship Id="rId1" Type="http://schemas.openxmlformats.org/officeDocument/2006/relationships/slideLayout" Target="../slideLayouts/slideLayout3.xml"/><Relationship Id="rId6" Type="http://schemas.openxmlformats.org/officeDocument/2006/relationships/image" Target="../media/image94.png"/><Relationship Id="rId5" Type="http://schemas.openxmlformats.org/officeDocument/2006/relationships/image" Target="../media/image49.png"/><Relationship Id="rId10" Type="http://schemas.openxmlformats.org/officeDocument/2006/relationships/image" Target="../media/image98.png"/><Relationship Id="rId4" Type="http://schemas.openxmlformats.org/officeDocument/2006/relationships/image" Target="../media/image48.png"/><Relationship Id="rId9" Type="http://schemas.openxmlformats.org/officeDocument/2006/relationships/image" Target="../media/image9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370.png"/><Relationship Id="rId1" Type="http://schemas.openxmlformats.org/officeDocument/2006/relationships/slideLayout" Target="../slideLayouts/slideLayout6.xml"/><Relationship Id="rId10" Type="http://schemas.openxmlformats.org/officeDocument/2006/relationships/image" Target="../media/image103.png"/><Relationship Id="rId4" Type="http://schemas.openxmlformats.org/officeDocument/2006/relationships/image" Target="../media/image83.png"/><Relationship Id="rId9" Type="http://schemas.openxmlformats.org/officeDocument/2006/relationships/image" Target="../media/image102.png"/></Relationships>
</file>

<file path=ppt/slides/_rels/slide9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51.png"/><Relationship Id="rId1" Type="http://schemas.openxmlformats.org/officeDocument/2006/relationships/slideLayout" Target="../slideLayouts/slideLayout6.xml"/><Relationship Id="rId11" Type="http://schemas.openxmlformats.org/officeDocument/2006/relationships/image" Target="../media/image101.png"/><Relationship Id="rId5" Type="http://schemas.openxmlformats.org/officeDocument/2006/relationships/image" Target="../media/image100.png"/><Relationship Id="rId10" Type="http://schemas.openxmlformats.org/officeDocument/2006/relationships/image" Target="../media/image103.png"/><Relationship Id="rId4" Type="http://schemas.openxmlformats.org/officeDocument/2006/relationships/image" Target="../media/image83.png"/></Relationships>
</file>

<file path=ppt/slides/_rels/slide9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image" Target="../media/image1000.png"/><Relationship Id="rId11" Type="http://schemas.openxmlformats.org/officeDocument/2006/relationships/image" Target="../media/image104.png"/><Relationship Id="rId5" Type="http://schemas.openxmlformats.org/officeDocument/2006/relationships/image" Target="../media/image100.png"/><Relationship Id="rId10" Type="http://schemas.openxmlformats.org/officeDocument/2006/relationships/image" Target="../media/image103.png"/><Relationship Id="rId4" Type="http://schemas.openxmlformats.org/officeDocument/2006/relationships/image" Target="../media/image83.png"/></Relationships>
</file>

<file path=ppt/slides/_rels/slide93.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105.png"/><Relationship Id="rId2"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image" Target="../media/image1000.png"/><Relationship Id="rId11" Type="http://schemas.openxmlformats.org/officeDocument/2006/relationships/image" Target="../media/image106.png"/><Relationship Id="rId5" Type="http://schemas.openxmlformats.org/officeDocument/2006/relationships/image" Target="../media/image100.png"/><Relationship Id="rId10" Type="http://schemas.openxmlformats.org/officeDocument/2006/relationships/image" Target="../media/image103.png"/><Relationship Id="rId4" Type="http://schemas.openxmlformats.org/officeDocument/2006/relationships/image" Target="../media/image83.png"/></Relationships>
</file>

<file path=ppt/slides/_rels/slide94.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105.png"/><Relationship Id="rId2" Type="http://schemas.openxmlformats.org/officeDocument/2006/relationships/image" Target="../media/image51.png"/><Relationship Id="rId1" Type="http://schemas.openxmlformats.org/officeDocument/2006/relationships/slideLayout" Target="../slideLayouts/slideLayout6.xml"/><Relationship Id="rId6" Type="http://schemas.openxmlformats.org/officeDocument/2006/relationships/image" Target="../media/image1000.png"/><Relationship Id="rId11" Type="http://schemas.openxmlformats.org/officeDocument/2006/relationships/image" Target="../media/image107.png"/><Relationship Id="rId5" Type="http://schemas.openxmlformats.org/officeDocument/2006/relationships/image" Target="../media/image100.png"/><Relationship Id="rId10" Type="http://schemas.openxmlformats.org/officeDocument/2006/relationships/image" Target="../media/image103.png"/><Relationship Id="rId4" Type="http://schemas.openxmlformats.org/officeDocument/2006/relationships/image" Target="../media/image83.png"/><Relationship Id="rId14" Type="http://schemas.openxmlformats.org/officeDocument/2006/relationships/image" Target="../media/image1071.png"/></Relationships>
</file>

<file path=ppt/slides/_rels/slide95.xml.rels><?xml version="1.0" encoding="UTF-8" standalone="yes"?>
<Relationships xmlns="http://schemas.openxmlformats.org/package/2006/relationships"><Relationship Id="rId8" Type="http://schemas.openxmlformats.org/officeDocument/2006/relationships/image" Target="../media/image1090.png"/><Relationship Id="rId3" Type="http://schemas.openxmlformats.org/officeDocument/2006/relationships/image" Target="../media/image93.png"/><Relationship Id="rId7"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3.xml"/><Relationship Id="rId6" Type="http://schemas.openxmlformats.org/officeDocument/2006/relationships/image" Target="../media/image94.png"/><Relationship Id="rId5" Type="http://schemas.openxmlformats.org/officeDocument/2006/relationships/image" Target="../media/image49.png"/><Relationship Id="rId10" Type="http://schemas.openxmlformats.org/officeDocument/2006/relationships/image" Target="../media/image98.png"/><Relationship Id="rId4" Type="http://schemas.openxmlformats.org/officeDocument/2006/relationships/image" Target="../media/image48.png"/><Relationship Id="rId9" Type="http://schemas.openxmlformats.org/officeDocument/2006/relationships/image" Target="../media/image110.png"/></Relationships>
</file>

<file path=ppt/slides/_rels/slide96.xml.rels><?xml version="1.0" encoding="UTF-8" standalone="yes"?>
<Relationships xmlns="http://schemas.openxmlformats.org/package/2006/relationships"><Relationship Id="rId8" Type="http://schemas.openxmlformats.org/officeDocument/2006/relationships/image" Target="../media/image1090.png"/><Relationship Id="rId3" Type="http://schemas.openxmlformats.org/officeDocument/2006/relationships/image" Target="../media/image93.png"/><Relationship Id="rId7"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3.xml"/><Relationship Id="rId6" Type="http://schemas.openxmlformats.org/officeDocument/2006/relationships/image" Target="../media/image94.png"/><Relationship Id="rId5" Type="http://schemas.openxmlformats.org/officeDocument/2006/relationships/image" Target="../media/image49.png"/><Relationship Id="rId10" Type="http://schemas.openxmlformats.org/officeDocument/2006/relationships/image" Target="../media/image98.png"/><Relationship Id="rId4" Type="http://schemas.openxmlformats.org/officeDocument/2006/relationships/image" Target="../media/image48.png"/><Relationship Id="rId9" Type="http://schemas.openxmlformats.org/officeDocument/2006/relationships/image" Target="../media/image110.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63.png"/><Relationship Id="rId1" Type="http://schemas.openxmlformats.org/officeDocument/2006/relationships/slideLayout" Target="../slideLayouts/slideLayout6.xml"/><Relationship Id="rId11" Type="http://schemas.openxmlformats.org/officeDocument/2006/relationships/image" Target="../media/image121.png"/><Relationship Id="rId4" Type="http://schemas.openxmlformats.org/officeDocument/2006/relationships/image" Target="../media/image114.png"/></Relationships>
</file>

<file path=ppt/slides/_rels/slide10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630.png"/><Relationship Id="rId1" Type="http://schemas.openxmlformats.org/officeDocument/2006/relationships/slideLayout" Target="../slideLayouts/slideLayout6.xml"/><Relationship Id="rId6" Type="http://schemas.openxmlformats.org/officeDocument/2006/relationships/image" Target="../media/image112.png"/><Relationship Id="rId5" Type="http://schemas.openxmlformats.org/officeDocument/2006/relationships/image" Target="../media/image115.png"/><Relationship Id="rId4" Type="http://schemas.openxmlformats.org/officeDocument/2006/relationships/image" Target="../media/image114.png"/></Relationships>
</file>

<file path=ppt/slides/_rels/slide102.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117.png"/><Relationship Id="rId2" Type="http://schemas.openxmlformats.org/officeDocument/2006/relationships/image" Target="../media/image630.png"/><Relationship Id="rId1" Type="http://schemas.openxmlformats.org/officeDocument/2006/relationships/slideLayout" Target="../slideLayouts/slideLayout6.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103.xml.rels><?xml version="1.0" encoding="UTF-8" standalone="yes"?>
<Relationships xmlns="http://schemas.openxmlformats.org/package/2006/relationships"><Relationship Id="rId3" Type="http://schemas.openxmlformats.org/officeDocument/2006/relationships/image" Target="../media/image113.png"/><Relationship Id="rId7" Type="http://schemas.openxmlformats.org/officeDocument/2006/relationships/image" Target="../media/image1170.png"/><Relationship Id="rId2" Type="http://schemas.openxmlformats.org/officeDocument/2006/relationships/image" Target="../media/image69.png"/><Relationship Id="rId1" Type="http://schemas.openxmlformats.org/officeDocument/2006/relationships/slideLayout" Target="../slideLayouts/slideLayout6.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 Id="rId14" Type="http://schemas.openxmlformats.org/officeDocument/2006/relationships/image" Target="../media/image124.png"/></Relationships>
</file>

<file path=ppt/slides/_rels/slide104.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3.png"/><Relationship Id="rId7" Type="http://schemas.openxmlformats.org/officeDocument/2006/relationships/image" Target="../media/image1170.png"/><Relationship Id="rId2" Type="http://schemas.openxmlformats.org/officeDocument/2006/relationships/image" Target="../media/image80.png"/><Relationship Id="rId1" Type="http://schemas.openxmlformats.org/officeDocument/2006/relationships/slideLayout" Target="../slideLayouts/slideLayout6.xml"/><Relationship Id="rId6" Type="http://schemas.openxmlformats.org/officeDocument/2006/relationships/image" Target="../media/image116.png"/><Relationship Id="rId5" Type="http://schemas.openxmlformats.org/officeDocument/2006/relationships/image" Target="../media/image115.png"/><Relationship Id="rId15" Type="http://schemas.openxmlformats.org/officeDocument/2006/relationships/image" Target="../media/image125.png"/><Relationship Id="rId4" Type="http://schemas.openxmlformats.org/officeDocument/2006/relationships/image" Target="../media/image114.png"/></Relationships>
</file>

<file path=ppt/slides/_rels/slide105.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3.png"/><Relationship Id="rId7" Type="http://schemas.openxmlformats.org/officeDocument/2006/relationships/image" Target="../media/image1170.png"/><Relationship Id="rId2" Type="http://schemas.openxmlformats.org/officeDocument/2006/relationships/image" Target="../media/image69.png"/><Relationship Id="rId16" Type="http://schemas.openxmlformats.org/officeDocument/2006/relationships/image" Target="../media/image126.png"/><Relationship Id="rId1" Type="http://schemas.openxmlformats.org/officeDocument/2006/relationships/slideLayout" Target="../slideLayouts/slideLayout6.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 Id="rId9" Type="http://schemas.openxmlformats.org/officeDocument/2006/relationships/image" Target="../media/image119.png"/></Relationships>
</file>

<file path=ppt/slides/_rels/slide106.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3.png"/><Relationship Id="rId7" Type="http://schemas.openxmlformats.org/officeDocument/2006/relationships/image" Target="../media/image1170.png"/><Relationship Id="rId2" Type="http://schemas.openxmlformats.org/officeDocument/2006/relationships/image" Target="../media/image69.png"/><Relationship Id="rId1" Type="http://schemas.openxmlformats.org/officeDocument/2006/relationships/slideLayout" Target="../slideLayouts/slideLayout6.xml"/><Relationship Id="rId6" Type="http://schemas.openxmlformats.org/officeDocument/2006/relationships/image" Target="../media/image116.png"/><Relationship Id="rId11" Type="http://schemas.openxmlformats.org/officeDocument/2006/relationships/image" Target="../media/image122.png"/><Relationship Id="rId5" Type="http://schemas.openxmlformats.org/officeDocument/2006/relationships/image" Target="../media/image115.png"/><Relationship Id="rId10" Type="http://schemas.openxmlformats.org/officeDocument/2006/relationships/image" Target="../media/image120.png"/><Relationship Id="rId4" Type="http://schemas.openxmlformats.org/officeDocument/2006/relationships/image" Target="../media/image114.png"/><Relationship Id="rId9" Type="http://schemas.openxmlformats.org/officeDocument/2006/relationships/image" Target="../media/image119.png"/></Relationships>
</file>

<file path=ppt/slides/_rels/slide107.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8.png"/><Relationship Id="rId7" Type="http://schemas.openxmlformats.org/officeDocument/2006/relationships/image" Target="../media/image130.png"/><Relationship Id="rId2" Type="http://schemas.openxmlformats.org/officeDocument/2006/relationships/image" Target="../media/image43.png"/><Relationship Id="rId1" Type="http://schemas.openxmlformats.org/officeDocument/2006/relationships/slideLayout" Target="../slideLayouts/slideLayout3.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49.png"/><Relationship Id="rId10" Type="http://schemas.openxmlformats.org/officeDocument/2006/relationships/image" Target="../media/image133.png"/><Relationship Id="rId4" Type="http://schemas.openxmlformats.org/officeDocument/2006/relationships/image" Target="../media/image48.png"/><Relationship Id="rId9" Type="http://schemas.openxmlformats.org/officeDocument/2006/relationships/image" Target="../media/image132.png"/></Relationships>
</file>

<file path=ppt/slides/_rels/slide108.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8.png"/><Relationship Id="rId7" Type="http://schemas.openxmlformats.org/officeDocument/2006/relationships/image" Target="../media/image130.png"/><Relationship Id="rId2" Type="http://schemas.openxmlformats.org/officeDocument/2006/relationships/image" Target="../media/image43.png"/><Relationship Id="rId1" Type="http://schemas.openxmlformats.org/officeDocument/2006/relationships/slideLayout" Target="../slideLayouts/slideLayout3.xml"/><Relationship Id="rId6" Type="http://schemas.openxmlformats.org/officeDocument/2006/relationships/image" Target="../media/image129.png"/><Relationship Id="rId11" Type="http://schemas.openxmlformats.org/officeDocument/2006/relationships/image" Target="../media/image134.png"/><Relationship Id="rId5" Type="http://schemas.openxmlformats.org/officeDocument/2006/relationships/image" Target="../media/image49.png"/><Relationship Id="rId10" Type="http://schemas.openxmlformats.org/officeDocument/2006/relationships/image" Target="../media/image133.png"/><Relationship Id="rId4" Type="http://schemas.openxmlformats.org/officeDocument/2006/relationships/image" Target="../media/image48.png"/><Relationship Id="rId9" Type="http://schemas.openxmlformats.org/officeDocument/2006/relationships/image" Target="../media/image13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88.png"/><Relationship Id="rId1" Type="http://schemas.openxmlformats.org/officeDocument/2006/relationships/slideLayout" Target="../slideLayouts/slideLayout6.xml"/><Relationship Id="rId5" Type="http://schemas.openxmlformats.org/officeDocument/2006/relationships/image" Target="../media/image138.png"/><Relationship Id="rId4" Type="http://schemas.openxmlformats.org/officeDocument/2006/relationships/image" Target="../media/image114.png"/></Relationships>
</file>

<file path=ppt/slides/_rels/slide11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800.png"/><Relationship Id="rId1" Type="http://schemas.openxmlformats.org/officeDocument/2006/relationships/slideLayout" Target="../slideLayouts/slideLayout6.xml"/><Relationship Id="rId6" Type="http://schemas.openxmlformats.org/officeDocument/2006/relationships/image" Target="../media/image115.png"/><Relationship Id="rId10" Type="http://schemas.openxmlformats.org/officeDocument/2006/relationships/image" Target="../media/image139.png"/><Relationship Id="rId4" Type="http://schemas.openxmlformats.org/officeDocument/2006/relationships/image" Target="../media/image114.png"/></Relationships>
</file>

<file path=ppt/slides/_rels/slide113.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16.png"/><Relationship Id="rId2" Type="http://schemas.openxmlformats.org/officeDocument/2006/relationships/image" Target="../media/image800.png"/><Relationship Id="rId1" Type="http://schemas.openxmlformats.org/officeDocument/2006/relationships/slideLayout" Target="../slideLayouts/slideLayout6.xml"/><Relationship Id="rId6" Type="http://schemas.openxmlformats.org/officeDocument/2006/relationships/image" Target="../media/image115.png"/><Relationship Id="rId11" Type="http://schemas.openxmlformats.org/officeDocument/2006/relationships/image" Target="../media/image140.png"/><Relationship Id="rId4" Type="http://schemas.openxmlformats.org/officeDocument/2006/relationships/image" Target="../media/image114.png"/></Relationships>
</file>

<file path=ppt/slides/_rels/slide114.xml.rels><?xml version="1.0" encoding="UTF-8" standalone="yes"?>
<Relationships xmlns="http://schemas.openxmlformats.org/package/2006/relationships"><Relationship Id="rId8" Type="http://schemas.openxmlformats.org/officeDocument/2006/relationships/image" Target="../media/image1170.png"/><Relationship Id="rId3" Type="http://schemas.openxmlformats.org/officeDocument/2006/relationships/image" Target="../media/image137.png"/><Relationship Id="rId7" Type="http://schemas.openxmlformats.org/officeDocument/2006/relationships/image" Target="../media/image116.png"/><Relationship Id="rId12" Type="http://schemas.openxmlformats.org/officeDocument/2006/relationships/image" Target="../media/image141.png"/><Relationship Id="rId2" Type="http://schemas.openxmlformats.org/officeDocument/2006/relationships/image" Target="../media/image800.png"/><Relationship Id="rId1" Type="http://schemas.openxmlformats.org/officeDocument/2006/relationships/slideLayout" Target="../slideLayouts/slideLayout6.xml"/><Relationship Id="rId6" Type="http://schemas.openxmlformats.org/officeDocument/2006/relationships/image" Target="../media/image115.png"/><Relationship Id="rId4" Type="http://schemas.openxmlformats.org/officeDocument/2006/relationships/image" Target="../media/image114.png"/></Relationships>
</file>

<file path=ppt/slides/_rels/slide115.xml.rels><?xml version="1.0" encoding="UTF-8" standalone="yes"?>
<Relationships xmlns="http://schemas.openxmlformats.org/package/2006/relationships"><Relationship Id="rId8" Type="http://schemas.openxmlformats.org/officeDocument/2006/relationships/image" Target="../media/image1170.png"/><Relationship Id="rId13" Type="http://schemas.openxmlformats.org/officeDocument/2006/relationships/image" Target="../media/image142.png"/><Relationship Id="rId3" Type="http://schemas.openxmlformats.org/officeDocument/2006/relationships/image" Target="../media/image137.png"/><Relationship Id="rId7" Type="http://schemas.openxmlformats.org/officeDocument/2006/relationships/image" Target="../media/image116.png"/><Relationship Id="rId2" Type="http://schemas.openxmlformats.org/officeDocument/2006/relationships/image" Target="../media/image800.png"/><Relationship Id="rId1" Type="http://schemas.openxmlformats.org/officeDocument/2006/relationships/slideLayout" Target="../slideLayouts/slideLayout6.xml"/><Relationship Id="rId6" Type="http://schemas.openxmlformats.org/officeDocument/2006/relationships/image" Target="../media/image115.png"/><Relationship Id="rId4" Type="http://schemas.openxmlformats.org/officeDocument/2006/relationships/image" Target="../media/image114.png"/><Relationship Id="rId9" Type="http://schemas.openxmlformats.org/officeDocument/2006/relationships/image" Target="../media/image118.png"/></Relationships>
</file>

<file path=ppt/slides/_rels/slide116.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28.png"/><Relationship Id="rId7" Type="http://schemas.openxmlformats.org/officeDocument/2006/relationships/image" Target="../media/image130.png"/><Relationship Id="rId2" Type="http://schemas.openxmlformats.org/officeDocument/2006/relationships/image" Target="../media/image108.png"/><Relationship Id="rId1" Type="http://schemas.openxmlformats.org/officeDocument/2006/relationships/slideLayout" Target="../slideLayouts/slideLayout3.xml"/><Relationship Id="rId6" Type="http://schemas.openxmlformats.org/officeDocument/2006/relationships/image" Target="../media/image129.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144.png"/></Relationships>
</file>

<file path=ppt/slides/_rels/slide117.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28.png"/><Relationship Id="rId7" Type="http://schemas.openxmlformats.org/officeDocument/2006/relationships/image" Target="../media/image130.png"/><Relationship Id="rId2" Type="http://schemas.openxmlformats.org/officeDocument/2006/relationships/image" Target="../media/image108.png"/><Relationship Id="rId1" Type="http://schemas.openxmlformats.org/officeDocument/2006/relationships/slideLayout" Target="../slideLayouts/slideLayout3.xml"/><Relationship Id="rId6" Type="http://schemas.openxmlformats.org/officeDocument/2006/relationships/image" Target="../media/image129.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14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image" Target="../media/image1450.png"/><Relationship Id="rId1" Type="http://schemas.openxmlformats.org/officeDocument/2006/relationships/slideLayout" Target="../slideLayouts/slideLayout6.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122.xml.rels><?xml version="1.0" encoding="UTF-8" standalone="yes"?>
<Relationships xmlns="http://schemas.openxmlformats.org/package/2006/relationships"><Relationship Id="rId8" Type="http://schemas.openxmlformats.org/officeDocument/2006/relationships/image" Target="../media/image153.png"/><Relationship Id="rId7" Type="http://schemas.openxmlformats.org/officeDocument/2006/relationships/image" Target="../media/image152.png"/><Relationship Id="rId2" Type="http://schemas.openxmlformats.org/officeDocument/2006/relationships/image" Target="../media/image1500.png"/><Relationship Id="rId1" Type="http://schemas.openxmlformats.org/officeDocument/2006/relationships/slideLayout" Target="../slideLayouts/slideLayout3.xml"/><Relationship Id="rId6" Type="http://schemas.openxmlformats.org/officeDocument/2006/relationships/image" Target="../media/image151.png"/><Relationship Id="rId5" Type="http://schemas.openxmlformats.org/officeDocument/2006/relationships/image" Target="../media/image49.png"/><Relationship Id="rId10" Type="http://schemas.openxmlformats.org/officeDocument/2006/relationships/image" Target="../media/image155.png"/><Relationship Id="rId4" Type="http://schemas.openxmlformats.org/officeDocument/2006/relationships/image" Target="../media/image48.png"/><Relationship Id="rId9" Type="http://schemas.openxmlformats.org/officeDocument/2006/relationships/image" Target="../media/image154.png"/></Relationships>
</file>

<file path=ppt/slides/_rels/slide123.xml.rels><?xml version="1.0" encoding="UTF-8" standalone="yes"?>
<Relationships xmlns="http://schemas.openxmlformats.org/package/2006/relationships"><Relationship Id="rId8" Type="http://schemas.openxmlformats.org/officeDocument/2006/relationships/image" Target="../media/image153.png"/><Relationship Id="rId7" Type="http://schemas.openxmlformats.org/officeDocument/2006/relationships/image" Target="../media/image152.png"/><Relationship Id="rId2" Type="http://schemas.openxmlformats.org/officeDocument/2006/relationships/image" Target="../media/image1500.png"/><Relationship Id="rId1" Type="http://schemas.openxmlformats.org/officeDocument/2006/relationships/slideLayout" Target="../slideLayouts/slideLayout3.xml"/><Relationship Id="rId6" Type="http://schemas.openxmlformats.org/officeDocument/2006/relationships/image" Target="../media/image151.png"/><Relationship Id="rId5" Type="http://schemas.openxmlformats.org/officeDocument/2006/relationships/image" Target="../media/image49.png"/><Relationship Id="rId10" Type="http://schemas.openxmlformats.org/officeDocument/2006/relationships/image" Target="../media/image155.png"/><Relationship Id="rId4" Type="http://schemas.openxmlformats.org/officeDocument/2006/relationships/image" Target="../media/image48.png"/><Relationship Id="rId9" Type="http://schemas.openxmlformats.org/officeDocument/2006/relationships/image" Target="../media/image154.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8" Type="http://schemas.openxmlformats.org/officeDocument/2006/relationships/image" Target="../media/image163.png"/><Relationship Id="rId3" Type="http://schemas.openxmlformats.org/officeDocument/2006/relationships/image" Target="../media/image158.png"/><Relationship Id="rId7" Type="http://schemas.openxmlformats.org/officeDocument/2006/relationships/image" Target="../media/image162.png"/><Relationship Id="rId2" Type="http://schemas.openxmlformats.org/officeDocument/2006/relationships/image" Target="../media/image880.png"/><Relationship Id="rId1" Type="http://schemas.openxmlformats.org/officeDocument/2006/relationships/slideLayout" Target="../slideLayouts/slideLayout6.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s>
</file>

<file path=ppt/slides/_rels/slide127.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165.png"/><Relationship Id="rId7" Type="http://schemas.openxmlformats.org/officeDocument/2006/relationships/image" Target="../media/image169.png"/><Relationship Id="rId2" Type="http://schemas.openxmlformats.org/officeDocument/2006/relationships/image" Target="../media/image164.png"/><Relationship Id="rId1" Type="http://schemas.openxmlformats.org/officeDocument/2006/relationships/slideLayout" Target="../slideLayouts/slideLayout3.xml"/><Relationship Id="rId6" Type="http://schemas.openxmlformats.org/officeDocument/2006/relationships/image" Target="../media/image168.png"/><Relationship Id="rId5" Type="http://schemas.openxmlformats.org/officeDocument/2006/relationships/image" Target="../media/image167.png"/><Relationship Id="rId4" Type="http://schemas.openxmlformats.org/officeDocument/2006/relationships/image" Target="../media/image166.png"/><Relationship Id="rId9" Type="http://schemas.openxmlformats.org/officeDocument/2006/relationships/image" Target="../media/image171.png"/></Relationships>
</file>

<file path=ppt/slides/_rels/slide128.xml.rels><?xml version="1.0" encoding="UTF-8" standalone="yes"?>
<Relationships xmlns="http://schemas.openxmlformats.org/package/2006/relationships"><Relationship Id="rId8" Type="http://schemas.openxmlformats.org/officeDocument/2006/relationships/image" Target="../media/image170.png"/><Relationship Id="rId3" Type="http://schemas.openxmlformats.org/officeDocument/2006/relationships/image" Target="../media/image165.png"/><Relationship Id="rId7" Type="http://schemas.openxmlformats.org/officeDocument/2006/relationships/image" Target="../media/image169.png"/><Relationship Id="rId2" Type="http://schemas.openxmlformats.org/officeDocument/2006/relationships/image" Target="../media/image164.png"/><Relationship Id="rId1" Type="http://schemas.openxmlformats.org/officeDocument/2006/relationships/slideLayout" Target="../slideLayouts/slideLayout3.xml"/><Relationship Id="rId6" Type="http://schemas.openxmlformats.org/officeDocument/2006/relationships/image" Target="../media/image168.png"/><Relationship Id="rId5" Type="http://schemas.openxmlformats.org/officeDocument/2006/relationships/image" Target="../media/image167.png"/><Relationship Id="rId4" Type="http://schemas.openxmlformats.org/officeDocument/2006/relationships/image" Target="../media/image166.png"/><Relationship Id="rId9" Type="http://schemas.openxmlformats.org/officeDocument/2006/relationships/image" Target="../media/image17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3" Type="http://schemas.openxmlformats.org/officeDocument/2006/relationships/image" Target="../media/image1570.png"/><Relationship Id="rId2" Type="http://schemas.openxmlformats.org/officeDocument/2006/relationships/image" Target="../media/image1560.png"/><Relationship Id="rId1" Type="http://schemas.openxmlformats.org/officeDocument/2006/relationships/slideLayout" Target="../slideLayouts/slideLayout6.xml"/><Relationship Id="rId6" Type="http://schemas.openxmlformats.org/officeDocument/2006/relationships/image" Target="../media/image173.png"/><Relationship Id="rId5" Type="http://schemas.openxmlformats.org/officeDocument/2006/relationships/image" Target="../media/image1590.png"/><Relationship Id="rId4" Type="http://schemas.openxmlformats.org/officeDocument/2006/relationships/image" Target="../media/image1580.png"/></Relationships>
</file>

<file path=ppt/slides/_rels/slide132.xml.rels><?xml version="1.0" encoding="UTF-8" standalone="yes"?>
<Relationships xmlns="http://schemas.openxmlformats.org/package/2006/relationships"><Relationship Id="rId8" Type="http://schemas.openxmlformats.org/officeDocument/2006/relationships/image" Target="../media/image1660.png"/><Relationship Id="rId3" Type="http://schemas.openxmlformats.org/officeDocument/2006/relationships/image" Target="../media/image1610.png"/><Relationship Id="rId7" Type="http://schemas.openxmlformats.org/officeDocument/2006/relationships/image" Target="../media/image1650.png"/><Relationship Id="rId2" Type="http://schemas.openxmlformats.org/officeDocument/2006/relationships/image" Target="../media/image1600.png"/><Relationship Id="rId1" Type="http://schemas.openxmlformats.org/officeDocument/2006/relationships/slideLayout" Target="../slideLayouts/slideLayout3.xml"/><Relationship Id="rId6" Type="http://schemas.openxmlformats.org/officeDocument/2006/relationships/image" Target="../media/image1640.png"/><Relationship Id="rId5" Type="http://schemas.openxmlformats.org/officeDocument/2006/relationships/image" Target="../media/image1630.png"/><Relationship Id="rId4" Type="http://schemas.openxmlformats.org/officeDocument/2006/relationships/image" Target="../media/image1620.png"/></Relationships>
</file>

<file path=ppt/slides/_rels/slide133.xml.rels><?xml version="1.0" encoding="UTF-8" standalone="yes"?>
<Relationships xmlns="http://schemas.openxmlformats.org/package/2006/relationships"><Relationship Id="rId8" Type="http://schemas.openxmlformats.org/officeDocument/2006/relationships/image" Target="../media/image1660.png"/><Relationship Id="rId3" Type="http://schemas.openxmlformats.org/officeDocument/2006/relationships/image" Target="../media/image1610.png"/><Relationship Id="rId7" Type="http://schemas.openxmlformats.org/officeDocument/2006/relationships/image" Target="../media/image1650.png"/><Relationship Id="rId2" Type="http://schemas.openxmlformats.org/officeDocument/2006/relationships/image" Target="../media/image1600.png"/><Relationship Id="rId1" Type="http://schemas.openxmlformats.org/officeDocument/2006/relationships/slideLayout" Target="../slideLayouts/slideLayout3.xml"/><Relationship Id="rId6" Type="http://schemas.openxmlformats.org/officeDocument/2006/relationships/image" Target="../media/image1640.png"/><Relationship Id="rId5" Type="http://schemas.openxmlformats.org/officeDocument/2006/relationships/image" Target="../media/image1630.png"/><Relationship Id="rId4" Type="http://schemas.openxmlformats.org/officeDocument/2006/relationships/image" Target="../media/image1620.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3" Type="http://schemas.openxmlformats.org/officeDocument/2006/relationships/image" Target="../media/image176.png"/><Relationship Id="rId7" Type="http://schemas.openxmlformats.org/officeDocument/2006/relationships/image" Target="../media/image162.png"/><Relationship Id="rId2" Type="http://schemas.openxmlformats.org/officeDocument/2006/relationships/image" Target="../media/image123.png"/><Relationship Id="rId1" Type="http://schemas.openxmlformats.org/officeDocument/2006/relationships/slideLayout" Target="../slideLayouts/slideLayout6.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_rels/slide137.xml.rels><?xml version="1.0" encoding="UTF-8" standalone="yes"?>
<Relationships xmlns="http://schemas.openxmlformats.org/package/2006/relationships"><Relationship Id="rId8" Type="http://schemas.openxmlformats.org/officeDocument/2006/relationships/image" Target="../media/image183.png"/><Relationship Id="rId3" Type="http://schemas.openxmlformats.org/officeDocument/2006/relationships/image" Target="../media/image165.png"/><Relationship Id="rId7" Type="http://schemas.openxmlformats.org/officeDocument/2006/relationships/image" Target="../media/image182.png"/><Relationship Id="rId2" Type="http://schemas.openxmlformats.org/officeDocument/2006/relationships/image" Target="../media/image164.png"/><Relationship Id="rId1" Type="http://schemas.openxmlformats.org/officeDocument/2006/relationships/slideLayout" Target="../slideLayouts/slideLayout3.xml"/><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66.png"/></Relationships>
</file>

<file path=ppt/slides/_rels/slide138.xml.rels><?xml version="1.0" encoding="UTF-8" standalone="yes"?>
<Relationships xmlns="http://schemas.openxmlformats.org/package/2006/relationships"><Relationship Id="rId8" Type="http://schemas.openxmlformats.org/officeDocument/2006/relationships/image" Target="../media/image183.png"/><Relationship Id="rId3" Type="http://schemas.openxmlformats.org/officeDocument/2006/relationships/image" Target="../media/image165.png"/><Relationship Id="rId7" Type="http://schemas.openxmlformats.org/officeDocument/2006/relationships/image" Target="../media/image182.png"/><Relationship Id="rId2" Type="http://schemas.openxmlformats.org/officeDocument/2006/relationships/image" Target="../media/image164.png"/><Relationship Id="rId1" Type="http://schemas.openxmlformats.org/officeDocument/2006/relationships/slideLayout" Target="../slideLayouts/slideLayout3.xml"/><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66.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p:txBody>
          <a:bodyPr/>
          <a:lstStyle/>
          <a:p>
            <a:pPr>
              <a:lnSpc>
                <a:spcPct val="100000"/>
              </a:lnSpc>
            </a:pPr>
            <a:r>
              <a:rPr lang="en-US" sz="4800" b="0" dirty="0"/>
              <a:t>Unit-2 </a:t>
            </a:r>
            <a:br>
              <a:rPr lang="en-US" sz="4800" b="0" dirty="0"/>
            </a:br>
            <a:r>
              <a:rPr lang="en-US" sz="5500" dirty="0"/>
              <a:t>Process Management</a:t>
            </a:r>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pPr>
              <a:spcAft>
                <a:spcPts val="600"/>
              </a:spcAft>
            </a:pPr>
            <a:r>
              <a:rPr lang="en-US" dirty="0"/>
              <a:t>u</a:t>
            </a:r>
            <a:r>
              <a:rPr lang="en-US" dirty="0" smtClean="0"/>
              <a:t>mesh.thoriya@darshan.ac.in</a:t>
            </a:r>
            <a:endParaRPr lang="en-US" dirty="0"/>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endParaRPr lang="en-US" dirty="0"/>
          </a:p>
          <a:p>
            <a:r>
              <a:rPr lang="en-US" dirty="0" smtClean="0"/>
              <a:t>9714233355</a:t>
            </a:r>
            <a:endParaRPr lang="en-US" dirty="0"/>
          </a:p>
          <a:p>
            <a:endParaRPr lang="en-US" dirty="0"/>
          </a:p>
        </p:txBody>
      </p:sp>
      <p:sp>
        <p:nvSpPr>
          <p:cNvPr id="5" name="Text Placeholder 4">
            <a:extLst>
              <a:ext uri="{FF2B5EF4-FFF2-40B4-BE49-F238E27FC236}">
                <a16:creationId xmlns:a16="http://schemas.microsoft.com/office/drawing/2014/main" id="{DA9A7BEC-5E94-41D6-95AB-3D2BFB0D5E9F}"/>
              </a:ext>
            </a:extLst>
          </p:cNvPr>
          <p:cNvSpPr>
            <a:spLocks noGrp="1"/>
          </p:cNvSpPr>
          <p:nvPr>
            <p:ph type="body" sz="quarter" idx="13"/>
          </p:nvPr>
        </p:nvSpPr>
        <p:spPr/>
        <p:txBody>
          <a:bodyPr/>
          <a:lstStyle/>
          <a:p>
            <a:pPr>
              <a:spcAft>
                <a:spcPts val="600"/>
              </a:spcAft>
            </a:pPr>
            <a:r>
              <a:rPr lang="en-US" sz="1400" dirty="0"/>
              <a:t>Computer Science &amp; Engineering Department</a:t>
            </a:r>
          </a:p>
        </p:txBody>
      </p:sp>
      <p:sp>
        <p:nvSpPr>
          <p:cNvPr id="14" name="Text Placeholder 13">
            <a:extLst>
              <a:ext uri="{FF2B5EF4-FFF2-40B4-BE49-F238E27FC236}">
                <a16:creationId xmlns:a16="http://schemas.microsoft.com/office/drawing/2014/main" id="{ABE85B2E-33FC-6B45-7B2E-92B4F7EF494B}"/>
              </a:ext>
            </a:extLst>
          </p:cNvPr>
          <p:cNvSpPr>
            <a:spLocks noGrp="1"/>
          </p:cNvSpPr>
          <p:nvPr>
            <p:ph type="body" sz="quarter" idx="16"/>
          </p:nvPr>
        </p:nvSpPr>
        <p:spPr/>
        <p:txBody>
          <a:bodyPr/>
          <a:lstStyle/>
          <a:p>
            <a:pPr>
              <a:lnSpc>
                <a:spcPct val="100000"/>
              </a:lnSpc>
            </a:pPr>
            <a:r>
              <a:rPr lang="en-US" b="1" dirty="0"/>
              <a:t>Operating</a:t>
            </a:r>
            <a:r>
              <a:rPr lang="en-US" b="1" dirty="0">
                <a:latin typeface="Roboto Condensed Light" panose="02000000000000000000" pitchFamily="2" charset="0"/>
                <a:ea typeface="Roboto Condensed Light" panose="02000000000000000000" pitchFamily="2" charset="0"/>
              </a:rPr>
              <a:t> </a:t>
            </a:r>
            <a:r>
              <a:rPr lang="en-US" b="1" dirty="0"/>
              <a:t>System </a:t>
            </a:r>
            <a:r>
              <a:rPr lang="en-US" b="1" dirty="0">
                <a:latin typeface="Roboto Condensed Light" panose="02000000000000000000" pitchFamily="2" charset="0"/>
                <a:ea typeface="Roboto Condensed Light" panose="02000000000000000000" pitchFamily="2" charset="0"/>
              </a:rPr>
              <a:t>(OS)</a:t>
            </a:r>
          </a:p>
          <a:p>
            <a:pPr>
              <a:lnSpc>
                <a:spcPct val="100000"/>
              </a:lnSpc>
            </a:pPr>
            <a:r>
              <a:rPr lang="en-US" dirty="0">
                <a:latin typeface="Roboto Condensed Light" panose="02000000000000000000" pitchFamily="2" charset="0"/>
                <a:ea typeface="Roboto Condensed Light" panose="02000000000000000000" pitchFamily="2" charset="0"/>
              </a:rPr>
              <a:t>DU # 2304CS205</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Text Placeholder 15">
            <a:extLst>
              <a:ext uri="{FF2B5EF4-FFF2-40B4-BE49-F238E27FC236}">
                <a16:creationId xmlns:a16="http://schemas.microsoft.com/office/drawing/2014/main" id="{7C9D2D46-64B7-7EB1-5FBC-8717156BECDC}"/>
              </a:ext>
            </a:extLst>
          </p:cNvPr>
          <p:cNvSpPr>
            <a:spLocks noGrp="1"/>
          </p:cNvSpPr>
          <p:nvPr>
            <p:ph type="body" sz="quarter" idx="14"/>
          </p:nvPr>
        </p:nvSpPr>
        <p:spPr/>
        <p:txBody>
          <a:bodyPr/>
          <a:lstStyle/>
          <a:p>
            <a:pPr>
              <a:spcAft>
                <a:spcPts val="600"/>
              </a:spcAft>
            </a:pPr>
            <a:r>
              <a:rPr lang="en-US" dirty="0">
                <a:gradFill flip="none" rotWithShape="1">
                  <a:gsLst>
                    <a:gs pos="10000">
                      <a:schemeClr val="accent6">
                        <a:lumMod val="50000"/>
                      </a:schemeClr>
                    </a:gs>
                    <a:gs pos="100000">
                      <a:schemeClr val="accent6"/>
                    </a:gs>
                  </a:gsLst>
                  <a:lin ang="0" scaled="1"/>
                  <a:tileRect/>
                </a:gradFill>
              </a:rPr>
              <a:t>Prof. </a:t>
            </a:r>
            <a:r>
              <a:rPr lang="en-US" dirty="0" err="1" smtClean="0">
                <a:gradFill flip="none" rotWithShape="1">
                  <a:gsLst>
                    <a:gs pos="10000">
                      <a:schemeClr val="accent6">
                        <a:lumMod val="50000"/>
                      </a:schemeClr>
                    </a:gs>
                    <a:gs pos="100000">
                      <a:schemeClr val="accent6"/>
                    </a:gs>
                  </a:gsLst>
                  <a:lin ang="0" scaled="1"/>
                  <a:tileRect/>
                </a:gradFill>
              </a:rPr>
              <a:t>Umesh</a:t>
            </a:r>
            <a:r>
              <a:rPr lang="en-US" dirty="0" smtClean="0">
                <a:gradFill flip="none" rotWithShape="1">
                  <a:gsLst>
                    <a:gs pos="10000">
                      <a:schemeClr val="accent6">
                        <a:lumMod val="50000"/>
                      </a:schemeClr>
                    </a:gs>
                    <a:gs pos="100000">
                      <a:schemeClr val="accent6"/>
                    </a:gs>
                  </a:gsLst>
                  <a:lin ang="0" scaled="1"/>
                  <a:tileRect/>
                </a:gradFill>
              </a:rPr>
              <a:t> H. </a:t>
            </a:r>
            <a:r>
              <a:rPr lang="en-US" dirty="0" err="1" smtClean="0">
                <a:gradFill flip="none" rotWithShape="1">
                  <a:gsLst>
                    <a:gs pos="10000">
                      <a:schemeClr val="accent6">
                        <a:lumMod val="50000"/>
                      </a:schemeClr>
                    </a:gs>
                    <a:gs pos="100000">
                      <a:schemeClr val="accent6"/>
                    </a:gs>
                  </a:gsLst>
                  <a:lin ang="0" scaled="1"/>
                  <a:tileRect/>
                </a:gradFill>
              </a:rPr>
              <a:t>Thoriya</a:t>
            </a:r>
            <a:endParaRPr lang="en-US" dirty="0">
              <a:gradFill flip="none" rotWithShape="1">
                <a:gsLst>
                  <a:gs pos="10000">
                    <a:srgbClr val="B71B1C"/>
                  </a:gs>
                  <a:gs pos="95000">
                    <a:srgbClr val="ED524F"/>
                  </a:gs>
                </a:gsLst>
                <a:lin ang="0" scaled="1"/>
                <a:tileRect/>
              </a:gradFill>
            </a:endParaRPr>
          </a:p>
        </p:txBody>
      </p:sp>
      <p:sp>
        <p:nvSpPr>
          <p:cNvPr id="7" name="Picture Placeholder 6">
            <a:extLst>
              <a:ext uri="{FF2B5EF4-FFF2-40B4-BE49-F238E27FC236}">
                <a16:creationId xmlns:a16="http://schemas.microsoft.com/office/drawing/2014/main" id="{AE6FCF4A-F975-C0C2-C25F-D81555564EAA}"/>
              </a:ext>
            </a:extLst>
          </p:cNvPr>
          <p:cNvSpPr>
            <a:spLocks noGrp="1"/>
          </p:cNvSpPr>
          <p:nvPr>
            <p:ph type="pic" sz="quarter" idx="10"/>
          </p:nvPr>
        </p:nvSpPr>
        <p:spPr/>
      </p:sp>
      <p:pic>
        <p:nvPicPr>
          <p:cNvPr id="8" name="Picture Placeholder 23">
            <a:extLst>
              <a:ext uri="{FF2B5EF4-FFF2-40B4-BE49-F238E27FC236}">
                <a16:creationId xmlns:a16="http://schemas.microsoft.com/office/drawing/2014/main" id="{3EBBF228-CC66-ED4A-A378-9975D9DE9B2C}"/>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74103"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
        <p:nvSpPr>
          <p:cNvPr id="6" name="Rectangle 5">
            <a:extLst>
              <a:ext uri="{FF2B5EF4-FFF2-40B4-BE49-F238E27FC236}">
                <a16:creationId xmlns:a16="http://schemas.microsoft.com/office/drawing/2014/main" id="{3CC876AF-407D-00EE-0294-1920F29BABD6}"/>
              </a:ext>
            </a:extLst>
          </p:cNvPr>
          <p:cNvSpPr/>
          <p:nvPr/>
        </p:nvSpPr>
        <p:spPr>
          <a:xfrm>
            <a:off x="678112" y="3889663"/>
            <a:ext cx="6916678" cy="646331"/>
          </a:xfrm>
          <a:prstGeom prst="rect">
            <a:avLst/>
          </a:prstGeom>
        </p:spPr>
        <p:txBody>
          <a:bodyPr wrap="square">
            <a:spAutoFit/>
          </a:bodyPr>
          <a:lstStyle/>
          <a:p>
            <a:pPr algn="just"/>
            <a:r>
              <a:rPr lang="en-IN" sz="1600" b="1" i="1" u="none" strike="noStrike" baseline="0" dirty="0">
                <a:latin typeface="Roboto Condensed,Bold"/>
              </a:rPr>
              <a:t>CO2:</a:t>
            </a:r>
            <a:r>
              <a:rPr lang="en-IN" sz="1600" b="0" i="1" u="none" strike="noStrike" baseline="0" dirty="0">
                <a:latin typeface="Roboto Condensed,Bold"/>
              </a:rPr>
              <a:t> </a:t>
            </a:r>
            <a:r>
              <a:rPr lang="en-US" sz="1800" b="1" i="1" u="none" strike="noStrike" kern="1200" baseline="0" dirty="0">
                <a:solidFill>
                  <a:schemeClr val="tx1"/>
                </a:solidFill>
                <a:latin typeface="+mn-lt"/>
                <a:ea typeface="+mn-ea"/>
                <a:cs typeface="+mn-cs"/>
              </a:rPr>
              <a:t>At the end of this unit, students will be able to,</a:t>
            </a:r>
          </a:p>
          <a:p>
            <a:pPr algn="just"/>
            <a:r>
              <a:rPr lang="en-US" b="1" dirty="0"/>
              <a:t>        implement</a:t>
            </a:r>
            <a:r>
              <a:rPr lang="en-US" dirty="0"/>
              <a:t> the CPU scheduling algorithms for Process management.</a:t>
            </a:r>
            <a:endParaRPr lang="en-IN" sz="1600" b="0" i="1" dirty="0"/>
          </a:p>
        </p:txBody>
      </p:sp>
    </p:spTree>
    <p:extLst>
      <p:ext uri="{BB962C8B-B14F-4D97-AF65-F5344CB8AC3E}">
        <p14:creationId xmlns:p14="http://schemas.microsoft.com/office/powerpoint/2010/main" val="661001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634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DAC9BCC-6D7A-4119-BBFE-F1E0245720C7}"/>
              </a:ext>
            </a:extLst>
          </p:cNvPr>
          <p:cNvSpPr txBox="1"/>
          <p:nvPr/>
        </p:nvSpPr>
        <p:spPr>
          <a:xfrm>
            <a:off x="1458963" y="731706"/>
            <a:ext cx="9956750" cy="5059847"/>
          </a:xfrm>
          <a:prstGeom prst="rect">
            <a:avLst/>
          </a:prstGeom>
          <a:noFill/>
        </p:spPr>
        <p:txBody>
          <a:bodyPr wrap="square" rtlCol="0">
            <a:spAutoFit/>
          </a:bodyPr>
          <a:lstStyle/>
          <a:p>
            <a:r>
              <a:rPr lang="en-US" sz="2400" b="1" dirty="0"/>
              <a:t>Topics </a:t>
            </a:r>
          </a:p>
          <a:p>
            <a:pPr marL="742950" lvl="1" indent="-285750">
              <a:lnSpc>
                <a:spcPct val="130000"/>
              </a:lnSpc>
              <a:buFont typeface="Arial" panose="020B0604020202020204" pitchFamily="34" charset="0"/>
              <a:buChar char="•"/>
            </a:pPr>
            <a:r>
              <a:rPr lang="en-US" sz="2400" dirty="0"/>
              <a:t>Process Overview</a:t>
            </a:r>
          </a:p>
          <a:p>
            <a:pPr marL="742950" lvl="1" indent="-285750">
              <a:lnSpc>
                <a:spcPct val="130000"/>
              </a:lnSpc>
              <a:buFont typeface="Arial" panose="020B0604020202020204" pitchFamily="34" charset="0"/>
              <a:buChar char="•"/>
            </a:pPr>
            <a:r>
              <a:rPr lang="en-US" sz="2400" dirty="0"/>
              <a:t>Process States</a:t>
            </a:r>
          </a:p>
          <a:p>
            <a:pPr marL="742950" lvl="1" indent="-285750">
              <a:lnSpc>
                <a:spcPct val="130000"/>
              </a:lnSpc>
              <a:buFont typeface="Arial" panose="020B0604020202020204" pitchFamily="34" charset="0"/>
              <a:buChar char="•"/>
            </a:pPr>
            <a:r>
              <a:rPr lang="en-US" sz="2400" dirty="0"/>
              <a:t>Process State Transitions</a:t>
            </a:r>
          </a:p>
          <a:p>
            <a:pPr marL="742950" lvl="1" indent="-285750">
              <a:lnSpc>
                <a:spcPct val="130000"/>
              </a:lnSpc>
              <a:buFont typeface="Arial" panose="020B0604020202020204" pitchFamily="34" charset="0"/>
              <a:buChar char="•"/>
            </a:pPr>
            <a:r>
              <a:rPr lang="en-US" sz="2400" dirty="0"/>
              <a:t>Process Control Block</a:t>
            </a:r>
          </a:p>
          <a:p>
            <a:pPr marL="742950" lvl="1" indent="-285750">
              <a:lnSpc>
                <a:spcPct val="130000"/>
              </a:lnSpc>
              <a:buFont typeface="Arial" panose="020B0604020202020204" pitchFamily="34" charset="0"/>
              <a:buChar char="•"/>
            </a:pPr>
            <a:r>
              <a:rPr lang="en-US" sz="2400" dirty="0"/>
              <a:t>Context switching</a:t>
            </a:r>
          </a:p>
          <a:p>
            <a:pPr marL="742950" lvl="1" indent="-285750">
              <a:lnSpc>
                <a:spcPct val="130000"/>
              </a:lnSpc>
              <a:buFont typeface="Arial" panose="020B0604020202020204" pitchFamily="34" charset="0"/>
              <a:buChar char="•"/>
            </a:pPr>
            <a:r>
              <a:rPr lang="en-US" sz="2400" dirty="0"/>
              <a:t>Threads Concept</a:t>
            </a:r>
          </a:p>
          <a:p>
            <a:pPr marL="742950" lvl="1" indent="-285750">
              <a:lnSpc>
                <a:spcPct val="130000"/>
              </a:lnSpc>
              <a:buFont typeface="Arial" panose="020B0604020202020204" pitchFamily="34" charset="0"/>
              <a:buChar char="•"/>
            </a:pPr>
            <a:r>
              <a:rPr lang="en-US" sz="2400" dirty="0"/>
              <a:t>Types of threads</a:t>
            </a:r>
          </a:p>
          <a:p>
            <a:pPr marL="742950" lvl="1" indent="-285750">
              <a:lnSpc>
                <a:spcPct val="130000"/>
              </a:lnSpc>
              <a:buFont typeface="Arial" panose="020B0604020202020204" pitchFamily="34" charset="0"/>
              <a:buChar char="•"/>
            </a:pPr>
            <a:r>
              <a:rPr lang="en-US" sz="2400" dirty="0"/>
              <a:t>Basic concepts of CPU scheduling</a:t>
            </a:r>
          </a:p>
          <a:p>
            <a:pPr marL="742950" lvl="1" indent="-285750">
              <a:lnSpc>
                <a:spcPct val="130000"/>
              </a:lnSpc>
              <a:buFont typeface="Arial" panose="020B0604020202020204" pitchFamily="34" charset="0"/>
              <a:buChar char="•"/>
            </a:pPr>
            <a:r>
              <a:rPr lang="en-US" sz="2400" dirty="0"/>
              <a:t>Types of schedulers</a:t>
            </a:r>
          </a:p>
          <a:p>
            <a:endParaRPr lang="en-US" dirty="0">
              <a:solidFill>
                <a:schemeClr val="bg1">
                  <a:lumMod val="50000"/>
                </a:schemeClr>
              </a:solidFill>
            </a:endParaRPr>
          </a:p>
        </p:txBody>
      </p:sp>
    </p:spTree>
    <p:extLst>
      <p:ext uri="{BB962C8B-B14F-4D97-AF65-F5344CB8AC3E}">
        <p14:creationId xmlns:p14="http://schemas.microsoft.com/office/powerpoint/2010/main" val="3685608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506345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DAC9BCC-6D7A-4119-BBFE-F1E0245720C7}"/>
              </a:ext>
            </a:extLst>
          </p:cNvPr>
          <p:cNvSpPr txBox="1"/>
          <p:nvPr/>
        </p:nvSpPr>
        <p:spPr>
          <a:xfrm>
            <a:off x="1458963" y="731706"/>
            <a:ext cx="9956750" cy="6389441"/>
          </a:xfrm>
          <a:prstGeom prst="rect">
            <a:avLst/>
          </a:prstGeom>
          <a:noFill/>
        </p:spPr>
        <p:txBody>
          <a:bodyPr wrap="square" rtlCol="0">
            <a:spAutoFit/>
          </a:bodyPr>
          <a:lstStyle/>
          <a:p>
            <a:r>
              <a:rPr lang="en-US" sz="2400" b="1" dirty="0"/>
              <a:t>Topics</a:t>
            </a:r>
          </a:p>
          <a:p>
            <a:pPr marL="742950" lvl="1" indent="-285750">
              <a:lnSpc>
                <a:spcPct val="130000"/>
              </a:lnSpc>
              <a:buFont typeface="Arial" panose="020B0604020202020204" pitchFamily="34" charset="0"/>
              <a:buChar char="•"/>
            </a:pPr>
            <a:r>
              <a:rPr lang="en-US" sz="2400" dirty="0"/>
              <a:t>Scheduling criteria</a:t>
            </a:r>
          </a:p>
          <a:p>
            <a:pPr marL="742950" lvl="1" indent="-285750">
              <a:lnSpc>
                <a:spcPct val="130000"/>
              </a:lnSpc>
              <a:buFont typeface="Arial" panose="020B0604020202020204" pitchFamily="34" charset="0"/>
              <a:buChar char="•"/>
            </a:pPr>
            <a:r>
              <a:rPr lang="en-US" sz="2400" dirty="0"/>
              <a:t>Types of Scheduling Algorithms</a:t>
            </a:r>
          </a:p>
          <a:p>
            <a:pPr marL="1257300" lvl="2" indent="-342900">
              <a:lnSpc>
                <a:spcPct val="130000"/>
              </a:lnSpc>
              <a:buFont typeface="Wingdings" panose="05000000000000000000" pitchFamily="2" charset="2"/>
              <a:buChar char="§"/>
            </a:pPr>
            <a:r>
              <a:rPr lang="en-US" sz="2200" dirty="0"/>
              <a:t>Pre-emptive and Non-Pre-emptive</a:t>
            </a:r>
          </a:p>
          <a:p>
            <a:pPr marL="1257300" lvl="2" indent="-342900">
              <a:lnSpc>
                <a:spcPct val="130000"/>
              </a:lnSpc>
              <a:buFont typeface="Wingdings" panose="05000000000000000000" pitchFamily="2" charset="2"/>
              <a:buChar char="§"/>
            </a:pPr>
            <a:r>
              <a:rPr lang="en-US" sz="2200" dirty="0"/>
              <a:t>First Come First Serve</a:t>
            </a:r>
          </a:p>
          <a:p>
            <a:pPr marL="1257300" lvl="2" indent="-342900">
              <a:lnSpc>
                <a:spcPct val="130000"/>
              </a:lnSpc>
              <a:buFont typeface="Wingdings" panose="05000000000000000000" pitchFamily="2" charset="2"/>
              <a:buChar char="§"/>
            </a:pPr>
            <a:r>
              <a:rPr lang="en-US" sz="2200" dirty="0"/>
              <a:t>Shortest Job First</a:t>
            </a:r>
          </a:p>
          <a:p>
            <a:pPr marL="1257300" lvl="2" indent="-342900">
              <a:lnSpc>
                <a:spcPct val="130000"/>
              </a:lnSpc>
              <a:buFont typeface="Wingdings" panose="05000000000000000000" pitchFamily="2" charset="2"/>
              <a:buChar char="§"/>
            </a:pPr>
            <a:r>
              <a:rPr lang="en-US" sz="2200" dirty="0"/>
              <a:t>Shortest Remaining Time Next</a:t>
            </a:r>
          </a:p>
          <a:p>
            <a:pPr marL="1257300" lvl="2" indent="-342900">
              <a:lnSpc>
                <a:spcPct val="130000"/>
              </a:lnSpc>
              <a:buFont typeface="Wingdings" panose="05000000000000000000" pitchFamily="2" charset="2"/>
              <a:buChar char="§"/>
            </a:pPr>
            <a:r>
              <a:rPr lang="en-US" sz="2200" dirty="0"/>
              <a:t>Round Robin</a:t>
            </a:r>
          </a:p>
          <a:p>
            <a:pPr marL="1257300" lvl="2" indent="-342900">
              <a:lnSpc>
                <a:spcPct val="130000"/>
              </a:lnSpc>
              <a:buFont typeface="Wingdings" panose="05000000000000000000" pitchFamily="2" charset="2"/>
              <a:buChar char="§"/>
            </a:pPr>
            <a:r>
              <a:rPr lang="en-US" sz="2200" dirty="0"/>
              <a:t>Priority Algorithms</a:t>
            </a:r>
          </a:p>
          <a:p>
            <a:pPr marL="1714500" lvl="3" indent="-342900">
              <a:lnSpc>
                <a:spcPct val="130000"/>
              </a:lnSpc>
              <a:buFont typeface="Wingdings" panose="05000000000000000000" pitchFamily="2" charset="2"/>
              <a:buChar char="ü"/>
            </a:pPr>
            <a:r>
              <a:rPr lang="en-US" sz="2000" dirty="0"/>
              <a:t>Non-Preemptive Priority Algorithm</a:t>
            </a:r>
          </a:p>
          <a:p>
            <a:pPr marL="1714500" lvl="3" indent="-342900">
              <a:lnSpc>
                <a:spcPct val="130000"/>
              </a:lnSpc>
              <a:buFont typeface="Wingdings" panose="05000000000000000000" pitchFamily="2" charset="2"/>
              <a:buChar char="ü"/>
            </a:pPr>
            <a:r>
              <a:rPr lang="en-US" sz="2000" dirty="0"/>
              <a:t>Preemptive Priority Algorithm</a:t>
            </a:r>
          </a:p>
          <a:p>
            <a:pPr marL="1714500" lvl="3" indent="-342900">
              <a:lnSpc>
                <a:spcPct val="130000"/>
              </a:lnSpc>
              <a:buFont typeface="Wingdings" panose="05000000000000000000" pitchFamily="2" charset="2"/>
              <a:buChar char="ü"/>
            </a:pPr>
            <a:endParaRPr lang="en-US" sz="2000" dirty="0"/>
          </a:p>
          <a:p>
            <a:pPr marL="1257300" lvl="2" indent="-342900">
              <a:lnSpc>
                <a:spcPct val="130000"/>
              </a:lnSpc>
              <a:buFont typeface="Wingdings" panose="05000000000000000000" pitchFamily="2" charset="2"/>
              <a:buChar char="§"/>
            </a:pPr>
            <a:endParaRPr lang="en-US" sz="2200" dirty="0"/>
          </a:p>
          <a:p>
            <a:pPr lvl="1"/>
            <a:r>
              <a:rPr lang="en-US" sz="2400" b="1" dirty="0"/>
              <a:t> </a:t>
            </a:r>
          </a:p>
          <a:p>
            <a:endParaRPr lang="en-US" dirty="0">
              <a:solidFill>
                <a:schemeClr val="bg1">
                  <a:lumMod val="50000"/>
                </a:schemeClr>
              </a:solidFill>
            </a:endParaRPr>
          </a:p>
        </p:txBody>
      </p:sp>
    </p:spTree>
    <p:extLst>
      <p:ext uri="{BB962C8B-B14F-4D97-AF65-F5344CB8AC3E}">
        <p14:creationId xmlns:p14="http://schemas.microsoft.com/office/powerpoint/2010/main" val="2809852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3E2622"/>
                    </a:gs>
                    <a:gs pos="100000">
                      <a:srgbClr val="795547"/>
                    </a:gs>
                  </a:gsLst>
                  <a:lin ang="0" scaled="1"/>
                  <a:tileRect/>
                </a:gradFill>
              </a:rPr>
              <a:t>Process Overview</a:t>
            </a:r>
          </a:p>
        </p:txBody>
      </p:sp>
      <p:sp>
        <p:nvSpPr>
          <p:cNvPr id="4" name="Text Placeholder 3"/>
          <p:cNvSpPr>
            <a:spLocks noGrp="1"/>
          </p:cNvSpPr>
          <p:nvPr>
            <p:ph type="body" idx="1"/>
          </p:nvPr>
        </p:nvSpPr>
        <p:spPr/>
        <p:txBody>
          <a:bodyPr/>
          <a:lstStyle/>
          <a:p>
            <a:r>
              <a:rPr lang="en-US" dirty="0"/>
              <a:t>Section - 1</a:t>
            </a:r>
          </a:p>
        </p:txBody>
      </p:sp>
    </p:spTree>
    <p:extLst>
      <p:ext uri="{BB962C8B-B14F-4D97-AF65-F5344CB8AC3E}">
        <p14:creationId xmlns:p14="http://schemas.microsoft.com/office/powerpoint/2010/main" val="20417770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Definition of Program &amp; Process</a:t>
            </a:r>
          </a:p>
        </p:txBody>
      </p:sp>
      <p:sp>
        <p:nvSpPr>
          <p:cNvPr id="3" name="Content Placeholder 2"/>
          <p:cNvSpPr>
            <a:spLocks noGrp="1"/>
          </p:cNvSpPr>
          <p:nvPr>
            <p:ph idx="1"/>
          </p:nvPr>
        </p:nvSpPr>
        <p:spPr/>
        <p:txBody>
          <a:bodyPr/>
          <a:lstStyle/>
          <a:p>
            <a:r>
              <a:rPr lang="en-IN" dirty="0"/>
              <a:t>A Program is a organized </a:t>
            </a:r>
            <a:r>
              <a:rPr lang="en-IN" b="1" dirty="0">
                <a:solidFill>
                  <a:schemeClr val="accent6"/>
                </a:solidFill>
              </a:rPr>
              <a:t>collection of instruction</a:t>
            </a:r>
            <a:r>
              <a:rPr lang="en-IN" dirty="0"/>
              <a:t>/</a:t>
            </a:r>
            <a:r>
              <a:rPr lang="en-IN" b="1" dirty="0">
                <a:solidFill>
                  <a:schemeClr val="accent6"/>
                </a:solidFill>
              </a:rPr>
              <a:t>statements</a:t>
            </a:r>
            <a:r>
              <a:rPr lang="en-IN" dirty="0"/>
              <a:t>.</a:t>
            </a:r>
          </a:p>
          <a:p>
            <a:pPr lvl="1"/>
            <a:r>
              <a:rPr lang="en-IN" dirty="0"/>
              <a:t>For example recipe for cooking. It contains list of ingredients and list of statements.</a:t>
            </a:r>
          </a:p>
          <a:p>
            <a:r>
              <a:rPr lang="en-IN" dirty="0"/>
              <a:t>A Process is an </a:t>
            </a:r>
            <a:r>
              <a:rPr lang="en-IN" b="1" dirty="0">
                <a:solidFill>
                  <a:schemeClr val="accent6"/>
                </a:solidFill>
              </a:rPr>
              <a:t>instance</a:t>
            </a:r>
            <a:r>
              <a:rPr lang="en-IN" dirty="0"/>
              <a:t> </a:t>
            </a:r>
            <a:r>
              <a:rPr lang="en-IN" b="1" dirty="0">
                <a:solidFill>
                  <a:schemeClr val="accent6"/>
                </a:solidFill>
              </a:rPr>
              <a:t>of computer program </a:t>
            </a:r>
            <a:r>
              <a:rPr lang="en-IN" dirty="0"/>
              <a:t>that being executed.</a:t>
            </a:r>
          </a:p>
          <a:p>
            <a:pPr lvl="1"/>
            <a:r>
              <a:rPr lang="en-IN" dirty="0"/>
              <a:t>For example to cook as per written in recipe of cooking.</a:t>
            </a:r>
          </a:p>
          <a:p>
            <a:r>
              <a:rPr lang="en-IN" sz="2000" b="1" dirty="0"/>
              <a:t>Example :</a:t>
            </a:r>
          </a:p>
          <a:p>
            <a:pPr marL="0" indent="-87312">
              <a:buNone/>
            </a:pPr>
            <a:endParaRPr lang="en-IN" dirty="0"/>
          </a:p>
          <a:p>
            <a:pPr marL="457200" lvl="1" indent="0">
              <a:buNone/>
            </a:pPr>
            <a:endParaRPr lang="en-IN" dirty="0"/>
          </a:p>
          <a:p>
            <a:pPr lvl="1"/>
            <a:endParaRPr lang="en-IN" dirty="0"/>
          </a:p>
          <a:p>
            <a:pPr lvl="1"/>
            <a:endParaRPr lang="en-IN" dirty="0"/>
          </a:p>
          <a:p>
            <a:pPr lvl="1"/>
            <a:endParaRPr lang="en-IN" dirty="0"/>
          </a:p>
          <a:p>
            <a:pPr lvl="1"/>
            <a:endParaRPr lang="en-IN" dirty="0"/>
          </a:p>
          <a:p>
            <a:pPr lvl="1"/>
            <a:endParaRPr lang="en-IN" dirty="0"/>
          </a:p>
          <a:p>
            <a:pPr lvl="1"/>
            <a:endParaRPr lang="en-IN" dirty="0"/>
          </a:p>
          <a:p>
            <a:pPr marL="457200" lvl="1" indent="0">
              <a:buNone/>
            </a:pPr>
            <a:endParaRPr lang="en-IN" dirty="0"/>
          </a:p>
          <a:p>
            <a:pPr marL="457200" lvl="1" indent="0">
              <a:buNone/>
            </a:pPr>
            <a:r>
              <a:rPr lang="en-IN" dirty="0"/>
              <a:t>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1931" y="3105806"/>
            <a:ext cx="3069337" cy="233854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005" y="3119362"/>
            <a:ext cx="3138366" cy="235074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2332" y="3152395"/>
            <a:ext cx="3002323" cy="229195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8" name="TextBox 7"/>
          <p:cNvSpPr txBox="1"/>
          <p:nvPr/>
        </p:nvSpPr>
        <p:spPr>
          <a:xfrm>
            <a:off x="336395" y="5743086"/>
            <a:ext cx="3138366" cy="369332"/>
          </a:xfrm>
          <a:prstGeom prst="rect">
            <a:avLst/>
          </a:prstGeom>
          <a:noFill/>
        </p:spPr>
        <p:txBody>
          <a:bodyPr wrap="square" rtlCol="0">
            <a:spAutoFit/>
          </a:bodyPr>
          <a:lstStyle/>
          <a:p>
            <a:pPr algn="ctr"/>
            <a:r>
              <a:rPr lang="en-IN" b="1" dirty="0"/>
              <a:t>Ingredients</a:t>
            </a:r>
          </a:p>
        </p:txBody>
      </p:sp>
      <p:sp>
        <p:nvSpPr>
          <p:cNvPr id="9" name="TextBox 8"/>
          <p:cNvSpPr txBox="1"/>
          <p:nvPr/>
        </p:nvSpPr>
        <p:spPr>
          <a:xfrm>
            <a:off x="4011286" y="5743086"/>
            <a:ext cx="3577874" cy="338554"/>
          </a:xfrm>
          <a:prstGeom prst="rect">
            <a:avLst/>
          </a:prstGeom>
          <a:noFill/>
        </p:spPr>
        <p:txBody>
          <a:bodyPr wrap="square" rtlCol="0">
            <a:spAutoFit/>
          </a:bodyPr>
          <a:lstStyle/>
          <a:p>
            <a:pPr algn="ctr"/>
            <a:r>
              <a:rPr lang="en-IN" sz="1600" b="1" dirty="0"/>
              <a:t>List of Statements(How to Prepare)</a:t>
            </a:r>
          </a:p>
        </p:txBody>
      </p:sp>
      <p:sp>
        <p:nvSpPr>
          <p:cNvPr id="10" name="TextBox 9"/>
          <p:cNvSpPr txBox="1"/>
          <p:nvPr/>
        </p:nvSpPr>
        <p:spPr>
          <a:xfrm>
            <a:off x="8016722" y="5760181"/>
            <a:ext cx="3138366" cy="369332"/>
          </a:xfrm>
          <a:prstGeom prst="rect">
            <a:avLst/>
          </a:prstGeom>
          <a:noFill/>
        </p:spPr>
        <p:txBody>
          <a:bodyPr wrap="square" rtlCol="0">
            <a:spAutoFit/>
          </a:bodyPr>
          <a:lstStyle/>
          <a:p>
            <a:pPr algn="ctr"/>
            <a:r>
              <a:rPr lang="en-IN" b="1" dirty="0"/>
              <a:t>Recipe(Food)</a:t>
            </a:r>
          </a:p>
        </p:txBody>
      </p:sp>
    </p:spTree>
    <p:extLst>
      <p:ext uri="{BB962C8B-B14F-4D97-AF65-F5344CB8AC3E}">
        <p14:creationId xmlns:p14="http://schemas.microsoft.com/office/powerpoint/2010/main" val="3905860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Definition of Program &amp; Process</a:t>
            </a:r>
          </a:p>
        </p:txBody>
      </p:sp>
      <p:graphicFrame>
        <p:nvGraphicFramePr>
          <p:cNvPr id="12" name="Table 11"/>
          <p:cNvGraphicFramePr>
            <a:graphicFrameLocks noGrp="1"/>
          </p:cNvGraphicFramePr>
          <p:nvPr/>
        </p:nvGraphicFramePr>
        <p:xfrm>
          <a:off x="1324250" y="1756475"/>
          <a:ext cx="3883181" cy="511445"/>
        </p:xfrm>
        <a:graphic>
          <a:graphicData uri="http://schemas.openxmlformats.org/drawingml/2006/table">
            <a:tbl>
              <a:tblPr firstRow="1" bandRow="1">
                <a:tableStyleId>{5940675A-B579-460E-94D1-54222C63F5DA}</a:tableStyleId>
              </a:tblPr>
              <a:tblGrid>
                <a:gridCol w="3883181">
                  <a:extLst>
                    <a:ext uri="{9D8B030D-6E8A-4147-A177-3AD203B41FA5}">
                      <a16:colId xmlns:a16="http://schemas.microsoft.com/office/drawing/2014/main" val="20000"/>
                    </a:ext>
                  </a:extLst>
                </a:gridCol>
              </a:tblGrid>
              <a:tr h="5114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echo -n "Enter the 1</a:t>
                      </a:r>
                      <a:r>
                        <a:rPr lang="en-IN" sz="2000" baseline="30000" dirty="0"/>
                        <a:t>st</a:t>
                      </a:r>
                      <a:r>
                        <a:rPr lang="en-IN" sz="2000" baseline="0" dirty="0"/>
                        <a:t> </a:t>
                      </a:r>
                      <a:r>
                        <a:rPr lang="en-IN" sz="2000" dirty="0"/>
                        <a:t>number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13" name="Table 12"/>
          <p:cNvGraphicFramePr>
            <a:graphicFrameLocks noGrp="1"/>
          </p:cNvGraphicFramePr>
          <p:nvPr/>
        </p:nvGraphicFramePr>
        <p:xfrm>
          <a:off x="1324247" y="1229532"/>
          <a:ext cx="3883184" cy="511445"/>
        </p:xfrm>
        <a:graphic>
          <a:graphicData uri="http://schemas.openxmlformats.org/drawingml/2006/table">
            <a:tbl>
              <a:tblPr firstRow="1" bandRow="1">
                <a:tableStyleId>{5940675A-B579-460E-94D1-54222C63F5DA}</a:tableStyleId>
              </a:tblPr>
              <a:tblGrid>
                <a:gridCol w="3883184">
                  <a:extLst>
                    <a:ext uri="{9D8B030D-6E8A-4147-A177-3AD203B41FA5}">
                      <a16:colId xmlns:a16="http://schemas.microsoft.com/office/drawing/2014/main" val="20000"/>
                    </a:ext>
                  </a:extLst>
                </a:gridCol>
              </a:tblGrid>
              <a:tr h="511445">
                <a:tc>
                  <a:txBody>
                    <a:bodyPr/>
                    <a:lstStyle/>
                    <a:p>
                      <a:pPr marL="0" indent="0" algn="ctr">
                        <a:buNone/>
                      </a:pPr>
                      <a:r>
                        <a:rPr lang="en-IN" sz="2400" b="1" dirty="0"/>
                        <a:t>Input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15" name="Table 14"/>
          <p:cNvGraphicFramePr>
            <a:graphicFrameLocks noGrp="1"/>
          </p:cNvGraphicFramePr>
          <p:nvPr/>
        </p:nvGraphicFramePr>
        <p:xfrm>
          <a:off x="1321668" y="2265336"/>
          <a:ext cx="3883181" cy="511445"/>
        </p:xfrm>
        <a:graphic>
          <a:graphicData uri="http://schemas.openxmlformats.org/drawingml/2006/table">
            <a:tbl>
              <a:tblPr firstRow="1" bandRow="1">
                <a:tableStyleId>{5940675A-B579-460E-94D1-54222C63F5DA}</a:tableStyleId>
              </a:tblPr>
              <a:tblGrid>
                <a:gridCol w="3883181">
                  <a:extLst>
                    <a:ext uri="{9D8B030D-6E8A-4147-A177-3AD203B41FA5}">
                      <a16:colId xmlns:a16="http://schemas.microsoft.com/office/drawing/2014/main" val="20000"/>
                    </a:ext>
                  </a:extLst>
                </a:gridCol>
              </a:tblGrid>
              <a:tr h="511445">
                <a:tc>
                  <a:txBody>
                    <a:bodyPr/>
                    <a:lstStyle/>
                    <a:p>
                      <a:pPr marL="0" indent="0" algn="l">
                        <a:buNone/>
                      </a:pPr>
                      <a:r>
                        <a:rPr lang="en-IN" sz="2000" dirty="0"/>
                        <a:t>read num1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16" name="Table 15"/>
          <p:cNvGraphicFramePr>
            <a:graphicFrameLocks noGrp="1"/>
          </p:cNvGraphicFramePr>
          <p:nvPr/>
        </p:nvGraphicFramePr>
        <p:xfrm>
          <a:off x="1334583" y="3316637"/>
          <a:ext cx="3883181" cy="511445"/>
        </p:xfrm>
        <a:graphic>
          <a:graphicData uri="http://schemas.openxmlformats.org/drawingml/2006/table">
            <a:tbl>
              <a:tblPr firstRow="1" bandRow="1">
                <a:tableStyleId>{5940675A-B579-460E-94D1-54222C63F5DA}</a:tableStyleId>
              </a:tblPr>
              <a:tblGrid>
                <a:gridCol w="3883181">
                  <a:extLst>
                    <a:ext uri="{9D8B030D-6E8A-4147-A177-3AD203B41FA5}">
                      <a16:colId xmlns:a16="http://schemas.microsoft.com/office/drawing/2014/main" val="20000"/>
                    </a:ext>
                  </a:extLst>
                </a:gridCol>
              </a:tblGrid>
              <a:tr h="511445">
                <a:tc>
                  <a:txBody>
                    <a:bodyPr/>
                    <a:lstStyle/>
                    <a:p>
                      <a:pPr marL="0" indent="0" algn="l">
                        <a:buNone/>
                      </a:pPr>
                      <a:r>
                        <a:rPr lang="en-IN" sz="2000" dirty="0"/>
                        <a:t>read num2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17" name="Table 16"/>
          <p:cNvGraphicFramePr>
            <a:graphicFrameLocks noGrp="1"/>
          </p:cNvGraphicFramePr>
          <p:nvPr/>
        </p:nvGraphicFramePr>
        <p:xfrm>
          <a:off x="1332001" y="2787113"/>
          <a:ext cx="3977116" cy="511445"/>
        </p:xfrm>
        <a:graphic>
          <a:graphicData uri="http://schemas.openxmlformats.org/drawingml/2006/table">
            <a:tbl>
              <a:tblPr firstRow="1" bandRow="1">
                <a:tableStyleId>{5940675A-B579-460E-94D1-54222C63F5DA}</a:tableStyleId>
              </a:tblPr>
              <a:tblGrid>
                <a:gridCol w="3977116">
                  <a:extLst>
                    <a:ext uri="{9D8B030D-6E8A-4147-A177-3AD203B41FA5}">
                      <a16:colId xmlns:a16="http://schemas.microsoft.com/office/drawing/2014/main" val="20000"/>
                    </a:ext>
                  </a:extLst>
                </a:gridCol>
              </a:tblGrid>
              <a:tr h="5114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echo -n "Enter the 2</a:t>
                      </a:r>
                      <a:r>
                        <a:rPr lang="en-IN" sz="2000" baseline="30000" dirty="0"/>
                        <a:t>nd</a:t>
                      </a:r>
                      <a:r>
                        <a:rPr lang="en-IN" sz="2000" baseline="0" dirty="0"/>
                        <a:t> </a:t>
                      </a:r>
                      <a:r>
                        <a:rPr lang="en-IN" sz="2000" dirty="0"/>
                        <a:t>number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18" name="Table 17"/>
          <p:cNvGraphicFramePr>
            <a:graphicFrameLocks noGrp="1"/>
          </p:cNvGraphicFramePr>
          <p:nvPr/>
        </p:nvGraphicFramePr>
        <p:xfrm>
          <a:off x="1332000" y="3840997"/>
          <a:ext cx="3883181" cy="511445"/>
        </p:xfrm>
        <a:graphic>
          <a:graphicData uri="http://schemas.openxmlformats.org/drawingml/2006/table">
            <a:tbl>
              <a:tblPr firstRow="1" bandRow="1">
                <a:tableStyleId>{5940675A-B579-460E-94D1-54222C63F5DA}</a:tableStyleId>
              </a:tblPr>
              <a:tblGrid>
                <a:gridCol w="3883181">
                  <a:extLst>
                    <a:ext uri="{9D8B030D-6E8A-4147-A177-3AD203B41FA5}">
                      <a16:colId xmlns:a16="http://schemas.microsoft.com/office/drawing/2014/main" val="20000"/>
                    </a:ext>
                  </a:extLst>
                </a:gridCol>
              </a:tblGrid>
              <a:tr h="511445">
                <a:tc>
                  <a:txBody>
                    <a:bodyPr/>
                    <a:lstStyle/>
                    <a:p>
                      <a:pPr marL="0" indent="0" algn="l">
                        <a:buNone/>
                      </a:pPr>
                      <a:r>
                        <a:rPr lang="en-IN" sz="2000" dirty="0"/>
                        <a:t>sum=`</a:t>
                      </a:r>
                      <a:r>
                        <a:rPr lang="en-IN" sz="2000" dirty="0" err="1"/>
                        <a:t>expr</a:t>
                      </a:r>
                      <a:r>
                        <a:rPr lang="en-IN" sz="2000" dirty="0"/>
                        <a:t> $num1 + $num2`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19" name="Table 18"/>
          <p:cNvGraphicFramePr>
            <a:graphicFrameLocks noGrp="1"/>
          </p:cNvGraphicFramePr>
          <p:nvPr/>
        </p:nvGraphicFramePr>
        <p:xfrm>
          <a:off x="1265239" y="4473617"/>
          <a:ext cx="3883181" cy="511445"/>
        </p:xfrm>
        <a:graphic>
          <a:graphicData uri="http://schemas.openxmlformats.org/drawingml/2006/table">
            <a:tbl>
              <a:tblPr firstRow="1" bandRow="1">
                <a:tableStyleId>{5940675A-B579-460E-94D1-54222C63F5DA}</a:tableStyleId>
              </a:tblPr>
              <a:tblGrid>
                <a:gridCol w="3883181">
                  <a:extLst>
                    <a:ext uri="{9D8B030D-6E8A-4147-A177-3AD203B41FA5}">
                      <a16:colId xmlns:a16="http://schemas.microsoft.com/office/drawing/2014/main" val="20000"/>
                    </a:ext>
                  </a:extLst>
                </a:gridCol>
              </a:tblGrid>
              <a:tr h="5114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echo “$sum"</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20" name="Table 19"/>
          <p:cNvGraphicFramePr>
            <a:graphicFrameLocks noGrp="1"/>
          </p:cNvGraphicFramePr>
          <p:nvPr/>
        </p:nvGraphicFramePr>
        <p:xfrm>
          <a:off x="5211738" y="1226949"/>
          <a:ext cx="3883184" cy="511445"/>
        </p:xfrm>
        <a:graphic>
          <a:graphicData uri="http://schemas.openxmlformats.org/drawingml/2006/table">
            <a:tbl>
              <a:tblPr firstRow="1" bandRow="1">
                <a:tableStyleId>{5940675A-B579-460E-94D1-54222C63F5DA}</a:tableStyleId>
              </a:tblPr>
              <a:tblGrid>
                <a:gridCol w="3883184">
                  <a:extLst>
                    <a:ext uri="{9D8B030D-6E8A-4147-A177-3AD203B41FA5}">
                      <a16:colId xmlns:a16="http://schemas.microsoft.com/office/drawing/2014/main" val="20000"/>
                    </a:ext>
                  </a:extLst>
                </a:gridCol>
              </a:tblGrid>
              <a:tr h="511445">
                <a:tc>
                  <a:txBody>
                    <a:bodyPr/>
                    <a:lstStyle/>
                    <a:p>
                      <a:pPr marL="0" indent="0" algn="ctr">
                        <a:buNone/>
                      </a:pPr>
                      <a:r>
                        <a:rPr lang="en-IN" sz="2400" b="1" dirty="0"/>
                        <a:t>Output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21" name="Table 20"/>
          <p:cNvGraphicFramePr>
            <a:graphicFrameLocks noGrp="1"/>
          </p:cNvGraphicFramePr>
          <p:nvPr/>
        </p:nvGraphicFramePr>
        <p:xfrm>
          <a:off x="5211742" y="1753891"/>
          <a:ext cx="3883181" cy="511445"/>
        </p:xfrm>
        <a:graphic>
          <a:graphicData uri="http://schemas.openxmlformats.org/drawingml/2006/table">
            <a:tbl>
              <a:tblPr firstRow="1" bandRow="1">
                <a:tableStyleId>{5940675A-B579-460E-94D1-54222C63F5DA}</a:tableStyleId>
              </a:tblPr>
              <a:tblGrid>
                <a:gridCol w="3883181">
                  <a:extLst>
                    <a:ext uri="{9D8B030D-6E8A-4147-A177-3AD203B41FA5}">
                      <a16:colId xmlns:a16="http://schemas.microsoft.com/office/drawing/2014/main" val="20000"/>
                    </a:ext>
                  </a:extLst>
                </a:gridCol>
              </a:tblGrid>
              <a:tr h="5114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 Enter the 1</a:t>
                      </a:r>
                      <a:r>
                        <a:rPr lang="en-IN" sz="2000" baseline="30000" dirty="0"/>
                        <a:t>st</a:t>
                      </a:r>
                      <a:r>
                        <a:rPr lang="en-IN" sz="2000" baseline="0" dirty="0"/>
                        <a:t> </a:t>
                      </a:r>
                      <a:r>
                        <a:rPr lang="en-IN" sz="2000" dirty="0"/>
                        <a:t>number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22" name="Table 21"/>
          <p:cNvGraphicFramePr>
            <a:graphicFrameLocks noGrp="1"/>
          </p:cNvGraphicFramePr>
          <p:nvPr/>
        </p:nvGraphicFramePr>
        <p:xfrm>
          <a:off x="5209160" y="2262753"/>
          <a:ext cx="3883181" cy="511445"/>
        </p:xfrm>
        <a:graphic>
          <a:graphicData uri="http://schemas.openxmlformats.org/drawingml/2006/table">
            <a:tbl>
              <a:tblPr firstRow="1" bandRow="1">
                <a:tableStyleId>{5940675A-B579-460E-94D1-54222C63F5DA}</a:tableStyleId>
              </a:tblPr>
              <a:tblGrid>
                <a:gridCol w="3883181">
                  <a:extLst>
                    <a:ext uri="{9D8B030D-6E8A-4147-A177-3AD203B41FA5}">
                      <a16:colId xmlns:a16="http://schemas.microsoft.com/office/drawing/2014/main" val="20000"/>
                    </a:ext>
                  </a:extLst>
                </a:gridCol>
              </a:tblGrid>
              <a:tr h="511445">
                <a:tc>
                  <a:txBody>
                    <a:bodyPr/>
                    <a:lstStyle/>
                    <a:p>
                      <a:pPr marL="0" indent="0" algn="l">
                        <a:buNone/>
                      </a:pPr>
                      <a:r>
                        <a:rPr lang="en-IN" sz="2000" dirty="0"/>
                        <a:t>  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23" name="Table 22"/>
          <p:cNvGraphicFramePr>
            <a:graphicFrameLocks noGrp="1"/>
          </p:cNvGraphicFramePr>
          <p:nvPr/>
        </p:nvGraphicFramePr>
        <p:xfrm>
          <a:off x="5209159" y="2789695"/>
          <a:ext cx="3883181" cy="511445"/>
        </p:xfrm>
        <a:graphic>
          <a:graphicData uri="http://schemas.openxmlformats.org/drawingml/2006/table">
            <a:tbl>
              <a:tblPr firstRow="1" bandRow="1">
                <a:tableStyleId>{5940675A-B579-460E-94D1-54222C63F5DA}</a:tableStyleId>
              </a:tblPr>
              <a:tblGrid>
                <a:gridCol w="3883181">
                  <a:extLst>
                    <a:ext uri="{9D8B030D-6E8A-4147-A177-3AD203B41FA5}">
                      <a16:colId xmlns:a16="http://schemas.microsoft.com/office/drawing/2014/main" val="20000"/>
                    </a:ext>
                  </a:extLst>
                </a:gridCol>
              </a:tblGrid>
              <a:tr h="5114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 Enter the</a:t>
                      </a:r>
                      <a:r>
                        <a:rPr lang="en-IN" sz="2000" baseline="0" dirty="0"/>
                        <a:t> 2</a:t>
                      </a:r>
                      <a:r>
                        <a:rPr lang="en-IN" sz="2000" baseline="30000" dirty="0"/>
                        <a:t>nd</a:t>
                      </a:r>
                      <a:r>
                        <a:rPr lang="en-IN" sz="2000" baseline="0" dirty="0"/>
                        <a:t> </a:t>
                      </a:r>
                      <a:r>
                        <a:rPr lang="en-IN" sz="2000" dirty="0"/>
                        <a:t>number :</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24" name="Table 23"/>
          <p:cNvGraphicFramePr>
            <a:graphicFrameLocks noGrp="1"/>
          </p:cNvGraphicFramePr>
          <p:nvPr/>
        </p:nvGraphicFramePr>
        <p:xfrm>
          <a:off x="5222075" y="3314055"/>
          <a:ext cx="3883181" cy="511445"/>
        </p:xfrm>
        <a:graphic>
          <a:graphicData uri="http://schemas.openxmlformats.org/drawingml/2006/table">
            <a:tbl>
              <a:tblPr firstRow="1" bandRow="1">
                <a:tableStyleId>{5940675A-B579-460E-94D1-54222C63F5DA}</a:tableStyleId>
              </a:tblPr>
              <a:tblGrid>
                <a:gridCol w="3883181">
                  <a:extLst>
                    <a:ext uri="{9D8B030D-6E8A-4147-A177-3AD203B41FA5}">
                      <a16:colId xmlns:a16="http://schemas.microsoft.com/office/drawing/2014/main" val="20000"/>
                    </a:ext>
                  </a:extLst>
                </a:gridCol>
              </a:tblGrid>
              <a:tr h="511445">
                <a:tc>
                  <a:txBody>
                    <a:bodyPr/>
                    <a:lstStyle/>
                    <a:p>
                      <a:pPr marL="0" indent="0" algn="l">
                        <a:buNone/>
                      </a:pPr>
                      <a:r>
                        <a:rPr lang="en-IN" sz="2000" dirty="0"/>
                        <a:t> 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25" name="Table 24"/>
          <p:cNvGraphicFramePr>
            <a:graphicFrameLocks noGrp="1"/>
          </p:cNvGraphicFramePr>
          <p:nvPr/>
        </p:nvGraphicFramePr>
        <p:xfrm>
          <a:off x="5234990" y="3838414"/>
          <a:ext cx="3883181" cy="511445"/>
        </p:xfrm>
        <a:graphic>
          <a:graphicData uri="http://schemas.openxmlformats.org/drawingml/2006/table">
            <a:tbl>
              <a:tblPr firstRow="1" bandRow="1">
                <a:tableStyleId>{5940675A-B579-460E-94D1-54222C63F5DA}</a:tableStyleId>
              </a:tblPr>
              <a:tblGrid>
                <a:gridCol w="3883181">
                  <a:extLst>
                    <a:ext uri="{9D8B030D-6E8A-4147-A177-3AD203B41FA5}">
                      <a16:colId xmlns:a16="http://schemas.microsoft.com/office/drawing/2014/main" val="20000"/>
                    </a:ext>
                  </a:extLst>
                </a:gridCol>
              </a:tblGrid>
              <a:tr h="511445">
                <a:tc>
                  <a:txBody>
                    <a:bodyPr/>
                    <a:lstStyle/>
                    <a:p>
                      <a:pPr marL="0" indent="0" algn="l">
                        <a:buNone/>
                      </a:pPr>
                      <a:r>
                        <a:rPr lang="en-IN" sz="2000" dirty="0"/>
                        <a:t>2 + 2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26" name="Table 25"/>
          <p:cNvGraphicFramePr>
            <a:graphicFrameLocks noGrp="1"/>
          </p:cNvGraphicFramePr>
          <p:nvPr/>
        </p:nvGraphicFramePr>
        <p:xfrm>
          <a:off x="5216910" y="4347275"/>
          <a:ext cx="3883181" cy="511445"/>
        </p:xfrm>
        <a:graphic>
          <a:graphicData uri="http://schemas.openxmlformats.org/drawingml/2006/table">
            <a:tbl>
              <a:tblPr firstRow="1" bandRow="1">
                <a:tableStyleId>{5940675A-B579-460E-94D1-54222C63F5DA}</a:tableStyleId>
              </a:tblPr>
              <a:tblGrid>
                <a:gridCol w="3883181">
                  <a:extLst>
                    <a:ext uri="{9D8B030D-6E8A-4147-A177-3AD203B41FA5}">
                      <a16:colId xmlns:a16="http://schemas.microsoft.com/office/drawing/2014/main" val="20000"/>
                    </a:ext>
                  </a:extLst>
                </a:gridCol>
              </a:tblGrid>
              <a:tr h="511445">
                <a:tc>
                  <a:txBody>
                    <a:bodyPr/>
                    <a:lstStyle/>
                    <a:p>
                      <a:pPr marL="0" indent="0" algn="l">
                        <a:buNone/>
                      </a:pPr>
                      <a:r>
                        <a:rPr lang="en-IN" sz="2000" dirty="0"/>
                        <a:t> 4</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cxnSp>
        <p:nvCxnSpPr>
          <p:cNvPr id="27" name="Straight Connector 26"/>
          <p:cNvCxnSpPr/>
          <p:nvPr/>
        </p:nvCxnSpPr>
        <p:spPr>
          <a:xfrm>
            <a:off x="783646" y="1961736"/>
            <a:ext cx="0" cy="2694123"/>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a:off x="768148" y="1961736"/>
            <a:ext cx="48939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a:off x="768148" y="2486095"/>
            <a:ext cx="48939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p:cNvCxnSpPr/>
          <p:nvPr/>
        </p:nvCxnSpPr>
        <p:spPr>
          <a:xfrm>
            <a:off x="768148" y="4655859"/>
            <a:ext cx="48939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p:cNvCxnSpPr/>
          <p:nvPr/>
        </p:nvCxnSpPr>
        <p:spPr>
          <a:xfrm>
            <a:off x="783646" y="4095336"/>
            <a:ext cx="48939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p:cNvCxnSpPr/>
          <p:nvPr/>
        </p:nvCxnSpPr>
        <p:spPr>
          <a:xfrm>
            <a:off x="783646" y="3537397"/>
            <a:ext cx="48939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p:nvPr/>
        </p:nvCxnSpPr>
        <p:spPr>
          <a:xfrm>
            <a:off x="783646" y="3056949"/>
            <a:ext cx="489398"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5" name="TextBox 34"/>
          <p:cNvSpPr txBox="1"/>
          <p:nvPr/>
        </p:nvSpPr>
        <p:spPr>
          <a:xfrm>
            <a:off x="-1" y="1235559"/>
            <a:ext cx="1530209" cy="646331"/>
          </a:xfrm>
          <a:prstGeom prst="rect">
            <a:avLst/>
          </a:prstGeom>
          <a:noFill/>
        </p:spPr>
        <p:txBody>
          <a:bodyPr wrap="square" rtlCol="0">
            <a:spAutoFit/>
          </a:bodyPr>
          <a:lstStyle/>
          <a:p>
            <a:pPr algn="ctr"/>
            <a:r>
              <a:rPr lang="en-IN" b="1" dirty="0">
                <a:solidFill>
                  <a:srgbClr val="FF0000"/>
                </a:solidFill>
              </a:rPr>
              <a:t>List of Statements</a:t>
            </a:r>
          </a:p>
        </p:txBody>
      </p:sp>
      <p:cxnSp>
        <p:nvCxnSpPr>
          <p:cNvPr id="39" name="Straight Arrow Connector 38"/>
          <p:cNvCxnSpPr/>
          <p:nvPr/>
        </p:nvCxnSpPr>
        <p:spPr>
          <a:xfrm flipH="1">
            <a:off x="5811864" y="2486095"/>
            <a:ext cx="2758699"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p:cNvCxnSpPr/>
          <p:nvPr/>
        </p:nvCxnSpPr>
        <p:spPr>
          <a:xfrm flipH="1">
            <a:off x="5811864" y="3537397"/>
            <a:ext cx="2758699"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a:off x="8565397" y="2486095"/>
            <a:ext cx="0" cy="1039587"/>
          </a:xfrm>
          <a:prstGeom prst="line">
            <a:avLst/>
          </a:prstGeom>
          <a:ln w="28575"/>
        </p:spPr>
        <p:style>
          <a:lnRef idx="1">
            <a:schemeClr val="dk1"/>
          </a:lnRef>
          <a:fillRef idx="0">
            <a:schemeClr val="dk1"/>
          </a:fillRef>
          <a:effectRef idx="0">
            <a:schemeClr val="dk1"/>
          </a:effectRef>
          <a:fontRef idx="minor">
            <a:schemeClr val="tx1"/>
          </a:fontRef>
        </p:style>
      </p:cxnSp>
      <p:sp>
        <p:nvSpPr>
          <p:cNvPr id="44" name="TextBox 43"/>
          <p:cNvSpPr txBox="1"/>
          <p:nvPr/>
        </p:nvSpPr>
        <p:spPr>
          <a:xfrm>
            <a:off x="9222818" y="2687617"/>
            <a:ext cx="1442066" cy="369332"/>
          </a:xfrm>
          <a:prstGeom prst="rect">
            <a:avLst/>
          </a:prstGeom>
          <a:noFill/>
        </p:spPr>
        <p:txBody>
          <a:bodyPr wrap="square" rtlCol="0">
            <a:spAutoFit/>
          </a:bodyPr>
          <a:lstStyle/>
          <a:p>
            <a:r>
              <a:rPr lang="en-IN" b="1" dirty="0">
                <a:solidFill>
                  <a:srgbClr val="FF0000"/>
                </a:solidFill>
              </a:rPr>
              <a:t>Ingredients</a:t>
            </a:r>
          </a:p>
        </p:txBody>
      </p:sp>
      <p:cxnSp>
        <p:nvCxnSpPr>
          <p:cNvPr id="46" name="Straight Connector 45"/>
          <p:cNvCxnSpPr/>
          <p:nvPr/>
        </p:nvCxnSpPr>
        <p:spPr>
          <a:xfrm>
            <a:off x="8549968" y="2864534"/>
            <a:ext cx="672850" cy="15498"/>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9" name="TextBox 48"/>
          <p:cNvSpPr txBox="1"/>
          <p:nvPr/>
        </p:nvSpPr>
        <p:spPr>
          <a:xfrm>
            <a:off x="8886393" y="3896372"/>
            <a:ext cx="1304441" cy="369332"/>
          </a:xfrm>
          <a:prstGeom prst="rect">
            <a:avLst/>
          </a:prstGeom>
          <a:noFill/>
        </p:spPr>
        <p:txBody>
          <a:bodyPr wrap="square" rtlCol="0">
            <a:spAutoFit/>
          </a:bodyPr>
          <a:lstStyle/>
          <a:p>
            <a:r>
              <a:rPr lang="en-IN" b="1" dirty="0">
                <a:solidFill>
                  <a:srgbClr val="FF0000"/>
                </a:solidFill>
              </a:rPr>
              <a:t>Process</a:t>
            </a:r>
          </a:p>
        </p:txBody>
      </p:sp>
      <p:cxnSp>
        <p:nvCxnSpPr>
          <p:cNvPr id="50" name="Straight Arrow Connector 49"/>
          <p:cNvCxnSpPr/>
          <p:nvPr/>
        </p:nvCxnSpPr>
        <p:spPr>
          <a:xfrm flipH="1">
            <a:off x="5964265" y="4081038"/>
            <a:ext cx="2758699"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1" name="TextBox 50"/>
          <p:cNvSpPr txBox="1"/>
          <p:nvPr/>
        </p:nvSpPr>
        <p:spPr>
          <a:xfrm>
            <a:off x="8886393" y="4409201"/>
            <a:ext cx="1862472" cy="369332"/>
          </a:xfrm>
          <a:prstGeom prst="rect">
            <a:avLst/>
          </a:prstGeom>
          <a:noFill/>
        </p:spPr>
        <p:txBody>
          <a:bodyPr wrap="square" rtlCol="0">
            <a:spAutoFit/>
          </a:bodyPr>
          <a:lstStyle/>
          <a:p>
            <a:r>
              <a:rPr lang="en-IN" b="1" dirty="0">
                <a:solidFill>
                  <a:srgbClr val="FF0000"/>
                </a:solidFill>
              </a:rPr>
              <a:t>Result(Output)</a:t>
            </a:r>
          </a:p>
        </p:txBody>
      </p:sp>
      <p:cxnSp>
        <p:nvCxnSpPr>
          <p:cNvPr id="52" name="Straight Arrow Connector 51"/>
          <p:cNvCxnSpPr/>
          <p:nvPr/>
        </p:nvCxnSpPr>
        <p:spPr>
          <a:xfrm flipH="1">
            <a:off x="6005594" y="4593867"/>
            <a:ext cx="2758699"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42405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44" grpId="0"/>
      <p:bldP spid="49" grpId="0"/>
      <p:bldP spid="5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6C48C-A722-2CF0-6995-A7FD6983E6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14EF96D-20C5-5CB4-6E20-98C940DD4AE3}"/>
              </a:ext>
            </a:extLst>
          </p:cNvPr>
          <p:cNvSpPr>
            <a:spLocks noGrp="1"/>
          </p:cNvSpPr>
          <p:nvPr>
            <p:ph type="title"/>
          </p:nvPr>
        </p:nvSpPr>
        <p:spPr/>
        <p:txBody>
          <a:bodyPr/>
          <a:lstStyle/>
          <a:p>
            <a:r>
              <a:rPr lang="en-IN" dirty="0">
                <a:solidFill>
                  <a:schemeClr val="tx1"/>
                </a:solidFill>
              </a:rPr>
              <a:t>Program VS Process</a:t>
            </a:r>
            <a:endParaRPr lang="en-IN" dirty="0"/>
          </a:p>
        </p:txBody>
      </p:sp>
      <p:graphicFrame>
        <p:nvGraphicFramePr>
          <p:cNvPr id="7" name="Content Placeholder 4">
            <a:extLst>
              <a:ext uri="{FF2B5EF4-FFF2-40B4-BE49-F238E27FC236}">
                <a16:creationId xmlns:a16="http://schemas.microsoft.com/office/drawing/2014/main" id="{3CE1B610-E54F-F80C-8739-17A7F663458B}"/>
              </a:ext>
            </a:extLst>
          </p:cNvPr>
          <p:cNvGraphicFramePr>
            <a:graphicFrameLocks/>
          </p:cNvGraphicFramePr>
          <p:nvPr>
            <p:extLst>
              <p:ext uri="{D42A27DB-BD31-4B8C-83A1-F6EECF244321}">
                <p14:modId xmlns:p14="http://schemas.microsoft.com/office/powerpoint/2010/main" val="252727974"/>
              </p:ext>
            </p:extLst>
          </p:nvPr>
        </p:nvGraphicFramePr>
        <p:xfrm>
          <a:off x="651899" y="1021829"/>
          <a:ext cx="10354234" cy="1158240"/>
        </p:xfrm>
        <a:graphic>
          <a:graphicData uri="http://schemas.openxmlformats.org/drawingml/2006/table">
            <a:tbl>
              <a:tblPr firstRow="1" bandRow="1">
                <a:tableStyleId>{8EC20E35-A176-4012-BC5E-935CFFF8708E}</a:tableStyleId>
              </a:tblPr>
              <a:tblGrid>
                <a:gridCol w="5189284">
                  <a:extLst>
                    <a:ext uri="{9D8B030D-6E8A-4147-A177-3AD203B41FA5}">
                      <a16:colId xmlns:a16="http://schemas.microsoft.com/office/drawing/2014/main" val="20000"/>
                    </a:ext>
                  </a:extLst>
                </a:gridCol>
                <a:gridCol w="5164950">
                  <a:extLst>
                    <a:ext uri="{9D8B030D-6E8A-4147-A177-3AD203B41FA5}">
                      <a16:colId xmlns:a16="http://schemas.microsoft.com/office/drawing/2014/main" val="20001"/>
                    </a:ext>
                  </a:extLst>
                </a:gridCol>
              </a:tblGrid>
              <a:tr h="327487">
                <a:tc>
                  <a:txBody>
                    <a:bodyPr/>
                    <a:lstStyle/>
                    <a:p>
                      <a:pPr algn="ctr"/>
                      <a:r>
                        <a:rPr lang="en-US" sz="2400" b="1" dirty="0">
                          <a:solidFill>
                            <a:schemeClr val="tx1"/>
                          </a:solidFill>
                        </a:rPr>
                        <a:t>Program</a:t>
                      </a:r>
                      <a:r>
                        <a:rPr lang="en-US" sz="2400" b="1" baseline="0" dirty="0">
                          <a:solidFill>
                            <a:schemeClr val="tx1"/>
                          </a:solidFill>
                        </a:rPr>
                        <a:t> </a:t>
                      </a:r>
                      <a:endParaRPr lang="en-US" sz="2400"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2400" b="1" kern="1200" dirty="0">
                          <a:solidFill>
                            <a:schemeClr val="tx1"/>
                          </a:solidFill>
                          <a:latin typeface="+mn-lt"/>
                          <a:ea typeface="+mn-ea"/>
                          <a:cs typeface="+mn-cs"/>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90766">
                <a:tc>
                  <a:txBody>
                    <a:bodyPr/>
                    <a:lstStyle/>
                    <a:p>
                      <a:pPr algn="just"/>
                      <a:r>
                        <a:rPr lang="en-IN" sz="2000" dirty="0">
                          <a:solidFill>
                            <a:schemeClr val="tx1"/>
                          </a:solidFill>
                        </a:rPr>
                        <a:t>A Program is an </a:t>
                      </a:r>
                      <a:r>
                        <a:rPr lang="en-IN" sz="2000" b="1" dirty="0">
                          <a:solidFill>
                            <a:schemeClr val="accent6"/>
                          </a:solidFill>
                        </a:rPr>
                        <a:t>organized collection </a:t>
                      </a:r>
                      <a:r>
                        <a:rPr lang="en-IN" sz="2000" dirty="0">
                          <a:solidFill>
                            <a:schemeClr val="tx1"/>
                          </a:solidFill>
                        </a:rPr>
                        <a:t>of </a:t>
                      </a:r>
                      <a:r>
                        <a:rPr lang="en-IN" sz="2000" b="1" dirty="0">
                          <a:solidFill>
                            <a:schemeClr val="accent6"/>
                          </a:solidFill>
                        </a:rPr>
                        <a:t>instructions</a:t>
                      </a:r>
                      <a:r>
                        <a:rPr lang="en-IN" sz="2000" dirty="0">
                          <a:solidFill>
                            <a:schemeClr val="tx1"/>
                          </a:solidFill>
                        </a:rPr>
                        <a:t>/</a:t>
                      </a:r>
                      <a:r>
                        <a:rPr lang="en-IN" sz="2000" b="1" dirty="0">
                          <a:solidFill>
                            <a:schemeClr val="accent6"/>
                          </a:solidFill>
                        </a:rPr>
                        <a:t>statement</a:t>
                      </a:r>
                      <a:r>
                        <a:rPr lang="en-IN" sz="2000" dirty="0">
                          <a:solidFill>
                            <a:schemeClr val="tx1"/>
                          </a:solidFill>
                        </a:rPr>
                        <a:t>.</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IN" sz="2000" dirty="0">
                          <a:solidFill>
                            <a:schemeClr val="tx1"/>
                          </a:solidFill>
                        </a:rPr>
                        <a:t>A Process is an </a:t>
                      </a:r>
                      <a:r>
                        <a:rPr lang="en-IN" sz="2000" b="1" dirty="0">
                          <a:solidFill>
                            <a:schemeClr val="accent6"/>
                          </a:solidFill>
                        </a:rPr>
                        <a:t>execution of a program</a:t>
                      </a:r>
                      <a:r>
                        <a:rPr lang="en-IN" sz="2000" dirty="0">
                          <a:solidFill>
                            <a:schemeClr val="tx1"/>
                          </a:solidFill>
                        </a:rPr>
                        <a:t>.</a:t>
                      </a:r>
                      <a:endParaRPr lang="en-US" sz="200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9" name="Content Placeholder 4">
            <a:extLst>
              <a:ext uri="{FF2B5EF4-FFF2-40B4-BE49-F238E27FC236}">
                <a16:creationId xmlns:a16="http://schemas.microsoft.com/office/drawing/2014/main" id="{B25C5C8E-3568-106F-DFB8-9B11A3BAC4A5}"/>
              </a:ext>
            </a:extLst>
          </p:cNvPr>
          <p:cNvGraphicFramePr>
            <a:graphicFrameLocks/>
          </p:cNvGraphicFramePr>
          <p:nvPr/>
        </p:nvGraphicFramePr>
        <p:xfrm>
          <a:off x="651899" y="2176968"/>
          <a:ext cx="10354234" cy="701040"/>
        </p:xfrm>
        <a:graphic>
          <a:graphicData uri="http://schemas.openxmlformats.org/drawingml/2006/table">
            <a:tbl>
              <a:tblPr firstRow="1" bandRow="1">
                <a:tableStyleId>{8EC20E35-A176-4012-BC5E-935CFFF8708E}</a:tableStyleId>
              </a:tblPr>
              <a:tblGrid>
                <a:gridCol w="5189284">
                  <a:extLst>
                    <a:ext uri="{9D8B030D-6E8A-4147-A177-3AD203B41FA5}">
                      <a16:colId xmlns:a16="http://schemas.microsoft.com/office/drawing/2014/main" val="20000"/>
                    </a:ext>
                  </a:extLst>
                </a:gridCol>
                <a:gridCol w="5164950">
                  <a:extLst>
                    <a:ext uri="{9D8B030D-6E8A-4147-A177-3AD203B41FA5}">
                      <a16:colId xmlns:a16="http://schemas.microsoft.com/office/drawing/2014/main" val="20001"/>
                    </a:ext>
                  </a:extLst>
                </a:gridCol>
              </a:tblGrid>
              <a:tr h="590766">
                <a:tc>
                  <a:txBody>
                    <a:bodyPr/>
                    <a:lstStyle/>
                    <a:p>
                      <a:pPr algn="just"/>
                      <a:r>
                        <a:rPr lang="en-IN" sz="2000" b="0" dirty="0">
                          <a:solidFill>
                            <a:schemeClr val="tx1"/>
                          </a:solidFill>
                        </a:rPr>
                        <a:t>A Program has a </a:t>
                      </a:r>
                      <a:r>
                        <a:rPr lang="en-IN" sz="2000" b="1" dirty="0">
                          <a:solidFill>
                            <a:srgbClr val="C00000"/>
                          </a:solidFill>
                        </a:rPr>
                        <a:t>Static/Passive</a:t>
                      </a:r>
                      <a:r>
                        <a:rPr lang="en-IN" sz="2000" b="0" dirty="0">
                          <a:solidFill>
                            <a:schemeClr val="tx1"/>
                          </a:solidFill>
                        </a:rPr>
                        <a:t> entity.</a:t>
                      </a:r>
                    </a:p>
                    <a:p>
                      <a:pPr algn="just"/>
                      <a:r>
                        <a:rPr lang="en-IN" sz="2000" b="0" dirty="0">
                          <a:solidFill>
                            <a:schemeClr val="tx1"/>
                          </a:solidFill>
                        </a:rPr>
                        <a:t>It will remain as it is until user modifies it.</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IN" sz="2000" b="0" dirty="0">
                          <a:solidFill>
                            <a:schemeClr val="tx1"/>
                          </a:solidFill>
                        </a:rPr>
                        <a:t>A Process is a </a:t>
                      </a:r>
                      <a:r>
                        <a:rPr lang="en-IN" sz="2000" b="1" dirty="0">
                          <a:solidFill>
                            <a:srgbClr val="C00000"/>
                          </a:solidFill>
                        </a:rPr>
                        <a:t>Dynamic/Active</a:t>
                      </a:r>
                      <a:r>
                        <a:rPr lang="en-IN" sz="2000" b="0" dirty="0">
                          <a:solidFill>
                            <a:schemeClr val="tx1"/>
                          </a:solidFill>
                        </a:rPr>
                        <a:t> entity.</a:t>
                      </a:r>
                    </a:p>
                    <a:p>
                      <a:pPr algn="just"/>
                      <a:r>
                        <a:rPr lang="en-IN" sz="2000" b="0" dirty="0">
                          <a:solidFill>
                            <a:schemeClr val="tx1"/>
                          </a:solidFill>
                        </a:rPr>
                        <a:t>It takes start, execution and terminate.</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0" name="Content Placeholder 4">
            <a:extLst>
              <a:ext uri="{FF2B5EF4-FFF2-40B4-BE49-F238E27FC236}">
                <a16:creationId xmlns:a16="http://schemas.microsoft.com/office/drawing/2014/main" id="{194A14B8-6064-6227-C332-7C62066DDE61}"/>
              </a:ext>
            </a:extLst>
          </p:cNvPr>
          <p:cNvGraphicFramePr>
            <a:graphicFrameLocks/>
          </p:cNvGraphicFramePr>
          <p:nvPr>
            <p:extLst>
              <p:ext uri="{D42A27DB-BD31-4B8C-83A1-F6EECF244321}">
                <p14:modId xmlns:p14="http://schemas.microsoft.com/office/powerpoint/2010/main" val="3116902658"/>
              </p:ext>
            </p:extLst>
          </p:nvPr>
        </p:nvGraphicFramePr>
        <p:xfrm>
          <a:off x="649753" y="2879215"/>
          <a:ext cx="10354234" cy="590766"/>
        </p:xfrm>
        <a:graphic>
          <a:graphicData uri="http://schemas.openxmlformats.org/drawingml/2006/table">
            <a:tbl>
              <a:tblPr firstRow="1" bandRow="1">
                <a:tableStyleId>{8EC20E35-A176-4012-BC5E-935CFFF8708E}</a:tableStyleId>
              </a:tblPr>
              <a:tblGrid>
                <a:gridCol w="5189284">
                  <a:extLst>
                    <a:ext uri="{9D8B030D-6E8A-4147-A177-3AD203B41FA5}">
                      <a16:colId xmlns:a16="http://schemas.microsoft.com/office/drawing/2014/main" val="20000"/>
                    </a:ext>
                  </a:extLst>
                </a:gridCol>
                <a:gridCol w="5164950">
                  <a:extLst>
                    <a:ext uri="{9D8B030D-6E8A-4147-A177-3AD203B41FA5}">
                      <a16:colId xmlns:a16="http://schemas.microsoft.com/office/drawing/2014/main" val="20001"/>
                    </a:ext>
                  </a:extLst>
                </a:gridCol>
              </a:tblGrid>
              <a:tr h="5907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0" dirty="0">
                          <a:solidFill>
                            <a:schemeClr val="tx1"/>
                          </a:solidFill>
                        </a:rPr>
                        <a:t>A Program has a </a:t>
                      </a:r>
                      <a:r>
                        <a:rPr lang="en-IN" sz="2000" b="1" dirty="0">
                          <a:solidFill>
                            <a:srgbClr val="C00000"/>
                          </a:solidFill>
                        </a:rPr>
                        <a:t>Longer life span</a:t>
                      </a:r>
                      <a:r>
                        <a:rPr lang="en-IN" sz="2000" b="0" dirty="0">
                          <a:solidFill>
                            <a:schemeClr val="tx1"/>
                          </a:solidFill>
                        </a:rPr>
                        <a:t>. </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solidFill>
                            <a:schemeClr val="tx1"/>
                          </a:solidFill>
                        </a:rPr>
                        <a:t>A Process has </a:t>
                      </a:r>
                      <a:r>
                        <a:rPr lang="en-IN" sz="2000" b="1" dirty="0">
                          <a:solidFill>
                            <a:srgbClr val="C00000"/>
                          </a:solidFill>
                        </a:rPr>
                        <a:t>Limited life span</a:t>
                      </a:r>
                      <a:r>
                        <a:rPr lang="en-IN" sz="2000" b="0" dirty="0">
                          <a:solidFill>
                            <a:schemeClr val="tx1"/>
                          </a:solidFill>
                        </a:rPr>
                        <a:t>. </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Content Placeholder 4">
            <a:extLst>
              <a:ext uri="{FF2B5EF4-FFF2-40B4-BE49-F238E27FC236}">
                <a16:creationId xmlns:a16="http://schemas.microsoft.com/office/drawing/2014/main" id="{8590B43F-47CF-ACE9-6802-A8ACA9B2DA7F}"/>
              </a:ext>
            </a:extLst>
          </p:cNvPr>
          <p:cNvGraphicFramePr>
            <a:graphicFrameLocks/>
          </p:cNvGraphicFramePr>
          <p:nvPr>
            <p:extLst>
              <p:ext uri="{D42A27DB-BD31-4B8C-83A1-F6EECF244321}">
                <p14:modId xmlns:p14="http://schemas.microsoft.com/office/powerpoint/2010/main" val="3633774716"/>
              </p:ext>
            </p:extLst>
          </p:nvPr>
        </p:nvGraphicFramePr>
        <p:xfrm>
          <a:off x="647607" y="3463719"/>
          <a:ext cx="10354234" cy="701040"/>
        </p:xfrm>
        <a:graphic>
          <a:graphicData uri="http://schemas.openxmlformats.org/drawingml/2006/table">
            <a:tbl>
              <a:tblPr firstRow="1" bandRow="1">
                <a:tableStyleId>{8EC20E35-A176-4012-BC5E-935CFFF8708E}</a:tableStyleId>
              </a:tblPr>
              <a:tblGrid>
                <a:gridCol w="5189284">
                  <a:extLst>
                    <a:ext uri="{9D8B030D-6E8A-4147-A177-3AD203B41FA5}">
                      <a16:colId xmlns:a16="http://schemas.microsoft.com/office/drawing/2014/main" val="20000"/>
                    </a:ext>
                  </a:extLst>
                </a:gridCol>
                <a:gridCol w="5164950">
                  <a:extLst>
                    <a:ext uri="{9D8B030D-6E8A-4147-A177-3AD203B41FA5}">
                      <a16:colId xmlns:a16="http://schemas.microsoft.com/office/drawing/2014/main" val="20001"/>
                    </a:ext>
                  </a:extLst>
                </a:gridCol>
              </a:tblGrid>
              <a:tr h="59076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solidFill>
                            <a:schemeClr val="tx1"/>
                          </a:solidFill>
                        </a:rPr>
                        <a:t>A Program stored on disk. So, its </a:t>
                      </a:r>
                      <a:r>
                        <a:rPr lang="en-IN" sz="2000" b="1" dirty="0">
                          <a:solidFill>
                            <a:srgbClr val="C00000"/>
                          </a:solidFill>
                        </a:rPr>
                        <a:t>life may be in months/years</a:t>
                      </a:r>
                      <a:r>
                        <a:rPr lang="en-IN" sz="2000" b="0" dirty="0">
                          <a:solidFill>
                            <a:schemeClr val="tx1"/>
                          </a:solidFill>
                        </a:rPr>
                        <a:t>.</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b="0" dirty="0">
                          <a:solidFill>
                            <a:schemeClr val="tx1"/>
                          </a:solidFill>
                        </a:rPr>
                        <a:t>It performs </a:t>
                      </a:r>
                      <a:r>
                        <a:rPr lang="en-IN" sz="2000" b="1" dirty="0">
                          <a:solidFill>
                            <a:srgbClr val="C00000"/>
                          </a:solidFill>
                        </a:rPr>
                        <a:t>various operations after it terminates</a:t>
                      </a:r>
                      <a:r>
                        <a:rPr lang="en-IN" sz="2000" b="0" dirty="0">
                          <a:solidFill>
                            <a:schemeClr val="tx1"/>
                          </a:solidFill>
                        </a:rPr>
                        <a:t>.</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 name="Content Placeholder 4">
            <a:extLst>
              <a:ext uri="{FF2B5EF4-FFF2-40B4-BE49-F238E27FC236}">
                <a16:creationId xmlns:a16="http://schemas.microsoft.com/office/drawing/2014/main" id="{6DC1303C-F52F-2567-253F-6EE7D33357B5}"/>
              </a:ext>
            </a:extLst>
          </p:cNvPr>
          <p:cNvGraphicFramePr>
            <a:graphicFrameLocks/>
          </p:cNvGraphicFramePr>
          <p:nvPr>
            <p:extLst>
              <p:ext uri="{D42A27DB-BD31-4B8C-83A1-F6EECF244321}">
                <p14:modId xmlns:p14="http://schemas.microsoft.com/office/powerpoint/2010/main" val="2371903336"/>
              </p:ext>
            </p:extLst>
          </p:nvPr>
        </p:nvGraphicFramePr>
        <p:xfrm>
          <a:off x="645460" y="4156636"/>
          <a:ext cx="10354234" cy="701040"/>
        </p:xfrm>
        <a:graphic>
          <a:graphicData uri="http://schemas.openxmlformats.org/drawingml/2006/table">
            <a:tbl>
              <a:tblPr firstRow="1" bandRow="1">
                <a:tableStyleId>{8EC20E35-A176-4012-BC5E-935CFFF8708E}</a:tableStyleId>
              </a:tblPr>
              <a:tblGrid>
                <a:gridCol w="5189284">
                  <a:extLst>
                    <a:ext uri="{9D8B030D-6E8A-4147-A177-3AD203B41FA5}">
                      <a16:colId xmlns:a16="http://schemas.microsoft.com/office/drawing/2014/main" val="20000"/>
                    </a:ext>
                  </a:extLst>
                </a:gridCol>
                <a:gridCol w="5164950">
                  <a:extLst>
                    <a:ext uri="{9D8B030D-6E8A-4147-A177-3AD203B41FA5}">
                      <a16:colId xmlns:a16="http://schemas.microsoft.com/office/drawing/2014/main" val="20001"/>
                    </a:ext>
                  </a:extLst>
                </a:gridCol>
              </a:tblGrid>
              <a:tr h="590766">
                <a:tc>
                  <a:txBody>
                    <a:bodyPr/>
                    <a:lstStyle/>
                    <a:p>
                      <a:pPr algn="l"/>
                      <a:r>
                        <a:rPr lang="en-IN" sz="2000" b="0" dirty="0">
                          <a:solidFill>
                            <a:schemeClr val="tx1"/>
                          </a:solidFill>
                        </a:rPr>
                        <a:t>A Program is </a:t>
                      </a:r>
                      <a:r>
                        <a:rPr lang="en-IN" sz="2000" b="1" dirty="0">
                          <a:solidFill>
                            <a:srgbClr val="C00000"/>
                          </a:solidFill>
                        </a:rPr>
                        <a:t>stored on Disk</a:t>
                      </a:r>
                      <a:r>
                        <a:rPr lang="en-IN" sz="2000" b="0" dirty="0">
                          <a:solidFill>
                            <a:schemeClr val="tx1"/>
                          </a:solidFill>
                        </a:rPr>
                        <a:t>, in some file.</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2000" b="0" dirty="0">
                          <a:solidFill>
                            <a:schemeClr val="tx1"/>
                          </a:solidFill>
                        </a:rPr>
                        <a:t>A Process requires various resources like as </a:t>
                      </a:r>
                      <a:r>
                        <a:rPr lang="en-IN" sz="2000" b="1" dirty="0">
                          <a:solidFill>
                            <a:srgbClr val="C00000"/>
                          </a:solidFill>
                        </a:rPr>
                        <a:t>Memory space, Disk, Printers</a:t>
                      </a:r>
                      <a:r>
                        <a:rPr lang="en-IN" sz="2000" b="0" dirty="0">
                          <a:solidFill>
                            <a:srgbClr val="C00000"/>
                          </a:solidFill>
                        </a:rPr>
                        <a:t> </a:t>
                      </a:r>
                      <a:r>
                        <a:rPr lang="en-IN" sz="2000" b="1" dirty="0">
                          <a:solidFill>
                            <a:srgbClr val="C00000"/>
                          </a:solidFill>
                        </a:rPr>
                        <a:t>etc</a:t>
                      </a:r>
                      <a:r>
                        <a:rPr lang="en-IN" sz="2000" b="0" dirty="0">
                          <a:solidFill>
                            <a:schemeClr val="tx1"/>
                          </a:solidFill>
                        </a:rPr>
                        <a:t>.</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028295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4775F-D7DA-FF3A-CAB1-474D100275D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574D87-36FB-8FB2-1148-C5AAB1E9320D}"/>
              </a:ext>
            </a:extLst>
          </p:cNvPr>
          <p:cNvSpPr>
            <a:spLocks noGrp="1"/>
          </p:cNvSpPr>
          <p:nvPr>
            <p:ph type="title"/>
          </p:nvPr>
        </p:nvSpPr>
        <p:spPr/>
        <p:txBody>
          <a:bodyPr/>
          <a:lstStyle/>
          <a:p>
            <a:r>
              <a:rPr lang="en-IN" dirty="0">
                <a:solidFill>
                  <a:schemeClr val="tx1"/>
                </a:solidFill>
              </a:rPr>
              <a:t>Program VS Process</a:t>
            </a:r>
            <a:endParaRPr lang="en-IN" dirty="0"/>
          </a:p>
        </p:txBody>
      </p:sp>
      <p:graphicFrame>
        <p:nvGraphicFramePr>
          <p:cNvPr id="7" name="Content Placeholder 4">
            <a:extLst>
              <a:ext uri="{FF2B5EF4-FFF2-40B4-BE49-F238E27FC236}">
                <a16:creationId xmlns:a16="http://schemas.microsoft.com/office/drawing/2014/main" id="{AB6B409D-2D38-563F-B434-3C67A39A1A75}"/>
              </a:ext>
            </a:extLst>
          </p:cNvPr>
          <p:cNvGraphicFramePr>
            <a:graphicFrameLocks/>
          </p:cNvGraphicFramePr>
          <p:nvPr/>
        </p:nvGraphicFramePr>
        <p:xfrm>
          <a:off x="651899" y="1021829"/>
          <a:ext cx="10354234" cy="2377440"/>
        </p:xfrm>
        <a:graphic>
          <a:graphicData uri="http://schemas.openxmlformats.org/drawingml/2006/table">
            <a:tbl>
              <a:tblPr firstRow="1" bandRow="1">
                <a:tableStyleId>{8EC20E35-A176-4012-BC5E-935CFFF8708E}</a:tableStyleId>
              </a:tblPr>
              <a:tblGrid>
                <a:gridCol w="5189284">
                  <a:extLst>
                    <a:ext uri="{9D8B030D-6E8A-4147-A177-3AD203B41FA5}">
                      <a16:colId xmlns:a16="http://schemas.microsoft.com/office/drawing/2014/main" val="20000"/>
                    </a:ext>
                  </a:extLst>
                </a:gridCol>
                <a:gridCol w="5164950">
                  <a:extLst>
                    <a:ext uri="{9D8B030D-6E8A-4147-A177-3AD203B41FA5}">
                      <a16:colId xmlns:a16="http://schemas.microsoft.com/office/drawing/2014/main" val="20001"/>
                    </a:ext>
                  </a:extLst>
                </a:gridCol>
              </a:tblGrid>
              <a:tr h="327487">
                <a:tc>
                  <a:txBody>
                    <a:bodyPr/>
                    <a:lstStyle/>
                    <a:p>
                      <a:pPr algn="ctr"/>
                      <a:r>
                        <a:rPr lang="en-US" sz="2400" b="1" dirty="0">
                          <a:solidFill>
                            <a:schemeClr val="tx1"/>
                          </a:solidFill>
                        </a:rPr>
                        <a:t>Program</a:t>
                      </a:r>
                      <a:r>
                        <a:rPr lang="en-US" sz="2400" b="1" baseline="0" dirty="0">
                          <a:solidFill>
                            <a:schemeClr val="tx1"/>
                          </a:solidFill>
                        </a:rPr>
                        <a:t> </a:t>
                      </a:r>
                      <a:endParaRPr lang="en-US" sz="2400"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2400" b="1" kern="1200" dirty="0">
                          <a:solidFill>
                            <a:schemeClr val="tx1"/>
                          </a:solidFill>
                          <a:latin typeface="+mn-lt"/>
                          <a:ea typeface="+mn-ea"/>
                          <a:cs typeface="+mn-cs"/>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90766">
                <a:tc>
                  <a:txBody>
                    <a:bodyPr/>
                    <a:lstStyle/>
                    <a:p>
                      <a:pPr algn="just"/>
                      <a:r>
                        <a:rPr lang="en-IN" sz="2000" b="0" dirty="0">
                          <a:solidFill>
                            <a:schemeClr val="tx1"/>
                          </a:solidFill>
                        </a:rPr>
                        <a:t>A Program </a:t>
                      </a:r>
                      <a:r>
                        <a:rPr lang="en-IN" sz="2000" b="1" dirty="0">
                          <a:solidFill>
                            <a:srgbClr val="C00000"/>
                          </a:solidFill>
                        </a:rPr>
                        <a:t>requires memory space</a:t>
                      </a:r>
                      <a:r>
                        <a:rPr lang="en-IN" sz="2000" b="0" dirty="0">
                          <a:solidFill>
                            <a:srgbClr val="C00000"/>
                          </a:solidFill>
                        </a:rPr>
                        <a:t> </a:t>
                      </a:r>
                      <a:r>
                        <a:rPr lang="en-IN" sz="2000" b="0" dirty="0">
                          <a:solidFill>
                            <a:schemeClr val="tx1"/>
                          </a:solidFill>
                        </a:rPr>
                        <a:t>on disk </a:t>
                      </a:r>
                      <a:r>
                        <a:rPr lang="en-IN" sz="2000" b="1" dirty="0">
                          <a:solidFill>
                            <a:srgbClr val="C00000"/>
                          </a:solidFill>
                        </a:rPr>
                        <a:t>to store all the instructions only.</a:t>
                      </a:r>
                      <a:endParaRPr lang="en-US" sz="2000" b="1" dirty="0">
                        <a:solidFill>
                          <a:srgbClr val="C00000"/>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IN" sz="2000" b="0" dirty="0">
                          <a:solidFill>
                            <a:schemeClr val="tx1"/>
                          </a:solidFill>
                        </a:rPr>
                        <a:t>A Process </a:t>
                      </a:r>
                      <a:r>
                        <a:rPr lang="en-IN" sz="2000" b="1" dirty="0">
                          <a:solidFill>
                            <a:srgbClr val="C00000"/>
                          </a:solidFill>
                        </a:rPr>
                        <a:t>requires memory space</a:t>
                      </a:r>
                      <a:r>
                        <a:rPr lang="en-IN" sz="2000" b="0" dirty="0">
                          <a:solidFill>
                            <a:srgbClr val="C00000"/>
                          </a:solidFill>
                        </a:rPr>
                        <a:t> </a:t>
                      </a:r>
                      <a:r>
                        <a:rPr lang="en-IN" sz="2000" b="0" dirty="0">
                          <a:solidFill>
                            <a:schemeClr val="tx1"/>
                          </a:solidFill>
                        </a:rPr>
                        <a:t>which is called its </a:t>
                      </a:r>
                      <a:r>
                        <a:rPr lang="en-IN" sz="2000" b="1" dirty="0">
                          <a:solidFill>
                            <a:srgbClr val="C00000"/>
                          </a:solidFill>
                        </a:rPr>
                        <a:t>address space.</a:t>
                      </a:r>
                    </a:p>
                    <a:p>
                      <a:pPr algn="just"/>
                      <a:r>
                        <a:rPr lang="en-IN" sz="2000" b="0" dirty="0">
                          <a:solidFill>
                            <a:schemeClr val="tx1"/>
                          </a:solidFill>
                        </a:rPr>
                        <a:t>Address space contains three parts:</a:t>
                      </a:r>
                    </a:p>
                    <a:p>
                      <a:pPr marL="342900" indent="-342900" algn="just">
                        <a:buAutoNum type="arabicParenR"/>
                      </a:pPr>
                      <a:r>
                        <a:rPr lang="en-IN" sz="2000" b="0" dirty="0">
                          <a:solidFill>
                            <a:schemeClr val="tx1"/>
                          </a:solidFill>
                        </a:rPr>
                        <a:t>An executable program or code.</a:t>
                      </a:r>
                      <a:r>
                        <a:rPr lang="en-IN" sz="2000" b="0" baseline="0" dirty="0">
                          <a:solidFill>
                            <a:schemeClr val="tx1"/>
                          </a:solidFill>
                        </a:rPr>
                        <a:t> </a:t>
                      </a:r>
                    </a:p>
                    <a:p>
                      <a:pPr marL="342900" indent="-342900" algn="just">
                        <a:buAutoNum type="arabicParenR"/>
                      </a:pPr>
                      <a:r>
                        <a:rPr lang="en-IN" sz="2000" b="0" dirty="0">
                          <a:solidFill>
                            <a:schemeClr val="tx1"/>
                          </a:solidFill>
                        </a:rPr>
                        <a:t>Program's data.</a:t>
                      </a:r>
                      <a:r>
                        <a:rPr lang="en-IN" sz="2000" b="0" baseline="0" dirty="0">
                          <a:solidFill>
                            <a:schemeClr val="tx1"/>
                          </a:solidFill>
                        </a:rPr>
                        <a:t> </a:t>
                      </a:r>
                    </a:p>
                    <a:p>
                      <a:pPr marL="342900" indent="-342900" algn="just">
                        <a:buAutoNum type="arabicParenR"/>
                      </a:pPr>
                      <a:r>
                        <a:rPr lang="en-IN" sz="2000" b="0" dirty="0">
                          <a:solidFill>
                            <a:schemeClr val="tx1"/>
                          </a:solidFill>
                        </a:rPr>
                        <a:t>Stack</a:t>
                      </a:r>
                      <a:endParaRPr lang="en-US" sz="2000" b="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828022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3E2622"/>
                    </a:gs>
                    <a:gs pos="100000">
                      <a:srgbClr val="795547"/>
                    </a:gs>
                  </a:gsLst>
                  <a:lin ang="0" scaled="1"/>
                  <a:tileRect/>
                </a:gradFill>
              </a:rPr>
              <a:t>Process States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- 2</a:t>
            </a:r>
          </a:p>
        </p:txBody>
      </p:sp>
    </p:spTree>
    <p:extLst>
      <p:ext uri="{BB962C8B-B14F-4D97-AF65-F5344CB8AC3E}">
        <p14:creationId xmlns:p14="http://schemas.microsoft.com/office/powerpoint/2010/main" val="9327029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Process Life Cycle</a:t>
            </a:r>
          </a:p>
        </p:txBody>
      </p:sp>
      <p:sp>
        <p:nvSpPr>
          <p:cNvPr id="4" name="Oval 3"/>
          <p:cNvSpPr/>
          <p:nvPr/>
        </p:nvSpPr>
        <p:spPr>
          <a:xfrm>
            <a:off x="340961" y="1038306"/>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418454" y="1365411"/>
            <a:ext cx="2169763" cy="461665"/>
          </a:xfrm>
          <a:prstGeom prst="rect">
            <a:avLst/>
          </a:prstGeom>
          <a:noFill/>
        </p:spPr>
        <p:txBody>
          <a:bodyPr wrap="square" rtlCol="0">
            <a:spAutoFit/>
          </a:bodyPr>
          <a:lstStyle/>
          <a:p>
            <a:pPr algn="ctr"/>
            <a:r>
              <a:rPr lang="en-IN" sz="2400" b="1" dirty="0">
                <a:solidFill>
                  <a:schemeClr val="bg1"/>
                </a:solidFill>
              </a:rPr>
              <a:t>NEW</a:t>
            </a:r>
            <a:endParaRPr lang="en-IN" b="1" dirty="0">
              <a:solidFill>
                <a:schemeClr val="bg1"/>
              </a:solidFill>
            </a:endParaRPr>
          </a:p>
        </p:txBody>
      </p:sp>
      <p:sp>
        <p:nvSpPr>
          <p:cNvPr id="10" name="Oval 9"/>
          <p:cNvSpPr/>
          <p:nvPr/>
        </p:nvSpPr>
        <p:spPr>
          <a:xfrm>
            <a:off x="2222368" y="2351881"/>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a:off x="2346354" y="2678986"/>
            <a:ext cx="2138765" cy="461665"/>
          </a:xfrm>
          <a:prstGeom prst="rect">
            <a:avLst/>
          </a:prstGeom>
          <a:noFill/>
        </p:spPr>
        <p:txBody>
          <a:bodyPr wrap="square" rtlCol="0">
            <a:spAutoFit/>
          </a:bodyPr>
          <a:lstStyle/>
          <a:p>
            <a:pPr algn="ctr"/>
            <a:r>
              <a:rPr lang="en-IN" sz="2400" b="1" dirty="0">
                <a:solidFill>
                  <a:schemeClr val="bg1"/>
                </a:solidFill>
              </a:rPr>
              <a:t>READY</a:t>
            </a:r>
            <a:endParaRPr lang="en-IN" b="1" dirty="0">
              <a:solidFill>
                <a:schemeClr val="bg1"/>
              </a:solidFill>
            </a:endParaRPr>
          </a:p>
        </p:txBody>
      </p:sp>
      <p:sp>
        <p:nvSpPr>
          <p:cNvPr id="7" name="Oval 6"/>
          <p:cNvSpPr/>
          <p:nvPr/>
        </p:nvSpPr>
        <p:spPr>
          <a:xfrm>
            <a:off x="4718723" y="4094393"/>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4842709" y="4421498"/>
            <a:ext cx="2138765" cy="461665"/>
          </a:xfrm>
          <a:prstGeom prst="rect">
            <a:avLst/>
          </a:prstGeom>
          <a:noFill/>
        </p:spPr>
        <p:txBody>
          <a:bodyPr wrap="square" rtlCol="0">
            <a:spAutoFit/>
          </a:bodyPr>
          <a:lstStyle/>
          <a:p>
            <a:pPr algn="ctr"/>
            <a:r>
              <a:rPr lang="en-IN" sz="2400" b="1" dirty="0">
                <a:solidFill>
                  <a:schemeClr val="bg1"/>
                </a:solidFill>
              </a:rPr>
              <a:t>WAITING</a:t>
            </a:r>
            <a:endParaRPr lang="en-IN" b="1" dirty="0">
              <a:solidFill>
                <a:schemeClr val="bg1"/>
              </a:solidFill>
            </a:endParaRPr>
          </a:p>
        </p:txBody>
      </p:sp>
      <p:sp>
        <p:nvSpPr>
          <p:cNvPr id="12" name="Oval 11"/>
          <p:cNvSpPr/>
          <p:nvPr/>
        </p:nvSpPr>
        <p:spPr>
          <a:xfrm>
            <a:off x="7202200" y="2351879"/>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9588938" y="1038304"/>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p:cNvSpPr txBox="1"/>
          <p:nvPr/>
        </p:nvSpPr>
        <p:spPr>
          <a:xfrm>
            <a:off x="7326186" y="2702950"/>
            <a:ext cx="2138765" cy="461665"/>
          </a:xfrm>
          <a:prstGeom prst="rect">
            <a:avLst/>
          </a:prstGeom>
          <a:noFill/>
        </p:spPr>
        <p:txBody>
          <a:bodyPr wrap="square" rtlCol="0">
            <a:spAutoFit/>
          </a:bodyPr>
          <a:lstStyle/>
          <a:p>
            <a:pPr algn="ctr"/>
            <a:r>
              <a:rPr lang="en-IN" sz="2400" b="1" dirty="0">
                <a:solidFill>
                  <a:schemeClr val="bg1"/>
                </a:solidFill>
              </a:rPr>
              <a:t>RUNNING</a:t>
            </a:r>
            <a:endParaRPr lang="en-IN" b="1" dirty="0">
              <a:solidFill>
                <a:schemeClr val="bg1"/>
              </a:solidFill>
            </a:endParaRPr>
          </a:p>
        </p:txBody>
      </p:sp>
      <p:sp>
        <p:nvSpPr>
          <p:cNvPr id="15" name="TextBox 14"/>
          <p:cNvSpPr txBox="1"/>
          <p:nvPr/>
        </p:nvSpPr>
        <p:spPr>
          <a:xfrm>
            <a:off x="9712924" y="1365409"/>
            <a:ext cx="2138765" cy="461665"/>
          </a:xfrm>
          <a:prstGeom prst="rect">
            <a:avLst/>
          </a:prstGeom>
          <a:noFill/>
        </p:spPr>
        <p:txBody>
          <a:bodyPr wrap="square" rtlCol="0">
            <a:spAutoFit/>
          </a:bodyPr>
          <a:lstStyle/>
          <a:p>
            <a:pPr algn="ctr"/>
            <a:r>
              <a:rPr lang="en-IN" sz="2400" b="1" dirty="0">
                <a:solidFill>
                  <a:schemeClr val="bg1"/>
                </a:solidFill>
              </a:rPr>
              <a:t>TERMINATE</a:t>
            </a:r>
            <a:endParaRPr lang="en-IN" b="1" dirty="0">
              <a:solidFill>
                <a:schemeClr val="bg1"/>
              </a:solidFill>
            </a:endParaRPr>
          </a:p>
        </p:txBody>
      </p:sp>
      <p:sp>
        <p:nvSpPr>
          <p:cNvPr id="3" name="TextBox 2"/>
          <p:cNvSpPr txBox="1"/>
          <p:nvPr/>
        </p:nvSpPr>
        <p:spPr>
          <a:xfrm>
            <a:off x="418454" y="5235480"/>
            <a:ext cx="8319752" cy="1304460"/>
          </a:xfrm>
          <a:prstGeom prst="rect">
            <a:avLst/>
          </a:prstGeom>
          <a:noFill/>
        </p:spPr>
        <p:txBody>
          <a:bodyPr wrap="square" rtlCol="0">
            <a:spAutoFit/>
          </a:bodyPr>
          <a:lstStyle/>
          <a:p>
            <a:pPr marL="265113" indent="-265113" algn="just">
              <a:lnSpc>
                <a:spcPct val="90000"/>
              </a:lnSpc>
              <a:spcBef>
                <a:spcPts val="1000"/>
              </a:spcBef>
              <a:buClr>
                <a:schemeClr val="accent6"/>
              </a:buClr>
              <a:buFont typeface="Wingdings 3" panose="05040102010807070707" pitchFamily="18" charset="2"/>
              <a:buChar char=""/>
            </a:pPr>
            <a:r>
              <a:rPr lang="en-IN" sz="2400" b="1" dirty="0"/>
              <a:t>New:</a:t>
            </a:r>
          </a:p>
          <a:p>
            <a:pPr marL="265113" indent="-265113" algn="just">
              <a:lnSpc>
                <a:spcPct val="90000"/>
              </a:lnSpc>
              <a:spcBef>
                <a:spcPts val="1000"/>
              </a:spcBef>
              <a:buClr>
                <a:schemeClr val="accent6"/>
              </a:buClr>
              <a:buFont typeface="Wingdings 3" panose="05040102010807070707" pitchFamily="18" charset="2"/>
              <a:buChar char=""/>
            </a:pPr>
            <a:endParaRPr lang="en-IN" sz="100" b="1" u="sng" dirty="0"/>
          </a:p>
          <a:p>
            <a:pPr marL="809625" lvl="1" indent="-352425" algn="just">
              <a:lnSpc>
                <a:spcPct val="90000"/>
              </a:lnSpc>
              <a:spcBef>
                <a:spcPts val="500"/>
              </a:spcBef>
              <a:buClr>
                <a:schemeClr val="accent6"/>
              </a:buClr>
              <a:buFont typeface="Wingdings 3" panose="05040102010807070707" pitchFamily="18" charset="2"/>
              <a:buChar char=""/>
            </a:pPr>
            <a:r>
              <a:rPr lang="en-IN" sz="2200" dirty="0"/>
              <a:t>When a process is first created, it occupies “</a:t>
            </a:r>
            <a:r>
              <a:rPr lang="en-IN" sz="2200" b="1" dirty="0">
                <a:solidFill>
                  <a:schemeClr val="accent6"/>
                </a:solidFill>
              </a:rPr>
              <a:t>New</a:t>
            </a:r>
            <a:r>
              <a:rPr lang="en-IN" sz="2200" dirty="0"/>
              <a:t>” state.</a:t>
            </a:r>
          </a:p>
          <a:p>
            <a:pPr marL="809625" lvl="1" indent="-352425" algn="just">
              <a:lnSpc>
                <a:spcPct val="90000"/>
              </a:lnSpc>
              <a:spcBef>
                <a:spcPts val="500"/>
              </a:spcBef>
              <a:buClr>
                <a:schemeClr val="accent6"/>
              </a:buClr>
              <a:buFont typeface="Wingdings 3" panose="05040102010807070707" pitchFamily="18" charset="2"/>
              <a:buChar char=""/>
            </a:pPr>
            <a:r>
              <a:rPr lang="en-IN" sz="2200" dirty="0"/>
              <a:t>In this state, process awaits to enter in “Ready” state.</a:t>
            </a:r>
          </a:p>
        </p:txBody>
      </p:sp>
      <p:sp>
        <p:nvSpPr>
          <p:cNvPr id="23" name="TextBox 22"/>
          <p:cNvSpPr txBox="1"/>
          <p:nvPr/>
        </p:nvSpPr>
        <p:spPr>
          <a:xfrm>
            <a:off x="4842709" y="3271321"/>
            <a:ext cx="2103258" cy="400110"/>
          </a:xfrm>
          <a:prstGeom prst="rect">
            <a:avLst/>
          </a:prstGeom>
          <a:noFill/>
        </p:spPr>
        <p:txBody>
          <a:bodyPr wrap="square" rtlCol="0">
            <a:spAutoFit/>
          </a:bodyPr>
          <a:lstStyle/>
          <a:p>
            <a:endParaRPr lang="en-IN" sz="2000" b="1" dirty="0"/>
          </a:p>
        </p:txBody>
      </p:sp>
      <p:sp>
        <p:nvSpPr>
          <p:cNvPr id="32" name="TextBox 31"/>
          <p:cNvSpPr txBox="1"/>
          <p:nvPr/>
        </p:nvSpPr>
        <p:spPr>
          <a:xfrm>
            <a:off x="418454" y="1359475"/>
            <a:ext cx="2169763" cy="461665"/>
          </a:xfrm>
          <a:prstGeom prst="rect">
            <a:avLst/>
          </a:prstGeom>
          <a:noFill/>
        </p:spPr>
        <p:txBody>
          <a:bodyPr wrap="square" rtlCol="0">
            <a:spAutoFit/>
          </a:bodyPr>
          <a:lstStyle/>
          <a:p>
            <a:pPr algn="ctr"/>
            <a:r>
              <a:rPr lang="en-IN" sz="2400" b="1" dirty="0">
                <a:solidFill>
                  <a:srgbClr val="FFFF00"/>
                </a:solidFill>
              </a:rPr>
              <a:t>NEW</a:t>
            </a:r>
            <a:endParaRPr lang="en-IN" b="1" dirty="0">
              <a:solidFill>
                <a:srgbClr val="FFFF00"/>
              </a:solidFill>
            </a:endParaRPr>
          </a:p>
        </p:txBody>
      </p:sp>
    </p:spTree>
    <p:extLst>
      <p:ext uri="{BB962C8B-B14F-4D97-AF65-F5344CB8AC3E}">
        <p14:creationId xmlns:p14="http://schemas.microsoft.com/office/powerpoint/2010/main" val="350394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9"/>
                                        </p:tgtEl>
                                        <p:attrNameLst>
                                          <p:attrName>style.visibility</p:attrName>
                                        </p:attrNameLst>
                                      </p:cBhvr>
                                      <p:to>
                                        <p:strVal val="hidden"/>
                                      </p:to>
                                    </p:set>
                                  </p:childTnLst>
                                </p:cTn>
                              </p:par>
                              <p:par>
                                <p:cTn id="39" presetID="26" presetClass="emph" presetSubtype="0" repeatCount="indefinite" fill="hold" grpId="1" nodeType="withEffect">
                                  <p:stCondLst>
                                    <p:cond delay="0"/>
                                  </p:stCondLst>
                                  <p:endCondLst>
                                    <p:cond evt="onNext" delay="0">
                                      <p:tgtEl>
                                        <p:sldTgt/>
                                      </p:tgtEl>
                                    </p:cond>
                                  </p:endCondLst>
                                  <p:childTnLst>
                                    <p:animEffect transition="out" filter="fade">
                                      <p:cBhvr>
                                        <p:cTn id="40" dur="500" tmFilter="0, 0; .2, .5; .8, .5; 1, 0"/>
                                        <p:tgtEl>
                                          <p:spTgt spid="32"/>
                                        </p:tgtEl>
                                      </p:cBhvr>
                                    </p:animEffect>
                                    <p:animScale>
                                      <p:cBhvr>
                                        <p:cTn id="41" dur="250" autoRev="1" fill="hold"/>
                                        <p:tgtEl>
                                          <p:spTgt spid="32"/>
                                        </p:tgtEl>
                                      </p:cBhvr>
                                      <p:by x="105000" y="105000"/>
                                    </p:animScale>
                                  </p:childTnLst>
                                </p:cTn>
                              </p:par>
                              <p:par>
                                <p:cTn id="42" presetID="1" presetClass="entr" presetSubtype="0" fill="hold" grpId="0" nodeType="withEffect">
                                  <p:stCondLst>
                                    <p:cond delay="0"/>
                                  </p:stCondLst>
                                  <p:childTnLst>
                                    <p:set>
                                      <p:cBhvr>
                                        <p:cTn id="43" dur="1" fill="hold">
                                          <p:stCondLst>
                                            <p:cond delay="0"/>
                                          </p:stCondLst>
                                        </p:cTn>
                                        <p:tgtEl>
                                          <p:spTgt spid="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P spid="9" grpId="1"/>
      <p:bldP spid="10" grpId="0" animBg="1"/>
      <p:bldP spid="11" grpId="0"/>
      <p:bldP spid="7" grpId="0" animBg="1"/>
      <p:bldP spid="8" grpId="0"/>
      <p:bldP spid="12" grpId="0" animBg="1"/>
      <p:bldP spid="13" grpId="0" animBg="1"/>
      <p:bldP spid="14" grpId="0"/>
      <p:bldP spid="15" grpId="0"/>
      <p:bldP spid="3" grpId="0"/>
      <p:bldP spid="32" grpId="0"/>
      <p:bldP spid="3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Process Life Cycle</a:t>
            </a:r>
          </a:p>
        </p:txBody>
      </p:sp>
      <p:sp>
        <p:nvSpPr>
          <p:cNvPr id="4" name="Oval 3"/>
          <p:cNvSpPr/>
          <p:nvPr/>
        </p:nvSpPr>
        <p:spPr>
          <a:xfrm>
            <a:off x="340961" y="1038306"/>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418454" y="1365411"/>
            <a:ext cx="2169763" cy="461665"/>
          </a:xfrm>
          <a:prstGeom prst="rect">
            <a:avLst/>
          </a:prstGeom>
          <a:noFill/>
        </p:spPr>
        <p:txBody>
          <a:bodyPr wrap="square" rtlCol="0">
            <a:spAutoFit/>
          </a:bodyPr>
          <a:lstStyle/>
          <a:p>
            <a:pPr algn="ctr"/>
            <a:r>
              <a:rPr lang="en-IN" sz="2400" b="1" dirty="0">
                <a:solidFill>
                  <a:schemeClr val="bg1"/>
                </a:solidFill>
              </a:rPr>
              <a:t>NEW</a:t>
            </a:r>
            <a:endParaRPr lang="en-IN" b="1" dirty="0">
              <a:solidFill>
                <a:schemeClr val="bg1"/>
              </a:solidFill>
            </a:endParaRPr>
          </a:p>
        </p:txBody>
      </p:sp>
      <p:sp>
        <p:nvSpPr>
          <p:cNvPr id="10" name="Oval 9"/>
          <p:cNvSpPr/>
          <p:nvPr/>
        </p:nvSpPr>
        <p:spPr>
          <a:xfrm>
            <a:off x="2222368" y="2351881"/>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a:off x="2346354" y="2678986"/>
            <a:ext cx="2138765" cy="461665"/>
          </a:xfrm>
          <a:prstGeom prst="rect">
            <a:avLst/>
          </a:prstGeom>
          <a:noFill/>
        </p:spPr>
        <p:txBody>
          <a:bodyPr wrap="square" rtlCol="0">
            <a:spAutoFit/>
          </a:bodyPr>
          <a:lstStyle/>
          <a:p>
            <a:pPr algn="ctr"/>
            <a:r>
              <a:rPr lang="en-IN" sz="2400" b="1" dirty="0">
                <a:solidFill>
                  <a:schemeClr val="bg1"/>
                </a:solidFill>
              </a:rPr>
              <a:t>READY</a:t>
            </a:r>
            <a:endParaRPr lang="en-IN" b="1" dirty="0">
              <a:solidFill>
                <a:schemeClr val="bg1"/>
              </a:solidFill>
            </a:endParaRPr>
          </a:p>
        </p:txBody>
      </p:sp>
      <p:sp>
        <p:nvSpPr>
          <p:cNvPr id="7" name="Oval 6"/>
          <p:cNvSpPr/>
          <p:nvPr/>
        </p:nvSpPr>
        <p:spPr>
          <a:xfrm>
            <a:off x="4718723" y="4094393"/>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4842709" y="4421498"/>
            <a:ext cx="2138765" cy="461665"/>
          </a:xfrm>
          <a:prstGeom prst="rect">
            <a:avLst/>
          </a:prstGeom>
          <a:noFill/>
        </p:spPr>
        <p:txBody>
          <a:bodyPr wrap="square" rtlCol="0">
            <a:spAutoFit/>
          </a:bodyPr>
          <a:lstStyle/>
          <a:p>
            <a:pPr algn="ctr"/>
            <a:r>
              <a:rPr lang="en-IN" sz="2400" b="1" dirty="0">
                <a:solidFill>
                  <a:schemeClr val="bg1"/>
                </a:solidFill>
              </a:rPr>
              <a:t>WAITING</a:t>
            </a:r>
            <a:endParaRPr lang="en-IN" b="1" dirty="0">
              <a:solidFill>
                <a:schemeClr val="bg1"/>
              </a:solidFill>
            </a:endParaRPr>
          </a:p>
        </p:txBody>
      </p:sp>
      <p:sp>
        <p:nvSpPr>
          <p:cNvPr id="12" name="Oval 11"/>
          <p:cNvSpPr/>
          <p:nvPr/>
        </p:nvSpPr>
        <p:spPr>
          <a:xfrm>
            <a:off x="7202200" y="2351879"/>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9588938" y="1038304"/>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p:cNvSpPr txBox="1"/>
          <p:nvPr/>
        </p:nvSpPr>
        <p:spPr>
          <a:xfrm>
            <a:off x="7326186" y="2702950"/>
            <a:ext cx="2138765" cy="461665"/>
          </a:xfrm>
          <a:prstGeom prst="rect">
            <a:avLst/>
          </a:prstGeom>
          <a:noFill/>
        </p:spPr>
        <p:txBody>
          <a:bodyPr wrap="square" rtlCol="0">
            <a:spAutoFit/>
          </a:bodyPr>
          <a:lstStyle/>
          <a:p>
            <a:pPr algn="ctr"/>
            <a:r>
              <a:rPr lang="en-IN" sz="2400" b="1" dirty="0">
                <a:solidFill>
                  <a:schemeClr val="bg1"/>
                </a:solidFill>
              </a:rPr>
              <a:t>RUNNING</a:t>
            </a:r>
            <a:endParaRPr lang="en-IN" b="1" dirty="0">
              <a:solidFill>
                <a:schemeClr val="bg1"/>
              </a:solidFill>
            </a:endParaRPr>
          </a:p>
        </p:txBody>
      </p:sp>
      <p:sp>
        <p:nvSpPr>
          <p:cNvPr id="15" name="TextBox 14"/>
          <p:cNvSpPr txBox="1"/>
          <p:nvPr/>
        </p:nvSpPr>
        <p:spPr>
          <a:xfrm>
            <a:off x="9712924" y="1365409"/>
            <a:ext cx="2138765" cy="461665"/>
          </a:xfrm>
          <a:prstGeom prst="rect">
            <a:avLst/>
          </a:prstGeom>
          <a:noFill/>
        </p:spPr>
        <p:txBody>
          <a:bodyPr wrap="square" rtlCol="0">
            <a:spAutoFit/>
          </a:bodyPr>
          <a:lstStyle/>
          <a:p>
            <a:pPr algn="ctr"/>
            <a:r>
              <a:rPr lang="en-IN" sz="2400" b="1" dirty="0">
                <a:solidFill>
                  <a:schemeClr val="bg1"/>
                </a:solidFill>
              </a:rPr>
              <a:t>TERMINATE</a:t>
            </a:r>
            <a:endParaRPr lang="en-IN" b="1" dirty="0">
              <a:solidFill>
                <a:schemeClr val="bg1"/>
              </a:solidFill>
            </a:endParaRPr>
          </a:p>
        </p:txBody>
      </p:sp>
      <p:sp>
        <p:nvSpPr>
          <p:cNvPr id="23" name="TextBox 22"/>
          <p:cNvSpPr txBox="1"/>
          <p:nvPr/>
        </p:nvSpPr>
        <p:spPr>
          <a:xfrm>
            <a:off x="4842709" y="3271321"/>
            <a:ext cx="2103258" cy="400110"/>
          </a:xfrm>
          <a:prstGeom prst="rect">
            <a:avLst/>
          </a:prstGeom>
          <a:noFill/>
        </p:spPr>
        <p:txBody>
          <a:bodyPr wrap="square" rtlCol="0">
            <a:spAutoFit/>
          </a:bodyPr>
          <a:lstStyle/>
          <a:p>
            <a:endParaRPr lang="en-IN" sz="2000" b="1" dirty="0"/>
          </a:p>
        </p:txBody>
      </p:sp>
      <p:sp>
        <p:nvSpPr>
          <p:cNvPr id="32" name="TextBox 31"/>
          <p:cNvSpPr txBox="1"/>
          <p:nvPr/>
        </p:nvSpPr>
        <p:spPr>
          <a:xfrm>
            <a:off x="418454" y="1359475"/>
            <a:ext cx="2169763" cy="461665"/>
          </a:xfrm>
          <a:prstGeom prst="rect">
            <a:avLst/>
          </a:prstGeom>
          <a:noFill/>
        </p:spPr>
        <p:txBody>
          <a:bodyPr wrap="square" rtlCol="0">
            <a:spAutoFit/>
          </a:bodyPr>
          <a:lstStyle/>
          <a:p>
            <a:pPr algn="ctr"/>
            <a:r>
              <a:rPr lang="en-IN" sz="2400" b="1" dirty="0">
                <a:solidFill>
                  <a:srgbClr val="FFFF00"/>
                </a:solidFill>
              </a:rPr>
              <a:t>NEW</a:t>
            </a:r>
            <a:endParaRPr lang="en-IN" b="1" dirty="0">
              <a:solidFill>
                <a:srgbClr val="FFFF00"/>
              </a:solidFill>
            </a:endParaRPr>
          </a:p>
        </p:txBody>
      </p:sp>
      <p:sp>
        <p:nvSpPr>
          <p:cNvPr id="35" name="TextBox 34"/>
          <p:cNvSpPr txBox="1"/>
          <p:nvPr/>
        </p:nvSpPr>
        <p:spPr>
          <a:xfrm>
            <a:off x="2222367" y="2680242"/>
            <a:ext cx="2386739" cy="461665"/>
          </a:xfrm>
          <a:prstGeom prst="rect">
            <a:avLst/>
          </a:prstGeom>
          <a:noFill/>
        </p:spPr>
        <p:txBody>
          <a:bodyPr wrap="square" rtlCol="0">
            <a:spAutoFit/>
          </a:bodyPr>
          <a:lstStyle/>
          <a:p>
            <a:pPr algn="ctr"/>
            <a:r>
              <a:rPr lang="en-IN" sz="2400" b="1" dirty="0">
                <a:solidFill>
                  <a:srgbClr val="FFFF00"/>
                </a:solidFill>
              </a:rPr>
              <a:t>READY</a:t>
            </a:r>
            <a:endParaRPr lang="en-IN" b="1" dirty="0">
              <a:solidFill>
                <a:srgbClr val="FFFF00"/>
              </a:solidFill>
            </a:endParaRPr>
          </a:p>
        </p:txBody>
      </p:sp>
      <p:sp>
        <p:nvSpPr>
          <p:cNvPr id="36" name="TextBox 35">
            <a:extLst>
              <a:ext uri="{FF2B5EF4-FFF2-40B4-BE49-F238E27FC236}">
                <a16:creationId xmlns:a16="http://schemas.microsoft.com/office/drawing/2014/main" id="{16E215AA-96E7-4FB1-8FCD-5E7475E54802}"/>
              </a:ext>
            </a:extLst>
          </p:cNvPr>
          <p:cNvSpPr txBox="1"/>
          <p:nvPr/>
        </p:nvSpPr>
        <p:spPr>
          <a:xfrm>
            <a:off x="340961" y="4910881"/>
            <a:ext cx="10574689" cy="1685077"/>
          </a:xfrm>
          <a:prstGeom prst="rect">
            <a:avLst/>
          </a:prstGeom>
          <a:noFill/>
        </p:spPr>
        <p:txBody>
          <a:bodyPr wrap="square" rtlCol="0">
            <a:spAutoFit/>
          </a:bodyPr>
          <a:lstStyle/>
          <a:p>
            <a:pPr marL="265113" indent="-265113" algn="just">
              <a:lnSpc>
                <a:spcPct val="90000"/>
              </a:lnSpc>
              <a:spcBef>
                <a:spcPts val="1000"/>
              </a:spcBef>
              <a:buClr>
                <a:schemeClr val="accent6"/>
              </a:buClr>
              <a:buFont typeface="Wingdings 3" panose="05040102010807070707" pitchFamily="18" charset="2"/>
              <a:buChar char=""/>
            </a:pPr>
            <a:r>
              <a:rPr lang="en-IN" sz="2400" b="1" dirty="0"/>
              <a:t>Ready:</a:t>
            </a:r>
          </a:p>
          <a:p>
            <a:endParaRPr lang="en-IN" sz="1000" b="1" u="sng" dirty="0"/>
          </a:p>
          <a:p>
            <a:pPr marL="809625" lvl="1" indent="-352425" algn="just">
              <a:lnSpc>
                <a:spcPct val="90000"/>
              </a:lnSpc>
              <a:spcBef>
                <a:spcPts val="500"/>
              </a:spcBef>
              <a:buClr>
                <a:schemeClr val="accent6"/>
              </a:buClr>
              <a:buFont typeface="Wingdings 3" panose="05040102010807070707" pitchFamily="18" charset="2"/>
              <a:buChar char=""/>
            </a:pPr>
            <a:r>
              <a:rPr lang="en-IN" sz="2200" dirty="0"/>
              <a:t>A process, which is in “</a:t>
            </a:r>
            <a:r>
              <a:rPr lang="en-IN" sz="2200" b="1" dirty="0">
                <a:solidFill>
                  <a:schemeClr val="accent6"/>
                </a:solidFill>
              </a:rPr>
              <a:t>Ready</a:t>
            </a:r>
            <a:r>
              <a:rPr lang="en-IN" sz="2200" dirty="0"/>
              <a:t>” state, has been loaded into main memory.</a:t>
            </a:r>
          </a:p>
          <a:p>
            <a:pPr marL="809625" lvl="1" indent="-352425" algn="just">
              <a:lnSpc>
                <a:spcPct val="90000"/>
              </a:lnSpc>
              <a:spcBef>
                <a:spcPts val="500"/>
              </a:spcBef>
              <a:buClr>
                <a:schemeClr val="accent6"/>
              </a:buClr>
              <a:buFont typeface="Wingdings 3" panose="05040102010807070707" pitchFamily="18" charset="2"/>
              <a:buChar char=""/>
            </a:pPr>
            <a:r>
              <a:rPr lang="en-IN" sz="2200" dirty="0"/>
              <a:t>In this state, process awaits for execution on a CPU.</a:t>
            </a:r>
          </a:p>
          <a:p>
            <a:pPr marL="809625" lvl="1" indent="-352425" algn="just">
              <a:lnSpc>
                <a:spcPct val="90000"/>
              </a:lnSpc>
              <a:spcBef>
                <a:spcPts val="500"/>
              </a:spcBef>
              <a:buClr>
                <a:schemeClr val="accent6"/>
              </a:buClr>
              <a:buFont typeface="Wingdings 3" panose="05040102010807070707" pitchFamily="18" charset="2"/>
              <a:buChar char=""/>
            </a:pPr>
            <a:r>
              <a:rPr lang="en-IN" sz="2200" dirty="0"/>
              <a:t>It is possible that more then one process may be “Ready” state at any time.</a:t>
            </a:r>
          </a:p>
        </p:txBody>
      </p:sp>
      <p:cxnSp>
        <p:nvCxnSpPr>
          <p:cNvPr id="19" name="Curved Connector 5">
            <a:extLst>
              <a:ext uri="{FF2B5EF4-FFF2-40B4-BE49-F238E27FC236}">
                <a16:creationId xmlns:a16="http://schemas.microsoft.com/office/drawing/2014/main" id="{9DBA016B-F8C4-4646-A2DB-C379BC5571E9}"/>
              </a:ext>
            </a:extLst>
          </p:cNvPr>
          <p:cNvCxnSpPr/>
          <p:nvPr/>
        </p:nvCxnSpPr>
        <p:spPr>
          <a:xfrm rot="16200000" flipH="1">
            <a:off x="1568523" y="2185634"/>
            <a:ext cx="755637" cy="688038"/>
          </a:xfrm>
          <a:prstGeom prst="curvedConnector2">
            <a:avLst/>
          </a:prstGeom>
          <a:ln w="57150">
            <a:solidFill>
              <a:schemeClr val="tx1"/>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976543A-33EE-45C7-9A7C-2173DFF5B1F8}"/>
              </a:ext>
            </a:extLst>
          </p:cNvPr>
          <p:cNvSpPr txBox="1"/>
          <p:nvPr/>
        </p:nvSpPr>
        <p:spPr>
          <a:xfrm>
            <a:off x="1637792" y="2121619"/>
            <a:ext cx="1395469" cy="400110"/>
          </a:xfrm>
          <a:prstGeom prst="rect">
            <a:avLst/>
          </a:prstGeom>
          <a:noFill/>
        </p:spPr>
        <p:txBody>
          <a:bodyPr wrap="square" rtlCol="0">
            <a:spAutoFit/>
          </a:bodyPr>
          <a:lstStyle/>
          <a:p>
            <a:r>
              <a:rPr lang="en-IN" sz="2000" b="1" dirty="0"/>
              <a:t>Admitted</a:t>
            </a:r>
          </a:p>
        </p:txBody>
      </p:sp>
    </p:spTree>
    <p:extLst>
      <p:ext uri="{BB962C8B-B14F-4D97-AF65-F5344CB8AC3E}">
        <p14:creationId xmlns:p14="http://schemas.microsoft.com/office/powerpoint/2010/main" val="643243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26" presetClass="emph" presetSubtype="0" repeatCount="indefinite" fill="hold" grpId="1" nodeType="withEffect">
                                  <p:stCondLst>
                                    <p:cond delay="0"/>
                                  </p:stCondLst>
                                  <p:childTnLst>
                                    <p:animEffect transition="out" filter="fade">
                                      <p:cBhvr>
                                        <p:cTn id="18" dur="500" tmFilter="0, 0; .2, .5; .8, .5; 1, 0"/>
                                        <p:tgtEl>
                                          <p:spTgt spid="35"/>
                                        </p:tgtEl>
                                      </p:cBhvr>
                                    </p:animEffect>
                                    <p:animScale>
                                      <p:cBhvr>
                                        <p:cTn id="19" dur="250" autoRev="1" fill="hold"/>
                                        <p:tgtEl>
                                          <p:spTgt spid="35"/>
                                        </p:tgtEl>
                                      </p:cBhvr>
                                      <p:by x="105000" y="105000"/>
                                    </p:animScale>
                                  </p:childTnLst>
                                </p:cTn>
                              </p:par>
                              <p:par>
                                <p:cTn id="20" presetID="1" presetClass="exit"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6">
                                            <p:txEl>
                                              <p:pRg st="0" end="0"/>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36">
                                            <p:txEl>
                                              <p:pRg st="2" end="2"/>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6">
                                            <p:txEl>
                                              <p:pRg st="3" end="3"/>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32" grpId="0"/>
      <p:bldP spid="35" grpId="0"/>
      <p:bldP spid="35" grpId="1"/>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Process Life Cycle</a:t>
            </a:r>
          </a:p>
        </p:txBody>
      </p:sp>
      <p:sp>
        <p:nvSpPr>
          <p:cNvPr id="4" name="Oval 3"/>
          <p:cNvSpPr/>
          <p:nvPr/>
        </p:nvSpPr>
        <p:spPr>
          <a:xfrm>
            <a:off x="340961" y="1038306"/>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418454" y="1365411"/>
            <a:ext cx="2169763" cy="461665"/>
          </a:xfrm>
          <a:prstGeom prst="rect">
            <a:avLst/>
          </a:prstGeom>
          <a:noFill/>
        </p:spPr>
        <p:txBody>
          <a:bodyPr wrap="square" rtlCol="0">
            <a:spAutoFit/>
          </a:bodyPr>
          <a:lstStyle/>
          <a:p>
            <a:pPr algn="ctr"/>
            <a:r>
              <a:rPr lang="en-IN" sz="2400" b="1" dirty="0">
                <a:solidFill>
                  <a:schemeClr val="bg1"/>
                </a:solidFill>
              </a:rPr>
              <a:t>NEW</a:t>
            </a:r>
            <a:endParaRPr lang="en-IN" b="1" dirty="0">
              <a:solidFill>
                <a:schemeClr val="bg1"/>
              </a:solidFill>
            </a:endParaRPr>
          </a:p>
        </p:txBody>
      </p:sp>
      <p:sp>
        <p:nvSpPr>
          <p:cNvPr id="10" name="Oval 9"/>
          <p:cNvSpPr/>
          <p:nvPr/>
        </p:nvSpPr>
        <p:spPr>
          <a:xfrm>
            <a:off x="2222368" y="2351881"/>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a:off x="2346354" y="2678986"/>
            <a:ext cx="2138765" cy="461665"/>
          </a:xfrm>
          <a:prstGeom prst="rect">
            <a:avLst/>
          </a:prstGeom>
          <a:noFill/>
        </p:spPr>
        <p:txBody>
          <a:bodyPr wrap="square" rtlCol="0">
            <a:spAutoFit/>
          </a:bodyPr>
          <a:lstStyle/>
          <a:p>
            <a:pPr algn="ctr"/>
            <a:r>
              <a:rPr lang="en-IN" sz="2400" b="1" dirty="0">
                <a:solidFill>
                  <a:schemeClr val="bg1"/>
                </a:solidFill>
              </a:rPr>
              <a:t>READY</a:t>
            </a:r>
            <a:endParaRPr lang="en-IN" b="1" dirty="0">
              <a:solidFill>
                <a:schemeClr val="bg1"/>
              </a:solidFill>
            </a:endParaRPr>
          </a:p>
        </p:txBody>
      </p:sp>
      <p:sp>
        <p:nvSpPr>
          <p:cNvPr id="7" name="Oval 6"/>
          <p:cNvSpPr/>
          <p:nvPr/>
        </p:nvSpPr>
        <p:spPr>
          <a:xfrm>
            <a:off x="4718723" y="4094393"/>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4842709" y="4421498"/>
            <a:ext cx="2138765" cy="461665"/>
          </a:xfrm>
          <a:prstGeom prst="rect">
            <a:avLst/>
          </a:prstGeom>
          <a:noFill/>
        </p:spPr>
        <p:txBody>
          <a:bodyPr wrap="square" rtlCol="0">
            <a:spAutoFit/>
          </a:bodyPr>
          <a:lstStyle/>
          <a:p>
            <a:pPr algn="ctr"/>
            <a:r>
              <a:rPr lang="en-IN" sz="2400" b="1" dirty="0">
                <a:solidFill>
                  <a:schemeClr val="bg1"/>
                </a:solidFill>
              </a:rPr>
              <a:t>WAITING</a:t>
            </a:r>
            <a:endParaRPr lang="en-IN" b="1" dirty="0">
              <a:solidFill>
                <a:schemeClr val="bg1"/>
              </a:solidFill>
            </a:endParaRPr>
          </a:p>
        </p:txBody>
      </p:sp>
      <p:sp>
        <p:nvSpPr>
          <p:cNvPr id="12" name="Oval 11"/>
          <p:cNvSpPr/>
          <p:nvPr/>
        </p:nvSpPr>
        <p:spPr>
          <a:xfrm>
            <a:off x="7202200" y="2351879"/>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9588938" y="1038304"/>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p:cNvSpPr txBox="1"/>
          <p:nvPr/>
        </p:nvSpPr>
        <p:spPr>
          <a:xfrm>
            <a:off x="7326186" y="2702950"/>
            <a:ext cx="2138765" cy="461665"/>
          </a:xfrm>
          <a:prstGeom prst="rect">
            <a:avLst/>
          </a:prstGeom>
          <a:noFill/>
        </p:spPr>
        <p:txBody>
          <a:bodyPr wrap="square" rtlCol="0">
            <a:spAutoFit/>
          </a:bodyPr>
          <a:lstStyle/>
          <a:p>
            <a:pPr algn="ctr"/>
            <a:r>
              <a:rPr lang="en-IN" sz="2400" b="1" dirty="0">
                <a:solidFill>
                  <a:schemeClr val="bg1"/>
                </a:solidFill>
              </a:rPr>
              <a:t>RUNNING</a:t>
            </a:r>
            <a:endParaRPr lang="en-IN" b="1" dirty="0">
              <a:solidFill>
                <a:schemeClr val="bg1"/>
              </a:solidFill>
            </a:endParaRPr>
          </a:p>
        </p:txBody>
      </p:sp>
      <p:sp>
        <p:nvSpPr>
          <p:cNvPr id="15" name="TextBox 14"/>
          <p:cNvSpPr txBox="1"/>
          <p:nvPr/>
        </p:nvSpPr>
        <p:spPr>
          <a:xfrm>
            <a:off x="9712924" y="1365409"/>
            <a:ext cx="2138765" cy="461665"/>
          </a:xfrm>
          <a:prstGeom prst="rect">
            <a:avLst/>
          </a:prstGeom>
          <a:noFill/>
        </p:spPr>
        <p:txBody>
          <a:bodyPr wrap="square" rtlCol="0">
            <a:spAutoFit/>
          </a:bodyPr>
          <a:lstStyle/>
          <a:p>
            <a:pPr algn="ctr"/>
            <a:r>
              <a:rPr lang="en-IN" sz="2400" b="1" dirty="0">
                <a:solidFill>
                  <a:schemeClr val="bg1"/>
                </a:solidFill>
              </a:rPr>
              <a:t>TERMINATE</a:t>
            </a:r>
            <a:endParaRPr lang="en-IN" b="1" dirty="0">
              <a:solidFill>
                <a:schemeClr val="bg1"/>
              </a:solidFill>
            </a:endParaRPr>
          </a:p>
        </p:txBody>
      </p:sp>
      <p:cxnSp>
        <p:nvCxnSpPr>
          <p:cNvPr id="6" name="Curved Connector 5"/>
          <p:cNvCxnSpPr>
            <a:stCxn id="4" idx="4"/>
            <a:endCxn id="10" idx="2"/>
          </p:cNvCxnSpPr>
          <p:nvPr/>
        </p:nvCxnSpPr>
        <p:spPr>
          <a:xfrm rot="16200000" flipH="1">
            <a:off x="1500531" y="2187982"/>
            <a:ext cx="755637" cy="688038"/>
          </a:xfrm>
          <a:prstGeom prst="curvedConnector2">
            <a:avLst/>
          </a:prstGeom>
          <a:ln w="57150">
            <a:solidFill>
              <a:schemeClr val="tx1"/>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842709" y="3271321"/>
            <a:ext cx="2103258" cy="400110"/>
          </a:xfrm>
          <a:prstGeom prst="rect">
            <a:avLst/>
          </a:prstGeom>
          <a:noFill/>
        </p:spPr>
        <p:txBody>
          <a:bodyPr wrap="square" rtlCol="0">
            <a:spAutoFit/>
          </a:bodyPr>
          <a:lstStyle/>
          <a:p>
            <a:endParaRPr lang="en-IN" sz="2000" b="1" dirty="0"/>
          </a:p>
        </p:txBody>
      </p:sp>
      <p:sp>
        <p:nvSpPr>
          <p:cNvPr id="28" name="TextBox 27"/>
          <p:cNvSpPr txBox="1"/>
          <p:nvPr/>
        </p:nvSpPr>
        <p:spPr>
          <a:xfrm>
            <a:off x="1569800" y="2123967"/>
            <a:ext cx="1395469" cy="400110"/>
          </a:xfrm>
          <a:prstGeom prst="rect">
            <a:avLst/>
          </a:prstGeom>
          <a:noFill/>
        </p:spPr>
        <p:txBody>
          <a:bodyPr wrap="square" rtlCol="0">
            <a:spAutoFit/>
          </a:bodyPr>
          <a:lstStyle/>
          <a:p>
            <a:r>
              <a:rPr lang="en-IN" sz="2000" b="1" dirty="0"/>
              <a:t>Admitted</a:t>
            </a:r>
          </a:p>
        </p:txBody>
      </p:sp>
      <p:sp>
        <p:nvSpPr>
          <p:cNvPr id="19" name="TextBox 18">
            <a:extLst>
              <a:ext uri="{FF2B5EF4-FFF2-40B4-BE49-F238E27FC236}">
                <a16:creationId xmlns:a16="http://schemas.microsoft.com/office/drawing/2014/main" id="{9CCD481A-77F9-4BFA-AB31-CE0DB41641DF}"/>
              </a:ext>
            </a:extLst>
          </p:cNvPr>
          <p:cNvSpPr txBox="1"/>
          <p:nvPr/>
        </p:nvSpPr>
        <p:spPr>
          <a:xfrm>
            <a:off x="4780715" y="1720160"/>
            <a:ext cx="2262752" cy="400110"/>
          </a:xfrm>
          <a:prstGeom prst="rect">
            <a:avLst/>
          </a:prstGeom>
          <a:noFill/>
        </p:spPr>
        <p:txBody>
          <a:bodyPr wrap="square" rtlCol="0">
            <a:spAutoFit/>
          </a:bodyPr>
          <a:lstStyle/>
          <a:p>
            <a:pPr algn="ctr"/>
            <a:r>
              <a:rPr lang="en-IN" sz="2000" b="1" dirty="0"/>
              <a:t>Interrupt</a:t>
            </a:r>
            <a:endParaRPr lang="en-IN" b="1" dirty="0"/>
          </a:p>
        </p:txBody>
      </p:sp>
      <p:sp>
        <p:nvSpPr>
          <p:cNvPr id="20" name="TextBox 19">
            <a:extLst>
              <a:ext uri="{FF2B5EF4-FFF2-40B4-BE49-F238E27FC236}">
                <a16:creationId xmlns:a16="http://schemas.microsoft.com/office/drawing/2014/main" id="{AB4D5A8B-D5D8-40E9-9D1C-4219405A5901}"/>
              </a:ext>
            </a:extLst>
          </p:cNvPr>
          <p:cNvSpPr txBox="1"/>
          <p:nvPr/>
        </p:nvSpPr>
        <p:spPr>
          <a:xfrm>
            <a:off x="4833962" y="3311915"/>
            <a:ext cx="2240122" cy="984885"/>
          </a:xfrm>
          <a:prstGeom prst="rect">
            <a:avLst/>
          </a:prstGeom>
          <a:noFill/>
        </p:spPr>
        <p:txBody>
          <a:bodyPr wrap="square" rtlCol="0">
            <a:spAutoFit/>
          </a:bodyPr>
          <a:lstStyle/>
          <a:p>
            <a:pPr algn="ctr"/>
            <a:r>
              <a:rPr lang="en-IN" sz="2000" b="1" dirty="0"/>
              <a:t>Scheduler</a:t>
            </a:r>
          </a:p>
          <a:p>
            <a:pPr algn="ctr"/>
            <a:r>
              <a:rPr lang="en-IN" sz="2000" b="1" dirty="0"/>
              <a:t>Dispatch</a:t>
            </a:r>
          </a:p>
          <a:p>
            <a:endParaRPr lang="en-IN" dirty="0"/>
          </a:p>
        </p:txBody>
      </p:sp>
      <p:cxnSp>
        <p:nvCxnSpPr>
          <p:cNvPr id="21" name="Curved Connector 16">
            <a:extLst>
              <a:ext uri="{FF2B5EF4-FFF2-40B4-BE49-F238E27FC236}">
                <a16:creationId xmlns:a16="http://schemas.microsoft.com/office/drawing/2014/main" id="{98A4F2C3-B154-4C45-AD4D-A042A1E3E970}"/>
              </a:ext>
            </a:extLst>
          </p:cNvPr>
          <p:cNvCxnSpPr/>
          <p:nvPr/>
        </p:nvCxnSpPr>
        <p:spPr>
          <a:xfrm rot="16200000" flipH="1" flipV="1">
            <a:off x="5905652" y="869219"/>
            <a:ext cx="2" cy="3292154"/>
          </a:xfrm>
          <a:prstGeom prst="curvedConnector3">
            <a:avLst>
              <a:gd name="adj1" fmla="val -19600800000"/>
            </a:avLst>
          </a:prstGeom>
          <a:ln w="57150">
            <a:tailEnd type="triangle"/>
          </a:ln>
        </p:spPr>
        <p:style>
          <a:lnRef idx="1">
            <a:schemeClr val="dk1"/>
          </a:lnRef>
          <a:fillRef idx="0">
            <a:schemeClr val="dk1"/>
          </a:fillRef>
          <a:effectRef idx="0">
            <a:schemeClr val="dk1"/>
          </a:effectRef>
          <a:fontRef idx="minor">
            <a:schemeClr val="tx1"/>
          </a:fontRef>
        </p:style>
      </p:cxnSp>
      <p:cxnSp>
        <p:nvCxnSpPr>
          <p:cNvPr id="22" name="Curved Connector 19">
            <a:extLst>
              <a:ext uri="{FF2B5EF4-FFF2-40B4-BE49-F238E27FC236}">
                <a16:creationId xmlns:a16="http://schemas.microsoft.com/office/drawing/2014/main" id="{CF5DB6C6-9758-4314-A9E8-ACAD6E5EAEBD}"/>
              </a:ext>
            </a:extLst>
          </p:cNvPr>
          <p:cNvCxnSpPr/>
          <p:nvPr/>
        </p:nvCxnSpPr>
        <p:spPr>
          <a:xfrm rot="5400000" flipH="1" flipV="1">
            <a:off x="5905652" y="1658264"/>
            <a:ext cx="2" cy="3292154"/>
          </a:xfrm>
          <a:prstGeom prst="curvedConnector3">
            <a:avLst>
              <a:gd name="adj1" fmla="val -19600800000"/>
            </a:avLst>
          </a:prstGeom>
          <a:ln w="57150">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6AA05274-9CB4-49A3-941C-CCF0C58B69C0}"/>
              </a:ext>
            </a:extLst>
          </p:cNvPr>
          <p:cNvSpPr txBox="1"/>
          <p:nvPr/>
        </p:nvSpPr>
        <p:spPr>
          <a:xfrm>
            <a:off x="7310686" y="2704527"/>
            <a:ext cx="2169763" cy="461665"/>
          </a:xfrm>
          <a:prstGeom prst="rect">
            <a:avLst/>
          </a:prstGeom>
          <a:noFill/>
        </p:spPr>
        <p:txBody>
          <a:bodyPr wrap="square" rtlCol="0">
            <a:spAutoFit/>
          </a:bodyPr>
          <a:lstStyle/>
          <a:p>
            <a:pPr algn="ctr"/>
            <a:r>
              <a:rPr lang="en-IN" sz="2400" b="1" dirty="0">
                <a:solidFill>
                  <a:srgbClr val="FFFF00"/>
                </a:solidFill>
              </a:rPr>
              <a:t>RUNNING</a:t>
            </a:r>
            <a:endParaRPr lang="en-IN" b="1" dirty="0">
              <a:solidFill>
                <a:srgbClr val="FFFF00"/>
              </a:solidFill>
            </a:endParaRPr>
          </a:p>
        </p:txBody>
      </p:sp>
      <p:sp>
        <p:nvSpPr>
          <p:cNvPr id="25" name="TextBox 24">
            <a:extLst>
              <a:ext uri="{FF2B5EF4-FFF2-40B4-BE49-F238E27FC236}">
                <a16:creationId xmlns:a16="http://schemas.microsoft.com/office/drawing/2014/main" id="{0CF09520-EE9C-4CDF-AA1F-1247B455FBBA}"/>
              </a:ext>
            </a:extLst>
          </p:cNvPr>
          <p:cNvSpPr txBox="1"/>
          <p:nvPr/>
        </p:nvSpPr>
        <p:spPr>
          <a:xfrm>
            <a:off x="182333" y="5234625"/>
            <a:ext cx="10917589" cy="1316258"/>
          </a:xfrm>
          <a:prstGeom prst="rect">
            <a:avLst/>
          </a:prstGeom>
          <a:noFill/>
        </p:spPr>
        <p:txBody>
          <a:bodyPr wrap="square" rtlCol="0">
            <a:spAutoFit/>
          </a:bodyPr>
          <a:lstStyle/>
          <a:p>
            <a:pPr marL="265113" indent="-265113" algn="just">
              <a:lnSpc>
                <a:spcPct val="90000"/>
              </a:lnSpc>
              <a:spcBef>
                <a:spcPts val="1000"/>
              </a:spcBef>
              <a:buClr>
                <a:schemeClr val="accent6"/>
              </a:buClr>
              <a:buFont typeface="Wingdings 3" panose="05040102010807070707" pitchFamily="18" charset="2"/>
              <a:buChar char=""/>
            </a:pPr>
            <a:r>
              <a:rPr lang="en-IN" sz="2400" b="1" dirty="0"/>
              <a:t>Running:</a:t>
            </a:r>
          </a:p>
          <a:p>
            <a:endParaRPr lang="en-IN" sz="1000" b="1" u="sng" dirty="0"/>
          </a:p>
          <a:p>
            <a:pPr marL="809625" lvl="1" indent="-352425" algn="just">
              <a:lnSpc>
                <a:spcPct val="90000"/>
              </a:lnSpc>
              <a:spcBef>
                <a:spcPts val="500"/>
              </a:spcBef>
              <a:buClr>
                <a:schemeClr val="accent6"/>
              </a:buClr>
              <a:buFont typeface="Wingdings 3" panose="05040102010807070707" pitchFamily="18" charset="2"/>
              <a:buChar char=""/>
            </a:pPr>
            <a:r>
              <a:rPr lang="en-IN" sz="2200" dirty="0"/>
              <a:t>A process, which is  in “</a:t>
            </a:r>
            <a:r>
              <a:rPr lang="en-IN" sz="2200" b="1" dirty="0">
                <a:solidFill>
                  <a:schemeClr val="accent6"/>
                </a:solidFill>
              </a:rPr>
              <a:t>Running</a:t>
            </a:r>
            <a:r>
              <a:rPr lang="en-IN" sz="2200" dirty="0"/>
              <a:t>” state, is currently executing on CPU.</a:t>
            </a:r>
          </a:p>
          <a:p>
            <a:pPr marL="809625" lvl="1" indent="-352425" algn="just">
              <a:lnSpc>
                <a:spcPct val="90000"/>
              </a:lnSpc>
              <a:spcBef>
                <a:spcPts val="500"/>
              </a:spcBef>
              <a:buClr>
                <a:schemeClr val="accent6"/>
              </a:buClr>
              <a:buFont typeface="Wingdings 3" panose="05040102010807070707" pitchFamily="18" charset="2"/>
              <a:buChar char=""/>
            </a:pPr>
            <a:r>
              <a:rPr lang="en-IN" sz="2200" dirty="0"/>
              <a:t>In a One processor system, one and only one process can be in this state at a time</a:t>
            </a:r>
          </a:p>
        </p:txBody>
      </p:sp>
    </p:spTree>
    <p:extLst>
      <p:ext uri="{BB962C8B-B14F-4D97-AF65-F5344CB8AC3E}">
        <p14:creationId xmlns:p14="http://schemas.microsoft.com/office/powerpoint/2010/main" val="4216327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26" presetClass="emph" presetSubtype="0" repeatCount="indefinite" fill="hold" grpId="1" nodeType="withEffect">
                                  <p:stCondLst>
                                    <p:cond delay="0"/>
                                  </p:stCondLst>
                                  <p:childTnLst>
                                    <p:animEffect transition="out" filter="fade">
                                      <p:cBhvr>
                                        <p:cTn id="22" dur="500" tmFilter="0, 0; .2, .5; .8, .5; 1, 0"/>
                                        <p:tgtEl>
                                          <p:spTgt spid="24"/>
                                        </p:tgtEl>
                                      </p:cBhvr>
                                    </p:animEffect>
                                    <p:animScale>
                                      <p:cBhvr>
                                        <p:cTn id="23" dur="250" autoRev="1" fill="hold"/>
                                        <p:tgtEl>
                                          <p:spTgt spid="24"/>
                                        </p:tgtEl>
                                      </p:cBhvr>
                                      <p:by x="105000" y="105000"/>
                                    </p:animScale>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5">
                                            <p:txEl>
                                              <p:pRg st="2" end="2"/>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19" grpId="0"/>
      <p:bldP spid="20" grpId="0"/>
      <p:bldP spid="24" grpId="0"/>
      <p:bldP spid="24"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Process Life Cycle</a:t>
            </a:r>
          </a:p>
        </p:txBody>
      </p:sp>
      <p:sp>
        <p:nvSpPr>
          <p:cNvPr id="4" name="Oval 3"/>
          <p:cNvSpPr/>
          <p:nvPr/>
        </p:nvSpPr>
        <p:spPr>
          <a:xfrm>
            <a:off x="340961" y="1038306"/>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418454" y="1365411"/>
            <a:ext cx="2169763" cy="461665"/>
          </a:xfrm>
          <a:prstGeom prst="rect">
            <a:avLst/>
          </a:prstGeom>
          <a:noFill/>
        </p:spPr>
        <p:txBody>
          <a:bodyPr wrap="square" rtlCol="0">
            <a:spAutoFit/>
          </a:bodyPr>
          <a:lstStyle/>
          <a:p>
            <a:pPr algn="ctr"/>
            <a:r>
              <a:rPr lang="en-IN" sz="2400" b="1" dirty="0">
                <a:solidFill>
                  <a:schemeClr val="bg1"/>
                </a:solidFill>
              </a:rPr>
              <a:t>NEW</a:t>
            </a:r>
            <a:endParaRPr lang="en-IN" b="1" dirty="0">
              <a:solidFill>
                <a:schemeClr val="bg1"/>
              </a:solidFill>
            </a:endParaRPr>
          </a:p>
        </p:txBody>
      </p:sp>
      <p:sp>
        <p:nvSpPr>
          <p:cNvPr id="10" name="Oval 9"/>
          <p:cNvSpPr/>
          <p:nvPr/>
        </p:nvSpPr>
        <p:spPr>
          <a:xfrm>
            <a:off x="2222368" y="2351881"/>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a:off x="2346354" y="2678986"/>
            <a:ext cx="2138765" cy="461665"/>
          </a:xfrm>
          <a:prstGeom prst="rect">
            <a:avLst/>
          </a:prstGeom>
          <a:noFill/>
        </p:spPr>
        <p:txBody>
          <a:bodyPr wrap="square" rtlCol="0">
            <a:spAutoFit/>
          </a:bodyPr>
          <a:lstStyle/>
          <a:p>
            <a:pPr algn="ctr"/>
            <a:r>
              <a:rPr lang="en-IN" sz="2400" b="1" dirty="0">
                <a:solidFill>
                  <a:schemeClr val="bg1"/>
                </a:solidFill>
              </a:rPr>
              <a:t>READY</a:t>
            </a:r>
            <a:endParaRPr lang="en-IN" b="1" dirty="0">
              <a:solidFill>
                <a:schemeClr val="bg1"/>
              </a:solidFill>
            </a:endParaRPr>
          </a:p>
        </p:txBody>
      </p:sp>
      <p:sp>
        <p:nvSpPr>
          <p:cNvPr id="7" name="Oval 6"/>
          <p:cNvSpPr/>
          <p:nvPr/>
        </p:nvSpPr>
        <p:spPr>
          <a:xfrm>
            <a:off x="4718723" y="4094393"/>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4842709" y="4421498"/>
            <a:ext cx="2138765" cy="461665"/>
          </a:xfrm>
          <a:prstGeom prst="rect">
            <a:avLst/>
          </a:prstGeom>
          <a:noFill/>
        </p:spPr>
        <p:txBody>
          <a:bodyPr wrap="square" rtlCol="0">
            <a:spAutoFit/>
          </a:bodyPr>
          <a:lstStyle/>
          <a:p>
            <a:pPr algn="ctr"/>
            <a:r>
              <a:rPr lang="en-IN" sz="2400" b="1" dirty="0">
                <a:solidFill>
                  <a:schemeClr val="bg1"/>
                </a:solidFill>
              </a:rPr>
              <a:t>WAITING</a:t>
            </a:r>
            <a:endParaRPr lang="en-IN" b="1" dirty="0">
              <a:solidFill>
                <a:schemeClr val="bg1"/>
              </a:solidFill>
            </a:endParaRPr>
          </a:p>
        </p:txBody>
      </p:sp>
      <p:sp>
        <p:nvSpPr>
          <p:cNvPr id="12" name="Oval 11"/>
          <p:cNvSpPr/>
          <p:nvPr/>
        </p:nvSpPr>
        <p:spPr>
          <a:xfrm>
            <a:off x="7202200" y="2351879"/>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9588938" y="1038304"/>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p:cNvSpPr txBox="1"/>
          <p:nvPr/>
        </p:nvSpPr>
        <p:spPr>
          <a:xfrm>
            <a:off x="7326186" y="2702950"/>
            <a:ext cx="2138765" cy="461665"/>
          </a:xfrm>
          <a:prstGeom prst="rect">
            <a:avLst/>
          </a:prstGeom>
          <a:noFill/>
        </p:spPr>
        <p:txBody>
          <a:bodyPr wrap="square" rtlCol="0">
            <a:spAutoFit/>
          </a:bodyPr>
          <a:lstStyle/>
          <a:p>
            <a:pPr algn="ctr"/>
            <a:r>
              <a:rPr lang="en-IN" sz="2400" b="1" dirty="0">
                <a:solidFill>
                  <a:schemeClr val="bg1"/>
                </a:solidFill>
              </a:rPr>
              <a:t>RUNNING</a:t>
            </a:r>
            <a:endParaRPr lang="en-IN" b="1" dirty="0">
              <a:solidFill>
                <a:schemeClr val="bg1"/>
              </a:solidFill>
            </a:endParaRPr>
          </a:p>
        </p:txBody>
      </p:sp>
      <p:sp>
        <p:nvSpPr>
          <p:cNvPr id="15" name="TextBox 14"/>
          <p:cNvSpPr txBox="1"/>
          <p:nvPr/>
        </p:nvSpPr>
        <p:spPr>
          <a:xfrm>
            <a:off x="9712924" y="1365409"/>
            <a:ext cx="2138765" cy="461665"/>
          </a:xfrm>
          <a:prstGeom prst="rect">
            <a:avLst/>
          </a:prstGeom>
          <a:noFill/>
        </p:spPr>
        <p:txBody>
          <a:bodyPr wrap="square" rtlCol="0">
            <a:spAutoFit/>
          </a:bodyPr>
          <a:lstStyle/>
          <a:p>
            <a:pPr algn="ctr"/>
            <a:r>
              <a:rPr lang="en-IN" sz="2400" b="1" dirty="0">
                <a:solidFill>
                  <a:schemeClr val="bg1"/>
                </a:solidFill>
              </a:rPr>
              <a:t>TERMINATE</a:t>
            </a:r>
            <a:endParaRPr lang="en-IN" b="1" dirty="0">
              <a:solidFill>
                <a:schemeClr val="bg1"/>
              </a:solidFill>
            </a:endParaRPr>
          </a:p>
        </p:txBody>
      </p:sp>
      <p:cxnSp>
        <p:nvCxnSpPr>
          <p:cNvPr id="6" name="Curved Connector 5"/>
          <p:cNvCxnSpPr>
            <a:stCxn id="4" idx="4"/>
            <a:endCxn id="10" idx="2"/>
          </p:cNvCxnSpPr>
          <p:nvPr/>
        </p:nvCxnSpPr>
        <p:spPr>
          <a:xfrm rot="16200000" flipH="1">
            <a:off x="1500531" y="2187982"/>
            <a:ext cx="755637" cy="688038"/>
          </a:xfrm>
          <a:prstGeom prst="curvedConnector2">
            <a:avLst/>
          </a:prstGeom>
          <a:ln w="57150">
            <a:solidFill>
              <a:schemeClr val="tx1"/>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842709" y="3271321"/>
            <a:ext cx="2103258" cy="400110"/>
          </a:xfrm>
          <a:prstGeom prst="rect">
            <a:avLst/>
          </a:prstGeom>
          <a:noFill/>
        </p:spPr>
        <p:txBody>
          <a:bodyPr wrap="square" rtlCol="0">
            <a:spAutoFit/>
          </a:bodyPr>
          <a:lstStyle/>
          <a:p>
            <a:endParaRPr lang="en-IN" sz="2000" b="1" dirty="0"/>
          </a:p>
        </p:txBody>
      </p:sp>
      <p:sp>
        <p:nvSpPr>
          <p:cNvPr id="28" name="TextBox 27"/>
          <p:cNvSpPr txBox="1"/>
          <p:nvPr/>
        </p:nvSpPr>
        <p:spPr>
          <a:xfrm>
            <a:off x="1569800" y="2123967"/>
            <a:ext cx="1395469" cy="400110"/>
          </a:xfrm>
          <a:prstGeom prst="rect">
            <a:avLst/>
          </a:prstGeom>
          <a:noFill/>
        </p:spPr>
        <p:txBody>
          <a:bodyPr wrap="square" rtlCol="0">
            <a:spAutoFit/>
          </a:bodyPr>
          <a:lstStyle/>
          <a:p>
            <a:r>
              <a:rPr lang="en-IN" sz="2000" b="1" dirty="0"/>
              <a:t>Admitted</a:t>
            </a:r>
          </a:p>
        </p:txBody>
      </p:sp>
      <p:sp>
        <p:nvSpPr>
          <p:cNvPr id="19" name="TextBox 18">
            <a:extLst>
              <a:ext uri="{FF2B5EF4-FFF2-40B4-BE49-F238E27FC236}">
                <a16:creationId xmlns:a16="http://schemas.microsoft.com/office/drawing/2014/main" id="{9CCD481A-77F9-4BFA-AB31-CE0DB41641DF}"/>
              </a:ext>
            </a:extLst>
          </p:cNvPr>
          <p:cNvSpPr txBox="1"/>
          <p:nvPr/>
        </p:nvSpPr>
        <p:spPr>
          <a:xfrm>
            <a:off x="4780715" y="1720160"/>
            <a:ext cx="2262752" cy="400110"/>
          </a:xfrm>
          <a:prstGeom prst="rect">
            <a:avLst/>
          </a:prstGeom>
          <a:noFill/>
        </p:spPr>
        <p:txBody>
          <a:bodyPr wrap="square" rtlCol="0">
            <a:spAutoFit/>
          </a:bodyPr>
          <a:lstStyle/>
          <a:p>
            <a:pPr algn="ctr"/>
            <a:r>
              <a:rPr lang="en-IN" sz="2000" b="1" dirty="0"/>
              <a:t>Interrupt</a:t>
            </a:r>
            <a:endParaRPr lang="en-IN" b="1" dirty="0"/>
          </a:p>
        </p:txBody>
      </p:sp>
      <p:sp>
        <p:nvSpPr>
          <p:cNvPr id="20" name="TextBox 19">
            <a:extLst>
              <a:ext uri="{FF2B5EF4-FFF2-40B4-BE49-F238E27FC236}">
                <a16:creationId xmlns:a16="http://schemas.microsoft.com/office/drawing/2014/main" id="{AB4D5A8B-D5D8-40E9-9D1C-4219405A5901}"/>
              </a:ext>
            </a:extLst>
          </p:cNvPr>
          <p:cNvSpPr txBox="1"/>
          <p:nvPr/>
        </p:nvSpPr>
        <p:spPr>
          <a:xfrm>
            <a:off x="4833962" y="3311915"/>
            <a:ext cx="2240122" cy="984885"/>
          </a:xfrm>
          <a:prstGeom prst="rect">
            <a:avLst/>
          </a:prstGeom>
          <a:noFill/>
        </p:spPr>
        <p:txBody>
          <a:bodyPr wrap="square" rtlCol="0">
            <a:spAutoFit/>
          </a:bodyPr>
          <a:lstStyle/>
          <a:p>
            <a:pPr algn="ctr"/>
            <a:r>
              <a:rPr lang="en-IN" sz="2000" b="1" dirty="0"/>
              <a:t>Scheduler</a:t>
            </a:r>
          </a:p>
          <a:p>
            <a:pPr algn="ctr"/>
            <a:r>
              <a:rPr lang="en-IN" sz="2000" b="1" dirty="0"/>
              <a:t>Dispatch</a:t>
            </a:r>
          </a:p>
          <a:p>
            <a:endParaRPr lang="en-IN" dirty="0"/>
          </a:p>
        </p:txBody>
      </p:sp>
      <p:cxnSp>
        <p:nvCxnSpPr>
          <p:cNvPr id="21" name="Curved Connector 16">
            <a:extLst>
              <a:ext uri="{FF2B5EF4-FFF2-40B4-BE49-F238E27FC236}">
                <a16:creationId xmlns:a16="http://schemas.microsoft.com/office/drawing/2014/main" id="{98A4F2C3-B154-4C45-AD4D-A042A1E3E970}"/>
              </a:ext>
            </a:extLst>
          </p:cNvPr>
          <p:cNvCxnSpPr/>
          <p:nvPr/>
        </p:nvCxnSpPr>
        <p:spPr>
          <a:xfrm rot="16200000" flipH="1" flipV="1">
            <a:off x="5905652" y="869219"/>
            <a:ext cx="2" cy="3292154"/>
          </a:xfrm>
          <a:prstGeom prst="curvedConnector3">
            <a:avLst>
              <a:gd name="adj1" fmla="val -19600800000"/>
            </a:avLst>
          </a:prstGeom>
          <a:ln w="57150">
            <a:tailEnd type="triangle"/>
          </a:ln>
        </p:spPr>
        <p:style>
          <a:lnRef idx="1">
            <a:schemeClr val="dk1"/>
          </a:lnRef>
          <a:fillRef idx="0">
            <a:schemeClr val="dk1"/>
          </a:fillRef>
          <a:effectRef idx="0">
            <a:schemeClr val="dk1"/>
          </a:effectRef>
          <a:fontRef idx="minor">
            <a:schemeClr val="tx1"/>
          </a:fontRef>
        </p:style>
      </p:cxnSp>
      <p:cxnSp>
        <p:nvCxnSpPr>
          <p:cNvPr id="22" name="Curved Connector 19">
            <a:extLst>
              <a:ext uri="{FF2B5EF4-FFF2-40B4-BE49-F238E27FC236}">
                <a16:creationId xmlns:a16="http://schemas.microsoft.com/office/drawing/2014/main" id="{CF5DB6C6-9758-4314-A9E8-ACAD6E5EAEBD}"/>
              </a:ext>
            </a:extLst>
          </p:cNvPr>
          <p:cNvCxnSpPr/>
          <p:nvPr/>
        </p:nvCxnSpPr>
        <p:spPr>
          <a:xfrm rot="5400000" flipH="1" flipV="1">
            <a:off x="5905652" y="1658264"/>
            <a:ext cx="2" cy="3292154"/>
          </a:xfrm>
          <a:prstGeom prst="curvedConnector3">
            <a:avLst>
              <a:gd name="adj1" fmla="val -19600800000"/>
            </a:avLst>
          </a:prstGeom>
          <a:ln w="57150">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C962675B-FF69-4799-AE1D-9B18808486EC}"/>
              </a:ext>
            </a:extLst>
          </p:cNvPr>
          <p:cNvSpPr txBox="1"/>
          <p:nvPr/>
        </p:nvSpPr>
        <p:spPr>
          <a:xfrm>
            <a:off x="124637" y="4849883"/>
            <a:ext cx="11851039" cy="1657377"/>
          </a:xfrm>
          <a:prstGeom prst="rect">
            <a:avLst/>
          </a:prstGeom>
          <a:noFill/>
        </p:spPr>
        <p:txBody>
          <a:bodyPr wrap="square" rtlCol="0">
            <a:spAutoFit/>
          </a:bodyPr>
          <a:lstStyle/>
          <a:p>
            <a:pPr marL="265113" indent="-265113" algn="just">
              <a:lnSpc>
                <a:spcPct val="90000"/>
              </a:lnSpc>
              <a:spcBef>
                <a:spcPts val="1000"/>
              </a:spcBef>
              <a:buClr>
                <a:schemeClr val="accent6"/>
              </a:buClr>
              <a:buFont typeface="Wingdings 3" panose="05040102010807070707" pitchFamily="18" charset="2"/>
              <a:buChar char=""/>
            </a:pPr>
            <a:r>
              <a:rPr lang="en-IN" sz="2400" b="1" dirty="0"/>
              <a:t>Waiting:</a:t>
            </a:r>
          </a:p>
          <a:p>
            <a:endParaRPr lang="en-IN" sz="1000" dirty="0"/>
          </a:p>
          <a:p>
            <a:pPr marL="809625" lvl="1" indent="-352425" algn="just">
              <a:lnSpc>
                <a:spcPct val="90000"/>
              </a:lnSpc>
              <a:spcBef>
                <a:spcPts val="500"/>
              </a:spcBef>
              <a:buClr>
                <a:schemeClr val="accent6"/>
              </a:buClr>
              <a:buFont typeface="Wingdings 3" panose="05040102010807070707" pitchFamily="18" charset="2"/>
              <a:buChar char=""/>
            </a:pPr>
            <a:r>
              <a:rPr lang="en-IN" sz="2200" dirty="0"/>
              <a:t>A process, which is in “</a:t>
            </a:r>
            <a:r>
              <a:rPr lang="en-IN" sz="2200" b="1" dirty="0">
                <a:solidFill>
                  <a:schemeClr val="accent6"/>
                </a:solidFill>
              </a:rPr>
              <a:t>Waiting</a:t>
            </a:r>
            <a:r>
              <a:rPr lang="en-IN" sz="2200" dirty="0"/>
              <a:t>” state, is waiting for some I/O completion or some event to occur.</a:t>
            </a:r>
          </a:p>
          <a:p>
            <a:pPr marL="809625" lvl="1" indent="-352425" algn="just">
              <a:lnSpc>
                <a:spcPct val="90000"/>
              </a:lnSpc>
              <a:spcBef>
                <a:spcPts val="500"/>
              </a:spcBef>
              <a:buClr>
                <a:schemeClr val="accent6"/>
              </a:buClr>
              <a:buFont typeface="Wingdings 3" panose="05040102010807070707" pitchFamily="18" charset="2"/>
              <a:buChar char=""/>
            </a:pPr>
            <a:r>
              <a:rPr lang="en-IN" sz="2200" dirty="0"/>
              <a:t>Ex.-</a:t>
            </a:r>
            <a:r>
              <a:rPr lang="en-US" sz="2000" dirty="0"/>
              <a:t>A process requiring a printer will wait in its current state until the printer, being used </a:t>
            </a:r>
          </a:p>
          <a:p>
            <a:pPr lvl="1" algn="just">
              <a:lnSpc>
                <a:spcPct val="90000"/>
              </a:lnSpc>
              <a:spcBef>
                <a:spcPts val="500"/>
              </a:spcBef>
              <a:buClr>
                <a:schemeClr val="accent6"/>
              </a:buClr>
            </a:pPr>
            <a:r>
              <a:rPr lang="en-US" sz="2000" dirty="0"/>
              <a:t>             by another process, becomes free.</a:t>
            </a:r>
            <a:endParaRPr lang="en-IN" sz="1900" u="sng" dirty="0"/>
          </a:p>
        </p:txBody>
      </p:sp>
      <p:cxnSp>
        <p:nvCxnSpPr>
          <p:cNvPr id="27" name="Curved Connector 29">
            <a:extLst>
              <a:ext uri="{FF2B5EF4-FFF2-40B4-BE49-F238E27FC236}">
                <a16:creationId xmlns:a16="http://schemas.microsoft.com/office/drawing/2014/main" id="{FD839DB6-8956-4069-9B34-4C29EF16210F}"/>
              </a:ext>
            </a:extLst>
          </p:cNvPr>
          <p:cNvCxnSpPr/>
          <p:nvPr/>
        </p:nvCxnSpPr>
        <p:spPr>
          <a:xfrm rot="5400000">
            <a:off x="7158227" y="3414990"/>
            <a:ext cx="1184576" cy="1290108"/>
          </a:xfrm>
          <a:prstGeom prst="curvedConnector2">
            <a:avLst/>
          </a:prstGeom>
          <a:ln w="57150">
            <a:solidFill>
              <a:schemeClr val="tx1"/>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9F6BD22-38D2-4499-A4A7-0E0B1D9920CE}"/>
              </a:ext>
            </a:extLst>
          </p:cNvPr>
          <p:cNvSpPr txBox="1"/>
          <p:nvPr/>
        </p:nvSpPr>
        <p:spPr>
          <a:xfrm>
            <a:off x="8147441" y="4067555"/>
            <a:ext cx="1983166" cy="707886"/>
          </a:xfrm>
          <a:prstGeom prst="rect">
            <a:avLst/>
          </a:prstGeom>
          <a:noFill/>
        </p:spPr>
        <p:txBody>
          <a:bodyPr wrap="square" rtlCol="0">
            <a:spAutoFit/>
          </a:bodyPr>
          <a:lstStyle/>
          <a:p>
            <a:r>
              <a:rPr lang="en-IN" sz="2000" b="1" dirty="0"/>
              <a:t>I/O or</a:t>
            </a:r>
          </a:p>
          <a:p>
            <a:r>
              <a:rPr lang="en-IN" sz="2000" b="1" dirty="0"/>
              <a:t>Event wait</a:t>
            </a:r>
          </a:p>
        </p:txBody>
      </p:sp>
      <p:sp>
        <p:nvSpPr>
          <p:cNvPr id="30" name="TextBox 29">
            <a:extLst>
              <a:ext uri="{FF2B5EF4-FFF2-40B4-BE49-F238E27FC236}">
                <a16:creationId xmlns:a16="http://schemas.microsoft.com/office/drawing/2014/main" id="{106A5173-4BD6-4CBB-A895-D2DDF1A37390}"/>
              </a:ext>
            </a:extLst>
          </p:cNvPr>
          <p:cNvSpPr txBox="1"/>
          <p:nvPr/>
        </p:nvSpPr>
        <p:spPr>
          <a:xfrm>
            <a:off x="2061394" y="4112860"/>
            <a:ext cx="1801476" cy="707886"/>
          </a:xfrm>
          <a:prstGeom prst="rect">
            <a:avLst/>
          </a:prstGeom>
          <a:noFill/>
        </p:spPr>
        <p:txBody>
          <a:bodyPr wrap="square" rtlCol="0">
            <a:spAutoFit/>
          </a:bodyPr>
          <a:lstStyle/>
          <a:p>
            <a:r>
              <a:rPr lang="en-IN" sz="2000" b="1" dirty="0"/>
              <a:t>I/O or  event</a:t>
            </a:r>
          </a:p>
          <a:p>
            <a:r>
              <a:rPr lang="en-IN" sz="2000" b="1" dirty="0"/>
              <a:t>Completion </a:t>
            </a:r>
          </a:p>
        </p:txBody>
      </p:sp>
      <p:cxnSp>
        <p:nvCxnSpPr>
          <p:cNvPr id="31" name="Curved Connector 39">
            <a:extLst>
              <a:ext uri="{FF2B5EF4-FFF2-40B4-BE49-F238E27FC236}">
                <a16:creationId xmlns:a16="http://schemas.microsoft.com/office/drawing/2014/main" id="{C3C0FF4E-8E6F-4FE7-AEDA-C39E87271E8F}"/>
              </a:ext>
            </a:extLst>
          </p:cNvPr>
          <p:cNvCxnSpPr/>
          <p:nvPr/>
        </p:nvCxnSpPr>
        <p:spPr>
          <a:xfrm rot="10800000">
            <a:off x="3415737" y="3467758"/>
            <a:ext cx="1302986" cy="1184574"/>
          </a:xfrm>
          <a:prstGeom prst="curvedConnector2">
            <a:avLst/>
          </a:prstGeom>
          <a:ln w="57150">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5C06373F-2D62-4861-99FA-7ABAB631E4D2}"/>
              </a:ext>
            </a:extLst>
          </p:cNvPr>
          <p:cNvSpPr txBox="1"/>
          <p:nvPr/>
        </p:nvSpPr>
        <p:spPr>
          <a:xfrm>
            <a:off x="4828641" y="4421047"/>
            <a:ext cx="2169763" cy="461665"/>
          </a:xfrm>
          <a:prstGeom prst="rect">
            <a:avLst/>
          </a:prstGeom>
          <a:noFill/>
        </p:spPr>
        <p:txBody>
          <a:bodyPr wrap="square" rtlCol="0">
            <a:spAutoFit/>
          </a:bodyPr>
          <a:lstStyle/>
          <a:p>
            <a:pPr algn="ctr"/>
            <a:r>
              <a:rPr lang="en-IN" sz="2400" b="1" dirty="0">
                <a:solidFill>
                  <a:srgbClr val="FFFF00"/>
                </a:solidFill>
              </a:rPr>
              <a:t>WAITING</a:t>
            </a:r>
            <a:endParaRPr lang="en-IN" b="1" dirty="0">
              <a:solidFill>
                <a:srgbClr val="FFFF00"/>
              </a:solidFill>
            </a:endParaRPr>
          </a:p>
        </p:txBody>
      </p:sp>
    </p:spTree>
    <p:extLst>
      <p:ext uri="{BB962C8B-B14F-4D97-AF65-F5344CB8AC3E}">
        <p14:creationId xmlns:p14="http://schemas.microsoft.com/office/powerpoint/2010/main" val="327408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hidden"/>
                                      </p:to>
                                    </p:set>
                                  </p:childTnLst>
                                </p:cTn>
                              </p:par>
                              <p:par>
                                <p:cTn id="17" presetID="26" presetClass="emph" presetSubtype="0" repeatCount="indefinite" fill="hold" grpId="1" nodeType="withEffect">
                                  <p:stCondLst>
                                    <p:cond delay="0"/>
                                  </p:stCondLst>
                                  <p:childTnLst>
                                    <p:animEffect transition="out" filter="fade">
                                      <p:cBhvr>
                                        <p:cTn id="18" dur="500" tmFilter="0, 0; .2, .5; .8, .5; 1, 0"/>
                                        <p:tgtEl>
                                          <p:spTgt spid="32"/>
                                        </p:tgtEl>
                                      </p:cBhvr>
                                    </p:animEffect>
                                    <p:animScale>
                                      <p:cBhvr>
                                        <p:cTn id="19" dur="250" autoRev="1" fill="hold"/>
                                        <p:tgtEl>
                                          <p:spTgt spid="32"/>
                                        </p:tgtEl>
                                      </p:cBhvr>
                                      <p:by x="105000" y="105000"/>
                                    </p:animScale>
                                  </p:childTnLst>
                                </p:cTn>
                              </p:par>
                              <p:par>
                                <p:cTn id="20" presetID="1"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26">
                                            <p:txEl>
                                              <p:pRg st="3" end="3"/>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29" grpId="0"/>
      <p:bldP spid="30" grpId="0"/>
      <p:bldP spid="32" grpId="0"/>
      <p:bldP spid="32"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Process Life Cycle</a:t>
            </a:r>
          </a:p>
        </p:txBody>
      </p:sp>
      <p:sp>
        <p:nvSpPr>
          <p:cNvPr id="4" name="Oval 3"/>
          <p:cNvSpPr/>
          <p:nvPr/>
        </p:nvSpPr>
        <p:spPr>
          <a:xfrm>
            <a:off x="340961" y="1038306"/>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418454" y="1365411"/>
            <a:ext cx="2169763" cy="461665"/>
          </a:xfrm>
          <a:prstGeom prst="rect">
            <a:avLst/>
          </a:prstGeom>
          <a:noFill/>
        </p:spPr>
        <p:txBody>
          <a:bodyPr wrap="square" rtlCol="0">
            <a:spAutoFit/>
          </a:bodyPr>
          <a:lstStyle/>
          <a:p>
            <a:pPr algn="ctr"/>
            <a:r>
              <a:rPr lang="en-IN" sz="2400" b="1" dirty="0">
                <a:solidFill>
                  <a:schemeClr val="bg1"/>
                </a:solidFill>
              </a:rPr>
              <a:t>NEW</a:t>
            </a:r>
            <a:endParaRPr lang="en-IN" b="1" dirty="0">
              <a:solidFill>
                <a:schemeClr val="bg1"/>
              </a:solidFill>
            </a:endParaRPr>
          </a:p>
        </p:txBody>
      </p:sp>
      <p:sp>
        <p:nvSpPr>
          <p:cNvPr id="10" name="Oval 9"/>
          <p:cNvSpPr/>
          <p:nvPr/>
        </p:nvSpPr>
        <p:spPr>
          <a:xfrm>
            <a:off x="2222368" y="2351881"/>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a:off x="2346354" y="2678986"/>
            <a:ext cx="2138765" cy="461665"/>
          </a:xfrm>
          <a:prstGeom prst="rect">
            <a:avLst/>
          </a:prstGeom>
          <a:noFill/>
        </p:spPr>
        <p:txBody>
          <a:bodyPr wrap="square" rtlCol="0">
            <a:spAutoFit/>
          </a:bodyPr>
          <a:lstStyle/>
          <a:p>
            <a:pPr algn="ctr"/>
            <a:r>
              <a:rPr lang="en-IN" sz="2400" b="1" dirty="0">
                <a:solidFill>
                  <a:schemeClr val="bg1"/>
                </a:solidFill>
              </a:rPr>
              <a:t>READY</a:t>
            </a:r>
            <a:endParaRPr lang="en-IN" b="1" dirty="0">
              <a:solidFill>
                <a:schemeClr val="bg1"/>
              </a:solidFill>
            </a:endParaRPr>
          </a:p>
        </p:txBody>
      </p:sp>
      <p:sp>
        <p:nvSpPr>
          <p:cNvPr id="7" name="Oval 6"/>
          <p:cNvSpPr/>
          <p:nvPr/>
        </p:nvSpPr>
        <p:spPr>
          <a:xfrm>
            <a:off x="4718723" y="4094393"/>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a:off x="4842709" y="4421498"/>
            <a:ext cx="2138765" cy="461665"/>
          </a:xfrm>
          <a:prstGeom prst="rect">
            <a:avLst/>
          </a:prstGeom>
          <a:noFill/>
        </p:spPr>
        <p:txBody>
          <a:bodyPr wrap="square" rtlCol="0">
            <a:spAutoFit/>
          </a:bodyPr>
          <a:lstStyle/>
          <a:p>
            <a:pPr algn="ctr"/>
            <a:r>
              <a:rPr lang="en-IN" sz="2400" b="1" dirty="0">
                <a:solidFill>
                  <a:schemeClr val="bg1"/>
                </a:solidFill>
              </a:rPr>
              <a:t>WAITING</a:t>
            </a:r>
            <a:endParaRPr lang="en-IN" b="1" dirty="0">
              <a:solidFill>
                <a:schemeClr val="bg1"/>
              </a:solidFill>
            </a:endParaRPr>
          </a:p>
        </p:txBody>
      </p:sp>
      <p:sp>
        <p:nvSpPr>
          <p:cNvPr id="12" name="Oval 11"/>
          <p:cNvSpPr/>
          <p:nvPr/>
        </p:nvSpPr>
        <p:spPr>
          <a:xfrm>
            <a:off x="7202200" y="2351879"/>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p:cNvSpPr/>
          <p:nvPr/>
        </p:nvSpPr>
        <p:spPr>
          <a:xfrm>
            <a:off x="9588938" y="1038304"/>
            <a:ext cx="2386738" cy="1115877"/>
          </a:xfrm>
          <a:prstGeom prst="ellipse">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p:cNvSpPr txBox="1"/>
          <p:nvPr/>
        </p:nvSpPr>
        <p:spPr>
          <a:xfrm>
            <a:off x="7326186" y="2702950"/>
            <a:ext cx="2138765" cy="461665"/>
          </a:xfrm>
          <a:prstGeom prst="rect">
            <a:avLst/>
          </a:prstGeom>
          <a:noFill/>
        </p:spPr>
        <p:txBody>
          <a:bodyPr wrap="square" rtlCol="0">
            <a:spAutoFit/>
          </a:bodyPr>
          <a:lstStyle/>
          <a:p>
            <a:pPr algn="ctr"/>
            <a:r>
              <a:rPr lang="en-IN" sz="2400" b="1" dirty="0">
                <a:solidFill>
                  <a:schemeClr val="bg1"/>
                </a:solidFill>
              </a:rPr>
              <a:t>RUNNING</a:t>
            </a:r>
            <a:endParaRPr lang="en-IN" b="1" dirty="0">
              <a:solidFill>
                <a:schemeClr val="bg1"/>
              </a:solidFill>
            </a:endParaRPr>
          </a:p>
        </p:txBody>
      </p:sp>
      <p:cxnSp>
        <p:nvCxnSpPr>
          <p:cNvPr id="6" name="Curved Connector 5"/>
          <p:cNvCxnSpPr>
            <a:stCxn id="4" idx="4"/>
            <a:endCxn id="10" idx="2"/>
          </p:cNvCxnSpPr>
          <p:nvPr/>
        </p:nvCxnSpPr>
        <p:spPr>
          <a:xfrm rot="16200000" flipH="1">
            <a:off x="1500531" y="2187982"/>
            <a:ext cx="755637" cy="688038"/>
          </a:xfrm>
          <a:prstGeom prst="curvedConnector2">
            <a:avLst/>
          </a:prstGeom>
          <a:ln w="57150">
            <a:solidFill>
              <a:schemeClr val="tx1"/>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842709" y="3271321"/>
            <a:ext cx="2103258" cy="400110"/>
          </a:xfrm>
          <a:prstGeom prst="rect">
            <a:avLst/>
          </a:prstGeom>
          <a:noFill/>
        </p:spPr>
        <p:txBody>
          <a:bodyPr wrap="square" rtlCol="0">
            <a:spAutoFit/>
          </a:bodyPr>
          <a:lstStyle/>
          <a:p>
            <a:endParaRPr lang="en-IN" sz="2000" b="1" dirty="0"/>
          </a:p>
        </p:txBody>
      </p:sp>
      <p:sp>
        <p:nvSpPr>
          <p:cNvPr id="28" name="TextBox 27"/>
          <p:cNvSpPr txBox="1"/>
          <p:nvPr/>
        </p:nvSpPr>
        <p:spPr>
          <a:xfrm>
            <a:off x="1569800" y="2123967"/>
            <a:ext cx="1395469" cy="400110"/>
          </a:xfrm>
          <a:prstGeom prst="rect">
            <a:avLst/>
          </a:prstGeom>
          <a:noFill/>
        </p:spPr>
        <p:txBody>
          <a:bodyPr wrap="square" rtlCol="0">
            <a:spAutoFit/>
          </a:bodyPr>
          <a:lstStyle/>
          <a:p>
            <a:r>
              <a:rPr lang="en-IN" sz="2000" b="1" dirty="0"/>
              <a:t>Admitted</a:t>
            </a:r>
          </a:p>
        </p:txBody>
      </p:sp>
      <p:sp>
        <p:nvSpPr>
          <p:cNvPr id="19" name="TextBox 18">
            <a:extLst>
              <a:ext uri="{FF2B5EF4-FFF2-40B4-BE49-F238E27FC236}">
                <a16:creationId xmlns:a16="http://schemas.microsoft.com/office/drawing/2014/main" id="{9CCD481A-77F9-4BFA-AB31-CE0DB41641DF}"/>
              </a:ext>
            </a:extLst>
          </p:cNvPr>
          <p:cNvSpPr txBox="1"/>
          <p:nvPr/>
        </p:nvSpPr>
        <p:spPr>
          <a:xfrm>
            <a:off x="4780715" y="1720160"/>
            <a:ext cx="2262752" cy="400110"/>
          </a:xfrm>
          <a:prstGeom prst="rect">
            <a:avLst/>
          </a:prstGeom>
          <a:noFill/>
        </p:spPr>
        <p:txBody>
          <a:bodyPr wrap="square" rtlCol="0">
            <a:spAutoFit/>
          </a:bodyPr>
          <a:lstStyle/>
          <a:p>
            <a:pPr algn="ctr"/>
            <a:r>
              <a:rPr lang="en-IN" sz="2000" b="1" dirty="0"/>
              <a:t>Interrupt</a:t>
            </a:r>
            <a:endParaRPr lang="en-IN" b="1" dirty="0"/>
          </a:p>
        </p:txBody>
      </p:sp>
      <p:sp>
        <p:nvSpPr>
          <p:cNvPr id="20" name="TextBox 19">
            <a:extLst>
              <a:ext uri="{FF2B5EF4-FFF2-40B4-BE49-F238E27FC236}">
                <a16:creationId xmlns:a16="http://schemas.microsoft.com/office/drawing/2014/main" id="{AB4D5A8B-D5D8-40E9-9D1C-4219405A5901}"/>
              </a:ext>
            </a:extLst>
          </p:cNvPr>
          <p:cNvSpPr txBox="1"/>
          <p:nvPr/>
        </p:nvSpPr>
        <p:spPr>
          <a:xfrm>
            <a:off x="4833962" y="3311915"/>
            <a:ext cx="2240122" cy="984885"/>
          </a:xfrm>
          <a:prstGeom prst="rect">
            <a:avLst/>
          </a:prstGeom>
          <a:noFill/>
        </p:spPr>
        <p:txBody>
          <a:bodyPr wrap="square" rtlCol="0">
            <a:spAutoFit/>
          </a:bodyPr>
          <a:lstStyle/>
          <a:p>
            <a:pPr algn="ctr"/>
            <a:r>
              <a:rPr lang="en-IN" sz="2000" b="1" dirty="0"/>
              <a:t>Scheduler</a:t>
            </a:r>
          </a:p>
          <a:p>
            <a:pPr algn="ctr"/>
            <a:r>
              <a:rPr lang="en-IN" sz="2000" b="1" dirty="0"/>
              <a:t>Dispatch</a:t>
            </a:r>
          </a:p>
          <a:p>
            <a:endParaRPr lang="en-IN" dirty="0"/>
          </a:p>
        </p:txBody>
      </p:sp>
      <p:cxnSp>
        <p:nvCxnSpPr>
          <p:cNvPr id="21" name="Curved Connector 16">
            <a:extLst>
              <a:ext uri="{FF2B5EF4-FFF2-40B4-BE49-F238E27FC236}">
                <a16:creationId xmlns:a16="http://schemas.microsoft.com/office/drawing/2014/main" id="{98A4F2C3-B154-4C45-AD4D-A042A1E3E970}"/>
              </a:ext>
            </a:extLst>
          </p:cNvPr>
          <p:cNvCxnSpPr/>
          <p:nvPr/>
        </p:nvCxnSpPr>
        <p:spPr>
          <a:xfrm rot="16200000" flipH="1" flipV="1">
            <a:off x="5905652" y="869219"/>
            <a:ext cx="2" cy="3292154"/>
          </a:xfrm>
          <a:prstGeom prst="curvedConnector3">
            <a:avLst>
              <a:gd name="adj1" fmla="val -19600800000"/>
            </a:avLst>
          </a:prstGeom>
          <a:ln w="57150">
            <a:tailEnd type="triangle"/>
          </a:ln>
        </p:spPr>
        <p:style>
          <a:lnRef idx="1">
            <a:schemeClr val="dk1"/>
          </a:lnRef>
          <a:fillRef idx="0">
            <a:schemeClr val="dk1"/>
          </a:fillRef>
          <a:effectRef idx="0">
            <a:schemeClr val="dk1"/>
          </a:effectRef>
          <a:fontRef idx="minor">
            <a:schemeClr val="tx1"/>
          </a:fontRef>
        </p:style>
      </p:cxnSp>
      <p:cxnSp>
        <p:nvCxnSpPr>
          <p:cNvPr id="22" name="Curved Connector 19">
            <a:extLst>
              <a:ext uri="{FF2B5EF4-FFF2-40B4-BE49-F238E27FC236}">
                <a16:creationId xmlns:a16="http://schemas.microsoft.com/office/drawing/2014/main" id="{CF5DB6C6-9758-4314-A9E8-ACAD6E5EAEBD}"/>
              </a:ext>
            </a:extLst>
          </p:cNvPr>
          <p:cNvCxnSpPr/>
          <p:nvPr/>
        </p:nvCxnSpPr>
        <p:spPr>
          <a:xfrm rot="5400000" flipH="1" flipV="1">
            <a:off x="5905652" y="1658264"/>
            <a:ext cx="2" cy="3292154"/>
          </a:xfrm>
          <a:prstGeom prst="curvedConnector3">
            <a:avLst>
              <a:gd name="adj1" fmla="val -19600800000"/>
            </a:avLst>
          </a:prstGeom>
          <a:ln w="57150">
            <a:tailEnd type="triangle"/>
          </a:ln>
        </p:spPr>
        <p:style>
          <a:lnRef idx="1">
            <a:schemeClr val="dk1"/>
          </a:lnRef>
          <a:fillRef idx="0">
            <a:schemeClr val="dk1"/>
          </a:fillRef>
          <a:effectRef idx="0">
            <a:schemeClr val="dk1"/>
          </a:effectRef>
          <a:fontRef idx="minor">
            <a:schemeClr val="tx1"/>
          </a:fontRef>
        </p:style>
      </p:cxnSp>
      <p:cxnSp>
        <p:nvCxnSpPr>
          <p:cNvPr id="27" name="Curved Connector 29">
            <a:extLst>
              <a:ext uri="{FF2B5EF4-FFF2-40B4-BE49-F238E27FC236}">
                <a16:creationId xmlns:a16="http://schemas.microsoft.com/office/drawing/2014/main" id="{FD839DB6-8956-4069-9B34-4C29EF16210F}"/>
              </a:ext>
            </a:extLst>
          </p:cNvPr>
          <p:cNvCxnSpPr/>
          <p:nvPr/>
        </p:nvCxnSpPr>
        <p:spPr>
          <a:xfrm rot="5400000">
            <a:off x="7158227" y="3414990"/>
            <a:ext cx="1184576" cy="1290108"/>
          </a:xfrm>
          <a:prstGeom prst="curvedConnector2">
            <a:avLst/>
          </a:prstGeom>
          <a:ln w="57150">
            <a:solidFill>
              <a:schemeClr val="tx1"/>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9F6BD22-38D2-4499-A4A7-0E0B1D9920CE}"/>
              </a:ext>
            </a:extLst>
          </p:cNvPr>
          <p:cNvSpPr txBox="1"/>
          <p:nvPr/>
        </p:nvSpPr>
        <p:spPr>
          <a:xfrm>
            <a:off x="8147441" y="4067555"/>
            <a:ext cx="1983166" cy="707886"/>
          </a:xfrm>
          <a:prstGeom prst="rect">
            <a:avLst/>
          </a:prstGeom>
          <a:noFill/>
        </p:spPr>
        <p:txBody>
          <a:bodyPr wrap="square" rtlCol="0">
            <a:spAutoFit/>
          </a:bodyPr>
          <a:lstStyle/>
          <a:p>
            <a:r>
              <a:rPr lang="en-IN" sz="2000" b="1" dirty="0"/>
              <a:t>I/O or</a:t>
            </a:r>
          </a:p>
          <a:p>
            <a:r>
              <a:rPr lang="en-IN" sz="2000" b="1" dirty="0"/>
              <a:t>Event wait</a:t>
            </a:r>
          </a:p>
        </p:txBody>
      </p:sp>
      <p:sp>
        <p:nvSpPr>
          <p:cNvPr id="30" name="TextBox 29">
            <a:extLst>
              <a:ext uri="{FF2B5EF4-FFF2-40B4-BE49-F238E27FC236}">
                <a16:creationId xmlns:a16="http://schemas.microsoft.com/office/drawing/2014/main" id="{106A5173-4BD6-4CBB-A895-D2DDF1A37390}"/>
              </a:ext>
            </a:extLst>
          </p:cNvPr>
          <p:cNvSpPr txBox="1"/>
          <p:nvPr/>
        </p:nvSpPr>
        <p:spPr>
          <a:xfrm>
            <a:off x="2061394" y="4112860"/>
            <a:ext cx="1801476" cy="707886"/>
          </a:xfrm>
          <a:prstGeom prst="rect">
            <a:avLst/>
          </a:prstGeom>
          <a:noFill/>
        </p:spPr>
        <p:txBody>
          <a:bodyPr wrap="square" rtlCol="0">
            <a:spAutoFit/>
          </a:bodyPr>
          <a:lstStyle/>
          <a:p>
            <a:r>
              <a:rPr lang="en-IN" sz="2000" b="1" dirty="0"/>
              <a:t>I/O or  event</a:t>
            </a:r>
          </a:p>
          <a:p>
            <a:r>
              <a:rPr lang="en-IN" sz="2000" b="1" dirty="0"/>
              <a:t>Completion </a:t>
            </a:r>
          </a:p>
        </p:txBody>
      </p:sp>
      <p:cxnSp>
        <p:nvCxnSpPr>
          <p:cNvPr id="31" name="Curved Connector 39">
            <a:extLst>
              <a:ext uri="{FF2B5EF4-FFF2-40B4-BE49-F238E27FC236}">
                <a16:creationId xmlns:a16="http://schemas.microsoft.com/office/drawing/2014/main" id="{C3C0FF4E-8E6F-4FE7-AEDA-C39E87271E8F}"/>
              </a:ext>
            </a:extLst>
          </p:cNvPr>
          <p:cNvCxnSpPr/>
          <p:nvPr/>
        </p:nvCxnSpPr>
        <p:spPr>
          <a:xfrm rot="10800000">
            <a:off x="3415737" y="3467758"/>
            <a:ext cx="1302986" cy="1184574"/>
          </a:xfrm>
          <a:prstGeom prst="curvedConnector2">
            <a:avLst/>
          </a:prstGeom>
          <a:ln w="57150">
            <a:tailEnd type="triangle"/>
          </a:ln>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8BA20892-51B4-4141-A47C-BD01C1265D4D}"/>
              </a:ext>
            </a:extLst>
          </p:cNvPr>
          <p:cNvSpPr txBox="1"/>
          <p:nvPr/>
        </p:nvSpPr>
        <p:spPr>
          <a:xfrm>
            <a:off x="340961" y="5282379"/>
            <a:ext cx="11960577" cy="1316258"/>
          </a:xfrm>
          <a:prstGeom prst="rect">
            <a:avLst/>
          </a:prstGeom>
          <a:noFill/>
        </p:spPr>
        <p:txBody>
          <a:bodyPr wrap="square" rtlCol="0">
            <a:spAutoFit/>
          </a:bodyPr>
          <a:lstStyle/>
          <a:p>
            <a:pPr marL="265113" indent="-265113" algn="just">
              <a:lnSpc>
                <a:spcPct val="90000"/>
              </a:lnSpc>
              <a:spcBef>
                <a:spcPts val="1000"/>
              </a:spcBef>
              <a:buClr>
                <a:schemeClr val="accent6"/>
              </a:buClr>
              <a:buFont typeface="Wingdings 3" panose="05040102010807070707" pitchFamily="18" charset="2"/>
              <a:buChar char=""/>
            </a:pPr>
            <a:r>
              <a:rPr lang="en-IN" sz="2400" b="1" dirty="0"/>
              <a:t>Terminate:</a:t>
            </a:r>
          </a:p>
          <a:p>
            <a:endParaRPr lang="en-IN" sz="1000" b="1" u="sng" dirty="0"/>
          </a:p>
          <a:p>
            <a:pPr marL="809625" lvl="1" indent="-352425" algn="just">
              <a:lnSpc>
                <a:spcPct val="90000"/>
              </a:lnSpc>
              <a:spcBef>
                <a:spcPts val="500"/>
              </a:spcBef>
              <a:buClr>
                <a:schemeClr val="accent6"/>
              </a:buClr>
              <a:buFont typeface="Wingdings 3" panose="05040102010807070707" pitchFamily="18" charset="2"/>
              <a:buChar char=""/>
            </a:pPr>
            <a:r>
              <a:rPr lang="en-IN" sz="2200" dirty="0"/>
              <a:t>When process </a:t>
            </a:r>
            <a:r>
              <a:rPr lang="en-IN" sz="2200" b="1" dirty="0">
                <a:solidFill>
                  <a:schemeClr val="accent6"/>
                </a:solidFill>
              </a:rPr>
              <a:t>terminates</a:t>
            </a:r>
            <a:r>
              <a:rPr lang="en-IN" sz="2200" dirty="0"/>
              <a:t>. It acquires this state.</a:t>
            </a:r>
          </a:p>
          <a:p>
            <a:pPr marL="809625" lvl="1" indent="-352425" algn="just">
              <a:lnSpc>
                <a:spcPct val="90000"/>
              </a:lnSpc>
              <a:spcBef>
                <a:spcPts val="500"/>
              </a:spcBef>
              <a:buClr>
                <a:schemeClr val="accent6"/>
              </a:buClr>
              <a:buFont typeface="Wingdings 3" panose="05040102010807070707" pitchFamily="18" charset="2"/>
              <a:buChar char=""/>
            </a:pPr>
            <a:r>
              <a:rPr lang="en-IN" sz="2200" dirty="0"/>
              <a:t>A process can terminate by completing its execution, or it can be killed explicitly.</a:t>
            </a:r>
          </a:p>
        </p:txBody>
      </p:sp>
      <p:cxnSp>
        <p:nvCxnSpPr>
          <p:cNvPr id="34" name="Curved Connector 25">
            <a:extLst>
              <a:ext uri="{FF2B5EF4-FFF2-40B4-BE49-F238E27FC236}">
                <a16:creationId xmlns:a16="http://schemas.microsoft.com/office/drawing/2014/main" id="{EEE7ED85-52B5-4C07-9638-2A78DF47DF6E}"/>
              </a:ext>
            </a:extLst>
          </p:cNvPr>
          <p:cNvCxnSpPr/>
          <p:nvPr/>
        </p:nvCxnSpPr>
        <p:spPr>
          <a:xfrm flipV="1">
            <a:off x="9588938" y="1990765"/>
            <a:ext cx="349530" cy="919053"/>
          </a:xfrm>
          <a:prstGeom prst="curvedConnector2">
            <a:avLst/>
          </a:prstGeom>
          <a:ln w="57150">
            <a:solidFill>
              <a:schemeClr val="tx1"/>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A3A2B36-7302-4D6C-8D1C-1E30085A34E6}"/>
              </a:ext>
            </a:extLst>
          </p:cNvPr>
          <p:cNvSpPr txBox="1"/>
          <p:nvPr/>
        </p:nvSpPr>
        <p:spPr>
          <a:xfrm>
            <a:off x="9845171" y="2379425"/>
            <a:ext cx="860101" cy="400110"/>
          </a:xfrm>
          <a:prstGeom prst="rect">
            <a:avLst/>
          </a:prstGeom>
          <a:noFill/>
        </p:spPr>
        <p:txBody>
          <a:bodyPr wrap="square" rtlCol="0">
            <a:spAutoFit/>
          </a:bodyPr>
          <a:lstStyle/>
          <a:p>
            <a:r>
              <a:rPr lang="en-IN" sz="2000" b="1" dirty="0"/>
              <a:t>Exit</a:t>
            </a:r>
            <a:endParaRPr lang="en-IN" b="1" dirty="0"/>
          </a:p>
        </p:txBody>
      </p:sp>
      <p:sp>
        <p:nvSpPr>
          <p:cNvPr id="36" name="TextBox 35">
            <a:extLst>
              <a:ext uri="{FF2B5EF4-FFF2-40B4-BE49-F238E27FC236}">
                <a16:creationId xmlns:a16="http://schemas.microsoft.com/office/drawing/2014/main" id="{56DA1BD0-E830-4AB5-854E-C8F808D81210}"/>
              </a:ext>
            </a:extLst>
          </p:cNvPr>
          <p:cNvSpPr txBox="1"/>
          <p:nvPr/>
        </p:nvSpPr>
        <p:spPr>
          <a:xfrm>
            <a:off x="9669271" y="1387613"/>
            <a:ext cx="2231756" cy="461665"/>
          </a:xfrm>
          <a:prstGeom prst="rect">
            <a:avLst/>
          </a:prstGeom>
          <a:noFill/>
        </p:spPr>
        <p:txBody>
          <a:bodyPr wrap="square" rtlCol="0">
            <a:spAutoFit/>
          </a:bodyPr>
          <a:lstStyle/>
          <a:p>
            <a:pPr algn="ctr"/>
            <a:r>
              <a:rPr lang="en-IN" sz="2400" b="1" dirty="0">
                <a:solidFill>
                  <a:srgbClr val="FFFF00"/>
                </a:solidFill>
              </a:rPr>
              <a:t>TERMINATE</a:t>
            </a:r>
            <a:endParaRPr lang="en-IN" b="1" dirty="0">
              <a:solidFill>
                <a:srgbClr val="FFFF00"/>
              </a:solidFill>
            </a:endParaRPr>
          </a:p>
        </p:txBody>
      </p:sp>
    </p:spTree>
    <p:extLst>
      <p:ext uri="{BB962C8B-B14F-4D97-AF65-F5344CB8AC3E}">
        <p14:creationId xmlns:p14="http://schemas.microsoft.com/office/powerpoint/2010/main" val="377065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par>
                                <p:cTn id="11" presetID="26" presetClass="emph" presetSubtype="0" repeatCount="indefinite" fill="hold" grpId="1" nodeType="withEffect">
                                  <p:stCondLst>
                                    <p:cond delay="0"/>
                                  </p:stCondLst>
                                  <p:childTnLst>
                                    <p:animEffect transition="out" filter="fade">
                                      <p:cBhvr>
                                        <p:cTn id="12" dur="500" tmFilter="0, 0; .2, .5; .8, .5; 1, 0"/>
                                        <p:tgtEl>
                                          <p:spTgt spid="36"/>
                                        </p:tgtEl>
                                      </p:cBhvr>
                                    </p:animEffect>
                                    <p:animScale>
                                      <p:cBhvr>
                                        <p:cTn id="13" dur="250" autoRev="1" fill="hold"/>
                                        <p:tgtEl>
                                          <p:spTgt spid="36"/>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3">
                                            <p:txEl>
                                              <p:pRg st="2" end="2"/>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6"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3E2622"/>
                    </a:gs>
                    <a:gs pos="100000">
                      <a:srgbClr val="795547"/>
                    </a:gs>
                  </a:gsLst>
                  <a:lin ang="0" scaled="1"/>
                  <a:tileRect/>
                </a:gradFill>
              </a:rPr>
              <a:t>Process State Transitions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- 3</a:t>
            </a:r>
          </a:p>
        </p:txBody>
      </p:sp>
    </p:spTree>
    <p:extLst>
      <p:ext uri="{BB962C8B-B14F-4D97-AF65-F5344CB8AC3E}">
        <p14:creationId xmlns:p14="http://schemas.microsoft.com/office/powerpoint/2010/main" val="33651885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State Transitions</a:t>
            </a:r>
          </a:p>
        </p:txBody>
      </p:sp>
      <p:sp>
        <p:nvSpPr>
          <p:cNvPr id="3" name="Content Placeholder 2"/>
          <p:cNvSpPr>
            <a:spLocks noGrp="1"/>
          </p:cNvSpPr>
          <p:nvPr>
            <p:ph idx="1"/>
          </p:nvPr>
        </p:nvSpPr>
        <p:spPr>
          <a:xfrm>
            <a:off x="131181" y="863444"/>
            <a:ext cx="7721048" cy="5590565"/>
          </a:xfrm>
        </p:spPr>
        <p:txBody>
          <a:bodyPr/>
          <a:lstStyle/>
          <a:p>
            <a:r>
              <a:rPr lang="en-US" dirty="0"/>
              <a:t>When and how these transitions occur (process moves from one state to another)?</a:t>
            </a:r>
          </a:p>
          <a:p>
            <a:pPr marL="914400" lvl="1" indent="-457200">
              <a:buFont typeface="+mj-lt"/>
              <a:buAutoNum type="arabicPeriod"/>
            </a:pPr>
            <a:r>
              <a:rPr lang="en-US" sz="2200" dirty="0">
                <a:solidFill>
                  <a:schemeClr val="accent6"/>
                </a:solidFill>
              </a:rPr>
              <a:t>Process blocks for input or waits for an event</a:t>
            </a:r>
            <a:r>
              <a:rPr lang="en-US" sz="2200" dirty="0"/>
              <a:t> (i.e. printer is not available) </a:t>
            </a:r>
          </a:p>
          <a:p>
            <a:pPr marL="914400" lvl="1" indent="-457200">
              <a:buFont typeface="+mj-lt"/>
              <a:buAutoNum type="arabicPeriod"/>
            </a:pPr>
            <a:r>
              <a:rPr lang="en-US" sz="2200" dirty="0"/>
              <a:t>Scheduler </a:t>
            </a:r>
            <a:r>
              <a:rPr lang="en-US" sz="2200" dirty="0">
                <a:solidFill>
                  <a:schemeClr val="accent6"/>
                </a:solidFill>
              </a:rPr>
              <a:t>picks another process</a:t>
            </a:r>
          </a:p>
          <a:p>
            <a:pPr lvl="2"/>
            <a:r>
              <a:rPr lang="en-US" sz="2000" dirty="0"/>
              <a:t>End of time-slice or pre-emption.</a:t>
            </a:r>
          </a:p>
          <a:p>
            <a:pPr marL="914400" lvl="1" indent="-457200">
              <a:buFont typeface="+mj-lt"/>
              <a:buAutoNum type="arabicPeriod"/>
            </a:pPr>
            <a:r>
              <a:rPr lang="en-US" sz="2200" dirty="0"/>
              <a:t>Scheduler </a:t>
            </a:r>
            <a:r>
              <a:rPr lang="en-US" sz="2200" dirty="0">
                <a:solidFill>
                  <a:schemeClr val="accent6"/>
                </a:solidFill>
              </a:rPr>
              <a:t>picks this process</a:t>
            </a:r>
          </a:p>
          <a:p>
            <a:pPr marL="914400" lvl="1" indent="-457200">
              <a:buFont typeface="+mj-lt"/>
              <a:buAutoNum type="arabicPeriod"/>
            </a:pPr>
            <a:r>
              <a:rPr lang="en-US" sz="2200" dirty="0">
                <a:solidFill>
                  <a:schemeClr val="accent6"/>
                </a:solidFill>
              </a:rPr>
              <a:t>Input becomes available, event arrives </a:t>
            </a:r>
            <a:r>
              <a:rPr lang="en-US" sz="2200" dirty="0"/>
              <a:t>(i.e. printer become available)</a:t>
            </a:r>
          </a:p>
        </p:txBody>
      </p:sp>
      <p:sp>
        <p:nvSpPr>
          <p:cNvPr id="6" name="Oval 5"/>
          <p:cNvSpPr/>
          <p:nvPr/>
        </p:nvSpPr>
        <p:spPr>
          <a:xfrm>
            <a:off x="9254668" y="1925867"/>
            <a:ext cx="1549400" cy="901700"/>
          </a:xfrm>
          <a:prstGeom prst="ellipse">
            <a:avLst/>
          </a:prstGeom>
          <a:noFill/>
          <a:ln w="38100">
            <a:solidFill>
              <a:srgbClr val="AE25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0000"/>
                </a:solidFill>
              </a:rPr>
              <a:t>Running</a:t>
            </a:r>
          </a:p>
        </p:txBody>
      </p:sp>
      <p:sp>
        <p:nvSpPr>
          <p:cNvPr id="8" name="Oval 7"/>
          <p:cNvSpPr/>
          <p:nvPr/>
        </p:nvSpPr>
        <p:spPr>
          <a:xfrm>
            <a:off x="8048168" y="3458464"/>
            <a:ext cx="1549400" cy="901700"/>
          </a:xfrm>
          <a:prstGeom prst="ellipse">
            <a:avLst/>
          </a:prstGeom>
          <a:noFill/>
          <a:ln w="38100">
            <a:solidFill>
              <a:srgbClr val="AE25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0000"/>
                </a:solidFill>
              </a:rPr>
              <a:t>Blocked</a:t>
            </a:r>
            <a:endParaRPr lang="en-US" sz="2100" b="1" dirty="0">
              <a:solidFill>
                <a:srgbClr val="000000"/>
              </a:solidFill>
            </a:endParaRPr>
          </a:p>
        </p:txBody>
      </p:sp>
      <p:sp>
        <p:nvSpPr>
          <p:cNvPr id="9" name="Oval 8"/>
          <p:cNvSpPr/>
          <p:nvPr/>
        </p:nvSpPr>
        <p:spPr>
          <a:xfrm>
            <a:off x="10473869" y="3458463"/>
            <a:ext cx="1549400" cy="901700"/>
          </a:xfrm>
          <a:prstGeom prst="ellipse">
            <a:avLst/>
          </a:prstGeom>
          <a:noFill/>
          <a:ln w="38100">
            <a:solidFill>
              <a:srgbClr val="AE250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0000"/>
                </a:solidFill>
              </a:rPr>
              <a:t>Ready</a:t>
            </a:r>
            <a:endParaRPr lang="en-US" sz="2100" b="1" dirty="0">
              <a:solidFill>
                <a:srgbClr val="000000"/>
              </a:solidFill>
            </a:endParaRPr>
          </a:p>
        </p:txBody>
      </p:sp>
      <p:sp>
        <p:nvSpPr>
          <p:cNvPr id="10" name="Arc 9"/>
          <p:cNvSpPr/>
          <p:nvPr/>
        </p:nvSpPr>
        <p:spPr>
          <a:xfrm rot="669130">
            <a:off x="9898217" y="2545008"/>
            <a:ext cx="1405055" cy="1586428"/>
          </a:xfrm>
          <a:prstGeom prst="arc">
            <a:avLst/>
          </a:prstGeom>
          <a:ln w="38100">
            <a:solidFill>
              <a:srgbClr val="AE250A"/>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1" name="Arc 10"/>
          <p:cNvSpPr/>
          <p:nvPr/>
        </p:nvSpPr>
        <p:spPr>
          <a:xfrm rot="12370299">
            <a:off x="10173093" y="2313483"/>
            <a:ext cx="1352062" cy="1602173"/>
          </a:xfrm>
          <a:prstGeom prst="arc">
            <a:avLst/>
          </a:prstGeom>
          <a:ln w="38100">
            <a:solidFill>
              <a:srgbClr val="AE250A"/>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2" name="Arc 11"/>
          <p:cNvSpPr/>
          <p:nvPr/>
        </p:nvSpPr>
        <p:spPr>
          <a:xfrm rot="20930870" flipH="1">
            <a:off x="8782610" y="2561687"/>
            <a:ext cx="1405055" cy="1586428"/>
          </a:xfrm>
          <a:prstGeom prst="arc">
            <a:avLst/>
          </a:prstGeom>
          <a:ln w="38100">
            <a:solidFill>
              <a:srgbClr val="AE250A"/>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Arc 12"/>
          <p:cNvSpPr/>
          <p:nvPr/>
        </p:nvSpPr>
        <p:spPr>
          <a:xfrm rot="13844775" flipH="1">
            <a:off x="9315182" y="2827817"/>
            <a:ext cx="1543793" cy="1623599"/>
          </a:xfrm>
          <a:prstGeom prst="arc">
            <a:avLst>
              <a:gd name="adj1" fmla="val 16200000"/>
              <a:gd name="adj2" fmla="val 348710"/>
            </a:avLst>
          </a:prstGeom>
          <a:ln w="38100">
            <a:solidFill>
              <a:srgbClr val="AE250A"/>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4" name="TextBox 13"/>
          <p:cNvSpPr txBox="1"/>
          <p:nvPr/>
        </p:nvSpPr>
        <p:spPr>
          <a:xfrm>
            <a:off x="8477679" y="3109165"/>
            <a:ext cx="211509" cy="300082"/>
          </a:xfrm>
          <a:prstGeom prst="rect">
            <a:avLst/>
          </a:prstGeom>
          <a:noFill/>
        </p:spPr>
        <p:txBody>
          <a:bodyPr wrap="square" rtlCol="0">
            <a:spAutoFit/>
          </a:bodyPr>
          <a:lstStyle/>
          <a:p>
            <a:r>
              <a:rPr lang="en-US" sz="1350" b="1" dirty="0"/>
              <a:t>1</a:t>
            </a:r>
          </a:p>
        </p:txBody>
      </p:sp>
      <p:sp>
        <p:nvSpPr>
          <p:cNvPr id="15" name="TextBox 14"/>
          <p:cNvSpPr txBox="1"/>
          <p:nvPr/>
        </p:nvSpPr>
        <p:spPr>
          <a:xfrm>
            <a:off x="11402184" y="3087220"/>
            <a:ext cx="211509" cy="300082"/>
          </a:xfrm>
          <a:prstGeom prst="rect">
            <a:avLst/>
          </a:prstGeom>
          <a:noFill/>
        </p:spPr>
        <p:txBody>
          <a:bodyPr wrap="square" rtlCol="0">
            <a:spAutoFit/>
          </a:bodyPr>
          <a:lstStyle/>
          <a:p>
            <a:r>
              <a:rPr lang="en-US" sz="1350" b="1" dirty="0"/>
              <a:t>2</a:t>
            </a:r>
          </a:p>
        </p:txBody>
      </p:sp>
      <p:sp>
        <p:nvSpPr>
          <p:cNvPr id="16" name="TextBox 15"/>
          <p:cNvSpPr txBox="1"/>
          <p:nvPr/>
        </p:nvSpPr>
        <p:spPr>
          <a:xfrm>
            <a:off x="9887922" y="2918289"/>
            <a:ext cx="211509" cy="300082"/>
          </a:xfrm>
          <a:prstGeom prst="rect">
            <a:avLst/>
          </a:prstGeom>
          <a:noFill/>
        </p:spPr>
        <p:txBody>
          <a:bodyPr wrap="square" rtlCol="0">
            <a:spAutoFit/>
          </a:bodyPr>
          <a:lstStyle/>
          <a:p>
            <a:r>
              <a:rPr lang="en-US" sz="1350" b="1" dirty="0"/>
              <a:t>3</a:t>
            </a:r>
          </a:p>
        </p:txBody>
      </p:sp>
      <p:sp>
        <p:nvSpPr>
          <p:cNvPr id="17" name="TextBox 16"/>
          <p:cNvSpPr txBox="1"/>
          <p:nvPr/>
        </p:nvSpPr>
        <p:spPr>
          <a:xfrm>
            <a:off x="9929964" y="4062780"/>
            <a:ext cx="211509" cy="300082"/>
          </a:xfrm>
          <a:prstGeom prst="rect">
            <a:avLst/>
          </a:prstGeom>
          <a:noFill/>
        </p:spPr>
        <p:txBody>
          <a:bodyPr wrap="square" rtlCol="0">
            <a:spAutoFit/>
          </a:bodyPr>
          <a:lstStyle/>
          <a:p>
            <a:r>
              <a:rPr lang="en-US" sz="1350" b="1" dirty="0"/>
              <a:t>4</a:t>
            </a:r>
          </a:p>
        </p:txBody>
      </p:sp>
      <p:sp>
        <p:nvSpPr>
          <p:cNvPr id="18" name="Content Placeholder 2"/>
          <p:cNvSpPr txBox="1">
            <a:spLocks/>
          </p:cNvSpPr>
          <p:nvPr/>
        </p:nvSpPr>
        <p:spPr>
          <a:xfrm>
            <a:off x="401865" y="4708613"/>
            <a:ext cx="11388270" cy="914400"/>
          </a:xfrm>
          <a:prstGeom prst="rect">
            <a:avLst/>
          </a:prstGeom>
          <a:solidFill>
            <a:schemeClr val="accent6">
              <a:lumMod val="20000"/>
              <a:lumOff val="80000"/>
            </a:schemeClr>
          </a:solidFill>
        </p:spPr>
        <p:txBody>
          <a:bodyPr vert="horz" lIns="91440" tIns="45720" rIns="91440" bIns="45720" rtlCol="0" anchor="ctr">
            <a:noAutofit/>
          </a:bodyPr>
          <a:lstStyle>
            <a:lvl1pPr indent="0" algn="just">
              <a:lnSpc>
                <a:spcPct val="90000"/>
              </a:lnSpc>
              <a:spcBef>
                <a:spcPts val="1000"/>
              </a:spcBef>
              <a:buClr>
                <a:schemeClr val="accent6"/>
              </a:buClr>
              <a:buFont typeface="Wingdings 3" panose="05040102010807070707" pitchFamily="18" charset="2"/>
              <a:buNone/>
              <a:defRPr sz="2400">
                <a:solidFill>
                  <a:schemeClr val="accent6"/>
                </a:solidFill>
              </a:defRPr>
            </a:lvl1pPr>
            <a:lvl2pPr marL="809625" indent="-352425" algn="just">
              <a:lnSpc>
                <a:spcPct val="90000"/>
              </a:lnSpc>
              <a:spcBef>
                <a:spcPts val="500"/>
              </a:spcBef>
              <a:buClr>
                <a:schemeClr val="accent6"/>
              </a:buClr>
              <a:buFont typeface="Wingdings 3" panose="05040102010807070707" pitchFamily="18" charset="2"/>
              <a:buChar char=""/>
              <a:defRPr sz="2000"/>
            </a:lvl2pPr>
            <a:lvl3pPr marL="1143000" indent="-228600" algn="just">
              <a:lnSpc>
                <a:spcPct val="90000"/>
              </a:lnSpc>
              <a:spcBef>
                <a:spcPts val="500"/>
              </a:spcBef>
              <a:buClr>
                <a:schemeClr val="accent6"/>
              </a:buClr>
              <a:buFont typeface="Wingdings" panose="05000000000000000000" pitchFamily="2" charset="2"/>
              <a:buChar char="§"/>
            </a:lvl3pPr>
            <a:lvl4pPr marL="1600200" indent="-228600" algn="just">
              <a:lnSpc>
                <a:spcPct val="90000"/>
              </a:lnSpc>
              <a:spcBef>
                <a:spcPts val="500"/>
              </a:spcBef>
              <a:buClr>
                <a:schemeClr val="accent6"/>
              </a:buClr>
              <a:buFont typeface="Arial" panose="020B0604020202020204" pitchFamily="34" charset="0"/>
              <a:buChar char="•"/>
              <a:defRPr sz="1600"/>
            </a:lvl4pPr>
            <a:lvl5pPr marL="2057400" indent="-228600" algn="just">
              <a:lnSpc>
                <a:spcPct val="90000"/>
              </a:lnSpc>
              <a:spcBef>
                <a:spcPts val="500"/>
              </a:spcBef>
              <a:buClr>
                <a:schemeClr val="accent6"/>
              </a:buClr>
              <a:buFont typeface="Arial" panose="020B0604020202020204" pitchFamily="34" charset="0"/>
              <a:buChar char="•"/>
              <a:defRPr sz="16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2800" dirty="0">
                <a:solidFill>
                  <a:schemeClr val="tx1"/>
                </a:solidFill>
              </a:rPr>
              <a:t>Processes are always either executing (</a:t>
            </a:r>
            <a:r>
              <a:rPr lang="en-US" sz="2800" b="1" dirty="0">
                <a:solidFill>
                  <a:srgbClr val="00B050"/>
                </a:solidFill>
              </a:rPr>
              <a:t>running</a:t>
            </a:r>
            <a:r>
              <a:rPr lang="en-US" sz="2800" dirty="0">
                <a:solidFill>
                  <a:schemeClr val="tx1"/>
                </a:solidFill>
              </a:rPr>
              <a:t>) or waiting to execute (</a:t>
            </a:r>
            <a:r>
              <a:rPr lang="en-US" sz="2800" b="1" dirty="0">
                <a:solidFill>
                  <a:schemeClr val="accent5">
                    <a:lumMod val="75000"/>
                  </a:schemeClr>
                </a:solidFill>
              </a:rPr>
              <a:t>ready</a:t>
            </a:r>
            <a:r>
              <a:rPr lang="en-US" sz="2800" dirty="0">
                <a:solidFill>
                  <a:schemeClr val="tx1"/>
                </a:solidFill>
              </a:rPr>
              <a:t>) or waiting for an event (</a:t>
            </a:r>
            <a:r>
              <a:rPr lang="en-US" sz="2800" b="1" dirty="0">
                <a:solidFill>
                  <a:srgbClr val="FF0000"/>
                </a:solidFill>
              </a:rPr>
              <a:t>blocked</a:t>
            </a:r>
            <a:r>
              <a:rPr lang="en-US" sz="2800" dirty="0">
                <a:solidFill>
                  <a:schemeClr val="tx1"/>
                </a:solidFill>
              </a:rPr>
              <a:t>) to occur.</a:t>
            </a:r>
          </a:p>
        </p:txBody>
      </p:sp>
    </p:spTree>
    <p:extLst>
      <p:ext uri="{BB962C8B-B14F-4D97-AF65-F5344CB8AC3E}">
        <p14:creationId xmlns:p14="http://schemas.microsoft.com/office/powerpoint/2010/main" val="2828876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500"/>
                                        <p:tgtEl>
                                          <p:spTgt spid="3">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Effect transition="in" filter="fade">
                                      <p:cBhvr>
                                        <p:cTn id="45" dur="500"/>
                                        <p:tgtEl>
                                          <p:spTgt spid="3">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
                                            <p:txEl>
                                              <p:pRg st="5" end="5"/>
                                            </p:txEl>
                                          </p:spTgt>
                                        </p:tgtEl>
                                        <p:attrNameLst>
                                          <p:attrName>style.visibility</p:attrName>
                                        </p:attrNameLst>
                                      </p:cBhvr>
                                      <p:to>
                                        <p:strVal val="visible"/>
                                      </p:to>
                                    </p:set>
                                    <p:animEffect transition="in" filter="fade">
                                      <p:cBhvr>
                                        <p:cTn id="56" dur="500"/>
                                        <p:tgtEl>
                                          <p:spTgt spid="3">
                                            <p:txEl>
                                              <p:pRg st="5" end="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p:bldP spid="15" grpId="0"/>
      <p:bldP spid="16" grpId="0"/>
      <p:bldP spid="17" grpId="0"/>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11200"/>
          </a:xfrm>
        </p:spPr>
        <p:txBody>
          <a:bodyPr/>
          <a:lstStyle/>
          <a:p>
            <a:r>
              <a:rPr lang="en-US" dirty="0"/>
              <a:t>Five State Process Model and Transitions</a:t>
            </a:r>
          </a:p>
        </p:txBody>
      </p:sp>
      <p:sp>
        <p:nvSpPr>
          <p:cNvPr id="3" name="Content Placeholder 2"/>
          <p:cNvSpPr>
            <a:spLocks noGrp="1"/>
          </p:cNvSpPr>
          <p:nvPr>
            <p:ph idx="1"/>
          </p:nvPr>
        </p:nvSpPr>
        <p:spPr>
          <a:xfrm>
            <a:off x="131180" y="863444"/>
            <a:ext cx="11929641" cy="5649046"/>
          </a:xfrm>
        </p:spPr>
        <p:txBody>
          <a:bodyPr/>
          <a:lstStyle/>
          <a:p>
            <a:endParaRPr lang="en-US" dirty="0"/>
          </a:p>
          <a:p>
            <a:endParaRPr lang="en-US" dirty="0"/>
          </a:p>
          <a:p>
            <a:endParaRPr lang="en-US" dirty="0"/>
          </a:p>
          <a:p>
            <a:endParaRPr lang="en-US" dirty="0"/>
          </a:p>
          <a:p>
            <a:endParaRPr lang="en-US" dirty="0"/>
          </a:p>
          <a:p>
            <a:pPr marL="0" indent="0">
              <a:buNone/>
            </a:pPr>
            <a:endParaRPr lang="en-US" dirty="0"/>
          </a:p>
          <a:p>
            <a:r>
              <a:rPr lang="en-US" b="1" dirty="0">
                <a:solidFill>
                  <a:schemeClr val="accent6"/>
                </a:solidFill>
              </a:rPr>
              <a:t>New</a:t>
            </a:r>
            <a:r>
              <a:rPr lang="en-US" dirty="0"/>
              <a:t> – process is being </a:t>
            </a:r>
            <a:r>
              <a:rPr lang="en-US" b="1" dirty="0">
                <a:solidFill>
                  <a:schemeClr val="accent6"/>
                </a:solidFill>
              </a:rPr>
              <a:t>created</a:t>
            </a:r>
          </a:p>
          <a:p>
            <a:r>
              <a:rPr lang="en-US" b="1" dirty="0">
                <a:solidFill>
                  <a:schemeClr val="accent6"/>
                </a:solidFill>
              </a:rPr>
              <a:t>Ready</a:t>
            </a:r>
            <a:r>
              <a:rPr lang="en-US" dirty="0"/>
              <a:t> – process is </a:t>
            </a:r>
            <a:r>
              <a:rPr lang="en-US" b="1" dirty="0">
                <a:solidFill>
                  <a:schemeClr val="accent6"/>
                </a:solidFill>
              </a:rPr>
              <a:t>waiting to run (runnable)</a:t>
            </a:r>
            <a:r>
              <a:rPr lang="en-US" dirty="0"/>
              <a:t>, temporarily stopped to let another process run</a:t>
            </a:r>
          </a:p>
          <a:p>
            <a:r>
              <a:rPr lang="en-US" b="1" dirty="0">
                <a:solidFill>
                  <a:schemeClr val="accent6"/>
                </a:solidFill>
              </a:rPr>
              <a:t>Running</a:t>
            </a:r>
            <a:r>
              <a:rPr lang="en-US" dirty="0"/>
              <a:t> – process is actually </a:t>
            </a:r>
            <a:r>
              <a:rPr lang="en-US" b="1" dirty="0">
                <a:solidFill>
                  <a:schemeClr val="accent6"/>
                </a:solidFill>
              </a:rPr>
              <a:t>using the CPU</a:t>
            </a:r>
          </a:p>
          <a:p>
            <a:r>
              <a:rPr lang="en-US" b="1" dirty="0">
                <a:solidFill>
                  <a:schemeClr val="accent6"/>
                </a:solidFill>
              </a:rPr>
              <a:t>Blocked</a:t>
            </a:r>
            <a:r>
              <a:rPr lang="en-US" dirty="0"/>
              <a:t> – </a:t>
            </a:r>
            <a:r>
              <a:rPr lang="en-US" b="1" dirty="0">
                <a:solidFill>
                  <a:schemeClr val="accent6"/>
                </a:solidFill>
              </a:rPr>
              <a:t>unable to run </a:t>
            </a:r>
            <a:r>
              <a:rPr lang="en-US" dirty="0"/>
              <a:t>until some external event happens</a:t>
            </a:r>
          </a:p>
          <a:p>
            <a:r>
              <a:rPr lang="en-US" b="1" dirty="0">
                <a:solidFill>
                  <a:schemeClr val="accent6"/>
                </a:solidFill>
              </a:rPr>
              <a:t>Exit (Terminated) </a:t>
            </a:r>
            <a:r>
              <a:rPr lang="en-US" dirty="0"/>
              <a:t>– process has </a:t>
            </a:r>
            <a:r>
              <a:rPr lang="en-US" b="1" dirty="0">
                <a:solidFill>
                  <a:schemeClr val="accent6"/>
                </a:solidFill>
              </a:rPr>
              <a:t>finished</a:t>
            </a:r>
            <a:r>
              <a:rPr lang="en-US" dirty="0"/>
              <a:t> </a:t>
            </a:r>
            <a:r>
              <a:rPr lang="en-US" b="1" dirty="0">
                <a:solidFill>
                  <a:schemeClr val="accent6"/>
                </a:solidFill>
              </a:rPr>
              <a:t>the</a:t>
            </a:r>
            <a:r>
              <a:rPr lang="en-US" dirty="0"/>
              <a:t> </a:t>
            </a:r>
            <a:r>
              <a:rPr lang="en-US" b="1" dirty="0">
                <a:solidFill>
                  <a:schemeClr val="accent6"/>
                </a:solidFill>
              </a:rPr>
              <a:t>execution</a:t>
            </a:r>
          </a:p>
        </p:txBody>
      </p:sp>
      <p:sp>
        <p:nvSpPr>
          <p:cNvPr id="4" name="Oval 3"/>
          <p:cNvSpPr>
            <a:spLocks noChangeArrowheads="1"/>
          </p:cNvSpPr>
          <p:nvPr/>
        </p:nvSpPr>
        <p:spPr bwMode="auto">
          <a:xfrm>
            <a:off x="2402397" y="1256066"/>
            <a:ext cx="1076325" cy="504825"/>
          </a:xfrm>
          <a:prstGeom prst="ellipse">
            <a:avLst/>
          </a:prstGeom>
          <a:ln w="28575">
            <a:solidFill>
              <a:srgbClr val="AE250A"/>
            </a:solidFill>
            <a:headEnd/>
            <a:tailEnd/>
          </a:ln>
        </p:spPr>
        <p:style>
          <a:lnRef idx="2">
            <a:schemeClr val="accent2"/>
          </a:lnRef>
          <a:fillRef idx="1">
            <a:schemeClr val="lt1"/>
          </a:fillRef>
          <a:effectRef idx="0">
            <a:schemeClr val="accent2"/>
          </a:effectRef>
          <a:fontRef idx="minor">
            <a:schemeClr val="dk1"/>
          </a:fontRef>
        </p:style>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rtl="1"/>
            <a:endParaRPr lang="ar-SA" altLang="en-US" sz="1800"/>
          </a:p>
        </p:txBody>
      </p:sp>
      <p:sp>
        <p:nvSpPr>
          <p:cNvPr id="5" name="Oval 4"/>
          <p:cNvSpPr>
            <a:spLocks noChangeArrowheads="1"/>
          </p:cNvSpPr>
          <p:nvPr/>
        </p:nvSpPr>
        <p:spPr bwMode="auto">
          <a:xfrm>
            <a:off x="6002847" y="1256066"/>
            <a:ext cx="1076325" cy="504825"/>
          </a:xfrm>
          <a:prstGeom prst="ellipse">
            <a:avLst/>
          </a:prstGeom>
          <a:ln w="28575">
            <a:solidFill>
              <a:srgbClr val="AE250A"/>
            </a:solidFill>
            <a:headEnd/>
            <a:tailEnd/>
          </a:ln>
        </p:spPr>
        <p:style>
          <a:lnRef idx="2">
            <a:schemeClr val="accent2"/>
          </a:lnRef>
          <a:fillRef idx="1">
            <a:schemeClr val="lt1"/>
          </a:fillRef>
          <a:effectRef idx="0">
            <a:schemeClr val="accent2"/>
          </a:effectRef>
          <a:fontRef idx="minor">
            <a:schemeClr val="dk1"/>
          </a:fontRef>
        </p:style>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rtl="1"/>
            <a:endParaRPr lang="ar-SA" altLang="en-US" sz="1800"/>
          </a:p>
        </p:txBody>
      </p:sp>
      <p:sp>
        <p:nvSpPr>
          <p:cNvPr id="6" name="Oval 5"/>
          <p:cNvSpPr>
            <a:spLocks noChangeArrowheads="1"/>
          </p:cNvSpPr>
          <p:nvPr/>
        </p:nvSpPr>
        <p:spPr bwMode="auto">
          <a:xfrm>
            <a:off x="7774497" y="1256066"/>
            <a:ext cx="1076325" cy="504825"/>
          </a:xfrm>
          <a:prstGeom prst="ellipse">
            <a:avLst/>
          </a:prstGeom>
          <a:ln w="28575">
            <a:solidFill>
              <a:srgbClr val="AE250A"/>
            </a:solidFill>
            <a:headEnd/>
            <a:tailEnd/>
          </a:ln>
        </p:spPr>
        <p:style>
          <a:lnRef idx="2">
            <a:schemeClr val="accent2"/>
          </a:lnRef>
          <a:fillRef idx="1">
            <a:schemeClr val="lt1"/>
          </a:fillRef>
          <a:effectRef idx="0">
            <a:schemeClr val="accent2"/>
          </a:effectRef>
          <a:fontRef idx="minor">
            <a:schemeClr val="dk1"/>
          </a:fontRef>
        </p:style>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rtl="1"/>
            <a:endParaRPr lang="ar-SA" altLang="en-US" sz="1800"/>
          </a:p>
        </p:txBody>
      </p:sp>
      <p:sp>
        <p:nvSpPr>
          <p:cNvPr id="7" name="Oval 6"/>
          <p:cNvSpPr>
            <a:spLocks noChangeArrowheads="1"/>
          </p:cNvSpPr>
          <p:nvPr/>
        </p:nvSpPr>
        <p:spPr bwMode="auto">
          <a:xfrm>
            <a:off x="4237863" y="1256066"/>
            <a:ext cx="1076325" cy="504825"/>
          </a:xfrm>
          <a:prstGeom prst="ellipse">
            <a:avLst/>
          </a:prstGeom>
          <a:ln w="28575">
            <a:solidFill>
              <a:srgbClr val="AE250A"/>
            </a:solidFill>
            <a:headEnd/>
            <a:tailEnd/>
          </a:ln>
        </p:spPr>
        <p:style>
          <a:lnRef idx="2">
            <a:schemeClr val="accent2"/>
          </a:lnRef>
          <a:fillRef idx="1">
            <a:schemeClr val="lt1"/>
          </a:fillRef>
          <a:effectRef idx="0">
            <a:schemeClr val="accent2"/>
          </a:effectRef>
          <a:fontRef idx="minor">
            <a:schemeClr val="dk1"/>
          </a:fontRef>
        </p:style>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rtl="1"/>
            <a:endParaRPr lang="ar-SA" altLang="en-US" sz="1800"/>
          </a:p>
        </p:txBody>
      </p:sp>
      <p:sp>
        <p:nvSpPr>
          <p:cNvPr id="8" name="Oval 7"/>
          <p:cNvSpPr>
            <a:spLocks noChangeArrowheads="1"/>
          </p:cNvSpPr>
          <p:nvPr/>
        </p:nvSpPr>
        <p:spPr bwMode="auto">
          <a:xfrm>
            <a:off x="4237863" y="2617584"/>
            <a:ext cx="1076325" cy="504825"/>
          </a:xfrm>
          <a:prstGeom prst="ellipse">
            <a:avLst/>
          </a:prstGeom>
          <a:ln w="28575">
            <a:solidFill>
              <a:srgbClr val="AE250A"/>
            </a:solidFill>
            <a:headEnd/>
            <a:tailEnd/>
          </a:ln>
        </p:spPr>
        <p:style>
          <a:lnRef idx="2">
            <a:schemeClr val="accent2"/>
          </a:lnRef>
          <a:fillRef idx="1">
            <a:schemeClr val="lt1"/>
          </a:fillRef>
          <a:effectRef idx="0">
            <a:schemeClr val="accent2"/>
          </a:effectRef>
          <a:fontRef idx="minor">
            <a:schemeClr val="dk1"/>
          </a:fontRef>
        </p:style>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rtl="1"/>
            <a:endParaRPr lang="ar-SA" altLang="en-US" sz="1800"/>
          </a:p>
        </p:txBody>
      </p:sp>
      <p:sp>
        <p:nvSpPr>
          <p:cNvPr id="9" name="Rectangle 8"/>
          <p:cNvSpPr>
            <a:spLocks noChangeArrowheads="1"/>
          </p:cNvSpPr>
          <p:nvPr/>
        </p:nvSpPr>
        <p:spPr bwMode="auto">
          <a:xfrm>
            <a:off x="2716539" y="1367093"/>
            <a:ext cx="448040" cy="28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400" b="1" dirty="0">
                <a:latin typeface="+mj-lt"/>
              </a:rPr>
              <a:t>New</a:t>
            </a:r>
          </a:p>
        </p:txBody>
      </p:sp>
      <p:sp>
        <p:nvSpPr>
          <p:cNvPr id="10" name="Rectangle 9"/>
          <p:cNvSpPr>
            <a:spLocks noChangeArrowheads="1"/>
          </p:cNvSpPr>
          <p:nvPr/>
        </p:nvSpPr>
        <p:spPr bwMode="auto">
          <a:xfrm>
            <a:off x="4487083" y="1367093"/>
            <a:ext cx="577884" cy="28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400" b="1" dirty="0">
                <a:latin typeface="+mj-lt"/>
              </a:rPr>
              <a:t>Ready</a:t>
            </a:r>
          </a:p>
        </p:txBody>
      </p:sp>
      <p:sp>
        <p:nvSpPr>
          <p:cNvPr id="11" name="Rectangle 10"/>
          <p:cNvSpPr>
            <a:spLocks noChangeArrowheads="1"/>
          </p:cNvSpPr>
          <p:nvPr/>
        </p:nvSpPr>
        <p:spPr bwMode="auto">
          <a:xfrm>
            <a:off x="6179131" y="1367093"/>
            <a:ext cx="723757" cy="28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400" b="1" dirty="0">
                <a:latin typeface="+mj-lt"/>
              </a:rPr>
              <a:t>Running</a:t>
            </a:r>
          </a:p>
        </p:txBody>
      </p:sp>
      <p:sp>
        <p:nvSpPr>
          <p:cNvPr id="12" name="Rectangle 11"/>
          <p:cNvSpPr>
            <a:spLocks noChangeArrowheads="1"/>
          </p:cNvSpPr>
          <p:nvPr/>
        </p:nvSpPr>
        <p:spPr bwMode="auto">
          <a:xfrm>
            <a:off x="8109478" y="1367093"/>
            <a:ext cx="406362" cy="28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400" b="1" dirty="0">
                <a:latin typeface="+mj-lt"/>
              </a:rPr>
              <a:t>Exit</a:t>
            </a:r>
          </a:p>
        </p:txBody>
      </p:sp>
      <p:sp>
        <p:nvSpPr>
          <p:cNvPr id="13" name="Rectangle 12"/>
          <p:cNvSpPr>
            <a:spLocks noChangeArrowheads="1"/>
          </p:cNvSpPr>
          <p:nvPr/>
        </p:nvSpPr>
        <p:spPr bwMode="auto">
          <a:xfrm>
            <a:off x="4416551" y="2728611"/>
            <a:ext cx="718948" cy="28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400" b="1" dirty="0">
                <a:latin typeface="+mj-lt"/>
              </a:rPr>
              <a:t>Blocked</a:t>
            </a:r>
          </a:p>
        </p:txBody>
      </p:sp>
      <p:sp>
        <p:nvSpPr>
          <p:cNvPr id="14" name="Line 13"/>
          <p:cNvSpPr>
            <a:spLocks noChangeShapeType="1"/>
          </p:cNvSpPr>
          <p:nvPr/>
        </p:nvSpPr>
        <p:spPr bwMode="auto">
          <a:xfrm>
            <a:off x="3489438" y="1508478"/>
            <a:ext cx="732234" cy="0"/>
          </a:xfrm>
          <a:prstGeom prst="line">
            <a:avLst/>
          </a:prstGeom>
          <a:noFill/>
          <a:ln w="28575">
            <a:solidFill>
              <a:srgbClr val="AE250A"/>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14"/>
          <p:cNvSpPr>
            <a:spLocks noChangeShapeType="1"/>
          </p:cNvSpPr>
          <p:nvPr/>
        </p:nvSpPr>
        <p:spPr bwMode="auto">
          <a:xfrm flipH="1" flipV="1">
            <a:off x="4764248" y="1778668"/>
            <a:ext cx="4672" cy="821626"/>
          </a:xfrm>
          <a:prstGeom prst="line">
            <a:avLst/>
          </a:prstGeom>
          <a:noFill/>
          <a:ln w="28575">
            <a:solidFill>
              <a:srgbClr val="AE250A"/>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16" name="Line 15"/>
          <p:cNvSpPr>
            <a:spLocks noChangeShapeType="1"/>
          </p:cNvSpPr>
          <p:nvPr/>
        </p:nvSpPr>
        <p:spPr bwMode="auto">
          <a:xfrm>
            <a:off x="7089888" y="1508478"/>
            <a:ext cx="675084" cy="0"/>
          </a:xfrm>
          <a:prstGeom prst="line">
            <a:avLst/>
          </a:prstGeom>
          <a:noFill/>
          <a:ln w="28575">
            <a:solidFill>
              <a:srgbClr val="AE250A"/>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17" name="Line 16"/>
          <p:cNvSpPr>
            <a:spLocks noChangeShapeType="1"/>
          </p:cNvSpPr>
          <p:nvPr/>
        </p:nvSpPr>
        <p:spPr bwMode="auto">
          <a:xfrm>
            <a:off x="5261088" y="1365603"/>
            <a:ext cx="789384" cy="0"/>
          </a:xfrm>
          <a:prstGeom prst="line">
            <a:avLst/>
          </a:prstGeom>
          <a:noFill/>
          <a:ln w="28575">
            <a:solidFill>
              <a:srgbClr val="AE250A"/>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18" name="Line 17"/>
          <p:cNvSpPr>
            <a:spLocks noChangeShapeType="1"/>
          </p:cNvSpPr>
          <p:nvPr/>
        </p:nvSpPr>
        <p:spPr bwMode="auto">
          <a:xfrm flipH="1">
            <a:off x="5251563" y="1651353"/>
            <a:ext cx="808434" cy="0"/>
          </a:xfrm>
          <a:prstGeom prst="line">
            <a:avLst/>
          </a:prstGeom>
          <a:noFill/>
          <a:ln w="28575">
            <a:solidFill>
              <a:srgbClr val="AE250A"/>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19" name="Rectangle 18"/>
          <p:cNvSpPr>
            <a:spLocks noChangeArrowheads="1"/>
          </p:cNvSpPr>
          <p:nvPr/>
        </p:nvSpPr>
        <p:spPr bwMode="auto">
          <a:xfrm>
            <a:off x="3536076" y="1215291"/>
            <a:ext cx="560250" cy="28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400" dirty="0">
                <a:latin typeface="+mj-lt"/>
              </a:rPr>
              <a:t>Admit</a:t>
            </a:r>
          </a:p>
        </p:txBody>
      </p:sp>
      <p:sp>
        <p:nvSpPr>
          <p:cNvPr id="20" name="Rectangle 19"/>
          <p:cNvSpPr>
            <a:spLocks noChangeArrowheads="1"/>
          </p:cNvSpPr>
          <p:nvPr/>
        </p:nvSpPr>
        <p:spPr bwMode="auto">
          <a:xfrm>
            <a:off x="4797770" y="2115419"/>
            <a:ext cx="633988" cy="49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400" dirty="0">
                <a:latin typeface="+mj-lt"/>
              </a:rPr>
              <a:t>Event</a:t>
            </a:r>
          </a:p>
          <a:p>
            <a:r>
              <a:rPr lang="en-US" altLang="en-US" sz="1400" dirty="0">
                <a:latin typeface="+mj-lt"/>
              </a:rPr>
              <a:t>Occurs</a:t>
            </a:r>
          </a:p>
        </p:txBody>
      </p:sp>
      <p:sp>
        <p:nvSpPr>
          <p:cNvPr id="21" name="Rectangle 20"/>
          <p:cNvSpPr>
            <a:spLocks noChangeArrowheads="1"/>
          </p:cNvSpPr>
          <p:nvPr/>
        </p:nvSpPr>
        <p:spPr bwMode="auto">
          <a:xfrm>
            <a:off x="5244420" y="1079892"/>
            <a:ext cx="760626" cy="28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400" dirty="0">
                <a:latin typeface="+mj-lt"/>
              </a:rPr>
              <a:t>Dispatch</a:t>
            </a:r>
          </a:p>
        </p:txBody>
      </p:sp>
      <p:sp>
        <p:nvSpPr>
          <p:cNvPr id="22" name="Rectangle 21"/>
          <p:cNvSpPr>
            <a:spLocks noChangeArrowheads="1"/>
          </p:cNvSpPr>
          <p:nvPr/>
        </p:nvSpPr>
        <p:spPr bwMode="auto">
          <a:xfrm>
            <a:off x="7079376" y="1226137"/>
            <a:ext cx="691697" cy="28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400" dirty="0">
                <a:latin typeface="+mj-lt"/>
              </a:rPr>
              <a:t>Release</a:t>
            </a:r>
          </a:p>
        </p:txBody>
      </p:sp>
      <p:sp>
        <p:nvSpPr>
          <p:cNvPr id="23" name="Rectangle 22"/>
          <p:cNvSpPr>
            <a:spLocks noChangeArrowheads="1"/>
          </p:cNvSpPr>
          <p:nvPr/>
        </p:nvSpPr>
        <p:spPr bwMode="auto">
          <a:xfrm>
            <a:off x="5244420" y="1639080"/>
            <a:ext cx="763832" cy="28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400" dirty="0">
                <a:latin typeface="+mj-lt"/>
              </a:rPr>
              <a:t>Time-out</a:t>
            </a:r>
          </a:p>
        </p:txBody>
      </p:sp>
      <p:sp>
        <p:nvSpPr>
          <p:cNvPr id="24" name="Line 23"/>
          <p:cNvSpPr>
            <a:spLocks noChangeShapeType="1"/>
          </p:cNvSpPr>
          <p:nvPr/>
        </p:nvSpPr>
        <p:spPr bwMode="auto">
          <a:xfrm flipH="1">
            <a:off x="5323713" y="1727062"/>
            <a:ext cx="957739" cy="1099957"/>
          </a:xfrm>
          <a:prstGeom prst="line">
            <a:avLst/>
          </a:prstGeom>
          <a:noFill/>
          <a:ln w="28575">
            <a:solidFill>
              <a:srgbClr val="AE250A"/>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25" name="Rectangle 24"/>
          <p:cNvSpPr>
            <a:spLocks noChangeArrowheads="1"/>
          </p:cNvSpPr>
          <p:nvPr/>
        </p:nvSpPr>
        <p:spPr bwMode="auto">
          <a:xfrm>
            <a:off x="5796703" y="2207600"/>
            <a:ext cx="526588" cy="49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866" tIns="33338" rIns="67866" bIns="33338">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en-US" sz="1400" dirty="0">
                <a:latin typeface="+mj-lt"/>
              </a:rPr>
              <a:t>Event</a:t>
            </a:r>
          </a:p>
          <a:p>
            <a:r>
              <a:rPr lang="en-US" altLang="en-US" sz="1400" dirty="0">
                <a:latin typeface="+mj-lt"/>
              </a:rPr>
              <a:t>Wait</a:t>
            </a:r>
          </a:p>
        </p:txBody>
      </p:sp>
      <p:cxnSp>
        <p:nvCxnSpPr>
          <p:cNvPr id="26" name="Straight Connector 25"/>
          <p:cNvCxnSpPr/>
          <p:nvPr/>
        </p:nvCxnSpPr>
        <p:spPr>
          <a:xfrm>
            <a:off x="492344" y="6367375"/>
            <a:ext cx="699516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27"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92344" y="5979390"/>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l"/>
                      <a:r>
                        <a:rPr lang="en-US" sz="2000" b="1" dirty="0">
                          <a:solidFill>
                            <a:schemeClr val="bg1"/>
                          </a:solidFill>
                        </a:rPr>
                        <a:t>Exercise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28"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1591273" y="5970502"/>
          <a:ext cx="6035040" cy="396240"/>
        </p:xfrm>
        <a:graphic>
          <a:graphicData uri="http://schemas.openxmlformats.org/drawingml/2006/table">
            <a:tbl>
              <a:tblPr firstRow="1" bandRow="1">
                <a:tableStyleId>{8EC20E35-A176-4012-BC5E-935CFFF8708E}</a:tableStyleId>
              </a:tblPr>
              <a:tblGrid>
                <a:gridCol w="6035040">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A process resides in which memory during different state?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29" name="TextBox 28"/>
          <p:cNvSpPr txBox="1"/>
          <p:nvPr/>
        </p:nvSpPr>
        <p:spPr>
          <a:xfrm>
            <a:off x="2584665" y="804069"/>
            <a:ext cx="640080" cy="369332"/>
          </a:xfrm>
          <a:prstGeom prst="rect">
            <a:avLst/>
          </a:prstGeom>
          <a:solidFill>
            <a:schemeClr val="accent6">
              <a:lumMod val="40000"/>
              <a:lumOff val="60000"/>
            </a:schemeClr>
          </a:solidFill>
        </p:spPr>
        <p:txBody>
          <a:bodyPr wrap="square" rtlCol="0">
            <a:spAutoFit/>
          </a:bodyPr>
          <a:lstStyle/>
          <a:p>
            <a:pPr algn="ctr"/>
            <a:r>
              <a:rPr lang="en-US" dirty="0"/>
              <a:t>HDD</a:t>
            </a:r>
          </a:p>
        </p:txBody>
      </p:sp>
      <p:sp>
        <p:nvSpPr>
          <p:cNvPr id="30" name="TextBox 29"/>
          <p:cNvSpPr txBox="1"/>
          <p:nvPr/>
        </p:nvSpPr>
        <p:spPr>
          <a:xfrm>
            <a:off x="4455985" y="800256"/>
            <a:ext cx="640080" cy="369332"/>
          </a:xfrm>
          <a:prstGeom prst="rect">
            <a:avLst/>
          </a:prstGeom>
          <a:solidFill>
            <a:schemeClr val="accent6">
              <a:lumMod val="40000"/>
              <a:lumOff val="60000"/>
            </a:schemeClr>
          </a:solidFill>
        </p:spPr>
        <p:txBody>
          <a:bodyPr wrap="square" rtlCol="0">
            <a:spAutoFit/>
          </a:bodyPr>
          <a:lstStyle/>
          <a:p>
            <a:pPr algn="ctr"/>
            <a:r>
              <a:rPr lang="en-US" dirty="0"/>
              <a:t>RAM</a:t>
            </a:r>
          </a:p>
        </p:txBody>
      </p:sp>
      <p:sp>
        <p:nvSpPr>
          <p:cNvPr id="31" name="TextBox 30"/>
          <p:cNvSpPr txBox="1"/>
          <p:nvPr/>
        </p:nvSpPr>
        <p:spPr>
          <a:xfrm>
            <a:off x="6229512" y="807924"/>
            <a:ext cx="640080" cy="369332"/>
          </a:xfrm>
          <a:prstGeom prst="rect">
            <a:avLst/>
          </a:prstGeom>
          <a:solidFill>
            <a:schemeClr val="accent6">
              <a:lumMod val="40000"/>
              <a:lumOff val="60000"/>
            </a:schemeClr>
          </a:solidFill>
        </p:spPr>
        <p:txBody>
          <a:bodyPr wrap="square" rtlCol="0">
            <a:spAutoFit/>
          </a:bodyPr>
          <a:lstStyle/>
          <a:p>
            <a:pPr algn="ctr"/>
            <a:r>
              <a:rPr lang="en-US" dirty="0"/>
              <a:t>RAM</a:t>
            </a:r>
          </a:p>
        </p:txBody>
      </p:sp>
      <p:sp>
        <p:nvSpPr>
          <p:cNvPr id="32" name="TextBox 31"/>
          <p:cNvSpPr txBox="1"/>
          <p:nvPr/>
        </p:nvSpPr>
        <p:spPr>
          <a:xfrm>
            <a:off x="4452367" y="3205361"/>
            <a:ext cx="640080" cy="369332"/>
          </a:xfrm>
          <a:prstGeom prst="rect">
            <a:avLst/>
          </a:prstGeom>
          <a:solidFill>
            <a:schemeClr val="accent6">
              <a:lumMod val="40000"/>
              <a:lumOff val="60000"/>
            </a:schemeClr>
          </a:solidFill>
        </p:spPr>
        <p:txBody>
          <a:bodyPr wrap="square" rtlCol="0">
            <a:spAutoFit/>
          </a:bodyPr>
          <a:lstStyle/>
          <a:p>
            <a:pPr algn="ctr"/>
            <a:r>
              <a:rPr lang="en-US" dirty="0"/>
              <a:t>RAM</a:t>
            </a:r>
          </a:p>
        </p:txBody>
      </p:sp>
      <p:sp>
        <p:nvSpPr>
          <p:cNvPr id="33" name="TextBox 32"/>
          <p:cNvSpPr txBox="1"/>
          <p:nvPr/>
        </p:nvSpPr>
        <p:spPr>
          <a:xfrm>
            <a:off x="7992619" y="800256"/>
            <a:ext cx="640080" cy="369332"/>
          </a:xfrm>
          <a:prstGeom prst="rect">
            <a:avLst/>
          </a:prstGeom>
          <a:solidFill>
            <a:schemeClr val="accent6">
              <a:lumMod val="40000"/>
              <a:lumOff val="60000"/>
            </a:schemeClr>
          </a:solidFill>
        </p:spPr>
        <p:txBody>
          <a:bodyPr wrap="square" rtlCol="0">
            <a:spAutoFit/>
          </a:bodyPr>
          <a:lstStyle/>
          <a:p>
            <a:pPr algn="ctr"/>
            <a:r>
              <a:rPr lang="en-US" dirty="0"/>
              <a:t>-</a:t>
            </a:r>
          </a:p>
        </p:txBody>
      </p:sp>
    </p:spTree>
    <p:extLst>
      <p:ext uri="{BB962C8B-B14F-4D97-AF65-F5344CB8AC3E}">
        <p14:creationId xmlns:p14="http://schemas.microsoft.com/office/powerpoint/2010/main" val="152895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grpId="0" nodeType="after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500"/>
                                        <p:tgtEl>
                                          <p:spTgt spid="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
                                            <p:txEl>
                                              <p:pRg st="9" end="9"/>
                                            </p:txEl>
                                          </p:spTgt>
                                        </p:tgtEl>
                                        <p:attrNameLst>
                                          <p:attrName>style.visibility</p:attrName>
                                        </p:attrNameLst>
                                      </p:cBhvr>
                                      <p:to>
                                        <p:strVal val="visible"/>
                                      </p:to>
                                    </p:set>
                                    <p:animEffect transition="in" filter="fade">
                                      <p:cBhvr>
                                        <p:cTn id="65" dur="500"/>
                                        <p:tgtEl>
                                          <p:spTgt spid="3">
                                            <p:txEl>
                                              <p:pRg st="9" end="9"/>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6"/>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22"/>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6"/>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12"/>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3">
                                            <p:txEl>
                                              <p:pRg st="10" end="10"/>
                                            </p:txEl>
                                          </p:spTgt>
                                        </p:tgtEl>
                                        <p:attrNameLst>
                                          <p:attrName>style.visibility</p:attrName>
                                        </p:attrNameLst>
                                      </p:cBhvr>
                                      <p:to>
                                        <p:strVal val="visible"/>
                                      </p:to>
                                    </p:set>
                                    <p:animEffect transition="in" filter="fade">
                                      <p:cBhvr>
                                        <p:cTn id="86" dur="500"/>
                                        <p:tgtEl>
                                          <p:spTgt spid="3">
                                            <p:txEl>
                                              <p:pRg st="10" end="1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wipe(left)">
                                      <p:cBhvr>
                                        <p:cTn id="91" dur="500"/>
                                        <p:tgtEl>
                                          <p:spTgt spid="26"/>
                                        </p:tgtEl>
                                      </p:cBhvr>
                                    </p:animEffect>
                                  </p:childTnLst>
                                </p:cTn>
                              </p:par>
                              <p:par>
                                <p:cTn id="92" presetID="22" presetClass="entr" presetSubtype="8" fill="hold" nodeType="withEffect">
                                  <p:stCondLst>
                                    <p:cond delay="0"/>
                                  </p:stCondLst>
                                  <p:childTnLst>
                                    <p:set>
                                      <p:cBhvr>
                                        <p:cTn id="93" dur="1" fill="hold">
                                          <p:stCondLst>
                                            <p:cond delay="0"/>
                                          </p:stCondLst>
                                        </p:cTn>
                                        <p:tgtEl>
                                          <p:spTgt spid="27"/>
                                        </p:tgtEl>
                                        <p:attrNameLst>
                                          <p:attrName>style.visibility</p:attrName>
                                        </p:attrNameLst>
                                      </p:cBhvr>
                                      <p:to>
                                        <p:strVal val="visible"/>
                                      </p:to>
                                    </p:set>
                                    <p:animEffect transition="in" filter="wipe(left)">
                                      <p:cBhvr>
                                        <p:cTn id="94" dur="500"/>
                                        <p:tgtEl>
                                          <p:spTgt spid="27"/>
                                        </p:tgtEl>
                                      </p:cBhvr>
                                    </p:animEffect>
                                  </p:childTnLst>
                                </p:cTn>
                              </p:par>
                              <p:par>
                                <p:cTn id="95" presetID="22" presetClass="entr" presetSubtype="8" fill="hold" nodeType="withEffect">
                                  <p:stCondLst>
                                    <p:cond delay="0"/>
                                  </p:stCondLst>
                                  <p:childTnLst>
                                    <p:set>
                                      <p:cBhvr>
                                        <p:cTn id="96" dur="1" fill="hold">
                                          <p:stCondLst>
                                            <p:cond delay="0"/>
                                          </p:stCondLst>
                                        </p:cTn>
                                        <p:tgtEl>
                                          <p:spTgt spid="28"/>
                                        </p:tgtEl>
                                        <p:attrNameLst>
                                          <p:attrName>style.visibility</p:attrName>
                                        </p:attrNameLst>
                                      </p:cBhvr>
                                      <p:to>
                                        <p:strVal val="visible"/>
                                      </p:to>
                                    </p:set>
                                    <p:animEffect transition="in" filter="wipe(left)">
                                      <p:cBhvr>
                                        <p:cTn id="97" dur="500"/>
                                        <p:tgtEl>
                                          <p:spTgt spid="28"/>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9"/>
                                        </p:tgtEl>
                                        <p:attrNameLst>
                                          <p:attrName>style.visibility</p:attrName>
                                        </p:attrNameLst>
                                      </p:cBhvr>
                                      <p:to>
                                        <p:strVal val="visible"/>
                                      </p:to>
                                    </p:set>
                                    <p:animEffect transition="in" filter="fade">
                                      <p:cBhvr>
                                        <p:cTn id="102" dur="500"/>
                                        <p:tgtEl>
                                          <p:spTgt spid="29"/>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0"/>
                                        </p:tgtEl>
                                        <p:attrNameLst>
                                          <p:attrName>style.visibility</p:attrName>
                                        </p:attrNameLst>
                                      </p:cBhvr>
                                      <p:to>
                                        <p:strVal val="visible"/>
                                      </p:to>
                                    </p:set>
                                    <p:animEffect transition="in" filter="fade">
                                      <p:cBhvr>
                                        <p:cTn id="107" dur="500"/>
                                        <p:tgtEl>
                                          <p:spTgt spid="30"/>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31"/>
                                        </p:tgtEl>
                                        <p:attrNameLst>
                                          <p:attrName>style.visibility</p:attrName>
                                        </p:attrNameLst>
                                      </p:cBhvr>
                                      <p:to>
                                        <p:strVal val="visible"/>
                                      </p:to>
                                    </p:set>
                                    <p:animEffect transition="in" filter="fade">
                                      <p:cBhvr>
                                        <p:cTn id="112" dur="500"/>
                                        <p:tgtEl>
                                          <p:spTgt spid="31"/>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32"/>
                                        </p:tgtEl>
                                        <p:attrNameLst>
                                          <p:attrName>style.visibility</p:attrName>
                                        </p:attrNameLst>
                                      </p:cBhvr>
                                      <p:to>
                                        <p:strVal val="visible"/>
                                      </p:to>
                                    </p:set>
                                    <p:animEffect transition="in" filter="fade">
                                      <p:cBhvr>
                                        <p:cTn id="117" dur="500"/>
                                        <p:tgtEl>
                                          <p:spTgt spid="32"/>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fade">
                                      <p:cBhvr>
                                        <p:cTn id="12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P spid="10" grpId="0"/>
      <p:bldP spid="12" grpId="0"/>
      <p:bldP spid="13" grpId="0"/>
      <p:bldP spid="14" grpId="0" animBg="1"/>
      <p:bldP spid="15" grpId="0" animBg="1"/>
      <p:bldP spid="16" grpId="0" animBg="1"/>
      <p:bldP spid="17" grpId="0" animBg="1"/>
      <p:bldP spid="18" grpId="0" animBg="1"/>
      <p:bldP spid="19" grpId="0"/>
      <p:bldP spid="20" grpId="0"/>
      <p:bldP spid="21" grpId="0"/>
      <p:bldP spid="22" grpId="0"/>
      <p:bldP spid="23" grpId="0"/>
      <p:bldP spid="24" grpId="0" animBg="1"/>
      <p:bldP spid="25" grpId="0"/>
      <p:bldP spid="29" grpId="0" animBg="1"/>
      <p:bldP spid="30" grpId="0" animBg="1"/>
      <p:bldP spid="31" grpId="0" animBg="1"/>
      <p:bldP spid="32" grpId="0" animBg="1"/>
      <p:bldP spid="3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612F7-EF08-6E76-24FD-7C9915FE8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6F755-6211-8E09-85F3-E8CE0D741520}"/>
              </a:ext>
            </a:extLst>
          </p:cNvPr>
          <p:cNvSpPr>
            <a:spLocks noGrp="1"/>
          </p:cNvSpPr>
          <p:nvPr>
            <p:ph type="title"/>
          </p:nvPr>
        </p:nvSpPr>
        <p:spPr>
          <a:xfrm>
            <a:off x="0" y="0"/>
            <a:ext cx="12192000" cy="711200"/>
          </a:xfrm>
        </p:spPr>
        <p:txBody>
          <a:bodyPr/>
          <a:lstStyle/>
          <a:p>
            <a:r>
              <a:rPr lang="en-US" dirty="0"/>
              <a:t>Process State Transitions </a:t>
            </a:r>
            <a:r>
              <a:rPr lang="en-IN" dirty="0"/>
              <a:t>Overview</a:t>
            </a:r>
            <a:endParaRPr lang="en-US" dirty="0"/>
          </a:p>
        </p:txBody>
      </p:sp>
      <p:sp>
        <p:nvSpPr>
          <p:cNvPr id="6" name="Content Placeholder 2">
            <a:extLst>
              <a:ext uri="{FF2B5EF4-FFF2-40B4-BE49-F238E27FC236}">
                <a16:creationId xmlns:a16="http://schemas.microsoft.com/office/drawing/2014/main" id="{AB6B958F-4D02-5EFF-99C0-A3B999254554}"/>
              </a:ext>
            </a:extLst>
          </p:cNvPr>
          <p:cNvSpPr>
            <a:spLocks noGrp="1"/>
          </p:cNvSpPr>
          <p:nvPr>
            <p:ph idx="1"/>
          </p:nvPr>
        </p:nvSpPr>
        <p:spPr>
          <a:xfrm>
            <a:off x="131180" y="860066"/>
            <a:ext cx="11929641" cy="5593943"/>
          </a:xfrm>
        </p:spPr>
        <p:txBody>
          <a:bodyPr/>
          <a:lstStyle/>
          <a:p>
            <a:r>
              <a:rPr lang="en-IN" dirty="0"/>
              <a:t>In </a:t>
            </a:r>
            <a:r>
              <a:rPr lang="en-IN" b="1" dirty="0">
                <a:solidFill>
                  <a:srgbClr val="C00000"/>
                </a:solidFill>
              </a:rPr>
              <a:t>Multitasking systems</a:t>
            </a:r>
            <a:r>
              <a:rPr lang="en-IN" dirty="0"/>
              <a:t>, more than one program are loaded into the main memory for execute concurrently. </a:t>
            </a:r>
          </a:p>
          <a:p>
            <a:r>
              <a:rPr lang="en-IN" dirty="0"/>
              <a:t>In reality it provides only illusion that all processes are running concurrently.</a:t>
            </a:r>
          </a:p>
          <a:p>
            <a:r>
              <a:rPr lang="en-IN" dirty="0"/>
              <a:t>But </a:t>
            </a:r>
            <a:r>
              <a:rPr lang="en-IN" b="1" dirty="0">
                <a:solidFill>
                  <a:srgbClr val="C00000"/>
                </a:solidFill>
              </a:rPr>
              <a:t>CPU can do only one work at a time</a:t>
            </a:r>
            <a:r>
              <a:rPr lang="en-IN" dirty="0"/>
              <a:t> so it can not execute more than one instruction at the same time. </a:t>
            </a:r>
          </a:p>
          <a:p>
            <a:r>
              <a:rPr lang="en-IN" dirty="0"/>
              <a:t>The </a:t>
            </a:r>
            <a:r>
              <a:rPr lang="en-IN" b="1" dirty="0">
                <a:solidFill>
                  <a:srgbClr val="C00000"/>
                </a:solidFill>
              </a:rPr>
              <a:t>CPU can handle only single process at a time.</a:t>
            </a:r>
          </a:p>
        </p:txBody>
      </p:sp>
      <p:pic>
        <p:nvPicPr>
          <p:cNvPr id="7" name="Picture 6">
            <a:extLst>
              <a:ext uri="{FF2B5EF4-FFF2-40B4-BE49-F238E27FC236}">
                <a16:creationId xmlns:a16="http://schemas.microsoft.com/office/drawing/2014/main" id="{3E3D04D1-366D-23CA-DB12-D94CDF0FF6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1028" y="2885389"/>
            <a:ext cx="3105120" cy="26412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Frame 7">
            <a:extLst>
              <a:ext uri="{FF2B5EF4-FFF2-40B4-BE49-F238E27FC236}">
                <a16:creationId xmlns:a16="http://schemas.microsoft.com/office/drawing/2014/main" id="{FCC0BEEC-662B-0C53-7A41-0D283BA46B1C}"/>
              </a:ext>
            </a:extLst>
          </p:cNvPr>
          <p:cNvSpPr/>
          <p:nvPr/>
        </p:nvSpPr>
        <p:spPr>
          <a:xfrm>
            <a:off x="2704596" y="4076933"/>
            <a:ext cx="2893017" cy="1553612"/>
          </a:xfrm>
          <a:prstGeom prst="frame">
            <a:avLst/>
          </a:prstGeom>
          <a:solidFill>
            <a:schemeClr val="tx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CPU</a:t>
            </a:r>
            <a:endParaRPr lang="en-IN" sz="1400" b="1" dirty="0">
              <a:solidFill>
                <a:schemeClr val="tx1"/>
              </a:solidFill>
            </a:endParaRPr>
          </a:p>
        </p:txBody>
      </p:sp>
      <p:sp>
        <p:nvSpPr>
          <p:cNvPr id="9" name="Rectangle 8">
            <a:extLst>
              <a:ext uri="{FF2B5EF4-FFF2-40B4-BE49-F238E27FC236}">
                <a16:creationId xmlns:a16="http://schemas.microsoft.com/office/drawing/2014/main" id="{7E85037E-C4D5-1A1B-EAF1-339FDC58BDBB}"/>
              </a:ext>
            </a:extLst>
          </p:cNvPr>
          <p:cNvSpPr/>
          <p:nvPr/>
        </p:nvSpPr>
        <p:spPr>
          <a:xfrm>
            <a:off x="3125221" y="4574769"/>
            <a:ext cx="573437" cy="557939"/>
          </a:xfrm>
          <a:prstGeom prst="rect">
            <a:avLst/>
          </a:prstGeom>
          <a:solidFill>
            <a:schemeClr val="bg2"/>
          </a:solid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b="1" dirty="0"/>
              <a:t>P1</a:t>
            </a:r>
          </a:p>
        </p:txBody>
      </p:sp>
      <p:sp>
        <p:nvSpPr>
          <p:cNvPr id="10" name="Rectangle 9">
            <a:extLst>
              <a:ext uri="{FF2B5EF4-FFF2-40B4-BE49-F238E27FC236}">
                <a16:creationId xmlns:a16="http://schemas.microsoft.com/office/drawing/2014/main" id="{801E84E5-CFB7-7466-38AC-D4B7E48905D6}"/>
              </a:ext>
            </a:extLst>
          </p:cNvPr>
          <p:cNvSpPr/>
          <p:nvPr/>
        </p:nvSpPr>
        <p:spPr>
          <a:xfrm>
            <a:off x="4596188" y="4580441"/>
            <a:ext cx="573437" cy="557939"/>
          </a:xfrm>
          <a:prstGeom prst="rect">
            <a:avLst/>
          </a:prstGeom>
          <a:solidFill>
            <a:schemeClr val="bg2"/>
          </a:solid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b="1" dirty="0"/>
              <a:t>P2</a:t>
            </a:r>
          </a:p>
        </p:txBody>
      </p:sp>
    </p:spTree>
    <p:extLst>
      <p:ext uri="{BB962C8B-B14F-4D97-AF65-F5344CB8AC3E}">
        <p14:creationId xmlns:p14="http://schemas.microsoft.com/office/powerpoint/2010/main" val="2948354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xit" presetSubtype="4" fill="hold" grpId="1" nodeType="clickEffect">
                                  <p:stCondLst>
                                    <p:cond delay="0"/>
                                  </p:stCondLst>
                                  <p:childTnLst>
                                    <p:anim calcmode="lin" valueType="num">
                                      <p:cBhvr additive="base">
                                        <p:cTn id="32" dur="1000"/>
                                        <p:tgtEl>
                                          <p:spTgt spid="9"/>
                                        </p:tgtEl>
                                        <p:attrNameLst>
                                          <p:attrName>ppt_x</p:attrName>
                                        </p:attrNameLst>
                                      </p:cBhvr>
                                      <p:tavLst>
                                        <p:tav tm="0">
                                          <p:val>
                                            <p:strVal val="ppt_x"/>
                                          </p:val>
                                        </p:tav>
                                        <p:tav tm="100000">
                                          <p:val>
                                            <p:strVal val="ppt_x"/>
                                          </p:val>
                                        </p:tav>
                                      </p:tavLst>
                                    </p:anim>
                                    <p:anim calcmode="lin" valueType="num">
                                      <p:cBhvr additive="base">
                                        <p:cTn id="33" dur="1000"/>
                                        <p:tgtEl>
                                          <p:spTgt spid="9"/>
                                        </p:tgtEl>
                                        <p:attrNameLst>
                                          <p:attrName>ppt_y</p:attrName>
                                        </p:attrNameLst>
                                      </p:cBhvr>
                                      <p:tavLst>
                                        <p:tav tm="0">
                                          <p:val>
                                            <p:strVal val="ppt_y"/>
                                          </p:val>
                                        </p:tav>
                                        <p:tav tm="100000">
                                          <p:val>
                                            <p:strVal val="1+ppt_h/2"/>
                                          </p:val>
                                        </p:tav>
                                      </p:tavLst>
                                    </p:anim>
                                    <p:set>
                                      <p:cBhvr>
                                        <p:cTn id="34" dur="1" fill="hold">
                                          <p:stCondLst>
                                            <p:cond delay="999"/>
                                          </p:stCondLst>
                                        </p:cTn>
                                        <p:tgtEl>
                                          <p:spTgt spid="9"/>
                                        </p:tgtEl>
                                        <p:attrNameLst>
                                          <p:attrName>style.visibility</p:attrName>
                                        </p:attrNameLst>
                                      </p:cBhvr>
                                      <p:to>
                                        <p:strVal val="hidden"/>
                                      </p:to>
                                    </p:set>
                                  </p:childTnLst>
                                </p:cTn>
                              </p:par>
                              <p:par>
                                <p:cTn id="35" presetID="1" presetClass="entr" presetSubtype="0" fill="hold" grpId="1"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xit" presetSubtype="4" fill="hold" grpId="0" nodeType="clickEffect">
                                  <p:stCondLst>
                                    <p:cond delay="0"/>
                                  </p:stCondLst>
                                  <p:childTnLst>
                                    <p:anim calcmode="lin" valueType="num">
                                      <p:cBhvr additive="base">
                                        <p:cTn id="40" dur="1000"/>
                                        <p:tgtEl>
                                          <p:spTgt spid="10"/>
                                        </p:tgtEl>
                                        <p:attrNameLst>
                                          <p:attrName>ppt_x</p:attrName>
                                        </p:attrNameLst>
                                      </p:cBhvr>
                                      <p:tavLst>
                                        <p:tav tm="0">
                                          <p:val>
                                            <p:strVal val="ppt_x"/>
                                          </p:val>
                                        </p:tav>
                                        <p:tav tm="100000">
                                          <p:val>
                                            <p:strVal val="ppt_x"/>
                                          </p:val>
                                        </p:tav>
                                      </p:tavLst>
                                    </p:anim>
                                    <p:anim calcmode="lin" valueType="num">
                                      <p:cBhvr additive="base">
                                        <p:cTn id="41" dur="1000"/>
                                        <p:tgtEl>
                                          <p:spTgt spid="10"/>
                                        </p:tgtEl>
                                        <p:attrNameLst>
                                          <p:attrName>ppt_y</p:attrName>
                                        </p:attrNameLst>
                                      </p:cBhvr>
                                      <p:tavLst>
                                        <p:tav tm="0">
                                          <p:val>
                                            <p:strVal val="ppt_y"/>
                                          </p:val>
                                        </p:tav>
                                        <p:tav tm="100000">
                                          <p:val>
                                            <p:strVal val="1+ppt_h/2"/>
                                          </p:val>
                                        </p:tav>
                                      </p:tavLst>
                                    </p:anim>
                                    <p:set>
                                      <p:cBhvr>
                                        <p:cTn id="42" dur="1" fill="hold">
                                          <p:stCondLst>
                                            <p:cond delay="9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9" grpId="1" animBg="1"/>
      <p:bldP spid="10" grpId="0" animBg="1"/>
      <p:bldP spid="10"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9331"/>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marL="285750" indent="-285750">
              <a:lnSpc>
                <a:spcPct val="120000"/>
              </a:lnSpc>
              <a:buFont typeface="Wingdings" panose="05000000000000000000" pitchFamily="2" charset="2"/>
              <a:buChar char="Ø"/>
            </a:pPr>
            <a:endParaRPr lang="en-US" dirty="0"/>
          </a:p>
          <a:p>
            <a:pPr>
              <a:lnSpc>
                <a:spcPct val="120000"/>
              </a:lnSpc>
            </a:pPr>
            <a:r>
              <a:rPr lang="en-US" sz="3200" b="1" dirty="0"/>
              <a:t> </a:t>
            </a:r>
          </a:p>
          <a:p>
            <a:pPr algn="l">
              <a:lnSpc>
                <a:spcPct val="120000"/>
              </a:lnSpc>
            </a:pPr>
            <a:endParaRPr lang="en-US" dirty="0"/>
          </a:p>
        </p:txBody>
      </p:sp>
      <p:cxnSp>
        <p:nvCxnSpPr>
          <p:cNvPr id="4" name="Straight Connector 3"/>
          <p:cNvCxnSpPr/>
          <p:nvPr/>
        </p:nvCxnSpPr>
        <p:spPr>
          <a:xfrm>
            <a:off x="774915" y="604434"/>
            <a:ext cx="1" cy="4587498"/>
          </a:xfrm>
          <a:prstGeom prst="line">
            <a:avLst/>
          </a:prstGeom>
          <a:ln w="2857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774915" y="5191932"/>
            <a:ext cx="4866468" cy="0"/>
          </a:xfrm>
          <a:prstGeom prst="line">
            <a:avLst/>
          </a:prstGeom>
          <a:ln w="28575">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1645403" y="5348338"/>
            <a:ext cx="1193370" cy="400110"/>
          </a:xfrm>
          <a:prstGeom prst="rect">
            <a:avLst/>
          </a:prstGeom>
          <a:noFill/>
        </p:spPr>
        <p:txBody>
          <a:bodyPr wrap="square" rtlCol="0">
            <a:spAutoFit/>
          </a:bodyPr>
          <a:lstStyle/>
          <a:p>
            <a:r>
              <a:rPr lang="en-IN" sz="2000" b="1" dirty="0"/>
              <a:t>Time</a:t>
            </a:r>
            <a:endParaRPr lang="en-IN" b="1" dirty="0"/>
          </a:p>
        </p:txBody>
      </p:sp>
      <p:cxnSp>
        <p:nvCxnSpPr>
          <p:cNvPr id="45" name="Straight Arrow Connector 44"/>
          <p:cNvCxnSpPr/>
          <p:nvPr/>
        </p:nvCxnSpPr>
        <p:spPr>
          <a:xfrm>
            <a:off x="2371241" y="5548393"/>
            <a:ext cx="83690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774915" y="4432514"/>
            <a:ext cx="4866468" cy="0"/>
          </a:xfrm>
          <a:prstGeom prst="line">
            <a:avLst/>
          </a:prstGeom>
          <a:ln w="38100">
            <a:solidFill>
              <a:schemeClr val="tx1"/>
            </a:solidFill>
            <a:prstDash val="dash"/>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774915" y="3500033"/>
            <a:ext cx="4866468" cy="0"/>
          </a:xfrm>
          <a:prstGeom prst="line">
            <a:avLst/>
          </a:prstGeom>
          <a:ln w="38100">
            <a:solidFill>
              <a:schemeClr val="tx1"/>
            </a:solidFill>
            <a:prstDash val="dash"/>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774915" y="2567550"/>
            <a:ext cx="4866468" cy="0"/>
          </a:xfrm>
          <a:prstGeom prst="line">
            <a:avLst/>
          </a:prstGeom>
          <a:ln w="38100">
            <a:solidFill>
              <a:schemeClr val="tx1"/>
            </a:solidFill>
            <a:prstDash val="dash"/>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774915" y="1619569"/>
            <a:ext cx="4866468" cy="0"/>
          </a:xfrm>
          <a:prstGeom prst="line">
            <a:avLst/>
          </a:prstGeom>
          <a:ln w="38100">
            <a:solidFill>
              <a:schemeClr val="tx1"/>
            </a:solidFill>
            <a:prstDash val="dash"/>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227307" y="204323"/>
            <a:ext cx="1095215" cy="400110"/>
          </a:xfrm>
          <a:prstGeom prst="rect">
            <a:avLst/>
          </a:prstGeom>
          <a:noFill/>
        </p:spPr>
        <p:txBody>
          <a:bodyPr wrap="square" rtlCol="0">
            <a:spAutoFit/>
          </a:bodyPr>
          <a:lstStyle/>
          <a:p>
            <a:r>
              <a:rPr lang="en-IN" sz="2000" b="1" dirty="0"/>
              <a:t>Process</a:t>
            </a:r>
            <a:endParaRPr lang="en-IN" b="1" dirty="0"/>
          </a:p>
        </p:txBody>
      </p:sp>
      <p:sp>
        <p:nvSpPr>
          <p:cNvPr id="52" name="TextBox 51"/>
          <p:cNvSpPr txBox="1"/>
          <p:nvPr/>
        </p:nvSpPr>
        <p:spPr>
          <a:xfrm>
            <a:off x="242804" y="4140126"/>
            <a:ext cx="361629" cy="584775"/>
          </a:xfrm>
          <a:prstGeom prst="rect">
            <a:avLst/>
          </a:prstGeom>
          <a:noFill/>
        </p:spPr>
        <p:txBody>
          <a:bodyPr wrap="square" rtlCol="0">
            <a:spAutoFit/>
          </a:bodyPr>
          <a:lstStyle/>
          <a:p>
            <a:r>
              <a:rPr lang="en-IN" sz="3200" b="1" dirty="0"/>
              <a:t>A</a:t>
            </a:r>
            <a:endParaRPr lang="en-IN" b="1" dirty="0"/>
          </a:p>
        </p:txBody>
      </p:sp>
      <p:sp>
        <p:nvSpPr>
          <p:cNvPr id="53" name="TextBox 52"/>
          <p:cNvSpPr txBox="1"/>
          <p:nvPr/>
        </p:nvSpPr>
        <p:spPr>
          <a:xfrm>
            <a:off x="271217" y="3207645"/>
            <a:ext cx="361629" cy="584775"/>
          </a:xfrm>
          <a:prstGeom prst="rect">
            <a:avLst/>
          </a:prstGeom>
          <a:noFill/>
        </p:spPr>
        <p:txBody>
          <a:bodyPr wrap="square" rtlCol="0">
            <a:spAutoFit/>
          </a:bodyPr>
          <a:lstStyle/>
          <a:p>
            <a:r>
              <a:rPr lang="en-IN" sz="3200" b="1" dirty="0"/>
              <a:t>B</a:t>
            </a:r>
            <a:endParaRPr lang="en-IN" b="1" dirty="0"/>
          </a:p>
        </p:txBody>
      </p:sp>
      <p:sp>
        <p:nvSpPr>
          <p:cNvPr id="54" name="TextBox 53"/>
          <p:cNvSpPr txBox="1"/>
          <p:nvPr/>
        </p:nvSpPr>
        <p:spPr>
          <a:xfrm>
            <a:off x="271216" y="2275162"/>
            <a:ext cx="361629" cy="584775"/>
          </a:xfrm>
          <a:prstGeom prst="rect">
            <a:avLst/>
          </a:prstGeom>
          <a:noFill/>
        </p:spPr>
        <p:txBody>
          <a:bodyPr wrap="square" rtlCol="0">
            <a:spAutoFit/>
          </a:bodyPr>
          <a:lstStyle/>
          <a:p>
            <a:r>
              <a:rPr lang="en-IN" sz="3200" b="1" dirty="0"/>
              <a:t>C</a:t>
            </a:r>
            <a:endParaRPr lang="en-IN" b="1" dirty="0"/>
          </a:p>
        </p:txBody>
      </p:sp>
      <p:sp>
        <p:nvSpPr>
          <p:cNvPr id="55" name="TextBox 54"/>
          <p:cNvSpPr txBox="1"/>
          <p:nvPr/>
        </p:nvSpPr>
        <p:spPr>
          <a:xfrm>
            <a:off x="247970" y="1326678"/>
            <a:ext cx="361629" cy="584775"/>
          </a:xfrm>
          <a:prstGeom prst="rect">
            <a:avLst/>
          </a:prstGeom>
          <a:noFill/>
        </p:spPr>
        <p:txBody>
          <a:bodyPr wrap="square" rtlCol="0">
            <a:spAutoFit/>
          </a:bodyPr>
          <a:lstStyle/>
          <a:p>
            <a:r>
              <a:rPr lang="en-IN" sz="3200" b="1" dirty="0"/>
              <a:t>D</a:t>
            </a:r>
            <a:endParaRPr lang="en-IN" b="1" dirty="0"/>
          </a:p>
        </p:txBody>
      </p:sp>
      <p:sp>
        <p:nvSpPr>
          <p:cNvPr id="66" name="TextBox 65"/>
          <p:cNvSpPr txBox="1"/>
          <p:nvPr/>
        </p:nvSpPr>
        <p:spPr>
          <a:xfrm>
            <a:off x="6102451" y="0"/>
            <a:ext cx="6089549" cy="5724644"/>
          </a:xfrm>
          <a:prstGeom prst="rect">
            <a:avLst/>
          </a:prstGeom>
          <a:solidFill>
            <a:srgbClr val="4B302A"/>
          </a:solidFill>
        </p:spPr>
        <p:txBody>
          <a:bodyPr wrap="square" rtlCol="0">
            <a:spAutoFit/>
          </a:bodyPr>
          <a:lstStyle/>
          <a:p>
            <a:r>
              <a:rPr lang="en-IN" sz="2400" b="1" dirty="0">
                <a:solidFill>
                  <a:schemeClr val="bg1"/>
                </a:solidFill>
              </a:rPr>
              <a:t>Example of Process State Transitions Overview</a:t>
            </a:r>
          </a:p>
          <a:p>
            <a:endParaRPr lang="en-IN" sz="2000" dirty="0">
              <a:solidFill>
                <a:schemeClr val="bg1"/>
              </a:solidFill>
            </a:endParaRPr>
          </a:p>
          <a:p>
            <a:pPr marL="342900" indent="-342900" algn="just">
              <a:buFont typeface="Wingdings" panose="05000000000000000000" pitchFamily="2" charset="2"/>
              <a:buChar char="ü"/>
            </a:pPr>
            <a:r>
              <a:rPr lang="en-IN" sz="1900" dirty="0">
                <a:solidFill>
                  <a:schemeClr val="bg1"/>
                </a:solidFill>
              </a:rPr>
              <a:t>If </a:t>
            </a:r>
            <a:r>
              <a:rPr lang="en-IN" sz="1900" b="1" dirty="0">
                <a:solidFill>
                  <a:srgbClr val="92D050"/>
                </a:solidFill>
              </a:rPr>
              <a:t>Process</a:t>
            </a:r>
            <a:r>
              <a:rPr lang="en-IN" sz="1900" dirty="0">
                <a:solidFill>
                  <a:schemeClr val="bg1"/>
                </a:solidFill>
              </a:rPr>
              <a:t> </a:t>
            </a:r>
            <a:r>
              <a:rPr lang="en-IN" sz="1900" b="1" dirty="0">
                <a:solidFill>
                  <a:srgbClr val="92D050"/>
                </a:solidFill>
              </a:rPr>
              <a:t>A</a:t>
            </a:r>
            <a:r>
              <a:rPr lang="en-IN" sz="1900" dirty="0">
                <a:solidFill>
                  <a:schemeClr val="bg1"/>
                </a:solidFill>
              </a:rPr>
              <a:t> uses the CPU, all other </a:t>
            </a:r>
            <a:r>
              <a:rPr lang="en-IN" sz="1900" b="1" dirty="0">
                <a:solidFill>
                  <a:srgbClr val="FF0000"/>
                </a:solidFill>
              </a:rPr>
              <a:t>Process(B, C and D)</a:t>
            </a:r>
            <a:r>
              <a:rPr lang="en-IN" sz="1900" dirty="0">
                <a:solidFill>
                  <a:schemeClr val="bg1"/>
                </a:solidFill>
              </a:rPr>
              <a:t> are in waiting state. </a:t>
            </a:r>
          </a:p>
          <a:p>
            <a:pPr marL="342900" indent="-342900" algn="just">
              <a:buFont typeface="Wingdings" panose="05000000000000000000" pitchFamily="2" charset="2"/>
              <a:buChar char="ü"/>
            </a:pPr>
            <a:r>
              <a:rPr lang="en-IN" sz="1900" dirty="0">
                <a:solidFill>
                  <a:schemeClr val="bg1"/>
                </a:solidFill>
              </a:rPr>
              <a:t>Other Processes will wait for the CPU to become free.</a:t>
            </a:r>
          </a:p>
          <a:p>
            <a:pPr marL="342900" indent="-342900" algn="just">
              <a:buFont typeface="Wingdings" panose="05000000000000000000" pitchFamily="2" charset="2"/>
              <a:buChar char="ü"/>
            </a:pPr>
            <a:r>
              <a:rPr lang="en-IN" sz="1900" dirty="0">
                <a:solidFill>
                  <a:schemeClr val="bg1"/>
                </a:solidFill>
              </a:rPr>
              <a:t>When  currently running Process A waits for some event, Such as I/O operation, CPU becomes free.</a:t>
            </a:r>
          </a:p>
          <a:p>
            <a:pPr marL="342900" indent="-342900" algn="just">
              <a:buFont typeface="Wingdings" panose="05000000000000000000" pitchFamily="2" charset="2"/>
              <a:buChar char="ü"/>
            </a:pPr>
            <a:r>
              <a:rPr lang="en-IN" sz="1900" dirty="0">
                <a:solidFill>
                  <a:schemeClr val="bg1"/>
                </a:solidFill>
              </a:rPr>
              <a:t>Now another </a:t>
            </a:r>
            <a:r>
              <a:rPr lang="en-IN" sz="1900" b="1" dirty="0">
                <a:solidFill>
                  <a:srgbClr val="92D050"/>
                </a:solidFill>
              </a:rPr>
              <a:t>Process</a:t>
            </a:r>
            <a:r>
              <a:rPr lang="en-IN" sz="1900" dirty="0">
                <a:solidFill>
                  <a:schemeClr val="bg1"/>
                </a:solidFill>
              </a:rPr>
              <a:t> </a:t>
            </a:r>
            <a:r>
              <a:rPr lang="en-IN" sz="1900" b="1" dirty="0">
                <a:solidFill>
                  <a:srgbClr val="92D050"/>
                </a:solidFill>
              </a:rPr>
              <a:t>B</a:t>
            </a:r>
            <a:r>
              <a:rPr lang="en-IN" sz="1900" dirty="0">
                <a:solidFill>
                  <a:schemeClr val="bg1"/>
                </a:solidFill>
              </a:rPr>
              <a:t>  is selected to use the CPU. At that time </a:t>
            </a:r>
            <a:r>
              <a:rPr lang="en-IN" sz="1900" b="1" dirty="0">
                <a:solidFill>
                  <a:srgbClr val="FF0000"/>
                </a:solidFill>
              </a:rPr>
              <a:t>Process</a:t>
            </a:r>
            <a:r>
              <a:rPr lang="en-IN" sz="1900" dirty="0">
                <a:solidFill>
                  <a:schemeClr val="bg1"/>
                </a:solidFill>
              </a:rPr>
              <a:t> </a:t>
            </a:r>
            <a:r>
              <a:rPr lang="en-IN" sz="1900" b="1" dirty="0">
                <a:solidFill>
                  <a:srgbClr val="FF0000"/>
                </a:solidFill>
              </a:rPr>
              <a:t>A, C &amp; D </a:t>
            </a:r>
            <a:r>
              <a:rPr lang="en-IN" sz="1900" dirty="0">
                <a:solidFill>
                  <a:schemeClr val="bg1"/>
                </a:solidFill>
              </a:rPr>
              <a:t>are in waiting state</a:t>
            </a:r>
          </a:p>
          <a:p>
            <a:pPr marL="342900" indent="-342900" algn="just">
              <a:buFont typeface="Wingdings" panose="05000000000000000000" pitchFamily="2" charset="2"/>
              <a:buChar char="ü"/>
            </a:pPr>
            <a:r>
              <a:rPr lang="en-IN" sz="1900" dirty="0">
                <a:solidFill>
                  <a:schemeClr val="bg1"/>
                </a:solidFill>
              </a:rPr>
              <a:t>When Process B completes its execution </a:t>
            </a:r>
            <a:r>
              <a:rPr lang="en-IN" sz="1900" b="1" dirty="0">
                <a:solidFill>
                  <a:srgbClr val="92D050"/>
                </a:solidFill>
              </a:rPr>
              <a:t>Process</a:t>
            </a:r>
            <a:r>
              <a:rPr lang="en-IN" sz="1900" dirty="0">
                <a:solidFill>
                  <a:schemeClr val="bg1"/>
                </a:solidFill>
              </a:rPr>
              <a:t> </a:t>
            </a:r>
            <a:r>
              <a:rPr lang="en-IN" sz="1900" b="1" dirty="0">
                <a:solidFill>
                  <a:srgbClr val="92D050"/>
                </a:solidFill>
              </a:rPr>
              <a:t>C</a:t>
            </a:r>
            <a:r>
              <a:rPr lang="en-IN" sz="1900" dirty="0">
                <a:solidFill>
                  <a:schemeClr val="bg1"/>
                </a:solidFill>
              </a:rPr>
              <a:t> will be selected to the CPU, at that time </a:t>
            </a:r>
            <a:r>
              <a:rPr lang="en-IN" sz="1900" b="1" dirty="0">
                <a:solidFill>
                  <a:srgbClr val="FF0000"/>
                </a:solidFill>
              </a:rPr>
              <a:t>Process A, B &amp; D</a:t>
            </a:r>
            <a:r>
              <a:rPr lang="en-IN" sz="1900" dirty="0">
                <a:solidFill>
                  <a:schemeClr val="bg1"/>
                </a:solidFill>
              </a:rPr>
              <a:t> waits for some time.</a:t>
            </a:r>
          </a:p>
          <a:p>
            <a:pPr marL="342900" indent="-342900" algn="just">
              <a:buFont typeface="Wingdings" panose="05000000000000000000" pitchFamily="2" charset="2"/>
              <a:buChar char="ü"/>
            </a:pPr>
            <a:r>
              <a:rPr lang="en-IN" sz="1900" dirty="0">
                <a:solidFill>
                  <a:schemeClr val="bg1"/>
                </a:solidFill>
              </a:rPr>
              <a:t>And when </a:t>
            </a:r>
            <a:r>
              <a:rPr lang="en-IN" sz="1900" b="1" dirty="0">
                <a:solidFill>
                  <a:schemeClr val="bg1"/>
                </a:solidFill>
              </a:rPr>
              <a:t>Process C</a:t>
            </a:r>
            <a:r>
              <a:rPr lang="en-IN" sz="1900" dirty="0">
                <a:solidFill>
                  <a:schemeClr val="bg1"/>
                </a:solidFill>
              </a:rPr>
              <a:t> will be completes </a:t>
            </a:r>
            <a:r>
              <a:rPr lang="en-IN" sz="1900" b="1" dirty="0">
                <a:solidFill>
                  <a:srgbClr val="92D050"/>
                </a:solidFill>
              </a:rPr>
              <a:t>Process D</a:t>
            </a:r>
            <a:r>
              <a:rPr lang="en-IN" sz="1900" dirty="0">
                <a:solidFill>
                  <a:schemeClr val="bg1"/>
                </a:solidFill>
              </a:rPr>
              <a:t> will be selected for the execution and at that time other </a:t>
            </a:r>
            <a:r>
              <a:rPr lang="en-IN" sz="1900" b="1" dirty="0">
                <a:solidFill>
                  <a:srgbClr val="92D050"/>
                </a:solidFill>
              </a:rPr>
              <a:t>Processes(A, B &amp; C</a:t>
            </a:r>
            <a:r>
              <a:rPr lang="en-IN" sz="1900" dirty="0">
                <a:solidFill>
                  <a:srgbClr val="92D050"/>
                </a:solidFill>
              </a:rPr>
              <a:t>)</a:t>
            </a:r>
            <a:r>
              <a:rPr lang="en-IN" sz="1900" dirty="0">
                <a:solidFill>
                  <a:schemeClr val="bg1"/>
                </a:solidFill>
              </a:rPr>
              <a:t> are in waiting state. </a:t>
            </a:r>
          </a:p>
          <a:p>
            <a:pPr marL="342900" indent="-342900" algn="just">
              <a:buFont typeface="Wingdings" panose="05000000000000000000" pitchFamily="2" charset="2"/>
              <a:buChar char="ü"/>
            </a:pPr>
            <a:r>
              <a:rPr lang="en-IN" sz="1900" dirty="0">
                <a:solidFill>
                  <a:schemeClr val="bg1"/>
                </a:solidFill>
              </a:rPr>
              <a:t>This cycle continues to execute all process.</a:t>
            </a:r>
          </a:p>
          <a:p>
            <a:pPr marL="342900" indent="-342900" algn="just">
              <a:buFont typeface="Wingdings" panose="05000000000000000000" pitchFamily="2" charset="2"/>
              <a:buChar char="ü"/>
            </a:pPr>
            <a:r>
              <a:rPr lang="en-IN" sz="1900" dirty="0">
                <a:solidFill>
                  <a:schemeClr val="bg1"/>
                </a:solidFill>
              </a:rPr>
              <a:t>Meanwhile new process are created to perform various tasks.     </a:t>
            </a:r>
          </a:p>
          <a:p>
            <a:endParaRPr lang="en-IN" dirty="0">
              <a:solidFill>
                <a:schemeClr val="bg1"/>
              </a:solidFill>
            </a:endParaRPr>
          </a:p>
        </p:txBody>
      </p:sp>
      <p:sp>
        <p:nvSpPr>
          <p:cNvPr id="8" name="TextBox 7"/>
          <p:cNvSpPr txBox="1"/>
          <p:nvPr/>
        </p:nvSpPr>
        <p:spPr>
          <a:xfrm>
            <a:off x="883402" y="4020135"/>
            <a:ext cx="792997" cy="369332"/>
          </a:xfrm>
          <a:prstGeom prst="rect">
            <a:avLst/>
          </a:prstGeom>
          <a:noFill/>
          <a:ln w="38100">
            <a:solidFill>
              <a:srgbClr val="92D050"/>
            </a:solidFill>
          </a:ln>
        </p:spPr>
        <p:txBody>
          <a:bodyPr wrap="square" rtlCol="0">
            <a:spAutoFit/>
          </a:bodyPr>
          <a:lstStyle/>
          <a:p>
            <a:pPr algn="ctr"/>
            <a:r>
              <a:rPr lang="en-IN" b="1" dirty="0"/>
              <a:t>Run</a:t>
            </a:r>
          </a:p>
        </p:txBody>
      </p:sp>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r>
              <a:rPr lang="en-IN" dirty="0">
                <a:solidFill>
                  <a:srgbClr val="FF0000"/>
                </a:solidFill>
              </a:rPr>
              <a:t>Wait</a:t>
            </a:r>
          </a:p>
        </p:txBody>
      </p:sp>
      <p:sp>
        <p:nvSpPr>
          <p:cNvPr id="75" name="TextBox 74"/>
          <p:cNvSpPr txBox="1"/>
          <p:nvPr/>
        </p:nvSpPr>
        <p:spPr>
          <a:xfrm>
            <a:off x="904069" y="2133491"/>
            <a:ext cx="792997" cy="369332"/>
          </a:xfrm>
          <a:prstGeom prst="rect">
            <a:avLst/>
          </a:prstGeom>
          <a:noFill/>
          <a:ln w="38100">
            <a:solidFill>
              <a:schemeClr val="bg2"/>
            </a:solidFill>
          </a:ln>
        </p:spPr>
        <p:txBody>
          <a:bodyPr wrap="square" rtlCol="0">
            <a:spAutoFit/>
          </a:bodyPr>
          <a:lstStyle/>
          <a:p>
            <a:pPr algn="ctr"/>
            <a:r>
              <a:rPr lang="en-IN" dirty="0">
                <a:solidFill>
                  <a:srgbClr val="FF0000"/>
                </a:solidFill>
              </a:rPr>
              <a:t>Wait</a:t>
            </a:r>
          </a:p>
        </p:txBody>
      </p:sp>
      <p:sp>
        <p:nvSpPr>
          <p:cNvPr id="76" name="TextBox 75"/>
          <p:cNvSpPr txBox="1"/>
          <p:nvPr/>
        </p:nvSpPr>
        <p:spPr>
          <a:xfrm>
            <a:off x="885989" y="1187741"/>
            <a:ext cx="792997" cy="369332"/>
          </a:xfrm>
          <a:prstGeom prst="rect">
            <a:avLst/>
          </a:prstGeom>
          <a:noFill/>
          <a:ln w="38100">
            <a:solidFill>
              <a:schemeClr val="bg2"/>
            </a:solidFill>
          </a:ln>
        </p:spPr>
        <p:txBody>
          <a:bodyPr wrap="square" rtlCol="0">
            <a:spAutoFit/>
          </a:bodyPr>
          <a:lstStyle/>
          <a:p>
            <a:pPr algn="ctr"/>
            <a:r>
              <a:rPr lang="en-IN" dirty="0">
                <a:solidFill>
                  <a:srgbClr val="FF0000"/>
                </a:solidFill>
              </a:rPr>
              <a:t>Wait</a:t>
            </a:r>
          </a:p>
        </p:txBody>
      </p:sp>
      <p:sp>
        <p:nvSpPr>
          <p:cNvPr id="77" name="TextBox 76"/>
          <p:cNvSpPr txBox="1"/>
          <p:nvPr/>
        </p:nvSpPr>
        <p:spPr>
          <a:xfrm>
            <a:off x="1876584" y="3136564"/>
            <a:ext cx="792997" cy="369332"/>
          </a:xfrm>
          <a:prstGeom prst="rect">
            <a:avLst/>
          </a:prstGeom>
          <a:noFill/>
          <a:ln w="38100">
            <a:solidFill>
              <a:srgbClr val="92D050"/>
            </a:solidFill>
          </a:ln>
        </p:spPr>
        <p:txBody>
          <a:bodyPr wrap="square" rtlCol="0">
            <a:spAutoFit/>
          </a:bodyPr>
          <a:lstStyle/>
          <a:p>
            <a:pPr algn="ctr"/>
            <a:r>
              <a:rPr lang="en-IN" b="1" dirty="0"/>
              <a:t>Run</a:t>
            </a:r>
          </a:p>
        </p:txBody>
      </p:sp>
      <p:sp>
        <p:nvSpPr>
          <p:cNvPr id="78" name="TextBox 77"/>
          <p:cNvSpPr txBox="1"/>
          <p:nvPr/>
        </p:nvSpPr>
        <p:spPr>
          <a:xfrm>
            <a:off x="1892082" y="4001189"/>
            <a:ext cx="792997" cy="369332"/>
          </a:xfrm>
          <a:prstGeom prst="rect">
            <a:avLst/>
          </a:prstGeom>
          <a:noFill/>
          <a:ln w="38100">
            <a:solidFill>
              <a:schemeClr val="bg2"/>
            </a:solidFill>
          </a:ln>
        </p:spPr>
        <p:txBody>
          <a:bodyPr wrap="square" rtlCol="0">
            <a:spAutoFit/>
          </a:bodyPr>
          <a:lstStyle/>
          <a:p>
            <a:pPr algn="ctr"/>
            <a:r>
              <a:rPr lang="en-IN" dirty="0">
                <a:solidFill>
                  <a:srgbClr val="FF0000"/>
                </a:solidFill>
              </a:rPr>
              <a:t>Wait</a:t>
            </a:r>
          </a:p>
        </p:txBody>
      </p:sp>
      <p:sp>
        <p:nvSpPr>
          <p:cNvPr id="79" name="TextBox 78"/>
          <p:cNvSpPr txBox="1"/>
          <p:nvPr/>
        </p:nvSpPr>
        <p:spPr>
          <a:xfrm>
            <a:off x="1872713" y="2125487"/>
            <a:ext cx="792997" cy="369332"/>
          </a:xfrm>
          <a:prstGeom prst="rect">
            <a:avLst/>
          </a:prstGeom>
          <a:noFill/>
          <a:ln w="38100">
            <a:solidFill>
              <a:schemeClr val="bg2"/>
            </a:solidFill>
          </a:ln>
        </p:spPr>
        <p:txBody>
          <a:bodyPr wrap="square" rtlCol="0">
            <a:spAutoFit/>
          </a:bodyPr>
          <a:lstStyle/>
          <a:p>
            <a:pPr algn="ctr"/>
            <a:r>
              <a:rPr lang="en-IN" dirty="0">
                <a:solidFill>
                  <a:srgbClr val="FF0000"/>
                </a:solidFill>
              </a:rPr>
              <a:t>Wait</a:t>
            </a:r>
          </a:p>
        </p:txBody>
      </p:sp>
      <p:sp>
        <p:nvSpPr>
          <p:cNvPr id="80" name="TextBox 79"/>
          <p:cNvSpPr txBox="1"/>
          <p:nvPr/>
        </p:nvSpPr>
        <p:spPr>
          <a:xfrm>
            <a:off x="1870133" y="1193004"/>
            <a:ext cx="792997" cy="369332"/>
          </a:xfrm>
          <a:prstGeom prst="rect">
            <a:avLst/>
          </a:prstGeom>
          <a:noFill/>
          <a:ln w="38100">
            <a:solidFill>
              <a:schemeClr val="bg2"/>
            </a:solidFill>
          </a:ln>
        </p:spPr>
        <p:txBody>
          <a:bodyPr wrap="square" rtlCol="0">
            <a:spAutoFit/>
          </a:bodyPr>
          <a:lstStyle/>
          <a:p>
            <a:pPr algn="ctr"/>
            <a:r>
              <a:rPr lang="en-IN" dirty="0">
                <a:solidFill>
                  <a:srgbClr val="FF0000"/>
                </a:solidFill>
              </a:rPr>
              <a:t>Wait</a:t>
            </a:r>
          </a:p>
        </p:txBody>
      </p:sp>
      <p:sp>
        <p:nvSpPr>
          <p:cNvPr id="81" name="TextBox 80"/>
          <p:cNvSpPr txBox="1"/>
          <p:nvPr/>
        </p:nvSpPr>
        <p:spPr>
          <a:xfrm>
            <a:off x="2945966" y="2202977"/>
            <a:ext cx="792997" cy="369332"/>
          </a:xfrm>
          <a:prstGeom prst="rect">
            <a:avLst/>
          </a:prstGeom>
          <a:noFill/>
          <a:ln w="38100">
            <a:solidFill>
              <a:srgbClr val="92D050"/>
            </a:solidFill>
          </a:ln>
        </p:spPr>
        <p:txBody>
          <a:bodyPr wrap="square" rtlCol="0">
            <a:spAutoFit/>
          </a:bodyPr>
          <a:lstStyle/>
          <a:p>
            <a:pPr algn="ctr"/>
            <a:r>
              <a:rPr lang="en-IN" b="1" dirty="0"/>
              <a:t>Run</a:t>
            </a:r>
          </a:p>
        </p:txBody>
      </p:sp>
      <p:sp>
        <p:nvSpPr>
          <p:cNvPr id="82" name="TextBox 81"/>
          <p:cNvSpPr txBox="1"/>
          <p:nvPr/>
        </p:nvSpPr>
        <p:spPr>
          <a:xfrm>
            <a:off x="2820691" y="3067997"/>
            <a:ext cx="792997" cy="369332"/>
          </a:xfrm>
          <a:prstGeom prst="rect">
            <a:avLst/>
          </a:prstGeom>
          <a:noFill/>
          <a:ln w="38100">
            <a:noFill/>
          </a:ln>
        </p:spPr>
        <p:txBody>
          <a:bodyPr wrap="square" rtlCol="0">
            <a:spAutoFit/>
          </a:bodyPr>
          <a:lstStyle/>
          <a:p>
            <a:pPr algn="ctr"/>
            <a:r>
              <a:rPr lang="en-IN" dirty="0">
                <a:solidFill>
                  <a:srgbClr val="FF0000"/>
                </a:solidFill>
              </a:rPr>
              <a:t>Wait</a:t>
            </a:r>
          </a:p>
        </p:txBody>
      </p:sp>
      <p:sp>
        <p:nvSpPr>
          <p:cNvPr id="83" name="TextBox 82"/>
          <p:cNvSpPr txBox="1"/>
          <p:nvPr/>
        </p:nvSpPr>
        <p:spPr>
          <a:xfrm>
            <a:off x="2847812" y="4032186"/>
            <a:ext cx="792997" cy="369332"/>
          </a:xfrm>
          <a:prstGeom prst="rect">
            <a:avLst/>
          </a:prstGeom>
          <a:noFill/>
          <a:ln w="38100">
            <a:noFill/>
          </a:ln>
        </p:spPr>
        <p:txBody>
          <a:bodyPr wrap="square" rtlCol="0">
            <a:spAutoFit/>
          </a:bodyPr>
          <a:lstStyle/>
          <a:p>
            <a:pPr algn="ctr"/>
            <a:r>
              <a:rPr lang="en-IN" dirty="0">
                <a:solidFill>
                  <a:srgbClr val="FF0000"/>
                </a:solidFill>
              </a:rPr>
              <a:t>Wait</a:t>
            </a:r>
          </a:p>
        </p:txBody>
      </p:sp>
      <p:sp>
        <p:nvSpPr>
          <p:cNvPr id="84" name="TextBox 83"/>
          <p:cNvSpPr txBox="1"/>
          <p:nvPr/>
        </p:nvSpPr>
        <p:spPr>
          <a:xfrm>
            <a:off x="2814235" y="1193004"/>
            <a:ext cx="792997" cy="369332"/>
          </a:xfrm>
          <a:prstGeom prst="rect">
            <a:avLst/>
          </a:prstGeom>
          <a:noFill/>
          <a:ln w="38100">
            <a:noFill/>
          </a:ln>
        </p:spPr>
        <p:txBody>
          <a:bodyPr wrap="square" rtlCol="0">
            <a:spAutoFit/>
          </a:bodyPr>
          <a:lstStyle/>
          <a:p>
            <a:pPr algn="ctr"/>
            <a:r>
              <a:rPr lang="en-IN" dirty="0">
                <a:solidFill>
                  <a:srgbClr val="FF0000"/>
                </a:solidFill>
              </a:rPr>
              <a:t>Wait</a:t>
            </a:r>
          </a:p>
        </p:txBody>
      </p:sp>
      <p:sp>
        <p:nvSpPr>
          <p:cNvPr id="85" name="TextBox 84"/>
          <p:cNvSpPr txBox="1"/>
          <p:nvPr/>
        </p:nvSpPr>
        <p:spPr>
          <a:xfrm>
            <a:off x="4003727" y="1234235"/>
            <a:ext cx="792997" cy="369332"/>
          </a:xfrm>
          <a:prstGeom prst="rect">
            <a:avLst/>
          </a:prstGeom>
          <a:noFill/>
          <a:ln w="38100">
            <a:solidFill>
              <a:srgbClr val="92D050"/>
            </a:solidFill>
          </a:ln>
        </p:spPr>
        <p:txBody>
          <a:bodyPr wrap="square" rtlCol="0">
            <a:spAutoFit/>
          </a:bodyPr>
          <a:lstStyle/>
          <a:p>
            <a:pPr algn="ctr"/>
            <a:r>
              <a:rPr lang="en-IN" b="1" dirty="0"/>
              <a:t>Run</a:t>
            </a:r>
          </a:p>
        </p:txBody>
      </p:sp>
      <p:sp>
        <p:nvSpPr>
          <p:cNvPr id="86" name="TextBox 85"/>
          <p:cNvSpPr txBox="1"/>
          <p:nvPr/>
        </p:nvSpPr>
        <p:spPr>
          <a:xfrm>
            <a:off x="3908154" y="2145117"/>
            <a:ext cx="792997" cy="369332"/>
          </a:xfrm>
          <a:prstGeom prst="rect">
            <a:avLst/>
          </a:prstGeom>
          <a:noFill/>
          <a:ln w="38100">
            <a:noFill/>
          </a:ln>
        </p:spPr>
        <p:txBody>
          <a:bodyPr wrap="square" rtlCol="0">
            <a:spAutoFit/>
          </a:bodyPr>
          <a:lstStyle/>
          <a:p>
            <a:pPr algn="ctr"/>
            <a:r>
              <a:rPr lang="en-IN" dirty="0">
                <a:solidFill>
                  <a:srgbClr val="FF0000"/>
                </a:solidFill>
              </a:rPr>
              <a:t>Wait</a:t>
            </a:r>
          </a:p>
        </p:txBody>
      </p:sp>
      <p:sp>
        <p:nvSpPr>
          <p:cNvPr id="87" name="TextBox 86"/>
          <p:cNvSpPr txBox="1"/>
          <p:nvPr/>
        </p:nvSpPr>
        <p:spPr>
          <a:xfrm>
            <a:off x="3905568" y="3087929"/>
            <a:ext cx="792997" cy="369332"/>
          </a:xfrm>
          <a:prstGeom prst="rect">
            <a:avLst/>
          </a:prstGeom>
          <a:noFill/>
          <a:ln w="38100">
            <a:noFill/>
          </a:ln>
        </p:spPr>
        <p:txBody>
          <a:bodyPr wrap="square" rtlCol="0">
            <a:spAutoFit/>
          </a:bodyPr>
          <a:lstStyle/>
          <a:p>
            <a:pPr algn="ctr"/>
            <a:r>
              <a:rPr lang="en-IN" dirty="0">
                <a:solidFill>
                  <a:srgbClr val="FF0000"/>
                </a:solidFill>
              </a:rPr>
              <a:t>Wait</a:t>
            </a:r>
          </a:p>
        </p:txBody>
      </p:sp>
      <p:sp>
        <p:nvSpPr>
          <p:cNvPr id="88" name="TextBox 87"/>
          <p:cNvSpPr txBox="1"/>
          <p:nvPr/>
        </p:nvSpPr>
        <p:spPr>
          <a:xfrm>
            <a:off x="3902985" y="3999746"/>
            <a:ext cx="792997" cy="369332"/>
          </a:xfrm>
          <a:prstGeom prst="rect">
            <a:avLst/>
          </a:prstGeom>
          <a:noFill/>
          <a:ln w="38100">
            <a:noFill/>
          </a:ln>
        </p:spPr>
        <p:txBody>
          <a:bodyPr wrap="square" rtlCol="0">
            <a:spAutoFit/>
          </a:bodyPr>
          <a:lstStyle/>
          <a:p>
            <a:pPr algn="ctr"/>
            <a:r>
              <a:rPr lang="en-IN" dirty="0">
                <a:solidFill>
                  <a:srgbClr val="FF0000"/>
                </a:solidFill>
              </a:rPr>
              <a:t>Wait</a:t>
            </a:r>
          </a:p>
        </p:txBody>
      </p:sp>
    </p:spTree>
    <p:extLst>
      <p:ext uri="{BB962C8B-B14F-4D97-AF65-F5344CB8AC3E}">
        <p14:creationId xmlns:p14="http://schemas.microsoft.com/office/powerpoint/2010/main" val="120286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6">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par>
                                <p:cTn id="37" presetID="26" presetClass="emph" presetSubtype="0" repeatCount="indefinite" fill="hold" grpId="1" nodeType="withEffect">
                                  <p:stCondLst>
                                    <p:cond delay="0"/>
                                  </p:stCondLst>
                                  <p:endCondLst>
                                    <p:cond evt="onNext" delay="0">
                                      <p:tgtEl>
                                        <p:sldTgt/>
                                      </p:tgtEl>
                                    </p:cond>
                                  </p:endCondLst>
                                  <p:childTnLst>
                                    <p:animEffect transition="out" filter="fade">
                                      <p:cBhvr>
                                        <p:cTn id="38" dur="500" tmFilter="0, 0; .2, .5; .8, .5; 1, 0"/>
                                        <p:tgtEl>
                                          <p:spTgt spid="8"/>
                                        </p:tgtEl>
                                      </p:cBhvr>
                                    </p:animEffect>
                                    <p:animScale>
                                      <p:cBhvr>
                                        <p:cTn id="39" dur="250" autoRev="1" fill="hold"/>
                                        <p:tgtEl>
                                          <p:spTgt spid="8"/>
                                        </p:tgtEl>
                                      </p:cBhvr>
                                      <p:by x="105000" y="105000"/>
                                    </p:animScale>
                                  </p:childTnLst>
                                </p:cTn>
                              </p:par>
                              <p:par>
                                <p:cTn id="40" presetID="1" presetClass="entr" presetSubtype="0" fill="hold" grpId="0" nodeType="withEffect">
                                  <p:stCondLst>
                                    <p:cond delay="0"/>
                                  </p:stCondLst>
                                  <p:childTnLst>
                                    <p:set>
                                      <p:cBhvr>
                                        <p:cTn id="41" dur="1" fill="hold">
                                          <p:stCondLst>
                                            <p:cond delay="0"/>
                                          </p:stCondLst>
                                        </p:cTn>
                                        <p:tgtEl>
                                          <p:spTgt spid="74"/>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7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76"/>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66">
                                            <p:txEl>
                                              <p:pRg st="3" end="3"/>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66">
                                            <p:txEl>
                                              <p:pRg st="4" end="4"/>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xit" presetSubtype="0" fill="hold" grpId="2" nodeType="clickEffect">
                                  <p:stCondLst>
                                    <p:cond delay="0"/>
                                  </p:stCondLst>
                                  <p:childTnLst>
                                    <p:set>
                                      <p:cBhvr>
                                        <p:cTn id="57" dur="1" fill="hold">
                                          <p:stCondLst>
                                            <p:cond delay="0"/>
                                          </p:stCondLst>
                                        </p:cTn>
                                        <p:tgtEl>
                                          <p:spTgt spid="8"/>
                                        </p:tgtEl>
                                        <p:attrNameLst>
                                          <p:attrName>style.visibility</p:attrName>
                                        </p:attrNameLst>
                                      </p:cBhvr>
                                      <p:to>
                                        <p:strVal val="hidden"/>
                                      </p:to>
                                    </p:set>
                                  </p:childTnLst>
                                </p:cTn>
                              </p:par>
                              <p:par>
                                <p:cTn id="58" presetID="1" presetClass="exit" presetSubtype="0" fill="hold" grpId="1" nodeType="withEffect">
                                  <p:stCondLst>
                                    <p:cond delay="0"/>
                                  </p:stCondLst>
                                  <p:childTnLst>
                                    <p:set>
                                      <p:cBhvr>
                                        <p:cTn id="59" dur="1" fill="hold">
                                          <p:stCondLst>
                                            <p:cond delay="0"/>
                                          </p:stCondLst>
                                        </p:cTn>
                                        <p:tgtEl>
                                          <p:spTgt spid="74"/>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75"/>
                                        </p:tgtEl>
                                        <p:attrNameLst>
                                          <p:attrName>style.visibility</p:attrName>
                                        </p:attrNameLst>
                                      </p:cBhvr>
                                      <p:to>
                                        <p:strVal val="hidden"/>
                                      </p:to>
                                    </p:set>
                                  </p:childTnLst>
                                </p:cTn>
                              </p:par>
                              <p:par>
                                <p:cTn id="62" presetID="1" presetClass="exit" presetSubtype="0" fill="hold" grpId="1" nodeType="withEffect">
                                  <p:stCondLst>
                                    <p:cond delay="0"/>
                                  </p:stCondLst>
                                  <p:childTnLst>
                                    <p:set>
                                      <p:cBhvr>
                                        <p:cTn id="63" dur="1" fill="hold">
                                          <p:stCondLst>
                                            <p:cond delay="0"/>
                                          </p:stCondLst>
                                        </p:cTn>
                                        <p:tgtEl>
                                          <p:spTgt spid="76"/>
                                        </p:tgtEl>
                                        <p:attrNameLst>
                                          <p:attrName>style.visibility</p:attrName>
                                        </p:attrNameLst>
                                      </p:cBhvr>
                                      <p:to>
                                        <p:strVal val="hidden"/>
                                      </p:to>
                                    </p:set>
                                  </p:childTnLst>
                                </p:cTn>
                              </p:par>
                              <p:par>
                                <p:cTn id="64" presetID="1" presetClass="entr" presetSubtype="0" fill="hold" nodeType="withEffect">
                                  <p:stCondLst>
                                    <p:cond delay="0"/>
                                  </p:stCondLst>
                                  <p:childTnLst>
                                    <p:set>
                                      <p:cBhvr>
                                        <p:cTn id="65" dur="1" fill="hold">
                                          <p:stCondLst>
                                            <p:cond delay="0"/>
                                          </p:stCondLst>
                                        </p:cTn>
                                        <p:tgtEl>
                                          <p:spTgt spid="66">
                                            <p:txEl>
                                              <p:pRg st="5" end="5"/>
                                            </p:txEl>
                                          </p:spTgt>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77"/>
                                        </p:tgtEl>
                                        <p:attrNameLst>
                                          <p:attrName>style.visibility</p:attrName>
                                        </p:attrNameLst>
                                      </p:cBhvr>
                                      <p:to>
                                        <p:strVal val="visible"/>
                                      </p:to>
                                    </p:set>
                                  </p:childTnLst>
                                </p:cTn>
                              </p:par>
                              <p:par>
                                <p:cTn id="68" presetID="26" presetClass="emph" presetSubtype="0" repeatCount="indefinite" fill="hold" grpId="1" nodeType="withEffect">
                                  <p:stCondLst>
                                    <p:cond delay="0"/>
                                  </p:stCondLst>
                                  <p:endCondLst>
                                    <p:cond evt="onNext" delay="0">
                                      <p:tgtEl>
                                        <p:sldTgt/>
                                      </p:tgtEl>
                                    </p:cond>
                                  </p:endCondLst>
                                  <p:childTnLst>
                                    <p:animEffect transition="out" filter="fade">
                                      <p:cBhvr>
                                        <p:cTn id="69" dur="500" tmFilter="0, 0; .2, .5; .8, .5; 1, 0"/>
                                        <p:tgtEl>
                                          <p:spTgt spid="77"/>
                                        </p:tgtEl>
                                      </p:cBhvr>
                                    </p:animEffect>
                                    <p:animScale>
                                      <p:cBhvr>
                                        <p:cTn id="70" dur="250" autoRev="1" fill="hold"/>
                                        <p:tgtEl>
                                          <p:spTgt spid="77"/>
                                        </p:tgtEl>
                                      </p:cBhvr>
                                      <p:by x="105000" y="105000"/>
                                    </p:animScale>
                                  </p:childTnLst>
                                </p:cTn>
                              </p:par>
                              <p:par>
                                <p:cTn id="71" presetID="1" presetClass="entr" presetSubtype="0" fill="hold" grpId="0" nodeType="withEffect">
                                  <p:stCondLst>
                                    <p:cond delay="0"/>
                                  </p:stCondLst>
                                  <p:childTnLst>
                                    <p:set>
                                      <p:cBhvr>
                                        <p:cTn id="72" dur="1" fill="hold">
                                          <p:stCondLst>
                                            <p:cond delay="0"/>
                                          </p:stCondLst>
                                        </p:cTn>
                                        <p:tgtEl>
                                          <p:spTgt spid="78"/>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2" nodeType="clickEffect">
                                  <p:stCondLst>
                                    <p:cond delay="0"/>
                                  </p:stCondLst>
                                  <p:childTnLst>
                                    <p:set>
                                      <p:cBhvr>
                                        <p:cTn id="80" dur="1" fill="hold">
                                          <p:stCondLst>
                                            <p:cond delay="0"/>
                                          </p:stCondLst>
                                        </p:cTn>
                                        <p:tgtEl>
                                          <p:spTgt spid="77"/>
                                        </p:tgtEl>
                                        <p:attrNameLst>
                                          <p:attrName>style.visibility</p:attrName>
                                        </p:attrNameLst>
                                      </p:cBhvr>
                                      <p:to>
                                        <p:strVal val="hidden"/>
                                      </p:to>
                                    </p:set>
                                  </p:childTnLst>
                                </p:cTn>
                              </p:par>
                              <p:par>
                                <p:cTn id="81" presetID="1" presetClass="exit" presetSubtype="0" fill="hold" grpId="1" nodeType="withEffect">
                                  <p:stCondLst>
                                    <p:cond delay="0"/>
                                  </p:stCondLst>
                                  <p:childTnLst>
                                    <p:set>
                                      <p:cBhvr>
                                        <p:cTn id="82" dur="1" fill="hold">
                                          <p:stCondLst>
                                            <p:cond delay="0"/>
                                          </p:stCondLst>
                                        </p:cTn>
                                        <p:tgtEl>
                                          <p:spTgt spid="78"/>
                                        </p:tgtEl>
                                        <p:attrNameLst>
                                          <p:attrName>style.visibility</p:attrName>
                                        </p:attrNameLst>
                                      </p:cBhvr>
                                      <p:to>
                                        <p:strVal val="hidden"/>
                                      </p:to>
                                    </p:set>
                                  </p:childTnLst>
                                </p:cTn>
                              </p:par>
                              <p:par>
                                <p:cTn id="83" presetID="1" presetClass="exit" presetSubtype="0" fill="hold" grpId="1" nodeType="withEffect">
                                  <p:stCondLst>
                                    <p:cond delay="0"/>
                                  </p:stCondLst>
                                  <p:childTnLst>
                                    <p:set>
                                      <p:cBhvr>
                                        <p:cTn id="84" dur="1" fill="hold">
                                          <p:stCondLst>
                                            <p:cond delay="0"/>
                                          </p:stCondLst>
                                        </p:cTn>
                                        <p:tgtEl>
                                          <p:spTgt spid="79"/>
                                        </p:tgtEl>
                                        <p:attrNameLst>
                                          <p:attrName>style.visibility</p:attrName>
                                        </p:attrNameLst>
                                      </p:cBhvr>
                                      <p:to>
                                        <p:strVal val="hidden"/>
                                      </p:to>
                                    </p:set>
                                  </p:childTnLst>
                                </p:cTn>
                              </p:par>
                              <p:par>
                                <p:cTn id="85" presetID="1" presetClass="exit" presetSubtype="0" fill="hold" grpId="1" nodeType="withEffect">
                                  <p:stCondLst>
                                    <p:cond delay="0"/>
                                  </p:stCondLst>
                                  <p:childTnLst>
                                    <p:set>
                                      <p:cBhvr>
                                        <p:cTn id="86" dur="1" fill="hold">
                                          <p:stCondLst>
                                            <p:cond delay="0"/>
                                          </p:stCondLst>
                                        </p:cTn>
                                        <p:tgtEl>
                                          <p:spTgt spid="80"/>
                                        </p:tgtEl>
                                        <p:attrNameLst>
                                          <p:attrName>style.visibility</p:attrName>
                                        </p:attrNameLst>
                                      </p:cBhvr>
                                      <p:to>
                                        <p:strVal val="hidden"/>
                                      </p:to>
                                    </p:set>
                                  </p:childTnLst>
                                </p:cTn>
                              </p:par>
                              <p:par>
                                <p:cTn id="87" presetID="1" presetClass="entr" presetSubtype="0" fill="hold" nodeType="withEffect">
                                  <p:stCondLst>
                                    <p:cond delay="0"/>
                                  </p:stCondLst>
                                  <p:childTnLst>
                                    <p:set>
                                      <p:cBhvr>
                                        <p:cTn id="88" dur="1" fill="hold">
                                          <p:stCondLst>
                                            <p:cond delay="0"/>
                                          </p:stCondLst>
                                        </p:cTn>
                                        <p:tgtEl>
                                          <p:spTgt spid="66">
                                            <p:txEl>
                                              <p:pRg st="6" end="6"/>
                                            </p:txEl>
                                          </p:spTgt>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1"/>
                                        </p:tgtEl>
                                        <p:attrNameLst>
                                          <p:attrName>style.visibility</p:attrName>
                                        </p:attrNameLst>
                                      </p:cBhvr>
                                      <p:to>
                                        <p:strVal val="visible"/>
                                      </p:to>
                                    </p:set>
                                  </p:childTnLst>
                                </p:cTn>
                              </p:par>
                              <p:par>
                                <p:cTn id="91" presetID="26" presetClass="emph" presetSubtype="0" repeatCount="indefinite" fill="hold" grpId="1" nodeType="withEffect">
                                  <p:stCondLst>
                                    <p:cond delay="0"/>
                                  </p:stCondLst>
                                  <p:endCondLst>
                                    <p:cond evt="onNext" delay="0">
                                      <p:tgtEl>
                                        <p:sldTgt/>
                                      </p:tgtEl>
                                    </p:cond>
                                  </p:endCondLst>
                                  <p:childTnLst>
                                    <p:animEffect transition="out" filter="fade">
                                      <p:cBhvr>
                                        <p:cTn id="92" dur="500" tmFilter="0, 0; .2, .5; .8, .5; 1, 0"/>
                                        <p:tgtEl>
                                          <p:spTgt spid="81"/>
                                        </p:tgtEl>
                                      </p:cBhvr>
                                    </p:animEffect>
                                    <p:animScale>
                                      <p:cBhvr>
                                        <p:cTn id="93" dur="250" autoRev="1" fill="hold"/>
                                        <p:tgtEl>
                                          <p:spTgt spid="81"/>
                                        </p:tgtEl>
                                      </p:cBhvr>
                                      <p:by x="105000" y="105000"/>
                                    </p:animScale>
                                  </p:childTnLst>
                                </p:cTn>
                              </p:par>
                              <p:par>
                                <p:cTn id="94" presetID="1" presetClass="entr" presetSubtype="0" fill="hold" grpId="0" nodeType="withEffect">
                                  <p:stCondLst>
                                    <p:cond delay="0"/>
                                  </p:stCondLst>
                                  <p:childTnLst>
                                    <p:set>
                                      <p:cBhvr>
                                        <p:cTn id="95" dur="1" fill="hold">
                                          <p:stCondLst>
                                            <p:cond delay="0"/>
                                          </p:stCondLst>
                                        </p:cTn>
                                        <p:tgtEl>
                                          <p:spTgt spid="82"/>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84"/>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83"/>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xit" presetSubtype="0" fill="hold" grpId="2" nodeType="clickEffect">
                                  <p:stCondLst>
                                    <p:cond delay="0"/>
                                  </p:stCondLst>
                                  <p:childTnLst>
                                    <p:set>
                                      <p:cBhvr>
                                        <p:cTn id="103" dur="1" fill="hold">
                                          <p:stCondLst>
                                            <p:cond delay="0"/>
                                          </p:stCondLst>
                                        </p:cTn>
                                        <p:tgtEl>
                                          <p:spTgt spid="81"/>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84"/>
                                        </p:tgtEl>
                                        <p:attrNameLst>
                                          <p:attrName>style.visibility</p:attrName>
                                        </p:attrNameLst>
                                      </p:cBhvr>
                                      <p:to>
                                        <p:strVal val="hidden"/>
                                      </p:to>
                                    </p:set>
                                  </p:childTnLst>
                                </p:cTn>
                              </p:par>
                              <p:par>
                                <p:cTn id="106" presetID="1" presetClass="exit" presetSubtype="0" fill="hold" grpId="1" nodeType="withEffect">
                                  <p:stCondLst>
                                    <p:cond delay="0"/>
                                  </p:stCondLst>
                                  <p:childTnLst>
                                    <p:set>
                                      <p:cBhvr>
                                        <p:cTn id="107" dur="1" fill="hold">
                                          <p:stCondLst>
                                            <p:cond delay="0"/>
                                          </p:stCondLst>
                                        </p:cTn>
                                        <p:tgtEl>
                                          <p:spTgt spid="82"/>
                                        </p:tgtEl>
                                        <p:attrNameLst>
                                          <p:attrName>style.visibility</p:attrName>
                                        </p:attrNameLst>
                                      </p:cBhvr>
                                      <p:to>
                                        <p:strVal val="hidden"/>
                                      </p:to>
                                    </p:set>
                                  </p:childTnLst>
                                </p:cTn>
                              </p:par>
                              <p:par>
                                <p:cTn id="108" presetID="1" presetClass="exit" presetSubtype="0" fill="hold" grpId="1" nodeType="withEffect">
                                  <p:stCondLst>
                                    <p:cond delay="0"/>
                                  </p:stCondLst>
                                  <p:childTnLst>
                                    <p:set>
                                      <p:cBhvr>
                                        <p:cTn id="109" dur="1" fill="hold">
                                          <p:stCondLst>
                                            <p:cond delay="0"/>
                                          </p:stCondLst>
                                        </p:cTn>
                                        <p:tgtEl>
                                          <p:spTgt spid="83"/>
                                        </p:tgtEl>
                                        <p:attrNameLst>
                                          <p:attrName>style.visibility</p:attrName>
                                        </p:attrNameLst>
                                      </p:cBhvr>
                                      <p:to>
                                        <p:strVal val="hidden"/>
                                      </p:to>
                                    </p:set>
                                  </p:childTnLst>
                                </p:cTn>
                              </p:par>
                              <p:par>
                                <p:cTn id="110" presetID="1" presetClass="entr" presetSubtype="0" fill="hold" nodeType="withEffect">
                                  <p:stCondLst>
                                    <p:cond delay="0"/>
                                  </p:stCondLst>
                                  <p:childTnLst>
                                    <p:set>
                                      <p:cBhvr>
                                        <p:cTn id="111" dur="1" fill="hold">
                                          <p:stCondLst>
                                            <p:cond delay="0"/>
                                          </p:stCondLst>
                                        </p:cTn>
                                        <p:tgtEl>
                                          <p:spTgt spid="66">
                                            <p:txEl>
                                              <p:pRg st="7" end="7"/>
                                            </p:txEl>
                                          </p:spTgt>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85"/>
                                        </p:tgtEl>
                                        <p:attrNameLst>
                                          <p:attrName>style.visibility</p:attrName>
                                        </p:attrNameLst>
                                      </p:cBhvr>
                                      <p:to>
                                        <p:strVal val="visible"/>
                                      </p:to>
                                    </p:set>
                                  </p:childTnLst>
                                </p:cTn>
                              </p:par>
                              <p:par>
                                <p:cTn id="114" presetID="26" presetClass="emph" presetSubtype="0" repeatCount="indefinite" fill="hold" grpId="1" nodeType="withEffect">
                                  <p:stCondLst>
                                    <p:cond delay="0"/>
                                  </p:stCondLst>
                                  <p:endCondLst>
                                    <p:cond evt="onNext" delay="0">
                                      <p:tgtEl>
                                        <p:sldTgt/>
                                      </p:tgtEl>
                                    </p:cond>
                                  </p:endCondLst>
                                  <p:childTnLst>
                                    <p:animEffect transition="out" filter="fade">
                                      <p:cBhvr>
                                        <p:cTn id="115" dur="500" tmFilter="0, 0; .2, .5; .8, .5; 1, 0"/>
                                        <p:tgtEl>
                                          <p:spTgt spid="85"/>
                                        </p:tgtEl>
                                      </p:cBhvr>
                                    </p:animEffect>
                                    <p:animScale>
                                      <p:cBhvr>
                                        <p:cTn id="116" dur="250" autoRev="1" fill="hold"/>
                                        <p:tgtEl>
                                          <p:spTgt spid="85"/>
                                        </p:tgtEl>
                                      </p:cBhvr>
                                      <p:by x="105000" y="105000"/>
                                    </p:animScale>
                                  </p:childTnLst>
                                </p:cTn>
                              </p:par>
                              <p:par>
                                <p:cTn id="117" presetID="1" presetClass="entr" presetSubtype="0" fill="hold" grpId="0" nodeType="withEffect">
                                  <p:stCondLst>
                                    <p:cond delay="0"/>
                                  </p:stCondLst>
                                  <p:childTnLst>
                                    <p:set>
                                      <p:cBhvr>
                                        <p:cTn id="118" dur="1" fill="hold">
                                          <p:stCondLst>
                                            <p:cond delay="0"/>
                                          </p:stCondLst>
                                        </p:cTn>
                                        <p:tgtEl>
                                          <p:spTgt spid="86"/>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88"/>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66">
                                            <p:txEl>
                                              <p:pRg st="8" end="8"/>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6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51" grpId="0"/>
      <p:bldP spid="52" grpId="0"/>
      <p:bldP spid="53" grpId="0"/>
      <p:bldP spid="54" grpId="0"/>
      <p:bldP spid="55" grpId="0"/>
      <p:bldP spid="8" grpId="0" animBg="1"/>
      <p:bldP spid="8" grpId="1" animBg="1"/>
      <p:bldP spid="8" grpId="2" animBg="1"/>
      <p:bldP spid="74" grpId="0" animBg="1"/>
      <p:bldP spid="74" grpId="1" animBg="1"/>
      <p:bldP spid="75" grpId="0" animBg="1"/>
      <p:bldP spid="75" grpId="1" animBg="1"/>
      <p:bldP spid="76" grpId="0" animBg="1"/>
      <p:bldP spid="76" grpId="1" animBg="1"/>
      <p:bldP spid="77" grpId="0" animBg="1"/>
      <p:bldP spid="77" grpId="1" animBg="1"/>
      <p:bldP spid="77" grpId="2" animBg="1"/>
      <p:bldP spid="78" grpId="0" animBg="1"/>
      <p:bldP spid="78" grpId="1" animBg="1"/>
      <p:bldP spid="79" grpId="0" animBg="1"/>
      <p:bldP spid="79" grpId="1" animBg="1"/>
      <p:bldP spid="80" grpId="0" animBg="1"/>
      <p:bldP spid="80" grpId="1" animBg="1"/>
      <p:bldP spid="81" grpId="0" animBg="1"/>
      <p:bldP spid="81" grpId="1" animBg="1"/>
      <p:bldP spid="81" grpId="2" animBg="1"/>
      <p:bldP spid="82" grpId="0"/>
      <p:bldP spid="82" grpId="1"/>
      <p:bldP spid="83" grpId="0"/>
      <p:bldP spid="83" grpId="1"/>
      <p:bldP spid="84" grpId="0"/>
      <p:bldP spid="84" grpId="1"/>
      <p:bldP spid="85" grpId="0" animBg="1"/>
      <p:bldP spid="85" grpId="1" animBg="1"/>
      <p:bldP spid="86" grpId="0"/>
      <p:bldP spid="87" grpId="0"/>
      <p:bldP spid="8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3E2622"/>
                    </a:gs>
                    <a:gs pos="100000">
                      <a:srgbClr val="795547"/>
                    </a:gs>
                  </a:gsLst>
                  <a:lin ang="0" scaled="1"/>
                  <a:tileRect/>
                </a:gradFill>
              </a:rPr>
              <a:t>Process Control Block</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- 4</a:t>
            </a:r>
          </a:p>
        </p:txBody>
      </p:sp>
    </p:spTree>
    <p:extLst>
      <p:ext uri="{BB962C8B-B14F-4D97-AF65-F5344CB8AC3E}">
        <p14:creationId xmlns:p14="http://schemas.microsoft.com/office/powerpoint/2010/main" val="27825245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Process Control Block(PCB)</a:t>
            </a:r>
            <a:endParaRPr lang="en-IN" dirty="0"/>
          </a:p>
        </p:txBody>
      </p:sp>
      <p:sp>
        <p:nvSpPr>
          <p:cNvPr id="3" name="Content Placeholder 2"/>
          <p:cNvSpPr>
            <a:spLocks noGrp="1"/>
          </p:cNvSpPr>
          <p:nvPr>
            <p:ph idx="1"/>
          </p:nvPr>
        </p:nvSpPr>
        <p:spPr>
          <a:xfrm>
            <a:off x="131180" y="863444"/>
            <a:ext cx="6229427" cy="5590565"/>
          </a:xfrm>
        </p:spPr>
        <p:txBody>
          <a:bodyPr/>
          <a:lstStyle/>
          <a:p>
            <a:r>
              <a:rPr lang="en-IN" dirty="0"/>
              <a:t>OS maintains a table, called </a:t>
            </a:r>
            <a:r>
              <a:rPr lang="en-IN" b="1" dirty="0">
                <a:solidFill>
                  <a:schemeClr val="accent6"/>
                </a:solidFill>
              </a:rPr>
              <a:t>Process Table, to store all the information about each process.</a:t>
            </a:r>
          </a:p>
          <a:p>
            <a:r>
              <a:rPr lang="en-IN" dirty="0"/>
              <a:t>Process Table contains </a:t>
            </a:r>
            <a:r>
              <a:rPr lang="en-IN" b="1" dirty="0">
                <a:solidFill>
                  <a:schemeClr val="accent6"/>
                </a:solidFill>
              </a:rPr>
              <a:t>Various Entries – One Entry per Process.</a:t>
            </a:r>
          </a:p>
          <a:p>
            <a:r>
              <a:rPr lang="en-IN" dirty="0"/>
              <a:t>It is called </a:t>
            </a:r>
            <a:r>
              <a:rPr lang="en-IN" b="1" dirty="0">
                <a:solidFill>
                  <a:schemeClr val="accent6"/>
                </a:solidFill>
              </a:rPr>
              <a:t>Process Control Block </a:t>
            </a:r>
            <a:r>
              <a:rPr lang="en-IN" dirty="0"/>
              <a:t>or</a:t>
            </a:r>
            <a:r>
              <a:rPr lang="en-IN" b="1" dirty="0">
                <a:solidFill>
                  <a:schemeClr val="accent6"/>
                </a:solidFill>
              </a:rPr>
              <a:t> Task Control Block.</a:t>
            </a:r>
          </a:p>
          <a:p>
            <a:endParaRPr lang="en-IN" b="1" dirty="0">
              <a:solidFill>
                <a:schemeClr val="accent6"/>
              </a:solidFill>
            </a:endParaRPr>
          </a:p>
          <a:p>
            <a:pPr marL="0" indent="0">
              <a:buNone/>
            </a:pPr>
            <a:endParaRPr lang="en-IN" dirty="0"/>
          </a:p>
        </p:txBody>
      </p:sp>
      <p:cxnSp>
        <p:nvCxnSpPr>
          <p:cNvPr id="7" name="Straight Connector 6"/>
          <p:cNvCxnSpPr>
            <a:cxnSpLocks/>
          </p:cNvCxnSpPr>
          <p:nvPr/>
        </p:nvCxnSpPr>
        <p:spPr>
          <a:xfrm>
            <a:off x="3786184" y="2359854"/>
            <a:ext cx="821410" cy="108488"/>
          </a:xfrm>
          <a:prstGeom prst="line">
            <a:avLst/>
          </a:prstGeom>
          <a:ln w="762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cxnSpLocks/>
          </p:cNvCxnSpPr>
          <p:nvPr/>
        </p:nvCxnSpPr>
        <p:spPr>
          <a:xfrm>
            <a:off x="3925669" y="2359854"/>
            <a:ext cx="681925" cy="0"/>
          </a:xfrm>
          <a:prstGeom prst="line">
            <a:avLst/>
          </a:prstGeom>
          <a:ln w="762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cxnSpLocks/>
          </p:cNvCxnSpPr>
          <p:nvPr/>
        </p:nvCxnSpPr>
        <p:spPr>
          <a:xfrm>
            <a:off x="11166513" y="2105239"/>
            <a:ext cx="387458" cy="108488"/>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6949789" y="1344575"/>
            <a:ext cx="4037950" cy="413163"/>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11" name="Rounded Rectangle 10"/>
          <p:cNvSpPr/>
          <p:nvPr/>
        </p:nvSpPr>
        <p:spPr>
          <a:xfrm>
            <a:off x="6948494" y="1818517"/>
            <a:ext cx="4037950" cy="413163"/>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12" name="Rounded Rectangle 11"/>
          <p:cNvSpPr/>
          <p:nvPr/>
        </p:nvSpPr>
        <p:spPr>
          <a:xfrm>
            <a:off x="6967849" y="2341977"/>
            <a:ext cx="4037950" cy="413163"/>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14" name="Rounded Rectangle 13"/>
          <p:cNvSpPr/>
          <p:nvPr/>
        </p:nvSpPr>
        <p:spPr>
          <a:xfrm>
            <a:off x="6954949" y="2839939"/>
            <a:ext cx="4037950" cy="413163"/>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15" name="Rounded Rectangle 14"/>
          <p:cNvSpPr/>
          <p:nvPr/>
        </p:nvSpPr>
        <p:spPr>
          <a:xfrm>
            <a:off x="6954949" y="3342979"/>
            <a:ext cx="4037950" cy="413163"/>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16" name="Rounded Rectangle 15"/>
          <p:cNvSpPr/>
          <p:nvPr/>
        </p:nvSpPr>
        <p:spPr>
          <a:xfrm>
            <a:off x="6954949" y="3853588"/>
            <a:ext cx="4037950" cy="413163"/>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17" name="Rounded Rectangle 16"/>
          <p:cNvSpPr/>
          <p:nvPr/>
        </p:nvSpPr>
        <p:spPr>
          <a:xfrm>
            <a:off x="6967849" y="4342973"/>
            <a:ext cx="4037950" cy="413163"/>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18" name="Rounded Rectangle 17"/>
          <p:cNvSpPr/>
          <p:nvPr/>
        </p:nvSpPr>
        <p:spPr>
          <a:xfrm>
            <a:off x="6960110" y="4851066"/>
            <a:ext cx="4037950" cy="395111"/>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19" name="Rounded Rectangle 18"/>
          <p:cNvSpPr/>
          <p:nvPr/>
        </p:nvSpPr>
        <p:spPr>
          <a:xfrm>
            <a:off x="6954954" y="854663"/>
            <a:ext cx="4037950" cy="413163"/>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bg1"/>
              </a:solidFill>
            </a:endParaRPr>
          </a:p>
        </p:txBody>
      </p:sp>
      <p:sp>
        <p:nvSpPr>
          <p:cNvPr id="20" name="TextBox 19"/>
          <p:cNvSpPr txBox="1"/>
          <p:nvPr/>
        </p:nvSpPr>
        <p:spPr>
          <a:xfrm>
            <a:off x="6954954" y="863444"/>
            <a:ext cx="4037950" cy="400110"/>
          </a:xfrm>
          <a:prstGeom prst="rect">
            <a:avLst/>
          </a:prstGeom>
          <a:solidFill>
            <a:srgbClr val="4B302A"/>
          </a:solidFill>
        </p:spPr>
        <p:txBody>
          <a:bodyPr wrap="square" rtlCol="0">
            <a:spAutoFit/>
          </a:bodyPr>
          <a:lstStyle/>
          <a:p>
            <a:pPr algn="ctr"/>
            <a:r>
              <a:rPr lang="en-IN" sz="2000" b="1" dirty="0">
                <a:solidFill>
                  <a:schemeClr val="bg1"/>
                </a:solidFill>
              </a:rPr>
              <a:t>Process Identifiers</a:t>
            </a:r>
            <a:endParaRPr lang="en-IN" b="1" dirty="0">
              <a:solidFill>
                <a:schemeClr val="bg1"/>
              </a:solidFill>
            </a:endParaRPr>
          </a:p>
        </p:txBody>
      </p:sp>
      <p:sp>
        <p:nvSpPr>
          <p:cNvPr id="21" name="TextBox 20"/>
          <p:cNvSpPr txBox="1"/>
          <p:nvPr/>
        </p:nvSpPr>
        <p:spPr>
          <a:xfrm>
            <a:off x="7042285" y="1348971"/>
            <a:ext cx="3945453" cy="400110"/>
          </a:xfrm>
          <a:prstGeom prst="rect">
            <a:avLst/>
          </a:prstGeom>
          <a:solidFill>
            <a:srgbClr val="4B302A"/>
          </a:solidFill>
        </p:spPr>
        <p:txBody>
          <a:bodyPr wrap="square" rtlCol="0">
            <a:spAutoFit/>
          </a:bodyPr>
          <a:lstStyle/>
          <a:p>
            <a:pPr algn="ctr"/>
            <a:r>
              <a:rPr lang="en-IN" sz="2000" b="1" dirty="0">
                <a:solidFill>
                  <a:schemeClr val="bg1"/>
                </a:solidFill>
              </a:rPr>
              <a:t>Process State</a:t>
            </a:r>
            <a:endParaRPr lang="en-IN" b="1" dirty="0">
              <a:solidFill>
                <a:schemeClr val="bg1"/>
              </a:solidFill>
            </a:endParaRPr>
          </a:p>
        </p:txBody>
      </p:sp>
      <p:sp>
        <p:nvSpPr>
          <p:cNvPr id="22" name="TextBox 21"/>
          <p:cNvSpPr txBox="1"/>
          <p:nvPr/>
        </p:nvSpPr>
        <p:spPr>
          <a:xfrm>
            <a:off x="6948494" y="1848380"/>
            <a:ext cx="4037950" cy="400110"/>
          </a:xfrm>
          <a:prstGeom prst="rect">
            <a:avLst/>
          </a:prstGeom>
          <a:solidFill>
            <a:srgbClr val="4B302A"/>
          </a:solidFill>
        </p:spPr>
        <p:txBody>
          <a:bodyPr wrap="square" rtlCol="0">
            <a:spAutoFit/>
          </a:bodyPr>
          <a:lstStyle/>
          <a:p>
            <a:pPr algn="ctr"/>
            <a:r>
              <a:rPr lang="en-IN" sz="2000" b="1" dirty="0">
                <a:solidFill>
                  <a:schemeClr val="bg1"/>
                </a:solidFill>
              </a:rPr>
              <a:t>Program Counter</a:t>
            </a:r>
            <a:endParaRPr lang="en-IN" b="1" dirty="0">
              <a:solidFill>
                <a:schemeClr val="bg1"/>
              </a:solidFill>
            </a:endParaRPr>
          </a:p>
        </p:txBody>
      </p:sp>
      <p:sp>
        <p:nvSpPr>
          <p:cNvPr id="23" name="TextBox 22"/>
          <p:cNvSpPr txBox="1"/>
          <p:nvPr/>
        </p:nvSpPr>
        <p:spPr>
          <a:xfrm>
            <a:off x="7042285" y="2357697"/>
            <a:ext cx="3963518" cy="400110"/>
          </a:xfrm>
          <a:prstGeom prst="rect">
            <a:avLst/>
          </a:prstGeom>
          <a:solidFill>
            <a:srgbClr val="4B302A"/>
          </a:solidFill>
        </p:spPr>
        <p:txBody>
          <a:bodyPr wrap="square" rtlCol="0">
            <a:spAutoFit/>
          </a:bodyPr>
          <a:lstStyle/>
          <a:p>
            <a:pPr algn="ctr"/>
            <a:r>
              <a:rPr lang="en-IN" sz="2000" b="1" dirty="0">
                <a:solidFill>
                  <a:schemeClr val="bg1"/>
                </a:solidFill>
              </a:rPr>
              <a:t>CPU Registers</a:t>
            </a:r>
            <a:endParaRPr lang="en-IN" b="1" dirty="0">
              <a:solidFill>
                <a:schemeClr val="bg1"/>
              </a:solidFill>
            </a:endParaRPr>
          </a:p>
        </p:txBody>
      </p:sp>
      <p:sp>
        <p:nvSpPr>
          <p:cNvPr id="24" name="TextBox 23"/>
          <p:cNvSpPr txBox="1"/>
          <p:nvPr/>
        </p:nvSpPr>
        <p:spPr>
          <a:xfrm>
            <a:off x="6967870" y="2843229"/>
            <a:ext cx="4037950" cy="400110"/>
          </a:xfrm>
          <a:prstGeom prst="rect">
            <a:avLst/>
          </a:prstGeom>
          <a:solidFill>
            <a:srgbClr val="4B302A"/>
          </a:solidFill>
        </p:spPr>
        <p:txBody>
          <a:bodyPr wrap="square" rtlCol="0">
            <a:spAutoFit/>
          </a:bodyPr>
          <a:lstStyle/>
          <a:p>
            <a:pPr algn="ctr"/>
            <a:r>
              <a:rPr lang="en-IN" sz="2000" b="1" dirty="0">
                <a:solidFill>
                  <a:schemeClr val="bg1"/>
                </a:solidFill>
              </a:rPr>
              <a:t>CPU Scheduling Information</a:t>
            </a:r>
            <a:endParaRPr lang="en-IN" b="1" dirty="0">
              <a:solidFill>
                <a:schemeClr val="bg1"/>
              </a:solidFill>
            </a:endParaRPr>
          </a:p>
        </p:txBody>
      </p:sp>
      <p:sp>
        <p:nvSpPr>
          <p:cNvPr id="25" name="TextBox 24"/>
          <p:cNvSpPr txBox="1"/>
          <p:nvPr/>
        </p:nvSpPr>
        <p:spPr>
          <a:xfrm>
            <a:off x="6967849" y="3372810"/>
            <a:ext cx="4018595" cy="369332"/>
          </a:xfrm>
          <a:prstGeom prst="rect">
            <a:avLst/>
          </a:prstGeom>
          <a:solidFill>
            <a:srgbClr val="4B302A"/>
          </a:solidFill>
        </p:spPr>
        <p:txBody>
          <a:bodyPr wrap="square" rtlCol="0">
            <a:spAutoFit/>
          </a:bodyPr>
          <a:lstStyle/>
          <a:p>
            <a:pPr algn="ctr"/>
            <a:r>
              <a:rPr lang="en-IN" b="1" dirty="0">
                <a:solidFill>
                  <a:schemeClr val="bg1"/>
                </a:solidFill>
              </a:rPr>
              <a:t>Memory Management Information</a:t>
            </a:r>
            <a:endParaRPr lang="en-IN" sz="1600" b="1" dirty="0">
              <a:solidFill>
                <a:schemeClr val="bg1"/>
              </a:solidFill>
            </a:endParaRPr>
          </a:p>
        </p:txBody>
      </p:sp>
      <p:sp>
        <p:nvSpPr>
          <p:cNvPr id="26" name="TextBox 25"/>
          <p:cNvSpPr txBox="1"/>
          <p:nvPr/>
        </p:nvSpPr>
        <p:spPr>
          <a:xfrm>
            <a:off x="6954955" y="3840290"/>
            <a:ext cx="4037950" cy="400110"/>
          </a:xfrm>
          <a:prstGeom prst="rect">
            <a:avLst/>
          </a:prstGeom>
          <a:solidFill>
            <a:srgbClr val="4B302A"/>
          </a:solidFill>
        </p:spPr>
        <p:txBody>
          <a:bodyPr wrap="square" rtlCol="0">
            <a:spAutoFit/>
          </a:bodyPr>
          <a:lstStyle/>
          <a:p>
            <a:pPr algn="ctr"/>
            <a:r>
              <a:rPr lang="en-IN" sz="2000" b="1" dirty="0">
                <a:solidFill>
                  <a:schemeClr val="bg1"/>
                </a:solidFill>
              </a:rPr>
              <a:t>Accounting Information</a:t>
            </a:r>
            <a:endParaRPr lang="en-IN" b="1" dirty="0">
              <a:solidFill>
                <a:schemeClr val="bg1"/>
              </a:solidFill>
            </a:endParaRPr>
          </a:p>
        </p:txBody>
      </p:sp>
      <p:sp>
        <p:nvSpPr>
          <p:cNvPr id="27" name="TextBox 26"/>
          <p:cNvSpPr txBox="1"/>
          <p:nvPr/>
        </p:nvSpPr>
        <p:spPr>
          <a:xfrm>
            <a:off x="6960115" y="4362867"/>
            <a:ext cx="4037950" cy="400110"/>
          </a:xfrm>
          <a:prstGeom prst="rect">
            <a:avLst/>
          </a:prstGeom>
          <a:solidFill>
            <a:srgbClr val="4B302A"/>
          </a:solidFill>
        </p:spPr>
        <p:txBody>
          <a:bodyPr wrap="square" rtlCol="0">
            <a:spAutoFit/>
          </a:bodyPr>
          <a:lstStyle/>
          <a:p>
            <a:pPr algn="ctr"/>
            <a:r>
              <a:rPr lang="en-IN" sz="2000" b="1" dirty="0">
                <a:solidFill>
                  <a:schemeClr val="bg1"/>
                </a:solidFill>
              </a:rPr>
              <a:t>I/O Status Information</a:t>
            </a:r>
            <a:endParaRPr lang="en-IN" b="1" dirty="0">
              <a:solidFill>
                <a:schemeClr val="bg1"/>
              </a:solidFill>
            </a:endParaRPr>
          </a:p>
        </p:txBody>
      </p:sp>
      <p:sp>
        <p:nvSpPr>
          <p:cNvPr id="28" name="TextBox 27"/>
          <p:cNvSpPr txBox="1"/>
          <p:nvPr/>
        </p:nvSpPr>
        <p:spPr>
          <a:xfrm>
            <a:off x="6954954" y="4853980"/>
            <a:ext cx="4037950" cy="400110"/>
          </a:xfrm>
          <a:prstGeom prst="rect">
            <a:avLst/>
          </a:prstGeom>
          <a:solidFill>
            <a:srgbClr val="4B302A"/>
          </a:solidFill>
        </p:spPr>
        <p:txBody>
          <a:bodyPr wrap="square" rtlCol="0">
            <a:spAutoFit/>
          </a:bodyPr>
          <a:lstStyle/>
          <a:p>
            <a:pPr algn="ctr"/>
            <a:r>
              <a:rPr lang="en-IN" sz="2000" b="1" dirty="0">
                <a:solidFill>
                  <a:schemeClr val="bg1"/>
                </a:solidFill>
              </a:rPr>
              <a:t>Pointer</a:t>
            </a:r>
            <a:endParaRPr lang="en-IN" b="1" dirty="0">
              <a:solidFill>
                <a:schemeClr val="bg1"/>
              </a:solidFill>
            </a:endParaRPr>
          </a:p>
        </p:txBody>
      </p:sp>
    </p:spTree>
    <p:extLst>
      <p:ext uri="{BB962C8B-B14F-4D97-AF65-F5344CB8AC3E}">
        <p14:creationId xmlns:p14="http://schemas.microsoft.com/office/powerpoint/2010/main" val="706476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500"/>
                                  </p:stCondLst>
                                  <p:childTnLst>
                                    <p:set>
                                      <p:cBhvr>
                                        <p:cTn id="22" dur="1" fill="hold">
                                          <p:stCondLst>
                                            <p:cond delay="9"/>
                                          </p:stCondLst>
                                        </p:cTn>
                                        <p:tgtEl>
                                          <p:spTgt spid="9"/>
                                        </p:tgtEl>
                                        <p:attrNameLst>
                                          <p:attrName>style.visibility</p:attrName>
                                        </p:attrNameLst>
                                      </p:cBhvr>
                                      <p:to>
                                        <p:strVal val="visible"/>
                                      </p:to>
                                    </p:set>
                                  </p:childTnLst>
                                </p:cTn>
                              </p:par>
                              <p:par>
                                <p:cTn id="23" presetID="1" presetClass="entr" presetSubtype="0" fill="hold" grpId="0" nodeType="withEffect">
                                  <p:stCondLst>
                                    <p:cond delay="50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100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100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150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150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200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200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250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2500"/>
                                  </p:stCondLst>
                                  <p:childTnLst>
                                    <p:set>
                                      <p:cBhvr>
                                        <p:cTn id="40" dur="1" fill="hold">
                                          <p:stCondLst>
                                            <p:cond delay="0"/>
                                          </p:stCondLst>
                                        </p:cTn>
                                        <p:tgtEl>
                                          <p:spTgt spid="25"/>
                                        </p:tgtEl>
                                        <p:attrNameLst>
                                          <p:attrName>style.visibility</p:attrName>
                                        </p:attrNameLst>
                                      </p:cBhvr>
                                      <p:to>
                                        <p:strVal val="visible"/>
                                      </p:to>
                                    </p:set>
                                  </p:childTnLst>
                                </p:cTn>
                              </p:par>
                              <p:par>
                                <p:cTn id="41" presetID="1" presetClass="entr" presetSubtype="0" fill="hold" grpId="0" nodeType="withEffect">
                                  <p:stCondLst>
                                    <p:cond delay="300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grpId="0" nodeType="withEffect">
                                  <p:stCondLst>
                                    <p:cond delay="300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ntr" presetSubtype="0" fill="hold" grpId="0" nodeType="withEffect">
                                  <p:stCondLst>
                                    <p:cond delay="350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grpId="0" nodeType="withEffect">
                                  <p:stCondLst>
                                    <p:cond delay="350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400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ntr" presetSubtype="0" fill="hold" grpId="0" nodeType="withEffect">
                                  <p:stCondLst>
                                    <p:cond delay="400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marL="285750" indent="-285750">
              <a:lnSpc>
                <a:spcPct val="120000"/>
              </a:lnSpc>
              <a:buFont typeface="Wingdings" panose="05000000000000000000" pitchFamily="2" charset="2"/>
              <a:buChar char="Ø"/>
            </a:pPr>
            <a:endParaRPr lang="en-US" dirty="0"/>
          </a:p>
          <a:p>
            <a:pPr>
              <a:lnSpc>
                <a:spcPct val="120000"/>
              </a:lnSpc>
            </a:pPr>
            <a:r>
              <a:rPr lang="en-US" sz="3200" b="1" dirty="0"/>
              <a:t> </a:t>
            </a:r>
          </a:p>
          <a:p>
            <a:pPr algn="l">
              <a:lnSpc>
                <a:spcPct val="120000"/>
              </a:lnSpc>
            </a:pPr>
            <a:endParaRPr lang="en-US" dirty="0"/>
          </a:p>
        </p:txBody>
      </p:sp>
      <p:sp>
        <p:nvSpPr>
          <p:cNvPr id="74" name="TextBox 73"/>
          <p:cNvSpPr txBox="1"/>
          <p:nvPr/>
        </p:nvSpPr>
        <p:spPr>
          <a:xfrm>
            <a:off x="888569" y="3089917"/>
            <a:ext cx="792997" cy="400110"/>
          </a:xfrm>
          <a:prstGeom prst="rect">
            <a:avLst/>
          </a:prstGeom>
          <a:solidFill>
            <a:srgbClr val="4B302A"/>
          </a:solidFill>
          <a:ln w="38100">
            <a:solidFill>
              <a:schemeClr val="bg2"/>
            </a:solidFill>
          </a:ln>
        </p:spPr>
        <p:txBody>
          <a:bodyPr wrap="square" rtlCol="0">
            <a:spAutoFit/>
          </a:bodyPr>
          <a:lstStyle/>
          <a:p>
            <a:pPr algn="ctr"/>
            <a:endParaRPr lang="en-IN" sz="2000" dirty="0">
              <a:solidFill>
                <a:schemeClr val="bg1"/>
              </a:solidFill>
            </a:endParaRPr>
          </a:p>
        </p:txBody>
      </p:sp>
      <p:sp>
        <p:nvSpPr>
          <p:cNvPr id="2" name="TextBox 1"/>
          <p:cNvSpPr txBox="1"/>
          <p:nvPr/>
        </p:nvSpPr>
        <p:spPr>
          <a:xfrm>
            <a:off x="6096000" y="154982"/>
            <a:ext cx="6095999" cy="461665"/>
          </a:xfrm>
          <a:prstGeom prst="rect">
            <a:avLst/>
          </a:prstGeom>
          <a:noFill/>
        </p:spPr>
        <p:txBody>
          <a:bodyPr wrap="square" rtlCol="0">
            <a:spAutoFit/>
          </a:bodyPr>
          <a:lstStyle/>
          <a:p>
            <a:r>
              <a:rPr lang="en-IN" sz="2400" b="1" dirty="0">
                <a:solidFill>
                  <a:schemeClr val="bg1"/>
                </a:solidFill>
              </a:rPr>
              <a:t>Fields of Process Control Block(PCB)</a:t>
            </a:r>
            <a:endParaRPr lang="en-IN" sz="1100" dirty="0">
              <a:solidFill>
                <a:schemeClr val="bg1"/>
              </a:solidFill>
            </a:endParaRPr>
          </a:p>
        </p:txBody>
      </p:sp>
      <p:sp>
        <p:nvSpPr>
          <p:cNvPr id="6" name="Rounded Rectangle 5"/>
          <p:cNvSpPr/>
          <p:nvPr/>
        </p:nvSpPr>
        <p:spPr>
          <a:xfrm>
            <a:off x="862737" y="110038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6" name="Rounded Rectangle 35"/>
          <p:cNvSpPr/>
          <p:nvPr/>
        </p:nvSpPr>
        <p:spPr>
          <a:xfrm>
            <a:off x="862736" y="1797805"/>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7" name="Rounded Rectangle 36"/>
          <p:cNvSpPr/>
          <p:nvPr/>
        </p:nvSpPr>
        <p:spPr>
          <a:xfrm>
            <a:off x="862736" y="244386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8" name="Rounded Rectangle 37"/>
          <p:cNvSpPr/>
          <p:nvPr/>
        </p:nvSpPr>
        <p:spPr>
          <a:xfrm>
            <a:off x="888568" y="3089917"/>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9" name="Rounded Rectangle 38"/>
          <p:cNvSpPr/>
          <p:nvPr/>
        </p:nvSpPr>
        <p:spPr>
          <a:xfrm>
            <a:off x="901485" y="377284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0" name="Rounded Rectangle 39"/>
          <p:cNvSpPr/>
          <p:nvPr/>
        </p:nvSpPr>
        <p:spPr>
          <a:xfrm>
            <a:off x="888568" y="4451092"/>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1" name="Rounded Rectangle 40"/>
          <p:cNvSpPr/>
          <p:nvPr/>
        </p:nvSpPr>
        <p:spPr>
          <a:xfrm>
            <a:off x="862734" y="5127348"/>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2" name="Rounded Rectangle 41"/>
          <p:cNvSpPr/>
          <p:nvPr/>
        </p:nvSpPr>
        <p:spPr>
          <a:xfrm>
            <a:off x="862733" y="5827051"/>
            <a:ext cx="4070889" cy="489099"/>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4" name="Rounded Rectangle 43"/>
          <p:cNvSpPr/>
          <p:nvPr/>
        </p:nvSpPr>
        <p:spPr>
          <a:xfrm>
            <a:off x="862735" y="44483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7" name="TextBox 6"/>
          <p:cNvSpPr txBox="1"/>
          <p:nvPr/>
        </p:nvSpPr>
        <p:spPr>
          <a:xfrm>
            <a:off x="916977" y="505322"/>
            <a:ext cx="4016643" cy="400110"/>
          </a:xfrm>
          <a:prstGeom prst="rect">
            <a:avLst/>
          </a:prstGeom>
          <a:solidFill>
            <a:srgbClr val="4B302A"/>
          </a:solidFill>
        </p:spPr>
        <p:txBody>
          <a:bodyPr wrap="square" rtlCol="0">
            <a:spAutoFit/>
          </a:bodyPr>
          <a:lstStyle/>
          <a:p>
            <a:pPr algn="ctr"/>
            <a:r>
              <a:rPr lang="en-IN" sz="2000" b="1" dirty="0">
                <a:solidFill>
                  <a:schemeClr val="bg1"/>
                </a:solidFill>
              </a:rPr>
              <a:t>Process Identifiers</a:t>
            </a:r>
          </a:p>
        </p:txBody>
      </p:sp>
      <p:sp>
        <p:nvSpPr>
          <p:cNvPr id="56" name="TextBox 55"/>
          <p:cNvSpPr txBox="1"/>
          <p:nvPr/>
        </p:nvSpPr>
        <p:spPr>
          <a:xfrm>
            <a:off x="862731" y="1878939"/>
            <a:ext cx="4070889" cy="400110"/>
          </a:xfrm>
          <a:prstGeom prst="rect">
            <a:avLst/>
          </a:prstGeom>
          <a:solidFill>
            <a:srgbClr val="4B302A"/>
          </a:solidFill>
        </p:spPr>
        <p:txBody>
          <a:bodyPr wrap="square" rtlCol="0">
            <a:spAutoFit/>
          </a:bodyPr>
          <a:lstStyle/>
          <a:p>
            <a:pPr algn="ctr"/>
            <a:r>
              <a:rPr lang="en-IN" sz="2000" b="1" dirty="0">
                <a:solidFill>
                  <a:schemeClr val="bg1"/>
                </a:solidFill>
              </a:rPr>
              <a:t>Program Counter</a:t>
            </a:r>
          </a:p>
        </p:txBody>
      </p:sp>
      <p:sp>
        <p:nvSpPr>
          <p:cNvPr id="57" name="TextBox 56"/>
          <p:cNvSpPr txBox="1"/>
          <p:nvPr/>
        </p:nvSpPr>
        <p:spPr>
          <a:xfrm>
            <a:off x="857570" y="2495753"/>
            <a:ext cx="4070889" cy="400110"/>
          </a:xfrm>
          <a:prstGeom prst="rect">
            <a:avLst/>
          </a:prstGeom>
          <a:solidFill>
            <a:srgbClr val="4B302A"/>
          </a:solidFill>
        </p:spPr>
        <p:txBody>
          <a:bodyPr wrap="square" rtlCol="0">
            <a:spAutoFit/>
          </a:bodyPr>
          <a:lstStyle/>
          <a:p>
            <a:pPr algn="ctr"/>
            <a:r>
              <a:rPr lang="en-IN" sz="2000" b="1" dirty="0">
                <a:solidFill>
                  <a:schemeClr val="bg1"/>
                </a:solidFill>
              </a:rPr>
              <a:t>CPU Registers</a:t>
            </a:r>
          </a:p>
        </p:txBody>
      </p:sp>
      <p:sp>
        <p:nvSpPr>
          <p:cNvPr id="58" name="TextBox 57"/>
          <p:cNvSpPr txBox="1"/>
          <p:nvPr/>
        </p:nvSpPr>
        <p:spPr>
          <a:xfrm>
            <a:off x="901484" y="3144478"/>
            <a:ext cx="4070889" cy="400110"/>
          </a:xfrm>
          <a:prstGeom prst="rect">
            <a:avLst/>
          </a:prstGeom>
          <a:solidFill>
            <a:srgbClr val="4B302A"/>
          </a:solidFill>
        </p:spPr>
        <p:txBody>
          <a:bodyPr wrap="square" rtlCol="0">
            <a:spAutoFit/>
          </a:bodyPr>
          <a:lstStyle/>
          <a:p>
            <a:pPr algn="ctr"/>
            <a:r>
              <a:rPr lang="en-IN" sz="2000" b="1" dirty="0">
                <a:solidFill>
                  <a:schemeClr val="bg1"/>
                </a:solidFill>
              </a:rPr>
              <a:t>CPU Scheduling Information</a:t>
            </a:r>
          </a:p>
        </p:txBody>
      </p:sp>
      <p:sp>
        <p:nvSpPr>
          <p:cNvPr id="59" name="TextBox 58"/>
          <p:cNvSpPr txBox="1"/>
          <p:nvPr/>
        </p:nvSpPr>
        <p:spPr>
          <a:xfrm>
            <a:off x="916977" y="3828508"/>
            <a:ext cx="4016643" cy="400110"/>
          </a:xfrm>
          <a:prstGeom prst="rect">
            <a:avLst/>
          </a:prstGeom>
          <a:solidFill>
            <a:srgbClr val="4B302A"/>
          </a:solidFill>
        </p:spPr>
        <p:txBody>
          <a:bodyPr wrap="square" rtlCol="0">
            <a:spAutoFit/>
          </a:bodyPr>
          <a:lstStyle/>
          <a:p>
            <a:pPr algn="ctr"/>
            <a:r>
              <a:rPr lang="en-IN" sz="2000" b="1" dirty="0">
                <a:solidFill>
                  <a:schemeClr val="bg1"/>
                </a:solidFill>
              </a:rPr>
              <a:t>Memory Management Information</a:t>
            </a:r>
          </a:p>
        </p:txBody>
      </p:sp>
      <p:sp>
        <p:nvSpPr>
          <p:cNvPr id="60" name="TextBox 59"/>
          <p:cNvSpPr txBox="1"/>
          <p:nvPr/>
        </p:nvSpPr>
        <p:spPr>
          <a:xfrm>
            <a:off x="888569" y="4489065"/>
            <a:ext cx="4070889" cy="400110"/>
          </a:xfrm>
          <a:prstGeom prst="rect">
            <a:avLst/>
          </a:prstGeom>
          <a:solidFill>
            <a:srgbClr val="4B302A"/>
          </a:solidFill>
        </p:spPr>
        <p:txBody>
          <a:bodyPr wrap="square" rtlCol="0">
            <a:spAutoFit/>
          </a:bodyPr>
          <a:lstStyle/>
          <a:p>
            <a:pPr algn="ctr"/>
            <a:r>
              <a:rPr lang="en-IN" sz="2000" b="1" dirty="0">
                <a:solidFill>
                  <a:schemeClr val="bg1"/>
                </a:solidFill>
              </a:rPr>
              <a:t>Accounting Information</a:t>
            </a:r>
          </a:p>
        </p:txBody>
      </p:sp>
      <p:sp>
        <p:nvSpPr>
          <p:cNvPr id="61" name="TextBox 60"/>
          <p:cNvSpPr txBox="1"/>
          <p:nvPr/>
        </p:nvSpPr>
        <p:spPr>
          <a:xfrm>
            <a:off x="854995" y="5198513"/>
            <a:ext cx="4070889" cy="400110"/>
          </a:xfrm>
          <a:prstGeom prst="rect">
            <a:avLst/>
          </a:prstGeom>
          <a:solidFill>
            <a:srgbClr val="4B302A"/>
          </a:solidFill>
        </p:spPr>
        <p:txBody>
          <a:bodyPr wrap="square" rtlCol="0">
            <a:spAutoFit/>
          </a:bodyPr>
          <a:lstStyle/>
          <a:p>
            <a:pPr algn="ctr"/>
            <a:r>
              <a:rPr lang="en-IN" sz="2000" b="1" dirty="0">
                <a:solidFill>
                  <a:schemeClr val="bg1"/>
                </a:solidFill>
              </a:rPr>
              <a:t>I/O Status Information</a:t>
            </a:r>
          </a:p>
        </p:txBody>
      </p:sp>
      <p:sp>
        <p:nvSpPr>
          <p:cNvPr id="62" name="TextBox 61"/>
          <p:cNvSpPr txBox="1"/>
          <p:nvPr/>
        </p:nvSpPr>
        <p:spPr>
          <a:xfrm>
            <a:off x="857572" y="5881236"/>
            <a:ext cx="4070889" cy="400110"/>
          </a:xfrm>
          <a:prstGeom prst="rect">
            <a:avLst/>
          </a:prstGeom>
          <a:solidFill>
            <a:srgbClr val="4B302A"/>
          </a:solidFill>
        </p:spPr>
        <p:txBody>
          <a:bodyPr wrap="square" rtlCol="0">
            <a:spAutoFit/>
          </a:bodyPr>
          <a:lstStyle/>
          <a:p>
            <a:pPr algn="ctr"/>
            <a:r>
              <a:rPr lang="en-IN" sz="2000" b="1" dirty="0">
                <a:solidFill>
                  <a:schemeClr val="bg1"/>
                </a:solidFill>
              </a:rPr>
              <a:t>Pointer</a:t>
            </a:r>
          </a:p>
        </p:txBody>
      </p:sp>
      <p:sp>
        <p:nvSpPr>
          <p:cNvPr id="34" name="TextBox 33"/>
          <p:cNvSpPr txBox="1"/>
          <p:nvPr/>
        </p:nvSpPr>
        <p:spPr>
          <a:xfrm>
            <a:off x="6269061" y="873926"/>
            <a:ext cx="5814082" cy="3431709"/>
          </a:xfrm>
          <a:prstGeom prst="rect">
            <a:avLst/>
          </a:prstGeom>
          <a:noFill/>
        </p:spPr>
        <p:txBody>
          <a:bodyPr wrap="square" rtlCol="0">
            <a:spAutoFit/>
          </a:bodyPr>
          <a:lstStyle/>
          <a:p>
            <a:pPr marL="342900" indent="-342900" algn="just">
              <a:buFont typeface="Wingdings" panose="05000000000000000000" pitchFamily="2" charset="2"/>
              <a:buChar char="Ø"/>
            </a:pPr>
            <a:r>
              <a:rPr lang="en-IN" sz="2400" b="1" dirty="0">
                <a:solidFill>
                  <a:schemeClr val="bg1"/>
                </a:solidFill>
              </a:rPr>
              <a:t>Process Identifiers</a:t>
            </a:r>
          </a:p>
          <a:p>
            <a:pPr lvl="1" algn="just"/>
            <a:endParaRPr lang="en-IN" sz="2400" b="1" dirty="0">
              <a:solidFill>
                <a:schemeClr val="bg1"/>
              </a:solidFill>
            </a:endParaRPr>
          </a:p>
          <a:p>
            <a:pPr marL="819150" lvl="2" indent="-361950" algn="just">
              <a:buFont typeface="Wingdings" panose="05000000000000000000" pitchFamily="2" charset="2"/>
              <a:buChar char="ü"/>
            </a:pPr>
            <a:r>
              <a:rPr lang="en-US" sz="2200" b="1" dirty="0">
                <a:solidFill>
                  <a:schemeClr val="bg1"/>
                </a:solidFill>
              </a:rPr>
              <a:t>A unique Process </a:t>
            </a:r>
            <a:r>
              <a:rPr lang="en-US" sz="2200" b="1" dirty="0">
                <a:solidFill>
                  <a:srgbClr val="FFFF00"/>
                </a:solidFill>
              </a:rPr>
              <a:t>ID</a:t>
            </a:r>
            <a:r>
              <a:rPr lang="en-US" sz="2200" b="1" dirty="0">
                <a:solidFill>
                  <a:schemeClr val="bg1"/>
                </a:solidFill>
              </a:rPr>
              <a:t> (PID) on the PCB serves as the </a:t>
            </a:r>
            <a:r>
              <a:rPr lang="en-US" sz="2200" b="1" dirty="0">
                <a:solidFill>
                  <a:srgbClr val="FFFF00"/>
                </a:solidFill>
              </a:rPr>
              <a:t>process's</a:t>
            </a:r>
            <a:r>
              <a:rPr lang="en-US" sz="2200" b="1" dirty="0">
                <a:solidFill>
                  <a:schemeClr val="bg1"/>
                </a:solidFill>
              </a:rPr>
              <a:t> </a:t>
            </a:r>
            <a:r>
              <a:rPr lang="en-US" sz="2200" b="1" dirty="0">
                <a:solidFill>
                  <a:srgbClr val="FF0000"/>
                </a:solidFill>
              </a:rPr>
              <a:t>identifier</a:t>
            </a:r>
            <a:r>
              <a:rPr lang="en-US" sz="2200" b="1" dirty="0">
                <a:solidFill>
                  <a:schemeClr val="bg1"/>
                </a:solidFill>
              </a:rPr>
              <a:t> within the operating system. </a:t>
            </a:r>
          </a:p>
          <a:p>
            <a:pPr marL="0" lvl="1" algn="just"/>
            <a:endParaRPr lang="en-US" sz="1500" b="1" dirty="0">
              <a:solidFill>
                <a:schemeClr val="bg1"/>
              </a:solidFill>
            </a:endParaRPr>
          </a:p>
          <a:p>
            <a:pPr marL="819150" lvl="2" indent="-361950" algn="just">
              <a:buFont typeface="Wingdings" panose="05000000000000000000" pitchFamily="2" charset="2"/>
              <a:buChar char="ü"/>
            </a:pPr>
            <a:r>
              <a:rPr lang="en-US" sz="2200" b="1" dirty="0">
                <a:solidFill>
                  <a:schemeClr val="bg1"/>
                </a:solidFill>
              </a:rPr>
              <a:t>The operating system uses this ID to keep track of, manage, and differentiate among processes.</a:t>
            </a:r>
          </a:p>
          <a:p>
            <a:pPr lvl="1" algn="just"/>
            <a:endParaRPr lang="en-US" sz="2200" b="1" dirty="0">
              <a:solidFill>
                <a:schemeClr val="bg1"/>
              </a:solidFill>
            </a:endParaRPr>
          </a:p>
        </p:txBody>
      </p:sp>
      <p:sp>
        <p:nvSpPr>
          <p:cNvPr id="31" name="TextBox 30"/>
          <p:cNvSpPr txBox="1"/>
          <p:nvPr/>
        </p:nvSpPr>
        <p:spPr>
          <a:xfrm>
            <a:off x="857574" y="1141460"/>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State</a:t>
            </a:r>
          </a:p>
        </p:txBody>
      </p:sp>
      <p:sp>
        <p:nvSpPr>
          <p:cNvPr id="32" name="TextBox 31"/>
          <p:cNvSpPr txBox="1">
            <a:spLocks/>
          </p:cNvSpPr>
          <p:nvPr/>
        </p:nvSpPr>
        <p:spPr>
          <a:xfrm rot="16200000">
            <a:off x="2708512" y="-462342"/>
            <a:ext cx="456832" cy="2357874"/>
          </a:xfrm>
          <a:prstGeom prst="rect">
            <a:avLst/>
          </a:prstGeom>
          <a:noFill/>
          <a:ln w="76200">
            <a:solidFill>
              <a:schemeClr val="accent3"/>
            </a:solidFill>
          </a:ln>
        </p:spPr>
        <p:txBody>
          <a:bodyPr wrap="square" rtlCol="0">
            <a:spAutoFit/>
          </a:bodyPr>
          <a:lstStyle/>
          <a:p>
            <a:endParaRPr lang="en-IN" sz="2000" dirty="0"/>
          </a:p>
        </p:txBody>
      </p:sp>
    </p:spTree>
    <p:extLst>
      <p:ext uri="{BB962C8B-B14F-4D97-AF65-F5344CB8AC3E}">
        <p14:creationId xmlns:p14="http://schemas.microsoft.com/office/powerpoint/2010/main" val="117510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A14EA-8AC7-6FE4-97C2-4E96AEC577F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65D6FB3-200B-F4DA-A47A-4E1181991F6B}"/>
              </a:ext>
            </a:extLst>
          </p:cNvPr>
          <p:cNvSpPr/>
          <p:nvPr/>
        </p:nvSpPr>
        <p:spPr>
          <a:xfrm>
            <a:off x="6096000"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marL="285750" indent="-285750">
              <a:lnSpc>
                <a:spcPct val="120000"/>
              </a:lnSpc>
              <a:buFont typeface="Wingdings" panose="05000000000000000000" pitchFamily="2" charset="2"/>
              <a:buChar char="Ø"/>
            </a:pPr>
            <a:endParaRPr lang="en-US" dirty="0"/>
          </a:p>
          <a:p>
            <a:pPr>
              <a:lnSpc>
                <a:spcPct val="120000"/>
              </a:lnSpc>
            </a:pPr>
            <a:r>
              <a:rPr lang="en-US" sz="3200" b="1" dirty="0"/>
              <a:t> </a:t>
            </a:r>
          </a:p>
          <a:p>
            <a:pPr algn="l">
              <a:lnSpc>
                <a:spcPct val="120000"/>
              </a:lnSpc>
            </a:pPr>
            <a:endParaRPr lang="en-US" dirty="0"/>
          </a:p>
        </p:txBody>
      </p:sp>
      <p:sp>
        <p:nvSpPr>
          <p:cNvPr id="74" name="TextBox 73">
            <a:extLst>
              <a:ext uri="{FF2B5EF4-FFF2-40B4-BE49-F238E27FC236}">
                <a16:creationId xmlns:a16="http://schemas.microsoft.com/office/drawing/2014/main" id="{24634702-8779-7EE3-A0EB-C54627839247}"/>
              </a:ext>
            </a:extLst>
          </p:cNvPr>
          <p:cNvSpPr txBox="1"/>
          <p:nvPr/>
        </p:nvSpPr>
        <p:spPr>
          <a:xfrm>
            <a:off x="888569" y="3089917"/>
            <a:ext cx="792997" cy="400110"/>
          </a:xfrm>
          <a:prstGeom prst="rect">
            <a:avLst/>
          </a:prstGeom>
          <a:solidFill>
            <a:srgbClr val="4B302A"/>
          </a:solidFill>
          <a:ln w="38100">
            <a:solidFill>
              <a:schemeClr val="bg2"/>
            </a:solidFill>
          </a:ln>
        </p:spPr>
        <p:txBody>
          <a:bodyPr wrap="square" rtlCol="0">
            <a:spAutoFit/>
          </a:bodyPr>
          <a:lstStyle/>
          <a:p>
            <a:pPr algn="ctr"/>
            <a:endParaRPr lang="en-IN" sz="2000" dirty="0">
              <a:solidFill>
                <a:schemeClr val="bg1"/>
              </a:solidFill>
            </a:endParaRPr>
          </a:p>
        </p:txBody>
      </p:sp>
      <p:sp>
        <p:nvSpPr>
          <p:cNvPr id="2" name="TextBox 1">
            <a:extLst>
              <a:ext uri="{FF2B5EF4-FFF2-40B4-BE49-F238E27FC236}">
                <a16:creationId xmlns:a16="http://schemas.microsoft.com/office/drawing/2014/main" id="{DEEDB3CB-CE6D-3975-E54E-5EC9C30D22A0}"/>
              </a:ext>
            </a:extLst>
          </p:cNvPr>
          <p:cNvSpPr txBox="1"/>
          <p:nvPr/>
        </p:nvSpPr>
        <p:spPr>
          <a:xfrm>
            <a:off x="6096000" y="154982"/>
            <a:ext cx="6095999" cy="461665"/>
          </a:xfrm>
          <a:prstGeom prst="rect">
            <a:avLst/>
          </a:prstGeom>
          <a:noFill/>
        </p:spPr>
        <p:txBody>
          <a:bodyPr wrap="square" rtlCol="0">
            <a:spAutoFit/>
          </a:bodyPr>
          <a:lstStyle/>
          <a:p>
            <a:r>
              <a:rPr lang="en-IN" sz="2400" b="1" dirty="0">
                <a:solidFill>
                  <a:schemeClr val="bg1"/>
                </a:solidFill>
              </a:rPr>
              <a:t>Fields of Process Control Block(PCB)</a:t>
            </a:r>
            <a:endParaRPr lang="en-IN" sz="1100" dirty="0">
              <a:solidFill>
                <a:schemeClr val="bg1"/>
              </a:solidFill>
            </a:endParaRPr>
          </a:p>
        </p:txBody>
      </p:sp>
      <p:sp>
        <p:nvSpPr>
          <p:cNvPr id="6" name="Rounded Rectangle 5">
            <a:extLst>
              <a:ext uri="{FF2B5EF4-FFF2-40B4-BE49-F238E27FC236}">
                <a16:creationId xmlns:a16="http://schemas.microsoft.com/office/drawing/2014/main" id="{A1B3AF98-6034-BC4B-2B10-FC5FDBBCBB4D}"/>
              </a:ext>
            </a:extLst>
          </p:cNvPr>
          <p:cNvSpPr/>
          <p:nvPr/>
        </p:nvSpPr>
        <p:spPr>
          <a:xfrm>
            <a:off x="862737" y="110038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6" name="Rounded Rectangle 35">
            <a:extLst>
              <a:ext uri="{FF2B5EF4-FFF2-40B4-BE49-F238E27FC236}">
                <a16:creationId xmlns:a16="http://schemas.microsoft.com/office/drawing/2014/main" id="{76AF667C-CCE6-3C77-74F9-FA249420A1A7}"/>
              </a:ext>
            </a:extLst>
          </p:cNvPr>
          <p:cNvSpPr/>
          <p:nvPr/>
        </p:nvSpPr>
        <p:spPr>
          <a:xfrm>
            <a:off x="862736" y="1797805"/>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7" name="Rounded Rectangle 36">
            <a:extLst>
              <a:ext uri="{FF2B5EF4-FFF2-40B4-BE49-F238E27FC236}">
                <a16:creationId xmlns:a16="http://schemas.microsoft.com/office/drawing/2014/main" id="{530671F3-6F1F-89ED-D340-864CA95D46AB}"/>
              </a:ext>
            </a:extLst>
          </p:cNvPr>
          <p:cNvSpPr/>
          <p:nvPr/>
        </p:nvSpPr>
        <p:spPr>
          <a:xfrm>
            <a:off x="862736" y="244386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8" name="Rounded Rectangle 37">
            <a:extLst>
              <a:ext uri="{FF2B5EF4-FFF2-40B4-BE49-F238E27FC236}">
                <a16:creationId xmlns:a16="http://schemas.microsoft.com/office/drawing/2014/main" id="{DAF30137-905E-105B-C587-3C404FC0C88E}"/>
              </a:ext>
            </a:extLst>
          </p:cNvPr>
          <p:cNvSpPr/>
          <p:nvPr/>
        </p:nvSpPr>
        <p:spPr>
          <a:xfrm>
            <a:off x="888568" y="3089917"/>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9" name="Rounded Rectangle 38">
            <a:extLst>
              <a:ext uri="{FF2B5EF4-FFF2-40B4-BE49-F238E27FC236}">
                <a16:creationId xmlns:a16="http://schemas.microsoft.com/office/drawing/2014/main" id="{78758BB5-123C-691F-3A4A-2BC841D96E74}"/>
              </a:ext>
            </a:extLst>
          </p:cNvPr>
          <p:cNvSpPr/>
          <p:nvPr/>
        </p:nvSpPr>
        <p:spPr>
          <a:xfrm>
            <a:off x="901485" y="377284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0" name="Rounded Rectangle 39">
            <a:extLst>
              <a:ext uri="{FF2B5EF4-FFF2-40B4-BE49-F238E27FC236}">
                <a16:creationId xmlns:a16="http://schemas.microsoft.com/office/drawing/2014/main" id="{453C32DB-1BA3-93C9-506A-73920C4DA679}"/>
              </a:ext>
            </a:extLst>
          </p:cNvPr>
          <p:cNvSpPr/>
          <p:nvPr/>
        </p:nvSpPr>
        <p:spPr>
          <a:xfrm>
            <a:off x="888568" y="4451092"/>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1" name="Rounded Rectangle 40">
            <a:extLst>
              <a:ext uri="{FF2B5EF4-FFF2-40B4-BE49-F238E27FC236}">
                <a16:creationId xmlns:a16="http://schemas.microsoft.com/office/drawing/2014/main" id="{6C042381-6BCD-B6CE-2925-559D2CA54DF4}"/>
              </a:ext>
            </a:extLst>
          </p:cNvPr>
          <p:cNvSpPr/>
          <p:nvPr/>
        </p:nvSpPr>
        <p:spPr>
          <a:xfrm>
            <a:off x="862734" y="5127348"/>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2" name="Rounded Rectangle 41">
            <a:extLst>
              <a:ext uri="{FF2B5EF4-FFF2-40B4-BE49-F238E27FC236}">
                <a16:creationId xmlns:a16="http://schemas.microsoft.com/office/drawing/2014/main" id="{FA0F33BD-447F-D4AF-A67A-B60CD8F1D7E4}"/>
              </a:ext>
            </a:extLst>
          </p:cNvPr>
          <p:cNvSpPr/>
          <p:nvPr/>
        </p:nvSpPr>
        <p:spPr>
          <a:xfrm>
            <a:off x="862733" y="5827051"/>
            <a:ext cx="4070889" cy="489099"/>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4" name="Rounded Rectangle 43">
            <a:extLst>
              <a:ext uri="{FF2B5EF4-FFF2-40B4-BE49-F238E27FC236}">
                <a16:creationId xmlns:a16="http://schemas.microsoft.com/office/drawing/2014/main" id="{74FF245B-C19A-A549-BCB3-72DD1898F60C}"/>
              </a:ext>
            </a:extLst>
          </p:cNvPr>
          <p:cNvSpPr/>
          <p:nvPr/>
        </p:nvSpPr>
        <p:spPr>
          <a:xfrm>
            <a:off x="862735" y="44483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7" name="TextBox 6">
            <a:extLst>
              <a:ext uri="{FF2B5EF4-FFF2-40B4-BE49-F238E27FC236}">
                <a16:creationId xmlns:a16="http://schemas.microsoft.com/office/drawing/2014/main" id="{A5E4D7C7-6A44-CECB-9497-CD657F6C5BC7}"/>
              </a:ext>
            </a:extLst>
          </p:cNvPr>
          <p:cNvSpPr txBox="1"/>
          <p:nvPr/>
        </p:nvSpPr>
        <p:spPr>
          <a:xfrm>
            <a:off x="916977" y="505322"/>
            <a:ext cx="4016643" cy="400110"/>
          </a:xfrm>
          <a:prstGeom prst="rect">
            <a:avLst/>
          </a:prstGeom>
          <a:solidFill>
            <a:srgbClr val="4B302A"/>
          </a:solidFill>
        </p:spPr>
        <p:txBody>
          <a:bodyPr wrap="square" rtlCol="0">
            <a:spAutoFit/>
          </a:bodyPr>
          <a:lstStyle/>
          <a:p>
            <a:pPr algn="ctr"/>
            <a:r>
              <a:rPr lang="en-IN" sz="2000" b="1" dirty="0">
                <a:solidFill>
                  <a:schemeClr val="bg1"/>
                </a:solidFill>
              </a:rPr>
              <a:t>Process Identifiers</a:t>
            </a:r>
          </a:p>
        </p:txBody>
      </p:sp>
      <p:sp>
        <p:nvSpPr>
          <p:cNvPr id="56" name="TextBox 55">
            <a:extLst>
              <a:ext uri="{FF2B5EF4-FFF2-40B4-BE49-F238E27FC236}">
                <a16:creationId xmlns:a16="http://schemas.microsoft.com/office/drawing/2014/main" id="{B626C0AC-E7CC-C37F-8BE3-9CDECDDC70DD}"/>
              </a:ext>
            </a:extLst>
          </p:cNvPr>
          <p:cNvSpPr txBox="1"/>
          <p:nvPr/>
        </p:nvSpPr>
        <p:spPr>
          <a:xfrm>
            <a:off x="862731" y="1878939"/>
            <a:ext cx="4070889" cy="400110"/>
          </a:xfrm>
          <a:prstGeom prst="rect">
            <a:avLst/>
          </a:prstGeom>
          <a:solidFill>
            <a:srgbClr val="4B302A"/>
          </a:solidFill>
        </p:spPr>
        <p:txBody>
          <a:bodyPr wrap="square" rtlCol="0">
            <a:spAutoFit/>
          </a:bodyPr>
          <a:lstStyle/>
          <a:p>
            <a:pPr algn="ctr"/>
            <a:r>
              <a:rPr lang="en-IN" sz="2000" b="1" dirty="0">
                <a:solidFill>
                  <a:schemeClr val="bg1"/>
                </a:solidFill>
              </a:rPr>
              <a:t>Program Counter</a:t>
            </a:r>
          </a:p>
        </p:txBody>
      </p:sp>
      <p:sp>
        <p:nvSpPr>
          <p:cNvPr id="57" name="TextBox 56">
            <a:extLst>
              <a:ext uri="{FF2B5EF4-FFF2-40B4-BE49-F238E27FC236}">
                <a16:creationId xmlns:a16="http://schemas.microsoft.com/office/drawing/2014/main" id="{F9AD5B6E-DAD2-3505-D0B1-7A8488281144}"/>
              </a:ext>
            </a:extLst>
          </p:cNvPr>
          <p:cNvSpPr txBox="1"/>
          <p:nvPr/>
        </p:nvSpPr>
        <p:spPr>
          <a:xfrm>
            <a:off x="857570" y="2495753"/>
            <a:ext cx="4070889" cy="400110"/>
          </a:xfrm>
          <a:prstGeom prst="rect">
            <a:avLst/>
          </a:prstGeom>
          <a:solidFill>
            <a:srgbClr val="4B302A"/>
          </a:solidFill>
        </p:spPr>
        <p:txBody>
          <a:bodyPr wrap="square" rtlCol="0">
            <a:spAutoFit/>
          </a:bodyPr>
          <a:lstStyle/>
          <a:p>
            <a:pPr algn="ctr"/>
            <a:r>
              <a:rPr lang="en-IN" sz="2000" b="1" dirty="0">
                <a:solidFill>
                  <a:schemeClr val="bg1"/>
                </a:solidFill>
              </a:rPr>
              <a:t>CPU Registers</a:t>
            </a:r>
          </a:p>
        </p:txBody>
      </p:sp>
      <p:sp>
        <p:nvSpPr>
          <p:cNvPr id="58" name="TextBox 57">
            <a:extLst>
              <a:ext uri="{FF2B5EF4-FFF2-40B4-BE49-F238E27FC236}">
                <a16:creationId xmlns:a16="http://schemas.microsoft.com/office/drawing/2014/main" id="{FCC5C1FD-0CBB-CDBE-B150-E405C3EC9DA8}"/>
              </a:ext>
            </a:extLst>
          </p:cNvPr>
          <p:cNvSpPr txBox="1"/>
          <p:nvPr/>
        </p:nvSpPr>
        <p:spPr>
          <a:xfrm>
            <a:off x="901484" y="3144478"/>
            <a:ext cx="4070889" cy="400110"/>
          </a:xfrm>
          <a:prstGeom prst="rect">
            <a:avLst/>
          </a:prstGeom>
          <a:solidFill>
            <a:srgbClr val="4B302A"/>
          </a:solidFill>
        </p:spPr>
        <p:txBody>
          <a:bodyPr wrap="square" rtlCol="0">
            <a:spAutoFit/>
          </a:bodyPr>
          <a:lstStyle/>
          <a:p>
            <a:pPr algn="ctr"/>
            <a:r>
              <a:rPr lang="en-IN" sz="2000" b="1" dirty="0">
                <a:solidFill>
                  <a:schemeClr val="bg1"/>
                </a:solidFill>
              </a:rPr>
              <a:t>CPU Scheduling Information</a:t>
            </a:r>
          </a:p>
        </p:txBody>
      </p:sp>
      <p:sp>
        <p:nvSpPr>
          <p:cNvPr id="59" name="TextBox 58">
            <a:extLst>
              <a:ext uri="{FF2B5EF4-FFF2-40B4-BE49-F238E27FC236}">
                <a16:creationId xmlns:a16="http://schemas.microsoft.com/office/drawing/2014/main" id="{63249219-3798-D972-8EFC-F1B69036543F}"/>
              </a:ext>
            </a:extLst>
          </p:cNvPr>
          <p:cNvSpPr txBox="1"/>
          <p:nvPr/>
        </p:nvSpPr>
        <p:spPr>
          <a:xfrm>
            <a:off x="916977" y="3828508"/>
            <a:ext cx="4016643" cy="400110"/>
          </a:xfrm>
          <a:prstGeom prst="rect">
            <a:avLst/>
          </a:prstGeom>
          <a:solidFill>
            <a:srgbClr val="4B302A"/>
          </a:solidFill>
        </p:spPr>
        <p:txBody>
          <a:bodyPr wrap="square" rtlCol="0">
            <a:spAutoFit/>
          </a:bodyPr>
          <a:lstStyle/>
          <a:p>
            <a:pPr algn="ctr"/>
            <a:r>
              <a:rPr lang="en-IN" sz="2000" b="1" dirty="0">
                <a:solidFill>
                  <a:schemeClr val="bg1"/>
                </a:solidFill>
              </a:rPr>
              <a:t>Memory Management Information</a:t>
            </a:r>
          </a:p>
        </p:txBody>
      </p:sp>
      <p:sp>
        <p:nvSpPr>
          <p:cNvPr id="60" name="TextBox 59">
            <a:extLst>
              <a:ext uri="{FF2B5EF4-FFF2-40B4-BE49-F238E27FC236}">
                <a16:creationId xmlns:a16="http://schemas.microsoft.com/office/drawing/2014/main" id="{A30A932A-97BA-67EC-49EC-54B090426677}"/>
              </a:ext>
            </a:extLst>
          </p:cNvPr>
          <p:cNvSpPr txBox="1"/>
          <p:nvPr/>
        </p:nvSpPr>
        <p:spPr>
          <a:xfrm>
            <a:off x="888569" y="4489065"/>
            <a:ext cx="4070889" cy="400110"/>
          </a:xfrm>
          <a:prstGeom prst="rect">
            <a:avLst/>
          </a:prstGeom>
          <a:solidFill>
            <a:srgbClr val="4B302A"/>
          </a:solidFill>
        </p:spPr>
        <p:txBody>
          <a:bodyPr wrap="square" rtlCol="0">
            <a:spAutoFit/>
          </a:bodyPr>
          <a:lstStyle/>
          <a:p>
            <a:pPr algn="ctr"/>
            <a:r>
              <a:rPr lang="en-IN" sz="2000" b="1" dirty="0">
                <a:solidFill>
                  <a:schemeClr val="bg1"/>
                </a:solidFill>
              </a:rPr>
              <a:t>Accounting Information</a:t>
            </a:r>
          </a:p>
        </p:txBody>
      </p:sp>
      <p:sp>
        <p:nvSpPr>
          <p:cNvPr id="61" name="TextBox 60">
            <a:extLst>
              <a:ext uri="{FF2B5EF4-FFF2-40B4-BE49-F238E27FC236}">
                <a16:creationId xmlns:a16="http://schemas.microsoft.com/office/drawing/2014/main" id="{9C3BFEB2-3650-47C3-7343-8D81E77010E1}"/>
              </a:ext>
            </a:extLst>
          </p:cNvPr>
          <p:cNvSpPr txBox="1"/>
          <p:nvPr/>
        </p:nvSpPr>
        <p:spPr>
          <a:xfrm>
            <a:off x="854995" y="5198513"/>
            <a:ext cx="4070889" cy="400110"/>
          </a:xfrm>
          <a:prstGeom prst="rect">
            <a:avLst/>
          </a:prstGeom>
          <a:solidFill>
            <a:srgbClr val="4B302A"/>
          </a:solidFill>
        </p:spPr>
        <p:txBody>
          <a:bodyPr wrap="square" rtlCol="0">
            <a:spAutoFit/>
          </a:bodyPr>
          <a:lstStyle/>
          <a:p>
            <a:pPr algn="ctr"/>
            <a:r>
              <a:rPr lang="en-IN" sz="2000" b="1" dirty="0">
                <a:solidFill>
                  <a:schemeClr val="bg1"/>
                </a:solidFill>
              </a:rPr>
              <a:t>I/O Status Information</a:t>
            </a:r>
          </a:p>
        </p:txBody>
      </p:sp>
      <p:sp>
        <p:nvSpPr>
          <p:cNvPr id="62" name="TextBox 61">
            <a:extLst>
              <a:ext uri="{FF2B5EF4-FFF2-40B4-BE49-F238E27FC236}">
                <a16:creationId xmlns:a16="http://schemas.microsoft.com/office/drawing/2014/main" id="{EAF5642E-2FEB-AC4F-C8B7-83CED19A2B30}"/>
              </a:ext>
            </a:extLst>
          </p:cNvPr>
          <p:cNvSpPr txBox="1"/>
          <p:nvPr/>
        </p:nvSpPr>
        <p:spPr>
          <a:xfrm>
            <a:off x="857572" y="5881236"/>
            <a:ext cx="4070889" cy="400110"/>
          </a:xfrm>
          <a:prstGeom prst="rect">
            <a:avLst/>
          </a:prstGeom>
          <a:solidFill>
            <a:srgbClr val="4B302A"/>
          </a:solidFill>
        </p:spPr>
        <p:txBody>
          <a:bodyPr wrap="square" rtlCol="0">
            <a:spAutoFit/>
          </a:bodyPr>
          <a:lstStyle/>
          <a:p>
            <a:pPr algn="ctr"/>
            <a:r>
              <a:rPr lang="en-IN" sz="2000" b="1" dirty="0">
                <a:solidFill>
                  <a:schemeClr val="bg1"/>
                </a:solidFill>
              </a:rPr>
              <a:t>Pointer</a:t>
            </a:r>
          </a:p>
        </p:txBody>
      </p:sp>
      <p:sp>
        <p:nvSpPr>
          <p:cNvPr id="34" name="TextBox 33">
            <a:extLst>
              <a:ext uri="{FF2B5EF4-FFF2-40B4-BE49-F238E27FC236}">
                <a16:creationId xmlns:a16="http://schemas.microsoft.com/office/drawing/2014/main" id="{3ABBE720-8A64-CFF1-5B84-1E4611D962B0}"/>
              </a:ext>
            </a:extLst>
          </p:cNvPr>
          <p:cNvSpPr txBox="1"/>
          <p:nvPr/>
        </p:nvSpPr>
        <p:spPr>
          <a:xfrm>
            <a:off x="6269061" y="823686"/>
            <a:ext cx="5814082" cy="2215991"/>
          </a:xfrm>
          <a:prstGeom prst="rect">
            <a:avLst/>
          </a:prstGeom>
          <a:noFill/>
        </p:spPr>
        <p:txBody>
          <a:bodyPr wrap="square" rtlCol="0">
            <a:spAutoFit/>
          </a:bodyPr>
          <a:lstStyle/>
          <a:p>
            <a:pPr marL="342900" indent="-342900" algn="just">
              <a:buFont typeface="Wingdings" panose="05000000000000000000" pitchFamily="2" charset="2"/>
              <a:buChar char="Ø"/>
            </a:pPr>
            <a:r>
              <a:rPr lang="en-IN" sz="2400" b="1" dirty="0">
                <a:solidFill>
                  <a:schemeClr val="bg1"/>
                </a:solidFill>
              </a:rPr>
              <a:t>Process State</a:t>
            </a:r>
          </a:p>
          <a:p>
            <a:pPr lvl="1" algn="just"/>
            <a:endParaRPr lang="en-IN" sz="2400" b="1" dirty="0">
              <a:solidFill>
                <a:schemeClr val="bg1"/>
              </a:solidFill>
            </a:endParaRPr>
          </a:p>
          <a:p>
            <a:pPr marL="811213" lvl="2" indent="-354013" algn="just">
              <a:buFont typeface="Wingdings" panose="05000000000000000000" pitchFamily="2" charset="2"/>
              <a:buChar char="ü"/>
            </a:pPr>
            <a:r>
              <a:rPr lang="en-IN" sz="2200" b="1" dirty="0">
                <a:solidFill>
                  <a:schemeClr val="bg1"/>
                </a:solidFill>
              </a:rPr>
              <a:t>The current state of the process i.e., whether it is </a:t>
            </a:r>
            <a:r>
              <a:rPr lang="en-IN" sz="2200" b="1" dirty="0">
                <a:solidFill>
                  <a:srgbClr val="FFFF00"/>
                </a:solidFill>
              </a:rPr>
              <a:t>Ready</a:t>
            </a:r>
            <a:r>
              <a:rPr lang="en-IN" sz="2200" b="1" dirty="0">
                <a:solidFill>
                  <a:schemeClr val="bg1"/>
                </a:solidFill>
              </a:rPr>
              <a:t>, </a:t>
            </a:r>
            <a:r>
              <a:rPr lang="en-IN" sz="2200" b="1" dirty="0">
                <a:solidFill>
                  <a:srgbClr val="00B050"/>
                </a:solidFill>
              </a:rPr>
              <a:t>Running</a:t>
            </a:r>
            <a:r>
              <a:rPr lang="en-IN" sz="2200" b="1" dirty="0">
                <a:solidFill>
                  <a:schemeClr val="bg1"/>
                </a:solidFill>
              </a:rPr>
              <a:t>, </a:t>
            </a:r>
            <a:r>
              <a:rPr lang="en-IN" sz="2200" b="1" dirty="0">
                <a:solidFill>
                  <a:srgbClr val="FF0000"/>
                </a:solidFill>
              </a:rPr>
              <a:t>Waiting</a:t>
            </a:r>
            <a:r>
              <a:rPr lang="en-IN" sz="2200" b="1" dirty="0">
                <a:solidFill>
                  <a:schemeClr val="bg1"/>
                </a:solidFill>
              </a:rPr>
              <a:t>, or whatever.     </a:t>
            </a:r>
          </a:p>
          <a:p>
            <a:pPr marL="342900" indent="-342900" algn="just">
              <a:buFont typeface="Wingdings" panose="05000000000000000000" pitchFamily="2" charset="2"/>
              <a:buChar char="Ø"/>
            </a:pPr>
            <a:endParaRPr lang="en-IN" sz="2400" dirty="0">
              <a:solidFill>
                <a:schemeClr val="bg1"/>
              </a:solidFill>
            </a:endParaRPr>
          </a:p>
        </p:txBody>
      </p:sp>
      <p:sp>
        <p:nvSpPr>
          <p:cNvPr id="4" name="Oval 3">
            <a:extLst>
              <a:ext uri="{FF2B5EF4-FFF2-40B4-BE49-F238E27FC236}">
                <a16:creationId xmlns:a16="http://schemas.microsoft.com/office/drawing/2014/main" id="{66488FE1-3EA6-074C-D477-5FAD3716E400}"/>
              </a:ext>
            </a:extLst>
          </p:cNvPr>
          <p:cNvSpPr/>
          <p:nvPr/>
        </p:nvSpPr>
        <p:spPr>
          <a:xfrm>
            <a:off x="6726259" y="4857118"/>
            <a:ext cx="1642821" cy="1214482"/>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41B69B23-8EA1-C46C-9464-CF7FF17E0C46}"/>
              </a:ext>
            </a:extLst>
          </p:cNvPr>
          <p:cNvSpPr/>
          <p:nvPr/>
        </p:nvSpPr>
        <p:spPr>
          <a:xfrm>
            <a:off x="8322588" y="2737292"/>
            <a:ext cx="1642821" cy="121448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93A248F1-1DF8-1922-6986-236216DE28B8}"/>
              </a:ext>
            </a:extLst>
          </p:cNvPr>
          <p:cNvSpPr/>
          <p:nvPr/>
        </p:nvSpPr>
        <p:spPr>
          <a:xfrm>
            <a:off x="10089396" y="4889175"/>
            <a:ext cx="1642821" cy="1214482"/>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9346E412-A8FA-7F9F-19A3-7AC514B0B953}"/>
              </a:ext>
            </a:extLst>
          </p:cNvPr>
          <p:cNvSpPr txBox="1"/>
          <p:nvPr/>
        </p:nvSpPr>
        <p:spPr>
          <a:xfrm>
            <a:off x="8369080" y="3144478"/>
            <a:ext cx="1596329" cy="400110"/>
          </a:xfrm>
          <a:prstGeom prst="rect">
            <a:avLst/>
          </a:prstGeom>
          <a:noFill/>
        </p:spPr>
        <p:txBody>
          <a:bodyPr wrap="square" rtlCol="0">
            <a:spAutoFit/>
          </a:bodyPr>
          <a:lstStyle/>
          <a:p>
            <a:pPr algn="ctr"/>
            <a:r>
              <a:rPr lang="en-IN" sz="2000" b="1" dirty="0"/>
              <a:t>Waiting</a:t>
            </a:r>
          </a:p>
        </p:txBody>
      </p:sp>
      <p:sp>
        <p:nvSpPr>
          <p:cNvPr id="45" name="TextBox 44">
            <a:extLst>
              <a:ext uri="{FF2B5EF4-FFF2-40B4-BE49-F238E27FC236}">
                <a16:creationId xmlns:a16="http://schemas.microsoft.com/office/drawing/2014/main" id="{F1883343-1D6E-BD20-E77B-1815093E4A38}"/>
              </a:ext>
            </a:extLst>
          </p:cNvPr>
          <p:cNvSpPr txBox="1"/>
          <p:nvPr/>
        </p:nvSpPr>
        <p:spPr>
          <a:xfrm>
            <a:off x="6757253" y="5267767"/>
            <a:ext cx="1596329" cy="400110"/>
          </a:xfrm>
          <a:prstGeom prst="rect">
            <a:avLst/>
          </a:prstGeom>
          <a:noFill/>
        </p:spPr>
        <p:txBody>
          <a:bodyPr wrap="square" rtlCol="0">
            <a:spAutoFit/>
          </a:bodyPr>
          <a:lstStyle/>
          <a:p>
            <a:pPr algn="ctr"/>
            <a:r>
              <a:rPr lang="en-IN" sz="2000" b="1" dirty="0"/>
              <a:t>Ready</a:t>
            </a:r>
          </a:p>
        </p:txBody>
      </p:sp>
      <p:sp>
        <p:nvSpPr>
          <p:cNvPr id="47" name="TextBox 46">
            <a:extLst>
              <a:ext uri="{FF2B5EF4-FFF2-40B4-BE49-F238E27FC236}">
                <a16:creationId xmlns:a16="http://schemas.microsoft.com/office/drawing/2014/main" id="{C2B1B729-88F4-3AEC-3D52-7E29C48A7DA1}"/>
              </a:ext>
            </a:extLst>
          </p:cNvPr>
          <p:cNvSpPr txBox="1"/>
          <p:nvPr/>
        </p:nvSpPr>
        <p:spPr>
          <a:xfrm>
            <a:off x="10112641" y="5264304"/>
            <a:ext cx="1596329" cy="400110"/>
          </a:xfrm>
          <a:prstGeom prst="rect">
            <a:avLst/>
          </a:prstGeom>
          <a:noFill/>
        </p:spPr>
        <p:txBody>
          <a:bodyPr wrap="square" rtlCol="0">
            <a:spAutoFit/>
          </a:bodyPr>
          <a:lstStyle/>
          <a:p>
            <a:pPr algn="ctr"/>
            <a:r>
              <a:rPr lang="en-IN" sz="2000" b="1" dirty="0"/>
              <a:t>Running</a:t>
            </a:r>
          </a:p>
        </p:txBody>
      </p:sp>
      <p:sp>
        <p:nvSpPr>
          <p:cNvPr id="31" name="TextBox 30">
            <a:extLst>
              <a:ext uri="{FF2B5EF4-FFF2-40B4-BE49-F238E27FC236}">
                <a16:creationId xmlns:a16="http://schemas.microsoft.com/office/drawing/2014/main" id="{9D4D0ECA-56E8-FF9E-B13C-3A2B7B3F66F0}"/>
              </a:ext>
            </a:extLst>
          </p:cNvPr>
          <p:cNvSpPr txBox="1"/>
          <p:nvPr/>
        </p:nvSpPr>
        <p:spPr>
          <a:xfrm>
            <a:off x="857574" y="1141460"/>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State</a:t>
            </a:r>
          </a:p>
        </p:txBody>
      </p:sp>
      <p:sp>
        <p:nvSpPr>
          <p:cNvPr id="32" name="TextBox 31">
            <a:extLst>
              <a:ext uri="{FF2B5EF4-FFF2-40B4-BE49-F238E27FC236}">
                <a16:creationId xmlns:a16="http://schemas.microsoft.com/office/drawing/2014/main" id="{0A46B899-2A9B-A194-70B8-A4C95A300CC8}"/>
              </a:ext>
            </a:extLst>
          </p:cNvPr>
          <p:cNvSpPr txBox="1"/>
          <p:nvPr/>
        </p:nvSpPr>
        <p:spPr>
          <a:xfrm rot="16200000">
            <a:off x="2642683" y="471038"/>
            <a:ext cx="495513" cy="1730326"/>
          </a:xfrm>
          <a:prstGeom prst="rect">
            <a:avLst/>
          </a:prstGeom>
          <a:noFill/>
          <a:ln w="76200">
            <a:solidFill>
              <a:schemeClr val="accent3"/>
            </a:solidFill>
          </a:ln>
        </p:spPr>
        <p:txBody>
          <a:bodyPr wrap="square" rtlCol="0">
            <a:spAutoFit/>
          </a:bodyPr>
          <a:lstStyle/>
          <a:p>
            <a:endParaRPr lang="en-IN" sz="2000" dirty="0"/>
          </a:p>
        </p:txBody>
      </p:sp>
    </p:spTree>
    <p:extLst>
      <p:ext uri="{BB962C8B-B14F-4D97-AF65-F5344CB8AC3E}">
        <p14:creationId xmlns:p14="http://schemas.microsoft.com/office/powerpoint/2010/main" val="510367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marL="285750" indent="-285750">
              <a:lnSpc>
                <a:spcPct val="120000"/>
              </a:lnSpc>
              <a:buFont typeface="Wingdings" panose="05000000000000000000" pitchFamily="2" charset="2"/>
              <a:buChar char="Ø"/>
            </a:pPr>
            <a:endParaRPr lang="en-US" sz="1600" dirty="0"/>
          </a:p>
          <a:p>
            <a:pPr>
              <a:lnSpc>
                <a:spcPct val="120000"/>
              </a:lnSpc>
            </a:pPr>
            <a:r>
              <a:rPr lang="en-US" sz="2800" b="1" dirty="0"/>
              <a:t> </a:t>
            </a:r>
          </a:p>
          <a:p>
            <a:pPr algn="l">
              <a:lnSpc>
                <a:spcPct val="120000"/>
              </a:lnSpc>
            </a:pPr>
            <a:endParaRPr lang="en-US" sz="1600" dirty="0"/>
          </a:p>
        </p:txBody>
      </p:sp>
      <p:sp>
        <p:nvSpPr>
          <p:cNvPr id="74" name="TextBox 73"/>
          <p:cNvSpPr txBox="1"/>
          <p:nvPr/>
        </p:nvSpPr>
        <p:spPr>
          <a:xfrm>
            <a:off x="888569" y="3089917"/>
            <a:ext cx="792997" cy="400110"/>
          </a:xfrm>
          <a:prstGeom prst="rect">
            <a:avLst/>
          </a:prstGeom>
          <a:solidFill>
            <a:srgbClr val="4B302A"/>
          </a:solidFill>
          <a:ln w="38100">
            <a:solidFill>
              <a:schemeClr val="bg2"/>
            </a:solidFill>
          </a:ln>
        </p:spPr>
        <p:txBody>
          <a:bodyPr wrap="square" rtlCol="0">
            <a:spAutoFit/>
          </a:bodyPr>
          <a:lstStyle/>
          <a:p>
            <a:pPr algn="ctr"/>
            <a:endParaRPr lang="en-IN" sz="2000" dirty="0">
              <a:solidFill>
                <a:schemeClr val="bg1"/>
              </a:solidFill>
            </a:endParaRPr>
          </a:p>
        </p:txBody>
      </p:sp>
      <p:sp>
        <p:nvSpPr>
          <p:cNvPr id="2" name="TextBox 1"/>
          <p:cNvSpPr txBox="1"/>
          <p:nvPr/>
        </p:nvSpPr>
        <p:spPr>
          <a:xfrm>
            <a:off x="6096000" y="154982"/>
            <a:ext cx="6095999" cy="461665"/>
          </a:xfrm>
          <a:prstGeom prst="rect">
            <a:avLst/>
          </a:prstGeom>
          <a:noFill/>
        </p:spPr>
        <p:txBody>
          <a:bodyPr wrap="square" rtlCol="0">
            <a:spAutoFit/>
          </a:bodyPr>
          <a:lstStyle/>
          <a:p>
            <a:r>
              <a:rPr lang="en-IN" sz="2400" b="1" dirty="0">
                <a:solidFill>
                  <a:schemeClr val="bg1"/>
                </a:solidFill>
              </a:rPr>
              <a:t>Fields of Process Control Block(PCB)</a:t>
            </a:r>
            <a:endParaRPr lang="en-IN" sz="1100" dirty="0">
              <a:solidFill>
                <a:schemeClr val="bg1"/>
              </a:solidFill>
            </a:endParaRPr>
          </a:p>
        </p:txBody>
      </p:sp>
      <p:sp>
        <p:nvSpPr>
          <p:cNvPr id="6" name="Rounded Rectangle 5"/>
          <p:cNvSpPr/>
          <p:nvPr/>
        </p:nvSpPr>
        <p:spPr>
          <a:xfrm>
            <a:off x="862737" y="110038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6" name="Rounded Rectangle 35"/>
          <p:cNvSpPr/>
          <p:nvPr/>
        </p:nvSpPr>
        <p:spPr>
          <a:xfrm>
            <a:off x="862736" y="1797805"/>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7" name="Rounded Rectangle 36"/>
          <p:cNvSpPr/>
          <p:nvPr/>
        </p:nvSpPr>
        <p:spPr>
          <a:xfrm>
            <a:off x="862736" y="244386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8" name="Rounded Rectangle 37"/>
          <p:cNvSpPr/>
          <p:nvPr/>
        </p:nvSpPr>
        <p:spPr>
          <a:xfrm>
            <a:off x="888568" y="3089917"/>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9" name="Rounded Rectangle 38"/>
          <p:cNvSpPr/>
          <p:nvPr/>
        </p:nvSpPr>
        <p:spPr>
          <a:xfrm>
            <a:off x="901485" y="377284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0" name="Rounded Rectangle 39"/>
          <p:cNvSpPr/>
          <p:nvPr/>
        </p:nvSpPr>
        <p:spPr>
          <a:xfrm>
            <a:off x="888568" y="4451092"/>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1" name="Rounded Rectangle 40"/>
          <p:cNvSpPr/>
          <p:nvPr/>
        </p:nvSpPr>
        <p:spPr>
          <a:xfrm>
            <a:off x="862734" y="5127348"/>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2" name="Rounded Rectangle 41"/>
          <p:cNvSpPr/>
          <p:nvPr/>
        </p:nvSpPr>
        <p:spPr>
          <a:xfrm>
            <a:off x="862733" y="5827051"/>
            <a:ext cx="4070889" cy="489099"/>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4" name="Rounded Rectangle 43"/>
          <p:cNvSpPr/>
          <p:nvPr/>
        </p:nvSpPr>
        <p:spPr>
          <a:xfrm>
            <a:off x="862735" y="44483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7" name="TextBox 6"/>
          <p:cNvSpPr txBox="1"/>
          <p:nvPr/>
        </p:nvSpPr>
        <p:spPr>
          <a:xfrm>
            <a:off x="862733" y="506822"/>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Identifiers</a:t>
            </a:r>
          </a:p>
        </p:txBody>
      </p:sp>
      <p:sp>
        <p:nvSpPr>
          <p:cNvPr id="46" name="TextBox 45"/>
          <p:cNvSpPr txBox="1"/>
          <p:nvPr/>
        </p:nvSpPr>
        <p:spPr>
          <a:xfrm>
            <a:off x="862732" y="1156047"/>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State</a:t>
            </a:r>
          </a:p>
        </p:txBody>
      </p:sp>
      <p:sp>
        <p:nvSpPr>
          <p:cNvPr id="57" name="TextBox 56"/>
          <p:cNvSpPr txBox="1"/>
          <p:nvPr/>
        </p:nvSpPr>
        <p:spPr>
          <a:xfrm>
            <a:off x="857570" y="2495753"/>
            <a:ext cx="4070889" cy="400110"/>
          </a:xfrm>
          <a:prstGeom prst="rect">
            <a:avLst/>
          </a:prstGeom>
          <a:solidFill>
            <a:srgbClr val="4B302A"/>
          </a:solidFill>
        </p:spPr>
        <p:txBody>
          <a:bodyPr wrap="square" rtlCol="0">
            <a:spAutoFit/>
          </a:bodyPr>
          <a:lstStyle/>
          <a:p>
            <a:pPr algn="ctr"/>
            <a:r>
              <a:rPr lang="en-IN" sz="2000" b="1" dirty="0">
                <a:solidFill>
                  <a:schemeClr val="bg1"/>
                </a:solidFill>
              </a:rPr>
              <a:t>CPU Registers</a:t>
            </a:r>
          </a:p>
        </p:txBody>
      </p:sp>
      <p:sp>
        <p:nvSpPr>
          <p:cNvPr id="58" name="TextBox 57"/>
          <p:cNvSpPr txBox="1"/>
          <p:nvPr/>
        </p:nvSpPr>
        <p:spPr>
          <a:xfrm>
            <a:off x="901484" y="3144478"/>
            <a:ext cx="4070889" cy="400110"/>
          </a:xfrm>
          <a:prstGeom prst="rect">
            <a:avLst/>
          </a:prstGeom>
          <a:solidFill>
            <a:srgbClr val="4B302A"/>
          </a:solidFill>
        </p:spPr>
        <p:txBody>
          <a:bodyPr wrap="square" rtlCol="0">
            <a:spAutoFit/>
          </a:bodyPr>
          <a:lstStyle/>
          <a:p>
            <a:pPr algn="ctr"/>
            <a:r>
              <a:rPr lang="en-IN" sz="2000" b="1" dirty="0">
                <a:solidFill>
                  <a:schemeClr val="bg1"/>
                </a:solidFill>
              </a:rPr>
              <a:t>CPU Scheduling Information</a:t>
            </a:r>
          </a:p>
        </p:txBody>
      </p:sp>
      <p:sp>
        <p:nvSpPr>
          <p:cNvPr id="59" name="TextBox 58"/>
          <p:cNvSpPr txBox="1"/>
          <p:nvPr/>
        </p:nvSpPr>
        <p:spPr>
          <a:xfrm>
            <a:off x="916978" y="3841669"/>
            <a:ext cx="4042480" cy="400110"/>
          </a:xfrm>
          <a:prstGeom prst="rect">
            <a:avLst/>
          </a:prstGeom>
          <a:solidFill>
            <a:srgbClr val="4B302A"/>
          </a:solidFill>
        </p:spPr>
        <p:txBody>
          <a:bodyPr wrap="square" rtlCol="0">
            <a:spAutoFit/>
          </a:bodyPr>
          <a:lstStyle/>
          <a:p>
            <a:pPr algn="ctr"/>
            <a:r>
              <a:rPr lang="en-IN" sz="2000" b="1" dirty="0">
                <a:solidFill>
                  <a:schemeClr val="bg1"/>
                </a:solidFill>
              </a:rPr>
              <a:t>Memory Management Information</a:t>
            </a:r>
          </a:p>
        </p:txBody>
      </p:sp>
      <p:sp>
        <p:nvSpPr>
          <p:cNvPr id="60" name="TextBox 59"/>
          <p:cNvSpPr txBox="1"/>
          <p:nvPr/>
        </p:nvSpPr>
        <p:spPr>
          <a:xfrm>
            <a:off x="888569" y="4489065"/>
            <a:ext cx="4070889" cy="400110"/>
          </a:xfrm>
          <a:prstGeom prst="rect">
            <a:avLst/>
          </a:prstGeom>
          <a:solidFill>
            <a:srgbClr val="4B302A"/>
          </a:solidFill>
        </p:spPr>
        <p:txBody>
          <a:bodyPr wrap="square" rtlCol="0">
            <a:spAutoFit/>
          </a:bodyPr>
          <a:lstStyle/>
          <a:p>
            <a:pPr algn="ctr"/>
            <a:r>
              <a:rPr lang="en-IN" sz="2000" b="1" dirty="0">
                <a:solidFill>
                  <a:schemeClr val="bg1"/>
                </a:solidFill>
              </a:rPr>
              <a:t>Accounting Information</a:t>
            </a:r>
          </a:p>
        </p:txBody>
      </p:sp>
      <p:sp>
        <p:nvSpPr>
          <p:cNvPr id="61" name="TextBox 60"/>
          <p:cNvSpPr txBox="1"/>
          <p:nvPr/>
        </p:nvSpPr>
        <p:spPr>
          <a:xfrm>
            <a:off x="854995" y="5198513"/>
            <a:ext cx="4070889" cy="400110"/>
          </a:xfrm>
          <a:prstGeom prst="rect">
            <a:avLst/>
          </a:prstGeom>
          <a:solidFill>
            <a:srgbClr val="4B302A"/>
          </a:solidFill>
        </p:spPr>
        <p:txBody>
          <a:bodyPr wrap="square" rtlCol="0">
            <a:spAutoFit/>
          </a:bodyPr>
          <a:lstStyle/>
          <a:p>
            <a:pPr algn="ctr"/>
            <a:r>
              <a:rPr lang="en-IN" sz="2000" b="1" dirty="0">
                <a:solidFill>
                  <a:schemeClr val="bg1"/>
                </a:solidFill>
              </a:rPr>
              <a:t>I/O Status Information</a:t>
            </a:r>
          </a:p>
        </p:txBody>
      </p:sp>
      <p:sp>
        <p:nvSpPr>
          <p:cNvPr id="62" name="TextBox 61"/>
          <p:cNvSpPr txBox="1"/>
          <p:nvPr/>
        </p:nvSpPr>
        <p:spPr>
          <a:xfrm>
            <a:off x="857572" y="5881236"/>
            <a:ext cx="4070889" cy="400110"/>
          </a:xfrm>
          <a:prstGeom prst="rect">
            <a:avLst/>
          </a:prstGeom>
          <a:solidFill>
            <a:srgbClr val="4B302A"/>
          </a:solidFill>
        </p:spPr>
        <p:txBody>
          <a:bodyPr wrap="square" rtlCol="0">
            <a:spAutoFit/>
          </a:bodyPr>
          <a:lstStyle/>
          <a:p>
            <a:pPr algn="ctr"/>
            <a:r>
              <a:rPr lang="en-IN" sz="2000" b="1" dirty="0">
                <a:solidFill>
                  <a:schemeClr val="bg1"/>
                </a:solidFill>
              </a:rPr>
              <a:t>Pointer</a:t>
            </a:r>
          </a:p>
        </p:txBody>
      </p:sp>
      <p:sp>
        <p:nvSpPr>
          <p:cNvPr id="31" name="TextBox 30"/>
          <p:cNvSpPr txBox="1"/>
          <p:nvPr/>
        </p:nvSpPr>
        <p:spPr>
          <a:xfrm>
            <a:off x="6263895" y="833184"/>
            <a:ext cx="5856570" cy="1815882"/>
          </a:xfrm>
          <a:prstGeom prst="rect">
            <a:avLst/>
          </a:prstGeom>
          <a:noFill/>
        </p:spPr>
        <p:txBody>
          <a:bodyPr wrap="square" rtlCol="0">
            <a:spAutoFit/>
          </a:bodyPr>
          <a:lstStyle/>
          <a:p>
            <a:pPr marL="342900" indent="-342900" algn="just">
              <a:buFont typeface="Wingdings" panose="05000000000000000000" pitchFamily="2" charset="2"/>
              <a:buChar char="Ø"/>
            </a:pPr>
            <a:r>
              <a:rPr lang="en-IN" sz="2400" b="1" dirty="0">
                <a:solidFill>
                  <a:schemeClr val="bg1"/>
                </a:solidFill>
              </a:rPr>
              <a:t>Program Counter</a:t>
            </a:r>
          </a:p>
          <a:p>
            <a:pPr algn="just"/>
            <a:r>
              <a:rPr lang="en-IN" sz="2200" b="1" dirty="0">
                <a:solidFill>
                  <a:schemeClr val="bg1"/>
                </a:solidFill>
              </a:rPr>
              <a:t>	</a:t>
            </a:r>
          </a:p>
          <a:p>
            <a:pPr marL="811213" lvl="2" indent="-354013" algn="just">
              <a:buFont typeface="Wingdings" panose="05000000000000000000" pitchFamily="2" charset="2"/>
              <a:buChar char="ü"/>
            </a:pPr>
            <a:r>
              <a:rPr lang="en-IN" sz="2200" b="1" dirty="0">
                <a:solidFill>
                  <a:schemeClr val="bg1"/>
                </a:solidFill>
              </a:rPr>
              <a:t>Program Counter is a pointer  to the address of the next instruction to be executed for this process.</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3086" y="3005657"/>
            <a:ext cx="4399270" cy="3075634"/>
          </a:xfrm>
          <a:prstGeom prst="rect">
            <a:avLst/>
          </a:prstGeom>
        </p:spPr>
      </p:pic>
      <p:sp>
        <p:nvSpPr>
          <p:cNvPr id="26" name="TextBox 25"/>
          <p:cNvSpPr txBox="1"/>
          <p:nvPr/>
        </p:nvSpPr>
        <p:spPr>
          <a:xfrm>
            <a:off x="854987" y="1860939"/>
            <a:ext cx="4070889" cy="400110"/>
          </a:xfrm>
          <a:prstGeom prst="rect">
            <a:avLst/>
          </a:prstGeom>
          <a:solidFill>
            <a:srgbClr val="4B302A"/>
          </a:solidFill>
        </p:spPr>
        <p:txBody>
          <a:bodyPr wrap="square" rtlCol="0">
            <a:spAutoFit/>
          </a:bodyPr>
          <a:lstStyle/>
          <a:p>
            <a:pPr algn="ctr"/>
            <a:r>
              <a:rPr lang="en-IN" sz="2000" b="1" dirty="0">
                <a:solidFill>
                  <a:schemeClr val="bg1"/>
                </a:solidFill>
              </a:rPr>
              <a:t>Program Counter</a:t>
            </a:r>
          </a:p>
        </p:txBody>
      </p:sp>
      <p:sp>
        <p:nvSpPr>
          <p:cNvPr id="27" name="TextBox 26"/>
          <p:cNvSpPr txBox="1"/>
          <p:nvPr/>
        </p:nvSpPr>
        <p:spPr>
          <a:xfrm rot="16200000">
            <a:off x="2660062" y="914848"/>
            <a:ext cx="460741" cy="2273393"/>
          </a:xfrm>
          <a:prstGeom prst="rect">
            <a:avLst/>
          </a:prstGeom>
          <a:noFill/>
          <a:ln w="76200">
            <a:solidFill>
              <a:schemeClr val="accent3"/>
            </a:solidFill>
          </a:ln>
        </p:spPr>
        <p:txBody>
          <a:bodyPr wrap="square" rtlCol="0">
            <a:spAutoFit/>
          </a:bodyPr>
          <a:lstStyle/>
          <a:p>
            <a:endParaRPr lang="en-IN" dirty="0"/>
          </a:p>
        </p:txBody>
      </p:sp>
    </p:spTree>
    <p:extLst>
      <p:ext uri="{BB962C8B-B14F-4D97-AF65-F5344CB8AC3E}">
        <p14:creationId xmlns:p14="http://schemas.microsoft.com/office/powerpoint/2010/main" val="3046231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marL="285750" indent="-285750">
              <a:lnSpc>
                <a:spcPct val="120000"/>
              </a:lnSpc>
              <a:buFont typeface="Wingdings" panose="05000000000000000000" pitchFamily="2" charset="2"/>
              <a:buChar char="Ø"/>
            </a:pPr>
            <a:endParaRPr lang="en-US" dirty="0"/>
          </a:p>
          <a:p>
            <a:pPr>
              <a:lnSpc>
                <a:spcPct val="120000"/>
              </a:lnSpc>
            </a:pPr>
            <a:r>
              <a:rPr lang="en-US" sz="3200" b="1" dirty="0"/>
              <a:t> </a:t>
            </a:r>
          </a:p>
          <a:p>
            <a:pPr algn="l">
              <a:lnSpc>
                <a:spcPct val="120000"/>
              </a:lnSpc>
            </a:pPr>
            <a:endParaRPr lang="en-US" dirty="0"/>
          </a:p>
        </p:txBody>
      </p:sp>
      <p:sp>
        <p:nvSpPr>
          <p:cNvPr id="74" name="TextBox 73"/>
          <p:cNvSpPr txBox="1"/>
          <p:nvPr/>
        </p:nvSpPr>
        <p:spPr>
          <a:xfrm>
            <a:off x="888569" y="3089917"/>
            <a:ext cx="792997" cy="400110"/>
          </a:xfrm>
          <a:prstGeom prst="rect">
            <a:avLst/>
          </a:prstGeom>
          <a:solidFill>
            <a:srgbClr val="4B302A"/>
          </a:solidFill>
          <a:ln w="38100">
            <a:solidFill>
              <a:schemeClr val="bg2"/>
            </a:solidFill>
          </a:ln>
        </p:spPr>
        <p:txBody>
          <a:bodyPr wrap="square" rtlCol="0">
            <a:spAutoFit/>
          </a:bodyPr>
          <a:lstStyle/>
          <a:p>
            <a:pPr algn="ctr"/>
            <a:endParaRPr lang="en-IN" sz="2000" dirty="0">
              <a:solidFill>
                <a:schemeClr val="bg1"/>
              </a:solidFill>
            </a:endParaRPr>
          </a:p>
        </p:txBody>
      </p:sp>
      <p:sp>
        <p:nvSpPr>
          <p:cNvPr id="2" name="TextBox 1"/>
          <p:cNvSpPr txBox="1"/>
          <p:nvPr/>
        </p:nvSpPr>
        <p:spPr>
          <a:xfrm>
            <a:off x="6096000" y="154982"/>
            <a:ext cx="6095999" cy="461665"/>
          </a:xfrm>
          <a:prstGeom prst="rect">
            <a:avLst/>
          </a:prstGeom>
          <a:noFill/>
        </p:spPr>
        <p:txBody>
          <a:bodyPr wrap="square" rtlCol="0">
            <a:spAutoFit/>
          </a:bodyPr>
          <a:lstStyle/>
          <a:p>
            <a:r>
              <a:rPr lang="en-IN" sz="2400" b="1" dirty="0">
                <a:solidFill>
                  <a:schemeClr val="bg1"/>
                </a:solidFill>
              </a:rPr>
              <a:t>Fields of Process Control Block(PCB)</a:t>
            </a:r>
            <a:endParaRPr lang="en-IN" sz="1100" dirty="0">
              <a:solidFill>
                <a:schemeClr val="bg1"/>
              </a:solidFill>
            </a:endParaRPr>
          </a:p>
        </p:txBody>
      </p:sp>
      <p:sp>
        <p:nvSpPr>
          <p:cNvPr id="6" name="Rounded Rectangle 5"/>
          <p:cNvSpPr/>
          <p:nvPr/>
        </p:nvSpPr>
        <p:spPr>
          <a:xfrm>
            <a:off x="862737" y="110038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6" name="Rounded Rectangle 35"/>
          <p:cNvSpPr/>
          <p:nvPr/>
        </p:nvSpPr>
        <p:spPr>
          <a:xfrm>
            <a:off x="862736" y="1797805"/>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7" name="Rounded Rectangle 36"/>
          <p:cNvSpPr/>
          <p:nvPr/>
        </p:nvSpPr>
        <p:spPr>
          <a:xfrm>
            <a:off x="862736" y="244386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8" name="Rounded Rectangle 37"/>
          <p:cNvSpPr/>
          <p:nvPr/>
        </p:nvSpPr>
        <p:spPr>
          <a:xfrm>
            <a:off x="888568" y="3089917"/>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9" name="Rounded Rectangle 38"/>
          <p:cNvSpPr/>
          <p:nvPr/>
        </p:nvSpPr>
        <p:spPr>
          <a:xfrm>
            <a:off x="901486" y="3772841"/>
            <a:ext cx="4057972"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0" name="Rounded Rectangle 39"/>
          <p:cNvSpPr/>
          <p:nvPr/>
        </p:nvSpPr>
        <p:spPr>
          <a:xfrm>
            <a:off x="888568" y="4451092"/>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1" name="Rounded Rectangle 40"/>
          <p:cNvSpPr/>
          <p:nvPr/>
        </p:nvSpPr>
        <p:spPr>
          <a:xfrm>
            <a:off x="862734" y="5127348"/>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2" name="Rounded Rectangle 41"/>
          <p:cNvSpPr/>
          <p:nvPr/>
        </p:nvSpPr>
        <p:spPr>
          <a:xfrm>
            <a:off x="862733" y="5827051"/>
            <a:ext cx="4070889" cy="489099"/>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4" name="Rounded Rectangle 43"/>
          <p:cNvSpPr/>
          <p:nvPr/>
        </p:nvSpPr>
        <p:spPr>
          <a:xfrm>
            <a:off x="862735" y="44483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7" name="TextBox 6"/>
          <p:cNvSpPr txBox="1"/>
          <p:nvPr/>
        </p:nvSpPr>
        <p:spPr>
          <a:xfrm>
            <a:off x="862733" y="506822"/>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Identifiers</a:t>
            </a:r>
          </a:p>
        </p:txBody>
      </p:sp>
      <p:sp>
        <p:nvSpPr>
          <p:cNvPr id="46" name="TextBox 45"/>
          <p:cNvSpPr txBox="1"/>
          <p:nvPr/>
        </p:nvSpPr>
        <p:spPr>
          <a:xfrm>
            <a:off x="862732" y="1156047"/>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State</a:t>
            </a:r>
          </a:p>
        </p:txBody>
      </p:sp>
      <p:sp>
        <p:nvSpPr>
          <p:cNvPr id="56" name="TextBox 55"/>
          <p:cNvSpPr txBox="1"/>
          <p:nvPr/>
        </p:nvSpPr>
        <p:spPr>
          <a:xfrm>
            <a:off x="862731" y="1878939"/>
            <a:ext cx="4070889" cy="400110"/>
          </a:xfrm>
          <a:prstGeom prst="rect">
            <a:avLst/>
          </a:prstGeom>
          <a:solidFill>
            <a:srgbClr val="4B302A"/>
          </a:solidFill>
        </p:spPr>
        <p:txBody>
          <a:bodyPr wrap="square" rtlCol="0">
            <a:spAutoFit/>
          </a:bodyPr>
          <a:lstStyle/>
          <a:p>
            <a:pPr algn="ctr"/>
            <a:r>
              <a:rPr lang="en-IN" sz="2000" b="1" dirty="0">
                <a:solidFill>
                  <a:schemeClr val="bg1"/>
                </a:solidFill>
              </a:rPr>
              <a:t>Program Counter</a:t>
            </a:r>
          </a:p>
        </p:txBody>
      </p:sp>
      <p:sp>
        <p:nvSpPr>
          <p:cNvPr id="58" name="TextBox 57"/>
          <p:cNvSpPr txBox="1"/>
          <p:nvPr/>
        </p:nvSpPr>
        <p:spPr>
          <a:xfrm>
            <a:off x="901484" y="3144478"/>
            <a:ext cx="4070889" cy="400110"/>
          </a:xfrm>
          <a:prstGeom prst="rect">
            <a:avLst/>
          </a:prstGeom>
          <a:solidFill>
            <a:srgbClr val="4B302A"/>
          </a:solidFill>
        </p:spPr>
        <p:txBody>
          <a:bodyPr wrap="square" rtlCol="0">
            <a:spAutoFit/>
          </a:bodyPr>
          <a:lstStyle/>
          <a:p>
            <a:pPr algn="ctr"/>
            <a:r>
              <a:rPr lang="en-IN" sz="2000" b="1" dirty="0">
                <a:solidFill>
                  <a:schemeClr val="bg1"/>
                </a:solidFill>
              </a:rPr>
              <a:t>CPU Scheduling Information</a:t>
            </a:r>
          </a:p>
        </p:txBody>
      </p:sp>
      <p:sp>
        <p:nvSpPr>
          <p:cNvPr id="59" name="TextBox 58"/>
          <p:cNvSpPr txBox="1"/>
          <p:nvPr/>
        </p:nvSpPr>
        <p:spPr>
          <a:xfrm>
            <a:off x="916978" y="3841669"/>
            <a:ext cx="4055396" cy="400110"/>
          </a:xfrm>
          <a:prstGeom prst="rect">
            <a:avLst/>
          </a:prstGeom>
          <a:solidFill>
            <a:srgbClr val="4B302A"/>
          </a:solidFill>
        </p:spPr>
        <p:txBody>
          <a:bodyPr wrap="square" rtlCol="0">
            <a:spAutoFit/>
          </a:bodyPr>
          <a:lstStyle/>
          <a:p>
            <a:pPr algn="ctr"/>
            <a:r>
              <a:rPr lang="en-IN" sz="2000" b="1" dirty="0">
                <a:solidFill>
                  <a:schemeClr val="bg1"/>
                </a:solidFill>
              </a:rPr>
              <a:t>Memory Management Information</a:t>
            </a:r>
          </a:p>
        </p:txBody>
      </p:sp>
      <p:sp>
        <p:nvSpPr>
          <p:cNvPr id="60" name="TextBox 59"/>
          <p:cNvSpPr txBox="1"/>
          <p:nvPr/>
        </p:nvSpPr>
        <p:spPr>
          <a:xfrm>
            <a:off x="888569" y="4489065"/>
            <a:ext cx="4070889" cy="400110"/>
          </a:xfrm>
          <a:prstGeom prst="rect">
            <a:avLst/>
          </a:prstGeom>
          <a:solidFill>
            <a:srgbClr val="4B302A"/>
          </a:solidFill>
        </p:spPr>
        <p:txBody>
          <a:bodyPr wrap="square" rtlCol="0">
            <a:spAutoFit/>
          </a:bodyPr>
          <a:lstStyle/>
          <a:p>
            <a:pPr algn="ctr"/>
            <a:r>
              <a:rPr lang="en-IN" sz="2000" b="1" dirty="0">
                <a:solidFill>
                  <a:schemeClr val="bg1"/>
                </a:solidFill>
              </a:rPr>
              <a:t>Accounting Information</a:t>
            </a:r>
          </a:p>
        </p:txBody>
      </p:sp>
      <p:sp>
        <p:nvSpPr>
          <p:cNvPr id="61" name="TextBox 60"/>
          <p:cNvSpPr txBox="1"/>
          <p:nvPr/>
        </p:nvSpPr>
        <p:spPr>
          <a:xfrm>
            <a:off x="854995" y="5198513"/>
            <a:ext cx="4070889" cy="400110"/>
          </a:xfrm>
          <a:prstGeom prst="rect">
            <a:avLst/>
          </a:prstGeom>
          <a:solidFill>
            <a:srgbClr val="4B302A"/>
          </a:solidFill>
        </p:spPr>
        <p:txBody>
          <a:bodyPr wrap="square" rtlCol="0">
            <a:spAutoFit/>
          </a:bodyPr>
          <a:lstStyle/>
          <a:p>
            <a:pPr algn="ctr"/>
            <a:r>
              <a:rPr lang="en-IN" sz="2000" b="1" dirty="0">
                <a:solidFill>
                  <a:schemeClr val="bg1"/>
                </a:solidFill>
              </a:rPr>
              <a:t>I/O Status Information</a:t>
            </a:r>
          </a:p>
        </p:txBody>
      </p:sp>
      <p:sp>
        <p:nvSpPr>
          <p:cNvPr id="62" name="TextBox 61"/>
          <p:cNvSpPr txBox="1"/>
          <p:nvPr/>
        </p:nvSpPr>
        <p:spPr>
          <a:xfrm>
            <a:off x="857572" y="5881236"/>
            <a:ext cx="4070889" cy="400110"/>
          </a:xfrm>
          <a:prstGeom prst="rect">
            <a:avLst/>
          </a:prstGeom>
          <a:solidFill>
            <a:srgbClr val="4B302A"/>
          </a:solidFill>
        </p:spPr>
        <p:txBody>
          <a:bodyPr wrap="square" rtlCol="0">
            <a:spAutoFit/>
          </a:bodyPr>
          <a:lstStyle/>
          <a:p>
            <a:pPr algn="ctr"/>
            <a:r>
              <a:rPr lang="en-IN" sz="2000" b="1" dirty="0">
                <a:solidFill>
                  <a:schemeClr val="bg1"/>
                </a:solidFill>
              </a:rPr>
              <a:t>Pointer</a:t>
            </a:r>
          </a:p>
        </p:txBody>
      </p:sp>
      <p:sp>
        <p:nvSpPr>
          <p:cNvPr id="28" name="TextBox 27"/>
          <p:cNvSpPr txBox="1"/>
          <p:nvPr/>
        </p:nvSpPr>
        <p:spPr>
          <a:xfrm>
            <a:off x="6508640" y="873926"/>
            <a:ext cx="5574503" cy="2215991"/>
          </a:xfrm>
          <a:prstGeom prst="rect">
            <a:avLst/>
          </a:prstGeom>
          <a:noFill/>
        </p:spPr>
        <p:txBody>
          <a:bodyPr wrap="square" rtlCol="0">
            <a:spAutoFit/>
          </a:bodyPr>
          <a:lstStyle/>
          <a:p>
            <a:pPr marL="342900" indent="-342900" algn="just">
              <a:buFont typeface="Wingdings" panose="05000000000000000000" pitchFamily="2" charset="2"/>
              <a:buChar char="Ø"/>
            </a:pPr>
            <a:r>
              <a:rPr lang="en-IN" sz="2400" b="1" dirty="0">
                <a:solidFill>
                  <a:schemeClr val="bg1"/>
                </a:solidFill>
              </a:rPr>
              <a:t>CPU Registers</a:t>
            </a:r>
          </a:p>
          <a:p>
            <a:pPr lvl="1" algn="just"/>
            <a:endParaRPr lang="en-IN" sz="2400" b="1" dirty="0">
              <a:solidFill>
                <a:schemeClr val="bg1"/>
              </a:solidFill>
            </a:endParaRPr>
          </a:p>
          <a:p>
            <a:pPr marL="811213" lvl="2" indent="-354013" algn="just">
              <a:buFont typeface="Wingdings" panose="05000000000000000000" pitchFamily="2" charset="2"/>
              <a:buChar char="ü"/>
            </a:pPr>
            <a:r>
              <a:rPr lang="en-IN" sz="2200" b="1" dirty="0">
                <a:solidFill>
                  <a:schemeClr val="bg1"/>
                </a:solidFill>
              </a:rPr>
              <a:t>Various CPU registers where process need to be stored for execution for running state.</a:t>
            </a:r>
          </a:p>
          <a:p>
            <a:pPr marL="342900" indent="-342900" algn="just">
              <a:buFont typeface="Wingdings" panose="05000000000000000000" pitchFamily="2" charset="2"/>
              <a:buChar char="Ø"/>
            </a:pPr>
            <a:endParaRPr lang="en-IN" sz="2400" dirty="0">
              <a:solidFill>
                <a:schemeClr val="bg1"/>
              </a:solidFill>
            </a:endParaRPr>
          </a:p>
        </p:txBody>
      </p:sp>
      <p:sp>
        <p:nvSpPr>
          <p:cNvPr id="25" name="TextBox 24"/>
          <p:cNvSpPr txBox="1"/>
          <p:nvPr/>
        </p:nvSpPr>
        <p:spPr>
          <a:xfrm>
            <a:off x="862731" y="2472553"/>
            <a:ext cx="4070889" cy="400110"/>
          </a:xfrm>
          <a:prstGeom prst="rect">
            <a:avLst/>
          </a:prstGeom>
          <a:solidFill>
            <a:srgbClr val="4B302A"/>
          </a:solidFill>
        </p:spPr>
        <p:txBody>
          <a:bodyPr wrap="square" rtlCol="0">
            <a:spAutoFit/>
          </a:bodyPr>
          <a:lstStyle/>
          <a:p>
            <a:pPr algn="ctr"/>
            <a:r>
              <a:rPr lang="en-IN" sz="2000" b="1" dirty="0">
                <a:solidFill>
                  <a:schemeClr val="bg1"/>
                </a:solidFill>
              </a:rPr>
              <a:t>CPU Registers</a:t>
            </a:r>
          </a:p>
        </p:txBody>
      </p:sp>
      <p:sp>
        <p:nvSpPr>
          <p:cNvPr id="27" name="TextBox 26"/>
          <p:cNvSpPr txBox="1"/>
          <p:nvPr/>
        </p:nvSpPr>
        <p:spPr>
          <a:xfrm rot="16200000">
            <a:off x="2693641" y="1548818"/>
            <a:ext cx="460741" cy="2273393"/>
          </a:xfrm>
          <a:prstGeom prst="rect">
            <a:avLst/>
          </a:prstGeom>
          <a:noFill/>
          <a:ln w="76200">
            <a:solidFill>
              <a:schemeClr val="accent3"/>
            </a:solidFill>
          </a:ln>
        </p:spPr>
        <p:txBody>
          <a:bodyPr wrap="square" rtlCol="0">
            <a:spAutoFit/>
          </a:bodyPr>
          <a:lstStyle/>
          <a:p>
            <a:endParaRPr lang="en-IN" dirty="0"/>
          </a:p>
        </p:txBody>
      </p:sp>
    </p:spTree>
    <p:extLst>
      <p:ext uri="{BB962C8B-B14F-4D97-AF65-F5344CB8AC3E}">
        <p14:creationId xmlns:p14="http://schemas.microsoft.com/office/powerpoint/2010/main" val="1587244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marL="285750" indent="-285750">
              <a:lnSpc>
                <a:spcPct val="120000"/>
              </a:lnSpc>
              <a:buFont typeface="Wingdings" panose="05000000000000000000" pitchFamily="2" charset="2"/>
              <a:buChar char="Ø"/>
            </a:pPr>
            <a:endParaRPr lang="en-US" dirty="0"/>
          </a:p>
          <a:p>
            <a:pPr>
              <a:lnSpc>
                <a:spcPct val="120000"/>
              </a:lnSpc>
            </a:pPr>
            <a:r>
              <a:rPr lang="en-US" sz="3200" b="1" dirty="0"/>
              <a:t> </a:t>
            </a:r>
          </a:p>
          <a:p>
            <a:pPr algn="l">
              <a:lnSpc>
                <a:spcPct val="120000"/>
              </a:lnSpc>
            </a:pPr>
            <a:endParaRPr lang="en-US" dirty="0"/>
          </a:p>
        </p:txBody>
      </p:sp>
      <p:sp>
        <p:nvSpPr>
          <p:cNvPr id="74" name="TextBox 73"/>
          <p:cNvSpPr txBox="1"/>
          <p:nvPr/>
        </p:nvSpPr>
        <p:spPr>
          <a:xfrm>
            <a:off x="888569" y="3089917"/>
            <a:ext cx="792997" cy="400110"/>
          </a:xfrm>
          <a:prstGeom prst="rect">
            <a:avLst/>
          </a:prstGeom>
          <a:solidFill>
            <a:srgbClr val="4B302A"/>
          </a:solidFill>
          <a:ln w="38100">
            <a:solidFill>
              <a:schemeClr val="bg2"/>
            </a:solidFill>
          </a:ln>
        </p:spPr>
        <p:txBody>
          <a:bodyPr wrap="square" rtlCol="0">
            <a:spAutoFit/>
          </a:bodyPr>
          <a:lstStyle/>
          <a:p>
            <a:pPr algn="ctr"/>
            <a:endParaRPr lang="en-IN" sz="2000" dirty="0">
              <a:solidFill>
                <a:schemeClr val="bg1"/>
              </a:solidFill>
            </a:endParaRPr>
          </a:p>
        </p:txBody>
      </p:sp>
      <p:sp>
        <p:nvSpPr>
          <p:cNvPr id="2" name="TextBox 1"/>
          <p:cNvSpPr txBox="1"/>
          <p:nvPr/>
        </p:nvSpPr>
        <p:spPr>
          <a:xfrm>
            <a:off x="6096000" y="154982"/>
            <a:ext cx="6095999" cy="461665"/>
          </a:xfrm>
          <a:prstGeom prst="rect">
            <a:avLst/>
          </a:prstGeom>
          <a:noFill/>
        </p:spPr>
        <p:txBody>
          <a:bodyPr wrap="square" rtlCol="0">
            <a:spAutoFit/>
          </a:bodyPr>
          <a:lstStyle/>
          <a:p>
            <a:r>
              <a:rPr lang="en-IN" sz="2400" b="1" dirty="0">
                <a:solidFill>
                  <a:schemeClr val="bg1"/>
                </a:solidFill>
              </a:rPr>
              <a:t>Fields of Process Control Block(PCB)</a:t>
            </a:r>
            <a:endParaRPr lang="en-IN" sz="1100" dirty="0">
              <a:solidFill>
                <a:schemeClr val="bg1"/>
              </a:solidFill>
            </a:endParaRPr>
          </a:p>
        </p:txBody>
      </p:sp>
      <p:sp>
        <p:nvSpPr>
          <p:cNvPr id="6" name="Rounded Rectangle 5"/>
          <p:cNvSpPr/>
          <p:nvPr/>
        </p:nvSpPr>
        <p:spPr>
          <a:xfrm>
            <a:off x="862737" y="110038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6" name="Rounded Rectangle 35"/>
          <p:cNvSpPr/>
          <p:nvPr/>
        </p:nvSpPr>
        <p:spPr>
          <a:xfrm>
            <a:off x="862736" y="1797805"/>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7" name="Rounded Rectangle 36"/>
          <p:cNvSpPr/>
          <p:nvPr/>
        </p:nvSpPr>
        <p:spPr>
          <a:xfrm>
            <a:off x="862736" y="244386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8" name="Rounded Rectangle 37"/>
          <p:cNvSpPr/>
          <p:nvPr/>
        </p:nvSpPr>
        <p:spPr>
          <a:xfrm>
            <a:off x="888568" y="3089917"/>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9" name="Rounded Rectangle 38"/>
          <p:cNvSpPr/>
          <p:nvPr/>
        </p:nvSpPr>
        <p:spPr>
          <a:xfrm>
            <a:off x="901485" y="377284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0" name="Rounded Rectangle 39"/>
          <p:cNvSpPr/>
          <p:nvPr/>
        </p:nvSpPr>
        <p:spPr>
          <a:xfrm>
            <a:off x="888568" y="4451092"/>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1" name="Rounded Rectangle 40"/>
          <p:cNvSpPr/>
          <p:nvPr/>
        </p:nvSpPr>
        <p:spPr>
          <a:xfrm>
            <a:off x="862734" y="5127348"/>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2" name="Rounded Rectangle 41"/>
          <p:cNvSpPr/>
          <p:nvPr/>
        </p:nvSpPr>
        <p:spPr>
          <a:xfrm>
            <a:off x="862733" y="5827051"/>
            <a:ext cx="4070889" cy="489099"/>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4" name="Rounded Rectangle 43"/>
          <p:cNvSpPr/>
          <p:nvPr/>
        </p:nvSpPr>
        <p:spPr>
          <a:xfrm>
            <a:off x="862735" y="44483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7" name="TextBox 6"/>
          <p:cNvSpPr txBox="1"/>
          <p:nvPr/>
        </p:nvSpPr>
        <p:spPr>
          <a:xfrm>
            <a:off x="862733" y="506822"/>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Identifiers</a:t>
            </a:r>
          </a:p>
        </p:txBody>
      </p:sp>
      <p:sp>
        <p:nvSpPr>
          <p:cNvPr id="46" name="TextBox 45"/>
          <p:cNvSpPr txBox="1"/>
          <p:nvPr/>
        </p:nvSpPr>
        <p:spPr>
          <a:xfrm>
            <a:off x="862732" y="1156047"/>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State</a:t>
            </a:r>
          </a:p>
        </p:txBody>
      </p:sp>
      <p:sp>
        <p:nvSpPr>
          <p:cNvPr id="56" name="TextBox 55"/>
          <p:cNvSpPr txBox="1"/>
          <p:nvPr/>
        </p:nvSpPr>
        <p:spPr>
          <a:xfrm>
            <a:off x="862731" y="1878939"/>
            <a:ext cx="4070889" cy="400110"/>
          </a:xfrm>
          <a:prstGeom prst="rect">
            <a:avLst/>
          </a:prstGeom>
          <a:solidFill>
            <a:srgbClr val="4B302A"/>
          </a:solidFill>
        </p:spPr>
        <p:txBody>
          <a:bodyPr wrap="square" rtlCol="0">
            <a:spAutoFit/>
          </a:bodyPr>
          <a:lstStyle/>
          <a:p>
            <a:pPr algn="ctr"/>
            <a:r>
              <a:rPr lang="en-IN" sz="2000" b="1" dirty="0">
                <a:solidFill>
                  <a:schemeClr val="bg1"/>
                </a:solidFill>
              </a:rPr>
              <a:t>Program Counter</a:t>
            </a:r>
          </a:p>
        </p:txBody>
      </p:sp>
      <p:sp>
        <p:nvSpPr>
          <p:cNvPr id="57" name="TextBox 56"/>
          <p:cNvSpPr txBox="1"/>
          <p:nvPr/>
        </p:nvSpPr>
        <p:spPr>
          <a:xfrm>
            <a:off x="857570" y="2495753"/>
            <a:ext cx="4070889" cy="400110"/>
          </a:xfrm>
          <a:prstGeom prst="rect">
            <a:avLst/>
          </a:prstGeom>
          <a:solidFill>
            <a:srgbClr val="4B302A"/>
          </a:solidFill>
        </p:spPr>
        <p:txBody>
          <a:bodyPr wrap="square" rtlCol="0">
            <a:spAutoFit/>
          </a:bodyPr>
          <a:lstStyle/>
          <a:p>
            <a:pPr algn="ctr"/>
            <a:r>
              <a:rPr lang="en-IN" sz="2000" b="1" dirty="0">
                <a:solidFill>
                  <a:schemeClr val="bg1"/>
                </a:solidFill>
              </a:rPr>
              <a:t>CPU Registers</a:t>
            </a:r>
          </a:p>
        </p:txBody>
      </p:sp>
      <p:sp>
        <p:nvSpPr>
          <p:cNvPr id="59" name="TextBox 58"/>
          <p:cNvSpPr txBox="1"/>
          <p:nvPr/>
        </p:nvSpPr>
        <p:spPr>
          <a:xfrm>
            <a:off x="916978" y="3841669"/>
            <a:ext cx="4037366" cy="400110"/>
          </a:xfrm>
          <a:prstGeom prst="rect">
            <a:avLst/>
          </a:prstGeom>
          <a:solidFill>
            <a:srgbClr val="4B302A"/>
          </a:solidFill>
        </p:spPr>
        <p:txBody>
          <a:bodyPr wrap="square" rtlCol="0">
            <a:spAutoFit/>
          </a:bodyPr>
          <a:lstStyle/>
          <a:p>
            <a:pPr algn="ctr"/>
            <a:r>
              <a:rPr lang="en-IN" sz="2000" b="1" dirty="0">
                <a:solidFill>
                  <a:schemeClr val="bg1"/>
                </a:solidFill>
              </a:rPr>
              <a:t>Memory Management Information</a:t>
            </a:r>
          </a:p>
        </p:txBody>
      </p:sp>
      <p:sp>
        <p:nvSpPr>
          <p:cNvPr id="60" name="TextBox 59"/>
          <p:cNvSpPr txBox="1"/>
          <p:nvPr/>
        </p:nvSpPr>
        <p:spPr>
          <a:xfrm>
            <a:off x="888569" y="4489065"/>
            <a:ext cx="4070889" cy="400110"/>
          </a:xfrm>
          <a:prstGeom prst="rect">
            <a:avLst/>
          </a:prstGeom>
          <a:solidFill>
            <a:srgbClr val="4B302A"/>
          </a:solidFill>
        </p:spPr>
        <p:txBody>
          <a:bodyPr wrap="square" rtlCol="0">
            <a:spAutoFit/>
          </a:bodyPr>
          <a:lstStyle/>
          <a:p>
            <a:pPr algn="ctr"/>
            <a:r>
              <a:rPr lang="en-IN" sz="2000" b="1" dirty="0">
                <a:solidFill>
                  <a:schemeClr val="bg1"/>
                </a:solidFill>
              </a:rPr>
              <a:t>Accounting Information</a:t>
            </a:r>
          </a:p>
        </p:txBody>
      </p:sp>
      <p:sp>
        <p:nvSpPr>
          <p:cNvPr id="61" name="TextBox 60"/>
          <p:cNvSpPr txBox="1"/>
          <p:nvPr/>
        </p:nvSpPr>
        <p:spPr>
          <a:xfrm>
            <a:off x="854995" y="5198513"/>
            <a:ext cx="4070889" cy="400110"/>
          </a:xfrm>
          <a:prstGeom prst="rect">
            <a:avLst/>
          </a:prstGeom>
          <a:solidFill>
            <a:srgbClr val="4B302A"/>
          </a:solidFill>
        </p:spPr>
        <p:txBody>
          <a:bodyPr wrap="square" rtlCol="0">
            <a:spAutoFit/>
          </a:bodyPr>
          <a:lstStyle/>
          <a:p>
            <a:pPr algn="ctr"/>
            <a:r>
              <a:rPr lang="en-IN" sz="2000" b="1" dirty="0">
                <a:solidFill>
                  <a:schemeClr val="bg1"/>
                </a:solidFill>
              </a:rPr>
              <a:t>I/O Status Information</a:t>
            </a:r>
          </a:p>
        </p:txBody>
      </p:sp>
      <p:sp>
        <p:nvSpPr>
          <p:cNvPr id="62" name="TextBox 61"/>
          <p:cNvSpPr txBox="1"/>
          <p:nvPr/>
        </p:nvSpPr>
        <p:spPr>
          <a:xfrm>
            <a:off x="857572" y="5881236"/>
            <a:ext cx="4070889" cy="400110"/>
          </a:xfrm>
          <a:prstGeom prst="rect">
            <a:avLst/>
          </a:prstGeom>
          <a:solidFill>
            <a:srgbClr val="4B302A"/>
          </a:solidFill>
        </p:spPr>
        <p:txBody>
          <a:bodyPr wrap="square" rtlCol="0">
            <a:spAutoFit/>
          </a:bodyPr>
          <a:lstStyle/>
          <a:p>
            <a:pPr algn="ctr"/>
            <a:r>
              <a:rPr lang="en-IN" sz="2000" b="1" dirty="0">
                <a:solidFill>
                  <a:schemeClr val="bg1"/>
                </a:solidFill>
              </a:rPr>
              <a:t>Pointer</a:t>
            </a:r>
          </a:p>
        </p:txBody>
      </p:sp>
      <p:sp>
        <p:nvSpPr>
          <p:cNvPr id="29" name="TextBox 28"/>
          <p:cNvSpPr txBox="1"/>
          <p:nvPr/>
        </p:nvSpPr>
        <p:spPr>
          <a:xfrm>
            <a:off x="6398214" y="895435"/>
            <a:ext cx="5661949" cy="1815882"/>
          </a:xfrm>
          <a:prstGeom prst="rect">
            <a:avLst/>
          </a:prstGeom>
          <a:noFill/>
        </p:spPr>
        <p:txBody>
          <a:bodyPr wrap="square" rtlCol="0">
            <a:spAutoFit/>
          </a:bodyPr>
          <a:lstStyle/>
          <a:p>
            <a:pPr marL="342900" indent="-342900" algn="just">
              <a:buFont typeface="Wingdings" panose="05000000000000000000" pitchFamily="2" charset="2"/>
              <a:buChar char="Ø"/>
            </a:pPr>
            <a:r>
              <a:rPr lang="en-IN" sz="2400" b="1" dirty="0">
                <a:solidFill>
                  <a:schemeClr val="bg1"/>
                </a:solidFill>
              </a:rPr>
              <a:t>CPU Scheduling Information</a:t>
            </a:r>
          </a:p>
          <a:p>
            <a:pPr algn="just"/>
            <a:r>
              <a:rPr lang="en-IN" sz="2200" b="1" dirty="0">
                <a:solidFill>
                  <a:schemeClr val="bg1"/>
                </a:solidFill>
              </a:rPr>
              <a:t>	</a:t>
            </a:r>
          </a:p>
          <a:p>
            <a:pPr marL="811213" lvl="2" indent="-354013" algn="just">
              <a:buFont typeface="Wingdings" panose="05000000000000000000" pitchFamily="2" charset="2"/>
              <a:buChar char="ü"/>
              <a:tabLst>
                <a:tab pos="354013" algn="l"/>
              </a:tabLst>
            </a:pPr>
            <a:r>
              <a:rPr lang="en-IN" sz="2200" b="1" dirty="0">
                <a:solidFill>
                  <a:schemeClr val="bg1"/>
                </a:solidFill>
              </a:rPr>
              <a:t>Process priority and other scheduling information which is required to schedule the process.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5299" y="2895863"/>
            <a:ext cx="5661949" cy="3241466"/>
          </a:xfrm>
          <a:prstGeom prst="rect">
            <a:avLst/>
          </a:prstGeom>
        </p:spPr>
      </p:pic>
      <p:sp>
        <p:nvSpPr>
          <p:cNvPr id="26" name="TextBox 25"/>
          <p:cNvSpPr txBox="1"/>
          <p:nvPr/>
        </p:nvSpPr>
        <p:spPr>
          <a:xfrm>
            <a:off x="883455" y="3151512"/>
            <a:ext cx="4070889" cy="400110"/>
          </a:xfrm>
          <a:prstGeom prst="rect">
            <a:avLst/>
          </a:prstGeom>
          <a:solidFill>
            <a:srgbClr val="4B302A"/>
          </a:solidFill>
        </p:spPr>
        <p:txBody>
          <a:bodyPr wrap="square" rtlCol="0">
            <a:spAutoFit/>
          </a:bodyPr>
          <a:lstStyle/>
          <a:p>
            <a:pPr algn="ctr"/>
            <a:r>
              <a:rPr lang="en-IN" sz="2000" b="1" dirty="0">
                <a:solidFill>
                  <a:schemeClr val="bg1"/>
                </a:solidFill>
              </a:rPr>
              <a:t>CPU Scheduling Information</a:t>
            </a:r>
          </a:p>
        </p:txBody>
      </p:sp>
      <p:sp>
        <p:nvSpPr>
          <p:cNvPr id="27" name="TextBox 26"/>
          <p:cNvSpPr txBox="1"/>
          <p:nvPr/>
        </p:nvSpPr>
        <p:spPr>
          <a:xfrm rot="16200000">
            <a:off x="2679079" y="1692235"/>
            <a:ext cx="498909" cy="3286933"/>
          </a:xfrm>
          <a:prstGeom prst="rect">
            <a:avLst/>
          </a:prstGeom>
          <a:noFill/>
          <a:ln w="76200">
            <a:solidFill>
              <a:schemeClr val="accent3"/>
            </a:solidFill>
          </a:ln>
        </p:spPr>
        <p:txBody>
          <a:bodyPr wrap="square" rtlCol="0">
            <a:spAutoFit/>
          </a:bodyPr>
          <a:lstStyle/>
          <a:p>
            <a:endParaRPr lang="en-IN" dirty="0"/>
          </a:p>
        </p:txBody>
      </p:sp>
    </p:spTree>
    <p:extLst>
      <p:ext uri="{BB962C8B-B14F-4D97-AF65-F5344CB8AC3E}">
        <p14:creationId xmlns:p14="http://schemas.microsoft.com/office/powerpoint/2010/main" val="1549537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marL="285750" indent="-285750">
              <a:lnSpc>
                <a:spcPct val="120000"/>
              </a:lnSpc>
              <a:buFont typeface="Wingdings" panose="05000000000000000000" pitchFamily="2" charset="2"/>
              <a:buChar char="Ø"/>
            </a:pPr>
            <a:endParaRPr lang="en-US" dirty="0"/>
          </a:p>
          <a:p>
            <a:pPr>
              <a:lnSpc>
                <a:spcPct val="120000"/>
              </a:lnSpc>
            </a:pPr>
            <a:r>
              <a:rPr lang="en-US" sz="3200" b="1" dirty="0"/>
              <a:t> </a:t>
            </a:r>
          </a:p>
          <a:p>
            <a:pPr algn="l">
              <a:lnSpc>
                <a:spcPct val="120000"/>
              </a:lnSpc>
            </a:pPr>
            <a:endParaRPr lang="en-US" dirty="0"/>
          </a:p>
        </p:txBody>
      </p:sp>
      <p:sp>
        <p:nvSpPr>
          <p:cNvPr id="74" name="TextBox 73"/>
          <p:cNvSpPr txBox="1"/>
          <p:nvPr/>
        </p:nvSpPr>
        <p:spPr>
          <a:xfrm>
            <a:off x="888569" y="3089917"/>
            <a:ext cx="792997" cy="400110"/>
          </a:xfrm>
          <a:prstGeom prst="rect">
            <a:avLst/>
          </a:prstGeom>
          <a:solidFill>
            <a:srgbClr val="4B302A"/>
          </a:solidFill>
          <a:ln w="38100">
            <a:solidFill>
              <a:schemeClr val="bg2"/>
            </a:solidFill>
          </a:ln>
        </p:spPr>
        <p:txBody>
          <a:bodyPr wrap="square" rtlCol="0">
            <a:spAutoFit/>
          </a:bodyPr>
          <a:lstStyle/>
          <a:p>
            <a:pPr algn="ctr"/>
            <a:endParaRPr lang="en-IN" sz="2000" dirty="0">
              <a:solidFill>
                <a:schemeClr val="bg1"/>
              </a:solidFill>
            </a:endParaRPr>
          </a:p>
        </p:txBody>
      </p:sp>
      <p:sp>
        <p:nvSpPr>
          <p:cNvPr id="2" name="TextBox 1"/>
          <p:cNvSpPr txBox="1"/>
          <p:nvPr/>
        </p:nvSpPr>
        <p:spPr>
          <a:xfrm>
            <a:off x="6096000" y="154982"/>
            <a:ext cx="6095999" cy="461665"/>
          </a:xfrm>
          <a:prstGeom prst="rect">
            <a:avLst/>
          </a:prstGeom>
          <a:noFill/>
        </p:spPr>
        <p:txBody>
          <a:bodyPr wrap="square" rtlCol="0">
            <a:spAutoFit/>
          </a:bodyPr>
          <a:lstStyle/>
          <a:p>
            <a:r>
              <a:rPr lang="en-IN" sz="2400" b="1" dirty="0">
                <a:solidFill>
                  <a:schemeClr val="bg1"/>
                </a:solidFill>
              </a:rPr>
              <a:t>Fields of Process Control Block(PCB)</a:t>
            </a:r>
            <a:endParaRPr lang="en-IN" sz="1100" dirty="0">
              <a:solidFill>
                <a:schemeClr val="bg1"/>
              </a:solidFill>
            </a:endParaRPr>
          </a:p>
        </p:txBody>
      </p:sp>
      <p:sp>
        <p:nvSpPr>
          <p:cNvPr id="6" name="Rounded Rectangle 5"/>
          <p:cNvSpPr/>
          <p:nvPr/>
        </p:nvSpPr>
        <p:spPr>
          <a:xfrm>
            <a:off x="862737" y="110038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6" name="Rounded Rectangle 35"/>
          <p:cNvSpPr/>
          <p:nvPr/>
        </p:nvSpPr>
        <p:spPr>
          <a:xfrm>
            <a:off x="862736" y="1797805"/>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7" name="Rounded Rectangle 36"/>
          <p:cNvSpPr/>
          <p:nvPr/>
        </p:nvSpPr>
        <p:spPr>
          <a:xfrm>
            <a:off x="862736" y="244386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8" name="Rounded Rectangle 37"/>
          <p:cNvSpPr/>
          <p:nvPr/>
        </p:nvSpPr>
        <p:spPr>
          <a:xfrm>
            <a:off x="888568" y="3089917"/>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9" name="Rounded Rectangle 38"/>
          <p:cNvSpPr/>
          <p:nvPr/>
        </p:nvSpPr>
        <p:spPr>
          <a:xfrm>
            <a:off x="901485" y="377284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0" name="Rounded Rectangle 39"/>
          <p:cNvSpPr/>
          <p:nvPr/>
        </p:nvSpPr>
        <p:spPr>
          <a:xfrm>
            <a:off x="888568" y="4451092"/>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1" name="Rounded Rectangle 40"/>
          <p:cNvSpPr/>
          <p:nvPr/>
        </p:nvSpPr>
        <p:spPr>
          <a:xfrm>
            <a:off x="862734" y="5127348"/>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2" name="Rounded Rectangle 41"/>
          <p:cNvSpPr/>
          <p:nvPr/>
        </p:nvSpPr>
        <p:spPr>
          <a:xfrm>
            <a:off x="862733" y="5827051"/>
            <a:ext cx="4070889" cy="489099"/>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4" name="Rounded Rectangle 43"/>
          <p:cNvSpPr/>
          <p:nvPr/>
        </p:nvSpPr>
        <p:spPr>
          <a:xfrm>
            <a:off x="862735" y="44483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7" name="TextBox 6"/>
          <p:cNvSpPr txBox="1"/>
          <p:nvPr/>
        </p:nvSpPr>
        <p:spPr>
          <a:xfrm>
            <a:off x="862733" y="506822"/>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Identifiers</a:t>
            </a:r>
          </a:p>
        </p:txBody>
      </p:sp>
      <p:sp>
        <p:nvSpPr>
          <p:cNvPr id="46" name="TextBox 45"/>
          <p:cNvSpPr txBox="1"/>
          <p:nvPr/>
        </p:nvSpPr>
        <p:spPr>
          <a:xfrm>
            <a:off x="862732" y="1156047"/>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State</a:t>
            </a:r>
          </a:p>
        </p:txBody>
      </p:sp>
      <p:sp>
        <p:nvSpPr>
          <p:cNvPr id="56" name="TextBox 55"/>
          <p:cNvSpPr txBox="1"/>
          <p:nvPr/>
        </p:nvSpPr>
        <p:spPr>
          <a:xfrm>
            <a:off x="862731" y="1878939"/>
            <a:ext cx="4070889" cy="400110"/>
          </a:xfrm>
          <a:prstGeom prst="rect">
            <a:avLst/>
          </a:prstGeom>
          <a:solidFill>
            <a:srgbClr val="4B302A"/>
          </a:solidFill>
        </p:spPr>
        <p:txBody>
          <a:bodyPr wrap="square" rtlCol="0">
            <a:spAutoFit/>
          </a:bodyPr>
          <a:lstStyle/>
          <a:p>
            <a:pPr algn="ctr"/>
            <a:r>
              <a:rPr lang="en-IN" sz="2000" b="1" dirty="0">
                <a:solidFill>
                  <a:schemeClr val="bg1"/>
                </a:solidFill>
              </a:rPr>
              <a:t>Program Counter</a:t>
            </a:r>
          </a:p>
        </p:txBody>
      </p:sp>
      <p:sp>
        <p:nvSpPr>
          <p:cNvPr id="57" name="TextBox 56"/>
          <p:cNvSpPr txBox="1"/>
          <p:nvPr/>
        </p:nvSpPr>
        <p:spPr>
          <a:xfrm>
            <a:off x="857570" y="2495753"/>
            <a:ext cx="4070889" cy="400110"/>
          </a:xfrm>
          <a:prstGeom prst="rect">
            <a:avLst/>
          </a:prstGeom>
          <a:solidFill>
            <a:srgbClr val="4B302A"/>
          </a:solidFill>
        </p:spPr>
        <p:txBody>
          <a:bodyPr wrap="square" rtlCol="0">
            <a:spAutoFit/>
          </a:bodyPr>
          <a:lstStyle/>
          <a:p>
            <a:pPr algn="ctr"/>
            <a:r>
              <a:rPr lang="en-IN" sz="2000" b="1" dirty="0">
                <a:solidFill>
                  <a:schemeClr val="bg1"/>
                </a:solidFill>
              </a:rPr>
              <a:t>CPU Registers</a:t>
            </a:r>
          </a:p>
        </p:txBody>
      </p:sp>
      <p:sp>
        <p:nvSpPr>
          <p:cNvPr id="58" name="TextBox 57"/>
          <p:cNvSpPr txBox="1"/>
          <p:nvPr/>
        </p:nvSpPr>
        <p:spPr>
          <a:xfrm>
            <a:off x="901484" y="3144478"/>
            <a:ext cx="4070889" cy="400110"/>
          </a:xfrm>
          <a:prstGeom prst="rect">
            <a:avLst/>
          </a:prstGeom>
          <a:solidFill>
            <a:srgbClr val="4B302A"/>
          </a:solidFill>
        </p:spPr>
        <p:txBody>
          <a:bodyPr wrap="square" rtlCol="0">
            <a:spAutoFit/>
          </a:bodyPr>
          <a:lstStyle/>
          <a:p>
            <a:pPr algn="ctr"/>
            <a:r>
              <a:rPr lang="en-IN" sz="2000" b="1" dirty="0">
                <a:solidFill>
                  <a:schemeClr val="bg1"/>
                </a:solidFill>
              </a:rPr>
              <a:t>CPU Scheduling Information</a:t>
            </a:r>
          </a:p>
        </p:txBody>
      </p:sp>
      <p:sp>
        <p:nvSpPr>
          <p:cNvPr id="59" name="TextBox 58"/>
          <p:cNvSpPr txBox="1"/>
          <p:nvPr/>
        </p:nvSpPr>
        <p:spPr>
          <a:xfrm>
            <a:off x="901484" y="3826171"/>
            <a:ext cx="4070889" cy="400110"/>
          </a:xfrm>
          <a:prstGeom prst="rect">
            <a:avLst/>
          </a:prstGeom>
          <a:solidFill>
            <a:srgbClr val="4B302A"/>
          </a:solidFill>
        </p:spPr>
        <p:txBody>
          <a:bodyPr wrap="square" rtlCol="0">
            <a:spAutoFit/>
          </a:bodyPr>
          <a:lstStyle/>
          <a:p>
            <a:pPr algn="ctr"/>
            <a:r>
              <a:rPr lang="en-IN" sz="2000" b="1" dirty="0">
                <a:solidFill>
                  <a:schemeClr val="bg1"/>
                </a:solidFill>
              </a:rPr>
              <a:t>Memory Management Information</a:t>
            </a:r>
          </a:p>
        </p:txBody>
      </p:sp>
      <p:sp>
        <p:nvSpPr>
          <p:cNvPr id="61" name="TextBox 60"/>
          <p:cNvSpPr txBox="1"/>
          <p:nvPr/>
        </p:nvSpPr>
        <p:spPr>
          <a:xfrm>
            <a:off x="854995" y="5198513"/>
            <a:ext cx="4070889" cy="400110"/>
          </a:xfrm>
          <a:prstGeom prst="rect">
            <a:avLst/>
          </a:prstGeom>
          <a:solidFill>
            <a:srgbClr val="4B302A"/>
          </a:solidFill>
        </p:spPr>
        <p:txBody>
          <a:bodyPr wrap="square" rtlCol="0">
            <a:spAutoFit/>
          </a:bodyPr>
          <a:lstStyle/>
          <a:p>
            <a:pPr algn="ctr"/>
            <a:r>
              <a:rPr lang="en-IN" sz="2000" b="1" dirty="0">
                <a:solidFill>
                  <a:schemeClr val="bg1"/>
                </a:solidFill>
              </a:rPr>
              <a:t>I/O Status Information</a:t>
            </a:r>
          </a:p>
        </p:txBody>
      </p:sp>
      <p:sp>
        <p:nvSpPr>
          <p:cNvPr id="62" name="TextBox 61"/>
          <p:cNvSpPr txBox="1"/>
          <p:nvPr/>
        </p:nvSpPr>
        <p:spPr>
          <a:xfrm>
            <a:off x="857572" y="5881236"/>
            <a:ext cx="4070889" cy="400110"/>
          </a:xfrm>
          <a:prstGeom prst="rect">
            <a:avLst/>
          </a:prstGeom>
          <a:solidFill>
            <a:srgbClr val="4B302A"/>
          </a:solidFill>
        </p:spPr>
        <p:txBody>
          <a:bodyPr wrap="square" rtlCol="0">
            <a:spAutoFit/>
          </a:bodyPr>
          <a:lstStyle/>
          <a:p>
            <a:pPr algn="ctr"/>
            <a:r>
              <a:rPr lang="en-IN" sz="2000" b="1" dirty="0">
                <a:solidFill>
                  <a:schemeClr val="bg1"/>
                </a:solidFill>
              </a:rPr>
              <a:t>Pointer</a:t>
            </a:r>
          </a:p>
        </p:txBody>
      </p:sp>
      <p:sp>
        <p:nvSpPr>
          <p:cNvPr id="30" name="TextBox 29"/>
          <p:cNvSpPr txBox="1"/>
          <p:nvPr/>
        </p:nvSpPr>
        <p:spPr>
          <a:xfrm>
            <a:off x="6399506" y="905253"/>
            <a:ext cx="5674306" cy="1815882"/>
          </a:xfrm>
          <a:prstGeom prst="rect">
            <a:avLst/>
          </a:prstGeom>
          <a:noFill/>
        </p:spPr>
        <p:txBody>
          <a:bodyPr wrap="square" rtlCol="0">
            <a:spAutoFit/>
          </a:bodyPr>
          <a:lstStyle/>
          <a:p>
            <a:pPr marL="342900" indent="-342900" algn="just">
              <a:buFont typeface="Wingdings" panose="05000000000000000000" pitchFamily="2" charset="2"/>
              <a:buChar char="Ø"/>
            </a:pPr>
            <a:r>
              <a:rPr lang="en-IN" sz="2400" b="1" dirty="0">
                <a:solidFill>
                  <a:schemeClr val="bg1"/>
                </a:solidFill>
              </a:rPr>
              <a:t>Memory Management Information</a:t>
            </a:r>
          </a:p>
          <a:p>
            <a:pPr algn="just"/>
            <a:r>
              <a:rPr lang="en-IN" sz="2200" b="1" dirty="0">
                <a:solidFill>
                  <a:schemeClr val="bg1"/>
                </a:solidFill>
              </a:rPr>
              <a:t>	</a:t>
            </a:r>
          </a:p>
          <a:p>
            <a:pPr marL="811213" lvl="2" indent="-354013" algn="just">
              <a:buFont typeface="Wingdings" panose="05000000000000000000" pitchFamily="2" charset="2"/>
              <a:buChar char="ü"/>
            </a:pPr>
            <a:r>
              <a:rPr lang="en-IN" sz="2200" b="1" dirty="0">
                <a:solidFill>
                  <a:schemeClr val="bg1"/>
                </a:solidFill>
              </a:rPr>
              <a:t>It includes information of Page table, Memory limits, Segment table depending on memory used by the OS.</a:t>
            </a:r>
          </a:p>
        </p:txBody>
      </p:sp>
      <p:sp>
        <p:nvSpPr>
          <p:cNvPr id="28" name="TextBox 27"/>
          <p:cNvSpPr txBox="1"/>
          <p:nvPr/>
        </p:nvSpPr>
        <p:spPr>
          <a:xfrm>
            <a:off x="888569" y="4489065"/>
            <a:ext cx="4070889" cy="400110"/>
          </a:xfrm>
          <a:prstGeom prst="rect">
            <a:avLst/>
          </a:prstGeom>
          <a:solidFill>
            <a:srgbClr val="4B302A"/>
          </a:solidFill>
        </p:spPr>
        <p:txBody>
          <a:bodyPr wrap="square" rtlCol="0">
            <a:spAutoFit/>
          </a:bodyPr>
          <a:lstStyle/>
          <a:p>
            <a:pPr algn="ctr"/>
            <a:r>
              <a:rPr lang="en-IN" sz="2000" b="1" dirty="0">
                <a:solidFill>
                  <a:schemeClr val="bg1"/>
                </a:solidFill>
              </a:rPr>
              <a:t>Accounting Information</a:t>
            </a:r>
          </a:p>
        </p:txBody>
      </p:sp>
      <p:sp>
        <p:nvSpPr>
          <p:cNvPr id="29" name="TextBox 28"/>
          <p:cNvSpPr txBox="1"/>
          <p:nvPr/>
        </p:nvSpPr>
        <p:spPr>
          <a:xfrm rot="16200000">
            <a:off x="2663950" y="2215848"/>
            <a:ext cx="545956" cy="3610490"/>
          </a:xfrm>
          <a:prstGeom prst="rect">
            <a:avLst/>
          </a:prstGeom>
          <a:noFill/>
          <a:ln w="76200">
            <a:solidFill>
              <a:schemeClr val="accent3"/>
            </a:solidFill>
          </a:ln>
        </p:spPr>
        <p:txBody>
          <a:bodyPr wrap="square" rtlCol="0">
            <a:spAutoFit/>
          </a:bodyPr>
          <a:lstStyle/>
          <a:p>
            <a:endParaRPr lang="en-IN" dirty="0"/>
          </a:p>
        </p:txBody>
      </p:sp>
    </p:spTree>
    <p:extLst>
      <p:ext uri="{BB962C8B-B14F-4D97-AF65-F5344CB8AC3E}">
        <p14:creationId xmlns:p14="http://schemas.microsoft.com/office/powerpoint/2010/main" val="3175234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marL="285750" indent="-285750">
              <a:lnSpc>
                <a:spcPct val="120000"/>
              </a:lnSpc>
              <a:buFont typeface="Wingdings" panose="05000000000000000000" pitchFamily="2" charset="2"/>
              <a:buChar char="Ø"/>
            </a:pPr>
            <a:endParaRPr lang="en-US" dirty="0"/>
          </a:p>
          <a:p>
            <a:pPr>
              <a:lnSpc>
                <a:spcPct val="120000"/>
              </a:lnSpc>
            </a:pPr>
            <a:r>
              <a:rPr lang="en-US" sz="3200" b="1" dirty="0"/>
              <a:t> </a:t>
            </a:r>
          </a:p>
          <a:p>
            <a:pPr algn="l">
              <a:lnSpc>
                <a:spcPct val="120000"/>
              </a:lnSpc>
            </a:pPr>
            <a:endParaRPr lang="en-US" dirty="0"/>
          </a:p>
        </p:txBody>
      </p:sp>
      <p:sp>
        <p:nvSpPr>
          <p:cNvPr id="74" name="TextBox 73"/>
          <p:cNvSpPr txBox="1"/>
          <p:nvPr/>
        </p:nvSpPr>
        <p:spPr>
          <a:xfrm>
            <a:off x="888569" y="3089917"/>
            <a:ext cx="792997" cy="400110"/>
          </a:xfrm>
          <a:prstGeom prst="rect">
            <a:avLst/>
          </a:prstGeom>
          <a:solidFill>
            <a:srgbClr val="4B302A"/>
          </a:solidFill>
          <a:ln w="38100">
            <a:solidFill>
              <a:schemeClr val="bg2"/>
            </a:solidFill>
          </a:ln>
        </p:spPr>
        <p:txBody>
          <a:bodyPr wrap="square" rtlCol="0">
            <a:spAutoFit/>
          </a:bodyPr>
          <a:lstStyle/>
          <a:p>
            <a:pPr algn="ctr"/>
            <a:endParaRPr lang="en-IN" sz="2000" dirty="0">
              <a:solidFill>
                <a:schemeClr val="bg1"/>
              </a:solidFill>
            </a:endParaRPr>
          </a:p>
        </p:txBody>
      </p:sp>
      <p:sp>
        <p:nvSpPr>
          <p:cNvPr id="2" name="TextBox 1"/>
          <p:cNvSpPr txBox="1"/>
          <p:nvPr/>
        </p:nvSpPr>
        <p:spPr>
          <a:xfrm>
            <a:off x="6096000" y="154982"/>
            <a:ext cx="6095999" cy="461665"/>
          </a:xfrm>
          <a:prstGeom prst="rect">
            <a:avLst/>
          </a:prstGeom>
          <a:noFill/>
        </p:spPr>
        <p:txBody>
          <a:bodyPr wrap="square" rtlCol="0">
            <a:spAutoFit/>
          </a:bodyPr>
          <a:lstStyle/>
          <a:p>
            <a:r>
              <a:rPr lang="en-IN" sz="2400" b="1" dirty="0">
                <a:solidFill>
                  <a:schemeClr val="bg1"/>
                </a:solidFill>
              </a:rPr>
              <a:t>Fields of Process Control Block(PCB)</a:t>
            </a:r>
            <a:endParaRPr lang="en-IN" sz="1100" dirty="0">
              <a:solidFill>
                <a:schemeClr val="bg1"/>
              </a:solidFill>
            </a:endParaRPr>
          </a:p>
        </p:txBody>
      </p:sp>
      <p:sp>
        <p:nvSpPr>
          <p:cNvPr id="6" name="Rounded Rectangle 5"/>
          <p:cNvSpPr/>
          <p:nvPr/>
        </p:nvSpPr>
        <p:spPr>
          <a:xfrm>
            <a:off x="862737" y="110038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6" name="Rounded Rectangle 35"/>
          <p:cNvSpPr/>
          <p:nvPr/>
        </p:nvSpPr>
        <p:spPr>
          <a:xfrm>
            <a:off x="862736" y="1797805"/>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7" name="Rounded Rectangle 36"/>
          <p:cNvSpPr/>
          <p:nvPr/>
        </p:nvSpPr>
        <p:spPr>
          <a:xfrm>
            <a:off x="862736" y="244386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8" name="Rounded Rectangle 37"/>
          <p:cNvSpPr/>
          <p:nvPr/>
        </p:nvSpPr>
        <p:spPr>
          <a:xfrm>
            <a:off x="888568" y="3089917"/>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9" name="Rounded Rectangle 38"/>
          <p:cNvSpPr/>
          <p:nvPr/>
        </p:nvSpPr>
        <p:spPr>
          <a:xfrm>
            <a:off x="901485" y="377284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0" name="Rounded Rectangle 39"/>
          <p:cNvSpPr/>
          <p:nvPr/>
        </p:nvSpPr>
        <p:spPr>
          <a:xfrm>
            <a:off x="888568" y="4451092"/>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1" name="Rounded Rectangle 40"/>
          <p:cNvSpPr/>
          <p:nvPr/>
        </p:nvSpPr>
        <p:spPr>
          <a:xfrm>
            <a:off x="862734" y="5127348"/>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2" name="Rounded Rectangle 41"/>
          <p:cNvSpPr/>
          <p:nvPr/>
        </p:nvSpPr>
        <p:spPr>
          <a:xfrm>
            <a:off x="862733" y="5827051"/>
            <a:ext cx="4070889" cy="489099"/>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4" name="Rounded Rectangle 43"/>
          <p:cNvSpPr/>
          <p:nvPr/>
        </p:nvSpPr>
        <p:spPr>
          <a:xfrm>
            <a:off x="862735" y="44483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7" name="TextBox 6"/>
          <p:cNvSpPr txBox="1"/>
          <p:nvPr/>
        </p:nvSpPr>
        <p:spPr>
          <a:xfrm>
            <a:off x="862733" y="506822"/>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Identifiers</a:t>
            </a:r>
          </a:p>
        </p:txBody>
      </p:sp>
      <p:sp>
        <p:nvSpPr>
          <p:cNvPr id="46" name="TextBox 45"/>
          <p:cNvSpPr txBox="1"/>
          <p:nvPr/>
        </p:nvSpPr>
        <p:spPr>
          <a:xfrm>
            <a:off x="862732" y="1156047"/>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State</a:t>
            </a:r>
          </a:p>
        </p:txBody>
      </p:sp>
      <p:sp>
        <p:nvSpPr>
          <p:cNvPr id="56" name="TextBox 55"/>
          <p:cNvSpPr txBox="1"/>
          <p:nvPr/>
        </p:nvSpPr>
        <p:spPr>
          <a:xfrm>
            <a:off x="862731" y="1878939"/>
            <a:ext cx="4070889" cy="400110"/>
          </a:xfrm>
          <a:prstGeom prst="rect">
            <a:avLst/>
          </a:prstGeom>
          <a:solidFill>
            <a:srgbClr val="4B302A"/>
          </a:solidFill>
        </p:spPr>
        <p:txBody>
          <a:bodyPr wrap="square" rtlCol="0">
            <a:spAutoFit/>
          </a:bodyPr>
          <a:lstStyle/>
          <a:p>
            <a:pPr algn="ctr"/>
            <a:r>
              <a:rPr lang="en-IN" sz="2000" b="1" dirty="0">
                <a:solidFill>
                  <a:schemeClr val="bg1"/>
                </a:solidFill>
              </a:rPr>
              <a:t>Program Counter</a:t>
            </a:r>
          </a:p>
        </p:txBody>
      </p:sp>
      <p:sp>
        <p:nvSpPr>
          <p:cNvPr id="57" name="TextBox 56"/>
          <p:cNvSpPr txBox="1"/>
          <p:nvPr/>
        </p:nvSpPr>
        <p:spPr>
          <a:xfrm>
            <a:off x="857570" y="2495753"/>
            <a:ext cx="4070889" cy="400110"/>
          </a:xfrm>
          <a:prstGeom prst="rect">
            <a:avLst/>
          </a:prstGeom>
          <a:solidFill>
            <a:srgbClr val="4B302A"/>
          </a:solidFill>
        </p:spPr>
        <p:txBody>
          <a:bodyPr wrap="square" rtlCol="0">
            <a:spAutoFit/>
          </a:bodyPr>
          <a:lstStyle/>
          <a:p>
            <a:pPr algn="ctr"/>
            <a:r>
              <a:rPr lang="en-IN" sz="2000" b="1" dirty="0">
                <a:solidFill>
                  <a:schemeClr val="bg1"/>
                </a:solidFill>
              </a:rPr>
              <a:t>CPU Registers</a:t>
            </a:r>
          </a:p>
        </p:txBody>
      </p:sp>
      <p:sp>
        <p:nvSpPr>
          <p:cNvPr id="58" name="TextBox 57"/>
          <p:cNvSpPr txBox="1"/>
          <p:nvPr/>
        </p:nvSpPr>
        <p:spPr>
          <a:xfrm>
            <a:off x="901484" y="3144478"/>
            <a:ext cx="4070889" cy="400110"/>
          </a:xfrm>
          <a:prstGeom prst="rect">
            <a:avLst/>
          </a:prstGeom>
          <a:solidFill>
            <a:srgbClr val="4B302A"/>
          </a:solidFill>
        </p:spPr>
        <p:txBody>
          <a:bodyPr wrap="square" rtlCol="0">
            <a:spAutoFit/>
          </a:bodyPr>
          <a:lstStyle/>
          <a:p>
            <a:pPr algn="ctr"/>
            <a:r>
              <a:rPr lang="en-IN" sz="2000" b="1" dirty="0">
                <a:solidFill>
                  <a:schemeClr val="bg1"/>
                </a:solidFill>
              </a:rPr>
              <a:t>CPU Scheduling Information</a:t>
            </a:r>
          </a:p>
        </p:txBody>
      </p:sp>
      <p:sp>
        <p:nvSpPr>
          <p:cNvPr id="59" name="TextBox 58"/>
          <p:cNvSpPr txBox="1"/>
          <p:nvPr/>
        </p:nvSpPr>
        <p:spPr>
          <a:xfrm>
            <a:off x="901484" y="3826171"/>
            <a:ext cx="4070889" cy="400110"/>
          </a:xfrm>
          <a:prstGeom prst="rect">
            <a:avLst/>
          </a:prstGeom>
          <a:solidFill>
            <a:srgbClr val="4B302A"/>
          </a:solidFill>
        </p:spPr>
        <p:txBody>
          <a:bodyPr wrap="square" rtlCol="0">
            <a:spAutoFit/>
          </a:bodyPr>
          <a:lstStyle/>
          <a:p>
            <a:pPr algn="ctr"/>
            <a:r>
              <a:rPr lang="en-IN" sz="2000" b="1" dirty="0">
                <a:solidFill>
                  <a:schemeClr val="bg1"/>
                </a:solidFill>
              </a:rPr>
              <a:t>Memory Management Information</a:t>
            </a:r>
          </a:p>
        </p:txBody>
      </p:sp>
      <p:sp>
        <p:nvSpPr>
          <p:cNvPr id="61" name="TextBox 60"/>
          <p:cNvSpPr txBox="1"/>
          <p:nvPr/>
        </p:nvSpPr>
        <p:spPr>
          <a:xfrm>
            <a:off x="854995" y="5198513"/>
            <a:ext cx="4070889" cy="400110"/>
          </a:xfrm>
          <a:prstGeom prst="rect">
            <a:avLst/>
          </a:prstGeom>
          <a:solidFill>
            <a:srgbClr val="4B302A"/>
          </a:solidFill>
        </p:spPr>
        <p:txBody>
          <a:bodyPr wrap="square" rtlCol="0">
            <a:spAutoFit/>
          </a:bodyPr>
          <a:lstStyle/>
          <a:p>
            <a:pPr algn="ctr"/>
            <a:r>
              <a:rPr lang="en-IN" sz="2000" b="1" dirty="0">
                <a:solidFill>
                  <a:schemeClr val="bg1"/>
                </a:solidFill>
              </a:rPr>
              <a:t>I/O Status Information</a:t>
            </a:r>
          </a:p>
        </p:txBody>
      </p:sp>
      <p:sp>
        <p:nvSpPr>
          <p:cNvPr id="62" name="TextBox 61"/>
          <p:cNvSpPr txBox="1"/>
          <p:nvPr/>
        </p:nvSpPr>
        <p:spPr>
          <a:xfrm>
            <a:off x="857572" y="5881236"/>
            <a:ext cx="4070889" cy="400110"/>
          </a:xfrm>
          <a:prstGeom prst="rect">
            <a:avLst/>
          </a:prstGeom>
          <a:solidFill>
            <a:srgbClr val="4B302A"/>
          </a:solidFill>
        </p:spPr>
        <p:txBody>
          <a:bodyPr wrap="square" rtlCol="0">
            <a:spAutoFit/>
          </a:bodyPr>
          <a:lstStyle/>
          <a:p>
            <a:pPr algn="ctr"/>
            <a:r>
              <a:rPr lang="en-IN" sz="2000" b="1" dirty="0">
                <a:solidFill>
                  <a:schemeClr val="bg1"/>
                </a:solidFill>
              </a:rPr>
              <a:t>Pointer</a:t>
            </a:r>
          </a:p>
        </p:txBody>
      </p:sp>
      <p:sp>
        <p:nvSpPr>
          <p:cNvPr id="30" name="TextBox 29"/>
          <p:cNvSpPr txBox="1"/>
          <p:nvPr/>
        </p:nvSpPr>
        <p:spPr>
          <a:xfrm>
            <a:off x="6399506" y="905253"/>
            <a:ext cx="5674306" cy="1815882"/>
          </a:xfrm>
          <a:prstGeom prst="rect">
            <a:avLst/>
          </a:prstGeom>
          <a:noFill/>
        </p:spPr>
        <p:txBody>
          <a:bodyPr wrap="square" rtlCol="0">
            <a:spAutoFit/>
          </a:bodyPr>
          <a:lstStyle/>
          <a:p>
            <a:pPr marL="342900" indent="-342900" algn="just">
              <a:buFont typeface="Wingdings" panose="05000000000000000000" pitchFamily="2" charset="2"/>
              <a:buChar char="Ø"/>
            </a:pPr>
            <a:r>
              <a:rPr lang="en-IN" sz="2400" b="1" dirty="0">
                <a:solidFill>
                  <a:schemeClr val="bg1"/>
                </a:solidFill>
              </a:rPr>
              <a:t>Accounting Information</a:t>
            </a:r>
          </a:p>
          <a:p>
            <a:pPr algn="just"/>
            <a:r>
              <a:rPr lang="en-IN" sz="2200" b="1" dirty="0">
                <a:solidFill>
                  <a:schemeClr val="bg1"/>
                </a:solidFill>
              </a:rPr>
              <a:t>	</a:t>
            </a:r>
          </a:p>
          <a:p>
            <a:pPr marL="811213" lvl="2" indent="-354013" algn="just">
              <a:buFont typeface="Wingdings" panose="05000000000000000000" pitchFamily="2" charset="2"/>
              <a:buChar char="ü"/>
            </a:pPr>
            <a:r>
              <a:rPr lang="en-IN" sz="2200" b="1" dirty="0">
                <a:solidFill>
                  <a:schemeClr val="bg1"/>
                </a:solidFill>
              </a:rPr>
              <a:t>It includes the amount of CPU used for Process execution, Time limits, Execution ID etc.</a:t>
            </a:r>
          </a:p>
        </p:txBody>
      </p:sp>
      <p:sp>
        <p:nvSpPr>
          <p:cNvPr id="28" name="TextBox 27"/>
          <p:cNvSpPr txBox="1"/>
          <p:nvPr/>
        </p:nvSpPr>
        <p:spPr>
          <a:xfrm>
            <a:off x="901484" y="4489065"/>
            <a:ext cx="4057974" cy="400110"/>
          </a:xfrm>
          <a:prstGeom prst="rect">
            <a:avLst/>
          </a:prstGeom>
          <a:solidFill>
            <a:srgbClr val="4B302A"/>
          </a:solidFill>
        </p:spPr>
        <p:txBody>
          <a:bodyPr wrap="square" rtlCol="0">
            <a:spAutoFit/>
          </a:bodyPr>
          <a:lstStyle/>
          <a:p>
            <a:pPr algn="ctr"/>
            <a:r>
              <a:rPr lang="en-IN" sz="2000" b="1" dirty="0">
                <a:solidFill>
                  <a:schemeClr val="bg1"/>
                </a:solidFill>
              </a:rPr>
              <a:t>Accounting Information</a:t>
            </a:r>
          </a:p>
        </p:txBody>
      </p:sp>
      <p:sp>
        <p:nvSpPr>
          <p:cNvPr id="29" name="TextBox 28"/>
          <p:cNvSpPr txBox="1"/>
          <p:nvPr/>
        </p:nvSpPr>
        <p:spPr>
          <a:xfrm rot="16200000">
            <a:off x="2651034" y="3326890"/>
            <a:ext cx="545956" cy="2712615"/>
          </a:xfrm>
          <a:prstGeom prst="rect">
            <a:avLst/>
          </a:prstGeom>
          <a:noFill/>
          <a:ln w="76200">
            <a:solidFill>
              <a:schemeClr val="accent3"/>
            </a:solidFill>
          </a:ln>
        </p:spPr>
        <p:txBody>
          <a:bodyPr wrap="square" rtlCol="0">
            <a:spAutoFit/>
          </a:bodyPr>
          <a:lstStyle/>
          <a:p>
            <a:endParaRPr lang="en-IN" dirty="0"/>
          </a:p>
        </p:txBody>
      </p:sp>
    </p:spTree>
    <p:extLst>
      <p:ext uri="{BB962C8B-B14F-4D97-AF65-F5344CB8AC3E}">
        <p14:creationId xmlns:p14="http://schemas.microsoft.com/office/powerpoint/2010/main" val="1185248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marL="285750" indent="-285750">
              <a:lnSpc>
                <a:spcPct val="120000"/>
              </a:lnSpc>
              <a:buFont typeface="Wingdings" panose="05000000000000000000" pitchFamily="2" charset="2"/>
              <a:buChar char="Ø"/>
            </a:pPr>
            <a:endParaRPr lang="en-US" dirty="0"/>
          </a:p>
          <a:p>
            <a:pPr>
              <a:lnSpc>
                <a:spcPct val="120000"/>
              </a:lnSpc>
            </a:pPr>
            <a:r>
              <a:rPr lang="en-US" sz="3200" b="1" dirty="0"/>
              <a:t> </a:t>
            </a:r>
          </a:p>
          <a:p>
            <a:pPr algn="l">
              <a:lnSpc>
                <a:spcPct val="120000"/>
              </a:lnSpc>
            </a:pPr>
            <a:endParaRPr lang="en-US" dirty="0"/>
          </a:p>
        </p:txBody>
      </p:sp>
      <p:sp>
        <p:nvSpPr>
          <p:cNvPr id="74" name="TextBox 73"/>
          <p:cNvSpPr txBox="1"/>
          <p:nvPr/>
        </p:nvSpPr>
        <p:spPr>
          <a:xfrm>
            <a:off x="888569" y="3089917"/>
            <a:ext cx="792997" cy="400110"/>
          </a:xfrm>
          <a:prstGeom prst="rect">
            <a:avLst/>
          </a:prstGeom>
          <a:solidFill>
            <a:srgbClr val="4B302A"/>
          </a:solidFill>
          <a:ln w="38100">
            <a:solidFill>
              <a:schemeClr val="bg2"/>
            </a:solidFill>
          </a:ln>
        </p:spPr>
        <p:txBody>
          <a:bodyPr wrap="square" rtlCol="0">
            <a:spAutoFit/>
          </a:bodyPr>
          <a:lstStyle/>
          <a:p>
            <a:pPr algn="ctr"/>
            <a:endParaRPr lang="en-IN" sz="2000" dirty="0">
              <a:solidFill>
                <a:schemeClr val="bg1"/>
              </a:solidFill>
            </a:endParaRPr>
          </a:p>
        </p:txBody>
      </p:sp>
      <p:sp>
        <p:nvSpPr>
          <p:cNvPr id="2" name="TextBox 1"/>
          <p:cNvSpPr txBox="1"/>
          <p:nvPr/>
        </p:nvSpPr>
        <p:spPr>
          <a:xfrm>
            <a:off x="6096000" y="154982"/>
            <a:ext cx="6095999" cy="461665"/>
          </a:xfrm>
          <a:prstGeom prst="rect">
            <a:avLst/>
          </a:prstGeom>
          <a:noFill/>
        </p:spPr>
        <p:txBody>
          <a:bodyPr wrap="square" rtlCol="0">
            <a:spAutoFit/>
          </a:bodyPr>
          <a:lstStyle/>
          <a:p>
            <a:r>
              <a:rPr lang="en-IN" sz="2400" b="1" dirty="0">
                <a:solidFill>
                  <a:schemeClr val="bg1"/>
                </a:solidFill>
              </a:rPr>
              <a:t>Fields of Process Control Block(PCB)</a:t>
            </a:r>
            <a:endParaRPr lang="en-IN" sz="1100" dirty="0">
              <a:solidFill>
                <a:schemeClr val="bg1"/>
              </a:solidFill>
            </a:endParaRPr>
          </a:p>
        </p:txBody>
      </p:sp>
      <p:sp>
        <p:nvSpPr>
          <p:cNvPr id="6" name="Rounded Rectangle 5"/>
          <p:cNvSpPr/>
          <p:nvPr/>
        </p:nvSpPr>
        <p:spPr>
          <a:xfrm>
            <a:off x="862737" y="110038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6" name="Rounded Rectangle 35"/>
          <p:cNvSpPr/>
          <p:nvPr/>
        </p:nvSpPr>
        <p:spPr>
          <a:xfrm>
            <a:off x="862736" y="1797805"/>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7" name="Rounded Rectangle 36"/>
          <p:cNvSpPr/>
          <p:nvPr/>
        </p:nvSpPr>
        <p:spPr>
          <a:xfrm>
            <a:off x="862736" y="244386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8" name="Rounded Rectangle 37"/>
          <p:cNvSpPr/>
          <p:nvPr/>
        </p:nvSpPr>
        <p:spPr>
          <a:xfrm>
            <a:off x="888568" y="3089917"/>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9" name="Rounded Rectangle 38"/>
          <p:cNvSpPr/>
          <p:nvPr/>
        </p:nvSpPr>
        <p:spPr>
          <a:xfrm>
            <a:off x="901485" y="377284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0" name="Rounded Rectangle 39"/>
          <p:cNvSpPr/>
          <p:nvPr/>
        </p:nvSpPr>
        <p:spPr>
          <a:xfrm>
            <a:off x="888568" y="4451092"/>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1" name="Rounded Rectangle 40"/>
          <p:cNvSpPr/>
          <p:nvPr/>
        </p:nvSpPr>
        <p:spPr>
          <a:xfrm>
            <a:off x="862734" y="5127348"/>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2" name="Rounded Rectangle 41"/>
          <p:cNvSpPr/>
          <p:nvPr/>
        </p:nvSpPr>
        <p:spPr>
          <a:xfrm>
            <a:off x="862733" y="5827051"/>
            <a:ext cx="4070889" cy="489099"/>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4" name="Rounded Rectangle 43"/>
          <p:cNvSpPr/>
          <p:nvPr/>
        </p:nvSpPr>
        <p:spPr>
          <a:xfrm>
            <a:off x="862735" y="44483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7" name="TextBox 6"/>
          <p:cNvSpPr txBox="1"/>
          <p:nvPr/>
        </p:nvSpPr>
        <p:spPr>
          <a:xfrm>
            <a:off x="862733" y="506822"/>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Identifiers</a:t>
            </a:r>
          </a:p>
        </p:txBody>
      </p:sp>
      <p:sp>
        <p:nvSpPr>
          <p:cNvPr id="46" name="TextBox 45"/>
          <p:cNvSpPr txBox="1"/>
          <p:nvPr/>
        </p:nvSpPr>
        <p:spPr>
          <a:xfrm>
            <a:off x="862732" y="1156047"/>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State</a:t>
            </a:r>
          </a:p>
        </p:txBody>
      </p:sp>
      <p:sp>
        <p:nvSpPr>
          <p:cNvPr id="56" name="TextBox 55"/>
          <p:cNvSpPr txBox="1"/>
          <p:nvPr/>
        </p:nvSpPr>
        <p:spPr>
          <a:xfrm>
            <a:off x="862731" y="1878939"/>
            <a:ext cx="4070889" cy="400110"/>
          </a:xfrm>
          <a:prstGeom prst="rect">
            <a:avLst/>
          </a:prstGeom>
          <a:solidFill>
            <a:srgbClr val="4B302A"/>
          </a:solidFill>
        </p:spPr>
        <p:txBody>
          <a:bodyPr wrap="square" rtlCol="0">
            <a:spAutoFit/>
          </a:bodyPr>
          <a:lstStyle/>
          <a:p>
            <a:pPr algn="ctr"/>
            <a:r>
              <a:rPr lang="en-IN" sz="2000" b="1" dirty="0">
                <a:solidFill>
                  <a:schemeClr val="bg1"/>
                </a:solidFill>
              </a:rPr>
              <a:t>Program Counter</a:t>
            </a:r>
          </a:p>
        </p:txBody>
      </p:sp>
      <p:sp>
        <p:nvSpPr>
          <p:cNvPr id="57" name="TextBox 56"/>
          <p:cNvSpPr txBox="1"/>
          <p:nvPr/>
        </p:nvSpPr>
        <p:spPr>
          <a:xfrm>
            <a:off x="857570" y="2495753"/>
            <a:ext cx="4070889" cy="400110"/>
          </a:xfrm>
          <a:prstGeom prst="rect">
            <a:avLst/>
          </a:prstGeom>
          <a:solidFill>
            <a:srgbClr val="4B302A"/>
          </a:solidFill>
        </p:spPr>
        <p:txBody>
          <a:bodyPr wrap="square" rtlCol="0">
            <a:spAutoFit/>
          </a:bodyPr>
          <a:lstStyle/>
          <a:p>
            <a:pPr algn="ctr"/>
            <a:r>
              <a:rPr lang="en-IN" sz="2000" b="1" dirty="0">
                <a:solidFill>
                  <a:schemeClr val="bg1"/>
                </a:solidFill>
              </a:rPr>
              <a:t>CPU Registers</a:t>
            </a:r>
          </a:p>
        </p:txBody>
      </p:sp>
      <p:sp>
        <p:nvSpPr>
          <p:cNvPr id="58" name="TextBox 57"/>
          <p:cNvSpPr txBox="1"/>
          <p:nvPr/>
        </p:nvSpPr>
        <p:spPr>
          <a:xfrm>
            <a:off x="901484" y="3144478"/>
            <a:ext cx="4070889" cy="400110"/>
          </a:xfrm>
          <a:prstGeom prst="rect">
            <a:avLst/>
          </a:prstGeom>
          <a:solidFill>
            <a:srgbClr val="4B302A"/>
          </a:solidFill>
        </p:spPr>
        <p:txBody>
          <a:bodyPr wrap="square" rtlCol="0">
            <a:spAutoFit/>
          </a:bodyPr>
          <a:lstStyle/>
          <a:p>
            <a:pPr algn="ctr"/>
            <a:r>
              <a:rPr lang="en-IN" sz="2000" b="1" dirty="0">
                <a:solidFill>
                  <a:schemeClr val="bg1"/>
                </a:solidFill>
              </a:rPr>
              <a:t>CPU Scheduling Information</a:t>
            </a:r>
          </a:p>
        </p:txBody>
      </p:sp>
      <p:sp>
        <p:nvSpPr>
          <p:cNvPr id="59" name="TextBox 58"/>
          <p:cNvSpPr txBox="1"/>
          <p:nvPr/>
        </p:nvSpPr>
        <p:spPr>
          <a:xfrm>
            <a:off x="901484" y="3826171"/>
            <a:ext cx="4070889" cy="400110"/>
          </a:xfrm>
          <a:prstGeom prst="rect">
            <a:avLst/>
          </a:prstGeom>
          <a:solidFill>
            <a:srgbClr val="4B302A"/>
          </a:solidFill>
        </p:spPr>
        <p:txBody>
          <a:bodyPr wrap="square" rtlCol="0">
            <a:spAutoFit/>
          </a:bodyPr>
          <a:lstStyle/>
          <a:p>
            <a:pPr algn="ctr"/>
            <a:r>
              <a:rPr lang="en-IN" sz="2000" b="1" dirty="0">
                <a:solidFill>
                  <a:schemeClr val="bg1"/>
                </a:solidFill>
              </a:rPr>
              <a:t>Memory Management Information</a:t>
            </a:r>
          </a:p>
        </p:txBody>
      </p:sp>
      <p:sp>
        <p:nvSpPr>
          <p:cNvPr id="61" name="TextBox 60"/>
          <p:cNvSpPr txBox="1"/>
          <p:nvPr/>
        </p:nvSpPr>
        <p:spPr>
          <a:xfrm>
            <a:off x="854995" y="5198513"/>
            <a:ext cx="4070889" cy="400110"/>
          </a:xfrm>
          <a:prstGeom prst="rect">
            <a:avLst/>
          </a:prstGeom>
          <a:solidFill>
            <a:srgbClr val="4B302A"/>
          </a:solidFill>
        </p:spPr>
        <p:txBody>
          <a:bodyPr wrap="square" rtlCol="0">
            <a:spAutoFit/>
          </a:bodyPr>
          <a:lstStyle/>
          <a:p>
            <a:pPr algn="ctr"/>
            <a:r>
              <a:rPr lang="en-IN" sz="2000" b="1" dirty="0">
                <a:solidFill>
                  <a:schemeClr val="bg1"/>
                </a:solidFill>
              </a:rPr>
              <a:t>I/O Status Information</a:t>
            </a:r>
          </a:p>
        </p:txBody>
      </p:sp>
      <p:sp>
        <p:nvSpPr>
          <p:cNvPr id="62" name="TextBox 61"/>
          <p:cNvSpPr txBox="1"/>
          <p:nvPr/>
        </p:nvSpPr>
        <p:spPr>
          <a:xfrm>
            <a:off x="857572" y="5881236"/>
            <a:ext cx="4070889" cy="400110"/>
          </a:xfrm>
          <a:prstGeom prst="rect">
            <a:avLst/>
          </a:prstGeom>
          <a:solidFill>
            <a:srgbClr val="4B302A"/>
          </a:solidFill>
        </p:spPr>
        <p:txBody>
          <a:bodyPr wrap="square" rtlCol="0">
            <a:spAutoFit/>
          </a:bodyPr>
          <a:lstStyle/>
          <a:p>
            <a:pPr algn="ctr"/>
            <a:r>
              <a:rPr lang="en-IN" sz="2000" b="1" dirty="0">
                <a:solidFill>
                  <a:schemeClr val="bg1"/>
                </a:solidFill>
              </a:rPr>
              <a:t>Pointer</a:t>
            </a:r>
          </a:p>
        </p:txBody>
      </p:sp>
      <p:sp>
        <p:nvSpPr>
          <p:cNvPr id="30" name="TextBox 29"/>
          <p:cNvSpPr txBox="1"/>
          <p:nvPr/>
        </p:nvSpPr>
        <p:spPr>
          <a:xfrm>
            <a:off x="6399506" y="905253"/>
            <a:ext cx="5674306" cy="1477328"/>
          </a:xfrm>
          <a:prstGeom prst="rect">
            <a:avLst/>
          </a:prstGeom>
          <a:noFill/>
        </p:spPr>
        <p:txBody>
          <a:bodyPr wrap="square" rtlCol="0">
            <a:spAutoFit/>
          </a:bodyPr>
          <a:lstStyle/>
          <a:p>
            <a:pPr marL="342900" indent="-342900" algn="just">
              <a:buFont typeface="Wingdings" panose="05000000000000000000" pitchFamily="2" charset="2"/>
              <a:buChar char="Ø"/>
            </a:pPr>
            <a:r>
              <a:rPr lang="en-IN" sz="2400" b="1" dirty="0">
                <a:solidFill>
                  <a:schemeClr val="bg1"/>
                </a:solidFill>
              </a:rPr>
              <a:t>I/O Status Information</a:t>
            </a:r>
          </a:p>
          <a:p>
            <a:pPr algn="just"/>
            <a:r>
              <a:rPr lang="en-IN" sz="2200" b="1" dirty="0">
                <a:solidFill>
                  <a:schemeClr val="bg1"/>
                </a:solidFill>
              </a:rPr>
              <a:t>	</a:t>
            </a:r>
          </a:p>
          <a:p>
            <a:pPr marL="811213" lvl="2" indent="-354013" algn="just">
              <a:buFont typeface="Wingdings" panose="05000000000000000000" pitchFamily="2" charset="2"/>
              <a:buChar char="ü"/>
            </a:pPr>
            <a:r>
              <a:rPr lang="en-IN" sz="2200" b="1" dirty="0">
                <a:solidFill>
                  <a:schemeClr val="bg1"/>
                </a:solidFill>
              </a:rPr>
              <a:t>It includes a list of I/O devices allocated to the process.</a:t>
            </a:r>
          </a:p>
        </p:txBody>
      </p:sp>
      <p:sp>
        <p:nvSpPr>
          <p:cNvPr id="28" name="TextBox 27"/>
          <p:cNvSpPr txBox="1"/>
          <p:nvPr/>
        </p:nvSpPr>
        <p:spPr>
          <a:xfrm>
            <a:off x="901484" y="4489065"/>
            <a:ext cx="4057974" cy="400110"/>
          </a:xfrm>
          <a:prstGeom prst="rect">
            <a:avLst/>
          </a:prstGeom>
          <a:solidFill>
            <a:srgbClr val="4B302A"/>
          </a:solidFill>
        </p:spPr>
        <p:txBody>
          <a:bodyPr wrap="square" rtlCol="0">
            <a:spAutoFit/>
          </a:bodyPr>
          <a:lstStyle/>
          <a:p>
            <a:pPr algn="ctr"/>
            <a:r>
              <a:rPr lang="en-IN" sz="2000" b="1" dirty="0">
                <a:solidFill>
                  <a:schemeClr val="bg1"/>
                </a:solidFill>
              </a:rPr>
              <a:t>Accounting Information</a:t>
            </a:r>
          </a:p>
        </p:txBody>
      </p:sp>
      <p:sp>
        <p:nvSpPr>
          <p:cNvPr id="29" name="TextBox 28"/>
          <p:cNvSpPr txBox="1"/>
          <p:nvPr/>
        </p:nvSpPr>
        <p:spPr>
          <a:xfrm rot="16200000">
            <a:off x="2651034" y="4031060"/>
            <a:ext cx="545956" cy="2712615"/>
          </a:xfrm>
          <a:prstGeom prst="rect">
            <a:avLst/>
          </a:prstGeom>
          <a:noFill/>
          <a:ln w="76200">
            <a:solidFill>
              <a:schemeClr val="accent3"/>
            </a:solidFill>
          </a:ln>
        </p:spPr>
        <p:txBody>
          <a:bodyPr wrap="square" rtlCol="0">
            <a:spAutoFit/>
          </a:bodyPr>
          <a:lstStyle/>
          <a:p>
            <a:endParaRPr lang="en-IN" dirty="0"/>
          </a:p>
        </p:txBody>
      </p:sp>
    </p:spTree>
    <p:extLst>
      <p:ext uri="{BB962C8B-B14F-4D97-AF65-F5344CB8AC3E}">
        <p14:creationId xmlns:p14="http://schemas.microsoft.com/office/powerpoint/2010/main" val="1424006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marL="285750" indent="-285750">
              <a:lnSpc>
                <a:spcPct val="120000"/>
              </a:lnSpc>
              <a:buFont typeface="Wingdings" panose="05000000000000000000" pitchFamily="2" charset="2"/>
              <a:buChar char="Ø"/>
            </a:pPr>
            <a:endParaRPr lang="en-US" dirty="0"/>
          </a:p>
          <a:p>
            <a:pPr>
              <a:lnSpc>
                <a:spcPct val="120000"/>
              </a:lnSpc>
            </a:pPr>
            <a:r>
              <a:rPr lang="en-US" sz="3200" b="1" dirty="0"/>
              <a:t> </a:t>
            </a:r>
          </a:p>
          <a:p>
            <a:pPr algn="l">
              <a:lnSpc>
                <a:spcPct val="120000"/>
              </a:lnSpc>
            </a:pPr>
            <a:endParaRPr lang="en-US" dirty="0"/>
          </a:p>
        </p:txBody>
      </p:sp>
      <p:sp>
        <p:nvSpPr>
          <p:cNvPr id="74" name="TextBox 73"/>
          <p:cNvSpPr txBox="1"/>
          <p:nvPr/>
        </p:nvSpPr>
        <p:spPr>
          <a:xfrm>
            <a:off x="888569" y="3089917"/>
            <a:ext cx="792997" cy="400110"/>
          </a:xfrm>
          <a:prstGeom prst="rect">
            <a:avLst/>
          </a:prstGeom>
          <a:solidFill>
            <a:srgbClr val="4B302A"/>
          </a:solidFill>
          <a:ln w="38100">
            <a:solidFill>
              <a:schemeClr val="bg2"/>
            </a:solidFill>
          </a:ln>
        </p:spPr>
        <p:txBody>
          <a:bodyPr wrap="square" rtlCol="0">
            <a:spAutoFit/>
          </a:bodyPr>
          <a:lstStyle/>
          <a:p>
            <a:pPr algn="ctr"/>
            <a:endParaRPr lang="en-IN" sz="2000" dirty="0">
              <a:solidFill>
                <a:schemeClr val="bg1"/>
              </a:solidFill>
            </a:endParaRPr>
          </a:p>
        </p:txBody>
      </p:sp>
      <p:sp>
        <p:nvSpPr>
          <p:cNvPr id="2" name="TextBox 1"/>
          <p:cNvSpPr txBox="1"/>
          <p:nvPr/>
        </p:nvSpPr>
        <p:spPr>
          <a:xfrm>
            <a:off x="6096000" y="154982"/>
            <a:ext cx="6095999" cy="461665"/>
          </a:xfrm>
          <a:prstGeom prst="rect">
            <a:avLst/>
          </a:prstGeom>
          <a:noFill/>
        </p:spPr>
        <p:txBody>
          <a:bodyPr wrap="square" rtlCol="0">
            <a:spAutoFit/>
          </a:bodyPr>
          <a:lstStyle/>
          <a:p>
            <a:r>
              <a:rPr lang="en-IN" sz="2400" b="1" dirty="0">
                <a:solidFill>
                  <a:schemeClr val="bg1"/>
                </a:solidFill>
              </a:rPr>
              <a:t>Fields of Process Control Block(PCB)</a:t>
            </a:r>
            <a:endParaRPr lang="en-IN" sz="1100" dirty="0">
              <a:solidFill>
                <a:schemeClr val="bg1"/>
              </a:solidFill>
            </a:endParaRPr>
          </a:p>
        </p:txBody>
      </p:sp>
      <p:sp>
        <p:nvSpPr>
          <p:cNvPr id="6" name="Rounded Rectangle 5"/>
          <p:cNvSpPr/>
          <p:nvPr/>
        </p:nvSpPr>
        <p:spPr>
          <a:xfrm>
            <a:off x="862737" y="110038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6" name="Rounded Rectangle 35"/>
          <p:cNvSpPr/>
          <p:nvPr/>
        </p:nvSpPr>
        <p:spPr>
          <a:xfrm>
            <a:off x="862736" y="1797805"/>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7" name="Rounded Rectangle 36"/>
          <p:cNvSpPr/>
          <p:nvPr/>
        </p:nvSpPr>
        <p:spPr>
          <a:xfrm>
            <a:off x="862736" y="244386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8" name="Rounded Rectangle 37"/>
          <p:cNvSpPr/>
          <p:nvPr/>
        </p:nvSpPr>
        <p:spPr>
          <a:xfrm>
            <a:off x="888568" y="3089917"/>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39" name="Rounded Rectangle 38"/>
          <p:cNvSpPr/>
          <p:nvPr/>
        </p:nvSpPr>
        <p:spPr>
          <a:xfrm>
            <a:off x="901485" y="3772841"/>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0" name="Rounded Rectangle 39"/>
          <p:cNvSpPr/>
          <p:nvPr/>
        </p:nvSpPr>
        <p:spPr>
          <a:xfrm>
            <a:off x="888568" y="4451092"/>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1" name="Rounded Rectangle 40"/>
          <p:cNvSpPr/>
          <p:nvPr/>
        </p:nvSpPr>
        <p:spPr>
          <a:xfrm>
            <a:off x="862734" y="5127348"/>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2" name="Rounded Rectangle 41"/>
          <p:cNvSpPr/>
          <p:nvPr/>
        </p:nvSpPr>
        <p:spPr>
          <a:xfrm>
            <a:off x="862733" y="5827051"/>
            <a:ext cx="4070889" cy="489099"/>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44" name="Rounded Rectangle 43"/>
          <p:cNvSpPr/>
          <p:nvPr/>
        </p:nvSpPr>
        <p:spPr>
          <a:xfrm>
            <a:off x="862735" y="444830"/>
            <a:ext cx="4070889" cy="511444"/>
          </a:xfrm>
          <a:prstGeom prst="round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solidFill>
                <a:schemeClr val="bg1"/>
              </a:solidFill>
            </a:endParaRPr>
          </a:p>
        </p:txBody>
      </p:sp>
      <p:sp>
        <p:nvSpPr>
          <p:cNvPr id="7" name="TextBox 6"/>
          <p:cNvSpPr txBox="1"/>
          <p:nvPr/>
        </p:nvSpPr>
        <p:spPr>
          <a:xfrm>
            <a:off x="862733" y="506822"/>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Identifiers</a:t>
            </a:r>
          </a:p>
        </p:txBody>
      </p:sp>
      <p:sp>
        <p:nvSpPr>
          <p:cNvPr id="46" name="TextBox 45"/>
          <p:cNvSpPr txBox="1"/>
          <p:nvPr/>
        </p:nvSpPr>
        <p:spPr>
          <a:xfrm>
            <a:off x="862732" y="1156047"/>
            <a:ext cx="4070889" cy="400110"/>
          </a:xfrm>
          <a:prstGeom prst="rect">
            <a:avLst/>
          </a:prstGeom>
          <a:solidFill>
            <a:srgbClr val="4B302A"/>
          </a:solidFill>
        </p:spPr>
        <p:txBody>
          <a:bodyPr wrap="square" rtlCol="0">
            <a:spAutoFit/>
          </a:bodyPr>
          <a:lstStyle/>
          <a:p>
            <a:pPr algn="ctr"/>
            <a:r>
              <a:rPr lang="en-IN" sz="2000" b="1" dirty="0">
                <a:solidFill>
                  <a:schemeClr val="bg1"/>
                </a:solidFill>
              </a:rPr>
              <a:t>Process State</a:t>
            </a:r>
          </a:p>
        </p:txBody>
      </p:sp>
      <p:sp>
        <p:nvSpPr>
          <p:cNvPr id="56" name="TextBox 55"/>
          <p:cNvSpPr txBox="1"/>
          <p:nvPr/>
        </p:nvSpPr>
        <p:spPr>
          <a:xfrm>
            <a:off x="862731" y="1878939"/>
            <a:ext cx="4070889" cy="400110"/>
          </a:xfrm>
          <a:prstGeom prst="rect">
            <a:avLst/>
          </a:prstGeom>
          <a:solidFill>
            <a:srgbClr val="4B302A"/>
          </a:solidFill>
        </p:spPr>
        <p:txBody>
          <a:bodyPr wrap="square" rtlCol="0">
            <a:spAutoFit/>
          </a:bodyPr>
          <a:lstStyle/>
          <a:p>
            <a:pPr algn="ctr"/>
            <a:r>
              <a:rPr lang="en-IN" sz="2000" b="1" dirty="0">
                <a:solidFill>
                  <a:schemeClr val="bg1"/>
                </a:solidFill>
              </a:rPr>
              <a:t>Program Counter</a:t>
            </a:r>
          </a:p>
        </p:txBody>
      </p:sp>
      <p:sp>
        <p:nvSpPr>
          <p:cNvPr id="57" name="TextBox 56"/>
          <p:cNvSpPr txBox="1"/>
          <p:nvPr/>
        </p:nvSpPr>
        <p:spPr>
          <a:xfrm>
            <a:off x="857570" y="2495753"/>
            <a:ext cx="4070889" cy="400110"/>
          </a:xfrm>
          <a:prstGeom prst="rect">
            <a:avLst/>
          </a:prstGeom>
          <a:solidFill>
            <a:srgbClr val="4B302A"/>
          </a:solidFill>
        </p:spPr>
        <p:txBody>
          <a:bodyPr wrap="square" rtlCol="0">
            <a:spAutoFit/>
          </a:bodyPr>
          <a:lstStyle/>
          <a:p>
            <a:pPr algn="ctr"/>
            <a:r>
              <a:rPr lang="en-IN" sz="2000" b="1" dirty="0">
                <a:solidFill>
                  <a:schemeClr val="bg1"/>
                </a:solidFill>
              </a:rPr>
              <a:t>CPU Registers</a:t>
            </a:r>
          </a:p>
        </p:txBody>
      </p:sp>
      <p:sp>
        <p:nvSpPr>
          <p:cNvPr id="58" name="TextBox 57"/>
          <p:cNvSpPr txBox="1"/>
          <p:nvPr/>
        </p:nvSpPr>
        <p:spPr>
          <a:xfrm>
            <a:off x="901484" y="3144478"/>
            <a:ext cx="4070889" cy="400110"/>
          </a:xfrm>
          <a:prstGeom prst="rect">
            <a:avLst/>
          </a:prstGeom>
          <a:solidFill>
            <a:srgbClr val="4B302A"/>
          </a:solidFill>
        </p:spPr>
        <p:txBody>
          <a:bodyPr wrap="square" rtlCol="0">
            <a:spAutoFit/>
          </a:bodyPr>
          <a:lstStyle/>
          <a:p>
            <a:pPr algn="ctr"/>
            <a:r>
              <a:rPr lang="en-IN" sz="2000" b="1" dirty="0">
                <a:solidFill>
                  <a:schemeClr val="bg1"/>
                </a:solidFill>
              </a:rPr>
              <a:t>CPU Scheduling Information</a:t>
            </a:r>
          </a:p>
        </p:txBody>
      </p:sp>
      <p:sp>
        <p:nvSpPr>
          <p:cNvPr id="59" name="TextBox 58"/>
          <p:cNvSpPr txBox="1"/>
          <p:nvPr/>
        </p:nvSpPr>
        <p:spPr>
          <a:xfrm>
            <a:off x="901484" y="3826171"/>
            <a:ext cx="4070889" cy="400110"/>
          </a:xfrm>
          <a:prstGeom prst="rect">
            <a:avLst/>
          </a:prstGeom>
          <a:solidFill>
            <a:srgbClr val="4B302A"/>
          </a:solidFill>
        </p:spPr>
        <p:txBody>
          <a:bodyPr wrap="square" rtlCol="0">
            <a:spAutoFit/>
          </a:bodyPr>
          <a:lstStyle/>
          <a:p>
            <a:pPr algn="ctr"/>
            <a:r>
              <a:rPr lang="en-IN" sz="2000" b="1" dirty="0">
                <a:solidFill>
                  <a:schemeClr val="bg1"/>
                </a:solidFill>
              </a:rPr>
              <a:t>Memory Management Information</a:t>
            </a:r>
          </a:p>
        </p:txBody>
      </p:sp>
      <p:sp>
        <p:nvSpPr>
          <p:cNvPr id="61" name="TextBox 60"/>
          <p:cNvSpPr txBox="1"/>
          <p:nvPr/>
        </p:nvSpPr>
        <p:spPr>
          <a:xfrm>
            <a:off x="854995" y="5198513"/>
            <a:ext cx="4070889" cy="400110"/>
          </a:xfrm>
          <a:prstGeom prst="rect">
            <a:avLst/>
          </a:prstGeom>
          <a:solidFill>
            <a:srgbClr val="4B302A"/>
          </a:solidFill>
        </p:spPr>
        <p:txBody>
          <a:bodyPr wrap="square" rtlCol="0">
            <a:spAutoFit/>
          </a:bodyPr>
          <a:lstStyle/>
          <a:p>
            <a:pPr algn="ctr"/>
            <a:r>
              <a:rPr lang="en-IN" sz="2000" b="1" dirty="0">
                <a:solidFill>
                  <a:schemeClr val="bg1"/>
                </a:solidFill>
              </a:rPr>
              <a:t>I/O Status Information</a:t>
            </a:r>
          </a:p>
        </p:txBody>
      </p:sp>
      <p:sp>
        <p:nvSpPr>
          <p:cNvPr id="62" name="TextBox 61"/>
          <p:cNvSpPr txBox="1"/>
          <p:nvPr/>
        </p:nvSpPr>
        <p:spPr>
          <a:xfrm>
            <a:off x="857572" y="5881236"/>
            <a:ext cx="4070889" cy="400110"/>
          </a:xfrm>
          <a:prstGeom prst="rect">
            <a:avLst/>
          </a:prstGeom>
          <a:solidFill>
            <a:srgbClr val="4B302A"/>
          </a:solidFill>
        </p:spPr>
        <p:txBody>
          <a:bodyPr wrap="square" rtlCol="0">
            <a:spAutoFit/>
          </a:bodyPr>
          <a:lstStyle/>
          <a:p>
            <a:pPr algn="ctr"/>
            <a:r>
              <a:rPr lang="en-IN" sz="2000" b="1" dirty="0">
                <a:solidFill>
                  <a:schemeClr val="bg1"/>
                </a:solidFill>
              </a:rPr>
              <a:t>Pointer</a:t>
            </a:r>
          </a:p>
        </p:txBody>
      </p:sp>
      <p:sp>
        <p:nvSpPr>
          <p:cNvPr id="30" name="TextBox 29"/>
          <p:cNvSpPr txBox="1"/>
          <p:nvPr/>
        </p:nvSpPr>
        <p:spPr>
          <a:xfrm>
            <a:off x="6399506" y="905253"/>
            <a:ext cx="5674306" cy="1815882"/>
          </a:xfrm>
          <a:prstGeom prst="rect">
            <a:avLst/>
          </a:prstGeom>
          <a:noFill/>
        </p:spPr>
        <p:txBody>
          <a:bodyPr wrap="square" rtlCol="0">
            <a:spAutoFit/>
          </a:bodyPr>
          <a:lstStyle/>
          <a:p>
            <a:pPr marL="342900" indent="-342900" algn="just">
              <a:buFont typeface="Wingdings" panose="05000000000000000000" pitchFamily="2" charset="2"/>
              <a:buChar char="Ø"/>
            </a:pPr>
            <a:r>
              <a:rPr lang="en-IN" sz="2400" b="1" dirty="0">
                <a:solidFill>
                  <a:schemeClr val="bg1"/>
                </a:solidFill>
              </a:rPr>
              <a:t>Pointer</a:t>
            </a:r>
          </a:p>
          <a:p>
            <a:pPr algn="just"/>
            <a:r>
              <a:rPr lang="en-IN" sz="2200" b="1" dirty="0">
                <a:solidFill>
                  <a:schemeClr val="bg1"/>
                </a:solidFill>
              </a:rPr>
              <a:t>	</a:t>
            </a:r>
          </a:p>
          <a:p>
            <a:pPr marL="811213" lvl="2" indent="-354013" algn="just">
              <a:buFont typeface="Wingdings" panose="05000000000000000000" pitchFamily="2" charset="2"/>
              <a:buChar char="ü"/>
            </a:pPr>
            <a:r>
              <a:rPr lang="en-IN" sz="2200" b="1" dirty="0">
                <a:solidFill>
                  <a:schemeClr val="bg1"/>
                </a:solidFill>
              </a:rPr>
              <a:t>It contains information about where the code, data and stack regions are stored in main memory.</a:t>
            </a:r>
          </a:p>
        </p:txBody>
      </p:sp>
      <p:sp>
        <p:nvSpPr>
          <p:cNvPr id="28" name="TextBox 27"/>
          <p:cNvSpPr txBox="1"/>
          <p:nvPr/>
        </p:nvSpPr>
        <p:spPr>
          <a:xfrm>
            <a:off x="901484" y="4489065"/>
            <a:ext cx="4057974" cy="400110"/>
          </a:xfrm>
          <a:prstGeom prst="rect">
            <a:avLst/>
          </a:prstGeom>
          <a:solidFill>
            <a:srgbClr val="4B302A"/>
          </a:solidFill>
        </p:spPr>
        <p:txBody>
          <a:bodyPr wrap="square" rtlCol="0">
            <a:spAutoFit/>
          </a:bodyPr>
          <a:lstStyle/>
          <a:p>
            <a:pPr algn="ctr"/>
            <a:r>
              <a:rPr lang="en-IN" sz="2000" b="1" dirty="0">
                <a:solidFill>
                  <a:schemeClr val="bg1"/>
                </a:solidFill>
              </a:rPr>
              <a:t>Accounting Information</a:t>
            </a:r>
          </a:p>
        </p:txBody>
      </p:sp>
      <p:sp>
        <p:nvSpPr>
          <p:cNvPr id="29" name="TextBox 28"/>
          <p:cNvSpPr txBox="1"/>
          <p:nvPr/>
        </p:nvSpPr>
        <p:spPr>
          <a:xfrm rot="16200000">
            <a:off x="2650013" y="5379739"/>
            <a:ext cx="496324" cy="1392001"/>
          </a:xfrm>
          <a:prstGeom prst="rect">
            <a:avLst/>
          </a:prstGeom>
          <a:noFill/>
          <a:ln w="76200">
            <a:solidFill>
              <a:schemeClr val="accent3"/>
            </a:solidFill>
          </a:ln>
        </p:spPr>
        <p:txBody>
          <a:bodyPr wrap="square" rtlCol="0">
            <a:spAutoFit/>
          </a:bodyPr>
          <a:lstStyle/>
          <a:p>
            <a:endParaRPr lang="en-IN" dirty="0"/>
          </a:p>
        </p:txBody>
      </p:sp>
    </p:spTree>
    <p:extLst>
      <p:ext uri="{BB962C8B-B14F-4D97-AF65-F5344CB8AC3E}">
        <p14:creationId xmlns:p14="http://schemas.microsoft.com/office/powerpoint/2010/main" val="2362213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a:xfrm>
            <a:off x="831850" y="1709738"/>
            <a:ext cx="11126788" cy="2852737"/>
          </a:xfrm>
        </p:spPr>
        <p:txBody>
          <a:bodyPr>
            <a:normAutofit/>
          </a:bodyPr>
          <a:lstStyle/>
          <a:p>
            <a:r>
              <a:rPr lang="en-US" dirty="0">
                <a:gradFill flip="none" rotWithShape="1">
                  <a:gsLst>
                    <a:gs pos="10000">
                      <a:srgbClr val="3E2622"/>
                    </a:gs>
                    <a:gs pos="100000">
                      <a:srgbClr val="795547"/>
                    </a:gs>
                  </a:gsLst>
                  <a:lin ang="0" scaled="1"/>
                  <a:tileRect/>
                </a:gradFill>
              </a:rPr>
              <a:t>Context Switching</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- 5</a:t>
            </a:r>
          </a:p>
        </p:txBody>
      </p:sp>
    </p:spTree>
    <p:extLst>
      <p:ext uri="{BB962C8B-B14F-4D97-AF65-F5344CB8AC3E}">
        <p14:creationId xmlns:p14="http://schemas.microsoft.com/office/powerpoint/2010/main" val="23739639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Context switching</a:t>
            </a:r>
          </a:p>
        </p:txBody>
      </p:sp>
      <p:sp>
        <p:nvSpPr>
          <p:cNvPr id="3" name="Content Placeholder 2"/>
          <p:cNvSpPr>
            <a:spLocks noGrp="1"/>
          </p:cNvSpPr>
          <p:nvPr>
            <p:ph idx="1"/>
          </p:nvPr>
        </p:nvSpPr>
        <p:spPr>
          <a:xfrm>
            <a:off x="131181" y="863444"/>
            <a:ext cx="6930802" cy="5590565"/>
          </a:xfrm>
        </p:spPr>
        <p:txBody>
          <a:bodyPr/>
          <a:lstStyle/>
          <a:p>
            <a:r>
              <a:rPr lang="en-US" dirty="0"/>
              <a:t>Context switch means </a:t>
            </a:r>
            <a:r>
              <a:rPr lang="en-US" b="1" dirty="0">
                <a:solidFill>
                  <a:schemeClr val="accent6"/>
                </a:solidFill>
              </a:rPr>
              <a:t>stopping one process </a:t>
            </a:r>
            <a:r>
              <a:rPr lang="en-US" dirty="0"/>
              <a:t>and </a:t>
            </a:r>
            <a:r>
              <a:rPr lang="en-US" b="1" dirty="0">
                <a:solidFill>
                  <a:schemeClr val="accent6"/>
                </a:solidFill>
              </a:rPr>
              <a:t>restarting another process</a:t>
            </a:r>
            <a:r>
              <a:rPr lang="en-US" dirty="0"/>
              <a:t>.</a:t>
            </a:r>
          </a:p>
          <a:p>
            <a:r>
              <a:rPr lang="en-US" dirty="0"/>
              <a:t>When an event occur, the </a:t>
            </a:r>
            <a:r>
              <a:rPr lang="en-US" b="1" dirty="0">
                <a:solidFill>
                  <a:schemeClr val="accent6"/>
                </a:solidFill>
              </a:rPr>
              <a:t>OS saves the state of an active process (into its PCB) </a:t>
            </a:r>
            <a:r>
              <a:rPr lang="en-US" dirty="0"/>
              <a:t>and </a:t>
            </a:r>
            <a:r>
              <a:rPr lang="en-US" b="1" dirty="0">
                <a:solidFill>
                  <a:schemeClr val="accent6"/>
                </a:solidFill>
              </a:rPr>
              <a:t>restore the state of new process (from its PCB)</a:t>
            </a:r>
            <a:r>
              <a:rPr lang="en-US" dirty="0"/>
              <a:t>.</a:t>
            </a:r>
          </a:p>
          <a:p>
            <a:r>
              <a:rPr lang="en-US" dirty="0"/>
              <a:t>Context switching is </a:t>
            </a:r>
            <a:r>
              <a:rPr lang="en-US" b="1" dirty="0">
                <a:solidFill>
                  <a:schemeClr val="accent6"/>
                </a:solidFill>
              </a:rPr>
              <a:t>purely overhead </a:t>
            </a:r>
            <a:r>
              <a:rPr lang="en-US" dirty="0"/>
              <a:t>because system does not perform any useful work while context switch.</a:t>
            </a:r>
          </a:p>
          <a:p>
            <a:r>
              <a:rPr lang="en-US" dirty="0"/>
              <a:t>Sequence of action:</a:t>
            </a:r>
          </a:p>
          <a:p>
            <a:pPr marL="914400" lvl="1" indent="-457200">
              <a:buFont typeface="+mj-lt"/>
              <a:buAutoNum type="arabicPeriod"/>
            </a:pPr>
            <a:r>
              <a:rPr lang="en-US" b="1" dirty="0">
                <a:solidFill>
                  <a:schemeClr val="accent6"/>
                </a:solidFill>
              </a:rPr>
              <a:t>OS</a:t>
            </a:r>
            <a:r>
              <a:rPr lang="en-US" dirty="0"/>
              <a:t> </a:t>
            </a:r>
            <a:r>
              <a:rPr lang="en-US" b="1" dirty="0">
                <a:solidFill>
                  <a:schemeClr val="accent6"/>
                </a:solidFill>
              </a:rPr>
              <a:t>takes control </a:t>
            </a:r>
            <a:r>
              <a:rPr lang="en-US" dirty="0"/>
              <a:t>(through interrupt)</a:t>
            </a:r>
          </a:p>
          <a:p>
            <a:pPr marL="914400" lvl="1" indent="-457200">
              <a:buFont typeface="+mj-lt"/>
              <a:buAutoNum type="arabicPeriod"/>
            </a:pPr>
            <a:r>
              <a:rPr lang="en-US" b="1" dirty="0">
                <a:solidFill>
                  <a:schemeClr val="accent6"/>
                </a:solidFill>
              </a:rPr>
              <a:t>Saves context of</a:t>
            </a:r>
            <a:r>
              <a:rPr lang="en-US" dirty="0"/>
              <a:t> </a:t>
            </a:r>
            <a:r>
              <a:rPr lang="en-US" b="1" dirty="0">
                <a:solidFill>
                  <a:schemeClr val="accent6"/>
                </a:solidFill>
              </a:rPr>
              <a:t>running process </a:t>
            </a:r>
            <a:r>
              <a:rPr lang="en-US" dirty="0"/>
              <a:t>in the process PCB</a:t>
            </a:r>
          </a:p>
          <a:p>
            <a:pPr marL="914400" lvl="1" indent="-457200">
              <a:buFont typeface="+mj-lt"/>
              <a:buAutoNum type="arabicPeriod"/>
            </a:pPr>
            <a:r>
              <a:rPr lang="en-US" b="1" dirty="0">
                <a:solidFill>
                  <a:schemeClr val="accent6"/>
                </a:solidFill>
              </a:rPr>
              <a:t>Reload context of new process </a:t>
            </a:r>
            <a:r>
              <a:rPr lang="en-US" dirty="0"/>
              <a:t>from the new process PCB</a:t>
            </a:r>
          </a:p>
          <a:p>
            <a:pPr marL="914400" lvl="1" indent="-457200">
              <a:buFont typeface="+mj-lt"/>
              <a:buAutoNum type="arabicPeriod"/>
            </a:pPr>
            <a:r>
              <a:rPr lang="en-US" b="1" dirty="0">
                <a:solidFill>
                  <a:schemeClr val="accent6"/>
                </a:solidFill>
              </a:rPr>
              <a:t>Return control </a:t>
            </a:r>
            <a:r>
              <a:rPr lang="en-US" dirty="0"/>
              <a:t>to new process</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0729" y="1549241"/>
            <a:ext cx="4874012" cy="3982981"/>
          </a:xfrm>
          <a:prstGeom prst="rect">
            <a:avLst/>
          </a:prstGeom>
          <a:ln>
            <a:solidFill>
              <a:schemeClr val="tx1">
                <a:lumMod val="75000"/>
                <a:lumOff val="25000"/>
              </a:schemeClr>
            </a:solidFill>
          </a:ln>
        </p:spPr>
      </p:pic>
      <p:cxnSp>
        <p:nvCxnSpPr>
          <p:cNvPr id="8" name="Straight Connector 7"/>
          <p:cNvCxnSpPr/>
          <p:nvPr/>
        </p:nvCxnSpPr>
        <p:spPr>
          <a:xfrm>
            <a:off x="492344" y="6367376"/>
            <a:ext cx="5943600" cy="7823"/>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graphicFrame>
        <p:nvGraphicFramePr>
          <p:cNvPr id="9"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492344" y="5979391"/>
          <a:ext cx="1100455" cy="396240"/>
        </p:xfrm>
        <a:graphic>
          <a:graphicData uri="http://schemas.openxmlformats.org/drawingml/2006/table">
            <a:tbl>
              <a:tblPr firstRow="1" bandRow="1">
                <a:tableStyleId>{8EC20E35-A176-4012-BC5E-935CFFF8708E}</a:tableStyleId>
              </a:tblPr>
              <a:tblGrid>
                <a:gridCol w="1100455">
                  <a:extLst>
                    <a:ext uri="{9D8B030D-6E8A-4147-A177-3AD203B41FA5}">
                      <a16:colId xmlns:a16="http://schemas.microsoft.com/office/drawing/2014/main" val="20000"/>
                    </a:ext>
                  </a:extLst>
                </a:gridCol>
              </a:tblGrid>
              <a:tr h="285488">
                <a:tc>
                  <a:txBody>
                    <a:bodyPr/>
                    <a:lstStyle/>
                    <a:p>
                      <a:pPr algn="l"/>
                      <a:r>
                        <a:rPr lang="en-US" sz="2000" b="1" dirty="0">
                          <a:solidFill>
                            <a:schemeClr val="bg1"/>
                          </a:solidFill>
                        </a:rPr>
                        <a:t>Exercise</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1"/>
                  </a:ext>
                </a:extLst>
              </a:tr>
            </a:tbl>
          </a:graphicData>
        </a:graphic>
      </p:graphicFrame>
      <p:graphicFrame>
        <p:nvGraphicFramePr>
          <p:cNvPr id="10"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1591273" y="5970503"/>
          <a:ext cx="4846320" cy="396240"/>
        </p:xfrm>
        <a:graphic>
          <a:graphicData uri="http://schemas.openxmlformats.org/drawingml/2006/table">
            <a:tbl>
              <a:tblPr firstRow="1" bandRow="1">
                <a:tableStyleId>{8EC20E35-A176-4012-BC5E-935CFFF8708E}</a:tableStyleId>
              </a:tblPr>
              <a:tblGrid>
                <a:gridCol w="4846320">
                  <a:extLst>
                    <a:ext uri="{9D8B030D-6E8A-4147-A177-3AD203B41FA5}">
                      <a16:colId xmlns:a16="http://schemas.microsoft.com/office/drawing/2014/main" val="20000"/>
                    </a:ext>
                  </a:extLst>
                </a:gridCol>
              </a:tblGrid>
              <a:tr h="285488">
                <a:tc>
                  <a:txBody>
                    <a:bodyPr/>
                    <a:lstStyle/>
                    <a:p>
                      <a:pPr algn="l"/>
                      <a:r>
                        <a:rPr lang="en-US" sz="2000" b="0" kern="1200" dirty="0">
                          <a:solidFill>
                            <a:schemeClr val="tx1"/>
                          </a:solidFill>
                          <a:latin typeface="+mn-lt"/>
                          <a:ea typeface="+mn-ea"/>
                          <a:cs typeface="+mn-cs"/>
                        </a:rPr>
                        <a:t>What causes (Reasons for) context switching?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12" name="Content Placeholder 2"/>
          <p:cNvSpPr txBox="1">
            <a:spLocks/>
          </p:cNvSpPr>
          <p:nvPr/>
        </p:nvSpPr>
        <p:spPr>
          <a:xfrm>
            <a:off x="6519104" y="5715781"/>
            <a:ext cx="5644903" cy="659418"/>
          </a:xfrm>
          <a:prstGeom prst="rect">
            <a:avLst/>
          </a:prstGeom>
          <a:solidFill>
            <a:schemeClr val="accent6">
              <a:lumMod val="20000"/>
              <a:lumOff val="80000"/>
            </a:schemeClr>
          </a:solidFill>
        </p:spPr>
        <p:txBody>
          <a:bodyPr vert="horz" lIns="91440" tIns="45720" rIns="91440" bIns="45720" rtlCol="0" anchor="ctr">
            <a:noAutofit/>
          </a:bodyPr>
          <a:lstStyle>
            <a:lvl1pPr indent="0" algn="just">
              <a:lnSpc>
                <a:spcPct val="90000"/>
              </a:lnSpc>
              <a:spcBef>
                <a:spcPts val="1000"/>
              </a:spcBef>
              <a:buClr>
                <a:schemeClr val="accent6"/>
              </a:buClr>
              <a:buFont typeface="Wingdings 3" panose="05040102010807070707" pitchFamily="18" charset="2"/>
              <a:buNone/>
              <a:defRPr sz="2400">
                <a:solidFill>
                  <a:schemeClr val="accent6"/>
                </a:solidFill>
              </a:defRPr>
            </a:lvl1pPr>
            <a:lvl2pPr marL="809625" indent="-352425" algn="just">
              <a:lnSpc>
                <a:spcPct val="90000"/>
              </a:lnSpc>
              <a:spcBef>
                <a:spcPts val="500"/>
              </a:spcBef>
              <a:buClr>
                <a:schemeClr val="accent6"/>
              </a:buClr>
              <a:buFont typeface="Wingdings 3" panose="05040102010807070707" pitchFamily="18" charset="2"/>
              <a:buChar char=""/>
              <a:defRPr sz="2000"/>
            </a:lvl2pPr>
            <a:lvl3pPr marL="1143000" indent="-228600" algn="just">
              <a:lnSpc>
                <a:spcPct val="90000"/>
              </a:lnSpc>
              <a:spcBef>
                <a:spcPts val="500"/>
              </a:spcBef>
              <a:buClr>
                <a:schemeClr val="accent6"/>
              </a:buClr>
              <a:buFont typeface="Wingdings" panose="05000000000000000000" pitchFamily="2" charset="2"/>
              <a:buChar char="§"/>
            </a:lvl3pPr>
            <a:lvl4pPr marL="1600200" indent="-228600" algn="just">
              <a:lnSpc>
                <a:spcPct val="90000"/>
              </a:lnSpc>
              <a:spcBef>
                <a:spcPts val="500"/>
              </a:spcBef>
              <a:buClr>
                <a:schemeClr val="accent6"/>
              </a:buClr>
              <a:buFont typeface="Arial" panose="020B0604020202020204" pitchFamily="34" charset="0"/>
              <a:buChar char="•"/>
              <a:defRPr sz="1600"/>
            </a:lvl4pPr>
            <a:lvl5pPr marL="2057400" indent="-228600" algn="just">
              <a:lnSpc>
                <a:spcPct val="90000"/>
              </a:lnSpc>
              <a:spcBef>
                <a:spcPts val="500"/>
              </a:spcBef>
              <a:buClr>
                <a:schemeClr val="accent6"/>
              </a:buClr>
              <a:buFont typeface="Arial" panose="020B0604020202020204" pitchFamily="34" charset="0"/>
              <a:buChar char="•"/>
              <a:defRPr sz="16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342900" indent="-342900">
              <a:buFont typeface="+mj-lt"/>
              <a:buAutoNum type="arabicPeriod"/>
            </a:pPr>
            <a:r>
              <a:rPr lang="en-US" sz="1800" dirty="0">
                <a:solidFill>
                  <a:schemeClr val="tx1"/>
                </a:solidFill>
              </a:rPr>
              <a:t>Time slice has elapsed</a:t>
            </a:r>
          </a:p>
          <a:p>
            <a:pPr marL="342900" indent="-342900">
              <a:buFont typeface="+mj-lt"/>
              <a:buAutoNum type="arabicPeriod"/>
            </a:pPr>
            <a:r>
              <a:rPr lang="en-US" sz="1800" dirty="0">
                <a:solidFill>
                  <a:schemeClr val="tx1"/>
                </a:solidFill>
              </a:rPr>
              <a:t>Process with a higher priority has become ready to run.</a:t>
            </a:r>
          </a:p>
        </p:txBody>
      </p:sp>
    </p:spTree>
    <p:extLst>
      <p:ext uri="{BB962C8B-B14F-4D97-AF65-F5344CB8AC3E}">
        <p14:creationId xmlns:p14="http://schemas.microsoft.com/office/powerpoint/2010/main" val="1849902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left)">
                                      <p:cBhvr>
                                        <p:cTn id="52" dur="500"/>
                                        <p:tgtEl>
                                          <p:spTgt spid="8"/>
                                        </p:tgtEl>
                                      </p:cBhvr>
                                    </p:animEffect>
                                  </p:childTnLst>
                                </p:cTn>
                              </p:par>
                              <p:par>
                                <p:cTn id="53" presetID="22" presetClass="entr" presetSubtype="8" fill="hold" nodeType="with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par>
                                <p:cTn id="56" presetID="22" presetClass="entr" presetSubtype="8" fill="hold" nodeType="with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3E2622"/>
                    </a:gs>
                    <a:gs pos="100000">
                      <a:srgbClr val="795547"/>
                    </a:gs>
                  </a:gsLst>
                  <a:lin ang="0" scaled="1"/>
                  <a:tileRect/>
                </a:gradFill>
              </a:rPr>
              <a:t>Threads Concept</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- 6</a:t>
            </a:r>
          </a:p>
        </p:txBody>
      </p:sp>
    </p:spTree>
    <p:extLst>
      <p:ext uri="{BB962C8B-B14F-4D97-AF65-F5344CB8AC3E}">
        <p14:creationId xmlns:p14="http://schemas.microsoft.com/office/powerpoint/2010/main" val="304157652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Definition of Thread</a:t>
            </a:r>
          </a:p>
        </p:txBody>
      </p:sp>
      <p:sp>
        <p:nvSpPr>
          <p:cNvPr id="3" name="Content Placeholder 2"/>
          <p:cNvSpPr>
            <a:spLocks noGrp="1"/>
          </p:cNvSpPr>
          <p:nvPr>
            <p:ph idx="1"/>
          </p:nvPr>
        </p:nvSpPr>
        <p:spPr>
          <a:xfrm>
            <a:off x="131180" y="878943"/>
            <a:ext cx="11929641" cy="5649046"/>
          </a:xfrm>
        </p:spPr>
        <p:txBody>
          <a:bodyPr/>
          <a:lstStyle/>
          <a:p>
            <a:r>
              <a:rPr lang="en-US" dirty="0"/>
              <a:t>A </a:t>
            </a:r>
            <a:r>
              <a:rPr lang="en-US" b="1" dirty="0">
                <a:solidFill>
                  <a:schemeClr val="accent6"/>
                </a:solidFill>
              </a:rPr>
              <a:t>thread</a:t>
            </a:r>
            <a:r>
              <a:rPr lang="en-US" dirty="0"/>
              <a:t> is the smallest unit of execution within a process.</a:t>
            </a:r>
          </a:p>
          <a:p>
            <a:r>
              <a:rPr lang="en-US" dirty="0"/>
              <a:t>Thread is a </a:t>
            </a:r>
            <a:r>
              <a:rPr lang="en-US" b="1" dirty="0">
                <a:solidFill>
                  <a:schemeClr val="accent6"/>
                </a:solidFill>
              </a:rPr>
              <a:t>single</a:t>
            </a:r>
            <a:r>
              <a:rPr lang="en-IN" dirty="0"/>
              <a:t>, </a:t>
            </a:r>
            <a:r>
              <a:rPr lang="en-IN" b="1" dirty="0">
                <a:solidFill>
                  <a:schemeClr val="accent6"/>
                </a:solidFill>
              </a:rPr>
              <a:t>sequential</a:t>
            </a:r>
            <a:r>
              <a:rPr lang="en-IN" dirty="0"/>
              <a:t> flow of control, </a:t>
            </a:r>
            <a:r>
              <a:rPr lang="en-US" dirty="0"/>
              <a:t>meaning it runs a series of instructions one after another.</a:t>
            </a:r>
            <a:endParaRPr lang="en-IN" dirty="0">
              <a:solidFill>
                <a:srgbClr val="C00000"/>
              </a:solidFill>
            </a:endParaRPr>
          </a:p>
          <a:p>
            <a:r>
              <a:rPr lang="en-US" dirty="0"/>
              <a:t>A thread is also called a </a:t>
            </a:r>
            <a:r>
              <a:rPr lang="en-US" b="1" dirty="0">
                <a:solidFill>
                  <a:schemeClr val="accent6"/>
                </a:solidFill>
              </a:rPr>
              <a:t>lightweight process</a:t>
            </a:r>
            <a:r>
              <a:rPr lang="en-US" dirty="0"/>
              <a:t>. </a:t>
            </a:r>
          </a:p>
          <a:p>
            <a:r>
              <a:rPr lang="en-IN" dirty="0"/>
              <a:t>A process of dividing single process into multiple threads instead of creating whole new process is known as </a:t>
            </a:r>
            <a:r>
              <a:rPr lang="en-IN" b="1" dirty="0">
                <a:solidFill>
                  <a:schemeClr val="accent6"/>
                </a:solidFill>
              </a:rPr>
              <a:t>multithreading</a:t>
            </a:r>
            <a:r>
              <a:rPr lang="en-IN" dirty="0"/>
              <a:t>.</a:t>
            </a:r>
          </a:p>
          <a:p>
            <a:r>
              <a:rPr lang="en-IN" dirty="0"/>
              <a:t>Multithreading is used to achieve </a:t>
            </a:r>
            <a:r>
              <a:rPr lang="en-IN" b="1" dirty="0">
                <a:solidFill>
                  <a:schemeClr val="accent6"/>
                </a:solidFill>
              </a:rPr>
              <a:t>parallelism</a:t>
            </a:r>
            <a:r>
              <a:rPr lang="en-IN" dirty="0"/>
              <a:t> and to </a:t>
            </a:r>
            <a:r>
              <a:rPr lang="en-IN" b="1" dirty="0">
                <a:solidFill>
                  <a:schemeClr val="accent6"/>
                </a:solidFill>
              </a:rPr>
              <a:t>improve performance </a:t>
            </a:r>
            <a:r>
              <a:rPr lang="en-IN" dirty="0"/>
              <a:t>of application.</a:t>
            </a:r>
          </a:p>
        </p:txBody>
      </p:sp>
    </p:spTree>
    <p:extLst>
      <p:ext uri="{BB962C8B-B14F-4D97-AF65-F5344CB8AC3E}">
        <p14:creationId xmlns:p14="http://schemas.microsoft.com/office/powerpoint/2010/main" val="1088343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Process VS Thread</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280553955"/>
              </p:ext>
            </p:extLst>
          </p:nvPr>
        </p:nvGraphicFramePr>
        <p:xfrm>
          <a:off x="280731" y="963398"/>
          <a:ext cx="11000934" cy="457200"/>
        </p:xfrm>
        <a:graphic>
          <a:graphicData uri="http://schemas.openxmlformats.org/drawingml/2006/table">
            <a:tbl>
              <a:tblPr firstRow="1" bandRow="1">
                <a:tableStyleId>{5C22544A-7EE6-4342-B048-85BDC9FD1C3A}</a:tableStyleId>
              </a:tblPr>
              <a:tblGrid>
                <a:gridCol w="5500467">
                  <a:extLst>
                    <a:ext uri="{9D8B030D-6E8A-4147-A177-3AD203B41FA5}">
                      <a16:colId xmlns:a16="http://schemas.microsoft.com/office/drawing/2014/main" val="20000"/>
                    </a:ext>
                  </a:extLst>
                </a:gridCol>
                <a:gridCol w="5500467">
                  <a:extLst>
                    <a:ext uri="{9D8B030D-6E8A-4147-A177-3AD203B41FA5}">
                      <a16:colId xmlns:a16="http://schemas.microsoft.com/office/drawing/2014/main" val="20001"/>
                    </a:ext>
                  </a:extLst>
                </a:gridCol>
              </a:tblGrid>
              <a:tr h="370840">
                <a:tc>
                  <a:txBody>
                    <a:bodyPr/>
                    <a:lstStyle/>
                    <a:p>
                      <a:pPr algn="ctr"/>
                      <a:r>
                        <a:rPr lang="en-US" sz="2400" dirty="0">
                          <a:solidFill>
                            <a:schemeClr val="tx1"/>
                          </a:solidFill>
                        </a:rPr>
                        <a:t>Process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algn="ctr"/>
                      <a:r>
                        <a:rPr lang="en-US" sz="2400" dirty="0">
                          <a:solidFill>
                            <a:schemeClr val="tx1"/>
                          </a:solidFill>
                        </a:rPr>
                        <a:t>Thread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extLst>
                  <a:ext uri="{0D108BD9-81ED-4DB2-BD59-A6C34878D82A}">
                    <a16:rowId xmlns:a16="http://schemas.microsoft.com/office/drawing/2014/main" val="10000"/>
                  </a:ext>
                </a:extLst>
              </a:tr>
            </a:tbl>
          </a:graphicData>
        </a:graphic>
      </p:graphicFrame>
      <p:graphicFrame>
        <p:nvGraphicFramePr>
          <p:cNvPr id="7" name="Content Placeholder 4"/>
          <p:cNvGraphicFramePr>
            <a:graphicFrameLocks/>
          </p:cNvGraphicFramePr>
          <p:nvPr>
            <p:extLst>
              <p:ext uri="{D42A27DB-BD31-4B8C-83A1-F6EECF244321}">
                <p14:modId xmlns:p14="http://schemas.microsoft.com/office/powerpoint/2010/main" val="500643571"/>
              </p:ext>
            </p:extLst>
          </p:nvPr>
        </p:nvGraphicFramePr>
        <p:xfrm>
          <a:off x="280731" y="1430646"/>
          <a:ext cx="11000934" cy="762000"/>
        </p:xfrm>
        <a:graphic>
          <a:graphicData uri="http://schemas.openxmlformats.org/drawingml/2006/table">
            <a:tbl>
              <a:tblPr firstRow="1" bandRow="1">
                <a:tableStyleId>{5C22544A-7EE6-4342-B048-85BDC9FD1C3A}</a:tableStyleId>
              </a:tblPr>
              <a:tblGrid>
                <a:gridCol w="5500467">
                  <a:extLst>
                    <a:ext uri="{9D8B030D-6E8A-4147-A177-3AD203B41FA5}">
                      <a16:colId xmlns:a16="http://schemas.microsoft.com/office/drawing/2014/main" val="20000"/>
                    </a:ext>
                  </a:extLst>
                </a:gridCol>
                <a:gridCol w="5500467">
                  <a:extLst>
                    <a:ext uri="{9D8B030D-6E8A-4147-A177-3AD203B41FA5}">
                      <a16:colId xmlns:a16="http://schemas.microsoft.com/office/drawing/2014/main" val="20001"/>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solidFill>
                            <a:schemeClr val="tx1"/>
                          </a:solidFill>
                          <a:effectLst/>
                        </a:rPr>
                        <a:t>Process executes in </a:t>
                      </a:r>
                      <a:r>
                        <a:rPr lang="en-US" sz="2200" b="1" dirty="0">
                          <a:solidFill>
                            <a:schemeClr val="accent6"/>
                          </a:solidFill>
                          <a:effectLst/>
                        </a:rPr>
                        <a:t>different memory </a:t>
                      </a:r>
                      <a:r>
                        <a:rPr lang="en-US" sz="2200" b="0" dirty="0">
                          <a:solidFill>
                            <a:schemeClr val="tx1"/>
                          </a:solidFill>
                          <a:effectLst/>
                        </a:rPr>
                        <a:t>spaces.</a:t>
                      </a:r>
                      <a:endParaRPr lang="en-US" sz="2200" b="0" dirty="0">
                        <a:solidFill>
                          <a:schemeClr val="tx1"/>
                        </a:solidFill>
                        <a:effectLst/>
                        <a:latin typeface="Calibri" panose="020F0502020204030204" pitchFamily="34" charset="0"/>
                        <a:ea typeface="Times New Roman" panose="02020603050405020304" pitchFamily="18" charset="0"/>
                        <a:cs typeface="Shruti" panose="02000500000000000000" pitchFamily="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b="0" dirty="0">
                          <a:solidFill>
                            <a:schemeClr val="tx1"/>
                          </a:solidFill>
                          <a:effectLst/>
                        </a:rPr>
                        <a:t>Thread of same process execute in </a:t>
                      </a:r>
                      <a:r>
                        <a:rPr lang="en-US" sz="2200" b="1" dirty="0">
                          <a:solidFill>
                            <a:schemeClr val="accent6"/>
                          </a:solidFill>
                          <a:effectLst/>
                        </a:rPr>
                        <a:t>shared</a:t>
                      </a:r>
                      <a:r>
                        <a:rPr lang="en-US" sz="2200" b="1" dirty="0">
                          <a:solidFill>
                            <a:srgbClr val="C62827"/>
                          </a:solidFill>
                          <a:effectLst/>
                        </a:rPr>
                        <a:t> </a:t>
                      </a:r>
                      <a:r>
                        <a:rPr lang="en-US" sz="2200" b="1" dirty="0">
                          <a:solidFill>
                            <a:schemeClr val="accent6"/>
                          </a:solidFill>
                          <a:effectLst/>
                        </a:rPr>
                        <a:t>memory</a:t>
                      </a:r>
                      <a:r>
                        <a:rPr lang="en-US" sz="2200" b="1" dirty="0">
                          <a:solidFill>
                            <a:srgbClr val="C62827"/>
                          </a:solidFill>
                          <a:effectLst/>
                        </a:rPr>
                        <a:t> </a:t>
                      </a:r>
                      <a:r>
                        <a:rPr lang="en-US" sz="2200" b="0" dirty="0">
                          <a:solidFill>
                            <a:schemeClr val="tx1"/>
                          </a:solidFill>
                          <a:effectLst/>
                        </a:rPr>
                        <a:t>space.</a:t>
                      </a:r>
                      <a:endParaRPr lang="en-US" sz="2200" b="0" dirty="0">
                        <a:solidFill>
                          <a:schemeClr val="tx1"/>
                        </a:solidFill>
                        <a:effectLst/>
                        <a:latin typeface="Calibri" panose="020F0502020204030204" pitchFamily="34" charset="0"/>
                        <a:ea typeface="Times New Roman" panose="02020603050405020304" pitchFamily="18" charset="0"/>
                        <a:cs typeface="Shruti" panose="02000500000000000000" pitchFamily="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9" name="Content Placeholder 4"/>
          <p:cNvGraphicFramePr>
            <a:graphicFrameLocks/>
          </p:cNvGraphicFramePr>
          <p:nvPr>
            <p:extLst>
              <p:ext uri="{D42A27DB-BD31-4B8C-83A1-F6EECF244321}">
                <p14:modId xmlns:p14="http://schemas.microsoft.com/office/powerpoint/2010/main" val="2142798"/>
              </p:ext>
            </p:extLst>
          </p:nvPr>
        </p:nvGraphicFramePr>
        <p:xfrm>
          <a:off x="280731" y="2191974"/>
          <a:ext cx="11000934" cy="862584"/>
        </p:xfrm>
        <a:graphic>
          <a:graphicData uri="http://schemas.openxmlformats.org/drawingml/2006/table">
            <a:tbl>
              <a:tblPr firstRow="1" bandRow="1">
                <a:tableStyleId>{5C22544A-7EE6-4342-B048-85BDC9FD1C3A}</a:tableStyleId>
              </a:tblPr>
              <a:tblGrid>
                <a:gridCol w="5500467">
                  <a:extLst>
                    <a:ext uri="{9D8B030D-6E8A-4147-A177-3AD203B41FA5}">
                      <a16:colId xmlns:a16="http://schemas.microsoft.com/office/drawing/2014/main" val="20000"/>
                    </a:ext>
                  </a:extLst>
                </a:gridCol>
                <a:gridCol w="5500467">
                  <a:extLst>
                    <a:ext uri="{9D8B030D-6E8A-4147-A177-3AD203B41FA5}">
                      <a16:colId xmlns:a16="http://schemas.microsoft.com/office/drawing/2014/main" val="20001"/>
                    </a:ext>
                  </a:extLst>
                </a:gridCol>
              </a:tblGrid>
              <a:tr h="370840">
                <a:tc>
                  <a:txBody>
                    <a:bodyPr/>
                    <a:lstStyle/>
                    <a:p>
                      <a:pPr marL="0" marR="0" algn="just">
                        <a:lnSpc>
                          <a:spcPct val="115000"/>
                        </a:lnSpc>
                        <a:spcBef>
                          <a:spcPts val="0"/>
                        </a:spcBef>
                        <a:spcAft>
                          <a:spcPts val="0"/>
                        </a:spcAft>
                      </a:pPr>
                      <a:r>
                        <a:rPr lang="en-US" sz="2200" b="1" dirty="0">
                          <a:solidFill>
                            <a:schemeClr val="accent6"/>
                          </a:solidFill>
                          <a:effectLst/>
                        </a:rPr>
                        <a:t>Creation</a:t>
                      </a:r>
                      <a:r>
                        <a:rPr lang="en-US" sz="2200" b="0" dirty="0">
                          <a:solidFill>
                            <a:schemeClr val="tx1"/>
                          </a:solidFill>
                          <a:effectLst/>
                        </a:rPr>
                        <a:t> and </a:t>
                      </a:r>
                      <a:r>
                        <a:rPr lang="en-US" sz="2200" b="1" dirty="0">
                          <a:solidFill>
                            <a:schemeClr val="accent6"/>
                          </a:solidFill>
                          <a:effectLst/>
                        </a:rPr>
                        <a:t>termination</a:t>
                      </a:r>
                      <a:r>
                        <a:rPr lang="en-US" sz="2200" b="1" dirty="0">
                          <a:solidFill>
                            <a:schemeClr val="tx1"/>
                          </a:solidFill>
                          <a:effectLst/>
                        </a:rPr>
                        <a:t> </a:t>
                      </a:r>
                      <a:r>
                        <a:rPr lang="en-US" sz="2200" b="1" dirty="0">
                          <a:solidFill>
                            <a:schemeClr val="accent6"/>
                          </a:solidFill>
                          <a:effectLst/>
                        </a:rPr>
                        <a:t>time</a:t>
                      </a:r>
                      <a:r>
                        <a:rPr lang="en-US" sz="2200" b="1" dirty="0">
                          <a:solidFill>
                            <a:schemeClr val="tx1"/>
                          </a:solidFill>
                          <a:effectLst/>
                        </a:rPr>
                        <a:t> </a:t>
                      </a:r>
                      <a:r>
                        <a:rPr lang="en-US" sz="2200" b="0" dirty="0">
                          <a:solidFill>
                            <a:schemeClr val="tx1"/>
                          </a:solidFill>
                          <a:effectLst/>
                        </a:rPr>
                        <a:t>of process is </a:t>
                      </a:r>
                      <a:r>
                        <a:rPr lang="en-US" sz="2200" b="1" dirty="0">
                          <a:solidFill>
                            <a:schemeClr val="accent6"/>
                          </a:solidFill>
                          <a:effectLst/>
                        </a:rPr>
                        <a:t>slower</a:t>
                      </a:r>
                      <a:r>
                        <a:rPr lang="en-US" sz="2200" b="0" dirty="0">
                          <a:solidFill>
                            <a:schemeClr val="tx1"/>
                          </a:solidFill>
                          <a:effectLst/>
                        </a:rPr>
                        <a:t>.</a:t>
                      </a:r>
                      <a:endParaRPr lang="en-US" sz="2200" b="0" dirty="0">
                        <a:solidFill>
                          <a:schemeClr val="tx1"/>
                        </a:solidFill>
                        <a:effectLst/>
                        <a:latin typeface="Calibri" panose="020F0502020204030204" pitchFamily="34" charset="0"/>
                        <a:ea typeface="Times New Roman" panose="02020603050405020304" pitchFamily="18" charset="0"/>
                        <a:cs typeface="Shruti" panose="02000500000000000000" pitchFamily="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just">
                        <a:lnSpc>
                          <a:spcPct val="115000"/>
                        </a:lnSpc>
                        <a:spcBef>
                          <a:spcPts val="0"/>
                        </a:spcBef>
                        <a:spcAft>
                          <a:spcPts val="0"/>
                        </a:spcAft>
                      </a:pPr>
                      <a:r>
                        <a:rPr lang="en-US" sz="2200" b="1" dirty="0">
                          <a:solidFill>
                            <a:schemeClr val="accent6"/>
                          </a:solidFill>
                          <a:effectLst/>
                        </a:rPr>
                        <a:t>Creation</a:t>
                      </a:r>
                      <a:r>
                        <a:rPr lang="en-US" sz="2200" b="0" dirty="0">
                          <a:solidFill>
                            <a:schemeClr val="tx1"/>
                          </a:solidFill>
                          <a:effectLst/>
                        </a:rPr>
                        <a:t> and </a:t>
                      </a:r>
                      <a:r>
                        <a:rPr lang="en-US" sz="2200" b="1" dirty="0">
                          <a:solidFill>
                            <a:schemeClr val="accent6"/>
                          </a:solidFill>
                          <a:effectLst/>
                        </a:rPr>
                        <a:t>termination time </a:t>
                      </a:r>
                      <a:r>
                        <a:rPr lang="en-US" sz="2200" b="0" dirty="0">
                          <a:solidFill>
                            <a:schemeClr val="tx1"/>
                          </a:solidFill>
                          <a:effectLst/>
                        </a:rPr>
                        <a:t>of thread is </a:t>
                      </a:r>
                      <a:r>
                        <a:rPr lang="en-US" sz="2200" b="1" dirty="0">
                          <a:solidFill>
                            <a:schemeClr val="accent6"/>
                          </a:solidFill>
                          <a:effectLst/>
                        </a:rPr>
                        <a:t>faster</a:t>
                      </a:r>
                      <a:r>
                        <a:rPr lang="en-US" sz="2200" b="1" dirty="0">
                          <a:solidFill>
                            <a:schemeClr val="tx1"/>
                          </a:solidFill>
                          <a:effectLst/>
                        </a:rPr>
                        <a:t> </a:t>
                      </a:r>
                      <a:r>
                        <a:rPr lang="en-US" sz="2200" b="0" dirty="0">
                          <a:solidFill>
                            <a:schemeClr val="tx1"/>
                          </a:solidFill>
                          <a:effectLst/>
                        </a:rPr>
                        <a:t>as compare to process.</a:t>
                      </a:r>
                      <a:endParaRPr lang="en-US" sz="2200" b="0" dirty="0">
                        <a:solidFill>
                          <a:schemeClr val="tx1"/>
                        </a:solidFill>
                        <a:effectLst/>
                        <a:latin typeface="Calibri" panose="020F0502020204030204" pitchFamily="34" charset="0"/>
                        <a:ea typeface="Times New Roman" panose="02020603050405020304" pitchFamily="18" charset="0"/>
                        <a:cs typeface="Shruti" panose="02000500000000000000" pitchFamily="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0" name="Content Placeholder 4"/>
          <p:cNvGraphicFramePr>
            <a:graphicFrameLocks/>
          </p:cNvGraphicFramePr>
          <p:nvPr>
            <p:extLst>
              <p:ext uri="{D42A27DB-BD31-4B8C-83A1-F6EECF244321}">
                <p14:modId xmlns:p14="http://schemas.microsoft.com/office/powerpoint/2010/main" val="372963605"/>
              </p:ext>
            </p:extLst>
          </p:nvPr>
        </p:nvGraphicFramePr>
        <p:xfrm>
          <a:off x="280731" y="3029519"/>
          <a:ext cx="11000934" cy="862584"/>
        </p:xfrm>
        <a:graphic>
          <a:graphicData uri="http://schemas.openxmlformats.org/drawingml/2006/table">
            <a:tbl>
              <a:tblPr firstRow="1" bandRow="1">
                <a:tableStyleId>{5C22544A-7EE6-4342-B048-85BDC9FD1C3A}</a:tableStyleId>
              </a:tblPr>
              <a:tblGrid>
                <a:gridCol w="5500467">
                  <a:extLst>
                    <a:ext uri="{9D8B030D-6E8A-4147-A177-3AD203B41FA5}">
                      <a16:colId xmlns:a16="http://schemas.microsoft.com/office/drawing/2014/main" val="20000"/>
                    </a:ext>
                  </a:extLst>
                </a:gridCol>
                <a:gridCol w="5500467">
                  <a:extLst>
                    <a:ext uri="{9D8B030D-6E8A-4147-A177-3AD203B41FA5}">
                      <a16:colId xmlns:a16="http://schemas.microsoft.com/office/drawing/2014/main" val="20001"/>
                    </a:ext>
                  </a:extLst>
                </a:gridCol>
              </a:tblGrid>
              <a:tr h="370840">
                <a:tc>
                  <a:txBody>
                    <a:bodyPr/>
                    <a:lstStyle/>
                    <a:p>
                      <a:pPr marL="0" marR="0" algn="just">
                        <a:lnSpc>
                          <a:spcPct val="115000"/>
                        </a:lnSpc>
                        <a:spcBef>
                          <a:spcPts val="0"/>
                        </a:spcBef>
                        <a:spcAft>
                          <a:spcPts val="0"/>
                        </a:spcAft>
                      </a:pPr>
                      <a:r>
                        <a:rPr lang="en-US" sz="2200" b="0" dirty="0">
                          <a:solidFill>
                            <a:schemeClr val="tx1"/>
                          </a:solidFill>
                          <a:effectLst/>
                        </a:rPr>
                        <a:t>Process have their </a:t>
                      </a:r>
                      <a:r>
                        <a:rPr lang="en-US" sz="2200" b="1" dirty="0">
                          <a:solidFill>
                            <a:schemeClr val="accent6"/>
                          </a:solidFill>
                          <a:effectLst/>
                        </a:rPr>
                        <a:t>own code and data</a:t>
                      </a:r>
                      <a:r>
                        <a:rPr lang="en-US" sz="2200" b="1" dirty="0">
                          <a:solidFill>
                            <a:schemeClr val="tx1"/>
                          </a:solidFill>
                          <a:effectLst/>
                        </a:rPr>
                        <a:t>/</a:t>
                      </a:r>
                      <a:r>
                        <a:rPr lang="en-US" sz="2200" b="1" dirty="0">
                          <a:solidFill>
                            <a:schemeClr val="accent6"/>
                          </a:solidFill>
                          <a:effectLst/>
                        </a:rPr>
                        <a:t>file</a:t>
                      </a:r>
                      <a:r>
                        <a:rPr lang="en-US" sz="2200" b="0" dirty="0">
                          <a:solidFill>
                            <a:schemeClr val="tx1"/>
                          </a:solidFill>
                          <a:effectLst/>
                        </a:rPr>
                        <a:t>.</a:t>
                      </a:r>
                      <a:endParaRPr lang="en-US" sz="2200" b="0" dirty="0">
                        <a:solidFill>
                          <a:schemeClr val="tx1"/>
                        </a:solidFill>
                        <a:effectLst/>
                        <a:latin typeface="Calibri" panose="020F0502020204030204" pitchFamily="34" charset="0"/>
                        <a:ea typeface="Times New Roman" panose="02020603050405020304" pitchFamily="18" charset="0"/>
                        <a:cs typeface="Shruti" panose="02000500000000000000" pitchFamily="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just">
                        <a:lnSpc>
                          <a:spcPct val="115000"/>
                        </a:lnSpc>
                        <a:spcBef>
                          <a:spcPts val="0"/>
                        </a:spcBef>
                        <a:spcAft>
                          <a:spcPts val="0"/>
                        </a:spcAft>
                      </a:pPr>
                      <a:r>
                        <a:rPr lang="en-US" sz="2200" b="0" dirty="0">
                          <a:solidFill>
                            <a:schemeClr val="tx1"/>
                          </a:solidFill>
                          <a:effectLst/>
                        </a:rPr>
                        <a:t>Thread </a:t>
                      </a:r>
                      <a:r>
                        <a:rPr lang="en-US" sz="2200" b="1" dirty="0">
                          <a:solidFill>
                            <a:srgbClr val="C00000"/>
                          </a:solidFill>
                          <a:effectLst/>
                        </a:rPr>
                        <a:t>shared code and data</a:t>
                      </a:r>
                      <a:r>
                        <a:rPr lang="en-US" sz="2200" b="1" dirty="0">
                          <a:solidFill>
                            <a:schemeClr val="tx1"/>
                          </a:solidFill>
                          <a:effectLst/>
                        </a:rPr>
                        <a:t>/</a:t>
                      </a:r>
                      <a:r>
                        <a:rPr lang="en-US" sz="2200" b="1" dirty="0">
                          <a:solidFill>
                            <a:schemeClr val="accent6"/>
                          </a:solidFill>
                          <a:effectLst/>
                        </a:rPr>
                        <a:t>file</a:t>
                      </a:r>
                      <a:r>
                        <a:rPr lang="en-US" sz="2200" b="1" dirty="0">
                          <a:solidFill>
                            <a:srgbClr val="C00000"/>
                          </a:solidFill>
                          <a:effectLst/>
                        </a:rPr>
                        <a:t> </a:t>
                      </a:r>
                      <a:r>
                        <a:rPr lang="en-US" sz="2200" b="0" dirty="0">
                          <a:solidFill>
                            <a:schemeClr val="tx1"/>
                          </a:solidFill>
                          <a:effectLst/>
                        </a:rPr>
                        <a:t>within process.</a:t>
                      </a:r>
                      <a:endParaRPr lang="en-US" sz="2200" b="0" dirty="0">
                        <a:solidFill>
                          <a:schemeClr val="tx1"/>
                        </a:solidFill>
                        <a:effectLst/>
                        <a:latin typeface="Calibri" panose="020F0502020204030204" pitchFamily="34" charset="0"/>
                        <a:ea typeface="Times New Roman" panose="02020603050405020304" pitchFamily="18" charset="0"/>
                        <a:cs typeface="Shruti" panose="02000500000000000000" pitchFamily="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1" name="Content Placeholder 4"/>
          <p:cNvGraphicFramePr>
            <a:graphicFrameLocks/>
          </p:cNvGraphicFramePr>
          <p:nvPr>
            <p:extLst>
              <p:ext uri="{D42A27DB-BD31-4B8C-83A1-F6EECF244321}">
                <p14:modId xmlns:p14="http://schemas.microsoft.com/office/powerpoint/2010/main" val="247826266"/>
              </p:ext>
            </p:extLst>
          </p:nvPr>
        </p:nvGraphicFramePr>
        <p:xfrm>
          <a:off x="280731" y="3870814"/>
          <a:ext cx="11000934" cy="477012"/>
        </p:xfrm>
        <a:graphic>
          <a:graphicData uri="http://schemas.openxmlformats.org/drawingml/2006/table">
            <a:tbl>
              <a:tblPr firstRow="1" bandRow="1">
                <a:tableStyleId>{5C22544A-7EE6-4342-B048-85BDC9FD1C3A}</a:tableStyleId>
              </a:tblPr>
              <a:tblGrid>
                <a:gridCol w="5500467">
                  <a:extLst>
                    <a:ext uri="{9D8B030D-6E8A-4147-A177-3AD203B41FA5}">
                      <a16:colId xmlns:a16="http://schemas.microsoft.com/office/drawing/2014/main" val="20000"/>
                    </a:ext>
                  </a:extLst>
                </a:gridCol>
                <a:gridCol w="5500467">
                  <a:extLst>
                    <a:ext uri="{9D8B030D-6E8A-4147-A177-3AD203B41FA5}">
                      <a16:colId xmlns:a16="http://schemas.microsoft.com/office/drawing/2014/main" val="20001"/>
                    </a:ext>
                  </a:extLst>
                </a:gridCol>
              </a:tblGrid>
              <a:tr h="370840">
                <a:tc>
                  <a:txBody>
                    <a:bodyPr/>
                    <a:lstStyle/>
                    <a:p>
                      <a:pPr marL="0" marR="0" algn="just">
                        <a:lnSpc>
                          <a:spcPct val="115000"/>
                        </a:lnSpc>
                        <a:spcBef>
                          <a:spcPts val="0"/>
                        </a:spcBef>
                        <a:spcAft>
                          <a:spcPts val="0"/>
                        </a:spcAft>
                      </a:pPr>
                      <a:r>
                        <a:rPr lang="en-US" sz="2200" b="1" dirty="0">
                          <a:solidFill>
                            <a:schemeClr val="accent6"/>
                          </a:solidFill>
                          <a:effectLst/>
                        </a:rPr>
                        <a:t>Communication</a:t>
                      </a:r>
                      <a:r>
                        <a:rPr lang="en-US" sz="2200" b="0" dirty="0">
                          <a:solidFill>
                            <a:schemeClr val="tx1"/>
                          </a:solidFill>
                          <a:effectLst/>
                        </a:rPr>
                        <a:t> between </a:t>
                      </a:r>
                      <a:r>
                        <a:rPr lang="en-US" sz="2200" b="1" dirty="0">
                          <a:solidFill>
                            <a:schemeClr val="accent6"/>
                          </a:solidFill>
                          <a:effectLst/>
                        </a:rPr>
                        <a:t>processes</a:t>
                      </a:r>
                      <a:r>
                        <a:rPr lang="en-US" sz="2200" b="0" dirty="0">
                          <a:solidFill>
                            <a:schemeClr val="tx1"/>
                          </a:solidFill>
                          <a:effectLst/>
                        </a:rPr>
                        <a:t> are </a:t>
                      </a:r>
                      <a:r>
                        <a:rPr lang="en-US" sz="2200" b="1" dirty="0">
                          <a:solidFill>
                            <a:schemeClr val="accent6"/>
                          </a:solidFill>
                          <a:effectLst/>
                        </a:rPr>
                        <a:t>slower</a:t>
                      </a:r>
                      <a:r>
                        <a:rPr lang="en-US" sz="2200" b="0" dirty="0">
                          <a:solidFill>
                            <a:schemeClr val="tx1"/>
                          </a:solidFill>
                          <a:effectLst/>
                        </a:rPr>
                        <a:t>.</a:t>
                      </a:r>
                      <a:endParaRPr lang="en-US" sz="2200" b="0" dirty="0">
                        <a:solidFill>
                          <a:schemeClr val="tx1"/>
                        </a:solidFill>
                        <a:effectLst/>
                        <a:latin typeface="Calibri" panose="020F0502020204030204" pitchFamily="34" charset="0"/>
                        <a:ea typeface="Times New Roman" panose="02020603050405020304" pitchFamily="18" charset="0"/>
                        <a:cs typeface="Shruti" panose="02000500000000000000" pitchFamily="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just">
                        <a:lnSpc>
                          <a:spcPct val="115000"/>
                        </a:lnSpc>
                        <a:spcBef>
                          <a:spcPts val="0"/>
                        </a:spcBef>
                        <a:spcAft>
                          <a:spcPts val="0"/>
                        </a:spcAft>
                      </a:pPr>
                      <a:r>
                        <a:rPr lang="en-US" sz="2200" b="1" dirty="0">
                          <a:solidFill>
                            <a:schemeClr val="accent6"/>
                          </a:solidFill>
                          <a:effectLst/>
                        </a:rPr>
                        <a:t>Communication</a:t>
                      </a:r>
                      <a:r>
                        <a:rPr lang="en-US" sz="2200" b="0" dirty="0">
                          <a:solidFill>
                            <a:schemeClr val="tx1"/>
                          </a:solidFill>
                          <a:effectLst/>
                        </a:rPr>
                        <a:t> between </a:t>
                      </a:r>
                      <a:r>
                        <a:rPr lang="en-US" sz="2200" b="1" dirty="0">
                          <a:solidFill>
                            <a:schemeClr val="accent6"/>
                          </a:solidFill>
                          <a:effectLst/>
                        </a:rPr>
                        <a:t>threads</a:t>
                      </a:r>
                      <a:r>
                        <a:rPr lang="en-US" sz="2200" b="0" dirty="0">
                          <a:solidFill>
                            <a:schemeClr val="tx1"/>
                          </a:solidFill>
                          <a:effectLst/>
                        </a:rPr>
                        <a:t> are </a:t>
                      </a:r>
                      <a:r>
                        <a:rPr lang="en-US" sz="2200" b="1" dirty="0">
                          <a:solidFill>
                            <a:schemeClr val="accent6"/>
                          </a:solidFill>
                          <a:effectLst/>
                        </a:rPr>
                        <a:t>faster</a:t>
                      </a:r>
                      <a:r>
                        <a:rPr lang="en-US" sz="2200" b="0" dirty="0">
                          <a:solidFill>
                            <a:schemeClr val="tx1"/>
                          </a:solidFill>
                          <a:effectLst/>
                        </a:rPr>
                        <a:t>.</a:t>
                      </a:r>
                      <a:endParaRPr lang="en-US" sz="2200" b="0" dirty="0">
                        <a:solidFill>
                          <a:schemeClr val="tx1"/>
                        </a:solidFill>
                        <a:effectLst/>
                        <a:latin typeface="Calibri" panose="020F0502020204030204" pitchFamily="34" charset="0"/>
                        <a:ea typeface="Times New Roman" panose="02020603050405020304" pitchFamily="18" charset="0"/>
                        <a:cs typeface="Shruti" panose="02000500000000000000" pitchFamily="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2" name="Content Placeholder 4"/>
          <p:cNvGraphicFramePr>
            <a:graphicFrameLocks/>
          </p:cNvGraphicFramePr>
          <p:nvPr>
            <p:extLst>
              <p:ext uri="{D42A27DB-BD31-4B8C-83A1-F6EECF244321}">
                <p14:modId xmlns:p14="http://schemas.microsoft.com/office/powerpoint/2010/main" val="319739022"/>
              </p:ext>
            </p:extLst>
          </p:nvPr>
        </p:nvGraphicFramePr>
        <p:xfrm>
          <a:off x="280731" y="4325539"/>
          <a:ext cx="11000934" cy="477012"/>
        </p:xfrm>
        <a:graphic>
          <a:graphicData uri="http://schemas.openxmlformats.org/drawingml/2006/table">
            <a:tbl>
              <a:tblPr firstRow="1" bandRow="1">
                <a:tableStyleId>{5C22544A-7EE6-4342-B048-85BDC9FD1C3A}</a:tableStyleId>
              </a:tblPr>
              <a:tblGrid>
                <a:gridCol w="5500467">
                  <a:extLst>
                    <a:ext uri="{9D8B030D-6E8A-4147-A177-3AD203B41FA5}">
                      <a16:colId xmlns:a16="http://schemas.microsoft.com/office/drawing/2014/main" val="20000"/>
                    </a:ext>
                  </a:extLst>
                </a:gridCol>
                <a:gridCol w="5500467">
                  <a:extLst>
                    <a:ext uri="{9D8B030D-6E8A-4147-A177-3AD203B41FA5}">
                      <a16:colId xmlns:a16="http://schemas.microsoft.com/office/drawing/2014/main" val="20001"/>
                    </a:ext>
                  </a:extLst>
                </a:gridCol>
              </a:tblGrid>
              <a:tr h="370840">
                <a:tc>
                  <a:txBody>
                    <a:bodyPr/>
                    <a:lstStyle/>
                    <a:p>
                      <a:pPr marL="0" marR="0" algn="just">
                        <a:lnSpc>
                          <a:spcPct val="115000"/>
                        </a:lnSpc>
                        <a:spcBef>
                          <a:spcPts val="0"/>
                        </a:spcBef>
                        <a:spcAft>
                          <a:spcPts val="0"/>
                        </a:spcAft>
                      </a:pPr>
                      <a:r>
                        <a:rPr lang="en-US" sz="2200" b="1" dirty="0">
                          <a:solidFill>
                            <a:schemeClr val="accent6"/>
                          </a:solidFill>
                          <a:effectLst/>
                        </a:rPr>
                        <a:t>Context Switching </a:t>
                      </a:r>
                      <a:r>
                        <a:rPr lang="en-US" sz="2200" b="0" dirty="0">
                          <a:solidFill>
                            <a:schemeClr val="tx1"/>
                          </a:solidFill>
                          <a:effectLst/>
                        </a:rPr>
                        <a:t>in process is </a:t>
                      </a:r>
                      <a:r>
                        <a:rPr lang="en-US" sz="2200" b="1" dirty="0">
                          <a:solidFill>
                            <a:schemeClr val="accent6"/>
                          </a:solidFill>
                          <a:effectLst/>
                        </a:rPr>
                        <a:t>slower</a:t>
                      </a:r>
                      <a:r>
                        <a:rPr lang="en-US" sz="2200" b="0" dirty="0">
                          <a:solidFill>
                            <a:schemeClr val="tx1"/>
                          </a:solidFill>
                          <a:effectLst/>
                        </a:rPr>
                        <a:t>.</a:t>
                      </a:r>
                      <a:endParaRPr lang="en-US" sz="2200" b="0" dirty="0">
                        <a:solidFill>
                          <a:schemeClr val="tx1"/>
                        </a:solidFill>
                        <a:effectLst/>
                        <a:latin typeface="Calibri" panose="020F0502020204030204" pitchFamily="34" charset="0"/>
                        <a:ea typeface="Times New Roman" panose="02020603050405020304" pitchFamily="18" charset="0"/>
                        <a:cs typeface="Shruti" panose="02000500000000000000" pitchFamily="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just">
                        <a:lnSpc>
                          <a:spcPct val="115000"/>
                        </a:lnSpc>
                        <a:spcBef>
                          <a:spcPts val="0"/>
                        </a:spcBef>
                        <a:spcAft>
                          <a:spcPts val="0"/>
                        </a:spcAft>
                      </a:pPr>
                      <a:r>
                        <a:rPr lang="en-US" sz="2200" b="1" dirty="0">
                          <a:solidFill>
                            <a:schemeClr val="accent6"/>
                          </a:solidFill>
                          <a:effectLst/>
                        </a:rPr>
                        <a:t>Context Switching </a:t>
                      </a:r>
                      <a:r>
                        <a:rPr lang="en-US" sz="2200" b="0" dirty="0">
                          <a:solidFill>
                            <a:schemeClr val="tx1"/>
                          </a:solidFill>
                          <a:effectLst/>
                        </a:rPr>
                        <a:t>in thread is </a:t>
                      </a:r>
                      <a:r>
                        <a:rPr lang="en-US" sz="2200" b="1" dirty="0">
                          <a:solidFill>
                            <a:schemeClr val="accent6"/>
                          </a:solidFill>
                          <a:effectLst/>
                        </a:rPr>
                        <a:t>faster</a:t>
                      </a:r>
                      <a:r>
                        <a:rPr lang="en-US" sz="2200" b="0" dirty="0">
                          <a:solidFill>
                            <a:schemeClr val="tx1"/>
                          </a:solidFill>
                          <a:effectLst/>
                        </a:rPr>
                        <a:t>.</a:t>
                      </a:r>
                      <a:endParaRPr lang="en-US" sz="2200" b="0" dirty="0">
                        <a:solidFill>
                          <a:schemeClr val="tx1"/>
                        </a:solidFill>
                        <a:effectLst/>
                        <a:latin typeface="Calibri" panose="020F0502020204030204" pitchFamily="34" charset="0"/>
                        <a:ea typeface="Times New Roman" panose="02020603050405020304" pitchFamily="18" charset="0"/>
                        <a:cs typeface="Shruti" panose="02000500000000000000" pitchFamily="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3" name="Content Placeholder 4"/>
          <p:cNvGraphicFramePr>
            <a:graphicFrameLocks/>
          </p:cNvGraphicFramePr>
          <p:nvPr>
            <p:extLst>
              <p:ext uri="{D42A27DB-BD31-4B8C-83A1-F6EECF244321}">
                <p14:modId xmlns:p14="http://schemas.microsoft.com/office/powerpoint/2010/main" val="1811242889"/>
              </p:ext>
            </p:extLst>
          </p:nvPr>
        </p:nvGraphicFramePr>
        <p:xfrm>
          <a:off x="280731" y="4779120"/>
          <a:ext cx="11000934" cy="862584"/>
        </p:xfrm>
        <a:graphic>
          <a:graphicData uri="http://schemas.openxmlformats.org/drawingml/2006/table">
            <a:tbl>
              <a:tblPr firstRow="1" bandRow="1">
                <a:tableStyleId>{5C22544A-7EE6-4342-B048-85BDC9FD1C3A}</a:tableStyleId>
              </a:tblPr>
              <a:tblGrid>
                <a:gridCol w="5500467">
                  <a:extLst>
                    <a:ext uri="{9D8B030D-6E8A-4147-A177-3AD203B41FA5}">
                      <a16:colId xmlns:a16="http://schemas.microsoft.com/office/drawing/2014/main" val="20000"/>
                    </a:ext>
                  </a:extLst>
                </a:gridCol>
                <a:gridCol w="5500467">
                  <a:extLst>
                    <a:ext uri="{9D8B030D-6E8A-4147-A177-3AD203B41FA5}">
                      <a16:colId xmlns:a16="http://schemas.microsoft.com/office/drawing/2014/main" val="20001"/>
                    </a:ext>
                  </a:extLst>
                </a:gridCol>
              </a:tblGrid>
              <a:tr h="370840">
                <a:tc>
                  <a:txBody>
                    <a:bodyPr/>
                    <a:lstStyle/>
                    <a:p>
                      <a:pPr marL="0" marR="0" algn="just">
                        <a:lnSpc>
                          <a:spcPct val="115000"/>
                        </a:lnSpc>
                        <a:spcBef>
                          <a:spcPts val="0"/>
                        </a:spcBef>
                        <a:spcAft>
                          <a:spcPts val="0"/>
                        </a:spcAft>
                      </a:pPr>
                      <a:r>
                        <a:rPr lang="en-US" sz="2200" b="1" dirty="0">
                          <a:solidFill>
                            <a:schemeClr val="accent6"/>
                          </a:solidFill>
                          <a:effectLst/>
                        </a:rPr>
                        <a:t>Example</a:t>
                      </a:r>
                      <a:r>
                        <a:rPr lang="en-US" sz="2200" b="0" dirty="0">
                          <a:solidFill>
                            <a:schemeClr val="tx1"/>
                          </a:solidFill>
                          <a:effectLst/>
                        </a:rPr>
                        <a:t>: Opening two different browser.</a:t>
                      </a:r>
                      <a:endParaRPr lang="en-US" sz="2200" b="0" dirty="0">
                        <a:solidFill>
                          <a:schemeClr val="tx1"/>
                        </a:solidFill>
                        <a:effectLst/>
                        <a:latin typeface="Calibri" panose="020F0502020204030204" pitchFamily="34" charset="0"/>
                        <a:ea typeface="Times New Roman" panose="02020603050405020304" pitchFamily="18" charset="0"/>
                        <a:cs typeface="Shruti" panose="02000500000000000000" pitchFamily="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just">
                        <a:lnSpc>
                          <a:spcPct val="115000"/>
                        </a:lnSpc>
                        <a:spcBef>
                          <a:spcPts val="0"/>
                        </a:spcBef>
                        <a:spcAft>
                          <a:spcPts val="0"/>
                        </a:spcAft>
                      </a:pPr>
                      <a:r>
                        <a:rPr lang="en-US" sz="2200" b="1" dirty="0">
                          <a:solidFill>
                            <a:schemeClr val="accent6"/>
                          </a:solidFill>
                          <a:effectLst/>
                        </a:rPr>
                        <a:t>Example</a:t>
                      </a:r>
                      <a:r>
                        <a:rPr lang="en-US" sz="2200" b="0" dirty="0">
                          <a:solidFill>
                            <a:schemeClr val="tx1"/>
                          </a:solidFill>
                          <a:effectLst/>
                        </a:rPr>
                        <a:t>: Opening two tabs in the same browser.</a:t>
                      </a:r>
                      <a:endParaRPr lang="en-US" sz="2200" b="0" dirty="0">
                        <a:solidFill>
                          <a:schemeClr val="tx1"/>
                        </a:solidFill>
                        <a:effectLst/>
                        <a:latin typeface="Calibri" panose="020F0502020204030204" pitchFamily="34" charset="0"/>
                        <a:ea typeface="Times New Roman" panose="02020603050405020304" pitchFamily="18" charset="0"/>
                        <a:cs typeface="Shruti" panose="02000500000000000000" pitchFamily="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63537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Thread Structure</a:t>
            </a:r>
          </a:p>
        </p:txBody>
      </p:sp>
      <p:sp>
        <p:nvSpPr>
          <p:cNvPr id="3" name="Content Placeholder 2"/>
          <p:cNvSpPr>
            <a:spLocks noGrp="1"/>
          </p:cNvSpPr>
          <p:nvPr>
            <p:ph idx="1"/>
          </p:nvPr>
        </p:nvSpPr>
        <p:spPr/>
        <p:txBody>
          <a:bodyPr/>
          <a:lstStyle/>
          <a:p>
            <a:r>
              <a:rPr lang="en-US" dirty="0"/>
              <a:t>Thread has </a:t>
            </a:r>
            <a:r>
              <a:rPr lang="en-US" b="1" dirty="0">
                <a:solidFill>
                  <a:schemeClr val="accent6"/>
                </a:solidFill>
              </a:rPr>
              <a:t>program counter </a:t>
            </a:r>
            <a:r>
              <a:rPr lang="en-US" dirty="0"/>
              <a:t>used to </a:t>
            </a:r>
            <a:r>
              <a:rPr lang="en-US" b="1" dirty="0">
                <a:solidFill>
                  <a:schemeClr val="accent6"/>
                </a:solidFill>
              </a:rPr>
              <a:t>keep track </a:t>
            </a:r>
            <a:r>
              <a:rPr lang="en-US" dirty="0"/>
              <a:t>of which instruction to </a:t>
            </a:r>
            <a:r>
              <a:rPr lang="en-US" b="1" dirty="0">
                <a:solidFill>
                  <a:schemeClr val="accent6"/>
                </a:solidFill>
              </a:rPr>
              <a:t>execute next</a:t>
            </a:r>
            <a:r>
              <a:rPr lang="en-US" dirty="0"/>
              <a:t>.</a:t>
            </a:r>
          </a:p>
          <a:p>
            <a:r>
              <a:rPr lang="en-US" dirty="0"/>
              <a:t>It has </a:t>
            </a:r>
            <a:r>
              <a:rPr lang="en-US" b="1" dirty="0">
                <a:solidFill>
                  <a:schemeClr val="accent6"/>
                </a:solidFill>
              </a:rPr>
              <a:t>register</a:t>
            </a:r>
            <a:r>
              <a:rPr lang="en-US" dirty="0"/>
              <a:t> which used to </a:t>
            </a:r>
            <a:r>
              <a:rPr lang="en-US" b="1" dirty="0">
                <a:solidFill>
                  <a:schemeClr val="accent6"/>
                </a:solidFill>
              </a:rPr>
              <a:t>hold its current working variables</a:t>
            </a:r>
            <a:r>
              <a:rPr lang="en-US" dirty="0"/>
              <a:t>.</a:t>
            </a:r>
          </a:p>
          <a:p>
            <a:r>
              <a:rPr lang="en-US" dirty="0"/>
              <a:t>It has </a:t>
            </a:r>
            <a:r>
              <a:rPr lang="en-US" b="1" dirty="0">
                <a:solidFill>
                  <a:schemeClr val="accent6"/>
                </a:solidFill>
              </a:rPr>
              <a:t>stack</a:t>
            </a:r>
            <a:r>
              <a:rPr lang="en-US" dirty="0"/>
              <a:t> which contains </a:t>
            </a:r>
            <a:r>
              <a:rPr lang="en-US" b="1" dirty="0">
                <a:solidFill>
                  <a:schemeClr val="accent6"/>
                </a:solidFill>
              </a:rPr>
              <a:t>execution history</a:t>
            </a:r>
            <a:r>
              <a:rPr lang="en-US" dirty="0">
                <a:solidFill>
                  <a:srgbClr val="C00000"/>
                </a:solidFill>
              </a:rPr>
              <a:t>.</a:t>
            </a:r>
          </a:p>
          <a:p>
            <a:r>
              <a:rPr lang="en-US" b="1" dirty="0">
                <a:solidFill>
                  <a:schemeClr val="accent6"/>
                </a:solidFill>
              </a:rPr>
              <a:t>Multiple thread</a:t>
            </a:r>
            <a:r>
              <a:rPr lang="en-US" dirty="0">
                <a:solidFill>
                  <a:srgbClr val="C00000"/>
                </a:solidFill>
              </a:rPr>
              <a:t> </a:t>
            </a:r>
            <a:r>
              <a:rPr lang="en-US" dirty="0"/>
              <a:t>running parallel in </a:t>
            </a:r>
            <a:r>
              <a:rPr lang="en-US" b="1" dirty="0">
                <a:solidFill>
                  <a:schemeClr val="accent6"/>
                </a:solidFill>
              </a:rPr>
              <a:t>one process </a:t>
            </a:r>
            <a:r>
              <a:rPr lang="en-US" dirty="0"/>
              <a:t>is similar to having </a:t>
            </a:r>
            <a:r>
              <a:rPr lang="en-US" b="1" dirty="0">
                <a:solidFill>
                  <a:schemeClr val="accent6"/>
                </a:solidFill>
              </a:rPr>
              <a:t>multiple process</a:t>
            </a:r>
            <a:r>
              <a:rPr lang="en-US" dirty="0"/>
              <a:t> running in parallel in </a:t>
            </a:r>
            <a:r>
              <a:rPr lang="en-US" b="1" dirty="0">
                <a:solidFill>
                  <a:schemeClr val="accent6"/>
                </a:solidFill>
              </a:rPr>
              <a:t>one computer</a:t>
            </a:r>
            <a:r>
              <a:rPr lang="en-US" dirty="0"/>
              <a:t>.</a:t>
            </a:r>
          </a:p>
        </p:txBody>
      </p:sp>
    </p:spTree>
    <p:extLst>
      <p:ext uri="{BB962C8B-B14F-4D97-AF65-F5344CB8AC3E}">
        <p14:creationId xmlns:p14="http://schemas.microsoft.com/office/powerpoint/2010/main" val="92977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B794C-F7BA-683F-F069-63BE2B938FA4}"/>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424B047D-A3A4-D47F-3067-08B0E8756F89}"/>
              </a:ext>
            </a:extLst>
          </p:cNvPr>
          <p:cNvSpPr>
            <a:spLocks noGrp="1"/>
          </p:cNvSpPr>
          <p:nvPr>
            <p:ph type="title"/>
          </p:nvPr>
        </p:nvSpPr>
        <p:spPr>
          <a:xfrm>
            <a:off x="0" y="1"/>
            <a:ext cx="12192000" cy="711200"/>
          </a:xfrm>
        </p:spPr>
        <p:txBody>
          <a:bodyPr/>
          <a:lstStyle/>
          <a:p>
            <a:r>
              <a:rPr lang="en-US" dirty="0"/>
              <a:t>Single Threaded Process VS Multiple Threaded Process</a:t>
            </a:r>
          </a:p>
        </p:txBody>
      </p:sp>
      <p:sp>
        <p:nvSpPr>
          <p:cNvPr id="12" name="Content Placeholder 2">
            <a:extLst>
              <a:ext uri="{FF2B5EF4-FFF2-40B4-BE49-F238E27FC236}">
                <a16:creationId xmlns:a16="http://schemas.microsoft.com/office/drawing/2014/main" id="{A9F71D22-C2A8-FF43-7F05-353C238B69D9}"/>
              </a:ext>
            </a:extLst>
          </p:cNvPr>
          <p:cNvSpPr>
            <a:spLocks noGrp="1"/>
          </p:cNvSpPr>
          <p:nvPr>
            <p:ph idx="1"/>
          </p:nvPr>
        </p:nvSpPr>
        <p:spPr>
          <a:xfrm>
            <a:off x="131180" y="863444"/>
            <a:ext cx="11929641" cy="5590565"/>
          </a:xfrm>
        </p:spPr>
        <p:txBody>
          <a:bodyPr/>
          <a:lstStyle/>
          <a:p>
            <a:pPr marL="0" indent="0">
              <a:buNone/>
            </a:pPr>
            <a:endParaRPr lang="en-US" dirty="0"/>
          </a:p>
        </p:txBody>
      </p:sp>
      <p:pic>
        <p:nvPicPr>
          <p:cNvPr id="13" name="Content Placeholder 7">
            <a:extLst>
              <a:ext uri="{FF2B5EF4-FFF2-40B4-BE49-F238E27FC236}">
                <a16:creationId xmlns:a16="http://schemas.microsoft.com/office/drawing/2014/main" id="{8633DA46-7E47-93BC-9C4B-5B95DA133C85}"/>
              </a:ext>
            </a:extLst>
          </p:cNvPr>
          <p:cNvPicPr>
            <a:picLocks noChangeAspect="1"/>
          </p:cNvPicPr>
          <p:nvPr/>
        </p:nvPicPr>
        <p:blipFill>
          <a:blip r:embed="rId2"/>
          <a:stretch>
            <a:fillRect/>
          </a:stretch>
        </p:blipFill>
        <p:spPr>
          <a:xfrm>
            <a:off x="195758" y="885391"/>
            <a:ext cx="3594882" cy="5040000"/>
          </a:xfrm>
          <a:prstGeom prst="rect">
            <a:avLst/>
          </a:prstGeom>
        </p:spPr>
      </p:pic>
      <p:pic>
        <p:nvPicPr>
          <p:cNvPr id="14" name="Content Placeholder 5">
            <a:extLst>
              <a:ext uri="{FF2B5EF4-FFF2-40B4-BE49-F238E27FC236}">
                <a16:creationId xmlns:a16="http://schemas.microsoft.com/office/drawing/2014/main" id="{84BF21BE-EBC6-9ACE-036B-D48CEE284521}"/>
              </a:ext>
            </a:extLst>
          </p:cNvPr>
          <p:cNvPicPr>
            <a:picLocks noChangeAspect="1"/>
          </p:cNvPicPr>
          <p:nvPr/>
        </p:nvPicPr>
        <p:blipFill>
          <a:blip r:embed="rId3"/>
          <a:stretch>
            <a:fillRect/>
          </a:stretch>
        </p:blipFill>
        <p:spPr>
          <a:xfrm>
            <a:off x="3652049" y="885391"/>
            <a:ext cx="3610213" cy="5040000"/>
          </a:xfrm>
          <a:prstGeom prst="rect">
            <a:avLst/>
          </a:prstGeom>
        </p:spPr>
      </p:pic>
      <p:sp>
        <p:nvSpPr>
          <p:cNvPr id="15" name="Rounded Rectangle 7">
            <a:extLst>
              <a:ext uri="{FF2B5EF4-FFF2-40B4-BE49-F238E27FC236}">
                <a16:creationId xmlns:a16="http://schemas.microsoft.com/office/drawing/2014/main" id="{3BC352DE-51C6-164E-65E8-F7959BA1D299}"/>
              </a:ext>
            </a:extLst>
          </p:cNvPr>
          <p:cNvSpPr/>
          <p:nvPr/>
        </p:nvSpPr>
        <p:spPr>
          <a:xfrm>
            <a:off x="7548606" y="885391"/>
            <a:ext cx="4365356" cy="3332046"/>
          </a:xfrm>
          <a:prstGeom prst="roundRect">
            <a:avLst>
              <a:gd name="adj" fmla="val 1858"/>
            </a:avLst>
          </a:prstGeom>
          <a:solidFill>
            <a:schemeClr val="accent6">
              <a:lumMod val="20000"/>
              <a:lumOff val="80000"/>
            </a:schemeClr>
          </a:solidFill>
        </p:spPr>
        <p:txBody>
          <a:bodyPr vert="horz" lIns="91440" tIns="45720" rIns="91440" bIns="45720" rtlCol="0" anchor="t">
            <a:noAutofit/>
          </a:bodyPr>
          <a:lstStyle/>
          <a:p>
            <a:pPr marL="342900" indent="-342900" algn="just">
              <a:spcBef>
                <a:spcPts val="1000"/>
              </a:spcBef>
              <a:buClr>
                <a:schemeClr val="accent6"/>
              </a:buClr>
              <a:buFont typeface="Wingdings" panose="05000000000000000000" pitchFamily="2" charset="2"/>
              <a:buChar char="ü"/>
            </a:pPr>
            <a:r>
              <a:rPr lang="en-US" sz="2400" dirty="0"/>
              <a:t>A </a:t>
            </a:r>
            <a:r>
              <a:rPr lang="en-US" sz="2400" b="1" dirty="0">
                <a:solidFill>
                  <a:schemeClr val="accent6"/>
                </a:solidFill>
              </a:rPr>
              <a:t>single-threaded</a:t>
            </a:r>
            <a:r>
              <a:rPr lang="en-US" sz="2400" dirty="0"/>
              <a:t> process is a process with a single thread. </a:t>
            </a:r>
          </a:p>
          <a:p>
            <a:pPr marL="342900" indent="-342900" algn="just">
              <a:spcBef>
                <a:spcPts val="1000"/>
              </a:spcBef>
              <a:buClr>
                <a:schemeClr val="accent6"/>
              </a:buClr>
              <a:buFont typeface="Wingdings" panose="05000000000000000000" pitchFamily="2" charset="2"/>
              <a:buChar char="ü"/>
            </a:pPr>
            <a:r>
              <a:rPr lang="en-US" sz="2400" dirty="0"/>
              <a:t>A </a:t>
            </a:r>
            <a:r>
              <a:rPr lang="en-US" sz="2400" b="1" dirty="0">
                <a:solidFill>
                  <a:schemeClr val="accent6"/>
                </a:solidFill>
              </a:rPr>
              <a:t>multi-threaded</a:t>
            </a:r>
            <a:r>
              <a:rPr lang="en-US" sz="2400" dirty="0"/>
              <a:t> process is a process with multiple threads.</a:t>
            </a:r>
          </a:p>
          <a:p>
            <a:pPr marL="342900" indent="-342900" algn="just">
              <a:spcBef>
                <a:spcPts val="1000"/>
              </a:spcBef>
              <a:buClr>
                <a:schemeClr val="accent6"/>
              </a:buClr>
              <a:buFont typeface="Wingdings" panose="05000000000000000000" pitchFamily="2" charset="2"/>
              <a:buChar char="ü"/>
            </a:pPr>
            <a:r>
              <a:rPr lang="en-US" sz="2400" dirty="0"/>
              <a:t>The multiple threads have its own </a:t>
            </a:r>
            <a:r>
              <a:rPr lang="en-US" sz="2400" b="1" dirty="0">
                <a:solidFill>
                  <a:schemeClr val="accent6"/>
                </a:solidFill>
              </a:rPr>
              <a:t>registers</a:t>
            </a:r>
            <a:r>
              <a:rPr lang="en-US" sz="2400" dirty="0"/>
              <a:t>, </a:t>
            </a:r>
            <a:r>
              <a:rPr lang="en-US" sz="2400" b="1" dirty="0">
                <a:solidFill>
                  <a:schemeClr val="accent6"/>
                </a:solidFill>
              </a:rPr>
              <a:t>stack</a:t>
            </a:r>
            <a:r>
              <a:rPr lang="en-US" sz="2400" dirty="0"/>
              <a:t> and </a:t>
            </a:r>
            <a:r>
              <a:rPr lang="en-US" sz="2400" b="1" dirty="0">
                <a:solidFill>
                  <a:schemeClr val="accent6"/>
                </a:solidFill>
              </a:rPr>
              <a:t>counter</a:t>
            </a:r>
            <a:r>
              <a:rPr lang="en-US" sz="2400" dirty="0"/>
              <a:t> but they share the code and data segment.</a:t>
            </a:r>
            <a:endParaRPr lang="en-IN" sz="2400" dirty="0"/>
          </a:p>
        </p:txBody>
      </p:sp>
    </p:spTree>
    <p:extLst>
      <p:ext uri="{BB962C8B-B14F-4D97-AF65-F5344CB8AC3E}">
        <p14:creationId xmlns:p14="http://schemas.microsoft.com/office/powerpoint/2010/main" val="12654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 presetClass="entr" presetSubtype="0" fill="hold" nodeType="with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3E2622"/>
                    </a:gs>
                    <a:gs pos="100000">
                      <a:srgbClr val="795547"/>
                    </a:gs>
                  </a:gsLst>
                  <a:lin ang="0" scaled="1"/>
                  <a:tileRect/>
                </a:gradFill>
              </a:rPr>
              <a:t>Types of Threads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- 7</a:t>
            </a:r>
          </a:p>
        </p:txBody>
      </p:sp>
    </p:spTree>
    <p:extLst>
      <p:ext uri="{BB962C8B-B14F-4D97-AF65-F5344CB8AC3E}">
        <p14:creationId xmlns:p14="http://schemas.microsoft.com/office/powerpoint/2010/main" val="205769047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Threads</a:t>
            </a:r>
          </a:p>
        </p:txBody>
      </p:sp>
      <p:sp>
        <p:nvSpPr>
          <p:cNvPr id="3" name="Content Placeholder 2"/>
          <p:cNvSpPr>
            <a:spLocks noGrp="1"/>
          </p:cNvSpPr>
          <p:nvPr>
            <p:ph idx="1"/>
          </p:nvPr>
        </p:nvSpPr>
        <p:spPr/>
        <p:txBody>
          <a:bodyPr/>
          <a:lstStyle/>
          <a:p>
            <a:pPr marL="457200" indent="-457200">
              <a:buFont typeface="+mj-lt"/>
              <a:buAutoNum type="arabicPeriod"/>
            </a:pPr>
            <a:r>
              <a:rPr lang="en-US" dirty="0"/>
              <a:t>Kernel Level Thread</a:t>
            </a:r>
          </a:p>
          <a:p>
            <a:pPr marL="457200" indent="-457200">
              <a:buFont typeface="+mj-lt"/>
              <a:buAutoNum type="arabicPeriod"/>
            </a:pPr>
            <a:r>
              <a:rPr lang="en-US" dirty="0"/>
              <a:t>User Level Thread</a:t>
            </a:r>
          </a:p>
        </p:txBody>
      </p:sp>
      <p:pic>
        <p:nvPicPr>
          <p:cNvPr id="4" name="Picture 2" descr="Many to one thread mod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9996" y="1810719"/>
            <a:ext cx="6274715" cy="464329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020416" y="3897289"/>
            <a:ext cx="5656734" cy="1427185"/>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2021964" y="2306020"/>
            <a:ext cx="5655186" cy="1446830"/>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ight Brace 6"/>
          <p:cNvSpPr/>
          <p:nvPr/>
        </p:nvSpPr>
        <p:spPr>
          <a:xfrm>
            <a:off x="7979083" y="2343635"/>
            <a:ext cx="230605" cy="1371600"/>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8359897" y="2567770"/>
            <a:ext cx="1017368" cy="923330"/>
          </a:xfrm>
          <a:prstGeom prst="rect">
            <a:avLst/>
          </a:prstGeom>
          <a:noFill/>
        </p:spPr>
        <p:txBody>
          <a:bodyPr wrap="square" rtlCol="0">
            <a:spAutoFit/>
          </a:bodyPr>
          <a:lstStyle/>
          <a:p>
            <a:r>
              <a:rPr lang="en-US" dirty="0"/>
              <a:t>User</a:t>
            </a:r>
          </a:p>
          <a:p>
            <a:r>
              <a:rPr lang="en-US" dirty="0"/>
              <a:t>Level</a:t>
            </a:r>
          </a:p>
          <a:p>
            <a:r>
              <a:rPr lang="en-US" dirty="0"/>
              <a:t>Threads</a:t>
            </a:r>
          </a:p>
        </p:txBody>
      </p:sp>
      <p:sp>
        <p:nvSpPr>
          <p:cNvPr id="9" name="Right Brace 8"/>
          <p:cNvSpPr/>
          <p:nvPr/>
        </p:nvSpPr>
        <p:spPr>
          <a:xfrm>
            <a:off x="7967570" y="3925081"/>
            <a:ext cx="230605" cy="1371600"/>
          </a:xfrm>
          <a:prstGeom prst="rightBrace">
            <a:avLst/>
          </a:prstGeom>
          <a:ln w="381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8355616" y="4149216"/>
            <a:ext cx="921734" cy="923330"/>
          </a:xfrm>
          <a:prstGeom prst="rect">
            <a:avLst/>
          </a:prstGeom>
          <a:noFill/>
        </p:spPr>
        <p:txBody>
          <a:bodyPr wrap="square" rtlCol="0">
            <a:spAutoFit/>
          </a:bodyPr>
          <a:lstStyle/>
          <a:p>
            <a:r>
              <a:rPr lang="en-US" dirty="0"/>
              <a:t>Kernel</a:t>
            </a:r>
          </a:p>
          <a:p>
            <a:r>
              <a:rPr lang="en-US" dirty="0"/>
              <a:t>Level</a:t>
            </a:r>
          </a:p>
          <a:p>
            <a:r>
              <a:rPr lang="en-US" dirty="0"/>
              <a:t>Threads</a:t>
            </a:r>
          </a:p>
        </p:txBody>
      </p:sp>
    </p:spTree>
    <p:extLst>
      <p:ext uri="{BB962C8B-B14F-4D97-AF65-F5344CB8AC3E}">
        <p14:creationId xmlns:p14="http://schemas.microsoft.com/office/powerpoint/2010/main" val="427532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barn(inVertical)">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500"/>
                                        <p:tgtEl>
                                          <p:spTgt spid="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animBg="1"/>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Threads</a:t>
            </a:r>
          </a:p>
        </p:txBody>
      </p:sp>
      <p:graphicFrame>
        <p:nvGraphicFramePr>
          <p:cNvPr id="11" name="Content Placeholder 4">
            <a:extLst>
              <a:ext uri="{FF2B5EF4-FFF2-40B4-BE49-F238E27FC236}">
                <a16:creationId xmlns:a16="http://schemas.microsoft.com/office/drawing/2014/main" id="{26B864CA-85CD-4666-B9D1-870ED08B272C}"/>
              </a:ext>
            </a:extLst>
          </p:cNvPr>
          <p:cNvGraphicFramePr>
            <a:graphicFrameLocks/>
          </p:cNvGraphicFramePr>
          <p:nvPr/>
        </p:nvGraphicFramePr>
        <p:xfrm>
          <a:off x="248411" y="871110"/>
          <a:ext cx="11795760" cy="63000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val="20000"/>
                    </a:ext>
                  </a:extLst>
                </a:gridCol>
                <a:gridCol w="5897880">
                  <a:extLst>
                    <a:ext uri="{9D8B030D-6E8A-4147-A177-3AD203B41FA5}">
                      <a16:colId xmlns:a16="http://schemas.microsoft.com/office/drawing/2014/main" val="20001"/>
                    </a:ext>
                  </a:extLst>
                </a:gridCol>
              </a:tblGrid>
              <a:tr h="630000">
                <a:tc>
                  <a:txBody>
                    <a:bodyPr/>
                    <a:lstStyle/>
                    <a:p>
                      <a:pPr algn="l"/>
                      <a:r>
                        <a:rPr lang="en-US" sz="2400" b="1" dirty="0">
                          <a:solidFill>
                            <a:schemeClr val="tx1"/>
                          </a:solidFill>
                        </a:rPr>
                        <a:t>User Level Thread</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2400" b="1" dirty="0">
                          <a:solidFill>
                            <a:schemeClr val="tx1"/>
                          </a:solidFill>
                        </a:rPr>
                        <a:t>Kernel Level Thread</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12"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513270400"/>
              </p:ext>
            </p:extLst>
          </p:nvPr>
        </p:nvGraphicFramePr>
        <p:xfrm>
          <a:off x="248411" y="1506107"/>
          <a:ext cx="11795760" cy="54000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val="20000"/>
                    </a:ext>
                  </a:extLst>
                </a:gridCol>
                <a:gridCol w="5897880">
                  <a:extLst>
                    <a:ext uri="{9D8B030D-6E8A-4147-A177-3AD203B41FA5}">
                      <a16:colId xmlns:a16="http://schemas.microsoft.com/office/drawing/2014/main" val="20001"/>
                    </a:ext>
                  </a:extLst>
                </a:gridCol>
              </a:tblGrid>
              <a:tr h="540000">
                <a:tc>
                  <a:txBody>
                    <a:bodyPr/>
                    <a:lstStyle/>
                    <a:p>
                      <a:r>
                        <a:rPr lang="en-US" sz="2400" b="0" kern="1200" dirty="0">
                          <a:solidFill>
                            <a:schemeClr val="dk1"/>
                          </a:solidFill>
                          <a:latin typeface="+mn-lt"/>
                          <a:ea typeface="+mn-ea"/>
                          <a:cs typeface="+mn-cs"/>
                        </a:rPr>
                        <a:t>User thread are </a:t>
                      </a:r>
                      <a:r>
                        <a:rPr lang="en-US" sz="2400" b="0" kern="1200" dirty="0">
                          <a:solidFill>
                            <a:schemeClr val="tx1"/>
                          </a:solidFill>
                          <a:latin typeface="+mn-lt"/>
                          <a:ea typeface="+mn-ea"/>
                          <a:cs typeface="+mn-cs"/>
                        </a:rPr>
                        <a:t>implemented by </a:t>
                      </a:r>
                      <a:r>
                        <a:rPr lang="en-US" sz="2400" b="1" kern="1200" dirty="0">
                          <a:solidFill>
                            <a:schemeClr val="accent6"/>
                          </a:solidFill>
                          <a:latin typeface="+mn-lt"/>
                          <a:ea typeface="+mn-ea"/>
                          <a:cs typeface="+mn-cs"/>
                        </a:rPr>
                        <a:t>users</a:t>
                      </a:r>
                      <a:r>
                        <a:rPr lang="en-US" sz="2400" b="0" kern="1200" dirty="0">
                          <a:solidFill>
                            <a:schemeClr val="dk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dirty="0">
                          <a:solidFill>
                            <a:schemeClr val="dk1"/>
                          </a:solidFill>
                          <a:latin typeface="+mn-lt"/>
                          <a:ea typeface="+mn-ea"/>
                          <a:cs typeface="+mn-cs"/>
                        </a:rPr>
                        <a:t>Kernel threads are </a:t>
                      </a:r>
                      <a:r>
                        <a:rPr lang="en-US" sz="2400" b="0" kern="1200" dirty="0">
                          <a:solidFill>
                            <a:schemeClr val="tx1"/>
                          </a:solidFill>
                          <a:latin typeface="+mn-lt"/>
                          <a:ea typeface="+mn-ea"/>
                          <a:cs typeface="+mn-cs"/>
                        </a:rPr>
                        <a:t>implemented by </a:t>
                      </a:r>
                      <a:r>
                        <a:rPr lang="en-US" sz="2400" b="1" kern="1200" dirty="0">
                          <a:solidFill>
                            <a:schemeClr val="accent6"/>
                          </a:solidFill>
                          <a:latin typeface="+mn-lt"/>
                          <a:ea typeface="+mn-ea"/>
                          <a:cs typeface="+mn-cs"/>
                        </a:rPr>
                        <a:t>OS</a:t>
                      </a:r>
                      <a:r>
                        <a:rPr lang="en-US" sz="2400" b="0" kern="1200" dirty="0">
                          <a:solidFill>
                            <a:schemeClr val="dk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3"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316792527"/>
              </p:ext>
            </p:extLst>
          </p:nvPr>
        </p:nvGraphicFramePr>
        <p:xfrm>
          <a:off x="248411" y="2047440"/>
          <a:ext cx="11795760" cy="54000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val="20000"/>
                    </a:ext>
                  </a:extLst>
                </a:gridCol>
                <a:gridCol w="5897880">
                  <a:extLst>
                    <a:ext uri="{9D8B030D-6E8A-4147-A177-3AD203B41FA5}">
                      <a16:colId xmlns:a16="http://schemas.microsoft.com/office/drawing/2014/main" val="20001"/>
                    </a:ext>
                  </a:extLst>
                </a:gridCol>
              </a:tblGrid>
              <a:tr h="540000">
                <a:tc>
                  <a:txBody>
                    <a:bodyPr/>
                    <a:lstStyle/>
                    <a:p>
                      <a:r>
                        <a:rPr lang="en-US" sz="2400" b="1" kern="1200" dirty="0">
                          <a:solidFill>
                            <a:schemeClr val="accent6"/>
                          </a:solidFill>
                          <a:latin typeface="+mn-lt"/>
                          <a:ea typeface="+mn-ea"/>
                          <a:cs typeface="+mn-cs"/>
                        </a:rPr>
                        <a:t>OS doesn’t recognize </a:t>
                      </a:r>
                      <a:r>
                        <a:rPr lang="en-US" sz="2400" b="0" kern="1200" dirty="0">
                          <a:solidFill>
                            <a:schemeClr val="dk1"/>
                          </a:solidFill>
                          <a:latin typeface="+mn-lt"/>
                          <a:ea typeface="+mn-ea"/>
                          <a:cs typeface="+mn-cs"/>
                        </a:rPr>
                        <a:t>user level threads.</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dirty="0">
                          <a:solidFill>
                            <a:schemeClr val="dk1"/>
                          </a:solidFill>
                          <a:latin typeface="+mn-lt"/>
                          <a:ea typeface="+mn-ea"/>
                          <a:cs typeface="+mn-cs"/>
                        </a:rPr>
                        <a:t>Kernel threads are </a:t>
                      </a:r>
                      <a:r>
                        <a:rPr lang="en-US" sz="2400" b="1" kern="1200" dirty="0">
                          <a:solidFill>
                            <a:schemeClr val="accent6"/>
                          </a:solidFill>
                          <a:latin typeface="+mn-lt"/>
                          <a:ea typeface="+mn-ea"/>
                          <a:cs typeface="+mn-cs"/>
                        </a:rPr>
                        <a:t>recognized by OS</a:t>
                      </a:r>
                      <a:r>
                        <a:rPr lang="en-US" sz="2400" b="0" kern="1200" dirty="0">
                          <a:solidFill>
                            <a:schemeClr val="dk1"/>
                          </a:solidFill>
                          <a:latin typeface="+mn-lt"/>
                          <a:ea typeface="+mn-ea"/>
                          <a:cs typeface="+mn-cs"/>
                        </a:rPr>
                        <a:t>.</a:t>
                      </a:r>
                      <a:endParaRPr lang="en-GB"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4"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95531177"/>
              </p:ext>
            </p:extLst>
          </p:nvPr>
        </p:nvGraphicFramePr>
        <p:xfrm>
          <a:off x="248411" y="2588542"/>
          <a:ext cx="11795760" cy="54000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val="20000"/>
                    </a:ext>
                  </a:extLst>
                </a:gridCol>
                <a:gridCol w="5897880">
                  <a:extLst>
                    <a:ext uri="{9D8B030D-6E8A-4147-A177-3AD203B41FA5}">
                      <a16:colId xmlns:a16="http://schemas.microsoft.com/office/drawing/2014/main" val="20001"/>
                    </a:ext>
                  </a:extLst>
                </a:gridCol>
              </a:tblGrid>
              <a:tr h="540000">
                <a:tc>
                  <a:txBody>
                    <a:bodyPr/>
                    <a:lstStyle/>
                    <a:p>
                      <a:r>
                        <a:rPr lang="en-US" sz="2400" b="1" kern="1200" dirty="0">
                          <a:solidFill>
                            <a:schemeClr val="accent6"/>
                          </a:solidFill>
                          <a:latin typeface="+mn-lt"/>
                          <a:ea typeface="+mn-ea"/>
                          <a:cs typeface="+mn-cs"/>
                        </a:rPr>
                        <a:t>Implementation</a:t>
                      </a:r>
                      <a:r>
                        <a:rPr lang="en-US" sz="2400" b="0" kern="1200" dirty="0">
                          <a:solidFill>
                            <a:schemeClr val="dk1"/>
                          </a:solidFill>
                          <a:latin typeface="+mn-lt"/>
                          <a:ea typeface="+mn-ea"/>
                          <a:cs typeface="+mn-cs"/>
                        </a:rPr>
                        <a:t> of user threads is </a:t>
                      </a:r>
                      <a:r>
                        <a:rPr lang="en-US" sz="2400" b="1" kern="1200" dirty="0">
                          <a:solidFill>
                            <a:schemeClr val="accent6"/>
                          </a:solidFill>
                          <a:latin typeface="+mn-lt"/>
                          <a:ea typeface="+mn-ea"/>
                          <a:cs typeface="+mn-cs"/>
                        </a:rPr>
                        <a:t>easy</a:t>
                      </a:r>
                      <a:r>
                        <a:rPr lang="en-US" sz="2400" b="0" kern="1200" dirty="0">
                          <a:solidFill>
                            <a:schemeClr val="dk1"/>
                          </a:solidFill>
                          <a:latin typeface="+mn-lt"/>
                          <a:ea typeface="+mn-ea"/>
                          <a:cs typeface="+mn-cs"/>
                        </a:rPr>
                        <a:t>.</a:t>
                      </a:r>
                      <a:endParaRPr lang="en-GB" sz="24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1" kern="1200" dirty="0">
                          <a:solidFill>
                            <a:schemeClr val="accent6"/>
                          </a:solidFill>
                          <a:latin typeface="+mn-lt"/>
                          <a:ea typeface="+mn-ea"/>
                          <a:cs typeface="+mn-cs"/>
                        </a:rPr>
                        <a:t>Implementation</a:t>
                      </a:r>
                      <a:r>
                        <a:rPr lang="en-US" sz="2400" b="0" kern="1200" dirty="0">
                          <a:solidFill>
                            <a:schemeClr val="dk1"/>
                          </a:solidFill>
                          <a:latin typeface="+mn-lt"/>
                          <a:ea typeface="+mn-ea"/>
                          <a:cs typeface="+mn-cs"/>
                        </a:rPr>
                        <a:t> of kernel thread is </a:t>
                      </a:r>
                      <a:r>
                        <a:rPr lang="en-US" sz="2400" b="1" kern="1200" dirty="0">
                          <a:solidFill>
                            <a:schemeClr val="accent6"/>
                          </a:solidFill>
                          <a:latin typeface="+mn-lt"/>
                          <a:ea typeface="+mn-ea"/>
                          <a:cs typeface="+mn-cs"/>
                        </a:rPr>
                        <a:t>complex</a:t>
                      </a:r>
                      <a:r>
                        <a:rPr lang="en-US" sz="2400" b="0" kern="1200" dirty="0">
                          <a:solidFill>
                            <a:schemeClr val="dk1"/>
                          </a:solidFill>
                          <a:latin typeface="+mn-lt"/>
                          <a:ea typeface="+mn-ea"/>
                          <a:cs typeface="+mn-cs"/>
                        </a:rPr>
                        <a:t>.</a:t>
                      </a:r>
                      <a:endParaRPr lang="en-GB" sz="24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5"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1601403972"/>
              </p:ext>
            </p:extLst>
          </p:nvPr>
        </p:nvGraphicFramePr>
        <p:xfrm>
          <a:off x="248411" y="3128087"/>
          <a:ext cx="11795760" cy="54000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val="20000"/>
                    </a:ext>
                  </a:extLst>
                </a:gridCol>
                <a:gridCol w="5897880">
                  <a:extLst>
                    <a:ext uri="{9D8B030D-6E8A-4147-A177-3AD203B41FA5}">
                      <a16:colId xmlns:a16="http://schemas.microsoft.com/office/drawing/2014/main" val="20001"/>
                    </a:ext>
                  </a:extLst>
                </a:gridCol>
              </a:tblGrid>
              <a:tr h="540000">
                <a:tc>
                  <a:txBody>
                    <a:bodyPr/>
                    <a:lstStyle/>
                    <a:p>
                      <a:r>
                        <a:rPr lang="en-US" sz="2400" b="1" kern="1200" dirty="0">
                          <a:solidFill>
                            <a:schemeClr val="accent6"/>
                          </a:solidFill>
                          <a:latin typeface="+mn-lt"/>
                          <a:ea typeface="+mn-ea"/>
                          <a:cs typeface="+mn-cs"/>
                        </a:rPr>
                        <a:t>Context switch </a:t>
                      </a:r>
                      <a:r>
                        <a:rPr lang="en-US" sz="2400" b="0" kern="1200" dirty="0">
                          <a:solidFill>
                            <a:schemeClr val="tx1"/>
                          </a:solidFill>
                          <a:latin typeface="+mn-lt"/>
                          <a:ea typeface="+mn-ea"/>
                          <a:cs typeface="+mn-cs"/>
                        </a:rPr>
                        <a:t>time is </a:t>
                      </a:r>
                      <a:r>
                        <a:rPr lang="en-US" sz="2400" b="1" kern="1200" dirty="0">
                          <a:solidFill>
                            <a:schemeClr val="accent6"/>
                          </a:solidFill>
                          <a:latin typeface="+mn-lt"/>
                          <a:ea typeface="+mn-ea"/>
                          <a:cs typeface="+mn-cs"/>
                        </a:rPr>
                        <a:t>less</a:t>
                      </a:r>
                      <a:r>
                        <a:rPr lang="en-US" sz="2400" b="0" kern="1200" dirty="0">
                          <a:solidFill>
                            <a:schemeClr val="dk1"/>
                          </a:solidFill>
                          <a:latin typeface="+mn-lt"/>
                          <a:ea typeface="+mn-ea"/>
                          <a:cs typeface="+mn-cs"/>
                        </a:rPr>
                        <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1" kern="1200" dirty="0">
                          <a:solidFill>
                            <a:schemeClr val="accent6"/>
                          </a:solidFill>
                          <a:latin typeface="+mn-lt"/>
                          <a:ea typeface="+mn-ea"/>
                          <a:cs typeface="+mn-cs"/>
                        </a:rPr>
                        <a:t>Context switch </a:t>
                      </a:r>
                      <a:r>
                        <a:rPr lang="en-US" sz="2400" b="0" kern="1200" dirty="0">
                          <a:solidFill>
                            <a:schemeClr val="tx1"/>
                          </a:solidFill>
                          <a:latin typeface="+mn-lt"/>
                          <a:ea typeface="+mn-ea"/>
                          <a:cs typeface="+mn-cs"/>
                        </a:rPr>
                        <a:t>time is </a:t>
                      </a:r>
                      <a:r>
                        <a:rPr lang="en-US" sz="2400" b="1" kern="1200" dirty="0">
                          <a:solidFill>
                            <a:schemeClr val="accent6"/>
                          </a:solidFill>
                          <a:latin typeface="+mn-lt"/>
                          <a:ea typeface="+mn-ea"/>
                          <a:cs typeface="+mn-cs"/>
                        </a:rPr>
                        <a:t>more</a:t>
                      </a:r>
                      <a:r>
                        <a:rPr lang="en-US" sz="2400" b="0" kern="1200" dirty="0">
                          <a:solidFill>
                            <a:schemeClr val="dk1"/>
                          </a:solidFill>
                          <a:latin typeface="+mn-lt"/>
                          <a:ea typeface="+mn-ea"/>
                          <a:cs typeface="+mn-cs"/>
                        </a:rPr>
                        <a:t>.</a:t>
                      </a:r>
                      <a:endParaRPr lang="en-GB"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6"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3011444379"/>
              </p:ext>
            </p:extLst>
          </p:nvPr>
        </p:nvGraphicFramePr>
        <p:xfrm>
          <a:off x="248411" y="3670574"/>
          <a:ext cx="11795760" cy="54000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val="20000"/>
                    </a:ext>
                  </a:extLst>
                </a:gridCol>
                <a:gridCol w="5897880">
                  <a:extLst>
                    <a:ext uri="{9D8B030D-6E8A-4147-A177-3AD203B41FA5}">
                      <a16:colId xmlns:a16="http://schemas.microsoft.com/office/drawing/2014/main" val="20001"/>
                    </a:ext>
                  </a:extLst>
                </a:gridCol>
              </a:tblGrid>
              <a:tr h="540000">
                <a:tc>
                  <a:txBody>
                    <a:bodyPr/>
                    <a:lstStyle/>
                    <a:p>
                      <a:r>
                        <a:rPr lang="en-US" sz="2400" b="0" kern="1200" dirty="0">
                          <a:solidFill>
                            <a:schemeClr val="dk1"/>
                          </a:solidFill>
                          <a:latin typeface="+mn-lt"/>
                          <a:ea typeface="+mn-ea"/>
                          <a:cs typeface="+mn-cs"/>
                        </a:rPr>
                        <a:t>Context switch </a:t>
                      </a:r>
                      <a:r>
                        <a:rPr lang="en-US" sz="2400" b="0" kern="1200" dirty="0">
                          <a:solidFill>
                            <a:schemeClr val="tx1"/>
                          </a:solidFill>
                          <a:latin typeface="+mn-lt"/>
                          <a:ea typeface="+mn-ea"/>
                          <a:cs typeface="+mn-cs"/>
                        </a:rPr>
                        <a:t>requires</a:t>
                      </a:r>
                      <a:r>
                        <a:rPr lang="en-US" sz="2400" b="1" kern="1200" dirty="0">
                          <a:solidFill>
                            <a:srgbClr val="C00000"/>
                          </a:solidFill>
                          <a:latin typeface="+mn-lt"/>
                          <a:ea typeface="+mn-ea"/>
                          <a:cs typeface="+mn-cs"/>
                        </a:rPr>
                        <a:t> </a:t>
                      </a:r>
                      <a:r>
                        <a:rPr lang="en-US" sz="2400" b="1" kern="1200" dirty="0">
                          <a:solidFill>
                            <a:schemeClr val="accent6"/>
                          </a:solidFill>
                          <a:latin typeface="+mn-lt"/>
                          <a:ea typeface="+mn-ea"/>
                          <a:cs typeface="+mn-cs"/>
                        </a:rPr>
                        <a:t>no hardware support</a:t>
                      </a:r>
                      <a:r>
                        <a:rPr lang="en-US" sz="2400" b="0" kern="1200" dirty="0">
                          <a:solidFill>
                            <a:schemeClr val="dk1"/>
                          </a:solidFill>
                          <a:latin typeface="+mn-lt"/>
                          <a:ea typeface="+mn-ea"/>
                          <a:cs typeface="+mn-cs"/>
                        </a:rPr>
                        <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dirty="0">
                          <a:solidFill>
                            <a:schemeClr val="dk1"/>
                          </a:solidFill>
                          <a:latin typeface="+mn-lt"/>
                          <a:ea typeface="+mn-ea"/>
                          <a:cs typeface="+mn-cs"/>
                        </a:rPr>
                        <a:t>Context switch </a:t>
                      </a:r>
                      <a:r>
                        <a:rPr lang="en-US" sz="2400" b="0" kern="1200" dirty="0">
                          <a:solidFill>
                            <a:schemeClr val="tx1"/>
                          </a:solidFill>
                          <a:latin typeface="+mn-lt"/>
                          <a:ea typeface="+mn-ea"/>
                          <a:cs typeface="+mn-cs"/>
                        </a:rPr>
                        <a:t>requires</a:t>
                      </a:r>
                      <a:r>
                        <a:rPr lang="en-US" sz="2400" b="0" kern="1200" dirty="0">
                          <a:solidFill>
                            <a:srgbClr val="C00000"/>
                          </a:solidFill>
                          <a:latin typeface="+mn-lt"/>
                          <a:ea typeface="+mn-ea"/>
                          <a:cs typeface="+mn-cs"/>
                        </a:rPr>
                        <a:t> </a:t>
                      </a:r>
                      <a:r>
                        <a:rPr lang="en-US" sz="2400" b="1" kern="1200" dirty="0">
                          <a:solidFill>
                            <a:schemeClr val="accent6"/>
                          </a:solidFill>
                          <a:latin typeface="+mn-lt"/>
                          <a:ea typeface="+mn-ea"/>
                          <a:cs typeface="+mn-cs"/>
                        </a:rPr>
                        <a:t>hardware support</a:t>
                      </a:r>
                      <a:r>
                        <a:rPr lang="en-US" sz="2400" b="0" kern="1200" dirty="0">
                          <a:solidFill>
                            <a:schemeClr val="dk1"/>
                          </a:solidFill>
                          <a:latin typeface="+mn-lt"/>
                          <a:ea typeface="+mn-ea"/>
                          <a:cs typeface="+mn-cs"/>
                        </a:rPr>
                        <a:t>.</a:t>
                      </a:r>
                      <a:endParaRPr lang="en-GB"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7"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335847397"/>
              </p:ext>
            </p:extLst>
          </p:nvPr>
        </p:nvGraphicFramePr>
        <p:xfrm>
          <a:off x="248411" y="4208903"/>
          <a:ext cx="11795760" cy="118872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val="20000"/>
                    </a:ext>
                  </a:extLst>
                </a:gridCol>
                <a:gridCol w="5897880">
                  <a:extLst>
                    <a:ext uri="{9D8B030D-6E8A-4147-A177-3AD203B41FA5}">
                      <a16:colId xmlns:a16="http://schemas.microsoft.com/office/drawing/2014/main" val="20001"/>
                    </a:ext>
                  </a:extLst>
                </a:gridCol>
              </a:tblGrid>
              <a:tr h="540000">
                <a:tc>
                  <a:txBody>
                    <a:bodyPr/>
                    <a:lstStyle/>
                    <a:p>
                      <a:r>
                        <a:rPr lang="en-US" sz="2400" b="0" kern="1200" dirty="0">
                          <a:solidFill>
                            <a:schemeClr val="dk1"/>
                          </a:solidFill>
                          <a:latin typeface="+mn-lt"/>
                          <a:ea typeface="+mn-ea"/>
                          <a:cs typeface="+mn-cs"/>
                        </a:rPr>
                        <a:t>If one user level thread perform blocking operation then </a:t>
                      </a:r>
                      <a:r>
                        <a:rPr lang="en-US" sz="2400" b="1" kern="1200" dirty="0">
                          <a:solidFill>
                            <a:schemeClr val="accent6"/>
                          </a:solidFill>
                          <a:latin typeface="+mn-lt"/>
                          <a:ea typeface="+mn-ea"/>
                          <a:cs typeface="+mn-cs"/>
                        </a:rPr>
                        <a:t>entire process will be blocked</a:t>
                      </a:r>
                      <a:r>
                        <a:rPr lang="en-US" sz="2400" b="0" kern="1200" dirty="0">
                          <a:solidFill>
                            <a:schemeClr val="dk1"/>
                          </a:solidFill>
                          <a:latin typeface="+mn-lt"/>
                          <a:ea typeface="+mn-ea"/>
                          <a:cs typeface="+mn-cs"/>
                        </a:rPr>
                        <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0" kern="1200" dirty="0">
                          <a:solidFill>
                            <a:schemeClr val="dk1"/>
                          </a:solidFill>
                          <a:latin typeface="+mn-lt"/>
                          <a:ea typeface="+mn-ea"/>
                          <a:cs typeface="+mn-cs"/>
                        </a:rPr>
                        <a:t>If one kernel thread perform blocking operation then </a:t>
                      </a:r>
                      <a:r>
                        <a:rPr lang="en-US" sz="2400" b="1" kern="1200" dirty="0">
                          <a:solidFill>
                            <a:schemeClr val="accent6"/>
                          </a:solidFill>
                          <a:latin typeface="+mn-lt"/>
                          <a:ea typeface="+mn-ea"/>
                          <a:cs typeface="+mn-cs"/>
                        </a:rPr>
                        <a:t>another thread with in same process can continue execution</a:t>
                      </a:r>
                      <a:r>
                        <a:rPr lang="en-US" sz="2400" b="0" kern="1200" dirty="0">
                          <a:solidFill>
                            <a:schemeClr val="dk1"/>
                          </a:solidFill>
                          <a:latin typeface="+mn-lt"/>
                          <a:ea typeface="+mn-ea"/>
                          <a:cs typeface="+mn-cs"/>
                        </a:rPr>
                        <a:t>.</a:t>
                      </a:r>
                      <a:endParaRPr lang="en-GB"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8" name="Content Placeholder 4">
            <a:extLst>
              <a:ext uri="{FF2B5EF4-FFF2-40B4-BE49-F238E27FC236}">
                <a16:creationId xmlns:a16="http://schemas.microsoft.com/office/drawing/2014/main" id="{26B864CA-85CD-4666-B9D1-870ED08B272C}"/>
              </a:ext>
            </a:extLst>
          </p:cNvPr>
          <p:cNvGraphicFramePr>
            <a:graphicFrameLocks/>
          </p:cNvGraphicFramePr>
          <p:nvPr>
            <p:extLst>
              <p:ext uri="{D42A27DB-BD31-4B8C-83A1-F6EECF244321}">
                <p14:modId xmlns:p14="http://schemas.microsoft.com/office/powerpoint/2010/main" val="245422070"/>
              </p:ext>
            </p:extLst>
          </p:nvPr>
        </p:nvGraphicFramePr>
        <p:xfrm>
          <a:off x="248411" y="5393668"/>
          <a:ext cx="11795760" cy="540000"/>
        </p:xfrm>
        <a:graphic>
          <a:graphicData uri="http://schemas.openxmlformats.org/drawingml/2006/table">
            <a:tbl>
              <a:tblPr firstRow="1" bandRow="1">
                <a:tableStyleId>{8EC20E35-A176-4012-BC5E-935CFFF8708E}</a:tableStyleId>
              </a:tblPr>
              <a:tblGrid>
                <a:gridCol w="5897880">
                  <a:extLst>
                    <a:ext uri="{9D8B030D-6E8A-4147-A177-3AD203B41FA5}">
                      <a16:colId xmlns:a16="http://schemas.microsoft.com/office/drawing/2014/main" val="20000"/>
                    </a:ext>
                  </a:extLst>
                </a:gridCol>
                <a:gridCol w="5897880">
                  <a:extLst>
                    <a:ext uri="{9D8B030D-6E8A-4147-A177-3AD203B41FA5}">
                      <a16:colId xmlns:a16="http://schemas.microsoft.com/office/drawing/2014/main" val="20001"/>
                    </a:ext>
                  </a:extLst>
                </a:gridCol>
              </a:tblGrid>
              <a:tr h="540000">
                <a:tc>
                  <a:txBody>
                    <a:bodyPr/>
                    <a:lstStyle/>
                    <a:p>
                      <a:r>
                        <a:rPr lang="en-US" sz="2400" b="1" kern="1200" dirty="0">
                          <a:solidFill>
                            <a:schemeClr val="accent6"/>
                          </a:solidFill>
                          <a:latin typeface="+mn-lt"/>
                          <a:ea typeface="+mn-ea"/>
                          <a:cs typeface="+mn-cs"/>
                        </a:rPr>
                        <a:t>Example</a:t>
                      </a:r>
                      <a:r>
                        <a:rPr lang="en-US" sz="2400" b="0" kern="1200" dirty="0">
                          <a:solidFill>
                            <a:schemeClr val="dk1"/>
                          </a:solidFill>
                          <a:latin typeface="+mn-lt"/>
                          <a:ea typeface="+mn-ea"/>
                          <a:cs typeface="+mn-cs"/>
                        </a:rPr>
                        <a:t> : Java thread</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400" b="1" kern="1200" dirty="0">
                          <a:solidFill>
                            <a:schemeClr val="accent6"/>
                          </a:solidFill>
                          <a:latin typeface="+mn-lt"/>
                          <a:ea typeface="+mn-ea"/>
                          <a:cs typeface="+mn-cs"/>
                        </a:rPr>
                        <a:t>Example</a:t>
                      </a:r>
                      <a:r>
                        <a:rPr lang="en-US" sz="2400" b="0" kern="1200" dirty="0">
                          <a:solidFill>
                            <a:schemeClr val="dk1"/>
                          </a:solidFill>
                          <a:latin typeface="+mn-lt"/>
                          <a:ea typeface="+mn-ea"/>
                          <a:cs typeface="+mn-cs"/>
                        </a:rPr>
                        <a:t> : Solaris (Unix-based OS)</a:t>
                      </a:r>
                      <a:endParaRPr lang="en-GB" sz="24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57266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a:xfrm>
            <a:off x="831850" y="1709738"/>
            <a:ext cx="11126788" cy="2852737"/>
          </a:xfrm>
        </p:spPr>
        <p:txBody>
          <a:bodyPr>
            <a:normAutofit/>
          </a:bodyPr>
          <a:lstStyle/>
          <a:p>
            <a:r>
              <a:rPr lang="en-US" dirty="0">
                <a:gradFill flip="none" rotWithShape="1">
                  <a:gsLst>
                    <a:gs pos="10000">
                      <a:srgbClr val="3E2622"/>
                    </a:gs>
                    <a:gs pos="100000">
                      <a:srgbClr val="795547"/>
                    </a:gs>
                  </a:gsLst>
                  <a:lin ang="0" scaled="1"/>
                  <a:tileRect/>
                </a:gradFill>
              </a:rPr>
              <a:t>Basic Concepts of CPU Scheduling</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- 8</a:t>
            </a:r>
          </a:p>
        </p:txBody>
      </p:sp>
    </p:spTree>
    <p:extLst>
      <p:ext uri="{BB962C8B-B14F-4D97-AF65-F5344CB8AC3E}">
        <p14:creationId xmlns:p14="http://schemas.microsoft.com/office/powerpoint/2010/main" val="75889808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marL="285750" indent="-285750">
              <a:lnSpc>
                <a:spcPct val="120000"/>
              </a:lnSpc>
              <a:buFont typeface="Wingdings" panose="05000000000000000000" pitchFamily="2" charset="2"/>
              <a:buChar char="Ø"/>
            </a:pPr>
            <a:endParaRPr lang="en-US" dirty="0"/>
          </a:p>
          <a:p>
            <a:pPr>
              <a:lnSpc>
                <a:spcPct val="120000"/>
              </a:lnSpc>
            </a:pPr>
            <a:r>
              <a:rPr lang="en-US" sz="3200" b="1" dirty="0"/>
              <a:t> </a:t>
            </a:r>
          </a:p>
          <a:p>
            <a:pPr algn="l">
              <a:lnSpc>
                <a:spcPct val="120000"/>
              </a:lnSpc>
            </a:pPr>
            <a:endParaRPr lang="en-US" dirty="0"/>
          </a:p>
        </p:txBody>
      </p:sp>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p:sp>
        <p:nvSpPr>
          <p:cNvPr id="16" name="TextBox 15"/>
          <p:cNvSpPr txBox="1"/>
          <p:nvPr/>
        </p:nvSpPr>
        <p:spPr>
          <a:xfrm>
            <a:off x="6171399" y="291452"/>
            <a:ext cx="5899688" cy="5663089"/>
          </a:xfrm>
          <a:prstGeom prst="rect">
            <a:avLst/>
          </a:prstGeom>
          <a:noFill/>
        </p:spPr>
        <p:txBody>
          <a:bodyPr wrap="square" rtlCol="0">
            <a:spAutoFit/>
          </a:bodyPr>
          <a:lstStyle/>
          <a:p>
            <a:pPr marL="285750" indent="-285750" algn="just">
              <a:buFont typeface="Wingdings" panose="05000000000000000000" pitchFamily="2" charset="2"/>
              <a:buChar char="Ø"/>
            </a:pPr>
            <a:r>
              <a:rPr lang="en-IN" sz="2600" b="1" dirty="0">
                <a:solidFill>
                  <a:schemeClr val="bg1"/>
                </a:solidFill>
              </a:rPr>
              <a:t>Scheduling</a:t>
            </a:r>
          </a:p>
          <a:p>
            <a:pPr algn="just"/>
            <a:endParaRPr lang="en-IN" dirty="0">
              <a:solidFill>
                <a:schemeClr val="bg1"/>
              </a:solidFill>
            </a:endParaRPr>
          </a:p>
          <a:p>
            <a:pPr marL="285750" indent="-285750" algn="just">
              <a:buFont typeface="Wingdings" panose="05000000000000000000" pitchFamily="2" charset="2"/>
              <a:buChar char="ü"/>
            </a:pPr>
            <a:r>
              <a:rPr lang="en-IN" dirty="0">
                <a:solidFill>
                  <a:schemeClr val="bg1"/>
                </a:solidFill>
              </a:rPr>
              <a:t>I</a:t>
            </a:r>
            <a:r>
              <a:rPr lang="en-IN" sz="2000" dirty="0">
                <a:solidFill>
                  <a:schemeClr val="bg1"/>
                </a:solidFill>
              </a:rPr>
              <a:t>t is the process of making a choice of </a:t>
            </a:r>
            <a:r>
              <a:rPr lang="en-IN" sz="2000" b="1" dirty="0">
                <a:solidFill>
                  <a:srgbClr val="FFFF00"/>
                </a:solidFill>
              </a:rPr>
              <a:t>which process to run next</a:t>
            </a:r>
            <a:r>
              <a:rPr lang="en-IN" sz="2000" dirty="0">
                <a:solidFill>
                  <a:schemeClr val="bg1"/>
                </a:solidFill>
              </a:rPr>
              <a:t> whenever more than one processes are simultaneously in the 'Ready' state.</a:t>
            </a:r>
          </a:p>
          <a:p>
            <a:pPr algn="just"/>
            <a:endParaRPr lang="en-IN" sz="2000" dirty="0">
              <a:solidFill>
                <a:schemeClr val="bg1"/>
              </a:solidFill>
            </a:endParaRPr>
          </a:p>
          <a:p>
            <a:pPr marL="342900" indent="-342900" algn="just">
              <a:buFont typeface="Wingdings" panose="05000000000000000000" pitchFamily="2" charset="2"/>
              <a:buChar char="Ø"/>
            </a:pPr>
            <a:r>
              <a:rPr lang="en-IN" sz="2600" b="1" dirty="0">
                <a:solidFill>
                  <a:schemeClr val="bg1"/>
                </a:solidFill>
              </a:rPr>
              <a:t>Scheduler</a:t>
            </a:r>
          </a:p>
          <a:p>
            <a:pPr algn="just"/>
            <a:endParaRPr lang="en-IN" sz="2600" b="1" dirty="0">
              <a:solidFill>
                <a:schemeClr val="bg1"/>
              </a:solidFill>
            </a:endParaRPr>
          </a:p>
          <a:p>
            <a:pPr marL="342900" indent="-342900" algn="just">
              <a:buFont typeface="Wingdings" panose="05000000000000000000" pitchFamily="2" charset="2"/>
              <a:buChar char="ü"/>
            </a:pPr>
            <a:r>
              <a:rPr lang="en-IN" sz="2000" dirty="0">
                <a:solidFill>
                  <a:schemeClr val="bg1"/>
                </a:solidFill>
              </a:rPr>
              <a:t>It is a part of OS which actually makes a choice of </a:t>
            </a:r>
            <a:r>
              <a:rPr lang="en-IN" sz="2000" b="1" dirty="0">
                <a:solidFill>
                  <a:srgbClr val="FF0000"/>
                </a:solidFill>
              </a:rPr>
              <a:t>which process to run next</a:t>
            </a:r>
            <a:r>
              <a:rPr lang="en-IN" sz="2000" dirty="0">
                <a:solidFill>
                  <a:srgbClr val="FF0000"/>
                </a:solidFill>
              </a:rPr>
              <a:t> </a:t>
            </a:r>
            <a:r>
              <a:rPr lang="en-IN" sz="2000" dirty="0">
                <a:solidFill>
                  <a:schemeClr val="bg1"/>
                </a:solidFill>
              </a:rPr>
              <a:t>whenever more than one processes are simultaneously in the 'Ready' State.</a:t>
            </a:r>
          </a:p>
          <a:p>
            <a:pPr algn="just"/>
            <a:endParaRPr lang="en-IN" sz="2000" dirty="0">
              <a:solidFill>
                <a:schemeClr val="bg1"/>
              </a:solidFill>
            </a:endParaRPr>
          </a:p>
          <a:p>
            <a:pPr marL="342900" indent="-342900" algn="just">
              <a:buFont typeface="Wingdings" panose="05000000000000000000" pitchFamily="2" charset="2"/>
              <a:buChar char="Ø"/>
            </a:pPr>
            <a:r>
              <a:rPr lang="en-IN" sz="2600" b="1" dirty="0">
                <a:solidFill>
                  <a:schemeClr val="bg1"/>
                </a:solidFill>
              </a:rPr>
              <a:t>Scheduling Algorithm</a:t>
            </a:r>
          </a:p>
          <a:p>
            <a:pPr algn="just"/>
            <a:endParaRPr lang="en-IN" sz="2000" dirty="0">
              <a:solidFill>
                <a:schemeClr val="bg1"/>
              </a:solidFill>
            </a:endParaRPr>
          </a:p>
          <a:p>
            <a:pPr marL="342900" indent="-342900" algn="just">
              <a:buFont typeface="Wingdings" panose="05000000000000000000" pitchFamily="2" charset="2"/>
              <a:buChar char="ü"/>
            </a:pPr>
            <a:r>
              <a:rPr lang="en-IN" sz="2000" dirty="0">
                <a:solidFill>
                  <a:schemeClr val="bg1"/>
                </a:solidFill>
              </a:rPr>
              <a:t>It is an algorithm </a:t>
            </a:r>
            <a:r>
              <a:rPr lang="en-IN" sz="2000" b="1" dirty="0">
                <a:solidFill>
                  <a:srgbClr val="92D050"/>
                </a:solidFill>
              </a:rPr>
              <a:t>which process to run next </a:t>
            </a:r>
            <a:r>
              <a:rPr lang="en-IN" sz="2000" dirty="0">
                <a:solidFill>
                  <a:schemeClr val="bg1"/>
                </a:solidFill>
              </a:rPr>
              <a:t>whenever more than one processes are simultaneously in the 'Ready' state.</a:t>
            </a:r>
          </a:p>
        </p:txBody>
      </p:sp>
      <p:sp>
        <p:nvSpPr>
          <p:cNvPr id="2" name="Oval 1"/>
          <p:cNvSpPr/>
          <p:nvPr/>
        </p:nvSpPr>
        <p:spPr>
          <a:xfrm>
            <a:off x="233913" y="835543"/>
            <a:ext cx="1571222" cy="888642"/>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2400" b="1" dirty="0"/>
              <a:t>New</a:t>
            </a:r>
          </a:p>
        </p:txBody>
      </p:sp>
      <p:sp>
        <p:nvSpPr>
          <p:cNvPr id="6" name="Oval 5"/>
          <p:cNvSpPr/>
          <p:nvPr/>
        </p:nvSpPr>
        <p:spPr>
          <a:xfrm>
            <a:off x="2182043" y="835543"/>
            <a:ext cx="1571222" cy="888642"/>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2400" b="1" dirty="0"/>
              <a:t>Ready</a:t>
            </a:r>
          </a:p>
        </p:txBody>
      </p:sp>
      <p:sp>
        <p:nvSpPr>
          <p:cNvPr id="7" name="Oval 6"/>
          <p:cNvSpPr/>
          <p:nvPr/>
        </p:nvSpPr>
        <p:spPr>
          <a:xfrm>
            <a:off x="4271439" y="835543"/>
            <a:ext cx="1571222" cy="888642"/>
          </a:xfrm>
          <a:prstGeom prst="ellipse">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2400" b="1" dirty="0"/>
              <a:t>Run</a:t>
            </a:r>
          </a:p>
        </p:txBody>
      </p:sp>
      <p:sp>
        <p:nvSpPr>
          <p:cNvPr id="9" name="Rectangle 8"/>
          <p:cNvSpPr/>
          <p:nvPr/>
        </p:nvSpPr>
        <p:spPr>
          <a:xfrm>
            <a:off x="1251507" y="2147406"/>
            <a:ext cx="494963" cy="492746"/>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P1</a:t>
            </a:r>
          </a:p>
        </p:txBody>
      </p:sp>
      <p:sp>
        <p:nvSpPr>
          <p:cNvPr id="11" name="Rectangle 10"/>
          <p:cNvSpPr/>
          <p:nvPr/>
        </p:nvSpPr>
        <p:spPr>
          <a:xfrm>
            <a:off x="741046" y="2147406"/>
            <a:ext cx="494963" cy="492746"/>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P2</a:t>
            </a:r>
          </a:p>
        </p:txBody>
      </p:sp>
      <p:sp>
        <p:nvSpPr>
          <p:cNvPr id="12" name="Rectangle 11"/>
          <p:cNvSpPr/>
          <p:nvPr/>
        </p:nvSpPr>
        <p:spPr>
          <a:xfrm>
            <a:off x="244482" y="2147406"/>
            <a:ext cx="494963" cy="492746"/>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P3</a:t>
            </a:r>
          </a:p>
        </p:txBody>
      </p:sp>
      <p:sp>
        <p:nvSpPr>
          <p:cNvPr id="14" name="Rectangle 13"/>
          <p:cNvSpPr/>
          <p:nvPr/>
        </p:nvSpPr>
        <p:spPr>
          <a:xfrm>
            <a:off x="3258302" y="2130126"/>
            <a:ext cx="494963" cy="492746"/>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P1</a:t>
            </a:r>
          </a:p>
        </p:txBody>
      </p:sp>
      <p:pic>
        <p:nvPicPr>
          <p:cNvPr id="4" name="Picture 3"/>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294971" y="2022067"/>
            <a:ext cx="506332" cy="708864"/>
          </a:xfrm>
          <a:prstGeom prst="rect">
            <a:avLst/>
          </a:prstGeom>
        </p:spPr>
      </p:pic>
      <p:sp>
        <p:nvSpPr>
          <p:cNvPr id="17" name="Rectangle 16"/>
          <p:cNvSpPr/>
          <p:nvPr/>
        </p:nvSpPr>
        <p:spPr>
          <a:xfrm>
            <a:off x="2747841" y="2130126"/>
            <a:ext cx="494963" cy="492746"/>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P2</a:t>
            </a:r>
          </a:p>
        </p:txBody>
      </p:sp>
      <p:sp>
        <p:nvSpPr>
          <p:cNvPr id="18" name="Rectangle 17"/>
          <p:cNvSpPr/>
          <p:nvPr/>
        </p:nvSpPr>
        <p:spPr>
          <a:xfrm>
            <a:off x="2237380" y="2130126"/>
            <a:ext cx="494963" cy="492746"/>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P3</a:t>
            </a: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536" y="4142788"/>
            <a:ext cx="1737277" cy="1737277"/>
          </a:xfrm>
          <a:prstGeom prst="rect">
            <a:avLst/>
          </a:prstGeom>
        </p:spPr>
      </p:pic>
      <p:sp>
        <p:nvSpPr>
          <p:cNvPr id="15" name="TextBox 14"/>
          <p:cNvSpPr txBox="1"/>
          <p:nvPr/>
        </p:nvSpPr>
        <p:spPr>
          <a:xfrm>
            <a:off x="888142" y="3743541"/>
            <a:ext cx="1647743" cy="400110"/>
          </a:xfrm>
          <a:prstGeom prst="rect">
            <a:avLst/>
          </a:prstGeom>
          <a:noFill/>
        </p:spPr>
        <p:txBody>
          <a:bodyPr wrap="square" rtlCol="0">
            <a:spAutoFit/>
          </a:bodyPr>
          <a:lstStyle/>
          <a:p>
            <a:pPr algn="ctr"/>
            <a:r>
              <a:rPr lang="en-IN" sz="2000" b="1" dirty="0"/>
              <a:t>Scheduler</a:t>
            </a:r>
            <a:endParaRPr lang="en-IN" b="1" dirty="0"/>
          </a:p>
        </p:txBody>
      </p:sp>
      <p:sp>
        <p:nvSpPr>
          <p:cNvPr id="20" name="Rectangle 19"/>
          <p:cNvSpPr/>
          <p:nvPr/>
        </p:nvSpPr>
        <p:spPr>
          <a:xfrm>
            <a:off x="2512945" y="4764126"/>
            <a:ext cx="494963" cy="492746"/>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P1</a:t>
            </a:r>
          </a:p>
        </p:txBody>
      </p:sp>
      <p:sp>
        <p:nvSpPr>
          <p:cNvPr id="21" name="Rectangle 20"/>
          <p:cNvSpPr/>
          <p:nvPr/>
        </p:nvSpPr>
        <p:spPr>
          <a:xfrm>
            <a:off x="2512945" y="5708168"/>
            <a:ext cx="494963" cy="492746"/>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P2</a:t>
            </a:r>
          </a:p>
        </p:txBody>
      </p:sp>
      <p:sp>
        <p:nvSpPr>
          <p:cNvPr id="22" name="Rectangle 21"/>
          <p:cNvSpPr/>
          <p:nvPr/>
        </p:nvSpPr>
        <p:spPr>
          <a:xfrm>
            <a:off x="221573" y="5711184"/>
            <a:ext cx="494963" cy="492746"/>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P3</a:t>
            </a:r>
          </a:p>
        </p:txBody>
      </p:sp>
      <p:sp>
        <p:nvSpPr>
          <p:cNvPr id="23" name="Rectangle 22"/>
          <p:cNvSpPr/>
          <p:nvPr/>
        </p:nvSpPr>
        <p:spPr>
          <a:xfrm>
            <a:off x="221572" y="4764126"/>
            <a:ext cx="494963" cy="492746"/>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P4</a:t>
            </a:r>
          </a:p>
        </p:txBody>
      </p:sp>
      <p:sp>
        <p:nvSpPr>
          <p:cNvPr id="24" name="Rectangle 23"/>
          <p:cNvSpPr/>
          <p:nvPr/>
        </p:nvSpPr>
        <p:spPr>
          <a:xfrm>
            <a:off x="4906397" y="2136398"/>
            <a:ext cx="494963" cy="492746"/>
          </a:xfrm>
          <a:prstGeom prst="rect">
            <a:avLst/>
          </a:prstGeom>
          <a:solidFill>
            <a:schemeClr val="bg2"/>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P1</a:t>
            </a:r>
          </a:p>
        </p:txBody>
      </p:sp>
      <p:sp>
        <p:nvSpPr>
          <p:cNvPr id="19" name="TextBox 18"/>
          <p:cNvSpPr txBox="1"/>
          <p:nvPr/>
        </p:nvSpPr>
        <p:spPr>
          <a:xfrm>
            <a:off x="2345709" y="4529491"/>
            <a:ext cx="869588" cy="836908"/>
          </a:xfrm>
          <a:prstGeom prst="rect">
            <a:avLst/>
          </a:prstGeom>
          <a:noFill/>
          <a:ln w="38100">
            <a:solidFill>
              <a:srgbClr val="FF0000"/>
            </a:solidFill>
          </a:ln>
        </p:spPr>
        <p:txBody>
          <a:bodyPr wrap="square" rtlCol="0">
            <a:spAutoFit/>
          </a:bodyPr>
          <a:lstStyle/>
          <a:p>
            <a:endParaRPr lang="en-IN" dirty="0"/>
          </a:p>
        </p:txBody>
      </p:sp>
      <p:pic>
        <p:nvPicPr>
          <p:cNvPr id="26" name="Picture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57912" y="4121629"/>
            <a:ext cx="2270485" cy="2270485"/>
          </a:xfrm>
          <a:prstGeom prst="rect">
            <a:avLst/>
          </a:prstGeom>
        </p:spPr>
      </p:pic>
      <p:sp>
        <p:nvSpPr>
          <p:cNvPr id="29" name="TextBox 28"/>
          <p:cNvSpPr txBox="1"/>
          <p:nvPr/>
        </p:nvSpPr>
        <p:spPr>
          <a:xfrm>
            <a:off x="3215297" y="3682815"/>
            <a:ext cx="2840145" cy="400110"/>
          </a:xfrm>
          <a:prstGeom prst="rect">
            <a:avLst/>
          </a:prstGeom>
          <a:noFill/>
        </p:spPr>
        <p:txBody>
          <a:bodyPr wrap="square" rtlCol="0">
            <a:spAutoFit/>
          </a:bodyPr>
          <a:lstStyle/>
          <a:p>
            <a:r>
              <a:rPr lang="en-IN" sz="2000" b="1" dirty="0"/>
              <a:t>Scheduling Algorithm</a:t>
            </a:r>
            <a:endParaRPr lang="en-IN" b="1" dirty="0"/>
          </a:p>
        </p:txBody>
      </p:sp>
      <p:sp>
        <p:nvSpPr>
          <p:cNvPr id="28" name="TextBox 27"/>
          <p:cNvSpPr txBox="1"/>
          <p:nvPr/>
        </p:nvSpPr>
        <p:spPr>
          <a:xfrm>
            <a:off x="3503842" y="5901771"/>
            <a:ext cx="435616" cy="338554"/>
          </a:xfrm>
          <a:prstGeom prst="rect">
            <a:avLst/>
          </a:prstGeom>
          <a:noFill/>
        </p:spPr>
        <p:txBody>
          <a:bodyPr wrap="square" rtlCol="0">
            <a:spAutoFit/>
          </a:bodyPr>
          <a:lstStyle/>
          <a:p>
            <a:r>
              <a:rPr lang="en-IN" sz="1600" b="1" dirty="0"/>
              <a:t>P1</a:t>
            </a:r>
          </a:p>
        </p:txBody>
      </p:sp>
      <p:sp>
        <p:nvSpPr>
          <p:cNvPr id="31" name="TextBox 30"/>
          <p:cNvSpPr txBox="1"/>
          <p:nvPr/>
        </p:nvSpPr>
        <p:spPr>
          <a:xfrm>
            <a:off x="4089253" y="5906665"/>
            <a:ext cx="435616" cy="338554"/>
          </a:xfrm>
          <a:prstGeom prst="rect">
            <a:avLst/>
          </a:prstGeom>
          <a:noFill/>
        </p:spPr>
        <p:txBody>
          <a:bodyPr wrap="square" rtlCol="0">
            <a:spAutoFit/>
          </a:bodyPr>
          <a:lstStyle/>
          <a:p>
            <a:r>
              <a:rPr lang="en-IN" sz="1600" b="1" dirty="0"/>
              <a:t>P2</a:t>
            </a:r>
          </a:p>
        </p:txBody>
      </p:sp>
      <p:sp>
        <p:nvSpPr>
          <p:cNvPr id="32" name="TextBox 31"/>
          <p:cNvSpPr txBox="1"/>
          <p:nvPr/>
        </p:nvSpPr>
        <p:spPr>
          <a:xfrm>
            <a:off x="4670013" y="5901771"/>
            <a:ext cx="435616" cy="338554"/>
          </a:xfrm>
          <a:prstGeom prst="rect">
            <a:avLst/>
          </a:prstGeom>
          <a:noFill/>
        </p:spPr>
        <p:txBody>
          <a:bodyPr wrap="square" rtlCol="0">
            <a:spAutoFit/>
          </a:bodyPr>
          <a:lstStyle/>
          <a:p>
            <a:r>
              <a:rPr lang="en-IN" sz="1600" b="1" dirty="0"/>
              <a:t>P3</a:t>
            </a:r>
          </a:p>
        </p:txBody>
      </p:sp>
      <p:sp>
        <p:nvSpPr>
          <p:cNvPr id="33" name="TextBox 32"/>
          <p:cNvSpPr txBox="1"/>
          <p:nvPr/>
        </p:nvSpPr>
        <p:spPr>
          <a:xfrm>
            <a:off x="5254122" y="5901771"/>
            <a:ext cx="435616" cy="338554"/>
          </a:xfrm>
          <a:prstGeom prst="rect">
            <a:avLst/>
          </a:prstGeom>
          <a:noFill/>
        </p:spPr>
        <p:txBody>
          <a:bodyPr wrap="square" rtlCol="0">
            <a:spAutoFit/>
          </a:bodyPr>
          <a:lstStyle/>
          <a:p>
            <a:r>
              <a:rPr lang="en-IN" sz="1600" b="1" dirty="0"/>
              <a:t>P4</a:t>
            </a:r>
          </a:p>
        </p:txBody>
      </p:sp>
      <p:sp>
        <p:nvSpPr>
          <p:cNvPr id="30" name="TextBox 29"/>
          <p:cNvSpPr txBox="1"/>
          <p:nvPr/>
        </p:nvSpPr>
        <p:spPr>
          <a:xfrm>
            <a:off x="840104" y="2743364"/>
            <a:ext cx="4853841" cy="369332"/>
          </a:xfrm>
          <a:prstGeom prst="rect">
            <a:avLst/>
          </a:prstGeom>
          <a:noFill/>
        </p:spPr>
        <p:txBody>
          <a:bodyPr wrap="square" rtlCol="0">
            <a:spAutoFit/>
          </a:bodyPr>
          <a:lstStyle/>
          <a:p>
            <a:r>
              <a:rPr lang="en-IN" b="1" dirty="0">
                <a:solidFill>
                  <a:srgbClr val="FF0000"/>
                </a:solidFill>
              </a:rPr>
              <a:t>Process P1 is selected for Running state</a:t>
            </a:r>
          </a:p>
        </p:txBody>
      </p:sp>
    </p:spTree>
    <p:extLst>
      <p:ext uri="{BB962C8B-B14F-4D97-AF65-F5344CB8AC3E}">
        <p14:creationId xmlns:p14="http://schemas.microsoft.com/office/powerpoint/2010/main" val="60727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0-#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0-#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grpId="1" nodeType="clickEffect">
                                  <p:stCondLst>
                                    <p:cond delay="0"/>
                                  </p:stCondLst>
                                  <p:childTnLst>
                                    <p:animEffect transition="out" filter="wipe(left)">
                                      <p:cBhvr>
                                        <p:cTn id="36" dur="500"/>
                                        <p:tgtEl>
                                          <p:spTgt spid="9"/>
                                        </p:tgtEl>
                                      </p:cBhvr>
                                    </p:animEffect>
                                    <p:set>
                                      <p:cBhvr>
                                        <p:cTn id="37" dur="1" fill="hold">
                                          <p:stCondLst>
                                            <p:cond delay="499"/>
                                          </p:stCondLst>
                                        </p:cTn>
                                        <p:tgtEl>
                                          <p:spTgt spid="9"/>
                                        </p:tgtEl>
                                        <p:attrNameLst>
                                          <p:attrName>style.visibility</p:attrName>
                                        </p:attrNameLst>
                                      </p:cBhvr>
                                      <p:to>
                                        <p:strVal val="hidden"/>
                                      </p:to>
                                    </p:set>
                                  </p:childTnLst>
                                </p:cTn>
                              </p:par>
                              <p:par>
                                <p:cTn id="38" presetID="22" presetClass="entr" presetSubtype="8"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xit" presetSubtype="8" fill="hold" grpId="1" nodeType="clickEffect">
                                  <p:stCondLst>
                                    <p:cond delay="0"/>
                                  </p:stCondLst>
                                  <p:childTnLst>
                                    <p:animEffect transition="out" filter="wipe(left)">
                                      <p:cBhvr>
                                        <p:cTn id="44" dur="500"/>
                                        <p:tgtEl>
                                          <p:spTgt spid="11"/>
                                        </p:tgtEl>
                                      </p:cBhvr>
                                    </p:animEffect>
                                    <p:set>
                                      <p:cBhvr>
                                        <p:cTn id="45" dur="1" fill="hold">
                                          <p:stCondLst>
                                            <p:cond delay="499"/>
                                          </p:stCondLst>
                                        </p:cTn>
                                        <p:tgtEl>
                                          <p:spTgt spid="11"/>
                                        </p:tgtEl>
                                        <p:attrNameLst>
                                          <p:attrName>style.visibility</p:attrName>
                                        </p:attrNameLst>
                                      </p:cBhvr>
                                      <p:to>
                                        <p:strVal val="hidden"/>
                                      </p:to>
                                    </p:set>
                                  </p:childTnLst>
                                </p:cTn>
                              </p:par>
                              <p:par>
                                <p:cTn id="46" presetID="22" presetClass="entr" presetSubtype="8"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xit" presetSubtype="8" fill="hold" grpId="1" nodeType="clickEffect">
                                  <p:stCondLst>
                                    <p:cond delay="0"/>
                                  </p:stCondLst>
                                  <p:childTnLst>
                                    <p:animEffect transition="out" filter="wipe(left)">
                                      <p:cBhvr>
                                        <p:cTn id="52" dur="500"/>
                                        <p:tgtEl>
                                          <p:spTgt spid="12"/>
                                        </p:tgtEl>
                                      </p:cBhvr>
                                    </p:animEffect>
                                    <p:set>
                                      <p:cBhvr>
                                        <p:cTn id="53" dur="1" fill="hold">
                                          <p:stCondLst>
                                            <p:cond delay="499"/>
                                          </p:stCondLst>
                                        </p:cTn>
                                        <p:tgtEl>
                                          <p:spTgt spid="12"/>
                                        </p:tgtEl>
                                        <p:attrNameLst>
                                          <p:attrName>style.visibility</p:attrName>
                                        </p:attrNameLst>
                                      </p:cBhvr>
                                      <p:to>
                                        <p:strVal val="hidden"/>
                                      </p:to>
                                    </p:set>
                                  </p:childTnLst>
                                </p:cTn>
                              </p:par>
                              <p:par>
                                <p:cTn id="54" presetID="22" presetClass="entr" presetSubtype="8"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left)">
                                      <p:cBhvr>
                                        <p:cTn id="56" dur="50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26" presetClass="emph" presetSubtype="0" repeatCount="indefinite" fill="hold" nodeType="withEffect">
                                  <p:stCondLst>
                                    <p:cond delay="0"/>
                                  </p:stCondLst>
                                  <p:endCondLst>
                                    <p:cond evt="onNext" delay="0">
                                      <p:tgtEl>
                                        <p:sldTgt/>
                                      </p:tgtEl>
                                    </p:cond>
                                  </p:endCondLst>
                                  <p:childTnLst>
                                    <p:animEffect transition="out" filter="fade">
                                      <p:cBhvr>
                                        <p:cTn id="62" dur="500" tmFilter="0, 0; .2, .5; .8, .5; 1, 0"/>
                                        <p:tgtEl>
                                          <p:spTgt spid="4"/>
                                        </p:tgtEl>
                                      </p:cBhvr>
                                    </p:animEffect>
                                    <p:animScale>
                                      <p:cBhvr>
                                        <p:cTn id="63" dur="250" autoRev="1" fill="hold"/>
                                        <p:tgtEl>
                                          <p:spTgt spid="4"/>
                                        </p:tgtEl>
                                      </p:cBhvr>
                                      <p:by x="105000" y="105000"/>
                                    </p:animScale>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6">
                                            <p:txEl>
                                              <p:pRg st="4" end="4"/>
                                            </p:txEl>
                                          </p:spTgt>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13"/>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15"/>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23"/>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21"/>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20"/>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22"/>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childTnLst>
                                </p:cTn>
                              </p:par>
                              <p:par>
                                <p:cTn id="88" presetID="26" presetClass="emph" presetSubtype="0" repeatCount="indefinite" fill="hold" grpId="1" nodeType="withEffect">
                                  <p:stCondLst>
                                    <p:cond delay="0"/>
                                  </p:stCondLst>
                                  <p:endCondLst>
                                    <p:cond evt="onNext" delay="0">
                                      <p:tgtEl>
                                        <p:sldTgt/>
                                      </p:tgtEl>
                                    </p:cond>
                                  </p:endCondLst>
                                  <p:childTnLst>
                                    <p:animEffect transition="out" filter="fade">
                                      <p:cBhvr>
                                        <p:cTn id="89" dur="500" tmFilter="0, 0; .2, .5; .8, .5; 1, 0"/>
                                        <p:tgtEl>
                                          <p:spTgt spid="19"/>
                                        </p:tgtEl>
                                      </p:cBhvr>
                                    </p:animEffect>
                                    <p:animScale>
                                      <p:cBhvr>
                                        <p:cTn id="90" dur="250" autoRev="1" fill="hold"/>
                                        <p:tgtEl>
                                          <p:spTgt spid="19"/>
                                        </p:tgtEl>
                                      </p:cBhvr>
                                      <p:by x="105000" y="105000"/>
                                    </p:animScale>
                                  </p:childTnLst>
                                </p:cTn>
                              </p:par>
                              <p:par>
                                <p:cTn id="91" presetID="1" presetClass="entr" presetSubtype="0" fill="hold" grpId="0" nodeType="withEffect">
                                  <p:stCondLst>
                                    <p:cond delay="0"/>
                                  </p:stCondLst>
                                  <p:childTnLst>
                                    <p:set>
                                      <p:cBhvr>
                                        <p:cTn id="92" dur="1" fill="hold">
                                          <p:stCondLst>
                                            <p:cond delay="0"/>
                                          </p:stCondLst>
                                        </p:cTn>
                                        <p:tgtEl>
                                          <p:spTgt spid="3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22" presetClass="exit" presetSubtype="8" fill="hold" grpId="1" nodeType="clickEffect">
                                  <p:stCondLst>
                                    <p:cond delay="0"/>
                                  </p:stCondLst>
                                  <p:childTnLst>
                                    <p:animEffect transition="out" filter="wipe(left)">
                                      <p:cBhvr>
                                        <p:cTn id="96" dur="500"/>
                                        <p:tgtEl>
                                          <p:spTgt spid="20"/>
                                        </p:tgtEl>
                                      </p:cBhvr>
                                    </p:animEffect>
                                    <p:set>
                                      <p:cBhvr>
                                        <p:cTn id="97" dur="1" fill="hold">
                                          <p:stCondLst>
                                            <p:cond delay="499"/>
                                          </p:stCondLst>
                                        </p:cTn>
                                        <p:tgtEl>
                                          <p:spTgt spid="20"/>
                                        </p:tgtEl>
                                        <p:attrNameLst>
                                          <p:attrName>style.visibility</p:attrName>
                                        </p:attrNameLst>
                                      </p:cBhvr>
                                      <p:to>
                                        <p:strVal val="hidden"/>
                                      </p:to>
                                    </p:set>
                                  </p:childTnLst>
                                </p:cTn>
                              </p:par>
                              <p:par>
                                <p:cTn id="98" presetID="1" presetClass="exit" presetSubtype="0" fill="hold" grpId="1" nodeType="withEffect">
                                  <p:stCondLst>
                                    <p:cond delay="0"/>
                                  </p:stCondLst>
                                  <p:childTnLst>
                                    <p:set>
                                      <p:cBhvr>
                                        <p:cTn id="99" dur="1" fill="hold">
                                          <p:stCondLst>
                                            <p:cond delay="0"/>
                                          </p:stCondLst>
                                        </p:cTn>
                                        <p:tgtEl>
                                          <p:spTgt spid="30"/>
                                        </p:tgtEl>
                                        <p:attrNameLst>
                                          <p:attrName>style.visibility</p:attrName>
                                        </p:attrNameLst>
                                      </p:cBhvr>
                                      <p:to>
                                        <p:strVal val="hidden"/>
                                      </p:to>
                                    </p:set>
                                  </p:childTnLst>
                                </p:cTn>
                              </p:par>
                              <p:par>
                                <p:cTn id="100" presetID="22" presetClass="exit" presetSubtype="4" fill="hold" nodeType="withEffect">
                                  <p:stCondLst>
                                    <p:cond delay="0"/>
                                  </p:stCondLst>
                                  <p:childTnLst>
                                    <p:animEffect transition="out" filter="wipe(down)">
                                      <p:cBhvr>
                                        <p:cTn id="101" dur="500"/>
                                        <p:tgtEl>
                                          <p:spTgt spid="4"/>
                                        </p:tgtEl>
                                      </p:cBhvr>
                                    </p:animEffect>
                                    <p:set>
                                      <p:cBhvr>
                                        <p:cTn id="102" dur="1" fill="hold">
                                          <p:stCondLst>
                                            <p:cond delay="499"/>
                                          </p:stCondLst>
                                        </p:cTn>
                                        <p:tgtEl>
                                          <p:spTgt spid="4"/>
                                        </p:tgtEl>
                                        <p:attrNameLst>
                                          <p:attrName>style.visibility</p:attrName>
                                        </p:attrNameLst>
                                      </p:cBhvr>
                                      <p:to>
                                        <p:strVal val="hidden"/>
                                      </p:to>
                                    </p:set>
                                  </p:childTnLst>
                                </p:cTn>
                              </p:par>
                              <p:par>
                                <p:cTn id="103" presetID="22" presetClass="exit" presetSubtype="4" fill="hold" grpId="1" nodeType="withEffect">
                                  <p:stCondLst>
                                    <p:cond delay="0"/>
                                  </p:stCondLst>
                                  <p:childTnLst>
                                    <p:animEffect transition="out" filter="wipe(down)">
                                      <p:cBhvr>
                                        <p:cTn id="104" dur="500"/>
                                        <p:tgtEl>
                                          <p:spTgt spid="14"/>
                                        </p:tgtEl>
                                      </p:cBhvr>
                                    </p:animEffect>
                                    <p:set>
                                      <p:cBhvr>
                                        <p:cTn id="105" dur="1" fill="hold">
                                          <p:stCondLst>
                                            <p:cond delay="499"/>
                                          </p:stCondLst>
                                        </p:cTn>
                                        <p:tgtEl>
                                          <p:spTgt spid="14"/>
                                        </p:tgtEl>
                                        <p:attrNameLst>
                                          <p:attrName>style.visibility</p:attrName>
                                        </p:attrNameLst>
                                      </p:cBhvr>
                                      <p:to>
                                        <p:strVal val="hidden"/>
                                      </p:to>
                                    </p:set>
                                  </p:childTnLst>
                                </p:cTn>
                              </p:par>
                              <p:par>
                                <p:cTn id="106" presetID="1" presetClass="exit" presetSubtype="0" fill="hold" grpId="2" nodeType="withEffect">
                                  <p:stCondLst>
                                    <p:cond delay="0"/>
                                  </p:stCondLst>
                                  <p:childTnLst>
                                    <p:set>
                                      <p:cBhvr>
                                        <p:cTn id="107" dur="1" fill="hold">
                                          <p:stCondLst>
                                            <p:cond delay="0"/>
                                          </p:stCondLst>
                                        </p:cTn>
                                        <p:tgtEl>
                                          <p:spTgt spid="19"/>
                                        </p:tgtEl>
                                        <p:attrNameLst>
                                          <p:attrName>style.visibility</p:attrName>
                                        </p:attrNameLst>
                                      </p:cBhvr>
                                      <p:to>
                                        <p:strVal val="hidden"/>
                                      </p:to>
                                    </p:set>
                                  </p:childTnLst>
                                </p:cTn>
                              </p:par>
                              <p:par>
                                <p:cTn id="108" presetID="22" presetClass="entr" presetSubtype="8" fill="hold" grpId="0" nodeType="with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wipe(left)">
                                      <p:cBhvr>
                                        <p:cTn id="110" dur="500"/>
                                        <p:tgtEl>
                                          <p:spTgt spid="24"/>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6">
                                            <p:txEl>
                                              <p:pRg st="8" end="8"/>
                                            </p:txEl>
                                          </p:spTgt>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6">
                                            <p:txEl>
                                              <p:pRg st="10" end="10"/>
                                            </p:txEl>
                                          </p:spTgt>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29"/>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26"/>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2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31"/>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32"/>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9" grpId="0" animBg="1"/>
      <p:bldP spid="9" grpId="1" animBg="1"/>
      <p:bldP spid="11" grpId="0" animBg="1"/>
      <p:bldP spid="11" grpId="1" animBg="1"/>
      <p:bldP spid="12" grpId="0" animBg="1"/>
      <p:bldP spid="12" grpId="1" animBg="1"/>
      <p:bldP spid="14" grpId="0" animBg="1"/>
      <p:bldP spid="14" grpId="1" animBg="1"/>
      <p:bldP spid="17" grpId="0" animBg="1"/>
      <p:bldP spid="18" grpId="0" animBg="1"/>
      <p:bldP spid="15" grpId="0"/>
      <p:bldP spid="20" grpId="0" animBg="1"/>
      <p:bldP spid="20" grpId="1" animBg="1"/>
      <p:bldP spid="21" grpId="0" animBg="1"/>
      <p:bldP spid="22" grpId="0" animBg="1"/>
      <p:bldP spid="23" grpId="0" animBg="1"/>
      <p:bldP spid="24" grpId="0" animBg="1"/>
      <p:bldP spid="19" grpId="0" animBg="1"/>
      <p:bldP spid="19" grpId="1" animBg="1"/>
      <p:bldP spid="19" grpId="2" animBg="1"/>
      <p:bldP spid="29" grpId="0"/>
      <p:bldP spid="28" grpId="0"/>
      <p:bldP spid="31" grpId="0"/>
      <p:bldP spid="32" grpId="0"/>
      <p:bldP spid="33" grpId="0"/>
      <p:bldP spid="30" grpId="0"/>
      <p:bldP spid="30" grpId="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a:xfrm>
            <a:off x="831850" y="1709738"/>
            <a:ext cx="11126788" cy="2852737"/>
          </a:xfrm>
        </p:spPr>
        <p:txBody>
          <a:bodyPr>
            <a:normAutofit/>
          </a:bodyPr>
          <a:lstStyle/>
          <a:p>
            <a:r>
              <a:rPr lang="en-US" dirty="0">
                <a:gradFill flip="none" rotWithShape="1">
                  <a:gsLst>
                    <a:gs pos="10000">
                      <a:srgbClr val="3E2622"/>
                    </a:gs>
                    <a:gs pos="100000">
                      <a:srgbClr val="795547"/>
                    </a:gs>
                  </a:gsLst>
                  <a:lin ang="0" scaled="1"/>
                  <a:tileRect/>
                </a:gradFill>
              </a:rPr>
              <a:t>Types of Schedulers</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- 9</a:t>
            </a:r>
          </a:p>
        </p:txBody>
      </p:sp>
    </p:spTree>
    <p:extLst>
      <p:ext uri="{BB962C8B-B14F-4D97-AF65-F5344CB8AC3E}">
        <p14:creationId xmlns:p14="http://schemas.microsoft.com/office/powerpoint/2010/main" val="384516213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schedulers</a:t>
            </a:r>
          </a:p>
        </p:txBody>
      </p:sp>
      <p:sp>
        <p:nvSpPr>
          <p:cNvPr id="3" name="Content Placeholder 2"/>
          <p:cNvSpPr>
            <a:spLocks noGrp="1"/>
          </p:cNvSpPr>
          <p:nvPr>
            <p:ph idx="1"/>
          </p:nvPr>
        </p:nvSpPr>
        <p:spPr/>
        <p:txBody>
          <a:bodyPr/>
          <a:lstStyle/>
          <a:p>
            <a:r>
              <a:rPr lang="en-IN" dirty="0"/>
              <a:t>A Process switches between the various scheduling queues throughout its lifetime.</a:t>
            </a:r>
          </a:p>
          <a:p>
            <a:r>
              <a:rPr lang="en-IN" dirty="0"/>
              <a:t>It is the task of the schedulers to select processes from these queues based on some criteria.</a:t>
            </a:r>
          </a:p>
          <a:p>
            <a:r>
              <a:rPr lang="en-IN" dirty="0"/>
              <a:t>There are Three types of schedulers:</a:t>
            </a:r>
          </a:p>
          <a:p>
            <a:pPr marL="1001712" lvl="1" indent="-457200">
              <a:lnSpc>
                <a:spcPct val="150000"/>
              </a:lnSpc>
              <a:buClr>
                <a:schemeClr val="tx1"/>
              </a:buClr>
              <a:buFont typeface="+mj-lt"/>
              <a:buAutoNum type="arabicPeriod"/>
            </a:pPr>
            <a:r>
              <a:rPr lang="en-IN" sz="2200" b="1" dirty="0">
                <a:solidFill>
                  <a:srgbClr val="C00000"/>
                </a:solidFill>
              </a:rPr>
              <a:t>Long Term Scheduler</a:t>
            </a:r>
          </a:p>
          <a:p>
            <a:pPr marL="1001712" lvl="1" indent="-457200">
              <a:lnSpc>
                <a:spcPct val="150000"/>
              </a:lnSpc>
              <a:buClr>
                <a:schemeClr val="tx1"/>
              </a:buClr>
              <a:buFont typeface="+mj-lt"/>
              <a:buAutoNum type="arabicPeriod"/>
            </a:pPr>
            <a:r>
              <a:rPr lang="en-IN" sz="2200" b="1" dirty="0">
                <a:solidFill>
                  <a:srgbClr val="C00000"/>
                </a:solidFill>
              </a:rPr>
              <a:t>Medium Term Scheduler</a:t>
            </a:r>
          </a:p>
          <a:p>
            <a:pPr marL="1001712" lvl="1" indent="-457200">
              <a:lnSpc>
                <a:spcPct val="150000"/>
              </a:lnSpc>
              <a:buClr>
                <a:schemeClr val="tx1"/>
              </a:buClr>
              <a:buFont typeface="+mj-lt"/>
              <a:buAutoNum type="arabicPeriod"/>
            </a:pPr>
            <a:r>
              <a:rPr lang="en-IN" sz="2200" b="1" dirty="0">
                <a:solidFill>
                  <a:srgbClr val="C00000"/>
                </a:solidFill>
              </a:rPr>
              <a:t>Sort Term Scheduler</a:t>
            </a:r>
          </a:p>
        </p:txBody>
      </p:sp>
    </p:spTree>
    <p:extLst>
      <p:ext uri="{BB962C8B-B14F-4D97-AF65-F5344CB8AC3E}">
        <p14:creationId xmlns:p14="http://schemas.microsoft.com/office/powerpoint/2010/main" val="3966656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50EF8-0246-0BDC-207C-7FD2D8B134EB}"/>
            </a:ext>
          </a:extLst>
        </p:cNvPr>
        <p:cNvGrpSpPr/>
        <p:nvPr/>
      </p:nvGrpSpPr>
      <p:grpSpPr>
        <a:xfrm>
          <a:off x="0" y="0"/>
          <a:ext cx="0" cy="0"/>
          <a:chOff x="0" y="0"/>
          <a:chExt cx="0" cy="0"/>
        </a:xfrm>
      </p:grpSpPr>
      <p:sp>
        <p:nvSpPr>
          <p:cNvPr id="8" name="Title 5">
            <a:extLst>
              <a:ext uri="{FF2B5EF4-FFF2-40B4-BE49-F238E27FC236}">
                <a16:creationId xmlns:a16="http://schemas.microsoft.com/office/drawing/2014/main" id="{2B3DEFB5-6CCF-B2D4-458D-AB1EC5E56AAD}"/>
              </a:ext>
            </a:extLst>
          </p:cNvPr>
          <p:cNvSpPr>
            <a:spLocks noGrp="1"/>
          </p:cNvSpPr>
          <p:nvPr>
            <p:ph type="title"/>
          </p:nvPr>
        </p:nvSpPr>
        <p:spPr>
          <a:xfrm>
            <a:off x="0" y="1"/>
            <a:ext cx="12192000" cy="711200"/>
          </a:xfrm>
        </p:spPr>
        <p:txBody>
          <a:bodyPr/>
          <a:lstStyle/>
          <a:p>
            <a:r>
              <a:rPr lang="en-IN" dirty="0"/>
              <a:t>Types of Schedulers</a:t>
            </a:r>
            <a:endParaRPr lang="en-IN" b="0" dirty="0"/>
          </a:p>
        </p:txBody>
      </p:sp>
      <p:graphicFrame>
        <p:nvGraphicFramePr>
          <p:cNvPr id="9" name="Content Placeholder 4">
            <a:extLst>
              <a:ext uri="{FF2B5EF4-FFF2-40B4-BE49-F238E27FC236}">
                <a16:creationId xmlns:a16="http://schemas.microsoft.com/office/drawing/2014/main" id="{F60A0359-0DE8-73BF-EB3E-CF3202C732B8}"/>
              </a:ext>
            </a:extLst>
          </p:cNvPr>
          <p:cNvGraphicFramePr>
            <a:graphicFrameLocks/>
          </p:cNvGraphicFramePr>
          <p:nvPr>
            <p:extLst>
              <p:ext uri="{D42A27DB-BD31-4B8C-83A1-F6EECF244321}">
                <p14:modId xmlns:p14="http://schemas.microsoft.com/office/powerpoint/2010/main" val="1778160737"/>
              </p:ext>
            </p:extLst>
          </p:nvPr>
        </p:nvGraphicFramePr>
        <p:xfrm>
          <a:off x="267072" y="889771"/>
          <a:ext cx="11795760" cy="630000"/>
        </p:xfrm>
        <a:graphic>
          <a:graphicData uri="http://schemas.openxmlformats.org/drawingml/2006/table">
            <a:tbl>
              <a:tblPr firstRow="1" bandRow="1">
                <a:tableStyleId>{8EC20E35-A176-4012-BC5E-935CFFF8708E}</a:tableStyleId>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630000">
                <a:tc>
                  <a:txBody>
                    <a:bodyPr/>
                    <a:lstStyle/>
                    <a:p>
                      <a:pPr algn="l"/>
                      <a:r>
                        <a:rPr lang="en-US" sz="2400" b="1" dirty="0">
                          <a:solidFill>
                            <a:schemeClr val="tx1"/>
                          </a:solidFill>
                        </a:rPr>
                        <a:t>Long-Term</a:t>
                      </a:r>
                      <a:r>
                        <a:rPr lang="en-US" sz="2400" b="1" baseline="0" dirty="0">
                          <a:solidFill>
                            <a:schemeClr val="tx1"/>
                          </a:solidFill>
                        </a:rPr>
                        <a:t> Scheduler</a:t>
                      </a:r>
                      <a:endParaRPr lang="en-US"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2400" b="1" dirty="0">
                          <a:solidFill>
                            <a:schemeClr val="tx1"/>
                          </a:solidFill>
                        </a:rPr>
                        <a:t>Short-Term</a:t>
                      </a:r>
                      <a:r>
                        <a:rPr lang="en-US" sz="2400" b="1" baseline="0" dirty="0">
                          <a:solidFill>
                            <a:schemeClr val="tx1"/>
                          </a:solidFill>
                        </a:rPr>
                        <a:t> Scheduler</a:t>
                      </a:r>
                      <a:endParaRPr lang="en-US" sz="2400"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l"/>
                      <a:r>
                        <a:rPr lang="en-US" sz="2400" b="1" dirty="0">
                          <a:solidFill>
                            <a:schemeClr val="tx1"/>
                          </a:solidFill>
                        </a:rPr>
                        <a:t>Medium-Term</a:t>
                      </a:r>
                      <a:r>
                        <a:rPr lang="en-US" sz="2400" b="1" baseline="0" dirty="0">
                          <a:solidFill>
                            <a:schemeClr val="tx1"/>
                          </a:solidFill>
                        </a:rPr>
                        <a:t> Scheduler</a:t>
                      </a:r>
                      <a:endParaRPr lang="en-US" sz="24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10" name="Content Placeholder 4">
            <a:extLst>
              <a:ext uri="{FF2B5EF4-FFF2-40B4-BE49-F238E27FC236}">
                <a16:creationId xmlns:a16="http://schemas.microsoft.com/office/drawing/2014/main" id="{B9E54ED7-51B5-90B8-8080-D78110468778}"/>
              </a:ext>
            </a:extLst>
          </p:cNvPr>
          <p:cNvGraphicFramePr>
            <a:graphicFrameLocks/>
          </p:cNvGraphicFramePr>
          <p:nvPr>
            <p:extLst>
              <p:ext uri="{D42A27DB-BD31-4B8C-83A1-F6EECF244321}">
                <p14:modId xmlns:p14="http://schemas.microsoft.com/office/powerpoint/2010/main" val="1045485042"/>
              </p:ext>
            </p:extLst>
          </p:nvPr>
        </p:nvGraphicFramePr>
        <p:xfrm>
          <a:off x="267072" y="2614686"/>
          <a:ext cx="11795760" cy="1005840"/>
        </p:xfrm>
        <a:graphic>
          <a:graphicData uri="http://schemas.openxmlformats.org/drawingml/2006/table">
            <a:tbl>
              <a:tblPr firstRow="1" bandRow="1">
                <a:tableStyleId>{8EC20E35-A176-4012-BC5E-935CFFF8708E}</a:tableStyleId>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40000">
                <a:tc>
                  <a:txBody>
                    <a:bodyPr/>
                    <a:lstStyle/>
                    <a:p>
                      <a:r>
                        <a:rPr lang="en-US" sz="2000" b="0" kern="1200" dirty="0">
                          <a:solidFill>
                            <a:schemeClr val="dk1"/>
                          </a:solidFill>
                          <a:latin typeface="+mn-lt"/>
                          <a:ea typeface="+mn-ea"/>
                          <a:cs typeface="+mn-cs"/>
                        </a:rPr>
                        <a:t>It </a:t>
                      </a:r>
                      <a:r>
                        <a:rPr lang="en-US" sz="2000" b="1" kern="1200" dirty="0">
                          <a:solidFill>
                            <a:schemeClr val="accent6"/>
                          </a:solidFill>
                          <a:latin typeface="+mn-lt"/>
                          <a:ea typeface="+mn-ea"/>
                          <a:cs typeface="+mn-cs"/>
                        </a:rPr>
                        <a:t>selects processes from pool </a:t>
                      </a:r>
                      <a:r>
                        <a:rPr lang="en-US" sz="2000" b="0" kern="1200" dirty="0">
                          <a:solidFill>
                            <a:schemeClr val="dk1"/>
                          </a:solidFill>
                          <a:latin typeface="+mn-lt"/>
                          <a:ea typeface="+mn-ea"/>
                          <a:cs typeface="+mn-cs"/>
                        </a:rPr>
                        <a:t>and loads them into memory for execution.</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000" b="0" kern="1200" dirty="0">
                          <a:solidFill>
                            <a:schemeClr val="dk1"/>
                          </a:solidFill>
                          <a:latin typeface="+mn-lt"/>
                          <a:ea typeface="+mn-ea"/>
                          <a:cs typeface="+mn-cs"/>
                        </a:rPr>
                        <a:t>It </a:t>
                      </a:r>
                      <a:r>
                        <a:rPr lang="en-US" sz="2000" b="1" kern="1200" dirty="0">
                          <a:solidFill>
                            <a:schemeClr val="accent6"/>
                          </a:solidFill>
                          <a:latin typeface="+mn-lt"/>
                          <a:ea typeface="+mn-ea"/>
                          <a:cs typeface="+mn-cs"/>
                        </a:rPr>
                        <a:t>selects</a:t>
                      </a:r>
                      <a:r>
                        <a:rPr lang="en-US" sz="2000" b="0" kern="1200" dirty="0">
                          <a:solidFill>
                            <a:schemeClr val="dk1"/>
                          </a:solidFill>
                          <a:latin typeface="+mn-lt"/>
                          <a:ea typeface="+mn-ea"/>
                          <a:cs typeface="+mn-cs"/>
                        </a:rPr>
                        <a:t> those </a:t>
                      </a:r>
                      <a:r>
                        <a:rPr lang="en-US" sz="2000" b="1" kern="1200" dirty="0">
                          <a:solidFill>
                            <a:schemeClr val="accent6"/>
                          </a:solidFill>
                          <a:latin typeface="+mn-lt"/>
                          <a:ea typeface="+mn-ea"/>
                          <a:cs typeface="+mn-cs"/>
                        </a:rPr>
                        <a:t>processes</a:t>
                      </a:r>
                      <a:r>
                        <a:rPr lang="en-US" sz="2000" b="0" kern="1200" dirty="0">
                          <a:solidFill>
                            <a:schemeClr val="dk1"/>
                          </a:solidFill>
                          <a:latin typeface="+mn-lt"/>
                          <a:ea typeface="+mn-ea"/>
                          <a:cs typeface="+mn-cs"/>
                        </a:rPr>
                        <a:t> </a:t>
                      </a:r>
                      <a:r>
                        <a:rPr lang="en-US" sz="2000" b="0" kern="1200" dirty="0">
                          <a:solidFill>
                            <a:schemeClr val="tx1"/>
                          </a:solidFill>
                          <a:latin typeface="+mn-lt"/>
                          <a:ea typeface="+mn-ea"/>
                          <a:cs typeface="+mn-cs"/>
                        </a:rPr>
                        <a:t>which are </a:t>
                      </a:r>
                      <a:r>
                        <a:rPr lang="en-US" sz="2000" b="1" kern="1200" dirty="0">
                          <a:solidFill>
                            <a:schemeClr val="accent6"/>
                          </a:solidFill>
                          <a:latin typeface="+mn-lt"/>
                          <a:ea typeface="+mn-ea"/>
                          <a:cs typeface="+mn-cs"/>
                        </a:rPr>
                        <a:t>ready</a:t>
                      </a:r>
                      <a:r>
                        <a:rPr lang="en-US" sz="2000" b="0" kern="1200" dirty="0">
                          <a:solidFill>
                            <a:schemeClr val="accent6"/>
                          </a:solidFill>
                          <a:latin typeface="+mn-lt"/>
                          <a:ea typeface="+mn-ea"/>
                          <a:cs typeface="+mn-cs"/>
                        </a:rPr>
                        <a:t> </a:t>
                      </a:r>
                      <a:r>
                        <a:rPr lang="en-US" sz="2000" b="0" kern="1200" dirty="0">
                          <a:solidFill>
                            <a:schemeClr val="dk1"/>
                          </a:solidFill>
                          <a:latin typeface="+mn-lt"/>
                          <a:ea typeface="+mn-ea"/>
                          <a:cs typeface="+mn-cs"/>
                        </a:rPr>
                        <a:t>to execute.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000" b="0" kern="1200" dirty="0">
                          <a:solidFill>
                            <a:schemeClr val="dk1"/>
                          </a:solidFill>
                          <a:latin typeface="+mn-lt"/>
                          <a:ea typeface="+mn-ea"/>
                          <a:cs typeface="+mn-cs"/>
                        </a:rPr>
                        <a:t>It can </a:t>
                      </a:r>
                      <a:r>
                        <a:rPr lang="en-US" sz="2000" b="1" kern="1200" dirty="0">
                          <a:solidFill>
                            <a:schemeClr val="accent6"/>
                          </a:solidFill>
                          <a:latin typeface="+mn-lt"/>
                          <a:ea typeface="+mn-ea"/>
                          <a:cs typeface="+mn-cs"/>
                        </a:rPr>
                        <a:t>re-introduce the process </a:t>
                      </a:r>
                      <a:r>
                        <a:rPr lang="en-US" sz="2000" b="0" kern="1200" dirty="0">
                          <a:solidFill>
                            <a:schemeClr val="dk1"/>
                          </a:solidFill>
                          <a:latin typeface="+mn-lt"/>
                          <a:ea typeface="+mn-ea"/>
                          <a:cs typeface="+mn-cs"/>
                        </a:rPr>
                        <a:t>into memory and execution can be continued.</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Content Placeholder 4">
            <a:extLst>
              <a:ext uri="{FF2B5EF4-FFF2-40B4-BE49-F238E27FC236}">
                <a16:creationId xmlns:a16="http://schemas.microsoft.com/office/drawing/2014/main" id="{C69BDF35-DF13-B673-4298-D37419914FCB}"/>
              </a:ext>
            </a:extLst>
          </p:cNvPr>
          <p:cNvGraphicFramePr>
            <a:graphicFrameLocks/>
          </p:cNvGraphicFramePr>
          <p:nvPr>
            <p:extLst>
              <p:ext uri="{D42A27DB-BD31-4B8C-83A1-F6EECF244321}">
                <p14:modId xmlns:p14="http://schemas.microsoft.com/office/powerpoint/2010/main" val="1858051681"/>
              </p:ext>
            </p:extLst>
          </p:nvPr>
        </p:nvGraphicFramePr>
        <p:xfrm>
          <a:off x="267072" y="4156773"/>
          <a:ext cx="11795760" cy="701040"/>
        </p:xfrm>
        <a:graphic>
          <a:graphicData uri="http://schemas.openxmlformats.org/drawingml/2006/table">
            <a:tbl>
              <a:tblPr firstRow="1" bandRow="1">
                <a:tableStyleId>{8EC20E35-A176-4012-BC5E-935CFFF8708E}</a:tableStyleId>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40000">
                <a:tc>
                  <a:txBody>
                    <a:bodyPr/>
                    <a:lstStyle/>
                    <a:p>
                      <a:r>
                        <a:rPr lang="en-US" sz="2000" b="1" kern="1200" dirty="0">
                          <a:solidFill>
                            <a:schemeClr val="accent6"/>
                          </a:solidFill>
                          <a:latin typeface="+mn-lt"/>
                          <a:ea typeface="+mn-ea"/>
                          <a:cs typeface="+mn-cs"/>
                        </a:rPr>
                        <a:t>Speed</a:t>
                      </a:r>
                      <a:r>
                        <a:rPr lang="en-US" sz="2000" b="1" kern="1200" dirty="0">
                          <a:solidFill>
                            <a:schemeClr val="dk1"/>
                          </a:solidFill>
                          <a:latin typeface="+mn-lt"/>
                          <a:ea typeface="+mn-ea"/>
                          <a:cs typeface="+mn-cs"/>
                        </a:rPr>
                        <a:t> </a:t>
                      </a:r>
                      <a:r>
                        <a:rPr lang="en-US" sz="2000" b="1" kern="1200" dirty="0">
                          <a:solidFill>
                            <a:schemeClr val="accent6"/>
                          </a:solidFill>
                          <a:latin typeface="+mn-lt"/>
                          <a:ea typeface="+mn-ea"/>
                          <a:cs typeface="+mn-cs"/>
                        </a:rPr>
                        <a:t>is</a:t>
                      </a:r>
                      <a:r>
                        <a:rPr lang="en-US" sz="2000" b="1" kern="1200" dirty="0">
                          <a:solidFill>
                            <a:schemeClr val="dk1"/>
                          </a:solidFill>
                          <a:latin typeface="+mn-lt"/>
                          <a:ea typeface="+mn-ea"/>
                          <a:cs typeface="+mn-cs"/>
                        </a:rPr>
                        <a:t> </a:t>
                      </a:r>
                      <a:r>
                        <a:rPr lang="en-US" sz="2000" b="1" kern="1200" dirty="0">
                          <a:solidFill>
                            <a:schemeClr val="accent6"/>
                          </a:solidFill>
                          <a:latin typeface="+mn-lt"/>
                          <a:ea typeface="+mn-ea"/>
                          <a:cs typeface="+mn-cs"/>
                        </a:rPr>
                        <a:t>lesser</a:t>
                      </a:r>
                      <a:r>
                        <a:rPr lang="en-US" sz="2000" b="1" kern="1200" dirty="0">
                          <a:solidFill>
                            <a:schemeClr val="dk1"/>
                          </a:solidFill>
                          <a:latin typeface="+mn-lt"/>
                          <a:ea typeface="+mn-ea"/>
                          <a:cs typeface="+mn-cs"/>
                        </a:rPr>
                        <a:t> </a:t>
                      </a:r>
                      <a:r>
                        <a:rPr lang="en-US" sz="2000" b="0" kern="1200" dirty="0">
                          <a:solidFill>
                            <a:schemeClr val="dk1"/>
                          </a:solidFill>
                          <a:latin typeface="+mn-lt"/>
                          <a:ea typeface="+mn-ea"/>
                          <a:cs typeface="+mn-cs"/>
                        </a:rPr>
                        <a:t>than short term scheduler.</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000" b="1" kern="1200" dirty="0">
                          <a:solidFill>
                            <a:schemeClr val="accent6"/>
                          </a:solidFill>
                          <a:latin typeface="+mn-lt"/>
                          <a:ea typeface="+mn-ea"/>
                          <a:cs typeface="+mn-cs"/>
                        </a:rPr>
                        <a:t>Speed</a:t>
                      </a:r>
                      <a:r>
                        <a:rPr lang="en-US" sz="2000" b="1" kern="1200" dirty="0">
                          <a:solidFill>
                            <a:schemeClr val="dk1"/>
                          </a:solidFill>
                          <a:latin typeface="+mn-lt"/>
                          <a:ea typeface="+mn-ea"/>
                          <a:cs typeface="+mn-cs"/>
                        </a:rPr>
                        <a:t> </a:t>
                      </a:r>
                      <a:r>
                        <a:rPr lang="en-US" sz="2000" b="1" kern="1200" dirty="0">
                          <a:solidFill>
                            <a:schemeClr val="accent6"/>
                          </a:solidFill>
                          <a:latin typeface="+mn-lt"/>
                          <a:ea typeface="+mn-ea"/>
                          <a:cs typeface="+mn-cs"/>
                        </a:rPr>
                        <a:t>is</a:t>
                      </a:r>
                      <a:r>
                        <a:rPr lang="en-US" sz="2000" b="1" kern="1200" dirty="0">
                          <a:solidFill>
                            <a:schemeClr val="dk1"/>
                          </a:solidFill>
                          <a:latin typeface="+mn-lt"/>
                          <a:ea typeface="+mn-ea"/>
                          <a:cs typeface="+mn-cs"/>
                        </a:rPr>
                        <a:t> </a:t>
                      </a:r>
                      <a:r>
                        <a:rPr lang="en-US" sz="2000" b="1" kern="1200" dirty="0">
                          <a:solidFill>
                            <a:schemeClr val="accent6"/>
                          </a:solidFill>
                          <a:latin typeface="+mn-lt"/>
                          <a:ea typeface="+mn-ea"/>
                          <a:cs typeface="+mn-cs"/>
                        </a:rPr>
                        <a:t>fastest</a:t>
                      </a:r>
                      <a:r>
                        <a:rPr lang="en-US" sz="2000" b="1" kern="1200" dirty="0">
                          <a:solidFill>
                            <a:schemeClr val="dk1"/>
                          </a:solidFill>
                          <a:latin typeface="+mn-lt"/>
                          <a:ea typeface="+mn-ea"/>
                          <a:cs typeface="+mn-cs"/>
                        </a:rPr>
                        <a:t> </a:t>
                      </a:r>
                      <a:r>
                        <a:rPr lang="en-US" sz="2000" b="0" kern="1200" dirty="0">
                          <a:solidFill>
                            <a:schemeClr val="dk1"/>
                          </a:solidFill>
                          <a:latin typeface="+mn-lt"/>
                          <a:ea typeface="+mn-ea"/>
                          <a:cs typeface="+mn-cs"/>
                        </a:rPr>
                        <a:t>among other two schedulers.</a:t>
                      </a:r>
                      <a:endParaRPr lang="en-GB" sz="20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000" b="1" kern="1200" dirty="0">
                          <a:solidFill>
                            <a:schemeClr val="accent6"/>
                          </a:solidFill>
                          <a:latin typeface="+mn-lt"/>
                          <a:ea typeface="+mn-ea"/>
                          <a:cs typeface="+mn-cs"/>
                        </a:rPr>
                        <a:t>Speed</a:t>
                      </a:r>
                      <a:r>
                        <a:rPr lang="en-US" sz="2000" b="1" kern="1200" dirty="0">
                          <a:solidFill>
                            <a:schemeClr val="dk1"/>
                          </a:solidFill>
                          <a:latin typeface="+mn-lt"/>
                          <a:ea typeface="+mn-ea"/>
                          <a:cs typeface="+mn-cs"/>
                        </a:rPr>
                        <a:t> </a:t>
                      </a:r>
                      <a:r>
                        <a:rPr lang="en-US" sz="2000" b="1" kern="1200" dirty="0">
                          <a:solidFill>
                            <a:schemeClr val="accent6"/>
                          </a:solidFill>
                          <a:latin typeface="+mn-lt"/>
                          <a:ea typeface="+mn-ea"/>
                          <a:cs typeface="+mn-cs"/>
                        </a:rPr>
                        <a:t>is</a:t>
                      </a:r>
                      <a:r>
                        <a:rPr lang="en-US" sz="2000" b="1" kern="1200" dirty="0">
                          <a:solidFill>
                            <a:schemeClr val="dk1"/>
                          </a:solidFill>
                          <a:latin typeface="+mn-lt"/>
                          <a:ea typeface="+mn-ea"/>
                          <a:cs typeface="+mn-cs"/>
                        </a:rPr>
                        <a:t> </a:t>
                      </a:r>
                      <a:r>
                        <a:rPr lang="en-US" sz="2000" b="1" kern="1200" dirty="0">
                          <a:solidFill>
                            <a:schemeClr val="accent6"/>
                          </a:solidFill>
                          <a:latin typeface="+mn-lt"/>
                          <a:ea typeface="+mn-ea"/>
                          <a:cs typeface="+mn-cs"/>
                        </a:rPr>
                        <a:t>medium </a:t>
                      </a:r>
                      <a:r>
                        <a:rPr lang="en-US" sz="2000" b="0" kern="1200" dirty="0">
                          <a:solidFill>
                            <a:schemeClr val="tx1"/>
                          </a:solidFill>
                          <a:latin typeface="+mn-lt"/>
                          <a:ea typeface="+mn-ea"/>
                          <a:cs typeface="+mn-cs"/>
                        </a:rPr>
                        <a:t>as compare to </a:t>
                      </a:r>
                      <a:r>
                        <a:rPr lang="en-US" sz="2000" b="0" kern="1200" dirty="0">
                          <a:solidFill>
                            <a:schemeClr val="dk1"/>
                          </a:solidFill>
                          <a:latin typeface="+mn-lt"/>
                          <a:ea typeface="+mn-ea"/>
                          <a:cs typeface="+mn-cs"/>
                        </a:rPr>
                        <a:t>short- and long-term scheduler.</a:t>
                      </a:r>
                      <a:endParaRPr lang="en-GB" sz="20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Content Placeholder 4">
            <a:extLst>
              <a:ext uri="{FF2B5EF4-FFF2-40B4-BE49-F238E27FC236}">
                <a16:creationId xmlns:a16="http://schemas.microsoft.com/office/drawing/2014/main" id="{DC5A1FCC-661D-4D74-0638-DAB0C76D4723}"/>
              </a:ext>
            </a:extLst>
          </p:cNvPr>
          <p:cNvGraphicFramePr>
            <a:graphicFrameLocks/>
          </p:cNvGraphicFramePr>
          <p:nvPr>
            <p:extLst>
              <p:ext uri="{D42A27DB-BD31-4B8C-83A1-F6EECF244321}">
                <p14:modId xmlns:p14="http://schemas.microsoft.com/office/powerpoint/2010/main" val="4254113139"/>
              </p:ext>
            </p:extLst>
          </p:nvPr>
        </p:nvGraphicFramePr>
        <p:xfrm>
          <a:off x="267072" y="4857813"/>
          <a:ext cx="11795760" cy="701040"/>
        </p:xfrm>
        <a:graphic>
          <a:graphicData uri="http://schemas.openxmlformats.org/drawingml/2006/table">
            <a:tbl>
              <a:tblPr firstRow="1" bandRow="1">
                <a:tableStyleId>{8EC20E35-A176-4012-BC5E-935CFFF8708E}</a:tableStyleId>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40000">
                <a:tc>
                  <a:txBody>
                    <a:bodyPr/>
                    <a:lstStyle/>
                    <a:p>
                      <a:r>
                        <a:rPr lang="en-US" sz="2000" b="0" kern="1200" dirty="0">
                          <a:solidFill>
                            <a:schemeClr val="dk1"/>
                          </a:solidFill>
                          <a:latin typeface="+mn-lt"/>
                          <a:ea typeface="+mn-ea"/>
                          <a:cs typeface="+mn-cs"/>
                        </a:rPr>
                        <a:t>It is almost </a:t>
                      </a:r>
                      <a:r>
                        <a:rPr lang="en-US" sz="2000" b="1" kern="1200" dirty="0">
                          <a:solidFill>
                            <a:schemeClr val="accent6"/>
                          </a:solidFill>
                          <a:latin typeface="+mn-lt"/>
                          <a:ea typeface="+mn-ea"/>
                          <a:cs typeface="+mn-cs"/>
                        </a:rPr>
                        <a:t>absent </a:t>
                      </a:r>
                      <a:r>
                        <a:rPr lang="en-US" sz="2000" b="0" kern="1200" dirty="0">
                          <a:solidFill>
                            <a:schemeClr val="tx1"/>
                          </a:solidFill>
                          <a:latin typeface="+mn-lt"/>
                          <a:ea typeface="+mn-ea"/>
                          <a:cs typeface="+mn-cs"/>
                        </a:rPr>
                        <a:t>or</a:t>
                      </a:r>
                      <a:r>
                        <a:rPr lang="en-US" sz="2000" b="1" kern="1200" dirty="0">
                          <a:solidFill>
                            <a:schemeClr val="accent6"/>
                          </a:solidFill>
                          <a:latin typeface="+mn-lt"/>
                          <a:ea typeface="+mn-ea"/>
                          <a:cs typeface="+mn-cs"/>
                        </a:rPr>
                        <a:t> minimal in time sharing system</a:t>
                      </a:r>
                      <a:r>
                        <a:rPr lang="en-US" sz="2000" b="0" kern="1200" dirty="0">
                          <a:solidFill>
                            <a:schemeClr val="dk1"/>
                          </a:solidFill>
                          <a:latin typeface="+mn-lt"/>
                          <a:ea typeface="+mn-ea"/>
                          <a:cs typeface="+mn-cs"/>
                        </a:rPr>
                        <a:t>.</a:t>
                      </a:r>
                      <a:endParaRPr lang="en-GB" sz="20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000" b="0" kern="1200" dirty="0">
                          <a:solidFill>
                            <a:schemeClr val="dk1"/>
                          </a:solidFill>
                          <a:latin typeface="+mn-lt"/>
                          <a:ea typeface="+mn-ea"/>
                          <a:cs typeface="+mn-cs"/>
                        </a:rPr>
                        <a:t>It is also </a:t>
                      </a:r>
                      <a:r>
                        <a:rPr lang="en-US" sz="2000" b="1" kern="1200" dirty="0">
                          <a:solidFill>
                            <a:schemeClr val="accent6"/>
                          </a:solidFill>
                          <a:latin typeface="+mn-lt"/>
                          <a:ea typeface="+mn-ea"/>
                          <a:cs typeface="+mn-cs"/>
                        </a:rPr>
                        <a:t>minimal in time sharing system</a:t>
                      </a:r>
                      <a:r>
                        <a:rPr lang="en-US" sz="2000" b="0" kern="1200" dirty="0">
                          <a:solidFill>
                            <a:schemeClr val="dk1"/>
                          </a:solidFill>
                          <a:latin typeface="+mn-lt"/>
                          <a:ea typeface="+mn-ea"/>
                          <a:cs typeface="+mn-cs"/>
                        </a:rPr>
                        <a:t>.</a:t>
                      </a:r>
                      <a:endParaRPr lang="en-GB" sz="20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000" b="0" kern="1200" dirty="0">
                          <a:solidFill>
                            <a:schemeClr val="dk1"/>
                          </a:solidFill>
                          <a:latin typeface="+mn-lt"/>
                          <a:ea typeface="+mn-ea"/>
                          <a:cs typeface="+mn-cs"/>
                        </a:rPr>
                        <a:t>It is </a:t>
                      </a:r>
                      <a:r>
                        <a:rPr lang="en-US" sz="2000" b="1" kern="1200" dirty="0">
                          <a:solidFill>
                            <a:schemeClr val="accent6"/>
                          </a:solidFill>
                          <a:latin typeface="+mn-lt"/>
                          <a:ea typeface="+mn-ea"/>
                          <a:cs typeface="+mn-cs"/>
                        </a:rPr>
                        <a:t>a part of time-sharing systems</a:t>
                      </a:r>
                      <a:r>
                        <a:rPr lang="en-US" sz="2000" b="0" kern="1200" dirty="0">
                          <a:solidFill>
                            <a:schemeClr val="dk1"/>
                          </a:solidFill>
                          <a:latin typeface="+mn-lt"/>
                          <a:ea typeface="+mn-ea"/>
                          <a:cs typeface="+mn-cs"/>
                        </a:rPr>
                        <a:t>.</a:t>
                      </a:r>
                      <a:endParaRPr lang="en-GB" sz="20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3" name="Content Placeholder 4">
            <a:extLst>
              <a:ext uri="{FF2B5EF4-FFF2-40B4-BE49-F238E27FC236}">
                <a16:creationId xmlns:a16="http://schemas.microsoft.com/office/drawing/2014/main" id="{5B0695D1-0BC3-3AE2-84F9-6162B262B6D0}"/>
              </a:ext>
            </a:extLst>
          </p:cNvPr>
          <p:cNvGraphicFramePr>
            <a:graphicFrameLocks/>
          </p:cNvGraphicFramePr>
          <p:nvPr>
            <p:extLst>
              <p:ext uri="{D42A27DB-BD31-4B8C-83A1-F6EECF244321}">
                <p14:modId xmlns:p14="http://schemas.microsoft.com/office/powerpoint/2010/main" val="208589249"/>
              </p:ext>
            </p:extLst>
          </p:nvPr>
        </p:nvGraphicFramePr>
        <p:xfrm>
          <a:off x="267072" y="1527493"/>
          <a:ext cx="11795760" cy="540000"/>
        </p:xfrm>
        <a:graphic>
          <a:graphicData uri="http://schemas.openxmlformats.org/drawingml/2006/table">
            <a:tbl>
              <a:tblPr firstRow="1" bandRow="1">
                <a:tableStyleId>{8EC20E35-A176-4012-BC5E-935CFFF8708E}</a:tableStyleId>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40000">
                <a:tc>
                  <a:txBody>
                    <a:bodyPr/>
                    <a:lstStyle/>
                    <a:p>
                      <a:r>
                        <a:rPr lang="en-US" sz="2000" b="0" kern="1200" dirty="0">
                          <a:solidFill>
                            <a:schemeClr val="dk1"/>
                          </a:solidFill>
                          <a:latin typeface="+mn-lt"/>
                          <a:ea typeface="+mn-ea"/>
                          <a:cs typeface="+mn-cs"/>
                        </a:rPr>
                        <a:t>It is a </a:t>
                      </a:r>
                      <a:r>
                        <a:rPr lang="en-US" sz="2000" b="1" kern="1200" dirty="0">
                          <a:solidFill>
                            <a:schemeClr val="accent6"/>
                          </a:solidFill>
                          <a:latin typeface="+mn-lt"/>
                          <a:ea typeface="+mn-ea"/>
                          <a:cs typeface="+mn-cs"/>
                        </a:rPr>
                        <a:t>job scheduler</a:t>
                      </a:r>
                      <a:r>
                        <a:rPr lang="en-US" sz="2000" b="0" kern="1200" dirty="0">
                          <a:solidFill>
                            <a:schemeClr val="dk1"/>
                          </a:solidFill>
                          <a:latin typeface="+mn-lt"/>
                          <a:ea typeface="+mn-ea"/>
                          <a:cs typeface="+mn-cs"/>
                        </a:rPr>
                        <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000" b="0" kern="1200" dirty="0">
                          <a:solidFill>
                            <a:schemeClr val="dk1"/>
                          </a:solidFill>
                          <a:latin typeface="+mn-lt"/>
                          <a:ea typeface="+mn-ea"/>
                          <a:cs typeface="+mn-cs"/>
                        </a:rPr>
                        <a:t>It is a </a:t>
                      </a:r>
                      <a:r>
                        <a:rPr lang="en-US" sz="2000" b="1" kern="1200" dirty="0">
                          <a:solidFill>
                            <a:schemeClr val="accent6"/>
                          </a:solidFill>
                          <a:latin typeface="+mn-lt"/>
                          <a:ea typeface="+mn-ea"/>
                          <a:cs typeface="+mn-cs"/>
                        </a:rPr>
                        <a:t>CPU scheduler</a:t>
                      </a:r>
                      <a:r>
                        <a:rPr lang="en-US" sz="2000" b="0" kern="1200" dirty="0">
                          <a:solidFill>
                            <a:schemeClr val="dk1"/>
                          </a:solidFill>
                          <a:latin typeface="+mn-lt"/>
                          <a:ea typeface="+mn-ea"/>
                          <a:cs typeface="+mn-cs"/>
                        </a:rPr>
                        <a:t>.</a:t>
                      </a:r>
                      <a:endParaRPr lang="en-GB" sz="2000" b="0" kern="1200" dirty="0">
                        <a:solidFill>
                          <a:schemeClr val="dk1"/>
                        </a:solidFill>
                        <a:latin typeface="+mn-lt"/>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914400" rtl="0" eaLnBrk="1" latinLnBrk="0" hangingPunct="1"/>
                      <a:r>
                        <a:rPr lang="en-US" sz="2000" b="0" kern="1200" dirty="0">
                          <a:solidFill>
                            <a:schemeClr val="dk1"/>
                          </a:solidFill>
                          <a:latin typeface="+mn-lt"/>
                          <a:ea typeface="+mn-ea"/>
                          <a:cs typeface="+mn-cs"/>
                        </a:rPr>
                        <a:t>It is a </a:t>
                      </a:r>
                      <a:r>
                        <a:rPr lang="en-US" sz="2000" b="1" kern="1200" dirty="0">
                          <a:solidFill>
                            <a:schemeClr val="accent6"/>
                          </a:solidFill>
                          <a:latin typeface="+mn-lt"/>
                          <a:ea typeface="+mn-ea"/>
                          <a:cs typeface="+mn-cs"/>
                        </a:rPr>
                        <a:t>process swapping scheduler</a:t>
                      </a:r>
                      <a:r>
                        <a:rPr lang="en-US" sz="2000" b="0" kern="1200" dirty="0">
                          <a:solidFill>
                            <a:schemeClr val="dk1"/>
                          </a:solidFill>
                          <a:latin typeface="+mn-lt"/>
                          <a:ea typeface="+mn-ea"/>
                          <a:cs typeface="+mn-cs"/>
                        </a:rPr>
                        <a:t>.</a:t>
                      </a:r>
                      <a:endParaRPr lang="en-GB" sz="2000" b="0" kern="1200" dirty="0">
                        <a:solidFill>
                          <a:schemeClr val="dk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 name="Content Placeholder 4">
            <a:extLst>
              <a:ext uri="{FF2B5EF4-FFF2-40B4-BE49-F238E27FC236}">
                <a16:creationId xmlns:a16="http://schemas.microsoft.com/office/drawing/2014/main" id="{6D396814-6ACD-BFDE-68D4-8F87AA4A7CC8}"/>
              </a:ext>
            </a:extLst>
          </p:cNvPr>
          <p:cNvGraphicFramePr>
            <a:graphicFrameLocks/>
          </p:cNvGraphicFramePr>
          <p:nvPr>
            <p:extLst>
              <p:ext uri="{D42A27DB-BD31-4B8C-83A1-F6EECF244321}">
                <p14:modId xmlns:p14="http://schemas.microsoft.com/office/powerpoint/2010/main" val="3609476647"/>
              </p:ext>
            </p:extLst>
          </p:nvPr>
        </p:nvGraphicFramePr>
        <p:xfrm>
          <a:off x="267072" y="2074686"/>
          <a:ext cx="11795760" cy="540000"/>
        </p:xfrm>
        <a:graphic>
          <a:graphicData uri="http://schemas.openxmlformats.org/drawingml/2006/table">
            <a:tbl>
              <a:tblPr firstRow="1" bandRow="1">
                <a:tableStyleId>{8EC20E35-A176-4012-BC5E-935CFFF8708E}</a:tableStyleId>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40000">
                <a:tc>
                  <a:txBody>
                    <a:bodyPr/>
                    <a:lstStyle/>
                    <a:p>
                      <a:pPr algn="l"/>
                      <a:r>
                        <a:rPr lang="en-IN" sz="2000" b="0" baseline="0" dirty="0">
                          <a:solidFill>
                            <a:schemeClr val="tx1"/>
                          </a:solidFill>
                        </a:rPr>
                        <a:t>It is a </a:t>
                      </a:r>
                      <a:r>
                        <a:rPr lang="en-IN" sz="2000" b="1" baseline="0" dirty="0">
                          <a:solidFill>
                            <a:schemeClr val="accent6"/>
                          </a:solidFill>
                        </a:rPr>
                        <a:t>First Scheduler</a:t>
                      </a:r>
                      <a:r>
                        <a:rPr lang="en-IN" sz="2000" b="0" baseline="0" dirty="0">
                          <a:solidFill>
                            <a:schemeClr val="tx1"/>
                          </a:solidFill>
                        </a:rPr>
                        <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2000" b="0" baseline="0" dirty="0">
                          <a:solidFill>
                            <a:schemeClr val="tx1"/>
                          </a:solidFill>
                        </a:rPr>
                        <a:t>It is a </a:t>
                      </a:r>
                      <a:r>
                        <a:rPr lang="en-IN" sz="2000" b="1" baseline="0" dirty="0">
                          <a:solidFill>
                            <a:schemeClr val="accent6"/>
                          </a:solidFill>
                        </a:rPr>
                        <a:t>Second Scheduler</a:t>
                      </a:r>
                      <a:r>
                        <a:rPr lang="en-IN" sz="2000" b="0" baseline="0" dirty="0">
                          <a:solidFill>
                            <a:schemeClr val="tx1"/>
                          </a:solidFill>
                        </a:rPr>
                        <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2000" b="0" baseline="0" dirty="0">
                          <a:solidFill>
                            <a:schemeClr val="tx1"/>
                          </a:solidFill>
                        </a:rPr>
                        <a:t>It is a </a:t>
                      </a:r>
                      <a:r>
                        <a:rPr lang="en-IN" sz="2000" b="1" baseline="0" dirty="0">
                          <a:solidFill>
                            <a:schemeClr val="accent6"/>
                          </a:solidFill>
                        </a:rPr>
                        <a:t>Third Scheduler</a:t>
                      </a:r>
                      <a:r>
                        <a:rPr lang="en-IN" sz="2000" b="0" baseline="0" dirty="0">
                          <a:solidFill>
                            <a:schemeClr val="tx1"/>
                          </a:solidFill>
                        </a:rPr>
                        <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 name="Content Placeholder 4">
            <a:extLst>
              <a:ext uri="{FF2B5EF4-FFF2-40B4-BE49-F238E27FC236}">
                <a16:creationId xmlns:a16="http://schemas.microsoft.com/office/drawing/2014/main" id="{050C718A-7AF5-4CBB-9E32-773D8F95FFEA}"/>
              </a:ext>
            </a:extLst>
          </p:cNvPr>
          <p:cNvGraphicFramePr>
            <a:graphicFrameLocks/>
          </p:cNvGraphicFramePr>
          <p:nvPr>
            <p:extLst>
              <p:ext uri="{D42A27DB-BD31-4B8C-83A1-F6EECF244321}">
                <p14:modId xmlns:p14="http://schemas.microsoft.com/office/powerpoint/2010/main" val="3065495117"/>
              </p:ext>
            </p:extLst>
          </p:nvPr>
        </p:nvGraphicFramePr>
        <p:xfrm>
          <a:off x="267072" y="3616773"/>
          <a:ext cx="11795760" cy="540000"/>
        </p:xfrm>
        <a:graphic>
          <a:graphicData uri="http://schemas.openxmlformats.org/drawingml/2006/table">
            <a:tbl>
              <a:tblPr firstRow="1" bandRow="1">
                <a:tableStyleId>{8EC20E35-A176-4012-BC5E-935CFFF8708E}</a:tableStyleId>
              </a:tblPr>
              <a:tblGrid>
                <a:gridCol w="39319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40000">
                <a:tc>
                  <a:txBody>
                    <a:bodyPr/>
                    <a:lstStyle/>
                    <a:p>
                      <a:pPr algn="l"/>
                      <a:r>
                        <a:rPr lang="en-IN" sz="2000" b="0" baseline="0" dirty="0">
                          <a:solidFill>
                            <a:schemeClr val="tx1"/>
                          </a:solidFill>
                        </a:rPr>
                        <a:t>It e</a:t>
                      </a:r>
                      <a:r>
                        <a:rPr lang="en-IN" sz="2000" b="0" dirty="0">
                          <a:solidFill>
                            <a:schemeClr val="tx1"/>
                          </a:solidFill>
                        </a:rPr>
                        <a:t>xecutes </a:t>
                      </a:r>
                      <a:r>
                        <a:rPr lang="en-IN" sz="2000" b="1" dirty="0">
                          <a:solidFill>
                            <a:schemeClr val="accent6"/>
                          </a:solidFill>
                        </a:rPr>
                        <a:t>infrequently</a:t>
                      </a:r>
                      <a:endParaRPr lang="en-IN" sz="2000" b="1" baseline="0" dirty="0">
                        <a:solidFill>
                          <a:schemeClr val="accent6"/>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2000" b="0" baseline="0" dirty="0">
                          <a:solidFill>
                            <a:schemeClr val="tx1"/>
                          </a:solidFill>
                        </a:rPr>
                        <a:t>It r</a:t>
                      </a:r>
                      <a:r>
                        <a:rPr lang="en-IN" sz="2000" b="0" dirty="0">
                          <a:solidFill>
                            <a:schemeClr val="tx1"/>
                          </a:solidFill>
                        </a:rPr>
                        <a:t>uns very </a:t>
                      </a:r>
                      <a:r>
                        <a:rPr lang="en-IN" sz="2000" b="1" dirty="0">
                          <a:solidFill>
                            <a:schemeClr val="accent6"/>
                          </a:solidFill>
                        </a:rPr>
                        <a:t>frequently</a:t>
                      </a:r>
                      <a:endParaRPr lang="en-IN" sz="2000" b="1" baseline="0" dirty="0">
                        <a:solidFill>
                          <a:schemeClr val="accent6"/>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IN" sz="2000" b="0" baseline="0" dirty="0">
                          <a:solidFill>
                            <a:schemeClr val="tx1"/>
                          </a:solidFill>
                        </a:rPr>
                        <a:t>It r</a:t>
                      </a:r>
                      <a:r>
                        <a:rPr lang="en-IN" sz="2000" b="0" dirty="0">
                          <a:solidFill>
                            <a:schemeClr val="tx1"/>
                          </a:solidFill>
                        </a:rPr>
                        <a:t>uns </a:t>
                      </a:r>
                      <a:r>
                        <a:rPr lang="en-IN" sz="2000" b="1" dirty="0">
                          <a:solidFill>
                            <a:schemeClr val="accent6"/>
                          </a:solidFill>
                        </a:rPr>
                        <a:t>occasionally</a:t>
                      </a:r>
                      <a:endParaRPr lang="en-IN" sz="2000" b="1" baseline="0" dirty="0">
                        <a:solidFill>
                          <a:schemeClr val="accent6"/>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861535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a:xfrm>
            <a:off x="831850" y="1709738"/>
            <a:ext cx="11126788" cy="2852737"/>
          </a:xfrm>
        </p:spPr>
        <p:txBody>
          <a:bodyPr>
            <a:normAutofit/>
          </a:bodyPr>
          <a:lstStyle/>
          <a:p>
            <a:r>
              <a:rPr lang="en-US" dirty="0">
                <a:gradFill flip="none" rotWithShape="1">
                  <a:gsLst>
                    <a:gs pos="10000">
                      <a:srgbClr val="3E2622"/>
                    </a:gs>
                    <a:gs pos="100000">
                      <a:srgbClr val="795547"/>
                    </a:gs>
                  </a:gsLst>
                  <a:lin ang="0" scaled="1"/>
                  <a:tileRect/>
                </a:gradFill>
              </a:rPr>
              <a:t>Scheduling Criteria</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- 10</a:t>
            </a:r>
          </a:p>
        </p:txBody>
      </p:sp>
    </p:spTree>
    <p:extLst>
      <p:ext uri="{BB962C8B-B14F-4D97-AF65-F5344CB8AC3E}">
        <p14:creationId xmlns:p14="http://schemas.microsoft.com/office/powerpoint/2010/main" val="263053311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Scheduling criteria</a:t>
            </a:r>
          </a:p>
        </p:txBody>
      </p:sp>
      <p:sp>
        <p:nvSpPr>
          <p:cNvPr id="3" name="Content Placeholder 2"/>
          <p:cNvSpPr>
            <a:spLocks noGrp="1"/>
          </p:cNvSpPr>
          <p:nvPr>
            <p:ph idx="1"/>
          </p:nvPr>
        </p:nvSpPr>
        <p:spPr/>
        <p:txBody>
          <a:bodyPr/>
          <a:lstStyle/>
          <a:p>
            <a:r>
              <a:rPr lang="en-US" dirty="0"/>
              <a:t>CPU Scheduling is a process that allows one process to use the </a:t>
            </a:r>
            <a:r>
              <a:rPr lang="en-US" b="1" dirty="0">
                <a:solidFill>
                  <a:schemeClr val="accent6"/>
                </a:solidFill>
              </a:rPr>
              <a:t>CPU</a:t>
            </a:r>
            <a:r>
              <a:rPr lang="en-US" dirty="0"/>
              <a:t> while another process is </a:t>
            </a:r>
            <a:r>
              <a:rPr lang="en-US" b="1" dirty="0">
                <a:solidFill>
                  <a:schemeClr val="accent6"/>
                </a:solidFill>
              </a:rPr>
              <a:t>delayed</a:t>
            </a:r>
            <a:r>
              <a:rPr lang="en-US" dirty="0"/>
              <a:t> due to </a:t>
            </a:r>
            <a:r>
              <a:rPr lang="en-US" b="1" dirty="0">
                <a:solidFill>
                  <a:schemeClr val="accent6"/>
                </a:solidFill>
              </a:rPr>
              <a:t>unavailability of any resources </a:t>
            </a:r>
            <a:r>
              <a:rPr lang="en-US" dirty="0"/>
              <a:t>such as </a:t>
            </a:r>
            <a:r>
              <a:rPr lang="en-US" b="1" dirty="0">
                <a:solidFill>
                  <a:schemeClr val="accent6"/>
                </a:solidFill>
              </a:rPr>
              <a:t>I / O </a:t>
            </a:r>
            <a:r>
              <a:rPr lang="en-US" dirty="0"/>
              <a:t>etc.</a:t>
            </a:r>
          </a:p>
          <a:p>
            <a:r>
              <a:rPr lang="en-US" dirty="0"/>
              <a:t>The purpose of CPU Scheduling is to make the system </a:t>
            </a:r>
            <a:r>
              <a:rPr lang="en-US" b="1" dirty="0">
                <a:solidFill>
                  <a:schemeClr val="accent6"/>
                </a:solidFill>
              </a:rPr>
              <a:t>more</a:t>
            </a:r>
            <a:r>
              <a:rPr lang="en-US" dirty="0"/>
              <a:t> </a:t>
            </a:r>
            <a:r>
              <a:rPr lang="en-US" b="1" dirty="0">
                <a:solidFill>
                  <a:schemeClr val="accent6"/>
                </a:solidFill>
              </a:rPr>
              <a:t>efficient</a:t>
            </a:r>
            <a:r>
              <a:rPr lang="en-US" dirty="0"/>
              <a:t>, </a:t>
            </a:r>
            <a:r>
              <a:rPr lang="en-US" b="1" dirty="0">
                <a:solidFill>
                  <a:schemeClr val="accent6"/>
                </a:solidFill>
              </a:rPr>
              <a:t>faster</a:t>
            </a:r>
            <a:r>
              <a:rPr lang="en-US" dirty="0"/>
              <a:t>, and </a:t>
            </a:r>
            <a:r>
              <a:rPr lang="en-US" b="1" dirty="0">
                <a:solidFill>
                  <a:schemeClr val="accent6"/>
                </a:solidFill>
              </a:rPr>
              <a:t>fairer</a:t>
            </a:r>
            <a:r>
              <a:rPr lang="en-US" dirty="0"/>
              <a:t>.</a:t>
            </a:r>
            <a:endParaRPr lang="en-IN" dirty="0"/>
          </a:p>
          <a:p>
            <a:r>
              <a:rPr lang="en-US" dirty="0"/>
              <a:t>Let’s discuss CPU Scheduling has several criteria. Some of them are mentioned below.</a:t>
            </a:r>
          </a:p>
          <a:p>
            <a:endParaRPr lang="en-US" dirty="0"/>
          </a:p>
          <a:p>
            <a:endParaRPr lang="en-US" dirty="0"/>
          </a:p>
          <a:p>
            <a:endParaRPr lang="en-US" dirty="0"/>
          </a:p>
        </p:txBody>
      </p:sp>
      <p:sp>
        <p:nvSpPr>
          <p:cNvPr id="6" name="Rectangle 5"/>
          <p:cNvSpPr/>
          <p:nvPr/>
        </p:nvSpPr>
        <p:spPr>
          <a:xfrm>
            <a:off x="3783890" y="2642003"/>
            <a:ext cx="3706360" cy="604757"/>
          </a:xfrm>
          <a:prstGeom prst="rect">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Scheduling Criteria</a:t>
            </a:r>
          </a:p>
        </p:txBody>
      </p:sp>
      <p:sp>
        <p:nvSpPr>
          <p:cNvPr id="7" name="Rectangle 6"/>
          <p:cNvSpPr/>
          <p:nvPr/>
        </p:nvSpPr>
        <p:spPr>
          <a:xfrm>
            <a:off x="1720000" y="3923874"/>
            <a:ext cx="3460240" cy="521555"/>
          </a:xfrm>
          <a:prstGeom prst="rect">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What to Maximize</a:t>
            </a:r>
          </a:p>
        </p:txBody>
      </p:sp>
      <p:sp>
        <p:nvSpPr>
          <p:cNvPr id="8" name="Rectangle 7"/>
          <p:cNvSpPr/>
          <p:nvPr/>
        </p:nvSpPr>
        <p:spPr>
          <a:xfrm>
            <a:off x="1720000" y="4809100"/>
            <a:ext cx="2386738" cy="509963"/>
          </a:xfrm>
          <a:prstGeom prst="rect">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Throughput</a:t>
            </a:r>
          </a:p>
        </p:txBody>
      </p:sp>
      <p:sp>
        <p:nvSpPr>
          <p:cNvPr id="9" name="Rectangle 8"/>
          <p:cNvSpPr/>
          <p:nvPr/>
        </p:nvSpPr>
        <p:spPr>
          <a:xfrm>
            <a:off x="1720000" y="5625851"/>
            <a:ext cx="2386738" cy="518202"/>
          </a:xfrm>
          <a:prstGeom prst="rect">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CPU</a:t>
            </a:r>
            <a:r>
              <a:rPr lang="en-US" dirty="0"/>
              <a:t> </a:t>
            </a:r>
            <a:r>
              <a:rPr lang="en-US" b="1" dirty="0"/>
              <a:t>utilization</a:t>
            </a:r>
          </a:p>
        </p:txBody>
      </p:sp>
      <p:sp>
        <p:nvSpPr>
          <p:cNvPr id="10" name="Rectangle 9"/>
          <p:cNvSpPr/>
          <p:nvPr/>
        </p:nvSpPr>
        <p:spPr>
          <a:xfrm>
            <a:off x="6266090" y="3924856"/>
            <a:ext cx="3610898" cy="488800"/>
          </a:xfrm>
          <a:prstGeom prst="rect">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What to minimize</a:t>
            </a:r>
          </a:p>
        </p:txBody>
      </p:sp>
      <p:sp>
        <p:nvSpPr>
          <p:cNvPr id="11" name="Rectangle 10"/>
          <p:cNvSpPr/>
          <p:nvPr/>
        </p:nvSpPr>
        <p:spPr>
          <a:xfrm>
            <a:off x="7490250" y="4742337"/>
            <a:ext cx="2386738" cy="446107"/>
          </a:xfrm>
          <a:prstGeom prst="rect">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Waiting time</a:t>
            </a:r>
          </a:p>
        </p:txBody>
      </p:sp>
      <p:sp>
        <p:nvSpPr>
          <p:cNvPr id="12" name="Rectangle 11"/>
          <p:cNvSpPr/>
          <p:nvPr/>
        </p:nvSpPr>
        <p:spPr>
          <a:xfrm>
            <a:off x="7478904" y="5315282"/>
            <a:ext cx="2386738" cy="454071"/>
          </a:xfrm>
          <a:prstGeom prst="rect">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Turn around time</a:t>
            </a:r>
          </a:p>
        </p:txBody>
      </p:sp>
      <p:sp>
        <p:nvSpPr>
          <p:cNvPr id="13" name="Rectangle 12"/>
          <p:cNvSpPr/>
          <p:nvPr/>
        </p:nvSpPr>
        <p:spPr>
          <a:xfrm>
            <a:off x="7490250" y="5937915"/>
            <a:ext cx="2386738" cy="446508"/>
          </a:xfrm>
          <a:prstGeom prst="rect">
            <a:avLst/>
          </a:prstGeom>
          <a:solidFill>
            <a:srgbClr val="4B30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Response Time</a:t>
            </a:r>
          </a:p>
        </p:txBody>
      </p:sp>
      <p:sp>
        <p:nvSpPr>
          <p:cNvPr id="14" name="Line 13"/>
          <p:cNvSpPr>
            <a:spLocks noChangeShapeType="1"/>
          </p:cNvSpPr>
          <p:nvPr/>
        </p:nvSpPr>
        <p:spPr bwMode="auto">
          <a:xfrm flipH="1">
            <a:off x="3783888" y="3246760"/>
            <a:ext cx="1782113" cy="677114"/>
          </a:xfrm>
          <a:prstGeom prst="line">
            <a:avLst/>
          </a:prstGeom>
          <a:noFill/>
          <a:ln w="28575">
            <a:solidFill>
              <a:srgbClr val="AE250A"/>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15" name="Line 13"/>
          <p:cNvSpPr>
            <a:spLocks noChangeShapeType="1"/>
          </p:cNvSpPr>
          <p:nvPr/>
        </p:nvSpPr>
        <p:spPr bwMode="auto">
          <a:xfrm>
            <a:off x="5880328" y="3247703"/>
            <a:ext cx="2071687" cy="666123"/>
          </a:xfrm>
          <a:prstGeom prst="line">
            <a:avLst/>
          </a:prstGeom>
          <a:noFill/>
          <a:ln w="28575">
            <a:solidFill>
              <a:srgbClr val="AE250A"/>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1350"/>
          </a:p>
        </p:txBody>
      </p:sp>
      <p:cxnSp>
        <p:nvCxnSpPr>
          <p:cNvPr id="33" name="Straight Connector 32"/>
          <p:cNvCxnSpPr>
            <a:cxnSpLocks/>
          </p:cNvCxnSpPr>
          <p:nvPr/>
        </p:nvCxnSpPr>
        <p:spPr>
          <a:xfrm>
            <a:off x="4816391" y="4445429"/>
            <a:ext cx="0" cy="1433360"/>
          </a:xfrm>
          <a:prstGeom prst="line">
            <a:avLst/>
          </a:prstGeom>
          <a:ln w="38100">
            <a:solidFill>
              <a:schemeClr val="accent6"/>
            </a:solidFill>
          </a:ln>
        </p:spPr>
        <p:style>
          <a:lnRef idx="1">
            <a:schemeClr val="accent6"/>
          </a:lnRef>
          <a:fillRef idx="0">
            <a:schemeClr val="accent6"/>
          </a:fillRef>
          <a:effectRef idx="0">
            <a:schemeClr val="accent6"/>
          </a:effectRef>
          <a:fontRef idx="minor">
            <a:schemeClr val="tx1"/>
          </a:fontRef>
        </p:style>
      </p:cxnSp>
      <p:sp>
        <p:nvSpPr>
          <p:cNvPr id="34" name="Line 13"/>
          <p:cNvSpPr>
            <a:spLocks noChangeShapeType="1"/>
          </p:cNvSpPr>
          <p:nvPr/>
        </p:nvSpPr>
        <p:spPr bwMode="auto">
          <a:xfrm flipH="1">
            <a:off x="4106737" y="5064081"/>
            <a:ext cx="708753" cy="6163"/>
          </a:xfrm>
          <a:prstGeom prst="line">
            <a:avLst/>
          </a:prstGeom>
          <a:noFill/>
          <a:ln w="28575">
            <a:solidFill>
              <a:srgbClr val="AE250A"/>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17" name="Line 13">
            <a:extLst>
              <a:ext uri="{FF2B5EF4-FFF2-40B4-BE49-F238E27FC236}">
                <a16:creationId xmlns:a16="http://schemas.microsoft.com/office/drawing/2014/main" id="{D0B6CF8E-BB6E-86A4-C661-34F209DE9329}"/>
              </a:ext>
            </a:extLst>
          </p:cNvPr>
          <p:cNvSpPr>
            <a:spLocks noChangeShapeType="1"/>
          </p:cNvSpPr>
          <p:nvPr/>
        </p:nvSpPr>
        <p:spPr bwMode="auto">
          <a:xfrm flipH="1">
            <a:off x="4106736" y="5878789"/>
            <a:ext cx="708753" cy="6163"/>
          </a:xfrm>
          <a:prstGeom prst="line">
            <a:avLst/>
          </a:prstGeom>
          <a:noFill/>
          <a:ln w="28575">
            <a:solidFill>
              <a:srgbClr val="AE250A"/>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1350"/>
          </a:p>
        </p:txBody>
      </p:sp>
      <p:cxnSp>
        <p:nvCxnSpPr>
          <p:cNvPr id="22" name="Straight Connector 21">
            <a:extLst>
              <a:ext uri="{FF2B5EF4-FFF2-40B4-BE49-F238E27FC236}">
                <a16:creationId xmlns:a16="http://schemas.microsoft.com/office/drawing/2014/main" id="{166E621E-5446-F71B-C6C1-249E647F75C8}"/>
              </a:ext>
            </a:extLst>
          </p:cNvPr>
          <p:cNvCxnSpPr>
            <a:cxnSpLocks/>
            <a:endCxn id="27" idx="0"/>
          </p:cNvCxnSpPr>
          <p:nvPr/>
        </p:nvCxnSpPr>
        <p:spPr>
          <a:xfrm>
            <a:off x="6629640" y="4413656"/>
            <a:ext cx="9331" cy="1755265"/>
          </a:xfrm>
          <a:prstGeom prst="line">
            <a:avLst/>
          </a:prstGeom>
          <a:ln w="38100">
            <a:solidFill>
              <a:schemeClr val="accent6"/>
            </a:solidFill>
          </a:ln>
        </p:spPr>
        <p:style>
          <a:lnRef idx="1">
            <a:schemeClr val="accent6"/>
          </a:lnRef>
          <a:fillRef idx="0">
            <a:schemeClr val="accent6"/>
          </a:fillRef>
          <a:effectRef idx="0">
            <a:schemeClr val="accent6"/>
          </a:effectRef>
          <a:fontRef idx="minor">
            <a:schemeClr val="tx1"/>
          </a:fontRef>
        </p:style>
      </p:cxnSp>
      <p:sp>
        <p:nvSpPr>
          <p:cNvPr id="24" name="Line 13">
            <a:extLst>
              <a:ext uri="{FF2B5EF4-FFF2-40B4-BE49-F238E27FC236}">
                <a16:creationId xmlns:a16="http://schemas.microsoft.com/office/drawing/2014/main" id="{981F7673-F918-19AA-A47C-E78FF6A9F07D}"/>
              </a:ext>
            </a:extLst>
          </p:cNvPr>
          <p:cNvSpPr>
            <a:spLocks noChangeShapeType="1"/>
          </p:cNvSpPr>
          <p:nvPr/>
        </p:nvSpPr>
        <p:spPr bwMode="auto">
          <a:xfrm flipV="1">
            <a:off x="6638971" y="4966740"/>
            <a:ext cx="849264" cy="6477"/>
          </a:xfrm>
          <a:prstGeom prst="line">
            <a:avLst/>
          </a:prstGeom>
          <a:noFill/>
          <a:ln w="28575">
            <a:solidFill>
              <a:srgbClr val="AE250A"/>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26" name="Line 13">
            <a:extLst>
              <a:ext uri="{FF2B5EF4-FFF2-40B4-BE49-F238E27FC236}">
                <a16:creationId xmlns:a16="http://schemas.microsoft.com/office/drawing/2014/main" id="{D43FBFAE-C40B-D8D9-E7C6-44B75322201F}"/>
              </a:ext>
            </a:extLst>
          </p:cNvPr>
          <p:cNvSpPr>
            <a:spLocks noChangeShapeType="1"/>
          </p:cNvSpPr>
          <p:nvPr/>
        </p:nvSpPr>
        <p:spPr bwMode="auto">
          <a:xfrm flipV="1">
            <a:off x="6629640" y="5539078"/>
            <a:ext cx="849264" cy="6477"/>
          </a:xfrm>
          <a:prstGeom prst="line">
            <a:avLst/>
          </a:prstGeom>
          <a:noFill/>
          <a:ln w="28575">
            <a:solidFill>
              <a:srgbClr val="AE250A"/>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1350"/>
          </a:p>
        </p:txBody>
      </p:sp>
      <p:sp>
        <p:nvSpPr>
          <p:cNvPr id="27" name="Line 13">
            <a:extLst>
              <a:ext uri="{FF2B5EF4-FFF2-40B4-BE49-F238E27FC236}">
                <a16:creationId xmlns:a16="http://schemas.microsoft.com/office/drawing/2014/main" id="{3A73802A-AD25-9A94-B283-AFC563626CA3}"/>
              </a:ext>
            </a:extLst>
          </p:cNvPr>
          <p:cNvSpPr>
            <a:spLocks noChangeShapeType="1"/>
          </p:cNvSpPr>
          <p:nvPr/>
        </p:nvSpPr>
        <p:spPr bwMode="auto">
          <a:xfrm flipV="1">
            <a:off x="6638971" y="6162444"/>
            <a:ext cx="849264" cy="6477"/>
          </a:xfrm>
          <a:prstGeom prst="line">
            <a:avLst/>
          </a:prstGeom>
          <a:noFill/>
          <a:ln w="28575">
            <a:solidFill>
              <a:srgbClr val="AE250A"/>
            </a:solidFill>
            <a:round/>
            <a:headEnd type="none" w="sm" len="sm"/>
            <a:tailEnd type="stealth" w="med" len="med"/>
          </a:ln>
          <a:extLst>
            <a:ext uri="{909E8E84-426E-40DD-AFC4-6F175D3DCCD1}">
              <a14:hiddenFill xmlns:a14="http://schemas.microsoft.com/office/drawing/2010/main">
                <a:noFill/>
              </a14:hiddenFill>
            </a:ext>
          </a:extLst>
        </p:spPr>
        <p:txBody>
          <a:bodyPr wrap="none" anchor="ctr"/>
          <a:lstStyle/>
          <a:p>
            <a:endParaRPr lang="en-US" sz="1350"/>
          </a:p>
        </p:txBody>
      </p:sp>
    </p:spTree>
    <p:extLst>
      <p:ext uri="{BB962C8B-B14F-4D97-AF65-F5344CB8AC3E}">
        <p14:creationId xmlns:p14="http://schemas.microsoft.com/office/powerpoint/2010/main" val="404986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34" grpId="0" animBg="1"/>
      <p:bldP spid="17" grpId="0" animBg="1"/>
      <p:bldP spid="24" grpId="0" animBg="1"/>
      <p:bldP spid="26" grpId="0" animBg="1"/>
      <p:bldP spid="2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Scheduling Criteria</a:t>
            </a:r>
            <a:endParaRPr lang="en-IN" dirty="0"/>
          </a:p>
        </p:txBody>
      </p:sp>
      <p:sp>
        <p:nvSpPr>
          <p:cNvPr id="3" name="Content Placeholder 2"/>
          <p:cNvSpPr>
            <a:spLocks noGrp="1"/>
          </p:cNvSpPr>
          <p:nvPr>
            <p:ph idx="1"/>
          </p:nvPr>
        </p:nvSpPr>
        <p:spPr/>
        <p:txBody>
          <a:bodyPr/>
          <a:lstStyle/>
          <a:p>
            <a:r>
              <a:rPr lang="en-US" b="1" dirty="0"/>
              <a:t>CPU Utilization:</a:t>
            </a:r>
          </a:p>
          <a:p>
            <a:pPr lvl="1"/>
            <a:r>
              <a:rPr lang="en-US" dirty="0"/>
              <a:t>It is an average fraction of time during which CPU is busy. </a:t>
            </a:r>
            <a:endParaRPr lang="en-IN" dirty="0"/>
          </a:p>
          <a:p>
            <a:pPr lvl="1"/>
            <a:r>
              <a:rPr lang="en-US" dirty="0"/>
              <a:t>It ranges from 0 to 100%. In real system it should be between 40 to 90%.</a:t>
            </a:r>
            <a:endParaRPr lang="en-IN" dirty="0"/>
          </a:p>
          <a:p>
            <a:pPr lvl="1"/>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107" y="2418613"/>
            <a:ext cx="3678841" cy="3738452"/>
          </a:xfrm>
          <a:prstGeom prst="rect">
            <a:avLst/>
          </a:prstGeom>
        </p:spPr>
      </p:pic>
    </p:spTree>
    <p:extLst>
      <p:ext uri="{BB962C8B-B14F-4D97-AF65-F5344CB8AC3E}">
        <p14:creationId xmlns:p14="http://schemas.microsoft.com/office/powerpoint/2010/main" val="3393117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Scheduling Criteria</a:t>
            </a:r>
            <a:endParaRPr lang="en-IN" dirty="0"/>
          </a:p>
        </p:txBody>
      </p:sp>
      <p:sp>
        <p:nvSpPr>
          <p:cNvPr id="3" name="Content Placeholder 2"/>
          <p:cNvSpPr>
            <a:spLocks noGrp="1"/>
          </p:cNvSpPr>
          <p:nvPr>
            <p:ph idx="1"/>
          </p:nvPr>
        </p:nvSpPr>
        <p:spPr/>
        <p:txBody>
          <a:bodyPr/>
          <a:lstStyle/>
          <a:p>
            <a:pPr lvl="0"/>
            <a:r>
              <a:rPr lang="en-US" b="1" dirty="0"/>
              <a:t>Throughput:</a:t>
            </a:r>
          </a:p>
          <a:p>
            <a:pPr lvl="1"/>
            <a:r>
              <a:rPr lang="en-US" dirty="0"/>
              <a:t>Number of processes completed per time unit. </a:t>
            </a:r>
            <a:endParaRPr lang="en-IN" dirty="0"/>
          </a:p>
          <a:p>
            <a:pPr lvl="1"/>
            <a:r>
              <a:rPr lang="en-US" dirty="0"/>
              <a:t>For long process, this rate may be 1 process per hour, for sort it might be 10 process per second.</a:t>
            </a:r>
          </a:p>
          <a:p>
            <a:r>
              <a:rPr lang="en-US" b="1" dirty="0"/>
              <a:t>Turn-around Time:</a:t>
            </a:r>
          </a:p>
          <a:p>
            <a:pPr lvl="1"/>
            <a:r>
              <a:rPr lang="en-US" dirty="0"/>
              <a:t>Time required to complete execution of a process. </a:t>
            </a:r>
            <a:endParaRPr lang="en-IN" dirty="0"/>
          </a:p>
          <a:p>
            <a:pPr lvl="1"/>
            <a:r>
              <a:rPr lang="en-US" b="1" dirty="0">
                <a:solidFill>
                  <a:schemeClr val="accent6"/>
                </a:solidFill>
              </a:rPr>
              <a:t>Turn-around time </a:t>
            </a:r>
            <a:r>
              <a:rPr lang="en-US" dirty="0">
                <a:solidFill>
                  <a:schemeClr val="accent6"/>
                </a:solidFill>
              </a:rPr>
              <a:t>= Process finish time – Process arrival time</a:t>
            </a:r>
          </a:p>
          <a:p>
            <a:r>
              <a:rPr lang="en-US" b="1" dirty="0"/>
              <a:t>Waiting Time:</a:t>
            </a:r>
          </a:p>
          <a:p>
            <a:pPr lvl="1"/>
            <a:r>
              <a:rPr lang="en-US" dirty="0"/>
              <a:t>It is total time duration spent by process waiting in ‘Ready’ queue.</a:t>
            </a:r>
            <a:endParaRPr lang="en-IN" dirty="0"/>
          </a:p>
          <a:p>
            <a:pPr lvl="1"/>
            <a:r>
              <a:rPr lang="en-US" b="1" dirty="0">
                <a:solidFill>
                  <a:schemeClr val="accent6"/>
                </a:solidFill>
              </a:rPr>
              <a:t>Waiting time </a:t>
            </a:r>
            <a:r>
              <a:rPr lang="en-US" dirty="0">
                <a:solidFill>
                  <a:schemeClr val="accent6"/>
                </a:solidFill>
              </a:rPr>
              <a:t>= Turn-around time – Actual execution time.</a:t>
            </a:r>
          </a:p>
          <a:p>
            <a:pPr marL="255588" indent="-342900"/>
            <a:r>
              <a:rPr lang="en-US" b="1" dirty="0"/>
              <a:t>Response Time:</a:t>
            </a:r>
          </a:p>
          <a:p>
            <a:pPr marL="800100" lvl="1" indent="-342900"/>
            <a:r>
              <a:rPr lang="en-US" dirty="0"/>
              <a:t>It is time between issuing a command/request and getting output/result.</a:t>
            </a:r>
          </a:p>
          <a:p>
            <a:pPr marL="800100" lvl="1" indent="-342900"/>
            <a:r>
              <a:rPr lang="en-US" b="1" dirty="0">
                <a:solidFill>
                  <a:schemeClr val="accent6"/>
                </a:solidFill>
              </a:rPr>
              <a:t>Response time </a:t>
            </a:r>
            <a:r>
              <a:rPr lang="en-US" dirty="0">
                <a:solidFill>
                  <a:schemeClr val="accent6"/>
                </a:solidFill>
              </a:rPr>
              <a:t>= First CPU Execution – Arrival time</a:t>
            </a:r>
          </a:p>
          <a:p>
            <a:pPr marL="255588" indent="-342900"/>
            <a:r>
              <a:rPr lang="en-US" b="1" dirty="0"/>
              <a:t>Quantum:</a:t>
            </a:r>
          </a:p>
          <a:p>
            <a:pPr marL="800100" lvl="1" indent="-342900"/>
            <a:r>
              <a:rPr lang="en-US" dirty="0"/>
              <a:t>In </a:t>
            </a:r>
            <a:r>
              <a:rPr lang="en-US" b="1" dirty="0">
                <a:solidFill>
                  <a:schemeClr val="accent6"/>
                </a:solidFill>
              </a:rPr>
              <a:t>preemptive scheduling</a:t>
            </a:r>
            <a:r>
              <a:rPr lang="en-US" dirty="0"/>
              <a:t>, each process is allowed to </a:t>
            </a:r>
            <a:r>
              <a:rPr lang="en-US" b="1" dirty="0">
                <a:solidFill>
                  <a:schemeClr val="accent6"/>
                </a:solidFill>
              </a:rPr>
              <a:t>run for specified time duration</a:t>
            </a:r>
            <a:r>
              <a:rPr lang="en-US" dirty="0"/>
              <a:t>, called its </a:t>
            </a:r>
            <a:r>
              <a:rPr lang="en-US" b="1" dirty="0">
                <a:solidFill>
                  <a:schemeClr val="accent6"/>
                </a:solidFill>
              </a:rPr>
              <a:t>quantum</a:t>
            </a:r>
            <a:r>
              <a:rPr lang="en-US" dirty="0"/>
              <a:t>.</a:t>
            </a:r>
          </a:p>
        </p:txBody>
      </p:sp>
    </p:spTree>
    <p:extLst>
      <p:ext uri="{BB962C8B-B14F-4D97-AF65-F5344CB8AC3E}">
        <p14:creationId xmlns:p14="http://schemas.microsoft.com/office/powerpoint/2010/main" val="2935798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IN" dirty="0">
                <a:gradFill flip="none" rotWithShape="1">
                  <a:gsLst>
                    <a:gs pos="10000">
                      <a:srgbClr val="3E2622"/>
                    </a:gs>
                    <a:gs pos="100000">
                      <a:srgbClr val="795547"/>
                    </a:gs>
                  </a:gsLst>
                  <a:lin ang="0" scaled="1"/>
                  <a:tileRect/>
                </a:gradFill>
              </a:rPr>
              <a:t>Types of Scheduling</a:t>
            </a:r>
            <a:endParaRPr lang="en-US" dirty="0">
              <a:gradFill flip="none" rotWithShape="1">
                <a:gsLst>
                  <a:gs pos="10000">
                    <a:srgbClr val="3E2622"/>
                  </a:gs>
                  <a:gs pos="100000">
                    <a:srgbClr val="795547"/>
                  </a:gs>
                </a:gsLst>
                <a:lin ang="0" scaled="1"/>
                <a:tileRect/>
              </a:gradFill>
            </a:endParaRP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–11</a:t>
            </a:r>
          </a:p>
        </p:txBody>
      </p:sp>
    </p:spTree>
    <p:extLst>
      <p:ext uri="{BB962C8B-B14F-4D97-AF65-F5344CB8AC3E}">
        <p14:creationId xmlns:p14="http://schemas.microsoft.com/office/powerpoint/2010/main" val="170069988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Types of Scheduling</a:t>
            </a:r>
          </a:p>
        </p:txBody>
      </p:sp>
      <p:sp>
        <p:nvSpPr>
          <p:cNvPr id="3" name="Content Placeholder 2"/>
          <p:cNvSpPr>
            <a:spLocks noGrp="1"/>
          </p:cNvSpPr>
          <p:nvPr>
            <p:ph idx="1"/>
          </p:nvPr>
        </p:nvSpPr>
        <p:spPr/>
        <p:txBody>
          <a:bodyPr/>
          <a:lstStyle/>
          <a:p>
            <a:r>
              <a:rPr lang="en-US" dirty="0"/>
              <a:t>There are two types of Scheduling</a:t>
            </a:r>
          </a:p>
          <a:p>
            <a:pPr lvl="1"/>
            <a:r>
              <a:rPr lang="en-US" dirty="0">
                <a:solidFill>
                  <a:srgbClr val="C00000"/>
                </a:solidFill>
              </a:rPr>
              <a:t>Preemptive Scheduling</a:t>
            </a:r>
          </a:p>
          <a:p>
            <a:pPr lvl="1"/>
            <a:r>
              <a:rPr lang="en-US" dirty="0">
                <a:solidFill>
                  <a:srgbClr val="C00000"/>
                </a:solidFill>
              </a:rPr>
              <a:t>Non-Preemptive Scheduling</a:t>
            </a:r>
          </a:p>
        </p:txBody>
      </p:sp>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1996794704"/>
              </p:ext>
            </p:extLst>
          </p:nvPr>
        </p:nvGraphicFramePr>
        <p:xfrm>
          <a:off x="1060695" y="2084225"/>
          <a:ext cx="8885915" cy="1226318"/>
        </p:xfrm>
        <a:graphic>
          <a:graphicData uri="http://schemas.openxmlformats.org/drawingml/2006/table">
            <a:tbl>
              <a:tblPr firstRow="1" bandRow="1">
                <a:tableStyleId>{8EC20E35-A176-4012-BC5E-935CFFF8708E}</a:tableStyleId>
              </a:tblPr>
              <a:tblGrid>
                <a:gridCol w="4453399">
                  <a:extLst>
                    <a:ext uri="{9D8B030D-6E8A-4147-A177-3AD203B41FA5}">
                      <a16:colId xmlns:a16="http://schemas.microsoft.com/office/drawing/2014/main" val="20000"/>
                    </a:ext>
                  </a:extLst>
                </a:gridCol>
                <a:gridCol w="4432516">
                  <a:extLst>
                    <a:ext uri="{9D8B030D-6E8A-4147-A177-3AD203B41FA5}">
                      <a16:colId xmlns:a16="http://schemas.microsoft.com/office/drawing/2014/main" val="20001"/>
                    </a:ext>
                  </a:extLst>
                </a:gridCol>
              </a:tblGrid>
              <a:tr h="301847">
                <a:tc>
                  <a:txBody>
                    <a:bodyPr/>
                    <a:lstStyle/>
                    <a:p>
                      <a:pPr algn="ctr"/>
                      <a:r>
                        <a:rPr lang="en-US" sz="2000" b="1" baseline="0" dirty="0">
                          <a:solidFill>
                            <a:schemeClr val="tx1"/>
                          </a:solidFill>
                        </a:rPr>
                        <a:t>Non-Preemptive Scheduling </a:t>
                      </a:r>
                      <a:endParaRPr lang="en-US" sz="2000" b="1"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2000" b="1" baseline="0" dirty="0">
                          <a:solidFill>
                            <a:schemeClr val="tx1"/>
                          </a:solidFill>
                        </a:rPr>
                        <a:t>Preemptive Scheduling</a:t>
                      </a:r>
                      <a:endParaRPr lang="en-US" sz="20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830078">
                <a:tc>
                  <a:txBody>
                    <a:bodyPr/>
                    <a:lstStyle/>
                    <a:p>
                      <a:pPr algn="just"/>
                      <a:r>
                        <a:rPr lang="en-US" dirty="0"/>
                        <a:t>Process </a:t>
                      </a:r>
                      <a:r>
                        <a:rPr lang="en-US" b="1" dirty="0">
                          <a:solidFill>
                            <a:schemeClr val="accent6"/>
                          </a:solidFill>
                        </a:rPr>
                        <a:t>runs</a:t>
                      </a:r>
                      <a:r>
                        <a:rPr lang="en-US" dirty="0"/>
                        <a:t> </a:t>
                      </a:r>
                      <a:r>
                        <a:rPr lang="en-US" b="1" dirty="0">
                          <a:solidFill>
                            <a:schemeClr val="accent6"/>
                          </a:solidFill>
                        </a:rPr>
                        <a:t>until completion </a:t>
                      </a:r>
                      <a:r>
                        <a:rPr lang="en-US" dirty="0"/>
                        <a:t>or </a:t>
                      </a:r>
                      <a:r>
                        <a:rPr lang="en-US" b="1" dirty="0">
                          <a:solidFill>
                            <a:schemeClr val="accent6"/>
                          </a:solidFill>
                        </a:rPr>
                        <a:t>waiting state</a:t>
                      </a:r>
                      <a:r>
                        <a:rPr lang="en-US" b="0" dirty="0">
                          <a:solidFill>
                            <a:schemeClr val="tx1"/>
                          </a:solidFill>
                        </a:rPr>
                        <a:t>.</a:t>
                      </a:r>
                      <a:endParaRPr lang="en-IN" sz="1800" b="0" baseline="0"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dirty="0"/>
                        <a:t>OS can </a:t>
                      </a:r>
                      <a:r>
                        <a:rPr lang="en-US" b="1" dirty="0">
                          <a:solidFill>
                            <a:schemeClr val="accent6"/>
                          </a:solidFill>
                        </a:rPr>
                        <a:t>interrupt</a:t>
                      </a:r>
                      <a:r>
                        <a:rPr lang="en-US" dirty="0"/>
                        <a:t> </a:t>
                      </a:r>
                      <a:r>
                        <a:rPr lang="en-US" b="1" dirty="0">
                          <a:solidFill>
                            <a:schemeClr val="accent6"/>
                          </a:solidFill>
                        </a:rPr>
                        <a:t>the process </a:t>
                      </a:r>
                      <a:r>
                        <a:rPr lang="en-US" dirty="0"/>
                        <a:t>and </a:t>
                      </a:r>
                      <a:r>
                        <a:rPr lang="en-US" b="1" dirty="0">
                          <a:solidFill>
                            <a:schemeClr val="accent6"/>
                          </a:solidFill>
                        </a:rPr>
                        <a:t>switch the processes</a:t>
                      </a:r>
                      <a:r>
                        <a:rPr lang="en-US" dirty="0"/>
                        <a:t>.</a:t>
                      </a:r>
                      <a:endParaRPr lang="en-US" sz="1800" dirty="0">
                        <a:solidFill>
                          <a:schemeClr val="tx1"/>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5"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1000339998"/>
              </p:ext>
            </p:extLst>
          </p:nvPr>
        </p:nvGraphicFramePr>
        <p:xfrm>
          <a:off x="1060695" y="3305934"/>
          <a:ext cx="8885915" cy="1737360"/>
        </p:xfrm>
        <a:graphic>
          <a:graphicData uri="http://schemas.openxmlformats.org/drawingml/2006/table">
            <a:tbl>
              <a:tblPr firstRow="1" bandRow="1">
                <a:tableStyleId>{8EC20E35-A176-4012-BC5E-935CFFF8708E}</a:tableStyleId>
              </a:tblPr>
              <a:tblGrid>
                <a:gridCol w="4453399">
                  <a:extLst>
                    <a:ext uri="{9D8B030D-6E8A-4147-A177-3AD203B41FA5}">
                      <a16:colId xmlns:a16="http://schemas.microsoft.com/office/drawing/2014/main" val="20000"/>
                    </a:ext>
                  </a:extLst>
                </a:gridCol>
                <a:gridCol w="4432516">
                  <a:extLst>
                    <a:ext uri="{9D8B030D-6E8A-4147-A177-3AD203B41FA5}">
                      <a16:colId xmlns:a16="http://schemas.microsoft.com/office/drawing/2014/main" val="20001"/>
                    </a:ext>
                  </a:extLst>
                </a:gridCol>
              </a:tblGrid>
              <a:tr h="830078">
                <a:tc>
                  <a:txBody>
                    <a:bodyPr/>
                    <a:lstStyle/>
                    <a:p>
                      <a:pPr algn="just"/>
                      <a:r>
                        <a:rPr lang="en-IN" sz="1800" b="0" baseline="0" dirty="0">
                          <a:solidFill>
                            <a:schemeClr val="tx1"/>
                          </a:solidFill>
                        </a:rPr>
                        <a:t>Scheduling take place when process switches from…</a:t>
                      </a:r>
                    </a:p>
                    <a:p>
                      <a:pPr marL="285750" indent="-285750" algn="just">
                        <a:buFont typeface="Arial" panose="020B0604020202020204" pitchFamily="34" charset="0"/>
                        <a:buChar char="•"/>
                      </a:pPr>
                      <a:r>
                        <a:rPr lang="en-IN" sz="1800" b="1" baseline="0" dirty="0">
                          <a:solidFill>
                            <a:schemeClr val="accent6"/>
                          </a:solidFill>
                        </a:rPr>
                        <a:t>Running to waiting state</a:t>
                      </a:r>
                    </a:p>
                    <a:p>
                      <a:pPr marL="285750" indent="-285750" algn="just">
                        <a:buFont typeface="Arial" panose="020B0604020202020204" pitchFamily="34" charset="0"/>
                        <a:buChar char="•"/>
                      </a:pPr>
                      <a:r>
                        <a:rPr lang="en-IN" sz="1800" b="1" baseline="0" dirty="0">
                          <a:solidFill>
                            <a:schemeClr val="accent6"/>
                          </a:solidFill>
                        </a:rPr>
                        <a:t>Running to terminated state</a:t>
                      </a:r>
                      <a:endParaRPr lang="en-US" sz="1800" b="1" baseline="0" dirty="0">
                        <a:solidFill>
                          <a:schemeClr val="accent6"/>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IN" sz="1800" b="0" baseline="0" dirty="0">
                          <a:solidFill>
                            <a:schemeClr val="tx1"/>
                          </a:solidFill>
                        </a:rPr>
                        <a:t>Scheduling take place when process switches from…</a:t>
                      </a:r>
                    </a:p>
                    <a:p>
                      <a:pPr marL="285750" indent="-285750" algn="just">
                        <a:buFont typeface="Arial" panose="020B0604020202020204" pitchFamily="34" charset="0"/>
                        <a:buChar char="•"/>
                      </a:pPr>
                      <a:r>
                        <a:rPr lang="en-IN" sz="1800" b="1" baseline="0" dirty="0">
                          <a:solidFill>
                            <a:schemeClr val="accent6"/>
                          </a:solidFill>
                        </a:rPr>
                        <a:t>Running to waiting state</a:t>
                      </a:r>
                    </a:p>
                    <a:p>
                      <a:pPr marL="285750" indent="-285750" algn="just">
                        <a:buFont typeface="Arial" panose="020B0604020202020204" pitchFamily="34" charset="0"/>
                        <a:buChar char="•"/>
                      </a:pPr>
                      <a:r>
                        <a:rPr lang="en-IN" sz="1800" b="1" baseline="0" dirty="0">
                          <a:solidFill>
                            <a:schemeClr val="accent6"/>
                          </a:solidFill>
                        </a:rPr>
                        <a:t>Running to terminated state</a:t>
                      </a:r>
                    </a:p>
                    <a:p>
                      <a:pPr marL="285750" indent="-285750" algn="just">
                        <a:buFont typeface="Arial" panose="020B0604020202020204" pitchFamily="34" charset="0"/>
                        <a:buChar char="•"/>
                      </a:pPr>
                      <a:r>
                        <a:rPr lang="en-IN" sz="1800" b="1" baseline="0" dirty="0">
                          <a:solidFill>
                            <a:schemeClr val="accent6"/>
                          </a:solidFill>
                        </a:rPr>
                        <a:t>Running to ready state</a:t>
                      </a:r>
                    </a:p>
                    <a:p>
                      <a:pPr marL="285750" indent="-285750" algn="just">
                        <a:buFont typeface="Arial" panose="020B0604020202020204" pitchFamily="34" charset="0"/>
                        <a:buChar char="•"/>
                      </a:pPr>
                      <a:r>
                        <a:rPr lang="en-IN" sz="1800" b="1" baseline="0" dirty="0">
                          <a:solidFill>
                            <a:schemeClr val="accent6"/>
                          </a:solidFill>
                        </a:rPr>
                        <a:t>Waiting to ready state</a:t>
                      </a:r>
                      <a:endParaRPr lang="en-US" sz="1800" b="1" baseline="0" dirty="0">
                        <a:solidFill>
                          <a:schemeClr val="accent6"/>
                        </a:solidFill>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6"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3447371779"/>
              </p:ext>
            </p:extLst>
          </p:nvPr>
        </p:nvGraphicFramePr>
        <p:xfrm>
          <a:off x="1060695" y="5043294"/>
          <a:ext cx="8885915" cy="417740"/>
        </p:xfrm>
        <a:graphic>
          <a:graphicData uri="http://schemas.openxmlformats.org/drawingml/2006/table">
            <a:tbl>
              <a:tblPr firstRow="1" bandRow="1">
                <a:tableStyleId>{8EC20E35-A176-4012-BC5E-935CFFF8708E}</a:tableStyleId>
              </a:tblPr>
              <a:tblGrid>
                <a:gridCol w="4453399">
                  <a:extLst>
                    <a:ext uri="{9D8B030D-6E8A-4147-A177-3AD203B41FA5}">
                      <a16:colId xmlns:a16="http://schemas.microsoft.com/office/drawing/2014/main" val="20000"/>
                    </a:ext>
                  </a:extLst>
                </a:gridCol>
                <a:gridCol w="4432516">
                  <a:extLst>
                    <a:ext uri="{9D8B030D-6E8A-4147-A177-3AD203B41FA5}">
                      <a16:colId xmlns:a16="http://schemas.microsoft.com/office/drawing/2014/main" val="20001"/>
                    </a:ext>
                  </a:extLst>
                </a:gridCol>
              </a:tblGrid>
              <a:tr h="417740">
                <a:tc>
                  <a:txBody>
                    <a:bodyPr/>
                    <a:lstStyle/>
                    <a:p>
                      <a:pPr algn="just"/>
                      <a:r>
                        <a:rPr lang="en-US" sz="1800" b="1" baseline="0" dirty="0">
                          <a:solidFill>
                            <a:schemeClr val="accent6"/>
                          </a:solidFill>
                        </a:rPr>
                        <a:t>Simple</a:t>
                      </a:r>
                      <a:r>
                        <a:rPr lang="en-US" sz="1800" b="0" baseline="0" dirty="0">
                          <a:solidFill>
                            <a:schemeClr val="tx1"/>
                          </a:solidFill>
                        </a:rPr>
                        <a:t>, but it’s </a:t>
                      </a:r>
                      <a:r>
                        <a:rPr lang="en-US" sz="1800" b="1" baseline="0" dirty="0">
                          <a:solidFill>
                            <a:schemeClr val="accent6"/>
                          </a:solidFill>
                        </a:rPr>
                        <a:t>Not Efficient</a:t>
                      </a:r>
                      <a:r>
                        <a:rPr lang="en-US" sz="1800" b="0" baseline="0" dirty="0">
                          <a:solidFill>
                            <a:schemeClr val="tx1"/>
                          </a:solidFill>
                        </a:rPr>
                        <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sz="1800" b="1" baseline="0" dirty="0">
                          <a:solidFill>
                            <a:schemeClr val="accent6"/>
                          </a:solidFill>
                        </a:rPr>
                        <a:t>Complex</a:t>
                      </a:r>
                      <a:r>
                        <a:rPr lang="en-US" sz="1800" b="0" baseline="0" dirty="0">
                          <a:solidFill>
                            <a:schemeClr val="tx1"/>
                          </a:solidFill>
                        </a:rPr>
                        <a:t> but </a:t>
                      </a:r>
                      <a:r>
                        <a:rPr lang="en-US" sz="1800" b="1" baseline="0" dirty="0">
                          <a:solidFill>
                            <a:schemeClr val="accent6"/>
                          </a:solidFill>
                        </a:rPr>
                        <a:t>Very Efficient</a:t>
                      </a:r>
                      <a:r>
                        <a:rPr lang="en-US" sz="1800" b="1" baseline="0" dirty="0">
                          <a:solidFill>
                            <a:srgbClr val="C00000"/>
                          </a:solidFill>
                        </a:rPr>
                        <a: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7"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3762077066"/>
              </p:ext>
            </p:extLst>
          </p:nvPr>
        </p:nvGraphicFramePr>
        <p:xfrm>
          <a:off x="1058116" y="5462311"/>
          <a:ext cx="8885915" cy="417740"/>
        </p:xfrm>
        <a:graphic>
          <a:graphicData uri="http://schemas.openxmlformats.org/drawingml/2006/table">
            <a:tbl>
              <a:tblPr firstRow="1" bandRow="1">
                <a:tableStyleId>{8EC20E35-A176-4012-BC5E-935CFFF8708E}</a:tableStyleId>
              </a:tblPr>
              <a:tblGrid>
                <a:gridCol w="4453399">
                  <a:extLst>
                    <a:ext uri="{9D8B030D-6E8A-4147-A177-3AD203B41FA5}">
                      <a16:colId xmlns:a16="http://schemas.microsoft.com/office/drawing/2014/main" val="20000"/>
                    </a:ext>
                  </a:extLst>
                </a:gridCol>
                <a:gridCol w="4432516">
                  <a:extLst>
                    <a:ext uri="{9D8B030D-6E8A-4147-A177-3AD203B41FA5}">
                      <a16:colId xmlns:a16="http://schemas.microsoft.com/office/drawing/2014/main" val="20001"/>
                    </a:ext>
                  </a:extLst>
                </a:gridCol>
              </a:tblGrid>
              <a:tr h="417740">
                <a:tc>
                  <a:txBody>
                    <a:bodyPr/>
                    <a:lstStyle/>
                    <a:p>
                      <a:pPr algn="l"/>
                      <a:r>
                        <a:rPr lang="en-US" sz="1800" b="1" baseline="0" dirty="0">
                          <a:solidFill>
                            <a:schemeClr val="accent6"/>
                          </a:solidFill>
                        </a:rPr>
                        <a:t>Slower</a:t>
                      </a:r>
                      <a:r>
                        <a:rPr lang="en-US" sz="1800" b="0" baseline="0" dirty="0">
                          <a:solidFill>
                            <a:schemeClr val="tx1"/>
                          </a:solidFill>
                        </a:rPr>
                        <a:t> response time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a:r>
                        <a:rPr lang="en-US" sz="1800" b="1" baseline="0" dirty="0">
                          <a:solidFill>
                            <a:schemeClr val="accent6"/>
                          </a:solidFill>
                        </a:rPr>
                        <a:t>Faster</a:t>
                      </a:r>
                      <a:r>
                        <a:rPr lang="en-US" sz="1800" b="0" baseline="0" dirty="0">
                          <a:solidFill>
                            <a:schemeClr val="tx1"/>
                          </a:solidFill>
                        </a:rPr>
                        <a:t> response time</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8" name="Content Placeholder 4">
            <a:extLst>
              <a:ext uri="{FF2B5EF4-FFF2-40B4-BE49-F238E27FC236}">
                <a16:creationId xmlns:a16="http://schemas.microsoft.com/office/drawing/2014/main" id="{28696FEC-0EFF-16AB-7E09-44E97FEA3A01}"/>
              </a:ext>
            </a:extLst>
          </p:cNvPr>
          <p:cNvGraphicFramePr>
            <a:graphicFrameLocks/>
          </p:cNvGraphicFramePr>
          <p:nvPr>
            <p:extLst>
              <p:ext uri="{D42A27DB-BD31-4B8C-83A1-F6EECF244321}">
                <p14:modId xmlns:p14="http://schemas.microsoft.com/office/powerpoint/2010/main" val="2626734714"/>
              </p:ext>
            </p:extLst>
          </p:nvPr>
        </p:nvGraphicFramePr>
        <p:xfrm>
          <a:off x="1058115" y="5882233"/>
          <a:ext cx="8885915" cy="417740"/>
        </p:xfrm>
        <a:graphic>
          <a:graphicData uri="http://schemas.openxmlformats.org/drawingml/2006/table">
            <a:tbl>
              <a:tblPr firstRow="1" bandRow="1">
                <a:tableStyleId>{8EC20E35-A176-4012-BC5E-935CFFF8708E}</a:tableStyleId>
              </a:tblPr>
              <a:tblGrid>
                <a:gridCol w="4453399">
                  <a:extLst>
                    <a:ext uri="{9D8B030D-6E8A-4147-A177-3AD203B41FA5}">
                      <a16:colId xmlns:a16="http://schemas.microsoft.com/office/drawing/2014/main" val="20000"/>
                    </a:ext>
                  </a:extLst>
                </a:gridCol>
                <a:gridCol w="4432516">
                  <a:extLst>
                    <a:ext uri="{9D8B030D-6E8A-4147-A177-3AD203B41FA5}">
                      <a16:colId xmlns:a16="http://schemas.microsoft.com/office/drawing/2014/main" val="20001"/>
                    </a:ext>
                  </a:extLst>
                </a:gridCol>
              </a:tblGrid>
              <a:tr h="417740">
                <a:tc>
                  <a:txBody>
                    <a:bodyPr/>
                    <a:lstStyle/>
                    <a:p>
                      <a:pPr algn="l"/>
                      <a:r>
                        <a:rPr lang="en-US" sz="1800" b="1" baseline="0" dirty="0">
                          <a:solidFill>
                            <a:schemeClr val="accent6"/>
                          </a:solidFill>
                        </a:rPr>
                        <a:t>Not need of </a:t>
                      </a:r>
                      <a:r>
                        <a:rPr lang="en-US" sz="1800" b="0" baseline="0" dirty="0">
                          <a:solidFill>
                            <a:schemeClr val="tx1"/>
                          </a:solidFill>
                        </a:rPr>
                        <a:t>any timer or clock interrupt.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just"/>
                      <a:r>
                        <a:rPr lang="en-US" sz="1800" b="1" baseline="0" dirty="0">
                          <a:solidFill>
                            <a:schemeClr val="accent6"/>
                          </a:solidFill>
                        </a:rPr>
                        <a:t>Need of </a:t>
                      </a:r>
                      <a:r>
                        <a:rPr lang="en-US" sz="1800" b="0" baseline="0" dirty="0">
                          <a:solidFill>
                            <a:schemeClr val="tx1"/>
                          </a:solidFill>
                        </a:rPr>
                        <a:t>any timer or clock interrupt.</a:t>
                      </a: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625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normAutofit/>
          </a:bodyPr>
          <a:lstStyle/>
          <a:p>
            <a:r>
              <a:rPr lang="en-US" dirty="0">
                <a:gradFill flip="none" rotWithShape="1">
                  <a:gsLst>
                    <a:gs pos="10000">
                      <a:srgbClr val="3E2622"/>
                    </a:gs>
                    <a:gs pos="100000">
                      <a:srgbClr val="795547"/>
                    </a:gs>
                  </a:gsLst>
                  <a:lin ang="0" scaled="1"/>
                  <a:tileRect/>
                </a:gradFill>
              </a:rPr>
              <a:t>Scheduling Algorithm</a:t>
            </a:r>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12</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7708" y="2690324"/>
            <a:ext cx="4470615" cy="2880482"/>
          </a:xfrm>
          <a:prstGeom prst="rect">
            <a:avLst/>
          </a:prstGeom>
        </p:spPr>
      </p:pic>
    </p:spTree>
    <p:extLst>
      <p:ext uri="{BB962C8B-B14F-4D97-AF65-F5344CB8AC3E}">
        <p14:creationId xmlns:p14="http://schemas.microsoft.com/office/powerpoint/2010/main" val="422851856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E5B16-0CB1-BAB6-3F25-5F273673515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11BCA140-EB51-493A-7F7D-F7242B46C346}"/>
              </a:ext>
            </a:extLst>
          </p:cNvPr>
          <p:cNvSpPr>
            <a:spLocks noGrp="1"/>
          </p:cNvSpPr>
          <p:nvPr>
            <p:ph type="title"/>
          </p:nvPr>
        </p:nvSpPr>
        <p:spPr>
          <a:xfrm>
            <a:off x="0" y="1"/>
            <a:ext cx="12192000" cy="711200"/>
          </a:xfrm>
        </p:spPr>
        <p:txBody>
          <a:bodyPr/>
          <a:lstStyle/>
          <a:p>
            <a:r>
              <a:rPr lang="en-IN" dirty="0"/>
              <a:t>Scheduling Algorithm</a:t>
            </a:r>
          </a:p>
        </p:txBody>
      </p:sp>
      <p:sp>
        <p:nvSpPr>
          <p:cNvPr id="9" name="Content Placeholder 7">
            <a:extLst>
              <a:ext uri="{FF2B5EF4-FFF2-40B4-BE49-F238E27FC236}">
                <a16:creationId xmlns:a16="http://schemas.microsoft.com/office/drawing/2014/main" id="{07415916-26D1-E6C3-8E01-7755B401F406}"/>
              </a:ext>
            </a:extLst>
          </p:cNvPr>
          <p:cNvSpPr>
            <a:spLocks noGrp="1"/>
          </p:cNvSpPr>
          <p:nvPr>
            <p:ph idx="1"/>
          </p:nvPr>
        </p:nvSpPr>
        <p:spPr>
          <a:xfrm>
            <a:off x="131181" y="875021"/>
            <a:ext cx="10002524" cy="5649046"/>
          </a:xfrm>
        </p:spPr>
        <p:txBody>
          <a:bodyPr/>
          <a:lstStyle/>
          <a:p>
            <a:r>
              <a:rPr lang="en-US" dirty="0"/>
              <a:t>Scheduling Algorithm is an algorithm which </a:t>
            </a:r>
            <a:r>
              <a:rPr lang="en-US" b="1" dirty="0">
                <a:solidFill>
                  <a:schemeClr val="accent6"/>
                </a:solidFill>
              </a:rPr>
              <a:t>process to run next </a:t>
            </a:r>
            <a:r>
              <a:rPr lang="en-US" dirty="0"/>
              <a:t>whenever more than one processes are </a:t>
            </a:r>
            <a:r>
              <a:rPr lang="en-US" b="1" dirty="0">
                <a:solidFill>
                  <a:schemeClr val="accent6"/>
                </a:solidFill>
              </a:rPr>
              <a:t>simultaneously</a:t>
            </a:r>
            <a:r>
              <a:rPr lang="en-US" dirty="0"/>
              <a:t> in</a:t>
            </a:r>
            <a:r>
              <a:rPr lang="en-US" b="1" dirty="0">
                <a:solidFill>
                  <a:schemeClr val="accent6"/>
                </a:solidFill>
              </a:rPr>
              <a:t> ready state</a:t>
            </a:r>
            <a:r>
              <a:rPr lang="en-US" dirty="0"/>
              <a:t>.</a:t>
            </a:r>
          </a:p>
        </p:txBody>
      </p:sp>
      <p:sp>
        <p:nvSpPr>
          <p:cNvPr id="10" name="Rectangle 9">
            <a:extLst>
              <a:ext uri="{FF2B5EF4-FFF2-40B4-BE49-F238E27FC236}">
                <a16:creationId xmlns:a16="http://schemas.microsoft.com/office/drawing/2014/main" id="{3AB2B101-534B-5F69-D787-7380E1FAA693}"/>
              </a:ext>
            </a:extLst>
          </p:cNvPr>
          <p:cNvSpPr/>
          <p:nvPr/>
        </p:nvSpPr>
        <p:spPr>
          <a:xfrm>
            <a:off x="4866002" y="4269584"/>
            <a:ext cx="1730328" cy="1151318"/>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Scheduling Algorithm</a:t>
            </a:r>
          </a:p>
        </p:txBody>
      </p:sp>
      <p:sp>
        <p:nvSpPr>
          <p:cNvPr id="11" name="Oval 10">
            <a:extLst>
              <a:ext uri="{FF2B5EF4-FFF2-40B4-BE49-F238E27FC236}">
                <a16:creationId xmlns:a16="http://schemas.microsoft.com/office/drawing/2014/main" id="{798D5309-F545-EDD3-78F1-A437089623AB}"/>
              </a:ext>
            </a:extLst>
          </p:cNvPr>
          <p:cNvSpPr/>
          <p:nvPr/>
        </p:nvSpPr>
        <p:spPr>
          <a:xfrm>
            <a:off x="8756761" y="2184612"/>
            <a:ext cx="1968004" cy="1432266"/>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First Come First Serve (FCFS)</a:t>
            </a:r>
          </a:p>
        </p:txBody>
      </p:sp>
      <p:sp>
        <p:nvSpPr>
          <p:cNvPr id="12" name="Oval 11">
            <a:extLst>
              <a:ext uri="{FF2B5EF4-FFF2-40B4-BE49-F238E27FC236}">
                <a16:creationId xmlns:a16="http://schemas.microsoft.com/office/drawing/2014/main" id="{7A03E2F6-0124-0FB8-464D-33F51C0292E7}"/>
              </a:ext>
            </a:extLst>
          </p:cNvPr>
          <p:cNvSpPr/>
          <p:nvPr/>
        </p:nvSpPr>
        <p:spPr>
          <a:xfrm>
            <a:off x="8766838" y="5034565"/>
            <a:ext cx="2183150" cy="1432266"/>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Shortest Job First (SJF)/(SPN)</a:t>
            </a:r>
          </a:p>
        </p:txBody>
      </p:sp>
      <p:sp>
        <p:nvSpPr>
          <p:cNvPr id="13" name="Oval 12">
            <a:extLst>
              <a:ext uri="{FF2B5EF4-FFF2-40B4-BE49-F238E27FC236}">
                <a16:creationId xmlns:a16="http://schemas.microsoft.com/office/drawing/2014/main" id="{BAD48443-5871-2B42-8CA7-FBE63A98F3A8}"/>
              </a:ext>
            </a:extLst>
          </p:cNvPr>
          <p:cNvSpPr/>
          <p:nvPr/>
        </p:nvSpPr>
        <p:spPr>
          <a:xfrm>
            <a:off x="724947" y="5022409"/>
            <a:ext cx="1968004" cy="1432266"/>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Round Robin (RR)</a:t>
            </a:r>
          </a:p>
        </p:txBody>
      </p:sp>
      <p:sp>
        <p:nvSpPr>
          <p:cNvPr id="14" name="Oval 13">
            <a:extLst>
              <a:ext uri="{FF2B5EF4-FFF2-40B4-BE49-F238E27FC236}">
                <a16:creationId xmlns:a16="http://schemas.microsoft.com/office/drawing/2014/main" id="{031E74DA-C028-BBB4-E2E3-1483D382AD38}"/>
              </a:ext>
            </a:extLst>
          </p:cNvPr>
          <p:cNvSpPr/>
          <p:nvPr/>
        </p:nvSpPr>
        <p:spPr>
          <a:xfrm>
            <a:off x="724947" y="2191808"/>
            <a:ext cx="1968004" cy="1432266"/>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Shortest Remaining Time Next (SRTN)</a:t>
            </a:r>
          </a:p>
        </p:txBody>
      </p:sp>
      <p:sp>
        <p:nvSpPr>
          <p:cNvPr id="15" name="Oval 14">
            <a:extLst>
              <a:ext uri="{FF2B5EF4-FFF2-40B4-BE49-F238E27FC236}">
                <a16:creationId xmlns:a16="http://schemas.microsoft.com/office/drawing/2014/main" id="{A5CAFF02-DFA4-A697-D23A-915D4B6056B8}"/>
              </a:ext>
            </a:extLst>
          </p:cNvPr>
          <p:cNvSpPr/>
          <p:nvPr/>
        </p:nvSpPr>
        <p:spPr>
          <a:xfrm>
            <a:off x="4791194" y="1668984"/>
            <a:ext cx="1879944" cy="1432266"/>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t>Priority Algorithm</a:t>
            </a:r>
          </a:p>
        </p:txBody>
      </p:sp>
      <p:cxnSp>
        <p:nvCxnSpPr>
          <p:cNvPr id="16" name="Straight Arrow Connector 15">
            <a:extLst>
              <a:ext uri="{FF2B5EF4-FFF2-40B4-BE49-F238E27FC236}">
                <a16:creationId xmlns:a16="http://schemas.microsoft.com/office/drawing/2014/main" id="{9C9FDEE2-BC86-E3BD-591D-50CE80F410A5}"/>
              </a:ext>
            </a:extLst>
          </p:cNvPr>
          <p:cNvCxnSpPr>
            <a:cxnSpLocks/>
            <a:stCxn id="10" idx="3"/>
            <a:endCxn id="11" idx="3"/>
          </p:cNvCxnSpPr>
          <p:nvPr/>
        </p:nvCxnSpPr>
        <p:spPr>
          <a:xfrm flipV="1">
            <a:off x="6596330" y="3407128"/>
            <a:ext cx="2448639" cy="143811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19583C2-BA11-2194-6C72-2CC66477DD5A}"/>
              </a:ext>
            </a:extLst>
          </p:cNvPr>
          <p:cNvCxnSpPr>
            <a:cxnSpLocks/>
            <a:stCxn id="10" idx="3"/>
            <a:endCxn id="12" idx="2"/>
          </p:cNvCxnSpPr>
          <p:nvPr/>
        </p:nvCxnSpPr>
        <p:spPr>
          <a:xfrm>
            <a:off x="6596330" y="4845243"/>
            <a:ext cx="2170508" cy="90545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3D49278-DB0D-C8BE-B540-E24649F013C4}"/>
              </a:ext>
            </a:extLst>
          </p:cNvPr>
          <p:cNvCxnSpPr>
            <a:cxnSpLocks/>
            <a:stCxn id="10" idx="1"/>
            <a:endCxn id="13" idx="6"/>
          </p:cNvCxnSpPr>
          <p:nvPr/>
        </p:nvCxnSpPr>
        <p:spPr>
          <a:xfrm flipH="1">
            <a:off x="2692951" y="4845243"/>
            <a:ext cx="2173051" cy="89329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4633908-EE47-6474-1796-7F7E2827BABB}"/>
              </a:ext>
            </a:extLst>
          </p:cNvPr>
          <p:cNvCxnSpPr>
            <a:cxnSpLocks/>
            <a:stCxn id="10" idx="1"/>
            <a:endCxn id="14" idx="5"/>
          </p:cNvCxnSpPr>
          <p:nvPr/>
        </p:nvCxnSpPr>
        <p:spPr>
          <a:xfrm flipH="1" flipV="1">
            <a:off x="2404743" y="3414324"/>
            <a:ext cx="2461259" cy="143091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FB55A70-0249-CE98-D7AF-788D4F22A207}"/>
              </a:ext>
            </a:extLst>
          </p:cNvPr>
          <p:cNvCxnSpPr>
            <a:cxnSpLocks/>
            <a:stCxn id="10" idx="0"/>
            <a:endCxn id="15" idx="4"/>
          </p:cNvCxnSpPr>
          <p:nvPr/>
        </p:nvCxnSpPr>
        <p:spPr>
          <a:xfrm flipV="1">
            <a:off x="5731166" y="3101250"/>
            <a:ext cx="0" cy="116833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635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22" presetClass="entr" presetSubtype="4"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down)">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2" presetID="22" presetClass="entr" presetSubtype="1"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up)">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22" presetClass="entr" presetSubtype="4"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wipe(down)">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childTnLst>
                                </p:cTn>
                              </p:par>
                              <p:par>
                                <p:cTn id="36" presetID="22" presetClass="entr" presetSubtype="2" fill="hold"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right)">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22" presetClass="entr" presetSubtype="4"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down)">
                                      <p:cBhvr>
                                        <p:cTn id="4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a:xfrm>
            <a:off x="766535" y="1736726"/>
            <a:ext cx="11549872" cy="2852737"/>
          </a:xfrm>
        </p:spPr>
        <p:txBody>
          <a:bodyPr/>
          <a:lstStyle/>
          <a:p>
            <a:pPr lvl="0"/>
            <a:r>
              <a:rPr lang="en-US" dirty="0">
                <a:gradFill flip="none" rotWithShape="1">
                  <a:gsLst>
                    <a:gs pos="10000">
                      <a:srgbClr val="3E2622"/>
                    </a:gs>
                    <a:gs pos="100000">
                      <a:srgbClr val="795547"/>
                    </a:gs>
                  </a:gsLst>
                  <a:lin ang="0" scaled="1"/>
                  <a:tileRect/>
                </a:gradFill>
              </a:rPr>
              <a:t>First Come, First Served (FCFS)</a:t>
            </a:r>
            <a:endParaRPr lang="en-US" dirty="0"/>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12.1</a:t>
            </a:r>
          </a:p>
        </p:txBody>
      </p:sp>
    </p:spTree>
    <p:extLst>
      <p:ext uri="{BB962C8B-B14F-4D97-AF65-F5344CB8AC3E}">
        <p14:creationId xmlns:p14="http://schemas.microsoft.com/office/powerpoint/2010/main" val="11550748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First Come, First Served</a:t>
            </a:r>
            <a:r>
              <a:rPr lang="en-IN" dirty="0"/>
              <a:t>(FCFS)</a:t>
            </a:r>
          </a:p>
        </p:txBody>
      </p:sp>
      <p:sp>
        <p:nvSpPr>
          <p:cNvPr id="3" name="Content Placeholder 2"/>
          <p:cNvSpPr>
            <a:spLocks noGrp="1"/>
          </p:cNvSpPr>
          <p:nvPr>
            <p:ph idx="1"/>
          </p:nvPr>
        </p:nvSpPr>
        <p:spPr/>
        <p:txBody>
          <a:bodyPr/>
          <a:lstStyle/>
          <a:p>
            <a:r>
              <a:rPr lang="en-US" b="1" dirty="0"/>
              <a:t>Selection criteria</a:t>
            </a:r>
          </a:p>
          <a:p>
            <a:pPr lvl="1"/>
            <a:r>
              <a:rPr lang="en-US" dirty="0"/>
              <a:t>The </a:t>
            </a:r>
            <a:r>
              <a:rPr lang="en-US" b="1" dirty="0">
                <a:solidFill>
                  <a:schemeClr val="accent6"/>
                </a:solidFill>
              </a:rPr>
              <a:t>process</a:t>
            </a:r>
            <a:r>
              <a:rPr lang="en-US" b="1" dirty="0">
                <a:solidFill>
                  <a:srgbClr val="C00000"/>
                </a:solidFill>
              </a:rPr>
              <a:t> </a:t>
            </a:r>
            <a:r>
              <a:rPr lang="en-US" dirty="0"/>
              <a:t>that </a:t>
            </a:r>
            <a:r>
              <a:rPr lang="en-US" b="1" dirty="0">
                <a:solidFill>
                  <a:schemeClr val="accent6"/>
                </a:solidFill>
              </a:rPr>
              <a:t>request first is served first</a:t>
            </a:r>
            <a:r>
              <a:rPr lang="en-US" dirty="0"/>
              <a:t>.</a:t>
            </a:r>
          </a:p>
          <a:p>
            <a:pPr lvl="1"/>
            <a:r>
              <a:rPr lang="en-US" dirty="0"/>
              <a:t>It means that </a:t>
            </a:r>
            <a:r>
              <a:rPr lang="en-US" b="1" dirty="0">
                <a:solidFill>
                  <a:schemeClr val="accent6"/>
                </a:solidFill>
              </a:rPr>
              <a:t>processes are served in the exact order of their arrival</a:t>
            </a:r>
            <a:r>
              <a:rPr lang="en-US" dirty="0"/>
              <a:t>.</a:t>
            </a:r>
          </a:p>
          <a:p>
            <a:pPr marL="457200" lvl="1" indent="0">
              <a:buNone/>
            </a:pPr>
            <a:endParaRPr lang="en-US" dirty="0"/>
          </a:p>
          <a:p>
            <a:pPr marL="457200" lvl="1" indent="0">
              <a:buNone/>
            </a:pPr>
            <a:endParaRPr lang="en-US" dirty="0"/>
          </a:p>
          <a:p>
            <a:pPr lvl="1"/>
            <a:endParaRPr lang="en-US" dirty="0"/>
          </a:p>
          <a:p>
            <a:pPr marL="457200" lvl="1" indent="0">
              <a:buNone/>
            </a:pPr>
            <a:endParaRPr lang="en-US" dirty="0"/>
          </a:p>
          <a:p>
            <a:endParaRPr lang="en-IN" dirty="0"/>
          </a:p>
        </p:txBody>
      </p:sp>
      <p:graphicFrame>
        <p:nvGraphicFramePr>
          <p:cNvPr id="7" name="Table 6"/>
          <p:cNvGraphicFramePr>
            <a:graphicFrameLocks noGrp="1"/>
          </p:cNvGraphicFramePr>
          <p:nvPr/>
        </p:nvGraphicFramePr>
        <p:xfrm>
          <a:off x="2848356" y="2313730"/>
          <a:ext cx="3837904" cy="682582"/>
        </p:xfrm>
        <a:graphic>
          <a:graphicData uri="http://schemas.openxmlformats.org/drawingml/2006/table">
            <a:tbl>
              <a:tblPr firstRow="1" bandRow="1">
                <a:tableStyleId>{8EC20E35-A176-4012-BC5E-935CFFF8708E}</a:tableStyleId>
              </a:tblPr>
              <a:tblGrid>
                <a:gridCol w="959476">
                  <a:extLst>
                    <a:ext uri="{9D8B030D-6E8A-4147-A177-3AD203B41FA5}">
                      <a16:colId xmlns:a16="http://schemas.microsoft.com/office/drawing/2014/main" val="20000"/>
                    </a:ext>
                  </a:extLst>
                </a:gridCol>
                <a:gridCol w="959476">
                  <a:extLst>
                    <a:ext uri="{9D8B030D-6E8A-4147-A177-3AD203B41FA5}">
                      <a16:colId xmlns:a16="http://schemas.microsoft.com/office/drawing/2014/main" val="20001"/>
                    </a:ext>
                  </a:extLst>
                </a:gridCol>
                <a:gridCol w="959476">
                  <a:extLst>
                    <a:ext uri="{9D8B030D-6E8A-4147-A177-3AD203B41FA5}">
                      <a16:colId xmlns:a16="http://schemas.microsoft.com/office/drawing/2014/main" val="20002"/>
                    </a:ext>
                  </a:extLst>
                </a:gridCol>
                <a:gridCol w="959476">
                  <a:extLst>
                    <a:ext uri="{9D8B030D-6E8A-4147-A177-3AD203B41FA5}">
                      <a16:colId xmlns:a16="http://schemas.microsoft.com/office/drawing/2014/main" val="20003"/>
                    </a:ext>
                  </a:extLst>
                </a:gridCol>
              </a:tblGrid>
              <a:tr h="682582">
                <a:tc>
                  <a:txBody>
                    <a:bodyPr/>
                    <a:lstStyle/>
                    <a:p>
                      <a:pPr algn="ctr"/>
                      <a:endParaRPr lang="en-IN"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IN"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8" name="TextBox 7"/>
          <p:cNvSpPr txBox="1"/>
          <p:nvPr/>
        </p:nvSpPr>
        <p:spPr>
          <a:xfrm>
            <a:off x="1651519" y="2442087"/>
            <a:ext cx="999584" cy="400110"/>
          </a:xfrm>
          <a:prstGeom prst="rect">
            <a:avLst/>
          </a:prstGeom>
          <a:noFill/>
        </p:spPr>
        <p:txBody>
          <a:bodyPr wrap="square" rtlCol="0">
            <a:spAutoFit/>
          </a:bodyPr>
          <a:lstStyle/>
          <a:p>
            <a:pPr algn="r"/>
            <a:r>
              <a:rPr lang="en-US" sz="2000" dirty="0"/>
              <a:t>Head</a:t>
            </a:r>
          </a:p>
        </p:txBody>
      </p:sp>
      <p:sp>
        <p:nvSpPr>
          <p:cNvPr id="9" name="TextBox 8"/>
          <p:cNvSpPr txBox="1"/>
          <p:nvPr/>
        </p:nvSpPr>
        <p:spPr>
          <a:xfrm>
            <a:off x="6963056" y="2442087"/>
            <a:ext cx="785811" cy="400110"/>
          </a:xfrm>
          <a:prstGeom prst="rect">
            <a:avLst/>
          </a:prstGeom>
          <a:noFill/>
        </p:spPr>
        <p:txBody>
          <a:bodyPr wrap="square" rtlCol="0">
            <a:spAutoFit/>
          </a:bodyPr>
          <a:lstStyle/>
          <a:p>
            <a:r>
              <a:rPr lang="en-US" sz="2000" dirty="0"/>
              <a:t>Tail</a:t>
            </a:r>
          </a:p>
        </p:txBody>
      </p:sp>
      <p:sp>
        <p:nvSpPr>
          <p:cNvPr id="15" name="TextBox 14"/>
          <p:cNvSpPr txBox="1"/>
          <p:nvPr/>
        </p:nvSpPr>
        <p:spPr>
          <a:xfrm>
            <a:off x="7943741" y="2442087"/>
            <a:ext cx="485775" cy="400110"/>
          </a:xfrm>
          <a:prstGeom prst="rect">
            <a:avLst/>
          </a:prstGeom>
          <a:noFill/>
        </p:spPr>
        <p:txBody>
          <a:bodyPr wrap="square" rtlCol="0">
            <a:spAutoFit/>
          </a:bodyPr>
          <a:lstStyle/>
          <a:p>
            <a:pPr algn="r"/>
            <a:r>
              <a:rPr lang="en-US" sz="2000" b="1" dirty="0">
                <a:solidFill>
                  <a:srgbClr val="FF0000"/>
                </a:solidFill>
              </a:rPr>
              <a:t>P1</a:t>
            </a:r>
          </a:p>
        </p:txBody>
      </p:sp>
      <p:graphicFrame>
        <p:nvGraphicFramePr>
          <p:cNvPr id="11" name="Table 10"/>
          <p:cNvGraphicFramePr>
            <a:graphicFrameLocks noGrp="1"/>
          </p:cNvGraphicFramePr>
          <p:nvPr/>
        </p:nvGraphicFramePr>
        <p:xfrm>
          <a:off x="2848356" y="3509484"/>
          <a:ext cx="3837904" cy="682582"/>
        </p:xfrm>
        <a:graphic>
          <a:graphicData uri="http://schemas.openxmlformats.org/drawingml/2006/table">
            <a:tbl>
              <a:tblPr firstRow="1" bandRow="1">
                <a:tableStyleId>{8EC20E35-A176-4012-BC5E-935CFFF8708E}</a:tableStyleId>
              </a:tblPr>
              <a:tblGrid>
                <a:gridCol w="959476">
                  <a:extLst>
                    <a:ext uri="{9D8B030D-6E8A-4147-A177-3AD203B41FA5}">
                      <a16:colId xmlns:a16="http://schemas.microsoft.com/office/drawing/2014/main" val="20000"/>
                    </a:ext>
                  </a:extLst>
                </a:gridCol>
                <a:gridCol w="959476">
                  <a:extLst>
                    <a:ext uri="{9D8B030D-6E8A-4147-A177-3AD203B41FA5}">
                      <a16:colId xmlns:a16="http://schemas.microsoft.com/office/drawing/2014/main" val="20001"/>
                    </a:ext>
                  </a:extLst>
                </a:gridCol>
                <a:gridCol w="959476">
                  <a:extLst>
                    <a:ext uri="{9D8B030D-6E8A-4147-A177-3AD203B41FA5}">
                      <a16:colId xmlns:a16="http://schemas.microsoft.com/office/drawing/2014/main" val="20002"/>
                    </a:ext>
                  </a:extLst>
                </a:gridCol>
                <a:gridCol w="959476">
                  <a:extLst>
                    <a:ext uri="{9D8B030D-6E8A-4147-A177-3AD203B41FA5}">
                      <a16:colId xmlns:a16="http://schemas.microsoft.com/office/drawing/2014/main" val="20003"/>
                    </a:ext>
                  </a:extLst>
                </a:gridCol>
              </a:tblGrid>
              <a:tr h="682582">
                <a:tc>
                  <a:txBody>
                    <a:bodyPr/>
                    <a:lstStyle/>
                    <a:p>
                      <a:pPr algn="ctr"/>
                      <a:endParaRPr lang="en-IN"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IN"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12" name="TextBox 11"/>
          <p:cNvSpPr txBox="1"/>
          <p:nvPr/>
        </p:nvSpPr>
        <p:spPr>
          <a:xfrm>
            <a:off x="1651519" y="3637841"/>
            <a:ext cx="999584" cy="400110"/>
          </a:xfrm>
          <a:prstGeom prst="rect">
            <a:avLst/>
          </a:prstGeom>
          <a:noFill/>
        </p:spPr>
        <p:txBody>
          <a:bodyPr wrap="square" rtlCol="0">
            <a:spAutoFit/>
          </a:bodyPr>
          <a:lstStyle/>
          <a:p>
            <a:pPr algn="r"/>
            <a:r>
              <a:rPr lang="en-US" sz="2000" dirty="0"/>
              <a:t>Head</a:t>
            </a:r>
          </a:p>
        </p:txBody>
      </p:sp>
      <p:sp>
        <p:nvSpPr>
          <p:cNvPr id="13" name="TextBox 12"/>
          <p:cNvSpPr txBox="1"/>
          <p:nvPr/>
        </p:nvSpPr>
        <p:spPr>
          <a:xfrm>
            <a:off x="6963056" y="3637841"/>
            <a:ext cx="785811" cy="400110"/>
          </a:xfrm>
          <a:prstGeom prst="rect">
            <a:avLst/>
          </a:prstGeom>
          <a:noFill/>
        </p:spPr>
        <p:txBody>
          <a:bodyPr wrap="square" rtlCol="0">
            <a:spAutoFit/>
          </a:bodyPr>
          <a:lstStyle/>
          <a:p>
            <a:r>
              <a:rPr lang="en-US" sz="2000" dirty="0"/>
              <a:t>Tail</a:t>
            </a:r>
          </a:p>
        </p:txBody>
      </p:sp>
      <p:sp>
        <p:nvSpPr>
          <p:cNvPr id="16" name="TextBox 15"/>
          <p:cNvSpPr txBox="1"/>
          <p:nvPr/>
        </p:nvSpPr>
        <p:spPr>
          <a:xfrm>
            <a:off x="8023644" y="3637841"/>
            <a:ext cx="485775" cy="400110"/>
          </a:xfrm>
          <a:prstGeom prst="rect">
            <a:avLst/>
          </a:prstGeom>
          <a:noFill/>
        </p:spPr>
        <p:txBody>
          <a:bodyPr wrap="square" rtlCol="0">
            <a:spAutoFit/>
          </a:bodyPr>
          <a:lstStyle/>
          <a:p>
            <a:pPr algn="r"/>
            <a:r>
              <a:rPr lang="en-US" sz="2000" b="1" dirty="0">
                <a:solidFill>
                  <a:srgbClr val="FF0000"/>
                </a:solidFill>
              </a:rPr>
              <a:t>P2</a:t>
            </a:r>
          </a:p>
        </p:txBody>
      </p:sp>
      <p:sp>
        <p:nvSpPr>
          <p:cNvPr id="17" name="TextBox 16"/>
          <p:cNvSpPr txBox="1"/>
          <p:nvPr/>
        </p:nvSpPr>
        <p:spPr>
          <a:xfrm>
            <a:off x="3018386" y="3637841"/>
            <a:ext cx="485775" cy="400110"/>
          </a:xfrm>
          <a:prstGeom prst="rect">
            <a:avLst/>
          </a:prstGeom>
          <a:noFill/>
        </p:spPr>
        <p:txBody>
          <a:bodyPr wrap="square" rtlCol="0">
            <a:spAutoFit/>
          </a:bodyPr>
          <a:lstStyle/>
          <a:p>
            <a:pPr algn="r"/>
            <a:r>
              <a:rPr lang="en-US" sz="2000" b="1" dirty="0">
                <a:solidFill>
                  <a:srgbClr val="FF0000"/>
                </a:solidFill>
              </a:rPr>
              <a:t>P1</a:t>
            </a:r>
          </a:p>
        </p:txBody>
      </p:sp>
      <p:graphicFrame>
        <p:nvGraphicFramePr>
          <p:cNvPr id="18" name="Table 17"/>
          <p:cNvGraphicFramePr>
            <a:graphicFrameLocks noGrp="1"/>
          </p:cNvGraphicFramePr>
          <p:nvPr/>
        </p:nvGraphicFramePr>
        <p:xfrm>
          <a:off x="2848356" y="4648967"/>
          <a:ext cx="3837904" cy="682582"/>
        </p:xfrm>
        <a:graphic>
          <a:graphicData uri="http://schemas.openxmlformats.org/drawingml/2006/table">
            <a:tbl>
              <a:tblPr firstRow="1" bandRow="1">
                <a:tableStyleId>{8EC20E35-A176-4012-BC5E-935CFFF8708E}</a:tableStyleId>
              </a:tblPr>
              <a:tblGrid>
                <a:gridCol w="959476">
                  <a:extLst>
                    <a:ext uri="{9D8B030D-6E8A-4147-A177-3AD203B41FA5}">
                      <a16:colId xmlns:a16="http://schemas.microsoft.com/office/drawing/2014/main" val="20000"/>
                    </a:ext>
                  </a:extLst>
                </a:gridCol>
                <a:gridCol w="959476">
                  <a:extLst>
                    <a:ext uri="{9D8B030D-6E8A-4147-A177-3AD203B41FA5}">
                      <a16:colId xmlns:a16="http://schemas.microsoft.com/office/drawing/2014/main" val="20001"/>
                    </a:ext>
                  </a:extLst>
                </a:gridCol>
                <a:gridCol w="959476">
                  <a:extLst>
                    <a:ext uri="{9D8B030D-6E8A-4147-A177-3AD203B41FA5}">
                      <a16:colId xmlns:a16="http://schemas.microsoft.com/office/drawing/2014/main" val="20002"/>
                    </a:ext>
                  </a:extLst>
                </a:gridCol>
                <a:gridCol w="959476">
                  <a:extLst>
                    <a:ext uri="{9D8B030D-6E8A-4147-A177-3AD203B41FA5}">
                      <a16:colId xmlns:a16="http://schemas.microsoft.com/office/drawing/2014/main" val="20003"/>
                    </a:ext>
                  </a:extLst>
                </a:gridCol>
              </a:tblGrid>
              <a:tr h="682582">
                <a:tc>
                  <a:txBody>
                    <a:bodyPr/>
                    <a:lstStyle/>
                    <a:p>
                      <a:pPr algn="ctr"/>
                      <a:endParaRPr lang="en-IN"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IN"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bl>
          </a:graphicData>
        </a:graphic>
      </p:graphicFrame>
      <p:sp>
        <p:nvSpPr>
          <p:cNvPr id="19" name="TextBox 18"/>
          <p:cNvSpPr txBox="1"/>
          <p:nvPr/>
        </p:nvSpPr>
        <p:spPr>
          <a:xfrm>
            <a:off x="1651519" y="4777324"/>
            <a:ext cx="999584" cy="400110"/>
          </a:xfrm>
          <a:prstGeom prst="rect">
            <a:avLst/>
          </a:prstGeom>
          <a:noFill/>
        </p:spPr>
        <p:txBody>
          <a:bodyPr wrap="square" rtlCol="0">
            <a:spAutoFit/>
          </a:bodyPr>
          <a:lstStyle/>
          <a:p>
            <a:pPr algn="r"/>
            <a:r>
              <a:rPr lang="en-US" sz="2000" dirty="0"/>
              <a:t>Head</a:t>
            </a:r>
          </a:p>
        </p:txBody>
      </p:sp>
      <p:sp>
        <p:nvSpPr>
          <p:cNvPr id="20" name="TextBox 19"/>
          <p:cNvSpPr txBox="1"/>
          <p:nvPr/>
        </p:nvSpPr>
        <p:spPr>
          <a:xfrm>
            <a:off x="6963056" y="4777324"/>
            <a:ext cx="785811" cy="400110"/>
          </a:xfrm>
          <a:prstGeom prst="rect">
            <a:avLst/>
          </a:prstGeom>
          <a:noFill/>
        </p:spPr>
        <p:txBody>
          <a:bodyPr wrap="square" rtlCol="0">
            <a:spAutoFit/>
          </a:bodyPr>
          <a:lstStyle/>
          <a:p>
            <a:r>
              <a:rPr lang="en-US" sz="2000" dirty="0"/>
              <a:t>Tail</a:t>
            </a:r>
          </a:p>
        </p:txBody>
      </p:sp>
      <p:sp>
        <p:nvSpPr>
          <p:cNvPr id="21" name="TextBox 20"/>
          <p:cNvSpPr txBox="1"/>
          <p:nvPr/>
        </p:nvSpPr>
        <p:spPr>
          <a:xfrm>
            <a:off x="7996276" y="4777324"/>
            <a:ext cx="485775" cy="400110"/>
          </a:xfrm>
          <a:prstGeom prst="rect">
            <a:avLst/>
          </a:prstGeom>
          <a:noFill/>
        </p:spPr>
        <p:txBody>
          <a:bodyPr wrap="square" rtlCol="0">
            <a:spAutoFit/>
          </a:bodyPr>
          <a:lstStyle/>
          <a:p>
            <a:pPr algn="r"/>
            <a:r>
              <a:rPr lang="en-US" sz="2000" b="1" dirty="0">
                <a:solidFill>
                  <a:srgbClr val="FF0000"/>
                </a:solidFill>
              </a:rPr>
              <a:t>P3</a:t>
            </a:r>
          </a:p>
        </p:txBody>
      </p:sp>
      <p:sp>
        <p:nvSpPr>
          <p:cNvPr id="22" name="TextBox 21"/>
          <p:cNvSpPr txBox="1"/>
          <p:nvPr/>
        </p:nvSpPr>
        <p:spPr>
          <a:xfrm>
            <a:off x="4029436" y="4777324"/>
            <a:ext cx="485776" cy="400110"/>
          </a:xfrm>
          <a:prstGeom prst="rect">
            <a:avLst/>
          </a:prstGeom>
          <a:noFill/>
        </p:spPr>
        <p:txBody>
          <a:bodyPr wrap="square" rtlCol="0">
            <a:spAutoFit/>
          </a:bodyPr>
          <a:lstStyle/>
          <a:p>
            <a:pPr algn="r"/>
            <a:r>
              <a:rPr lang="en-US" sz="2000" b="1" dirty="0">
                <a:solidFill>
                  <a:srgbClr val="FF0000"/>
                </a:solidFill>
              </a:rPr>
              <a:t>P2</a:t>
            </a:r>
          </a:p>
        </p:txBody>
      </p:sp>
      <p:sp>
        <p:nvSpPr>
          <p:cNvPr id="23" name="TextBox 22"/>
          <p:cNvSpPr txBox="1"/>
          <p:nvPr/>
        </p:nvSpPr>
        <p:spPr>
          <a:xfrm>
            <a:off x="3018386" y="4811826"/>
            <a:ext cx="485775" cy="400110"/>
          </a:xfrm>
          <a:prstGeom prst="rect">
            <a:avLst/>
          </a:prstGeom>
          <a:noFill/>
        </p:spPr>
        <p:txBody>
          <a:bodyPr wrap="square" rtlCol="0">
            <a:spAutoFit/>
          </a:bodyPr>
          <a:lstStyle/>
          <a:p>
            <a:pPr algn="r"/>
            <a:r>
              <a:rPr lang="en-US" sz="2000" b="1" dirty="0">
                <a:solidFill>
                  <a:srgbClr val="FF0000"/>
                </a:solidFill>
              </a:rPr>
              <a:t>P1</a:t>
            </a:r>
          </a:p>
        </p:txBody>
      </p:sp>
    </p:spTree>
    <p:extLst>
      <p:ext uri="{BB962C8B-B14F-4D97-AF65-F5344CB8AC3E}">
        <p14:creationId xmlns:p14="http://schemas.microsoft.com/office/powerpoint/2010/main" val="3081180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35" presetClass="path" presetSubtype="0" accel="50000" decel="50000" fill="hold" grpId="1" nodeType="withEffect">
                                  <p:stCondLst>
                                    <p:cond delay="0"/>
                                  </p:stCondLst>
                                  <p:childTnLst>
                                    <p:animMotion origin="layout" path="M -4.375E-6 0.0081 L -0.40117 0.00254 " pathEditMode="relative" rAng="0" ptsTypes="AA">
                                      <p:cBhvr>
                                        <p:cTn id="24" dur="2000" fill="hold"/>
                                        <p:tgtEl>
                                          <p:spTgt spid="15"/>
                                        </p:tgtEl>
                                        <p:attrNameLst>
                                          <p:attrName>ppt_x</p:attrName>
                                          <p:attrName>ppt_y</p:attrName>
                                        </p:attrNameLst>
                                      </p:cBhvr>
                                      <p:rCtr x="-20065" y="-278"/>
                                    </p:animMotion>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1000"/>
                                  </p:stCondLst>
                                  <p:childTnLst>
                                    <p:set>
                                      <p:cBhvr>
                                        <p:cTn id="39" dur="1" fill="hold">
                                          <p:stCondLst>
                                            <p:cond delay="0"/>
                                          </p:stCondLst>
                                        </p:cTn>
                                        <p:tgtEl>
                                          <p:spTgt spid="16"/>
                                        </p:tgtEl>
                                        <p:attrNameLst>
                                          <p:attrName>style.visibility</p:attrName>
                                        </p:attrNameLst>
                                      </p:cBhvr>
                                      <p:to>
                                        <p:strVal val="visible"/>
                                      </p:to>
                                    </p:set>
                                  </p:childTnLst>
                                </p:cTn>
                              </p:par>
                              <p:par>
                                <p:cTn id="40" presetID="35" presetClass="path" presetSubtype="0" accel="50000" decel="50000" fill="hold" grpId="1" nodeType="withEffect">
                                  <p:stCondLst>
                                    <p:cond delay="1000"/>
                                  </p:stCondLst>
                                  <p:childTnLst>
                                    <p:animMotion origin="layout" path="M -4.79167E-6 -2.22222E-6 L -0.32604 -2.22222E-6 " pathEditMode="relative" rAng="0" ptsTypes="AA">
                                      <p:cBhvr>
                                        <p:cTn id="41" dur="2000" fill="hold"/>
                                        <p:tgtEl>
                                          <p:spTgt spid="16"/>
                                        </p:tgtEl>
                                        <p:attrNameLst>
                                          <p:attrName>ppt_x</p:attrName>
                                          <p:attrName>ppt_y</p:attrName>
                                        </p:attrNameLst>
                                      </p:cBhvr>
                                      <p:rCtr x="-16302" y="0"/>
                                    </p:animMotion>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3"/>
                                        </p:tgtEl>
                                        <p:attrNameLst>
                                          <p:attrName>style.visibility</p:attrName>
                                        </p:attrNameLst>
                                      </p:cBhvr>
                                      <p:to>
                                        <p:strVal val="visible"/>
                                      </p:to>
                                    </p:set>
                                  </p:childTnLst>
                                </p:cTn>
                              </p:par>
                            </p:childTnLst>
                          </p:cTn>
                        </p:par>
                        <p:par>
                          <p:cTn id="54" fill="hold">
                            <p:stCondLst>
                              <p:cond delay="0"/>
                            </p:stCondLst>
                            <p:childTnLst>
                              <p:par>
                                <p:cTn id="55" presetID="1" presetClass="entr" presetSubtype="0" fill="hold" grpId="0" nodeType="afterEffect">
                                  <p:stCondLst>
                                    <p:cond delay="1000"/>
                                  </p:stCondLst>
                                  <p:childTnLst>
                                    <p:set>
                                      <p:cBhvr>
                                        <p:cTn id="56" dur="1" fill="hold">
                                          <p:stCondLst>
                                            <p:cond delay="0"/>
                                          </p:stCondLst>
                                        </p:cTn>
                                        <p:tgtEl>
                                          <p:spTgt spid="22"/>
                                        </p:tgtEl>
                                        <p:attrNameLst>
                                          <p:attrName>style.visibility</p:attrName>
                                        </p:attrNameLst>
                                      </p:cBhvr>
                                      <p:to>
                                        <p:strVal val="visible"/>
                                      </p:to>
                                    </p:set>
                                  </p:childTnLst>
                                </p:cTn>
                              </p:par>
                            </p:childTnLst>
                          </p:cTn>
                        </p:par>
                        <p:par>
                          <p:cTn id="57" fill="hold">
                            <p:stCondLst>
                              <p:cond delay="1000"/>
                            </p:stCondLst>
                            <p:childTnLst>
                              <p:par>
                                <p:cTn id="58" presetID="1" presetClass="entr" presetSubtype="0" fill="hold" grpId="0" nodeType="afterEffect">
                                  <p:stCondLst>
                                    <p:cond delay="1000"/>
                                  </p:stCondLst>
                                  <p:childTnLst>
                                    <p:set>
                                      <p:cBhvr>
                                        <p:cTn id="59" dur="1" fill="hold">
                                          <p:stCondLst>
                                            <p:cond delay="0"/>
                                          </p:stCondLst>
                                        </p:cTn>
                                        <p:tgtEl>
                                          <p:spTgt spid="21"/>
                                        </p:tgtEl>
                                        <p:attrNameLst>
                                          <p:attrName>style.visibility</p:attrName>
                                        </p:attrNameLst>
                                      </p:cBhvr>
                                      <p:to>
                                        <p:strVal val="visible"/>
                                      </p:to>
                                    </p:set>
                                  </p:childTnLst>
                                </p:cTn>
                              </p:par>
                              <p:par>
                                <p:cTn id="60" presetID="35" presetClass="path" presetSubtype="0" accel="50000" decel="50000" fill="hold" grpId="1" nodeType="withEffect">
                                  <p:stCondLst>
                                    <p:cond delay="1000"/>
                                  </p:stCondLst>
                                  <p:childTnLst>
                                    <p:animMotion origin="layout" path="M 0.00886 0.00232 L -0.247 0.00556 " pathEditMode="relative" rAng="0" ptsTypes="AA">
                                      <p:cBhvr>
                                        <p:cTn id="61" dur="2000" fill="hold"/>
                                        <p:tgtEl>
                                          <p:spTgt spid="21"/>
                                        </p:tgtEl>
                                        <p:attrNameLst>
                                          <p:attrName>ppt_x</p:attrName>
                                          <p:attrName>ppt_y</p:attrName>
                                        </p:attrNameLst>
                                      </p:cBhvr>
                                      <p:rCtr x="-12799" y="16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5" grpId="0"/>
      <p:bldP spid="15" grpId="1"/>
      <p:bldP spid="12" grpId="0"/>
      <p:bldP spid="13" grpId="0"/>
      <p:bldP spid="16" grpId="0"/>
      <p:bldP spid="16" grpId="1"/>
      <p:bldP spid="17" grpId="0"/>
      <p:bldP spid="19" grpId="0"/>
      <p:bldP spid="20" grpId="0"/>
      <p:bldP spid="21" grpId="0"/>
      <p:bldP spid="21" grpId="1"/>
      <p:bldP spid="22" grpId="0"/>
      <p:bldP spid="2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First Come, First Served</a:t>
            </a:r>
            <a:r>
              <a:rPr lang="en-IN" dirty="0"/>
              <a:t>(FCFS)</a:t>
            </a:r>
          </a:p>
        </p:txBody>
      </p:sp>
      <p:sp>
        <p:nvSpPr>
          <p:cNvPr id="3" name="Content Placeholder 2"/>
          <p:cNvSpPr>
            <a:spLocks noGrp="1"/>
          </p:cNvSpPr>
          <p:nvPr>
            <p:ph idx="1"/>
          </p:nvPr>
        </p:nvSpPr>
        <p:spPr/>
        <p:txBody>
          <a:bodyPr/>
          <a:lstStyle/>
          <a:p>
            <a:r>
              <a:rPr lang="en-US" b="1" dirty="0"/>
              <a:t>Decision Mode</a:t>
            </a:r>
          </a:p>
          <a:p>
            <a:pPr lvl="1">
              <a:buClr>
                <a:schemeClr val="tx1"/>
              </a:buClr>
            </a:pPr>
            <a:r>
              <a:rPr lang="en-US" b="1" dirty="0">
                <a:solidFill>
                  <a:schemeClr val="accent6"/>
                </a:solidFill>
              </a:rPr>
              <a:t>Non preemptive</a:t>
            </a:r>
            <a:r>
              <a:rPr lang="en-US" dirty="0"/>
              <a:t>: Once a process is selected, it runs until it is blocked for an I/O or some other event or it is terminated.</a:t>
            </a:r>
          </a:p>
          <a:p>
            <a:r>
              <a:rPr lang="en-US" b="1" dirty="0"/>
              <a:t>Implementation</a:t>
            </a:r>
          </a:p>
          <a:p>
            <a:pPr lvl="1"/>
            <a:r>
              <a:rPr lang="en-US" dirty="0"/>
              <a:t>This strategy can be </a:t>
            </a:r>
            <a:r>
              <a:rPr lang="en-US" b="1" dirty="0">
                <a:solidFill>
                  <a:schemeClr val="accent6"/>
                </a:solidFill>
              </a:rPr>
              <a:t>easily implemented </a:t>
            </a:r>
            <a:r>
              <a:rPr lang="en-US" dirty="0"/>
              <a:t>by using </a:t>
            </a:r>
            <a:r>
              <a:rPr lang="en-US" b="1" dirty="0">
                <a:solidFill>
                  <a:schemeClr val="accent6"/>
                </a:solidFill>
              </a:rPr>
              <a:t>FIFO</a:t>
            </a:r>
            <a:r>
              <a:rPr lang="en-US" dirty="0"/>
              <a:t> (First In First Out) queue. </a:t>
            </a:r>
          </a:p>
          <a:p>
            <a:pPr lvl="1"/>
            <a:r>
              <a:rPr lang="en-US" dirty="0"/>
              <a:t>When CPU becomes free, a process from the first position in a queue is selected to run.</a:t>
            </a:r>
          </a:p>
          <a:p>
            <a:endParaRPr lang="en-IN" dirty="0"/>
          </a:p>
        </p:txBody>
      </p:sp>
    </p:spTree>
    <p:extLst>
      <p:ext uri="{BB962C8B-B14F-4D97-AF65-F5344CB8AC3E}">
        <p14:creationId xmlns:p14="http://schemas.microsoft.com/office/powerpoint/2010/main" val="246399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Come, First Served</a:t>
            </a:r>
            <a:r>
              <a:rPr lang="en-IN" dirty="0"/>
              <a:t>(FCFS)</a:t>
            </a:r>
          </a:p>
        </p:txBody>
      </p:sp>
      <p:sp>
        <p:nvSpPr>
          <p:cNvPr id="3" name="Content Placeholder 2"/>
          <p:cNvSpPr>
            <a:spLocks noGrp="1"/>
          </p:cNvSpPr>
          <p:nvPr>
            <p:ph idx="1"/>
          </p:nvPr>
        </p:nvSpPr>
        <p:spPr/>
        <p:txBody>
          <a:bodyPr/>
          <a:lstStyle/>
          <a:p>
            <a:r>
              <a:rPr lang="en-US" b="1" dirty="0"/>
              <a:t>First Come, First Served </a:t>
            </a:r>
            <a:r>
              <a:rPr lang="en-IN" b="1" dirty="0"/>
              <a:t>Example</a:t>
            </a:r>
          </a:p>
          <a:p>
            <a:pPr lvl="1"/>
            <a:r>
              <a:rPr lang="en-US" dirty="0"/>
              <a:t>Consider the following set of four processes. Their arrival time and time required to complete the execution are given in following table. (Time value in milliseconds).</a:t>
            </a:r>
            <a:r>
              <a:rPr lang="en-IN" dirty="0"/>
              <a:t> Draw the Gantt chart and find Finish Time, Turn Around Time , Waiting Time , Average Turn Around Time, Average Waiting Time using FCFS algorithm.</a:t>
            </a:r>
            <a:endParaRPr lang="en-US" dirty="0"/>
          </a:p>
          <a:p>
            <a:pPr lvl="1"/>
            <a:endParaRPr lang="en-IN" b="1" dirty="0"/>
          </a:p>
          <a:p>
            <a:pPr lvl="1"/>
            <a:endParaRPr lang="en-IN" b="1"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3912119897"/>
                  </p:ext>
                </p:extLst>
              </p:nvPr>
            </p:nvGraphicFramePr>
            <p:xfrm>
              <a:off x="1025186" y="2415220"/>
              <a:ext cx="5788942" cy="2874036"/>
            </p:xfrm>
            <a:graphic>
              <a:graphicData uri="http://schemas.openxmlformats.org/drawingml/2006/table">
                <a:tbl>
                  <a:tblPr firstRow="1" bandRow="1">
                    <a:tableStyleId>{8EC20E35-A176-4012-BC5E-935CFFF8708E}</a:tableStyleId>
                  </a:tblPr>
                  <a:tblGrid>
                    <a:gridCol w="953036">
                      <a:extLst>
                        <a:ext uri="{9D8B030D-6E8A-4147-A177-3AD203B41FA5}">
                          <a16:colId xmlns:a16="http://schemas.microsoft.com/office/drawing/2014/main" val="20000"/>
                        </a:ext>
                      </a:extLst>
                    </a:gridCol>
                    <a:gridCol w="1423788">
                      <a:extLst>
                        <a:ext uri="{9D8B030D-6E8A-4147-A177-3AD203B41FA5}">
                          <a16:colId xmlns:a16="http://schemas.microsoft.com/office/drawing/2014/main" val="20001"/>
                        </a:ext>
                      </a:extLst>
                    </a:gridCol>
                    <a:gridCol w="341211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3912119897"/>
                  </p:ext>
                </p:extLst>
              </p:nvPr>
            </p:nvGraphicFramePr>
            <p:xfrm>
              <a:off x="1025186" y="2415220"/>
              <a:ext cx="5788942" cy="2874036"/>
            </p:xfrm>
            <a:graphic>
              <a:graphicData uri="http://schemas.openxmlformats.org/drawingml/2006/table">
                <a:tbl>
                  <a:tblPr firstRow="1" bandRow="1">
                    <a:tableStyleId>{8EC20E35-A176-4012-BC5E-935CFFF8708E}</a:tableStyleId>
                  </a:tblPr>
                  <a:tblGrid>
                    <a:gridCol w="953036">
                      <a:extLst>
                        <a:ext uri="{9D8B030D-6E8A-4147-A177-3AD203B41FA5}">
                          <a16:colId xmlns:a16="http://schemas.microsoft.com/office/drawing/2014/main" val="20000"/>
                        </a:ext>
                      </a:extLst>
                    </a:gridCol>
                    <a:gridCol w="1423788">
                      <a:extLst>
                        <a:ext uri="{9D8B030D-6E8A-4147-A177-3AD203B41FA5}">
                          <a16:colId xmlns:a16="http://schemas.microsoft.com/office/drawing/2014/main" val="20001"/>
                        </a:ext>
                      </a:extLst>
                    </a:gridCol>
                    <a:gridCol w="3412118">
                      <a:extLst>
                        <a:ext uri="{9D8B030D-6E8A-4147-A177-3AD203B41FA5}">
                          <a16:colId xmlns:a16="http://schemas.microsoft.com/office/drawing/2014/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67094" t="-3810" r="-239744" b="-354286"/>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2"/>
                          <a:stretch>
                            <a:fillRect l="-641" t="-118478" r="-509615" b="-304348"/>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2"/>
                          <a:stretch>
                            <a:fillRect l="-641" t="-218478" r="-509615" b="-204348"/>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2"/>
                          <a:stretch>
                            <a:fillRect l="-641" t="-321978" r="-509615" b="-106593"/>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2"/>
                          <a:stretch>
                            <a:fillRect l="-641" t="-417391" r="-50961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231815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First Come, First Served </a:t>
                </a:r>
                <a:r>
                  <a:rPr lang="en-IN" sz="2800" b="1" dirty="0"/>
                  <a:t>Example</a:t>
                </a:r>
              </a:p>
              <a:p>
                <a:pPr marL="342900" lvl="0" indent="-342900" algn="just">
                  <a:buFont typeface="Wingdings" panose="05000000000000000000" pitchFamily="2" charset="2"/>
                  <a:buChar char="Ø"/>
                </a:pPr>
                <a:endParaRPr lang="en-US" sz="2400" dirty="0"/>
              </a:p>
              <a:p>
                <a:pPr marL="342900" lvl="0" indent="-342900" algn="just">
                  <a:buFont typeface="Wingdings" panose="05000000000000000000" pitchFamily="2" charset="2"/>
                  <a:buChar char="ü"/>
                </a:pPr>
                <a:r>
                  <a:rPr lang="en-US" sz="2400" dirty="0"/>
                  <a:t>Initially only process </a:t>
                </a:r>
                <a14:m>
                  <m:oMath xmlns:m="http://schemas.openxmlformats.org/officeDocument/2006/math">
                    <m:sSub>
                      <m:sSubPr>
                        <m:ctrlPr>
                          <a:rPr lang="en-IN" sz="2400" i="1">
                            <a:latin typeface="Cambria Math" panose="02040503050406030204" pitchFamily="18" charset="0"/>
                          </a:rPr>
                        </m:ctrlPr>
                      </m:sSubPr>
                      <m:e>
                        <m:r>
                          <a:rPr lang="en-IN" sz="2400">
                            <a:latin typeface="Cambria Math" panose="02040503050406030204" pitchFamily="18" charset="0"/>
                          </a:rPr>
                          <m:t>𝑷</m:t>
                        </m:r>
                      </m:e>
                      <m:sub>
                        <m:r>
                          <a:rPr lang="en-IN" sz="2400">
                            <a:latin typeface="Cambria Math" panose="02040503050406030204" pitchFamily="18" charset="0"/>
                          </a:rPr>
                          <m:t>𝟎</m:t>
                        </m:r>
                      </m:sub>
                    </m:sSub>
                  </m:oMath>
                </a14:m>
                <a:r>
                  <a:rPr lang="en-US" sz="2400" dirty="0"/>
                  <a:t> is present and it is allowed to run. But, when </a:t>
                </a:r>
                <a14:m>
                  <m:oMath xmlns:m="http://schemas.openxmlformats.org/officeDocument/2006/math">
                    <m:sSub>
                      <m:sSubPr>
                        <m:ctrlPr>
                          <a:rPr lang="en-IN" sz="2400" i="1">
                            <a:latin typeface="Cambria Math" panose="02040503050406030204" pitchFamily="18" charset="0"/>
                          </a:rPr>
                        </m:ctrlPr>
                      </m:sSubPr>
                      <m:e>
                        <m:r>
                          <a:rPr lang="en-IN" sz="2400">
                            <a:latin typeface="Cambria Math" panose="02040503050406030204" pitchFamily="18" charset="0"/>
                          </a:rPr>
                          <m:t>𝑷</m:t>
                        </m:r>
                      </m:e>
                      <m:sub>
                        <m:r>
                          <a:rPr lang="en-IN" sz="2400">
                            <a:latin typeface="Cambria Math" panose="02040503050406030204" pitchFamily="18" charset="0"/>
                          </a:rPr>
                          <m:t>𝟎</m:t>
                        </m:r>
                      </m:sub>
                    </m:sSub>
                  </m:oMath>
                </a14:m>
                <a:r>
                  <a:rPr lang="en-US" sz="2400" dirty="0"/>
                  <a:t> completes, all the other processes are present. </a:t>
                </a:r>
                <a:endParaRPr lang="en-IN" sz="2400" dirty="0"/>
              </a:p>
              <a:p>
                <a:pPr marL="342900" lvl="0" indent="-342900" algn="just">
                  <a:buFont typeface="Wingdings" panose="05000000000000000000" pitchFamily="2" charset="2"/>
                  <a:buChar char="ü"/>
                </a:pPr>
                <a:r>
                  <a:rPr lang="en-US" sz="2400" dirty="0"/>
                  <a:t>So, next process (</a:t>
                </a:r>
                <a14:m>
                  <m:oMath xmlns:m="http://schemas.openxmlformats.org/officeDocument/2006/math">
                    <m:sSub>
                      <m:sSubPr>
                        <m:ctrlPr>
                          <a:rPr lang="en-IN" sz="2400" i="1">
                            <a:latin typeface="Cambria Math" panose="02040503050406030204" pitchFamily="18" charset="0"/>
                          </a:rPr>
                        </m:ctrlPr>
                      </m:sSubPr>
                      <m:e>
                        <m:r>
                          <a:rPr lang="en-IN" sz="2400">
                            <a:latin typeface="Cambria Math" panose="02040503050406030204" pitchFamily="18" charset="0"/>
                          </a:rPr>
                          <m:t>𝑷</m:t>
                        </m:r>
                      </m:e>
                      <m:sub>
                        <m:r>
                          <a:rPr lang="en-IN" sz="2400">
                            <a:latin typeface="Cambria Math" panose="02040503050406030204" pitchFamily="18" charset="0"/>
                          </a:rPr>
                          <m:t>𝟏</m:t>
                        </m:r>
                      </m:sub>
                    </m:sSub>
                  </m:oMath>
                </a14:m>
                <a:r>
                  <a:rPr lang="en-US" sz="2400" dirty="0"/>
                  <a:t>) from ready queue is selected and allowed to run till it completes. </a:t>
                </a:r>
              </a:p>
              <a:p>
                <a:pPr marL="342900" indent="-342900" algn="just">
                  <a:buFont typeface="Wingdings" panose="05000000000000000000" pitchFamily="2" charset="2"/>
                  <a:buChar char="ü"/>
                </a:pPr>
                <a:r>
                  <a:rPr lang="en-US" sz="2400" dirty="0"/>
                  <a:t>Then, next process (</a:t>
                </a:r>
                <a14:m>
                  <m:oMath xmlns:m="http://schemas.openxmlformats.org/officeDocument/2006/math">
                    <m:sSub>
                      <m:sSubPr>
                        <m:ctrlPr>
                          <a:rPr lang="en-IN" sz="2400" i="1">
                            <a:latin typeface="Cambria Math" panose="02040503050406030204" pitchFamily="18" charset="0"/>
                          </a:rPr>
                        </m:ctrlPr>
                      </m:sSubPr>
                      <m:e>
                        <m:r>
                          <a:rPr lang="en-IN" sz="2400">
                            <a:latin typeface="Cambria Math" panose="02040503050406030204" pitchFamily="18" charset="0"/>
                          </a:rPr>
                          <m:t>𝑷</m:t>
                        </m:r>
                      </m:e>
                      <m:sub>
                        <m:r>
                          <a:rPr lang="en-IN" sz="2400" b="0" i="1" smtClean="0">
                            <a:latin typeface="Cambria Math" panose="02040503050406030204" pitchFamily="18" charset="0"/>
                          </a:rPr>
                          <m:t>2</m:t>
                        </m:r>
                      </m:sub>
                    </m:sSub>
                  </m:oMath>
                </a14:m>
                <a:r>
                  <a:rPr lang="en-US" sz="2400" dirty="0"/>
                  <a:t>) from ready queue is selected and allowed to run till it completes. </a:t>
                </a:r>
                <a:endParaRPr lang="en-IN" sz="2400" dirty="0"/>
              </a:p>
              <a:p>
                <a:pPr marL="342900" lvl="0" indent="-342900" algn="just">
                  <a:buFont typeface="Wingdings" panose="05000000000000000000" pitchFamily="2" charset="2"/>
                  <a:buChar char="ü"/>
                </a:pPr>
                <a:r>
                  <a:rPr lang="en-US" sz="2400" dirty="0"/>
                  <a:t>This procedure is repeated till all processes complete their execution.</a:t>
                </a:r>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65420" y="773820"/>
              <a:ext cx="5739434" cy="2874036"/>
            </p:xfrm>
            <a:graphic>
              <a:graphicData uri="http://schemas.openxmlformats.org/drawingml/2006/table">
                <a:tbl>
                  <a:tblPr firstRow="1" bandRow="1">
                    <a:tableStyleId>{8EC20E35-A176-4012-BC5E-935CFFF8708E}</a:tableStyleId>
                  </a:tblPr>
                  <a:tblGrid>
                    <a:gridCol w="1028898">
                      <a:extLst>
                        <a:ext uri="{9D8B030D-6E8A-4147-A177-3AD203B41FA5}">
                          <a16:colId xmlns:a16="http://schemas.microsoft.com/office/drawing/2014/main" val="20000"/>
                        </a:ext>
                      </a:extLst>
                    </a:gridCol>
                    <a:gridCol w="1327599">
                      <a:extLst>
                        <a:ext uri="{9D8B030D-6E8A-4147-A177-3AD203B41FA5}">
                          <a16:colId xmlns:a16="http://schemas.microsoft.com/office/drawing/2014/main" val="20001"/>
                        </a:ext>
                      </a:extLst>
                    </a:gridCol>
                    <a:gridCol w="3382937">
                      <a:extLst>
                        <a:ext uri="{9D8B030D-6E8A-4147-A177-3AD203B41FA5}">
                          <a16:colId xmlns:a16="http://schemas.microsoft.com/office/drawing/2014/main" val="20002"/>
                        </a:ext>
                      </a:extLst>
                    </a:gridCol>
                  </a:tblGrid>
                  <a:tr h="301847">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165420" y="773820"/>
              <a:ext cx="5739434" cy="2874036"/>
            </p:xfrm>
            <a:graphic>
              <a:graphicData uri="http://schemas.openxmlformats.org/drawingml/2006/table">
                <a:tbl>
                  <a:tblPr firstRow="1" bandRow="1">
                    <a:tableStyleId>{8EC20E35-A176-4012-BC5E-935CFFF8708E}</a:tableStyleId>
                  </a:tblPr>
                  <a:tblGrid>
                    <a:gridCol w="1028898">
                      <a:extLst>
                        <a:ext uri="{9D8B030D-6E8A-4147-A177-3AD203B41FA5}">
                          <a16:colId xmlns:a16="http://schemas.microsoft.com/office/drawing/2014/main" xmlns="" xmlns:a14="http://schemas.microsoft.com/office/drawing/2010/main" val="20000"/>
                        </a:ext>
                      </a:extLst>
                    </a:gridCol>
                    <a:gridCol w="1327599">
                      <a:extLst>
                        <a:ext uri="{9D8B030D-6E8A-4147-A177-3AD203B41FA5}">
                          <a16:colId xmlns:a16="http://schemas.microsoft.com/office/drawing/2014/main" xmlns="" xmlns:a14="http://schemas.microsoft.com/office/drawing/2010/main" val="20001"/>
                        </a:ext>
                      </a:extLst>
                    </a:gridCol>
                    <a:gridCol w="3382937">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7982" t="-3810" r="-255046"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592" t="-118478" r="-457988"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592" t="-218478" r="-457988"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592" t="-318478" r="-457988"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592" t="-418478" r="-457988"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3" y="161239"/>
            <a:ext cx="3371108" cy="461665"/>
          </a:xfrm>
          <a:prstGeom prst="rect">
            <a:avLst/>
          </a:prstGeom>
          <a:noFill/>
        </p:spPr>
        <p:txBody>
          <a:bodyPr wrap="square" rtlCol="0">
            <a:spAutoFit/>
          </a:bodyPr>
          <a:lstStyle/>
          <a:p>
            <a:pPr>
              <a:buClr>
                <a:srgbClr val="C62827"/>
              </a:buClr>
              <a:buSzPct val="140000"/>
            </a:pPr>
            <a:r>
              <a:rPr lang="en-IN" sz="2400" b="1" dirty="0"/>
              <a:t>Example</a:t>
            </a:r>
          </a:p>
        </p:txBody>
      </p:sp>
      <p:sp>
        <p:nvSpPr>
          <p:cNvPr id="33" name="TextBox 32"/>
          <p:cNvSpPr txBox="1"/>
          <p:nvPr/>
        </p:nvSpPr>
        <p:spPr>
          <a:xfrm>
            <a:off x="95573" y="3935300"/>
            <a:ext cx="3022169" cy="461665"/>
          </a:xfrm>
          <a:prstGeom prst="rect">
            <a:avLst/>
          </a:prstGeom>
          <a:noFill/>
        </p:spPr>
        <p:txBody>
          <a:bodyPr wrap="square" rtlCol="0">
            <a:spAutoFit/>
          </a:bodyPr>
          <a:lstStyle/>
          <a:p>
            <a:r>
              <a:rPr lang="en-US" sz="2400" b="1" dirty="0"/>
              <a:t>Gantt Chart</a:t>
            </a:r>
          </a:p>
        </p:txBody>
      </p:sp>
      <mc:AlternateContent xmlns:mc="http://schemas.openxmlformats.org/markup-compatibility/2006" xmlns:a14="http://schemas.microsoft.com/office/drawing/2010/main">
        <mc:Choice Requires="a14">
          <p:sp>
            <p:nvSpPr>
              <p:cNvPr id="39" name="Rectangle 38"/>
              <p:cNvSpPr/>
              <p:nvPr/>
            </p:nvSpPr>
            <p:spPr>
              <a:xfrm>
                <a:off x="170481" y="4684410"/>
                <a:ext cx="22924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39" name="Rectangle 38"/>
              <p:cNvSpPr>
                <a:spLocks noRot="1" noChangeAspect="1" noMove="1" noResize="1" noEditPoints="1" noAdjustHandles="1" noChangeArrowheads="1" noChangeShapeType="1" noTextEdit="1"/>
              </p:cNvSpPr>
              <p:nvPr/>
            </p:nvSpPr>
            <p:spPr>
              <a:xfrm>
                <a:off x="170481" y="4684410"/>
                <a:ext cx="229244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2472107" y="4684410"/>
                <a:ext cx="1416676" cy="6553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1</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2472107" y="4684410"/>
                <a:ext cx="1416676" cy="655360"/>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3906881" y="4684410"/>
                <a:ext cx="502276"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2</m:t>
                          </m:r>
                        </m:sub>
                      </m:sSub>
                    </m:oMath>
                  </m:oMathPara>
                </a14:m>
                <a:endParaRPr lang="en-US" dirty="0"/>
              </a:p>
            </p:txBody>
          </p:sp>
        </mc:Choice>
        <mc:Fallback xmlns="">
          <p:sp>
            <p:nvSpPr>
              <p:cNvPr id="42" name="Rectangle 41"/>
              <p:cNvSpPr>
                <a:spLocks noRot="1" noChangeAspect="1" noMove="1" noResize="1" noEditPoints="1" noAdjustHandles="1" noChangeArrowheads="1" noChangeShapeType="1" noTextEdit="1"/>
              </p:cNvSpPr>
              <p:nvPr/>
            </p:nvSpPr>
            <p:spPr>
              <a:xfrm>
                <a:off x="3906881" y="4684410"/>
                <a:ext cx="502276" cy="655360"/>
              </a:xfrm>
              <a:prstGeom prst="rect">
                <a:avLst/>
              </a:prstGeom>
              <a:blipFill rotWithShape="0">
                <a:blip r:embed="rId6"/>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4418930" y="4684409"/>
                <a:ext cx="1094704"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3</m:t>
                          </m:r>
                        </m:sub>
                      </m:sSub>
                    </m:oMath>
                  </m:oMathPara>
                </a14:m>
                <a:endParaRPr lang="en-US" dirty="0"/>
              </a:p>
            </p:txBody>
          </p:sp>
        </mc:Choice>
        <mc:Fallback xmlns="">
          <p:sp>
            <p:nvSpPr>
              <p:cNvPr id="43" name="Rectangle 42"/>
              <p:cNvSpPr>
                <a:spLocks noRot="1" noChangeAspect="1" noMove="1" noResize="1" noEditPoints="1" noAdjustHandles="1" noChangeArrowheads="1" noChangeShapeType="1" noTextEdit="1"/>
              </p:cNvSpPr>
              <p:nvPr/>
            </p:nvSpPr>
            <p:spPr>
              <a:xfrm>
                <a:off x="4418930" y="4684409"/>
                <a:ext cx="1094704" cy="655360"/>
              </a:xfrm>
              <a:prstGeom prst="rect">
                <a:avLst/>
              </a:prstGeom>
              <a:blipFill rotWithShape="0">
                <a:blip r:embed="rId7"/>
                <a:stretch>
                  <a:fillRect/>
                </a:stretch>
              </a:blipFill>
              <a:ln w="38100">
                <a:solidFill>
                  <a:srgbClr val="4B302A"/>
                </a:solidFill>
              </a:ln>
            </p:spPr>
            <p:txBody>
              <a:bodyPr/>
              <a:lstStyle/>
              <a:p>
                <a:r>
                  <a:rPr lang="en-US">
                    <a:noFill/>
                  </a:rPr>
                  <a:t> </a:t>
                </a:r>
              </a:p>
            </p:txBody>
          </p:sp>
        </mc:Fallback>
      </mc:AlternateContent>
      <p:cxnSp>
        <p:nvCxnSpPr>
          <p:cNvPr id="44" name="Straight Connector 43"/>
          <p:cNvCxnSpPr/>
          <p:nvPr/>
        </p:nvCxnSpPr>
        <p:spPr>
          <a:xfrm flipH="1">
            <a:off x="165419" y="4684409"/>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9435" y="5340515"/>
            <a:ext cx="318448" cy="381000"/>
          </a:xfrm>
          <a:prstGeom prst="rect">
            <a:avLst/>
          </a:prstGeom>
          <a:noFill/>
        </p:spPr>
        <p:txBody>
          <a:bodyPr wrap="square" rtlCol="0">
            <a:spAutoFit/>
          </a:bodyPr>
          <a:lstStyle/>
          <a:p>
            <a:r>
              <a:rPr lang="en-US" dirty="0"/>
              <a:t>0</a:t>
            </a:r>
          </a:p>
        </p:txBody>
      </p:sp>
      <p:sp>
        <p:nvSpPr>
          <p:cNvPr id="46" name="TextBox 45"/>
          <p:cNvSpPr txBox="1"/>
          <p:nvPr/>
        </p:nvSpPr>
        <p:spPr>
          <a:xfrm>
            <a:off x="2253239" y="5352183"/>
            <a:ext cx="437735" cy="369332"/>
          </a:xfrm>
          <a:prstGeom prst="rect">
            <a:avLst/>
          </a:prstGeom>
          <a:noFill/>
        </p:spPr>
        <p:txBody>
          <a:bodyPr wrap="square" rtlCol="0">
            <a:spAutoFit/>
          </a:bodyPr>
          <a:lstStyle/>
          <a:p>
            <a:r>
              <a:rPr lang="en-US" dirty="0"/>
              <a:t>10</a:t>
            </a:r>
          </a:p>
        </p:txBody>
      </p:sp>
      <p:sp>
        <p:nvSpPr>
          <p:cNvPr id="47" name="TextBox 46"/>
          <p:cNvSpPr txBox="1"/>
          <p:nvPr/>
        </p:nvSpPr>
        <p:spPr>
          <a:xfrm>
            <a:off x="3669915" y="5352183"/>
            <a:ext cx="437735" cy="369332"/>
          </a:xfrm>
          <a:prstGeom prst="rect">
            <a:avLst/>
          </a:prstGeom>
          <a:noFill/>
        </p:spPr>
        <p:txBody>
          <a:bodyPr wrap="square" rtlCol="0">
            <a:spAutoFit/>
          </a:bodyPr>
          <a:lstStyle/>
          <a:p>
            <a:r>
              <a:rPr lang="en-US" dirty="0"/>
              <a:t>16</a:t>
            </a:r>
          </a:p>
        </p:txBody>
      </p:sp>
      <p:sp>
        <p:nvSpPr>
          <p:cNvPr id="48" name="TextBox 47"/>
          <p:cNvSpPr txBox="1"/>
          <p:nvPr/>
        </p:nvSpPr>
        <p:spPr>
          <a:xfrm>
            <a:off x="4211662" y="5352183"/>
            <a:ext cx="593442" cy="369332"/>
          </a:xfrm>
          <a:prstGeom prst="rect">
            <a:avLst/>
          </a:prstGeom>
          <a:noFill/>
        </p:spPr>
        <p:txBody>
          <a:bodyPr wrap="square" rtlCol="0">
            <a:spAutoFit/>
          </a:bodyPr>
          <a:lstStyle/>
          <a:p>
            <a:r>
              <a:rPr lang="en-US" dirty="0"/>
              <a:t>18</a:t>
            </a:r>
          </a:p>
        </p:txBody>
      </p:sp>
      <p:sp>
        <p:nvSpPr>
          <p:cNvPr id="49" name="TextBox 48"/>
          <p:cNvSpPr txBox="1"/>
          <p:nvPr/>
        </p:nvSpPr>
        <p:spPr>
          <a:xfrm>
            <a:off x="5289113" y="5339768"/>
            <a:ext cx="448784" cy="369332"/>
          </a:xfrm>
          <a:prstGeom prst="rect">
            <a:avLst/>
          </a:prstGeom>
          <a:noFill/>
        </p:spPr>
        <p:txBody>
          <a:bodyPr wrap="square" rtlCol="0">
            <a:spAutoFit/>
          </a:bodyPr>
          <a:lstStyle/>
          <a:p>
            <a:r>
              <a:rPr lang="en-US" dirty="0"/>
              <a:t>22</a:t>
            </a:r>
          </a:p>
        </p:txBody>
      </p:sp>
    </p:spTree>
    <p:extLst>
      <p:ext uri="{BB962C8B-B14F-4D97-AF65-F5344CB8AC3E}">
        <p14:creationId xmlns:p14="http://schemas.microsoft.com/office/powerpoint/2010/main" val="61366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2" grpId="0" animBg="1"/>
      <p:bldP spid="43" grpId="0" animBg="1"/>
      <p:bldP spid="45" grpId="0"/>
      <p:bldP spid="46" grpId="0"/>
      <p:bldP spid="47" grpId="0"/>
      <p:bldP spid="48" grpId="0"/>
      <p:bldP spid="4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Come, First Served</a:t>
            </a:r>
            <a:r>
              <a:rPr lang="en-IN" dirty="0"/>
              <a:t>(FCFS)</a:t>
            </a:r>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US"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1014593" y="4337714"/>
                <a:ext cx="22924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i="1" dirty="0">
                              <a:latin typeface="Cambria Math" panose="02040503050406030204" pitchFamily="18" charset="0"/>
                            </a:rPr>
                            <m:t>𝑃</m:t>
                          </m:r>
                        </m:e>
                        <m:sub>
                          <m:r>
                            <a:rPr lang="en-IN" b="0" i="1" dirty="0" smtClean="0">
                              <a:latin typeface="Cambria Math" panose="02040503050406030204" pitchFamily="18" charset="0"/>
                            </a:rPr>
                            <m:t>0</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014593" y="4337714"/>
                <a:ext cx="229244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3307033" y="4337714"/>
                <a:ext cx="1416676" cy="6553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IN" i="1" dirty="0">
                              <a:latin typeface="Cambria Math" panose="02040503050406030204" pitchFamily="18" charset="0"/>
                            </a:rPr>
                            <m:t>𝑃</m:t>
                          </m:r>
                        </m:e>
                        <m:sub>
                          <m:r>
                            <a:rPr lang="en-IN" i="1" dirty="0">
                              <a:latin typeface="Cambria Math" panose="02040503050406030204" pitchFamily="18" charset="0"/>
                            </a:rPr>
                            <m:t>1</m:t>
                          </m:r>
                        </m:sub>
                      </m:sSub>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3307033" y="4337714"/>
                <a:ext cx="1416676" cy="655360"/>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4723709" y="4337714"/>
                <a:ext cx="502276"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i="1" dirty="0">
                              <a:latin typeface="Cambria Math" panose="02040503050406030204" pitchFamily="18" charset="0"/>
                            </a:rPr>
                            <m:t>𝑃</m:t>
                          </m:r>
                        </m:e>
                        <m:sub>
                          <m:r>
                            <a:rPr lang="en-IN" b="0" i="1" dirty="0" smtClean="0">
                              <a:latin typeface="Cambria Math" panose="02040503050406030204" pitchFamily="18" charset="0"/>
                            </a:rPr>
                            <m:t>2</m:t>
                          </m:r>
                        </m:sub>
                      </m:sSub>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4723709" y="4337714"/>
                <a:ext cx="502276" cy="655360"/>
              </a:xfrm>
              <a:prstGeom prst="rect">
                <a:avLst/>
              </a:prstGeom>
              <a:blipFill rotWithShape="0">
                <a:blip r:embed="rId5"/>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5225985" y="4337713"/>
                <a:ext cx="1094704"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i="1" dirty="0">
                              <a:latin typeface="Cambria Math" panose="02040503050406030204" pitchFamily="18" charset="0"/>
                            </a:rPr>
                            <m:t>𝑃</m:t>
                          </m:r>
                        </m:e>
                        <m:sub>
                          <m:r>
                            <a:rPr lang="en-IN" b="0" i="1" dirty="0" smtClean="0">
                              <a:latin typeface="Cambria Math" panose="02040503050406030204" pitchFamily="18" charset="0"/>
                            </a:rPr>
                            <m:t>3</m:t>
                          </m:r>
                        </m:sub>
                      </m:sSub>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5225985" y="4337713"/>
                <a:ext cx="1094704" cy="655360"/>
              </a:xfrm>
              <a:prstGeom prst="rect">
                <a:avLst/>
              </a:prstGeom>
              <a:blipFill rotWithShape="0">
                <a:blip r:embed="rId6"/>
                <a:stretch>
                  <a:fillRect/>
                </a:stretch>
              </a:blipFill>
              <a:ln w="38100">
                <a:solidFill>
                  <a:srgbClr val="4B302A"/>
                </a:solidFill>
              </a:ln>
            </p:spPr>
            <p:txBody>
              <a:bodyPr/>
              <a:lstStyle/>
              <a:p>
                <a:r>
                  <a:rPr lang="en-US">
                    <a:noFill/>
                  </a:rPr>
                  <a:t> </a:t>
                </a:r>
              </a:p>
            </p:txBody>
          </p:sp>
        </mc:Fallback>
      </mc:AlternateContent>
      <p:sp>
        <p:nvSpPr>
          <p:cNvPr id="9" name="TextBox 8"/>
          <p:cNvSpPr txBox="1"/>
          <p:nvPr/>
        </p:nvSpPr>
        <p:spPr>
          <a:xfrm>
            <a:off x="855369" y="4993073"/>
            <a:ext cx="318448" cy="381000"/>
          </a:xfrm>
          <a:prstGeom prst="rect">
            <a:avLst/>
          </a:prstGeom>
          <a:noFill/>
        </p:spPr>
        <p:txBody>
          <a:bodyPr wrap="square" rtlCol="0">
            <a:spAutoFit/>
          </a:bodyPr>
          <a:lstStyle/>
          <a:p>
            <a:r>
              <a:rPr lang="en-US" dirty="0"/>
              <a:t>0</a:t>
            </a:r>
          </a:p>
        </p:txBody>
      </p:sp>
      <p:sp>
        <p:nvSpPr>
          <p:cNvPr id="10" name="TextBox 9"/>
          <p:cNvSpPr txBox="1"/>
          <p:nvPr/>
        </p:nvSpPr>
        <p:spPr>
          <a:xfrm>
            <a:off x="3088165" y="5004741"/>
            <a:ext cx="437735" cy="369332"/>
          </a:xfrm>
          <a:prstGeom prst="rect">
            <a:avLst/>
          </a:prstGeom>
          <a:noFill/>
        </p:spPr>
        <p:txBody>
          <a:bodyPr wrap="square" rtlCol="0">
            <a:spAutoFit/>
          </a:bodyPr>
          <a:lstStyle/>
          <a:p>
            <a:r>
              <a:rPr lang="en-US" dirty="0"/>
              <a:t>10</a:t>
            </a:r>
          </a:p>
        </p:txBody>
      </p:sp>
      <p:sp>
        <p:nvSpPr>
          <p:cNvPr id="11" name="TextBox 10"/>
          <p:cNvSpPr txBox="1"/>
          <p:nvPr/>
        </p:nvSpPr>
        <p:spPr>
          <a:xfrm>
            <a:off x="4518341" y="4973745"/>
            <a:ext cx="437735" cy="369332"/>
          </a:xfrm>
          <a:prstGeom prst="rect">
            <a:avLst/>
          </a:prstGeom>
          <a:noFill/>
        </p:spPr>
        <p:txBody>
          <a:bodyPr wrap="square" rtlCol="0">
            <a:spAutoFit/>
          </a:bodyPr>
          <a:lstStyle/>
          <a:p>
            <a:r>
              <a:rPr lang="en-US" dirty="0"/>
              <a:t>16</a:t>
            </a:r>
          </a:p>
        </p:txBody>
      </p:sp>
      <p:sp>
        <p:nvSpPr>
          <p:cNvPr id="12" name="TextBox 11"/>
          <p:cNvSpPr txBox="1"/>
          <p:nvPr/>
        </p:nvSpPr>
        <p:spPr>
          <a:xfrm>
            <a:off x="5008900" y="4958247"/>
            <a:ext cx="593442" cy="369332"/>
          </a:xfrm>
          <a:prstGeom prst="rect">
            <a:avLst/>
          </a:prstGeom>
          <a:noFill/>
        </p:spPr>
        <p:txBody>
          <a:bodyPr wrap="square" rtlCol="0">
            <a:spAutoFit/>
          </a:bodyPr>
          <a:lstStyle/>
          <a:p>
            <a:r>
              <a:rPr lang="en-US" dirty="0"/>
              <a:t>18</a:t>
            </a:r>
          </a:p>
        </p:txBody>
      </p:sp>
      <p:sp>
        <p:nvSpPr>
          <p:cNvPr id="13" name="TextBox 12"/>
          <p:cNvSpPr txBox="1"/>
          <p:nvPr/>
        </p:nvSpPr>
        <p:spPr>
          <a:xfrm>
            <a:off x="6129264" y="4973745"/>
            <a:ext cx="448784" cy="369332"/>
          </a:xfrm>
          <a:prstGeom prst="rect">
            <a:avLst/>
          </a:prstGeom>
          <a:noFill/>
        </p:spPr>
        <p:txBody>
          <a:bodyPr wrap="square" rtlCol="0">
            <a:spAutoFit/>
          </a:bodyPr>
          <a:lstStyle/>
          <a:p>
            <a:r>
              <a:rPr lang="en-US" dirty="0"/>
              <a:t>22</a:t>
            </a:r>
          </a:p>
        </p:txBody>
      </p:sp>
      <p:cxnSp>
        <p:nvCxnSpPr>
          <p:cNvPr id="14" name="Straight Connector 13"/>
          <p:cNvCxnSpPr/>
          <p:nvPr/>
        </p:nvCxnSpPr>
        <p:spPr>
          <a:xfrm flipH="1">
            <a:off x="1014593" y="4353205"/>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7"/>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8"/>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33606330"/>
              </p:ext>
            </p:extLst>
          </p:nvPr>
        </p:nvGraphicFramePr>
        <p:xfrm>
          <a:off x="7706840" y="3163609"/>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3" name="TextBox 2"/>
          <p:cNvSpPr txBox="1"/>
          <p:nvPr/>
        </p:nvSpPr>
        <p:spPr>
          <a:xfrm>
            <a:off x="6320689" y="1472339"/>
            <a:ext cx="1381969" cy="542441"/>
          </a:xfrm>
          <a:prstGeom prst="rect">
            <a:avLst/>
          </a:prstGeom>
          <a:noFill/>
          <a:ln w="57150">
            <a:solidFill>
              <a:srgbClr val="FF0000"/>
            </a:solidFill>
          </a:ln>
        </p:spPr>
        <p:txBody>
          <a:bodyPr wrap="square" rtlCol="0">
            <a:spAutoFit/>
          </a:bodyPr>
          <a:lstStyle/>
          <a:p>
            <a:endParaRPr lang="en-IN" dirty="0"/>
          </a:p>
        </p:txBody>
      </p:sp>
      <p:sp>
        <p:nvSpPr>
          <p:cNvPr id="43" name="TextBox 42"/>
          <p:cNvSpPr txBox="1"/>
          <p:nvPr/>
        </p:nvSpPr>
        <p:spPr>
          <a:xfrm>
            <a:off x="1252410" y="1472339"/>
            <a:ext cx="1490790" cy="542441"/>
          </a:xfrm>
          <a:prstGeom prst="rect">
            <a:avLst/>
          </a:prstGeom>
          <a:noFill/>
          <a:ln w="57150">
            <a:solidFill>
              <a:srgbClr val="FF0000"/>
            </a:solidFill>
          </a:ln>
        </p:spPr>
        <p:txBody>
          <a:bodyPr wrap="square" rtlCol="0">
            <a:spAutoFit/>
          </a:bodyPr>
          <a:lstStyle/>
          <a:p>
            <a:endParaRPr lang="en-IN" dirty="0"/>
          </a:p>
        </p:txBody>
      </p:sp>
      <p:sp>
        <p:nvSpPr>
          <p:cNvPr id="44" name="TextBox 43"/>
          <p:cNvSpPr txBox="1"/>
          <p:nvPr/>
        </p:nvSpPr>
        <p:spPr>
          <a:xfrm>
            <a:off x="6317221" y="2014780"/>
            <a:ext cx="1381969" cy="542441"/>
          </a:xfrm>
          <a:prstGeom prst="rect">
            <a:avLst/>
          </a:prstGeom>
          <a:noFill/>
          <a:ln w="57150">
            <a:solidFill>
              <a:srgbClr val="FF0000"/>
            </a:solidFill>
          </a:ln>
        </p:spPr>
        <p:txBody>
          <a:bodyPr wrap="square" rtlCol="0">
            <a:spAutoFit/>
          </a:bodyPr>
          <a:lstStyle/>
          <a:p>
            <a:endParaRPr lang="en-IN" dirty="0"/>
          </a:p>
        </p:txBody>
      </p:sp>
      <p:sp>
        <p:nvSpPr>
          <p:cNvPr id="45" name="TextBox 44"/>
          <p:cNvSpPr txBox="1"/>
          <p:nvPr/>
        </p:nvSpPr>
        <p:spPr>
          <a:xfrm>
            <a:off x="1252410" y="2014779"/>
            <a:ext cx="1490790" cy="542441"/>
          </a:xfrm>
          <a:prstGeom prst="rect">
            <a:avLst/>
          </a:prstGeom>
          <a:noFill/>
          <a:ln w="57150">
            <a:solidFill>
              <a:srgbClr val="FF0000"/>
            </a:solidFill>
          </a:ln>
        </p:spPr>
        <p:txBody>
          <a:bodyPr wrap="square" rtlCol="0">
            <a:spAutoFit/>
          </a:bodyPr>
          <a:lstStyle/>
          <a:p>
            <a:endParaRPr lang="en-IN" dirty="0"/>
          </a:p>
        </p:txBody>
      </p:sp>
      <p:sp>
        <p:nvSpPr>
          <p:cNvPr id="46" name="TextBox 45"/>
          <p:cNvSpPr txBox="1"/>
          <p:nvPr/>
        </p:nvSpPr>
        <p:spPr>
          <a:xfrm>
            <a:off x="6332718" y="2592853"/>
            <a:ext cx="1381969" cy="542441"/>
          </a:xfrm>
          <a:prstGeom prst="rect">
            <a:avLst/>
          </a:prstGeom>
          <a:noFill/>
          <a:ln w="57150">
            <a:solidFill>
              <a:srgbClr val="FF0000"/>
            </a:solidFill>
          </a:ln>
        </p:spPr>
        <p:txBody>
          <a:bodyPr wrap="square" rtlCol="0">
            <a:spAutoFit/>
          </a:bodyPr>
          <a:lstStyle/>
          <a:p>
            <a:endParaRPr lang="en-IN" dirty="0"/>
          </a:p>
        </p:txBody>
      </p:sp>
      <p:sp>
        <p:nvSpPr>
          <p:cNvPr id="47" name="TextBox 46"/>
          <p:cNvSpPr txBox="1"/>
          <p:nvPr/>
        </p:nvSpPr>
        <p:spPr>
          <a:xfrm>
            <a:off x="1238614" y="2569980"/>
            <a:ext cx="1490790" cy="542441"/>
          </a:xfrm>
          <a:prstGeom prst="rect">
            <a:avLst/>
          </a:prstGeom>
          <a:noFill/>
          <a:ln w="57150">
            <a:solidFill>
              <a:srgbClr val="FF0000"/>
            </a:solidFill>
          </a:ln>
        </p:spPr>
        <p:txBody>
          <a:bodyPr wrap="square" rtlCol="0">
            <a:spAutoFit/>
          </a:bodyPr>
          <a:lstStyle/>
          <a:p>
            <a:endParaRPr lang="en-IN" dirty="0"/>
          </a:p>
        </p:txBody>
      </p:sp>
      <p:sp>
        <p:nvSpPr>
          <p:cNvPr id="48" name="TextBox 47"/>
          <p:cNvSpPr txBox="1"/>
          <p:nvPr/>
        </p:nvSpPr>
        <p:spPr>
          <a:xfrm>
            <a:off x="6332717" y="3166115"/>
            <a:ext cx="1381969" cy="542441"/>
          </a:xfrm>
          <a:prstGeom prst="rect">
            <a:avLst/>
          </a:prstGeom>
          <a:noFill/>
          <a:ln w="57150">
            <a:solidFill>
              <a:srgbClr val="FF0000"/>
            </a:solidFill>
          </a:ln>
        </p:spPr>
        <p:txBody>
          <a:bodyPr wrap="square" rtlCol="0">
            <a:spAutoFit/>
          </a:bodyPr>
          <a:lstStyle/>
          <a:p>
            <a:endParaRPr lang="en-IN" dirty="0"/>
          </a:p>
        </p:txBody>
      </p:sp>
      <p:sp>
        <p:nvSpPr>
          <p:cNvPr id="49" name="TextBox 48"/>
          <p:cNvSpPr txBox="1"/>
          <p:nvPr/>
        </p:nvSpPr>
        <p:spPr>
          <a:xfrm>
            <a:off x="1238614" y="3125181"/>
            <a:ext cx="1490790" cy="542441"/>
          </a:xfrm>
          <a:prstGeom prst="rect">
            <a:avLst/>
          </a:prstGeom>
          <a:noFill/>
          <a:ln w="57150">
            <a:solidFill>
              <a:srgbClr val="FF0000"/>
            </a:solidFill>
          </a:ln>
        </p:spPr>
        <p:txBody>
          <a:bodyPr wrap="square" rtlCol="0">
            <a:spAutoFit/>
          </a:bodyPr>
          <a:lstStyle/>
          <a:p>
            <a:endParaRPr lang="en-IN" dirty="0"/>
          </a:p>
        </p:txBody>
      </p:sp>
      <p:sp>
        <p:nvSpPr>
          <p:cNvPr id="15" name="TextBox 14"/>
          <p:cNvSpPr txBox="1"/>
          <p:nvPr/>
        </p:nvSpPr>
        <p:spPr>
          <a:xfrm>
            <a:off x="131180" y="5447867"/>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Turnaround Time </a:t>
            </a:r>
            <a:r>
              <a:rPr lang="en-US" sz="2000" dirty="0"/>
              <a:t>= Sum of all Process’s Turn Around Time/ Total Process</a:t>
            </a:r>
          </a:p>
          <a:p>
            <a:r>
              <a:rPr lang="en-US" sz="2000" dirty="0"/>
              <a:t>                                                    = (10+15+15+17)/4 </a:t>
            </a:r>
          </a:p>
          <a:p>
            <a:r>
              <a:rPr lang="en-US" sz="2000" dirty="0"/>
              <a:t>                                                    = 14.25 Ms.</a:t>
            </a:r>
          </a:p>
        </p:txBody>
      </p:sp>
      <p:sp>
        <p:nvSpPr>
          <p:cNvPr id="17" name="TextBox 16"/>
          <p:cNvSpPr txBox="1"/>
          <p:nvPr/>
        </p:nvSpPr>
        <p:spPr>
          <a:xfrm>
            <a:off x="7734010" y="1490684"/>
            <a:ext cx="2049246" cy="2222902"/>
          </a:xfrm>
          <a:prstGeom prst="rect">
            <a:avLst/>
          </a:prstGeom>
          <a:noFill/>
          <a:ln w="57150">
            <a:solidFill>
              <a:srgbClr val="FF0000"/>
            </a:solidFill>
          </a:ln>
        </p:spPr>
        <p:txBody>
          <a:bodyPr wrap="square" rtlCol="0">
            <a:spAutoFit/>
          </a:bodyPr>
          <a:lstStyle/>
          <a:p>
            <a:endParaRPr lang="en-IN" dirty="0"/>
          </a:p>
        </p:txBody>
      </p:sp>
      <p:sp>
        <p:nvSpPr>
          <p:cNvPr id="36" name="TextBox 35">
            <a:extLst>
              <a:ext uri="{FF2B5EF4-FFF2-40B4-BE49-F238E27FC236}">
                <a16:creationId xmlns:a16="http://schemas.microsoft.com/office/drawing/2014/main" id="{E51EE693-B8E2-4B9B-B27F-CB193F674837}"/>
              </a:ext>
            </a:extLst>
          </p:cNvPr>
          <p:cNvSpPr txBox="1"/>
          <p:nvPr/>
        </p:nvSpPr>
        <p:spPr>
          <a:xfrm>
            <a:off x="3021276" y="5037907"/>
            <a:ext cx="571512" cy="289633"/>
          </a:xfrm>
          <a:prstGeom prst="rect">
            <a:avLst/>
          </a:prstGeom>
          <a:noFill/>
          <a:ln w="57150">
            <a:solidFill>
              <a:srgbClr val="FF0000"/>
            </a:solidFill>
          </a:ln>
        </p:spPr>
        <p:txBody>
          <a:bodyPr wrap="square" rtlCol="0">
            <a:spAutoFit/>
          </a:bodyPr>
          <a:lstStyle/>
          <a:p>
            <a:endParaRPr lang="en-IN" dirty="0"/>
          </a:p>
        </p:txBody>
      </p:sp>
      <p:sp>
        <p:nvSpPr>
          <p:cNvPr id="37" name="TextBox 36">
            <a:extLst>
              <a:ext uri="{FF2B5EF4-FFF2-40B4-BE49-F238E27FC236}">
                <a16:creationId xmlns:a16="http://schemas.microsoft.com/office/drawing/2014/main" id="{6F7D7615-D848-45F5-93EB-D39D1DCE1ABD}"/>
              </a:ext>
            </a:extLst>
          </p:cNvPr>
          <p:cNvSpPr txBox="1"/>
          <p:nvPr/>
        </p:nvSpPr>
        <p:spPr>
          <a:xfrm>
            <a:off x="4362269" y="5004741"/>
            <a:ext cx="571512" cy="289633"/>
          </a:xfrm>
          <a:prstGeom prst="rect">
            <a:avLst/>
          </a:prstGeom>
          <a:noFill/>
          <a:ln w="57150">
            <a:solidFill>
              <a:srgbClr val="FF0000"/>
            </a:solidFill>
          </a:ln>
        </p:spPr>
        <p:txBody>
          <a:bodyPr wrap="square" rtlCol="0">
            <a:spAutoFit/>
          </a:bodyPr>
          <a:lstStyle/>
          <a:p>
            <a:endParaRPr lang="en-IN" dirty="0"/>
          </a:p>
        </p:txBody>
      </p:sp>
      <p:sp>
        <p:nvSpPr>
          <p:cNvPr id="38" name="TextBox 37">
            <a:extLst>
              <a:ext uri="{FF2B5EF4-FFF2-40B4-BE49-F238E27FC236}">
                <a16:creationId xmlns:a16="http://schemas.microsoft.com/office/drawing/2014/main" id="{1F9DA33F-8CDC-42CA-AFC1-52F1DE43787F}"/>
              </a:ext>
            </a:extLst>
          </p:cNvPr>
          <p:cNvSpPr txBox="1"/>
          <p:nvPr/>
        </p:nvSpPr>
        <p:spPr>
          <a:xfrm>
            <a:off x="4997288" y="5004741"/>
            <a:ext cx="571512" cy="289633"/>
          </a:xfrm>
          <a:prstGeom prst="rect">
            <a:avLst/>
          </a:prstGeom>
          <a:noFill/>
          <a:ln w="57150">
            <a:solidFill>
              <a:srgbClr val="FF0000"/>
            </a:solidFill>
          </a:ln>
        </p:spPr>
        <p:txBody>
          <a:bodyPr wrap="square" rtlCol="0">
            <a:spAutoFit/>
          </a:bodyPr>
          <a:lstStyle/>
          <a:p>
            <a:endParaRPr lang="en-IN" dirty="0"/>
          </a:p>
        </p:txBody>
      </p:sp>
      <p:sp>
        <p:nvSpPr>
          <p:cNvPr id="41" name="TextBox 40">
            <a:extLst>
              <a:ext uri="{FF2B5EF4-FFF2-40B4-BE49-F238E27FC236}">
                <a16:creationId xmlns:a16="http://schemas.microsoft.com/office/drawing/2014/main" id="{97EAD7B3-F3A0-4444-82DC-5B2F3B5DA0A5}"/>
              </a:ext>
            </a:extLst>
          </p:cNvPr>
          <p:cNvSpPr txBox="1"/>
          <p:nvPr/>
        </p:nvSpPr>
        <p:spPr>
          <a:xfrm>
            <a:off x="6018148" y="5004741"/>
            <a:ext cx="571512" cy="289633"/>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1920445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500" tmFilter="0, 0; .2, .5; .8, .5; 1, 0"/>
                                        <p:tgtEl>
                                          <p:spTgt spid="36"/>
                                        </p:tgtEl>
                                      </p:cBhvr>
                                    </p:animEffect>
                                    <p:animScale>
                                      <p:cBhvr>
                                        <p:cTn id="15" dur="250" autoRev="1" fill="hold"/>
                                        <p:tgtEl>
                                          <p:spTgt spid="36"/>
                                        </p:tgtEl>
                                      </p:cBhvr>
                                      <p:by x="105000" y="105000"/>
                                    </p:animScale>
                                  </p:childTnLst>
                                </p:cTn>
                              </p:par>
                              <p:par>
                                <p:cTn id="16" presetID="1"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par>
                                <p:cTn id="22" presetID="1" presetClass="exit" presetSubtype="0" fill="hold" grpId="2" nodeType="withEffect">
                                  <p:stCondLst>
                                    <p:cond delay="0"/>
                                  </p:stCondLst>
                                  <p:childTnLst>
                                    <p:set>
                                      <p:cBhvr>
                                        <p:cTn id="23" dur="1" fill="hold">
                                          <p:stCondLst>
                                            <p:cond delay="0"/>
                                          </p:stCondLst>
                                        </p:cTn>
                                        <p:tgtEl>
                                          <p:spTgt spid="36"/>
                                        </p:tgtEl>
                                        <p:attrNameLst>
                                          <p:attrName>style.visibility</p:attrName>
                                        </p:attrNameLst>
                                      </p:cBhvr>
                                      <p:to>
                                        <p:strVal val="hidden"/>
                                      </p:to>
                                    </p:set>
                                  </p:childTnLst>
                                </p:cTn>
                              </p:par>
                              <p:par>
                                <p:cTn id="24" presetID="1"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childTnLst>
                                </p:cTn>
                              </p:par>
                              <p:par>
                                <p:cTn id="28" presetID="26" presetClass="emph" presetSubtype="0" repeatCount="indefinite" fill="hold" grpId="1" nodeType="withEffect">
                                  <p:stCondLst>
                                    <p:cond delay="0"/>
                                  </p:stCondLst>
                                  <p:endCondLst>
                                    <p:cond evt="onNext" delay="0">
                                      <p:tgtEl>
                                        <p:sldTgt/>
                                      </p:tgtEl>
                                    </p:cond>
                                  </p:endCondLst>
                                  <p:childTnLst>
                                    <p:animEffect transition="out" filter="fade">
                                      <p:cBhvr>
                                        <p:cTn id="29" dur="500" tmFilter="0, 0; .2, .5; .8, .5; 1, 0"/>
                                        <p:tgtEl>
                                          <p:spTgt spid="37"/>
                                        </p:tgtEl>
                                      </p:cBhvr>
                                    </p:animEffect>
                                    <p:animScale>
                                      <p:cBhvr>
                                        <p:cTn id="30" dur="250" autoRev="1" fill="hold"/>
                                        <p:tgtEl>
                                          <p:spTgt spid="37"/>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xit" presetSubtype="0" fill="hold" grpId="2" nodeType="withEffect">
                                  <p:stCondLst>
                                    <p:cond delay="0"/>
                                  </p:stCondLst>
                                  <p:childTnLst>
                                    <p:set>
                                      <p:cBhvr>
                                        <p:cTn id="38" dur="1" fill="hold">
                                          <p:stCondLst>
                                            <p:cond delay="0"/>
                                          </p:stCondLst>
                                        </p:cTn>
                                        <p:tgtEl>
                                          <p:spTgt spid="37"/>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26" presetClass="emph" presetSubtype="0" repeatCount="indefinite" fill="hold" grpId="1" nodeType="withEffect">
                                  <p:stCondLst>
                                    <p:cond delay="0"/>
                                  </p:stCondLst>
                                  <p:endCondLst>
                                    <p:cond evt="onNext" delay="0">
                                      <p:tgtEl>
                                        <p:sldTgt/>
                                      </p:tgtEl>
                                    </p:cond>
                                  </p:endCondLst>
                                  <p:childTnLst>
                                    <p:animEffect transition="out" filter="fade">
                                      <p:cBhvr>
                                        <p:cTn id="42" dur="500" tmFilter="0, 0; .2, .5; .8, .5; 1, 0"/>
                                        <p:tgtEl>
                                          <p:spTgt spid="38"/>
                                        </p:tgtEl>
                                      </p:cBhvr>
                                    </p:animEffect>
                                    <p:animScale>
                                      <p:cBhvr>
                                        <p:cTn id="43" dur="250" autoRev="1" fill="hold"/>
                                        <p:tgtEl>
                                          <p:spTgt spid="38"/>
                                        </p:tgtEl>
                                      </p:cBhvr>
                                      <p:by x="105000" y="105000"/>
                                    </p:animScale>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childTnLst>
                                </p:cTn>
                              </p:par>
                              <p:par>
                                <p:cTn id="50" presetID="1" presetClass="exit" presetSubtype="0" fill="hold" grpId="2" nodeType="withEffect">
                                  <p:stCondLst>
                                    <p:cond delay="0"/>
                                  </p:stCondLst>
                                  <p:childTnLst>
                                    <p:set>
                                      <p:cBhvr>
                                        <p:cTn id="51" dur="1" fill="hold">
                                          <p:stCondLst>
                                            <p:cond delay="0"/>
                                          </p:stCondLst>
                                        </p:cTn>
                                        <p:tgtEl>
                                          <p:spTgt spid="38"/>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41"/>
                                        </p:tgtEl>
                                      </p:cBhvr>
                                    </p:animEffect>
                                    <p:animScale>
                                      <p:cBhvr>
                                        <p:cTn id="56" dur="250" autoRev="1" fill="hold"/>
                                        <p:tgtEl>
                                          <p:spTgt spid="41"/>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4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
                                        </p:tgtEl>
                                        <p:attrNameLst>
                                          <p:attrName>style.visibility</p:attrName>
                                        </p:attrNameLst>
                                      </p:cBhvr>
                                      <p:to>
                                        <p:strVal val="visible"/>
                                      </p:to>
                                    </p:set>
                                  </p:childTnLst>
                                </p:cTn>
                              </p:par>
                              <p:par>
                                <p:cTn id="69" presetID="26" presetClass="emph" presetSubtype="0" repeatCount="indefinite" fill="hold" grpId="1" nodeType="withEffect">
                                  <p:stCondLst>
                                    <p:cond delay="0"/>
                                  </p:stCondLst>
                                  <p:endCondLst>
                                    <p:cond evt="onNext" delay="0">
                                      <p:tgtEl>
                                        <p:sldTgt/>
                                      </p:tgtEl>
                                    </p:cond>
                                  </p:endCondLst>
                                  <p:childTnLst>
                                    <p:animEffect transition="out" filter="fade">
                                      <p:cBhvr>
                                        <p:cTn id="70" dur="500" tmFilter="0, 0; .2, .5; .8, .5; 1, 0"/>
                                        <p:tgtEl>
                                          <p:spTgt spid="3"/>
                                        </p:tgtEl>
                                      </p:cBhvr>
                                    </p:animEffect>
                                    <p:animScale>
                                      <p:cBhvr>
                                        <p:cTn id="71" dur="250" autoRev="1" fill="hold"/>
                                        <p:tgtEl>
                                          <p:spTgt spid="3"/>
                                        </p:tgtEl>
                                      </p:cBhvr>
                                      <p:by x="105000" y="105000"/>
                                    </p:animScale>
                                  </p:childTnLst>
                                </p:cTn>
                              </p:par>
                              <p:par>
                                <p:cTn id="72" presetID="1"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childTnLst>
                                </p:cTn>
                              </p:par>
                              <p:par>
                                <p:cTn id="74" presetID="26" presetClass="emph" presetSubtype="0" repeatCount="indefinite" fill="hold" grpId="1" nodeType="withEffect">
                                  <p:stCondLst>
                                    <p:cond delay="0"/>
                                  </p:stCondLst>
                                  <p:endCondLst>
                                    <p:cond evt="onNext" delay="0">
                                      <p:tgtEl>
                                        <p:sldTgt/>
                                      </p:tgtEl>
                                    </p:cond>
                                  </p:endCondLst>
                                  <p:childTnLst>
                                    <p:animEffect transition="out" filter="fade">
                                      <p:cBhvr>
                                        <p:cTn id="75" dur="500" tmFilter="0, 0; .2, .5; .8, .5; 1, 0"/>
                                        <p:tgtEl>
                                          <p:spTgt spid="43"/>
                                        </p:tgtEl>
                                      </p:cBhvr>
                                    </p:animEffect>
                                    <p:animScale>
                                      <p:cBhvr>
                                        <p:cTn id="76" dur="250" autoRev="1" fill="hold"/>
                                        <p:tgtEl>
                                          <p:spTgt spid="43"/>
                                        </p:tgtEl>
                                      </p:cBhvr>
                                      <p:by x="105000" y="105000"/>
                                    </p:animScale>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par>
                                <p:cTn id="81" presetID="1" presetClass="exit" presetSubtype="0" fill="hold" grpId="2" nodeType="withEffect">
                                  <p:stCondLst>
                                    <p:cond delay="0"/>
                                  </p:stCondLst>
                                  <p:childTnLst>
                                    <p:set>
                                      <p:cBhvr>
                                        <p:cTn id="82" dur="1" fill="hold">
                                          <p:stCondLst>
                                            <p:cond delay="0"/>
                                          </p:stCondLst>
                                        </p:cTn>
                                        <p:tgtEl>
                                          <p:spTgt spid="3"/>
                                        </p:tgtEl>
                                        <p:attrNameLst>
                                          <p:attrName>style.visibility</p:attrName>
                                        </p:attrNameLst>
                                      </p:cBhvr>
                                      <p:to>
                                        <p:strVal val="hidden"/>
                                      </p:to>
                                    </p:set>
                                  </p:childTnLst>
                                </p:cTn>
                              </p:par>
                              <p:par>
                                <p:cTn id="83" presetID="1" presetClass="exit" presetSubtype="0" fill="hold" grpId="2" nodeType="withEffect">
                                  <p:stCondLst>
                                    <p:cond delay="0"/>
                                  </p:stCondLst>
                                  <p:childTnLst>
                                    <p:set>
                                      <p:cBhvr>
                                        <p:cTn id="84" dur="1" fill="hold">
                                          <p:stCondLst>
                                            <p:cond delay="0"/>
                                          </p:stCondLst>
                                        </p:cTn>
                                        <p:tgtEl>
                                          <p:spTgt spid="43"/>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44"/>
                                        </p:tgtEl>
                                        <p:attrNameLst>
                                          <p:attrName>style.visibility</p:attrName>
                                        </p:attrNameLst>
                                      </p:cBhvr>
                                      <p:to>
                                        <p:strVal val="visible"/>
                                      </p:to>
                                    </p:set>
                                  </p:childTnLst>
                                </p:cTn>
                              </p:par>
                              <p:par>
                                <p:cTn id="87" presetID="26" presetClass="emph" presetSubtype="0" repeatCount="indefinite" fill="hold" grpId="1" nodeType="withEffect">
                                  <p:stCondLst>
                                    <p:cond delay="0"/>
                                  </p:stCondLst>
                                  <p:endCondLst>
                                    <p:cond evt="onNext" delay="0">
                                      <p:tgtEl>
                                        <p:sldTgt/>
                                      </p:tgtEl>
                                    </p:cond>
                                  </p:endCondLst>
                                  <p:childTnLst>
                                    <p:animEffect transition="out" filter="fade">
                                      <p:cBhvr>
                                        <p:cTn id="88" dur="500" tmFilter="0, 0; .2, .5; .8, .5; 1, 0"/>
                                        <p:tgtEl>
                                          <p:spTgt spid="44"/>
                                        </p:tgtEl>
                                      </p:cBhvr>
                                    </p:animEffect>
                                    <p:animScale>
                                      <p:cBhvr>
                                        <p:cTn id="89" dur="250" autoRev="1" fill="hold"/>
                                        <p:tgtEl>
                                          <p:spTgt spid="44"/>
                                        </p:tgtEl>
                                      </p:cBhvr>
                                      <p:by x="105000" y="105000"/>
                                    </p:animScale>
                                  </p:childTnLst>
                                </p:cTn>
                              </p:par>
                              <p:par>
                                <p:cTn id="90" presetID="1" presetClass="entr" presetSubtype="0" fill="hold" grpId="0" nodeType="withEffect">
                                  <p:stCondLst>
                                    <p:cond delay="0"/>
                                  </p:stCondLst>
                                  <p:childTnLst>
                                    <p:set>
                                      <p:cBhvr>
                                        <p:cTn id="91" dur="1" fill="hold">
                                          <p:stCondLst>
                                            <p:cond delay="0"/>
                                          </p:stCondLst>
                                        </p:cTn>
                                        <p:tgtEl>
                                          <p:spTgt spid="45"/>
                                        </p:tgtEl>
                                        <p:attrNameLst>
                                          <p:attrName>style.visibility</p:attrName>
                                        </p:attrNameLst>
                                      </p:cBhvr>
                                      <p:to>
                                        <p:strVal val="visible"/>
                                      </p:to>
                                    </p:set>
                                  </p:childTnLst>
                                </p:cTn>
                              </p:par>
                              <p:par>
                                <p:cTn id="92" presetID="26" presetClass="emph" presetSubtype="0" repeatCount="indefinite" fill="hold" grpId="1" nodeType="withEffect">
                                  <p:stCondLst>
                                    <p:cond delay="0"/>
                                  </p:stCondLst>
                                  <p:endCondLst>
                                    <p:cond evt="onNext" delay="0">
                                      <p:tgtEl>
                                        <p:sldTgt/>
                                      </p:tgtEl>
                                    </p:cond>
                                  </p:endCondLst>
                                  <p:childTnLst>
                                    <p:animEffect transition="out" filter="fade">
                                      <p:cBhvr>
                                        <p:cTn id="93" dur="500" tmFilter="0, 0; .2, .5; .8, .5; 1, 0"/>
                                        <p:tgtEl>
                                          <p:spTgt spid="45"/>
                                        </p:tgtEl>
                                      </p:cBhvr>
                                    </p:animEffect>
                                    <p:animScale>
                                      <p:cBhvr>
                                        <p:cTn id="94" dur="250" autoRev="1" fill="hold"/>
                                        <p:tgtEl>
                                          <p:spTgt spid="45"/>
                                        </p:tgtEl>
                                      </p:cBhvr>
                                      <p:by x="105000" y="105000"/>
                                    </p:animScale>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xit" presetSubtype="0" fill="hold" grpId="2" nodeType="withEffect">
                                  <p:stCondLst>
                                    <p:cond delay="0"/>
                                  </p:stCondLst>
                                  <p:childTnLst>
                                    <p:set>
                                      <p:cBhvr>
                                        <p:cTn id="100" dur="1" fill="hold">
                                          <p:stCondLst>
                                            <p:cond delay="0"/>
                                          </p:stCondLst>
                                        </p:cTn>
                                        <p:tgtEl>
                                          <p:spTgt spid="44"/>
                                        </p:tgtEl>
                                        <p:attrNameLst>
                                          <p:attrName>style.visibility</p:attrName>
                                        </p:attrNameLst>
                                      </p:cBhvr>
                                      <p:to>
                                        <p:strVal val="hidden"/>
                                      </p:to>
                                    </p:set>
                                  </p:childTnLst>
                                </p:cTn>
                              </p:par>
                              <p:par>
                                <p:cTn id="101" presetID="1" presetClass="exit" presetSubtype="0" fill="hold" grpId="2" nodeType="withEffect">
                                  <p:stCondLst>
                                    <p:cond delay="0"/>
                                  </p:stCondLst>
                                  <p:childTnLst>
                                    <p:set>
                                      <p:cBhvr>
                                        <p:cTn id="102" dur="1" fill="hold">
                                          <p:stCondLst>
                                            <p:cond delay="0"/>
                                          </p:stCondLst>
                                        </p:cTn>
                                        <p:tgtEl>
                                          <p:spTgt spid="45"/>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46"/>
                                        </p:tgtEl>
                                        <p:attrNameLst>
                                          <p:attrName>style.visibility</p:attrName>
                                        </p:attrNameLst>
                                      </p:cBhvr>
                                      <p:to>
                                        <p:strVal val="visible"/>
                                      </p:to>
                                    </p:set>
                                  </p:childTnLst>
                                </p:cTn>
                              </p:par>
                              <p:par>
                                <p:cTn id="105" presetID="26" presetClass="emph" presetSubtype="0" repeatCount="indefinite" fill="hold" grpId="1" nodeType="withEffect">
                                  <p:stCondLst>
                                    <p:cond delay="0"/>
                                  </p:stCondLst>
                                  <p:endCondLst>
                                    <p:cond evt="onNext" delay="0">
                                      <p:tgtEl>
                                        <p:sldTgt/>
                                      </p:tgtEl>
                                    </p:cond>
                                  </p:endCondLst>
                                  <p:childTnLst>
                                    <p:animEffect transition="out" filter="fade">
                                      <p:cBhvr>
                                        <p:cTn id="106" dur="500" tmFilter="0, 0; .2, .5; .8, .5; 1, 0"/>
                                        <p:tgtEl>
                                          <p:spTgt spid="46"/>
                                        </p:tgtEl>
                                      </p:cBhvr>
                                    </p:animEffect>
                                    <p:animScale>
                                      <p:cBhvr>
                                        <p:cTn id="107" dur="250" autoRev="1" fill="hold"/>
                                        <p:tgtEl>
                                          <p:spTgt spid="46"/>
                                        </p:tgtEl>
                                      </p:cBhvr>
                                      <p:by x="105000" y="105000"/>
                                    </p:animScale>
                                  </p:childTnLst>
                                </p:cTn>
                              </p:par>
                              <p:par>
                                <p:cTn id="108" presetID="1" presetClass="entr" presetSubtype="0" fill="hold" grpId="0" nodeType="withEffect">
                                  <p:stCondLst>
                                    <p:cond delay="0"/>
                                  </p:stCondLst>
                                  <p:childTnLst>
                                    <p:set>
                                      <p:cBhvr>
                                        <p:cTn id="109" dur="1" fill="hold">
                                          <p:stCondLst>
                                            <p:cond delay="0"/>
                                          </p:stCondLst>
                                        </p:cTn>
                                        <p:tgtEl>
                                          <p:spTgt spid="47"/>
                                        </p:tgtEl>
                                        <p:attrNameLst>
                                          <p:attrName>style.visibility</p:attrName>
                                        </p:attrNameLst>
                                      </p:cBhvr>
                                      <p:to>
                                        <p:strVal val="visible"/>
                                      </p:to>
                                    </p:set>
                                  </p:childTnLst>
                                </p:cTn>
                              </p:par>
                              <p:par>
                                <p:cTn id="110" presetID="26" presetClass="emph" presetSubtype="0" repeatCount="indefinite" fill="hold" grpId="1" nodeType="withEffect">
                                  <p:stCondLst>
                                    <p:cond delay="0"/>
                                  </p:stCondLst>
                                  <p:endCondLst>
                                    <p:cond evt="onNext" delay="0">
                                      <p:tgtEl>
                                        <p:sldTgt/>
                                      </p:tgtEl>
                                    </p:cond>
                                  </p:endCondLst>
                                  <p:childTnLst>
                                    <p:animEffect transition="out" filter="fade">
                                      <p:cBhvr>
                                        <p:cTn id="111" dur="500" tmFilter="0, 0; .2, .5; .8, .5; 1, 0"/>
                                        <p:tgtEl>
                                          <p:spTgt spid="47"/>
                                        </p:tgtEl>
                                      </p:cBhvr>
                                    </p:animEffect>
                                    <p:animScale>
                                      <p:cBhvr>
                                        <p:cTn id="112" dur="250" autoRev="1" fill="hold"/>
                                        <p:tgtEl>
                                          <p:spTgt spid="47"/>
                                        </p:tgtEl>
                                      </p:cBhvr>
                                      <p:by x="105000" y="105000"/>
                                    </p:animScale>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40"/>
                                        </p:tgtEl>
                                        <p:attrNameLst>
                                          <p:attrName>style.visibility</p:attrName>
                                        </p:attrNameLst>
                                      </p:cBhvr>
                                      <p:to>
                                        <p:strVal val="visible"/>
                                      </p:to>
                                    </p:set>
                                  </p:childTnLst>
                                </p:cTn>
                              </p:par>
                              <p:par>
                                <p:cTn id="117" presetID="1" presetClass="exit" presetSubtype="0" fill="hold" grpId="2" nodeType="withEffect">
                                  <p:stCondLst>
                                    <p:cond delay="0"/>
                                  </p:stCondLst>
                                  <p:childTnLst>
                                    <p:set>
                                      <p:cBhvr>
                                        <p:cTn id="118" dur="1" fill="hold">
                                          <p:stCondLst>
                                            <p:cond delay="0"/>
                                          </p:stCondLst>
                                        </p:cTn>
                                        <p:tgtEl>
                                          <p:spTgt spid="46"/>
                                        </p:tgtEl>
                                        <p:attrNameLst>
                                          <p:attrName>style.visibility</p:attrName>
                                        </p:attrNameLst>
                                      </p:cBhvr>
                                      <p:to>
                                        <p:strVal val="hidden"/>
                                      </p:to>
                                    </p:set>
                                  </p:childTnLst>
                                </p:cTn>
                              </p:par>
                              <p:par>
                                <p:cTn id="119" presetID="1" presetClass="exit" presetSubtype="0" fill="hold" grpId="2" nodeType="withEffect">
                                  <p:stCondLst>
                                    <p:cond delay="0"/>
                                  </p:stCondLst>
                                  <p:childTnLst>
                                    <p:set>
                                      <p:cBhvr>
                                        <p:cTn id="120" dur="1" fill="hold">
                                          <p:stCondLst>
                                            <p:cond delay="0"/>
                                          </p:stCondLst>
                                        </p:cTn>
                                        <p:tgtEl>
                                          <p:spTgt spid="47"/>
                                        </p:tgtEl>
                                        <p:attrNameLst>
                                          <p:attrName>style.visibility</p:attrName>
                                        </p:attrNameLst>
                                      </p:cBhvr>
                                      <p:to>
                                        <p:strVal val="hidden"/>
                                      </p:to>
                                    </p:set>
                                  </p:childTnLst>
                                </p:cTn>
                              </p:par>
                              <p:par>
                                <p:cTn id="121" presetID="1" presetClass="entr" presetSubtype="0" fill="hold" grpId="0" nodeType="withEffect">
                                  <p:stCondLst>
                                    <p:cond delay="0"/>
                                  </p:stCondLst>
                                  <p:childTnLst>
                                    <p:set>
                                      <p:cBhvr>
                                        <p:cTn id="122" dur="1" fill="hold">
                                          <p:stCondLst>
                                            <p:cond delay="0"/>
                                          </p:stCondLst>
                                        </p:cTn>
                                        <p:tgtEl>
                                          <p:spTgt spid="48"/>
                                        </p:tgtEl>
                                        <p:attrNameLst>
                                          <p:attrName>style.visibility</p:attrName>
                                        </p:attrNameLst>
                                      </p:cBhvr>
                                      <p:to>
                                        <p:strVal val="visible"/>
                                      </p:to>
                                    </p:set>
                                  </p:childTnLst>
                                </p:cTn>
                              </p:par>
                              <p:par>
                                <p:cTn id="123" presetID="26" presetClass="emph" presetSubtype="0" repeatCount="indefinite" fill="hold" grpId="1" nodeType="withEffect">
                                  <p:stCondLst>
                                    <p:cond delay="0"/>
                                  </p:stCondLst>
                                  <p:endCondLst>
                                    <p:cond evt="onNext" delay="0">
                                      <p:tgtEl>
                                        <p:sldTgt/>
                                      </p:tgtEl>
                                    </p:cond>
                                  </p:endCondLst>
                                  <p:childTnLst>
                                    <p:animEffect transition="out" filter="fade">
                                      <p:cBhvr>
                                        <p:cTn id="124" dur="500" tmFilter="0, 0; .2, .5; .8, .5; 1, 0"/>
                                        <p:tgtEl>
                                          <p:spTgt spid="48"/>
                                        </p:tgtEl>
                                      </p:cBhvr>
                                    </p:animEffect>
                                    <p:animScale>
                                      <p:cBhvr>
                                        <p:cTn id="125" dur="250" autoRev="1" fill="hold"/>
                                        <p:tgtEl>
                                          <p:spTgt spid="48"/>
                                        </p:tgtEl>
                                      </p:cBhvr>
                                      <p:by x="105000" y="105000"/>
                                    </p:animScale>
                                  </p:childTnLst>
                                </p:cTn>
                              </p:par>
                              <p:par>
                                <p:cTn id="126" presetID="1" presetClass="entr" presetSubtype="0" fill="hold" grpId="0" nodeType="withEffect">
                                  <p:stCondLst>
                                    <p:cond delay="0"/>
                                  </p:stCondLst>
                                  <p:childTnLst>
                                    <p:set>
                                      <p:cBhvr>
                                        <p:cTn id="127" dur="1" fill="hold">
                                          <p:stCondLst>
                                            <p:cond delay="0"/>
                                          </p:stCondLst>
                                        </p:cTn>
                                        <p:tgtEl>
                                          <p:spTgt spid="49"/>
                                        </p:tgtEl>
                                        <p:attrNameLst>
                                          <p:attrName>style.visibility</p:attrName>
                                        </p:attrNameLst>
                                      </p:cBhvr>
                                      <p:to>
                                        <p:strVal val="visible"/>
                                      </p:to>
                                    </p:set>
                                  </p:childTnLst>
                                </p:cTn>
                              </p:par>
                              <p:par>
                                <p:cTn id="128" presetID="26" presetClass="emph" presetSubtype="0" repeatCount="indefinite" fill="hold" grpId="1" nodeType="withEffect">
                                  <p:stCondLst>
                                    <p:cond delay="0"/>
                                  </p:stCondLst>
                                  <p:endCondLst>
                                    <p:cond evt="onNext" delay="0">
                                      <p:tgtEl>
                                        <p:sldTgt/>
                                      </p:tgtEl>
                                    </p:cond>
                                  </p:endCondLst>
                                  <p:childTnLst>
                                    <p:animEffect transition="out" filter="fade">
                                      <p:cBhvr>
                                        <p:cTn id="129" dur="500" tmFilter="0, 0; .2, .5; .8, .5; 1, 0"/>
                                        <p:tgtEl>
                                          <p:spTgt spid="49"/>
                                        </p:tgtEl>
                                      </p:cBhvr>
                                    </p:animEffect>
                                    <p:animScale>
                                      <p:cBhvr>
                                        <p:cTn id="130" dur="250" autoRev="1" fill="hold"/>
                                        <p:tgtEl>
                                          <p:spTgt spid="49"/>
                                        </p:tgtEl>
                                      </p:cBhvr>
                                      <p:by x="105000" y="105000"/>
                                    </p:animScale>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2" nodeType="clickEffect">
                                  <p:stCondLst>
                                    <p:cond delay="0"/>
                                  </p:stCondLst>
                                  <p:childTnLst>
                                    <p:set>
                                      <p:cBhvr>
                                        <p:cTn id="134" dur="1" fill="hold">
                                          <p:stCondLst>
                                            <p:cond delay="0"/>
                                          </p:stCondLst>
                                        </p:cTn>
                                        <p:tgtEl>
                                          <p:spTgt spid="48"/>
                                        </p:tgtEl>
                                        <p:attrNameLst>
                                          <p:attrName>style.visibility</p:attrName>
                                        </p:attrNameLst>
                                      </p:cBhvr>
                                      <p:to>
                                        <p:strVal val="hidden"/>
                                      </p:to>
                                    </p:set>
                                  </p:childTnLst>
                                </p:cTn>
                              </p:par>
                              <p:par>
                                <p:cTn id="135" presetID="1" presetClass="exit" presetSubtype="0" fill="hold" grpId="2" nodeType="withEffect">
                                  <p:stCondLst>
                                    <p:cond delay="0"/>
                                  </p:stCondLst>
                                  <p:childTnLst>
                                    <p:set>
                                      <p:cBhvr>
                                        <p:cTn id="136" dur="1" fill="hold">
                                          <p:stCondLst>
                                            <p:cond delay="0"/>
                                          </p:stCondLst>
                                        </p:cTn>
                                        <p:tgtEl>
                                          <p:spTgt spid="49"/>
                                        </p:tgtEl>
                                        <p:attrNameLst>
                                          <p:attrName>style.visibility</p:attrName>
                                        </p:attrNameLst>
                                      </p:cBhvr>
                                      <p:to>
                                        <p:strVal val="hidden"/>
                                      </p:to>
                                    </p:set>
                                  </p:childTnLst>
                                </p:cTn>
                              </p:par>
                              <p:par>
                                <p:cTn id="137" presetID="1" presetClass="entr" presetSubtype="0" fill="hold" grpId="0" nodeType="withEffect">
                                  <p:stCondLst>
                                    <p:cond delay="0"/>
                                  </p:stCondLst>
                                  <p:childTnLst>
                                    <p:set>
                                      <p:cBhvr>
                                        <p:cTn id="138" dur="1" fill="hold">
                                          <p:stCondLst>
                                            <p:cond delay="0"/>
                                          </p:stCondLst>
                                        </p:cTn>
                                        <p:tgtEl>
                                          <p:spTgt spid="15"/>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7"/>
                                        </p:tgtEl>
                                        <p:attrNameLst>
                                          <p:attrName>style.visibility</p:attrName>
                                        </p:attrNameLst>
                                      </p:cBhvr>
                                      <p:to>
                                        <p:strVal val="visible"/>
                                      </p:to>
                                    </p:set>
                                  </p:childTnLst>
                                </p:cTn>
                              </p:par>
                              <p:par>
                                <p:cTn id="141" presetID="26" presetClass="emph" presetSubtype="0" repeatCount="indefinite" fill="hold" grpId="1" nodeType="withEffect">
                                  <p:stCondLst>
                                    <p:cond delay="0"/>
                                  </p:stCondLst>
                                  <p:endCondLst>
                                    <p:cond evt="onNext" delay="0">
                                      <p:tgtEl>
                                        <p:sldTgt/>
                                      </p:tgtEl>
                                    </p:cond>
                                  </p:endCondLst>
                                  <p:childTnLst>
                                    <p:animEffect transition="out" filter="fade">
                                      <p:cBhvr>
                                        <p:cTn id="142" dur="500" tmFilter="0, 0; .2, .5; .8, .5; 1, 0"/>
                                        <p:tgtEl>
                                          <p:spTgt spid="17"/>
                                        </p:tgtEl>
                                      </p:cBhvr>
                                    </p:animEffect>
                                    <p:animScale>
                                      <p:cBhvr>
                                        <p:cTn id="143" dur="250" autoRev="1" fill="hold"/>
                                        <p:tgtEl>
                                          <p:spTgt spid="17"/>
                                        </p:tgtEl>
                                      </p:cBhvr>
                                      <p:by x="105000" y="105000"/>
                                    </p:animScale>
                                  </p:childTnLst>
                                </p:cTn>
                              </p:par>
                            </p:childTnLst>
                          </p:cTn>
                        </p:par>
                      </p:childTnLst>
                    </p:cTn>
                  </p:par>
                  <p:par>
                    <p:cTn id="144" fill="hold">
                      <p:stCondLst>
                        <p:cond delay="indefinite"/>
                      </p:stCondLst>
                      <p:childTnLst>
                        <p:par>
                          <p:cTn id="145" fill="hold">
                            <p:stCondLst>
                              <p:cond delay="0"/>
                            </p:stCondLst>
                            <p:childTnLst>
                              <p:par>
                                <p:cTn id="146" presetID="1" presetClass="exit" presetSubtype="0" fill="hold" grpId="1" nodeType="clickEffect">
                                  <p:stCondLst>
                                    <p:cond delay="0"/>
                                  </p:stCondLst>
                                  <p:childTnLst>
                                    <p:set>
                                      <p:cBhvr>
                                        <p:cTn id="147" dur="1" fill="hold">
                                          <p:stCondLst>
                                            <p:cond delay="0"/>
                                          </p:stCondLst>
                                        </p:cTn>
                                        <p:tgtEl>
                                          <p:spTgt spid="15"/>
                                        </p:tgtEl>
                                        <p:attrNameLst>
                                          <p:attrName>style.visibility</p:attrName>
                                        </p:attrNameLst>
                                      </p:cBhvr>
                                      <p:to>
                                        <p:strVal val="hidden"/>
                                      </p:to>
                                    </p:set>
                                  </p:childTnLst>
                                </p:cTn>
                              </p:par>
                              <p:par>
                                <p:cTn id="148" presetID="1" presetClass="exit" presetSubtype="0" fill="hold" grpId="2" nodeType="withEffect">
                                  <p:stCondLst>
                                    <p:cond delay="0"/>
                                  </p:stCondLst>
                                  <p:childTnLst>
                                    <p:set>
                                      <p:cBhvr>
                                        <p:cTn id="149" dur="1" fill="hold">
                                          <p:stCondLst>
                                            <p:cond delay="0"/>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3" grpId="0" animBg="1"/>
      <p:bldP spid="3" grpId="1" animBg="1"/>
      <p:bldP spid="3" grpId="2" animBg="1"/>
      <p:bldP spid="43" grpId="0" animBg="1"/>
      <p:bldP spid="43" grpId="1" animBg="1"/>
      <p:bldP spid="43" grpId="2" animBg="1"/>
      <p:bldP spid="44" grpId="0" animBg="1"/>
      <p:bldP spid="44" grpId="1" animBg="1"/>
      <p:bldP spid="44" grpId="2" animBg="1"/>
      <p:bldP spid="45" grpId="0" animBg="1"/>
      <p:bldP spid="45" grpId="1" animBg="1"/>
      <p:bldP spid="45" grpId="2" animBg="1"/>
      <p:bldP spid="46" grpId="0" animBg="1"/>
      <p:bldP spid="46" grpId="1" animBg="1"/>
      <p:bldP spid="46" grpId="2" animBg="1"/>
      <p:bldP spid="47" grpId="0" animBg="1"/>
      <p:bldP spid="47" grpId="1" animBg="1"/>
      <p:bldP spid="47" grpId="2" animBg="1"/>
      <p:bldP spid="48" grpId="0" animBg="1"/>
      <p:bldP spid="48" grpId="1" animBg="1"/>
      <p:bldP spid="48" grpId="2" animBg="1"/>
      <p:bldP spid="49" grpId="0" animBg="1"/>
      <p:bldP spid="49" grpId="1" animBg="1"/>
      <p:bldP spid="49" grpId="2" animBg="1"/>
      <p:bldP spid="15" grpId="0"/>
      <p:bldP spid="15" grpId="1"/>
      <p:bldP spid="17" grpId="0" animBg="1"/>
      <p:bldP spid="17" grpId="1" animBg="1"/>
      <p:bldP spid="17" grpId="2" animBg="1"/>
      <p:bldP spid="36" grpId="0" animBg="1"/>
      <p:bldP spid="36" grpId="1" animBg="1"/>
      <p:bldP spid="36" grpId="2" animBg="1"/>
      <p:bldP spid="37" grpId="0" animBg="1"/>
      <p:bldP spid="37" grpId="1" animBg="1"/>
      <p:bldP spid="37" grpId="2" animBg="1"/>
      <p:bldP spid="38" grpId="0" animBg="1"/>
      <p:bldP spid="38" grpId="1" animBg="1"/>
      <p:bldP spid="38" grpId="2" animBg="1"/>
      <p:bldP spid="41" grpId="0" animBg="1"/>
      <p:bldP spid="41" grpId="1" animBg="1"/>
      <p:bldP spid="41" grpId="2"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Come, First Served</a:t>
            </a:r>
            <a:r>
              <a:rPr lang="en-IN" dirty="0"/>
              <a:t>(FCFS)</a:t>
            </a:r>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US"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1014593" y="4337714"/>
                <a:ext cx="22924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i="1" dirty="0">
                              <a:latin typeface="Cambria Math" panose="02040503050406030204" pitchFamily="18" charset="0"/>
                            </a:rPr>
                            <m:t>𝑃</m:t>
                          </m:r>
                        </m:e>
                        <m:sub>
                          <m:r>
                            <a:rPr lang="en-IN" b="0" i="1" dirty="0" smtClean="0">
                              <a:latin typeface="Cambria Math" panose="02040503050406030204" pitchFamily="18" charset="0"/>
                            </a:rPr>
                            <m:t>0</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014593" y="4337714"/>
                <a:ext cx="229244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3307033" y="4337714"/>
                <a:ext cx="1416676" cy="6553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IN" i="1" dirty="0">
                              <a:latin typeface="Cambria Math" panose="02040503050406030204" pitchFamily="18" charset="0"/>
                            </a:rPr>
                            <m:t>𝑃</m:t>
                          </m:r>
                        </m:e>
                        <m:sub>
                          <m:r>
                            <a:rPr lang="en-IN" i="1" dirty="0">
                              <a:latin typeface="Cambria Math" panose="02040503050406030204" pitchFamily="18" charset="0"/>
                            </a:rPr>
                            <m:t>1</m:t>
                          </m:r>
                        </m:sub>
                      </m:sSub>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3307033" y="4337714"/>
                <a:ext cx="1416676" cy="655360"/>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4723709" y="4337714"/>
                <a:ext cx="502276"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i="1" dirty="0">
                              <a:latin typeface="Cambria Math" panose="02040503050406030204" pitchFamily="18" charset="0"/>
                            </a:rPr>
                            <m:t>𝑃</m:t>
                          </m:r>
                        </m:e>
                        <m:sub>
                          <m:r>
                            <a:rPr lang="en-IN" b="0" i="1" dirty="0" smtClean="0">
                              <a:latin typeface="Cambria Math" panose="02040503050406030204" pitchFamily="18" charset="0"/>
                            </a:rPr>
                            <m:t>2</m:t>
                          </m:r>
                        </m:sub>
                      </m:sSub>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4723709" y="4337714"/>
                <a:ext cx="502276" cy="655360"/>
              </a:xfrm>
              <a:prstGeom prst="rect">
                <a:avLst/>
              </a:prstGeom>
              <a:blipFill rotWithShape="0">
                <a:blip r:embed="rId5"/>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5225985" y="4337713"/>
                <a:ext cx="1094704"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i="1" dirty="0">
                              <a:latin typeface="Cambria Math" panose="02040503050406030204" pitchFamily="18" charset="0"/>
                            </a:rPr>
                            <m:t>𝑃</m:t>
                          </m:r>
                        </m:e>
                        <m:sub>
                          <m:r>
                            <a:rPr lang="en-IN" b="0" i="1" dirty="0" smtClean="0">
                              <a:latin typeface="Cambria Math" panose="02040503050406030204" pitchFamily="18" charset="0"/>
                            </a:rPr>
                            <m:t>3</m:t>
                          </m:r>
                        </m:sub>
                      </m:sSub>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5225985" y="4337713"/>
                <a:ext cx="1094704" cy="655360"/>
              </a:xfrm>
              <a:prstGeom prst="rect">
                <a:avLst/>
              </a:prstGeom>
              <a:blipFill rotWithShape="0">
                <a:blip r:embed="rId6"/>
                <a:stretch>
                  <a:fillRect/>
                </a:stretch>
              </a:blipFill>
              <a:ln w="38100">
                <a:solidFill>
                  <a:srgbClr val="4B302A"/>
                </a:solidFill>
              </a:ln>
            </p:spPr>
            <p:txBody>
              <a:bodyPr/>
              <a:lstStyle/>
              <a:p>
                <a:r>
                  <a:rPr lang="en-US">
                    <a:noFill/>
                  </a:rPr>
                  <a:t> </a:t>
                </a:r>
              </a:p>
            </p:txBody>
          </p:sp>
        </mc:Fallback>
      </mc:AlternateContent>
      <p:sp>
        <p:nvSpPr>
          <p:cNvPr id="9" name="TextBox 8"/>
          <p:cNvSpPr txBox="1"/>
          <p:nvPr/>
        </p:nvSpPr>
        <p:spPr>
          <a:xfrm>
            <a:off x="855369" y="4993073"/>
            <a:ext cx="318448" cy="381000"/>
          </a:xfrm>
          <a:prstGeom prst="rect">
            <a:avLst/>
          </a:prstGeom>
          <a:noFill/>
        </p:spPr>
        <p:txBody>
          <a:bodyPr wrap="square" rtlCol="0">
            <a:spAutoFit/>
          </a:bodyPr>
          <a:lstStyle/>
          <a:p>
            <a:r>
              <a:rPr lang="en-US" dirty="0"/>
              <a:t>0</a:t>
            </a:r>
          </a:p>
        </p:txBody>
      </p:sp>
      <p:sp>
        <p:nvSpPr>
          <p:cNvPr id="10" name="TextBox 9"/>
          <p:cNvSpPr txBox="1"/>
          <p:nvPr/>
        </p:nvSpPr>
        <p:spPr>
          <a:xfrm>
            <a:off x="3088165" y="5004741"/>
            <a:ext cx="437735" cy="369332"/>
          </a:xfrm>
          <a:prstGeom prst="rect">
            <a:avLst/>
          </a:prstGeom>
          <a:noFill/>
        </p:spPr>
        <p:txBody>
          <a:bodyPr wrap="square" rtlCol="0">
            <a:spAutoFit/>
          </a:bodyPr>
          <a:lstStyle/>
          <a:p>
            <a:r>
              <a:rPr lang="en-US" dirty="0"/>
              <a:t>10</a:t>
            </a:r>
          </a:p>
        </p:txBody>
      </p:sp>
      <p:sp>
        <p:nvSpPr>
          <p:cNvPr id="11" name="TextBox 10"/>
          <p:cNvSpPr txBox="1"/>
          <p:nvPr/>
        </p:nvSpPr>
        <p:spPr>
          <a:xfrm>
            <a:off x="4518341" y="4973745"/>
            <a:ext cx="437735" cy="369332"/>
          </a:xfrm>
          <a:prstGeom prst="rect">
            <a:avLst/>
          </a:prstGeom>
          <a:noFill/>
        </p:spPr>
        <p:txBody>
          <a:bodyPr wrap="square" rtlCol="0">
            <a:spAutoFit/>
          </a:bodyPr>
          <a:lstStyle/>
          <a:p>
            <a:r>
              <a:rPr lang="en-US" dirty="0"/>
              <a:t>16</a:t>
            </a:r>
          </a:p>
        </p:txBody>
      </p:sp>
      <p:sp>
        <p:nvSpPr>
          <p:cNvPr id="12" name="TextBox 11"/>
          <p:cNvSpPr txBox="1"/>
          <p:nvPr/>
        </p:nvSpPr>
        <p:spPr>
          <a:xfrm>
            <a:off x="5008900" y="4958247"/>
            <a:ext cx="593442" cy="369332"/>
          </a:xfrm>
          <a:prstGeom prst="rect">
            <a:avLst/>
          </a:prstGeom>
          <a:noFill/>
        </p:spPr>
        <p:txBody>
          <a:bodyPr wrap="square" rtlCol="0">
            <a:spAutoFit/>
          </a:bodyPr>
          <a:lstStyle/>
          <a:p>
            <a:r>
              <a:rPr lang="en-US" dirty="0"/>
              <a:t>18</a:t>
            </a:r>
          </a:p>
        </p:txBody>
      </p:sp>
      <p:sp>
        <p:nvSpPr>
          <p:cNvPr id="13" name="TextBox 12"/>
          <p:cNvSpPr txBox="1"/>
          <p:nvPr/>
        </p:nvSpPr>
        <p:spPr>
          <a:xfrm>
            <a:off x="6129264" y="4973745"/>
            <a:ext cx="448784" cy="369332"/>
          </a:xfrm>
          <a:prstGeom prst="rect">
            <a:avLst/>
          </a:prstGeom>
          <a:noFill/>
        </p:spPr>
        <p:txBody>
          <a:bodyPr wrap="square" rtlCol="0">
            <a:spAutoFit/>
          </a:bodyPr>
          <a:lstStyle/>
          <a:p>
            <a:r>
              <a:rPr lang="en-US" dirty="0"/>
              <a:t>22</a:t>
            </a:r>
          </a:p>
        </p:txBody>
      </p:sp>
      <p:cxnSp>
        <p:nvCxnSpPr>
          <p:cNvPr id="14" name="Straight Connector 13"/>
          <p:cNvCxnSpPr/>
          <p:nvPr/>
        </p:nvCxnSpPr>
        <p:spPr>
          <a:xfrm flipH="1">
            <a:off x="1014593" y="4353205"/>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7"/>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8"/>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6530" y="824702"/>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Waiting Time</a:t>
                      </a:r>
                      <a:endParaRPr lang="en-IN" sz="1800" b="1" kern="1200" dirty="0">
                        <a:solidFill>
                          <a:schemeClr val="tx1"/>
                        </a:solidFill>
                        <a:effectLst/>
                        <a:latin typeface="+mn-lt"/>
                        <a:ea typeface="+mn-ea"/>
                        <a:cs typeface="+mn-cs"/>
                      </a:endParaRPr>
                    </a:p>
                    <a:p>
                      <a:pPr algn="ctr"/>
                      <a:r>
                        <a:rPr lang="en-US" sz="1800" b="1" kern="1200" dirty="0">
                          <a:solidFill>
                            <a:schemeClr val="tx1"/>
                          </a:solidFill>
                          <a:effectLst/>
                          <a:latin typeface="+mn-lt"/>
                          <a:ea typeface="+mn-ea"/>
                          <a:cs typeface="+mn-cs"/>
                        </a:rPr>
                        <a:t>(TAT-ΔT)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2641" y="146766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0058" y="2023019"/>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259387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315181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0" name="TextBox 49"/>
          <p:cNvSpPr txBox="1"/>
          <p:nvPr/>
        </p:nvSpPr>
        <p:spPr>
          <a:xfrm>
            <a:off x="2723645" y="1485099"/>
            <a:ext cx="3590108" cy="542441"/>
          </a:xfrm>
          <a:prstGeom prst="rect">
            <a:avLst/>
          </a:prstGeom>
          <a:noFill/>
          <a:ln w="57150">
            <a:solidFill>
              <a:srgbClr val="FF0000"/>
            </a:solidFill>
          </a:ln>
        </p:spPr>
        <p:txBody>
          <a:bodyPr wrap="square" rtlCol="0">
            <a:spAutoFit/>
          </a:bodyPr>
          <a:lstStyle/>
          <a:p>
            <a:endParaRPr lang="en-IN" dirty="0"/>
          </a:p>
        </p:txBody>
      </p:sp>
      <p:sp>
        <p:nvSpPr>
          <p:cNvPr id="51" name="TextBox 50"/>
          <p:cNvSpPr txBox="1"/>
          <p:nvPr/>
        </p:nvSpPr>
        <p:spPr>
          <a:xfrm>
            <a:off x="7699190" y="1485099"/>
            <a:ext cx="2064742" cy="542441"/>
          </a:xfrm>
          <a:prstGeom prst="rect">
            <a:avLst/>
          </a:prstGeom>
          <a:noFill/>
          <a:ln w="57150">
            <a:solidFill>
              <a:srgbClr val="FF0000"/>
            </a:solidFill>
          </a:ln>
        </p:spPr>
        <p:txBody>
          <a:bodyPr wrap="square" rtlCol="0">
            <a:spAutoFit/>
          </a:bodyPr>
          <a:lstStyle/>
          <a:p>
            <a:endParaRPr lang="en-IN" dirty="0"/>
          </a:p>
        </p:txBody>
      </p:sp>
      <p:sp>
        <p:nvSpPr>
          <p:cNvPr id="52" name="TextBox 51"/>
          <p:cNvSpPr txBox="1"/>
          <p:nvPr/>
        </p:nvSpPr>
        <p:spPr>
          <a:xfrm>
            <a:off x="2763548" y="2026447"/>
            <a:ext cx="3590108" cy="542441"/>
          </a:xfrm>
          <a:prstGeom prst="rect">
            <a:avLst/>
          </a:prstGeom>
          <a:noFill/>
          <a:ln w="57150">
            <a:solidFill>
              <a:srgbClr val="FF0000"/>
            </a:solidFill>
          </a:ln>
        </p:spPr>
        <p:txBody>
          <a:bodyPr wrap="square" rtlCol="0">
            <a:spAutoFit/>
          </a:bodyPr>
          <a:lstStyle/>
          <a:p>
            <a:endParaRPr lang="en-IN" dirty="0"/>
          </a:p>
        </p:txBody>
      </p:sp>
      <p:sp>
        <p:nvSpPr>
          <p:cNvPr id="53" name="TextBox 52"/>
          <p:cNvSpPr txBox="1"/>
          <p:nvPr/>
        </p:nvSpPr>
        <p:spPr>
          <a:xfrm>
            <a:off x="7714686" y="2026446"/>
            <a:ext cx="2064742" cy="542441"/>
          </a:xfrm>
          <a:prstGeom prst="rect">
            <a:avLst/>
          </a:prstGeom>
          <a:noFill/>
          <a:ln w="57150">
            <a:solidFill>
              <a:srgbClr val="FF0000"/>
            </a:solidFill>
          </a:ln>
        </p:spPr>
        <p:txBody>
          <a:bodyPr wrap="square" rtlCol="0">
            <a:spAutoFit/>
          </a:bodyPr>
          <a:lstStyle/>
          <a:p>
            <a:endParaRPr lang="en-IN" dirty="0"/>
          </a:p>
        </p:txBody>
      </p:sp>
      <p:sp>
        <p:nvSpPr>
          <p:cNvPr id="54" name="TextBox 53"/>
          <p:cNvSpPr txBox="1"/>
          <p:nvPr/>
        </p:nvSpPr>
        <p:spPr>
          <a:xfrm>
            <a:off x="2743200" y="2581851"/>
            <a:ext cx="3590108" cy="542441"/>
          </a:xfrm>
          <a:prstGeom prst="rect">
            <a:avLst/>
          </a:prstGeom>
          <a:noFill/>
          <a:ln w="57150">
            <a:solidFill>
              <a:srgbClr val="FF0000"/>
            </a:solidFill>
          </a:ln>
        </p:spPr>
        <p:txBody>
          <a:bodyPr wrap="square" rtlCol="0">
            <a:spAutoFit/>
          </a:bodyPr>
          <a:lstStyle/>
          <a:p>
            <a:endParaRPr lang="en-IN" dirty="0"/>
          </a:p>
        </p:txBody>
      </p:sp>
      <p:sp>
        <p:nvSpPr>
          <p:cNvPr id="55" name="TextBox 54"/>
          <p:cNvSpPr txBox="1"/>
          <p:nvPr/>
        </p:nvSpPr>
        <p:spPr>
          <a:xfrm>
            <a:off x="7714686" y="2581850"/>
            <a:ext cx="2064742" cy="542441"/>
          </a:xfrm>
          <a:prstGeom prst="rect">
            <a:avLst/>
          </a:prstGeom>
          <a:noFill/>
          <a:ln w="57150">
            <a:solidFill>
              <a:srgbClr val="FF0000"/>
            </a:solidFill>
          </a:ln>
        </p:spPr>
        <p:txBody>
          <a:bodyPr wrap="square" rtlCol="0">
            <a:spAutoFit/>
          </a:bodyPr>
          <a:lstStyle/>
          <a:p>
            <a:endParaRPr lang="en-IN" dirty="0"/>
          </a:p>
        </p:txBody>
      </p:sp>
      <p:sp>
        <p:nvSpPr>
          <p:cNvPr id="56" name="TextBox 55"/>
          <p:cNvSpPr txBox="1"/>
          <p:nvPr/>
        </p:nvSpPr>
        <p:spPr>
          <a:xfrm>
            <a:off x="2763548" y="3152801"/>
            <a:ext cx="3590108" cy="542441"/>
          </a:xfrm>
          <a:prstGeom prst="rect">
            <a:avLst/>
          </a:prstGeom>
          <a:noFill/>
          <a:ln w="57150">
            <a:solidFill>
              <a:srgbClr val="FF0000"/>
            </a:solidFill>
          </a:ln>
        </p:spPr>
        <p:txBody>
          <a:bodyPr wrap="square" rtlCol="0">
            <a:spAutoFit/>
          </a:bodyPr>
          <a:lstStyle/>
          <a:p>
            <a:endParaRPr lang="en-IN" dirty="0"/>
          </a:p>
        </p:txBody>
      </p:sp>
      <p:sp>
        <p:nvSpPr>
          <p:cNvPr id="57" name="TextBox 56"/>
          <p:cNvSpPr txBox="1"/>
          <p:nvPr/>
        </p:nvSpPr>
        <p:spPr>
          <a:xfrm>
            <a:off x="7714686" y="3152800"/>
            <a:ext cx="2064742" cy="542441"/>
          </a:xfrm>
          <a:prstGeom prst="rect">
            <a:avLst/>
          </a:prstGeom>
          <a:noFill/>
          <a:ln w="57150">
            <a:solidFill>
              <a:srgbClr val="FF0000"/>
            </a:solidFill>
          </a:ln>
        </p:spPr>
        <p:txBody>
          <a:bodyPr wrap="square" rtlCol="0">
            <a:spAutoFit/>
          </a:bodyPr>
          <a:lstStyle/>
          <a:p>
            <a:endParaRPr lang="en-IN" dirty="0"/>
          </a:p>
        </p:txBody>
      </p:sp>
      <p:sp>
        <p:nvSpPr>
          <p:cNvPr id="58" name="TextBox 57"/>
          <p:cNvSpPr txBox="1"/>
          <p:nvPr/>
        </p:nvSpPr>
        <p:spPr>
          <a:xfrm>
            <a:off x="319576" y="5531687"/>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Waiting Time </a:t>
            </a:r>
            <a:r>
              <a:rPr lang="en-US" sz="2000" dirty="0"/>
              <a:t>= Sum of all Process’s Waiting Time/ Total Process</a:t>
            </a:r>
          </a:p>
          <a:p>
            <a:r>
              <a:rPr lang="en-US" sz="2000" dirty="0"/>
              <a:t>                                              = (0+9+13+13)/4 </a:t>
            </a:r>
          </a:p>
          <a:p>
            <a:r>
              <a:rPr lang="en-US" sz="2000" dirty="0"/>
              <a:t>                                              = 8.75 Ms.</a:t>
            </a:r>
          </a:p>
        </p:txBody>
      </p:sp>
      <p:sp>
        <p:nvSpPr>
          <p:cNvPr id="60" name="TextBox 59"/>
          <p:cNvSpPr txBox="1"/>
          <p:nvPr/>
        </p:nvSpPr>
        <p:spPr>
          <a:xfrm>
            <a:off x="9795947" y="1470399"/>
            <a:ext cx="2049246" cy="2222902"/>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4098848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500" tmFilter="0, 0; .2, .5; .8, .5; 1, 0"/>
                                        <p:tgtEl>
                                          <p:spTgt spid="50"/>
                                        </p:tgtEl>
                                      </p:cBhvr>
                                    </p:animEffect>
                                    <p:animScale>
                                      <p:cBhvr>
                                        <p:cTn id="15" dur="250" autoRev="1" fill="hold"/>
                                        <p:tgtEl>
                                          <p:spTgt spid="50"/>
                                        </p:tgtEl>
                                      </p:cBhvr>
                                      <p:by x="105000" y="105000"/>
                                    </p:animScale>
                                  </p:childTnLst>
                                </p:cTn>
                              </p:par>
                              <p:par>
                                <p:cTn id="16" presetID="1" presetClass="entr" presetSubtype="0" fill="hold" grpId="0" nodeType="withEffect">
                                  <p:stCondLst>
                                    <p:cond delay="0"/>
                                  </p:stCondLst>
                                  <p:childTnLst>
                                    <p:set>
                                      <p:cBhvr>
                                        <p:cTn id="17" dur="1" fill="hold">
                                          <p:stCondLst>
                                            <p:cond delay="0"/>
                                          </p:stCondLst>
                                        </p:cTn>
                                        <p:tgtEl>
                                          <p:spTgt spid="51"/>
                                        </p:tgtEl>
                                        <p:attrNameLst>
                                          <p:attrName>style.visibility</p:attrName>
                                        </p:attrNameLst>
                                      </p:cBhvr>
                                      <p:to>
                                        <p:strVal val="visible"/>
                                      </p:to>
                                    </p:set>
                                  </p:childTnLst>
                                </p:cTn>
                              </p:par>
                              <p:par>
                                <p:cTn id="18" presetID="26" presetClass="emph" presetSubtype="0" repeatCount="indefinite" fill="hold" grpId="1" nodeType="withEffect">
                                  <p:stCondLst>
                                    <p:cond delay="0"/>
                                  </p:stCondLst>
                                  <p:endCondLst>
                                    <p:cond evt="onNext" delay="0">
                                      <p:tgtEl>
                                        <p:sldTgt/>
                                      </p:tgtEl>
                                    </p:cond>
                                  </p:endCondLst>
                                  <p:childTnLst>
                                    <p:animEffect transition="out" filter="fade">
                                      <p:cBhvr>
                                        <p:cTn id="19" dur="500" tmFilter="0, 0; .2, .5; .8, .5; 1, 0"/>
                                        <p:tgtEl>
                                          <p:spTgt spid="51"/>
                                        </p:tgtEl>
                                      </p:cBhvr>
                                    </p:animEffect>
                                    <p:animScale>
                                      <p:cBhvr>
                                        <p:cTn id="20" dur="250" autoRev="1" fill="hold"/>
                                        <p:tgtEl>
                                          <p:spTgt spid="51"/>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xit" presetSubtype="0" fill="hold" grpId="2" nodeType="withEffect">
                                  <p:stCondLst>
                                    <p:cond delay="0"/>
                                  </p:stCondLst>
                                  <p:childTnLst>
                                    <p:set>
                                      <p:cBhvr>
                                        <p:cTn id="26" dur="1" fill="hold">
                                          <p:stCondLst>
                                            <p:cond delay="0"/>
                                          </p:stCondLst>
                                        </p:cTn>
                                        <p:tgtEl>
                                          <p:spTgt spid="50"/>
                                        </p:tgtEl>
                                        <p:attrNameLst>
                                          <p:attrName>style.visibility</p:attrName>
                                        </p:attrNameLst>
                                      </p:cBhvr>
                                      <p:to>
                                        <p:strVal val="hidden"/>
                                      </p:to>
                                    </p:set>
                                  </p:childTnLst>
                                </p:cTn>
                              </p:par>
                              <p:par>
                                <p:cTn id="27" presetID="1" presetClass="exit" presetSubtype="0" fill="hold" grpId="2" nodeType="withEffect">
                                  <p:stCondLst>
                                    <p:cond delay="0"/>
                                  </p:stCondLst>
                                  <p:childTnLst>
                                    <p:set>
                                      <p:cBhvr>
                                        <p:cTn id="28" dur="1" fill="hold">
                                          <p:stCondLst>
                                            <p:cond delay="0"/>
                                          </p:stCondLst>
                                        </p:cTn>
                                        <p:tgtEl>
                                          <p:spTgt spid="51"/>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26" presetClass="emph" presetSubtype="0" repeatCount="indefinite" fill="hold" grpId="1" nodeType="withEffect">
                                  <p:stCondLst>
                                    <p:cond delay="0"/>
                                  </p:stCondLst>
                                  <p:endCondLst>
                                    <p:cond evt="onNext" delay="0">
                                      <p:tgtEl>
                                        <p:sldTgt/>
                                      </p:tgtEl>
                                    </p:cond>
                                  </p:endCondLst>
                                  <p:childTnLst>
                                    <p:animEffect transition="out" filter="fade">
                                      <p:cBhvr>
                                        <p:cTn id="32" dur="500" tmFilter="0, 0; .2, .5; .8, .5; 1, 0"/>
                                        <p:tgtEl>
                                          <p:spTgt spid="52"/>
                                        </p:tgtEl>
                                      </p:cBhvr>
                                    </p:animEffect>
                                    <p:animScale>
                                      <p:cBhvr>
                                        <p:cTn id="33" dur="250" autoRev="1" fill="hold"/>
                                        <p:tgtEl>
                                          <p:spTgt spid="52"/>
                                        </p:tgtEl>
                                      </p:cBhvr>
                                      <p:by x="105000" y="105000"/>
                                    </p:animScale>
                                  </p:childTnLst>
                                </p:cTn>
                              </p:par>
                              <p:par>
                                <p:cTn id="34" presetID="1" presetClass="entr" presetSubtype="0" fill="hold" grpId="0" nodeType="withEffect">
                                  <p:stCondLst>
                                    <p:cond delay="0"/>
                                  </p:stCondLst>
                                  <p:childTnLst>
                                    <p:set>
                                      <p:cBhvr>
                                        <p:cTn id="35" dur="1" fill="hold">
                                          <p:stCondLst>
                                            <p:cond delay="0"/>
                                          </p:stCondLst>
                                        </p:cTn>
                                        <p:tgtEl>
                                          <p:spTgt spid="53"/>
                                        </p:tgtEl>
                                        <p:attrNameLst>
                                          <p:attrName>style.visibility</p:attrName>
                                        </p:attrNameLst>
                                      </p:cBhvr>
                                      <p:to>
                                        <p:strVal val="visible"/>
                                      </p:to>
                                    </p:set>
                                  </p:childTnLst>
                                </p:cTn>
                              </p:par>
                              <p:par>
                                <p:cTn id="36" presetID="26" presetClass="emph" presetSubtype="0" repeatCount="indefinite" fill="hold" grpId="1" nodeType="withEffect">
                                  <p:stCondLst>
                                    <p:cond delay="0"/>
                                  </p:stCondLst>
                                  <p:endCondLst>
                                    <p:cond evt="onNext" delay="0">
                                      <p:tgtEl>
                                        <p:sldTgt/>
                                      </p:tgtEl>
                                    </p:cond>
                                  </p:endCondLst>
                                  <p:childTnLst>
                                    <p:animEffect transition="out" filter="fade">
                                      <p:cBhvr>
                                        <p:cTn id="37" dur="500" tmFilter="0, 0; .2, .5; .8, .5; 1, 0"/>
                                        <p:tgtEl>
                                          <p:spTgt spid="53"/>
                                        </p:tgtEl>
                                      </p:cBhvr>
                                    </p:animEffect>
                                    <p:animScale>
                                      <p:cBhvr>
                                        <p:cTn id="38" dur="250" autoRev="1" fill="hold"/>
                                        <p:tgtEl>
                                          <p:spTgt spid="53"/>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xit" presetSubtype="0" fill="hold" grpId="2" nodeType="withEffect">
                                  <p:stCondLst>
                                    <p:cond delay="0"/>
                                  </p:stCondLst>
                                  <p:childTnLst>
                                    <p:set>
                                      <p:cBhvr>
                                        <p:cTn id="44" dur="1" fill="hold">
                                          <p:stCondLst>
                                            <p:cond delay="0"/>
                                          </p:stCondLst>
                                        </p:cTn>
                                        <p:tgtEl>
                                          <p:spTgt spid="52"/>
                                        </p:tgtEl>
                                        <p:attrNameLst>
                                          <p:attrName>style.visibility</p:attrName>
                                        </p:attrNameLst>
                                      </p:cBhvr>
                                      <p:to>
                                        <p:strVal val="hidden"/>
                                      </p:to>
                                    </p:set>
                                  </p:childTnLst>
                                </p:cTn>
                              </p:par>
                              <p:par>
                                <p:cTn id="45" presetID="1" presetClass="exit" presetSubtype="0" fill="hold" grpId="2" nodeType="withEffect">
                                  <p:stCondLst>
                                    <p:cond delay="0"/>
                                  </p:stCondLst>
                                  <p:childTnLst>
                                    <p:set>
                                      <p:cBhvr>
                                        <p:cTn id="46" dur="1" fill="hold">
                                          <p:stCondLst>
                                            <p:cond delay="0"/>
                                          </p:stCondLst>
                                        </p:cTn>
                                        <p:tgtEl>
                                          <p:spTgt spid="53"/>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54"/>
                                        </p:tgtEl>
                                        <p:attrNameLst>
                                          <p:attrName>style.visibility</p:attrName>
                                        </p:attrNameLst>
                                      </p:cBhvr>
                                      <p:to>
                                        <p:strVal val="visible"/>
                                      </p:to>
                                    </p:set>
                                  </p:childTnLst>
                                </p:cTn>
                              </p:par>
                              <p:par>
                                <p:cTn id="49" presetID="26" presetClass="emph" presetSubtype="0" repeatCount="indefinite" fill="hold" grpId="1" nodeType="withEffect">
                                  <p:stCondLst>
                                    <p:cond delay="0"/>
                                  </p:stCondLst>
                                  <p:endCondLst>
                                    <p:cond evt="onNext" delay="0">
                                      <p:tgtEl>
                                        <p:sldTgt/>
                                      </p:tgtEl>
                                    </p:cond>
                                  </p:endCondLst>
                                  <p:childTnLst>
                                    <p:animEffect transition="out" filter="fade">
                                      <p:cBhvr>
                                        <p:cTn id="50" dur="500" tmFilter="0, 0; .2, .5; .8, .5; 1, 0"/>
                                        <p:tgtEl>
                                          <p:spTgt spid="54"/>
                                        </p:tgtEl>
                                      </p:cBhvr>
                                    </p:animEffect>
                                    <p:animScale>
                                      <p:cBhvr>
                                        <p:cTn id="51" dur="250" autoRev="1" fill="hold"/>
                                        <p:tgtEl>
                                          <p:spTgt spid="54"/>
                                        </p:tgtEl>
                                      </p:cBhvr>
                                      <p:by x="105000" y="105000"/>
                                    </p:animScale>
                                  </p:childTnLst>
                                </p:cTn>
                              </p:par>
                              <p:par>
                                <p:cTn id="52" presetID="1" presetClass="entr" presetSubtype="0" fill="hold" grpId="0" nodeType="withEffect">
                                  <p:stCondLst>
                                    <p:cond delay="0"/>
                                  </p:stCondLst>
                                  <p:childTnLst>
                                    <p:set>
                                      <p:cBhvr>
                                        <p:cTn id="53" dur="1" fill="hold">
                                          <p:stCondLst>
                                            <p:cond delay="0"/>
                                          </p:stCondLst>
                                        </p:cTn>
                                        <p:tgtEl>
                                          <p:spTgt spid="55"/>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55"/>
                                        </p:tgtEl>
                                      </p:cBhvr>
                                    </p:animEffect>
                                    <p:animScale>
                                      <p:cBhvr>
                                        <p:cTn id="56" dur="250" autoRev="1" fill="hold"/>
                                        <p:tgtEl>
                                          <p:spTgt spid="55"/>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54"/>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55"/>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56"/>
                                        </p:tgtEl>
                                        <p:attrNameLst>
                                          <p:attrName>style.visibility</p:attrName>
                                        </p:attrNameLst>
                                      </p:cBhvr>
                                      <p:to>
                                        <p:strVal val="visible"/>
                                      </p:to>
                                    </p:set>
                                  </p:childTnLst>
                                </p:cTn>
                              </p:par>
                              <p:par>
                                <p:cTn id="67" presetID="26" presetClass="emph" presetSubtype="0" repeatCount="indefinite" fill="hold" grpId="1" nodeType="withEffect">
                                  <p:stCondLst>
                                    <p:cond delay="0"/>
                                  </p:stCondLst>
                                  <p:endCondLst>
                                    <p:cond evt="onNext" delay="0">
                                      <p:tgtEl>
                                        <p:sldTgt/>
                                      </p:tgtEl>
                                    </p:cond>
                                  </p:endCondLst>
                                  <p:childTnLst>
                                    <p:animEffect transition="out" filter="fade">
                                      <p:cBhvr>
                                        <p:cTn id="68" dur="500" tmFilter="0, 0; .2, .5; .8, .5; 1, 0"/>
                                        <p:tgtEl>
                                          <p:spTgt spid="56"/>
                                        </p:tgtEl>
                                      </p:cBhvr>
                                    </p:animEffect>
                                    <p:animScale>
                                      <p:cBhvr>
                                        <p:cTn id="69" dur="250" autoRev="1" fill="hold"/>
                                        <p:tgtEl>
                                          <p:spTgt spid="56"/>
                                        </p:tgtEl>
                                      </p:cBhvr>
                                      <p:by x="105000" y="105000"/>
                                    </p:animScale>
                                  </p:childTnLst>
                                </p:cTn>
                              </p:par>
                              <p:par>
                                <p:cTn id="70" presetID="1" presetClass="entr" presetSubtype="0" fill="hold" grpId="0" nodeType="withEffect">
                                  <p:stCondLst>
                                    <p:cond delay="0"/>
                                  </p:stCondLst>
                                  <p:childTnLst>
                                    <p:set>
                                      <p:cBhvr>
                                        <p:cTn id="71" dur="1" fill="hold">
                                          <p:stCondLst>
                                            <p:cond delay="0"/>
                                          </p:stCondLst>
                                        </p:cTn>
                                        <p:tgtEl>
                                          <p:spTgt spid="57"/>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57"/>
                                        </p:tgtEl>
                                      </p:cBhvr>
                                    </p:animEffect>
                                    <p:animScale>
                                      <p:cBhvr>
                                        <p:cTn id="74" dur="250" autoRev="1" fill="hold"/>
                                        <p:tgtEl>
                                          <p:spTgt spid="57"/>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56"/>
                                        </p:tgtEl>
                                        <p:attrNameLst>
                                          <p:attrName>style.visibility</p:attrName>
                                        </p:attrNameLst>
                                      </p:cBhvr>
                                      <p:to>
                                        <p:strVal val="hidden"/>
                                      </p:to>
                                    </p:set>
                                  </p:childTnLst>
                                </p:cTn>
                              </p:par>
                              <p:par>
                                <p:cTn id="79" presetID="1" presetClass="exit" presetSubtype="0" fill="hold" grpId="2" nodeType="withEffect">
                                  <p:stCondLst>
                                    <p:cond delay="0"/>
                                  </p:stCondLst>
                                  <p:childTnLst>
                                    <p:set>
                                      <p:cBhvr>
                                        <p:cTn id="80" dur="1" fill="hold">
                                          <p:stCondLst>
                                            <p:cond delay="0"/>
                                          </p:stCondLst>
                                        </p:cTn>
                                        <p:tgtEl>
                                          <p:spTgt spid="57"/>
                                        </p:tgtEl>
                                        <p:attrNameLst>
                                          <p:attrName>style.visibility</p:attrName>
                                        </p:attrNameLst>
                                      </p:cBhvr>
                                      <p:to>
                                        <p:strVal val="hidden"/>
                                      </p:to>
                                    </p:set>
                                  </p:childTnLst>
                                </p:cTn>
                              </p:par>
                              <p:par>
                                <p:cTn id="81" presetID="1" presetClass="entr" presetSubtype="0" fill="hold" grpId="0" nodeType="withEffect">
                                  <p:stCondLst>
                                    <p:cond delay="0"/>
                                  </p:stCondLst>
                                  <p:childTnLst>
                                    <p:set>
                                      <p:cBhvr>
                                        <p:cTn id="82" dur="1" fill="hold">
                                          <p:stCondLst>
                                            <p:cond delay="0"/>
                                          </p:stCondLst>
                                        </p:cTn>
                                        <p:tgtEl>
                                          <p:spTgt spid="5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0"/>
                                        </p:tgtEl>
                                        <p:attrNameLst>
                                          <p:attrName>style.visibility</p:attrName>
                                        </p:attrNameLst>
                                      </p:cBhvr>
                                      <p:to>
                                        <p:strVal val="visible"/>
                                      </p:to>
                                    </p:set>
                                  </p:childTnLst>
                                </p:cTn>
                              </p:par>
                              <p:par>
                                <p:cTn id="85" presetID="26" presetClass="emph" presetSubtype="0" repeatCount="indefinite" fill="hold" grpId="1" nodeType="withEffect">
                                  <p:stCondLst>
                                    <p:cond delay="0"/>
                                  </p:stCondLst>
                                  <p:endCondLst>
                                    <p:cond evt="onNext" delay="0">
                                      <p:tgtEl>
                                        <p:sldTgt/>
                                      </p:tgtEl>
                                    </p:cond>
                                  </p:endCondLst>
                                  <p:childTnLst>
                                    <p:animEffect transition="out" filter="fade">
                                      <p:cBhvr>
                                        <p:cTn id="86" dur="500" tmFilter="0, 0; .2, .5; .8, .5; 1, 0"/>
                                        <p:tgtEl>
                                          <p:spTgt spid="60"/>
                                        </p:tgtEl>
                                      </p:cBhvr>
                                    </p:animEffect>
                                    <p:animScale>
                                      <p:cBhvr>
                                        <p:cTn id="87" dur="250" autoRev="1" fill="hold"/>
                                        <p:tgtEl>
                                          <p:spTgt spid="6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0" grpId="2" animBg="1"/>
      <p:bldP spid="51" grpId="0" animBg="1"/>
      <p:bldP spid="51" grpId="1" animBg="1"/>
      <p:bldP spid="51" grpId="2" animBg="1"/>
      <p:bldP spid="52" grpId="0" animBg="1"/>
      <p:bldP spid="52" grpId="1" animBg="1"/>
      <p:bldP spid="52" grpId="2" animBg="1"/>
      <p:bldP spid="53" grpId="0" animBg="1"/>
      <p:bldP spid="53" grpId="1" animBg="1"/>
      <p:bldP spid="53" grpId="2" animBg="1"/>
      <p:bldP spid="54" grpId="0" animBg="1"/>
      <p:bldP spid="54" grpId="1" animBg="1"/>
      <p:bldP spid="54" grpId="2" animBg="1"/>
      <p:bldP spid="55" grpId="0" animBg="1"/>
      <p:bldP spid="55" grpId="1" animBg="1"/>
      <p:bldP spid="55" grpId="2" animBg="1"/>
      <p:bldP spid="56" grpId="0" animBg="1"/>
      <p:bldP spid="56" grpId="1" animBg="1"/>
      <p:bldP spid="56" grpId="2" animBg="1"/>
      <p:bldP spid="57" grpId="0" animBg="1"/>
      <p:bldP spid="57" grpId="1" animBg="1"/>
      <p:bldP spid="57" grpId="2" animBg="1"/>
      <p:bldP spid="58" grpId="0"/>
      <p:bldP spid="60" grpId="0" animBg="1"/>
      <p:bldP spid="60" grpI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Come, First Served</a:t>
            </a:r>
            <a:r>
              <a:rPr lang="en-IN" dirty="0"/>
              <a:t>(FCFS)</a:t>
            </a:r>
          </a:p>
        </p:txBody>
      </p:sp>
      <p:sp>
        <p:nvSpPr>
          <p:cNvPr id="3" name="Content Placeholder 2"/>
          <p:cNvSpPr>
            <a:spLocks noGrp="1"/>
          </p:cNvSpPr>
          <p:nvPr>
            <p:ph idx="1"/>
          </p:nvPr>
        </p:nvSpPr>
        <p:spPr/>
        <p:txBody>
          <a:bodyPr/>
          <a:lstStyle/>
          <a:p>
            <a:r>
              <a:rPr lang="en-IN" b="1" dirty="0"/>
              <a:t>Advantages</a:t>
            </a:r>
          </a:p>
          <a:p>
            <a:pPr lvl="1"/>
            <a:r>
              <a:rPr lang="en-IN" b="1" dirty="0">
                <a:solidFill>
                  <a:schemeClr val="accent6"/>
                </a:solidFill>
              </a:rPr>
              <a:t>Simple</a:t>
            </a:r>
            <a:r>
              <a:rPr lang="en-IN" dirty="0"/>
              <a:t>,</a:t>
            </a:r>
            <a:r>
              <a:rPr lang="en-IN" dirty="0">
                <a:solidFill>
                  <a:schemeClr val="accent6"/>
                </a:solidFill>
              </a:rPr>
              <a:t> </a:t>
            </a:r>
            <a:r>
              <a:rPr lang="en-IN" b="1" dirty="0">
                <a:solidFill>
                  <a:schemeClr val="accent6"/>
                </a:solidFill>
              </a:rPr>
              <a:t>Fair </a:t>
            </a:r>
            <a:r>
              <a:rPr lang="en-IN" dirty="0"/>
              <a:t>and</a:t>
            </a:r>
            <a:r>
              <a:rPr lang="en-IN" b="1" dirty="0"/>
              <a:t> </a:t>
            </a:r>
            <a:r>
              <a:rPr lang="en-IN" b="1" dirty="0">
                <a:solidFill>
                  <a:schemeClr val="accent6"/>
                </a:solidFill>
              </a:rPr>
              <a:t>No Starvation</a:t>
            </a:r>
            <a:r>
              <a:rPr lang="en-IN" dirty="0"/>
              <a:t>.</a:t>
            </a:r>
          </a:p>
          <a:p>
            <a:pPr lvl="1"/>
            <a:r>
              <a:rPr lang="en-IN" b="1" dirty="0">
                <a:solidFill>
                  <a:schemeClr val="accent6"/>
                </a:solidFill>
              </a:rPr>
              <a:t>Easy to understand </a:t>
            </a:r>
            <a:r>
              <a:rPr lang="en-IN" dirty="0"/>
              <a:t>and </a:t>
            </a:r>
            <a:r>
              <a:rPr lang="en-IN" b="1" dirty="0">
                <a:solidFill>
                  <a:schemeClr val="accent6"/>
                </a:solidFill>
              </a:rPr>
              <a:t>implement</a:t>
            </a:r>
            <a:r>
              <a:rPr lang="en-IN" b="1" dirty="0">
                <a:solidFill>
                  <a:srgbClr val="C00000"/>
                </a:solidFill>
              </a:rPr>
              <a:t>.</a:t>
            </a:r>
          </a:p>
          <a:p>
            <a:pPr marL="457200" lvl="1" indent="0">
              <a:buNone/>
            </a:pPr>
            <a:endParaRPr lang="en-IN" dirty="0"/>
          </a:p>
          <a:p>
            <a:r>
              <a:rPr lang="en-IN" b="1" dirty="0"/>
              <a:t>Disadvantages </a:t>
            </a:r>
          </a:p>
          <a:p>
            <a:pPr lvl="1"/>
            <a:r>
              <a:rPr lang="en-IN" b="1" dirty="0">
                <a:solidFill>
                  <a:schemeClr val="accent6"/>
                </a:solidFill>
              </a:rPr>
              <a:t>Not efficient</a:t>
            </a:r>
            <a:r>
              <a:rPr lang="en-IN" dirty="0">
                <a:solidFill>
                  <a:schemeClr val="accent6"/>
                </a:solidFill>
              </a:rPr>
              <a:t> </a:t>
            </a:r>
            <a:r>
              <a:rPr lang="en-IN" dirty="0"/>
              <a:t>because average waiting time is too high.</a:t>
            </a:r>
          </a:p>
          <a:p>
            <a:pPr lvl="1"/>
            <a:r>
              <a:rPr lang="en-IN" b="1" dirty="0">
                <a:solidFill>
                  <a:schemeClr val="accent6"/>
                </a:solidFill>
              </a:rPr>
              <a:t>Convoy effect is possible</a:t>
            </a:r>
            <a:r>
              <a:rPr lang="en-IN" dirty="0"/>
              <a:t>. All small processes wait for one big process to get usage of CPU. </a:t>
            </a:r>
          </a:p>
          <a:p>
            <a:pPr lvl="1"/>
            <a:r>
              <a:rPr lang="en-IN" b="1" dirty="0">
                <a:solidFill>
                  <a:schemeClr val="accent6"/>
                </a:solidFill>
              </a:rPr>
              <a:t>CPU utilization is too low</a:t>
            </a:r>
            <a:r>
              <a:rPr lang="en-IN" b="1" dirty="0"/>
              <a:t>.</a:t>
            </a:r>
            <a:endParaRPr lang="en-IN" dirty="0"/>
          </a:p>
        </p:txBody>
      </p:sp>
    </p:spTree>
    <p:extLst>
      <p:ext uri="{BB962C8B-B14F-4D97-AF65-F5344CB8AC3E}">
        <p14:creationId xmlns:p14="http://schemas.microsoft.com/office/powerpoint/2010/main" val="2226110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Come, First Served</a:t>
            </a:r>
            <a:r>
              <a:rPr lang="en-IN" dirty="0"/>
              <a:t>(FCFS)</a:t>
            </a:r>
          </a:p>
        </p:txBody>
      </p:sp>
      <p:sp>
        <p:nvSpPr>
          <p:cNvPr id="3" name="Content Placeholder 2"/>
          <p:cNvSpPr>
            <a:spLocks noGrp="1"/>
          </p:cNvSpPr>
          <p:nvPr>
            <p:ph idx="1"/>
          </p:nvPr>
        </p:nvSpPr>
        <p:spPr/>
        <p:txBody>
          <a:bodyPr/>
          <a:lstStyle/>
          <a:p>
            <a:r>
              <a:rPr lang="en-US" b="1" dirty="0"/>
              <a:t>First Come, First Served </a:t>
            </a:r>
            <a:r>
              <a:rPr lang="en-IN" b="1" dirty="0"/>
              <a:t>Example(Self Study…)</a:t>
            </a:r>
          </a:p>
          <a:p>
            <a:pPr lvl="1"/>
            <a:r>
              <a:rPr lang="en-US" dirty="0"/>
              <a:t>Consider the following set of four processes. Their arrival time and time required to complete the execution are given in following table. (Time value in milliseconds).</a:t>
            </a:r>
            <a:r>
              <a:rPr lang="en-IN" dirty="0"/>
              <a:t> Draw the Gantt chart and find Finish Time, Average Waiting Time and Turn Around Time  for FCFS algorithm</a:t>
            </a:r>
            <a:endParaRPr lang="en-IN" b="1" dirty="0"/>
          </a:p>
          <a:p>
            <a:pPr lvl="1"/>
            <a:endParaRPr lang="en-IN" b="1"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2566044620"/>
                  </p:ext>
                </p:extLst>
              </p:nvPr>
            </p:nvGraphicFramePr>
            <p:xfrm>
              <a:off x="1048598" y="2452541"/>
              <a:ext cx="5718875" cy="2874036"/>
            </p:xfrm>
            <a:graphic>
              <a:graphicData uri="http://schemas.openxmlformats.org/drawingml/2006/table">
                <a:tbl>
                  <a:tblPr firstRow="1" bandRow="1">
                    <a:tableStyleId>{8EC20E35-A176-4012-BC5E-935CFFF8708E}</a:tableStyleId>
                  </a:tblPr>
                  <a:tblGrid>
                    <a:gridCol w="967446">
                      <a:extLst>
                        <a:ext uri="{9D8B030D-6E8A-4147-A177-3AD203B41FA5}">
                          <a16:colId xmlns:a16="http://schemas.microsoft.com/office/drawing/2014/main" val="20000"/>
                        </a:ext>
                      </a:extLst>
                    </a:gridCol>
                    <a:gridCol w="1380610">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2566044620"/>
                  </p:ext>
                </p:extLst>
              </p:nvPr>
            </p:nvGraphicFramePr>
            <p:xfrm>
              <a:off x="1048598" y="2452541"/>
              <a:ext cx="5718875" cy="2874036"/>
            </p:xfrm>
            <a:graphic>
              <a:graphicData uri="http://schemas.openxmlformats.org/drawingml/2006/table">
                <a:tbl>
                  <a:tblPr firstRow="1" bandRow="1">
                    <a:tableStyleId>{8EC20E35-A176-4012-BC5E-935CFFF8708E}</a:tableStyleId>
                  </a:tblPr>
                  <a:tblGrid>
                    <a:gridCol w="967446">
                      <a:extLst>
                        <a:ext uri="{9D8B030D-6E8A-4147-A177-3AD203B41FA5}">
                          <a16:colId xmlns:a16="http://schemas.microsoft.com/office/drawing/2014/main" val="20000"/>
                        </a:ext>
                      </a:extLst>
                    </a:gridCol>
                    <a:gridCol w="1380610">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70485" t="-3810" r="-244053" b="-354286"/>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2"/>
                          <a:stretch>
                            <a:fillRect l="-629" t="-118478" r="-491195" b="-304348"/>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2"/>
                          <a:stretch>
                            <a:fillRect l="-629" t="-218478" r="-491195" b="-204348"/>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2"/>
                          <a:stretch>
                            <a:fillRect l="-629" t="-321978" r="-491195" b="-106593"/>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2"/>
                          <a:stretch>
                            <a:fillRect l="-629" t="-417391" r="-491195" b="-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211812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First Come, First Served </a:t>
                </a:r>
                <a:r>
                  <a:rPr lang="en-IN" sz="2800" b="1" dirty="0"/>
                  <a:t>Example</a:t>
                </a:r>
              </a:p>
              <a:p>
                <a:pPr marL="342900" lvl="0" indent="-342900" algn="just">
                  <a:buFont typeface="Wingdings" panose="05000000000000000000" pitchFamily="2" charset="2"/>
                  <a:buChar char="Ø"/>
                </a:pPr>
                <a:endParaRPr lang="en-US" sz="2400" dirty="0"/>
              </a:p>
              <a:p>
                <a:pPr marL="342900" lvl="0" indent="-342900" algn="just">
                  <a:buFont typeface="Wingdings" panose="05000000000000000000" pitchFamily="2" charset="2"/>
                  <a:buChar char="ü"/>
                </a:pPr>
                <a:r>
                  <a:rPr lang="en-US" sz="2400" dirty="0"/>
                  <a:t>Initially only process </a:t>
                </a:r>
                <a14:m>
                  <m:oMath xmlns:m="http://schemas.openxmlformats.org/officeDocument/2006/math">
                    <m:sSub>
                      <m:sSubPr>
                        <m:ctrlPr>
                          <a:rPr lang="en-IN" sz="2400" i="1">
                            <a:latin typeface="Cambria Math" panose="02040503050406030204" pitchFamily="18" charset="0"/>
                          </a:rPr>
                        </m:ctrlPr>
                      </m:sSubPr>
                      <m:e>
                        <m:r>
                          <a:rPr lang="en-IN" sz="2400">
                            <a:latin typeface="Cambria Math" panose="02040503050406030204" pitchFamily="18" charset="0"/>
                          </a:rPr>
                          <m:t>𝑷</m:t>
                        </m:r>
                      </m:e>
                      <m:sub>
                        <m:r>
                          <a:rPr lang="en-IN" sz="2400" b="0" i="1" smtClean="0">
                            <a:latin typeface="Cambria Math" panose="02040503050406030204" pitchFamily="18" charset="0"/>
                          </a:rPr>
                          <m:t>1</m:t>
                        </m:r>
                      </m:sub>
                    </m:sSub>
                  </m:oMath>
                </a14:m>
                <a:r>
                  <a:rPr lang="en-US" sz="2400" dirty="0"/>
                  <a:t> is present and it is allowed to run. But, when </a:t>
                </a:r>
                <a14:m>
                  <m:oMath xmlns:m="http://schemas.openxmlformats.org/officeDocument/2006/math">
                    <m:sSub>
                      <m:sSubPr>
                        <m:ctrlPr>
                          <a:rPr lang="en-IN" sz="2400" i="1">
                            <a:latin typeface="Cambria Math" panose="02040503050406030204" pitchFamily="18" charset="0"/>
                          </a:rPr>
                        </m:ctrlPr>
                      </m:sSubPr>
                      <m:e>
                        <m:r>
                          <a:rPr lang="en-IN" sz="2400">
                            <a:latin typeface="Cambria Math" panose="02040503050406030204" pitchFamily="18" charset="0"/>
                          </a:rPr>
                          <m:t>𝑷</m:t>
                        </m:r>
                      </m:e>
                      <m:sub>
                        <m:r>
                          <a:rPr lang="en-IN" sz="2400" b="0" i="1" smtClean="0">
                            <a:latin typeface="Cambria Math" panose="02040503050406030204" pitchFamily="18" charset="0"/>
                          </a:rPr>
                          <m:t>1</m:t>
                        </m:r>
                      </m:sub>
                    </m:sSub>
                  </m:oMath>
                </a14:m>
                <a:r>
                  <a:rPr lang="en-US" sz="2400" dirty="0"/>
                  <a:t> completes, all the other processes are present. </a:t>
                </a:r>
                <a:endParaRPr lang="en-IN" sz="2400" dirty="0"/>
              </a:p>
              <a:p>
                <a:pPr marL="342900" lvl="0" indent="-342900" algn="just">
                  <a:buFont typeface="Wingdings" panose="05000000000000000000" pitchFamily="2" charset="2"/>
                  <a:buChar char="ü"/>
                </a:pPr>
                <a:r>
                  <a:rPr lang="en-US" sz="2400" dirty="0"/>
                  <a:t>So, next process (</a:t>
                </a:r>
                <a14:m>
                  <m:oMath xmlns:m="http://schemas.openxmlformats.org/officeDocument/2006/math">
                    <m:sSub>
                      <m:sSubPr>
                        <m:ctrlPr>
                          <a:rPr lang="en-IN" sz="2400" i="1">
                            <a:latin typeface="Cambria Math" panose="02040503050406030204" pitchFamily="18" charset="0"/>
                          </a:rPr>
                        </m:ctrlPr>
                      </m:sSubPr>
                      <m:e>
                        <m:r>
                          <a:rPr lang="en-IN" sz="2400">
                            <a:latin typeface="Cambria Math" panose="02040503050406030204" pitchFamily="18" charset="0"/>
                          </a:rPr>
                          <m:t>𝑷</m:t>
                        </m:r>
                      </m:e>
                      <m:sub>
                        <m:r>
                          <a:rPr lang="en-IN" sz="2400" b="0" i="1" smtClean="0">
                            <a:latin typeface="Cambria Math" panose="02040503050406030204" pitchFamily="18" charset="0"/>
                          </a:rPr>
                          <m:t>2</m:t>
                        </m:r>
                      </m:sub>
                    </m:sSub>
                  </m:oMath>
                </a14:m>
                <a:r>
                  <a:rPr lang="en-US" sz="2400" dirty="0"/>
                  <a:t>) from ready queue is selected and allowed to run till it completes. </a:t>
                </a:r>
              </a:p>
              <a:p>
                <a:pPr marL="342900" indent="-342900" algn="just">
                  <a:buFont typeface="Wingdings" panose="05000000000000000000" pitchFamily="2" charset="2"/>
                  <a:buChar char="ü"/>
                </a:pPr>
                <a:r>
                  <a:rPr lang="en-US" sz="2400" dirty="0"/>
                  <a:t>Then, next process (</a:t>
                </a:r>
                <a14:m>
                  <m:oMath xmlns:m="http://schemas.openxmlformats.org/officeDocument/2006/math">
                    <m:sSub>
                      <m:sSubPr>
                        <m:ctrlPr>
                          <a:rPr lang="en-IN" sz="2400" i="1">
                            <a:latin typeface="Cambria Math" panose="02040503050406030204" pitchFamily="18" charset="0"/>
                          </a:rPr>
                        </m:ctrlPr>
                      </m:sSubPr>
                      <m:e>
                        <m:r>
                          <a:rPr lang="en-IN" sz="2400">
                            <a:latin typeface="Cambria Math" panose="02040503050406030204" pitchFamily="18" charset="0"/>
                          </a:rPr>
                          <m:t>𝑷</m:t>
                        </m:r>
                      </m:e>
                      <m:sub>
                        <m:r>
                          <a:rPr lang="en-IN" sz="2400" b="0" i="1" smtClean="0">
                            <a:latin typeface="Cambria Math" panose="02040503050406030204" pitchFamily="18" charset="0"/>
                          </a:rPr>
                          <m:t>3</m:t>
                        </m:r>
                      </m:sub>
                    </m:sSub>
                  </m:oMath>
                </a14:m>
                <a:r>
                  <a:rPr lang="en-US" sz="2400" dirty="0"/>
                  <a:t>) from ready queue is selected and allowed to run till it completes. </a:t>
                </a:r>
                <a:endParaRPr lang="en-IN" sz="2400" dirty="0"/>
              </a:p>
              <a:p>
                <a:pPr marL="342900" lvl="0" indent="-342900" algn="just">
                  <a:buFont typeface="Wingdings" panose="05000000000000000000" pitchFamily="2" charset="2"/>
                  <a:buChar char="ü"/>
                </a:pPr>
                <a:r>
                  <a:rPr lang="en-US" sz="2400" dirty="0"/>
                  <a:t>This procedure is repeated till all processes complete their execution.</a:t>
                </a:r>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85978" y="773820"/>
              <a:ext cx="5718875" cy="2874036"/>
            </p:xfrm>
            <a:graphic>
              <a:graphicData uri="http://schemas.openxmlformats.org/drawingml/2006/table">
                <a:tbl>
                  <a:tblPr firstRow="1" bandRow="1">
                    <a:tableStyleId>{8EC20E35-A176-4012-BC5E-935CFFF8708E}</a:tableStyleId>
                  </a:tblPr>
                  <a:tblGrid>
                    <a:gridCol w="991893">
                      <a:extLst>
                        <a:ext uri="{9D8B030D-6E8A-4147-A177-3AD203B41FA5}">
                          <a16:colId xmlns:a16="http://schemas.microsoft.com/office/drawing/2014/main" val="20000"/>
                        </a:ext>
                      </a:extLst>
                    </a:gridCol>
                    <a:gridCol w="1356163">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185978" y="773820"/>
              <a:ext cx="5718875" cy="2874036"/>
            </p:xfrm>
            <a:graphic>
              <a:graphicData uri="http://schemas.openxmlformats.org/drawingml/2006/table">
                <a:tbl>
                  <a:tblPr firstRow="1" bandRow="1">
                    <a:tableStyleId>{8EC20E35-A176-4012-BC5E-935CFFF8708E}</a:tableStyleId>
                  </a:tblPr>
                  <a:tblGrid>
                    <a:gridCol w="991893">
                      <a:extLst>
                        <a:ext uri="{9D8B030D-6E8A-4147-A177-3AD203B41FA5}">
                          <a16:colId xmlns:a16="http://schemas.microsoft.com/office/drawing/2014/main" xmlns="" xmlns:a14="http://schemas.microsoft.com/office/drawing/2010/main" val="20000"/>
                        </a:ext>
                      </a:extLst>
                    </a:gridCol>
                    <a:gridCol w="1356163">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3543" t="-3810" r="-248430"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3" t="-118478" r="-476687"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3" t="-218478" r="-476687" b="-2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3" t="-318478" r="-476687" b="-1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3" t="-418478" r="-476687" b="-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3" y="215584"/>
            <a:ext cx="3022169" cy="461665"/>
          </a:xfrm>
          <a:prstGeom prst="rect">
            <a:avLst/>
          </a:prstGeom>
          <a:noFill/>
        </p:spPr>
        <p:txBody>
          <a:bodyPr wrap="square" rtlCol="0">
            <a:spAutoFit/>
          </a:bodyPr>
          <a:lstStyle/>
          <a:p>
            <a:r>
              <a:rPr lang="en-IN" sz="2400" b="1" dirty="0"/>
              <a:t>Example</a:t>
            </a:r>
          </a:p>
        </p:txBody>
      </p:sp>
      <p:sp>
        <p:nvSpPr>
          <p:cNvPr id="33" name="TextBox 32"/>
          <p:cNvSpPr txBox="1"/>
          <p:nvPr/>
        </p:nvSpPr>
        <p:spPr>
          <a:xfrm>
            <a:off x="65428" y="3952407"/>
            <a:ext cx="3022169" cy="461665"/>
          </a:xfrm>
          <a:prstGeom prst="rect">
            <a:avLst/>
          </a:prstGeom>
          <a:noFill/>
        </p:spPr>
        <p:txBody>
          <a:bodyPr wrap="square" rtlCol="0">
            <a:spAutoFit/>
          </a:bodyPr>
          <a:lstStyle/>
          <a:p>
            <a:r>
              <a:rPr lang="en-US" sz="2400" b="1" dirty="0"/>
              <a:t>Gantt Chart</a:t>
            </a:r>
          </a:p>
        </p:txBody>
      </p:sp>
      <mc:AlternateContent xmlns:mc="http://schemas.openxmlformats.org/markup-compatibility/2006" xmlns:a14="http://schemas.microsoft.com/office/drawing/2010/main">
        <mc:Choice Requires="a14">
          <p:sp>
            <p:nvSpPr>
              <p:cNvPr id="39" name="Rectangle 38"/>
              <p:cNvSpPr/>
              <p:nvPr/>
            </p:nvSpPr>
            <p:spPr>
              <a:xfrm>
                <a:off x="2093594" y="4686713"/>
                <a:ext cx="22924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39" name="Rectangle 38"/>
              <p:cNvSpPr>
                <a:spLocks noRot="1" noChangeAspect="1" noMove="1" noResize="1" noEditPoints="1" noAdjustHandles="1" noChangeArrowheads="1" noChangeShapeType="1" noTextEdit="1"/>
              </p:cNvSpPr>
              <p:nvPr/>
            </p:nvSpPr>
            <p:spPr>
              <a:xfrm>
                <a:off x="2093594" y="4686713"/>
                <a:ext cx="229244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676918" y="4686713"/>
                <a:ext cx="1416676" cy="6553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676918" y="4686713"/>
                <a:ext cx="1416676" cy="655360"/>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174642" y="4681051"/>
                <a:ext cx="502276"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2" name="Rectangle 41"/>
              <p:cNvSpPr>
                <a:spLocks noRot="1" noChangeAspect="1" noMove="1" noResize="1" noEditPoints="1" noAdjustHandles="1" noChangeArrowheads="1" noChangeShapeType="1" noTextEdit="1"/>
              </p:cNvSpPr>
              <p:nvPr/>
            </p:nvSpPr>
            <p:spPr>
              <a:xfrm>
                <a:off x="174642" y="4681051"/>
                <a:ext cx="502276" cy="655360"/>
              </a:xfrm>
              <a:prstGeom prst="rect">
                <a:avLst/>
              </a:prstGeom>
              <a:blipFill rotWithShape="0">
                <a:blip r:embed="rId6"/>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4367442" y="4681051"/>
                <a:ext cx="1094704"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4</m:t>
                          </m:r>
                        </m:sub>
                      </m:sSub>
                    </m:oMath>
                  </m:oMathPara>
                </a14:m>
                <a:endParaRPr lang="en-US" dirty="0"/>
              </a:p>
            </p:txBody>
          </p:sp>
        </mc:Choice>
        <mc:Fallback xmlns="">
          <p:sp>
            <p:nvSpPr>
              <p:cNvPr id="43" name="Rectangle 42"/>
              <p:cNvSpPr>
                <a:spLocks noRot="1" noChangeAspect="1" noMove="1" noResize="1" noEditPoints="1" noAdjustHandles="1" noChangeArrowheads="1" noChangeShapeType="1" noTextEdit="1"/>
              </p:cNvSpPr>
              <p:nvPr/>
            </p:nvSpPr>
            <p:spPr>
              <a:xfrm>
                <a:off x="4367442" y="4681051"/>
                <a:ext cx="1094704" cy="655360"/>
              </a:xfrm>
              <a:prstGeom prst="rect">
                <a:avLst/>
              </a:prstGeom>
              <a:blipFill rotWithShape="0">
                <a:blip r:embed="rId7"/>
                <a:stretch>
                  <a:fillRect/>
                </a:stretch>
              </a:blipFill>
              <a:ln w="38100">
                <a:solidFill>
                  <a:srgbClr val="4B302A"/>
                </a:solidFill>
              </a:ln>
            </p:spPr>
            <p:txBody>
              <a:bodyPr/>
              <a:lstStyle/>
              <a:p>
                <a:r>
                  <a:rPr lang="en-US">
                    <a:noFill/>
                  </a:rPr>
                  <a:t> </a:t>
                </a:r>
              </a:p>
            </p:txBody>
          </p:sp>
        </mc:Fallback>
      </mc:AlternateContent>
      <p:cxnSp>
        <p:nvCxnSpPr>
          <p:cNvPr id="44" name="Straight Connector 43"/>
          <p:cNvCxnSpPr/>
          <p:nvPr/>
        </p:nvCxnSpPr>
        <p:spPr>
          <a:xfrm flipH="1">
            <a:off x="165419" y="4684409"/>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9435" y="5340515"/>
            <a:ext cx="318448" cy="381000"/>
          </a:xfrm>
          <a:prstGeom prst="rect">
            <a:avLst/>
          </a:prstGeom>
          <a:noFill/>
        </p:spPr>
        <p:txBody>
          <a:bodyPr wrap="square" rtlCol="0">
            <a:spAutoFit/>
          </a:bodyPr>
          <a:lstStyle/>
          <a:p>
            <a:r>
              <a:rPr lang="en-US" dirty="0"/>
              <a:t>0</a:t>
            </a:r>
          </a:p>
        </p:txBody>
      </p:sp>
      <p:sp>
        <p:nvSpPr>
          <p:cNvPr id="46" name="TextBox 45"/>
          <p:cNvSpPr txBox="1"/>
          <p:nvPr/>
        </p:nvSpPr>
        <p:spPr>
          <a:xfrm>
            <a:off x="613024" y="5352183"/>
            <a:ext cx="437735" cy="369332"/>
          </a:xfrm>
          <a:prstGeom prst="rect">
            <a:avLst/>
          </a:prstGeom>
          <a:noFill/>
        </p:spPr>
        <p:txBody>
          <a:bodyPr wrap="square" rtlCol="0">
            <a:spAutoFit/>
          </a:bodyPr>
          <a:lstStyle/>
          <a:p>
            <a:r>
              <a:rPr lang="en-US" dirty="0"/>
              <a:t>6</a:t>
            </a:r>
          </a:p>
        </p:txBody>
      </p:sp>
      <p:sp>
        <p:nvSpPr>
          <p:cNvPr id="47" name="TextBox 46"/>
          <p:cNvSpPr txBox="1"/>
          <p:nvPr/>
        </p:nvSpPr>
        <p:spPr>
          <a:xfrm>
            <a:off x="1904116" y="5357451"/>
            <a:ext cx="437735" cy="369332"/>
          </a:xfrm>
          <a:prstGeom prst="rect">
            <a:avLst/>
          </a:prstGeom>
          <a:noFill/>
        </p:spPr>
        <p:txBody>
          <a:bodyPr wrap="square" rtlCol="0">
            <a:spAutoFit/>
          </a:bodyPr>
          <a:lstStyle/>
          <a:p>
            <a:r>
              <a:rPr lang="en-US" dirty="0"/>
              <a:t>14</a:t>
            </a:r>
          </a:p>
        </p:txBody>
      </p:sp>
      <p:sp>
        <p:nvSpPr>
          <p:cNvPr id="48" name="TextBox 47"/>
          <p:cNvSpPr txBox="1"/>
          <p:nvPr/>
        </p:nvSpPr>
        <p:spPr>
          <a:xfrm>
            <a:off x="4211662" y="5352183"/>
            <a:ext cx="593442" cy="369332"/>
          </a:xfrm>
          <a:prstGeom prst="rect">
            <a:avLst/>
          </a:prstGeom>
          <a:noFill/>
        </p:spPr>
        <p:txBody>
          <a:bodyPr wrap="square" rtlCol="0">
            <a:spAutoFit/>
          </a:bodyPr>
          <a:lstStyle/>
          <a:p>
            <a:r>
              <a:rPr lang="en-US" dirty="0"/>
              <a:t>21</a:t>
            </a:r>
          </a:p>
        </p:txBody>
      </p:sp>
      <p:sp>
        <p:nvSpPr>
          <p:cNvPr id="49" name="TextBox 48"/>
          <p:cNvSpPr txBox="1"/>
          <p:nvPr/>
        </p:nvSpPr>
        <p:spPr>
          <a:xfrm>
            <a:off x="5289113" y="5339768"/>
            <a:ext cx="448784" cy="369332"/>
          </a:xfrm>
          <a:prstGeom prst="rect">
            <a:avLst/>
          </a:prstGeom>
          <a:noFill/>
        </p:spPr>
        <p:txBody>
          <a:bodyPr wrap="square" rtlCol="0">
            <a:spAutoFit/>
          </a:bodyPr>
          <a:lstStyle/>
          <a:p>
            <a:r>
              <a:rPr lang="en-US" dirty="0"/>
              <a:t>24</a:t>
            </a:r>
          </a:p>
        </p:txBody>
      </p:sp>
    </p:spTree>
    <p:extLst>
      <p:ext uri="{BB962C8B-B14F-4D97-AF65-F5344CB8AC3E}">
        <p14:creationId xmlns:p14="http://schemas.microsoft.com/office/powerpoint/2010/main" val="1004087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2" grpId="0" animBg="1"/>
      <p:bldP spid="43" grpId="0" animBg="1"/>
      <p:bldP spid="45" grpId="0"/>
      <p:bldP spid="46" grpId="0"/>
      <p:bldP spid="47" grpId="0"/>
      <p:bldP spid="48" grpId="0"/>
      <p:bldP spid="49"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Come, First Served</a:t>
            </a:r>
            <a:r>
              <a:rPr lang="en-IN" dirty="0"/>
              <a:t>(FCFS)</a:t>
            </a:r>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2890129" y="4353205"/>
                <a:ext cx="22924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i="1" dirty="0">
                              <a:latin typeface="Cambria Math" panose="02040503050406030204" pitchFamily="18" charset="0"/>
                            </a:rPr>
                            <m:t>𝑃</m:t>
                          </m:r>
                        </m:e>
                        <m:sub>
                          <m:r>
                            <a:rPr lang="en-IN" b="0" i="1" dirty="0" smtClean="0">
                              <a:latin typeface="Cambria Math" panose="02040503050406030204" pitchFamily="18" charset="0"/>
                            </a:rPr>
                            <m:t>3</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2890129" y="4353205"/>
                <a:ext cx="229244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497016" y="4353205"/>
                <a:ext cx="1416676" cy="6553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i="1" dirty="0">
                              <a:latin typeface="Cambria Math" panose="02040503050406030204" pitchFamily="18" charset="0"/>
                            </a:rPr>
                            <m:t>𝑃</m:t>
                          </m:r>
                        </m:e>
                        <m:sub>
                          <m:r>
                            <a:rPr lang="en-IN" b="0" i="1" dirty="0" smtClean="0">
                              <a:latin typeface="Cambria Math" panose="02040503050406030204" pitchFamily="18" charset="0"/>
                            </a:rPr>
                            <m:t>2</m:t>
                          </m:r>
                        </m:sub>
                      </m:sSub>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1497016" y="4353205"/>
                <a:ext cx="1416676" cy="655360"/>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994740" y="4353205"/>
                <a:ext cx="502276"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b="0" i="1" dirty="0" smtClean="0">
                              <a:latin typeface="Cambria Math" panose="02040503050406030204" pitchFamily="18" charset="0"/>
                            </a:rPr>
                            <m:t>𝑃</m:t>
                          </m:r>
                        </m:e>
                        <m:sub>
                          <m:r>
                            <a:rPr lang="en-IN" b="0" i="1" dirty="0" smtClean="0">
                              <a:latin typeface="Cambria Math" panose="02040503050406030204" pitchFamily="18" charset="0"/>
                            </a:rPr>
                            <m:t>1</m:t>
                          </m:r>
                        </m:sub>
                      </m:sSub>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994740" y="4353205"/>
                <a:ext cx="502276" cy="655360"/>
              </a:xfrm>
              <a:prstGeom prst="rect">
                <a:avLst/>
              </a:prstGeom>
              <a:blipFill rotWithShape="0">
                <a:blip r:embed="rId5"/>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5172582" y="4349381"/>
                <a:ext cx="1094704"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i="1" dirty="0">
                              <a:latin typeface="Cambria Math" panose="02040503050406030204" pitchFamily="18" charset="0"/>
                            </a:rPr>
                            <m:t>𝑃</m:t>
                          </m:r>
                        </m:e>
                        <m:sub>
                          <m:r>
                            <a:rPr lang="en-IN" b="0" i="1" dirty="0" smtClean="0">
                              <a:latin typeface="Cambria Math" panose="02040503050406030204" pitchFamily="18" charset="0"/>
                            </a:rPr>
                            <m:t>4</m:t>
                          </m:r>
                        </m:sub>
                      </m:sSub>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5172582" y="4349381"/>
                <a:ext cx="1094704" cy="655360"/>
              </a:xfrm>
              <a:prstGeom prst="rect">
                <a:avLst/>
              </a:prstGeom>
              <a:blipFill rotWithShape="0">
                <a:blip r:embed="rId6"/>
                <a:stretch>
                  <a:fillRect/>
                </a:stretch>
              </a:blipFill>
              <a:ln w="38100">
                <a:solidFill>
                  <a:srgbClr val="4B302A"/>
                </a:solidFill>
              </a:ln>
            </p:spPr>
            <p:txBody>
              <a:bodyPr/>
              <a:lstStyle/>
              <a:p>
                <a:r>
                  <a:rPr lang="en-US">
                    <a:noFill/>
                  </a:rPr>
                  <a:t> </a:t>
                </a:r>
              </a:p>
            </p:txBody>
          </p:sp>
        </mc:Fallback>
      </mc:AlternateContent>
      <p:sp>
        <p:nvSpPr>
          <p:cNvPr id="9" name="TextBox 8"/>
          <p:cNvSpPr txBox="1"/>
          <p:nvPr/>
        </p:nvSpPr>
        <p:spPr>
          <a:xfrm>
            <a:off x="855369" y="4993073"/>
            <a:ext cx="318448" cy="381000"/>
          </a:xfrm>
          <a:prstGeom prst="rect">
            <a:avLst/>
          </a:prstGeom>
          <a:noFill/>
        </p:spPr>
        <p:txBody>
          <a:bodyPr wrap="square" rtlCol="0">
            <a:spAutoFit/>
          </a:bodyPr>
          <a:lstStyle/>
          <a:p>
            <a:r>
              <a:rPr lang="en-US" dirty="0"/>
              <a:t>0</a:t>
            </a:r>
          </a:p>
        </p:txBody>
      </p:sp>
      <p:sp>
        <p:nvSpPr>
          <p:cNvPr id="10" name="TextBox 9"/>
          <p:cNvSpPr txBox="1"/>
          <p:nvPr/>
        </p:nvSpPr>
        <p:spPr>
          <a:xfrm>
            <a:off x="1304561" y="4993073"/>
            <a:ext cx="437735" cy="369332"/>
          </a:xfrm>
          <a:prstGeom prst="rect">
            <a:avLst/>
          </a:prstGeom>
          <a:noFill/>
        </p:spPr>
        <p:txBody>
          <a:bodyPr wrap="square" rtlCol="0">
            <a:spAutoFit/>
          </a:bodyPr>
          <a:lstStyle/>
          <a:p>
            <a:r>
              <a:rPr lang="en-US" dirty="0"/>
              <a:t>6</a:t>
            </a:r>
          </a:p>
        </p:txBody>
      </p:sp>
      <p:sp>
        <p:nvSpPr>
          <p:cNvPr id="11" name="TextBox 10"/>
          <p:cNvSpPr txBox="1"/>
          <p:nvPr/>
        </p:nvSpPr>
        <p:spPr>
          <a:xfrm>
            <a:off x="2710698" y="5004741"/>
            <a:ext cx="437735" cy="369332"/>
          </a:xfrm>
          <a:prstGeom prst="rect">
            <a:avLst/>
          </a:prstGeom>
          <a:noFill/>
        </p:spPr>
        <p:txBody>
          <a:bodyPr wrap="square" rtlCol="0">
            <a:spAutoFit/>
          </a:bodyPr>
          <a:lstStyle/>
          <a:p>
            <a:r>
              <a:rPr lang="en-US" dirty="0"/>
              <a:t>14</a:t>
            </a:r>
          </a:p>
        </p:txBody>
      </p:sp>
      <p:sp>
        <p:nvSpPr>
          <p:cNvPr id="12" name="TextBox 11"/>
          <p:cNvSpPr txBox="1"/>
          <p:nvPr/>
        </p:nvSpPr>
        <p:spPr>
          <a:xfrm>
            <a:off x="5008900" y="4958247"/>
            <a:ext cx="593442" cy="369332"/>
          </a:xfrm>
          <a:prstGeom prst="rect">
            <a:avLst/>
          </a:prstGeom>
          <a:noFill/>
        </p:spPr>
        <p:txBody>
          <a:bodyPr wrap="square" rtlCol="0">
            <a:spAutoFit/>
          </a:bodyPr>
          <a:lstStyle/>
          <a:p>
            <a:r>
              <a:rPr lang="en-US" dirty="0"/>
              <a:t>21</a:t>
            </a:r>
          </a:p>
        </p:txBody>
      </p:sp>
      <p:sp>
        <p:nvSpPr>
          <p:cNvPr id="13" name="TextBox 12"/>
          <p:cNvSpPr txBox="1"/>
          <p:nvPr/>
        </p:nvSpPr>
        <p:spPr>
          <a:xfrm>
            <a:off x="6129264" y="4973745"/>
            <a:ext cx="448784" cy="369332"/>
          </a:xfrm>
          <a:prstGeom prst="rect">
            <a:avLst/>
          </a:prstGeom>
          <a:noFill/>
        </p:spPr>
        <p:txBody>
          <a:bodyPr wrap="square" rtlCol="0">
            <a:spAutoFit/>
          </a:bodyPr>
          <a:lstStyle/>
          <a:p>
            <a:r>
              <a:rPr lang="en-US" dirty="0"/>
              <a:t>24</a:t>
            </a:r>
          </a:p>
        </p:txBody>
      </p:sp>
      <p:cxnSp>
        <p:nvCxnSpPr>
          <p:cNvPr id="14" name="Straight Connector 13"/>
          <p:cNvCxnSpPr/>
          <p:nvPr/>
        </p:nvCxnSpPr>
        <p:spPr>
          <a:xfrm flipH="1">
            <a:off x="1014593" y="4353205"/>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7"/>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8"/>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30" name="TextBox 29"/>
          <p:cNvSpPr txBox="1"/>
          <p:nvPr/>
        </p:nvSpPr>
        <p:spPr>
          <a:xfrm>
            <a:off x="1236912" y="1472339"/>
            <a:ext cx="1490790" cy="542441"/>
          </a:xfrm>
          <a:prstGeom prst="rect">
            <a:avLst/>
          </a:prstGeom>
          <a:noFill/>
          <a:ln w="57150">
            <a:solidFill>
              <a:srgbClr val="FF0000"/>
            </a:solidFill>
          </a:ln>
        </p:spPr>
        <p:txBody>
          <a:bodyPr wrap="square" rtlCol="0">
            <a:spAutoFit/>
          </a:bodyPr>
          <a:lstStyle/>
          <a:p>
            <a:endParaRPr lang="en-IN" dirty="0"/>
          </a:p>
        </p:txBody>
      </p:sp>
      <p:sp>
        <p:nvSpPr>
          <p:cNvPr id="31" name="TextBox 30"/>
          <p:cNvSpPr txBox="1"/>
          <p:nvPr/>
        </p:nvSpPr>
        <p:spPr>
          <a:xfrm>
            <a:off x="1219908" y="2065884"/>
            <a:ext cx="1490790" cy="542441"/>
          </a:xfrm>
          <a:prstGeom prst="rect">
            <a:avLst/>
          </a:prstGeom>
          <a:noFill/>
          <a:ln w="57150">
            <a:solidFill>
              <a:srgbClr val="FF0000"/>
            </a:solidFill>
          </a:ln>
        </p:spPr>
        <p:txBody>
          <a:bodyPr wrap="square" rtlCol="0">
            <a:spAutoFit/>
          </a:bodyPr>
          <a:lstStyle/>
          <a:p>
            <a:endParaRPr lang="en-IN" dirty="0"/>
          </a:p>
        </p:txBody>
      </p:sp>
      <p:sp>
        <p:nvSpPr>
          <p:cNvPr id="32" name="TextBox 31"/>
          <p:cNvSpPr txBox="1"/>
          <p:nvPr/>
        </p:nvSpPr>
        <p:spPr>
          <a:xfrm>
            <a:off x="1236912" y="2578058"/>
            <a:ext cx="1490790" cy="542441"/>
          </a:xfrm>
          <a:prstGeom prst="rect">
            <a:avLst/>
          </a:prstGeom>
          <a:noFill/>
          <a:ln w="57150">
            <a:solidFill>
              <a:srgbClr val="FF0000"/>
            </a:solidFill>
          </a:ln>
        </p:spPr>
        <p:txBody>
          <a:bodyPr wrap="square" rtlCol="0">
            <a:spAutoFit/>
          </a:bodyPr>
          <a:lstStyle/>
          <a:p>
            <a:endParaRPr lang="en-IN" dirty="0"/>
          </a:p>
        </p:txBody>
      </p:sp>
      <p:sp>
        <p:nvSpPr>
          <p:cNvPr id="33" name="TextBox 32"/>
          <p:cNvSpPr txBox="1"/>
          <p:nvPr/>
        </p:nvSpPr>
        <p:spPr>
          <a:xfrm>
            <a:off x="1236912" y="3158705"/>
            <a:ext cx="1490790" cy="542441"/>
          </a:xfrm>
          <a:prstGeom prst="rect">
            <a:avLst/>
          </a:prstGeom>
          <a:noFill/>
          <a:ln w="57150">
            <a:solidFill>
              <a:srgbClr val="FF0000"/>
            </a:solidFill>
          </a:ln>
        </p:spPr>
        <p:txBody>
          <a:bodyPr wrap="square" rtlCol="0">
            <a:spAutoFit/>
          </a:bodyPr>
          <a:lstStyle/>
          <a:p>
            <a:endParaRPr lang="en-IN" dirty="0"/>
          </a:p>
        </p:txBody>
      </p:sp>
      <p:sp>
        <p:nvSpPr>
          <p:cNvPr id="41" name="TextBox 40"/>
          <p:cNvSpPr txBox="1"/>
          <p:nvPr/>
        </p:nvSpPr>
        <p:spPr>
          <a:xfrm>
            <a:off x="6337691" y="1498977"/>
            <a:ext cx="1381969" cy="542441"/>
          </a:xfrm>
          <a:prstGeom prst="rect">
            <a:avLst/>
          </a:prstGeom>
          <a:noFill/>
          <a:ln w="57150">
            <a:solidFill>
              <a:srgbClr val="FF0000"/>
            </a:solidFill>
          </a:ln>
        </p:spPr>
        <p:txBody>
          <a:bodyPr wrap="square" rtlCol="0">
            <a:spAutoFit/>
          </a:bodyPr>
          <a:lstStyle/>
          <a:p>
            <a:endParaRPr lang="en-IN" dirty="0"/>
          </a:p>
        </p:txBody>
      </p:sp>
      <p:sp>
        <p:nvSpPr>
          <p:cNvPr id="43" name="TextBox 42"/>
          <p:cNvSpPr txBox="1"/>
          <p:nvPr/>
        </p:nvSpPr>
        <p:spPr>
          <a:xfrm>
            <a:off x="6320688" y="2057045"/>
            <a:ext cx="1381969" cy="542441"/>
          </a:xfrm>
          <a:prstGeom prst="rect">
            <a:avLst/>
          </a:prstGeom>
          <a:noFill/>
          <a:ln w="57150">
            <a:solidFill>
              <a:srgbClr val="FF0000"/>
            </a:solidFill>
          </a:ln>
        </p:spPr>
        <p:txBody>
          <a:bodyPr wrap="square" rtlCol="0">
            <a:spAutoFit/>
          </a:bodyPr>
          <a:lstStyle/>
          <a:p>
            <a:endParaRPr lang="en-IN" dirty="0"/>
          </a:p>
        </p:txBody>
      </p:sp>
      <p:sp>
        <p:nvSpPr>
          <p:cNvPr id="44" name="TextBox 43"/>
          <p:cNvSpPr txBox="1"/>
          <p:nvPr/>
        </p:nvSpPr>
        <p:spPr>
          <a:xfrm>
            <a:off x="6337692" y="2578058"/>
            <a:ext cx="1381969" cy="542441"/>
          </a:xfrm>
          <a:prstGeom prst="rect">
            <a:avLst/>
          </a:prstGeom>
          <a:noFill/>
          <a:ln w="57150">
            <a:solidFill>
              <a:srgbClr val="FF0000"/>
            </a:solidFill>
          </a:ln>
        </p:spPr>
        <p:txBody>
          <a:bodyPr wrap="square" rtlCol="0">
            <a:spAutoFit/>
          </a:bodyPr>
          <a:lstStyle/>
          <a:p>
            <a:endParaRPr lang="en-IN" dirty="0"/>
          </a:p>
        </p:txBody>
      </p:sp>
      <p:sp>
        <p:nvSpPr>
          <p:cNvPr id="45" name="TextBox 44"/>
          <p:cNvSpPr txBox="1"/>
          <p:nvPr/>
        </p:nvSpPr>
        <p:spPr>
          <a:xfrm>
            <a:off x="6337690" y="3152021"/>
            <a:ext cx="1381969" cy="542441"/>
          </a:xfrm>
          <a:prstGeom prst="rect">
            <a:avLst/>
          </a:prstGeom>
          <a:noFill/>
          <a:ln w="57150">
            <a:solidFill>
              <a:srgbClr val="FF0000"/>
            </a:solidFill>
          </a:ln>
        </p:spPr>
        <p:txBody>
          <a:bodyPr wrap="square" rtlCol="0">
            <a:spAutoFit/>
          </a:bodyPr>
          <a:lstStyle/>
          <a:p>
            <a:endParaRPr lang="en-IN" dirty="0"/>
          </a:p>
        </p:txBody>
      </p:sp>
      <p:sp>
        <p:nvSpPr>
          <p:cNvPr id="59" name="TextBox 58"/>
          <p:cNvSpPr txBox="1"/>
          <p:nvPr/>
        </p:nvSpPr>
        <p:spPr>
          <a:xfrm>
            <a:off x="669121" y="5558205"/>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Turnaround Time </a:t>
            </a:r>
            <a:r>
              <a:rPr lang="en-US" sz="2000" dirty="0"/>
              <a:t>= Sum of all Process’s Turn Around Time/ Total Process</a:t>
            </a:r>
          </a:p>
          <a:p>
            <a:r>
              <a:rPr lang="en-US" sz="2000" dirty="0"/>
              <a:t>                                                    = (6+14+21+24)/4 </a:t>
            </a:r>
          </a:p>
          <a:p>
            <a:r>
              <a:rPr lang="en-US" sz="2000" dirty="0"/>
              <a:t>                                                    = 16.25 Ms.</a:t>
            </a:r>
          </a:p>
        </p:txBody>
      </p:sp>
      <p:sp>
        <p:nvSpPr>
          <p:cNvPr id="60" name="TextBox 59"/>
          <p:cNvSpPr txBox="1"/>
          <p:nvPr/>
        </p:nvSpPr>
        <p:spPr>
          <a:xfrm>
            <a:off x="7719659" y="1488035"/>
            <a:ext cx="2049246" cy="2222902"/>
          </a:xfrm>
          <a:prstGeom prst="rect">
            <a:avLst/>
          </a:prstGeom>
          <a:noFill/>
          <a:ln w="57150">
            <a:solidFill>
              <a:srgbClr val="FF0000"/>
            </a:solidFill>
          </a:ln>
        </p:spPr>
        <p:txBody>
          <a:bodyPr wrap="square" rtlCol="0">
            <a:spAutoFit/>
          </a:bodyPr>
          <a:lstStyle/>
          <a:p>
            <a:endParaRPr lang="en-IN" dirty="0"/>
          </a:p>
        </p:txBody>
      </p:sp>
      <p:sp>
        <p:nvSpPr>
          <p:cNvPr id="46" name="TextBox 45">
            <a:extLst>
              <a:ext uri="{FF2B5EF4-FFF2-40B4-BE49-F238E27FC236}">
                <a16:creationId xmlns:a16="http://schemas.microsoft.com/office/drawing/2014/main" id="{959B97A1-1DC8-45A7-9EBF-B811186B2581}"/>
              </a:ext>
            </a:extLst>
          </p:cNvPr>
          <p:cNvSpPr txBox="1"/>
          <p:nvPr/>
        </p:nvSpPr>
        <p:spPr>
          <a:xfrm>
            <a:off x="1195219" y="5037907"/>
            <a:ext cx="571512" cy="289633"/>
          </a:xfrm>
          <a:prstGeom prst="rect">
            <a:avLst/>
          </a:prstGeom>
          <a:noFill/>
          <a:ln w="57150">
            <a:solidFill>
              <a:srgbClr val="FF0000"/>
            </a:solidFill>
          </a:ln>
        </p:spPr>
        <p:txBody>
          <a:bodyPr wrap="square" rtlCol="0">
            <a:spAutoFit/>
          </a:bodyPr>
          <a:lstStyle/>
          <a:p>
            <a:endParaRPr lang="en-IN" dirty="0"/>
          </a:p>
        </p:txBody>
      </p:sp>
      <p:sp>
        <p:nvSpPr>
          <p:cNvPr id="47" name="TextBox 46">
            <a:extLst>
              <a:ext uri="{FF2B5EF4-FFF2-40B4-BE49-F238E27FC236}">
                <a16:creationId xmlns:a16="http://schemas.microsoft.com/office/drawing/2014/main" id="{98F01641-2BAE-40F4-9DDF-409F3D929957}"/>
              </a:ext>
            </a:extLst>
          </p:cNvPr>
          <p:cNvSpPr txBox="1"/>
          <p:nvPr/>
        </p:nvSpPr>
        <p:spPr>
          <a:xfrm>
            <a:off x="2643809" y="5032922"/>
            <a:ext cx="571512" cy="289633"/>
          </a:xfrm>
          <a:prstGeom prst="rect">
            <a:avLst/>
          </a:prstGeom>
          <a:noFill/>
          <a:ln w="57150">
            <a:solidFill>
              <a:srgbClr val="FF0000"/>
            </a:solidFill>
          </a:ln>
        </p:spPr>
        <p:txBody>
          <a:bodyPr wrap="square" rtlCol="0">
            <a:spAutoFit/>
          </a:bodyPr>
          <a:lstStyle/>
          <a:p>
            <a:endParaRPr lang="en-IN" dirty="0"/>
          </a:p>
        </p:txBody>
      </p:sp>
      <p:sp>
        <p:nvSpPr>
          <p:cNvPr id="48" name="TextBox 47">
            <a:extLst>
              <a:ext uri="{FF2B5EF4-FFF2-40B4-BE49-F238E27FC236}">
                <a16:creationId xmlns:a16="http://schemas.microsoft.com/office/drawing/2014/main" id="{E5A7746C-AD6A-49BB-8CF5-996123A9B9D3}"/>
              </a:ext>
            </a:extLst>
          </p:cNvPr>
          <p:cNvSpPr txBox="1"/>
          <p:nvPr/>
        </p:nvSpPr>
        <p:spPr>
          <a:xfrm>
            <a:off x="4896813" y="5004741"/>
            <a:ext cx="571512" cy="289633"/>
          </a:xfrm>
          <a:prstGeom prst="rect">
            <a:avLst/>
          </a:prstGeom>
          <a:noFill/>
          <a:ln w="57150">
            <a:solidFill>
              <a:srgbClr val="FF0000"/>
            </a:solidFill>
          </a:ln>
        </p:spPr>
        <p:txBody>
          <a:bodyPr wrap="square" rtlCol="0">
            <a:spAutoFit/>
          </a:bodyPr>
          <a:lstStyle/>
          <a:p>
            <a:endParaRPr lang="en-IN" dirty="0"/>
          </a:p>
        </p:txBody>
      </p:sp>
      <p:sp>
        <p:nvSpPr>
          <p:cNvPr id="49" name="TextBox 48">
            <a:extLst>
              <a:ext uri="{FF2B5EF4-FFF2-40B4-BE49-F238E27FC236}">
                <a16:creationId xmlns:a16="http://schemas.microsoft.com/office/drawing/2014/main" id="{1A33F120-FB07-44F2-BE3A-6342A98CE61B}"/>
              </a:ext>
            </a:extLst>
          </p:cNvPr>
          <p:cNvSpPr txBox="1"/>
          <p:nvPr/>
        </p:nvSpPr>
        <p:spPr>
          <a:xfrm>
            <a:off x="6034932" y="5004741"/>
            <a:ext cx="571512" cy="289633"/>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208890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26" presetClass="emph" presetSubtype="0" repeatCount="indefinite" fill="hold" grpId="1" nodeType="withEffect">
                                  <p:stCondLst>
                                    <p:cond delay="0"/>
                                  </p:stCondLst>
                                  <p:endCondLst>
                                    <p:cond evt="onNext" delay="0">
                                      <p:tgtEl>
                                        <p:sldTgt/>
                                      </p:tgtEl>
                                    </p:cond>
                                  </p:endCondLst>
                                  <p:childTnLst>
                                    <p:animEffect transition="out" filter="fade">
                                      <p:cBhvr>
                                        <p:cTn id="16" dur="500" tmFilter="0, 0; .2, .5; .8, .5; 1, 0"/>
                                        <p:tgtEl>
                                          <p:spTgt spid="46"/>
                                        </p:tgtEl>
                                      </p:cBhvr>
                                    </p:animEffect>
                                    <p:animScale>
                                      <p:cBhvr>
                                        <p:cTn id="17" dur="250" autoRev="1" fill="hold"/>
                                        <p:tgtEl>
                                          <p:spTgt spid="46"/>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par>
                                <p:cTn id="24" presetID="1" presetClass="exit" presetSubtype="0" fill="hold" grpId="2" nodeType="withEffect">
                                  <p:stCondLst>
                                    <p:cond delay="0"/>
                                  </p:stCondLst>
                                  <p:childTnLst>
                                    <p:set>
                                      <p:cBhvr>
                                        <p:cTn id="25" dur="1" fill="hold">
                                          <p:stCondLst>
                                            <p:cond delay="0"/>
                                          </p:stCondLst>
                                        </p:cTn>
                                        <p:tgtEl>
                                          <p:spTgt spid="46"/>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47"/>
                                        </p:tgtEl>
                                        <p:attrNameLst>
                                          <p:attrName>style.visibility</p:attrName>
                                        </p:attrNameLst>
                                      </p:cBhvr>
                                      <p:to>
                                        <p:strVal val="visible"/>
                                      </p:to>
                                    </p:set>
                                  </p:childTnLst>
                                </p:cTn>
                              </p:par>
                              <p:par>
                                <p:cTn id="28" presetID="26" presetClass="emph" presetSubtype="0" repeatCount="indefinite" fill="hold" grpId="1" nodeType="withEffect">
                                  <p:stCondLst>
                                    <p:cond delay="0"/>
                                  </p:stCondLst>
                                  <p:endCondLst>
                                    <p:cond evt="onNext" delay="0">
                                      <p:tgtEl>
                                        <p:sldTgt/>
                                      </p:tgtEl>
                                    </p:cond>
                                  </p:endCondLst>
                                  <p:childTnLst>
                                    <p:animEffect transition="out" filter="fade">
                                      <p:cBhvr>
                                        <p:cTn id="29" dur="500" tmFilter="0, 0; .2, .5; .8, .5; 1, 0"/>
                                        <p:tgtEl>
                                          <p:spTgt spid="47"/>
                                        </p:tgtEl>
                                      </p:cBhvr>
                                    </p:animEffect>
                                    <p:animScale>
                                      <p:cBhvr>
                                        <p:cTn id="30" dur="250" autoRev="1" fill="hold"/>
                                        <p:tgtEl>
                                          <p:spTgt spid="47"/>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xit" presetSubtype="0" fill="hold" grpId="2" nodeType="withEffect">
                                  <p:stCondLst>
                                    <p:cond delay="0"/>
                                  </p:stCondLst>
                                  <p:childTnLst>
                                    <p:set>
                                      <p:cBhvr>
                                        <p:cTn id="38" dur="1" fill="hold">
                                          <p:stCondLst>
                                            <p:cond delay="0"/>
                                          </p:stCondLst>
                                        </p:cTn>
                                        <p:tgtEl>
                                          <p:spTgt spid="47"/>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par>
                                <p:cTn id="41" presetID="26" presetClass="emph" presetSubtype="0" repeatCount="indefinite" fill="hold" grpId="1" nodeType="withEffect">
                                  <p:stCondLst>
                                    <p:cond delay="0"/>
                                  </p:stCondLst>
                                  <p:endCondLst>
                                    <p:cond evt="onNext" delay="0">
                                      <p:tgtEl>
                                        <p:sldTgt/>
                                      </p:tgtEl>
                                    </p:cond>
                                  </p:endCondLst>
                                  <p:childTnLst>
                                    <p:animEffect transition="out" filter="fade">
                                      <p:cBhvr>
                                        <p:cTn id="42" dur="500" tmFilter="0, 0; .2, .5; .8, .5; 1, 0"/>
                                        <p:tgtEl>
                                          <p:spTgt spid="48"/>
                                        </p:tgtEl>
                                      </p:cBhvr>
                                    </p:animEffect>
                                    <p:animScale>
                                      <p:cBhvr>
                                        <p:cTn id="43" dur="250" autoRev="1" fill="hold"/>
                                        <p:tgtEl>
                                          <p:spTgt spid="48"/>
                                        </p:tgtEl>
                                      </p:cBhvr>
                                      <p:by x="105000" y="105000"/>
                                    </p:animScale>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childTnLst>
                                </p:cTn>
                              </p:par>
                              <p:par>
                                <p:cTn id="50" presetID="1" presetClass="exit" presetSubtype="0" fill="hold" grpId="2" nodeType="withEffect">
                                  <p:stCondLst>
                                    <p:cond delay="0"/>
                                  </p:stCondLst>
                                  <p:childTnLst>
                                    <p:set>
                                      <p:cBhvr>
                                        <p:cTn id="51" dur="1" fill="hold">
                                          <p:stCondLst>
                                            <p:cond delay="0"/>
                                          </p:stCondLst>
                                        </p:cTn>
                                        <p:tgtEl>
                                          <p:spTgt spid="48"/>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49"/>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49"/>
                                        </p:tgtEl>
                                      </p:cBhvr>
                                    </p:animEffect>
                                    <p:animScale>
                                      <p:cBhvr>
                                        <p:cTn id="56" dur="250" autoRev="1" fill="hold"/>
                                        <p:tgtEl>
                                          <p:spTgt spid="49"/>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4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par>
                                <p:cTn id="69" presetID="26" presetClass="emph" presetSubtype="0" repeatCount="indefinite" fill="hold" grpId="1" nodeType="withEffect">
                                  <p:stCondLst>
                                    <p:cond delay="0"/>
                                  </p:stCondLst>
                                  <p:endCondLst>
                                    <p:cond evt="onNext" delay="0">
                                      <p:tgtEl>
                                        <p:sldTgt/>
                                      </p:tgtEl>
                                    </p:cond>
                                  </p:endCondLst>
                                  <p:childTnLst>
                                    <p:animEffect transition="out" filter="fade">
                                      <p:cBhvr>
                                        <p:cTn id="70" dur="500" tmFilter="0, 0; .2, .5; .8, .5; 1, 0"/>
                                        <p:tgtEl>
                                          <p:spTgt spid="30"/>
                                        </p:tgtEl>
                                      </p:cBhvr>
                                    </p:animEffect>
                                    <p:animScale>
                                      <p:cBhvr>
                                        <p:cTn id="71" dur="250" autoRev="1" fill="hold"/>
                                        <p:tgtEl>
                                          <p:spTgt spid="30"/>
                                        </p:tgtEl>
                                      </p:cBhvr>
                                      <p:by x="105000" y="105000"/>
                                    </p:animScale>
                                  </p:childTnLst>
                                </p:cTn>
                              </p:par>
                              <p:par>
                                <p:cTn id="72" presetID="1" presetClass="entr" presetSubtype="0" fill="hold" grpId="0" nodeType="withEffect">
                                  <p:stCondLst>
                                    <p:cond delay="0"/>
                                  </p:stCondLst>
                                  <p:childTnLst>
                                    <p:set>
                                      <p:cBhvr>
                                        <p:cTn id="73" dur="1" fill="hold">
                                          <p:stCondLst>
                                            <p:cond delay="0"/>
                                          </p:stCondLst>
                                        </p:cTn>
                                        <p:tgtEl>
                                          <p:spTgt spid="41"/>
                                        </p:tgtEl>
                                        <p:attrNameLst>
                                          <p:attrName>style.visibility</p:attrName>
                                        </p:attrNameLst>
                                      </p:cBhvr>
                                      <p:to>
                                        <p:strVal val="visible"/>
                                      </p:to>
                                    </p:set>
                                  </p:childTnLst>
                                </p:cTn>
                              </p:par>
                              <p:par>
                                <p:cTn id="74" presetID="26" presetClass="emph" presetSubtype="0" repeatCount="indefinite" fill="hold" grpId="1" nodeType="withEffect">
                                  <p:stCondLst>
                                    <p:cond delay="0"/>
                                  </p:stCondLst>
                                  <p:endCondLst>
                                    <p:cond evt="onNext" delay="0">
                                      <p:tgtEl>
                                        <p:sldTgt/>
                                      </p:tgtEl>
                                    </p:cond>
                                  </p:endCondLst>
                                  <p:childTnLst>
                                    <p:animEffect transition="out" filter="fade">
                                      <p:cBhvr>
                                        <p:cTn id="75" dur="500" tmFilter="0, 0; .2, .5; .8, .5; 1, 0"/>
                                        <p:tgtEl>
                                          <p:spTgt spid="41"/>
                                        </p:tgtEl>
                                      </p:cBhvr>
                                    </p:animEffect>
                                    <p:animScale>
                                      <p:cBhvr>
                                        <p:cTn id="76" dur="250" autoRev="1" fill="hold"/>
                                        <p:tgtEl>
                                          <p:spTgt spid="41"/>
                                        </p:tgtEl>
                                      </p:cBhvr>
                                      <p:by x="105000" y="105000"/>
                                    </p:animScale>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par>
                                <p:cTn id="81" presetID="1" presetClass="exit" presetSubtype="0" fill="hold" grpId="2" nodeType="withEffect">
                                  <p:stCondLst>
                                    <p:cond delay="0"/>
                                  </p:stCondLst>
                                  <p:childTnLst>
                                    <p:set>
                                      <p:cBhvr>
                                        <p:cTn id="82" dur="1" fill="hold">
                                          <p:stCondLst>
                                            <p:cond delay="0"/>
                                          </p:stCondLst>
                                        </p:cTn>
                                        <p:tgtEl>
                                          <p:spTgt spid="41"/>
                                        </p:tgtEl>
                                        <p:attrNameLst>
                                          <p:attrName>style.visibility</p:attrName>
                                        </p:attrNameLst>
                                      </p:cBhvr>
                                      <p:to>
                                        <p:strVal val="hidden"/>
                                      </p:to>
                                    </p:set>
                                  </p:childTnLst>
                                </p:cTn>
                              </p:par>
                              <p:par>
                                <p:cTn id="83" presetID="1" presetClass="exit" presetSubtype="0" fill="hold" grpId="2" nodeType="withEffect">
                                  <p:stCondLst>
                                    <p:cond delay="0"/>
                                  </p:stCondLst>
                                  <p:childTnLst>
                                    <p:set>
                                      <p:cBhvr>
                                        <p:cTn id="84" dur="1" fill="hold">
                                          <p:stCondLst>
                                            <p:cond delay="0"/>
                                          </p:stCondLst>
                                        </p:cTn>
                                        <p:tgtEl>
                                          <p:spTgt spid="30"/>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par>
                                <p:cTn id="87" presetID="26" presetClass="emph" presetSubtype="0" repeatCount="indefinite" fill="hold" grpId="1" nodeType="withEffect">
                                  <p:stCondLst>
                                    <p:cond delay="0"/>
                                  </p:stCondLst>
                                  <p:endCondLst>
                                    <p:cond evt="onNext" delay="0">
                                      <p:tgtEl>
                                        <p:sldTgt/>
                                      </p:tgtEl>
                                    </p:cond>
                                  </p:endCondLst>
                                  <p:childTnLst>
                                    <p:animEffect transition="out" filter="fade">
                                      <p:cBhvr>
                                        <p:cTn id="88" dur="500" tmFilter="0, 0; .2, .5; .8, .5; 1, 0"/>
                                        <p:tgtEl>
                                          <p:spTgt spid="31"/>
                                        </p:tgtEl>
                                      </p:cBhvr>
                                    </p:animEffect>
                                    <p:animScale>
                                      <p:cBhvr>
                                        <p:cTn id="89" dur="250" autoRev="1" fill="hold"/>
                                        <p:tgtEl>
                                          <p:spTgt spid="31"/>
                                        </p:tgtEl>
                                      </p:cBhvr>
                                      <p:by x="105000" y="105000"/>
                                    </p:animScale>
                                  </p:childTnLst>
                                </p:cTn>
                              </p:par>
                              <p:par>
                                <p:cTn id="90" presetID="1" presetClass="entr" presetSubtype="0" fill="hold" grpId="0" nodeType="withEffect">
                                  <p:stCondLst>
                                    <p:cond delay="0"/>
                                  </p:stCondLst>
                                  <p:childTnLst>
                                    <p:set>
                                      <p:cBhvr>
                                        <p:cTn id="91" dur="1" fill="hold">
                                          <p:stCondLst>
                                            <p:cond delay="0"/>
                                          </p:stCondLst>
                                        </p:cTn>
                                        <p:tgtEl>
                                          <p:spTgt spid="43"/>
                                        </p:tgtEl>
                                        <p:attrNameLst>
                                          <p:attrName>style.visibility</p:attrName>
                                        </p:attrNameLst>
                                      </p:cBhvr>
                                      <p:to>
                                        <p:strVal val="visible"/>
                                      </p:to>
                                    </p:set>
                                  </p:childTnLst>
                                </p:cTn>
                              </p:par>
                              <p:par>
                                <p:cTn id="92" presetID="26" presetClass="emph" presetSubtype="0" repeatCount="indefinite" fill="hold" grpId="1" nodeType="withEffect">
                                  <p:stCondLst>
                                    <p:cond delay="0"/>
                                  </p:stCondLst>
                                  <p:endCondLst>
                                    <p:cond evt="onNext" delay="0">
                                      <p:tgtEl>
                                        <p:sldTgt/>
                                      </p:tgtEl>
                                    </p:cond>
                                  </p:endCondLst>
                                  <p:childTnLst>
                                    <p:animEffect transition="out" filter="fade">
                                      <p:cBhvr>
                                        <p:cTn id="93" dur="500" tmFilter="0, 0; .2, .5; .8, .5; 1, 0"/>
                                        <p:tgtEl>
                                          <p:spTgt spid="43"/>
                                        </p:tgtEl>
                                      </p:cBhvr>
                                    </p:animEffect>
                                    <p:animScale>
                                      <p:cBhvr>
                                        <p:cTn id="94" dur="250" autoRev="1" fill="hold"/>
                                        <p:tgtEl>
                                          <p:spTgt spid="43"/>
                                        </p:tgtEl>
                                      </p:cBhvr>
                                      <p:by x="105000" y="105000"/>
                                    </p:animScale>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xit" presetSubtype="0" fill="hold" grpId="2" nodeType="withEffect">
                                  <p:stCondLst>
                                    <p:cond delay="0"/>
                                  </p:stCondLst>
                                  <p:childTnLst>
                                    <p:set>
                                      <p:cBhvr>
                                        <p:cTn id="100" dur="1" fill="hold">
                                          <p:stCondLst>
                                            <p:cond delay="0"/>
                                          </p:stCondLst>
                                        </p:cTn>
                                        <p:tgtEl>
                                          <p:spTgt spid="31"/>
                                        </p:tgtEl>
                                        <p:attrNameLst>
                                          <p:attrName>style.visibility</p:attrName>
                                        </p:attrNameLst>
                                      </p:cBhvr>
                                      <p:to>
                                        <p:strVal val="hidden"/>
                                      </p:to>
                                    </p:set>
                                  </p:childTnLst>
                                </p:cTn>
                              </p:par>
                              <p:par>
                                <p:cTn id="101" presetID="1" presetClass="exit" presetSubtype="0" fill="hold" grpId="2" nodeType="withEffect">
                                  <p:stCondLst>
                                    <p:cond delay="0"/>
                                  </p:stCondLst>
                                  <p:childTnLst>
                                    <p:set>
                                      <p:cBhvr>
                                        <p:cTn id="102" dur="1" fill="hold">
                                          <p:stCondLst>
                                            <p:cond delay="0"/>
                                          </p:stCondLst>
                                        </p:cTn>
                                        <p:tgtEl>
                                          <p:spTgt spid="43"/>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32"/>
                                        </p:tgtEl>
                                        <p:attrNameLst>
                                          <p:attrName>style.visibility</p:attrName>
                                        </p:attrNameLst>
                                      </p:cBhvr>
                                      <p:to>
                                        <p:strVal val="visible"/>
                                      </p:to>
                                    </p:set>
                                  </p:childTnLst>
                                </p:cTn>
                              </p:par>
                              <p:par>
                                <p:cTn id="105" presetID="26" presetClass="emph" presetSubtype="0" repeatCount="indefinite" fill="hold" grpId="1" nodeType="withEffect">
                                  <p:stCondLst>
                                    <p:cond delay="0"/>
                                  </p:stCondLst>
                                  <p:endCondLst>
                                    <p:cond evt="onNext" delay="0">
                                      <p:tgtEl>
                                        <p:sldTgt/>
                                      </p:tgtEl>
                                    </p:cond>
                                  </p:endCondLst>
                                  <p:childTnLst>
                                    <p:animEffect transition="out" filter="fade">
                                      <p:cBhvr>
                                        <p:cTn id="106" dur="500" tmFilter="0, 0; .2, .5; .8, .5; 1, 0"/>
                                        <p:tgtEl>
                                          <p:spTgt spid="32"/>
                                        </p:tgtEl>
                                      </p:cBhvr>
                                    </p:animEffect>
                                    <p:animScale>
                                      <p:cBhvr>
                                        <p:cTn id="107" dur="250" autoRev="1" fill="hold"/>
                                        <p:tgtEl>
                                          <p:spTgt spid="32"/>
                                        </p:tgtEl>
                                      </p:cBhvr>
                                      <p:by x="105000" y="105000"/>
                                    </p:animScale>
                                  </p:childTnLst>
                                </p:cTn>
                              </p:par>
                              <p:par>
                                <p:cTn id="108" presetID="1" presetClass="entr" presetSubtype="0" fill="hold" grpId="0" nodeType="withEffect">
                                  <p:stCondLst>
                                    <p:cond delay="0"/>
                                  </p:stCondLst>
                                  <p:childTnLst>
                                    <p:set>
                                      <p:cBhvr>
                                        <p:cTn id="109" dur="1" fill="hold">
                                          <p:stCondLst>
                                            <p:cond delay="0"/>
                                          </p:stCondLst>
                                        </p:cTn>
                                        <p:tgtEl>
                                          <p:spTgt spid="44"/>
                                        </p:tgtEl>
                                        <p:attrNameLst>
                                          <p:attrName>style.visibility</p:attrName>
                                        </p:attrNameLst>
                                      </p:cBhvr>
                                      <p:to>
                                        <p:strVal val="visible"/>
                                      </p:to>
                                    </p:set>
                                  </p:childTnLst>
                                </p:cTn>
                              </p:par>
                              <p:par>
                                <p:cTn id="110" presetID="26" presetClass="emph" presetSubtype="0" repeatCount="indefinite" fill="hold" grpId="1" nodeType="withEffect">
                                  <p:stCondLst>
                                    <p:cond delay="0"/>
                                  </p:stCondLst>
                                  <p:endCondLst>
                                    <p:cond evt="onNext" delay="0">
                                      <p:tgtEl>
                                        <p:sldTgt/>
                                      </p:tgtEl>
                                    </p:cond>
                                  </p:endCondLst>
                                  <p:childTnLst>
                                    <p:animEffect transition="out" filter="fade">
                                      <p:cBhvr>
                                        <p:cTn id="111" dur="500" tmFilter="0, 0; .2, .5; .8, .5; 1, 0"/>
                                        <p:tgtEl>
                                          <p:spTgt spid="44"/>
                                        </p:tgtEl>
                                      </p:cBhvr>
                                    </p:animEffect>
                                    <p:animScale>
                                      <p:cBhvr>
                                        <p:cTn id="112" dur="250" autoRev="1" fill="hold"/>
                                        <p:tgtEl>
                                          <p:spTgt spid="44"/>
                                        </p:tgtEl>
                                      </p:cBhvr>
                                      <p:by x="105000" y="105000"/>
                                    </p:animScale>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40"/>
                                        </p:tgtEl>
                                        <p:attrNameLst>
                                          <p:attrName>style.visibility</p:attrName>
                                        </p:attrNameLst>
                                      </p:cBhvr>
                                      <p:to>
                                        <p:strVal val="visible"/>
                                      </p:to>
                                    </p:set>
                                  </p:childTnLst>
                                </p:cTn>
                              </p:par>
                              <p:par>
                                <p:cTn id="117" presetID="1" presetClass="exit" presetSubtype="0" fill="hold" grpId="2" nodeType="withEffect">
                                  <p:stCondLst>
                                    <p:cond delay="0"/>
                                  </p:stCondLst>
                                  <p:childTnLst>
                                    <p:set>
                                      <p:cBhvr>
                                        <p:cTn id="118" dur="1" fill="hold">
                                          <p:stCondLst>
                                            <p:cond delay="0"/>
                                          </p:stCondLst>
                                        </p:cTn>
                                        <p:tgtEl>
                                          <p:spTgt spid="44"/>
                                        </p:tgtEl>
                                        <p:attrNameLst>
                                          <p:attrName>style.visibility</p:attrName>
                                        </p:attrNameLst>
                                      </p:cBhvr>
                                      <p:to>
                                        <p:strVal val="hidden"/>
                                      </p:to>
                                    </p:set>
                                  </p:childTnLst>
                                </p:cTn>
                              </p:par>
                              <p:par>
                                <p:cTn id="119" presetID="1" presetClass="exit" presetSubtype="0" fill="hold" grpId="2" nodeType="withEffect">
                                  <p:stCondLst>
                                    <p:cond delay="0"/>
                                  </p:stCondLst>
                                  <p:childTnLst>
                                    <p:set>
                                      <p:cBhvr>
                                        <p:cTn id="120" dur="1" fill="hold">
                                          <p:stCondLst>
                                            <p:cond delay="0"/>
                                          </p:stCondLst>
                                        </p:cTn>
                                        <p:tgtEl>
                                          <p:spTgt spid="32"/>
                                        </p:tgtEl>
                                        <p:attrNameLst>
                                          <p:attrName>style.visibility</p:attrName>
                                        </p:attrNameLst>
                                      </p:cBhvr>
                                      <p:to>
                                        <p:strVal val="hidden"/>
                                      </p:to>
                                    </p:set>
                                  </p:childTnLst>
                                </p:cTn>
                              </p:par>
                              <p:par>
                                <p:cTn id="121" presetID="1" presetClass="entr" presetSubtype="0" fill="hold" grpId="0" nodeType="withEffect">
                                  <p:stCondLst>
                                    <p:cond delay="0"/>
                                  </p:stCondLst>
                                  <p:childTnLst>
                                    <p:set>
                                      <p:cBhvr>
                                        <p:cTn id="122" dur="1" fill="hold">
                                          <p:stCondLst>
                                            <p:cond delay="0"/>
                                          </p:stCondLst>
                                        </p:cTn>
                                        <p:tgtEl>
                                          <p:spTgt spid="33"/>
                                        </p:tgtEl>
                                        <p:attrNameLst>
                                          <p:attrName>style.visibility</p:attrName>
                                        </p:attrNameLst>
                                      </p:cBhvr>
                                      <p:to>
                                        <p:strVal val="visible"/>
                                      </p:to>
                                    </p:set>
                                  </p:childTnLst>
                                </p:cTn>
                              </p:par>
                              <p:par>
                                <p:cTn id="123" presetID="26" presetClass="emph" presetSubtype="0" repeatCount="indefinite" fill="hold" grpId="1" nodeType="withEffect">
                                  <p:stCondLst>
                                    <p:cond delay="0"/>
                                  </p:stCondLst>
                                  <p:endCondLst>
                                    <p:cond evt="onNext" delay="0">
                                      <p:tgtEl>
                                        <p:sldTgt/>
                                      </p:tgtEl>
                                    </p:cond>
                                  </p:endCondLst>
                                  <p:childTnLst>
                                    <p:animEffect transition="out" filter="fade">
                                      <p:cBhvr>
                                        <p:cTn id="124" dur="500" tmFilter="0, 0; .2, .5; .8, .5; 1, 0"/>
                                        <p:tgtEl>
                                          <p:spTgt spid="33"/>
                                        </p:tgtEl>
                                      </p:cBhvr>
                                    </p:animEffect>
                                    <p:animScale>
                                      <p:cBhvr>
                                        <p:cTn id="125" dur="250" autoRev="1" fill="hold"/>
                                        <p:tgtEl>
                                          <p:spTgt spid="33"/>
                                        </p:tgtEl>
                                      </p:cBhvr>
                                      <p:by x="105000" y="105000"/>
                                    </p:animScale>
                                  </p:childTnLst>
                                </p:cTn>
                              </p:par>
                              <p:par>
                                <p:cTn id="126" presetID="1" presetClass="entr" presetSubtype="0" fill="hold" grpId="0" nodeType="withEffect">
                                  <p:stCondLst>
                                    <p:cond delay="0"/>
                                  </p:stCondLst>
                                  <p:childTnLst>
                                    <p:set>
                                      <p:cBhvr>
                                        <p:cTn id="127" dur="1" fill="hold">
                                          <p:stCondLst>
                                            <p:cond delay="0"/>
                                          </p:stCondLst>
                                        </p:cTn>
                                        <p:tgtEl>
                                          <p:spTgt spid="45"/>
                                        </p:tgtEl>
                                        <p:attrNameLst>
                                          <p:attrName>style.visibility</p:attrName>
                                        </p:attrNameLst>
                                      </p:cBhvr>
                                      <p:to>
                                        <p:strVal val="visible"/>
                                      </p:to>
                                    </p:set>
                                  </p:childTnLst>
                                </p:cTn>
                              </p:par>
                              <p:par>
                                <p:cTn id="128" presetID="26" presetClass="emph" presetSubtype="0" repeatCount="indefinite" fill="hold" grpId="1" nodeType="withEffect">
                                  <p:stCondLst>
                                    <p:cond delay="0"/>
                                  </p:stCondLst>
                                  <p:endCondLst>
                                    <p:cond evt="onNext" delay="0">
                                      <p:tgtEl>
                                        <p:sldTgt/>
                                      </p:tgtEl>
                                    </p:cond>
                                  </p:endCondLst>
                                  <p:childTnLst>
                                    <p:animEffect transition="out" filter="fade">
                                      <p:cBhvr>
                                        <p:cTn id="129" dur="500" tmFilter="0, 0; .2, .5; .8, .5; 1, 0"/>
                                        <p:tgtEl>
                                          <p:spTgt spid="45"/>
                                        </p:tgtEl>
                                      </p:cBhvr>
                                    </p:animEffect>
                                    <p:animScale>
                                      <p:cBhvr>
                                        <p:cTn id="130" dur="250" autoRev="1" fill="hold"/>
                                        <p:tgtEl>
                                          <p:spTgt spid="45"/>
                                        </p:tgtEl>
                                      </p:cBhvr>
                                      <p:by x="105000" y="105000"/>
                                    </p:animScale>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2" nodeType="clickEffect">
                                  <p:stCondLst>
                                    <p:cond delay="0"/>
                                  </p:stCondLst>
                                  <p:childTnLst>
                                    <p:set>
                                      <p:cBhvr>
                                        <p:cTn id="134" dur="1" fill="hold">
                                          <p:stCondLst>
                                            <p:cond delay="0"/>
                                          </p:stCondLst>
                                        </p:cTn>
                                        <p:tgtEl>
                                          <p:spTgt spid="45"/>
                                        </p:tgtEl>
                                        <p:attrNameLst>
                                          <p:attrName>style.visibility</p:attrName>
                                        </p:attrNameLst>
                                      </p:cBhvr>
                                      <p:to>
                                        <p:strVal val="hidden"/>
                                      </p:to>
                                    </p:set>
                                  </p:childTnLst>
                                </p:cTn>
                              </p:par>
                              <p:par>
                                <p:cTn id="135" presetID="1" presetClass="exit" presetSubtype="0" fill="hold" grpId="2" nodeType="withEffect">
                                  <p:stCondLst>
                                    <p:cond delay="0"/>
                                  </p:stCondLst>
                                  <p:childTnLst>
                                    <p:set>
                                      <p:cBhvr>
                                        <p:cTn id="136" dur="1" fill="hold">
                                          <p:stCondLst>
                                            <p:cond delay="0"/>
                                          </p:stCondLst>
                                        </p:cTn>
                                        <p:tgtEl>
                                          <p:spTgt spid="33"/>
                                        </p:tgtEl>
                                        <p:attrNameLst>
                                          <p:attrName>style.visibility</p:attrName>
                                        </p:attrNameLst>
                                      </p:cBhvr>
                                      <p:to>
                                        <p:strVal val="hidden"/>
                                      </p:to>
                                    </p:set>
                                  </p:childTnLst>
                                </p:cTn>
                              </p:par>
                              <p:par>
                                <p:cTn id="137" presetID="1" presetClass="entr" presetSubtype="0" fill="hold" grpId="0" nodeType="withEffect">
                                  <p:stCondLst>
                                    <p:cond delay="0"/>
                                  </p:stCondLst>
                                  <p:childTnLst>
                                    <p:set>
                                      <p:cBhvr>
                                        <p:cTn id="138" dur="1" fill="hold">
                                          <p:stCondLst>
                                            <p:cond delay="0"/>
                                          </p:stCondLst>
                                        </p:cTn>
                                        <p:tgtEl>
                                          <p:spTgt spid="5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60"/>
                                        </p:tgtEl>
                                        <p:attrNameLst>
                                          <p:attrName>style.visibility</p:attrName>
                                        </p:attrNameLst>
                                      </p:cBhvr>
                                      <p:to>
                                        <p:strVal val="visible"/>
                                      </p:to>
                                    </p:set>
                                  </p:childTnLst>
                                </p:cTn>
                              </p:par>
                              <p:par>
                                <p:cTn id="141" presetID="26" presetClass="emph" presetSubtype="0" repeatCount="indefinite" fill="hold" grpId="1" nodeType="withEffect">
                                  <p:stCondLst>
                                    <p:cond delay="0"/>
                                  </p:stCondLst>
                                  <p:endCondLst>
                                    <p:cond evt="onNext" delay="0">
                                      <p:tgtEl>
                                        <p:sldTgt/>
                                      </p:tgtEl>
                                    </p:cond>
                                  </p:endCondLst>
                                  <p:childTnLst>
                                    <p:animEffect transition="out" filter="fade">
                                      <p:cBhvr>
                                        <p:cTn id="142" dur="500" tmFilter="0, 0; .2, .5; .8, .5; 1, 0"/>
                                        <p:tgtEl>
                                          <p:spTgt spid="60"/>
                                        </p:tgtEl>
                                      </p:cBhvr>
                                    </p:animEffect>
                                    <p:animScale>
                                      <p:cBhvr>
                                        <p:cTn id="143" dur="250" autoRev="1" fill="hold"/>
                                        <p:tgtEl>
                                          <p:spTgt spid="6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30" grpId="0" animBg="1"/>
      <p:bldP spid="30" grpId="1" animBg="1"/>
      <p:bldP spid="30" grpId="2" animBg="1"/>
      <p:bldP spid="31" grpId="0" animBg="1"/>
      <p:bldP spid="31" grpId="1" animBg="1"/>
      <p:bldP spid="31" grpId="2" animBg="1"/>
      <p:bldP spid="32" grpId="0" animBg="1"/>
      <p:bldP spid="32" grpId="1" animBg="1"/>
      <p:bldP spid="32" grpId="2" animBg="1"/>
      <p:bldP spid="33" grpId="0" animBg="1"/>
      <p:bldP spid="33" grpId="1" animBg="1"/>
      <p:bldP spid="33" grpId="2" animBg="1"/>
      <p:bldP spid="41" grpId="0" animBg="1"/>
      <p:bldP spid="41" grpId="1" animBg="1"/>
      <p:bldP spid="41" grpId="2" animBg="1"/>
      <p:bldP spid="43" grpId="0" animBg="1"/>
      <p:bldP spid="43" grpId="1" animBg="1"/>
      <p:bldP spid="43" grpId="2" animBg="1"/>
      <p:bldP spid="44" grpId="0" animBg="1"/>
      <p:bldP spid="44" grpId="1" animBg="1"/>
      <p:bldP spid="44" grpId="2" animBg="1"/>
      <p:bldP spid="45" grpId="0" animBg="1"/>
      <p:bldP spid="45" grpId="1" animBg="1"/>
      <p:bldP spid="45" grpId="2" animBg="1"/>
      <p:bldP spid="59" grpId="0"/>
      <p:bldP spid="60" grpId="0" animBg="1"/>
      <p:bldP spid="60" grpId="1" animBg="1"/>
      <p:bldP spid="46" grpId="0" animBg="1"/>
      <p:bldP spid="46" grpId="1" animBg="1"/>
      <p:bldP spid="46" grpId="2" animBg="1"/>
      <p:bldP spid="47" grpId="0" animBg="1"/>
      <p:bldP spid="47" grpId="1" animBg="1"/>
      <p:bldP spid="47" grpId="2" animBg="1"/>
      <p:bldP spid="48" grpId="0" animBg="1"/>
      <p:bldP spid="48" grpId="1" animBg="1"/>
      <p:bldP spid="48" grpId="2" animBg="1"/>
      <p:bldP spid="49" grpId="0" animBg="1"/>
      <p:bldP spid="49" grpId="1" animBg="1"/>
      <p:bldP spid="49" grpId="2"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Come, First Served</a:t>
            </a:r>
            <a:r>
              <a:rPr lang="en-IN" dirty="0"/>
              <a:t>(FCFS)</a:t>
            </a:r>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2890129" y="4353205"/>
                <a:ext cx="22924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i="1" dirty="0">
                              <a:latin typeface="Cambria Math" panose="02040503050406030204" pitchFamily="18" charset="0"/>
                            </a:rPr>
                            <m:t>𝑃</m:t>
                          </m:r>
                        </m:e>
                        <m:sub>
                          <m:r>
                            <a:rPr lang="en-IN" b="0" i="1" dirty="0" smtClean="0">
                              <a:latin typeface="Cambria Math" panose="02040503050406030204" pitchFamily="18" charset="0"/>
                            </a:rPr>
                            <m:t>3</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2890129" y="4353205"/>
                <a:ext cx="229244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497016" y="4353205"/>
                <a:ext cx="1416676" cy="6553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i="1" dirty="0">
                              <a:latin typeface="Cambria Math" panose="02040503050406030204" pitchFamily="18" charset="0"/>
                            </a:rPr>
                            <m:t>𝑃</m:t>
                          </m:r>
                        </m:e>
                        <m:sub>
                          <m:r>
                            <a:rPr lang="en-IN" b="0" i="1" dirty="0" smtClean="0">
                              <a:latin typeface="Cambria Math" panose="02040503050406030204" pitchFamily="18" charset="0"/>
                            </a:rPr>
                            <m:t>2</m:t>
                          </m:r>
                        </m:sub>
                      </m:sSub>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1497016" y="4353205"/>
                <a:ext cx="1416676" cy="655360"/>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994740" y="4353205"/>
                <a:ext cx="502276"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b="0" i="1" dirty="0" smtClean="0">
                              <a:latin typeface="Cambria Math" panose="02040503050406030204" pitchFamily="18" charset="0"/>
                            </a:rPr>
                            <m:t>𝑃</m:t>
                          </m:r>
                        </m:e>
                        <m:sub>
                          <m:r>
                            <a:rPr lang="en-IN" b="0" i="1" dirty="0" smtClean="0">
                              <a:latin typeface="Cambria Math" panose="02040503050406030204" pitchFamily="18" charset="0"/>
                            </a:rPr>
                            <m:t>1</m:t>
                          </m:r>
                        </m:sub>
                      </m:sSub>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994740" y="4353205"/>
                <a:ext cx="502276" cy="655360"/>
              </a:xfrm>
              <a:prstGeom prst="rect">
                <a:avLst/>
              </a:prstGeom>
              <a:blipFill rotWithShape="0">
                <a:blip r:embed="rId5"/>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5172582" y="4349381"/>
                <a:ext cx="1094704"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IN" i="1" dirty="0">
                              <a:latin typeface="Cambria Math" panose="02040503050406030204" pitchFamily="18" charset="0"/>
                            </a:rPr>
                            <m:t>𝑃</m:t>
                          </m:r>
                        </m:e>
                        <m:sub>
                          <m:r>
                            <a:rPr lang="en-IN" b="0" i="1" dirty="0" smtClean="0">
                              <a:latin typeface="Cambria Math" panose="02040503050406030204" pitchFamily="18" charset="0"/>
                            </a:rPr>
                            <m:t>4</m:t>
                          </m:r>
                        </m:sub>
                      </m:sSub>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5172582" y="4349381"/>
                <a:ext cx="1094704" cy="655360"/>
              </a:xfrm>
              <a:prstGeom prst="rect">
                <a:avLst/>
              </a:prstGeom>
              <a:blipFill rotWithShape="0">
                <a:blip r:embed="rId6"/>
                <a:stretch>
                  <a:fillRect/>
                </a:stretch>
              </a:blipFill>
              <a:ln w="38100">
                <a:solidFill>
                  <a:srgbClr val="4B302A"/>
                </a:solidFill>
              </a:ln>
            </p:spPr>
            <p:txBody>
              <a:bodyPr/>
              <a:lstStyle/>
              <a:p>
                <a:r>
                  <a:rPr lang="en-US">
                    <a:noFill/>
                  </a:rPr>
                  <a:t> </a:t>
                </a:r>
              </a:p>
            </p:txBody>
          </p:sp>
        </mc:Fallback>
      </mc:AlternateContent>
      <p:sp>
        <p:nvSpPr>
          <p:cNvPr id="9" name="TextBox 8"/>
          <p:cNvSpPr txBox="1"/>
          <p:nvPr/>
        </p:nvSpPr>
        <p:spPr>
          <a:xfrm>
            <a:off x="855369" y="4993073"/>
            <a:ext cx="318448" cy="381000"/>
          </a:xfrm>
          <a:prstGeom prst="rect">
            <a:avLst/>
          </a:prstGeom>
          <a:noFill/>
        </p:spPr>
        <p:txBody>
          <a:bodyPr wrap="square" rtlCol="0">
            <a:spAutoFit/>
          </a:bodyPr>
          <a:lstStyle/>
          <a:p>
            <a:r>
              <a:rPr lang="en-US" dirty="0"/>
              <a:t>0</a:t>
            </a:r>
          </a:p>
        </p:txBody>
      </p:sp>
      <p:sp>
        <p:nvSpPr>
          <p:cNvPr id="10" name="TextBox 9"/>
          <p:cNvSpPr txBox="1"/>
          <p:nvPr/>
        </p:nvSpPr>
        <p:spPr>
          <a:xfrm>
            <a:off x="1304561" y="4993073"/>
            <a:ext cx="437735" cy="369332"/>
          </a:xfrm>
          <a:prstGeom prst="rect">
            <a:avLst/>
          </a:prstGeom>
          <a:noFill/>
        </p:spPr>
        <p:txBody>
          <a:bodyPr wrap="square" rtlCol="0">
            <a:spAutoFit/>
          </a:bodyPr>
          <a:lstStyle/>
          <a:p>
            <a:r>
              <a:rPr lang="en-US" dirty="0"/>
              <a:t>6</a:t>
            </a:r>
          </a:p>
        </p:txBody>
      </p:sp>
      <p:sp>
        <p:nvSpPr>
          <p:cNvPr id="11" name="TextBox 10"/>
          <p:cNvSpPr txBox="1"/>
          <p:nvPr/>
        </p:nvSpPr>
        <p:spPr>
          <a:xfrm>
            <a:off x="2710698" y="5004741"/>
            <a:ext cx="437735" cy="369332"/>
          </a:xfrm>
          <a:prstGeom prst="rect">
            <a:avLst/>
          </a:prstGeom>
          <a:noFill/>
        </p:spPr>
        <p:txBody>
          <a:bodyPr wrap="square" rtlCol="0">
            <a:spAutoFit/>
          </a:bodyPr>
          <a:lstStyle/>
          <a:p>
            <a:r>
              <a:rPr lang="en-US" dirty="0"/>
              <a:t>14</a:t>
            </a:r>
          </a:p>
        </p:txBody>
      </p:sp>
      <p:sp>
        <p:nvSpPr>
          <p:cNvPr id="12" name="TextBox 11"/>
          <p:cNvSpPr txBox="1"/>
          <p:nvPr/>
        </p:nvSpPr>
        <p:spPr>
          <a:xfrm>
            <a:off x="5008900" y="4958247"/>
            <a:ext cx="593442" cy="369332"/>
          </a:xfrm>
          <a:prstGeom prst="rect">
            <a:avLst/>
          </a:prstGeom>
          <a:noFill/>
        </p:spPr>
        <p:txBody>
          <a:bodyPr wrap="square" rtlCol="0">
            <a:spAutoFit/>
          </a:bodyPr>
          <a:lstStyle/>
          <a:p>
            <a:r>
              <a:rPr lang="en-US" dirty="0"/>
              <a:t>21</a:t>
            </a:r>
          </a:p>
        </p:txBody>
      </p:sp>
      <p:sp>
        <p:nvSpPr>
          <p:cNvPr id="13" name="TextBox 12"/>
          <p:cNvSpPr txBox="1"/>
          <p:nvPr/>
        </p:nvSpPr>
        <p:spPr>
          <a:xfrm>
            <a:off x="6129264" y="4973745"/>
            <a:ext cx="448784" cy="369332"/>
          </a:xfrm>
          <a:prstGeom prst="rect">
            <a:avLst/>
          </a:prstGeom>
          <a:noFill/>
        </p:spPr>
        <p:txBody>
          <a:bodyPr wrap="square" rtlCol="0">
            <a:spAutoFit/>
          </a:bodyPr>
          <a:lstStyle/>
          <a:p>
            <a:r>
              <a:rPr lang="en-US" dirty="0"/>
              <a:t>24</a:t>
            </a:r>
          </a:p>
        </p:txBody>
      </p:sp>
      <p:cxnSp>
        <p:nvCxnSpPr>
          <p:cNvPr id="14" name="Straight Connector 13"/>
          <p:cNvCxnSpPr/>
          <p:nvPr/>
        </p:nvCxnSpPr>
        <p:spPr>
          <a:xfrm flipH="1">
            <a:off x="1014593" y="4353205"/>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7"/>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8"/>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6530" y="824702"/>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Waiting Time</a:t>
                      </a:r>
                      <a:endParaRPr lang="en-IN" sz="1800" b="1" kern="1200" dirty="0">
                        <a:solidFill>
                          <a:schemeClr val="tx1"/>
                        </a:solidFill>
                        <a:effectLst/>
                        <a:latin typeface="+mn-lt"/>
                        <a:ea typeface="+mn-ea"/>
                        <a:cs typeface="+mn-cs"/>
                      </a:endParaRPr>
                    </a:p>
                    <a:p>
                      <a:pPr algn="ctr"/>
                      <a:r>
                        <a:rPr lang="en-US" sz="1800" b="1" kern="1200" dirty="0">
                          <a:solidFill>
                            <a:schemeClr val="tx1"/>
                          </a:solidFill>
                          <a:effectLst/>
                          <a:latin typeface="+mn-lt"/>
                          <a:ea typeface="+mn-ea"/>
                          <a:cs typeface="+mn-cs"/>
                        </a:rPr>
                        <a:t>(TAT-ΔT)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2641" y="146766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0058" y="2023019"/>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259387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315181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0" name="TextBox 49"/>
          <p:cNvSpPr txBox="1"/>
          <p:nvPr/>
        </p:nvSpPr>
        <p:spPr>
          <a:xfrm>
            <a:off x="2723645" y="1485099"/>
            <a:ext cx="3590108" cy="542441"/>
          </a:xfrm>
          <a:prstGeom prst="rect">
            <a:avLst/>
          </a:prstGeom>
          <a:noFill/>
          <a:ln w="57150">
            <a:solidFill>
              <a:srgbClr val="FF0000"/>
            </a:solidFill>
          </a:ln>
        </p:spPr>
        <p:txBody>
          <a:bodyPr wrap="square" rtlCol="0">
            <a:spAutoFit/>
          </a:bodyPr>
          <a:lstStyle/>
          <a:p>
            <a:endParaRPr lang="en-IN" dirty="0"/>
          </a:p>
        </p:txBody>
      </p:sp>
      <p:sp>
        <p:nvSpPr>
          <p:cNvPr id="51" name="TextBox 50"/>
          <p:cNvSpPr txBox="1"/>
          <p:nvPr/>
        </p:nvSpPr>
        <p:spPr>
          <a:xfrm>
            <a:off x="7743598" y="1485099"/>
            <a:ext cx="2064742" cy="542441"/>
          </a:xfrm>
          <a:prstGeom prst="rect">
            <a:avLst/>
          </a:prstGeom>
          <a:noFill/>
          <a:ln w="57150">
            <a:solidFill>
              <a:srgbClr val="FF0000"/>
            </a:solidFill>
          </a:ln>
        </p:spPr>
        <p:txBody>
          <a:bodyPr wrap="square" rtlCol="0">
            <a:spAutoFit/>
          </a:bodyPr>
          <a:lstStyle/>
          <a:p>
            <a:endParaRPr lang="en-IN" dirty="0"/>
          </a:p>
        </p:txBody>
      </p:sp>
      <p:sp>
        <p:nvSpPr>
          <p:cNvPr id="52" name="TextBox 51"/>
          <p:cNvSpPr txBox="1"/>
          <p:nvPr/>
        </p:nvSpPr>
        <p:spPr>
          <a:xfrm>
            <a:off x="2763548" y="2072414"/>
            <a:ext cx="3590108" cy="542441"/>
          </a:xfrm>
          <a:prstGeom prst="rect">
            <a:avLst/>
          </a:prstGeom>
          <a:noFill/>
          <a:ln w="57150">
            <a:solidFill>
              <a:srgbClr val="FF0000"/>
            </a:solidFill>
          </a:ln>
        </p:spPr>
        <p:txBody>
          <a:bodyPr wrap="square" rtlCol="0">
            <a:spAutoFit/>
          </a:bodyPr>
          <a:lstStyle/>
          <a:p>
            <a:endParaRPr lang="en-IN" dirty="0"/>
          </a:p>
        </p:txBody>
      </p:sp>
      <p:sp>
        <p:nvSpPr>
          <p:cNvPr id="53" name="TextBox 52"/>
          <p:cNvSpPr txBox="1"/>
          <p:nvPr/>
        </p:nvSpPr>
        <p:spPr>
          <a:xfrm>
            <a:off x="7727182" y="2057044"/>
            <a:ext cx="2064742" cy="542441"/>
          </a:xfrm>
          <a:prstGeom prst="rect">
            <a:avLst/>
          </a:prstGeom>
          <a:noFill/>
          <a:ln w="57150">
            <a:solidFill>
              <a:srgbClr val="FF0000"/>
            </a:solidFill>
          </a:ln>
        </p:spPr>
        <p:txBody>
          <a:bodyPr wrap="square" rtlCol="0">
            <a:spAutoFit/>
          </a:bodyPr>
          <a:lstStyle/>
          <a:p>
            <a:endParaRPr lang="en-IN" dirty="0"/>
          </a:p>
        </p:txBody>
      </p:sp>
      <p:sp>
        <p:nvSpPr>
          <p:cNvPr id="54" name="TextBox 53"/>
          <p:cNvSpPr txBox="1"/>
          <p:nvPr/>
        </p:nvSpPr>
        <p:spPr>
          <a:xfrm>
            <a:off x="2711738" y="2596457"/>
            <a:ext cx="3590108" cy="542441"/>
          </a:xfrm>
          <a:prstGeom prst="rect">
            <a:avLst/>
          </a:prstGeom>
          <a:noFill/>
          <a:ln w="57150">
            <a:solidFill>
              <a:srgbClr val="FF0000"/>
            </a:solidFill>
          </a:ln>
        </p:spPr>
        <p:txBody>
          <a:bodyPr wrap="square" rtlCol="0">
            <a:spAutoFit/>
          </a:bodyPr>
          <a:lstStyle/>
          <a:p>
            <a:endParaRPr lang="en-IN" dirty="0"/>
          </a:p>
        </p:txBody>
      </p:sp>
      <p:sp>
        <p:nvSpPr>
          <p:cNvPr id="55" name="TextBox 54"/>
          <p:cNvSpPr txBox="1"/>
          <p:nvPr/>
        </p:nvSpPr>
        <p:spPr>
          <a:xfrm>
            <a:off x="7736663" y="2614855"/>
            <a:ext cx="2064742" cy="542441"/>
          </a:xfrm>
          <a:prstGeom prst="rect">
            <a:avLst/>
          </a:prstGeom>
          <a:noFill/>
          <a:ln w="57150">
            <a:solidFill>
              <a:srgbClr val="FF0000"/>
            </a:solidFill>
          </a:ln>
        </p:spPr>
        <p:txBody>
          <a:bodyPr wrap="square" rtlCol="0">
            <a:spAutoFit/>
          </a:bodyPr>
          <a:lstStyle/>
          <a:p>
            <a:endParaRPr lang="en-IN" dirty="0"/>
          </a:p>
        </p:txBody>
      </p:sp>
      <p:sp>
        <p:nvSpPr>
          <p:cNvPr id="56" name="TextBox 55"/>
          <p:cNvSpPr txBox="1"/>
          <p:nvPr/>
        </p:nvSpPr>
        <p:spPr>
          <a:xfrm>
            <a:off x="2755681" y="3182689"/>
            <a:ext cx="3590108" cy="542441"/>
          </a:xfrm>
          <a:prstGeom prst="rect">
            <a:avLst/>
          </a:prstGeom>
          <a:noFill/>
          <a:ln w="57150">
            <a:solidFill>
              <a:srgbClr val="FF0000"/>
            </a:solidFill>
          </a:ln>
        </p:spPr>
        <p:txBody>
          <a:bodyPr wrap="square" rtlCol="0">
            <a:spAutoFit/>
          </a:bodyPr>
          <a:lstStyle/>
          <a:p>
            <a:endParaRPr lang="en-IN" dirty="0"/>
          </a:p>
        </p:txBody>
      </p:sp>
      <p:sp>
        <p:nvSpPr>
          <p:cNvPr id="57" name="TextBox 56"/>
          <p:cNvSpPr txBox="1"/>
          <p:nvPr/>
        </p:nvSpPr>
        <p:spPr>
          <a:xfrm>
            <a:off x="7736663" y="3187291"/>
            <a:ext cx="2064742" cy="542441"/>
          </a:xfrm>
          <a:prstGeom prst="rect">
            <a:avLst/>
          </a:prstGeom>
          <a:noFill/>
          <a:ln w="57150">
            <a:solidFill>
              <a:srgbClr val="FF0000"/>
            </a:solidFill>
          </a:ln>
        </p:spPr>
        <p:txBody>
          <a:bodyPr wrap="square" rtlCol="0">
            <a:spAutoFit/>
          </a:bodyPr>
          <a:lstStyle/>
          <a:p>
            <a:endParaRPr lang="en-IN" dirty="0"/>
          </a:p>
        </p:txBody>
      </p:sp>
      <p:sp>
        <p:nvSpPr>
          <p:cNvPr id="58" name="TextBox 57"/>
          <p:cNvSpPr txBox="1"/>
          <p:nvPr/>
        </p:nvSpPr>
        <p:spPr>
          <a:xfrm>
            <a:off x="372400" y="5406283"/>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Waiting Time </a:t>
            </a:r>
            <a:r>
              <a:rPr lang="en-US" sz="2000" dirty="0"/>
              <a:t>= Sum of all Process’s Waiting Time/ Total Process</a:t>
            </a:r>
          </a:p>
          <a:p>
            <a:r>
              <a:rPr lang="en-US" sz="2000" dirty="0"/>
              <a:t>                                              = (0+6+14+21)/4 </a:t>
            </a:r>
          </a:p>
          <a:p>
            <a:r>
              <a:rPr lang="en-US" sz="2000" dirty="0"/>
              <a:t>                                              = 10.25 Ms.</a:t>
            </a:r>
          </a:p>
        </p:txBody>
      </p:sp>
      <p:sp>
        <p:nvSpPr>
          <p:cNvPr id="61" name="TextBox 60"/>
          <p:cNvSpPr txBox="1"/>
          <p:nvPr/>
        </p:nvSpPr>
        <p:spPr>
          <a:xfrm>
            <a:off x="9829504" y="1498977"/>
            <a:ext cx="2049246" cy="2222902"/>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361506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500" tmFilter="0, 0; .2, .5; .8, .5; 1, 0"/>
                                        <p:tgtEl>
                                          <p:spTgt spid="50"/>
                                        </p:tgtEl>
                                      </p:cBhvr>
                                    </p:animEffect>
                                    <p:animScale>
                                      <p:cBhvr>
                                        <p:cTn id="15" dur="250" autoRev="1" fill="hold"/>
                                        <p:tgtEl>
                                          <p:spTgt spid="50"/>
                                        </p:tgtEl>
                                      </p:cBhvr>
                                      <p:by x="105000" y="105000"/>
                                    </p:animScale>
                                  </p:childTnLst>
                                </p:cTn>
                              </p:par>
                              <p:par>
                                <p:cTn id="16" presetID="1" presetClass="entr" presetSubtype="0" fill="hold" grpId="0" nodeType="withEffect">
                                  <p:stCondLst>
                                    <p:cond delay="0"/>
                                  </p:stCondLst>
                                  <p:childTnLst>
                                    <p:set>
                                      <p:cBhvr>
                                        <p:cTn id="17" dur="1" fill="hold">
                                          <p:stCondLst>
                                            <p:cond delay="0"/>
                                          </p:stCondLst>
                                        </p:cTn>
                                        <p:tgtEl>
                                          <p:spTgt spid="51"/>
                                        </p:tgtEl>
                                        <p:attrNameLst>
                                          <p:attrName>style.visibility</p:attrName>
                                        </p:attrNameLst>
                                      </p:cBhvr>
                                      <p:to>
                                        <p:strVal val="visible"/>
                                      </p:to>
                                    </p:set>
                                  </p:childTnLst>
                                </p:cTn>
                              </p:par>
                              <p:par>
                                <p:cTn id="18" presetID="26" presetClass="emph" presetSubtype="0" repeatCount="indefinite" fill="hold" grpId="1" nodeType="withEffect">
                                  <p:stCondLst>
                                    <p:cond delay="0"/>
                                  </p:stCondLst>
                                  <p:endCondLst>
                                    <p:cond evt="onNext" delay="0">
                                      <p:tgtEl>
                                        <p:sldTgt/>
                                      </p:tgtEl>
                                    </p:cond>
                                  </p:endCondLst>
                                  <p:childTnLst>
                                    <p:animEffect transition="out" filter="fade">
                                      <p:cBhvr>
                                        <p:cTn id="19" dur="500" tmFilter="0, 0; .2, .5; .8, .5; 1, 0"/>
                                        <p:tgtEl>
                                          <p:spTgt spid="51"/>
                                        </p:tgtEl>
                                      </p:cBhvr>
                                    </p:animEffect>
                                    <p:animScale>
                                      <p:cBhvr>
                                        <p:cTn id="20" dur="250" autoRev="1" fill="hold"/>
                                        <p:tgtEl>
                                          <p:spTgt spid="51"/>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xit" presetSubtype="0" fill="hold" grpId="2" nodeType="withEffect">
                                  <p:stCondLst>
                                    <p:cond delay="0"/>
                                  </p:stCondLst>
                                  <p:childTnLst>
                                    <p:set>
                                      <p:cBhvr>
                                        <p:cTn id="26" dur="1" fill="hold">
                                          <p:stCondLst>
                                            <p:cond delay="0"/>
                                          </p:stCondLst>
                                        </p:cTn>
                                        <p:tgtEl>
                                          <p:spTgt spid="50"/>
                                        </p:tgtEl>
                                        <p:attrNameLst>
                                          <p:attrName>style.visibility</p:attrName>
                                        </p:attrNameLst>
                                      </p:cBhvr>
                                      <p:to>
                                        <p:strVal val="hidden"/>
                                      </p:to>
                                    </p:set>
                                  </p:childTnLst>
                                </p:cTn>
                              </p:par>
                              <p:par>
                                <p:cTn id="27" presetID="1" presetClass="exit" presetSubtype="0" fill="hold" grpId="2" nodeType="withEffect">
                                  <p:stCondLst>
                                    <p:cond delay="0"/>
                                  </p:stCondLst>
                                  <p:childTnLst>
                                    <p:set>
                                      <p:cBhvr>
                                        <p:cTn id="28" dur="1" fill="hold">
                                          <p:stCondLst>
                                            <p:cond delay="0"/>
                                          </p:stCondLst>
                                        </p:cTn>
                                        <p:tgtEl>
                                          <p:spTgt spid="51"/>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26" presetClass="emph" presetSubtype="0" repeatCount="indefinite" fill="hold" grpId="1" nodeType="withEffect">
                                  <p:stCondLst>
                                    <p:cond delay="0"/>
                                  </p:stCondLst>
                                  <p:endCondLst>
                                    <p:cond evt="onNext" delay="0">
                                      <p:tgtEl>
                                        <p:sldTgt/>
                                      </p:tgtEl>
                                    </p:cond>
                                  </p:endCondLst>
                                  <p:childTnLst>
                                    <p:animEffect transition="out" filter="fade">
                                      <p:cBhvr>
                                        <p:cTn id="32" dur="500" tmFilter="0, 0; .2, .5; .8, .5; 1, 0"/>
                                        <p:tgtEl>
                                          <p:spTgt spid="52"/>
                                        </p:tgtEl>
                                      </p:cBhvr>
                                    </p:animEffect>
                                    <p:animScale>
                                      <p:cBhvr>
                                        <p:cTn id="33" dur="250" autoRev="1" fill="hold"/>
                                        <p:tgtEl>
                                          <p:spTgt spid="52"/>
                                        </p:tgtEl>
                                      </p:cBhvr>
                                      <p:by x="105000" y="105000"/>
                                    </p:animScale>
                                  </p:childTnLst>
                                </p:cTn>
                              </p:par>
                              <p:par>
                                <p:cTn id="34" presetID="1" presetClass="entr" presetSubtype="0" fill="hold" grpId="0" nodeType="withEffect">
                                  <p:stCondLst>
                                    <p:cond delay="0"/>
                                  </p:stCondLst>
                                  <p:childTnLst>
                                    <p:set>
                                      <p:cBhvr>
                                        <p:cTn id="35" dur="1" fill="hold">
                                          <p:stCondLst>
                                            <p:cond delay="0"/>
                                          </p:stCondLst>
                                        </p:cTn>
                                        <p:tgtEl>
                                          <p:spTgt spid="53"/>
                                        </p:tgtEl>
                                        <p:attrNameLst>
                                          <p:attrName>style.visibility</p:attrName>
                                        </p:attrNameLst>
                                      </p:cBhvr>
                                      <p:to>
                                        <p:strVal val="visible"/>
                                      </p:to>
                                    </p:set>
                                  </p:childTnLst>
                                </p:cTn>
                              </p:par>
                              <p:par>
                                <p:cTn id="36" presetID="26" presetClass="emph" presetSubtype="0" repeatCount="indefinite" fill="hold" grpId="1" nodeType="withEffect">
                                  <p:stCondLst>
                                    <p:cond delay="0"/>
                                  </p:stCondLst>
                                  <p:endCondLst>
                                    <p:cond evt="onNext" delay="0">
                                      <p:tgtEl>
                                        <p:sldTgt/>
                                      </p:tgtEl>
                                    </p:cond>
                                  </p:endCondLst>
                                  <p:childTnLst>
                                    <p:animEffect transition="out" filter="fade">
                                      <p:cBhvr>
                                        <p:cTn id="37" dur="500" tmFilter="0, 0; .2, .5; .8, .5; 1, 0"/>
                                        <p:tgtEl>
                                          <p:spTgt spid="53"/>
                                        </p:tgtEl>
                                      </p:cBhvr>
                                    </p:animEffect>
                                    <p:animScale>
                                      <p:cBhvr>
                                        <p:cTn id="38" dur="250" autoRev="1" fill="hold"/>
                                        <p:tgtEl>
                                          <p:spTgt spid="53"/>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xit" presetSubtype="0" fill="hold" grpId="2" nodeType="withEffect">
                                  <p:stCondLst>
                                    <p:cond delay="0"/>
                                  </p:stCondLst>
                                  <p:childTnLst>
                                    <p:set>
                                      <p:cBhvr>
                                        <p:cTn id="44" dur="1" fill="hold">
                                          <p:stCondLst>
                                            <p:cond delay="0"/>
                                          </p:stCondLst>
                                        </p:cTn>
                                        <p:tgtEl>
                                          <p:spTgt spid="52"/>
                                        </p:tgtEl>
                                        <p:attrNameLst>
                                          <p:attrName>style.visibility</p:attrName>
                                        </p:attrNameLst>
                                      </p:cBhvr>
                                      <p:to>
                                        <p:strVal val="hidden"/>
                                      </p:to>
                                    </p:set>
                                  </p:childTnLst>
                                </p:cTn>
                              </p:par>
                              <p:par>
                                <p:cTn id="45" presetID="1" presetClass="exit" presetSubtype="0" fill="hold" grpId="2" nodeType="withEffect">
                                  <p:stCondLst>
                                    <p:cond delay="0"/>
                                  </p:stCondLst>
                                  <p:childTnLst>
                                    <p:set>
                                      <p:cBhvr>
                                        <p:cTn id="46" dur="1" fill="hold">
                                          <p:stCondLst>
                                            <p:cond delay="0"/>
                                          </p:stCondLst>
                                        </p:cTn>
                                        <p:tgtEl>
                                          <p:spTgt spid="53"/>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54"/>
                                        </p:tgtEl>
                                        <p:attrNameLst>
                                          <p:attrName>style.visibility</p:attrName>
                                        </p:attrNameLst>
                                      </p:cBhvr>
                                      <p:to>
                                        <p:strVal val="visible"/>
                                      </p:to>
                                    </p:set>
                                  </p:childTnLst>
                                </p:cTn>
                              </p:par>
                              <p:par>
                                <p:cTn id="49" presetID="26" presetClass="emph" presetSubtype="0" repeatCount="indefinite" fill="hold" grpId="1" nodeType="withEffect">
                                  <p:stCondLst>
                                    <p:cond delay="0"/>
                                  </p:stCondLst>
                                  <p:endCondLst>
                                    <p:cond evt="onNext" delay="0">
                                      <p:tgtEl>
                                        <p:sldTgt/>
                                      </p:tgtEl>
                                    </p:cond>
                                  </p:endCondLst>
                                  <p:childTnLst>
                                    <p:animEffect transition="out" filter="fade">
                                      <p:cBhvr>
                                        <p:cTn id="50" dur="500" tmFilter="0, 0; .2, .5; .8, .5; 1, 0"/>
                                        <p:tgtEl>
                                          <p:spTgt spid="54"/>
                                        </p:tgtEl>
                                      </p:cBhvr>
                                    </p:animEffect>
                                    <p:animScale>
                                      <p:cBhvr>
                                        <p:cTn id="51" dur="250" autoRev="1" fill="hold"/>
                                        <p:tgtEl>
                                          <p:spTgt spid="54"/>
                                        </p:tgtEl>
                                      </p:cBhvr>
                                      <p:by x="105000" y="105000"/>
                                    </p:animScale>
                                  </p:childTnLst>
                                </p:cTn>
                              </p:par>
                              <p:par>
                                <p:cTn id="52" presetID="1" presetClass="entr" presetSubtype="0" fill="hold" grpId="0" nodeType="withEffect">
                                  <p:stCondLst>
                                    <p:cond delay="0"/>
                                  </p:stCondLst>
                                  <p:childTnLst>
                                    <p:set>
                                      <p:cBhvr>
                                        <p:cTn id="53" dur="1" fill="hold">
                                          <p:stCondLst>
                                            <p:cond delay="0"/>
                                          </p:stCondLst>
                                        </p:cTn>
                                        <p:tgtEl>
                                          <p:spTgt spid="55"/>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55"/>
                                        </p:tgtEl>
                                      </p:cBhvr>
                                    </p:animEffect>
                                    <p:animScale>
                                      <p:cBhvr>
                                        <p:cTn id="56" dur="250" autoRev="1" fill="hold"/>
                                        <p:tgtEl>
                                          <p:spTgt spid="55"/>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54"/>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55"/>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56"/>
                                        </p:tgtEl>
                                        <p:attrNameLst>
                                          <p:attrName>style.visibility</p:attrName>
                                        </p:attrNameLst>
                                      </p:cBhvr>
                                      <p:to>
                                        <p:strVal val="visible"/>
                                      </p:to>
                                    </p:set>
                                  </p:childTnLst>
                                </p:cTn>
                              </p:par>
                              <p:par>
                                <p:cTn id="67" presetID="26" presetClass="emph" presetSubtype="0" repeatCount="indefinite" fill="hold" grpId="1" nodeType="withEffect">
                                  <p:stCondLst>
                                    <p:cond delay="0"/>
                                  </p:stCondLst>
                                  <p:endCondLst>
                                    <p:cond evt="onNext" delay="0">
                                      <p:tgtEl>
                                        <p:sldTgt/>
                                      </p:tgtEl>
                                    </p:cond>
                                  </p:endCondLst>
                                  <p:childTnLst>
                                    <p:animEffect transition="out" filter="fade">
                                      <p:cBhvr>
                                        <p:cTn id="68" dur="500" tmFilter="0, 0; .2, .5; .8, .5; 1, 0"/>
                                        <p:tgtEl>
                                          <p:spTgt spid="56"/>
                                        </p:tgtEl>
                                      </p:cBhvr>
                                    </p:animEffect>
                                    <p:animScale>
                                      <p:cBhvr>
                                        <p:cTn id="69" dur="250" autoRev="1" fill="hold"/>
                                        <p:tgtEl>
                                          <p:spTgt spid="56"/>
                                        </p:tgtEl>
                                      </p:cBhvr>
                                      <p:by x="105000" y="105000"/>
                                    </p:animScale>
                                  </p:childTnLst>
                                </p:cTn>
                              </p:par>
                              <p:par>
                                <p:cTn id="70" presetID="1" presetClass="entr" presetSubtype="0" fill="hold" grpId="0" nodeType="withEffect">
                                  <p:stCondLst>
                                    <p:cond delay="0"/>
                                  </p:stCondLst>
                                  <p:childTnLst>
                                    <p:set>
                                      <p:cBhvr>
                                        <p:cTn id="71" dur="1" fill="hold">
                                          <p:stCondLst>
                                            <p:cond delay="0"/>
                                          </p:stCondLst>
                                        </p:cTn>
                                        <p:tgtEl>
                                          <p:spTgt spid="57"/>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57"/>
                                        </p:tgtEl>
                                      </p:cBhvr>
                                    </p:animEffect>
                                    <p:animScale>
                                      <p:cBhvr>
                                        <p:cTn id="74" dur="250" autoRev="1" fill="hold"/>
                                        <p:tgtEl>
                                          <p:spTgt spid="57"/>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56"/>
                                        </p:tgtEl>
                                        <p:attrNameLst>
                                          <p:attrName>style.visibility</p:attrName>
                                        </p:attrNameLst>
                                      </p:cBhvr>
                                      <p:to>
                                        <p:strVal val="hidden"/>
                                      </p:to>
                                    </p:set>
                                  </p:childTnLst>
                                </p:cTn>
                              </p:par>
                              <p:par>
                                <p:cTn id="79" presetID="1" presetClass="exit" presetSubtype="0" fill="hold" grpId="2" nodeType="withEffect">
                                  <p:stCondLst>
                                    <p:cond delay="0"/>
                                  </p:stCondLst>
                                  <p:childTnLst>
                                    <p:set>
                                      <p:cBhvr>
                                        <p:cTn id="80" dur="1" fill="hold">
                                          <p:stCondLst>
                                            <p:cond delay="0"/>
                                          </p:stCondLst>
                                        </p:cTn>
                                        <p:tgtEl>
                                          <p:spTgt spid="57"/>
                                        </p:tgtEl>
                                        <p:attrNameLst>
                                          <p:attrName>style.visibility</p:attrName>
                                        </p:attrNameLst>
                                      </p:cBhvr>
                                      <p:to>
                                        <p:strVal val="hidden"/>
                                      </p:to>
                                    </p:set>
                                  </p:childTnLst>
                                </p:cTn>
                              </p:par>
                              <p:par>
                                <p:cTn id="81" presetID="1" presetClass="entr" presetSubtype="0" fill="hold" grpId="0" nodeType="withEffect">
                                  <p:stCondLst>
                                    <p:cond delay="0"/>
                                  </p:stCondLst>
                                  <p:childTnLst>
                                    <p:set>
                                      <p:cBhvr>
                                        <p:cTn id="82" dur="1" fill="hold">
                                          <p:stCondLst>
                                            <p:cond delay="0"/>
                                          </p:stCondLst>
                                        </p:cTn>
                                        <p:tgtEl>
                                          <p:spTgt spid="5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1"/>
                                        </p:tgtEl>
                                        <p:attrNameLst>
                                          <p:attrName>style.visibility</p:attrName>
                                        </p:attrNameLst>
                                      </p:cBhvr>
                                      <p:to>
                                        <p:strVal val="visible"/>
                                      </p:to>
                                    </p:set>
                                  </p:childTnLst>
                                </p:cTn>
                              </p:par>
                              <p:par>
                                <p:cTn id="85" presetID="26" presetClass="emph" presetSubtype="0" repeatCount="indefinite" fill="hold" grpId="1" nodeType="withEffect">
                                  <p:stCondLst>
                                    <p:cond delay="0"/>
                                  </p:stCondLst>
                                  <p:endCondLst>
                                    <p:cond evt="onNext" delay="0">
                                      <p:tgtEl>
                                        <p:sldTgt/>
                                      </p:tgtEl>
                                    </p:cond>
                                  </p:endCondLst>
                                  <p:childTnLst>
                                    <p:animEffect transition="out" filter="fade">
                                      <p:cBhvr>
                                        <p:cTn id="86" dur="500" tmFilter="0, 0; .2, .5; .8, .5; 1, 0"/>
                                        <p:tgtEl>
                                          <p:spTgt spid="61"/>
                                        </p:tgtEl>
                                      </p:cBhvr>
                                    </p:animEffect>
                                    <p:animScale>
                                      <p:cBhvr>
                                        <p:cTn id="87" dur="250" autoRev="1" fill="hold"/>
                                        <p:tgtEl>
                                          <p:spTgt spid="6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50" grpId="2" animBg="1"/>
      <p:bldP spid="51" grpId="0" animBg="1"/>
      <p:bldP spid="51" grpId="1" animBg="1"/>
      <p:bldP spid="51" grpId="2" animBg="1"/>
      <p:bldP spid="52" grpId="0" animBg="1"/>
      <p:bldP spid="52" grpId="1" animBg="1"/>
      <p:bldP spid="52" grpId="2" animBg="1"/>
      <p:bldP spid="53" grpId="0" animBg="1"/>
      <p:bldP spid="53" grpId="1" animBg="1"/>
      <p:bldP spid="53" grpId="2" animBg="1"/>
      <p:bldP spid="54" grpId="0" animBg="1"/>
      <p:bldP spid="54" grpId="1" animBg="1"/>
      <p:bldP spid="54" grpId="2" animBg="1"/>
      <p:bldP spid="55" grpId="0" animBg="1"/>
      <p:bldP spid="55" grpId="1" animBg="1"/>
      <p:bldP spid="55" grpId="2" animBg="1"/>
      <p:bldP spid="56" grpId="0" animBg="1"/>
      <p:bldP spid="56" grpId="1" animBg="1"/>
      <p:bldP spid="56" grpId="2" animBg="1"/>
      <p:bldP spid="57" grpId="0" animBg="1"/>
      <p:bldP spid="57" grpId="1" animBg="1"/>
      <p:bldP spid="57" grpId="2" animBg="1"/>
      <p:bldP spid="58" grpId="0"/>
      <p:bldP spid="61" grpId="0" animBg="1"/>
      <p:bldP spid="61"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B4931-A16A-AEF2-E386-B92053065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4BFA4-0E3E-1A7A-432E-1876D758B343}"/>
              </a:ext>
            </a:extLst>
          </p:cNvPr>
          <p:cNvSpPr>
            <a:spLocks noGrp="1"/>
          </p:cNvSpPr>
          <p:nvPr>
            <p:ph type="title"/>
          </p:nvPr>
        </p:nvSpPr>
        <p:spPr/>
        <p:txBody>
          <a:bodyPr/>
          <a:lstStyle/>
          <a:p>
            <a:r>
              <a:rPr lang="en-US" dirty="0"/>
              <a:t>First Come, First Served</a:t>
            </a:r>
            <a:r>
              <a:rPr lang="en-IN" dirty="0"/>
              <a:t> - </a:t>
            </a:r>
            <a:r>
              <a:rPr lang="en-IN" dirty="0">
                <a:solidFill>
                  <a:schemeClr val="bg1">
                    <a:lumMod val="50000"/>
                  </a:schemeClr>
                </a:solidFill>
              </a:rPr>
              <a:t>Exercise</a:t>
            </a:r>
          </a:p>
        </p:txBody>
      </p:sp>
      <p:sp>
        <p:nvSpPr>
          <p:cNvPr id="3" name="Content Placeholder 2">
            <a:extLst>
              <a:ext uri="{FF2B5EF4-FFF2-40B4-BE49-F238E27FC236}">
                <a16:creationId xmlns:a16="http://schemas.microsoft.com/office/drawing/2014/main" id="{C95CB828-8231-146F-DDF1-9BD1DC37B774}"/>
              </a:ext>
            </a:extLst>
          </p:cNvPr>
          <p:cNvSpPr>
            <a:spLocks noGrp="1"/>
          </p:cNvSpPr>
          <p:nvPr>
            <p:ph idx="1"/>
          </p:nvPr>
        </p:nvSpPr>
        <p:spPr/>
        <p:txBody>
          <a:bodyPr/>
          <a:lstStyle/>
          <a:p>
            <a:r>
              <a:rPr lang="en-US" dirty="0"/>
              <a:t>Consider the following set of four processes. Their arrival time and time required to complete the execution are given in following table. (Time value in milliseconds).</a:t>
            </a:r>
            <a:endParaRPr lang="en-IN" dirty="0"/>
          </a:p>
          <a:p>
            <a:r>
              <a:rPr lang="en-IN" dirty="0"/>
              <a:t>Draw the Gantt chart and find Finish Time, Average Waiting Time and Turn Around Time  for FCFS algorithm.</a:t>
            </a:r>
            <a:endParaRPr lang="en-IN" b="1" dirty="0"/>
          </a:p>
          <a:p>
            <a:pPr marL="0" indent="0">
              <a:buNone/>
            </a:pPr>
            <a:endParaRPr lang="en-IN" b="1" dirty="0"/>
          </a:p>
          <a:p>
            <a:pPr marL="0" indent="0">
              <a:buNone/>
            </a:pPr>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010C7C77-8C31-8951-AD1D-FFBC18D86A7E}"/>
                  </a:ext>
                </a:extLst>
              </p:cNvPr>
              <p:cNvGraphicFramePr>
                <a:graphicFrameLocks/>
              </p:cNvGraphicFramePr>
              <p:nvPr>
                <p:extLst>
                  <p:ext uri="{D42A27DB-BD31-4B8C-83A1-F6EECF244321}">
                    <p14:modId xmlns:p14="http://schemas.microsoft.com/office/powerpoint/2010/main" val="1755999105"/>
                  </p:ext>
                </p:extLst>
              </p:nvPr>
            </p:nvGraphicFramePr>
            <p:xfrm>
              <a:off x="488761" y="2667146"/>
              <a:ext cx="5718875" cy="2874036"/>
            </p:xfrm>
            <a:graphic>
              <a:graphicData uri="http://schemas.openxmlformats.org/drawingml/2006/table">
                <a:tbl>
                  <a:tblPr firstRow="1" bandRow="1">
                    <a:tableStyleId>{8EC20E35-A176-4012-BC5E-935CFFF8708E}</a:tableStyleId>
                  </a:tblPr>
                  <a:tblGrid>
                    <a:gridCol w="967446">
                      <a:extLst>
                        <a:ext uri="{9D8B030D-6E8A-4147-A177-3AD203B41FA5}">
                          <a16:colId xmlns:a16="http://schemas.microsoft.com/office/drawing/2014/main" val="20000"/>
                        </a:ext>
                      </a:extLst>
                    </a:gridCol>
                    <a:gridCol w="1380610">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id="{010C7C77-8C31-8951-AD1D-FFBC18D86A7E}"/>
                  </a:ext>
                </a:extLst>
              </p:cNvPr>
              <p:cNvGraphicFramePr>
                <a:graphicFrameLocks/>
              </p:cNvGraphicFramePr>
              <p:nvPr>
                <p:extLst>
                  <p:ext uri="{D42A27DB-BD31-4B8C-83A1-F6EECF244321}">
                    <p14:modId xmlns:p14="http://schemas.microsoft.com/office/powerpoint/2010/main" val="1755999105"/>
                  </p:ext>
                </p:extLst>
              </p:nvPr>
            </p:nvGraphicFramePr>
            <p:xfrm>
              <a:off x="488761" y="2667146"/>
              <a:ext cx="5718875" cy="2874036"/>
            </p:xfrm>
            <a:graphic>
              <a:graphicData uri="http://schemas.openxmlformats.org/drawingml/2006/table">
                <a:tbl>
                  <a:tblPr firstRow="1" bandRow="1">
                    <a:tableStyleId>{8EC20E35-A176-4012-BC5E-935CFFF8708E}</a:tableStyleId>
                  </a:tblPr>
                  <a:tblGrid>
                    <a:gridCol w="967446">
                      <a:extLst>
                        <a:ext uri="{9D8B030D-6E8A-4147-A177-3AD203B41FA5}">
                          <a16:colId xmlns:a16="http://schemas.microsoft.com/office/drawing/2014/main" val="20000"/>
                        </a:ext>
                      </a:extLst>
                    </a:gridCol>
                    <a:gridCol w="1380610">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a:blip r:embed="rId2"/>
                          <a:stretch>
                            <a:fillRect l="-70485" t="-3810" r="-244053"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2"/>
                          <a:stretch>
                            <a:fillRect l="-629" t="-118478" r="-491195" b="-3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2"/>
                          <a:stretch>
                            <a:fillRect l="-629" t="-218478" r="-491195" b="-205435"/>
                          </a:stretch>
                        </a:blip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2"/>
                          <a:stretch>
                            <a:fillRect l="-629" t="-321978" r="-491195" b="-107692"/>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2"/>
                          <a:stretch>
                            <a:fillRect l="-629" t="-417391" r="-491195" b="-6522"/>
                          </a:stretch>
                        </a:blip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36613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a:xfrm>
            <a:off x="831850" y="1736726"/>
            <a:ext cx="10515600" cy="2852737"/>
          </a:xfrm>
        </p:spPr>
        <p:txBody>
          <a:bodyPr/>
          <a:lstStyle/>
          <a:p>
            <a:pPr lvl="0"/>
            <a:r>
              <a:rPr lang="en-US" dirty="0">
                <a:gradFill flip="none" rotWithShape="1">
                  <a:gsLst>
                    <a:gs pos="10000">
                      <a:srgbClr val="3E2622"/>
                    </a:gs>
                    <a:gs pos="100000">
                      <a:srgbClr val="795547"/>
                    </a:gs>
                  </a:gsLst>
                  <a:lin ang="0" scaled="1"/>
                  <a:tileRect/>
                </a:gradFill>
              </a:rPr>
              <a:t>Shortest Job First (SJF)</a:t>
            </a:r>
            <a:endParaRPr lang="en-US" dirty="0"/>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12.2</a:t>
            </a:r>
          </a:p>
        </p:txBody>
      </p:sp>
    </p:spTree>
    <p:extLst>
      <p:ext uri="{BB962C8B-B14F-4D97-AF65-F5344CB8AC3E}">
        <p14:creationId xmlns:p14="http://schemas.microsoft.com/office/powerpoint/2010/main" val="181817886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Job First(SJF)</a:t>
            </a:r>
            <a:endParaRPr lang="en-IN" dirty="0"/>
          </a:p>
        </p:txBody>
      </p:sp>
      <p:sp>
        <p:nvSpPr>
          <p:cNvPr id="3" name="Content Placeholder 2"/>
          <p:cNvSpPr>
            <a:spLocks noGrp="1"/>
          </p:cNvSpPr>
          <p:nvPr>
            <p:ph idx="1"/>
          </p:nvPr>
        </p:nvSpPr>
        <p:spPr/>
        <p:txBody>
          <a:bodyPr/>
          <a:lstStyle/>
          <a:p>
            <a:r>
              <a:rPr lang="en-US" b="1" dirty="0"/>
              <a:t>Selection criteria</a:t>
            </a:r>
          </a:p>
          <a:p>
            <a:pPr lvl="1"/>
            <a:r>
              <a:rPr lang="en-US" dirty="0"/>
              <a:t>The process, that </a:t>
            </a:r>
            <a:r>
              <a:rPr lang="en-US" b="1" dirty="0">
                <a:solidFill>
                  <a:schemeClr val="accent6"/>
                </a:solidFill>
              </a:rPr>
              <a:t>requires shortest time to complete execution</a:t>
            </a:r>
            <a:r>
              <a:rPr lang="en-US" dirty="0"/>
              <a:t>, is </a:t>
            </a:r>
            <a:r>
              <a:rPr lang="en-US" b="1" dirty="0">
                <a:solidFill>
                  <a:schemeClr val="accent6"/>
                </a:solidFill>
              </a:rPr>
              <a:t>served first</a:t>
            </a:r>
            <a:r>
              <a:rPr lang="en-US" dirty="0"/>
              <a:t>.</a:t>
            </a:r>
          </a:p>
          <a:p>
            <a:r>
              <a:rPr lang="en-US" b="1" dirty="0"/>
              <a:t>Decision Mode</a:t>
            </a:r>
          </a:p>
          <a:p>
            <a:pPr lvl="1">
              <a:buClr>
                <a:schemeClr val="tx1"/>
              </a:buClr>
            </a:pPr>
            <a:r>
              <a:rPr lang="en-US" b="1" dirty="0">
                <a:solidFill>
                  <a:schemeClr val="accent6"/>
                </a:solidFill>
              </a:rPr>
              <a:t>Non preemptive</a:t>
            </a:r>
            <a:r>
              <a:rPr lang="en-US" dirty="0"/>
              <a:t>: Once a process is selected, it runs until either it is blocked for an I/O or some other event or it is terminated.</a:t>
            </a:r>
          </a:p>
          <a:p>
            <a:r>
              <a:rPr lang="en-US" b="1" dirty="0"/>
              <a:t>Implementation</a:t>
            </a:r>
          </a:p>
          <a:p>
            <a:pPr lvl="1"/>
            <a:r>
              <a:rPr lang="en-US" dirty="0"/>
              <a:t>This strategy can be </a:t>
            </a:r>
            <a:r>
              <a:rPr lang="en-US" b="1" dirty="0">
                <a:solidFill>
                  <a:schemeClr val="accent6"/>
                </a:solidFill>
              </a:rPr>
              <a:t>easily implemented </a:t>
            </a:r>
            <a:r>
              <a:rPr lang="en-US" dirty="0"/>
              <a:t>by using FIFO (First In First Out) queue. </a:t>
            </a:r>
          </a:p>
          <a:p>
            <a:pPr lvl="1"/>
            <a:r>
              <a:rPr lang="en-US" dirty="0"/>
              <a:t>All processes in a queue are </a:t>
            </a:r>
            <a:r>
              <a:rPr lang="en-US" b="1" dirty="0">
                <a:solidFill>
                  <a:schemeClr val="accent6"/>
                </a:solidFill>
              </a:rPr>
              <a:t>sorted in ascending order </a:t>
            </a:r>
            <a:r>
              <a:rPr lang="en-US" dirty="0"/>
              <a:t>based on their required CPU bursts. </a:t>
            </a:r>
          </a:p>
          <a:p>
            <a:pPr lvl="1"/>
            <a:r>
              <a:rPr lang="en-US" dirty="0"/>
              <a:t>When CPU becomes free, a process from the first position in a queue is selected to run.</a:t>
            </a:r>
          </a:p>
          <a:p>
            <a:endParaRPr lang="en-IN" dirty="0"/>
          </a:p>
        </p:txBody>
      </p:sp>
    </p:spTree>
    <p:extLst>
      <p:ext uri="{BB962C8B-B14F-4D97-AF65-F5344CB8AC3E}">
        <p14:creationId xmlns:p14="http://schemas.microsoft.com/office/powerpoint/2010/main" val="1850548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Job First(SJF)</a:t>
            </a:r>
            <a:endParaRPr lang="en-IN" dirty="0"/>
          </a:p>
        </p:txBody>
      </p:sp>
      <p:sp>
        <p:nvSpPr>
          <p:cNvPr id="3" name="Content Placeholder 2"/>
          <p:cNvSpPr>
            <a:spLocks noGrp="1"/>
          </p:cNvSpPr>
          <p:nvPr>
            <p:ph idx="1"/>
          </p:nvPr>
        </p:nvSpPr>
        <p:spPr/>
        <p:txBody>
          <a:bodyPr/>
          <a:lstStyle/>
          <a:p>
            <a:r>
              <a:rPr lang="en-US" b="1" dirty="0"/>
              <a:t>Shortest Job First </a:t>
            </a:r>
            <a:r>
              <a:rPr lang="en-IN" b="1" dirty="0"/>
              <a:t>Example</a:t>
            </a:r>
          </a:p>
          <a:p>
            <a:pPr lvl="1"/>
            <a:r>
              <a:rPr lang="en-US" dirty="0"/>
              <a:t>Consider the following set of four processes. Their arrival time and time required to complete the execution are given in following table. (Time value in milliseconds).</a:t>
            </a:r>
            <a:r>
              <a:rPr lang="en-IN" dirty="0"/>
              <a:t> Draw the Gantt chart and find Finish Time, Turn Around Time , Waiting Time , Average Turn Around Time, Average Waiting Time using SJF algorithm.</a:t>
            </a:r>
            <a:endParaRPr lang="en-US" dirty="0"/>
          </a:p>
          <a:p>
            <a:pPr lvl="1"/>
            <a:endParaRPr lang="en-IN" b="1" dirty="0"/>
          </a:p>
          <a:p>
            <a:pPr lvl="1"/>
            <a:endParaRPr lang="en-IN" b="1"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981659" y="2635991"/>
              <a:ext cx="5718875" cy="2874036"/>
            </p:xfrm>
            <a:graphic>
              <a:graphicData uri="http://schemas.openxmlformats.org/drawingml/2006/table">
                <a:tbl>
                  <a:tblPr firstRow="1" bandRow="1">
                    <a:tableStyleId>{8EC20E35-A176-4012-BC5E-935CFFF8708E}</a:tableStyleId>
                  </a:tblPr>
                  <a:tblGrid>
                    <a:gridCol w="967446">
                      <a:extLst>
                        <a:ext uri="{9D8B030D-6E8A-4147-A177-3AD203B41FA5}">
                          <a16:colId xmlns:a16="http://schemas.microsoft.com/office/drawing/2014/main" val="20000"/>
                        </a:ext>
                      </a:extLst>
                    </a:gridCol>
                    <a:gridCol w="1380610">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1981659" y="2635991"/>
              <a:ext cx="5718875" cy="2874036"/>
            </p:xfrm>
            <a:graphic>
              <a:graphicData uri="http://schemas.openxmlformats.org/drawingml/2006/table">
                <a:tbl>
                  <a:tblPr firstRow="1" bandRow="1">
                    <a:tableStyleId>{8EC20E35-A176-4012-BC5E-935CFFF8708E}</a:tableStyleId>
                  </a:tblPr>
                  <a:tblGrid>
                    <a:gridCol w="967446">
                      <a:extLst>
                        <a:ext uri="{9D8B030D-6E8A-4147-A177-3AD203B41FA5}">
                          <a16:colId xmlns:a16="http://schemas.microsoft.com/office/drawing/2014/main" xmlns="" xmlns:a14="http://schemas.microsoft.com/office/drawing/2010/main" val="20000"/>
                        </a:ext>
                      </a:extLst>
                    </a:gridCol>
                    <a:gridCol w="1380610">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70485" t="-3810" r="-244053"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29" t="-118478" r="-49119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29" t="-218478" r="-49119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29" t="-321978" r="-491195" b="-107692"/>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29" t="-417391" r="-491195" b="-6522"/>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Tree>
    <p:extLst>
      <p:ext uri="{BB962C8B-B14F-4D97-AF65-F5344CB8AC3E}">
        <p14:creationId xmlns:p14="http://schemas.microsoft.com/office/powerpoint/2010/main" val="30992304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Shortest Job First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400" dirty="0"/>
                  <a:t>Initially only process</a:t>
                </a:r>
                <a:r>
                  <a:rPr lang="en-US" sz="2400" dirty="0">
                    <a:solidFill>
                      <a:schemeClr val="bg1"/>
                    </a:solidFill>
                  </a:rPr>
                  <a:t>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t> is present and it is allowed to run. But, When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t> completes, all the other processes are present. </a:t>
                </a:r>
                <a:endParaRPr lang="en-IN" sz="2400" dirty="0"/>
              </a:p>
              <a:p>
                <a:pPr marL="342900" indent="-342900" algn="just">
                  <a:buFont typeface="Wingdings" panose="05000000000000000000" pitchFamily="2" charset="2"/>
                  <a:buChar char="ü"/>
                </a:pPr>
                <a:r>
                  <a:rPr lang="en-US" sz="2400" dirty="0"/>
                  <a:t>So, Next Process from the ready queue with shortest CPU burst time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𝟐</m:t>
                        </m:r>
                      </m:sub>
                    </m:sSub>
                  </m:oMath>
                </a14:m>
                <a:r>
                  <a:rPr lang="en-US" sz="2400" dirty="0"/>
                  <a:t> is selected and allowed to run till it completes.</a:t>
                </a:r>
                <a:endParaRPr lang="en-IN" sz="2400" dirty="0"/>
              </a:p>
              <a:p>
                <a:pPr marL="342900" indent="-342900" algn="just">
                  <a:buFont typeface="Wingdings" panose="05000000000000000000" pitchFamily="2" charset="2"/>
                  <a:buChar char="ü"/>
                </a:pPr>
                <a:r>
                  <a:rPr lang="en-US" sz="2400" dirty="0"/>
                  <a:t>Whenever more than one process is available, such type of decision is taken.</a:t>
                </a:r>
              </a:p>
              <a:p>
                <a:pPr marL="342900" indent="-342900" algn="just">
                  <a:buFont typeface="Wingdings" panose="05000000000000000000" pitchFamily="2" charset="2"/>
                  <a:buChar char="ü"/>
                </a:pPr>
                <a:r>
                  <a:rPr lang="en-US" sz="2400" dirty="0"/>
                  <a:t>This procedure is repeated till all processes complete their execution.</a:t>
                </a:r>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85978" y="773820"/>
              <a:ext cx="5718875" cy="2874036"/>
            </p:xfrm>
            <a:graphic>
              <a:graphicData uri="http://schemas.openxmlformats.org/drawingml/2006/table">
                <a:tbl>
                  <a:tblPr firstRow="1" bandRow="1">
                    <a:tableStyleId>{8EC20E35-A176-4012-BC5E-935CFFF8708E}</a:tableStyleId>
                  </a:tblPr>
                  <a:tblGrid>
                    <a:gridCol w="1022890">
                      <a:extLst>
                        <a:ext uri="{9D8B030D-6E8A-4147-A177-3AD203B41FA5}">
                          <a16:colId xmlns:a16="http://schemas.microsoft.com/office/drawing/2014/main" val="20000"/>
                        </a:ext>
                      </a:extLst>
                    </a:gridCol>
                    <a:gridCol w="1325166">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185978" y="773820"/>
              <a:ext cx="5718875" cy="2874036"/>
            </p:xfrm>
            <a:graphic>
              <a:graphicData uri="http://schemas.openxmlformats.org/drawingml/2006/table">
                <a:tbl>
                  <a:tblPr firstRow="1" bandRow="1">
                    <a:tableStyleId>{8EC20E35-A176-4012-BC5E-935CFFF8708E}</a:tableStyleId>
                  </a:tblPr>
                  <a:tblGrid>
                    <a:gridCol w="1022890">
                      <a:extLst>
                        <a:ext uri="{9D8B030D-6E8A-4147-A177-3AD203B41FA5}">
                          <a16:colId xmlns:a16="http://schemas.microsoft.com/office/drawing/2014/main" xmlns="" xmlns:a14="http://schemas.microsoft.com/office/drawing/2010/main" val="20000"/>
                        </a:ext>
                      </a:extLst>
                    </a:gridCol>
                    <a:gridCol w="1325166">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7523" t="-3810" r="-254128"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595" t="-118478" r="-459524"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595" t="-218478" r="-459524"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595" t="-318478" r="-459524"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595" t="-418478" r="-459524"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158276" y="152363"/>
            <a:ext cx="3022169"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b="1" dirty="0"/>
              <a:t>Example</a:t>
            </a:r>
          </a:p>
        </p:txBody>
      </p:sp>
      <p:sp>
        <p:nvSpPr>
          <p:cNvPr id="33" name="TextBox 32"/>
          <p:cNvSpPr txBox="1"/>
          <p:nvPr/>
        </p:nvSpPr>
        <p:spPr>
          <a:xfrm>
            <a:off x="170481" y="3840997"/>
            <a:ext cx="3022169" cy="461665"/>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a:t>Gantt Chart</a:t>
            </a:r>
          </a:p>
        </p:txBody>
      </p:sp>
      <mc:AlternateContent xmlns:mc="http://schemas.openxmlformats.org/markup-compatibility/2006" xmlns:a14="http://schemas.microsoft.com/office/drawing/2010/main">
        <mc:Choice Requires="a14">
          <p:sp>
            <p:nvSpPr>
              <p:cNvPr id="39" name="Rectangle 38"/>
              <p:cNvSpPr/>
              <p:nvPr/>
            </p:nvSpPr>
            <p:spPr>
              <a:xfrm>
                <a:off x="170481" y="4684410"/>
                <a:ext cx="22924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39" name="Rectangle 38"/>
              <p:cNvSpPr>
                <a:spLocks noRot="1" noChangeAspect="1" noMove="1" noResize="1" noEditPoints="1" noAdjustHandles="1" noChangeArrowheads="1" noChangeShapeType="1" noTextEdit="1"/>
              </p:cNvSpPr>
              <p:nvPr/>
            </p:nvSpPr>
            <p:spPr>
              <a:xfrm>
                <a:off x="170481" y="4684410"/>
                <a:ext cx="229244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4086969" y="4684408"/>
                <a:ext cx="1416676" cy="6553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1</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4086969" y="4684408"/>
                <a:ext cx="1416676" cy="655360"/>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2476455" y="4684408"/>
                <a:ext cx="502276"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2</m:t>
                          </m:r>
                        </m:sub>
                      </m:sSub>
                    </m:oMath>
                  </m:oMathPara>
                </a14:m>
                <a:endParaRPr lang="en-US" dirty="0"/>
              </a:p>
            </p:txBody>
          </p:sp>
        </mc:Choice>
        <mc:Fallback xmlns="">
          <p:sp>
            <p:nvSpPr>
              <p:cNvPr id="42" name="Rectangle 41"/>
              <p:cNvSpPr>
                <a:spLocks noRot="1" noChangeAspect="1" noMove="1" noResize="1" noEditPoints="1" noAdjustHandles="1" noChangeArrowheads="1" noChangeShapeType="1" noTextEdit="1"/>
              </p:cNvSpPr>
              <p:nvPr/>
            </p:nvSpPr>
            <p:spPr>
              <a:xfrm>
                <a:off x="2476455" y="4684408"/>
                <a:ext cx="502276" cy="655360"/>
              </a:xfrm>
              <a:prstGeom prst="rect">
                <a:avLst/>
              </a:prstGeom>
              <a:blipFill rotWithShape="0">
                <a:blip r:embed="rId6"/>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2978730" y="4684408"/>
                <a:ext cx="1094704"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3</m:t>
                          </m:r>
                        </m:sub>
                      </m:sSub>
                    </m:oMath>
                  </m:oMathPara>
                </a14:m>
                <a:endParaRPr lang="en-US" dirty="0"/>
              </a:p>
            </p:txBody>
          </p:sp>
        </mc:Choice>
        <mc:Fallback xmlns="">
          <p:sp>
            <p:nvSpPr>
              <p:cNvPr id="43" name="Rectangle 42"/>
              <p:cNvSpPr>
                <a:spLocks noRot="1" noChangeAspect="1" noMove="1" noResize="1" noEditPoints="1" noAdjustHandles="1" noChangeArrowheads="1" noChangeShapeType="1" noTextEdit="1"/>
              </p:cNvSpPr>
              <p:nvPr/>
            </p:nvSpPr>
            <p:spPr>
              <a:xfrm>
                <a:off x="2978730" y="4684408"/>
                <a:ext cx="1094704" cy="655360"/>
              </a:xfrm>
              <a:prstGeom prst="rect">
                <a:avLst/>
              </a:prstGeom>
              <a:blipFill rotWithShape="0">
                <a:blip r:embed="rId7"/>
                <a:stretch>
                  <a:fillRect/>
                </a:stretch>
              </a:blipFill>
              <a:ln w="38100">
                <a:solidFill>
                  <a:srgbClr val="4B302A"/>
                </a:solidFill>
              </a:ln>
            </p:spPr>
            <p:txBody>
              <a:bodyPr/>
              <a:lstStyle/>
              <a:p>
                <a:r>
                  <a:rPr lang="en-US">
                    <a:noFill/>
                  </a:rPr>
                  <a:t> </a:t>
                </a:r>
              </a:p>
            </p:txBody>
          </p:sp>
        </mc:Fallback>
      </mc:AlternateContent>
      <p:cxnSp>
        <p:nvCxnSpPr>
          <p:cNvPr id="44" name="Straight Connector 43"/>
          <p:cNvCxnSpPr/>
          <p:nvPr/>
        </p:nvCxnSpPr>
        <p:spPr>
          <a:xfrm flipH="1">
            <a:off x="165419" y="4684409"/>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9435" y="5340515"/>
            <a:ext cx="318448" cy="381000"/>
          </a:xfrm>
          <a:prstGeom prst="rect">
            <a:avLst/>
          </a:prstGeom>
          <a:noFill/>
        </p:spPr>
        <p:txBody>
          <a:bodyPr wrap="square" rtlCol="0">
            <a:spAutoFit/>
          </a:bodyPr>
          <a:lstStyle/>
          <a:p>
            <a:r>
              <a:rPr lang="en-US" dirty="0"/>
              <a:t>0</a:t>
            </a:r>
          </a:p>
        </p:txBody>
      </p:sp>
      <p:sp>
        <p:nvSpPr>
          <p:cNvPr id="46" name="TextBox 45"/>
          <p:cNvSpPr txBox="1"/>
          <p:nvPr/>
        </p:nvSpPr>
        <p:spPr>
          <a:xfrm>
            <a:off x="2216122" y="5339768"/>
            <a:ext cx="437735" cy="369332"/>
          </a:xfrm>
          <a:prstGeom prst="rect">
            <a:avLst/>
          </a:prstGeom>
          <a:noFill/>
        </p:spPr>
        <p:txBody>
          <a:bodyPr wrap="square" rtlCol="0">
            <a:spAutoFit/>
          </a:bodyPr>
          <a:lstStyle/>
          <a:p>
            <a:r>
              <a:rPr lang="en-US" dirty="0"/>
              <a:t>10</a:t>
            </a:r>
          </a:p>
        </p:txBody>
      </p:sp>
      <p:sp>
        <p:nvSpPr>
          <p:cNvPr id="47" name="TextBox 46"/>
          <p:cNvSpPr txBox="1"/>
          <p:nvPr/>
        </p:nvSpPr>
        <p:spPr>
          <a:xfrm>
            <a:off x="2841239" y="5339768"/>
            <a:ext cx="437735" cy="369332"/>
          </a:xfrm>
          <a:prstGeom prst="rect">
            <a:avLst/>
          </a:prstGeom>
          <a:noFill/>
        </p:spPr>
        <p:txBody>
          <a:bodyPr wrap="square" rtlCol="0">
            <a:spAutoFit/>
          </a:bodyPr>
          <a:lstStyle/>
          <a:p>
            <a:r>
              <a:rPr lang="en-US" dirty="0"/>
              <a:t>12</a:t>
            </a:r>
          </a:p>
        </p:txBody>
      </p:sp>
      <p:sp>
        <p:nvSpPr>
          <p:cNvPr id="48" name="TextBox 47"/>
          <p:cNvSpPr txBox="1"/>
          <p:nvPr/>
        </p:nvSpPr>
        <p:spPr>
          <a:xfrm>
            <a:off x="3915120" y="5319656"/>
            <a:ext cx="593442" cy="369332"/>
          </a:xfrm>
          <a:prstGeom prst="rect">
            <a:avLst/>
          </a:prstGeom>
          <a:noFill/>
        </p:spPr>
        <p:txBody>
          <a:bodyPr wrap="square" rtlCol="0">
            <a:spAutoFit/>
          </a:bodyPr>
          <a:lstStyle/>
          <a:p>
            <a:r>
              <a:rPr lang="en-US" dirty="0"/>
              <a:t>16</a:t>
            </a:r>
          </a:p>
        </p:txBody>
      </p:sp>
      <p:sp>
        <p:nvSpPr>
          <p:cNvPr id="49" name="TextBox 48"/>
          <p:cNvSpPr txBox="1"/>
          <p:nvPr/>
        </p:nvSpPr>
        <p:spPr>
          <a:xfrm>
            <a:off x="5315977" y="5319656"/>
            <a:ext cx="448784" cy="369332"/>
          </a:xfrm>
          <a:prstGeom prst="rect">
            <a:avLst/>
          </a:prstGeom>
          <a:noFill/>
        </p:spPr>
        <p:txBody>
          <a:bodyPr wrap="square" rtlCol="0">
            <a:spAutoFit/>
          </a:bodyPr>
          <a:lstStyle/>
          <a:p>
            <a:r>
              <a:rPr lang="en-US" dirty="0"/>
              <a:t>22</a:t>
            </a:r>
          </a:p>
        </p:txBody>
      </p:sp>
    </p:spTree>
    <p:extLst>
      <p:ext uri="{BB962C8B-B14F-4D97-AF65-F5344CB8AC3E}">
        <p14:creationId xmlns:p14="http://schemas.microsoft.com/office/powerpoint/2010/main" val="1729706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1000"/>
                                  </p:stCondLst>
                                  <p:childTnLst>
                                    <p:set>
                                      <p:cBhvr>
                                        <p:cTn id="35" dur="1" fill="hold">
                                          <p:stCondLst>
                                            <p:cond delay="0"/>
                                          </p:stCondLst>
                                        </p:cTn>
                                        <p:tgtEl>
                                          <p:spTgt spid="3">
                                            <p:txEl>
                                              <p:pRg st="4" end="4"/>
                                            </p:txEl>
                                          </p:spTgt>
                                        </p:tgtEl>
                                        <p:attrNameLst>
                                          <p:attrName>style.visibility</p:attrName>
                                        </p:attrNameLst>
                                      </p:cBhvr>
                                      <p:to>
                                        <p:strVal val="visible"/>
                                      </p:to>
                                    </p:set>
                                  </p:childTnLst>
                                </p:cTn>
                              </p:par>
                            </p:childTnLst>
                          </p:cTn>
                        </p:par>
                        <p:par>
                          <p:cTn id="36" fill="hold">
                            <p:stCondLst>
                              <p:cond delay="1000"/>
                            </p:stCondLst>
                            <p:childTnLst>
                              <p:par>
                                <p:cTn id="37" presetID="1" presetClass="entr" presetSubtype="0" fill="hold" nodeType="afterEffect">
                                  <p:stCondLst>
                                    <p:cond delay="100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9" grpId="0" animBg="1"/>
      <p:bldP spid="40" grpId="0" animBg="1"/>
      <p:bldP spid="42" grpId="0" animBg="1"/>
      <p:bldP spid="43" grpId="0" animBg="1"/>
      <p:bldP spid="45" grpId="0"/>
      <p:bldP spid="46" grpId="0"/>
      <p:bldP spid="47" grpId="0"/>
      <p:bldP spid="48" grpId="0"/>
      <p:bldP spid="4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Job First(SJF)</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5" name="Rectangle 4"/>
          <p:cNvSpPr/>
          <p:nvPr/>
        </p:nvSpPr>
        <p:spPr>
          <a:xfrm>
            <a:off x="1014593" y="4337714"/>
            <a:ext cx="22924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P0</a:t>
            </a:r>
          </a:p>
        </p:txBody>
      </p:sp>
      <p:sp>
        <p:nvSpPr>
          <p:cNvPr id="6" name="Rectangle 5"/>
          <p:cNvSpPr/>
          <p:nvPr/>
        </p:nvSpPr>
        <p:spPr>
          <a:xfrm>
            <a:off x="4869509" y="4337713"/>
            <a:ext cx="1416676" cy="6553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P1</a:t>
            </a:r>
          </a:p>
        </p:txBody>
      </p:sp>
      <p:sp>
        <p:nvSpPr>
          <p:cNvPr id="7" name="Rectangle 6"/>
          <p:cNvSpPr/>
          <p:nvPr/>
        </p:nvSpPr>
        <p:spPr>
          <a:xfrm>
            <a:off x="3290469" y="4337713"/>
            <a:ext cx="502276"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P2</a:t>
            </a:r>
          </a:p>
        </p:txBody>
      </p:sp>
      <p:sp>
        <p:nvSpPr>
          <p:cNvPr id="8" name="Rectangle 7"/>
          <p:cNvSpPr/>
          <p:nvPr/>
        </p:nvSpPr>
        <p:spPr>
          <a:xfrm>
            <a:off x="3802374" y="4337713"/>
            <a:ext cx="1094704"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P3</a:t>
            </a:r>
          </a:p>
        </p:txBody>
      </p:sp>
      <p:sp>
        <p:nvSpPr>
          <p:cNvPr id="9" name="TextBox 8"/>
          <p:cNvSpPr txBox="1"/>
          <p:nvPr/>
        </p:nvSpPr>
        <p:spPr>
          <a:xfrm>
            <a:off x="855369" y="4993073"/>
            <a:ext cx="318448" cy="381000"/>
          </a:xfrm>
          <a:prstGeom prst="rect">
            <a:avLst/>
          </a:prstGeom>
          <a:noFill/>
        </p:spPr>
        <p:txBody>
          <a:bodyPr wrap="square" rtlCol="0">
            <a:spAutoFit/>
          </a:bodyPr>
          <a:lstStyle/>
          <a:p>
            <a:r>
              <a:rPr lang="en-US" dirty="0"/>
              <a:t>0</a:t>
            </a:r>
          </a:p>
        </p:txBody>
      </p:sp>
      <p:cxnSp>
        <p:nvCxnSpPr>
          <p:cNvPr id="14" name="Straight Connector 13"/>
          <p:cNvCxnSpPr/>
          <p:nvPr/>
        </p:nvCxnSpPr>
        <p:spPr>
          <a:xfrm flipH="1">
            <a:off x="1014593" y="4353205"/>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30" name="TextBox 29"/>
          <p:cNvSpPr txBox="1"/>
          <p:nvPr/>
        </p:nvSpPr>
        <p:spPr>
          <a:xfrm>
            <a:off x="3070571" y="4960651"/>
            <a:ext cx="510857" cy="369332"/>
          </a:xfrm>
          <a:prstGeom prst="rect">
            <a:avLst/>
          </a:prstGeom>
          <a:noFill/>
        </p:spPr>
        <p:txBody>
          <a:bodyPr wrap="square" rtlCol="0">
            <a:spAutoFit/>
          </a:bodyPr>
          <a:lstStyle/>
          <a:p>
            <a:r>
              <a:rPr lang="en-US" dirty="0"/>
              <a:t>10</a:t>
            </a:r>
          </a:p>
        </p:txBody>
      </p:sp>
      <p:sp>
        <p:nvSpPr>
          <p:cNvPr id="31" name="TextBox 30"/>
          <p:cNvSpPr txBox="1"/>
          <p:nvPr/>
        </p:nvSpPr>
        <p:spPr>
          <a:xfrm>
            <a:off x="3591057" y="4960651"/>
            <a:ext cx="510857" cy="369332"/>
          </a:xfrm>
          <a:prstGeom prst="rect">
            <a:avLst/>
          </a:prstGeom>
          <a:noFill/>
        </p:spPr>
        <p:txBody>
          <a:bodyPr wrap="square" rtlCol="0">
            <a:spAutoFit/>
          </a:bodyPr>
          <a:lstStyle/>
          <a:p>
            <a:r>
              <a:rPr lang="en-US" dirty="0"/>
              <a:t>12</a:t>
            </a:r>
          </a:p>
        </p:txBody>
      </p:sp>
      <p:sp>
        <p:nvSpPr>
          <p:cNvPr id="32" name="TextBox 31"/>
          <p:cNvSpPr txBox="1"/>
          <p:nvPr/>
        </p:nvSpPr>
        <p:spPr>
          <a:xfrm>
            <a:off x="4658192" y="4953604"/>
            <a:ext cx="510857" cy="369332"/>
          </a:xfrm>
          <a:prstGeom prst="rect">
            <a:avLst/>
          </a:prstGeom>
          <a:noFill/>
        </p:spPr>
        <p:txBody>
          <a:bodyPr wrap="square" rtlCol="0">
            <a:spAutoFit/>
          </a:bodyPr>
          <a:lstStyle/>
          <a:p>
            <a:r>
              <a:rPr lang="en-US" dirty="0"/>
              <a:t>16</a:t>
            </a:r>
          </a:p>
        </p:txBody>
      </p:sp>
      <p:sp>
        <p:nvSpPr>
          <p:cNvPr id="33" name="TextBox 32"/>
          <p:cNvSpPr txBox="1"/>
          <p:nvPr/>
        </p:nvSpPr>
        <p:spPr>
          <a:xfrm>
            <a:off x="6081159" y="4960651"/>
            <a:ext cx="510857" cy="369332"/>
          </a:xfrm>
          <a:prstGeom prst="rect">
            <a:avLst/>
          </a:prstGeom>
          <a:noFill/>
        </p:spPr>
        <p:txBody>
          <a:bodyPr wrap="square" rtlCol="0">
            <a:spAutoFit/>
          </a:bodyPr>
          <a:lstStyle/>
          <a:p>
            <a:r>
              <a:rPr lang="en-US" dirty="0"/>
              <a:t>22</a:t>
            </a:r>
          </a:p>
        </p:txBody>
      </p:sp>
      <p:sp>
        <p:nvSpPr>
          <p:cNvPr id="51" name="TextBox 50"/>
          <p:cNvSpPr txBox="1"/>
          <p:nvPr/>
        </p:nvSpPr>
        <p:spPr>
          <a:xfrm>
            <a:off x="6337691" y="1498977"/>
            <a:ext cx="1381969" cy="542441"/>
          </a:xfrm>
          <a:prstGeom prst="rect">
            <a:avLst/>
          </a:prstGeom>
          <a:noFill/>
          <a:ln w="57150">
            <a:solidFill>
              <a:srgbClr val="FF0000"/>
            </a:solidFill>
          </a:ln>
        </p:spPr>
        <p:txBody>
          <a:bodyPr wrap="square" rtlCol="0">
            <a:spAutoFit/>
          </a:bodyPr>
          <a:lstStyle/>
          <a:p>
            <a:endParaRPr lang="en-IN" dirty="0"/>
          </a:p>
        </p:txBody>
      </p:sp>
      <p:sp>
        <p:nvSpPr>
          <p:cNvPr id="52" name="TextBox 51"/>
          <p:cNvSpPr txBox="1"/>
          <p:nvPr/>
        </p:nvSpPr>
        <p:spPr>
          <a:xfrm>
            <a:off x="1236912" y="1472339"/>
            <a:ext cx="1490790" cy="542441"/>
          </a:xfrm>
          <a:prstGeom prst="rect">
            <a:avLst/>
          </a:prstGeom>
          <a:noFill/>
          <a:ln w="57150">
            <a:solidFill>
              <a:srgbClr val="FF0000"/>
            </a:solidFill>
          </a:ln>
        </p:spPr>
        <p:txBody>
          <a:bodyPr wrap="square" rtlCol="0">
            <a:spAutoFit/>
          </a:bodyPr>
          <a:lstStyle/>
          <a:p>
            <a:endParaRPr lang="en-IN" dirty="0"/>
          </a:p>
        </p:txBody>
      </p:sp>
      <p:sp>
        <p:nvSpPr>
          <p:cNvPr id="53" name="TextBox 52"/>
          <p:cNvSpPr txBox="1"/>
          <p:nvPr/>
        </p:nvSpPr>
        <p:spPr>
          <a:xfrm>
            <a:off x="6336587" y="2041418"/>
            <a:ext cx="1381969" cy="542441"/>
          </a:xfrm>
          <a:prstGeom prst="rect">
            <a:avLst/>
          </a:prstGeom>
          <a:noFill/>
          <a:ln w="57150">
            <a:solidFill>
              <a:srgbClr val="FF0000"/>
            </a:solidFill>
          </a:ln>
        </p:spPr>
        <p:txBody>
          <a:bodyPr wrap="square" rtlCol="0">
            <a:spAutoFit/>
          </a:bodyPr>
          <a:lstStyle/>
          <a:p>
            <a:endParaRPr lang="en-IN" dirty="0"/>
          </a:p>
        </p:txBody>
      </p:sp>
      <p:sp>
        <p:nvSpPr>
          <p:cNvPr id="54" name="TextBox 53"/>
          <p:cNvSpPr txBox="1"/>
          <p:nvPr/>
        </p:nvSpPr>
        <p:spPr>
          <a:xfrm>
            <a:off x="1233429" y="2014780"/>
            <a:ext cx="1490790" cy="542441"/>
          </a:xfrm>
          <a:prstGeom prst="rect">
            <a:avLst/>
          </a:prstGeom>
          <a:noFill/>
          <a:ln w="57150">
            <a:solidFill>
              <a:srgbClr val="FF0000"/>
            </a:solidFill>
          </a:ln>
        </p:spPr>
        <p:txBody>
          <a:bodyPr wrap="square" rtlCol="0">
            <a:spAutoFit/>
          </a:bodyPr>
          <a:lstStyle/>
          <a:p>
            <a:endParaRPr lang="en-IN" dirty="0"/>
          </a:p>
        </p:txBody>
      </p:sp>
      <p:sp>
        <p:nvSpPr>
          <p:cNvPr id="55" name="TextBox 54"/>
          <p:cNvSpPr txBox="1"/>
          <p:nvPr/>
        </p:nvSpPr>
        <p:spPr>
          <a:xfrm>
            <a:off x="6336587" y="2583859"/>
            <a:ext cx="1381969" cy="542441"/>
          </a:xfrm>
          <a:prstGeom prst="rect">
            <a:avLst/>
          </a:prstGeom>
          <a:noFill/>
          <a:ln w="57150">
            <a:solidFill>
              <a:srgbClr val="FF0000"/>
            </a:solidFill>
          </a:ln>
        </p:spPr>
        <p:txBody>
          <a:bodyPr wrap="square" rtlCol="0">
            <a:spAutoFit/>
          </a:bodyPr>
          <a:lstStyle/>
          <a:p>
            <a:endParaRPr lang="en-IN" dirty="0"/>
          </a:p>
        </p:txBody>
      </p:sp>
      <p:sp>
        <p:nvSpPr>
          <p:cNvPr id="56" name="TextBox 55"/>
          <p:cNvSpPr txBox="1"/>
          <p:nvPr/>
        </p:nvSpPr>
        <p:spPr>
          <a:xfrm>
            <a:off x="1233429" y="2583859"/>
            <a:ext cx="1490790" cy="542441"/>
          </a:xfrm>
          <a:prstGeom prst="rect">
            <a:avLst/>
          </a:prstGeom>
          <a:noFill/>
          <a:ln w="57150">
            <a:solidFill>
              <a:srgbClr val="FF0000"/>
            </a:solidFill>
          </a:ln>
        </p:spPr>
        <p:txBody>
          <a:bodyPr wrap="square" rtlCol="0">
            <a:spAutoFit/>
          </a:bodyPr>
          <a:lstStyle/>
          <a:p>
            <a:endParaRPr lang="en-IN" dirty="0"/>
          </a:p>
        </p:txBody>
      </p:sp>
      <p:sp>
        <p:nvSpPr>
          <p:cNvPr id="57" name="TextBox 56"/>
          <p:cNvSpPr txBox="1"/>
          <p:nvPr/>
        </p:nvSpPr>
        <p:spPr>
          <a:xfrm>
            <a:off x="6336586" y="3134701"/>
            <a:ext cx="1381969" cy="542441"/>
          </a:xfrm>
          <a:prstGeom prst="rect">
            <a:avLst/>
          </a:prstGeom>
          <a:noFill/>
          <a:ln w="57150">
            <a:solidFill>
              <a:srgbClr val="FF0000"/>
            </a:solidFill>
          </a:ln>
        </p:spPr>
        <p:txBody>
          <a:bodyPr wrap="square" rtlCol="0">
            <a:spAutoFit/>
          </a:bodyPr>
          <a:lstStyle/>
          <a:p>
            <a:endParaRPr lang="en-IN" dirty="0"/>
          </a:p>
        </p:txBody>
      </p:sp>
      <p:sp>
        <p:nvSpPr>
          <p:cNvPr id="58" name="TextBox 57"/>
          <p:cNvSpPr txBox="1"/>
          <p:nvPr/>
        </p:nvSpPr>
        <p:spPr>
          <a:xfrm>
            <a:off x="1228470" y="3143520"/>
            <a:ext cx="1490790" cy="542441"/>
          </a:xfrm>
          <a:prstGeom prst="rect">
            <a:avLst/>
          </a:prstGeom>
          <a:noFill/>
          <a:ln w="57150">
            <a:solidFill>
              <a:srgbClr val="FF0000"/>
            </a:solidFill>
          </a:ln>
        </p:spPr>
        <p:txBody>
          <a:bodyPr wrap="square" rtlCol="0">
            <a:spAutoFit/>
          </a:bodyPr>
          <a:lstStyle/>
          <a:p>
            <a:endParaRPr lang="en-IN" dirty="0"/>
          </a:p>
        </p:txBody>
      </p:sp>
      <p:sp>
        <p:nvSpPr>
          <p:cNvPr id="67" name="TextBox 66"/>
          <p:cNvSpPr txBox="1"/>
          <p:nvPr/>
        </p:nvSpPr>
        <p:spPr>
          <a:xfrm>
            <a:off x="277120" y="5442832"/>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Turnaround Time </a:t>
            </a:r>
            <a:r>
              <a:rPr lang="en-US" sz="2000" dirty="0"/>
              <a:t>= Sum of all Process’s Turn Around Time/ Total Process</a:t>
            </a:r>
          </a:p>
          <a:p>
            <a:r>
              <a:rPr lang="en-US" sz="2000" dirty="0"/>
              <a:t>                                                    = (10+21+9+11)/4 </a:t>
            </a:r>
          </a:p>
          <a:p>
            <a:r>
              <a:rPr lang="en-US" sz="2000" dirty="0"/>
              <a:t>                                                    = 12.75 </a:t>
            </a:r>
            <a:r>
              <a:rPr lang="en-US" sz="2000" dirty="0" err="1"/>
              <a:t>ms.</a:t>
            </a:r>
            <a:endParaRPr lang="en-US" sz="2000" dirty="0"/>
          </a:p>
        </p:txBody>
      </p:sp>
      <p:sp>
        <p:nvSpPr>
          <p:cNvPr id="69" name="TextBox 68"/>
          <p:cNvSpPr txBox="1"/>
          <p:nvPr/>
        </p:nvSpPr>
        <p:spPr>
          <a:xfrm>
            <a:off x="7718555" y="1472408"/>
            <a:ext cx="2049246" cy="2222902"/>
          </a:xfrm>
          <a:prstGeom prst="rect">
            <a:avLst/>
          </a:prstGeom>
          <a:noFill/>
          <a:ln w="57150">
            <a:solidFill>
              <a:srgbClr val="FF0000"/>
            </a:solidFill>
          </a:ln>
        </p:spPr>
        <p:txBody>
          <a:bodyPr wrap="square" rtlCol="0">
            <a:spAutoFit/>
          </a:bodyPr>
          <a:lstStyle/>
          <a:p>
            <a:endParaRPr lang="en-IN" dirty="0"/>
          </a:p>
        </p:txBody>
      </p:sp>
      <p:sp>
        <p:nvSpPr>
          <p:cNvPr id="36" name="TextBox 35">
            <a:extLst>
              <a:ext uri="{FF2B5EF4-FFF2-40B4-BE49-F238E27FC236}">
                <a16:creationId xmlns:a16="http://schemas.microsoft.com/office/drawing/2014/main" id="{83C2E16F-C5F4-43E3-A23E-78AC3BE2FA55}"/>
              </a:ext>
            </a:extLst>
          </p:cNvPr>
          <p:cNvSpPr txBox="1"/>
          <p:nvPr/>
        </p:nvSpPr>
        <p:spPr>
          <a:xfrm>
            <a:off x="2939216" y="4996714"/>
            <a:ext cx="571512" cy="289633"/>
          </a:xfrm>
          <a:prstGeom prst="rect">
            <a:avLst/>
          </a:prstGeom>
          <a:noFill/>
          <a:ln w="57150">
            <a:solidFill>
              <a:srgbClr val="FF0000"/>
            </a:solidFill>
          </a:ln>
        </p:spPr>
        <p:txBody>
          <a:bodyPr wrap="square" rtlCol="0">
            <a:spAutoFit/>
          </a:bodyPr>
          <a:lstStyle/>
          <a:p>
            <a:endParaRPr lang="en-IN" dirty="0"/>
          </a:p>
        </p:txBody>
      </p:sp>
      <p:sp>
        <p:nvSpPr>
          <p:cNvPr id="37" name="TextBox 36">
            <a:extLst>
              <a:ext uri="{FF2B5EF4-FFF2-40B4-BE49-F238E27FC236}">
                <a16:creationId xmlns:a16="http://schemas.microsoft.com/office/drawing/2014/main" id="{528A1F22-3444-43FE-AF3F-6CED4F0B9C72}"/>
              </a:ext>
            </a:extLst>
          </p:cNvPr>
          <p:cNvSpPr txBox="1"/>
          <p:nvPr/>
        </p:nvSpPr>
        <p:spPr>
          <a:xfrm>
            <a:off x="3541288" y="4990302"/>
            <a:ext cx="571512" cy="289633"/>
          </a:xfrm>
          <a:prstGeom prst="rect">
            <a:avLst/>
          </a:prstGeom>
          <a:noFill/>
          <a:ln w="57150">
            <a:solidFill>
              <a:srgbClr val="FF0000"/>
            </a:solidFill>
          </a:ln>
        </p:spPr>
        <p:txBody>
          <a:bodyPr wrap="square" rtlCol="0">
            <a:spAutoFit/>
          </a:bodyPr>
          <a:lstStyle/>
          <a:p>
            <a:endParaRPr lang="en-IN" dirty="0"/>
          </a:p>
        </p:txBody>
      </p:sp>
      <p:sp>
        <p:nvSpPr>
          <p:cNvPr id="38" name="TextBox 37">
            <a:extLst>
              <a:ext uri="{FF2B5EF4-FFF2-40B4-BE49-F238E27FC236}">
                <a16:creationId xmlns:a16="http://schemas.microsoft.com/office/drawing/2014/main" id="{302971A3-37E4-47F1-87FB-7626819C159D}"/>
              </a:ext>
            </a:extLst>
          </p:cNvPr>
          <p:cNvSpPr txBox="1"/>
          <p:nvPr/>
        </p:nvSpPr>
        <p:spPr>
          <a:xfrm>
            <a:off x="4627864" y="4990302"/>
            <a:ext cx="571512" cy="289633"/>
          </a:xfrm>
          <a:prstGeom prst="rect">
            <a:avLst/>
          </a:prstGeom>
          <a:noFill/>
          <a:ln w="57150">
            <a:solidFill>
              <a:srgbClr val="FF0000"/>
            </a:solidFill>
          </a:ln>
        </p:spPr>
        <p:txBody>
          <a:bodyPr wrap="square" rtlCol="0">
            <a:spAutoFit/>
          </a:bodyPr>
          <a:lstStyle/>
          <a:p>
            <a:endParaRPr lang="en-IN" dirty="0"/>
          </a:p>
        </p:txBody>
      </p:sp>
      <p:sp>
        <p:nvSpPr>
          <p:cNvPr id="41" name="TextBox 40">
            <a:extLst>
              <a:ext uri="{FF2B5EF4-FFF2-40B4-BE49-F238E27FC236}">
                <a16:creationId xmlns:a16="http://schemas.microsoft.com/office/drawing/2014/main" id="{8614578C-C2C7-435B-BE32-14F557572D81}"/>
              </a:ext>
            </a:extLst>
          </p:cNvPr>
          <p:cNvSpPr txBox="1"/>
          <p:nvPr/>
        </p:nvSpPr>
        <p:spPr>
          <a:xfrm>
            <a:off x="6034932" y="5004741"/>
            <a:ext cx="571512" cy="289633"/>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4180201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26" presetClass="emph" presetSubtype="0" repeatCount="indefinite" fill="hold" grpId="1" nodeType="withEffect">
                                  <p:stCondLst>
                                    <p:cond delay="0"/>
                                  </p:stCondLst>
                                  <p:endCondLst>
                                    <p:cond evt="onNext" delay="0">
                                      <p:tgtEl>
                                        <p:sldTgt/>
                                      </p:tgtEl>
                                    </p:cond>
                                  </p:endCondLst>
                                  <p:childTnLst>
                                    <p:animEffect transition="out" filter="fade">
                                      <p:cBhvr>
                                        <p:cTn id="16" dur="500" tmFilter="0, 0; .2, .5; .8, .5; 1, 0"/>
                                        <p:tgtEl>
                                          <p:spTgt spid="36"/>
                                        </p:tgtEl>
                                      </p:cBhvr>
                                    </p:animEffect>
                                    <p:animScale>
                                      <p:cBhvr>
                                        <p:cTn id="17" dur="250" autoRev="1" fill="hold"/>
                                        <p:tgtEl>
                                          <p:spTgt spid="36"/>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childTnLst>
                                </p:cTn>
                              </p:par>
                              <p:par>
                                <p:cTn id="24" presetID="1" presetClass="exit" presetSubtype="0" fill="hold" grpId="2" nodeType="withEffect">
                                  <p:stCondLst>
                                    <p:cond delay="0"/>
                                  </p:stCondLst>
                                  <p:childTnLst>
                                    <p:set>
                                      <p:cBhvr>
                                        <p:cTn id="25" dur="1" fill="hold">
                                          <p:stCondLst>
                                            <p:cond delay="0"/>
                                          </p:stCondLst>
                                        </p:cTn>
                                        <p:tgtEl>
                                          <p:spTgt spid="36"/>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childTnLst>
                                </p:cTn>
                              </p:par>
                              <p:par>
                                <p:cTn id="28" presetID="26" presetClass="emph" presetSubtype="0" repeatCount="indefinite" fill="hold" grpId="1" nodeType="withEffect">
                                  <p:stCondLst>
                                    <p:cond delay="0"/>
                                  </p:stCondLst>
                                  <p:endCondLst>
                                    <p:cond evt="onNext" delay="0">
                                      <p:tgtEl>
                                        <p:sldTgt/>
                                      </p:tgtEl>
                                    </p:cond>
                                  </p:endCondLst>
                                  <p:childTnLst>
                                    <p:animEffect transition="out" filter="fade">
                                      <p:cBhvr>
                                        <p:cTn id="29" dur="500" tmFilter="0, 0; .2, .5; .8, .5; 1, 0"/>
                                        <p:tgtEl>
                                          <p:spTgt spid="41"/>
                                        </p:tgtEl>
                                      </p:cBhvr>
                                    </p:animEffect>
                                    <p:animScale>
                                      <p:cBhvr>
                                        <p:cTn id="30" dur="250" autoRev="1" fill="hold"/>
                                        <p:tgtEl>
                                          <p:spTgt spid="41"/>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xit" presetSubtype="0" fill="hold" grpId="2" nodeType="withEffect">
                                  <p:stCondLst>
                                    <p:cond delay="0"/>
                                  </p:stCondLst>
                                  <p:childTnLst>
                                    <p:set>
                                      <p:cBhvr>
                                        <p:cTn id="38" dur="1" fill="hold">
                                          <p:stCondLst>
                                            <p:cond delay="0"/>
                                          </p:stCondLst>
                                        </p:cTn>
                                        <p:tgtEl>
                                          <p:spTgt spid="41"/>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26" presetClass="emph" presetSubtype="0" repeatCount="indefinite" fill="hold" grpId="1" nodeType="withEffect">
                                  <p:stCondLst>
                                    <p:cond delay="0"/>
                                  </p:stCondLst>
                                  <p:endCondLst>
                                    <p:cond evt="onNext" delay="0">
                                      <p:tgtEl>
                                        <p:sldTgt/>
                                      </p:tgtEl>
                                    </p:cond>
                                  </p:endCondLst>
                                  <p:childTnLst>
                                    <p:animEffect transition="out" filter="fade">
                                      <p:cBhvr>
                                        <p:cTn id="42" dur="500" tmFilter="0, 0; .2, .5; .8, .5; 1, 0"/>
                                        <p:tgtEl>
                                          <p:spTgt spid="37"/>
                                        </p:tgtEl>
                                      </p:cBhvr>
                                    </p:animEffect>
                                    <p:animScale>
                                      <p:cBhvr>
                                        <p:cTn id="43" dur="250" autoRev="1" fill="hold"/>
                                        <p:tgtEl>
                                          <p:spTgt spid="37"/>
                                        </p:tgtEl>
                                      </p:cBhvr>
                                      <p:by x="105000" y="105000"/>
                                    </p:animScale>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2"/>
                                        </p:tgtEl>
                                        <p:attrNameLst>
                                          <p:attrName>style.visibility</p:attrName>
                                        </p:attrNameLst>
                                      </p:cBhvr>
                                      <p:to>
                                        <p:strVal val="visible"/>
                                      </p:to>
                                    </p:set>
                                  </p:childTnLst>
                                </p:cTn>
                              </p:par>
                              <p:par>
                                <p:cTn id="50" presetID="1" presetClass="exit" presetSubtype="0" fill="hold" grpId="2" nodeType="withEffect">
                                  <p:stCondLst>
                                    <p:cond delay="0"/>
                                  </p:stCondLst>
                                  <p:childTnLst>
                                    <p:set>
                                      <p:cBhvr>
                                        <p:cTn id="51" dur="1" fill="hold">
                                          <p:stCondLst>
                                            <p:cond delay="0"/>
                                          </p:stCondLst>
                                        </p:cTn>
                                        <p:tgtEl>
                                          <p:spTgt spid="37"/>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38"/>
                                        </p:tgtEl>
                                      </p:cBhvr>
                                    </p:animEffect>
                                    <p:animScale>
                                      <p:cBhvr>
                                        <p:cTn id="56" dur="250" autoRev="1" fill="hold"/>
                                        <p:tgtEl>
                                          <p:spTgt spid="38"/>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38"/>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par>
                                <p:cTn id="69" presetID="26" presetClass="emph" presetSubtype="0" repeatCount="indefinite" fill="hold" grpId="1" nodeType="withEffect">
                                  <p:stCondLst>
                                    <p:cond delay="0"/>
                                  </p:stCondLst>
                                  <p:endCondLst>
                                    <p:cond evt="onNext" delay="0">
                                      <p:tgtEl>
                                        <p:sldTgt/>
                                      </p:tgtEl>
                                    </p:cond>
                                  </p:endCondLst>
                                  <p:childTnLst>
                                    <p:animEffect transition="out" filter="fade">
                                      <p:cBhvr>
                                        <p:cTn id="70" dur="500" tmFilter="0, 0; .2, .5; .8, .5; 1, 0"/>
                                        <p:tgtEl>
                                          <p:spTgt spid="51"/>
                                        </p:tgtEl>
                                      </p:cBhvr>
                                    </p:animEffect>
                                    <p:animScale>
                                      <p:cBhvr>
                                        <p:cTn id="71" dur="250" autoRev="1" fill="hold"/>
                                        <p:tgtEl>
                                          <p:spTgt spid="51"/>
                                        </p:tgtEl>
                                      </p:cBhvr>
                                      <p:by x="105000" y="105000"/>
                                    </p:animScale>
                                  </p:childTnLst>
                                </p:cTn>
                              </p:par>
                              <p:par>
                                <p:cTn id="72" presetID="1" presetClass="entr" presetSubtype="0" fill="hold" grpId="0" nodeType="withEffect">
                                  <p:stCondLst>
                                    <p:cond delay="0"/>
                                  </p:stCondLst>
                                  <p:childTnLst>
                                    <p:set>
                                      <p:cBhvr>
                                        <p:cTn id="73" dur="1" fill="hold">
                                          <p:stCondLst>
                                            <p:cond delay="0"/>
                                          </p:stCondLst>
                                        </p:cTn>
                                        <p:tgtEl>
                                          <p:spTgt spid="52"/>
                                        </p:tgtEl>
                                        <p:attrNameLst>
                                          <p:attrName>style.visibility</p:attrName>
                                        </p:attrNameLst>
                                      </p:cBhvr>
                                      <p:to>
                                        <p:strVal val="visible"/>
                                      </p:to>
                                    </p:set>
                                  </p:childTnLst>
                                </p:cTn>
                              </p:par>
                              <p:par>
                                <p:cTn id="74" presetID="26" presetClass="emph" presetSubtype="0" repeatCount="indefinite" fill="hold" grpId="1" nodeType="withEffect">
                                  <p:stCondLst>
                                    <p:cond delay="0"/>
                                  </p:stCondLst>
                                  <p:endCondLst>
                                    <p:cond evt="onNext" delay="0">
                                      <p:tgtEl>
                                        <p:sldTgt/>
                                      </p:tgtEl>
                                    </p:cond>
                                  </p:endCondLst>
                                  <p:childTnLst>
                                    <p:animEffect transition="out" filter="fade">
                                      <p:cBhvr>
                                        <p:cTn id="75" dur="500" tmFilter="0, 0; .2, .5; .8, .5; 1, 0"/>
                                        <p:tgtEl>
                                          <p:spTgt spid="52"/>
                                        </p:tgtEl>
                                      </p:cBhvr>
                                    </p:animEffect>
                                    <p:animScale>
                                      <p:cBhvr>
                                        <p:cTn id="76" dur="250" autoRev="1" fill="hold"/>
                                        <p:tgtEl>
                                          <p:spTgt spid="52"/>
                                        </p:tgtEl>
                                      </p:cBhvr>
                                      <p:by x="105000" y="105000"/>
                                    </p:animScale>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par>
                                <p:cTn id="81" presetID="1" presetClass="exit" presetSubtype="0" fill="hold" grpId="2" nodeType="withEffect">
                                  <p:stCondLst>
                                    <p:cond delay="0"/>
                                  </p:stCondLst>
                                  <p:childTnLst>
                                    <p:set>
                                      <p:cBhvr>
                                        <p:cTn id="82" dur="1" fill="hold">
                                          <p:stCondLst>
                                            <p:cond delay="0"/>
                                          </p:stCondLst>
                                        </p:cTn>
                                        <p:tgtEl>
                                          <p:spTgt spid="51"/>
                                        </p:tgtEl>
                                        <p:attrNameLst>
                                          <p:attrName>style.visibility</p:attrName>
                                        </p:attrNameLst>
                                      </p:cBhvr>
                                      <p:to>
                                        <p:strVal val="hidden"/>
                                      </p:to>
                                    </p:set>
                                  </p:childTnLst>
                                </p:cTn>
                              </p:par>
                              <p:par>
                                <p:cTn id="83" presetID="1" presetClass="exit" presetSubtype="0" fill="hold" grpId="2" nodeType="withEffect">
                                  <p:stCondLst>
                                    <p:cond delay="0"/>
                                  </p:stCondLst>
                                  <p:childTnLst>
                                    <p:set>
                                      <p:cBhvr>
                                        <p:cTn id="84" dur="1" fill="hold">
                                          <p:stCondLst>
                                            <p:cond delay="0"/>
                                          </p:stCondLst>
                                        </p:cTn>
                                        <p:tgtEl>
                                          <p:spTgt spid="52"/>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53"/>
                                        </p:tgtEl>
                                        <p:attrNameLst>
                                          <p:attrName>style.visibility</p:attrName>
                                        </p:attrNameLst>
                                      </p:cBhvr>
                                      <p:to>
                                        <p:strVal val="visible"/>
                                      </p:to>
                                    </p:set>
                                  </p:childTnLst>
                                </p:cTn>
                              </p:par>
                              <p:par>
                                <p:cTn id="87" presetID="26" presetClass="emph" presetSubtype="0" repeatCount="indefinite" fill="hold" grpId="1" nodeType="withEffect">
                                  <p:stCondLst>
                                    <p:cond delay="0"/>
                                  </p:stCondLst>
                                  <p:endCondLst>
                                    <p:cond evt="onNext" delay="0">
                                      <p:tgtEl>
                                        <p:sldTgt/>
                                      </p:tgtEl>
                                    </p:cond>
                                  </p:endCondLst>
                                  <p:childTnLst>
                                    <p:animEffect transition="out" filter="fade">
                                      <p:cBhvr>
                                        <p:cTn id="88" dur="500" tmFilter="0, 0; .2, .5; .8, .5; 1, 0"/>
                                        <p:tgtEl>
                                          <p:spTgt spid="53"/>
                                        </p:tgtEl>
                                      </p:cBhvr>
                                    </p:animEffect>
                                    <p:animScale>
                                      <p:cBhvr>
                                        <p:cTn id="89" dur="250" autoRev="1" fill="hold"/>
                                        <p:tgtEl>
                                          <p:spTgt spid="53"/>
                                        </p:tgtEl>
                                      </p:cBhvr>
                                      <p:by x="105000" y="105000"/>
                                    </p:animScale>
                                  </p:childTnLst>
                                </p:cTn>
                              </p:par>
                              <p:par>
                                <p:cTn id="90" presetID="1" presetClass="entr" presetSubtype="0" fill="hold" grpId="0" nodeType="withEffect">
                                  <p:stCondLst>
                                    <p:cond delay="0"/>
                                  </p:stCondLst>
                                  <p:childTnLst>
                                    <p:set>
                                      <p:cBhvr>
                                        <p:cTn id="91" dur="1" fill="hold">
                                          <p:stCondLst>
                                            <p:cond delay="0"/>
                                          </p:stCondLst>
                                        </p:cTn>
                                        <p:tgtEl>
                                          <p:spTgt spid="54"/>
                                        </p:tgtEl>
                                        <p:attrNameLst>
                                          <p:attrName>style.visibility</p:attrName>
                                        </p:attrNameLst>
                                      </p:cBhvr>
                                      <p:to>
                                        <p:strVal val="visible"/>
                                      </p:to>
                                    </p:set>
                                  </p:childTnLst>
                                </p:cTn>
                              </p:par>
                              <p:par>
                                <p:cTn id="92" presetID="26" presetClass="emph" presetSubtype="0" repeatCount="indefinite" fill="hold" grpId="1" nodeType="withEffect">
                                  <p:stCondLst>
                                    <p:cond delay="0"/>
                                  </p:stCondLst>
                                  <p:endCondLst>
                                    <p:cond evt="onNext" delay="0">
                                      <p:tgtEl>
                                        <p:sldTgt/>
                                      </p:tgtEl>
                                    </p:cond>
                                  </p:endCondLst>
                                  <p:childTnLst>
                                    <p:animEffect transition="out" filter="fade">
                                      <p:cBhvr>
                                        <p:cTn id="93" dur="500" tmFilter="0, 0; .2, .5; .8, .5; 1, 0"/>
                                        <p:tgtEl>
                                          <p:spTgt spid="54"/>
                                        </p:tgtEl>
                                      </p:cBhvr>
                                    </p:animEffect>
                                    <p:animScale>
                                      <p:cBhvr>
                                        <p:cTn id="94" dur="250" autoRev="1" fill="hold"/>
                                        <p:tgtEl>
                                          <p:spTgt spid="54"/>
                                        </p:tgtEl>
                                      </p:cBhvr>
                                      <p:by x="105000" y="105000"/>
                                    </p:animScale>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xit" presetSubtype="0" fill="hold" grpId="2" nodeType="withEffect">
                                  <p:stCondLst>
                                    <p:cond delay="0"/>
                                  </p:stCondLst>
                                  <p:childTnLst>
                                    <p:set>
                                      <p:cBhvr>
                                        <p:cTn id="100" dur="1" fill="hold">
                                          <p:stCondLst>
                                            <p:cond delay="0"/>
                                          </p:stCondLst>
                                        </p:cTn>
                                        <p:tgtEl>
                                          <p:spTgt spid="53"/>
                                        </p:tgtEl>
                                        <p:attrNameLst>
                                          <p:attrName>style.visibility</p:attrName>
                                        </p:attrNameLst>
                                      </p:cBhvr>
                                      <p:to>
                                        <p:strVal val="hidden"/>
                                      </p:to>
                                    </p:set>
                                  </p:childTnLst>
                                </p:cTn>
                              </p:par>
                              <p:par>
                                <p:cTn id="101" presetID="1" presetClass="exit" presetSubtype="0" fill="hold" grpId="2" nodeType="withEffect">
                                  <p:stCondLst>
                                    <p:cond delay="0"/>
                                  </p:stCondLst>
                                  <p:childTnLst>
                                    <p:set>
                                      <p:cBhvr>
                                        <p:cTn id="102" dur="1" fill="hold">
                                          <p:stCondLst>
                                            <p:cond delay="0"/>
                                          </p:stCondLst>
                                        </p:cTn>
                                        <p:tgtEl>
                                          <p:spTgt spid="54"/>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55"/>
                                        </p:tgtEl>
                                        <p:attrNameLst>
                                          <p:attrName>style.visibility</p:attrName>
                                        </p:attrNameLst>
                                      </p:cBhvr>
                                      <p:to>
                                        <p:strVal val="visible"/>
                                      </p:to>
                                    </p:set>
                                  </p:childTnLst>
                                </p:cTn>
                              </p:par>
                              <p:par>
                                <p:cTn id="105" presetID="26" presetClass="emph" presetSubtype="0" repeatCount="indefinite" fill="hold" grpId="1" nodeType="withEffect">
                                  <p:stCondLst>
                                    <p:cond delay="0"/>
                                  </p:stCondLst>
                                  <p:endCondLst>
                                    <p:cond evt="onNext" delay="0">
                                      <p:tgtEl>
                                        <p:sldTgt/>
                                      </p:tgtEl>
                                    </p:cond>
                                  </p:endCondLst>
                                  <p:childTnLst>
                                    <p:animEffect transition="out" filter="fade">
                                      <p:cBhvr>
                                        <p:cTn id="106" dur="500" tmFilter="0, 0; .2, .5; .8, .5; 1, 0"/>
                                        <p:tgtEl>
                                          <p:spTgt spid="55"/>
                                        </p:tgtEl>
                                      </p:cBhvr>
                                    </p:animEffect>
                                    <p:animScale>
                                      <p:cBhvr>
                                        <p:cTn id="107" dur="250" autoRev="1" fill="hold"/>
                                        <p:tgtEl>
                                          <p:spTgt spid="55"/>
                                        </p:tgtEl>
                                      </p:cBhvr>
                                      <p:by x="105000" y="105000"/>
                                    </p:animScale>
                                  </p:childTnLst>
                                </p:cTn>
                              </p:par>
                              <p:par>
                                <p:cTn id="108" presetID="1" presetClass="entr" presetSubtype="0" fill="hold" grpId="0" nodeType="withEffect">
                                  <p:stCondLst>
                                    <p:cond delay="0"/>
                                  </p:stCondLst>
                                  <p:childTnLst>
                                    <p:set>
                                      <p:cBhvr>
                                        <p:cTn id="109" dur="1" fill="hold">
                                          <p:stCondLst>
                                            <p:cond delay="0"/>
                                          </p:stCondLst>
                                        </p:cTn>
                                        <p:tgtEl>
                                          <p:spTgt spid="56"/>
                                        </p:tgtEl>
                                        <p:attrNameLst>
                                          <p:attrName>style.visibility</p:attrName>
                                        </p:attrNameLst>
                                      </p:cBhvr>
                                      <p:to>
                                        <p:strVal val="visible"/>
                                      </p:to>
                                    </p:set>
                                  </p:childTnLst>
                                </p:cTn>
                              </p:par>
                              <p:par>
                                <p:cTn id="110" presetID="26" presetClass="emph" presetSubtype="0" repeatCount="indefinite" fill="hold" grpId="1" nodeType="withEffect">
                                  <p:stCondLst>
                                    <p:cond delay="0"/>
                                  </p:stCondLst>
                                  <p:endCondLst>
                                    <p:cond evt="onNext" delay="0">
                                      <p:tgtEl>
                                        <p:sldTgt/>
                                      </p:tgtEl>
                                    </p:cond>
                                  </p:endCondLst>
                                  <p:childTnLst>
                                    <p:animEffect transition="out" filter="fade">
                                      <p:cBhvr>
                                        <p:cTn id="111" dur="500" tmFilter="0, 0; .2, .5; .8, .5; 1, 0"/>
                                        <p:tgtEl>
                                          <p:spTgt spid="56"/>
                                        </p:tgtEl>
                                      </p:cBhvr>
                                    </p:animEffect>
                                    <p:animScale>
                                      <p:cBhvr>
                                        <p:cTn id="112" dur="250" autoRev="1" fill="hold"/>
                                        <p:tgtEl>
                                          <p:spTgt spid="56"/>
                                        </p:tgtEl>
                                      </p:cBhvr>
                                      <p:by x="105000" y="105000"/>
                                    </p:animScale>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40"/>
                                        </p:tgtEl>
                                        <p:attrNameLst>
                                          <p:attrName>style.visibility</p:attrName>
                                        </p:attrNameLst>
                                      </p:cBhvr>
                                      <p:to>
                                        <p:strVal val="visible"/>
                                      </p:to>
                                    </p:set>
                                  </p:childTnLst>
                                </p:cTn>
                              </p:par>
                              <p:par>
                                <p:cTn id="117" presetID="1" presetClass="exit" presetSubtype="0" fill="hold" grpId="2" nodeType="withEffect">
                                  <p:stCondLst>
                                    <p:cond delay="0"/>
                                  </p:stCondLst>
                                  <p:childTnLst>
                                    <p:set>
                                      <p:cBhvr>
                                        <p:cTn id="118" dur="1" fill="hold">
                                          <p:stCondLst>
                                            <p:cond delay="0"/>
                                          </p:stCondLst>
                                        </p:cTn>
                                        <p:tgtEl>
                                          <p:spTgt spid="55"/>
                                        </p:tgtEl>
                                        <p:attrNameLst>
                                          <p:attrName>style.visibility</p:attrName>
                                        </p:attrNameLst>
                                      </p:cBhvr>
                                      <p:to>
                                        <p:strVal val="hidden"/>
                                      </p:to>
                                    </p:set>
                                  </p:childTnLst>
                                </p:cTn>
                              </p:par>
                              <p:par>
                                <p:cTn id="119" presetID="1" presetClass="exit" presetSubtype="0" fill="hold" grpId="2" nodeType="withEffect">
                                  <p:stCondLst>
                                    <p:cond delay="0"/>
                                  </p:stCondLst>
                                  <p:childTnLst>
                                    <p:set>
                                      <p:cBhvr>
                                        <p:cTn id="120" dur="1" fill="hold">
                                          <p:stCondLst>
                                            <p:cond delay="0"/>
                                          </p:stCondLst>
                                        </p:cTn>
                                        <p:tgtEl>
                                          <p:spTgt spid="56"/>
                                        </p:tgtEl>
                                        <p:attrNameLst>
                                          <p:attrName>style.visibility</p:attrName>
                                        </p:attrNameLst>
                                      </p:cBhvr>
                                      <p:to>
                                        <p:strVal val="hidden"/>
                                      </p:to>
                                    </p:set>
                                  </p:childTnLst>
                                </p:cTn>
                              </p:par>
                              <p:par>
                                <p:cTn id="121" presetID="1" presetClass="entr" presetSubtype="0" fill="hold" grpId="0" nodeType="withEffect">
                                  <p:stCondLst>
                                    <p:cond delay="0"/>
                                  </p:stCondLst>
                                  <p:childTnLst>
                                    <p:set>
                                      <p:cBhvr>
                                        <p:cTn id="122" dur="1" fill="hold">
                                          <p:stCondLst>
                                            <p:cond delay="0"/>
                                          </p:stCondLst>
                                        </p:cTn>
                                        <p:tgtEl>
                                          <p:spTgt spid="57"/>
                                        </p:tgtEl>
                                        <p:attrNameLst>
                                          <p:attrName>style.visibility</p:attrName>
                                        </p:attrNameLst>
                                      </p:cBhvr>
                                      <p:to>
                                        <p:strVal val="visible"/>
                                      </p:to>
                                    </p:set>
                                  </p:childTnLst>
                                </p:cTn>
                              </p:par>
                              <p:par>
                                <p:cTn id="123" presetID="26" presetClass="emph" presetSubtype="0" repeatCount="indefinite" fill="hold" grpId="1" nodeType="withEffect">
                                  <p:stCondLst>
                                    <p:cond delay="0"/>
                                  </p:stCondLst>
                                  <p:endCondLst>
                                    <p:cond evt="onNext" delay="0">
                                      <p:tgtEl>
                                        <p:sldTgt/>
                                      </p:tgtEl>
                                    </p:cond>
                                  </p:endCondLst>
                                  <p:childTnLst>
                                    <p:animEffect transition="out" filter="fade">
                                      <p:cBhvr>
                                        <p:cTn id="124" dur="500" tmFilter="0, 0; .2, .5; .8, .5; 1, 0"/>
                                        <p:tgtEl>
                                          <p:spTgt spid="57"/>
                                        </p:tgtEl>
                                      </p:cBhvr>
                                    </p:animEffect>
                                    <p:animScale>
                                      <p:cBhvr>
                                        <p:cTn id="125" dur="250" autoRev="1" fill="hold"/>
                                        <p:tgtEl>
                                          <p:spTgt spid="57"/>
                                        </p:tgtEl>
                                      </p:cBhvr>
                                      <p:by x="105000" y="105000"/>
                                    </p:animScale>
                                  </p:childTnLst>
                                </p:cTn>
                              </p:par>
                              <p:par>
                                <p:cTn id="126" presetID="1" presetClass="entr" presetSubtype="0" fill="hold" grpId="0" nodeType="withEffect">
                                  <p:stCondLst>
                                    <p:cond delay="0"/>
                                  </p:stCondLst>
                                  <p:childTnLst>
                                    <p:set>
                                      <p:cBhvr>
                                        <p:cTn id="127" dur="1" fill="hold">
                                          <p:stCondLst>
                                            <p:cond delay="0"/>
                                          </p:stCondLst>
                                        </p:cTn>
                                        <p:tgtEl>
                                          <p:spTgt spid="58"/>
                                        </p:tgtEl>
                                        <p:attrNameLst>
                                          <p:attrName>style.visibility</p:attrName>
                                        </p:attrNameLst>
                                      </p:cBhvr>
                                      <p:to>
                                        <p:strVal val="visible"/>
                                      </p:to>
                                    </p:set>
                                  </p:childTnLst>
                                </p:cTn>
                              </p:par>
                              <p:par>
                                <p:cTn id="128" presetID="26" presetClass="emph" presetSubtype="0" repeatCount="indefinite" fill="hold" grpId="1" nodeType="withEffect">
                                  <p:stCondLst>
                                    <p:cond delay="0"/>
                                  </p:stCondLst>
                                  <p:endCondLst>
                                    <p:cond evt="onNext" delay="0">
                                      <p:tgtEl>
                                        <p:sldTgt/>
                                      </p:tgtEl>
                                    </p:cond>
                                  </p:endCondLst>
                                  <p:childTnLst>
                                    <p:animEffect transition="out" filter="fade">
                                      <p:cBhvr>
                                        <p:cTn id="129" dur="500" tmFilter="0, 0; .2, .5; .8, .5; 1, 0"/>
                                        <p:tgtEl>
                                          <p:spTgt spid="58"/>
                                        </p:tgtEl>
                                      </p:cBhvr>
                                    </p:animEffect>
                                    <p:animScale>
                                      <p:cBhvr>
                                        <p:cTn id="130" dur="250" autoRev="1" fill="hold"/>
                                        <p:tgtEl>
                                          <p:spTgt spid="58"/>
                                        </p:tgtEl>
                                      </p:cBhvr>
                                      <p:by x="105000" y="105000"/>
                                    </p:animScale>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2" nodeType="clickEffect">
                                  <p:stCondLst>
                                    <p:cond delay="0"/>
                                  </p:stCondLst>
                                  <p:childTnLst>
                                    <p:set>
                                      <p:cBhvr>
                                        <p:cTn id="134" dur="1" fill="hold">
                                          <p:stCondLst>
                                            <p:cond delay="0"/>
                                          </p:stCondLst>
                                        </p:cTn>
                                        <p:tgtEl>
                                          <p:spTgt spid="57"/>
                                        </p:tgtEl>
                                        <p:attrNameLst>
                                          <p:attrName>style.visibility</p:attrName>
                                        </p:attrNameLst>
                                      </p:cBhvr>
                                      <p:to>
                                        <p:strVal val="hidden"/>
                                      </p:to>
                                    </p:set>
                                  </p:childTnLst>
                                </p:cTn>
                              </p:par>
                              <p:par>
                                <p:cTn id="135" presetID="1" presetClass="exit" presetSubtype="0" fill="hold" grpId="2" nodeType="withEffect">
                                  <p:stCondLst>
                                    <p:cond delay="0"/>
                                  </p:stCondLst>
                                  <p:childTnLst>
                                    <p:set>
                                      <p:cBhvr>
                                        <p:cTn id="136" dur="1" fill="hold">
                                          <p:stCondLst>
                                            <p:cond delay="0"/>
                                          </p:stCondLst>
                                        </p:cTn>
                                        <p:tgtEl>
                                          <p:spTgt spid="58"/>
                                        </p:tgtEl>
                                        <p:attrNameLst>
                                          <p:attrName>style.visibility</p:attrName>
                                        </p:attrNameLst>
                                      </p:cBhvr>
                                      <p:to>
                                        <p:strVal val="hidden"/>
                                      </p:to>
                                    </p:set>
                                  </p:childTnLst>
                                </p:cTn>
                              </p:par>
                              <p:par>
                                <p:cTn id="137" presetID="1" presetClass="entr" presetSubtype="0" fill="hold" grpId="0" nodeType="withEffect">
                                  <p:stCondLst>
                                    <p:cond delay="0"/>
                                  </p:stCondLst>
                                  <p:childTnLst>
                                    <p:set>
                                      <p:cBhvr>
                                        <p:cTn id="138" dur="1" fill="hold">
                                          <p:stCondLst>
                                            <p:cond delay="0"/>
                                          </p:stCondLst>
                                        </p:cTn>
                                        <p:tgtEl>
                                          <p:spTgt spid="67"/>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69"/>
                                        </p:tgtEl>
                                        <p:attrNameLst>
                                          <p:attrName>style.visibility</p:attrName>
                                        </p:attrNameLst>
                                      </p:cBhvr>
                                      <p:to>
                                        <p:strVal val="visible"/>
                                      </p:to>
                                    </p:set>
                                  </p:childTnLst>
                                </p:cTn>
                              </p:par>
                              <p:par>
                                <p:cTn id="141" presetID="26" presetClass="emph" presetSubtype="0" repeatCount="indefinite" fill="hold" grpId="1" nodeType="withEffect">
                                  <p:stCondLst>
                                    <p:cond delay="0"/>
                                  </p:stCondLst>
                                  <p:endCondLst>
                                    <p:cond evt="onNext" delay="0">
                                      <p:tgtEl>
                                        <p:sldTgt/>
                                      </p:tgtEl>
                                    </p:cond>
                                  </p:endCondLst>
                                  <p:childTnLst>
                                    <p:animEffect transition="out" filter="fade">
                                      <p:cBhvr>
                                        <p:cTn id="142" dur="500" tmFilter="0, 0; .2, .5; .8, .5; 1, 0"/>
                                        <p:tgtEl>
                                          <p:spTgt spid="69"/>
                                        </p:tgtEl>
                                      </p:cBhvr>
                                    </p:animEffect>
                                    <p:animScale>
                                      <p:cBhvr>
                                        <p:cTn id="143" dur="250" autoRev="1" fill="hold"/>
                                        <p:tgtEl>
                                          <p:spTgt spid="6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P spid="51" grpId="0" animBg="1"/>
      <p:bldP spid="51" grpId="1" animBg="1"/>
      <p:bldP spid="51" grpId="2" animBg="1"/>
      <p:bldP spid="52" grpId="0" animBg="1"/>
      <p:bldP spid="52" grpId="1" animBg="1"/>
      <p:bldP spid="52" grpId="2" animBg="1"/>
      <p:bldP spid="53" grpId="0" animBg="1"/>
      <p:bldP spid="53" grpId="1" animBg="1"/>
      <p:bldP spid="53" grpId="2" animBg="1"/>
      <p:bldP spid="54" grpId="0" animBg="1"/>
      <p:bldP spid="54" grpId="1" animBg="1"/>
      <p:bldP spid="54" grpId="2" animBg="1"/>
      <p:bldP spid="55" grpId="0" animBg="1"/>
      <p:bldP spid="55" grpId="1" animBg="1"/>
      <p:bldP spid="55" grpId="2" animBg="1"/>
      <p:bldP spid="56" grpId="0" animBg="1"/>
      <p:bldP spid="56" grpId="1" animBg="1"/>
      <p:bldP spid="56" grpId="2" animBg="1"/>
      <p:bldP spid="57" grpId="0" animBg="1"/>
      <p:bldP spid="57" grpId="1" animBg="1"/>
      <p:bldP spid="57" grpId="2" animBg="1"/>
      <p:bldP spid="58" grpId="0" animBg="1"/>
      <p:bldP spid="58" grpId="1" animBg="1"/>
      <p:bldP spid="58" grpId="2" animBg="1"/>
      <p:bldP spid="67" grpId="0"/>
      <p:bldP spid="69" grpId="0" animBg="1"/>
      <p:bldP spid="69" grpId="1" animBg="1"/>
      <p:bldP spid="36" grpId="0" animBg="1"/>
      <p:bldP spid="36" grpId="1" animBg="1"/>
      <p:bldP spid="36" grpId="2" animBg="1"/>
      <p:bldP spid="37" grpId="0" animBg="1"/>
      <p:bldP spid="37" grpId="1" animBg="1"/>
      <p:bldP spid="37" grpId="2" animBg="1"/>
      <p:bldP spid="38" grpId="0" animBg="1"/>
      <p:bldP spid="38" grpId="1" animBg="1"/>
      <p:bldP spid="38" grpId="2" animBg="1"/>
      <p:bldP spid="41" grpId="0" animBg="1"/>
      <p:bldP spid="41" grpId="1" animBg="1"/>
      <p:bldP spid="41" grpId="2"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Job First(SJF)</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5" name="Rectangle 4"/>
          <p:cNvSpPr/>
          <p:nvPr/>
        </p:nvSpPr>
        <p:spPr>
          <a:xfrm>
            <a:off x="1014593" y="4337714"/>
            <a:ext cx="22924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P0</a:t>
            </a:r>
          </a:p>
        </p:txBody>
      </p:sp>
      <p:sp>
        <p:nvSpPr>
          <p:cNvPr id="6" name="Rectangle 5"/>
          <p:cNvSpPr/>
          <p:nvPr/>
        </p:nvSpPr>
        <p:spPr>
          <a:xfrm>
            <a:off x="4869509" y="4337713"/>
            <a:ext cx="1416676" cy="6553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P1</a:t>
            </a:r>
          </a:p>
        </p:txBody>
      </p:sp>
      <p:sp>
        <p:nvSpPr>
          <p:cNvPr id="7" name="Rectangle 6"/>
          <p:cNvSpPr/>
          <p:nvPr/>
        </p:nvSpPr>
        <p:spPr>
          <a:xfrm>
            <a:off x="3290469" y="4337713"/>
            <a:ext cx="502276"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P2</a:t>
            </a:r>
          </a:p>
        </p:txBody>
      </p:sp>
      <p:sp>
        <p:nvSpPr>
          <p:cNvPr id="8" name="Rectangle 7"/>
          <p:cNvSpPr/>
          <p:nvPr/>
        </p:nvSpPr>
        <p:spPr>
          <a:xfrm>
            <a:off x="3802374" y="4337713"/>
            <a:ext cx="1094704"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P3</a:t>
            </a:r>
          </a:p>
        </p:txBody>
      </p:sp>
      <p:sp>
        <p:nvSpPr>
          <p:cNvPr id="9" name="TextBox 8"/>
          <p:cNvSpPr txBox="1"/>
          <p:nvPr/>
        </p:nvSpPr>
        <p:spPr>
          <a:xfrm>
            <a:off x="855369" y="4993073"/>
            <a:ext cx="318448" cy="381000"/>
          </a:xfrm>
          <a:prstGeom prst="rect">
            <a:avLst/>
          </a:prstGeom>
          <a:noFill/>
        </p:spPr>
        <p:txBody>
          <a:bodyPr wrap="square" rtlCol="0">
            <a:spAutoFit/>
          </a:bodyPr>
          <a:lstStyle/>
          <a:p>
            <a:r>
              <a:rPr lang="en-US" dirty="0"/>
              <a:t>0</a:t>
            </a:r>
          </a:p>
        </p:txBody>
      </p:sp>
      <p:cxnSp>
        <p:nvCxnSpPr>
          <p:cNvPr id="14" name="Straight Connector 13"/>
          <p:cNvCxnSpPr/>
          <p:nvPr/>
        </p:nvCxnSpPr>
        <p:spPr>
          <a:xfrm flipH="1">
            <a:off x="1014593" y="4353205"/>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6530" y="824702"/>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Waiting Time</a:t>
                      </a:r>
                      <a:endParaRPr lang="en-IN" sz="1800" b="1" kern="1200" dirty="0">
                        <a:solidFill>
                          <a:schemeClr val="tx1"/>
                        </a:solidFill>
                        <a:effectLst/>
                        <a:latin typeface="+mn-lt"/>
                        <a:ea typeface="+mn-ea"/>
                        <a:cs typeface="+mn-cs"/>
                      </a:endParaRPr>
                    </a:p>
                    <a:p>
                      <a:pPr algn="ctr"/>
                      <a:r>
                        <a:rPr lang="en-US" sz="1800" b="1" kern="1200" dirty="0">
                          <a:solidFill>
                            <a:schemeClr val="tx1"/>
                          </a:solidFill>
                          <a:effectLst/>
                          <a:latin typeface="+mn-lt"/>
                          <a:ea typeface="+mn-ea"/>
                          <a:cs typeface="+mn-cs"/>
                        </a:rPr>
                        <a:t>(TAT-ΔT)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2641" y="146766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0058" y="2023019"/>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259387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315181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30" name="TextBox 29"/>
          <p:cNvSpPr txBox="1"/>
          <p:nvPr/>
        </p:nvSpPr>
        <p:spPr>
          <a:xfrm>
            <a:off x="3070571" y="4960651"/>
            <a:ext cx="510857" cy="369332"/>
          </a:xfrm>
          <a:prstGeom prst="rect">
            <a:avLst/>
          </a:prstGeom>
          <a:noFill/>
        </p:spPr>
        <p:txBody>
          <a:bodyPr wrap="square" rtlCol="0">
            <a:spAutoFit/>
          </a:bodyPr>
          <a:lstStyle/>
          <a:p>
            <a:r>
              <a:rPr lang="en-US" dirty="0"/>
              <a:t>10</a:t>
            </a:r>
          </a:p>
        </p:txBody>
      </p:sp>
      <p:sp>
        <p:nvSpPr>
          <p:cNvPr id="31" name="TextBox 30"/>
          <p:cNvSpPr txBox="1"/>
          <p:nvPr/>
        </p:nvSpPr>
        <p:spPr>
          <a:xfrm>
            <a:off x="3591057" y="4960651"/>
            <a:ext cx="510857" cy="369332"/>
          </a:xfrm>
          <a:prstGeom prst="rect">
            <a:avLst/>
          </a:prstGeom>
          <a:noFill/>
        </p:spPr>
        <p:txBody>
          <a:bodyPr wrap="square" rtlCol="0">
            <a:spAutoFit/>
          </a:bodyPr>
          <a:lstStyle/>
          <a:p>
            <a:r>
              <a:rPr lang="en-US" dirty="0"/>
              <a:t>12</a:t>
            </a:r>
          </a:p>
        </p:txBody>
      </p:sp>
      <p:sp>
        <p:nvSpPr>
          <p:cNvPr id="32" name="TextBox 31"/>
          <p:cNvSpPr txBox="1"/>
          <p:nvPr/>
        </p:nvSpPr>
        <p:spPr>
          <a:xfrm>
            <a:off x="4658192" y="4953604"/>
            <a:ext cx="510857" cy="369332"/>
          </a:xfrm>
          <a:prstGeom prst="rect">
            <a:avLst/>
          </a:prstGeom>
          <a:noFill/>
        </p:spPr>
        <p:txBody>
          <a:bodyPr wrap="square" rtlCol="0">
            <a:spAutoFit/>
          </a:bodyPr>
          <a:lstStyle/>
          <a:p>
            <a:r>
              <a:rPr lang="en-US" dirty="0"/>
              <a:t>16</a:t>
            </a:r>
          </a:p>
        </p:txBody>
      </p:sp>
      <p:sp>
        <p:nvSpPr>
          <p:cNvPr id="33" name="TextBox 32"/>
          <p:cNvSpPr txBox="1"/>
          <p:nvPr/>
        </p:nvSpPr>
        <p:spPr>
          <a:xfrm>
            <a:off x="6081159" y="4960651"/>
            <a:ext cx="510857" cy="369332"/>
          </a:xfrm>
          <a:prstGeom prst="rect">
            <a:avLst/>
          </a:prstGeom>
          <a:noFill/>
        </p:spPr>
        <p:txBody>
          <a:bodyPr wrap="square" rtlCol="0">
            <a:spAutoFit/>
          </a:bodyPr>
          <a:lstStyle/>
          <a:p>
            <a:r>
              <a:rPr lang="en-US" dirty="0"/>
              <a:t>22</a:t>
            </a:r>
          </a:p>
        </p:txBody>
      </p:sp>
      <p:sp>
        <p:nvSpPr>
          <p:cNvPr id="59" name="TextBox 58"/>
          <p:cNvSpPr txBox="1"/>
          <p:nvPr/>
        </p:nvSpPr>
        <p:spPr>
          <a:xfrm>
            <a:off x="7728100" y="1485099"/>
            <a:ext cx="2064742" cy="542441"/>
          </a:xfrm>
          <a:prstGeom prst="rect">
            <a:avLst/>
          </a:prstGeom>
          <a:noFill/>
          <a:ln w="57150">
            <a:solidFill>
              <a:srgbClr val="FF0000"/>
            </a:solidFill>
          </a:ln>
        </p:spPr>
        <p:txBody>
          <a:bodyPr wrap="square" rtlCol="0">
            <a:spAutoFit/>
          </a:bodyPr>
          <a:lstStyle/>
          <a:p>
            <a:endParaRPr lang="en-IN" dirty="0"/>
          </a:p>
        </p:txBody>
      </p:sp>
      <p:sp>
        <p:nvSpPr>
          <p:cNvPr id="60" name="TextBox 59"/>
          <p:cNvSpPr txBox="1"/>
          <p:nvPr/>
        </p:nvSpPr>
        <p:spPr>
          <a:xfrm>
            <a:off x="2723645" y="1485099"/>
            <a:ext cx="3590108" cy="542441"/>
          </a:xfrm>
          <a:prstGeom prst="rect">
            <a:avLst/>
          </a:prstGeom>
          <a:noFill/>
          <a:ln w="57150">
            <a:solidFill>
              <a:srgbClr val="FF0000"/>
            </a:solidFill>
          </a:ln>
        </p:spPr>
        <p:txBody>
          <a:bodyPr wrap="square" rtlCol="0">
            <a:spAutoFit/>
          </a:bodyPr>
          <a:lstStyle/>
          <a:p>
            <a:endParaRPr lang="en-IN" dirty="0"/>
          </a:p>
        </p:txBody>
      </p:sp>
      <p:sp>
        <p:nvSpPr>
          <p:cNvPr id="61" name="TextBox 60"/>
          <p:cNvSpPr txBox="1"/>
          <p:nvPr/>
        </p:nvSpPr>
        <p:spPr>
          <a:xfrm>
            <a:off x="7728100" y="2045619"/>
            <a:ext cx="2064742" cy="542441"/>
          </a:xfrm>
          <a:prstGeom prst="rect">
            <a:avLst/>
          </a:prstGeom>
          <a:noFill/>
          <a:ln w="57150">
            <a:solidFill>
              <a:srgbClr val="FF0000"/>
            </a:solidFill>
          </a:ln>
        </p:spPr>
        <p:txBody>
          <a:bodyPr wrap="square" rtlCol="0">
            <a:spAutoFit/>
          </a:bodyPr>
          <a:lstStyle/>
          <a:p>
            <a:endParaRPr lang="en-IN" dirty="0"/>
          </a:p>
        </p:txBody>
      </p:sp>
      <p:sp>
        <p:nvSpPr>
          <p:cNvPr id="62" name="TextBox 61"/>
          <p:cNvSpPr txBox="1"/>
          <p:nvPr/>
        </p:nvSpPr>
        <p:spPr>
          <a:xfrm>
            <a:off x="2761976" y="2024669"/>
            <a:ext cx="3590108" cy="542441"/>
          </a:xfrm>
          <a:prstGeom prst="rect">
            <a:avLst/>
          </a:prstGeom>
          <a:noFill/>
          <a:ln w="57150">
            <a:solidFill>
              <a:srgbClr val="FF0000"/>
            </a:solidFill>
          </a:ln>
        </p:spPr>
        <p:txBody>
          <a:bodyPr wrap="square" rtlCol="0">
            <a:spAutoFit/>
          </a:bodyPr>
          <a:lstStyle/>
          <a:p>
            <a:endParaRPr lang="en-IN" dirty="0"/>
          </a:p>
        </p:txBody>
      </p:sp>
      <p:sp>
        <p:nvSpPr>
          <p:cNvPr id="63" name="TextBox 62"/>
          <p:cNvSpPr txBox="1"/>
          <p:nvPr/>
        </p:nvSpPr>
        <p:spPr>
          <a:xfrm>
            <a:off x="7736540" y="2567110"/>
            <a:ext cx="2064742" cy="542441"/>
          </a:xfrm>
          <a:prstGeom prst="rect">
            <a:avLst/>
          </a:prstGeom>
          <a:noFill/>
          <a:ln w="57150">
            <a:solidFill>
              <a:srgbClr val="FF0000"/>
            </a:solidFill>
          </a:ln>
        </p:spPr>
        <p:txBody>
          <a:bodyPr wrap="square" rtlCol="0">
            <a:spAutoFit/>
          </a:bodyPr>
          <a:lstStyle/>
          <a:p>
            <a:endParaRPr lang="en-IN" dirty="0"/>
          </a:p>
        </p:txBody>
      </p:sp>
      <p:sp>
        <p:nvSpPr>
          <p:cNvPr id="64" name="TextBox 63"/>
          <p:cNvSpPr txBox="1"/>
          <p:nvPr/>
        </p:nvSpPr>
        <p:spPr>
          <a:xfrm>
            <a:off x="2761976" y="2583424"/>
            <a:ext cx="3590108" cy="542441"/>
          </a:xfrm>
          <a:prstGeom prst="rect">
            <a:avLst/>
          </a:prstGeom>
          <a:noFill/>
          <a:ln w="57150">
            <a:solidFill>
              <a:srgbClr val="FF0000"/>
            </a:solidFill>
          </a:ln>
        </p:spPr>
        <p:txBody>
          <a:bodyPr wrap="square" rtlCol="0">
            <a:spAutoFit/>
          </a:bodyPr>
          <a:lstStyle/>
          <a:p>
            <a:endParaRPr lang="en-IN" dirty="0"/>
          </a:p>
        </p:txBody>
      </p:sp>
      <p:sp>
        <p:nvSpPr>
          <p:cNvPr id="65" name="TextBox 64"/>
          <p:cNvSpPr txBox="1"/>
          <p:nvPr/>
        </p:nvSpPr>
        <p:spPr>
          <a:xfrm>
            <a:off x="7736540" y="3171203"/>
            <a:ext cx="2064742" cy="542441"/>
          </a:xfrm>
          <a:prstGeom prst="rect">
            <a:avLst/>
          </a:prstGeom>
          <a:noFill/>
          <a:ln w="57150">
            <a:solidFill>
              <a:srgbClr val="FF0000"/>
            </a:solidFill>
          </a:ln>
        </p:spPr>
        <p:txBody>
          <a:bodyPr wrap="square" rtlCol="0">
            <a:spAutoFit/>
          </a:bodyPr>
          <a:lstStyle/>
          <a:p>
            <a:endParaRPr lang="en-IN" dirty="0"/>
          </a:p>
        </p:txBody>
      </p:sp>
      <p:sp>
        <p:nvSpPr>
          <p:cNvPr id="66" name="TextBox 65"/>
          <p:cNvSpPr txBox="1"/>
          <p:nvPr/>
        </p:nvSpPr>
        <p:spPr>
          <a:xfrm>
            <a:off x="2727702" y="3136235"/>
            <a:ext cx="3590108" cy="542441"/>
          </a:xfrm>
          <a:prstGeom prst="rect">
            <a:avLst/>
          </a:prstGeom>
          <a:noFill/>
          <a:ln w="57150">
            <a:solidFill>
              <a:srgbClr val="FF0000"/>
            </a:solidFill>
          </a:ln>
        </p:spPr>
        <p:txBody>
          <a:bodyPr wrap="square" rtlCol="0">
            <a:spAutoFit/>
          </a:bodyPr>
          <a:lstStyle/>
          <a:p>
            <a:endParaRPr lang="en-IN" dirty="0"/>
          </a:p>
        </p:txBody>
      </p:sp>
      <p:sp>
        <p:nvSpPr>
          <p:cNvPr id="68" name="TextBox 67"/>
          <p:cNvSpPr txBox="1"/>
          <p:nvPr/>
        </p:nvSpPr>
        <p:spPr>
          <a:xfrm>
            <a:off x="386902" y="5413080"/>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Waiting Time </a:t>
            </a:r>
            <a:r>
              <a:rPr lang="en-US" sz="2000" dirty="0"/>
              <a:t>= Sum of all Process’s Waiting Time/ Total Process</a:t>
            </a:r>
          </a:p>
          <a:p>
            <a:r>
              <a:rPr lang="en-US" sz="2000" dirty="0"/>
              <a:t>                                              = (0+15+7+7)/4 </a:t>
            </a:r>
          </a:p>
          <a:p>
            <a:r>
              <a:rPr lang="en-US" sz="2000" dirty="0"/>
              <a:t>                                              = 7.25 </a:t>
            </a:r>
            <a:r>
              <a:rPr lang="en-US" sz="2000" dirty="0" err="1"/>
              <a:t>ms.</a:t>
            </a:r>
            <a:endParaRPr lang="en-US" sz="2000" dirty="0"/>
          </a:p>
        </p:txBody>
      </p:sp>
      <p:sp>
        <p:nvSpPr>
          <p:cNvPr id="70" name="TextBox 69"/>
          <p:cNvSpPr txBox="1"/>
          <p:nvPr/>
        </p:nvSpPr>
        <p:spPr>
          <a:xfrm>
            <a:off x="9809722" y="1490742"/>
            <a:ext cx="2049246" cy="2222902"/>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3771279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500" tmFilter="0, 0; .2, .5; .8, .5; 1, 0"/>
                                        <p:tgtEl>
                                          <p:spTgt spid="59"/>
                                        </p:tgtEl>
                                      </p:cBhvr>
                                    </p:animEffect>
                                    <p:animScale>
                                      <p:cBhvr>
                                        <p:cTn id="15" dur="250" autoRev="1" fill="hold"/>
                                        <p:tgtEl>
                                          <p:spTgt spid="59"/>
                                        </p:tgtEl>
                                      </p:cBhvr>
                                      <p:by x="105000" y="105000"/>
                                    </p:animScale>
                                  </p:childTnLst>
                                </p:cTn>
                              </p:par>
                              <p:par>
                                <p:cTn id="16" presetID="1" presetClass="entr" presetSubtype="0" fill="hold" grpId="0" nodeType="withEffect">
                                  <p:stCondLst>
                                    <p:cond delay="0"/>
                                  </p:stCondLst>
                                  <p:childTnLst>
                                    <p:set>
                                      <p:cBhvr>
                                        <p:cTn id="17" dur="1" fill="hold">
                                          <p:stCondLst>
                                            <p:cond delay="0"/>
                                          </p:stCondLst>
                                        </p:cTn>
                                        <p:tgtEl>
                                          <p:spTgt spid="60"/>
                                        </p:tgtEl>
                                        <p:attrNameLst>
                                          <p:attrName>style.visibility</p:attrName>
                                        </p:attrNameLst>
                                      </p:cBhvr>
                                      <p:to>
                                        <p:strVal val="visible"/>
                                      </p:to>
                                    </p:set>
                                  </p:childTnLst>
                                </p:cTn>
                              </p:par>
                              <p:par>
                                <p:cTn id="18" presetID="26" presetClass="emph" presetSubtype="0" repeatCount="indefinite" fill="hold" grpId="1" nodeType="withEffect">
                                  <p:stCondLst>
                                    <p:cond delay="0"/>
                                  </p:stCondLst>
                                  <p:endCondLst>
                                    <p:cond evt="onNext" delay="0">
                                      <p:tgtEl>
                                        <p:sldTgt/>
                                      </p:tgtEl>
                                    </p:cond>
                                  </p:endCondLst>
                                  <p:childTnLst>
                                    <p:animEffect transition="out" filter="fade">
                                      <p:cBhvr>
                                        <p:cTn id="19" dur="500" tmFilter="0, 0; .2, .5; .8, .5; 1, 0"/>
                                        <p:tgtEl>
                                          <p:spTgt spid="60"/>
                                        </p:tgtEl>
                                      </p:cBhvr>
                                    </p:animEffect>
                                    <p:animScale>
                                      <p:cBhvr>
                                        <p:cTn id="20" dur="250" autoRev="1" fill="hold"/>
                                        <p:tgtEl>
                                          <p:spTgt spid="60"/>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xit" presetSubtype="0" fill="hold" grpId="2" nodeType="withEffect">
                                  <p:stCondLst>
                                    <p:cond delay="0"/>
                                  </p:stCondLst>
                                  <p:childTnLst>
                                    <p:set>
                                      <p:cBhvr>
                                        <p:cTn id="26" dur="1" fill="hold">
                                          <p:stCondLst>
                                            <p:cond delay="0"/>
                                          </p:stCondLst>
                                        </p:cTn>
                                        <p:tgtEl>
                                          <p:spTgt spid="59"/>
                                        </p:tgtEl>
                                        <p:attrNameLst>
                                          <p:attrName>style.visibility</p:attrName>
                                        </p:attrNameLst>
                                      </p:cBhvr>
                                      <p:to>
                                        <p:strVal val="hidden"/>
                                      </p:to>
                                    </p:set>
                                  </p:childTnLst>
                                </p:cTn>
                              </p:par>
                              <p:par>
                                <p:cTn id="27" presetID="1" presetClass="exit" presetSubtype="0" fill="hold" grpId="2" nodeType="withEffect">
                                  <p:stCondLst>
                                    <p:cond delay="0"/>
                                  </p:stCondLst>
                                  <p:childTnLst>
                                    <p:set>
                                      <p:cBhvr>
                                        <p:cTn id="28" dur="1" fill="hold">
                                          <p:stCondLst>
                                            <p:cond delay="0"/>
                                          </p:stCondLst>
                                        </p:cTn>
                                        <p:tgtEl>
                                          <p:spTgt spid="60"/>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26" presetClass="emph" presetSubtype="0" repeatCount="indefinite" fill="hold" grpId="1" nodeType="withEffect">
                                  <p:stCondLst>
                                    <p:cond delay="0"/>
                                  </p:stCondLst>
                                  <p:endCondLst>
                                    <p:cond evt="onNext" delay="0">
                                      <p:tgtEl>
                                        <p:sldTgt/>
                                      </p:tgtEl>
                                    </p:cond>
                                  </p:endCondLst>
                                  <p:childTnLst>
                                    <p:animEffect transition="out" filter="fade">
                                      <p:cBhvr>
                                        <p:cTn id="32" dur="500" tmFilter="0, 0; .2, .5; .8, .5; 1, 0"/>
                                        <p:tgtEl>
                                          <p:spTgt spid="61"/>
                                        </p:tgtEl>
                                      </p:cBhvr>
                                    </p:animEffect>
                                    <p:animScale>
                                      <p:cBhvr>
                                        <p:cTn id="33" dur="250" autoRev="1" fill="hold"/>
                                        <p:tgtEl>
                                          <p:spTgt spid="61"/>
                                        </p:tgtEl>
                                      </p:cBhvr>
                                      <p:by x="105000" y="105000"/>
                                    </p:animScale>
                                  </p:childTnLst>
                                </p:cTn>
                              </p:par>
                              <p:par>
                                <p:cTn id="34" presetID="1" presetClass="entr" presetSubtype="0" fill="hold" grpId="0" nodeType="withEffect">
                                  <p:stCondLst>
                                    <p:cond delay="0"/>
                                  </p:stCondLst>
                                  <p:childTnLst>
                                    <p:set>
                                      <p:cBhvr>
                                        <p:cTn id="35" dur="1" fill="hold">
                                          <p:stCondLst>
                                            <p:cond delay="0"/>
                                          </p:stCondLst>
                                        </p:cTn>
                                        <p:tgtEl>
                                          <p:spTgt spid="62"/>
                                        </p:tgtEl>
                                        <p:attrNameLst>
                                          <p:attrName>style.visibility</p:attrName>
                                        </p:attrNameLst>
                                      </p:cBhvr>
                                      <p:to>
                                        <p:strVal val="visible"/>
                                      </p:to>
                                    </p:set>
                                  </p:childTnLst>
                                </p:cTn>
                              </p:par>
                              <p:par>
                                <p:cTn id="36" presetID="26" presetClass="emph" presetSubtype="0" repeatCount="indefinite" fill="hold" grpId="1" nodeType="withEffect">
                                  <p:stCondLst>
                                    <p:cond delay="0"/>
                                  </p:stCondLst>
                                  <p:endCondLst>
                                    <p:cond evt="onNext" delay="0">
                                      <p:tgtEl>
                                        <p:sldTgt/>
                                      </p:tgtEl>
                                    </p:cond>
                                  </p:endCondLst>
                                  <p:childTnLst>
                                    <p:animEffect transition="out" filter="fade">
                                      <p:cBhvr>
                                        <p:cTn id="37" dur="500" tmFilter="0, 0; .2, .5; .8, .5; 1, 0"/>
                                        <p:tgtEl>
                                          <p:spTgt spid="62"/>
                                        </p:tgtEl>
                                      </p:cBhvr>
                                    </p:animEffect>
                                    <p:animScale>
                                      <p:cBhvr>
                                        <p:cTn id="38" dur="250" autoRev="1" fill="hold"/>
                                        <p:tgtEl>
                                          <p:spTgt spid="62"/>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xit" presetSubtype="0" fill="hold" grpId="2" nodeType="withEffect">
                                  <p:stCondLst>
                                    <p:cond delay="0"/>
                                  </p:stCondLst>
                                  <p:childTnLst>
                                    <p:set>
                                      <p:cBhvr>
                                        <p:cTn id="44" dur="1" fill="hold">
                                          <p:stCondLst>
                                            <p:cond delay="0"/>
                                          </p:stCondLst>
                                        </p:cTn>
                                        <p:tgtEl>
                                          <p:spTgt spid="61"/>
                                        </p:tgtEl>
                                        <p:attrNameLst>
                                          <p:attrName>style.visibility</p:attrName>
                                        </p:attrNameLst>
                                      </p:cBhvr>
                                      <p:to>
                                        <p:strVal val="hidden"/>
                                      </p:to>
                                    </p:set>
                                  </p:childTnLst>
                                </p:cTn>
                              </p:par>
                              <p:par>
                                <p:cTn id="45" presetID="1" presetClass="exit" presetSubtype="0" fill="hold" grpId="2" nodeType="withEffect">
                                  <p:stCondLst>
                                    <p:cond delay="0"/>
                                  </p:stCondLst>
                                  <p:childTnLst>
                                    <p:set>
                                      <p:cBhvr>
                                        <p:cTn id="46" dur="1" fill="hold">
                                          <p:stCondLst>
                                            <p:cond delay="0"/>
                                          </p:stCondLst>
                                        </p:cTn>
                                        <p:tgtEl>
                                          <p:spTgt spid="62"/>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63"/>
                                        </p:tgtEl>
                                        <p:attrNameLst>
                                          <p:attrName>style.visibility</p:attrName>
                                        </p:attrNameLst>
                                      </p:cBhvr>
                                      <p:to>
                                        <p:strVal val="visible"/>
                                      </p:to>
                                    </p:set>
                                  </p:childTnLst>
                                </p:cTn>
                              </p:par>
                              <p:par>
                                <p:cTn id="49" presetID="26" presetClass="emph" presetSubtype="0" repeatCount="indefinite" fill="hold" grpId="1" nodeType="withEffect">
                                  <p:stCondLst>
                                    <p:cond delay="0"/>
                                  </p:stCondLst>
                                  <p:endCondLst>
                                    <p:cond evt="onNext" delay="0">
                                      <p:tgtEl>
                                        <p:sldTgt/>
                                      </p:tgtEl>
                                    </p:cond>
                                  </p:endCondLst>
                                  <p:childTnLst>
                                    <p:animEffect transition="out" filter="fade">
                                      <p:cBhvr>
                                        <p:cTn id="50" dur="500" tmFilter="0, 0; .2, .5; .8, .5; 1, 0"/>
                                        <p:tgtEl>
                                          <p:spTgt spid="63"/>
                                        </p:tgtEl>
                                      </p:cBhvr>
                                    </p:animEffect>
                                    <p:animScale>
                                      <p:cBhvr>
                                        <p:cTn id="51" dur="250" autoRev="1" fill="hold"/>
                                        <p:tgtEl>
                                          <p:spTgt spid="63"/>
                                        </p:tgtEl>
                                      </p:cBhvr>
                                      <p:by x="105000" y="105000"/>
                                    </p:animScale>
                                  </p:childTnLst>
                                </p:cTn>
                              </p:par>
                              <p:par>
                                <p:cTn id="52" presetID="1" presetClass="entr" presetSubtype="0" fill="hold" grpId="0" nodeType="withEffect">
                                  <p:stCondLst>
                                    <p:cond delay="0"/>
                                  </p:stCondLst>
                                  <p:childTnLst>
                                    <p:set>
                                      <p:cBhvr>
                                        <p:cTn id="53" dur="1" fill="hold">
                                          <p:stCondLst>
                                            <p:cond delay="0"/>
                                          </p:stCondLst>
                                        </p:cTn>
                                        <p:tgtEl>
                                          <p:spTgt spid="64"/>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64"/>
                                        </p:tgtEl>
                                      </p:cBhvr>
                                    </p:animEffect>
                                    <p:animScale>
                                      <p:cBhvr>
                                        <p:cTn id="56" dur="250" autoRev="1" fill="hold"/>
                                        <p:tgtEl>
                                          <p:spTgt spid="64"/>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63"/>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64"/>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65"/>
                                        </p:tgtEl>
                                        <p:attrNameLst>
                                          <p:attrName>style.visibility</p:attrName>
                                        </p:attrNameLst>
                                      </p:cBhvr>
                                      <p:to>
                                        <p:strVal val="visible"/>
                                      </p:to>
                                    </p:set>
                                  </p:childTnLst>
                                </p:cTn>
                              </p:par>
                              <p:par>
                                <p:cTn id="67" presetID="26" presetClass="emph" presetSubtype="0" repeatCount="indefinite" fill="hold" grpId="1" nodeType="withEffect">
                                  <p:stCondLst>
                                    <p:cond delay="0"/>
                                  </p:stCondLst>
                                  <p:endCondLst>
                                    <p:cond evt="onNext" delay="0">
                                      <p:tgtEl>
                                        <p:sldTgt/>
                                      </p:tgtEl>
                                    </p:cond>
                                  </p:endCondLst>
                                  <p:childTnLst>
                                    <p:animEffect transition="out" filter="fade">
                                      <p:cBhvr>
                                        <p:cTn id="68" dur="500" tmFilter="0, 0; .2, .5; .8, .5; 1, 0"/>
                                        <p:tgtEl>
                                          <p:spTgt spid="65"/>
                                        </p:tgtEl>
                                      </p:cBhvr>
                                    </p:animEffect>
                                    <p:animScale>
                                      <p:cBhvr>
                                        <p:cTn id="69" dur="250" autoRev="1" fill="hold"/>
                                        <p:tgtEl>
                                          <p:spTgt spid="65"/>
                                        </p:tgtEl>
                                      </p:cBhvr>
                                      <p:by x="105000" y="105000"/>
                                    </p:animScale>
                                  </p:childTnLst>
                                </p:cTn>
                              </p:par>
                              <p:par>
                                <p:cTn id="70" presetID="1" presetClass="entr" presetSubtype="0" fill="hold" grpId="0" nodeType="withEffect">
                                  <p:stCondLst>
                                    <p:cond delay="0"/>
                                  </p:stCondLst>
                                  <p:childTnLst>
                                    <p:set>
                                      <p:cBhvr>
                                        <p:cTn id="71" dur="1" fill="hold">
                                          <p:stCondLst>
                                            <p:cond delay="0"/>
                                          </p:stCondLst>
                                        </p:cTn>
                                        <p:tgtEl>
                                          <p:spTgt spid="66"/>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66"/>
                                        </p:tgtEl>
                                      </p:cBhvr>
                                    </p:animEffect>
                                    <p:animScale>
                                      <p:cBhvr>
                                        <p:cTn id="74" dur="250" autoRev="1" fill="hold"/>
                                        <p:tgtEl>
                                          <p:spTgt spid="66"/>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65"/>
                                        </p:tgtEl>
                                        <p:attrNameLst>
                                          <p:attrName>style.visibility</p:attrName>
                                        </p:attrNameLst>
                                      </p:cBhvr>
                                      <p:to>
                                        <p:strVal val="hidden"/>
                                      </p:to>
                                    </p:set>
                                  </p:childTnLst>
                                </p:cTn>
                              </p:par>
                              <p:par>
                                <p:cTn id="79" presetID="1" presetClass="exit" presetSubtype="0" fill="hold" grpId="2" nodeType="withEffect">
                                  <p:stCondLst>
                                    <p:cond delay="0"/>
                                  </p:stCondLst>
                                  <p:childTnLst>
                                    <p:set>
                                      <p:cBhvr>
                                        <p:cTn id="80" dur="1" fill="hold">
                                          <p:stCondLst>
                                            <p:cond delay="0"/>
                                          </p:stCondLst>
                                        </p:cTn>
                                        <p:tgtEl>
                                          <p:spTgt spid="66"/>
                                        </p:tgtEl>
                                        <p:attrNameLst>
                                          <p:attrName>style.visibility</p:attrName>
                                        </p:attrNameLst>
                                      </p:cBhvr>
                                      <p:to>
                                        <p:strVal val="hidden"/>
                                      </p:to>
                                    </p:set>
                                  </p:childTnLst>
                                </p:cTn>
                              </p:par>
                              <p:par>
                                <p:cTn id="81" presetID="1" presetClass="entr" presetSubtype="0" fill="hold" grpId="0" nodeType="withEffect">
                                  <p:stCondLst>
                                    <p:cond delay="0"/>
                                  </p:stCondLst>
                                  <p:childTnLst>
                                    <p:set>
                                      <p:cBhvr>
                                        <p:cTn id="82" dur="1" fill="hold">
                                          <p:stCondLst>
                                            <p:cond delay="0"/>
                                          </p:stCondLst>
                                        </p:cTn>
                                        <p:tgtEl>
                                          <p:spTgt spid="68"/>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0"/>
                                        </p:tgtEl>
                                        <p:attrNameLst>
                                          <p:attrName>style.visibility</p:attrName>
                                        </p:attrNameLst>
                                      </p:cBhvr>
                                      <p:to>
                                        <p:strVal val="visible"/>
                                      </p:to>
                                    </p:set>
                                  </p:childTnLst>
                                </p:cTn>
                              </p:par>
                              <p:par>
                                <p:cTn id="85" presetID="26" presetClass="emph" presetSubtype="0" repeatCount="indefinite" fill="hold" grpId="1" nodeType="withEffect">
                                  <p:stCondLst>
                                    <p:cond delay="0"/>
                                  </p:stCondLst>
                                  <p:endCondLst>
                                    <p:cond evt="onNext" delay="0">
                                      <p:tgtEl>
                                        <p:sldTgt/>
                                      </p:tgtEl>
                                    </p:cond>
                                  </p:endCondLst>
                                  <p:childTnLst>
                                    <p:animEffect transition="out" filter="fade">
                                      <p:cBhvr>
                                        <p:cTn id="86" dur="500" tmFilter="0, 0; .2, .5; .8, .5; 1, 0"/>
                                        <p:tgtEl>
                                          <p:spTgt spid="70"/>
                                        </p:tgtEl>
                                      </p:cBhvr>
                                    </p:animEffect>
                                    <p:animScale>
                                      <p:cBhvr>
                                        <p:cTn id="87" dur="250" autoRev="1" fill="hold"/>
                                        <p:tgtEl>
                                          <p:spTgt spid="7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9" grpId="1" animBg="1"/>
      <p:bldP spid="59" grpId="2" animBg="1"/>
      <p:bldP spid="60" grpId="0" animBg="1"/>
      <p:bldP spid="60" grpId="1" animBg="1"/>
      <p:bldP spid="60" grpId="2" animBg="1"/>
      <p:bldP spid="61" grpId="0" animBg="1"/>
      <p:bldP spid="61" grpId="1" animBg="1"/>
      <p:bldP spid="61" grpId="2" animBg="1"/>
      <p:bldP spid="62" grpId="0" animBg="1"/>
      <p:bldP spid="62" grpId="1" animBg="1"/>
      <p:bldP spid="62" grpId="2" animBg="1"/>
      <p:bldP spid="63" grpId="0" animBg="1"/>
      <p:bldP spid="63" grpId="1" animBg="1"/>
      <p:bldP spid="63" grpId="2" animBg="1"/>
      <p:bldP spid="64" grpId="0" animBg="1"/>
      <p:bldP spid="64" grpId="1" animBg="1"/>
      <p:bldP spid="64" grpId="2" animBg="1"/>
      <p:bldP spid="65" grpId="0" animBg="1"/>
      <p:bldP spid="65" grpId="1" animBg="1"/>
      <p:bldP spid="65" grpId="2" animBg="1"/>
      <p:bldP spid="66" grpId="0" animBg="1"/>
      <p:bldP spid="66" grpId="1" animBg="1"/>
      <p:bldP spid="66" grpId="2" animBg="1"/>
      <p:bldP spid="68" grpId="0"/>
      <p:bldP spid="70" grpId="0" animBg="1"/>
      <p:bldP spid="70"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Job First(SJF)</a:t>
            </a:r>
            <a:endParaRPr lang="en-IN" dirty="0"/>
          </a:p>
        </p:txBody>
      </p:sp>
      <p:sp>
        <p:nvSpPr>
          <p:cNvPr id="3" name="Content Placeholder 2"/>
          <p:cNvSpPr>
            <a:spLocks noGrp="1"/>
          </p:cNvSpPr>
          <p:nvPr>
            <p:ph idx="1"/>
          </p:nvPr>
        </p:nvSpPr>
        <p:spPr/>
        <p:txBody>
          <a:bodyPr/>
          <a:lstStyle/>
          <a:p>
            <a:r>
              <a:rPr lang="en-US" b="1" dirty="0"/>
              <a:t>Advantages</a:t>
            </a:r>
          </a:p>
          <a:p>
            <a:pPr lvl="1">
              <a:buClr>
                <a:schemeClr val="tx1"/>
              </a:buClr>
            </a:pPr>
            <a:r>
              <a:rPr lang="en-US" b="1" dirty="0">
                <a:solidFill>
                  <a:schemeClr val="accent6"/>
                </a:solidFill>
              </a:rPr>
              <a:t>Less waiting time</a:t>
            </a:r>
            <a:r>
              <a:rPr lang="en-US" dirty="0"/>
              <a:t>.</a:t>
            </a:r>
          </a:p>
          <a:p>
            <a:pPr lvl="1">
              <a:buClr>
                <a:schemeClr val="tx1"/>
              </a:buClr>
            </a:pPr>
            <a:r>
              <a:rPr lang="en-US" b="1" dirty="0">
                <a:solidFill>
                  <a:schemeClr val="accent6"/>
                </a:solidFill>
              </a:rPr>
              <a:t>Good response </a:t>
            </a:r>
            <a:r>
              <a:rPr lang="en-US" dirty="0"/>
              <a:t>for </a:t>
            </a:r>
            <a:r>
              <a:rPr lang="en-US" b="1" dirty="0">
                <a:solidFill>
                  <a:schemeClr val="accent6"/>
                </a:solidFill>
              </a:rPr>
              <a:t>short processes</a:t>
            </a:r>
            <a:r>
              <a:rPr lang="en-US" dirty="0"/>
              <a:t>.</a:t>
            </a:r>
          </a:p>
          <a:p>
            <a:pPr marL="457200" lvl="1" indent="0">
              <a:buClr>
                <a:schemeClr val="tx1"/>
              </a:buClr>
              <a:buNone/>
            </a:pPr>
            <a:endParaRPr lang="en-US" dirty="0"/>
          </a:p>
          <a:p>
            <a:r>
              <a:rPr lang="en-US" b="1" dirty="0"/>
              <a:t>Disadvantages</a:t>
            </a:r>
          </a:p>
          <a:p>
            <a:pPr lvl="1">
              <a:buClr>
                <a:schemeClr val="tx1"/>
              </a:buClr>
            </a:pPr>
            <a:r>
              <a:rPr lang="en-US" dirty="0"/>
              <a:t>It is </a:t>
            </a:r>
            <a:r>
              <a:rPr lang="en-US" b="1" dirty="0">
                <a:solidFill>
                  <a:schemeClr val="accent6"/>
                </a:solidFill>
              </a:rPr>
              <a:t>difficult to estimate time required </a:t>
            </a:r>
            <a:r>
              <a:rPr lang="en-US" dirty="0"/>
              <a:t>to complete execution.</a:t>
            </a:r>
          </a:p>
          <a:p>
            <a:pPr lvl="1">
              <a:buClr>
                <a:schemeClr val="tx1"/>
              </a:buClr>
            </a:pPr>
            <a:r>
              <a:rPr lang="en-US" b="1" dirty="0">
                <a:solidFill>
                  <a:schemeClr val="accent6"/>
                </a:solidFill>
              </a:rPr>
              <a:t>Starvation is possible for long process</a:t>
            </a:r>
            <a:r>
              <a:rPr lang="en-US" dirty="0"/>
              <a:t>. Long process may wait forever.</a:t>
            </a:r>
          </a:p>
          <a:p>
            <a:endParaRPr lang="en-IN" dirty="0"/>
          </a:p>
        </p:txBody>
      </p:sp>
    </p:spTree>
    <p:extLst>
      <p:ext uri="{BB962C8B-B14F-4D97-AF65-F5344CB8AC3E}">
        <p14:creationId xmlns:p14="http://schemas.microsoft.com/office/powerpoint/2010/main" val="3738757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Job First(SJF)</a:t>
            </a:r>
            <a:endParaRPr lang="en-IN" dirty="0"/>
          </a:p>
        </p:txBody>
      </p:sp>
      <p:sp>
        <p:nvSpPr>
          <p:cNvPr id="3" name="Content Placeholder 2"/>
          <p:cNvSpPr>
            <a:spLocks noGrp="1"/>
          </p:cNvSpPr>
          <p:nvPr>
            <p:ph idx="1"/>
          </p:nvPr>
        </p:nvSpPr>
        <p:spPr/>
        <p:txBody>
          <a:bodyPr/>
          <a:lstStyle/>
          <a:p>
            <a:r>
              <a:rPr lang="en-US" b="1" dirty="0"/>
              <a:t>Shortest Job First </a:t>
            </a:r>
            <a:r>
              <a:rPr lang="en-IN" b="1" dirty="0"/>
              <a:t>Example(Self Study)</a:t>
            </a:r>
          </a:p>
          <a:p>
            <a:pPr lvl="1"/>
            <a:r>
              <a:rPr lang="en-US" dirty="0"/>
              <a:t>Consider the following set of four processes. Their arrival time and time required to complete the execution are given in following table. (Time value in milliseconds).</a:t>
            </a:r>
            <a:r>
              <a:rPr lang="en-IN" dirty="0"/>
              <a:t> Draw the Gantt chart and find Finish Time, Turn Around Time , Waiting Time , Average Turn Around Time, Average Waiting Time using SJF algorithm.</a:t>
            </a:r>
            <a:endParaRPr lang="en-US" dirty="0"/>
          </a:p>
          <a:p>
            <a:pPr lvl="1"/>
            <a:endParaRPr lang="en-IN" b="1" dirty="0"/>
          </a:p>
          <a:p>
            <a:pPr lvl="1"/>
            <a:endParaRPr lang="en-IN" b="1"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186933" y="2583171"/>
              <a:ext cx="5718875" cy="2874036"/>
            </p:xfrm>
            <a:graphic>
              <a:graphicData uri="http://schemas.openxmlformats.org/drawingml/2006/table">
                <a:tbl>
                  <a:tblPr firstRow="1" bandRow="1">
                    <a:tableStyleId>{8EC20E35-A176-4012-BC5E-935CFFF8708E}</a:tableStyleId>
                  </a:tblPr>
                  <a:tblGrid>
                    <a:gridCol w="1029440">
                      <a:extLst>
                        <a:ext uri="{9D8B030D-6E8A-4147-A177-3AD203B41FA5}">
                          <a16:colId xmlns:a16="http://schemas.microsoft.com/office/drawing/2014/main" val="20000"/>
                        </a:ext>
                      </a:extLst>
                    </a:gridCol>
                    <a:gridCol w="1318616">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186933" y="2583171"/>
              <a:ext cx="5718875" cy="2874036"/>
            </p:xfrm>
            <a:graphic>
              <a:graphicData uri="http://schemas.openxmlformats.org/drawingml/2006/table">
                <a:tbl>
                  <a:tblPr firstRow="1" bandRow="1">
                    <a:tableStyleId>{8EC20E35-A176-4012-BC5E-935CFFF8708E}</a:tableStyleId>
                  </a:tblPr>
                  <a:tblGrid>
                    <a:gridCol w="1029440">
                      <a:extLst>
                        <a:ext uri="{9D8B030D-6E8A-4147-A177-3AD203B41FA5}">
                          <a16:colId xmlns:a16="http://schemas.microsoft.com/office/drawing/2014/main" xmlns="" xmlns:a14="http://schemas.microsoft.com/office/drawing/2010/main" val="20000"/>
                        </a:ext>
                      </a:extLst>
                    </a:gridCol>
                    <a:gridCol w="1318616">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77880" t="-3810" r="-255300"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456213"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456213" b="-2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456213" b="-1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456213" b="-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Tree>
    <p:extLst>
      <p:ext uri="{BB962C8B-B14F-4D97-AF65-F5344CB8AC3E}">
        <p14:creationId xmlns:p14="http://schemas.microsoft.com/office/powerpoint/2010/main" val="611477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Shortest Job First </a:t>
                </a:r>
                <a:r>
                  <a:rPr lang="en-IN" sz="2800" b="1" dirty="0"/>
                  <a:t>Example</a:t>
                </a:r>
              </a:p>
              <a:p>
                <a:pPr marL="342900" indent="-342900" algn="just">
                  <a:lnSpc>
                    <a:spcPct val="120000"/>
                  </a:lnSpc>
                  <a:buFont typeface="Wingdings" panose="05000000000000000000" pitchFamily="2" charset="2"/>
                  <a:buChar char="ü"/>
                </a:pPr>
                <a:r>
                  <a:rPr lang="en-US" sz="2400" dirty="0"/>
                  <a:t>In this example all process’s arrival time is 0.So Process from the ready queue with shortest CPU burst time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𝟒</m:t>
                        </m:r>
                      </m:sub>
                    </m:sSub>
                  </m:oMath>
                </a14:m>
                <a:r>
                  <a:rPr lang="en-US" sz="2400" dirty="0"/>
                  <a:t> is selected and allowed to run till it completes..</a:t>
                </a:r>
              </a:p>
              <a:p>
                <a:pPr marL="342900" indent="-342900" algn="just">
                  <a:buFont typeface="Wingdings" panose="05000000000000000000" pitchFamily="2" charset="2"/>
                  <a:buChar char="ü"/>
                </a:pPr>
                <a:r>
                  <a:rPr lang="en-US" sz="2400" dirty="0"/>
                  <a:t>Likewise Next Process from the ready queue with shortest CPU burst time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𝟏</m:t>
                        </m:r>
                      </m:sub>
                    </m:sSub>
                  </m:oMath>
                </a14:m>
                <a:r>
                  <a:rPr lang="en-US" sz="2400" dirty="0"/>
                  <a:t> is selected and allowed to run till it completes.</a:t>
                </a:r>
                <a:endParaRPr lang="en-IN" sz="2400" dirty="0"/>
              </a:p>
              <a:p>
                <a:pPr marL="342900" indent="-342900" algn="just">
                  <a:buFont typeface="Wingdings" panose="05000000000000000000" pitchFamily="2" charset="2"/>
                  <a:buChar char="ü"/>
                </a:pPr>
                <a:r>
                  <a:rPr lang="en-US" sz="2400" dirty="0"/>
                  <a:t>Whenever more than one process is available, such type of decision is taken.</a:t>
                </a:r>
              </a:p>
              <a:p>
                <a:pPr marL="342900" indent="-342900" algn="just">
                  <a:buFont typeface="Wingdings" panose="05000000000000000000" pitchFamily="2" charset="2"/>
                  <a:buChar char="ü"/>
                </a:pPr>
                <a:r>
                  <a:rPr lang="en-US" sz="2400" dirty="0"/>
                  <a:t>This procedure is repeated till all processes complete their execution.</a:t>
                </a:r>
                <a:endParaRPr lang="en-IN" sz="2400" dirty="0"/>
              </a:p>
              <a:p>
                <a:pPr algn="just">
                  <a:lnSpc>
                    <a:spcPct val="120000"/>
                  </a:lnSpc>
                </a:pPr>
                <a:endParaRPr lang="en-IN" sz="2800" b="1" dirty="0"/>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p:sp>
        <p:nvSpPr>
          <p:cNvPr id="16" name="TextBox 15"/>
          <p:cNvSpPr txBox="1"/>
          <p:nvPr/>
        </p:nvSpPr>
        <p:spPr>
          <a:xfrm>
            <a:off x="158276" y="152363"/>
            <a:ext cx="3022169"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b="1" dirty="0"/>
              <a:t>Example</a:t>
            </a:r>
          </a:p>
        </p:txBody>
      </p:sp>
      <p:sp>
        <p:nvSpPr>
          <p:cNvPr id="33" name="TextBox 32"/>
          <p:cNvSpPr txBox="1"/>
          <p:nvPr/>
        </p:nvSpPr>
        <p:spPr>
          <a:xfrm>
            <a:off x="170481" y="3840997"/>
            <a:ext cx="3022169" cy="461665"/>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a:t>Gantt Chart</a:t>
            </a:r>
          </a:p>
        </p:txBody>
      </p:sp>
      <mc:AlternateContent xmlns:mc="http://schemas.openxmlformats.org/markup-compatibility/2006" xmlns:a14="http://schemas.microsoft.com/office/drawing/2010/main">
        <mc:Choice Requires="a14">
          <p:sp>
            <p:nvSpPr>
              <p:cNvPr id="39" name="Rectangle 38"/>
              <p:cNvSpPr/>
              <p:nvPr/>
            </p:nvSpPr>
            <p:spPr>
              <a:xfrm>
                <a:off x="3223827" y="4696404"/>
                <a:ext cx="22924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39" name="Rectangle 38"/>
              <p:cNvSpPr>
                <a:spLocks noRot="1" noChangeAspect="1" noMove="1" noResize="1" noEditPoints="1" noAdjustHandles="1" noChangeArrowheads="1" noChangeShapeType="1" noTextEdit="1"/>
              </p:cNvSpPr>
              <p:nvPr/>
            </p:nvSpPr>
            <p:spPr>
              <a:xfrm>
                <a:off x="3223827" y="4696404"/>
                <a:ext cx="229244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1795292" y="4699906"/>
                <a:ext cx="1416676" cy="6553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1795292" y="4699906"/>
                <a:ext cx="1416676" cy="655360"/>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165419" y="4684408"/>
                <a:ext cx="502276"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4</m:t>
                          </m:r>
                        </m:sub>
                      </m:sSub>
                    </m:oMath>
                  </m:oMathPara>
                </a14:m>
                <a:endParaRPr lang="en-US" dirty="0"/>
              </a:p>
            </p:txBody>
          </p:sp>
        </mc:Choice>
        <mc:Fallback xmlns="">
          <p:sp>
            <p:nvSpPr>
              <p:cNvPr id="42" name="Rectangle 41"/>
              <p:cNvSpPr>
                <a:spLocks noRot="1" noChangeAspect="1" noMove="1" noResize="1" noEditPoints="1" noAdjustHandles="1" noChangeArrowheads="1" noChangeShapeType="1" noTextEdit="1"/>
              </p:cNvSpPr>
              <p:nvPr/>
            </p:nvSpPr>
            <p:spPr>
              <a:xfrm>
                <a:off x="165419" y="4684408"/>
                <a:ext cx="502276" cy="655360"/>
              </a:xfrm>
              <a:prstGeom prst="rect">
                <a:avLst/>
              </a:prstGeom>
              <a:blipFill rotWithShape="0">
                <a:blip r:embed="rId5"/>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681702" y="4693055"/>
                <a:ext cx="1094704"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3" name="Rectangle 42"/>
              <p:cNvSpPr>
                <a:spLocks noRot="1" noChangeAspect="1" noMove="1" noResize="1" noEditPoints="1" noAdjustHandles="1" noChangeArrowheads="1" noChangeShapeType="1" noTextEdit="1"/>
              </p:cNvSpPr>
              <p:nvPr/>
            </p:nvSpPr>
            <p:spPr>
              <a:xfrm>
                <a:off x="681702" y="4693055"/>
                <a:ext cx="1094704" cy="655360"/>
              </a:xfrm>
              <a:prstGeom prst="rect">
                <a:avLst/>
              </a:prstGeom>
              <a:blipFill rotWithShape="0">
                <a:blip r:embed="rId6"/>
                <a:stretch>
                  <a:fillRect/>
                </a:stretch>
              </a:blipFill>
              <a:ln w="38100">
                <a:solidFill>
                  <a:srgbClr val="4B302A"/>
                </a:solidFill>
              </a:ln>
            </p:spPr>
            <p:txBody>
              <a:bodyPr/>
              <a:lstStyle/>
              <a:p>
                <a:r>
                  <a:rPr lang="en-US">
                    <a:noFill/>
                  </a:rPr>
                  <a:t> </a:t>
                </a:r>
              </a:p>
            </p:txBody>
          </p:sp>
        </mc:Fallback>
      </mc:AlternateContent>
      <p:cxnSp>
        <p:nvCxnSpPr>
          <p:cNvPr id="44" name="Straight Connector 43"/>
          <p:cNvCxnSpPr/>
          <p:nvPr/>
        </p:nvCxnSpPr>
        <p:spPr>
          <a:xfrm flipH="1">
            <a:off x="165419" y="4684409"/>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9435" y="5340515"/>
            <a:ext cx="318448" cy="381000"/>
          </a:xfrm>
          <a:prstGeom prst="rect">
            <a:avLst/>
          </a:prstGeom>
          <a:noFill/>
        </p:spPr>
        <p:txBody>
          <a:bodyPr wrap="square" rtlCol="0">
            <a:spAutoFit/>
          </a:bodyPr>
          <a:lstStyle/>
          <a:p>
            <a:r>
              <a:rPr lang="en-US" dirty="0"/>
              <a:t>0</a:t>
            </a:r>
          </a:p>
        </p:txBody>
      </p:sp>
      <p:sp>
        <p:nvSpPr>
          <p:cNvPr id="46" name="TextBox 45"/>
          <p:cNvSpPr txBox="1"/>
          <p:nvPr/>
        </p:nvSpPr>
        <p:spPr>
          <a:xfrm>
            <a:off x="537529" y="5332620"/>
            <a:ext cx="437735" cy="369332"/>
          </a:xfrm>
          <a:prstGeom prst="rect">
            <a:avLst/>
          </a:prstGeom>
          <a:noFill/>
        </p:spPr>
        <p:txBody>
          <a:bodyPr wrap="square" rtlCol="0">
            <a:spAutoFit/>
          </a:bodyPr>
          <a:lstStyle/>
          <a:p>
            <a:r>
              <a:rPr lang="en-US" dirty="0"/>
              <a:t>3</a:t>
            </a:r>
          </a:p>
        </p:txBody>
      </p:sp>
      <p:sp>
        <p:nvSpPr>
          <p:cNvPr id="47" name="TextBox 46"/>
          <p:cNvSpPr txBox="1"/>
          <p:nvPr/>
        </p:nvSpPr>
        <p:spPr>
          <a:xfrm>
            <a:off x="1620324" y="5387310"/>
            <a:ext cx="437735" cy="369332"/>
          </a:xfrm>
          <a:prstGeom prst="rect">
            <a:avLst/>
          </a:prstGeom>
          <a:noFill/>
        </p:spPr>
        <p:txBody>
          <a:bodyPr wrap="square" rtlCol="0">
            <a:spAutoFit/>
          </a:bodyPr>
          <a:lstStyle/>
          <a:p>
            <a:r>
              <a:rPr lang="en-US" dirty="0"/>
              <a:t>9</a:t>
            </a:r>
          </a:p>
        </p:txBody>
      </p:sp>
      <p:sp>
        <p:nvSpPr>
          <p:cNvPr id="48" name="TextBox 47"/>
          <p:cNvSpPr txBox="1"/>
          <p:nvPr/>
        </p:nvSpPr>
        <p:spPr>
          <a:xfrm>
            <a:off x="3030542" y="5421563"/>
            <a:ext cx="593442" cy="369332"/>
          </a:xfrm>
          <a:prstGeom prst="rect">
            <a:avLst/>
          </a:prstGeom>
          <a:noFill/>
        </p:spPr>
        <p:txBody>
          <a:bodyPr wrap="square" rtlCol="0">
            <a:spAutoFit/>
          </a:bodyPr>
          <a:lstStyle/>
          <a:p>
            <a:r>
              <a:rPr lang="en-US" dirty="0"/>
              <a:t>16</a:t>
            </a:r>
          </a:p>
        </p:txBody>
      </p:sp>
      <p:sp>
        <p:nvSpPr>
          <p:cNvPr id="49" name="TextBox 48"/>
          <p:cNvSpPr txBox="1"/>
          <p:nvPr/>
        </p:nvSpPr>
        <p:spPr>
          <a:xfrm>
            <a:off x="5230633" y="5387310"/>
            <a:ext cx="448784" cy="369332"/>
          </a:xfrm>
          <a:prstGeom prst="rect">
            <a:avLst/>
          </a:prstGeom>
          <a:noFill/>
        </p:spPr>
        <p:txBody>
          <a:bodyPr wrap="square" rtlCol="0">
            <a:spAutoFit/>
          </a:bodyPr>
          <a:lstStyle/>
          <a:p>
            <a:r>
              <a:rPr lang="en-US" dirty="0"/>
              <a:t>24</a:t>
            </a:r>
          </a:p>
        </p:txBody>
      </p:sp>
      <mc:AlternateContent xmlns:mc="http://schemas.openxmlformats.org/markup-compatibility/2006" xmlns:a14="http://schemas.microsoft.com/office/drawing/2010/main">
        <mc:Choice Requires="a14">
          <p:graphicFrame>
            <p:nvGraphicFramePr>
              <p:cNvPr id="1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65419" y="748063"/>
              <a:ext cx="5718875" cy="2874036"/>
            </p:xfrm>
            <a:graphic>
              <a:graphicData uri="http://schemas.openxmlformats.org/drawingml/2006/table">
                <a:tbl>
                  <a:tblPr firstRow="1" bandRow="1">
                    <a:tableStyleId>{8EC20E35-A176-4012-BC5E-935CFFF8708E}</a:tableStyleId>
                  </a:tblPr>
                  <a:tblGrid>
                    <a:gridCol w="884302">
                      <a:extLst>
                        <a:ext uri="{9D8B030D-6E8A-4147-A177-3AD203B41FA5}">
                          <a16:colId xmlns:a16="http://schemas.microsoft.com/office/drawing/2014/main" val="20000"/>
                        </a:ext>
                      </a:extLst>
                    </a:gridCol>
                    <a:gridCol w="1463754">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17"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165419" y="748063"/>
              <a:ext cx="5718875" cy="2874036"/>
            </p:xfrm>
            <a:graphic>
              <a:graphicData uri="http://schemas.openxmlformats.org/drawingml/2006/table">
                <a:tbl>
                  <a:tblPr firstRow="1" bandRow="1">
                    <a:tableStyleId>{8EC20E35-A176-4012-BC5E-935CFFF8708E}</a:tableStyleId>
                  </a:tblPr>
                  <a:tblGrid>
                    <a:gridCol w="884302">
                      <a:extLst>
                        <a:ext uri="{9D8B030D-6E8A-4147-A177-3AD203B41FA5}">
                          <a16:colId xmlns:a16="http://schemas.microsoft.com/office/drawing/2014/main" xmlns="" xmlns:a14="http://schemas.microsoft.com/office/drawing/2010/main" val="20000"/>
                        </a:ext>
                      </a:extLst>
                    </a:gridCol>
                    <a:gridCol w="1463754">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7"/>
                          <a:stretch>
                            <a:fillRect l="-60581" t="-3810" r="-229876"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l="-690" t="-118478" r="-548276"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l="-690" t="-218478" r="-548276" b="-2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l="-690" t="-318478" r="-548276" b="-1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l="-690" t="-418478" r="-548276" b="-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Tree>
    <p:extLst>
      <p:ext uri="{BB962C8B-B14F-4D97-AF65-F5344CB8AC3E}">
        <p14:creationId xmlns:p14="http://schemas.microsoft.com/office/powerpoint/2010/main" val="3008897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1000"/>
                                  </p:stCondLst>
                                  <p:childTnLst>
                                    <p:set>
                                      <p:cBhvr>
                                        <p:cTn id="35" dur="1" fill="hold">
                                          <p:stCondLst>
                                            <p:cond delay="0"/>
                                          </p:stCondLst>
                                        </p:cTn>
                                        <p:tgtEl>
                                          <p:spTgt spid="3">
                                            <p:txEl>
                                              <p:pRg st="3" end="3"/>
                                            </p:txEl>
                                          </p:spTgt>
                                        </p:tgtEl>
                                        <p:attrNameLst>
                                          <p:attrName>style.visibility</p:attrName>
                                        </p:attrNameLst>
                                      </p:cBhvr>
                                      <p:to>
                                        <p:strVal val="visible"/>
                                      </p:to>
                                    </p:set>
                                  </p:childTnLst>
                                </p:cTn>
                              </p:par>
                            </p:childTnLst>
                          </p:cTn>
                        </p:par>
                        <p:par>
                          <p:cTn id="36" fill="hold">
                            <p:stCondLst>
                              <p:cond delay="1000"/>
                            </p:stCondLst>
                            <p:childTnLst>
                              <p:par>
                                <p:cTn id="37" presetID="1" presetClass="entr" presetSubtype="0" fill="hold" nodeType="afterEffect">
                                  <p:stCondLst>
                                    <p:cond delay="100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9" grpId="0" animBg="1"/>
      <p:bldP spid="40" grpId="0" animBg="1"/>
      <p:bldP spid="42" grpId="0" animBg="1"/>
      <p:bldP spid="43" grpId="0" animBg="1"/>
      <p:bldP spid="45" grpId="0"/>
      <p:bldP spid="46" grpId="0"/>
      <p:bldP spid="47" grpId="0"/>
      <p:bldP spid="48" grpId="0"/>
      <p:bldP spid="4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446"/>
            <a:ext cx="12192000" cy="711200"/>
          </a:xfrm>
        </p:spPr>
        <p:txBody>
          <a:bodyPr/>
          <a:lstStyle/>
          <a:p>
            <a:r>
              <a:rPr lang="en-US" dirty="0"/>
              <a:t>Shortest Job First(SJF)</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4095005" y="4353204"/>
                <a:ext cx="22924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2</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4095005" y="4353204"/>
                <a:ext cx="229244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673835" y="4353205"/>
                <a:ext cx="1416676" cy="6553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3</m:t>
                          </m:r>
                        </m:sub>
                      </m:sSub>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2673835" y="4353205"/>
                <a:ext cx="1416676" cy="655360"/>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043959" y="4353205"/>
                <a:ext cx="502276"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4</m:t>
                          </m:r>
                        </m:sub>
                      </m:sSub>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1043959" y="4353205"/>
                <a:ext cx="502276" cy="655360"/>
              </a:xfrm>
              <a:prstGeom prst="rect">
                <a:avLst/>
              </a:prstGeom>
              <a:blipFill rotWithShape="0">
                <a:blip r:embed="rId5"/>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1571090" y="4353205"/>
                <a:ext cx="1094704"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1</m:t>
                          </m:r>
                        </m:sub>
                      </m:sSub>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1571090" y="4353205"/>
                <a:ext cx="1094704" cy="655360"/>
              </a:xfrm>
              <a:prstGeom prst="rect">
                <a:avLst/>
              </a:prstGeom>
              <a:blipFill rotWithShape="0">
                <a:blip r:embed="rId6"/>
                <a:stretch>
                  <a:fillRect/>
                </a:stretch>
              </a:blipFill>
              <a:ln w="38100">
                <a:solidFill>
                  <a:srgbClr val="4B302A"/>
                </a:solidFill>
              </a:ln>
            </p:spPr>
            <p:txBody>
              <a:bodyPr/>
              <a:lstStyle/>
              <a:p>
                <a:r>
                  <a:rPr lang="en-US">
                    <a:noFill/>
                  </a:rPr>
                  <a:t> </a:t>
                </a:r>
              </a:p>
            </p:txBody>
          </p:sp>
        </mc:Fallback>
      </mc:AlternateContent>
      <p:sp>
        <p:nvSpPr>
          <p:cNvPr id="9" name="TextBox 8"/>
          <p:cNvSpPr txBox="1"/>
          <p:nvPr/>
        </p:nvSpPr>
        <p:spPr>
          <a:xfrm>
            <a:off x="855369" y="4993073"/>
            <a:ext cx="318448" cy="381000"/>
          </a:xfrm>
          <a:prstGeom prst="rect">
            <a:avLst/>
          </a:prstGeom>
          <a:noFill/>
        </p:spPr>
        <p:txBody>
          <a:bodyPr wrap="square" rtlCol="0">
            <a:spAutoFit/>
          </a:bodyPr>
          <a:lstStyle/>
          <a:p>
            <a:r>
              <a:rPr lang="en-US" dirty="0"/>
              <a:t>0</a:t>
            </a:r>
          </a:p>
        </p:txBody>
      </p:sp>
      <p:cxnSp>
        <p:nvCxnSpPr>
          <p:cNvPr id="14" name="Straight Connector 13"/>
          <p:cNvCxnSpPr/>
          <p:nvPr/>
        </p:nvCxnSpPr>
        <p:spPr>
          <a:xfrm flipH="1">
            <a:off x="1014593" y="4353205"/>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7"/>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8"/>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1" name="TextBox 50"/>
          <p:cNvSpPr txBox="1"/>
          <p:nvPr/>
        </p:nvSpPr>
        <p:spPr>
          <a:xfrm>
            <a:off x="6346131" y="1484016"/>
            <a:ext cx="1381969" cy="542441"/>
          </a:xfrm>
          <a:prstGeom prst="rect">
            <a:avLst/>
          </a:prstGeom>
          <a:noFill/>
          <a:ln w="57150">
            <a:solidFill>
              <a:srgbClr val="FF0000"/>
            </a:solidFill>
          </a:ln>
        </p:spPr>
        <p:txBody>
          <a:bodyPr wrap="square" rtlCol="0">
            <a:spAutoFit/>
          </a:bodyPr>
          <a:lstStyle/>
          <a:p>
            <a:endParaRPr lang="en-IN" dirty="0"/>
          </a:p>
        </p:txBody>
      </p:sp>
      <p:sp>
        <p:nvSpPr>
          <p:cNvPr id="52" name="TextBox 51"/>
          <p:cNvSpPr txBox="1"/>
          <p:nvPr/>
        </p:nvSpPr>
        <p:spPr>
          <a:xfrm>
            <a:off x="1237649" y="1489663"/>
            <a:ext cx="1490790" cy="542441"/>
          </a:xfrm>
          <a:prstGeom prst="rect">
            <a:avLst/>
          </a:prstGeom>
          <a:noFill/>
          <a:ln w="57150">
            <a:solidFill>
              <a:srgbClr val="FF0000"/>
            </a:solidFill>
          </a:ln>
        </p:spPr>
        <p:txBody>
          <a:bodyPr wrap="square" rtlCol="0">
            <a:spAutoFit/>
          </a:bodyPr>
          <a:lstStyle/>
          <a:p>
            <a:endParaRPr lang="en-IN" dirty="0"/>
          </a:p>
        </p:txBody>
      </p:sp>
      <p:sp>
        <p:nvSpPr>
          <p:cNvPr id="53" name="TextBox 52"/>
          <p:cNvSpPr txBox="1"/>
          <p:nvPr/>
        </p:nvSpPr>
        <p:spPr>
          <a:xfrm>
            <a:off x="6360320" y="1996122"/>
            <a:ext cx="1381969" cy="542441"/>
          </a:xfrm>
          <a:prstGeom prst="rect">
            <a:avLst/>
          </a:prstGeom>
          <a:noFill/>
          <a:ln w="57150">
            <a:solidFill>
              <a:srgbClr val="FF0000"/>
            </a:solidFill>
          </a:ln>
        </p:spPr>
        <p:txBody>
          <a:bodyPr wrap="square" rtlCol="0">
            <a:spAutoFit/>
          </a:bodyPr>
          <a:lstStyle/>
          <a:p>
            <a:endParaRPr lang="en-IN" dirty="0"/>
          </a:p>
        </p:txBody>
      </p:sp>
      <p:sp>
        <p:nvSpPr>
          <p:cNvPr id="54" name="TextBox 53"/>
          <p:cNvSpPr txBox="1"/>
          <p:nvPr/>
        </p:nvSpPr>
        <p:spPr>
          <a:xfrm>
            <a:off x="1238753" y="1996971"/>
            <a:ext cx="1490790" cy="542441"/>
          </a:xfrm>
          <a:prstGeom prst="rect">
            <a:avLst/>
          </a:prstGeom>
          <a:noFill/>
          <a:ln w="57150">
            <a:solidFill>
              <a:srgbClr val="FF0000"/>
            </a:solidFill>
          </a:ln>
        </p:spPr>
        <p:txBody>
          <a:bodyPr wrap="square" rtlCol="0">
            <a:spAutoFit/>
          </a:bodyPr>
          <a:lstStyle/>
          <a:p>
            <a:endParaRPr lang="en-IN" dirty="0"/>
          </a:p>
        </p:txBody>
      </p:sp>
      <p:sp>
        <p:nvSpPr>
          <p:cNvPr id="55" name="TextBox 54"/>
          <p:cNvSpPr txBox="1"/>
          <p:nvPr/>
        </p:nvSpPr>
        <p:spPr>
          <a:xfrm>
            <a:off x="6354090" y="2566990"/>
            <a:ext cx="1381969" cy="542441"/>
          </a:xfrm>
          <a:prstGeom prst="rect">
            <a:avLst/>
          </a:prstGeom>
          <a:noFill/>
          <a:ln w="57150">
            <a:solidFill>
              <a:srgbClr val="FF0000"/>
            </a:solidFill>
          </a:ln>
        </p:spPr>
        <p:txBody>
          <a:bodyPr wrap="square" rtlCol="0">
            <a:spAutoFit/>
          </a:bodyPr>
          <a:lstStyle/>
          <a:p>
            <a:endParaRPr lang="en-IN" dirty="0"/>
          </a:p>
        </p:txBody>
      </p:sp>
      <p:sp>
        <p:nvSpPr>
          <p:cNvPr id="56" name="TextBox 55"/>
          <p:cNvSpPr txBox="1"/>
          <p:nvPr/>
        </p:nvSpPr>
        <p:spPr>
          <a:xfrm>
            <a:off x="1233429" y="2583859"/>
            <a:ext cx="1490790" cy="542441"/>
          </a:xfrm>
          <a:prstGeom prst="rect">
            <a:avLst/>
          </a:prstGeom>
          <a:noFill/>
          <a:ln w="57150">
            <a:solidFill>
              <a:srgbClr val="FF0000"/>
            </a:solidFill>
          </a:ln>
        </p:spPr>
        <p:txBody>
          <a:bodyPr wrap="square" rtlCol="0">
            <a:spAutoFit/>
          </a:bodyPr>
          <a:lstStyle/>
          <a:p>
            <a:endParaRPr lang="en-IN" dirty="0"/>
          </a:p>
        </p:txBody>
      </p:sp>
      <p:sp>
        <p:nvSpPr>
          <p:cNvPr id="57" name="TextBox 56"/>
          <p:cNvSpPr txBox="1"/>
          <p:nvPr/>
        </p:nvSpPr>
        <p:spPr>
          <a:xfrm>
            <a:off x="6336622" y="3164621"/>
            <a:ext cx="1381969" cy="542441"/>
          </a:xfrm>
          <a:prstGeom prst="rect">
            <a:avLst/>
          </a:prstGeom>
          <a:noFill/>
          <a:ln w="57150">
            <a:solidFill>
              <a:srgbClr val="FF0000"/>
            </a:solidFill>
          </a:ln>
        </p:spPr>
        <p:txBody>
          <a:bodyPr wrap="square" rtlCol="0">
            <a:spAutoFit/>
          </a:bodyPr>
          <a:lstStyle/>
          <a:p>
            <a:endParaRPr lang="en-IN" dirty="0"/>
          </a:p>
        </p:txBody>
      </p:sp>
      <p:sp>
        <p:nvSpPr>
          <p:cNvPr id="58" name="TextBox 57"/>
          <p:cNvSpPr txBox="1"/>
          <p:nvPr/>
        </p:nvSpPr>
        <p:spPr>
          <a:xfrm>
            <a:off x="1249012" y="3164621"/>
            <a:ext cx="1490790" cy="542441"/>
          </a:xfrm>
          <a:prstGeom prst="rect">
            <a:avLst/>
          </a:prstGeom>
          <a:noFill/>
          <a:ln w="57150">
            <a:solidFill>
              <a:srgbClr val="FF0000"/>
            </a:solidFill>
          </a:ln>
        </p:spPr>
        <p:txBody>
          <a:bodyPr wrap="square" rtlCol="0">
            <a:spAutoFit/>
          </a:bodyPr>
          <a:lstStyle/>
          <a:p>
            <a:endParaRPr lang="en-IN" dirty="0"/>
          </a:p>
        </p:txBody>
      </p:sp>
      <p:sp>
        <p:nvSpPr>
          <p:cNvPr id="67" name="TextBox 66"/>
          <p:cNvSpPr txBox="1"/>
          <p:nvPr/>
        </p:nvSpPr>
        <p:spPr>
          <a:xfrm>
            <a:off x="277120" y="5442832"/>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Turnaround Time </a:t>
            </a:r>
            <a:r>
              <a:rPr lang="en-US" sz="2000" dirty="0"/>
              <a:t>= Sum of all Process’s Turn Around Time/ Total Process</a:t>
            </a:r>
          </a:p>
          <a:p>
            <a:r>
              <a:rPr lang="en-US" sz="2000" dirty="0"/>
              <a:t>                                                    = (9+24+16+3)/4 </a:t>
            </a:r>
          </a:p>
          <a:p>
            <a:r>
              <a:rPr lang="en-US" sz="2000" dirty="0"/>
              <a:t>                                                    = 13 </a:t>
            </a:r>
            <a:r>
              <a:rPr lang="en-US" sz="2000" dirty="0" err="1"/>
              <a:t>ms.</a:t>
            </a:r>
            <a:endParaRPr lang="en-US" sz="2000" dirty="0"/>
          </a:p>
        </p:txBody>
      </p:sp>
      <p:sp>
        <p:nvSpPr>
          <p:cNvPr id="73" name="TextBox 72"/>
          <p:cNvSpPr txBox="1"/>
          <p:nvPr/>
        </p:nvSpPr>
        <p:spPr>
          <a:xfrm>
            <a:off x="2448866" y="4976143"/>
            <a:ext cx="510857" cy="369332"/>
          </a:xfrm>
          <a:prstGeom prst="rect">
            <a:avLst/>
          </a:prstGeom>
          <a:noFill/>
        </p:spPr>
        <p:txBody>
          <a:bodyPr wrap="square" rtlCol="0">
            <a:spAutoFit/>
          </a:bodyPr>
          <a:lstStyle/>
          <a:p>
            <a:pPr algn="ctr"/>
            <a:r>
              <a:rPr lang="en-US" dirty="0"/>
              <a:t>9</a:t>
            </a:r>
          </a:p>
        </p:txBody>
      </p:sp>
      <p:sp>
        <p:nvSpPr>
          <p:cNvPr id="75" name="TextBox 74"/>
          <p:cNvSpPr txBox="1"/>
          <p:nvPr/>
        </p:nvSpPr>
        <p:spPr>
          <a:xfrm>
            <a:off x="6132016" y="4998907"/>
            <a:ext cx="510857" cy="369332"/>
          </a:xfrm>
          <a:prstGeom prst="rect">
            <a:avLst/>
          </a:prstGeom>
          <a:noFill/>
        </p:spPr>
        <p:txBody>
          <a:bodyPr wrap="square" rtlCol="0">
            <a:spAutoFit/>
          </a:bodyPr>
          <a:lstStyle/>
          <a:p>
            <a:pPr algn="ctr"/>
            <a:r>
              <a:rPr lang="en-US" dirty="0"/>
              <a:t>24</a:t>
            </a:r>
          </a:p>
        </p:txBody>
      </p:sp>
      <p:sp>
        <p:nvSpPr>
          <p:cNvPr id="77" name="TextBox 76"/>
          <p:cNvSpPr txBox="1"/>
          <p:nvPr/>
        </p:nvSpPr>
        <p:spPr>
          <a:xfrm>
            <a:off x="3894675" y="4990155"/>
            <a:ext cx="510857" cy="369332"/>
          </a:xfrm>
          <a:prstGeom prst="rect">
            <a:avLst/>
          </a:prstGeom>
          <a:noFill/>
        </p:spPr>
        <p:txBody>
          <a:bodyPr wrap="square" rtlCol="0">
            <a:spAutoFit/>
          </a:bodyPr>
          <a:lstStyle/>
          <a:p>
            <a:r>
              <a:rPr lang="en-US" dirty="0"/>
              <a:t>16</a:t>
            </a:r>
          </a:p>
        </p:txBody>
      </p:sp>
      <p:sp>
        <p:nvSpPr>
          <p:cNvPr id="79" name="TextBox 78"/>
          <p:cNvSpPr txBox="1"/>
          <p:nvPr/>
        </p:nvSpPr>
        <p:spPr>
          <a:xfrm>
            <a:off x="1315110" y="4990155"/>
            <a:ext cx="510857" cy="369332"/>
          </a:xfrm>
          <a:prstGeom prst="rect">
            <a:avLst/>
          </a:prstGeom>
          <a:noFill/>
        </p:spPr>
        <p:txBody>
          <a:bodyPr wrap="square" rtlCol="0">
            <a:spAutoFit/>
          </a:bodyPr>
          <a:lstStyle/>
          <a:p>
            <a:pPr algn="ctr"/>
            <a:r>
              <a:rPr lang="en-US" dirty="0"/>
              <a:t>3</a:t>
            </a:r>
          </a:p>
        </p:txBody>
      </p:sp>
      <p:sp>
        <p:nvSpPr>
          <p:cNvPr id="69" name="TextBox 68"/>
          <p:cNvSpPr txBox="1"/>
          <p:nvPr/>
        </p:nvSpPr>
        <p:spPr>
          <a:xfrm>
            <a:off x="7750248" y="1472408"/>
            <a:ext cx="2049246" cy="2222902"/>
          </a:xfrm>
          <a:prstGeom prst="rect">
            <a:avLst/>
          </a:prstGeom>
          <a:noFill/>
          <a:ln w="57150">
            <a:solidFill>
              <a:srgbClr val="FF0000"/>
            </a:solidFill>
          </a:ln>
        </p:spPr>
        <p:txBody>
          <a:bodyPr wrap="square" rtlCol="0">
            <a:spAutoFit/>
          </a:bodyPr>
          <a:lstStyle/>
          <a:p>
            <a:endParaRPr lang="en-IN" dirty="0"/>
          </a:p>
        </p:txBody>
      </p:sp>
      <p:sp>
        <p:nvSpPr>
          <p:cNvPr id="36" name="TextBox 35">
            <a:extLst>
              <a:ext uri="{FF2B5EF4-FFF2-40B4-BE49-F238E27FC236}">
                <a16:creationId xmlns:a16="http://schemas.microsoft.com/office/drawing/2014/main" id="{4B80E052-EC18-4CAA-8C02-E9178D3A09CF}"/>
              </a:ext>
            </a:extLst>
          </p:cNvPr>
          <p:cNvSpPr txBox="1"/>
          <p:nvPr/>
        </p:nvSpPr>
        <p:spPr>
          <a:xfrm>
            <a:off x="3606250" y="4987619"/>
            <a:ext cx="510857" cy="369332"/>
          </a:xfrm>
          <a:prstGeom prst="rect">
            <a:avLst/>
          </a:prstGeom>
          <a:noFill/>
        </p:spPr>
        <p:txBody>
          <a:bodyPr wrap="square" rtlCol="0">
            <a:spAutoFit/>
          </a:bodyPr>
          <a:lstStyle/>
          <a:p>
            <a:r>
              <a:rPr lang="en-US" dirty="0"/>
              <a:t>12</a:t>
            </a:r>
          </a:p>
        </p:txBody>
      </p:sp>
      <p:sp>
        <p:nvSpPr>
          <p:cNvPr id="37" name="TextBox 36">
            <a:extLst>
              <a:ext uri="{FF2B5EF4-FFF2-40B4-BE49-F238E27FC236}">
                <a16:creationId xmlns:a16="http://schemas.microsoft.com/office/drawing/2014/main" id="{AE326018-5644-49ED-9775-65421748C5A9}"/>
              </a:ext>
            </a:extLst>
          </p:cNvPr>
          <p:cNvSpPr txBox="1"/>
          <p:nvPr/>
        </p:nvSpPr>
        <p:spPr>
          <a:xfrm>
            <a:off x="3650874" y="5023545"/>
            <a:ext cx="318449" cy="289633"/>
          </a:xfrm>
          <a:prstGeom prst="rect">
            <a:avLst/>
          </a:prstGeom>
          <a:noFill/>
          <a:ln w="57150">
            <a:solidFill>
              <a:srgbClr val="FF0000"/>
            </a:solidFill>
          </a:ln>
        </p:spPr>
        <p:txBody>
          <a:bodyPr wrap="square" rtlCol="0">
            <a:spAutoFit/>
          </a:bodyPr>
          <a:lstStyle/>
          <a:p>
            <a:endParaRPr lang="en-IN" dirty="0"/>
          </a:p>
        </p:txBody>
      </p:sp>
      <p:sp>
        <p:nvSpPr>
          <p:cNvPr id="38" name="TextBox 37">
            <a:extLst>
              <a:ext uri="{FF2B5EF4-FFF2-40B4-BE49-F238E27FC236}">
                <a16:creationId xmlns:a16="http://schemas.microsoft.com/office/drawing/2014/main" id="{B54F62E1-A08D-4C8D-92C0-2E6B32600117}"/>
              </a:ext>
            </a:extLst>
          </p:cNvPr>
          <p:cNvSpPr txBox="1"/>
          <p:nvPr/>
        </p:nvSpPr>
        <p:spPr>
          <a:xfrm>
            <a:off x="3965568" y="5014801"/>
            <a:ext cx="340934" cy="323092"/>
          </a:xfrm>
          <a:prstGeom prst="rect">
            <a:avLst/>
          </a:prstGeom>
          <a:noFill/>
          <a:ln w="57150">
            <a:solidFill>
              <a:srgbClr val="FF0000"/>
            </a:solidFill>
          </a:ln>
        </p:spPr>
        <p:txBody>
          <a:bodyPr wrap="square" rtlCol="0">
            <a:spAutoFit/>
          </a:bodyPr>
          <a:lstStyle/>
          <a:p>
            <a:endParaRPr lang="en-IN" dirty="0"/>
          </a:p>
        </p:txBody>
      </p:sp>
      <p:sp>
        <p:nvSpPr>
          <p:cNvPr id="41" name="TextBox 40">
            <a:extLst>
              <a:ext uri="{FF2B5EF4-FFF2-40B4-BE49-F238E27FC236}">
                <a16:creationId xmlns:a16="http://schemas.microsoft.com/office/drawing/2014/main" id="{301ECD51-836F-4D59-A980-278C307FDE4C}"/>
              </a:ext>
            </a:extLst>
          </p:cNvPr>
          <p:cNvSpPr txBox="1"/>
          <p:nvPr/>
        </p:nvSpPr>
        <p:spPr>
          <a:xfrm>
            <a:off x="6050125" y="5031709"/>
            <a:ext cx="571512" cy="289633"/>
          </a:xfrm>
          <a:prstGeom prst="rect">
            <a:avLst/>
          </a:prstGeom>
          <a:noFill/>
          <a:ln w="57150">
            <a:solidFill>
              <a:srgbClr val="FF0000"/>
            </a:solidFill>
          </a:ln>
        </p:spPr>
        <p:txBody>
          <a:bodyPr wrap="square" rtlCol="0">
            <a:spAutoFit/>
          </a:bodyPr>
          <a:lstStyle/>
          <a:p>
            <a:endParaRPr lang="en-IN" dirty="0"/>
          </a:p>
        </p:txBody>
      </p:sp>
      <p:sp>
        <p:nvSpPr>
          <p:cNvPr id="43" name="TextBox 42">
            <a:extLst>
              <a:ext uri="{FF2B5EF4-FFF2-40B4-BE49-F238E27FC236}">
                <a16:creationId xmlns:a16="http://schemas.microsoft.com/office/drawing/2014/main" id="{30385B59-A863-40C5-8678-0D5B7DA0A46D}"/>
              </a:ext>
            </a:extLst>
          </p:cNvPr>
          <p:cNvSpPr txBox="1"/>
          <p:nvPr/>
        </p:nvSpPr>
        <p:spPr>
          <a:xfrm>
            <a:off x="2551193" y="5005803"/>
            <a:ext cx="318449" cy="289633"/>
          </a:xfrm>
          <a:prstGeom prst="rect">
            <a:avLst/>
          </a:prstGeom>
          <a:noFill/>
          <a:ln w="57150">
            <a:solidFill>
              <a:srgbClr val="FF0000"/>
            </a:solidFill>
          </a:ln>
        </p:spPr>
        <p:txBody>
          <a:bodyPr wrap="square" rtlCol="0">
            <a:spAutoFit/>
          </a:bodyPr>
          <a:lstStyle/>
          <a:p>
            <a:endParaRPr lang="en-IN" dirty="0"/>
          </a:p>
        </p:txBody>
      </p:sp>
      <p:sp>
        <p:nvSpPr>
          <p:cNvPr id="44" name="TextBox 43">
            <a:extLst>
              <a:ext uri="{FF2B5EF4-FFF2-40B4-BE49-F238E27FC236}">
                <a16:creationId xmlns:a16="http://schemas.microsoft.com/office/drawing/2014/main" id="{1F80B8F1-40E7-4D0F-8706-37D9FBA2631D}"/>
              </a:ext>
            </a:extLst>
          </p:cNvPr>
          <p:cNvSpPr txBox="1"/>
          <p:nvPr/>
        </p:nvSpPr>
        <p:spPr>
          <a:xfrm>
            <a:off x="1422186" y="5015992"/>
            <a:ext cx="318449" cy="289633"/>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723391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26" presetClass="emph" presetSubtype="0" repeatCount="indefinite" fill="hold" grpId="1" nodeType="withEffect">
                                  <p:stCondLst>
                                    <p:cond delay="0"/>
                                  </p:stCondLst>
                                  <p:endCondLst>
                                    <p:cond evt="onNext" delay="0">
                                      <p:tgtEl>
                                        <p:sldTgt/>
                                      </p:tgtEl>
                                    </p:cond>
                                  </p:endCondLst>
                                  <p:childTnLst>
                                    <p:animEffect transition="out" filter="fade">
                                      <p:cBhvr>
                                        <p:cTn id="16" dur="500" tmFilter="0, 0; .2, .5; .8, .5; 1, 0"/>
                                        <p:tgtEl>
                                          <p:spTgt spid="43"/>
                                        </p:tgtEl>
                                      </p:cBhvr>
                                    </p:animEffect>
                                    <p:animScale>
                                      <p:cBhvr>
                                        <p:cTn id="17" dur="250" autoRev="1" fill="hold"/>
                                        <p:tgtEl>
                                          <p:spTgt spid="43"/>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75"/>
                                        </p:tgtEl>
                                        <p:attrNameLst>
                                          <p:attrName>style.visibility</p:attrName>
                                        </p:attrNameLst>
                                      </p:cBhvr>
                                      <p:to>
                                        <p:strVal val="visible"/>
                                      </p:to>
                                    </p:set>
                                  </p:childTnLst>
                                </p:cTn>
                              </p:par>
                              <p:par>
                                <p:cTn id="24" presetID="1" presetClass="exit" presetSubtype="0" fill="hold" grpId="2" nodeType="withEffect">
                                  <p:stCondLst>
                                    <p:cond delay="0"/>
                                  </p:stCondLst>
                                  <p:childTnLst>
                                    <p:set>
                                      <p:cBhvr>
                                        <p:cTn id="25" dur="1" fill="hold">
                                          <p:stCondLst>
                                            <p:cond delay="0"/>
                                          </p:stCondLst>
                                        </p:cTn>
                                        <p:tgtEl>
                                          <p:spTgt spid="43"/>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childTnLst>
                                </p:cTn>
                              </p:par>
                              <p:par>
                                <p:cTn id="28" presetID="26" presetClass="emph" presetSubtype="0" repeatCount="indefinite" fill="hold" grpId="1" nodeType="withEffect">
                                  <p:stCondLst>
                                    <p:cond delay="0"/>
                                  </p:stCondLst>
                                  <p:endCondLst>
                                    <p:cond evt="onNext" delay="0">
                                      <p:tgtEl>
                                        <p:sldTgt/>
                                      </p:tgtEl>
                                    </p:cond>
                                  </p:endCondLst>
                                  <p:childTnLst>
                                    <p:animEffect transition="out" filter="fade">
                                      <p:cBhvr>
                                        <p:cTn id="29" dur="500" tmFilter="0, 0; .2, .5; .8, .5; 1, 0"/>
                                        <p:tgtEl>
                                          <p:spTgt spid="41"/>
                                        </p:tgtEl>
                                      </p:cBhvr>
                                    </p:animEffect>
                                    <p:animScale>
                                      <p:cBhvr>
                                        <p:cTn id="30" dur="250" autoRev="1" fill="hold"/>
                                        <p:tgtEl>
                                          <p:spTgt spid="41"/>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7"/>
                                        </p:tgtEl>
                                        <p:attrNameLst>
                                          <p:attrName>style.visibility</p:attrName>
                                        </p:attrNameLst>
                                      </p:cBhvr>
                                      <p:to>
                                        <p:strVal val="visible"/>
                                      </p:to>
                                    </p:set>
                                  </p:childTnLst>
                                </p:cTn>
                              </p:par>
                              <p:par>
                                <p:cTn id="37" presetID="1" presetClass="exit" presetSubtype="0" fill="hold" grpId="2" nodeType="withEffect">
                                  <p:stCondLst>
                                    <p:cond delay="0"/>
                                  </p:stCondLst>
                                  <p:childTnLst>
                                    <p:set>
                                      <p:cBhvr>
                                        <p:cTn id="38" dur="1" fill="hold">
                                          <p:stCondLst>
                                            <p:cond delay="0"/>
                                          </p:stCondLst>
                                        </p:cTn>
                                        <p:tgtEl>
                                          <p:spTgt spid="41"/>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26" presetClass="emph" presetSubtype="0" repeatCount="indefinite" fill="hold" grpId="1" nodeType="withEffect">
                                  <p:stCondLst>
                                    <p:cond delay="0"/>
                                  </p:stCondLst>
                                  <p:endCondLst>
                                    <p:cond evt="onNext" delay="0">
                                      <p:tgtEl>
                                        <p:sldTgt/>
                                      </p:tgtEl>
                                    </p:cond>
                                  </p:endCondLst>
                                  <p:childTnLst>
                                    <p:animEffect transition="out" filter="fade">
                                      <p:cBhvr>
                                        <p:cTn id="42" dur="500" tmFilter="0, 0; .2, .5; .8, .5; 1, 0"/>
                                        <p:tgtEl>
                                          <p:spTgt spid="38"/>
                                        </p:tgtEl>
                                      </p:cBhvr>
                                    </p:animEffect>
                                    <p:animScale>
                                      <p:cBhvr>
                                        <p:cTn id="43" dur="250" autoRev="1" fill="hold"/>
                                        <p:tgtEl>
                                          <p:spTgt spid="38"/>
                                        </p:tgtEl>
                                      </p:cBhvr>
                                      <p:by x="105000" y="105000"/>
                                    </p:animScale>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79"/>
                                        </p:tgtEl>
                                        <p:attrNameLst>
                                          <p:attrName>style.visibility</p:attrName>
                                        </p:attrNameLst>
                                      </p:cBhvr>
                                      <p:to>
                                        <p:strVal val="visible"/>
                                      </p:to>
                                    </p:set>
                                  </p:childTnLst>
                                </p:cTn>
                              </p:par>
                              <p:par>
                                <p:cTn id="50" presetID="1" presetClass="exit" presetSubtype="0" fill="hold" grpId="2" nodeType="withEffect">
                                  <p:stCondLst>
                                    <p:cond delay="0"/>
                                  </p:stCondLst>
                                  <p:childTnLst>
                                    <p:set>
                                      <p:cBhvr>
                                        <p:cTn id="51" dur="1" fill="hold">
                                          <p:stCondLst>
                                            <p:cond delay="0"/>
                                          </p:stCondLst>
                                        </p:cTn>
                                        <p:tgtEl>
                                          <p:spTgt spid="38"/>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44"/>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44"/>
                                        </p:tgtEl>
                                      </p:cBhvr>
                                    </p:animEffect>
                                    <p:animScale>
                                      <p:cBhvr>
                                        <p:cTn id="56" dur="250" autoRev="1" fill="hold"/>
                                        <p:tgtEl>
                                          <p:spTgt spid="44"/>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44"/>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par>
                                <p:cTn id="69" presetID="26" presetClass="emph" presetSubtype="0" repeatCount="indefinite" fill="hold" grpId="1" nodeType="withEffect">
                                  <p:stCondLst>
                                    <p:cond delay="0"/>
                                  </p:stCondLst>
                                  <p:endCondLst>
                                    <p:cond evt="onNext" delay="0">
                                      <p:tgtEl>
                                        <p:sldTgt/>
                                      </p:tgtEl>
                                    </p:cond>
                                  </p:endCondLst>
                                  <p:childTnLst>
                                    <p:animEffect transition="out" filter="fade">
                                      <p:cBhvr>
                                        <p:cTn id="70" dur="500" tmFilter="0, 0; .2, .5; .8, .5; 1, 0"/>
                                        <p:tgtEl>
                                          <p:spTgt spid="51"/>
                                        </p:tgtEl>
                                      </p:cBhvr>
                                    </p:animEffect>
                                    <p:animScale>
                                      <p:cBhvr>
                                        <p:cTn id="71" dur="250" autoRev="1" fill="hold"/>
                                        <p:tgtEl>
                                          <p:spTgt spid="51"/>
                                        </p:tgtEl>
                                      </p:cBhvr>
                                      <p:by x="105000" y="105000"/>
                                    </p:animScale>
                                  </p:childTnLst>
                                </p:cTn>
                              </p:par>
                              <p:par>
                                <p:cTn id="72" presetID="1" presetClass="entr" presetSubtype="0" fill="hold" grpId="0" nodeType="withEffect">
                                  <p:stCondLst>
                                    <p:cond delay="0"/>
                                  </p:stCondLst>
                                  <p:childTnLst>
                                    <p:set>
                                      <p:cBhvr>
                                        <p:cTn id="73" dur="1" fill="hold">
                                          <p:stCondLst>
                                            <p:cond delay="0"/>
                                          </p:stCondLst>
                                        </p:cTn>
                                        <p:tgtEl>
                                          <p:spTgt spid="52"/>
                                        </p:tgtEl>
                                        <p:attrNameLst>
                                          <p:attrName>style.visibility</p:attrName>
                                        </p:attrNameLst>
                                      </p:cBhvr>
                                      <p:to>
                                        <p:strVal val="visible"/>
                                      </p:to>
                                    </p:set>
                                  </p:childTnLst>
                                </p:cTn>
                              </p:par>
                              <p:par>
                                <p:cTn id="74" presetID="26" presetClass="emph" presetSubtype="0" repeatCount="indefinite" fill="hold" grpId="1" nodeType="withEffect">
                                  <p:stCondLst>
                                    <p:cond delay="0"/>
                                  </p:stCondLst>
                                  <p:endCondLst>
                                    <p:cond evt="onNext" delay="0">
                                      <p:tgtEl>
                                        <p:sldTgt/>
                                      </p:tgtEl>
                                    </p:cond>
                                  </p:endCondLst>
                                  <p:childTnLst>
                                    <p:animEffect transition="out" filter="fade">
                                      <p:cBhvr>
                                        <p:cTn id="75" dur="500" tmFilter="0, 0; .2, .5; .8, .5; 1, 0"/>
                                        <p:tgtEl>
                                          <p:spTgt spid="52"/>
                                        </p:tgtEl>
                                      </p:cBhvr>
                                    </p:animEffect>
                                    <p:animScale>
                                      <p:cBhvr>
                                        <p:cTn id="76" dur="250" autoRev="1" fill="hold"/>
                                        <p:tgtEl>
                                          <p:spTgt spid="52"/>
                                        </p:tgtEl>
                                      </p:cBhvr>
                                      <p:by x="105000" y="105000"/>
                                    </p:animScale>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par>
                                <p:cTn id="81" presetID="1" presetClass="exit" presetSubtype="0" fill="hold" grpId="2" nodeType="withEffect">
                                  <p:stCondLst>
                                    <p:cond delay="0"/>
                                  </p:stCondLst>
                                  <p:childTnLst>
                                    <p:set>
                                      <p:cBhvr>
                                        <p:cTn id="82" dur="1" fill="hold">
                                          <p:stCondLst>
                                            <p:cond delay="0"/>
                                          </p:stCondLst>
                                        </p:cTn>
                                        <p:tgtEl>
                                          <p:spTgt spid="51"/>
                                        </p:tgtEl>
                                        <p:attrNameLst>
                                          <p:attrName>style.visibility</p:attrName>
                                        </p:attrNameLst>
                                      </p:cBhvr>
                                      <p:to>
                                        <p:strVal val="hidden"/>
                                      </p:to>
                                    </p:set>
                                  </p:childTnLst>
                                </p:cTn>
                              </p:par>
                              <p:par>
                                <p:cTn id="83" presetID="1" presetClass="exit" presetSubtype="0" fill="hold" grpId="2" nodeType="withEffect">
                                  <p:stCondLst>
                                    <p:cond delay="0"/>
                                  </p:stCondLst>
                                  <p:childTnLst>
                                    <p:set>
                                      <p:cBhvr>
                                        <p:cTn id="84" dur="1" fill="hold">
                                          <p:stCondLst>
                                            <p:cond delay="0"/>
                                          </p:stCondLst>
                                        </p:cTn>
                                        <p:tgtEl>
                                          <p:spTgt spid="52"/>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53"/>
                                        </p:tgtEl>
                                        <p:attrNameLst>
                                          <p:attrName>style.visibility</p:attrName>
                                        </p:attrNameLst>
                                      </p:cBhvr>
                                      <p:to>
                                        <p:strVal val="visible"/>
                                      </p:to>
                                    </p:set>
                                  </p:childTnLst>
                                </p:cTn>
                              </p:par>
                              <p:par>
                                <p:cTn id="87" presetID="26" presetClass="emph" presetSubtype="0" repeatCount="indefinite" fill="hold" grpId="1" nodeType="withEffect">
                                  <p:stCondLst>
                                    <p:cond delay="0"/>
                                  </p:stCondLst>
                                  <p:endCondLst>
                                    <p:cond evt="onNext" delay="0">
                                      <p:tgtEl>
                                        <p:sldTgt/>
                                      </p:tgtEl>
                                    </p:cond>
                                  </p:endCondLst>
                                  <p:childTnLst>
                                    <p:animEffect transition="out" filter="fade">
                                      <p:cBhvr>
                                        <p:cTn id="88" dur="500" tmFilter="0, 0; .2, .5; .8, .5; 1, 0"/>
                                        <p:tgtEl>
                                          <p:spTgt spid="53"/>
                                        </p:tgtEl>
                                      </p:cBhvr>
                                    </p:animEffect>
                                    <p:animScale>
                                      <p:cBhvr>
                                        <p:cTn id="89" dur="250" autoRev="1" fill="hold"/>
                                        <p:tgtEl>
                                          <p:spTgt spid="53"/>
                                        </p:tgtEl>
                                      </p:cBhvr>
                                      <p:by x="105000" y="105000"/>
                                    </p:animScale>
                                  </p:childTnLst>
                                </p:cTn>
                              </p:par>
                              <p:par>
                                <p:cTn id="90" presetID="1" presetClass="entr" presetSubtype="0" fill="hold" grpId="0" nodeType="withEffect">
                                  <p:stCondLst>
                                    <p:cond delay="0"/>
                                  </p:stCondLst>
                                  <p:childTnLst>
                                    <p:set>
                                      <p:cBhvr>
                                        <p:cTn id="91" dur="1" fill="hold">
                                          <p:stCondLst>
                                            <p:cond delay="0"/>
                                          </p:stCondLst>
                                        </p:cTn>
                                        <p:tgtEl>
                                          <p:spTgt spid="54"/>
                                        </p:tgtEl>
                                        <p:attrNameLst>
                                          <p:attrName>style.visibility</p:attrName>
                                        </p:attrNameLst>
                                      </p:cBhvr>
                                      <p:to>
                                        <p:strVal val="visible"/>
                                      </p:to>
                                    </p:set>
                                  </p:childTnLst>
                                </p:cTn>
                              </p:par>
                              <p:par>
                                <p:cTn id="92" presetID="26" presetClass="emph" presetSubtype="0" repeatCount="indefinite" fill="hold" grpId="1" nodeType="withEffect">
                                  <p:stCondLst>
                                    <p:cond delay="0"/>
                                  </p:stCondLst>
                                  <p:endCondLst>
                                    <p:cond evt="onNext" delay="0">
                                      <p:tgtEl>
                                        <p:sldTgt/>
                                      </p:tgtEl>
                                    </p:cond>
                                  </p:endCondLst>
                                  <p:childTnLst>
                                    <p:animEffect transition="out" filter="fade">
                                      <p:cBhvr>
                                        <p:cTn id="93" dur="500" tmFilter="0, 0; .2, .5; .8, .5; 1, 0"/>
                                        <p:tgtEl>
                                          <p:spTgt spid="54"/>
                                        </p:tgtEl>
                                      </p:cBhvr>
                                    </p:animEffect>
                                    <p:animScale>
                                      <p:cBhvr>
                                        <p:cTn id="94" dur="250" autoRev="1" fill="hold"/>
                                        <p:tgtEl>
                                          <p:spTgt spid="54"/>
                                        </p:tgtEl>
                                      </p:cBhvr>
                                      <p:by x="105000" y="105000"/>
                                    </p:animScale>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xit" presetSubtype="0" fill="hold" grpId="2" nodeType="withEffect">
                                  <p:stCondLst>
                                    <p:cond delay="0"/>
                                  </p:stCondLst>
                                  <p:childTnLst>
                                    <p:set>
                                      <p:cBhvr>
                                        <p:cTn id="100" dur="1" fill="hold">
                                          <p:stCondLst>
                                            <p:cond delay="0"/>
                                          </p:stCondLst>
                                        </p:cTn>
                                        <p:tgtEl>
                                          <p:spTgt spid="53"/>
                                        </p:tgtEl>
                                        <p:attrNameLst>
                                          <p:attrName>style.visibility</p:attrName>
                                        </p:attrNameLst>
                                      </p:cBhvr>
                                      <p:to>
                                        <p:strVal val="hidden"/>
                                      </p:to>
                                    </p:set>
                                  </p:childTnLst>
                                </p:cTn>
                              </p:par>
                              <p:par>
                                <p:cTn id="101" presetID="1" presetClass="exit" presetSubtype="0" fill="hold" grpId="2" nodeType="withEffect">
                                  <p:stCondLst>
                                    <p:cond delay="0"/>
                                  </p:stCondLst>
                                  <p:childTnLst>
                                    <p:set>
                                      <p:cBhvr>
                                        <p:cTn id="102" dur="1" fill="hold">
                                          <p:stCondLst>
                                            <p:cond delay="0"/>
                                          </p:stCondLst>
                                        </p:cTn>
                                        <p:tgtEl>
                                          <p:spTgt spid="54"/>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55"/>
                                        </p:tgtEl>
                                        <p:attrNameLst>
                                          <p:attrName>style.visibility</p:attrName>
                                        </p:attrNameLst>
                                      </p:cBhvr>
                                      <p:to>
                                        <p:strVal val="visible"/>
                                      </p:to>
                                    </p:set>
                                  </p:childTnLst>
                                </p:cTn>
                              </p:par>
                              <p:par>
                                <p:cTn id="105" presetID="26" presetClass="emph" presetSubtype="0" repeatCount="indefinite" fill="hold" grpId="1" nodeType="withEffect">
                                  <p:stCondLst>
                                    <p:cond delay="0"/>
                                  </p:stCondLst>
                                  <p:endCondLst>
                                    <p:cond evt="onNext" delay="0">
                                      <p:tgtEl>
                                        <p:sldTgt/>
                                      </p:tgtEl>
                                    </p:cond>
                                  </p:endCondLst>
                                  <p:childTnLst>
                                    <p:animEffect transition="out" filter="fade">
                                      <p:cBhvr>
                                        <p:cTn id="106" dur="500" tmFilter="0, 0; .2, .5; .8, .5; 1, 0"/>
                                        <p:tgtEl>
                                          <p:spTgt spid="55"/>
                                        </p:tgtEl>
                                      </p:cBhvr>
                                    </p:animEffect>
                                    <p:animScale>
                                      <p:cBhvr>
                                        <p:cTn id="107" dur="250" autoRev="1" fill="hold"/>
                                        <p:tgtEl>
                                          <p:spTgt spid="55"/>
                                        </p:tgtEl>
                                      </p:cBhvr>
                                      <p:by x="105000" y="105000"/>
                                    </p:animScale>
                                  </p:childTnLst>
                                </p:cTn>
                              </p:par>
                              <p:par>
                                <p:cTn id="108" presetID="1" presetClass="entr" presetSubtype="0" fill="hold" grpId="0" nodeType="withEffect">
                                  <p:stCondLst>
                                    <p:cond delay="0"/>
                                  </p:stCondLst>
                                  <p:childTnLst>
                                    <p:set>
                                      <p:cBhvr>
                                        <p:cTn id="109" dur="1" fill="hold">
                                          <p:stCondLst>
                                            <p:cond delay="0"/>
                                          </p:stCondLst>
                                        </p:cTn>
                                        <p:tgtEl>
                                          <p:spTgt spid="56"/>
                                        </p:tgtEl>
                                        <p:attrNameLst>
                                          <p:attrName>style.visibility</p:attrName>
                                        </p:attrNameLst>
                                      </p:cBhvr>
                                      <p:to>
                                        <p:strVal val="visible"/>
                                      </p:to>
                                    </p:set>
                                  </p:childTnLst>
                                </p:cTn>
                              </p:par>
                              <p:par>
                                <p:cTn id="110" presetID="26" presetClass="emph" presetSubtype="0" repeatCount="indefinite" fill="hold" grpId="1" nodeType="withEffect">
                                  <p:stCondLst>
                                    <p:cond delay="0"/>
                                  </p:stCondLst>
                                  <p:endCondLst>
                                    <p:cond evt="onNext" delay="0">
                                      <p:tgtEl>
                                        <p:sldTgt/>
                                      </p:tgtEl>
                                    </p:cond>
                                  </p:endCondLst>
                                  <p:childTnLst>
                                    <p:animEffect transition="out" filter="fade">
                                      <p:cBhvr>
                                        <p:cTn id="111" dur="500" tmFilter="0, 0; .2, .5; .8, .5; 1, 0"/>
                                        <p:tgtEl>
                                          <p:spTgt spid="56"/>
                                        </p:tgtEl>
                                      </p:cBhvr>
                                    </p:animEffect>
                                    <p:animScale>
                                      <p:cBhvr>
                                        <p:cTn id="112" dur="250" autoRev="1" fill="hold"/>
                                        <p:tgtEl>
                                          <p:spTgt spid="56"/>
                                        </p:tgtEl>
                                      </p:cBhvr>
                                      <p:by x="105000" y="105000"/>
                                    </p:animScale>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40"/>
                                        </p:tgtEl>
                                        <p:attrNameLst>
                                          <p:attrName>style.visibility</p:attrName>
                                        </p:attrNameLst>
                                      </p:cBhvr>
                                      <p:to>
                                        <p:strVal val="visible"/>
                                      </p:to>
                                    </p:set>
                                  </p:childTnLst>
                                </p:cTn>
                              </p:par>
                              <p:par>
                                <p:cTn id="117" presetID="1" presetClass="exit" presetSubtype="0" fill="hold" grpId="2" nodeType="withEffect">
                                  <p:stCondLst>
                                    <p:cond delay="0"/>
                                  </p:stCondLst>
                                  <p:childTnLst>
                                    <p:set>
                                      <p:cBhvr>
                                        <p:cTn id="118" dur="1" fill="hold">
                                          <p:stCondLst>
                                            <p:cond delay="0"/>
                                          </p:stCondLst>
                                        </p:cTn>
                                        <p:tgtEl>
                                          <p:spTgt spid="55"/>
                                        </p:tgtEl>
                                        <p:attrNameLst>
                                          <p:attrName>style.visibility</p:attrName>
                                        </p:attrNameLst>
                                      </p:cBhvr>
                                      <p:to>
                                        <p:strVal val="hidden"/>
                                      </p:to>
                                    </p:set>
                                  </p:childTnLst>
                                </p:cTn>
                              </p:par>
                              <p:par>
                                <p:cTn id="119" presetID="1" presetClass="exit" presetSubtype="0" fill="hold" grpId="2" nodeType="withEffect">
                                  <p:stCondLst>
                                    <p:cond delay="0"/>
                                  </p:stCondLst>
                                  <p:childTnLst>
                                    <p:set>
                                      <p:cBhvr>
                                        <p:cTn id="120" dur="1" fill="hold">
                                          <p:stCondLst>
                                            <p:cond delay="0"/>
                                          </p:stCondLst>
                                        </p:cTn>
                                        <p:tgtEl>
                                          <p:spTgt spid="56"/>
                                        </p:tgtEl>
                                        <p:attrNameLst>
                                          <p:attrName>style.visibility</p:attrName>
                                        </p:attrNameLst>
                                      </p:cBhvr>
                                      <p:to>
                                        <p:strVal val="hidden"/>
                                      </p:to>
                                    </p:set>
                                  </p:childTnLst>
                                </p:cTn>
                              </p:par>
                              <p:par>
                                <p:cTn id="121" presetID="1" presetClass="entr" presetSubtype="0" fill="hold" grpId="0" nodeType="withEffect">
                                  <p:stCondLst>
                                    <p:cond delay="0"/>
                                  </p:stCondLst>
                                  <p:childTnLst>
                                    <p:set>
                                      <p:cBhvr>
                                        <p:cTn id="122" dur="1" fill="hold">
                                          <p:stCondLst>
                                            <p:cond delay="0"/>
                                          </p:stCondLst>
                                        </p:cTn>
                                        <p:tgtEl>
                                          <p:spTgt spid="57"/>
                                        </p:tgtEl>
                                        <p:attrNameLst>
                                          <p:attrName>style.visibility</p:attrName>
                                        </p:attrNameLst>
                                      </p:cBhvr>
                                      <p:to>
                                        <p:strVal val="visible"/>
                                      </p:to>
                                    </p:set>
                                  </p:childTnLst>
                                </p:cTn>
                              </p:par>
                              <p:par>
                                <p:cTn id="123" presetID="26" presetClass="emph" presetSubtype="0" repeatCount="indefinite" fill="hold" grpId="1" nodeType="withEffect">
                                  <p:stCondLst>
                                    <p:cond delay="0"/>
                                  </p:stCondLst>
                                  <p:endCondLst>
                                    <p:cond evt="onNext" delay="0">
                                      <p:tgtEl>
                                        <p:sldTgt/>
                                      </p:tgtEl>
                                    </p:cond>
                                  </p:endCondLst>
                                  <p:childTnLst>
                                    <p:animEffect transition="out" filter="fade">
                                      <p:cBhvr>
                                        <p:cTn id="124" dur="500" tmFilter="0, 0; .2, .5; .8, .5; 1, 0"/>
                                        <p:tgtEl>
                                          <p:spTgt spid="57"/>
                                        </p:tgtEl>
                                      </p:cBhvr>
                                    </p:animEffect>
                                    <p:animScale>
                                      <p:cBhvr>
                                        <p:cTn id="125" dur="250" autoRev="1" fill="hold"/>
                                        <p:tgtEl>
                                          <p:spTgt spid="57"/>
                                        </p:tgtEl>
                                      </p:cBhvr>
                                      <p:by x="105000" y="105000"/>
                                    </p:animScale>
                                  </p:childTnLst>
                                </p:cTn>
                              </p:par>
                              <p:par>
                                <p:cTn id="126" presetID="1" presetClass="entr" presetSubtype="0" fill="hold" grpId="0" nodeType="withEffect">
                                  <p:stCondLst>
                                    <p:cond delay="0"/>
                                  </p:stCondLst>
                                  <p:childTnLst>
                                    <p:set>
                                      <p:cBhvr>
                                        <p:cTn id="127" dur="1" fill="hold">
                                          <p:stCondLst>
                                            <p:cond delay="0"/>
                                          </p:stCondLst>
                                        </p:cTn>
                                        <p:tgtEl>
                                          <p:spTgt spid="58"/>
                                        </p:tgtEl>
                                        <p:attrNameLst>
                                          <p:attrName>style.visibility</p:attrName>
                                        </p:attrNameLst>
                                      </p:cBhvr>
                                      <p:to>
                                        <p:strVal val="visible"/>
                                      </p:to>
                                    </p:set>
                                  </p:childTnLst>
                                </p:cTn>
                              </p:par>
                              <p:par>
                                <p:cTn id="128" presetID="26" presetClass="emph" presetSubtype="0" repeatCount="indefinite" fill="hold" grpId="1" nodeType="withEffect">
                                  <p:stCondLst>
                                    <p:cond delay="0"/>
                                  </p:stCondLst>
                                  <p:endCondLst>
                                    <p:cond evt="onNext" delay="0">
                                      <p:tgtEl>
                                        <p:sldTgt/>
                                      </p:tgtEl>
                                    </p:cond>
                                  </p:endCondLst>
                                  <p:childTnLst>
                                    <p:animEffect transition="out" filter="fade">
                                      <p:cBhvr>
                                        <p:cTn id="129" dur="500" tmFilter="0, 0; .2, .5; .8, .5; 1, 0"/>
                                        <p:tgtEl>
                                          <p:spTgt spid="58"/>
                                        </p:tgtEl>
                                      </p:cBhvr>
                                    </p:animEffect>
                                    <p:animScale>
                                      <p:cBhvr>
                                        <p:cTn id="130" dur="250" autoRev="1" fill="hold"/>
                                        <p:tgtEl>
                                          <p:spTgt spid="58"/>
                                        </p:tgtEl>
                                      </p:cBhvr>
                                      <p:by x="105000" y="105000"/>
                                    </p:animScale>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2" nodeType="clickEffect">
                                  <p:stCondLst>
                                    <p:cond delay="0"/>
                                  </p:stCondLst>
                                  <p:childTnLst>
                                    <p:set>
                                      <p:cBhvr>
                                        <p:cTn id="134" dur="1" fill="hold">
                                          <p:stCondLst>
                                            <p:cond delay="0"/>
                                          </p:stCondLst>
                                        </p:cTn>
                                        <p:tgtEl>
                                          <p:spTgt spid="57"/>
                                        </p:tgtEl>
                                        <p:attrNameLst>
                                          <p:attrName>style.visibility</p:attrName>
                                        </p:attrNameLst>
                                      </p:cBhvr>
                                      <p:to>
                                        <p:strVal val="hidden"/>
                                      </p:to>
                                    </p:set>
                                  </p:childTnLst>
                                </p:cTn>
                              </p:par>
                              <p:par>
                                <p:cTn id="135" presetID="1" presetClass="exit" presetSubtype="0" fill="hold" grpId="2" nodeType="withEffect">
                                  <p:stCondLst>
                                    <p:cond delay="0"/>
                                  </p:stCondLst>
                                  <p:childTnLst>
                                    <p:set>
                                      <p:cBhvr>
                                        <p:cTn id="136" dur="1" fill="hold">
                                          <p:stCondLst>
                                            <p:cond delay="0"/>
                                          </p:stCondLst>
                                        </p:cTn>
                                        <p:tgtEl>
                                          <p:spTgt spid="58"/>
                                        </p:tgtEl>
                                        <p:attrNameLst>
                                          <p:attrName>style.visibility</p:attrName>
                                        </p:attrNameLst>
                                      </p:cBhvr>
                                      <p:to>
                                        <p:strVal val="hidden"/>
                                      </p:to>
                                    </p:set>
                                  </p:childTnLst>
                                </p:cTn>
                              </p:par>
                              <p:par>
                                <p:cTn id="137" presetID="1" presetClass="entr" presetSubtype="0" fill="hold" grpId="0" nodeType="withEffect">
                                  <p:stCondLst>
                                    <p:cond delay="0"/>
                                  </p:stCondLst>
                                  <p:childTnLst>
                                    <p:set>
                                      <p:cBhvr>
                                        <p:cTn id="138" dur="1" fill="hold">
                                          <p:stCondLst>
                                            <p:cond delay="0"/>
                                          </p:stCondLst>
                                        </p:cTn>
                                        <p:tgtEl>
                                          <p:spTgt spid="67"/>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69"/>
                                        </p:tgtEl>
                                        <p:attrNameLst>
                                          <p:attrName>style.visibility</p:attrName>
                                        </p:attrNameLst>
                                      </p:cBhvr>
                                      <p:to>
                                        <p:strVal val="visible"/>
                                      </p:to>
                                    </p:set>
                                  </p:childTnLst>
                                </p:cTn>
                              </p:par>
                              <p:par>
                                <p:cTn id="141" presetID="26" presetClass="emph" presetSubtype="0" repeatCount="indefinite" fill="hold" grpId="1" nodeType="withEffect">
                                  <p:stCondLst>
                                    <p:cond delay="0"/>
                                  </p:stCondLst>
                                  <p:endCondLst>
                                    <p:cond evt="onNext" delay="0">
                                      <p:tgtEl>
                                        <p:sldTgt/>
                                      </p:tgtEl>
                                    </p:cond>
                                  </p:endCondLst>
                                  <p:childTnLst>
                                    <p:animEffect transition="out" filter="fade">
                                      <p:cBhvr>
                                        <p:cTn id="142" dur="500" tmFilter="0, 0; .2, .5; .8, .5; 1, 0"/>
                                        <p:tgtEl>
                                          <p:spTgt spid="69"/>
                                        </p:tgtEl>
                                      </p:cBhvr>
                                    </p:animEffect>
                                    <p:animScale>
                                      <p:cBhvr>
                                        <p:cTn id="143" dur="250" autoRev="1" fill="hold"/>
                                        <p:tgtEl>
                                          <p:spTgt spid="69"/>
                                        </p:tgtEl>
                                      </p:cBhvr>
                                      <p:by x="105000" y="105000"/>
                                    </p:animScale>
                                  </p:childTnLst>
                                </p:cTn>
                              </p:par>
                              <p:par>
                                <p:cTn id="144" presetID="1" presetClass="entr" presetSubtype="0" fill="hold" grpId="0" nodeType="withEffect">
                                  <p:stCondLst>
                                    <p:cond delay="0"/>
                                  </p:stCondLst>
                                  <p:childTnLst>
                                    <p:set>
                                      <p:cBhvr>
                                        <p:cTn id="145" dur="1" fill="hold">
                                          <p:stCondLst>
                                            <p:cond delay="0"/>
                                          </p:stCondLst>
                                        </p:cTn>
                                        <p:tgtEl>
                                          <p:spTgt spid="37"/>
                                        </p:tgtEl>
                                        <p:attrNameLst>
                                          <p:attrName>style.visibility</p:attrName>
                                        </p:attrNameLst>
                                      </p:cBhvr>
                                      <p:to>
                                        <p:strVal val="visible"/>
                                      </p:to>
                                    </p:set>
                                  </p:childTnLst>
                                </p:cTn>
                              </p:par>
                              <p:par>
                                <p:cTn id="146" presetID="26" presetClass="emph" presetSubtype="0" repeatCount="indefinite" fill="hold" grpId="1" nodeType="withEffect">
                                  <p:stCondLst>
                                    <p:cond delay="0"/>
                                  </p:stCondLst>
                                  <p:endCondLst>
                                    <p:cond evt="onNext" delay="0">
                                      <p:tgtEl>
                                        <p:sldTgt/>
                                      </p:tgtEl>
                                    </p:cond>
                                  </p:endCondLst>
                                  <p:childTnLst>
                                    <p:animEffect transition="out" filter="fade">
                                      <p:cBhvr>
                                        <p:cTn id="147" dur="500" tmFilter="0, 0; .2, .5; .8, .5; 1, 0"/>
                                        <p:tgtEl>
                                          <p:spTgt spid="37"/>
                                        </p:tgtEl>
                                      </p:cBhvr>
                                    </p:animEffect>
                                    <p:animScale>
                                      <p:cBhvr>
                                        <p:cTn id="148" dur="250" autoRev="1" fill="hold"/>
                                        <p:tgtEl>
                                          <p:spTgt spid="37"/>
                                        </p:tgtEl>
                                      </p:cBhvr>
                                      <p:by x="105000" y="105000"/>
                                    </p:animScale>
                                  </p:childTnLst>
                                </p:cTn>
                              </p:par>
                              <p:par>
                                <p:cTn id="149" presetID="1" presetClass="exit" presetSubtype="0" fill="hold" grpId="2" nodeType="withEffect">
                                  <p:stCondLst>
                                    <p:cond delay="0"/>
                                  </p:stCondLst>
                                  <p:childTnLst>
                                    <p:set>
                                      <p:cBhvr>
                                        <p:cTn id="150" dur="1" fill="hold">
                                          <p:stCondLst>
                                            <p:cond delay="0"/>
                                          </p:stCondLst>
                                        </p:cTn>
                                        <p:tgtEl>
                                          <p:spTgt spid="37"/>
                                        </p:tgtEl>
                                        <p:attrNameLst>
                                          <p:attrName>style.visibility</p:attrName>
                                        </p:attrNameLst>
                                      </p:cBhvr>
                                      <p:to>
                                        <p:strVal val="hidden"/>
                                      </p:to>
                                    </p:set>
                                  </p:childTnLst>
                                </p:cTn>
                              </p:par>
                              <p:par>
                                <p:cTn id="151" presetID="1" presetClass="entr" presetSubtype="0" fill="hold" grpId="0" nodeType="withEffect">
                                  <p:stCondLst>
                                    <p:cond delay="0"/>
                                  </p:stCondLst>
                                  <p:childTnLst>
                                    <p:set>
                                      <p:cBhvr>
                                        <p:cTn id="15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1" grpId="1" animBg="1"/>
      <p:bldP spid="51" grpId="2" animBg="1"/>
      <p:bldP spid="52" grpId="0" animBg="1"/>
      <p:bldP spid="52" grpId="1" animBg="1"/>
      <p:bldP spid="52" grpId="2" animBg="1"/>
      <p:bldP spid="53" grpId="0" animBg="1"/>
      <p:bldP spid="53" grpId="1" animBg="1"/>
      <p:bldP spid="53" grpId="2" animBg="1"/>
      <p:bldP spid="54" grpId="0" animBg="1"/>
      <p:bldP spid="54" grpId="1" animBg="1"/>
      <p:bldP spid="54" grpId="2" animBg="1"/>
      <p:bldP spid="55" grpId="0" animBg="1"/>
      <p:bldP spid="55" grpId="1" animBg="1"/>
      <p:bldP spid="55" grpId="2" animBg="1"/>
      <p:bldP spid="56" grpId="0" animBg="1"/>
      <p:bldP spid="56" grpId="1" animBg="1"/>
      <p:bldP spid="56" grpId="2" animBg="1"/>
      <p:bldP spid="57" grpId="0" animBg="1"/>
      <p:bldP spid="57" grpId="1" animBg="1"/>
      <p:bldP spid="57" grpId="2" animBg="1"/>
      <p:bldP spid="58" grpId="0" animBg="1"/>
      <p:bldP spid="58" grpId="1" animBg="1"/>
      <p:bldP spid="58" grpId="2" animBg="1"/>
      <p:bldP spid="67" grpId="0"/>
      <p:bldP spid="73" grpId="0"/>
      <p:bldP spid="75" grpId="0"/>
      <p:bldP spid="77" grpId="0"/>
      <p:bldP spid="79" grpId="0"/>
      <p:bldP spid="69" grpId="0" animBg="1"/>
      <p:bldP spid="69" grpId="1" animBg="1"/>
      <p:bldP spid="36" grpId="0"/>
      <p:bldP spid="37" grpId="0" animBg="1"/>
      <p:bldP spid="37" grpId="1" animBg="1"/>
      <p:bldP spid="37" grpId="2" animBg="1"/>
      <p:bldP spid="38" grpId="0" animBg="1"/>
      <p:bldP spid="38" grpId="1" animBg="1"/>
      <p:bldP spid="38" grpId="2" animBg="1"/>
      <p:bldP spid="41" grpId="0" animBg="1"/>
      <p:bldP spid="41" grpId="1" animBg="1"/>
      <p:bldP spid="41" grpId="2" animBg="1"/>
      <p:bldP spid="43" grpId="0" animBg="1"/>
      <p:bldP spid="43" grpId="1" animBg="1"/>
      <p:bldP spid="43" grpId="2" animBg="1"/>
      <p:bldP spid="44" grpId="0" animBg="1"/>
      <p:bldP spid="44" grpId="1" animBg="1"/>
      <p:bldP spid="44" grpId="2"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446"/>
            <a:ext cx="12192000" cy="711200"/>
          </a:xfrm>
        </p:spPr>
        <p:txBody>
          <a:bodyPr/>
          <a:lstStyle/>
          <a:p>
            <a:r>
              <a:rPr lang="en-US" dirty="0"/>
              <a:t>Shortest Job First(SJF)</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4095005" y="4353204"/>
                <a:ext cx="22924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2</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4095005" y="4353204"/>
                <a:ext cx="229244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673835" y="4353205"/>
                <a:ext cx="1416676" cy="6553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3</m:t>
                          </m:r>
                        </m:sub>
                      </m:sSub>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2673835" y="4353205"/>
                <a:ext cx="1416676" cy="655360"/>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043959" y="4353205"/>
                <a:ext cx="502276"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4</m:t>
                          </m:r>
                        </m:sub>
                      </m:sSub>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1043959" y="4353205"/>
                <a:ext cx="502276" cy="655360"/>
              </a:xfrm>
              <a:prstGeom prst="rect">
                <a:avLst/>
              </a:prstGeom>
              <a:blipFill rotWithShape="0">
                <a:blip r:embed="rId5"/>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1571090" y="4353205"/>
                <a:ext cx="1094704" cy="655360"/>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1</m:t>
                          </m:r>
                        </m:sub>
                      </m:sSub>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1571090" y="4353205"/>
                <a:ext cx="1094704" cy="655360"/>
              </a:xfrm>
              <a:prstGeom prst="rect">
                <a:avLst/>
              </a:prstGeom>
              <a:blipFill rotWithShape="0">
                <a:blip r:embed="rId6"/>
                <a:stretch>
                  <a:fillRect/>
                </a:stretch>
              </a:blipFill>
              <a:ln w="38100">
                <a:solidFill>
                  <a:srgbClr val="4B302A"/>
                </a:solidFill>
              </a:ln>
            </p:spPr>
            <p:txBody>
              <a:bodyPr/>
              <a:lstStyle/>
              <a:p>
                <a:r>
                  <a:rPr lang="en-US">
                    <a:noFill/>
                  </a:rPr>
                  <a:t> </a:t>
                </a:r>
              </a:p>
            </p:txBody>
          </p:sp>
        </mc:Fallback>
      </mc:AlternateContent>
      <p:sp>
        <p:nvSpPr>
          <p:cNvPr id="9" name="TextBox 8"/>
          <p:cNvSpPr txBox="1"/>
          <p:nvPr/>
        </p:nvSpPr>
        <p:spPr>
          <a:xfrm>
            <a:off x="855369" y="4993073"/>
            <a:ext cx="318448" cy="381000"/>
          </a:xfrm>
          <a:prstGeom prst="rect">
            <a:avLst/>
          </a:prstGeom>
          <a:noFill/>
        </p:spPr>
        <p:txBody>
          <a:bodyPr wrap="square" rtlCol="0">
            <a:spAutoFit/>
          </a:bodyPr>
          <a:lstStyle/>
          <a:p>
            <a:r>
              <a:rPr lang="en-US" dirty="0"/>
              <a:t>0</a:t>
            </a:r>
          </a:p>
        </p:txBody>
      </p:sp>
      <p:cxnSp>
        <p:nvCxnSpPr>
          <p:cNvPr id="14" name="Straight Connector 13"/>
          <p:cNvCxnSpPr/>
          <p:nvPr/>
        </p:nvCxnSpPr>
        <p:spPr>
          <a:xfrm flipH="1">
            <a:off x="1014593" y="4353205"/>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7"/>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8"/>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6530" y="824702"/>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Waiting Time</a:t>
                      </a:r>
                      <a:endParaRPr lang="en-IN" sz="1800" b="1" kern="1200" dirty="0">
                        <a:solidFill>
                          <a:schemeClr val="tx1"/>
                        </a:solidFill>
                        <a:effectLst/>
                        <a:latin typeface="+mn-lt"/>
                        <a:ea typeface="+mn-ea"/>
                        <a:cs typeface="+mn-cs"/>
                      </a:endParaRPr>
                    </a:p>
                    <a:p>
                      <a:pPr algn="ctr"/>
                      <a:r>
                        <a:rPr lang="en-US" sz="1800" b="1" kern="1200" dirty="0">
                          <a:solidFill>
                            <a:schemeClr val="tx1"/>
                          </a:solidFill>
                          <a:effectLst/>
                          <a:latin typeface="+mn-lt"/>
                          <a:ea typeface="+mn-ea"/>
                          <a:cs typeface="+mn-cs"/>
                        </a:rPr>
                        <a:t>(TAT-ΔT)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2641" y="146766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0058" y="2023019"/>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259387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315181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9" name="TextBox 58"/>
          <p:cNvSpPr txBox="1"/>
          <p:nvPr/>
        </p:nvSpPr>
        <p:spPr>
          <a:xfrm>
            <a:off x="7767665" y="1466111"/>
            <a:ext cx="2064742" cy="542441"/>
          </a:xfrm>
          <a:prstGeom prst="rect">
            <a:avLst/>
          </a:prstGeom>
          <a:noFill/>
          <a:ln w="57150">
            <a:solidFill>
              <a:srgbClr val="FF0000"/>
            </a:solidFill>
          </a:ln>
        </p:spPr>
        <p:txBody>
          <a:bodyPr wrap="square" rtlCol="0">
            <a:spAutoFit/>
          </a:bodyPr>
          <a:lstStyle/>
          <a:p>
            <a:endParaRPr lang="en-IN" dirty="0"/>
          </a:p>
        </p:txBody>
      </p:sp>
      <p:sp>
        <p:nvSpPr>
          <p:cNvPr id="60" name="TextBox 59"/>
          <p:cNvSpPr txBox="1"/>
          <p:nvPr/>
        </p:nvSpPr>
        <p:spPr>
          <a:xfrm>
            <a:off x="2751132" y="1501704"/>
            <a:ext cx="3590108" cy="542441"/>
          </a:xfrm>
          <a:prstGeom prst="rect">
            <a:avLst/>
          </a:prstGeom>
          <a:noFill/>
          <a:ln w="57150">
            <a:solidFill>
              <a:srgbClr val="FF0000"/>
            </a:solidFill>
          </a:ln>
        </p:spPr>
        <p:txBody>
          <a:bodyPr wrap="square" rtlCol="0">
            <a:spAutoFit/>
          </a:bodyPr>
          <a:lstStyle/>
          <a:p>
            <a:endParaRPr lang="en-IN" dirty="0"/>
          </a:p>
        </p:txBody>
      </p:sp>
      <p:sp>
        <p:nvSpPr>
          <p:cNvPr id="61" name="TextBox 60"/>
          <p:cNvSpPr txBox="1"/>
          <p:nvPr/>
        </p:nvSpPr>
        <p:spPr>
          <a:xfrm>
            <a:off x="7753476" y="2013871"/>
            <a:ext cx="2064742" cy="542441"/>
          </a:xfrm>
          <a:prstGeom prst="rect">
            <a:avLst/>
          </a:prstGeom>
          <a:noFill/>
          <a:ln w="57150">
            <a:solidFill>
              <a:srgbClr val="FF0000"/>
            </a:solidFill>
          </a:ln>
        </p:spPr>
        <p:txBody>
          <a:bodyPr wrap="square" rtlCol="0">
            <a:spAutoFit/>
          </a:bodyPr>
          <a:lstStyle/>
          <a:p>
            <a:endParaRPr lang="en-IN" dirty="0"/>
          </a:p>
        </p:txBody>
      </p:sp>
      <p:sp>
        <p:nvSpPr>
          <p:cNvPr id="62" name="TextBox 61"/>
          <p:cNvSpPr txBox="1"/>
          <p:nvPr/>
        </p:nvSpPr>
        <p:spPr>
          <a:xfrm>
            <a:off x="2730647" y="2054006"/>
            <a:ext cx="3590108" cy="542441"/>
          </a:xfrm>
          <a:prstGeom prst="rect">
            <a:avLst/>
          </a:prstGeom>
          <a:noFill/>
          <a:ln w="57150">
            <a:solidFill>
              <a:srgbClr val="FF0000"/>
            </a:solidFill>
          </a:ln>
        </p:spPr>
        <p:txBody>
          <a:bodyPr wrap="square" rtlCol="0">
            <a:spAutoFit/>
          </a:bodyPr>
          <a:lstStyle/>
          <a:p>
            <a:endParaRPr lang="en-IN" dirty="0"/>
          </a:p>
        </p:txBody>
      </p:sp>
      <p:sp>
        <p:nvSpPr>
          <p:cNvPr id="63" name="TextBox 62"/>
          <p:cNvSpPr txBox="1"/>
          <p:nvPr/>
        </p:nvSpPr>
        <p:spPr>
          <a:xfrm>
            <a:off x="7737978" y="2547382"/>
            <a:ext cx="2064742" cy="542441"/>
          </a:xfrm>
          <a:prstGeom prst="rect">
            <a:avLst/>
          </a:prstGeom>
          <a:noFill/>
          <a:ln w="57150">
            <a:solidFill>
              <a:srgbClr val="FF0000"/>
            </a:solidFill>
          </a:ln>
        </p:spPr>
        <p:txBody>
          <a:bodyPr wrap="square" rtlCol="0">
            <a:spAutoFit/>
          </a:bodyPr>
          <a:lstStyle/>
          <a:p>
            <a:endParaRPr lang="en-IN" dirty="0"/>
          </a:p>
        </p:txBody>
      </p:sp>
      <p:sp>
        <p:nvSpPr>
          <p:cNvPr id="64" name="TextBox 63"/>
          <p:cNvSpPr txBox="1"/>
          <p:nvPr/>
        </p:nvSpPr>
        <p:spPr>
          <a:xfrm>
            <a:off x="2739802" y="2600116"/>
            <a:ext cx="3590108" cy="542441"/>
          </a:xfrm>
          <a:prstGeom prst="rect">
            <a:avLst/>
          </a:prstGeom>
          <a:noFill/>
          <a:ln w="57150">
            <a:solidFill>
              <a:srgbClr val="FF0000"/>
            </a:solidFill>
          </a:ln>
        </p:spPr>
        <p:txBody>
          <a:bodyPr wrap="square" rtlCol="0">
            <a:spAutoFit/>
          </a:bodyPr>
          <a:lstStyle/>
          <a:p>
            <a:endParaRPr lang="en-IN" dirty="0"/>
          </a:p>
        </p:txBody>
      </p:sp>
      <p:sp>
        <p:nvSpPr>
          <p:cNvPr id="65" name="TextBox 64"/>
          <p:cNvSpPr txBox="1"/>
          <p:nvPr/>
        </p:nvSpPr>
        <p:spPr>
          <a:xfrm>
            <a:off x="7742289" y="3148744"/>
            <a:ext cx="2064742" cy="542441"/>
          </a:xfrm>
          <a:prstGeom prst="rect">
            <a:avLst/>
          </a:prstGeom>
          <a:noFill/>
          <a:ln w="57150">
            <a:solidFill>
              <a:srgbClr val="FF0000"/>
            </a:solidFill>
          </a:ln>
        </p:spPr>
        <p:txBody>
          <a:bodyPr wrap="square" rtlCol="0">
            <a:spAutoFit/>
          </a:bodyPr>
          <a:lstStyle/>
          <a:p>
            <a:endParaRPr lang="en-IN" dirty="0"/>
          </a:p>
        </p:txBody>
      </p:sp>
      <p:sp>
        <p:nvSpPr>
          <p:cNvPr id="66" name="TextBox 65"/>
          <p:cNvSpPr txBox="1"/>
          <p:nvPr/>
        </p:nvSpPr>
        <p:spPr>
          <a:xfrm>
            <a:off x="2730647" y="3152418"/>
            <a:ext cx="3590108" cy="542441"/>
          </a:xfrm>
          <a:prstGeom prst="rect">
            <a:avLst/>
          </a:prstGeom>
          <a:noFill/>
          <a:ln w="57150">
            <a:solidFill>
              <a:srgbClr val="FF0000"/>
            </a:solidFill>
          </a:ln>
        </p:spPr>
        <p:txBody>
          <a:bodyPr wrap="square" rtlCol="0">
            <a:spAutoFit/>
          </a:bodyPr>
          <a:lstStyle/>
          <a:p>
            <a:endParaRPr lang="en-IN" dirty="0"/>
          </a:p>
        </p:txBody>
      </p:sp>
      <p:sp>
        <p:nvSpPr>
          <p:cNvPr id="67" name="TextBox 66"/>
          <p:cNvSpPr txBox="1"/>
          <p:nvPr/>
        </p:nvSpPr>
        <p:spPr>
          <a:xfrm>
            <a:off x="277120" y="5442832"/>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Waiting Time </a:t>
            </a:r>
            <a:r>
              <a:rPr lang="en-US" sz="2000" dirty="0"/>
              <a:t>= Sum of all Process’s Turn Around Time/ Total Process</a:t>
            </a:r>
          </a:p>
          <a:p>
            <a:r>
              <a:rPr lang="en-US" sz="2000" dirty="0"/>
              <a:t>                                                    = (3+16+9+0)/4 </a:t>
            </a:r>
          </a:p>
          <a:p>
            <a:r>
              <a:rPr lang="en-US" sz="2000" dirty="0"/>
              <a:t>                                                    = 7 </a:t>
            </a:r>
            <a:r>
              <a:rPr lang="en-US" sz="2000" dirty="0" err="1"/>
              <a:t>ms.</a:t>
            </a:r>
            <a:endParaRPr lang="en-US" sz="2000" dirty="0"/>
          </a:p>
        </p:txBody>
      </p:sp>
      <p:sp>
        <p:nvSpPr>
          <p:cNvPr id="73" name="TextBox 72"/>
          <p:cNvSpPr txBox="1"/>
          <p:nvPr/>
        </p:nvSpPr>
        <p:spPr>
          <a:xfrm>
            <a:off x="2448866" y="4976143"/>
            <a:ext cx="510857" cy="369332"/>
          </a:xfrm>
          <a:prstGeom prst="rect">
            <a:avLst/>
          </a:prstGeom>
          <a:noFill/>
        </p:spPr>
        <p:txBody>
          <a:bodyPr wrap="square" rtlCol="0">
            <a:spAutoFit/>
          </a:bodyPr>
          <a:lstStyle/>
          <a:p>
            <a:pPr algn="ctr"/>
            <a:r>
              <a:rPr lang="en-US" dirty="0"/>
              <a:t>9</a:t>
            </a:r>
          </a:p>
        </p:txBody>
      </p:sp>
      <p:sp>
        <p:nvSpPr>
          <p:cNvPr id="75" name="TextBox 74"/>
          <p:cNvSpPr txBox="1"/>
          <p:nvPr/>
        </p:nvSpPr>
        <p:spPr>
          <a:xfrm>
            <a:off x="6132016" y="4998907"/>
            <a:ext cx="510857" cy="369332"/>
          </a:xfrm>
          <a:prstGeom prst="rect">
            <a:avLst/>
          </a:prstGeom>
          <a:noFill/>
        </p:spPr>
        <p:txBody>
          <a:bodyPr wrap="square" rtlCol="0">
            <a:spAutoFit/>
          </a:bodyPr>
          <a:lstStyle/>
          <a:p>
            <a:pPr algn="ctr"/>
            <a:r>
              <a:rPr lang="en-US" dirty="0"/>
              <a:t>24</a:t>
            </a:r>
          </a:p>
        </p:txBody>
      </p:sp>
      <p:sp>
        <p:nvSpPr>
          <p:cNvPr id="77" name="TextBox 76"/>
          <p:cNvSpPr txBox="1"/>
          <p:nvPr/>
        </p:nvSpPr>
        <p:spPr>
          <a:xfrm>
            <a:off x="3894675" y="4990155"/>
            <a:ext cx="510857" cy="369332"/>
          </a:xfrm>
          <a:prstGeom prst="rect">
            <a:avLst/>
          </a:prstGeom>
          <a:noFill/>
        </p:spPr>
        <p:txBody>
          <a:bodyPr wrap="square" rtlCol="0">
            <a:spAutoFit/>
          </a:bodyPr>
          <a:lstStyle/>
          <a:p>
            <a:r>
              <a:rPr lang="en-US" dirty="0"/>
              <a:t>16</a:t>
            </a:r>
          </a:p>
        </p:txBody>
      </p:sp>
      <p:sp>
        <p:nvSpPr>
          <p:cNvPr id="79" name="TextBox 78"/>
          <p:cNvSpPr txBox="1"/>
          <p:nvPr/>
        </p:nvSpPr>
        <p:spPr>
          <a:xfrm>
            <a:off x="1315110" y="4990155"/>
            <a:ext cx="510857" cy="369332"/>
          </a:xfrm>
          <a:prstGeom prst="rect">
            <a:avLst/>
          </a:prstGeom>
          <a:noFill/>
        </p:spPr>
        <p:txBody>
          <a:bodyPr wrap="square" rtlCol="0">
            <a:spAutoFit/>
          </a:bodyPr>
          <a:lstStyle/>
          <a:p>
            <a:pPr algn="ctr"/>
            <a:r>
              <a:rPr lang="en-US" dirty="0"/>
              <a:t>3</a:t>
            </a:r>
          </a:p>
        </p:txBody>
      </p:sp>
      <p:sp>
        <p:nvSpPr>
          <p:cNvPr id="70" name="TextBox 69"/>
          <p:cNvSpPr txBox="1"/>
          <p:nvPr/>
        </p:nvSpPr>
        <p:spPr>
          <a:xfrm>
            <a:off x="9811245" y="1455539"/>
            <a:ext cx="2049246" cy="2222902"/>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1607735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500" tmFilter="0, 0; .2, .5; .8, .5; 1, 0"/>
                                        <p:tgtEl>
                                          <p:spTgt spid="59"/>
                                        </p:tgtEl>
                                      </p:cBhvr>
                                    </p:animEffect>
                                    <p:animScale>
                                      <p:cBhvr>
                                        <p:cTn id="15" dur="250" autoRev="1" fill="hold"/>
                                        <p:tgtEl>
                                          <p:spTgt spid="59"/>
                                        </p:tgtEl>
                                      </p:cBhvr>
                                      <p:by x="105000" y="105000"/>
                                    </p:animScale>
                                  </p:childTnLst>
                                </p:cTn>
                              </p:par>
                              <p:par>
                                <p:cTn id="16" presetID="1" presetClass="entr" presetSubtype="0" fill="hold" grpId="0" nodeType="withEffect">
                                  <p:stCondLst>
                                    <p:cond delay="0"/>
                                  </p:stCondLst>
                                  <p:childTnLst>
                                    <p:set>
                                      <p:cBhvr>
                                        <p:cTn id="17" dur="1" fill="hold">
                                          <p:stCondLst>
                                            <p:cond delay="0"/>
                                          </p:stCondLst>
                                        </p:cTn>
                                        <p:tgtEl>
                                          <p:spTgt spid="60"/>
                                        </p:tgtEl>
                                        <p:attrNameLst>
                                          <p:attrName>style.visibility</p:attrName>
                                        </p:attrNameLst>
                                      </p:cBhvr>
                                      <p:to>
                                        <p:strVal val="visible"/>
                                      </p:to>
                                    </p:set>
                                  </p:childTnLst>
                                </p:cTn>
                              </p:par>
                              <p:par>
                                <p:cTn id="18" presetID="26" presetClass="emph" presetSubtype="0" repeatCount="indefinite" fill="hold" grpId="1" nodeType="withEffect">
                                  <p:stCondLst>
                                    <p:cond delay="0"/>
                                  </p:stCondLst>
                                  <p:endCondLst>
                                    <p:cond evt="onNext" delay="0">
                                      <p:tgtEl>
                                        <p:sldTgt/>
                                      </p:tgtEl>
                                    </p:cond>
                                  </p:endCondLst>
                                  <p:childTnLst>
                                    <p:animEffect transition="out" filter="fade">
                                      <p:cBhvr>
                                        <p:cTn id="19" dur="500" tmFilter="0, 0; .2, .5; .8, .5; 1, 0"/>
                                        <p:tgtEl>
                                          <p:spTgt spid="60"/>
                                        </p:tgtEl>
                                      </p:cBhvr>
                                    </p:animEffect>
                                    <p:animScale>
                                      <p:cBhvr>
                                        <p:cTn id="20" dur="250" autoRev="1" fill="hold"/>
                                        <p:tgtEl>
                                          <p:spTgt spid="60"/>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xit" presetSubtype="0" fill="hold" grpId="2" nodeType="withEffect">
                                  <p:stCondLst>
                                    <p:cond delay="0"/>
                                  </p:stCondLst>
                                  <p:childTnLst>
                                    <p:set>
                                      <p:cBhvr>
                                        <p:cTn id="26" dur="1" fill="hold">
                                          <p:stCondLst>
                                            <p:cond delay="0"/>
                                          </p:stCondLst>
                                        </p:cTn>
                                        <p:tgtEl>
                                          <p:spTgt spid="59"/>
                                        </p:tgtEl>
                                        <p:attrNameLst>
                                          <p:attrName>style.visibility</p:attrName>
                                        </p:attrNameLst>
                                      </p:cBhvr>
                                      <p:to>
                                        <p:strVal val="hidden"/>
                                      </p:to>
                                    </p:set>
                                  </p:childTnLst>
                                </p:cTn>
                              </p:par>
                              <p:par>
                                <p:cTn id="27" presetID="1" presetClass="exit" presetSubtype="0" fill="hold" grpId="2" nodeType="withEffect">
                                  <p:stCondLst>
                                    <p:cond delay="0"/>
                                  </p:stCondLst>
                                  <p:childTnLst>
                                    <p:set>
                                      <p:cBhvr>
                                        <p:cTn id="28" dur="1" fill="hold">
                                          <p:stCondLst>
                                            <p:cond delay="0"/>
                                          </p:stCondLst>
                                        </p:cTn>
                                        <p:tgtEl>
                                          <p:spTgt spid="60"/>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childTnLst>
                                </p:cTn>
                              </p:par>
                              <p:par>
                                <p:cTn id="31" presetID="26" presetClass="emph" presetSubtype="0" repeatCount="indefinite" fill="hold" grpId="1" nodeType="withEffect">
                                  <p:stCondLst>
                                    <p:cond delay="0"/>
                                  </p:stCondLst>
                                  <p:endCondLst>
                                    <p:cond evt="onNext" delay="0">
                                      <p:tgtEl>
                                        <p:sldTgt/>
                                      </p:tgtEl>
                                    </p:cond>
                                  </p:endCondLst>
                                  <p:childTnLst>
                                    <p:animEffect transition="out" filter="fade">
                                      <p:cBhvr>
                                        <p:cTn id="32" dur="500" tmFilter="0, 0; .2, .5; .8, .5; 1, 0"/>
                                        <p:tgtEl>
                                          <p:spTgt spid="61"/>
                                        </p:tgtEl>
                                      </p:cBhvr>
                                    </p:animEffect>
                                    <p:animScale>
                                      <p:cBhvr>
                                        <p:cTn id="33" dur="250" autoRev="1" fill="hold"/>
                                        <p:tgtEl>
                                          <p:spTgt spid="61"/>
                                        </p:tgtEl>
                                      </p:cBhvr>
                                      <p:by x="105000" y="105000"/>
                                    </p:animScale>
                                  </p:childTnLst>
                                </p:cTn>
                              </p:par>
                              <p:par>
                                <p:cTn id="34" presetID="1" presetClass="entr" presetSubtype="0" fill="hold" grpId="0" nodeType="withEffect">
                                  <p:stCondLst>
                                    <p:cond delay="0"/>
                                  </p:stCondLst>
                                  <p:childTnLst>
                                    <p:set>
                                      <p:cBhvr>
                                        <p:cTn id="35" dur="1" fill="hold">
                                          <p:stCondLst>
                                            <p:cond delay="0"/>
                                          </p:stCondLst>
                                        </p:cTn>
                                        <p:tgtEl>
                                          <p:spTgt spid="62"/>
                                        </p:tgtEl>
                                        <p:attrNameLst>
                                          <p:attrName>style.visibility</p:attrName>
                                        </p:attrNameLst>
                                      </p:cBhvr>
                                      <p:to>
                                        <p:strVal val="visible"/>
                                      </p:to>
                                    </p:set>
                                  </p:childTnLst>
                                </p:cTn>
                              </p:par>
                              <p:par>
                                <p:cTn id="36" presetID="26" presetClass="emph" presetSubtype="0" repeatCount="indefinite" fill="hold" grpId="1" nodeType="withEffect">
                                  <p:stCondLst>
                                    <p:cond delay="0"/>
                                  </p:stCondLst>
                                  <p:endCondLst>
                                    <p:cond evt="onNext" delay="0">
                                      <p:tgtEl>
                                        <p:sldTgt/>
                                      </p:tgtEl>
                                    </p:cond>
                                  </p:endCondLst>
                                  <p:childTnLst>
                                    <p:animEffect transition="out" filter="fade">
                                      <p:cBhvr>
                                        <p:cTn id="37" dur="500" tmFilter="0, 0; .2, .5; .8, .5; 1, 0"/>
                                        <p:tgtEl>
                                          <p:spTgt spid="62"/>
                                        </p:tgtEl>
                                      </p:cBhvr>
                                    </p:animEffect>
                                    <p:animScale>
                                      <p:cBhvr>
                                        <p:cTn id="38" dur="250" autoRev="1" fill="hold"/>
                                        <p:tgtEl>
                                          <p:spTgt spid="62"/>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xit" presetSubtype="0" fill="hold" grpId="2" nodeType="withEffect">
                                  <p:stCondLst>
                                    <p:cond delay="0"/>
                                  </p:stCondLst>
                                  <p:childTnLst>
                                    <p:set>
                                      <p:cBhvr>
                                        <p:cTn id="44" dur="1" fill="hold">
                                          <p:stCondLst>
                                            <p:cond delay="0"/>
                                          </p:stCondLst>
                                        </p:cTn>
                                        <p:tgtEl>
                                          <p:spTgt spid="61"/>
                                        </p:tgtEl>
                                        <p:attrNameLst>
                                          <p:attrName>style.visibility</p:attrName>
                                        </p:attrNameLst>
                                      </p:cBhvr>
                                      <p:to>
                                        <p:strVal val="hidden"/>
                                      </p:to>
                                    </p:set>
                                  </p:childTnLst>
                                </p:cTn>
                              </p:par>
                              <p:par>
                                <p:cTn id="45" presetID="1" presetClass="exit" presetSubtype="0" fill="hold" grpId="2" nodeType="withEffect">
                                  <p:stCondLst>
                                    <p:cond delay="0"/>
                                  </p:stCondLst>
                                  <p:childTnLst>
                                    <p:set>
                                      <p:cBhvr>
                                        <p:cTn id="46" dur="1" fill="hold">
                                          <p:stCondLst>
                                            <p:cond delay="0"/>
                                          </p:stCondLst>
                                        </p:cTn>
                                        <p:tgtEl>
                                          <p:spTgt spid="62"/>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63"/>
                                        </p:tgtEl>
                                        <p:attrNameLst>
                                          <p:attrName>style.visibility</p:attrName>
                                        </p:attrNameLst>
                                      </p:cBhvr>
                                      <p:to>
                                        <p:strVal val="visible"/>
                                      </p:to>
                                    </p:set>
                                  </p:childTnLst>
                                </p:cTn>
                              </p:par>
                              <p:par>
                                <p:cTn id="49" presetID="26" presetClass="emph" presetSubtype="0" repeatCount="indefinite" fill="hold" grpId="1" nodeType="withEffect">
                                  <p:stCondLst>
                                    <p:cond delay="0"/>
                                  </p:stCondLst>
                                  <p:endCondLst>
                                    <p:cond evt="onNext" delay="0">
                                      <p:tgtEl>
                                        <p:sldTgt/>
                                      </p:tgtEl>
                                    </p:cond>
                                  </p:endCondLst>
                                  <p:childTnLst>
                                    <p:animEffect transition="out" filter="fade">
                                      <p:cBhvr>
                                        <p:cTn id="50" dur="500" tmFilter="0, 0; .2, .5; .8, .5; 1, 0"/>
                                        <p:tgtEl>
                                          <p:spTgt spid="63"/>
                                        </p:tgtEl>
                                      </p:cBhvr>
                                    </p:animEffect>
                                    <p:animScale>
                                      <p:cBhvr>
                                        <p:cTn id="51" dur="250" autoRev="1" fill="hold"/>
                                        <p:tgtEl>
                                          <p:spTgt spid="63"/>
                                        </p:tgtEl>
                                      </p:cBhvr>
                                      <p:by x="105000" y="105000"/>
                                    </p:animScale>
                                  </p:childTnLst>
                                </p:cTn>
                              </p:par>
                              <p:par>
                                <p:cTn id="52" presetID="1" presetClass="entr" presetSubtype="0" fill="hold" grpId="0" nodeType="withEffect">
                                  <p:stCondLst>
                                    <p:cond delay="0"/>
                                  </p:stCondLst>
                                  <p:childTnLst>
                                    <p:set>
                                      <p:cBhvr>
                                        <p:cTn id="53" dur="1" fill="hold">
                                          <p:stCondLst>
                                            <p:cond delay="0"/>
                                          </p:stCondLst>
                                        </p:cTn>
                                        <p:tgtEl>
                                          <p:spTgt spid="64"/>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64"/>
                                        </p:tgtEl>
                                      </p:cBhvr>
                                    </p:animEffect>
                                    <p:animScale>
                                      <p:cBhvr>
                                        <p:cTn id="56" dur="250" autoRev="1" fill="hold"/>
                                        <p:tgtEl>
                                          <p:spTgt spid="64"/>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63"/>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64"/>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65"/>
                                        </p:tgtEl>
                                        <p:attrNameLst>
                                          <p:attrName>style.visibility</p:attrName>
                                        </p:attrNameLst>
                                      </p:cBhvr>
                                      <p:to>
                                        <p:strVal val="visible"/>
                                      </p:to>
                                    </p:set>
                                  </p:childTnLst>
                                </p:cTn>
                              </p:par>
                              <p:par>
                                <p:cTn id="67" presetID="26" presetClass="emph" presetSubtype="0" repeatCount="indefinite" fill="hold" grpId="1" nodeType="withEffect">
                                  <p:stCondLst>
                                    <p:cond delay="0"/>
                                  </p:stCondLst>
                                  <p:endCondLst>
                                    <p:cond evt="onNext" delay="0">
                                      <p:tgtEl>
                                        <p:sldTgt/>
                                      </p:tgtEl>
                                    </p:cond>
                                  </p:endCondLst>
                                  <p:childTnLst>
                                    <p:animEffect transition="out" filter="fade">
                                      <p:cBhvr>
                                        <p:cTn id="68" dur="500" tmFilter="0, 0; .2, .5; .8, .5; 1, 0"/>
                                        <p:tgtEl>
                                          <p:spTgt spid="65"/>
                                        </p:tgtEl>
                                      </p:cBhvr>
                                    </p:animEffect>
                                    <p:animScale>
                                      <p:cBhvr>
                                        <p:cTn id="69" dur="250" autoRev="1" fill="hold"/>
                                        <p:tgtEl>
                                          <p:spTgt spid="65"/>
                                        </p:tgtEl>
                                      </p:cBhvr>
                                      <p:by x="105000" y="105000"/>
                                    </p:animScale>
                                  </p:childTnLst>
                                </p:cTn>
                              </p:par>
                              <p:par>
                                <p:cTn id="70" presetID="1" presetClass="entr" presetSubtype="0" fill="hold" grpId="0" nodeType="withEffect">
                                  <p:stCondLst>
                                    <p:cond delay="0"/>
                                  </p:stCondLst>
                                  <p:childTnLst>
                                    <p:set>
                                      <p:cBhvr>
                                        <p:cTn id="71" dur="1" fill="hold">
                                          <p:stCondLst>
                                            <p:cond delay="0"/>
                                          </p:stCondLst>
                                        </p:cTn>
                                        <p:tgtEl>
                                          <p:spTgt spid="66"/>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66"/>
                                        </p:tgtEl>
                                      </p:cBhvr>
                                    </p:animEffect>
                                    <p:animScale>
                                      <p:cBhvr>
                                        <p:cTn id="74" dur="250" autoRev="1" fill="hold"/>
                                        <p:tgtEl>
                                          <p:spTgt spid="66"/>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0"/>
                                        </p:tgtEl>
                                        <p:attrNameLst>
                                          <p:attrName>style.visibility</p:attrName>
                                        </p:attrNameLst>
                                      </p:cBhvr>
                                      <p:to>
                                        <p:strVal val="visible"/>
                                      </p:to>
                                    </p:set>
                                  </p:childTnLst>
                                </p:cTn>
                              </p:par>
                              <p:par>
                                <p:cTn id="81" presetID="26" presetClass="emph" presetSubtype="0" repeatCount="indefinite" fill="hold" grpId="1" nodeType="withEffect">
                                  <p:stCondLst>
                                    <p:cond delay="0"/>
                                  </p:stCondLst>
                                  <p:endCondLst>
                                    <p:cond evt="onNext" delay="0">
                                      <p:tgtEl>
                                        <p:sldTgt/>
                                      </p:tgtEl>
                                    </p:cond>
                                  </p:endCondLst>
                                  <p:childTnLst>
                                    <p:animEffect transition="out" filter="fade">
                                      <p:cBhvr>
                                        <p:cTn id="82" dur="500" tmFilter="0, 0; .2, .5; .8, .5; 1, 0"/>
                                        <p:tgtEl>
                                          <p:spTgt spid="70"/>
                                        </p:tgtEl>
                                      </p:cBhvr>
                                    </p:animEffect>
                                    <p:animScale>
                                      <p:cBhvr>
                                        <p:cTn id="83" dur="250" autoRev="1" fill="hold"/>
                                        <p:tgtEl>
                                          <p:spTgt spid="70"/>
                                        </p:tgtEl>
                                      </p:cBhvr>
                                      <p:by x="105000" y="105000"/>
                                    </p:animScale>
                                  </p:childTnLst>
                                </p:cTn>
                              </p:par>
                              <p:par>
                                <p:cTn id="84" presetID="1" presetClass="exit" presetSubtype="0" fill="hold" grpId="2" nodeType="withEffect">
                                  <p:stCondLst>
                                    <p:cond delay="0"/>
                                  </p:stCondLst>
                                  <p:childTnLst>
                                    <p:set>
                                      <p:cBhvr>
                                        <p:cTn id="85" dur="1" fill="hold">
                                          <p:stCondLst>
                                            <p:cond delay="0"/>
                                          </p:stCondLst>
                                        </p:cTn>
                                        <p:tgtEl>
                                          <p:spTgt spid="65"/>
                                        </p:tgtEl>
                                        <p:attrNameLst>
                                          <p:attrName>style.visibility</p:attrName>
                                        </p:attrNameLst>
                                      </p:cBhvr>
                                      <p:to>
                                        <p:strVal val="hidden"/>
                                      </p:to>
                                    </p:set>
                                  </p:childTnLst>
                                </p:cTn>
                              </p:par>
                              <p:par>
                                <p:cTn id="86" presetID="1" presetClass="exit" presetSubtype="0" fill="hold" grpId="2" nodeType="withEffect">
                                  <p:stCondLst>
                                    <p:cond delay="0"/>
                                  </p:stCondLst>
                                  <p:childTnLst>
                                    <p:set>
                                      <p:cBhvr>
                                        <p:cTn id="87" dur="1" fill="hold">
                                          <p:stCondLst>
                                            <p:cond delay="0"/>
                                          </p:stCondLst>
                                        </p:cTn>
                                        <p:tgtEl>
                                          <p:spTgt spid="66"/>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grpId="1" nodeType="clickEffect">
                                  <p:stCondLst>
                                    <p:cond delay="0"/>
                                  </p:stCondLst>
                                  <p:childTnLst>
                                    <p:set>
                                      <p:cBhvr>
                                        <p:cTn id="91" dur="1" fill="hold">
                                          <p:stCondLst>
                                            <p:cond delay="0"/>
                                          </p:stCondLst>
                                        </p:cTn>
                                        <p:tgtEl>
                                          <p:spTgt spid="6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59" grpId="1" animBg="1"/>
      <p:bldP spid="59" grpId="2" animBg="1"/>
      <p:bldP spid="60" grpId="0" animBg="1"/>
      <p:bldP spid="60" grpId="1" animBg="1"/>
      <p:bldP spid="60" grpId="2" animBg="1"/>
      <p:bldP spid="61" grpId="0" animBg="1"/>
      <p:bldP spid="61" grpId="1" animBg="1"/>
      <p:bldP spid="61" grpId="2" animBg="1"/>
      <p:bldP spid="62" grpId="0" animBg="1"/>
      <p:bldP spid="62" grpId="1" animBg="1"/>
      <p:bldP spid="62" grpId="2" animBg="1"/>
      <p:bldP spid="63" grpId="0" animBg="1"/>
      <p:bldP spid="63" grpId="1" animBg="1"/>
      <p:bldP spid="63" grpId="2" animBg="1"/>
      <p:bldP spid="64" grpId="0" animBg="1"/>
      <p:bldP spid="64" grpId="1" animBg="1"/>
      <p:bldP spid="64" grpId="2" animBg="1"/>
      <p:bldP spid="65" grpId="0" animBg="1"/>
      <p:bldP spid="65" grpId="1" animBg="1"/>
      <p:bldP spid="65" grpId="2" animBg="1"/>
      <p:bldP spid="66" grpId="0" animBg="1"/>
      <p:bldP spid="66" grpId="1" animBg="1"/>
      <p:bldP spid="66" grpId="2" animBg="1"/>
      <p:bldP spid="67" grpId="0"/>
      <p:bldP spid="67" grpId="1"/>
      <p:bldP spid="70" grpId="0" animBg="1"/>
      <p:bldP spid="70" grpId="1"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pPr lvl="0"/>
            <a:r>
              <a:rPr lang="en-US" dirty="0">
                <a:gradFill flip="none" rotWithShape="1">
                  <a:gsLst>
                    <a:gs pos="10000">
                      <a:srgbClr val="3E2622"/>
                    </a:gs>
                    <a:gs pos="100000">
                      <a:srgbClr val="795547"/>
                    </a:gs>
                  </a:gsLst>
                  <a:lin ang="0" scaled="1"/>
                  <a:tileRect/>
                </a:gradFill>
              </a:rPr>
              <a:t>Shortest Remaining Time Next (SRTN)</a:t>
            </a:r>
            <a:endParaRPr lang="en-US" dirty="0"/>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12.3</a:t>
            </a:r>
          </a:p>
        </p:txBody>
      </p:sp>
    </p:spTree>
    <p:extLst>
      <p:ext uri="{BB962C8B-B14F-4D97-AF65-F5344CB8AC3E}">
        <p14:creationId xmlns:p14="http://schemas.microsoft.com/office/powerpoint/2010/main" val="31755325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Remaining Time Next (SRTN)</a:t>
            </a:r>
            <a:endParaRPr lang="en-IN" dirty="0"/>
          </a:p>
        </p:txBody>
      </p:sp>
      <p:sp>
        <p:nvSpPr>
          <p:cNvPr id="3" name="Content Placeholder 2"/>
          <p:cNvSpPr>
            <a:spLocks noGrp="1"/>
          </p:cNvSpPr>
          <p:nvPr>
            <p:ph idx="1"/>
          </p:nvPr>
        </p:nvSpPr>
        <p:spPr/>
        <p:txBody>
          <a:bodyPr/>
          <a:lstStyle/>
          <a:p>
            <a:r>
              <a:rPr lang="en-US" b="1" dirty="0"/>
              <a:t>Selection criteria</a:t>
            </a:r>
          </a:p>
          <a:p>
            <a:pPr lvl="1"/>
            <a:r>
              <a:rPr lang="en-US" dirty="0"/>
              <a:t>The process, </a:t>
            </a:r>
            <a:r>
              <a:rPr lang="en-US" b="1" dirty="0">
                <a:solidFill>
                  <a:schemeClr val="accent6"/>
                </a:solidFill>
              </a:rPr>
              <a:t>whose remaining run time is shortest</a:t>
            </a:r>
            <a:r>
              <a:rPr lang="en-US" dirty="0"/>
              <a:t>, is </a:t>
            </a:r>
            <a:r>
              <a:rPr lang="en-US" b="1" dirty="0">
                <a:solidFill>
                  <a:schemeClr val="accent6"/>
                </a:solidFill>
              </a:rPr>
              <a:t>served first</a:t>
            </a:r>
            <a:r>
              <a:rPr lang="en-US" dirty="0"/>
              <a:t>. This is a </a:t>
            </a:r>
            <a:r>
              <a:rPr lang="en-US" b="1" dirty="0">
                <a:solidFill>
                  <a:schemeClr val="accent6"/>
                </a:solidFill>
              </a:rPr>
              <a:t>preemptive version of SJF scheduling</a:t>
            </a:r>
            <a:r>
              <a:rPr lang="en-US" dirty="0"/>
              <a:t>.</a:t>
            </a:r>
          </a:p>
          <a:p>
            <a:r>
              <a:rPr lang="en-US" b="1" dirty="0"/>
              <a:t>Decision Mode</a:t>
            </a:r>
          </a:p>
          <a:p>
            <a:pPr lvl="1">
              <a:buClr>
                <a:schemeClr val="tx1"/>
              </a:buClr>
            </a:pPr>
            <a:r>
              <a:rPr lang="en-US" b="1" dirty="0">
                <a:solidFill>
                  <a:schemeClr val="accent6"/>
                </a:solidFill>
              </a:rPr>
              <a:t>Preemptive</a:t>
            </a:r>
            <a:r>
              <a:rPr lang="en-US" dirty="0"/>
              <a:t>: When a new process arrives, its total time is compared to the current process remaining run time. </a:t>
            </a:r>
          </a:p>
          <a:p>
            <a:pPr lvl="1"/>
            <a:r>
              <a:rPr lang="en-US" dirty="0"/>
              <a:t>If the new process needs less time to finish than the current process, the current process is suspended and the new job is started.</a:t>
            </a:r>
          </a:p>
          <a:p>
            <a:r>
              <a:rPr lang="en-US" b="1" dirty="0"/>
              <a:t>Implementation</a:t>
            </a:r>
          </a:p>
          <a:p>
            <a:pPr lvl="1"/>
            <a:r>
              <a:rPr lang="en-US" dirty="0"/>
              <a:t>This strategy can also be implemented by using sorted FIFO queue. </a:t>
            </a:r>
          </a:p>
          <a:p>
            <a:pPr lvl="1"/>
            <a:r>
              <a:rPr lang="en-US" dirty="0"/>
              <a:t>All processes in a queue are </a:t>
            </a:r>
            <a:r>
              <a:rPr lang="en-US" b="1" dirty="0">
                <a:solidFill>
                  <a:schemeClr val="accent6"/>
                </a:solidFill>
              </a:rPr>
              <a:t>sorted in ascending order on their remaining run time</a:t>
            </a:r>
            <a:r>
              <a:rPr lang="en-US" dirty="0"/>
              <a:t>. </a:t>
            </a:r>
          </a:p>
          <a:p>
            <a:pPr lvl="1"/>
            <a:r>
              <a:rPr lang="en-US" dirty="0"/>
              <a:t>When CPU becomes free, a process from the first position in a queue is selected to run.</a:t>
            </a:r>
          </a:p>
          <a:p>
            <a:endParaRPr lang="en-IN" dirty="0"/>
          </a:p>
        </p:txBody>
      </p:sp>
    </p:spTree>
    <p:extLst>
      <p:ext uri="{BB962C8B-B14F-4D97-AF65-F5344CB8AC3E}">
        <p14:creationId xmlns:p14="http://schemas.microsoft.com/office/powerpoint/2010/main" val="2375529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Remaining Time Next (SRTN)</a:t>
            </a:r>
            <a:endParaRPr lang="en-IN" dirty="0"/>
          </a:p>
        </p:txBody>
      </p:sp>
      <p:sp>
        <p:nvSpPr>
          <p:cNvPr id="3" name="Content Placeholder 2"/>
          <p:cNvSpPr>
            <a:spLocks noGrp="1"/>
          </p:cNvSpPr>
          <p:nvPr>
            <p:ph idx="1"/>
          </p:nvPr>
        </p:nvSpPr>
        <p:spPr/>
        <p:txBody>
          <a:bodyPr/>
          <a:lstStyle/>
          <a:p>
            <a:r>
              <a:rPr lang="en-US" b="1" dirty="0"/>
              <a:t>Shortest Remaining Time Next </a:t>
            </a:r>
            <a:r>
              <a:rPr lang="en-IN" b="1" dirty="0"/>
              <a:t>Example</a:t>
            </a:r>
          </a:p>
          <a:p>
            <a:pPr lvl="1"/>
            <a:r>
              <a:rPr lang="en-US" dirty="0"/>
              <a:t>Consider the following set of four processes. Their arrival time and time required to complete the execution are given in following table. (Time value in milliseconds).</a:t>
            </a:r>
            <a:r>
              <a:rPr lang="en-IN" dirty="0"/>
              <a:t> Draw the Gantt chart and find Finish Time, Turn Around Time , Waiting Time , Average Turn Around Time, Average Waiting Time using SRTN algorithm.</a:t>
            </a:r>
            <a:endParaRPr lang="en-US" dirty="0"/>
          </a:p>
          <a:p>
            <a:pPr lvl="1"/>
            <a:endParaRPr lang="en-IN" b="1" dirty="0"/>
          </a:p>
          <a:p>
            <a:pPr lvl="1"/>
            <a:endParaRPr lang="en-IN" b="1" dirty="0"/>
          </a:p>
          <a:p>
            <a:endParaRPr lang="en-IN" dirty="0"/>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225298" y="2600869"/>
              <a:ext cx="5718875" cy="2874036"/>
            </p:xfrm>
            <a:graphic>
              <a:graphicData uri="http://schemas.openxmlformats.org/drawingml/2006/table">
                <a:tbl>
                  <a:tblPr firstRow="1" bandRow="1">
                    <a:tableStyleId>{8EC20E35-A176-4012-BC5E-935CFFF8708E}</a:tableStyleId>
                  </a:tblPr>
                  <a:tblGrid>
                    <a:gridCol w="1013848">
                      <a:extLst>
                        <a:ext uri="{9D8B030D-6E8A-4147-A177-3AD203B41FA5}">
                          <a16:colId xmlns:a16="http://schemas.microsoft.com/office/drawing/2014/main" val="20000"/>
                        </a:ext>
                      </a:extLst>
                    </a:gridCol>
                    <a:gridCol w="1334208">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5"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225298" y="2600869"/>
              <a:ext cx="5718875" cy="2874036"/>
            </p:xfrm>
            <a:graphic>
              <a:graphicData uri="http://schemas.openxmlformats.org/drawingml/2006/table">
                <a:tbl>
                  <a:tblPr firstRow="1" bandRow="1">
                    <a:tableStyleId>{8EC20E35-A176-4012-BC5E-935CFFF8708E}</a:tableStyleId>
                  </a:tblPr>
                  <a:tblGrid>
                    <a:gridCol w="1013848">
                      <a:extLst>
                        <a:ext uri="{9D8B030D-6E8A-4147-A177-3AD203B41FA5}">
                          <a16:colId xmlns:a16="http://schemas.microsoft.com/office/drawing/2014/main" xmlns="" xmlns:a14="http://schemas.microsoft.com/office/drawing/2010/main" val="20000"/>
                        </a:ext>
                      </a:extLst>
                    </a:gridCol>
                    <a:gridCol w="1334208">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75909" t="-3810" r="-251818"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02" t="-118478" r="-46626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02" t="-218478" r="-46626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02" t="-318478" r="-46626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02" t="-418478" r="-46626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Tree>
    <p:extLst>
      <p:ext uri="{BB962C8B-B14F-4D97-AF65-F5344CB8AC3E}">
        <p14:creationId xmlns:p14="http://schemas.microsoft.com/office/powerpoint/2010/main" val="38453442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Shortest Remaining Time Next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400" dirty="0">
                    <a:solidFill>
                      <a:schemeClr val="bg1"/>
                    </a:solidFill>
                  </a:rPr>
                  <a:t>Initially only process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present and it is allowed to run. </a:t>
                </a:r>
              </a:p>
              <a:p>
                <a:pPr marL="342900" indent="-342900" algn="just">
                  <a:buFont typeface="Wingdings" panose="05000000000000000000" pitchFamily="2" charset="2"/>
                  <a:buChar char="ü"/>
                </a:pPr>
                <a:r>
                  <a:rPr lang="en-US" sz="2400" dirty="0">
                    <a:solidFill>
                      <a:schemeClr val="bg1"/>
                    </a:solidFill>
                  </a:rPr>
                  <a:t>But,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𝟏</m:t>
                        </m:r>
                      </m:sub>
                    </m:sSub>
                  </m:oMath>
                </a14:m>
                <a:r>
                  <a:rPr lang="en-US" sz="2400" dirty="0">
                    <a:solidFill>
                      <a:schemeClr val="bg1"/>
                    </a:solidFill>
                  </a:rPr>
                  <a:t> comes, it has shortest remaining run time then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So,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preempted and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𝟏</m:t>
                        </m:r>
                      </m:sub>
                    </m:sSub>
                  </m:oMath>
                </a14:m>
                <a:r>
                  <a:rPr lang="en-US" sz="2400" dirty="0">
                    <a:solidFill>
                      <a:schemeClr val="bg1"/>
                    </a:solidFill>
                  </a:rPr>
                  <a:t> is allowed to run.</a:t>
                </a:r>
                <a:endParaRPr lang="en-IN" sz="2400" dirty="0">
                  <a:solidFill>
                    <a:schemeClr val="bg1"/>
                  </a:solidFill>
                </a:endParaRPr>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26017" y="400110"/>
              <a:ext cx="5718875" cy="2874036"/>
            </p:xfrm>
            <a:graphic>
              <a:graphicData uri="http://schemas.openxmlformats.org/drawingml/2006/table">
                <a:tbl>
                  <a:tblPr firstRow="1" bandRow="1">
                    <a:tableStyleId>{8EC20E35-A176-4012-BC5E-935CFFF8708E}</a:tableStyleId>
                  </a:tblPr>
                  <a:tblGrid>
                    <a:gridCol w="998349">
                      <a:extLst>
                        <a:ext uri="{9D8B030D-6E8A-4147-A177-3AD203B41FA5}">
                          <a16:colId xmlns:a16="http://schemas.microsoft.com/office/drawing/2014/main" val="20000"/>
                        </a:ext>
                      </a:extLst>
                    </a:gridCol>
                    <a:gridCol w="1349707">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226017" y="400110"/>
              <a:ext cx="5718875" cy="2874036"/>
            </p:xfrm>
            <a:graphic>
              <a:graphicData uri="http://schemas.openxmlformats.org/drawingml/2006/table">
                <a:tbl>
                  <a:tblPr firstRow="1" bandRow="1">
                    <a:tableStyleId>{8EC20E35-A176-4012-BC5E-935CFFF8708E}</a:tableStyleId>
                  </a:tblPr>
                  <a:tblGrid>
                    <a:gridCol w="998349">
                      <a:extLst>
                        <a:ext uri="{9D8B030D-6E8A-4147-A177-3AD203B41FA5}">
                          <a16:colId xmlns:a16="http://schemas.microsoft.com/office/drawing/2014/main" xmlns="" xmlns:a14="http://schemas.microsoft.com/office/drawing/2010/main" val="20000"/>
                        </a:ext>
                      </a:extLst>
                    </a:gridCol>
                    <a:gridCol w="1349707">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4324" t="-3810" r="-249550"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118478" r="-473171"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218478" r="-473171"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318478" r="-473171"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418478" r="-473171"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63286" y="3299308"/>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3768" y="381717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3768" y="381717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782026" y="3811767"/>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782026" y="3811767"/>
                <a:ext cx="69991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p:sp>
        <p:nvSpPr>
          <p:cNvPr id="24" name="TextBox 23"/>
          <p:cNvSpPr txBox="1"/>
          <p:nvPr/>
        </p:nvSpPr>
        <p:spPr>
          <a:xfrm>
            <a:off x="628605" y="4477932"/>
            <a:ext cx="318448" cy="381000"/>
          </a:xfrm>
          <a:prstGeom prst="rect">
            <a:avLst/>
          </a:prstGeom>
          <a:noFill/>
        </p:spPr>
        <p:txBody>
          <a:bodyPr wrap="square" rtlCol="0">
            <a:spAutoFit/>
          </a:bodyPr>
          <a:lstStyle/>
          <a:p>
            <a:r>
              <a:rPr lang="en-US" dirty="0"/>
              <a:t>1</a:t>
            </a:r>
          </a:p>
        </p:txBody>
      </p:sp>
      <mc:AlternateContent xmlns:mc="http://schemas.openxmlformats.org/markup-compatibility/2006" xmlns:a14="http://schemas.microsoft.com/office/drawing/2010/main">
        <mc:Choice Requires="a14">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8448" y="4893447"/>
              <a:ext cx="3231276" cy="1284446"/>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00828">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59343">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9343">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mc:Choice>
        <mc:Fallback xmlns="">
          <p:graphicFrame>
            <p:nvGraphicFramePr>
              <p:cNvPr id="25"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30174501"/>
                  </p:ext>
                </p:extLst>
              </p:nvPr>
            </p:nvGraphicFramePr>
            <p:xfrm>
              <a:off x="318448" y="4893447"/>
              <a:ext cx="3231276" cy="1284446"/>
            </p:xfrm>
            <a:graphic>
              <a:graphicData uri="http://schemas.openxmlformats.org/drawingml/2006/table">
                <a:tbl>
                  <a:tblPr firstRow="1" bandRow="1">
                    <a:tableStyleId>{8EC20E35-A176-4012-BC5E-935CFFF8708E}</a:tableStyleId>
                  </a:tblPr>
                  <a:tblGrid>
                    <a:gridCol w="1216932">
                      <a:extLst>
                        <a:ext uri="{9D8B030D-6E8A-4147-A177-3AD203B41FA5}">
                          <a16:colId xmlns="" xmlns:a16="http://schemas.microsoft.com/office/drawing/2014/main" xmlns:a14="http://schemas.microsoft.com/office/drawing/2010/main" val="20000"/>
                        </a:ext>
                      </a:extLst>
                    </a:gridCol>
                    <a:gridCol w="2014344">
                      <a:extLst>
                        <a:ext uri="{9D8B030D-6E8A-4147-A177-3AD203B41FA5}">
                          <a16:colId xmlns="" xmlns:a16="http://schemas.microsoft.com/office/drawing/2014/main" xmlns:a14="http://schemas.microsoft.com/office/drawing/2010/main" val="20001"/>
                        </a:ext>
                      </a:extLst>
                    </a:gridCol>
                  </a:tblGrid>
                  <a:tr h="36576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459343">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6"/>
                          <a:stretch>
                            <a:fillRect l="-500" t="-84211" r="-166000" b="-117105"/>
                          </a:stretch>
                        </a:blip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459343">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6"/>
                          <a:stretch>
                            <a:fillRect l="-500" t="-184211" r="-166000" b="-17105"/>
                          </a:stretch>
                        </a:blipFill>
                      </a:tcPr>
                    </a:tc>
                    <a:tc>
                      <a:txBody>
                        <a:bodyPr/>
                        <a:lstStyle/>
                        <a:p>
                          <a:pPr algn="ctr"/>
                          <a:r>
                            <a:rPr lang="en-IN" sz="200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bl>
              </a:graphicData>
            </a:graphic>
          </p:graphicFrame>
        </mc:Fallback>
      </mc:AlternateContent>
      <p:sp>
        <p:nvSpPr>
          <p:cNvPr id="26" name="TextBox 25"/>
          <p:cNvSpPr txBox="1"/>
          <p:nvPr/>
        </p:nvSpPr>
        <p:spPr>
          <a:xfrm>
            <a:off x="1325904" y="4469394"/>
            <a:ext cx="318448" cy="381000"/>
          </a:xfrm>
          <a:prstGeom prst="rect">
            <a:avLst/>
          </a:prstGeom>
          <a:noFill/>
        </p:spPr>
        <p:txBody>
          <a:bodyPr wrap="square" rtlCol="0">
            <a:spAutoFit/>
          </a:bodyPr>
          <a:lstStyle/>
          <a:p>
            <a:r>
              <a:rPr lang="en-US" dirty="0"/>
              <a:t>3</a:t>
            </a:r>
          </a:p>
        </p:txBody>
      </p:sp>
      <p:sp>
        <p:nvSpPr>
          <p:cNvPr id="2" name="TextBox 1"/>
          <p:cNvSpPr txBox="1"/>
          <p:nvPr/>
        </p:nvSpPr>
        <p:spPr>
          <a:xfrm>
            <a:off x="338240" y="5250484"/>
            <a:ext cx="3211484" cy="464949"/>
          </a:xfrm>
          <a:prstGeom prst="rect">
            <a:avLst/>
          </a:prstGeom>
          <a:noFill/>
          <a:ln w="28575">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537955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par>
                                <p:cTn id="29" presetID="1" presetClass="entr" presetSubtype="0" fill="hold" nodeType="with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5" grpId="0"/>
      <p:bldP spid="18" grpId="0" animBg="1"/>
      <p:bldP spid="19" grpId="0" animBg="1"/>
      <p:bldP spid="24" grpId="0"/>
      <p:bldP spid="26" grpId="0"/>
      <p:bldP spid="2"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Shortest Remaining Time Next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400" dirty="0">
                    <a:solidFill>
                      <a:schemeClr val="bg1"/>
                    </a:solidFill>
                  </a:rPr>
                  <a:t>Initially only process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present and it is allowed to run. </a:t>
                </a:r>
              </a:p>
              <a:p>
                <a:pPr marL="342900" indent="-342900" algn="just">
                  <a:buFont typeface="Wingdings" panose="05000000000000000000" pitchFamily="2" charset="2"/>
                  <a:buChar char="ü"/>
                </a:pPr>
                <a:r>
                  <a:rPr lang="en-US" sz="2400" dirty="0">
                    <a:solidFill>
                      <a:schemeClr val="bg1"/>
                    </a:solidFill>
                  </a:rPr>
                  <a:t>But,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𝟏</m:t>
                        </m:r>
                      </m:sub>
                    </m:sSub>
                  </m:oMath>
                </a14:m>
                <a:r>
                  <a:rPr lang="en-US" sz="2400" dirty="0">
                    <a:solidFill>
                      <a:schemeClr val="bg1"/>
                    </a:solidFill>
                  </a:rPr>
                  <a:t> comes, it has shortest remaining run time then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So,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preempted and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𝟏</m:t>
                        </m:r>
                      </m:sub>
                    </m:sSub>
                  </m:oMath>
                </a14:m>
                <a:r>
                  <a:rPr lang="en-US" sz="2400" dirty="0">
                    <a:solidFill>
                      <a:schemeClr val="bg1"/>
                    </a:solidFill>
                  </a:rPr>
                  <a:t> is allowed to run.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Whenever new process comes or current process blocks, such type of decision is taken.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This procedure is repeated till all processes complete their execution.</a:t>
                </a:r>
                <a:endParaRPr lang="en-IN" sz="2400" dirty="0">
                  <a:solidFill>
                    <a:schemeClr val="bg1"/>
                  </a:solidFill>
                </a:endParaRPr>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26017" y="400110"/>
              <a:ext cx="5718875" cy="2874036"/>
            </p:xfrm>
            <a:graphic>
              <a:graphicData uri="http://schemas.openxmlformats.org/drawingml/2006/table">
                <a:tbl>
                  <a:tblPr firstRow="1" bandRow="1">
                    <a:tableStyleId>{8EC20E35-A176-4012-BC5E-935CFFF8708E}</a:tableStyleId>
                  </a:tblPr>
                  <a:tblGrid>
                    <a:gridCol w="998349">
                      <a:extLst>
                        <a:ext uri="{9D8B030D-6E8A-4147-A177-3AD203B41FA5}">
                          <a16:colId xmlns:a16="http://schemas.microsoft.com/office/drawing/2014/main" val="20000"/>
                        </a:ext>
                      </a:extLst>
                    </a:gridCol>
                    <a:gridCol w="1349707">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226017" y="400110"/>
              <a:ext cx="5718875" cy="2874036"/>
            </p:xfrm>
            <a:graphic>
              <a:graphicData uri="http://schemas.openxmlformats.org/drawingml/2006/table">
                <a:tbl>
                  <a:tblPr firstRow="1" bandRow="1">
                    <a:tableStyleId>{8EC20E35-A176-4012-BC5E-935CFFF8708E}</a:tableStyleId>
                  </a:tblPr>
                  <a:tblGrid>
                    <a:gridCol w="998349">
                      <a:extLst>
                        <a:ext uri="{9D8B030D-6E8A-4147-A177-3AD203B41FA5}">
                          <a16:colId xmlns:a16="http://schemas.microsoft.com/office/drawing/2014/main" xmlns="" xmlns:a14="http://schemas.microsoft.com/office/drawing/2010/main" val="20000"/>
                        </a:ext>
                      </a:extLst>
                    </a:gridCol>
                    <a:gridCol w="1349707">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4324" t="-3810" r="-249550"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118478" r="-473171"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218478" r="-473171"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318478" r="-473171"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418478" r="-473171"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63286" y="3299308"/>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3768" y="381717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3768" y="381717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782026" y="3811767"/>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782026" y="3811767"/>
                <a:ext cx="69991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500727" y="3811766"/>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20" name="Rectangle 19"/>
              <p:cNvSpPr>
                <a:spLocks noRot="1" noChangeAspect="1" noMove="1" noResize="1" noEditPoints="1" noAdjustHandles="1" noChangeArrowheads="1" noChangeShapeType="1" noTextEdit="1"/>
              </p:cNvSpPr>
              <p:nvPr/>
            </p:nvSpPr>
            <p:spPr>
              <a:xfrm>
                <a:off x="1500727" y="3811766"/>
                <a:ext cx="69991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24" name="TextBox 23"/>
          <p:cNvSpPr txBox="1"/>
          <p:nvPr/>
        </p:nvSpPr>
        <p:spPr>
          <a:xfrm>
            <a:off x="628605" y="4477932"/>
            <a:ext cx="318448" cy="381000"/>
          </a:xfrm>
          <a:prstGeom prst="rect">
            <a:avLst/>
          </a:prstGeom>
          <a:noFill/>
        </p:spPr>
        <p:txBody>
          <a:bodyPr wrap="square" rtlCol="0">
            <a:spAutoFit/>
          </a:bodyPr>
          <a:lstStyle/>
          <a:p>
            <a:r>
              <a:rPr lang="en-US" dirty="0"/>
              <a:t>1</a:t>
            </a:r>
          </a:p>
        </p:txBody>
      </p:sp>
      <p:sp>
        <p:nvSpPr>
          <p:cNvPr id="26" name="TextBox 25"/>
          <p:cNvSpPr txBox="1"/>
          <p:nvPr/>
        </p:nvSpPr>
        <p:spPr>
          <a:xfrm>
            <a:off x="1325904" y="4469394"/>
            <a:ext cx="318448" cy="381000"/>
          </a:xfrm>
          <a:prstGeom prst="rect">
            <a:avLst/>
          </a:prstGeom>
          <a:noFill/>
        </p:spPr>
        <p:txBody>
          <a:bodyPr wrap="square" rtlCol="0">
            <a:spAutoFit/>
          </a:bodyPr>
          <a:lstStyle/>
          <a:p>
            <a:r>
              <a:rPr lang="en-US" dirty="0"/>
              <a:t>3</a:t>
            </a:r>
          </a:p>
        </p:txBody>
      </p:sp>
      <p:sp>
        <p:nvSpPr>
          <p:cNvPr id="28" name="TextBox 27"/>
          <p:cNvSpPr txBox="1"/>
          <p:nvPr/>
        </p:nvSpPr>
        <p:spPr>
          <a:xfrm>
            <a:off x="2004102" y="4451625"/>
            <a:ext cx="318448" cy="381000"/>
          </a:xfrm>
          <a:prstGeom prst="rect">
            <a:avLst/>
          </a:prstGeom>
          <a:noFill/>
        </p:spPr>
        <p:txBody>
          <a:bodyPr wrap="square" rtlCol="0">
            <a:spAutoFit/>
          </a:bodyPr>
          <a:lstStyle/>
          <a:p>
            <a:r>
              <a:rPr lang="en-US" dirty="0"/>
              <a:t>5</a:t>
            </a:r>
          </a:p>
        </p:txBody>
      </p:sp>
      <mc:AlternateContent xmlns:mc="http://schemas.openxmlformats.org/markup-compatibility/2006" xmlns:a14="http://schemas.microsoft.com/office/drawing/2010/main">
        <mc:Choice Requires="a14">
          <p:graphicFrame>
            <p:nvGraphicFramePr>
              <p:cNvPr id="3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28605" y="4850394"/>
              <a:ext cx="3231276" cy="155448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54148">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mc:Choice>
        <mc:Fallback xmlns="">
          <p:graphicFrame>
            <p:nvGraphicFramePr>
              <p:cNvPr id="3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628605" y="4850394"/>
              <a:ext cx="3231276" cy="155448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xmlns="" xmlns:a14="http://schemas.microsoft.com/office/drawing/2010/main" val="20000"/>
                        </a:ext>
                      </a:extLst>
                    </a:gridCol>
                    <a:gridCol w="2014344">
                      <a:extLst>
                        <a:ext uri="{9D8B030D-6E8A-4147-A177-3AD203B41FA5}">
                          <a16:colId xmlns:a16="http://schemas.microsoft.com/office/drawing/2014/main" xmlns="" xmlns:a14="http://schemas.microsoft.com/office/drawing/2010/main" val="20001"/>
                        </a:ext>
                      </a:extLst>
                    </a:gridCol>
                  </a:tblGrid>
                  <a:tr h="36576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1"/>
                          <a:stretch>
                            <a:fillRect l="-500" t="-98462" r="-166000" b="-230769"/>
                          </a:stretch>
                        </a:blipFill>
                      </a:tcPr>
                    </a:tc>
                    <a:tc>
                      <a:txBody>
                        <a:bodyPr/>
                        <a:lstStyle/>
                        <a:p>
                          <a:pPr algn="ctr"/>
                          <a:r>
                            <a:rPr lang="en-IN" sz="200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1"/>
                          <a:stretch>
                            <a:fillRect l="-500" t="-195455" r="-166000" b="-127273"/>
                          </a:stretch>
                        </a:blip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1"/>
                          <a:stretch>
                            <a:fillRect l="-500" t="-300000" r="-166000" b="-29231"/>
                          </a:stretch>
                        </a:blip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bl>
              </a:graphicData>
            </a:graphic>
          </p:graphicFrame>
        </mc:Fallback>
      </mc:AlternateContent>
      <p:sp>
        <p:nvSpPr>
          <p:cNvPr id="5" name="TextBox 4"/>
          <p:cNvSpPr txBox="1"/>
          <p:nvPr/>
        </p:nvSpPr>
        <p:spPr>
          <a:xfrm>
            <a:off x="628605" y="5602601"/>
            <a:ext cx="3230473" cy="395170"/>
          </a:xfrm>
          <a:prstGeom prst="rect">
            <a:avLst/>
          </a:prstGeom>
          <a:noFill/>
          <a:ln w="28575">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416685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8" grpId="0"/>
      <p:bldP spid="5"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Shortest Remaining Time Next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400" dirty="0">
                    <a:solidFill>
                      <a:schemeClr val="bg1"/>
                    </a:solidFill>
                  </a:rPr>
                  <a:t>Initially only process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present and it is allowed to run. </a:t>
                </a:r>
              </a:p>
              <a:p>
                <a:pPr marL="342900" indent="-342900" algn="just">
                  <a:buFont typeface="Wingdings" panose="05000000000000000000" pitchFamily="2" charset="2"/>
                  <a:buChar char="ü"/>
                </a:pPr>
                <a:r>
                  <a:rPr lang="en-US" sz="2400" dirty="0">
                    <a:solidFill>
                      <a:schemeClr val="bg1"/>
                    </a:solidFill>
                  </a:rPr>
                  <a:t>But,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𝟏</m:t>
                        </m:r>
                      </m:sub>
                    </m:sSub>
                  </m:oMath>
                </a14:m>
                <a:r>
                  <a:rPr lang="en-US" sz="2400" dirty="0">
                    <a:solidFill>
                      <a:schemeClr val="bg1"/>
                    </a:solidFill>
                  </a:rPr>
                  <a:t> comes, it has shortest remaining run time then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So,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preempted and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𝟏</m:t>
                        </m:r>
                      </m:sub>
                    </m:sSub>
                  </m:oMath>
                </a14:m>
                <a:r>
                  <a:rPr lang="en-US" sz="2400" dirty="0">
                    <a:solidFill>
                      <a:schemeClr val="bg1"/>
                    </a:solidFill>
                  </a:rPr>
                  <a:t> is allowed to run.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Whenever new process comes or current process blocks, such type of decision is taken.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This procedure is repeated till all processes complete their execution.</a:t>
                </a:r>
                <a:endParaRPr lang="en-IN" sz="2400" dirty="0">
                  <a:solidFill>
                    <a:schemeClr val="bg1"/>
                  </a:solidFill>
                </a:endParaRPr>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26017" y="400110"/>
              <a:ext cx="5718875" cy="2874036"/>
            </p:xfrm>
            <a:graphic>
              <a:graphicData uri="http://schemas.openxmlformats.org/drawingml/2006/table">
                <a:tbl>
                  <a:tblPr firstRow="1" bandRow="1">
                    <a:tableStyleId>{8EC20E35-A176-4012-BC5E-935CFFF8708E}</a:tableStyleId>
                  </a:tblPr>
                  <a:tblGrid>
                    <a:gridCol w="998349">
                      <a:extLst>
                        <a:ext uri="{9D8B030D-6E8A-4147-A177-3AD203B41FA5}">
                          <a16:colId xmlns:a16="http://schemas.microsoft.com/office/drawing/2014/main" val="20000"/>
                        </a:ext>
                      </a:extLst>
                    </a:gridCol>
                    <a:gridCol w="1349707">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226017" y="400110"/>
              <a:ext cx="5718875" cy="2874036"/>
            </p:xfrm>
            <a:graphic>
              <a:graphicData uri="http://schemas.openxmlformats.org/drawingml/2006/table">
                <a:tbl>
                  <a:tblPr firstRow="1" bandRow="1">
                    <a:tableStyleId>{8EC20E35-A176-4012-BC5E-935CFFF8708E}</a:tableStyleId>
                  </a:tblPr>
                  <a:tblGrid>
                    <a:gridCol w="998349">
                      <a:extLst>
                        <a:ext uri="{9D8B030D-6E8A-4147-A177-3AD203B41FA5}">
                          <a16:colId xmlns:a16="http://schemas.microsoft.com/office/drawing/2014/main" xmlns="" xmlns:a14="http://schemas.microsoft.com/office/drawing/2010/main" val="20000"/>
                        </a:ext>
                      </a:extLst>
                    </a:gridCol>
                    <a:gridCol w="1349707">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4324" t="-3810" r="-249550"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118478" r="-473171"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218478" r="-473171"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318478" r="-473171"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418478" r="-473171"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63286" y="3299308"/>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3768" y="381717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3768" y="381717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782026" y="3811767"/>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782026" y="3811767"/>
                <a:ext cx="69991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500727" y="3811766"/>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20" name="Rectangle 19"/>
              <p:cNvSpPr>
                <a:spLocks noRot="1" noChangeAspect="1" noMove="1" noResize="1" noEditPoints="1" noAdjustHandles="1" noChangeArrowheads="1" noChangeShapeType="1" noTextEdit="1"/>
              </p:cNvSpPr>
              <p:nvPr/>
            </p:nvSpPr>
            <p:spPr>
              <a:xfrm>
                <a:off x="1500727" y="3811766"/>
                <a:ext cx="69991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2188230" y="3811766"/>
                <a:ext cx="10865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2188230" y="3811766"/>
                <a:ext cx="1086540"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24" name="TextBox 23"/>
          <p:cNvSpPr txBox="1"/>
          <p:nvPr/>
        </p:nvSpPr>
        <p:spPr>
          <a:xfrm>
            <a:off x="628605" y="4477932"/>
            <a:ext cx="318448" cy="381000"/>
          </a:xfrm>
          <a:prstGeom prst="rect">
            <a:avLst/>
          </a:prstGeom>
          <a:noFill/>
        </p:spPr>
        <p:txBody>
          <a:bodyPr wrap="square" rtlCol="0">
            <a:spAutoFit/>
          </a:bodyPr>
          <a:lstStyle/>
          <a:p>
            <a:r>
              <a:rPr lang="en-US" dirty="0"/>
              <a:t>1</a:t>
            </a:r>
          </a:p>
        </p:txBody>
      </p:sp>
      <p:sp>
        <p:nvSpPr>
          <p:cNvPr id="26" name="TextBox 25"/>
          <p:cNvSpPr txBox="1"/>
          <p:nvPr/>
        </p:nvSpPr>
        <p:spPr>
          <a:xfrm>
            <a:off x="1325904" y="4469394"/>
            <a:ext cx="318448" cy="381000"/>
          </a:xfrm>
          <a:prstGeom prst="rect">
            <a:avLst/>
          </a:prstGeom>
          <a:noFill/>
        </p:spPr>
        <p:txBody>
          <a:bodyPr wrap="square" rtlCol="0">
            <a:spAutoFit/>
          </a:bodyPr>
          <a:lstStyle/>
          <a:p>
            <a:r>
              <a:rPr lang="en-US" dirty="0"/>
              <a:t>3</a:t>
            </a:r>
          </a:p>
        </p:txBody>
      </p:sp>
      <p:sp>
        <p:nvSpPr>
          <p:cNvPr id="28" name="TextBox 27"/>
          <p:cNvSpPr txBox="1"/>
          <p:nvPr/>
        </p:nvSpPr>
        <p:spPr>
          <a:xfrm>
            <a:off x="2004102" y="4451625"/>
            <a:ext cx="318448" cy="381000"/>
          </a:xfrm>
          <a:prstGeom prst="rect">
            <a:avLst/>
          </a:prstGeom>
          <a:noFill/>
        </p:spPr>
        <p:txBody>
          <a:bodyPr wrap="square" rtlCol="0">
            <a:spAutoFit/>
          </a:bodyPr>
          <a:lstStyle/>
          <a:p>
            <a:r>
              <a:rPr lang="en-US" dirty="0"/>
              <a:t>5</a:t>
            </a:r>
          </a:p>
        </p:txBody>
      </p:sp>
      <p:sp>
        <p:nvSpPr>
          <p:cNvPr id="30" name="TextBox 29"/>
          <p:cNvSpPr txBox="1"/>
          <p:nvPr/>
        </p:nvSpPr>
        <p:spPr>
          <a:xfrm>
            <a:off x="3133249" y="4451625"/>
            <a:ext cx="318448" cy="381000"/>
          </a:xfrm>
          <a:prstGeom prst="rect">
            <a:avLst/>
          </a:prstGeom>
          <a:noFill/>
        </p:spPr>
        <p:txBody>
          <a:bodyPr wrap="square" rtlCol="0">
            <a:spAutoFit/>
          </a:bodyPr>
          <a:lstStyle/>
          <a:p>
            <a:r>
              <a:rPr lang="en-US" dirty="0"/>
              <a:t>9</a:t>
            </a:r>
          </a:p>
        </p:txBody>
      </p:sp>
      <mc:AlternateContent xmlns:mc="http://schemas.openxmlformats.org/markup-compatibility/2006" xmlns:a14="http://schemas.microsoft.com/office/drawing/2010/main">
        <mc:Choice Requires="a14">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098305" y="4862579"/>
              <a:ext cx="3231276" cy="155448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54148">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mc:Choice>
        <mc:Fallback xmlns="">
          <p:graphicFrame>
            <p:nvGraphicFramePr>
              <p:cNvPr id="39"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1098305" y="4862579"/>
              <a:ext cx="3231276" cy="155448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xmlns="" xmlns:a14="http://schemas.microsoft.com/office/drawing/2010/main" val="20000"/>
                        </a:ext>
                      </a:extLst>
                    </a:gridCol>
                    <a:gridCol w="2014344">
                      <a:extLst>
                        <a:ext uri="{9D8B030D-6E8A-4147-A177-3AD203B41FA5}">
                          <a16:colId xmlns:a16="http://schemas.microsoft.com/office/drawing/2014/main" xmlns="" xmlns:a14="http://schemas.microsoft.com/office/drawing/2010/main" val="20001"/>
                        </a:ext>
                      </a:extLst>
                    </a:gridCol>
                  </a:tblGrid>
                  <a:tr h="36576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2"/>
                          <a:stretch>
                            <a:fillRect l="-500" t="-98462" r="-166000" b="-230769"/>
                          </a:stretch>
                        </a:blipFill>
                      </a:tcPr>
                    </a:tc>
                    <a:tc>
                      <a:txBody>
                        <a:bodyPr/>
                        <a:lstStyle/>
                        <a:p>
                          <a:pPr algn="ctr"/>
                          <a:r>
                            <a:rPr lang="en-IN" sz="200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2"/>
                          <a:stretch>
                            <a:fillRect l="-500" t="-195455" r="-166000" b="-127273"/>
                          </a:stretch>
                        </a:blip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2"/>
                          <a:stretch>
                            <a:fillRect l="-500" t="-300000" r="-166000" b="-29231"/>
                          </a:stretch>
                        </a:blip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bl>
              </a:graphicData>
            </a:graphic>
          </p:graphicFrame>
        </mc:Fallback>
      </mc:AlternateContent>
      <p:sp>
        <p:nvSpPr>
          <p:cNvPr id="40" name="TextBox 39"/>
          <p:cNvSpPr txBox="1"/>
          <p:nvPr/>
        </p:nvSpPr>
        <p:spPr>
          <a:xfrm>
            <a:off x="1110709" y="5599158"/>
            <a:ext cx="3230473" cy="395170"/>
          </a:xfrm>
          <a:prstGeom prst="rect">
            <a:avLst/>
          </a:prstGeom>
          <a:noFill/>
          <a:ln w="28575">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102929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0" grpId="0"/>
      <p:bldP spid="4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Shortest Remaining Time Next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400" dirty="0">
                    <a:solidFill>
                      <a:schemeClr val="bg1"/>
                    </a:solidFill>
                  </a:rPr>
                  <a:t>Initially only process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present and it is allowed to run. </a:t>
                </a:r>
              </a:p>
              <a:p>
                <a:pPr marL="342900" indent="-342900" algn="just">
                  <a:buFont typeface="Wingdings" panose="05000000000000000000" pitchFamily="2" charset="2"/>
                  <a:buChar char="ü"/>
                </a:pPr>
                <a:r>
                  <a:rPr lang="en-US" sz="2400" dirty="0">
                    <a:solidFill>
                      <a:schemeClr val="bg1"/>
                    </a:solidFill>
                  </a:rPr>
                  <a:t>But,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𝟏</m:t>
                        </m:r>
                      </m:sub>
                    </m:sSub>
                  </m:oMath>
                </a14:m>
                <a:r>
                  <a:rPr lang="en-US" sz="2400" dirty="0">
                    <a:solidFill>
                      <a:schemeClr val="bg1"/>
                    </a:solidFill>
                  </a:rPr>
                  <a:t> comes, it has shortest remaining run time then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So,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preempted and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𝟏</m:t>
                        </m:r>
                      </m:sub>
                    </m:sSub>
                  </m:oMath>
                </a14:m>
                <a:r>
                  <a:rPr lang="en-US" sz="2400" dirty="0">
                    <a:solidFill>
                      <a:schemeClr val="bg1"/>
                    </a:solidFill>
                  </a:rPr>
                  <a:t> is allowed to run.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Whenever new process comes or current process blocks, such type of decision is taken.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This procedure is repeated till all processes complete their execution.</a:t>
                </a:r>
                <a:endParaRPr lang="en-IN" sz="2400" dirty="0">
                  <a:solidFill>
                    <a:schemeClr val="bg1"/>
                  </a:solidFill>
                </a:endParaRPr>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26017" y="400110"/>
              <a:ext cx="5718875" cy="2874036"/>
            </p:xfrm>
            <a:graphic>
              <a:graphicData uri="http://schemas.openxmlformats.org/drawingml/2006/table">
                <a:tbl>
                  <a:tblPr firstRow="1" bandRow="1">
                    <a:tableStyleId>{8EC20E35-A176-4012-BC5E-935CFFF8708E}</a:tableStyleId>
                  </a:tblPr>
                  <a:tblGrid>
                    <a:gridCol w="998349">
                      <a:extLst>
                        <a:ext uri="{9D8B030D-6E8A-4147-A177-3AD203B41FA5}">
                          <a16:colId xmlns:a16="http://schemas.microsoft.com/office/drawing/2014/main" val="20000"/>
                        </a:ext>
                      </a:extLst>
                    </a:gridCol>
                    <a:gridCol w="1349707">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226017" y="400110"/>
              <a:ext cx="5718875" cy="2874036"/>
            </p:xfrm>
            <a:graphic>
              <a:graphicData uri="http://schemas.openxmlformats.org/drawingml/2006/table">
                <a:tbl>
                  <a:tblPr firstRow="1" bandRow="1">
                    <a:tableStyleId>{8EC20E35-A176-4012-BC5E-935CFFF8708E}</a:tableStyleId>
                  </a:tblPr>
                  <a:tblGrid>
                    <a:gridCol w="998349">
                      <a:extLst>
                        <a:ext uri="{9D8B030D-6E8A-4147-A177-3AD203B41FA5}">
                          <a16:colId xmlns:a16="http://schemas.microsoft.com/office/drawing/2014/main" xmlns="" xmlns:a14="http://schemas.microsoft.com/office/drawing/2010/main" val="20000"/>
                        </a:ext>
                      </a:extLst>
                    </a:gridCol>
                    <a:gridCol w="1349707">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4324" t="-3810" r="-249550"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118478" r="-473171"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218478" r="-473171"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318478" r="-473171"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418478" r="-473171"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63286" y="3299308"/>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3768" y="381717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3768" y="381717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782026" y="3811767"/>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782026" y="3811767"/>
                <a:ext cx="69991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500727" y="3811766"/>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20" name="Rectangle 19"/>
              <p:cNvSpPr>
                <a:spLocks noRot="1" noChangeAspect="1" noMove="1" noResize="1" noEditPoints="1" noAdjustHandles="1" noChangeArrowheads="1" noChangeShapeType="1" noTextEdit="1"/>
              </p:cNvSpPr>
              <p:nvPr/>
            </p:nvSpPr>
            <p:spPr>
              <a:xfrm>
                <a:off x="1500727" y="3811766"/>
                <a:ext cx="69991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2188230" y="3811766"/>
                <a:ext cx="10865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2188230" y="3811766"/>
                <a:ext cx="1086540"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3275378" y="3811765"/>
                <a:ext cx="10865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22" name="Rectangle 21"/>
              <p:cNvSpPr>
                <a:spLocks noRot="1" noChangeAspect="1" noMove="1" noResize="1" noEditPoints="1" noAdjustHandles="1" noChangeArrowheads="1" noChangeShapeType="1" noTextEdit="1"/>
              </p:cNvSpPr>
              <p:nvPr/>
            </p:nvSpPr>
            <p:spPr>
              <a:xfrm>
                <a:off x="3275378" y="3811765"/>
                <a:ext cx="1086540"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24" name="TextBox 23"/>
          <p:cNvSpPr txBox="1"/>
          <p:nvPr/>
        </p:nvSpPr>
        <p:spPr>
          <a:xfrm>
            <a:off x="628605" y="4477932"/>
            <a:ext cx="318448" cy="381000"/>
          </a:xfrm>
          <a:prstGeom prst="rect">
            <a:avLst/>
          </a:prstGeom>
          <a:noFill/>
        </p:spPr>
        <p:txBody>
          <a:bodyPr wrap="square" rtlCol="0">
            <a:spAutoFit/>
          </a:bodyPr>
          <a:lstStyle/>
          <a:p>
            <a:r>
              <a:rPr lang="en-US" dirty="0"/>
              <a:t>1</a:t>
            </a:r>
          </a:p>
        </p:txBody>
      </p:sp>
      <p:sp>
        <p:nvSpPr>
          <p:cNvPr id="26" name="TextBox 25"/>
          <p:cNvSpPr txBox="1"/>
          <p:nvPr/>
        </p:nvSpPr>
        <p:spPr>
          <a:xfrm>
            <a:off x="1325904" y="4469394"/>
            <a:ext cx="318448" cy="381000"/>
          </a:xfrm>
          <a:prstGeom prst="rect">
            <a:avLst/>
          </a:prstGeom>
          <a:noFill/>
        </p:spPr>
        <p:txBody>
          <a:bodyPr wrap="square" rtlCol="0">
            <a:spAutoFit/>
          </a:bodyPr>
          <a:lstStyle/>
          <a:p>
            <a:r>
              <a:rPr lang="en-US" dirty="0"/>
              <a:t>3</a:t>
            </a:r>
          </a:p>
        </p:txBody>
      </p:sp>
      <p:sp>
        <p:nvSpPr>
          <p:cNvPr id="28" name="TextBox 27"/>
          <p:cNvSpPr txBox="1"/>
          <p:nvPr/>
        </p:nvSpPr>
        <p:spPr>
          <a:xfrm>
            <a:off x="2004102" y="4451625"/>
            <a:ext cx="318448" cy="381000"/>
          </a:xfrm>
          <a:prstGeom prst="rect">
            <a:avLst/>
          </a:prstGeom>
          <a:noFill/>
        </p:spPr>
        <p:txBody>
          <a:bodyPr wrap="square" rtlCol="0">
            <a:spAutoFit/>
          </a:bodyPr>
          <a:lstStyle/>
          <a:p>
            <a:r>
              <a:rPr lang="en-US" dirty="0"/>
              <a:t>5</a:t>
            </a:r>
          </a:p>
        </p:txBody>
      </p:sp>
      <p:sp>
        <p:nvSpPr>
          <p:cNvPr id="30" name="TextBox 29"/>
          <p:cNvSpPr txBox="1"/>
          <p:nvPr/>
        </p:nvSpPr>
        <p:spPr>
          <a:xfrm>
            <a:off x="3133249" y="4451625"/>
            <a:ext cx="318448" cy="381000"/>
          </a:xfrm>
          <a:prstGeom prst="rect">
            <a:avLst/>
          </a:prstGeom>
          <a:noFill/>
        </p:spPr>
        <p:txBody>
          <a:bodyPr wrap="square" rtlCol="0">
            <a:spAutoFit/>
          </a:bodyPr>
          <a:lstStyle/>
          <a:p>
            <a:r>
              <a:rPr lang="en-US" dirty="0"/>
              <a:t>9</a:t>
            </a:r>
          </a:p>
        </p:txBody>
      </p:sp>
      <p:sp>
        <p:nvSpPr>
          <p:cNvPr id="34" name="TextBox 33"/>
          <p:cNvSpPr txBox="1"/>
          <p:nvPr/>
        </p:nvSpPr>
        <p:spPr>
          <a:xfrm>
            <a:off x="4170358" y="4467123"/>
            <a:ext cx="428767" cy="369332"/>
          </a:xfrm>
          <a:prstGeom prst="rect">
            <a:avLst/>
          </a:prstGeom>
          <a:noFill/>
        </p:spPr>
        <p:txBody>
          <a:bodyPr wrap="square" rtlCol="0">
            <a:spAutoFit/>
          </a:bodyPr>
          <a:lstStyle/>
          <a:p>
            <a:r>
              <a:rPr lang="en-US" dirty="0"/>
              <a:t>13</a:t>
            </a:r>
          </a:p>
        </p:txBody>
      </p:sp>
      <mc:AlternateContent xmlns:mc="http://schemas.openxmlformats.org/markup-compatibility/2006" xmlns:a14="http://schemas.microsoft.com/office/drawing/2010/main">
        <mc:Choice Requires="a14">
          <p:graphicFrame>
            <p:nvGraphicFramePr>
              <p:cNvPr id="4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728931" y="4860047"/>
              <a:ext cx="3231276" cy="115824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54148">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mc:Choice>
        <mc:Fallback xmlns="">
          <p:graphicFrame>
            <p:nvGraphicFramePr>
              <p:cNvPr id="4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1728931" y="4860047"/>
              <a:ext cx="3231276" cy="115824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xmlns="" xmlns:a14="http://schemas.microsoft.com/office/drawing/2010/main" val="20000"/>
                        </a:ext>
                      </a:extLst>
                    </a:gridCol>
                    <a:gridCol w="2014344">
                      <a:extLst>
                        <a:ext uri="{9D8B030D-6E8A-4147-A177-3AD203B41FA5}">
                          <a16:colId xmlns:a16="http://schemas.microsoft.com/office/drawing/2014/main" xmlns="" xmlns:a14="http://schemas.microsoft.com/office/drawing/2010/main" val="20001"/>
                        </a:ext>
                      </a:extLst>
                    </a:gridCol>
                  </a:tblGrid>
                  <a:tr h="36576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3"/>
                          <a:stretch>
                            <a:fillRect t="-96970" r="-166000" b="-125758"/>
                          </a:stretch>
                        </a:blipFill>
                      </a:tcPr>
                    </a:tc>
                    <a:tc>
                      <a:txBody>
                        <a:bodyPr/>
                        <a:lstStyle/>
                        <a:p>
                          <a:pPr algn="ctr"/>
                          <a:r>
                            <a:rPr lang="en-IN" sz="200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3"/>
                          <a:stretch>
                            <a:fillRect t="-200000" r="-166000" b="-27692"/>
                          </a:stretch>
                        </a:blip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bl>
              </a:graphicData>
            </a:graphic>
          </p:graphicFrame>
        </mc:Fallback>
      </mc:AlternateContent>
      <p:sp>
        <p:nvSpPr>
          <p:cNvPr id="42" name="TextBox 41"/>
          <p:cNvSpPr txBox="1"/>
          <p:nvPr/>
        </p:nvSpPr>
        <p:spPr>
          <a:xfrm>
            <a:off x="1740997" y="5604560"/>
            <a:ext cx="3230473" cy="395170"/>
          </a:xfrm>
          <a:prstGeom prst="rect">
            <a:avLst/>
          </a:prstGeom>
          <a:noFill/>
          <a:ln w="28575">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2040302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34" grpId="0"/>
      <p:bldP spid="42"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Shortest Remaining Time Next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400" dirty="0">
                    <a:solidFill>
                      <a:schemeClr val="bg1"/>
                    </a:solidFill>
                  </a:rPr>
                  <a:t>Initially only process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present and it is allowed to run. </a:t>
                </a:r>
              </a:p>
              <a:p>
                <a:pPr marL="342900" indent="-342900" algn="just">
                  <a:buFont typeface="Wingdings" panose="05000000000000000000" pitchFamily="2" charset="2"/>
                  <a:buChar char="ü"/>
                </a:pPr>
                <a:r>
                  <a:rPr lang="en-US" sz="2400" dirty="0">
                    <a:solidFill>
                      <a:schemeClr val="bg1"/>
                    </a:solidFill>
                  </a:rPr>
                  <a:t>But,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𝟏</m:t>
                        </m:r>
                      </m:sub>
                    </m:sSub>
                  </m:oMath>
                </a14:m>
                <a:r>
                  <a:rPr lang="en-US" sz="2400" dirty="0">
                    <a:solidFill>
                      <a:schemeClr val="bg1"/>
                    </a:solidFill>
                  </a:rPr>
                  <a:t> comes, it has shortest remaining run time then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So,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preempted and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smtClean="0">
                            <a:solidFill>
                              <a:schemeClr val="bg1"/>
                            </a:solidFill>
                            <a:latin typeface="Cambria Math" panose="02040503050406030204" pitchFamily="18" charset="0"/>
                          </a:rPr>
                          <m:t>𝟏</m:t>
                        </m:r>
                      </m:sub>
                    </m:sSub>
                  </m:oMath>
                </a14:m>
                <a:r>
                  <a:rPr lang="en-US" sz="2400" dirty="0">
                    <a:solidFill>
                      <a:schemeClr val="bg1"/>
                    </a:solidFill>
                  </a:rPr>
                  <a:t> is allowed to run.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Whenever new process comes or current process blocks, such type of decision is taken.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This procedure is repeated till all processes complete their execution.</a:t>
                </a:r>
                <a:endParaRPr lang="en-IN" sz="2400" dirty="0">
                  <a:solidFill>
                    <a:schemeClr val="bg1"/>
                  </a:solidFill>
                </a:endParaRPr>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26017" y="400110"/>
              <a:ext cx="5718875" cy="2874036"/>
            </p:xfrm>
            <a:graphic>
              <a:graphicData uri="http://schemas.openxmlformats.org/drawingml/2006/table">
                <a:tbl>
                  <a:tblPr firstRow="1" bandRow="1">
                    <a:tableStyleId>{8EC20E35-A176-4012-BC5E-935CFFF8708E}</a:tableStyleId>
                  </a:tblPr>
                  <a:tblGrid>
                    <a:gridCol w="998349">
                      <a:extLst>
                        <a:ext uri="{9D8B030D-6E8A-4147-A177-3AD203B41FA5}">
                          <a16:colId xmlns:a16="http://schemas.microsoft.com/office/drawing/2014/main" val="20000"/>
                        </a:ext>
                      </a:extLst>
                    </a:gridCol>
                    <a:gridCol w="1349707">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226017" y="400110"/>
              <a:ext cx="5718875" cy="2874036"/>
            </p:xfrm>
            <a:graphic>
              <a:graphicData uri="http://schemas.openxmlformats.org/drawingml/2006/table">
                <a:tbl>
                  <a:tblPr firstRow="1" bandRow="1">
                    <a:tableStyleId>{8EC20E35-A176-4012-BC5E-935CFFF8708E}</a:tableStyleId>
                  </a:tblPr>
                  <a:tblGrid>
                    <a:gridCol w="998349">
                      <a:extLst>
                        <a:ext uri="{9D8B030D-6E8A-4147-A177-3AD203B41FA5}">
                          <a16:colId xmlns:a16="http://schemas.microsoft.com/office/drawing/2014/main" xmlns="" xmlns:a14="http://schemas.microsoft.com/office/drawing/2010/main" val="20000"/>
                        </a:ext>
                      </a:extLst>
                    </a:gridCol>
                    <a:gridCol w="1349707">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4324" t="-3810" r="-249550"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118478" r="-473171"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218478" r="-473171"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318478" r="-473171"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10" t="-418478" r="-473171"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63286" y="3299308"/>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3768" y="381717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3768" y="381717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782026" y="3811767"/>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782026" y="3811767"/>
                <a:ext cx="69991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500727" y="3811766"/>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20" name="Rectangle 19"/>
              <p:cNvSpPr>
                <a:spLocks noRot="1" noChangeAspect="1" noMove="1" noResize="1" noEditPoints="1" noAdjustHandles="1" noChangeArrowheads="1" noChangeShapeType="1" noTextEdit="1"/>
              </p:cNvSpPr>
              <p:nvPr/>
            </p:nvSpPr>
            <p:spPr>
              <a:xfrm>
                <a:off x="1500727" y="3811766"/>
                <a:ext cx="69991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2188230" y="3811766"/>
                <a:ext cx="10865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2188230" y="3811766"/>
                <a:ext cx="1086540"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3275378" y="3811765"/>
                <a:ext cx="10865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22" name="Rectangle 21"/>
              <p:cNvSpPr>
                <a:spLocks noRot="1" noChangeAspect="1" noMove="1" noResize="1" noEditPoints="1" noAdjustHandles="1" noChangeArrowheads="1" noChangeShapeType="1" noTextEdit="1"/>
              </p:cNvSpPr>
              <p:nvPr/>
            </p:nvSpPr>
            <p:spPr>
              <a:xfrm>
                <a:off x="3275378" y="3811765"/>
                <a:ext cx="1086540"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4348418" y="3811764"/>
                <a:ext cx="143958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0</m:t>
                          </m:r>
                        </m:sub>
                      </m:sSub>
                    </m:oMath>
                  </m:oMathPara>
                </a14:m>
                <a:endParaRPr lang="en-US" dirty="0"/>
              </a:p>
            </p:txBody>
          </p:sp>
        </mc:Choice>
        <mc:Fallback xmlns="">
          <p:sp>
            <p:nvSpPr>
              <p:cNvPr id="23" name="Rectangle 22"/>
              <p:cNvSpPr>
                <a:spLocks noRot="1" noChangeAspect="1" noMove="1" noResize="1" noEditPoints="1" noAdjustHandles="1" noChangeArrowheads="1" noChangeShapeType="1" noTextEdit="1"/>
              </p:cNvSpPr>
              <p:nvPr/>
            </p:nvSpPr>
            <p:spPr>
              <a:xfrm>
                <a:off x="4348418" y="3811764"/>
                <a:ext cx="1439587" cy="655359"/>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p:sp>
        <p:nvSpPr>
          <p:cNvPr id="24" name="TextBox 23"/>
          <p:cNvSpPr txBox="1"/>
          <p:nvPr/>
        </p:nvSpPr>
        <p:spPr>
          <a:xfrm>
            <a:off x="628605" y="4477932"/>
            <a:ext cx="318448" cy="381000"/>
          </a:xfrm>
          <a:prstGeom prst="rect">
            <a:avLst/>
          </a:prstGeom>
          <a:noFill/>
        </p:spPr>
        <p:txBody>
          <a:bodyPr wrap="square" rtlCol="0">
            <a:spAutoFit/>
          </a:bodyPr>
          <a:lstStyle/>
          <a:p>
            <a:r>
              <a:rPr lang="en-US" dirty="0"/>
              <a:t>1</a:t>
            </a:r>
          </a:p>
        </p:txBody>
      </p:sp>
      <p:sp>
        <p:nvSpPr>
          <p:cNvPr id="26" name="TextBox 25"/>
          <p:cNvSpPr txBox="1"/>
          <p:nvPr/>
        </p:nvSpPr>
        <p:spPr>
          <a:xfrm>
            <a:off x="1325904" y="4469394"/>
            <a:ext cx="318448" cy="381000"/>
          </a:xfrm>
          <a:prstGeom prst="rect">
            <a:avLst/>
          </a:prstGeom>
          <a:noFill/>
        </p:spPr>
        <p:txBody>
          <a:bodyPr wrap="square" rtlCol="0">
            <a:spAutoFit/>
          </a:bodyPr>
          <a:lstStyle/>
          <a:p>
            <a:r>
              <a:rPr lang="en-US" dirty="0"/>
              <a:t>3</a:t>
            </a:r>
          </a:p>
        </p:txBody>
      </p:sp>
      <p:sp>
        <p:nvSpPr>
          <p:cNvPr id="28" name="TextBox 27"/>
          <p:cNvSpPr txBox="1"/>
          <p:nvPr/>
        </p:nvSpPr>
        <p:spPr>
          <a:xfrm>
            <a:off x="2004102" y="4451625"/>
            <a:ext cx="318448" cy="381000"/>
          </a:xfrm>
          <a:prstGeom prst="rect">
            <a:avLst/>
          </a:prstGeom>
          <a:noFill/>
        </p:spPr>
        <p:txBody>
          <a:bodyPr wrap="square" rtlCol="0">
            <a:spAutoFit/>
          </a:bodyPr>
          <a:lstStyle/>
          <a:p>
            <a:r>
              <a:rPr lang="en-US" dirty="0"/>
              <a:t>5</a:t>
            </a:r>
          </a:p>
        </p:txBody>
      </p:sp>
      <p:sp>
        <p:nvSpPr>
          <p:cNvPr id="30" name="TextBox 29"/>
          <p:cNvSpPr txBox="1"/>
          <p:nvPr/>
        </p:nvSpPr>
        <p:spPr>
          <a:xfrm>
            <a:off x="3133249" y="4451625"/>
            <a:ext cx="318448" cy="381000"/>
          </a:xfrm>
          <a:prstGeom prst="rect">
            <a:avLst/>
          </a:prstGeom>
          <a:noFill/>
        </p:spPr>
        <p:txBody>
          <a:bodyPr wrap="square" rtlCol="0">
            <a:spAutoFit/>
          </a:bodyPr>
          <a:lstStyle/>
          <a:p>
            <a:r>
              <a:rPr lang="en-US" dirty="0"/>
              <a:t>9</a:t>
            </a:r>
          </a:p>
        </p:txBody>
      </p:sp>
      <p:sp>
        <p:nvSpPr>
          <p:cNvPr id="34" name="TextBox 33"/>
          <p:cNvSpPr txBox="1"/>
          <p:nvPr/>
        </p:nvSpPr>
        <p:spPr>
          <a:xfrm>
            <a:off x="4170358" y="4467123"/>
            <a:ext cx="428767" cy="369332"/>
          </a:xfrm>
          <a:prstGeom prst="rect">
            <a:avLst/>
          </a:prstGeom>
          <a:noFill/>
        </p:spPr>
        <p:txBody>
          <a:bodyPr wrap="square" rtlCol="0">
            <a:spAutoFit/>
          </a:bodyPr>
          <a:lstStyle/>
          <a:p>
            <a:r>
              <a:rPr lang="en-US" dirty="0"/>
              <a:t>13</a:t>
            </a:r>
          </a:p>
        </p:txBody>
      </p:sp>
      <p:sp>
        <p:nvSpPr>
          <p:cNvPr id="36" name="TextBox 35"/>
          <p:cNvSpPr txBox="1"/>
          <p:nvPr/>
        </p:nvSpPr>
        <p:spPr>
          <a:xfrm>
            <a:off x="5530121" y="4463293"/>
            <a:ext cx="428767" cy="369332"/>
          </a:xfrm>
          <a:prstGeom prst="rect">
            <a:avLst/>
          </a:prstGeom>
          <a:noFill/>
        </p:spPr>
        <p:txBody>
          <a:bodyPr wrap="square" rtlCol="0">
            <a:spAutoFit/>
          </a:bodyPr>
          <a:lstStyle/>
          <a:p>
            <a:r>
              <a:rPr lang="en-US" dirty="0"/>
              <a:t>22</a:t>
            </a:r>
          </a:p>
        </p:txBody>
      </p:sp>
      <mc:AlternateContent xmlns:mc="http://schemas.openxmlformats.org/markup-compatibility/2006" xmlns:a14="http://schemas.microsoft.com/office/drawing/2010/main">
        <mc:Choice Requires="a14">
          <p:graphicFrame>
            <p:nvGraphicFramePr>
              <p:cNvPr id="4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329646" y="4877819"/>
              <a:ext cx="3231276" cy="76200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54148">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Choice>
        <mc:Fallback xmlns="">
          <p:graphicFrame>
            <p:nvGraphicFramePr>
              <p:cNvPr id="4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329646" y="4877819"/>
              <a:ext cx="3231276" cy="76200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xmlns="" xmlns:a14="http://schemas.microsoft.com/office/drawing/2010/main" val="20000"/>
                        </a:ext>
                      </a:extLst>
                    </a:gridCol>
                    <a:gridCol w="2014344">
                      <a:extLst>
                        <a:ext uri="{9D8B030D-6E8A-4147-A177-3AD203B41FA5}">
                          <a16:colId xmlns:a16="http://schemas.microsoft.com/office/drawing/2014/main" xmlns="" xmlns:a14="http://schemas.microsoft.com/office/drawing/2010/main" val="20001"/>
                        </a:ext>
                      </a:extLst>
                    </a:gridCol>
                  </a:tblGrid>
                  <a:tr h="36576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4"/>
                          <a:stretch>
                            <a:fillRect l="-500" t="-96970" r="-166000" b="-27273"/>
                          </a:stretch>
                        </a:blipFill>
                      </a:tcPr>
                    </a:tc>
                    <a:tc>
                      <a:txBody>
                        <a:bodyPr/>
                        <a:lstStyle/>
                        <a:p>
                          <a:pPr algn="ctr"/>
                          <a:r>
                            <a:rPr lang="en-IN" sz="200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bl>
              </a:graphicData>
            </a:graphic>
          </p:graphicFrame>
        </mc:Fallback>
      </mc:AlternateContent>
      <p:sp>
        <p:nvSpPr>
          <p:cNvPr id="46" name="TextBox 45"/>
          <p:cNvSpPr txBox="1"/>
          <p:nvPr/>
        </p:nvSpPr>
        <p:spPr>
          <a:xfrm>
            <a:off x="2331691" y="5240599"/>
            <a:ext cx="3230473" cy="395170"/>
          </a:xfrm>
          <a:prstGeom prst="rect">
            <a:avLst/>
          </a:prstGeom>
          <a:noFill/>
          <a:ln w="28575">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1352812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ppt_x"/>
                                          </p:val>
                                        </p:tav>
                                        <p:tav tm="100000">
                                          <p:val>
                                            <p:strVal val="#ppt_x"/>
                                          </p:val>
                                        </p:tav>
                                      </p:tavLst>
                                    </p:anim>
                                    <p:anim calcmode="lin" valueType="num">
                                      <p:cBhvr additive="base">
                                        <p:cTn id="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6" grpId="0"/>
      <p:bldP spid="4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Remaining Time Next (SRTN)</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1014593" y="4337714"/>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014593" y="4337714"/>
                <a:ext cx="115517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p:sp>
        <p:nvSpPr>
          <p:cNvPr id="9" name="TextBox 8"/>
          <p:cNvSpPr txBox="1"/>
          <p:nvPr/>
        </p:nvSpPr>
        <p:spPr>
          <a:xfrm>
            <a:off x="855369" y="4993073"/>
            <a:ext cx="318448" cy="381000"/>
          </a:xfrm>
          <a:prstGeom prst="rect">
            <a:avLst/>
          </a:prstGeom>
          <a:noFill/>
        </p:spPr>
        <p:txBody>
          <a:bodyPr wrap="square" rtlCol="0">
            <a:spAutoFit/>
          </a:bodyPr>
          <a:lstStyle/>
          <a:p>
            <a:r>
              <a:rPr lang="en-US" dirty="0"/>
              <a:t>0</a:t>
            </a:r>
          </a:p>
        </p:txBody>
      </p:sp>
      <p:cxnSp>
        <p:nvCxnSpPr>
          <p:cNvPr id="14" name="Straight Connector 13"/>
          <p:cNvCxnSpPr/>
          <p:nvPr/>
        </p:nvCxnSpPr>
        <p:spPr>
          <a:xfrm flipH="1">
            <a:off x="1014593" y="4353205"/>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43" name="Rectangle 42"/>
              <p:cNvSpPr/>
              <p:nvPr/>
            </p:nvSpPr>
            <p:spPr>
              <a:xfrm>
                <a:off x="2167232" y="4337713"/>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3" name="Rectangle 42"/>
              <p:cNvSpPr>
                <a:spLocks noRot="1" noChangeAspect="1" noMove="1" noResize="1" noEditPoints="1" noAdjustHandles="1" noChangeArrowheads="1" noChangeShapeType="1" noTextEdit="1"/>
              </p:cNvSpPr>
              <p:nvPr/>
            </p:nvSpPr>
            <p:spPr>
              <a:xfrm>
                <a:off x="2167232" y="4337713"/>
                <a:ext cx="115517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p:cNvSpPr/>
              <p:nvPr/>
            </p:nvSpPr>
            <p:spPr>
              <a:xfrm>
                <a:off x="3317340" y="4337712"/>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4" name="Rectangle 43"/>
              <p:cNvSpPr>
                <a:spLocks noRot="1" noChangeAspect="1" noMove="1" noResize="1" noEditPoints="1" noAdjustHandles="1" noChangeArrowheads="1" noChangeShapeType="1" noTextEdit="1"/>
              </p:cNvSpPr>
              <p:nvPr/>
            </p:nvSpPr>
            <p:spPr>
              <a:xfrm>
                <a:off x="3317340" y="4337712"/>
                <a:ext cx="1155170"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p:cNvSpPr/>
              <p:nvPr/>
            </p:nvSpPr>
            <p:spPr>
              <a:xfrm>
                <a:off x="4469979" y="4337711"/>
                <a:ext cx="1450374"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5" name="Rectangle 44"/>
              <p:cNvSpPr>
                <a:spLocks noRot="1" noChangeAspect="1" noMove="1" noResize="1" noEditPoints="1" noAdjustHandles="1" noChangeArrowheads="1" noChangeShapeType="1" noTextEdit="1"/>
              </p:cNvSpPr>
              <p:nvPr/>
            </p:nvSpPr>
            <p:spPr>
              <a:xfrm>
                <a:off x="4469979" y="4337711"/>
                <a:ext cx="1450374"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5920353" y="4337710"/>
                <a:ext cx="1450374"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46" name="Rectangle 45"/>
              <p:cNvSpPr>
                <a:spLocks noRot="1" noChangeAspect="1" noMove="1" noResize="1" noEditPoints="1" noAdjustHandles="1" noChangeArrowheads="1" noChangeShapeType="1" noTextEdit="1"/>
              </p:cNvSpPr>
              <p:nvPr/>
            </p:nvSpPr>
            <p:spPr>
              <a:xfrm>
                <a:off x="5920353" y="4337710"/>
                <a:ext cx="1450374" cy="655359"/>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p:cNvSpPr/>
              <p:nvPr/>
            </p:nvSpPr>
            <p:spPr>
              <a:xfrm>
                <a:off x="7381351" y="4337709"/>
                <a:ext cx="1607666"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7381351" y="4337709"/>
                <a:ext cx="1607666" cy="655359"/>
              </a:xfrm>
              <a:prstGeom prst="rect">
                <a:avLst/>
              </a:prstGeom>
              <a:blipFill rotWithShape="0">
                <a:blip r:embed="rId10"/>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008008" y="4993068"/>
            <a:ext cx="318448" cy="381000"/>
          </a:xfrm>
          <a:prstGeom prst="rect">
            <a:avLst/>
          </a:prstGeom>
          <a:noFill/>
        </p:spPr>
        <p:txBody>
          <a:bodyPr wrap="square" rtlCol="0">
            <a:spAutoFit/>
          </a:bodyPr>
          <a:lstStyle/>
          <a:p>
            <a:r>
              <a:rPr lang="en-US" dirty="0"/>
              <a:t>1</a:t>
            </a:r>
          </a:p>
        </p:txBody>
      </p:sp>
      <p:sp>
        <p:nvSpPr>
          <p:cNvPr id="49" name="TextBox 48"/>
          <p:cNvSpPr txBox="1"/>
          <p:nvPr/>
        </p:nvSpPr>
        <p:spPr>
          <a:xfrm>
            <a:off x="3152804" y="4954815"/>
            <a:ext cx="318448" cy="381000"/>
          </a:xfrm>
          <a:prstGeom prst="rect">
            <a:avLst/>
          </a:prstGeom>
          <a:noFill/>
        </p:spPr>
        <p:txBody>
          <a:bodyPr wrap="square" rtlCol="0">
            <a:spAutoFit/>
          </a:bodyPr>
          <a:lstStyle/>
          <a:p>
            <a:r>
              <a:rPr lang="en-US" dirty="0"/>
              <a:t>3</a:t>
            </a:r>
          </a:p>
        </p:txBody>
      </p:sp>
      <p:sp>
        <p:nvSpPr>
          <p:cNvPr id="50" name="TextBox 49"/>
          <p:cNvSpPr txBox="1"/>
          <p:nvPr/>
        </p:nvSpPr>
        <p:spPr>
          <a:xfrm>
            <a:off x="4315817" y="4992946"/>
            <a:ext cx="318448" cy="381000"/>
          </a:xfrm>
          <a:prstGeom prst="rect">
            <a:avLst/>
          </a:prstGeom>
          <a:noFill/>
        </p:spPr>
        <p:txBody>
          <a:bodyPr wrap="square" rtlCol="0">
            <a:spAutoFit/>
          </a:bodyPr>
          <a:lstStyle/>
          <a:p>
            <a:r>
              <a:rPr lang="en-US" dirty="0"/>
              <a:t>5</a:t>
            </a:r>
          </a:p>
        </p:txBody>
      </p:sp>
      <p:sp>
        <p:nvSpPr>
          <p:cNvPr id="51" name="TextBox 50"/>
          <p:cNvSpPr txBox="1"/>
          <p:nvPr/>
        </p:nvSpPr>
        <p:spPr>
          <a:xfrm>
            <a:off x="5783552" y="4970191"/>
            <a:ext cx="318448" cy="381000"/>
          </a:xfrm>
          <a:prstGeom prst="rect">
            <a:avLst/>
          </a:prstGeom>
          <a:noFill/>
        </p:spPr>
        <p:txBody>
          <a:bodyPr wrap="square" rtlCol="0">
            <a:spAutoFit/>
          </a:bodyPr>
          <a:lstStyle/>
          <a:p>
            <a:r>
              <a:rPr lang="en-US" dirty="0"/>
              <a:t>9</a:t>
            </a:r>
          </a:p>
        </p:txBody>
      </p:sp>
      <p:sp>
        <p:nvSpPr>
          <p:cNvPr id="52" name="TextBox 51"/>
          <p:cNvSpPr txBox="1"/>
          <p:nvPr/>
        </p:nvSpPr>
        <p:spPr>
          <a:xfrm>
            <a:off x="7190339" y="4943147"/>
            <a:ext cx="423336" cy="381000"/>
          </a:xfrm>
          <a:prstGeom prst="rect">
            <a:avLst/>
          </a:prstGeom>
          <a:noFill/>
        </p:spPr>
        <p:txBody>
          <a:bodyPr wrap="square" rtlCol="0">
            <a:spAutoFit/>
          </a:bodyPr>
          <a:lstStyle/>
          <a:p>
            <a:r>
              <a:rPr lang="en-US" dirty="0"/>
              <a:t>13</a:t>
            </a:r>
          </a:p>
        </p:txBody>
      </p:sp>
      <p:sp>
        <p:nvSpPr>
          <p:cNvPr id="53" name="TextBox 52"/>
          <p:cNvSpPr txBox="1"/>
          <p:nvPr/>
        </p:nvSpPr>
        <p:spPr>
          <a:xfrm>
            <a:off x="8828972" y="4954815"/>
            <a:ext cx="531183" cy="369332"/>
          </a:xfrm>
          <a:prstGeom prst="rect">
            <a:avLst/>
          </a:prstGeom>
          <a:noFill/>
        </p:spPr>
        <p:txBody>
          <a:bodyPr wrap="square" rtlCol="0">
            <a:spAutoFit/>
          </a:bodyPr>
          <a:lstStyle/>
          <a:p>
            <a:r>
              <a:rPr lang="en-US" dirty="0"/>
              <a:t>22</a:t>
            </a:r>
          </a:p>
        </p:txBody>
      </p:sp>
      <p:sp>
        <p:nvSpPr>
          <p:cNvPr id="63" name="TextBox 62"/>
          <p:cNvSpPr txBox="1"/>
          <p:nvPr/>
        </p:nvSpPr>
        <p:spPr>
          <a:xfrm>
            <a:off x="1237649" y="1489663"/>
            <a:ext cx="1490790" cy="542441"/>
          </a:xfrm>
          <a:prstGeom prst="rect">
            <a:avLst/>
          </a:prstGeom>
          <a:noFill/>
          <a:ln w="57150">
            <a:solidFill>
              <a:srgbClr val="FF0000"/>
            </a:solidFill>
          </a:ln>
        </p:spPr>
        <p:txBody>
          <a:bodyPr wrap="square" rtlCol="0">
            <a:spAutoFit/>
          </a:bodyPr>
          <a:lstStyle/>
          <a:p>
            <a:endParaRPr lang="en-IN" dirty="0"/>
          </a:p>
        </p:txBody>
      </p:sp>
      <p:sp>
        <p:nvSpPr>
          <p:cNvPr id="64" name="TextBox 63"/>
          <p:cNvSpPr txBox="1"/>
          <p:nvPr/>
        </p:nvSpPr>
        <p:spPr>
          <a:xfrm>
            <a:off x="6346131" y="1484016"/>
            <a:ext cx="1381969" cy="542441"/>
          </a:xfrm>
          <a:prstGeom prst="rect">
            <a:avLst/>
          </a:prstGeom>
          <a:noFill/>
          <a:ln w="57150">
            <a:solidFill>
              <a:srgbClr val="FF0000"/>
            </a:solidFill>
          </a:ln>
        </p:spPr>
        <p:txBody>
          <a:bodyPr wrap="square" rtlCol="0">
            <a:spAutoFit/>
          </a:bodyPr>
          <a:lstStyle/>
          <a:p>
            <a:endParaRPr lang="en-IN" dirty="0"/>
          </a:p>
        </p:txBody>
      </p:sp>
      <p:sp>
        <p:nvSpPr>
          <p:cNvPr id="65" name="TextBox 64"/>
          <p:cNvSpPr txBox="1"/>
          <p:nvPr/>
        </p:nvSpPr>
        <p:spPr>
          <a:xfrm>
            <a:off x="6346131" y="2026457"/>
            <a:ext cx="1381969" cy="542441"/>
          </a:xfrm>
          <a:prstGeom prst="rect">
            <a:avLst/>
          </a:prstGeom>
          <a:noFill/>
          <a:ln w="57150">
            <a:solidFill>
              <a:srgbClr val="FF0000"/>
            </a:solidFill>
          </a:ln>
        </p:spPr>
        <p:txBody>
          <a:bodyPr wrap="square" rtlCol="0">
            <a:spAutoFit/>
          </a:bodyPr>
          <a:lstStyle/>
          <a:p>
            <a:endParaRPr lang="en-IN" dirty="0"/>
          </a:p>
        </p:txBody>
      </p:sp>
      <p:sp>
        <p:nvSpPr>
          <p:cNvPr id="66" name="TextBox 65"/>
          <p:cNvSpPr txBox="1"/>
          <p:nvPr/>
        </p:nvSpPr>
        <p:spPr>
          <a:xfrm>
            <a:off x="1254027" y="2026457"/>
            <a:ext cx="1490790" cy="542441"/>
          </a:xfrm>
          <a:prstGeom prst="rect">
            <a:avLst/>
          </a:prstGeom>
          <a:noFill/>
          <a:ln w="57150">
            <a:solidFill>
              <a:srgbClr val="FF0000"/>
            </a:solidFill>
          </a:ln>
        </p:spPr>
        <p:txBody>
          <a:bodyPr wrap="square" rtlCol="0">
            <a:spAutoFit/>
          </a:bodyPr>
          <a:lstStyle/>
          <a:p>
            <a:endParaRPr lang="en-IN" dirty="0"/>
          </a:p>
        </p:txBody>
      </p:sp>
      <p:sp>
        <p:nvSpPr>
          <p:cNvPr id="67" name="TextBox 66"/>
          <p:cNvSpPr txBox="1"/>
          <p:nvPr/>
        </p:nvSpPr>
        <p:spPr>
          <a:xfrm>
            <a:off x="6346130" y="2593559"/>
            <a:ext cx="1381969" cy="542441"/>
          </a:xfrm>
          <a:prstGeom prst="rect">
            <a:avLst/>
          </a:prstGeom>
          <a:noFill/>
          <a:ln w="57150">
            <a:solidFill>
              <a:srgbClr val="FF0000"/>
            </a:solidFill>
          </a:ln>
        </p:spPr>
        <p:txBody>
          <a:bodyPr wrap="square" rtlCol="0">
            <a:spAutoFit/>
          </a:bodyPr>
          <a:lstStyle/>
          <a:p>
            <a:endParaRPr lang="en-IN" dirty="0"/>
          </a:p>
        </p:txBody>
      </p:sp>
      <p:sp>
        <p:nvSpPr>
          <p:cNvPr id="68" name="TextBox 67"/>
          <p:cNvSpPr txBox="1"/>
          <p:nvPr/>
        </p:nvSpPr>
        <p:spPr>
          <a:xfrm>
            <a:off x="1237649" y="2577148"/>
            <a:ext cx="1490790" cy="542441"/>
          </a:xfrm>
          <a:prstGeom prst="rect">
            <a:avLst/>
          </a:prstGeom>
          <a:noFill/>
          <a:ln w="57150">
            <a:solidFill>
              <a:srgbClr val="FF0000"/>
            </a:solidFill>
          </a:ln>
        </p:spPr>
        <p:txBody>
          <a:bodyPr wrap="square" rtlCol="0">
            <a:spAutoFit/>
          </a:bodyPr>
          <a:lstStyle/>
          <a:p>
            <a:endParaRPr lang="en-IN" dirty="0"/>
          </a:p>
        </p:txBody>
      </p:sp>
      <p:sp>
        <p:nvSpPr>
          <p:cNvPr id="69" name="TextBox 68"/>
          <p:cNvSpPr txBox="1"/>
          <p:nvPr/>
        </p:nvSpPr>
        <p:spPr>
          <a:xfrm>
            <a:off x="6346129" y="3145527"/>
            <a:ext cx="1381969" cy="542441"/>
          </a:xfrm>
          <a:prstGeom prst="rect">
            <a:avLst/>
          </a:prstGeom>
          <a:noFill/>
          <a:ln w="57150">
            <a:solidFill>
              <a:srgbClr val="FF0000"/>
            </a:solidFill>
          </a:ln>
        </p:spPr>
        <p:txBody>
          <a:bodyPr wrap="square" rtlCol="0">
            <a:spAutoFit/>
          </a:bodyPr>
          <a:lstStyle/>
          <a:p>
            <a:endParaRPr lang="en-IN" dirty="0"/>
          </a:p>
        </p:txBody>
      </p:sp>
      <p:sp>
        <p:nvSpPr>
          <p:cNvPr id="70" name="TextBox 69"/>
          <p:cNvSpPr txBox="1"/>
          <p:nvPr/>
        </p:nvSpPr>
        <p:spPr>
          <a:xfrm>
            <a:off x="1254027" y="3129440"/>
            <a:ext cx="1490790" cy="542441"/>
          </a:xfrm>
          <a:prstGeom prst="rect">
            <a:avLst/>
          </a:prstGeom>
          <a:noFill/>
          <a:ln w="57150">
            <a:solidFill>
              <a:srgbClr val="FF0000"/>
            </a:solidFill>
          </a:ln>
        </p:spPr>
        <p:txBody>
          <a:bodyPr wrap="square" rtlCol="0">
            <a:spAutoFit/>
          </a:bodyPr>
          <a:lstStyle/>
          <a:p>
            <a:endParaRPr lang="en-IN" dirty="0"/>
          </a:p>
        </p:txBody>
      </p:sp>
      <p:sp>
        <p:nvSpPr>
          <p:cNvPr id="80" name="TextBox 79"/>
          <p:cNvSpPr txBox="1"/>
          <p:nvPr/>
        </p:nvSpPr>
        <p:spPr>
          <a:xfrm>
            <a:off x="1014593" y="5488059"/>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Turnaround Time </a:t>
            </a:r>
            <a:r>
              <a:rPr lang="en-US" sz="2000" dirty="0"/>
              <a:t>= Sum of all Process’s Turn Around Time/ Total Process</a:t>
            </a:r>
          </a:p>
          <a:p>
            <a:r>
              <a:rPr lang="en-US" sz="2000" dirty="0"/>
              <a:t>                                                    = (22+8+2+8)/4 </a:t>
            </a:r>
          </a:p>
          <a:p>
            <a:r>
              <a:rPr lang="en-US" sz="2000" dirty="0"/>
              <a:t>                                                    = 10 </a:t>
            </a:r>
            <a:r>
              <a:rPr lang="en-US" sz="2000" dirty="0" err="1"/>
              <a:t>ms.</a:t>
            </a:r>
            <a:endParaRPr lang="en-US" sz="2000" dirty="0"/>
          </a:p>
        </p:txBody>
      </p:sp>
      <p:sp>
        <p:nvSpPr>
          <p:cNvPr id="57" name="TextBox 56"/>
          <p:cNvSpPr txBox="1"/>
          <p:nvPr/>
        </p:nvSpPr>
        <p:spPr>
          <a:xfrm>
            <a:off x="7728098" y="1484016"/>
            <a:ext cx="2049246" cy="2222902"/>
          </a:xfrm>
          <a:prstGeom prst="rect">
            <a:avLst/>
          </a:prstGeom>
          <a:noFill/>
          <a:ln w="57150">
            <a:solidFill>
              <a:srgbClr val="FF0000"/>
            </a:solidFill>
          </a:ln>
        </p:spPr>
        <p:txBody>
          <a:bodyPr wrap="square" rtlCol="0">
            <a:spAutoFit/>
          </a:bodyPr>
          <a:lstStyle/>
          <a:p>
            <a:endParaRPr lang="en-IN" dirty="0"/>
          </a:p>
        </p:txBody>
      </p:sp>
      <p:sp>
        <p:nvSpPr>
          <p:cNvPr id="41" name="TextBox 40">
            <a:extLst>
              <a:ext uri="{FF2B5EF4-FFF2-40B4-BE49-F238E27FC236}">
                <a16:creationId xmlns:a16="http://schemas.microsoft.com/office/drawing/2014/main" id="{44BF04D6-5FBB-4892-94D4-94050A6A505A}"/>
              </a:ext>
            </a:extLst>
          </p:cNvPr>
          <p:cNvSpPr txBox="1"/>
          <p:nvPr/>
        </p:nvSpPr>
        <p:spPr>
          <a:xfrm>
            <a:off x="1948031" y="4973882"/>
            <a:ext cx="457823" cy="381000"/>
          </a:xfrm>
          <a:prstGeom prst="rect">
            <a:avLst/>
          </a:prstGeom>
          <a:noFill/>
          <a:ln w="57150">
            <a:solidFill>
              <a:srgbClr val="FF0000"/>
            </a:solidFill>
          </a:ln>
        </p:spPr>
        <p:txBody>
          <a:bodyPr wrap="square" rtlCol="0">
            <a:spAutoFit/>
          </a:bodyPr>
          <a:lstStyle/>
          <a:p>
            <a:endParaRPr lang="en-IN" dirty="0"/>
          </a:p>
        </p:txBody>
      </p:sp>
      <p:sp>
        <p:nvSpPr>
          <p:cNvPr id="54" name="TextBox 53">
            <a:extLst>
              <a:ext uri="{FF2B5EF4-FFF2-40B4-BE49-F238E27FC236}">
                <a16:creationId xmlns:a16="http://schemas.microsoft.com/office/drawing/2014/main" id="{C9EA173E-1DA9-4CED-9CE5-21165C6E3B2B}"/>
              </a:ext>
            </a:extLst>
          </p:cNvPr>
          <p:cNvSpPr txBox="1"/>
          <p:nvPr/>
        </p:nvSpPr>
        <p:spPr>
          <a:xfrm>
            <a:off x="3068679" y="4988393"/>
            <a:ext cx="457823" cy="381000"/>
          </a:xfrm>
          <a:prstGeom prst="rect">
            <a:avLst/>
          </a:prstGeom>
          <a:noFill/>
          <a:ln w="57150">
            <a:solidFill>
              <a:srgbClr val="FF0000"/>
            </a:solidFill>
          </a:ln>
        </p:spPr>
        <p:txBody>
          <a:bodyPr wrap="square" rtlCol="0">
            <a:spAutoFit/>
          </a:bodyPr>
          <a:lstStyle/>
          <a:p>
            <a:endParaRPr lang="en-IN" dirty="0"/>
          </a:p>
        </p:txBody>
      </p:sp>
      <p:sp>
        <p:nvSpPr>
          <p:cNvPr id="55" name="TextBox 54">
            <a:extLst>
              <a:ext uri="{FF2B5EF4-FFF2-40B4-BE49-F238E27FC236}">
                <a16:creationId xmlns:a16="http://schemas.microsoft.com/office/drawing/2014/main" id="{69ECBA06-0632-4CCC-BBE7-98113E5C13CA}"/>
              </a:ext>
            </a:extLst>
          </p:cNvPr>
          <p:cNvSpPr txBox="1"/>
          <p:nvPr/>
        </p:nvSpPr>
        <p:spPr>
          <a:xfrm>
            <a:off x="4236335" y="4983906"/>
            <a:ext cx="457823" cy="381000"/>
          </a:xfrm>
          <a:prstGeom prst="rect">
            <a:avLst/>
          </a:prstGeom>
          <a:noFill/>
          <a:ln w="57150">
            <a:solidFill>
              <a:srgbClr val="FF0000"/>
            </a:solidFill>
          </a:ln>
        </p:spPr>
        <p:txBody>
          <a:bodyPr wrap="square" rtlCol="0">
            <a:spAutoFit/>
          </a:bodyPr>
          <a:lstStyle/>
          <a:p>
            <a:endParaRPr lang="en-IN" dirty="0"/>
          </a:p>
        </p:txBody>
      </p:sp>
      <p:sp>
        <p:nvSpPr>
          <p:cNvPr id="56" name="TextBox 55">
            <a:extLst>
              <a:ext uri="{FF2B5EF4-FFF2-40B4-BE49-F238E27FC236}">
                <a16:creationId xmlns:a16="http://schemas.microsoft.com/office/drawing/2014/main" id="{C9E700CD-7991-46B5-A639-2DB36FFF30C8}"/>
              </a:ext>
            </a:extLst>
          </p:cNvPr>
          <p:cNvSpPr txBox="1"/>
          <p:nvPr/>
        </p:nvSpPr>
        <p:spPr>
          <a:xfrm>
            <a:off x="5686099" y="4980308"/>
            <a:ext cx="457823" cy="381000"/>
          </a:xfrm>
          <a:prstGeom prst="rect">
            <a:avLst/>
          </a:prstGeom>
          <a:noFill/>
          <a:ln w="57150">
            <a:solidFill>
              <a:srgbClr val="FF0000"/>
            </a:solidFill>
          </a:ln>
        </p:spPr>
        <p:txBody>
          <a:bodyPr wrap="square" rtlCol="0">
            <a:spAutoFit/>
          </a:bodyPr>
          <a:lstStyle/>
          <a:p>
            <a:endParaRPr lang="en-IN" dirty="0"/>
          </a:p>
        </p:txBody>
      </p:sp>
      <p:sp>
        <p:nvSpPr>
          <p:cNvPr id="58" name="TextBox 57">
            <a:extLst>
              <a:ext uri="{FF2B5EF4-FFF2-40B4-BE49-F238E27FC236}">
                <a16:creationId xmlns:a16="http://schemas.microsoft.com/office/drawing/2014/main" id="{C57EB700-2801-4035-A272-A7359805BAD5}"/>
              </a:ext>
            </a:extLst>
          </p:cNvPr>
          <p:cNvSpPr txBox="1"/>
          <p:nvPr/>
        </p:nvSpPr>
        <p:spPr>
          <a:xfrm>
            <a:off x="7182835" y="4950048"/>
            <a:ext cx="457823" cy="381000"/>
          </a:xfrm>
          <a:prstGeom prst="rect">
            <a:avLst/>
          </a:prstGeom>
          <a:noFill/>
          <a:ln w="57150">
            <a:solidFill>
              <a:srgbClr val="FF0000"/>
            </a:solidFill>
          </a:ln>
        </p:spPr>
        <p:txBody>
          <a:bodyPr wrap="square" rtlCol="0">
            <a:spAutoFit/>
          </a:bodyPr>
          <a:lstStyle/>
          <a:p>
            <a:endParaRPr lang="en-IN" dirty="0"/>
          </a:p>
        </p:txBody>
      </p:sp>
      <p:sp>
        <p:nvSpPr>
          <p:cNvPr id="59" name="TextBox 58">
            <a:extLst>
              <a:ext uri="{FF2B5EF4-FFF2-40B4-BE49-F238E27FC236}">
                <a16:creationId xmlns:a16="http://schemas.microsoft.com/office/drawing/2014/main" id="{2D3FCDB0-C02C-48C0-BDB1-18FAC47CF656}"/>
              </a:ext>
            </a:extLst>
          </p:cNvPr>
          <p:cNvSpPr txBox="1"/>
          <p:nvPr/>
        </p:nvSpPr>
        <p:spPr>
          <a:xfrm>
            <a:off x="8789473" y="4961056"/>
            <a:ext cx="457823" cy="381000"/>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2970620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26" presetClass="emph" presetSubtype="0" repeatCount="indefinite" fill="hold" grpId="1" nodeType="withEffect">
                                  <p:stCondLst>
                                    <p:cond delay="0"/>
                                  </p:stCondLst>
                                  <p:endCondLst>
                                    <p:cond evt="onNext" delay="0">
                                      <p:tgtEl>
                                        <p:sldTgt/>
                                      </p:tgtEl>
                                    </p:cond>
                                  </p:endCondLst>
                                  <p:childTnLst>
                                    <p:animEffect transition="out" filter="fade">
                                      <p:cBhvr>
                                        <p:cTn id="16" dur="500" tmFilter="0, 0; .2, .5; .8, .5; 1, 0"/>
                                        <p:tgtEl>
                                          <p:spTgt spid="59"/>
                                        </p:tgtEl>
                                      </p:cBhvr>
                                    </p:animEffect>
                                    <p:animScale>
                                      <p:cBhvr>
                                        <p:cTn id="17" dur="250" autoRev="1" fill="hold"/>
                                        <p:tgtEl>
                                          <p:spTgt spid="59"/>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par>
                                <p:cTn id="22" presetID="1" presetClass="exit" presetSubtype="0" fill="hold" grpId="2" nodeType="withEffect">
                                  <p:stCondLst>
                                    <p:cond delay="0"/>
                                  </p:stCondLst>
                                  <p:childTnLst>
                                    <p:set>
                                      <p:cBhvr>
                                        <p:cTn id="23" dur="1" fill="hold">
                                          <p:stCondLst>
                                            <p:cond delay="0"/>
                                          </p:stCondLst>
                                        </p:cTn>
                                        <p:tgtEl>
                                          <p:spTgt spid="59"/>
                                        </p:tgtEl>
                                        <p:attrNameLst>
                                          <p:attrName>style.visibility</p:attrName>
                                        </p:attrNameLst>
                                      </p:cBhvr>
                                      <p:to>
                                        <p:strVal val="hidden"/>
                                      </p:to>
                                    </p:set>
                                  </p:childTnLst>
                                </p:cTn>
                              </p:par>
                              <p:par>
                                <p:cTn id="24" presetID="1" presetClass="entr" presetSubtype="0" fill="hold" grpId="0" nodeType="withEffect">
                                  <p:stCondLst>
                                    <p:cond delay="0"/>
                                  </p:stCondLst>
                                  <p:childTnLst>
                                    <p:set>
                                      <p:cBhvr>
                                        <p:cTn id="25" dur="1" fill="hold">
                                          <p:stCondLst>
                                            <p:cond delay="0"/>
                                          </p:stCondLst>
                                        </p:cTn>
                                        <p:tgtEl>
                                          <p:spTgt spid="51"/>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6"/>
                                        </p:tgtEl>
                                        <p:attrNameLst>
                                          <p:attrName>style.visibility</p:attrName>
                                        </p:attrNameLst>
                                      </p:cBhvr>
                                      <p:to>
                                        <p:strVal val="visible"/>
                                      </p:to>
                                    </p:set>
                                  </p:childTnLst>
                                </p:cTn>
                              </p:par>
                              <p:par>
                                <p:cTn id="28" presetID="26" presetClass="emph" presetSubtype="0" repeatCount="indefinite" fill="hold" grpId="1" nodeType="withEffect">
                                  <p:stCondLst>
                                    <p:cond delay="0"/>
                                  </p:stCondLst>
                                  <p:endCondLst>
                                    <p:cond evt="onNext" delay="0">
                                      <p:tgtEl>
                                        <p:sldTgt/>
                                      </p:tgtEl>
                                    </p:cond>
                                  </p:endCondLst>
                                  <p:childTnLst>
                                    <p:animEffect transition="out" filter="fade">
                                      <p:cBhvr>
                                        <p:cTn id="29" dur="500" tmFilter="0, 0; .2, .5; .8, .5; 1, 0"/>
                                        <p:tgtEl>
                                          <p:spTgt spid="56"/>
                                        </p:tgtEl>
                                      </p:cBhvr>
                                    </p:animEffect>
                                    <p:animScale>
                                      <p:cBhvr>
                                        <p:cTn id="30" dur="250" autoRev="1" fill="hold"/>
                                        <p:tgtEl>
                                          <p:spTgt spid="56"/>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xit" presetSubtype="0" fill="hold" grpId="2" nodeType="withEffect">
                                  <p:stCondLst>
                                    <p:cond delay="0"/>
                                  </p:stCondLst>
                                  <p:childTnLst>
                                    <p:set>
                                      <p:cBhvr>
                                        <p:cTn id="38" dur="1" fill="hold">
                                          <p:stCondLst>
                                            <p:cond delay="0"/>
                                          </p:stCondLst>
                                        </p:cTn>
                                        <p:tgtEl>
                                          <p:spTgt spid="56"/>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par>
                                <p:cTn id="41" presetID="26" presetClass="emph" presetSubtype="0" repeatCount="indefinite" fill="hold" grpId="1" nodeType="withEffect">
                                  <p:stCondLst>
                                    <p:cond delay="0"/>
                                  </p:stCondLst>
                                  <p:endCondLst>
                                    <p:cond evt="onNext" delay="0">
                                      <p:tgtEl>
                                        <p:sldTgt/>
                                      </p:tgtEl>
                                    </p:cond>
                                  </p:endCondLst>
                                  <p:childTnLst>
                                    <p:animEffect transition="out" filter="fade">
                                      <p:cBhvr>
                                        <p:cTn id="42" dur="500" tmFilter="0, 0; .2, .5; .8, .5; 1, 0"/>
                                        <p:tgtEl>
                                          <p:spTgt spid="55"/>
                                        </p:tgtEl>
                                      </p:cBhvr>
                                    </p:animEffect>
                                    <p:animScale>
                                      <p:cBhvr>
                                        <p:cTn id="43" dur="250" autoRev="1" fill="hold"/>
                                        <p:tgtEl>
                                          <p:spTgt spid="55"/>
                                        </p:tgtEl>
                                      </p:cBhvr>
                                      <p:by x="105000" y="105000"/>
                                    </p:animScale>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52"/>
                                        </p:tgtEl>
                                        <p:attrNameLst>
                                          <p:attrName>style.visibility</p:attrName>
                                        </p:attrNameLst>
                                      </p:cBhvr>
                                      <p:to>
                                        <p:strVal val="visible"/>
                                      </p:to>
                                    </p:set>
                                  </p:childTnLst>
                                </p:cTn>
                              </p:par>
                              <p:par>
                                <p:cTn id="50" presetID="1" presetClass="exit" presetSubtype="0" fill="hold" grpId="2" nodeType="withEffect">
                                  <p:stCondLst>
                                    <p:cond delay="0"/>
                                  </p:stCondLst>
                                  <p:childTnLst>
                                    <p:set>
                                      <p:cBhvr>
                                        <p:cTn id="51" dur="1" fill="hold">
                                          <p:stCondLst>
                                            <p:cond delay="0"/>
                                          </p:stCondLst>
                                        </p:cTn>
                                        <p:tgtEl>
                                          <p:spTgt spid="55"/>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58"/>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58"/>
                                        </p:tgtEl>
                                      </p:cBhvr>
                                    </p:animEffect>
                                    <p:animScale>
                                      <p:cBhvr>
                                        <p:cTn id="56" dur="250" autoRev="1" fill="hold"/>
                                        <p:tgtEl>
                                          <p:spTgt spid="58"/>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58"/>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3"/>
                                        </p:tgtEl>
                                        <p:attrNameLst>
                                          <p:attrName>style.visibility</p:attrName>
                                        </p:attrNameLst>
                                      </p:cBhvr>
                                      <p:to>
                                        <p:strVal val="visible"/>
                                      </p:to>
                                    </p:set>
                                  </p:childTnLst>
                                </p:cTn>
                              </p:par>
                              <p:par>
                                <p:cTn id="69" presetID="26" presetClass="emph" presetSubtype="0" repeatCount="indefinite" fill="hold" grpId="1" nodeType="withEffect">
                                  <p:stCondLst>
                                    <p:cond delay="0"/>
                                  </p:stCondLst>
                                  <p:endCondLst>
                                    <p:cond evt="onNext" delay="0">
                                      <p:tgtEl>
                                        <p:sldTgt/>
                                      </p:tgtEl>
                                    </p:cond>
                                  </p:endCondLst>
                                  <p:childTnLst>
                                    <p:animEffect transition="out" filter="fade">
                                      <p:cBhvr>
                                        <p:cTn id="70" dur="500" tmFilter="0, 0; .2, .5; .8, .5; 1, 0"/>
                                        <p:tgtEl>
                                          <p:spTgt spid="63"/>
                                        </p:tgtEl>
                                      </p:cBhvr>
                                    </p:animEffect>
                                    <p:animScale>
                                      <p:cBhvr>
                                        <p:cTn id="71" dur="250" autoRev="1" fill="hold"/>
                                        <p:tgtEl>
                                          <p:spTgt spid="63"/>
                                        </p:tgtEl>
                                      </p:cBhvr>
                                      <p:by x="105000" y="105000"/>
                                    </p:animScale>
                                  </p:childTnLst>
                                </p:cTn>
                              </p:par>
                              <p:par>
                                <p:cTn id="72" presetID="1" presetClass="entr" presetSubtype="0" fill="hold" grpId="0" nodeType="withEffect">
                                  <p:stCondLst>
                                    <p:cond delay="0"/>
                                  </p:stCondLst>
                                  <p:childTnLst>
                                    <p:set>
                                      <p:cBhvr>
                                        <p:cTn id="73" dur="1" fill="hold">
                                          <p:stCondLst>
                                            <p:cond delay="0"/>
                                          </p:stCondLst>
                                        </p:cTn>
                                        <p:tgtEl>
                                          <p:spTgt spid="64"/>
                                        </p:tgtEl>
                                        <p:attrNameLst>
                                          <p:attrName>style.visibility</p:attrName>
                                        </p:attrNameLst>
                                      </p:cBhvr>
                                      <p:to>
                                        <p:strVal val="visible"/>
                                      </p:to>
                                    </p:set>
                                  </p:childTnLst>
                                </p:cTn>
                              </p:par>
                              <p:par>
                                <p:cTn id="74" presetID="26" presetClass="emph" presetSubtype="0" repeatCount="indefinite" fill="hold" grpId="1" nodeType="withEffect">
                                  <p:stCondLst>
                                    <p:cond delay="0"/>
                                  </p:stCondLst>
                                  <p:endCondLst>
                                    <p:cond evt="onNext" delay="0">
                                      <p:tgtEl>
                                        <p:sldTgt/>
                                      </p:tgtEl>
                                    </p:cond>
                                  </p:endCondLst>
                                  <p:childTnLst>
                                    <p:animEffect transition="out" filter="fade">
                                      <p:cBhvr>
                                        <p:cTn id="75" dur="500" tmFilter="0, 0; .2, .5; .8, .5; 1, 0"/>
                                        <p:tgtEl>
                                          <p:spTgt spid="64"/>
                                        </p:tgtEl>
                                      </p:cBhvr>
                                    </p:animEffect>
                                    <p:animScale>
                                      <p:cBhvr>
                                        <p:cTn id="76" dur="250" autoRev="1" fill="hold"/>
                                        <p:tgtEl>
                                          <p:spTgt spid="64"/>
                                        </p:tgtEl>
                                      </p:cBhvr>
                                      <p:by x="105000" y="105000"/>
                                    </p:animScale>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par>
                                <p:cTn id="81" presetID="1" presetClass="exit" presetSubtype="0" fill="hold" grpId="2" nodeType="withEffect">
                                  <p:stCondLst>
                                    <p:cond delay="0"/>
                                  </p:stCondLst>
                                  <p:childTnLst>
                                    <p:set>
                                      <p:cBhvr>
                                        <p:cTn id="82" dur="1" fill="hold">
                                          <p:stCondLst>
                                            <p:cond delay="0"/>
                                          </p:stCondLst>
                                        </p:cTn>
                                        <p:tgtEl>
                                          <p:spTgt spid="63"/>
                                        </p:tgtEl>
                                        <p:attrNameLst>
                                          <p:attrName>style.visibility</p:attrName>
                                        </p:attrNameLst>
                                      </p:cBhvr>
                                      <p:to>
                                        <p:strVal val="hidden"/>
                                      </p:to>
                                    </p:set>
                                  </p:childTnLst>
                                </p:cTn>
                              </p:par>
                              <p:par>
                                <p:cTn id="83" presetID="1" presetClass="exit" presetSubtype="0" fill="hold" grpId="2" nodeType="withEffect">
                                  <p:stCondLst>
                                    <p:cond delay="0"/>
                                  </p:stCondLst>
                                  <p:childTnLst>
                                    <p:set>
                                      <p:cBhvr>
                                        <p:cTn id="84" dur="1" fill="hold">
                                          <p:stCondLst>
                                            <p:cond delay="0"/>
                                          </p:stCondLst>
                                        </p:cTn>
                                        <p:tgtEl>
                                          <p:spTgt spid="64"/>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65"/>
                                        </p:tgtEl>
                                        <p:attrNameLst>
                                          <p:attrName>style.visibility</p:attrName>
                                        </p:attrNameLst>
                                      </p:cBhvr>
                                      <p:to>
                                        <p:strVal val="visible"/>
                                      </p:to>
                                    </p:set>
                                  </p:childTnLst>
                                </p:cTn>
                              </p:par>
                              <p:par>
                                <p:cTn id="87" presetID="26" presetClass="emph" presetSubtype="0" repeatCount="indefinite" fill="hold" grpId="1" nodeType="withEffect">
                                  <p:stCondLst>
                                    <p:cond delay="0"/>
                                  </p:stCondLst>
                                  <p:endCondLst>
                                    <p:cond evt="onNext" delay="0">
                                      <p:tgtEl>
                                        <p:sldTgt/>
                                      </p:tgtEl>
                                    </p:cond>
                                  </p:endCondLst>
                                  <p:childTnLst>
                                    <p:animEffect transition="out" filter="fade">
                                      <p:cBhvr>
                                        <p:cTn id="88" dur="500" tmFilter="0, 0; .2, .5; .8, .5; 1, 0"/>
                                        <p:tgtEl>
                                          <p:spTgt spid="65"/>
                                        </p:tgtEl>
                                      </p:cBhvr>
                                    </p:animEffect>
                                    <p:animScale>
                                      <p:cBhvr>
                                        <p:cTn id="89" dur="250" autoRev="1" fill="hold"/>
                                        <p:tgtEl>
                                          <p:spTgt spid="65"/>
                                        </p:tgtEl>
                                      </p:cBhvr>
                                      <p:by x="105000" y="105000"/>
                                    </p:animScale>
                                  </p:childTnLst>
                                </p:cTn>
                              </p:par>
                              <p:par>
                                <p:cTn id="90" presetID="1" presetClass="entr" presetSubtype="0" fill="hold" grpId="0" nodeType="withEffect">
                                  <p:stCondLst>
                                    <p:cond delay="0"/>
                                  </p:stCondLst>
                                  <p:childTnLst>
                                    <p:set>
                                      <p:cBhvr>
                                        <p:cTn id="91" dur="1" fill="hold">
                                          <p:stCondLst>
                                            <p:cond delay="0"/>
                                          </p:stCondLst>
                                        </p:cTn>
                                        <p:tgtEl>
                                          <p:spTgt spid="66"/>
                                        </p:tgtEl>
                                        <p:attrNameLst>
                                          <p:attrName>style.visibility</p:attrName>
                                        </p:attrNameLst>
                                      </p:cBhvr>
                                      <p:to>
                                        <p:strVal val="visible"/>
                                      </p:to>
                                    </p:set>
                                  </p:childTnLst>
                                </p:cTn>
                              </p:par>
                              <p:par>
                                <p:cTn id="92" presetID="26" presetClass="emph" presetSubtype="0" repeatCount="indefinite" fill="hold" grpId="1" nodeType="withEffect">
                                  <p:stCondLst>
                                    <p:cond delay="0"/>
                                  </p:stCondLst>
                                  <p:endCondLst>
                                    <p:cond evt="onNext" delay="0">
                                      <p:tgtEl>
                                        <p:sldTgt/>
                                      </p:tgtEl>
                                    </p:cond>
                                  </p:endCondLst>
                                  <p:childTnLst>
                                    <p:animEffect transition="out" filter="fade">
                                      <p:cBhvr>
                                        <p:cTn id="93" dur="500" tmFilter="0, 0; .2, .5; .8, .5; 1, 0"/>
                                        <p:tgtEl>
                                          <p:spTgt spid="66"/>
                                        </p:tgtEl>
                                      </p:cBhvr>
                                    </p:animEffect>
                                    <p:animScale>
                                      <p:cBhvr>
                                        <p:cTn id="94" dur="250" autoRev="1" fill="hold"/>
                                        <p:tgtEl>
                                          <p:spTgt spid="66"/>
                                        </p:tgtEl>
                                      </p:cBhvr>
                                      <p:by x="105000" y="105000"/>
                                    </p:animScale>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xit" presetSubtype="0" fill="hold" grpId="2" nodeType="withEffect">
                                  <p:stCondLst>
                                    <p:cond delay="0"/>
                                  </p:stCondLst>
                                  <p:childTnLst>
                                    <p:set>
                                      <p:cBhvr>
                                        <p:cTn id="100" dur="1" fill="hold">
                                          <p:stCondLst>
                                            <p:cond delay="0"/>
                                          </p:stCondLst>
                                        </p:cTn>
                                        <p:tgtEl>
                                          <p:spTgt spid="65"/>
                                        </p:tgtEl>
                                        <p:attrNameLst>
                                          <p:attrName>style.visibility</p:attrName>
                                        </p:attrNameLst>
                                      </p:cBhvr>
                                      <p:to>
                                        <p:strVal val="hidden"/>
                                      </p:to>
                                    </p:set>
                                  </p:childTnLst>
                                </p:cTn>
                              </p:par>
                              <p:par>
                                <p:cTn id="101" presetID="1" presetClass="exit" presetSubtype="0" fill="hold" grpId="2" nodeType="withEffect">
                                  <p:stCondLst>
                                    <p:cond delay="0"/>
                                  </p:stCondLst>
                                  <p:childTnLst>
                                    <p:set>
                                      <p:cBhvr>
                                        <p:cTn id="102" dur="1" fill="hold">
                                          <p:stCondLst>
                                            <p:cond delay="0"/>
                                          </p:stCondLst>
                                        </p:cTn>
                                        <p:tgtEl>
                                          <p:spTgt spid="66"/>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67"/>
                                        </p:tgtEl>
                                        <p:attrNameLst>
                                          <p:attrName>style.visibility</p:attrName>
                                        </p:attrNameLst>
                                      </p:cBhvr>
                                      <p:to>
                                        <p:strVal val="visible"/>
                                      </p:to>
                                    </p:set>
                                  </p:childTnLst>
                                </p:cTn>
                              </p:par>
                              <p:par>
                                <p:cTn id="105" presetID="26" presetClass="emph" presetSubtype="0" repeatCount="indefinite" fill="hold" grpId="1" nodeType="withEffect">
                                  <p:stCondLst>
                                    <p:cond delay="0"/>
                                  </p:stCondLst>
                                  <p:endCondLst>
                                    <p:cond evt="onNext" delay="0">
                                      <p:tgtEl>
                                        <p:sldTgt/>
                                      </p:tgtEl>
                                    </p:cond>
                                  </p:endCondLst>
                                  <p:childTnLst>
                                    <p:animEffect transition="out" filter="fade">
                                      <p:cBhvr>
                                        <p:cTn id="106" dur="500" tmFilter="0, 0; .2, .5; .8, .5; 1, 0"/>
                                        <p:tgtEl>
                                          <p:spTgt spid="67"/>
                                        </p:tgtEl>
                                      </p:cBhvr>
                                    </p:animEffect>
                                    <p:animScale>
                                      <p:cBhvr>
                                        <p:cTn id="107" dur="250" autoRev="1" fill="hold"/>
                                        <p:tgtEl>
                                          <p:spTgt spid="67"/>
                                        </p:tgtEl>
                                      </p:cBhvr>
                                      <p:by x="105000" y="105000"/>
                                    </p:animScale>
                                  </p:childTnLst>
                                </p:cTn>
                              </p:par>
                              <p:par>
                                <p:cTn id="108" presetID="1" presetClass="entr" presetSubtype="0" fill="hold" grpId="0" nodeType="withEffect">
                                  <p:stCondLst>
                                    <p:cond delay="0"/>
                                  </p:stCondLst>
                                  <p:childTnLst>
                                    <p:set>
                                      <p:cBhvr>
                                        <p:cTn id="109" dur="1" fill="hold">
                                          <p:stCondLst>
                                            <p:cond delay="0"/>
                                          </p:stCondLst>
                                        </p:cTn>
                                        <p:tgtEl>
                                          <p:spTgt spid="68"/>
                                        </p:tgtEl>
                                        <p:attrNameLst>
                                          <p:attrName>style.visibility</p:attrName>
                                        </p:attrNameLst>
                                      </p:cBhvr>
                                      <p:to>
                                        <p:strVal val="visible"/>
                                      </p:to>
                                    </p:set>
                                  </p:childTnLst>
                                </p:cTn>
                              </p:par>
                              <p:par>
                                <p:cTn id="110" presetID="26" presetClass="emph" presetSubtype="0" repeatCount="indefinite" fill="hold" grpId="1" nodeType="withEffect">
                                  <p:stCondLst>
                                    <p:cond delay="0"/>
                                  </p:stCondLst>
                                  <p:endCondLst>
                                    <p:cond evt="onNext" delay="0">
                                      <p:tgtEl>
                                        <p:sldTgt/>
                                      </p:tgtEl>
                                    </p:cond>
                                  </p:endCondLst>
                                  <p:childTnLst>
                                    <p:animEffect transition="out" filter="fade">
                                      <p:cBhvr>
                                        <p:cTn id="111" dur="500" tmFilter="0, 0; .2, .5; .8, .5; 1, 0"/>
                                        <p:tgtEl>
                                          <p:spTgt spid="68"/>
                                        </p:tgtEl>
                                      </p:cBhvr>
                                    </p:animEffect>
                                    <p:animScale>
                                      <p:cBhvr>
                                        <p:cTn id="112" dur="250" autoRev="1" fill="hold"/>
                                        <p:tgtEl>
                                          <p:spTgt spid="68"/>
                                        </p:tgtEl>
                                      </p:cBhvr>
                                      <p:by x="105000" y="105000"/>
                                    </p:animScale>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40"/>
                                        </p:tgtEl>
                                        <p:attrNameLst>
                                          <p:attrName>style.visibility</p:attrName>
                                        </p:attrNameLst>
                                      </p:cBhvr>
                                      <p:to>
                                        <p:strVal val="visible"/>
                                      </p:to>
                                    </p:set>
                                  </p:childTnLst>
                                </p:cTn>
                              </p:par>
                              <p:par>
                                <p:cTn id="117" presetID="1" presetClass="exit" presetSubtype="0" fill="hold" grpId="2" nodeType="withEffect">
                                  <p:stCondLst>
                                    <p:cond delay="0"/>
                                  </p:stCondLst>
                                  <p:childTnLst>
                                    <p:set>
                                      <p:cBhvr>
                                        <p:cTn id="118" dur="1" fill="hold">
                                          <p:stCondLst>
                                            <p:cond delay="0"/>
                                          </p:stCondLst>
                                        </p:cTn>
                                        <p:tgtEl>
                                          <p:spTgt spid="67"/>
                                        </p:tgtEl>
                                        <p:attrNameLst>
                                          <p:attrName>style.visibility</p:attrName>
                                        </p:attrNameLst>
                                      </p:cBhvr>
                                      <p:to>
                                        <p:strVal val="hidden"/>
                                      </p:to>
                                    </p:set>
                                  </p:childTnLst>
                                </p:cTn>
                              </p:par>
                              <p:par>
                                <p:cTn id="119" presetID="1" presetClass="exit" presetSubtype="0" fill="hold" grpId="2" nodeType="withEffect">
                                  <p:stCondLst>
                                    <p:cond delay="0"/>
                                  </p:stCondLst>
                                  <p:childTnLst>
                                    <p:set>
                                      <p:cBhvr>
                                        <p:cTn id="120" dur="1" fill="hold">
                                          <p:stCondLst>
                                            <p:cond delay="0"/>
                                          </p:stCondLst>
                                        </p:cTn>
                                        <p:tgtEl>
                                          <p:spTgt spid="68"/>
                                        </p:tgtEl>
                                        <p:attrNameLst>
                                          <p:attrName>style.visibility</p:attrName>
                                        </p:attrNameLst>
                                      </p:cBhvr>
                                      <p:to>
                                        <p:strVal val="hidden"/>
                                      </p:to>
                                    </p:set>
                                  </p:childTnLst>
                                </p:cTn>
                              </p:par>
                              <p:par>
                                <p:cTn id="121" presetID="1" presetClass="entr" presetSubtype="0" fill="hold" grpId="0" nodeType="withEffect">
                                  <p:stCondLst>
                                    <p:cond delay="0"/>
                                  </p:stCondLst>
                                  <p:childTnLst>
                                    <p:set>
                                      <p:cBhvr>
                                        <p:cTn id="122" dur="1" fill="hold">
                                          <p:stCondLst>
                                            <p:cond delay="0"/>
                                          </p:stCondLst>
                                        </p:cTn>
                                        <p:tgtEl>
                                          <p:spTgt spid="69"/>
                                        </p:tgtEl>
                                        <p:attrNameLst>
                                          <p:attrName>style.visibility</p:attrName>
                                        </p:attrNameLst>
                                      </p:cBhvr>
                                      <p:to>
                                        <p:strVal val="visible"/>
                                      </p:to>
                                    </p:set>
                                  </p:childTnLst>
                                </p:cTn>
                              </p:par>
                              <p:par>
                                <p:cTn id="123" presetID="26" presetClass="emph" presetSubtype="0" repeatCount="indefinite" fill="hold" grpId="1" nodeType="withEffect">
                                  <p:stCondLst>
                                    <p:cond delay="0"/>
                                  </p:stCondLst>
                                  <p:endCondLst>
                                    <p:cond evt="onNext" delay="0">
                                      <p:tgtEl>
                                        <p:sldTgt/>
                                      </p:tgtEl>
                                    </p:cond>
                                  </p:endCondLst>
                                  <p:childTnLst>
                                    <p:animEffect transition="out" filter="fade">
                                      <p:cBhvr>
                                        <p:cTn id="124" dur="500" tmFilter="0, 0; .2, .5; .8, .5; 1, 0"/>
                                        <p:tgtEl>
                                          <p:spTgt spid="69"/>
                                        </p:tgtEl>
                                      </p:cBhvr>
                                    </p:animEffect>
                                    <p:animScale>
                                      <p:cBhvr>
                                        <p:cTn id="125" dur="250" autoRev="1" fill="hold"/>
                                        <p:tgtEl>
                                          <p:spTgt spid="69"/>
                                        </p:tgtEl>
                                      </p:cBhvr>
                                      <p:by x="105000" y="105000"/>
                                    </p:animScale>
                                  </p:childTnLst>
                                </p:cTn>
                              </p:par>
                              <p:par>
                                <p:cTn id="126" presetID="1" presetClass="entr" presetSubtype="0" fill="hold" grpId="0" nodeType="withEffect">
                                  <p:stCondLst>
                                    <p:cond delay="0"/>
                                  </p:stCondLst>
                                  <p:childTnLst>
                                    <p:set>
                                      <p:cBhvr>
                                        <p:cTn id="127" dur="1" fill="hold">
                                          <p:stCondLst>
                                            <p:cond delay="0"/>
                                          </p:stCondLst>
                                        </p:cTn>
                                        <p:tgtEl>
                                          <p:spTgt spid="70"/>
                                        </p:tgtEl>
                                        <p:attrNameLst>
                                          <p:attrName>style.visibility</p:attrName>
                                        </p:attrNameLst>
                                      </p:cBhvr>
                                      <p:to>
                                        <p:strVal val="visible"/>
                                      </p:to>
                                    </p:set>
                                  </p:childTnLst>
                                </p:cTn>
                              </p:par>
                              <p:par>
                                <p:cTn id="128" presetID="26" presetClass="emph" presetSubtype="0" repeatCount="indefinite" fill="hold" grpId="1" nodeType="withEffect">
                                  <p:stCondLst>
                                    <p:cond delay="0"/>
                                  </p:stCondLst>
                                  <p:endCondLst>
                                    <p:cond evt="onNext" delay="0">
                                      <p:tgtEl>
                                        <p:sldTgt/>
                                      </p:tgtEl>
                                    </p:cond>
                                  </p:endCondLst>
                                  <p:childTnLst>
                                    <p:animEffect transition="out" filter="fade">
                                      <p:cBhvr>
                                        <p:cTn id="129" dur="500" tmFilter="0, 0; .2, .5; .8, .5; 1, 0"/>
                                        <p:tgtEl>
                                          <p:spTgt spid="70"/>
                                        </p:tgtEl>
                                      </p:cBhvr>
                                    </p:animEffect>
                                    <p:animScale>
                                      <p:cBhvr>
                                        <p:cTn id="130" dur="250" autoRev="1" fill="hold"/>
                                        <p:tgtEl>
                                          <p:spTgt spid="70"/>
                                        </p:tgtEl>
                                      </p:cBhvr>
                                      <p:by x="105000" y="105000"/>
                                    </p:animScale>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2" nodeType="clickEffect">
                                  <p:stCondLst>
                                    <p:cond delay="0"/>
                                  </p:stCondLst>
                                  <p:childTnLst>
                                    <p:set>
                                      <p:cBhvr>
                                        <p:cTn id="134" dur="1" fill="hold">
                                          <p:stCondLst>
                                            <p:cond delay="0"/>
                                          </p:stCondLst>
                                        </p:cTn>
                                        <p:tgtEl>
                                          <p:spTgt spid="69"/>
                                        </p:tgtEl>
                                        <p:attrNameLst>
                                          <p:attrName>style.visibility</p:attrName>
                                        </p:attrNameLst>
                                      </p:cBhvr>
                                      <p:to>
                                        <p:strVal val="hidden"/>
                                      </p:to>
                                    </p:set>
                                  </p:childTnLst>
                                </p:cTn>
                              </p:par>
                              <p:par>
                                <p:cTn id="135" presetID="1" presetClass="exit" presetSubtype="0" fill="hold" grpId="2" nodeType="withEffect">
                                  <p:stCondLst>
                                    <p:cond delay="0"/>
                                  </p:stCondLst>
                                  <p:childTnLst>
                                    <p:set>
                                      <p:cBhvr>
                                        <p:cTn id="136" dur="1" fill="hold">
                                          <p:stCondLst>
                                            <p:cond delay="0"/>
                                          </p:stCondLst>
                                        </p:cTn>
                                        <p:tgtEl>
                                          <p:spTgt spid="70"/>
                                        </p:tgtEl>
                                        <p:attrNameLst>
                                          <p:attrName>style.visibility</p:attrName>
                                        </p:attrNameLst>
                                      </p:cBhvr>
                                      <p:to>
                                        <p:strVal val="hidden"/>
                                      </p:to>
                                    </p:set>
                                  </p:childTnLst>
                                </p:cTn>
                              </p:par>
                              <p:par>
                                <p:cTn id="137" presetID="1" presetClass="entr" presetSubtype="0" fill="hold" grpId="0" nodeType="withEffect">
                                  <p:stCondLst>
                                    <p:cond delay="0"/>
                                  </p:stCondLst>
                                  <p:childTnLst>
                                    <p:set>
                                      <p:cBhvr>
                                        <p:cTn id="138" dur="1" fill="hold">
                                          <p:stCondLst>
                                            <p:cond delay="0"/>
                                          </p:stCondLst>
                                        </p:cTn>
                                        <p:tgtEl>
                                          <p:spTgt spid="80"/>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7"/>
                                        </p:tgtEl>
                                        <p:attrNameLst>
                                          <p:attrName>style.visibility</p:attrName>
                                        </p:attrNameLst>
                                      </p:cBhvr>
                                      <p:to>
                                        <p:strVal val="visible"/>
                                      </p:to>
                                    </p:set>
                                  </p:childTnLst>
                                </p:cTn>
                              </p:par>
                              <p:par>
                                <p:cTn id="141" presetID="26" presetClass="emph" presetSubtype="0" repeatCount="indefinite" fill="hold" grpId="1" nodeType="withEffect">
                                  <p:stCondLst>
                                    <p:cond delay="0"/>
                                  </p:stCondLst>
                                  <p:endCondLst>
                                    <p:cond evt="onNext" delay="0">
                                      <p:tgtEl>
                                        <p:sldTgt/>
                                      </p:tgtEl>
                                    </p:cond>
                                  </p:endCondLst>
                                  <p:childTnLst>
                                    <p:animEffect transition="out" filter="fade">
                                      <p:cBhvr>
                                        <p:cTn id="142" dur="500" tmFilter="0, 0; .2, .5; .8, .5; 1, 0"/>
                                        <p:tgtEl>
                                          <p:spTgt spid="57"/>
                                        </p:tgtEl>
                                      </p:cBhvr>
                                    </p:animEffect>
                                    <p:animScale>
                                      <p:cBhvr>
                                        <p:cTn id="143" dur="250" autoRev="1" fill="hold"/>
                                        <p:tgtEl>
                                          <p:spTgt spid="57"/>
                                        </p:tgtEl>
                                      </p:cBhvr>
                                      <p:by x="105000" y="105000"/>
                                    </p:animScale>
                                  </p:childTnLst>
                                </p:cTn>
                              </p:par>
                              <p:par>
                                <p:cTn id="144" presetID="1" presetClass="entr" presetSubtype="0" fill="hold" grpId="0" nodeType="withEffect">
                                  <p:stCondLst>
                                    <p:cond delay="0"/>
                                  </p:stCondLst>
                                  <p:childTnLst>
                                    <p:set>
                                      <p:cBhvr>
                                        <p:cTn id="145" dur="1" fill="hold">
                                          <p:stCondLst>
                                            <p:cond delay="0"/>
                                          </p:stCondLst>
                                        </p:cTn>
                                        <p:tgtEl>
                                          <p:spTgt spid="41"/>
                                        </p:tgtEl>
                                        <p:attrNameLst>
                                          <p:attrName>style.visibility</p:attrName>
                                        </p:attrNameLst>
                                      </p:cBhvr>
                                      <p:to>
                                        <p:strVal val="visible"/>
                                      </p:to>
                                    </p:set>
                                  </p:childTnLst>
                                </p:cTn>
                              </p:par>
                              <p:par>
                                <p:cTn id="146" presetID="26" presetClass="emph" presetSubtype="0" repeatCount="indefinite" fill="hold" grpId="1" nodeType="withEffect">
                                  <p:stCondLst>
                                    <p:cond delay="0"/>
                                  </p:stCondLst>
                                  <p:endCondLst>
                                    <p:cond evt="onNext" delay="0">
                                      <p:tgtEl>
                                        <p:sldTgt/>
                                      </p:tgtEl>
                                    </p:cond>
                                  </p:endCondLst>
                                  <p:childTnLst>
                                    <p:animEffect transition="out" filter="fade">
                                      <p:cBhvr>
                                        <p:cTn id="147" dur="500" tmFilter="0, 0; .2, .5; .8, .5; 1, 0"/>
                                        <p:tgtEl>
                                          <p:spTgt spid="41"/>
                                        </p:tgtEl>
                                      </p:cBhvr>
                                    </p:animEffect>
                                    <p:animScale>
                                      <p:cBhvr>
                                        <p:cTn id="148" dur="250" autoRev="1" fill="hold"/>
                                        <p:tgtEl>
                                          <p:spTgt spid="41"/>
                                        </p:tgtEl>
                                      </p:cBhvr>
                                      <p:by x="105000" y="105000"/>
                                    </p:animScale>
                                  </p:childTnLst>
                                </p:cTn>
                              </p:par>
                              <p:par>
                                <p:cTn id="149" presetID="1" presetClass="exit" presetSubtype="0" fill="hold" grpId="2" nodeType="withEffect">
                                  <p:stCondLst>
                                    <p:cond delay="0"/>
                                  </p:stCondLst>
                                  <p:childTnLst>
                                    <p:set>
                                      <p:cBhvr>
                                        <p:cTn id="150" dur="1" fill="hold">
                                          <p:stCondLst>
                                            <p:cond delay="0"/>
                                          </p:stCondLst>
                                        </p:cTn>
                                        <p:tgtEl>
                                          <p:spTgt spid="41"/>
                                        </p:tgtEl>
                                        <p:attrNameLst>
                                          <p:attrName>style.visibility</p:attrName>
                                        </p:attrNameLst>
                                      </p:cBhvr>
                                      <p:to>
                                        <p:strVal val="hidden"/>
                                      </p:to>
                                    </p:set>
                                  </p:childTnLst>
                                </p:cTn>
                              </p:par>
                              <p:par>
                                <p:cTn id="151" presetID="1" presetClass="entr" presetSubtype="0" fill="hold" grpId="0" nodeType="withEffect">
                                  <p:stCondLst>
                                    <p:cond delay="0"/>
                                  </p:stCondLst>
                                  <p:childTnLst>
                                    <p:set>
                                      <p:cBhvr>
                                        <p:cTn id="152" dur="1" fill="hold">
                                          <p:stCondLst>
                                            <p:cond delay="0"/>
                                          </p:stCondLst>
                                        </p:cTn>
                                        <p:tgtEl>
                                          <p:spTgt spid="54"/>
                                        </p:tgtEl>
                                        <p:attrNameLst>
                                          <p:attrName>style.visibility</p:attrName>
                                        </p:attrNameLst>
                                      </p:cBhvr>
                                      <p:to>
                                        <p:strVal val="visible"/>
                                      </p:to>
                                    </p:set>
                                  </p:childTnLst>
                                </p:cTn>
                              </p:par>
                              <p:par>
                                <p:cTn id="153" presetID="26" presetClass="emph" presetSubtype="0" repeatCount="indefinite" fill="hold" grpId="1" nodeType="withEffect">
                                  <p:stCondLst>
                                    <p:cond delay="0"/>
                                  </p:stCondLst>
                                  <p:endCondLst>
                                    <p:cond evt="onNext" delay="0">
                                      <p:tgtEl>
                                        <p:sldTgt/>
                                      </p:tgtEl>
                                    </p:cond>
                                  </p:endCondLst>
                                  <p:childTnLst>
                                    <p:animEffect transition="out" filter="fade">
                                      <p:cBhvr>
                                        <p:cTn id="154" dur="500" tmFilter="0, 0; .2, .5; .8, .5; 1, 0"/>
                                        <p:tgtEl>
                                          <p:spTgt spid="54"/>
                                        </p:tgtEl>
                                      </p:cBhvr>
                                    </p:animEffect>
                                    <p:animScale>
                                      <p:cBhvr>
                                        <p:cTn id="155" dur="250" autoRev="1" fill="hold"/>
                                        <p:tgtEl>
                                          <p:spTgt spid="54"/>
                                        </p:tgtEl>
                                      </p:cBhvr>
                                      <p:by x="105000" y="105000"/>
                                    </p:animScale>
                                  </p:childTnLst>
                                </p:cTn>
                              </p:par>
                              <p:par>
                                <p:cTn id="156" presetID="1" presetClass="exit" presetSubtype="0" fill="hold" grpId="2" nodeType="withEffect">
                                  <p:stCondLst>
                                    <p:cond delay="0"/>
                                  </p:stCondLst>
                                  <p:childTnLst>
                                    <p:set>
                                      <p:cBhvr>
                                        <p:cTn id="157" dur="1" fill="hold">
                                          <p:stCondLst>
                                            <p:cond delay="0"/>
                                          </p:stCondLst>
                                        </p:cTn>
                                        <p:tgtEl>
                                          <p:spTgt spid="5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P spid="53" grpId="0"/>
      <p:bldP spid="63" grpId="0" animBg="1"/>
      <p:bldP spid="63" grpId="1" animBg="1"/>
      <p:bldP spid="63" grpId="2" animBg="1"/>
      <p:bldP spid="64" grpId="0" animBg="1"/>
      <p:bldP spid="64" grpId="1" animBg="1"/>
      <p:bldP spid="64" grpId="2" animBg="1"/>
      <p:bldP spid="65" grpId="0" animBg="1"/>
      <p:bldP spid="65" grpId="1" animBg="1"/>
      <p:bldP spid="65" grpId="2" animBg="1"/>
      <p:bldP spid="66" grpId="0" animBg="1"/>
      <p:bldP spid="66" grpId="1" animBg="1"/>
      <p:bldP spid="66" grpId="2" animBg="1"/>
      <p:bldP spid="67" grpId="0" animBg="1"/>
      <p:bldP spid="67" grpId="1" animBg="1"/>
      <p:bldP spid="67" grpId="2" animBg="1"/>
      <p:bldP spid="68" grpId="0" animBg="1"/>
      <p:bldP spid="68" grpId="1" animBg="1"/>
      <p:bldP spid="68" grpId="2" animBg="1"/>
      <p:bldP spid="69" grpId="0" animBg="1"/>
      <p:bldP spid="69" grpId="1" animBg="1"/>
      <p:bldP spid="69" grpId="2" animBg="1"/>
      <p:bldP spid="70" grpId="0" animBg="1"/>
      <p:bldP spid="70" grpId="1" animBg="1"/>
      <p:bldP spid="70" grpId="2" animBg="1"/>
      <p:bldP spid="80" grpId="0"/>
      <p:bldP spid="57" grpId="0" animBg="1"/>
      <p:bldP spid="57" grpId="1" animBg="1"/>
      <p:bldP spid="41" grpId="0" animBg="1"/>
      <p:bldP spid="41" grpId="1" animBg="1"/>
      <p:bldP spid="41" grpId="2" animBg="1"/>
      <p:bldP spid="54" grpId="0" animBg="1"/>
      <p:bldP spid="54" grpId="1" animBg="1"/>
      <p:bldP spid="54" grpId="2" animBg="1"/>
      <p:bldP spid="55" grpId="0" animBg="1"/>
      <p:bldP spid="55" grpId="1" animBg="1"/>
      <p:bldP spid="55" grpId="2" animBg="1"/>
      <p:bldP spid="56" grpId="0" animBg="1"/>
      <p:bldP spid="56" grpId="1" animBg="1"/>
      <p:bldP spid="56" grpId="2" animBg="1"/>
      <p:bldP spid="58" grpId="0" animBg="1"/>
      <p:bldP spid="58" grpId="1" animBg="1"/>
      <p:bldP spid="58" grpId="2" animBg="1"/>
      <p:bldP spid="59" grpId="0" animBg="1"/>
      <p:bldP spid="59" grpId="1" animBg="1"/>
      <p:bldP spid="59" grpId="2"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Remaining Time Next (SRTN)</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1014593" y="4337714"/>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014593" y="4337714"/>
                <a:ext cx="115517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p:sp>
        <p:nvSpPr>
          <p:cNvPr id="9" name="TextBox 8"/>
          <p:cNvSpPr txBox="1"/>
          <p:nvPr/>
        </p:nvSpPr>
        <p:spPr>
          <a:xfrm>
            <a:off x="855369" y="4993073"/>
            <a:ext cx="318448" cy="381000"/>
          </a:xfrm>
          <a:prstGeom prst="rect">
            <a:avLst/>
          </a:prstGeom>
          <a:noFill/>
        </p:spPr>
        <p:txBody>
          <a:bodyPr wrap="square" rtlCol="0">
            <a:spAutoFit/>
          </a:bodyPr>
          <a:lstStyle/>
          <a:p>
            <a:r>
              <a:rPr lang="en-US" dirty="0"/>
              <a:t>0</a:t>
            </a:r>
          </a:p>
        </p:txBody>
      </p:sp>
      <p:cxnSp>
        <p:nvCxnSpPr>
          <p:cNvPr id="14" name="Straight Connector 13"/>
          <p:cNvCxnSpPr/>
          <p:nvPr/>
        </p:nvCxnSpPr>
        <p:spPr>
          <a:xfrm flipH="1">
            <a:off x="1014593" y="4353205"/>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6530" y="824702"/>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Waiting Time</a:t>
                      </a:r>
                      <a:endParaRPr lang="en-IN" sz="1800" b="1" kern="1200" dirty="0">
                        <a:solidFill>
                          <a:schemeClr val="tx1"/>
                        </a:solidFill>
                        <a:effectLst/>
                        <a:latin typeface="+mn-lt"/>
                        <a:ea typeface="+mn-ea"/>
                        <a:cs typeface="+mn-cs"/>
                      </a:endParaRPr>
                    </a:p>
                    <a:p>
                      <a:pPr algn="ctr"/>
                      <a:r>
                        <a:rPr lang="en-US" sz="1800" b="1" kern="1200" dirty="0">
                          <a:solidFill>
                            <a:schemeClr val="tx1"/>
                          </a:solidFill>
                          <a:effectLst/>
                          <a:latin typeface="+mn-lt"/>
                          <a:ea typeface="+mn-ea"/>
                          <a:cs typeface="+mn-cs"/>
                        </a:rPr>
                        <a:t>(TAT-ΔT)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2641" y="146766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0058" y="2023019"/>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259387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315181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43" name="Rectangle 42"/>
              <p:cNvSpPr/>
              <p:nvPr/>
            </p:nvSpPr>
            <p:spPr>
              <a:xfrm>
                <a:off x="2167232" y="4337713"/>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3" name="Rectangle 42"/>
              <p:cNvSpPr>
                <a:spLocks noRot="1" noChangeAspect="1" noMove="1" noResize="1" noEditPoints="1" noAdjustHandles="1" noChangeArrowheads="1" noChangeShapeType="1" noTextEdit="1"/>
              </p:cNvSpPr>
              <p:nvPr/>
            </p:nvSpPr>
            <p:spPr>
              <a:xfrm>
                <a:off x="2167232" y="4337713"/>
                <a:ext cx="115517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p:cNvSpPr/>
              <p:nvPr/>
            </p:nvSpPr>
            <p:spPr>
              <a:xfrm>
                <a:off x="3317340" y="4337712"/>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4" name="Rectangle 43"/>
              <p:cNvSpPr>
                <a:spLocks noRot="1" noChangeAspect="1" noMove="1" noResize="1" noEditPoints="1" noAdjustHandles="1" noChangeArrowheads="1" noChangeShapeType="1" noTextEdit="1"/>
              </p:cNvSpPr>
              <p:nvPr/>
            </p:nvSpPr>
            <p:spPr>
              <a:xfrm>
                <a:off x="3317340" y="4337712"/>
                <a:ext cx="1155170"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p:cNvSpPr/>
              <p:nvPr/>
            </p:nvSpPr>
            <p:spPr>
              <a:xfrm>
                <a:off x="4469979" y="4337711"/>
                <a:ext cx="1450374"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5" name="Rectangle 44"/>
              <p:cNvSpPr>
                <a:spLocks noRot="1" noChangeAspect="1" noMove="1" noResize="1" noEditPoints="1" noAdjustHandles="1" noChangeArrowheads="1" noChangeShapeType="1" noTextEdit="1"/>
              </p:cNvSpPr>
              <p:nvPr/>
            </p:nvSpPr>
            <p:spPr>
              <a:xfrm>
                <a:off x="4469979" y="4337711"/>
                <a:ext cx="1450374"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5920353" y="4337710"/>
                <a:ext cx="1450374"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46" name="Rectangle 45"/>
              <p:cNvSpPr>
                <a:spLocks noRot="1" noChangeAspect="1" noMove="1" noResize="1" noEditPoints="1" noAdjustHandles="1" noChangeArrowheads="1" noChangeShapeType="1" noTextEdit="1"/>
              </p:cNvSpPr>
              <p:nvPr/>
            </p:nvSpPr>
            <p:spPr>
              <a:xfrm>
                <a:off x="5920353" y="4337710"/>
                <a:ext cx="1450374" cy="655359"/>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p:cNvSpPr/>
              <p:nvPr/>
            </p:nvSpPr>
            <p:spPr>
              <a:xfrm>
                <a:off x="7381351" y="4337709"/>
                <a:ext cx="1607666"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7381351" y="4337709"/>
                <a:ext cx="1607666" cy="655359"/>
              </a:xfrm>
              <a:prstGeom prst="rect">
                <a:avLst/>
              </a:prstGeom>
              <a:blipFill rotWithShape="0">
                <a:blip r:embed="rId10"/>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008008" y="4993068"/>
            <a:ext cx="318448" cy="381000"/>
          </a:xfrm>
          <a:prstGeom prst="rect">
            <a:avLst/>
          </a:prstGeom>
          <a:noFill/>
        </p:spPr>
        <p:txBody>
          <a:bodyPr wrap="square" rtlCol="0">
            <a:spAutoFit/>
          </a:bodyPr>
          <a:lstStyle/>
          <a:p>
            <a:r>
              <a:rPr lang="en-US" dirty="0"/>
              <a:t>1</a:t>
            </a:r>
          </a:p>
        </p:txBody>
      </p:sp>
      <p:sp>
        <p:nvSpPr>
          <p:cNvPr id="49" name="TextBox 48"/>
          <p:cNvSpPr txBox="1"/>
          <p:nvPr/>
        </p:nvSpPr>
        <p:spPr>
          <a:xfrm>
            <a:off x="3152804" y="4954815"/>
            <a:ext cx="318448" cy="381000"/>
          </a:xfrm>
          <a:prstGeom prst="rect">
            <a:avLst/>
          </a:prstGeom>
          <a:noFill/>
        </p:spPr>
        <p:txBody>
          <a:bodyPr wrap="square" rtlCol="0">
            <a:spAutoFit/>
          </a:bodyPr>
          <a:lstStyle/>
          <a:p>
            <a:r>
              <a:rPr lang="en-US" dirty="0"/>
              <a:t>3</a:t>
            </a:r>
          </a:p>
        </p:txBody>
      </p:sp>
      <p:sp>
        <p:nvSpPr>
          <p:cNvPr id="50" name="TextBox 49"/>
          <p:cNvSpPr txBox="1"/>
          <p:nvPr/>
        </p:nvSpPr>
        <p:spPr>
          <a:xfrm>
            <a:off x="4315817" y="4992946"/>
            <a:ext cx="318448" cy="381000"/>
          </a:xfrm>
          <a:prstGeom prst="rect">
            <a:avLst/>
          </a:prstGeom>
          <a:noFill/>
        </p:spPr>
        <p:txBody>
          <a:bodyPr wrap="square" rtlCol="0">
            <a:spAutoFit/>
          </a:bodyPr>
          <a:lstStyle/>
          <a:p>
            <a:r>
              <a:rPr lang="en-US" dirty="0"/>
              <a:t>5</a:t>
            </a:r>
          </a:p>
        </p:txBody>
      </p:sp>
      <p:sp>
        <p:nvSpPr>
          <p:cNvPr id="51" name="TextBox 50"/>
          <p:cNvSpPr txBox="1"/>
          <p:nvPr/>
        </p:nvSpPr>
        <p:spPr>
          <a:xfrm>
            <a:off x="5783552" y="4970191"/>
            <a:ext cx="318448" cy="381000"/>
          </a:xfrm>
          <a:prstGeom prst="rect">
            <a:avLst/>
          </a:prstGeom>
          <a:noFill/>
        </p:spPr>
        <p:txBody>
          <a:bodyPr wrap="square" rtlCol="0">
            <a:spAutoFit/>
          </a:bodyPr>
          <a:lstStyle/>
          <a:p>
            <a:r>
              <a:rPr lang="en-US" dirty="0"/>
              <a:t>9</a:t>
            </a:r>
          </a:p>
        </p:txBody>
      </p:sp>
      <p:sp>
        <p:nvSpPr>
          <p:cNvPr id="52" name="TextBox 51"/>
          <p:cNvSpPr txBox="1"/>
          <p:nvPr/>
        </p:nvSpPr>
        <p:spPr>
          <a:xfrm>
            <a:off x="7190339" y="4943147"/>
            <a:ext cx="423336" cy="381000"/>
          </a:xfrm>
          <a:prstGeom prst="rect">
            <a:avLst/>
          </a:prstGeom>
          <a:noFill/>
        </p:spPr>
        <p:txBody>
          <a:bodyPr wrap="square" rtlCol="0">
            <a:spAutoFit/>
          </a:bodyPr>
          <a:lstStyle/>
          <a:p>
            <a:r>
              <a:rPr lang="en-US" dirty="0"/>
              <a:t>13</a:t>
            </a:r>
          </a:p>
        </p:txBody>
      </p:sp>
      <p:sp>
        <p:nvSpPr>
          <p:cNvPr id="53" name="TextBox 52"/>
          <p:cNvSpPr txBox="1"/>
          <p:nvPr/>
        </p:nvSpPr>
        <p:spPr>
          <a:xfrm>
            <a:off x="8828972" y="4954815"/>
            <a:ext cx="531183" cy="369332"/>
          </a:xfrm>
          <a:prstGeom prst="rect">
            <a:avLst/>
          </a:prstGeom>
          <a:noFill/>
        </p:spPr>
        <p:txBody>
          <a:bodyPr wrap="square" rtlCol="0">
            <a:spAutoFit/>
          </a:bodyPr>
          <a:lstStyle/>
          <a:p>
            <a:r>
              <a:rPr lang="en-US" dirty="0"/>
              <a:t>22</a:t>
            </a:r>
          </a:p>
        </p:txBody>
      </p:sp>
      <p:sp>
        <p:nvSpPr>
          <p:cNvPr id="63" name="TextBox 62"/>
          <p:cNvSpPr txBox="1"/>
          <p:nvPr/>
        </p:nvSpPr>
        <p:spPr>
          <a:xfrm>
            <a:off x="2784381" y="1487226"/>
            <a:ext cx="3561747" cy="542441"/>
          </a:xfrm>
          <a:prstGeom prst="rect">
            <a:avLst/>
          </a:prstGeom>
          <a:noFill/>
          <a:ln w="57150">
            <a:solidFill>
              <a:srgbClr val="FF0000"/>
            </a:solidFill>
          </a:ln>
        </p:spPr>
        <p:txBody>
          <a:bodyPr wrap="square" rtlCol="0">
            <a:spAutoFit/>
          </a:bodyPr>
          <a:lstStyle/>
          <a:p>
            <a:endParaRPr lang="en-IN" dirty="0"/>
          </a:p>
        </p:txBody>
      </p:sp>
      <p:sp>
        <p:nvSpPr>
          <p:cNvPr id="66" name="TextBox 65"/>
          <p:cNvSpPr txBox="1"/>
          <p:nvPr/>
        </p:nvSpPr>
        <p:spPr>
          <a:xfrm>
            <a:off x="2784380" y="2040392"/>
            <a:ext cx="3561747" cy="542441"/>
          </a:xfrm>
          <a:prstGeom prst="rect">
            <a:avLst/>
          </a:prstGeom>
          <a:noFill/>
          <a:ln w="57150">
            <a:solidFill>
              <a:srgbClr val="FF0000"/>
            </a:solidFill>
          </a:ln>
        </p:spPr>
        <p:txBody>
          <a:bodyPr wrap="square" rtlCol="0">
            <a:spAutoFit/>
          </a:bodyPr>
          <a:lstStyle/>
          <a:p>
            <a:endParaRPr lang="en-IN" dirty="0"/>
          </a:p>
        </p:txBody>
      </p:sp>
      <p:sp>
        <p:nvSpPr>
          <p:cNvPr id="68" name="TextBox 67"/>
          <p:cNvSpPr txBox="1"/>
          <p:nvPr/>
        </p:nvSpPr>
        <p:spPr>
          <a:xfrm>
            <a:off x="2784379" y="2568411"/>
            <a:ext cx="3561748" cy="542441"/>
          </a:xfrm>
          <a:prstGeom prst="rect">
            <a:avLst/>
          </a:prstGeom>
          <a:noFill/>
          <a:ln w="57150">
            <a:solidFill>
              <a:srgbClr val="FF0000"/>
            </a:solidFill>
          </a:ln>
        </p:spPr>
        <p:txBody>
          <a:bodyPr wrap="square" rtlCol="0">
            <a:spAutoFit/>
          </a:bodyPr>
          <a:lstStyle/>
          <a:p>
            <a:endParaRPr lang="en-IN" dirty="0"/>
          </a:p>
        </p:txBody>
      </p:sp>
      <p:sp>
        <p:nvSpPr>
          <p:cNvPr id="70" name="TextBox 69"/>
          <p:cNvSpPr txBox="1"/>
          <p:nvPr/>
        </p:nvSpPr>
        <p:spPr>
          <a:xfrm>
            <a:off x="2784379" y="3145527"/>
            <a:ext cx="3561748" cy="542441"/>
          </a:xfrm>
          <a:prstGeom prst="rect">
            <a:avLst/>
          </a:prstGeom>
          <a:noFill/>
          <a:ln w="57150">
            <a:solidFill>
              <a:srgbClr val="FF0000"/>
            </a:solidFill>
          </a:ln>
        </p:spPr>
        <p:txBody>
          <a:bodyPr wrap="square" rtlCol="0">
            <a:spAutoFit/>
          </a:bodyPr>
          <a:lstStyle/>
          <a:p>
            <a:endParaRPr lang="en-IN" dirty="0"/>
          </a:p>
        </p:txBody>
      </p:sp>
      <p:sp>
        <p:nvSpPr>
          <p:cNvPr id="71" name="TextBox 70"/>
          <p:cNvSpPr txBox="1"/>
          <p:nvPr/>
        </p:nvSpPr>
        <p:spPr>
          <a:xfrm>
            <a:off x="7767665" y="1466111"/>
            <a:ext cx="2064742" cy="542441"/>
          </a:xfrm>
          <a:prstGeom prst="rect">
            <a:avLst/>
          </a:prstGeom>
          <a:noFill/>
          <a:ln w="57150">
            <a:solidFill>
              <a:srgbClr val="FF0000"/>
            </a:solidFill>
          </a:ln>
        </p:spPr>
        <p:txBody>
          <a:bodyPr wrap="square" rtlCol="0">
            <a:spAutoFit/>
          </a:bodyPr>
          <a:lstStyle/>
          <a:p>
            <a:endParaRPr lang="en-IN" dirty="0"/>
          </a:p>
        </p:txBody>
      </p:sp>
      <p:sp>
        <p:nvSpPr>
          <p:cNvPr id="73" name="TextBox 72"/>
          <p:cNvSpPr txBox="1"/>
          <p:nvPr/>
        </p:nvSpPr>
        <p:spPr>
          <a:xfrm>
            <a:off x="7767665" y="2026456"/>
            <a:ext cx="2064742" cy="542441"/>
          </a:xfrm>
          <a:prstGeom prst="rect">
            <a:avLst/>
          </a:prstGeom>
          <a:noFill/>
          <a:ln w="57150">
            <a:solidFill>
              <a:srgbClr val="FF0000"/>
            </a:solidFill>
          </a:ln>
        </p:spPr>
        <p:txBody>
          <a:bodyPr wrap="square" rtlCol="0">
            <a:spAutoFit/>
          </a:bodyPr>
          <a:lstStyle/>
          <a:p>
            <a:endParaRPr lang="en-IN" dirty="0"/>
          </a:p>
        </p:txBody>
      </p:sp>
      <p:sp>
        <p:nvSpPr>
          <p:cNvPr id="75" name="TextBox 74"/>
          <p:cNvSpPr txBox="1"/>
          <p:nvPr/>
        </p:nvSpPr>
        <p:spPr>
          <a:xfrm>
            <a:off x="7767664" y="2568412"/>
            <a:ext cx="2064742" cy="542441"/>
          </a:xfrm>
          <a:prstGeom prst="rect">
            <a:avLst/>
          </a:prstGeom>
          <a:noFill/>
          <a:ln w="57150">
            <a:solidFill>
              <a:srgbClr val="FF0000"/>
            </a:solidFill>
          </a:ln>
        </p:spPr>
        <p:txBody>
          <a:bodyPr wrap="square" rtlCol="0">
            <a:spAutoFit/>
          </a:bodyPr>
          <a:lstStyle/>
          <a:p>
            <a:endParaRPr lang="en-IN" dirty="0"/>
          </a:p>
        </p:txBody>
      </p:sp>
      <p:sp>
        <p:nvSpPr>
          <p:cNvPr id="77" name="TextBox 76"/>
          <p:cNvSpPr txBox="1"/>
          <p:nvPr/>
        </p:nvSpPr>
        <p:spPr>
          <a:xfrm>
            <a:off x="7752166" y="3125866"/>
            <a:ext cx="2064742" cy="542441"/>
          </a:xfrm>
          <a:prstGeom prst="rect">
            <a:avLst/>
          </a:prstGeom>
          <a:noFill/>
          <a:ln w="57150">
            <a:solidFill>
              <a:srgbClr val="FF0000"/>
            </a:solidFill>
          </a:ln>
        </p:spPr>
        <p:txBody>
          <a:bodyPr wrap="square" rtlCol="0">
            <a:spAutoFit/>
          </a:bodyPr>
          <a:lstStyle/>
          <a:p>
            <a:endParaRPr lang="en-IN" dirty="0"/>
          </a:p>
        </p:txBody>
      </p:sp>
      <p:sp>
        <p:nvSpPr>
          <p:cNvPr id="79" name="TextBox 78"/>
          <p:cNvSpPr txBox="1"/>
          <p:nvPr/>
        </p:nvSpPr>
        <p:spPr>
          <a:xfrm>
            <a:off x="382517" y="5462429"/>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Waiting Time </a:t>
            </a:r>
            <a:r>
              <a:rPr lang="en-US" sz="2000" dirty="0"/>
              <a:t>= Sum of all Process’s Waiting Time/ Total Process</a:t>
            </a:r>
          </a:p>
          <a:p>
            <a:r>
              <a:rPr lang="en-US" sz="2000" dirty="0"/>
              <a:t>                                              = (12+2+0+4)/4 </a:t>
            </a:r>
          </a:p>
          <a:p>
            <a:r>
              <a:rPr lang="en-US" sz="2000" dirty="0"/>
              <a:t>                                              = 4.5 </a:t>
            </a:r>
            <a:r>
              <a:rPr lang="en-US" sz="2000" dirty="0" err="1"/>
              <a:t>ms.</a:t>
            </a:r>
            <a:endParaRPr lang="en-US" sz="2000" dirty="0"/>
          </a:p>
        </p:txBody>
      </p:sp>
      <p:sp>
        <p:nvSpPr>
          <p:cNvPr id="57" name="TextBox 56"/>
          <p:cNvSpPr txBox="1"/>
          <p:nvPr/>
        </p:nvSpPr>
        <p:spPr>
          <a:xfrm>
            <a:off x="9832406" y="1471382"/>
            <a:ext cx="2049246" cy="2222902"/>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1621066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500" tmFilter="0, 0; .2, .5; .8, .5; 1, 0"/>
                                        <p:tgtEl>
                                          <p:spTgt spid="63"/>
                                        </p:tgtEl>
                                      </p:cBhvr>
                                    </p:animEffect>
                                    <p:animScale>
                                      <p:cBhvr>
                                        <p:cTn id="15" dur="250" autoRev="1" fill="hold"/>
                                        <p:tgtEl>
                                          <p:spTgt spid="63"/>
                                        </p:tgtEl>
                                      </p:cBhvr>
                                      <p:by x="105000" y="105000"/>
                                    </p:animScale>
                                  </p:childTnLst>
                                </p:cTn>
                              </p:par>
                              <p:par>
                                <p:cTn id="16" presetID="1" presetClass="entr" presetSubtype="0" fill="hold" grpId="0" nodeType="withEffect">
                                  <p:stCondLst>
                                    <p:cond delay="0"/>
                                  </p:stCondLst>
                                  <p:childTnLst>
                                    <p:set>
                                      <p:cBhvr>
                                        <p:cTn id="17" dur="1" fill="hold">
                                          <p:stCondLst>
                                            <p:cond delay="0"/>
                                          </p:stCondLst>
                                        </p:cTn>
                                        <p:tgtEl>
                                          <p:spTgt spid="71"/>
                                        </p:tgtEl>
                                        <p:attrNameLst>
                                          <p:attrName>style.visibility</p:attrName>
                                        </p:attrNameLst>
                                      </p:cBhvr>
                                      <p:to>
                                        <p:strVal val="visible"/>
                                      </p:to>
                                    </p:set>
                                  </p:childTnLst>
                                </p:cTn>
                              </p:par>
                              <p:par>
                                <p:cTn id="18" presetID="26" presetClass="emph" presetSubtype="0" repeatCount="indefinite" fill="hold" grpId="1" nodeType="withEffect">
                                  <p:stCondLst>
                                    <p:cond delay="0"/>
                                  </p:stCondLst>
                                  <p:endCondLst>
                                    <p:cond evt="onNext" delay="0">
                                      <p:tgtEl>
                                        <p:sldTgt/>
                                      </p:tgtEl>
                                    </p:cond>
                                  </p:endCondLst>
                                  <p:childTnLst>
                                    <p:animEffect transition="out" filter="fade">
                                      <p:cBhvr>
                                        <p:cTn id="19" dur="500" tmFilter="0, 0; .2, .5; .8, .5; 1, 0"/>
                                        <p:tgtEl>
                                          <p:spTgt spid="71"/>
                                        </p:tgtEl>
                                      </p:cBhvr>
                                    </p:animEffect>
                                    <p:animScale>
                                      <p:cBhvr>
                                        <p:cTn id="20" dur="250" autoRev="1" fill="hold"/>
                                        <p:tgtEl>
                                          <p:spTgt spid="71"/>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26" presetClass="emph" presetSubtype="0" repeatCount="indefinite" fill="hold" grpId="1" nodeType="withEffect">
                                  <p:stCondLst>
                                    <p:cond delay="0"/>
                                  </p:stCondLst>
                                  <p:endCondLst>
                                    <p:cond evt="onNext" delay="0">
                                      <p:tgtEl>
                                        <p:sldTgt/>
                                      </p:tgtEl>
                                    </p:cond>
                                  </p:endCondLst>
                                  <p:childTnLst>
                                    <p:animEffect transition="out" filter="fade">
                                      <p:cBhvr>
                                        <p:cTn id="28" dur="500" tmFilter="0, 0; .2, .5; .8, .5; 1, 0"/>
                                        <p:tgtEl>
                                          <p:spTgt spid="66"/>
                                        </p:tgtEl>
                                      </p:cBhvr>
                                    </p:animEffect>
                                    <p:animScale>
                                      <p:cBhvr>
                                        <p:cTn id="29" dur="250" autoRev="1" fill="hold"/>
                                        <p:tgtEl>
                                          <p:spTgt spid="66"/>
                                        </p:tgtEl>
                                      </p:cBhvr>
                                      <p:by x="105000" y="105000"/>
                                    </p:animScale>
                                  </p:childTnLst>
                                </p:cTn>
                              </p:par>
                              <p:par>
                                <p:cTn id="30" presetID="1" presetClass="exit" presetSubtype="0" fill="hold" grpId="2" nodeType="withEffect">
                                  <p:stCondLst>
                                    <p:cond delay="0"/>
                                  </p:stCondLst>
                                  <p:childTnLst>
                                    <p:set>
                                      <p:cBhvr>
                                        <p:cTn id="31" dur="1" fill="hold">
                                          <p:stCondLst>
                                            <p:cond delay="0"/>
                                          </p:stCondLst>
                                        </p:cTn>
                                        <p:tgtEl>
                                          <p:spTgt spid="63"/>
                                        </p:tgtEl>
                                        <p:attrNameLst>
                                          <p:attrName>style.visibility</p:attrName>
                                        </p:attrNameLst>
                                      </p:cBhvr>
                                      <p:to>
                                        <p:strVal val="hidden"/>
                                      </p:to>
                                    </p:set>
                                  </p:childTnLst>
                                </p:cTn>
                              </p:par>
                              <p:par>
                                <p:cTn id="32" presetID="1" presetClass="exit" presetSubtype="0" fill="hold" grpId="2" nodeType="withEffect">
                                  <p:stCondLst>
                                    <p:cond delay="0"/>
                                  </p:stCondLst>
                                  <p:childTnLst>
                                    <p:set>
                                      <p:cBhvr>
                                        <p:cTn id="33" dur="1" fill="hold">
                                          <p:stCondLst>
                                            <p:cond delay="0"/>
                                          </p:stCondLst>
                                        </p:cTn>
                                        <p:tgtEl>
                                          <p:spTgt spid="71"/>
                                        </p:tgtEl>
                                        <p:attrNameLst>
                                          <p:attrName>style.visibility</p:attrName>
                                        </p:attrNameLst>
                                      </p:cBhvr>
                                      <p:to>
                                        <p:strVal val="hidden"/>
                                      </p:to>
                                    </p:set>
                                  </p:childTnLst>
                                </p:cTn>
                              </p:par>
                              <p:par>
                                <p:cTn id="34" presetID="1" presetClass="entr" presetSubtype="0" fill="hold" grpId="0" nodeType="withEffect">
                                  <p:stCondLst>
                                    <p:cond delay="0"/>
                                  </p:stCondLst>
                                  <p:childTnLst>
                                    <p:set>
                                      <p:cBhvr>
                                        <p:cTn id="35" dur="1" fill="hold">
                                          <p:stCondLst>
                                            <p:cond delay="0"/>
                                          </p:stCondLst>
                                        </p:cTn>
                                        <p:tgtEl>
                                          <p:spTgt spid="73"/>
                                        </p:tgtEl>
                                        <p:attrNameLst>
                                          <p:attrName>style.visibility</p:attrName>
                                        </p:attrNameLst>
                                      </p:cBhvr>
                                      <p:to>
                                        <p:strVal val="visible"/>
                                      </p:to>
                                    </p:set>
                                  </p:childTnLst>
                                </p:cTn>
                              </p:par>
                              <p:par>
                                <p:cTn id="36" presetID="26" presetClass="emph" presetSubtype="0" repeatCount="indefinite" fill="hold" grpId="1" nodeType="withEffect">
                                  <p:stCondLst>
                                    <p:cond delay="0"/>
                                  </p:stCondLst>
                                  <p:endCondLst>
                                    <p:cond evt="onNext" delay="0">
                                      <p:tgtEl>
                                        <p:sldTgt/>
                                      </p:tgtEl>
                                    </p:cond>
                                  </p:endCondLst>
                                  <p:childTnLst>
                                    <p:animEffect transition="out" filter="fade">
                                      <p:cBhvr>
                                        <p:cTn id="37" dur="500" tmFilter="0, 0; .2, .5; .8, .5; 1, 0"/>
                                        <p:tgtEl>
                                          <p:spTgt spid="73"/>
                                        </p:tgtEl>
                                      </p:cBhvr>
                                    </p:animEffect>
                                    <p:animScale>
                                      <p:cBhvr>
                                        <p:cTn id="38" dur="250" autoRev="1" fill="hold"/>
                                        <p:tgtEl>
                                          <p:spTgt spid="73"/>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8"/>
                                        </p:tgtEl>
                                        <p:attrNameLst>
                                          <p:attrName>style.visibility</p:attrName>
                                        </p:attrNameLst>
                                      </p:cBhvr>
                                      <p:to>
                                        <p:strVal val="visible"/>
                                      </p:to>
                                    </p:set>
                                  </p:childTnLst>
                                </p:cTn>
                              </p:par>
                              <p:par>
                                <p:cTn id="45" presetID="26" presetClass="emph" presetSubtype="0" repeatCount="indefinite" fill="hold" grpId="1" nodeType="withEffect">
                                  <p:stCondLst>
                                    <p:cond delay="0"/>
                                  </p:stCondLst>
                                  <p:endCondLst>
                                    <p:cond evt="onNext" delay="0">
                                      <p:tgtEl>
                                        <p:sldTgt/>
                                      </p:tgtEl>
                                    </p:cond>
                                  </p:endCondLst>
                                  <p:childTnLst>
                                    <p:animEffect transition="out" filter="fade">
                                      <p:cBhvr>
                                        <p:cTn id="46" dur="500" tmFilter="0, 0; .2, .5; .8, .5; 1, 0"/>
                                        <p:tgtEl>
                                          <p:spTgt spid="68"/>
                                        </p:tgtEl>
                                      </p:cBhvr>
                                    </p:animEffect>
                                    <p:animScale>
                                      <p:cBhvr>
                                        <p:cTn id="47" dur="250" autoRev="1" fill="hold"/>
                                        <p:tgtEl>
                                          <p:spTgt spid="68"/>
                                        </p:tgtEl>
                                      </p:cBhvr>
                                      <p:by x="105000" y="105000"/>
                                    </p:animScale>
                                  </p:childTnLst>
                                </p:cTn>
                              </p:par>
                              <p:par>
                                <p:cTn id="48" presetID="1" presetClass="exit" presetSubtype="0" fill="hold" grpId="2" nodeType="withEffect">
                                  <p:stCondLst>
                                    <p:cond delay="0"/>
                                  </p:stCondLst>
                                  <p:childTnLst>
                                    <p:set>
                                      <p:cBhvr>
                                        <p:cTn id="49" dur="1" fill="hold">
                                          <p:stCondLst>
                                            <p:cond delay="0"/>
                                          </p:stCondLst>
                                        </p:cTn>
                                        <p:tgtEl>
                                          <p:spTgt spid="66"/>
                                        </p:tgtEl>
                                        <p:attrNameLst>
                                          <p:attrName>style.visibility</p:attrName>
                                        </p:attrNameLst>
                                      </p:cBhvr>
                                      <p:to>
                                        <p:strVal val="hidden"/>
                                      </p:to>
                                    </p:set>
                                  </p:childTnLst>
                                </p:cTn>
                              </p:par>
                              <p:par>
                                <p:cTn id="50" presetID="1" presetClass="exit" presetSubtype="0" fill="hold" grpId="2" nodeType="withEffect">
                                  <p:stCondLst>
                                    <p:cond delay="0"/>
                                  </p:stCondLst>
                                  <p:childTnLst>
                                    <p:set>
                                      <p:cBhvr>
                                        <p:cTn id="51" dur="1" fill="hold">
                                          <p:stCondLst>
                                            <p:cond delay="0"/>
                                          </p:stCondLst>
                                        </p:cTn>
                                        <p:tgtEl>
                                          <p:spTgt spid="73"/>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75"/>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75"/>
                                        </p:tgtEl>
                                      </p:cBhvr>
                                    </p:animEffect>
                                    <p:animScale>
                                      <p:cBhvr>
                                        <p:cTn id="56" dur="250" autoRev="1" fill="hold"/>
                                        <p:tgtEl>
                                          <p:spTgt spid="75"/>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0"/>
                                        </p:tgtEl>
                                        <p:attrNameLst>
                                          <p:attrName>style.visibility</p:attrName>
                                        </p:attrNameLst>
                                      </p:cBhvr>
                                      <p:to>
                                        <p:strVal val="visible"/>
                                      </p:to>
                                    </p:set>
                                  </p:childTnLst>
                                </p:cTn>
                              </p:par>
                              <p:par>
                                <p:cTn id="63" presetID="26" presetClass="emph" presetSubtype="0" repeatCount="indefinite" fill="hold" grpId="1" nodeType="withEffect">
                                  <p:stCondLst>
                                    <p:cond delay="0"/>
                                  </p:stCondLst>
                                  <p:endCondLst>
                                    <p:cond evt="onNext" delay="0">
                                      <p:tgtEl>
                                        <p:sldTgt/>
                                      </p:tgtEl>
                                    </p:cond>
                                  </p:endCondLst>
                                  <p:childTnLst>
                                    <p:animEffect transition="out" filter="fade">
                                      <p:cBhvr>
                                        <p:cTn id="64" dur="500" tmFilter="0, 0; .2, .5; .8, .5; 1, 0"/>
                                        <p:tgtEl>
                                          <p:spTgt spid="70"/>
                                        </p:tgtEl>
                                      </p:cBhvr>
                                    </p:animEffect>
                                    <p:animScale>
                                      <p:cBhvr>
                                        <p:cTn id="65" dur="250" autoRev="1" fill="hold"/>
                                        <p:tgtEl>
                                          <p:spTgt spid="70"/>
                                        </p:tgtEl>
                                      </p:cBhvr>
                                      <p:by x="105000" y="105000"/>
                                    </p:animScale>
                                  </p:childTnLst>
                                </p:cTn>
                              </p:par>
                              <p:par>
                                <p:cTn id="66" presetID="1" presetClass="exit" presetSubtype="0" fill="hold" grpId="2" nodeType="withEffect">
                                  <p:stCondLst>
                                    <p:cond delay="0"/>
                                  </p:stCondLst>
                                  <p:childTnLst>
                                    <p:set>
                                      <p:cBhvr>
                                        <p:cTn id="67" dur="1" fill="hold">
                                          <p:stCondLst>
                                            <p:cond delay="0"/>
                                          </p:stCondLst>
                                        </p:cTn>
                                        <p:tgtEl>
                                          <p:spTgt spid="75"/>
                                        </p:tgtEl>
                                        <p:attrNameLst>
                                          <p:attrName>style.visibility</p:attrName>
                                        </p:attrNameLst>
                                      </p:cBhvr>
                                      <p:to>
                                        <p:strVal val="hidden"/>
                                      </p:to>
                                    </p:set>
                                  </p:childTnLst>
                                </p:cTn>
                              </p:par>
                              <p:par>
                                <p:cTn id="68" presetID="1" presetClass="exit" presetSubtype="0" fill="hold" grpId="2" nodeType="withEffect">
                                  <p:stCondLst>
                                    <p:cond delay="0"/>
                                  </p:stCondLst>
                                  <p:childTnLst>
                                    <p:set>
                                      <p:cBhvr>
                                        <p:cTn id="69" dur="1" fill="hold">
                                          <p:stCondLst>
                                            <p:cond delay="0"/>
                                          </p:stCondLst>
                                        </p:cTn>
                                        <p:tgtEl>
                                          <p:spTgt spid="68"/>
                                        </p:tgtEl>
                                        <p:attrNameLst>
                                          <p:attrName>style.visibility</p:attrName>
                                        </p:attrNameLst>
                                      </p:cBhvr>
                                      <p:to>
                                        <p:strVal val="hidden"/>
                                      </p:to>
                                    </p:set>
                                  </p:childTnLst>
                                </p:cTn>
                              </p:par>
                              <p:par>
                                <p:cTn id="70" presetID="1" presetClass="entr" presetSubtype="0" fill="hold" grpId="0" nodeType="withEffect">
                                  <p:stCondLst>
                                    <p:cond delay="0"/>
                                  </p:stCondLst>
                                  <p:childTnLst>
                                    <p:set>
                                      <p:cBhvr>
                                        <p:cTn id="71" dur="1" fill="hold">
                                          <p:stCondLst>
                                            <p:cond delay="0"/>
                                          </p:stCondLst>
                                        </p:cTn>
                                        <p:tgtEl>
                                          <p:spTgt spid="77"/>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77"/>
                                        </p:tgtEl>
                                      </p:cBhvr>
                                    </p:animEffect>
                                    <p:animScale>
                                      <p:cBhvr>
                                        <p:cTn id="74" dur="250" autoRev="1" fill="hold"/>
                                        <p:tgtEl>
                                          <p:spTgt spid="77"/>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7"/>
                                        </p:tgtEl>
                                        <p:attrNameLst>
                                          <p:attrName>style.visibility</p:attrName>
                                        </p:attrNameLst>
                                      </p:cBhvr>
                                      <p:to>
                                        <p:strVal val="visible"/>
                                      </p:to>
                                    </p:set>
                                  </p:childTnLst>
                                </p:cTn>
                              </p:par>
                              <p:par>
                                <p:cTn id="81" presetID="26" presetClass="emph" presetSubtype="0" repeatCount="indefinite" fill="hold" grpId="1" nodeType="withEffect">
                                  <p:stCondLst>
                                    <p:cond delay="0"/>
                                  </p:stCondLst>
                                  <p:endCondLst>
                                    <p:cond evt="onNext" delay="0">
                                      <p:tgtEl>
                                        <p:sldTgt/>
                                      </p:tgtEl>
                                    </p:cond>
                                  </p:endCondLst>
                                  <p:childTnLst>
                                    <p:animEffect transition="out" filter="fade">
                                      <p:cBhvr>
                                        <p:cTn id="82" dur="500" tmFilter="0, 0; .2, .5; .8, .5; 1, 0"/>
                                        <p:tgtEl>
                                          <p:spTgt spid="57"/>
                                        </p:tgtEl>
                                      </p:cBhvr>
                                    </p:animEffect>
                                    <p:animScale>
                                      <p:cBhvr>
                                        <p:cTn id="83" dur="250" autoRev="1" fill="hold"/>
                                        <p:tgtEl>
                                          <p:spTgt spid="57"/>
                                        </p:tgtEl>
                                      </p:cBhvr>
                                      <p:by x="105000" y="105000"/>
                                    </p:animScale>
                                  </p:childTnLst>
                                </p:cTn>
                              </p:par>
                              <p:par>
                                <p:cTn id="84" presetID="1" presetClass="exit" presetSubtype="0" fill="hold" grpId="2" nodeType="withEffect">
                                  <p:stCondLst>
                                    <p:cond delay="0"/>
                                  </p:stCondLst>
                                  <p:childTnLst>
                                    <p:set>
                                      <p:cBhvr>
                                        <p:cTn id="85" dur="1" fill="hold">
                                          <p:stCondLst>
                                            <p:cond delay="0"/>
                                          </p:stCondLst>
                                        </p:cTn>
                                        <p:tgtEl>
                                          <p:spTgt spid="77"/>
                                        </p:tgtEl>
                                        <p:attrNameLst>
                                          <p:attrName>style.visibility</p:attrName>
                                        </p:attrNameLst>
                                      </p:cBhvr>
                                      <p:to>
                                        <p:strVal val="hidden"/>
                                      </p:to>
                                    </p:set>
                                  </p:childTnLst>
                                </p:cTn>
                              </p:par>
                              <p:par>
                                <p:cTn id="86" presetID="1" presetClass="exit" presetSubtype="0" fill="hold" grpId="2" nodeType="withEffect">
                                  <p:stCondLst>
                                    <p:cond delay="0"/>
                                  </p:stCondLst>
                                  <p:childTnLst>
                                    <p:set>
                                      <p:cBhvr>
                                        <p:cTn id="87" dur="1" fill="hold">
                                          <p:stCondLst>
                                            <p:cond delay="0"/>
                                          </p:stCondLst>
                                        </p:cTn>
                                        <p:tgtEl>
                                          <p:spTgt spid="70"/>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grpId="2" nodeType="clickEffect">
                                  <p:stCondLst>
                                    <p:cond delay="0"/>
                                  </p:stCondLst>
                                  <p:childTnLst>
                                    <p:set>
                                      <p:cBhvr>
                                        <p:cTn id="91" dur="1" fill="hold">
                                          <p:stCondLst>
                                            <p:cond delay="0"/>
                                          </p:stCondLst>
                                        </p:cTn>
                                        <p:tgtEl>
                                          <p:spTgt spid="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3" grpId="1" animBg="1"/>
      <p:bldP spid="63" grpId="2" animBg="1"/>
      <p:bldP spid="66" grpId="0" animBg="1"/>
      <p:bldP spid="66" grpId="1" animBg="1"/>
      <p:bldP spid="66" grpId="2" animBg="1"/>
      <p:bldP spid="68" grpId="0" animBg="1"/>
      <p:bldP spid="68" grpId="1" animBg="1"/>
      <p:bldP spid="68" grpId="2" animBg="1"/>
      <p:bldP spid="70" grpId="0" animBg="1"/>
      <p:bldP spid="70" grpId="1" animBg="1"/>
      <p:bldP spid="70" grpId="2" animBg="1"/>
      <p:bldP spid="71" grpId="0" animBg="1"/>
      <p:bldP spid="71" grpId="1" animBg="1"/>
      <p:bldP spid="71" grpId="2" animBg="1"/>
      <p:bldP spid="73" grpId="0" animBg="1"/>
      <p:bldP spid="73" grpId="1" animBg="1"/>
      <p:bldP spid="73" grpId="2" animBg="1"/>
      <p:bldP spid="75" grpId="0" animBg="1"/>
      <p:bldP spid="75" grpId="1" animBg="1"/>
      <p:bldP spid="75" grpId="2" animBg="1"/>
      <p:bldP spid="77" grpId="0" animBg="1"/>
      <p:bldP spid="77" grpId="1" animBg="1"/>
      <p:bldP spid="77" grpId="2" animBg="1"/>
      <p:bldP spid="79" grpId="0"/>
      <p:bldP spid="57" grpId="0" animBg="1"/>
      <p:bldP spid="57" grpId="1" animBg="1"/>
      <p:bldP spid="57" grpId="2"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Remaining Time Next (SRTN)</a:t>
            </a:r>
            <a:endParaRPr lang="en-IN" dirty="0"/>
          </a:p>
        </p:txBody>
      </p:sp>
      <p:sp>
        <p:nvSpPr>
          <p:cNvPr id="3" name="Content Placeholder 2"/>
          <p:cNvSpPr>
            <a:spLocks noGrp="1"/>
          </p:cNvSpPr>
          <p:nvPr>
            <p:ph idx="1"/>
          </p:nvPr>
        </p:nvSpPr>
        <p:spPr/>
        <p:txBody>
          <a:bodyPr/>
          <a:lstStyle/>
          <a:p>
            <a:r>
              <a:rPr lang="en-US" b="1" dirty="0"/>
              <a:t>Advantages</a:t>
            </a:r>
          </a:p>
          <a:p>
            <a:pPr lvl="1">
              <a:buClr>
                <a:schemeClr val="tx1"/>
              </a:buClr>
            </a:pPr>
            <a:r>
              <a:rPr lang="en-US" b="1" dirty="0">
                <a:solidFill>
                  <a:schemeClr val="accent6"/>
                </a:solidFill>
              </a:rPr>
              <a:t>Less waiting time</a:t>
            </a:r>
            <a:r>
              <a:rPr lang="en-US" dirty="0"/>
              <a:t>.</a:t>
            </a:r>
          </a:p>
          <a:p>
            <a:pPr lvl="1">
              <a:buClr>
                <a:schemeClr val="tx1"/>
              </a:buClr>
            </a:pPr>
            <a:r>
              <a:rPr lang="en-US" b="1" dirty="0">
                <a:solidFill>
                  <a:schemeClr val="accent6"/>
                </a:solidFill>
              </a:rPr>
              <a:t>Quite good response </a:t>
            </a:r>
            <a:r>
              <a:rPr lang="en-US" dirty="0"/>
              <a:t>for </a:t>
            </a:r>
            <a:r>
              <a:rPr lang="en-US" b="1" dirty="0">
                <a:solidFill>
                  <a:schemeClr val="accent6"/>
                </a:solidFill>
              </a:rPr>
              <a:t>short processes</a:t>
            </a:r>
            <a:r>
              <a:rPr lang="en-US" dirty="0"/>
              <a:t>.</a:t>
            </a:r>
          </a:p>
          <a:p>
            <a:r>
              <a:rPr lang="en-US" b="1" dirty="0"/>
              <a:t>Disadvantages</a:t>
            </a:r>
          </a:p>
          <a:p>
            <a:pPr lvl="1"/>
            <a:r>
              <a:rPr lang="en-US" dirty="0"/>
              <a:t>Again, it is </a:t>
            </a:r>
            <a:r>
              <a:rPr lang="en-US" b="1" dirty="0">
                <a:solidFill>
                  <a:schemeClr val="accent6"/>
                </a:solidFill>
              </a:rPr>
              <a:t>difficult to estimate remaining time </a:t>
            </a:r>
            <a:r>
              <a:rPr lang="en-US" dirty="0"/>
              <a:t>necessary to complete execution.</a:t>
            </a:r>
          </a:p>
          <a:p>
            <a:pPr lvl="1">
              <a:buClr>
                <a:schemeClr val="tx1"/>
              </a:buClr>
            </a:pPr>
            <a:r>
              <a:rPr lang="en-US" b="1" dirty="0">
                <a:solidFill>
                  <a:schemeClr val="accent6"/>
                </a:solidFill>
              </a:rPr>
              <a:t>Starvation is possible </a:t>
            </a:r>
            <a:r>
              <a:rPr lang="en-US" dirty="0"/>
              <a:t>for </a:t>
            </a:r>
            <a:r>
              <a:rPr lang="en-US" b="1" dirty="0">
                <a:solidFill>
                  <a:schemeClr val="accent6"/>
                </a:solidFill>
              </a:rPr>
              <a:t>long process</a:t>
            </a:r>
            <a:r>
              <a:rPr lang="en-US" dirty="0"/>
              <a:t>. Long process may wait forever.</a:t>
            </a:r>
          </a:p>
          <a:p>
            <a:pPr lvl="1">
              <a:buClr>
                <a:schemeClr val="tx1"/>
              </a:buClr>
            </a:pPr>
            <a:r>
              <a:rPr lang="en-US" b="1" dirty="0">
                <a:solidFill>
                  <a:schemeClr val="accent6"/>
                </a:solidFill>
              </a:rPr>
              <a:t>Context switch overhead </a:t>
            </a:r>
            <a:r>
              <a:rPr lang="en-US" dirty="0"/>
              <a:t>is there.</a:t>
            </a:r>
          </a:p>
          <a:p>
            <a:pPr marL="0" indent="0">
              <a:buNone/>
            </a:pPr>
            <a:endParaRPr lang="en-IN" dirty="0"/>
          </a:p>
        </p:txBody>
      </p:sp>
    </p:spTree>
    <p:extLst>
      <p:ext uri="{BB962C8B-B14F-4D97-AF65-F5344CB8AC3E}">
        <p14:creationId xmlns:p14="http://schemas.microsoft.com/office/powerpoint/2010/main" val="140778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Remaining Time Next (SRTN)</a:t>
            </a:r>
            <a:endParaRPr lang="en-IN" dirty="0"/>
          </a:p>
        </p:txBody>
      </p:sp>
      <p:sp>
        <p:nvSpPr>
          <p:cNvPr id="3" name="Content Placeholder 2"/>
          <p:cNvSpPr>
            <a:spLocks noGrp="1"/>
          </p:cNvSpPr>
          <p:nvPr>
            <p:ph idx="1"/>
          </p:nvPr>
        </p:nvSpPr>
        <p:spPr/>
        <p:txBody>
          <a:bodyPr/>
          <a:lstStyle/>
          <a:p>
            <a:r>
              <a:rPr lang="en-US" b="1" dirty="0"/>
              <a:t>Shortest Remaining Time Next </a:t>
            </a:r>
            <a:r>
              <a:rPr lang="en-IN" b="1" dirty="0"/>
              <a:t>Example(Self Study)</a:t>
            </a:r>
          </a:p>
          <a:p>
            <a:pPr lvl="1"/>
            <a:r>
              <a:rPr lang="en-US" dirty="0"/>
              <a:t>Consider the following set of four processes. Their arrival time and time required to complete the execution are given in following table. (Time value in milliseconds).</a:t>
            </a:r>
            <a:r>
              <a:rPr lang="en-IN" dirty="0"/>
              <a:t> Draw the Gantt chart and find Finish Time, Average Waiting Time and Turn Around Time  for SRTN algorithm.</a:t>
            </a:r>
            <a:endParaRPr lang="en-IN" b="1" dirty="0"/>
          </a:p>
          <a:p>
            <a:pPr lvl="1"/>
            <a:endParaRPr lang="en-IN" b="1" dirty="0"/>
          </a:p>
          <a:p>
            <a:pPr marL="0" indent="0">
              <a:buNone/>
            </a:pPr>
            <a:endParaRPr lang="en-IN" dirty="0"/>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225298" y="2600869"/>
              <a:ext cx="5718875" cy="2874036"/>
            </p:xfrm>
            <a:graphic>
              <a:graphicData uri="http://schemas.openxmlformats.org/drawingml/2006/table">
                <a:tbl>
                  <a:tblPr firstRow="1" bandRow="1">
                    <a:tableStyleId>{8EC20E35-A176-4012-BC5E-935CFFF8708E}</a:tableStyleId>
                  </a:tblPr>
                  <a:tblGrid>
                    <a:gridCol w="998349">
                      <a:extLst>
                        <a:ext uri="{9D8B030D-6E8A-4147-A177-3AD203B41FA5}">
                          <a16:colId xmlns:a16="http://schemas.microsoft.com/office/drawing/2014/main" val="20000"/>
                        </a:ext>
                      </a:extLst>
                    </a:gridCol>
                    <a:gridCol w="1349707">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5"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225298" y="2600869"/>
              <a:ext cx="5718875" cy="2874036"/>
            </p:xfrm>
            <a:graphic>
              <a:graphicData uri="http://schemas.openxmlformats.org/drawingml/2006/table">
                <a:tbl>
                  <a:tblPr firstRow="1" bandRow="1">
                    <a:tableStyleId>{8EC20E35-A176-4012-BC5E-935CFFF8708E}</a:tableStyleId>
                  </a:tblPr>
                  <a:tblGrid>
                    <a:gridCol w="998349">
                      <a:extLst>
                        <a:ext uri="{9D8B030D-6E8A-4147-A177-3AD203B41FA5}">
                          <a16:colId xmlns:a16="http://schemas.microsoft.com/office/drawing/2014/main" xmlns="" xmlns:a14="http://schemas.microsoft.com/office/drawing/2010/main" val="20000"/>
                        </a:ext>
                      </a:extLst>
                    </a:gridCol>
                    <a:gridCol w="1349707">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74324" t="-3810" r="-249550"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10" t="-118478" r="-473171"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10" t="-218478" r="-473171"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10" t="-318478" r="-473171"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10" t="-418478" r="-473171"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Tree>
    <p:extLst>
      <p:ext uri="{BB962C8B-B14F-4D97-AF65-F5344CB8AC3E}">
        <p14:creationId xmlns:p14="http://schemas.microsoft.com/office/powerpoint/2010/main" val="242647234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Shortest Remaining Time Next </a:t>
                </a:r>
                <a:r>
                  <a:rPr lang="en-IN" sz="2800" b="1" dirty="0"/>
                  <a:t>Example</a:t>
                </a:r>
              </a:p>
              <a:p>
                <a:pPr marL="342900" indent="-342900" algn="just">
                  <a:buFont typeface="Wingdings" panose="05000000000000000000" pitchFamily="2" charset="2"/>
                  <a:buChar char="Ø"/>
                </a:pPr>
                <a:endParaRPr lang="en-US"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Initially only process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present and it is allowed to run. </a:t>
                </a:r>
              </a:p>
              <a:p>
                <a:pPr marL="342900" indent="-342900" algn="just">
                  <a:buFont typeface="Wingdings" panose="05000000000000000000" pitchFamily="2" charset="2"/>
                  <a:buChar char="ü"/>
                </a:pPr>
                <a:r>
                  <a:rPr lang="en-US" sz="2400" dirty="0">
                    <a:solidFill>
                      <a:schemeClr val="bg1"/>
                    </a:solidFill>
                  </a:rPr>
                  <a:t>But,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𝟏</m:t>
                        </m:r>
                      </m:sub>
                    </m:sSub>
                  </m:oMath>
                </a14:m>
                <a:r>
                  <a:rPr lang="en-US" sz="2400" dirty="0">
                    <a:solidFill>
                      <a:schemeClr val="bg1"/>
                    </a:solidFill>
                  </a:rPr>
                  <a:t> comes, it has shortest remaining run time then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So,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preempted and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𝟏</m:t>
                        </m:r>
                      </m:sub>
                    </m:sSub>
                  </m:oMath>
                </a14:m>
                <a:r>
                  <a:rPr lang="en-US" sz="2400" dirty="0">
                    <a:solidFill>
                      <a:schemeClr val="bg1"/>
                    </a:solidFill>
                  </a:rPr>
                  <a:t> is allowed to run.</a:t>
                </a:r>
                <a:endParaRPr lang="en-IN" sz="2800" b="1" dirty="0"/>
              </a:p>
              <a:p>
                <a:pPr marL="342900" lvl="0" indent="-342900" algn="just">
                  <a:buFont typeface="Wingdings" panose="05000000000000000000" pitchFamily="2" charset="2"/>
                  <a:buChar char="Ø"/>
                </a:pPr>
                <a:endParaRPr lang="en-US"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63286" y="3299308"/>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3768" y="381717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3768" y="3817170"/>
                <a:ext cx="69991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782026" y="3811767"/>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782026" y="3811767"/>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24" name="TextBox 23"/>
          <p:cNvSpPr txBox="1"/>
          <p:nvPr/>
        </p:nvSpPr>
        <p:spPr>
          <a:xfrm>
            <a:off x="628605" y="4477932"/>
            <a:ext cx="318448" cy="381000"/>
          </a:xfrm>
          <a:prstGeom prst="rect">
            <a:avLst/>
          </a:prstGeom>
          <a:noFill/>
        </p:spPr>
        <p:txBody>
          <a:bodyPr wrap="square" rtlCol="0">
            <a:spAutoFit/>
          </a:bodyPr>
          <a:lstStyle/>
          <a:p>
            <a:r>
              <a:rPr lang="en-US" dirty="0"/>
              <a:t>1</a:t>
            </a:r>
          </a:p>
        </p:txBody>
      </p:sp>
      <mc:AlternateContent xmlns:mc="http://schemas.openxmlformats.org/markup-compatibility/2006" xmlns:a14="http://schemas.microsoft.com/office/drawing/2010/main">
        <mc:Choice Requires="a14">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86" y="4893447"/>
              <a:ext cx="3231276" cy="1284446"/>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00828">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459343">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9343">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mc:Choice>
        <mc:Fallback xmlns="">
          <p:graphicFrame>
            <p:nvGraphicFramePr>
              <p:cNvPr id="25"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86" y="4893447"/>
              <a:ext cx="3231276" cy="1284446"/>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xmlns="" xmlns:a14="http://schemas.microsoft.com/office/drawing/2010/main" val="20000"/>
                        </a:ext>
                      </a:extLst>
                    </a:gridCol>
                    <a:gridCol w="2014344">
                      <a:extLst>
                        <a:ext uri="{9D8B030D-6E8A-4147-A177-3AD203B41FA5}">
                          <a16:colId xmlns:a16="http://schemas.microsoft.com/office/drawing/2014/main" xmlns="" xmlns:a14="http://schemas.microsoft.com/office/drawing/2010/main" val="20001"/>
                        </a:ext>
                      </a:extLst>
                    </a:gridCol>
                  </a:tblGrid>
                  <a:tr h="36576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459343">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9"/>
                          <a:stretch>
                            <a:fillRect l="-500" t="-84211" r="-166000" b="-117105"/>
                          </a:stretch>
                        </a:blip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459343">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9"/>
                          <a:stretch>
                            <a:fillRect l="-500" t="-184211" r="-166000" b="-1710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bl>
              </a:graphicData>
            </a:graphic>
          </p:graphicFrame>
        </mc:Fallback>
      </mc:AlternateContent>
      <p:sp>
        <p:nvSpPr>
          <p:cNvPr id="26" name="TextBox 25"/>
          <p:cNvSpPr txBox="1"/>
          <p:nvPr/>
        </p:nvSpPr>
        <p:spPr>
          <a:xfrm>
            <a:off x="1325904" y="4469394"/>
            <a:ext cx="318448" cy="381000"/>
          </a:xfrm>
          <a:prstGeom prst="rect">
            <a:avLst/>
          </a:prstGeom>
          <a:noFill/>
        </p:spPr>
        <p:txBody>
          <a:bodyPr wrap="square" rtlCol="0">
            <a:spAutoFit/>
          </a:bodyPr>
          <a:lstStyle/>
          <a:p>
            <a:r>
              <a:rPr lang="en-US" dirty="0"/>
              <a:t>3</a:t>
            </a:r>
          </a:p>
        </p:txBody>
      </p:sp>
      <mc:AlternateContent xmlns:mc="http://schemas.openxmlformats.org/markup-compatibility/2006" xmlns:a14="http://schemas.microsoft.com/office/drawing/2010/main">
        <mc:Choice Requires="a14">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3768" y="425272"/>
              <a:ext cx="5718875" cy="2874036"/>
            </p:xfrm>
            <a:graphic>
              <a:graphicData uri="http://schemas.openxmlformats.org/drawingml/2006/table">
                <a:tbl>
                  <a:tblPr firstRow="1" bandRow="1">
                    <a:tableStyleId>{8EC20E35-A176-4012-BC5E-935CFFF8708E}</a:tableStyleId>
                  </a:tblPr>
                  <a:tblGrid>
                    <a:gridCol w="884302">
                      <a:extLst>
                        <a:ext uri="{9D8B030D-6E8A-4147-A177-3AD203B41FA5}">
                          <a16:colId xmlns:a16="http://schemas.microsoft.com/office/drawing/2014/main" val="20000"/>
                        </a:ext>
                      </a:extLst>
                    </a:gridCol>
                    <a:gridCol w="1463754">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7"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93768" y="425272"/>
              <a:ext cx="5718875" cy="2874036"/>
            </p:xfrm>
            <a:graphic>
              <a:graphicData uri="http://schemas.openxmlformats.org/drawingml/2006/table">
                <a:tbl>
                  <a:tblPr firstRow="1" bandRow="1">
                    <a:tableStyleId>{8EC20E35-A176-4012-BC5E-935CFFF8708E}</a:tableStyleId>
                  </a:tblPr>
                  <a:tblGrid>
                    <a:gridCol w="884302">
                      <a:extLst>
                        <a:ext uri="{9D8B030D-6E8A-4147-A177-3AD203B41FA5}">
                          <a16:colId xmlns:a16="http://schemas.microsoft.com/office/drawing/2014/main" xmlns="" xmlns:a14="http://schemas.microsoft.com/office/drawing/2010/main" val="20000"/>
                        </a:ext>
                      </a:extLst>
                    </a:gridCol>
                    <a:gridCol w="1463754">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10"/>
                          <a:stretch>
                            <a:fillRect l="-60581" t="-3810" r="-229876"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118478" r="-548276"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218478" r="-548276"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318478" r="-548276"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418478" r="-548276"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2" name="TextBox 1"/>
          <p:cNvSpPr txBox="1"/>
          <p:nvPr/>
        </p:nvSpPr>
        <p:spPr>
          <a:xfrm>
            <a:off x="78784" y="5253925"/>
            <a:ext cx="3211484" cy="449451"/>
          </a:xfrm>
          <a:prstGeom prst="rect">
            <a:avLst/>
          </a:prstGeom>
          <a:noFill/>
          <a:ln w="28575">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991598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5" grpId="0"/>
      <p:bldP spid="18" grpId="0" animBg="1"/>
      <p:bldP spid="19" grpId="0" animBg="1"/>
      <p:bldP spid="24" grpId="0"/>
      <p:bldP spid="26" grpId="0"/>
      <p:bldP spid="2"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Shortest Remaining Time Next </a:t>
                </a:r>
                <a:r>
                  <a:rPr lang="en-IN" sz="2800" b="1" dirty="0"/>
                  <a:t>Example</a:t>
                </a:r>
              </a:p>
              <a:p>
                <a:pPr marL="342900" indent="-342900" algn="just">
                  <a:buFont typeface="Wingdings" panose="05000000000000000000" pitchFamily="2" charset="2"/>
                  <a:buChar char="Ø"/>
                </a:pPr>
                <a:endParaRPr lang="en-US"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Initially only process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present and it is allowed to run. </a:t>
                </a:r>
              </a:p>
              <a:p>
                <a:pPr marL="342900" indent="-342900" algn="just">
                  <a:buFont typeface="Wingdings" panose="05000000000000000000" pitchFamily="2" charset="2"/>
                  <a:buChar char="ü"/>
                </a:pPr>
                <a:r>
                  <a:rPr lang="en-US" sz="2400" dirty="0">
                    <a:solidFill>
                      <a:schemeClr val="bg1"/>
                    </a:solidFill>
                  </a:rPr>
                  <a:t>But,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𝟏</m:t>
                        </m:r>
                      </m:sub>
                    </m:sSub>
                  </m:oMath>
                </a14:m>
                <a:r>
                  <a:rPr lang="en-US" sz="2400" dirty="0">
                    <a:solidFill>
                      <a:schemeClr val="bg1"/>
                    </a:solidFill>
                  </a:rPr>
                  <a:t> comes, it has shortest remaining run time then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So,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preempted and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𝟏</m:t>
                        </m:r>
                      </m:sub>
                    </m:sSub>
                  </m:oMath>
                </a14:m>
                <a:r>
                  <a:rPr lang="en-US" sz="2400" dirty="0">
                    <a:solidFill>
                      <a:schemeClr val="bg1"/>
                    </a:solidFill>
                  </a:rPr>
                  <a:t> is allowed to run.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Whenever new process comes or current process blocks, such type of decision is taken.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This procedure is repeated till all processes complete their execution.</a:t>
                </a:r>
                <a:endParaRPr lang="en-IN" sz="2400" dirty="0">
                  <a:solidFill>
                    <a:schemeClr val="bg1"/>
                  </a:solidFill>
                </a:endParaRPr>
              </a:p>
              <a:p>
                <a:pPr algn="just">
                  <a:lnSpc>
                    <a:spcPct val="120000"/>
                  </a:lnSpc>
                </a:pPr>
                <a:endParaRPr lang="en-IN" sz="2800" b="1" dirty="0"/>
              </a:p>
              <a:p>
                <a:pPr marL="342900" lvl="0" indent="-342900" algn="just">
                  <a:buFont typeface="Wingdings" panose="05000000000000000000" pitchFamily="2" charset="2"/>
                  <a:buChar char="Ø"/>
                </a:pPr>
                <a:endParaRPr lang="en-US"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63286" y="3299308"/>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3768" y="381717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3768" y="3817170"/>
                <a:ext cx="69991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782026" y="3811767"/>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782026" y="3811767"/>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500727" y="3811766"/>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20" name="Rectangle 19"/>
              <p:cNvSpPr>
                <a:spLocks noRot="1" noChangeAspect="1" noMove="1" noResize="1" noEditPoints="1" noAdjustHandles="1" noChangeArrowheads="1" noChangeShapeType="1" noTextEdit="1"/>
              </p:cNvSpPr>
              <p:nvPr/>
            </p:nvSpPr>
            <p:spPr>
              <a:xfrm>
                <a:off x="1500727" y="3811766"/>
                <a:ext cx="699910" cy="655359"/>
              </a:xfrm>
              <a:prstGeom prst="rect">
                <a:avLst/>
              </a:prstGeom>
              <a:blipFill>
                <a:blip r:embed="rId5"/>
                <a:stretch>
                  <a:fillRect/>
                </a:stretch>
              </a:blipFill>
              <a:ln w="38100">
                <a:solidFill>
                  <a:schemeClr val="tx1"/>
                </a:solidFill>
              </a:ln>
            </p:spPr>
            <p:txBody>
              <a:bodyPr/>
              <a:lstStyle/>
              <a:p>
                <a:r>
                  <a:rPr lang="en-US">
                    <a:noFill/>
                  </a:rPr>
                  <a:t> </a:t>
                </a:r>
              </a:p>
            </p:txBody>
          </p:sp>
        </mc:Fallback>
      </mc:AlternateContent>
      <p:sp>
        <p:nvSpPr>
          <p:cNvPr id="24" name="TextBox 23"/>
          <p:cNvSpPr txBox="1"/>
          <p:nvPr/>
        </p:nvSpPr>
        <p:spPr>
          <a:xfrm>
            <a:off x="628605" y="4477932"/>
            <a:ext cx="318448" cy="381000"/>
          </a:xfrm>
          <a:prstGeom prst="rect">
            <a:avLst/>
          </a:prstGeom>
          <a:noFill/>
        </p:spPr>
        <p:txBody>
          <a:bodyPr wrap="square" rtlCol="0">
            <a:spAutoFit/>
          </a:bodyPr>
          <a:lstStyle/>
          <a:p>
            <a:r>
              <a:rPr lang="en-US" dirty="0"/>
              <a:t>1</a:t>
            </a:r>
          </a:p>
        </p:txBody>
      </p:sp>
      <p:sp>
        <p:nvSpPr>
          <p:cNvPr id="26" name="TextBox 25"/>
          <p:cNvSpPr txBox="1"/>
          <p:nvPr/>
        </p:nvSpPr>
        <p:spPr>
          <a:xfrm>
            <a:off x="1325904" y="4469394"/>
            <a:ext cx="318448" cy="381000"/>
          </a:xfrm>
          <a:prstGeom prst="rect">
            <a:avLst/>
          </a:prstGeom>
          <a:noFill/>
        </p:spPr>
        <p:txBody>
          <a:bodyPr wrap="square" rtlCol="0">
            <a:spAutoFit/>
          </a:bodyPr>
          <a:lstStyle/>
          <a:p>
            <a:r>
              <a:rPr lang="en-US" dirty="0"/>
              <a:t>3</a:t>
            </a:r>
          </a:p>
        </p:txBody>
      </p:sp>
      <p:sp>
        <p:nvSpPr>
          <p:cNvPr id="28" name="TextBox 27"/>
          <p:cNvSpPr txBox="1"/>
          <p:nvPr/>
        </p:nvSpPr>
        <p:spPr>
          <a:xfrm>
            <a:off x="2004102" y="4451625"/>
            <a:ext cx="318448" cy="381000"/>
          </a:xfrm>
          <a:prstGeom prst="rect">
            <a:avLst/>
          </a:prstGeom>
          <a:noFill/>
        </p:spPr>
        <p:txBody>
          <a:bodyPr wrap="square" rtlCol="0">
            <a:spAutoFit/>
          </a:bodyPr>
          <a:lstStyle/>
          <a:p>
            <a:r>
              <a:rPr lang="en-US" dirty="0"/>
              <a:t>5</a:t>
            </a:r>
          </a:p>
        </p:txBody>
      </p:sp>
      <mc:AlternateContent xmlns:mc="http://schemas.openxmlformats.org/markup-compatibility/2006" xmlns:a14="http://schemas.microsoft.com/office/drawing/2010/main">
        <mc:Choice Requires="a14">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3768" y="425272"/>
              <a:ext cx="5718875" cy="2874036"/>
            </p:xfrm>
            <a:graphic>
              <a:graphicData uri="http://schemas.openxmlformats.org/drawingml/2006/table">
                <a:tbl>
                  <a:tblPr firstRow="1" bandRow="1">
                    <a:tableStyleId>{8EC20E35-A176-4012-BC5E-935CFFF8708E}</a:tableStyleId>
                  </a:tblPr>
                  <a:tblGrid>
                    <a:gridCol w="884302">
                      <a:extLst>
                        <a:ext uri="{9D8B030D-6E8A-4147-A177-3AD203B41FA5}">
                          <a16:colId xmlns:a16="http://schemas.microsoft.com/office/drawing/2014/main" val="20000"/>
                        </a:ext>
                      </a:extLst>
                    </a:gridCol>
                    <a:gridCol w="1463754">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7"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93768" y="425272"/>
              <a:ext cx="5718875" cy="2874036"/>
            </p:xfrm>
            <a:graphic>
              <a:graphicData uri="http://schemas.openxmlformats.org/drawingml/2006/table">
                <a:tbl>
                  <a:tblPr firstRow="1" bandRow="1">
                    <a:tableStyleId>{8EC20E35-A176-4012-BC5E-935CFFF8708E}</a:tableStyleId>
                  </a:tblPr>
                  <a:tblGrid>
                    <a:gridCol w="884302">
                      <a:extLst>
                        <a:ext uri="{9D8B030D-6E8A-4147-A177-3AD203B41FA5}">
                          <a16:colId xmlns:a16="http://schemas.microsoft.com/office/drawing/2014/main" xmlns="" xmlns:a14="http://schemas.microsoft.com/office/drawing/2010/main" val="20000"/>
                        </a:ext>
                      </a:extLst>
                    </a:gridCol>
                    <a:gridCol w="1463754">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10"/>
                          <a:stretch>
                            <a:fillRect l="-60581" t="-3810" r="-229876"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118478" r="-548276"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218478" r="-548276"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318478" r="-548276"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418478" r="-548276"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93678" y="4893447"/>
              <a:ext cx="3231276" cy="155448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54148">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mc:Choice>
        <mc:Fallback xmlns="">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4239736486"/>
                  </p:ext>
                </p:extLst>
              </p:nvPr>
            </p:nvGraphicFramePr>
            <p:xfrm>
              <a:off x="793678" y="4893447"/>
              <a:ext cx="3231276" cy="155448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6576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11"/>
                          <a:stretch>
                            <a:fillRect l="-500" t="-98462" r="-166000" b="-230769"/>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11"/>
                          <a:stretch>
                            <a:fillRect l="-500" t="-195455" r="-166000" b="-127273"/>
                          </a:stretch>
                        </a:blip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11"/>
                          <a:stretch>
                            <a:fillRect l="-500" t="-300000" r="-166000" b="-29231"/>
                          </a:stretch>
                        </a:blip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mc:Fallback>
      </mc:AlternateContent>
      <p:sp>
        <p:nvSpPr>
          <p:cNvPr id="4" name="TextBox 3"/>
          <p:cNvSpPr txBox="1"/>
          <p:nvPr/>
        </p:nvSpPr>
        <p:spPr>
          <a:xfrm>
            <a:off x="806873" y="5657322"/>
            <a:ext cx="3204885" cy="369332"/>
          </a:xfrm>
          <a:prstGeom prst="rect">
            <a:avLst/>
          </a:prstGeom>
          <a:noFill/>
          <a:ln w="28575">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234752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500" fill="hold"/>
                                        <p:tgtEl>
                                          <p:spTgt spid="31"/>
                                        </p:tgtEl>
                                        <p:attrNameLst>
                                          <p:attrName>ppt_x</p:attrName>
                                        </p:attrNameLst>
                                      </p:cBhvr>
                                      <p:tavLst>
                                        <p:tav tm="0">
                                          <p:val>
                                            <p:strVal val="#ppt_x"/>
                                          </p:val>
                                        </p:tav>
                                        <p:tav tm="100000">
                                          <p:val>
                                            <p:strVal val="#ppt_x"/>
                                          </p:val>
                                        </p:tav>
                                      </p:tavLst>
                                    </p:anim>
                                    <p:anim calcmode="lin" valueType="num">
                                      <p:cBhvr additive="base">
                                        <p:cTn id="16"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8" grpId="0"/>
      <p:bldP spid="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Shortest Remaining Time Next </a:t>
                </a:r>
                <a:r>
                  <a:rPr lang="en-IN" sz="2800" b="1" dirty="0"/>
                  <a:t>Example</a:t>
                </a:r>
              </a:p>
              <a:p>
                <a:pPr marL="342900" indent="-342900" algn="just">
                  <a:buFont typeface="Wingdings" panose="05000000000000000000" pitchFamily="2" charset="2"/>
                  <a:buChar char="Ø"/>
                </a:pPr>
                <a:endParaRPr lang="en-US"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Initially only process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present and it is allowed to run. </a:t>
                </a:r>
              </a:p>
              <a:p>
                <a:pPr marL="342900" indent="-342900" algn="just">
                  <a:buFont typeface="Wingdings" panose="05000000000000000000" pitchFamily="2" charset="2"/>
                  <a:buChar char="ü"/>
                </a:pPr>
                <a:r>
                  <a:rPr lang="en-US" sz="2400" dirty="0">
                    <a:solidFill>
                      <a:schemeClr val="bg1"/>
                    </a:solidFill>
                  </a:rPr>
                  <a:t>But,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𝟏</m:t>
                        </m:r>
                      </m:sub>
                    </m:sSub>
                  </m:oMath>
                </a14:m>
                <a:r>
                  <a:rPr lang="en-US" sz="2400" dirty="0">
                    <a:solidFill>
                      <a:schemeClr val="bg1"/>
                    </a:solidFill>
                  </a:rPr>
                  <a:t> comes, it has shortest remaining run time then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So,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preempted and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𝟏</m:t>
                        </m:r>
                      </m:sub>
                    </m:sSub>
                  </m:oMath>
                </a14:m>
                <a:r>
                  <a:rPr lang="en-US" sz="2400" dirty="0">
                    <a:solidFill>
                      <a:schemeClr val="bg1"/>
                    </a:solidFill>
                  </a:rPr>
                  <a:t> is allowed to run.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Whenever new process comes or current process blocks, such type of decision is taken.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This procedure is repeated till all processes complete their execution.</a:t>
                </a:r>
                <a:endParaRPr lang="en-IN" sz="2400" dirty="0">
                  <a:solidFill>
                    <a:schemeClr val="bg1"/>
                  </a:solidFill>
                </a:endParaRPr>
              </a:p>
              <a:p>
                <a:pPr algn="just">
                  <a:lnSpc>
                    <a:spcPct val="120000"/>
                  </a:lnSpc>
                </a:pPr>
                <a:endParaRPr lang="en-IN" sz="2800" b="1" dirty="0"/>
              </a:p>
              <a:p>
                <a:pPr marL="342900" lvl="0" indent="-342900" algn="just">
                  <a:buFont typeface="Wingdings" panose="05000000000000000000" pitchFamily="2" charset="2"/>
                  <a:buChar char="Ø"/>
                </a:pPr>
                <a:endParaRPr lang="en-US"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63286" y="3299308"/>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3768" y="381717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3768" y="3817170"/>
                <a:ext cx="69991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782026" y="3811767"/>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782026" y="3811767"/>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500727" y="3811766"/>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20" name="Rectangle 19"/>
              <p:cNvSpPr>
                <a:spLocks noRot="1" noChangeAspect="1" noMove="1" noResize="1" noEditPoints="1" noAdjustHandles="1" noChangeArrowheads="1" noChangeShapeType="1" noTextEdit="1"/>
              </p:cNvSpPr>
              <p:nvPr/>
            </p:nvSpPr>
            <p:spPr>
              <a:xfrm>
                <a:off x="1500727" y="3811766"/>
                <a:ext cx="699910" cy="655359"/>
              </a:xfrm>
              <a:prstGeom prst="rect">
                <a:avLst/>
              </a:prstGeom>
              <a:blipFill>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2188230" y="3811766"/>
                <a:ext cx="10865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2188230" y="3811766"/>
                <a:ext cx="108654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24" name="TextBox 23"/>
          <p:cNvSpPr txBox="1"/>
          <p:nvPr/>
        </p:nvSpPr>
        <p:spPr>
          <a:xfrm>
            <a:off x="628605" y="4477932"/>
            <a:ext cx="318448" cy="381000"/>
          </a:xfrm>
          <a:prstGeom prst="rect">
            <a:avLst/>
          </a:prstGeom>
          <a:noFill/>
        </p:spPr>
        <p:txBody>
          <a:bodyPr wrap="square" rtlCol="0">
            <a:spAutoFit/>
          </a:bodyPr>
          <a:lstStyle/>
          <a:p>
            <a:r>
              <a:rPr lang="en-US" dirty="0"/>
              <a:t>1</a:t>
            </a:r>
          </a:p>
        </p:txBody>
      </p:sp>
      <p:sp>
        <p:nvSpPr>
          <p:cNvPr id="26" name="TextBox 25"/>
          <p:cNvSpPr txBox="1"/>
          <p:nvPr/>
        </p:nvSpPr>
        <p:spPr>
          <a:xfrm>
            <a:off x="1325904" y="4469394"/>
            <a:ext cx="318448" cy="381000"/>
          </a:xfrm>
          <a:prstGeom prst="rect">
            <a:avLst/>
          </a:prstGeom>
          <a:noFill/>
        </p:spPr>
        <p:txBody>
          <a:bodyPr wrap="square" rtlCol="0">
            <a:spAutoFit/>
          </a:bodyPr>
          <a:lstStyle/>
          <a:p>
            <a:r>
              <a:rPr lang="en-US" dirty="0"/>
              <a:t>3</a:t>
            </a:r>
          </a:p>
        </p:txBody>
      </p:sp>
      <p:sp>
        <p:nvSpPr>
          <p:cNvPr id="28" name="TextBox 27"/>
          <p:cNvSpPr txBox="1"/>
          <p:nvPr/>
        </p:nvSpPr>
        <p:spPr>
          <a:xfrm>
            <a:off x="2004102" y="4451625"/>
            <a:ext cx="318448" cy="381000"/>
          </a:xfrm>
          <a:prstGeom prst="rect">
            <a:avLst/>
          </a:prstGeom>
          <a:noFill/>
        </p:spPr>
        <p:txBody>
          <a:bodyPr wrap="square" rtlCol="0">
            <a:spAutoFit/>
          </a:bodyPr>
          <a:lstStyle/>
          <a:p>
            <a:r>
              <a:rPr lang="en-US" dirty="0"/>
              <a:t>5</a:t>
            </a:r>
          </a:p>
        </p:txBody>
      </p:sp>
      <p:sp>
        <p:nvSpPr>
          <p:cNvPr id="30" name="TextBox 29"/>
          <p:cNvSpPr txBox="1"/>
          <p:nvPr/>
        </p:nvSpPr>
        <p:spPr>
          <a:xfrm>
            <a:off x="3133249" y="4451625"/>
            <a:ext cx="318448" cy="381000"/>
          </a:xfrm>
          <a:prstGeom prst="rect">
            <a:avLst/>
          </a:prstGeom>
          <a:noFill/>
        </p:spPr>
        <p:txBody>
          <a:bodyPr wrap="square" rtlCol="0">
            <a:spAutoFit/>
          </a:bodyPr>
          <a:lstStyle/>
          <a:p>
            <a:r>
              <a:rPr lang="en-US" dirty="0"/>
              <a:t>6</a:t>
            </a:r>
          </a:p>
        </p:txBody>
      </p:sp>
      <mc:AlternateContent xmlns:mc="http://schemas.openxmlformats.org/markup-compatibility/2006" xmlns:a14="http://schemas.microsoft.com/office/drawing/2010/main">
        <mc:Choice Requires="a14">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3768" y="425272"/>
              <a:ext cx="5718875" cy="2874036"/>
            </p:xfrm>
            <a:graphic>
              <a:graphicData uri="http://schemas.openxmlformats.org/drawingml/2006/table">
                <a:tbl>
                  <a:tblPr firstRow="1" bandRow="1">
                    <a:tableStyleId>{8EC20E35-A176-4012-BC5E-935CFFF8708E}</a:tableStyleId>
                  </a:tblPr>
                  <a:tblGrid>
                    <a:gridCol w="884302">
                      <a:extLst>
                        <a:ext uri="{9D8B030D-6E8A-4147-A177-3AD203B41FA5}">
                          <a16:colId xmlns:a16="http://schemas.microsoft.com/office/drawing/2014/main" val="20000"/>
                        </a:ext>
                      </a:extLst>
                    </a:gridCol>
                    <a:gridCol w="1463754">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7"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93768" y="425272"/>
              <a:ext cx="5718875" cy="2874036"/>
            </p:xfrm>
            <a:graphic>
              <a:graphicData uri="http://schemas.openxmlformats.org/drawingml/2006/table">
                <a:tbl>
                  <a:tblPr firstRow="1" bandRow="1">
                    <a:tableStyleId>{8EC20E35-A176-4012-BC5E-935CFFF8708E}</a:tableStyleId>
                  </a:tblPr>
                  <a:tblGrid>
                    <a:gridCol w="884302">
                      <a:extLst>
                        <a:ext uri="{9D8B030D-6E8A-4147-A177-3AD203B41FA5}">
                          <a16:colId xmlns:a16="http://schemas.microsoft.com/office/drawing/2014/main" xmlns="" xmlns:a14="http://schemas.microsoft.com/office/drawing/2010/main" val="20000"/>
                        </a:ext>
                      </a:extLst>
                    </a:gridCol>
                    <a:gridCol w="1463754">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10"/>
                          <a:stretch>
                            <a:fillRect l="-60581" t="-3810" r="-229876"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118478" r="-548276"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218478" r="-548276"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318478" r="-548276"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418478" r="-548276"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3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467182" y="4921584"/>
              <a:ext cx="3231276" cy="155448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54148">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2245119"/>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56688117"/>
                      </a:ext>
                    </a:extLst>
                  </a:tr>
                </a:tbl>
              </a:graphicData>
            </a:graphic>
          </p:graphicFrame>
        </mc:Choice>
        <mc:Fallback xmlns="">
          <p:graphicFrame>
            <p:nvGraphicFramePr>
              <p:cNvPr id="38"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2832304870"/>
                  </p:ext>
                </p:extLst>
              </p:nvPr>
            </p:nvGraphicFramePr>
            <p:xfrm>
              <a:off x="1467182" y="4921584"/>
              <a:ext cx="3231276" cy="155448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6576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11"/>
                          <a:stretch>
                            <a:fillRect t="-98462" r="-166000" b="-229231"/>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11"/>
                          <a:stretch>
                            <a:fillRect t="-195455" r="-166000" b="-125758"/>
                          </a:stretch>
                        </a:blip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2245119"/>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11"/>
                          <a:stretch>
                            <a:fillRect t="-300000" r="-166000" b="-27692"/>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56688117"/>
                      </a:ext>
                    </a:extLst>
                  </a:tr>
                </a:tbl>
              </a:graphicData>
            </a:graphic>
          </p:graphicFrame>
        </mc:Fallback>
      </mc:AlternateContent>
      <p:sp>
        <p:nvSpPr>
          <p:cNvPr id="39" name="TextBox 38"/>
          <p:cNvSpPr txBox="1"/>
          <p:nvPr/>
        </p:nvSpPr>
        <p:spPr>
          <a:xfrm>
            <a:off x="1493573" y="6103338"/>
            <a:ext cx="3204885" cy="369332"/>
          </a:xfrm>
          <a:prstGeom prst="rect">
            <a:avLst/>
          </a:prstGeom>
          <a:noFill/>
          <a:ln w="28575">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60137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fill="hold"/>
                                        <p:tgtEl>
                                          <p:spTgt spid="38"/>
                                        </p:tgtEl>
                                        <p:attrNameLst>
                                          <p:attrName>ppt_x</p:attrName>
                                        </p:attrNameLst>
                                      </p:cBhvr>
                                      <p:tavLst>
                                        <p:tav tm="0">
                                          <p:val>
                                            <p:strVal val="#ppt_x"/>
                                          </p:val>
                                        </p:tav>
                                        <p:tav tm="100000">
                                          <p:val>
                                            <p:strVal val="#ppt_x"/>
                                          </p:val>
                                        </p:tav>
                                      </p:tavLst>
                                    </p:anim>
                                    <p:anim calcmode="lin" valueType="num">
                                      <p:cBhvr additive="base">
                                        <p:cTn id="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30" grpId="0"/>
      <p:bldP spid="39"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Shortest Remaining Time Next </a:t>
                </a:r>
                <a:r>
                  <a:rPr lang="en-IN" sz="2800" b="1" dirty="0"/>
                  <a:t>Example</a:t>
                </a:r>
              </a:p>
              <a:p>
                <a:pPr marL="342900" indent="-342900" algn="just">
                  <a:buFont typeface="Wingdings" panose="05000000000000000000" pitchFamily="2" charset="2"/>
                  <a:buChar char="Ø"/>
                </a:pPr>
                <a:endParaRPr lang="en-US"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Initially only process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present and it is allowed to run. </a:t>
                </a:r>
              </a:p>
              <a:p>
                <a:pPr marL="342900" indent="-342900" algn="just">
                  <a:buFont typeface="Wingdings" panose="05000000000000000000" pitchFamily="2" charset="2"/>
                  <a:buChar char="ü"/>
                </a:pPr>
                <a:r>
                  <a:rPr lang="en-US" sz="2400" dirty="0">
                    <a:solidFill>
                      <a:schemeClr val="bg1"/>
                    </a:solidFill>
                  </a:rPr>
                  <a:t>But,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𝟏</m:t>
                        </m:r>
                      </m:sub>
                    </m:sSub>
                  </m:oMath>
                </a14:m>
                <a:r>
                  <a:rPr lang="en-US" sz="2400" dirty="0">
                    <a:solidFill>
                      <a:schemeClr val="bg1"/>
                    </a:solidFill>
                  </a:rPr>
                  <a:t> comes, it has shortest remaining run time then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So,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preempted and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𝟏</m:t>
                        </m:r>
                      </m:sub>
                    </m:sSub>
                  </m:oMath>
                </a14:m>
                <a:r>
                  <a:rPr lang="en-US" sz="2400" dirty="0">
                    <a:solidFill>
                      <a:schemeClr val="bg1"/>
                    </a:solidFill>
                  </a:rPr>
                  <a:t> is allowed to run.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Whenever new process comes or current process blocks, such type of decision is taken.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This procedure is repeated till all processes complete their execution.</a:t>
                </a:r>
                <a:endParaRPr lang="en-IN" sz="2400" dirty="0">
                  <a:solidFill>
                    <a:schemeClr val="bg1"/>
                  </a:solidFill>
                </a:endParaRPr>
              </a:p>
              <a:p>
                <a:pPr algn="just">
                  <a:lnSpc>
                    <a:spcPct val="120000"/>
                  </a:lnSpc>
                </a:pPr>
                <a:endParaRPr lang="en-IN" sz="2800" b="1" dirty="0"/>
              </a:p>
              <a:p>
                <a:pPr marL="342900" lvl="0" indent="-342900" algn="just">
                  <a:buFont typeface="Wingdings" panose="05000000000000000000" pitchFamily="2" charset="2"/>
                  <a:buChar char="Ø"/>
                </a:pPr>
                <a:endParaRPr lang="en-US"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63286" y="3299308"/>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3768" y="381717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3768" y="3817170"/>
                <a:ext cx="69991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782026" y="3811767"/>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782026" y="3811767"/>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500727" y="3811766"/>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20" name="Rectangle 19"/>
              <p:cNvSpPr>
                <a:spLocks noRot="1" noChangeAspect="1" noMove="1" noResize="1" noEditPoints="1" noAdjustHandles="1" noChangeArrowheads="1" noChangeShapeType="1" noTextEdit="1"/>
              </p:cNvSpPr>
              <p:nvPr/>
            </p:nvSpPr>
            <p:spPr>
              <a:xfrm>
                <a:off x="1500727" y="3811766"/>
                <a:ext cx="699910" cy="655359"/>
              </a:xfrm>
              <a:prstGeom prst="rect">
                <a:avLst/>
              </a:prstGeom>
              <a:blipFill>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2188230" y="3811766"/>
                <a:ext cx="10865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2188230" y="3811766"/>
                <a:ext cx="108654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3275378" y="3811765"/>
                <a:ext cx="10865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22" name="Rectangle 21"/>
              <p:cNvSpPr>
                <a:spLocks noRot="1" noChangeAspect="1" noMove="1" noResize="1" noEditPoints="1" noAdjustHandles="1" noChangeArrowheads="1" noChangeShapeType="1" noTextEdit="1"/>
              </p:cNvSpPr>
              <p:nvPr/>
            </p:nvSpPr>
            <p:spPr>
              <a:xfrm>
                <a:off x="3275378" y="3811765"/>
                <a:ext cx="1086540" cy="655359"/>
              </a:xfrm>
              <a:prstGeom prst="rect">
                <a:avLst/>
              </a:prstGeom>
              <a:blipFill>
                <a:blip r:embed="rId7"/>
                <a:stretch>
                  <a:fillRect/>
                </a:stretch>
              </a:blipFill>
              <a:ln w="38100">
                <a:solidFill>
                  <a:schemeClr val="tx1"/>
                </a:solidFill>
              </a:ln>
            </p:spPr>
            <p:txBody>
              <a:bodyPr/>
              <a:lstStyle/>
              <a:p>
                <a:r>
                  <a:rPr lang="en-US">
                    <a:noFill/>
                  </a:rPr>
                  <a:t> </a:t>
                </a:r>
              </a:p>
            </p:txBody>
          </p:sp>
        </mc:Fallback>
      </mc:AlternateContent>
      <p:sp>
        <p:nvSpPr>
          <p:cNvPr id="24" name="TextBox 23"/>
          <p:cNvSpPr txBox="1"/>
          <p:nvPr/>
        </p:nvSpPr>
        <p:spPr>
          <a:xfrm>
            <a:off x="628605" y="4477932"/>
            <a:ext cx="318448" cy="381000"/>
          </a:xfrm>
          <a:prstGeom prst="rect">
            <a:avLst/>
          </a:prstGeom>
          <a:noFill/>
        </p:spPr>
        <p:txBody>
          <a:bodyPr wrap="square" rtlCol="0">
            <a:spAutoFit/>
          </a:bodyPr>
          <a:lstStyle/>
          <a:p>
            <a:r>
              <a:rPr lang="en-US" dirty="0"/>
              <a:t>1</a:t>
            </a:r>
          </a:p>
        </p:txBody>
      </p:sp>
      <p:sp>
        <p:nvSpPr>
          <p:cNvPr id="26" name="TextBox 25"/>
          <p:cNvSpPr txBox="1"/>
          <p:nvPr/>
        </p:nvSpPr>
        <p:spPr>
          <a:xfrm>
            <a:off x="1325904" y="4469394"/>
            <a:ext cx="318448" cy="381000"/>
          </a:xfrm>
          <a:prstGeom prst="rect">
            <a:avLst/>
          </a:prstGeom>
          <a:noFill/>
        </p:spPr>
        <p:txBody>
          <a:bodyPr wrap="square" rtlCol="0">
            <a:spAutoFit/>
          </a:bodyPr>
          <a:lstStyle/>
          <a:p>
            <a:r>
              <a:rPr lang="en-US" dirty="0"/>
              <a:t>3</a:t>
            </a:r>
          </a:p>
        </p:txBody>
      </p:sp>
      <p:sp>
        <p:nvSpPr>
          <p:cNvPr id="28" name="TextBox 27"/>
          <p:cNvSpPr txBox="1"/>
          <p:nvPr/>
        </p:nvSpPr>
        <p:spPr>
          <a:xfrm>
            <a:off x="2004102" y="4451625"/>
            <a:ext cx="318448" cy="381000"/>
          </a:xfrm>
          <a:prstGeom prst="rect">
            <a:avLst/>
          </a:prstGeom>
          <a:noFill/>
        </p:spPr>
        <p:txBody>
          <a:bodyPr wrap="square" rtlCol="0">
            <a:spAutoFit/>
          </a:bodyPr>
          <a:lstStyle/>
          <a:p>
            <a:r>
              <a:rPr lang="en-US" dirty="0"/>
              <a:t>5</a:t>
            </a:r>
          </a:p>
        </p:txBody>
      </p:sp>
      <p:sp>
        <p:nvSpPr>
          <p:cNvPr id="30" name="TextBox 29"/>
          <p:cNvSpPr txBox="1"/>
          <p:nvPr/>
        </p:nvSpPr>
        <p:spPr>
          <a:xfrm>
            <a:off x="3133249" y="4451625"/>
            <a:ext cx="318448" cy="381000"/>
          </a:xfrm>
          <a:prstGeom prst="rect">
            <a:avLst/>
          </a:prstGeom>
          <a:noFill/>
        </p:spPr>
        <p:txBody>
          <a:bodyPr wrap="square" rtlCol="0">
            <a:spAutoFit/>
          </a:bodyPr>
          <a:lstStyle/>
          <a:p>
            <a:r>
              <a:rPr lang="en-US" dirty="0"/>
              <a:t>6</a:t>
            </a:r>
          </a:p>
        </p:txBody>
      </p:sp>
      <p:sp>
        <p:nvSpPr>
          <p:cNvPr id="34" name="TextBox 33"/>
          <p:cNvSpPr txBox="1"/>
          <p:nvPr/>
        </p:nvSpPr>
        <p:spPr>
          <a:xfrm>
            <a:off x="4170358" y="4467123"/>
            <a:ext cx="428767" cy="369332"/>
          </a:xfrm>
          <a:prstGeom prst="rect">
            <a:avLst/>
          </a:prstGeom>
          <a:noFill/>
        </p:spPr>
        <p:txBody>
          <a:bodyPr wrap="square" rtlCol="0">
            <a:spAutoFit/>
          </a:bodyPr>
          <a:lstStyle/>
          <a:p>
            <a:r>
              <a:rPr lang="en-US" dirty="0"/>
              <a:t>8</a:t>
            </a:r>
          </a:p>
        </p:txBody>
      </p:sp>
      <mc:AlternateContent xmlns:mc="http://schemas.openxmlformats.org/markup-compatibility/2006" xmlns:a14="http://schemas.microsoft.com/office/drawing/2010/main">
        <mc:Choice Requires="a14">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3768" y="425272"/>
              <a:ext cx="5718875" cy="2874036"/>
            </p:xfrm>
            <a:graphic>
              <a:graphicData uri="http://schemas.openxmlformats.org/drawingml/2006/table">
                <a:tbl>
                  <a:tblPr firstRow="1" bandRow="1">
                    <a:tableStyleId>{8EC20E35-A176-4012-BC5E-935CFFF8708E}</a:tableStyleId>
                  </a:tblPr>
                  <a:tblGrid>
                    <a:gridCol w="884302">
                      <a:extLst>
                        <a:ext uri="{9D8B030D-6E8A-4147-A177-3AD203B41FA5}">
                          <a16:colId xmlns:a16="http://schemas.microsoft.com/office/drawing/2014/main" val="20000"/>
                        </a:ext>
                      </a:extLst>
                    </a:gridCol>
                    <a:gridCol w="1463754">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7"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93768" y="425272"/>
              <a:ext cx="5718875" cy="2874036"/>
            </p:xfrm>
            <a:graphic>
              <a:graphicData uri="http://schemas.openxmlformats.org/drawingml/2006/table">
                <a:tbl>
                  <a:tblPr firstRow="1" bandRow="1">
                    <a:tableStyleId>{8EC20E35-A176-4012-BC5E-935CFFF8708E}</a:tableStyleId>
                  </a:tblPr>
                  <a:tblGrid>
                    <a:gridCol w="884302">
                      <a:extLst>
                        <a:ext uri="{9D8B030D-6E8A-4147-A177-3AD203B41FA5}">
                          <a16:colId xmlns:a16="http://schemas.microsoft.com/office/drawing/2014/main" xmlns="" xmlns:a14="http://schemas.microsoft.com/office/drawing/2010/main" val="20000"/>
                        </a:ext>
                      </a:extLst>
                    </a:gridCol>
                    <a:gridCol w="1463754">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10"/>
                          <a:stretch>
                            <a:fillRect l="-60581" t="-3810" r="-229876"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118478" r="-548276"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218478" r="-548276"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318478" r="-548276"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418478" r="-548276"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298845" y="4893447"/>
              <a:ext cx="3231276" cy="115824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54148">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mc:Choice>
        <mc:Fallback xmlns="">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2440533498"/>
                  </p:ext>
                </p:extLst>
              </p:nvPr>
            </p:nvGraphicFramePr>
            <p:xfrm>
              <a:off x="2298845" y="4893447"/>
              <a:ext cx="3231276" cy="115824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6576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11"/>
                          <a:stretch>
                            <a:fillRect l="-500" t="-96970" r="-166000" b="-127273"/>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11"/>
                          <a:stretch>
                            <a:fillRect l="-500" t="-200000" r="-166000" b="-29231"/>
                          </a:stretch>
                        </a:blip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mc:Fallback>
      </mc:AlternateContent>
      <p:sp>
        <p:nvSpPr>
          <p:cNvPr id="41" name="TextBox 40"/>
          <p:cNvSpPr txBox="1"/>
          <p:nvPr/>
        </p:nvSpPr>
        <p:spPr>
          <a:xfrm>
            <a:off x="2335632" y="5679982"/>
            <a:ext cx="3204885" cy="369332"/>
          </a:xfrm>
          <a:prstGeom prst="rect">
            <a:avLst/>
          </a:prstGeom>
          <a:noFill/>
          <a:ln w="28575">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3708898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34" grpId="0"/>
      <p:bldP spid="41"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Shortest Remaining Time Next </a:t>
                </a:r>
                <a:r>
                  <a:rPr lang="en-IN" sz="2800" b="1" dirty="0"/>
                  <a:t>Example</a:t>
                </a:r>
              </a:p>
              <a:p>
                <a:pPr marL="342900" indent="-342900" algn="just">
                  <a:buFont typeface="Wingdings" panose="05000000000000000000" pitchFamily="2" charset="2"/>
                  <a:buChar char="Ø"/>
                </a:pPr>
                <a:endParaRPr lang="en-US"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Initially only process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present and it is allowed to run. </a:t>
                </a:r>
              </a:p>
              <a:p>
                <a:pPr marL="342900" indent="-342900" algn="just">
                  <a:buFont typeface="Wingdings" panose="05000000000000000000" pitchFamily="2" charset="2"/>
                  <a:buChar char="ü"/>
                </a:pPr>
                <a:r>
                  <a:rPr lang="en-US" sz="2400" dirty="0">
                    <a:solidFill>
                      <a:schemeClr val="bg1"/>
                    </a:solidFill>
                  </a:rPr>
                  <a:t>But,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𝟏</m:t>
                        </m:r>
                      </m:sub>
                    </m:sSub>
                  </m:oMath>
                </a14:m>
                <a:r>
                  <a:rPr lang="en-US" sz="2400" dirty="0">
                    <a:solidFill>
                      <a:schemeClr val="bg1"/>
                    </a:solidFill>
                  </a:rPr>
                  <a:t> comes, it has shortest remaining run time then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So,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𝟎</m:t>
                        </m:r>
                      </m:sub>
                    </m:sSub>
                  </m:oMath>
                </a14:m>
                <a:r>
                  <a:rPr lang="en-US" sz="2400" dirty="0">
                    <a:solidFill>
                      <a:schemeClr val="bg1"/>
                    </a:solidFill>
                  </a:rPr>
                  <a:t> is preempted and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IN" sz="2400" b="1" i="1">
                            <a:solidFill>
                              <a:schemeClr val="bg1"/>
                            </a:solidFill>
                            <a:latin typeface="Cambria Math" panose="02040503050406030204" pitchFamily="18" charset="0"/>
                          </a:rPr>
                          <m:t>𝟏</m:t>
                        </m:r>
                      </m:sub>
                    </m:sSub>
                  </m:oMath>
                </a14:m>
                <a:r>
                  <a:rPr lang="en-US" sz="2400" dirty="0">
                    <a:solidFill>
                      <a:schemeClr val="bg1"/>
                    </a:solidFill>
                  </a:rPr>
                  <a:t> is allowed to run.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Whenever new process comes or current process blocks, such type of decision is taken.</a:t>
                </a:r>
                <a:endParaRPr lang="en-IN" sz="2400" dirty="0">
                  <a:solidFill>
                    <a:schemeClr val="bg1"/>
                  </a:solidFill>
                </a:endParaRPr>
              </a:p>
              <a:p>
                <a:pPr marL="342900" indent="-342900" algn="just">
                  <a:buFont typeface="Wingdings" panose="05000000000000000000" pitchFamily="2" charset="2"/>
                  <a:buChar char="ü"/>
                </a:pPr>
                <a:r>
                  <a:rPr lang="en-US" sz="2400" dirty="0">
                    <a:solidFill>
                      <a:schemeClr val="bg1"/>
                    </a:solidFill>
                  </a:rPr>
                  <a:t>This procedure is repeated till all processes complete their execution.</a:t>
                </a:r>
                <a:endParaRPr lang="en-IN" sz="2400" dirty="0">
                  <a:solidFill>
                    <a:schemeClr val="bg1"/>
                  </a:solidFill>
                </a:endParaRPr>
              </a:p>
              <a:p>
                <a:pPr algn="just">
                  <a:lnSpc>
                    <a:spcPct val="120000"/>
                  </a:lnSpc>
                </a:pPr>
                <a:endParaRPr lang="en-IN" sz="2800" b="1" dirty="0"/>
              </a:p>
              <a:p>
                <a:pPr marL="342900" lvl="0" indent="-342900" algn="just">
                  <a:buFont typeface="Wingdings" panose="05000000000000000000" pitchFamily="2" charset="2"/>
                  <a:buChar char="Ø"/>
                </a:pPr>
                <a:endParaRPr lang="en-US"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63286" y="3299308"/>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3768" y="381717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3768" y="3817170"/>
                <a:ext cx="69991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782026" y="3811767"/>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19" name="Rectangle 18"/>
              <p:cNvSpPr>
                <a:spLocks noRot="1" noChangeAspect="1" noMove="1" noResize="1" noEditPoints="1" noAdjustHandles="1" noChangeArrowheads="1" noChangeShapeType="1" noTextEdit="1"/>
              </p:cNvSpPr>
              <p:nvPr/>
            </p:nvSpPr>
            <p:spPr>
              <a:xfrm>
                <a:off x="782026" y="3811767"/>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p:cNvSpPr/>
              <p:nvPr/>
            </p:nvSpPr>
            <p:spPr>
              <a:xfrm>
                <a:off x="1500727" y="3811766"/>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20" name="Rectangle 19"/>
              <p:cNvSpPr>
                <a:spLocks noRot="1" noChangeAspect="1" noMove="1" noResize="1" noEditPoints="1" noAdjustHandles="1" noChangeArrowheads="1" noChangeShapeType="1" noTextEdit="1"/>
              </p:cNvSpPr>
              <p:nvPr/>
            </p:nvSpPr>
            <p:spPr>
              <a:xfrm>
                <a:off x="1500727" y="3811766"/>
                <a:ext cx="699910" cy="655359"/>
              </a:xfrm>
              <a:prstGeom prst="rect">
                <a:avLst/>
              </a:prstGeom>
              <a:blipFill>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Rectangle 20"/>
              <p:cNvSpPr/>
              <p:nvPr/>
            </p:nvSpPr>
            <p:spPr>
              <a:xfrm>
                <a:off x="2188230" y="3811766"/>
                <a:ext cx="10865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21" name="Rectangle 20"/>
              <p:cNvSpPr>
                <a:spLocks noRot="1" noChangeAspect="1" noMove="1" noResize="1" noEditPoints="1" noAdjustHandles="1" noChangeArrowheads="1" noChangeShapeType="1" noTextEdit="1"/>
              </p:cNvSpPr>
              <p:nvPr/>
            </p:nvSpPr>
            <p:spPr>
              <a:xfrm>
                <a:off x="2188230" y="3811766"/>
                <a:ext cx="108654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p:cNvSpPr/>
              <p:nvPr/>
            </p:nvSpPr>
            <p:spPr>
              <a:xfrm>
                <a:off x="3275378" y="3811765"/>
                <a:ext cx="10865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22" name="Rectangle 21"/>
              <p:cNvSpPr>
                <a:spLocks noRot="1" noChangeAspect="1" noMove="1" noResize="1" noEditPoints="1" noAdjustHandles="1" noChangeArrowheads="1" noChangeShapeType="1" noTextEdit="1"/>
              </p:cNvSpPr>
              <p:nvPr/>
            </p:nvSpPr>
            <p:spPr>
              <a:xfrm>
                <a:off x="3275378" y="3811765"/>
                <a:ext cx="1086540" cy="655359"/>
              </a:xfrm>
              <a:prstGeom prst="rect">
                <a:avLst/>
              </a:prstGeom>
              <a:blipFill>
                <a:blip r:embed="rId7"/>
                <a:stretch>
                  <a:fillRect/>
                </a:stretch>
              </a:blipFill>
              <a:ln w="38100">
                <a:solidFill>
                  <a:schemeClr val="tx1"/>
                </a:solidFill>
              </a:ln>
            </p:spPr>
            <p:txBody>
              <a:bodyPr/>
              <a:lstStyle/>
              <a:p>
                <a:r>
                  <a:rPr lang="en-US">
                    <a:noFill/>
                  </a:rPr>
                  <a:t> </a:t>
                </a:r>
              </a:p>
            </p:txBody>
          </p:sp>
        </mc:Fallback>
      </mc:AlternateContent>
      <p:sp>
        <p:nvSpPr>
          <p:cNvPr id="24" name="TextBox 23"/>
          <p:cNvSpPr txBox="1"/>
          <p:nvPr/>
        </p:nvSpPr>
        <p:spPr>
          <a:xfrm>
            <a:off x="628605" y="4477932"/>
            <a:ext cx="318448" cy="381000"/>
          </a:xfrm>
          <a:prstGeom prst="rect">
            <a:avLst/>
          </a:prstGeom>
          <a:noFill/>
        </p:spPr>
        <p:txBody>
          <a:bodyPr wrap="square" rtlCol="0">
            <a:spAutoFit/>
          </a:bodyPr>
          <a:lstStyle/>
          <a:p>
            <a:r>
              <a:rPr lang="en-US" dirty="0"/>
              <a:t>1</a:t>
            </a:r>
          </a:p>
        </p:txBody>
      </p:sp>
      <p:sp>
        <p:nvSpPr>
          <p:cNvPr id="26" name="TextBox 25"/>
          <p:cNvSpPr txBox="1"/>
          <p:nvPr/>
        </p:nvSpPr>
        <p:spPr>
          <a:xfrm>
            <a:off x="1325904" y="4469394"/>
            <a:ext cx="318448" cy="381000"/>
          </a:xfrm>
          <a:prstGeom prst="rect">
            <a:avLst/>
          </a:prstGeom>
          <a:noFill/>
        </p:spPr>
        <p:txBody>
          <a:bodyPr wrap="square" rtlCol="0">
            <a:spAutoFit/>
          </a:bodyPr>
          <a:lstStyle/>
          <a:p>
            <a:r>
              <a:rPr lang="en-US" dirty="0"/>
              <a:t>3</a:t>
            </a:r>
          </a:p>
        </p:txBody>
      </p:sp>
      <p:sp>
        <p:nvSpPr>
          <p:cNvPr id="28" name="TextBox 27"/>
          <p:cNvSpPr txBox="1"/>
          <p:nvPr/>
        </p:nvSpPr>
        <p:spPr>
          <a:xfrm>
            <a:off x="2004102" y="4451625"/>
            <a:ext cx="318448" cy="381000"/>
          </a:xfrm>
          <a:prstGeom prst="rect">
            <a:avLst/>
          </a:prstGeom>
          <a:noFill/>
        </p:spPr>
        <p:txBody>
          <a:bodyPr wrap="square" rtlCol="0">
            <a:spAutoFit/>
          </a:bodyPr>
          <a:lstStyle/>
          <a:p>
            <a:r>
              <a:rPr lang="en-US" dirty="0"/>
              <a:t>5</a:t>
            </a:r>
          </a:p>
        </p:txBody>
      </p:sp>
      <p:sp>
        <p:nvSpPr>
          <p:cNvPr id="30" name="TextBox 29"/>
          <p:cNvSpPr txBox="1"/>
          <p:nvPr/>
        </p:nvSpPr>
        <p:spPr>
          <a:xfrm>
            <a:off x="3133249" y="4451625"/>
            <a:ext cx="318448" cy="381000"/>
          </a:xfrm>
          <a:prstGeom prst="rect">
            <a:avLst/>
          </a:prstGeom>
          <a:noFill/>
        </p:spPr>
        <p:txBody>
          <a:bodyPr wrap="square" rtlCol="0">
            <a:spAutoFit/>
          </a:bodyPr>
          <a:lstStyle/>
          <a:p>
            <a:r>
              <a:rPr lang="en-US" dirty="0"/>
              <a:t>6</a:t>
            </a:r>
          </a:p>
        </p:txBody>
      </p:sp>
      <p:sp>
        <p:nvSpPr>
          <p:cNvPr id="34" name="TextBox 33"/>
          <p:cNvSpPr txBox="1"/>
          <p:nvPr/>
        </p:nvSpPr>
        <p:spPr>
          <a:xfrm>
            <a:off x="4170358" y="4467123"/>
            <a:ext cx="428767" cy="369332"/>
          </a:xfrm>
          <a:prstGeom prst="rect">
            <a:avLst/>
          </a:prstGeom>
          <a:noFill/>
        </p:spPr>
        <p:txBody>
          <a:bodyPr wrap="square" rtlCol="0">
            <a:spAutoFit/>
          </a:bodyPr>
          <a:lstStyle/>
          <a:p>
            <a:r>
              <a:rPr lang="en-US" dirty="0"/>
              <a:t>8</a:t>
            </a:r>
          </a:p>
        </p:txBody>
      </p:sp>
      <mc:AlternateContent xmlns:mc="http://schemas.openxmlformats.org/markup-compatibility/2006" xmlns:a14="http://schemas.microsoft.com/office/drawing/2010/main">
        <mc:Choice Requires="a14">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3768" y="425272"/>
              <a:ext cx="5718875" cy="2874036"/>
            </p:xfrm>
            <a:graphic>
              <a:graphicData uri="http://schemas.openxmlformats.org/drawingml/2006/table">
                <a:tbl>
                  <a:tblPr firstRow="1" bandRow="1">
                    <a:tableStyleId>{8EC20E35-A176-4012-BC5E-935CFFF8708E}</a:tableStyleId>
                  </a:tblPr>
                  <a:tblGrid>
                    <a:gridCol w="884302">
                      <a:extLst>
                        <a:ext uri="{9D8B030D-6E8A-4147-A177-3AD203B41FA5}">
                          <a16:colId xmlns:a16="http://schemas.microsoft.com/office/drawing/2014/main" val="20000"/>
                        </a:ext>
                      </a:extLst>
                    </a:gridCol>
                    <a:gridCol w="1463754">
                      <a:extLst>
                        <a:ext uri="{9D8B030D-6E8A-4147-A177-3AD203B41FA5}">
                          <a16:colId xmlns:a16="http://schemas.microsoft.com/office/drawing/2014/main" val="20001"/>
                        </a:ext>
                      </a:extLst>
                    </a:gridCol>
                    <a:gridCol w="337081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7"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93768" y="425272"/>
              <a:ext cx="5718875" cy="2874036"/>
            </p:xfrm>
            <a:graphic>
              <a:graphicData uri="http://schemas.openxmlformats.org/drawingml/2006/table">
                <a:tbl>
                  <a:tblPr firstRow="1" bandRow="1">
                    <a:tableStyleId>{8EC20E35-A176-4012-BC5E-935CFFF8708E}</a:tableStyleId>
                  </a:tblPr>
                  <a:tblGrid>
                    <a:gridCol w="884302">
                      <a:extLst>
                        <a:ext uri="{9D8B030D-6E8A-4147-A177-3AD203B41FA5}">
                          <a16:colId xmlns:a16="http://schemas.microsoft.com/office/drawing/2014/main" xmlns="" xmlns:a14="http://schemas.microsoft.com/office/drawing/2010/main" val="20000"/>
                        </a:ext>
                      </a:extLst>
                    </a:gridCol>
                    <a:gridCol w="1463754">
                      <a:extLst>
                        <a:ext uri="{9D8B030D-6E8A-4147-A177-3AD203B41FA5}">
                          <a16:colId xmlns:a16="http://schemas.microsoft.com/office/drawing/2014/main" xmlns="" xmlns:a14="http://schemas.microsoft.com/office/drawing/2010/main" val="20001"/>
                        </a:ext>
                      </a:extLst>
                    </a:gridCol>
                    <a:gridCol w="3370819">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10"/>
                          <a:stretch>
                            <a:fillRect l="-60581" t="-3810" r="-229876"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118478" r="-548276"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218478" r="-548276"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318478" r="-548276"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l="-690" t="-418478" r="-548276"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298845" y="4893447"/>
              <a:ext cx="3231276" cy="76200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54148">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84635">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Choice>
        <mc:Fallback xmlns="">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3887263337"/>
                  </p:ext>
                </p:extLst>
              </p:nvPr>
            </p:nvGraphicFramePr>
            <p:xfrm>
              <a:off x="2298845" y="4893447"/>
              <a:ext cx="3231276" cy="762000"/>
            </p:xfrm>
            <a:graphic>
              <a:graphicData uri="http://schemas.openxmlformats.org/drawingml/2006/table">
                <a:tbl>
                  <a:tblPr firstRow="1" bandRow="1">
                    <a:tableStyleId>{8EC20E35-A176-4012-BC5E-935CFFF8708E}</a:tableStyleId>
                  </a:tblPr>
                  <a:tblGrid>
                    <a:gridCol w="1216932">
                      <a:extLst>
                        <a:ext uri="{9D8B030D-6E8A-4147-A177-3AD203B41FA5}">
                          <a16:colId xmlns:a16="http://schemas.microsoft.com/office/drawing/2014/main" val="20000"/>
                        </a:ext>
                      </a:extLst>
                    </a:gridCol>
                    <a:gridCol w="2014344">
                      <a:extLst>
                        <a:ext uri="{9D8B030D-6E8A-4147-A177-3AD203B41FA5}">
                          <a16:colId xmlns:a16="http://schemas.microsoft.com/office/drawing/2014/main" val="20001"/>
                        </a:ext>
                      </a:extLst>
                    </a:gridCol>
                  </a:tblGrid>
                  <a:tr h="36576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a:blip r:embed="rId11"/>
                          <a:stretch>
                            <a:fillRect l="-500" t="-96970" r="-166000" b="-28788"/>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Fallback>
      </mc:AlternateContent>
      <p:sp>
        <p:nvSpPr>
          <p:cNvPr id="41" name="TextBox 40"/>
          <p:cNvSpPr txBox="1"/>
          <p:nvPr/>
        </p:nvSpPr>
        <p:spPr>
          <a:xfrm>
            <a:off x="2298845" y="5287818"/>
            <a:ext cx="3204885" cy="369332"/>
          </a:xfrm>
          <a:prstGeom prst="rect">
            <a:avLst/>
          </a:prstGeom>
          <a:noFill/>
          <a:ln w="28575">
            <a:solidFill>
              <a:srgbClr val="1AE61F"/>
            </a:solidFill>
          </a:ln>
        </p:spPr>
        <p:txBody>
          <a:bodyPr wrap="square" rtlCol="0">
            <a:spAutoFit/>
          </a:bodyPr>
          <a:lstStyle/>
          <a:p>
            <a:endParaRPr lang="en-IN" dirty="0"/>
          </a:p>
        </p:txBody>
      </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324332DB-35AB-49FC-AAA8-27D69383697E}"/>
                  </a:ext>
                </a:extLst>
              </p:cNvPr>
              <p:cNvSpPr/>
              <p:nvPr/>
            </p:nvSpPr>
            <p:spPr>
              <a:xfrm>
                <a:off x="4374306" y="3811763"/>
                <a:ext cx="10865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0</m:t>
                          </m:r>
                        </m:sub>
                      </m:sSub>
                    </m:oMath>
                  </m:oMathPara>
                </a14:m>
                <a:endParaRPr lang="en-US" dirty="0"/>
              </a:p>
            </p:txBody>
          </p:sp>
        </mc:Choice>
        <mc:Fallback xmlns="">
          <p:sp>
            <p:nvSpPr>
              <p:cNvPr id="23" name="Rectangle 22">
                <a:extLst>
                  <a:ext uri="{FF2B5EF4-FFF2-40B4-BE49-F238E27FC236}">
                    <a16:creationId xmlns:a16="http://schemas.microsoft.com/office/drawing/2014/main" id="{324332DB-35AB-49FC-AAA8-27D69383697E}"/>
                  </a:ext>
                </a:extLst>
              </p:cNvPr>
              <p:cNvSpPr>
                <a:spLocks noRot="1" noChangeAspect="1" noMove="1" noResize="1" noEditPoints="1" noAdjustHandles="1" noChangeArrowheads="1" noChangeShapeType="1" noTextEdit="1"/>
              </p:cNvSpPr>
              <p:nvPr/>
            </p:nvSpPr>
            <p:spPr>
              <a:xfrm>
                <a:off x="4374306" y="3811763"/>
                <a:ext cx="1086540" cy="655359"/>
              </a:xfrm>
              <a:prstGeom prst="rect">
                <a:avLst/>
              </a:prstGeom>
              <a:blipFill>
                <a:blip r:embed="rId14"/>
                <a:stretch>
                  <a:fillRect/>
                </a:stretch>
              </a:blipFill>
              <a:ln w="38100">
                <a:solidFill>
                  <a:schemeClr val="tx1"/>
                </a:solidFill>
              </a:ln>
            </p:spPr>
            <p:txBody>
              <a:bodyPr/>
              <a:lstStyle/>
              <a:p>
                <a:r>
                  <a:rPr lang="en-US">
                    <a:noFill/>
                  </a:rPr>
                  <a:t> </a:t>
                </a:r>
              </a:p>
            </p:txBody>
          </p:sp>
        </mc:Fallback>
      </mc:AlternateContent>
      <p:sp>
        <p:nvSpPr>
          <p:cNvPr id="25" name="TextBox 24">
            <a:extLst>
              <a:ext uri="{FF2B5EF4-FFF2-40B4-BE49-F238E27FC236}">
                <a16:creationId xmlns:a16="http://schemas.microsoft.com/office/drawing/2014/main" id="{909980A9-FE29-430E-B6D3-D219E07AA9C3}"/>
              </a:ext>
            </a:extLst>
          </p:cNvPr>
          <p:cNvSpPr txBox="1"/>
          <p:nvPr/>
        </p:nvSpPr>
        <p:spPr>
          <a:xfrm>
            <a:off x="5335615" y="4463293"/>
            <a:ext cx="428767" cy="369332"/>
          </a:xfrm>
          <a:prstGeom prst="rect">
            <a:avLst/>
          </a:prstGeom>
          <a:noFill/>
        </p:spPr>
        <p:txBody>
          <a:bodyPr wrap="square" rtlCol="0">
            <a:spAutoFit/>
          </a:bodyPr>
          <a:lstStyle/>
          <a:p>
            <a:r>
              <a:rPr lang="en-IN" dirty="0"/>
              <a:t>13</a:t>
            </a:r>
            <a:endParaRPr lang="en-US" dirty="0"/>
          </a:p>
        </p:txBody>
      </p:sp>
    </p:spTree>
    <p:extLst>
      <p:ext uri="{BB962C8B-B14F-4D97-AF65-F5344CB8AC3E}">
        <p14:creationId xmlns:p14="http://schemas.microsoft.com/office/powerpoint/2010/main" val="603347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23" grpId="0" animBg="1"/>
      <p:bldP spid="25"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Remaining Time Next (SRTN)</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1014593" y="4337714"/>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014593" y="4337714"/>
                <a:ext cx="115517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p:sp>
        <p:nvSpPr>
          <p:cNvPr id="9" name="TextBox 8"/>
          <p:cNvSpPr txBox="1"/>
          <p:nvPr/>
        </p:nvSpPr>
        <p:spPr>
          <a:xfrm>
            <a:off x="855369" y="4993073"/>
            <a:ext cx="318448" cy="381000"/>
          </a:xfrm>
          <a:prstGeom prst="rect">
            <a:avLst/>
          </a:prstGeom>
          <a:noFill/>
        </p:spPr>
        <p:txBody>
          <a:bodyPr wrap="square" rtlCol="0">
            <a:spAutoFit/>
          </a:bodyPr>
          <a:lstStyle/>
          <a:p>
            <a:r>
              <a:rPr lang="en-US" dirty="0"/>
              <a:t>0</a:t>
            </a:r>
          </a:p>
        </p:txBody>
      </p:sp>
      <p:cxnSp>
        <p:nvCxnSpPr>
          <p:cNvPr id="14" name="Straight Connector 13"/>
          <p:cNvCxnSpPr/>
          <p:nvPr/>
        </p:nvCxnSpPr>
        <p:spPr>
          <a:xfrm flipH="1">
            <a:off x="1014593" y="4353205"/>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43" name="Rectangle 42"/>
              <p:cNvSpPr/>
              <p:nvPr/>
            </p:nvSpPr>
            <p:spPr>
              <a:xfrm>
                <a:off x="2167232" y="4337713"/>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3" name="Rectangle 42"/>
              <p:cNvSpPr>
                <a:spLocks noRot="1" noChangeAspect="1" noMove="1" noResize="1" noEditPoints="1" noAdjustHandles="1" noChangeArrowheads="1" noChangeShapeType="1" noTextEdit="1"/>
              </p:cNvSpPr>
              <p:nvPr/>
            </p:nvSpPr>
            <p:spPr>
              <a:xfrm>
                <a:off x="2167232" y="4337713"/>
                <a:ext cx="115517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p:cNvSpPr/>
              <p:nvPr/>
            </p:nvSpPr>
            <p:spPr>
              <a:xfrm>
                <a:off x="3317340" y="4337712"/>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4" name="Rectangle 43"/>
              <p:cNvSpPr>
                <a:spLocks noRot="1" noChangeAspect="1" noMove="1" noResize="1" noEditPoints="1" noAdjustHandles="1" noChangeArrowheads="1" noChangeShapeType="1" noTextEdit="1"/>
              </p:cNvSpPr>
              <p:nvPr/>
            </p:nvSpPr>
            <p:spPr>
              <a:xfrm>
                <a:off x="3317340" y="4337712"/>
                <a:ext cx="1155170" cy="655359"/>
              </a:xfrm>
              <a:prstGeom prst="rect">
                <a:avLst/>
              </a:prstGeom>
              <a:blipFill>
                <a:blip r:embed="rId7"/>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p:cNvSpPr/>
              <p:nvPr/>
            </p:nvSpPr>
            <p:spPr>
              <a:xfrm>
                <a:off x="4469979" y="4337711"/>
                <a:ext cx="1450374"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3</m:t>
                          </m:r>
                        </m:sub>
                      </m:sSub>
                    </m:oMath>
                  </m:oMathPara>
                </a14:m>
                <a:endParaRPr lang="en-US" dirty="0"/>
              </a:p>
            </p:txBody>
          </p:sp>
        </mc:Choice>
        <mc:Fallback xmlns="">
          <p:sp>
            <p:nvSpPr>
              <p:cNvPr id="45" name="Rectangle 44"/>
              <p:cNvSpPr>
                <a:spLocks noRot="1" noChangeAspect="1" noMove="1" noResize="1" noEditPoints="1" noAdjustHandles="1" noChangeArrowheads="1" noChangeShapeType="1" noTextEdit="1"/>
              </p:cNvSpPr>
              <p:nvPr/>
            </p:nvSpPr>
            <p:spPr>
              <a:xfrm>
                <a:off x="4469979" y="4337711"/>
                <a:ext cx="1450374"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5920353" y="4337710"/>
                <a:ext cx="1450374"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6" name="Rectangle 45"/>
              <p:cNvSpPr>
                <a:spLocks noRot="1" noChangeAspect="1" noMove="1" noResize="1" noEditPoints="1" noAdjustHandles="1" noChangeArrowheads="1" noChangeShapeType="1" noTextEdit="1"/>
              </p:cNvSpPr>
              <p:nvPr/>
            </p:nvSpPr>
            <p:spPr>
              <a:xfrm>
                <a:off x="5920353" y="4337710"/>
                <a:ext cx="1450374" cy="655359"/>
              </a:xfrm>
              <a:prstGeom prst="rect">
                <a:avLst/>
              </a:prstGeom>
              <a:blipFill>
                <a:blip r:embed="rId9"/>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p:cNvSpPr/>
              <p:nvPr/>
            </p:nvSpPr>
            <p:spPr>
              <a:xfrm>
                <a:off x="7381351" y="4337709"/>
                <a:ext cx="1607666"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7381351" y="4337709"/>
                <a:ext cx="1607666" cy="655359"/>
              </a:xfrm>
              <a:prstGeom prst="rect">
                <a:avLst/>
              </a:prstGeom>
              <a:blipFill rotWithShape="0">
                <a:blip r:embed="rId10"/>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008008" y="4993068"/>
            <a:ext cx="318448" cy="381000"/>
          </a:xfrm>
          <a:prstGeom prst="rect">
            <a:avLst/>
          </a:prstGeom>
          <a:noFill/>
        </p:spPr>
        <p:txBody>
          <a:bodyPr wrap="square" rtlCol="0">
            <a:spAutoFit/>
          </a:bodyPr>
          <a:lstStyle/>
          <a:p>
            <a:r>
              <a:rPr lang="en-US" dirty="0"/>
              <a:t>1</a:t>
            </a:r>
          </a:p>
        </p:txBody>
      </p:sp>
      <p:sp>
        <p:nvSpPr>
          <p:cNvPr id="49" name="TextBox 48"/>
          <p:cNvSpPr txBox="1"/>
          <p:nvPr/>
        </p:nvSpPr>
        <p:spPr>
          <a:xfrm>
            <a:off x="3152804" y="4954815"/>
            <a:ext cx="318448" cy="381000"/>
          </a:xfrm>
          <a:prstGeom prst="rect">
            <a:avLst/>
          </a:prstGeom>
          <a:noFill/>
        </p:spPr>
        <p:txBody>
          <a:bodyPr wrap="square" rtlCol="0">
            <a:spAutoFit/>
          </a:bodyPr>
          <a:lstStyle/>
          <a:p>
            <a:r>
              <a:rPr lang="en-US" dirty="0"/>
              <a:t>3</a:t>
            </a:r>
          </a:p>
        </p:txBody>
      </p:sp>
      <p:sp>
        <p:nvSpPr>
          <p:cNvPr id="50" name="TextBox 49"/>
          <p:cNvSpPr txBox="1"/>
          <p:nvPr/>
        </p:nvSpPr>
        <p:spPr>
          <a:xfrm>
            <a:off x="4315817" y="4992946"/>
            <a:ext cx="318448" cy="381000"/>
          </a:xfrm>
          <a:prstGeom prst="rect">
            <a:avLst/>
          </a:prstGeom>
          <a:noFill/>
        </p:spPr>
        <p:txBody>
          <a:bodyPr wrap="square" rtlCol="0">
            <a:spAutoFit/>
          </a:bodyPr>
          <a:lstStyle/>
          <a:p>
            <a:r>
              <a:rPr lang="en-US" dirty="0"/>
              <a:t>5</a:t>
            </a:r>
          </a:p>
        </p:txBody>
      </p:sp>
      <p:sp>
        <p:nvSpPr>
          <p:cNvPr id="53" name="TextBox 52"/>
          <p:cNvSpPr txBox="1"/>
          <p:nvPr/>
        </p:nvSpPr>
        <p:spPr>
          <a:xfrm>
            <a:off x="8828972" y="4954815"/>
            <a:ext cx="531183" cy="369332"/>
          </a:xfrm>
          <a:prstGeom prst="rect">
            <a:avLst/>
          </a:prstGeom>
          <a:noFill/>
        </p:spPr>
        <p:txBody>
          <a:bodyPr wrap="square" rtlCol="0">
            <a:spAutoFit/>
          </a:bodyPr>
          <a:lstStyle/>
          <a:p>
            <a:r>
              <a:rPr lang="en-US" dirty="0"/>
              <a:t>13</a:t>
            </a:r>
          </a:p>
        </p:txBody>
      </p:sp>
      <p:sp>
        <p:nvSpPr>
          <p:cNvPr id="80" name="TextBox 79"/>
          <p:cNvSpPr txBox="1"/>
          <p:nvPr/>
        </p:nvSpPr>
        <p:spPr>
          <a:xfrm>
            <a:off x="382517" y="5461097"/>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Turnaround Time </a:t>
            </a:r>
            <a:r>
              <a:rPr lang="en-US" sz="2000" dirty="0"/>
              <a:t>= Sum of all Process’s Turn Around Time/ Total Process</a:t>
            </a:r>
          </a:p>
          <a:p>
            <a:r>
              <a:rPr lang="en-US" sz="2000" dirty="0"/>
              <a:t>                                                    = (13+4+5+1)/4 </a:t>
            </a:r>
          </a:p>
          <a:p>
            <a:r>
              <a:rPr lang="en-US" sz="2000" dirty="0"/>
              <a:t>                                                    = 5.75 Ms.</a:t>
            </a:r>
          </a:p>
        </p:txBody>
      </p:sp>
      <p:sp>
        <p:nvSpPr>
          <p:cNvPr id="62" name="TextBox 61"/>
          <p:cNvSpPr txBox="1"/>
          <p:nvPr/>
        </p:nvSpPr>
        <p:spPr>
          <a:xfrm>
            <a:off x="5790488" y="5014213"/>
            <a:ext cx="318448" cy="381000"/>
          </a:xfrm>
          <a:prstGeom prst="rect">
            <a:avLst/>
          </a:prstGeom>
          <a:noFill/>
        </p:spPr>
        <p:txBody>
          <a:bodyPr wrap="square" rtlCol="0">
            <a:spAutoFit/>
          </a:bodyPr>
          <a:lstStyle/>
          <a:p>
            <a:r>
              <a:rPr lang="en-US" dirty="0"/>
              <a:t>6</a:t>
            </a:r>
          </a:p>
        </p:txBody>
      </p:sp>
      <p:sp>
        <p:nvSpPr>
          <p:cNvPr id="81" name="TextBox 80"/>
          <p:cNvSpPr txBox="1"/>
          <p:nvPr/>
        </p:nvSpPr>
        <p:spPr>
          <a:xfrm>
            <a:off x="7190339" y="4943147"/>
            <a:ext cx="423336" cy="381000"/>
          </a:xfrm>
          <a:prstGeom prst="rect">
            <a:avLst/>
          </a:prstGeom>
          <a:noFill/>
        </p:spPr>
        <p:txBody>
          <a:bodyPr wrap="square" rtlCol="0">
            <a:spAutoFit/>
          </a:bodyPr>
          <a:lstStyle/>
          <a:p>
            <a:r>
              <a:rPr lang="en-US" dirty="0"/>
              <a:t>8</a:t>
            </a:r>
          </a:p>
        </p:txBody>
      </p:sp>
      <p:sp>
        <p:nvSpPr>
          <p:cNvPr id="59" name="TextBox 58"/>
          <p:cNvSpPr txBox="1"/>
          <p:nvPr/>
        </p:nvSpPr>
        <p:spPr>
          <a:xfrm>
            <a:off x="6329846" y="1480525"/>
            <a:ext cx="1381969" cy="542441"/>
          </a:xfrm>
          <a:prstGeom prst="rect">
            <a:avLst/>
          </a:prstGeom>
          <a:noFill/>
          <a:ln w="57150">
            <a:solidFill>
              <a:srgbClr val="FF0000"/>
            </a:solidFill>
          </a:ln>
        </p:spPr>
        <p:txBody>
          <a:bodyPr wrap="square" rtlCol="0">
            <a:spAutoFit/>
          </a:bodyPr>
          <a:lstStyle/>
          <a:p>
            <a:endParaRPr lang="en-IN" dirty="0"/>
          </a:p>
        </p:txBody>
      </p:sp>
      <p:sp>
        <p:nvSpPr>
          <p:cNvPr id="60" name="TextBox 59"/>
          <p:cNvSpPr txBox="1"/>
          <p:nvPr/>
        </p:nvSpPr>
        <p:spPr>
          <a:xfrm>
            <a:off x="1237649" y="1489663"/>
            <a:ext cx="1490790" cy="542441"/>
          </a:xfrm>
          <a:prstGeom prst="rect">
            <a:avLst/>
          </a:prstGeom>
          <a:noFill/>
          <a:ln w="57150">
            <a:solidFill>
              <a:srgbClr val="FF0000"/>
            </a:solidFill>
          </a:ln>
        </p:spPr>
        <p:txBody>
          <a:bodyPr wrap="square" rtlCol="0">
            <a:spAutoFit/>
          </a:bodyPr>
          <a:lstStyle/>
          <a:p>
            <a:endParaRPr lang="en-IN" dirty="0"/>
          </a:p>
        </p:txBody>
      </p:sp>
      <p:sp>
        <p:nvSpPr>
          <p:cNvPr id="84" name="TextBox 83"/>
          <p:cNvSpPr txBox="1"/>
          <p:nvPr/>
        </p:nvSpPr>
        <p:spPr>
          <a:xfrm>
            <a:off x="6316659" y="2062705"/>
            <a:ext cx="1381969" cy="542441"/>
          </a:xfrm>
          <a:prstGeom prst="rect">
            <a:avLst/>
          </a:prstGeom>
          <a:noFill/>
          <a:ln w="57150">
            <a:solidFill>
              <a:srgbClr val="FF0000"/>
            </a:solidFill>
          </a:ln>
        </p:spPr>
        <p:txBody>
          <a:bodyPr wrap="square" rtlCol="0">
            <a:spAutoFit/>
          </a:bodyPr>
          <a:lstStyle/>
          <a:p>
            <a:endParaRPr lang="en-IN" dirty="0"/>
          </a:p>
        </p:txBody>
      </p:sp>
      <p:sp>
        <p:nvSpPr>
          <p:cNvPr id="85" name="TextBox 84"/>
          <p:cNvSpPr txBox="1"/>
          <p:nvPr/>
        </p:nvSpPr>
        <p:spPr>
          <a:xfrm>
            <a:off x="1235445" y="2022966"/>
            <a:ext cx="1490790" cy="542441"/>
          </a:xfrm>
          <a:prstGeom prst="rect">
            <a:avLst/>
          </a:prstGeom>
          <a:noFill/>
          <a:ln w="57150">
            <a:solidFill>
              <a:srgbClr val="FF0000"/>
            </a:solidFill>
          </a:ln>
        </p:spPr>
        <p:txBody>
          <a:bodyPr wrap="square" rtlCol="0">
            <a:spAutoFit/>
          </a:bodyPr>
          <a:lstStyle/>
          <a:p>
            <a:endParaRPr lang="en-IN" dirty="0"/>
          </a:p>
        </p:txBody>
      </p:sp>
      <p:sp>
        <p:nvSpPr>
          <p:cNvPr id="86" name="TextBox 85"/>
          <p:cNvSpPr txBox="1"/>
          <p:nvPr/>
        </p:nvSpPr>
        <p:spPr>
          <a:xfrm>
            <a:off x="6323233" y="2638341"/>
            <a:ext cx="1381969" cy="542441"/>
          </a:xfrm>
          <a:prstGeom prst="rect">
            <a:avLst/>
          </a:prstGeom>
          <a:noFill/>
          <a:ln w="57150">
            <a:solidFill>
              <a:srgbClr val="FF0000"/>
            </a:solidFill>
          </a:ln>
        </p:spPr>
        <p:txBody>
          <a:bodyPr wrap="square" rtlCol="0">
            <a:spAutoFit/>
          </a:bodyPr>
          <a:lstStyle/>
          <a:p>
            <a:endParaRPr lang="en-IN" dirty="0"/>
          </a:p>
        </p:txBody>
      </p:sp>
      <p:sp>
        <p:nvSpPr>
          <p:cNvPr id="87" name="TextBox 86"/>
          <p:cNvSpPr txBox="1"/>
          <p:nvPr/>
        </p:nvSpPr>
        <p:spPr>
          <a:xfrm>
            <a:off x="1225336" y="2613558"/>
            <a:ext cx="1490790" cy="542441"/>
          </a:xfrm>
          <a:prstGeom prst="rect">
            <a:avLst/>
          </a:prstGeom>
          <a:noFill/>
          <a:ln w="57150">
            <a:solidFill>
              <a:srgbClr val="FF0000"/>
            </a:solidFill>
          </a:ln>
        </p:spPr>
        <p:txBody>
          <a:bodyPr wrap="square" rtlCol="0">
            <a:spAutoFit/>
          </a:bodyPr>
          <a:lstStyle/>
          <a:p>
            <a:endParaRPr lang="en-IN" dirty="0"/>
          </a:p>
        </p:txBody>
      </p:sp>
      <p:sp>
        <p:nvSpPr>
          <p:cNvPr id="88" name="TextBox 87"/>
          <p:cNvSpPr txBox="1"/>
          <p:nvPr/>
        </p:nvSpPr>
        <p:spPr>
          <a:xfrm>
            <a:off x="6329845" y="3180783"/>
            <a:ext cx="1381969" cy="542441"/>
          </a:xfrm>
          <a:prstGeom prst="rect">
            <a:avLst/>
          </a:prstGeom>
          <a:noFill/>
          <a:ln w="57150">
            <a:solidFill>
              <a:srgbClr val="FF0000"/>
            </a:solidFill>
          </a:ln>
        </p:spPr>
        <p:txBody>
          <a:bodyPr wrap="square" rtlCol="0">
            <a:spAutoFit/>
          </a:bodyPr>
          <a:lstStyle/>
          <a:p>
            <a:endParaRPr lang="en-IN" dirty="0"/>
          </a:p>
        </p:txBody>
      </p:sp>
      <p:sp>
        <p:nvSpPr>
          <p:cNvPr id="89" name="TextBox 88"/>
          <p:cNvSpPr txBox="1"/>
          <p:nvPr/>
        </p:nvSpPr>
        <p:spPr>
          <a:xfrm>
            <a:off x="1224741" y="3161447"/>
            <a:ext cx="1490790" cy="542441"/>
          </a:xfrm>
          <a:prstGeom prst="rect">
            <a:avLst/>
          </a:prstGeom>
          <a:noFill/>
          <a:ln w="57150">
            <a:solidFill>
              <a:srgbClr val="FF0000"/>
            </a:solidFill>
          </a:ln>
        </p:spPr>
        <p:txBody>
          <a:bodyPr wrap="square" rtlCol="0">
            <a:spAutoFit/>
          </a:bodyPr>
          <a:lstStyle/>
          <a:p>
            <a:endParaRPr lang="en-IN" dirty="0"/>
          </a:p>
        </p:txBody>
      </p:sp>
      <p:sp>
        <p:nvSpPr>
          <p:cNvPr id="58" name="TextBox 57"/>
          <p:cNvSpPr txBox="1"/>
          <p:nvPr/>
        </p:nvSpPr>
        <p:spPr>
          <a:xfrm>
            <a:off x="7729318" y="1502751"/>
            <a:ext cx="2049246" cy="2222902"/>
          </a:xfrm>
          <a:prstGeom prst="rect">
            <a:avLst/>
          </a:prstGeom>
          <a:noFill/>
          <a:ln w="57150">
            <a:solidFill>
              <a:srgbClr val="FF0000"/>
            </a:solidFill>
          </a:ln>
        </p:spPr>
        <p:txBody>
          <a:bodyPr wrap="square" rtlCol="0">
            <a:spAutoFit/>
          </a:bodyPr>
          <a:lstStyle/>
          <a:p>
            <a:endParaRPr lang="en-IN" dirty="0"/>
          </a:p>
        </p:txBody>
      </p:sp>
      <p:sp>
        <p:nvSpPr>
          <p:cNvPr id="51" name="TextBox 50">
            <a:extLst>
              <a:ext uri="{FF2B5EF4-FFF2-40B4-BE49-F238E27FC236}">
                <a16:creationId xmlns:a16="http://schemas.microsoft.com/office/drawing/2014/main" id="{5AD83836-61CB-438F-8F12-54C1A53ECC9E}"/>
              </a:ext>
            </a:extLst>
          </p:cNvPr>
          <p:cNvSpPr txBox="1"/>
          <p:nvPr/>
        </p:nvSpPr>
        <p:spPr>
          <a:xfrm>
            <a:off x="4220719" y="4986865"/>
            <a:ext cx="457823" cy="381000"/>
          </a:xfrm>
          <a:prstGeom prst="rect">
            <a:avLst/>
          </a:prstGeom>
          <a:noFill/>
          <a:ln w="57150">
            <a:solidFill>
              <a:srgbClr val="FF0000"/>
            </a:solidFill>
          </a:ln>
        </p:spPr>
        <p:txBody>
          <a:bodyPr wrap="square" rtlCol="0">
            <a:spAutoFit/>
          </a:bodyPr>
          <a:lstStyle/>
          <a:p>
            <a:endParaRPr lang="en-IN" dirty="0"/>
          </a:p>
        </p:txBody>
      </p:sp>
      <p:sp>
        <p:nvSpPr>
          <p:cNvPr id="52" name="TextBox 51">
            <a:extLst>
              <a:ext uri="{FF2B5EF4-FFF2-40B4-BE49-F238E27FC236}">
                <a16:creationId xmlns:a16="http://schemas.microsoft.com/office/drawing/2014/main" id="{D771D749-6A77-4B81-8FFA-8D702CB69B46}"/>
              </a:ext>
            </a:extLst>
          </p:cNvPr>
          <p:cNvSpPr txBox="1"/>
          <p:nvPr/>
        </p:nvSpPr>
        <p:spPr>
          <a:xfrm>
            <a:off x="5670483" y="4983267"/>
            <a:ext cx="457823" cy="381000"/>
          </a:xfrm>
          <a:prstGeom prst="rect">
            <a:avLst/>
          </a:prstGeom>
          <a:noFill/>
          <a:ln w="57150">
            <a:solidFill>
              <a:srgbClr val="FF0000"/>
            </a:solidFill>
          </a:ln>
        </p:spPr>
        <p:txBody>
          <a:bodyPr wrap="square" rtlCol="0">
            <a:spAutoFit/>
          </a:bodyPr>
          <a:lstStyle/>
          <a:p>
            <a:endParaRPr lang="en-IN" dirty="0"/>
          </a:p>
        </p:txBody>
      </p:sp>
      <p:sp>
        <p:nvSpPr>
          <p:cNvPr id="54" name="TextBox 53">
            <a:extLst>
              <a:ext uri="{FF2B5EF4-FFF2-40B4-BE49-F238E27FC236}">
                <a16:creationId xmlns:a16="http://schemas.microsoft.com/office/drawing/2014/main" id="{A73A2B16-D0C2-4DF6-82DC-2D38CB775E75}"/>
              </a:ext>
            </a:extLst>
          </p:cNvPr>
          <p:cNvSpPr txBox="1"/>
          <p:nvPr/>
        </p:nvSpPr>
        <p:spPr>
          <a:xfrm>
            <a:off x="7112012" y="4954815"/>
            <a:ext cx="457823" cy="381000"/>
          </a:xfrm>
          <a:prstGeom prst="rect">
            <a:avLst/>
          </a:prstGeom>
          <a:noFill/>
          <a:ln w="57150">
            <a:solidFill>
              <a:srgbClr val="FF0000"/>
            </a:solidFill>
          </a:ln>
        </p:spPr>
        <p:txBody>
          <a:bodyPr wrap="square" rtlCol="0">
            <a:spAutoFit/>
          </a:bodyPr>
          <a:lstStyle/>
          <a:p>
            <a:endParaRPr lang="en-IN" dirty="0"/>
          </a:p>
        </p:txBody>
      </p:sp>
      <p:sp>
        <p:nvSpPr>
          <p:cNvPr id="55" name="TextBox 54">
            <a:extLst>
              <a:ext uri="{FF2B5EF4-FFF2-40B4-BE49-F238E27FC236}">
                <a16:creationId xmlns:a16="http://schemas.microsoft.com/office/drawing/2014/main" id="{23E6B415-9BD0-4C2E-84D4-B9F42016CBC8}"/>
              </a:ext>
            </a:extLst>
          </p:cNvPr>
          <p:cNvSpPr txBox="1"/>
          <p:nvPr/>
        </p:nvSpPr>
        <p:spPr>
          <a:xfrm>
            <a:off x="8770729" y="4961374"/>
            <a:ext cx="457823" cy="381000"/>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3524382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26" presetClass="emph" presetSubtype="0" repeatCount="indefinite" fill="hold" grpId="1" nodeType="withEffect">
                                  <p:stCondLst>
                                    <p:cond delay="0"/>
                                  </p:stCondLst>
                                  <p:endCondLst>
                                    <p:cond evt="onNext" delay="0">
                                      <p:tgtEl>
                                        <p:sldTgt/>
                                      </p:tgtEl>
                                    </p:cond>
                                  </p:endCondLst>
                                  <p:childTnLst>
                                    <p:animEffect transition="out" filter="fade">
                                      <p:cBhvr>
                                        <p:cTn id="16" dur="500" tmFilter="0, 0; .2, .5; .8, .5; 1, 0"/>
                                        <p:tgtEl>
                                          <p:spTgt spid="55"/>
                                        </p:tgtEl>
                                      </p:cBhvr>
                                    </p:animEffect>
                                    <p:animScale>
                                      <p:cBhvr>
                                        <p:cTn id="17" dur="250" autoRev="1" fill="hold"/>
                                        <p:tgtEl>
                                          <p:spTgt spid="55"/>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1"/>
                                        </p:tgtEl>
                                        <p:attrNameLst>
                                          <p:attrName>style.visibility</p:attrName>
                                        </p:attrNameLst>
                                      </p:cBhvr>
                                      <p:to>
                                        <p:strVal val="visible"/>
                                      </p:to>
                                    </p:set>
                                  </p:childTnLst>
                                </p:cTn>
                              </p:par>
                              <p:par>
                                <p:cTn id="24" presetID="1" presetClass="exit" presetSubtype="0" fill="hold" grpId="2" nodeType="withEffect">
                                  <p:stCondLst>
                                    <p:cond delay="0"/>
                                  </p:stCondLst>
                                  <p:childTnLst>
                                    <p:set>
                                      <p:cBhvr>
                                        <p:cTn id="25" dur="1" fill="hold">
                                          <p:stCondLst>
                                            <p:cond delay="0"/>
                                          </p:stCondLst>
                                        </p:cTn>
                                        <p:tgtEl>
                                          <p:spTgt spid="55"/>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54"/>
                                        </p:tgtEl>
                                        <p:attrNameLst>
                                          <p:attrName>style.visibility</p:attrName>
                                        </p:attrNameLst>
                                      </p:cBhvr>
                                      <p:to>
                                        <p:strVal val="visible"/>
                                      </p:to>
                                    </p:set>
                                  </p:childTnLst>
                                </p:cTn>
                              </p:par>
                              <p:par>
                                <p:cTn id="28" presetID="26" presetClass="emph" presetSubtype="0" repeatCount="indefinite" fill="hold" grpId="1" nodeType="withEffect">
                                  <p:stCondLst>
                                    <p:cond delay="0"/>
                                  </p:stCondLst>
                                  <p:endCondLst>
                                    <p:cond evt="onNext" delay="0">
                                      <p:tgtEl>
                                        <p:sldTgt/>
                                      </p:tgtEl>
                                    </p:cond>
                                  </p:endCondLst>
                                  <p:childTnLst>
                                    <p:animEffect transition="out" filter="fade">
                                      <p:cBhvr>
                                        <p:cTn id="29" dur="500" tmFilter="0, 0; .2, .5; .8, .5; 1, 0"/>
                                        <p:tgtEl>
                                          <p:spTgt spid="54"/>
                                        </p:tgtEl>
                                      </p:cBhvr>
                                    </p:animEffect>
                                    <p:animScale>
                                      <p:cBhvr>
                                        <p:cTn id="30" dur="250" autoRev="1" fill="hold"/>
                                        <p:tgtEl>
                                          <p:spTgt spid="54"/>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xit" presetSubtype="0" fill="hold" grpId="2" nodeType="withEffect">
                                  <p:stCondLst>
                                    <p:cond delay="0"/>
                                  </p:stCondLst>
                                  <p:childTnLst>
                                    <p:set>
                                      <p:cBhvr>
                                        <p:cTn id="38" dur="1" fill="hold">
                                          <p:stCondLst>
                                            <p:cond delay="0"/>
                                          </p:stCondLst>
                                        </p:cTn>
                                        <p:tgtEl>
                                          <p:spTgt spid="54"/>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26" presetClass="emph" presetSubtype="0" repeatCount="indefinite" fill="hold" grpId="1" nodeType="withEffect">
                                  <p:stCondLst>
                                    <p:cond delay="0"/>
                                  </p:stCondLst>
                                  <p:endCondLst>
                                    <p:cond evt="onNext" delay="0">
                                      <p:tgtEl>
                                        <p:sldTgt/>
                                      </p:tgtEl>
                                    </p:cond>
                                  </p:endCondLst>
                                  <p:childTnLst>
                                    <p:animEffect transition="out" filter="fade">
                                      <p:cBhvr>
                                        <p:cTn id="42" dur="500" tmFilter="0, 0; .2, .5; .8, .5; 1, 0"/>
                                        <p:tgtEl>
                                          <p:spTgt spid="51"/>
                                        </p:tgtEl>
                                      </p:cBhvr>
                                    </p:animEffect>
                                    <p:animScale>
                                      <p:cBhvr>
                                        <p:cTn id="43" dur="250" autoRev="1" fill="hold"/>
                                        <p:tgtEl>
                                          <p:spTgt spid="51"/>
                                        </p:tgtEl>
                                      </p:cBhvr>
                                      <p:by x="105000" y="105000"/>
                                    </p:animScale>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62"/>
                                        </p:tgtEl>
                                        <p:attrNameLst>
                                          <p:attrName>style.visibility</p:attrName>
                                        </p:attrNameLst>
                                      </p:cBhvr>
                                      <p:to>
                                        <p:strVal val="visible"/>
                                      </p:to>
                                    </p:set>
                                  </p:childTnLst>
                                </p:cTn>
                              </p:par>
                              <p:par>
                                <p:cTn id="50" presetID="1" presetClass="exit" presetSubtype="0" fill="hold" grpId="2" nodeType="withEffect">
                                  <p:stCondLst>
                                    <p:cond delay="0"/>
                                  </p:stCondLst>
                                  <p:childTnLst>
                                    <p:set>
                                      <p:cBhvr>
                                        <p:cTn id="51" dur="1" fill="hold">
                                          <p:stCondLst>
                                            <p:cond delay="0"/>
                                          </p:stCondLst>
                                        </p:cTn>
                                        <p:tgtEl>
                                          <p:spTgt spid="51"/>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52"/>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52"/>
                                        </p:tgtEl>
                                      </p:cBhvr>
                                    </p:animEffect>
                                    <p:animScale>
                                      <p:cBhvr>
                                        <p:cTn id="56" dur="250" autoRev="1" fill="hold"/>
                                        <p:tgtEl>
                                          <p:spTgt spid="52"/>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52"/>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9"/>
                                        </p:tgtEl>
                                        <p:attrNameLst>
                                          <p:attrName>style.visibility</p:attrName>
                                        </p:attrNameLst>
                                      </p:cBhvr>
                                      <p:to>
                                        <p:strVal val="visible"/>
                                      </p:to>
                                    </p:set>
                                  </p:childTnLst>
                                </p:cTn>
                              </p:par>
                              <p:par>
                                <p:cTn id="69" presetID="26" presetClass="emph" presetSubtype="0" repeatCount="indefinite" fill="hold" grpId="1" nodeType="withEffect">
                                  <p:stCondLst>
                                    <p:cond delay="0"/>
                                  </p:stCondLst>
                                  <p:endCondLst>
                                    <p:cond evt="onNext" delay="0">
                                      <p:tgtEl>
                                        <p:sldTgt/>
                                      </p:tgtEl>
                                    </p:cond>
                                  </p:endCondLst>
                                  <p:childTnLst>
                                    <p:animEffect transition="out" filter="fade">
                                      <p:cBhvr>
                                        <p:cTn id="70" dur="500" tmFilter="0, 0; .2, .5; .8, .5; 1, 0"/>
                                        <p:tgtEl>
                                          <p:spTgt spid="59"/>
                                        </p:tgtEl>
                                      </p:cBhvr>
                                    </p:animEffect>
                                    <p:animScale>
                                      <p:cBhvr>
                                        <p:cTn id="71" dur="250" autoRev="1" fill="hold"/>
                                        <p:tgtEl>
                                          <p:spTgt spid="59"/>
                                        </p:tgtEl>
                                      </p:cBhvr>
                                      <p:by x="105000" y="105000"/>
                                    </p:animScale>
                                  </p:childTnLst>
                                </p:cTn>
                              </p:par>
                              <p:par>
                                <p:cTn id="72" presetID="1" presetClass="entr" presetSubtype="0" fill="hold" grpId="0" nodeType="withEffect">
                                  <p:stCondLst>
                                    <p:cond delay="0"/>
                                  </p:stCondLst>
                                  <p:childTnLst>
                                    <p:set>
                                      <p:cBhvr>
                                        <p:cTn id="73" dur="1" fill="hold">
                                          <p:stCondLst>
                                            <p:cond delay="0"/>
                                          </p:stCondLst>
                                        </p:cTn>
                                        <p:tgtEl>
                                          <p:spTgt spid="60"/>
                                        </p:tgtEl>
                                        <p:attrNameLst>
                                          <p:attrName>style.visibility</p:attrName>
                                        </p:attrNameLst>
                                      </p:cBhvr>
                                      <p:to>
                                        <p:strVal val="visible"/>
                                      </p:to>
                                    </p:set>
                                  </p:childTnLst>
                                </p:cTn>
                              </p:par>
                              <p:par>
                                <p:cTn id="74" presetID="26" presetClass="emph" presetSubtype="0" repeatCount="indefinite" fill="hold" grpId="1" nodeType="withEffect">
                                  <p:stCondLst>
                                    <p:cond delay="0"/>
                                  </p:stCondLst>
                                  <p:endCondLst>
                                    <p:cond evt="onNext" delay="0">
                                      <p:tgtEl>
                                        <p:sldTgt/>
                                      </p:tgtEl>
                                    </p:cond>
                                  </p:endCondLst>
                                  <p:childTnLst>
                                    <p:animEffect transition="out" filter="fade">
                                      <p:cBhvr>
                                        <p:cTn id="75" dur="500" tmFilter="0, 0; .2, .5; .8, .5; 1, 0"/>
                                        <p:tgtEl>
                                          <p:spTgt spid="60"/>
                                        </p:tgtEl>
                                      </p:cBhvr>
                                    </p:animEffect>
                                    <p:animScale>
                                      <p:cBhvr>
                                        <p:cTn id="76" dur="250" autoRev="1" fill="hold"/>
                                        <p:tgtEl>
                                          <p:spTgt spid="60"/>
                                        </p:tgtEl>
                                      </p:cBhvr>
                                      <p:by x="105000" y="105000"/>
                                    </p:animScale>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par>
                                <p:cTn id="81" presetID="1" presetClass="exit" presetSubtype="0" fill="hold" grpId="2" nodeType="withEffect">
                                  <p:stCondLst>
                                    <p:cond delay="0"/>
                                  </p:stCondLst>
                                  <p:childTnLst>
                                    <p:set>
                                      <p:cBhvr>
                                        <p:cTn id="82" dur="1" fill="hold">
                                          <p:stCondLst>
                                            <p:cond delay="0"/>
                                          </p:stCondLst>
                                        </p:cTn>
                                        <p:tgtEl>
                                          <p:spTgt spid="59"/>
                                        </p:tgtEl>
                                        <p:attrNameLst>
                                          <p:attrName>style.visibility</p:attrName>
                                        </p:attrNameLst>
                                      </p:cBhvr>
                                      <p:to>
                                        <p:strVal val="hidden"/>
                                      </p:to>
                                    </p:set>
                                  </p:childTnLst>
                                </p:cTn>
                              </p:par>
                              <p:par>
                                <p:cTn id="83" presetID="1" presetClass="exit" presetSubtype="0" fill="hold" grpId="2" nodeType="withEffect">
                                  <p:stCondLst>
                                    <p:cond delay="0"/>
                                  </p:stCondLst>
                                  <p:childTnLst>
                                    <p:set>
                                      <p:cBhvr>
                                        <p:cTn id="84" dur="1" fill="hold">
                                          <p:stCondLst>
                                            <p:cond delay="0"/>
                                          </p:stCondLst>
                                        </p:cTn>
                                        <p:tgtEl>
                                          <p:spTgt spid="60"/>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84"/>
                                        </p:tgtEl>
                                        <p:attrNameLst>
                                          <p:attrName>style.visibility</p:attrName>
                                        </p:attrNameLst>
                                      </p:cBhvr>
                                      <p:to>
                                        <p:strVal val="visible"/>
                                      </p:to>
                                    </p:set>
                                  </p:childTnLst>
                                </p:cTn>
                              </p:par>
                              <p:par>
                                <p:cTn id="87" presetID="26" presetClass="emph" presetSubtype="0" repeatCount="indefinite" fill="hold" grpId="1" nodeType="withEffect">
                                  <p:stCondLst>
                                    <p:cond delay="0"/>
                                  </p:stCondLst>
                                  <p:endCondLst>
                                    <p:cond evt="onNext" delay="0">
                                      <p:tgtEl>
                                        <p:sldTgt/>
                                      </p:tgtEl>
                                    </p:cond>
                                  </p:endCondLst>
                                  <p:childTnLst>
                                    <p:animEffect transition="out" filter="fade">
                                      <p:cBhvr>
                                        <p:cTn id="88" dur="500" tmFilter="0, 0; .2, .5; .8, .5; 1, 0"/>
                                        <p:tgtEl>
                                          <p:spTgt spid="84"/>
                                        </p:tgtEl>
                                      </p:cBhvr>
                                    </p:animEffect>
                                    <p:animScale>
                                      <p:cBhvr>
                                        <p:cTn id="89" dur="250" autoRev="1" fill="hold"/>
                                        <p:tgtEl>
                                          <p:spTgt spid="84"/>
                                        </p:tgtEl>
                                      </p:cBhvr>
                                      <p:by x="105000" y="105000"/>
                                    </p:animScale>
                                  </p:childTnLst>
                                </p:cTn>
                              </p:par>
                              <p:par>
                                <p:cTn id="90" presetID="1" presetClass="entr" presetSubtype="0" fill="hold" grpId="0" nodeType="withEffect">
                                  <p:stCondLst>
                                    <p:cond delay="0"/>
                                  </p:stCondLst>
                                  <p:childTnLst>
                                    <p:set>
                                      <p:cBhvr>
                                        <p:cTn id="91" dur="1" fill="hold">
                                          <p:stCondLst>
                                            <p:cond delay="0"/>
                                          </p:stCondLst>
                                        </p:cTn>
                                        <p:tgtEl>
                                          <p:spTgt spid="85"/>
                                        </p:tgtEl>
                                        <p:attrNameLst>
                                          <p:attrName>style.visibility</p:attrName>
                                        </p:attrNameLst>
                                      </p:cBhvr>
                                      <p:to>
                                        <p:strVal val="visible"/>
                                      </p:to>
                                    </p:set>
                                  </p:childTnLst>
                                </p:cTn>
                              </p:par>
                              <p:par>
                                <p:cTn id="92" presetID="26" presetClass="emph" presetSubtype="0" repeatCount="indefinite" fill="hold" grpId="1" nodeType="withEffect">
                                  <p:stCondLst>
                                    <p:cond delay="0"/>
                                  </p:stCondLst>
                                  <p:endCondLst>
                                    <p:cond evt="onNext" delay="0">
                                      <p:tgtEl>
                                        <p:sldTgt/>
                                      </p:tgtEl>
                                    </p:cond>
                                  </p:endCondLst>
                                  <p:childTnLst>
                                    <p:animEffect transition="out" filter="fade">
                                      <p:cBhvr>
                                        <p:cTn id="93" dur="500" tmFilter="0, 0; .2, .5; .8, .5; 1, 0"/>
                                        <p:tgtEl>
                                          <p:spTgt spid="85"/>
                                        </p:tgtEl>
                                      </p:cBhvr>
                                    </p:animEffect>
                                    <p:animScale>
                                      <p:cBhvr>
                                        <p:cTn id="94" dur="250" autoRev="1" fill="hold"/>
                                        <p:tgtEl>
                                          <p:spTgt spid="85"/>
                                        </p:tgtEl>
                                      </p:cBhvr>
                                      <p:by x="105000" y="105000"/>
                                    </p:animScale>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xit" presetSubtype="0" fill="hold" grpId="2" nodeType="withEffect">
                                  <p:stCondLst>
                                    <p:cond delay="0"/>
                                  </p:stCondLst>
                                  <p:childTnLst>
                                    <p:set>
                                      <p:cBhvr>
                                        <p:cTn id="100" dur="1" fill="hold">
                                          <p:stCondLst>
                                            <p:cond delay="0"/>
                                          </p:stCondLst>
                                        </p:cTn>
                                        <p:tgtEl>
                                          <p:spTgt spid="84"/>
                                        </p:tgtEl>
                                        <p:attrNameLst>
                                          <p:attrName>style.visibility</p:attrName>
                                        </p:attrNameLst>
                                      </p:cBhvr>
                                      <p:to>
                                        <p:strVal val="hidden"/>
                                      </p:to>
                                    </p:set>
                                  </p:childTnLst>
                                </p:cTn>
                              </p:par>
                              <p:par>
                                <p:cTn id="101" presetID="1" presetClass="exit" presetSubtype="0" fill="hold" grpId="2" nodeType="withEffect">
                                  <p:stCondLst>
                                    <p:cond delay="0"/>
                                  </p:stCondLst>
                                  <p:childTnLst>
                                    <p:set>
                                      <p:cBhvr>
                                        <p:cTn id="102" dur="1" fill="hold">
                                          <p:stCondLst>
                                            <p:cond delay="0"/>
                                          </p:stCondLst>
                                        </p:cTn>
                                        <p:tgtEl>
                                          <p:spTgt spid="85"/>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86"/>
                                        </p:tgtEl>
                                        <p:attrNameLst>
                                          <p:attrName>style.visibility</p:attrName>
                                        </p:attrNameLst>
                                      </p:cBhvr>
                                      <p:to>
                                        <p:strVal val="visible"/>
                                      </p:to>
                                    </p:set>
                                  </p:childTnLst>
                                </p:cTn>
                              </p:par>
                              <p:par>
                                <p:cTn id="105" presetID="26" presetClass="emph" presetSubtype="0" repeatCount="indefinite" fill="hold" grpId="1" nodeType="withEffect">
                                  <p:stCondLst>
                                    <p:cond delay="0"/>
                                  </p:stCondLst>
                                  <p:endCondLst>
                                    <p:cond evt="onNext" delay="0">
                                      <p:tgtEl>
                                        <p:sldTgt/>
                                      </p:tgtEl>
                                    </p:cond>
                                  </p:endCondLst>
                                  <p:childTnLst>
                                    <p:animEffect transition="out" filter="fade">
                                      <p:cBhvr>
                                        <p:cTn id="106" dur="500" tmFilter="0, 0; .2, .5; .8, .5; 1, 0"/>
                                        <p:tgtEl>
                                          <p:spTgt spid="86"/>
                                        </p:tgtEl>
                                      </p:cBhvr>
                                    </p:animEffect>
                                    <p:animScale>
                                      <p:cBhvr>
                                        <p:cTn id="107" dur="250" autoRev="1" fill="hold"/>
                                        <p:tgtEl>
                                          <p:spTgt spid="86"/>
                                        </p:tgtEl>
                                      </p:cBhvr>
                                      <p:by x="105000" y="105000"/>
                                    </p:animScale>
                                  </p:childTnLst>
                                </p:cTn>
                              </p:par>
                              <p:par>
                                <p:cTn id="108" presetID="1" presetClass="entr" presetSubtype="0" fill="hold" grpId="0" nodeType="withEffect">
                                  <p:stCondLst>
                                    <p:cond delay="0"/>
                                  </p:stCondLst>
                                  <p:childTnLst>
                                    <p:set>
                                      <p:cBhvr>
                                        <p:cTn id="109" dur="1" fill="hold">
                                          <p:stCondLst>
                                            <p:cond delay="0"/>
                                          </p:stCondLst>
                                        </p:cTn>
                                        <p:tgtEl>
                                          <p:spTgt spid="87"/>
                                        </p:tgtEl>
                                        <p:attrNameLst>
                                          <p:attrName>style.visibility</p:attrName>
                                        </p:attrNameLst>
                                      </p:cBhvr>
                                      <p:to>
                                        <p:strVal val="visible"/>
                                      </p:to>
                                    </p:set>
                                  </p:childTnLst>
                                </p:cTn>
                              </p:par>
                              <p:par>
                                <p:cTn id="110" presetID="26" presetClass="emph" presetSubtype="0" repeatCount="indefinite" fill="hold" grpId="1" nodeType="withEffect">
                                  <p:stCondLst>
                                    <p:cond delay="0"/>
                                  </p:stCondLst>
                                  <p:endCondLst>
                                    <p:cond evt="onNext" delay="0">
                                      <p:tgtEl>
                                        <p:sldTgt/>
                                      </p:tgtEl>
                                    </p:cond>
                                  </p:endCondLst>
                                  <p:childTnLst>
                                    <p:animEffect transition="out" filter="fade">
                                      <p:cBhvr>
                                        <p:cTn id="111" dur="500" tmFilter="0, 0; .2, .5; .8, .5; 1, 0"/>
                                        <p:tgtEl>
                                          <p:spTgt spid="87"/>
                                        </p:tgtEl>
                                      </p:cBhvr>
                                    </p:animEffect>
                                    <p:animScale>
                                      <p:cBhvr>
                                        <p:cTn id="112" dur="250" autoRev="1" fill="hold"/>
                                        <p:tgtEl>
                                          <p:spTgt spid="87"/>
                                        </p:tgtEl>
                                      </p:cBhvr>
                                      <p:by x="105000" y="105000"/>
                                    </p:animScale>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40"/>
                                        </p:tgtEl>
                                        <p:attrNameLst>
                                          <p:attrName>style.visibility</p:attrName>
                                        </p:attrNameLst>
                                      </p:cBhvr>
                                      <p:to>
                                        <p:strVal val="visible"/>
                                      </p:to>
                                    </p:set>
                                  </p:childTnLst>
                                </p:cTn>
                              </p:par>
                              <p:par>
                                <p:cTn id="117" presetID="1" presetClass="exit" presetSubtype="0" fill="hold" grpId="2" nodeType="withEffect">
                                  <p:stCondLst>
                                    <p:cond delay="0"/>
                                  </p:stCondLst>
                                  <p:childTnLst>
                                    <p:set>
                                      <p:cBhvr>
                                        <p:cTn id="118" dur="1" fill="hold">
                                          <p:stCondLst>
                                            <p:cond delay="0"/>
                                          </p:stCondLst>
                                        </p:cTn>
                                        <p:tgtEl>
                                          <p:spTgt spid="86"/>
                                        </p:tgtEl>
                                        <p:attrNameLst>
                                          <p:attrName>style.visibility</p:attrName>
                                        </p:attrNameLst>
                                      </p:cBhvr>
                                      <p:to>
                                        <p:strVal val="hidden"/>
                                      </p:to>
                                    </p:set>
                                  </p:childTnLst>
                                </p:cTn>
                              </p:par>
                              <p:par>
                                <p:cTn id="119" presetID="1" presetClass="exit" presetSubtype="0" fill="hold" grpId="2" nodeType="withEffect">
                                  <p:stCondLst>
                                    <p:cond delay="0"/>
                                  </p:stCondLst>
                                  <p:childTnLst>
                                    <p:set>
                                      <p:cBhvr>
                                        <p:cTn id="120" dur="1" fill="hold">
                                          <p:stCondLst>
                                            <p:cond delay="0"/>
                                          </p:stCondLst>
                                        </p:cTn>
                                        <p:tgtEl>
                                          <p:spTgt spid="87"/>
                                        </p:tgtEl>
                                        <p:attrNameLst>
                                          <p:attrName>style.visibility</p:attrName>
                                        </p:attrNameLst>
                                      </p:cBhvr>
                                      <p:to>
                                        <p:strVal val="hidden"/>
                                      </p:to>
                                    </p:set>
                                  </p:childTnLst>
                                </p:cTn>
                              </p:par>
                              <p:par>
                                <p:cTn id="121" presetID="1" presetClass="entr" presetSubtype="0" fill="hold" grpId="0" nodeType="withEffect">
                                  <p:stCondLst>
                                    <p:cond delay="0"/>
                                  </p:stCondLst>
                                  <p:childTnLst>
                                    <p:set>
                                      <p:cBhvr>
                                        <p:cTn id="122" dur="1" fill="hold">
                                          <p:stCondLst>
                                            <p:cond delay="0"/>
                                          </p:stCondLst>
                                        </p:cTn>
                                        <p:tgtEl>
                                          <p:spTgt spid="88"/>
                                        </p:tgtEl>
                                        <p:attrNameLst>
                                          <p:attrName>style.visibility</p:attrName>
                                        </p:attrNameLst>
                                      </p:cBhvr>
                                      <p:to>
                                        <p:strVal val="visible"/>
                                      </p:to>
                                    </p:set>
                                  </p:childTnLst>
                                </p:cTn>
                              </p:par>
                              <p:par>
                                <p:cTn id="123" presetID="26" presetClass="emph" presetSubtype="0" repeatCount="indefinite" fill="hold" grpId="1" nodeType="withEffect">
                                  <p:stCondLst>
                                    <p:cond delay="0"/>
                                  </p:stCondLst>
                                  <p:endCondLst>
                                    <p:cond evt="onNext" delay="0">
                                      <p:tgtEl>
                                        <p:sldTgt/>
                                      </p:tgtEl>
                                    </p:cond>
                                  </p:endCondLst>
                                  <p:childTnLst>
                                    <p:animEffect transition="out" filter="fade">
                                      <p:cBhvr>
                                        <p:cTn id="124" dur="500" tmFilter="0, 0; .2, .5; .8, .5; 1, 0"/>
                                        <p:tgtEl>
                                          <p:spTgt spid="88"/>
                                        </p:tgtEl>
                                      </p:cBhvr>
                                    </p:animEffect>
                                    <p:animScale>
                                      <p:cBhvr>
                                        <p:cTn id="125" dur="250" autoRev="1" fill="hold"/>
                                        <p:tgtEl>
                                          <p:spTgt spid="88"/>
                                        </p:tgtEl>
                                      </p:cBhvr>
                                      <p:by x="105000" y="105000"/>
                                    </p:animScale>
                                  </p:childTnLst>
                                </p:cTn>
                              </p:par>
                              <p:par>
                                <p:cTn id="126" presetID="1" presetClass="entr" presetSubtype="0" fill="hold" grpId="0" nodeType="withEffect">
                                  <p:stCondLst>
                                    <p:cond delay="0"/>
                                  </p:stCondLst>
                                  <p:childTnLst>
                                    <p:set>
                                      <p:cBhvr>
                                        <p:cTn id="127" dur="1" fill="hold">
                                          <p:stCondLst>
                                            <p:cond delay="0"/>
                                          </p:stCondLst>
                                        </p:cTn>
                                        <p:tgtEl>
                                          <p:spTgt spid="89"/>
                                        </p:tgtEl>
                                        <p:attrNameLst>
                                          <p:attrName>style.visibility</p:attrName>
                                        </p:attrNameLst>
                                      </p:cBhvr>
                                      <p:to>
                                        <p:strVal val="visible"/>
                                      </p:to>
                                    </p:set>
                                  </p:childTnLst>
                                </p:cTn>
                              </p:par>
                              <p:par>
                                <p:cTn id="128" presetID="26" presetClass="emph" presetSubtype="0" repeatCount="indefinite" fill="hold" grpId="1" nodeType="withEffect">
                                  <p:stCondLst>
                                    <p:cond delay="0"/>
                                  </p:stCondLst>
                                  <p:endCondLst>
                                    <p:cond evt="onNext" delay="0">
                                      <p:tgtEl>
                                        <p:sldTgt/>
                                      </p:tgtEl>
                                    </p:cond>
                                  </p:endCondLst>
                                  <p:childTnLst>
                                    <p:animEffect transition="out" filter="fade">
                                      <p:cBhvr>
                                        <p:cTn id="129" dur="500" tmFilter="0, 0; .2, .5; .8, .5; 1, 0"/>
                                        <p:tgtEl>
                                          <p:spTgt spid="89"/>
                                        </p:tgtEl>
                                      </p:cBhvr>
                                    </p:animEffect>
                                    <p:animScale>
                                      <p:cBhvr>
                                        <p:cTn id="130" dur="250" autoRev="1" fill="hold"/>
                                        <p:tgtEl>
                                          <p:spTgt spid="89"/>
                                        </p:tgtEl>
                                      </p:cBhvr>
                                      <p:by x="105000" y="105000"/>
                                    </p:animScale>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2" nodeType="clickEffect">
                                  <p:stCondLst>
                                    <p:cond delay="0"/>
                                  </p:stCondLst>
                                  <p:childTnLst>
                                    <p:set>
                                      <p:cBhvr>
                                        <p:cTn id="134" dur="1" fill="hold">
                                          <p:stCondLst>
                                            <p:cond delay="0"/>
                                          </p:stCondLst>
                                        </p:cTn>
                                        <p:tgtEl>
                                          <p:spTgt spid="88"/>
                                        </p:tgtEl>
                                        <p:attrNameLst>
                                          <p:attrName>style.visibility</p:attrName>
                                        </p:attrNameLst>
                                      </p:cBhvr>
                                      <p:to>
                                        <p:strVal val="hidden"/>
                                      </p:to>
                                    </p:set>
                                  </p:childTnLst>
                                </p:cTn>
                              </p:par>
                              <p:par>
                                <p:cTn id="135" presetID="1" presetClass="exit" presetSubtype="0" fill="hold" grpId="2" nodeType="withEffect">
                                  <p:stCondLst>
                                    <p:cond delay="0"/>
                                  </p:stCondLst>
                                  <p:childTnLst>
                                    <p:set>
                                      <p:cBhvr>
                                        <p:cTn id="136" dur="1" fill="hold">
                                          <p:stCondLst>
                                            <p:cond delay="0"/>
                                          </p:stCondLst>
                                        </p:cTn>
                                        <p:tgtEl>
                                          <p:spTgt spid="89"/>
                                        </p:tgtEl>
                                        <p:attrNameLst>
                                          <p:attrName>style.visibility</p:attrName>
                                        </p:attrNameLst>
                                      </p:cBhvr>
                                      <p:to>
                                        <p:strVal val="hidden"/>
                                      </p:to>
                                    </p:set>
                                  </p:childTnLst>
                                </p:cTn>
                              </p:par>
                              <p:par>
                                <p:cTn id="137" presetID="1" presetClass="entr" presetSubtype="0" fill="hold" grpId="0" nodeType="withEffect">
                                  <p:stCondLst>
                                    <p:cond delay="0"/>
                                  </p:stCondLst>
                                  <p:childTnLst>
                                    <p:set>
                                      <p:cBhvr>
                                        <p:cTn id="138" dur="1" fill="hold">
                                          <p:stCondLst>
                                            <p:cond delay="0"/>
                                          </p:stCondLst>
                                        </p:cTn>
                                        <p:tgtEl>
                                          <p:spTgt spid="80"/>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8"/>
                                        </p:tgtEl>
                                        <p:attrNameLst>
                                          <p:attrName>style.visibility</p:attrName>
                                        </p:attrNameLst>
                                      </p:cBhvr>
                                      <p:to>
                                        <p:strVal val="visible"/>
                                      </p:to>
                                    </p:set>
                                  </p:childTnLst>
                                </p:cTn>
                              </p:par>
                              <p:par>
                                <p:cTn id="141" presetID="26" presetClass="emph" presetSubtype="0" repeatCount="indefinite" fill="hold" grpId="1" nodeType="withEffect">
                                  <p:stCondLst>
                                    <p:cond delay="0"/>
                                  </p:stCondLst>
                                  <p:endCondLst>
                                    <p:cond evt="onNext" delay="0">
                                      <p:tgtEl>
                                        <p:sldTgt/>
                                      </p:tgtEl>
                                    </p:cond>
                                  </p:endCondLst>
                                  <p:childTnLst>
                                    <p:animEffect transition="out" filter="fade">
                                      <p:cBhvr>
                                        <p:cTn id="142" dur="500" tmFilter="0, 0; .2, .5; .8, .5; 1, 0"/>
                                        <p:tgtEl>
                                          <p:spTgt spid="58"/>
                                        </p:tgtEl>
                                      </p:cBhvr>
                                    </p:animEffect>
                                    <p:animScale>
                                      <p:cBhvr>
                                        <p:cTn id="143" dur="250" autoRev="1" fill="hold"/>
                                        <p:tgtEl>
                                          <p:spTgt spid="5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3" grpId="0"/>
      <p:bldP spid="80" grpId="0"/>
      <p:bldP spid="62" grpId="0"/>
      <p:bldP spid="81" grpId="0"/>
      <p:bldP spid="59" grpId="0" animBg="1"/>
      <p:bldP spid="59" grpId="1" animBg="1"/>
      <p:bldP spid="59" grpId="2" animBg="1"/>
      <p:bldP spid="60" grpId="0" animBg="1"/>
      <p:bldP spid="60" grpId="1" animBg="1"/>
      <p:bldP spid="60" grpId="2" animBg="1"/>
      <p:bldP spid="84" grpId="0" animBg="1"/>
      <p:bldP spid="84" grpId="1" animBg="1"/>
      <p:bldP spid="84" grpId="2" animBg="1"/>
      <p:bldP spid="85" grpId="0" animBg="1"/>
      <p:bldP spid="85" grpId="1" animBg="1"/>
      <p:bldP spid="85" grpId="2" animBg="1"/>
      <p:bldP spid="86" grpId="0" animBg="1"/>
      <p:bldP spid="86" grpId="1" animBg="1"/>
      <p:bldP spid="86" grpId="2" animBg="1"/>
      <p:bldP spid="87" grpId="0" animBg="1"/>
      <p:bldP spid="87" grpId="1" animBg="1"/>
      <p:bldP spid="87" grpId="2" animBg="1"/>
      <p:bldP spid="88" grpId="0" animBg="1"/>
      <p:bldP spid="88" grpId="1" animBg="1"/>
      <p:bldP spid="88" grpId="2" animBg="1"/>
      <p:bldP spid="89" grpId="0" animBg="1"/>
      <p:bldP spid="89" grpId="1" animBg="1"/>
      <p:bldP spid="89" grpId="2" animBg="1"/>
      <p:bldP spid="58" grpId="0" animBg="1"/>
      <p:bldP spid="58" grpId="1" animBg="1"/>
      <p:bldP spid="51" grpId="0" animBg="1"/>
      <p:bldP spid="51" grpId="1" animBg="1"/>
      <p:bldP spid="51" grpId="2" animBg="1"/>
      <p:bldP spid="52" grpId="0" animBg="1"/>
      <p:bldP spid="52" grpId="1" animBg="1"/>
      <p:bldP spid="52" grpId="2" animBg="1"/>
      <p:bldP spid="54" grpId="0" animBg="1"/>
      <p:bldP spid="54" grpId="1" animBg="1"/>
      <p:bldP spid="54" grpId="2" animBg="1"/>
      <p:bldP spid="55" grpId="0" animBg="1"/>
      <p:bldP spid="55" grpId="1" animBg="1"/>
      <p:bldP spid="55" grpId="2"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Shortest Remaining Time Next (SRTN)</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1014593" y="4337714"/>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014593" y="4337714"/>
                <a:ext cx="115517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p:sp>
        <p:nvSpPr>
          <p:cNvPr id="9" name="TextBox 8"/>
          <p:cNvSpPr txBox="1"/>
          <p:nvPr/>
        </p:nvSpPr>
        <p:spPr>
          <a:xfrm>
            <a:off x="855369" y="4993073"/>
            <a:ext cx="318448" cy="381000"/>
          </a:xfrm>
          <a:prstGeom prst="rect">
            <a:avLst/>
          </a:prstGeom>
          <a:noFill/>
        </p:spPr>
        <p:txBody>
          <a:bodyPr wrap="square" rtlCol="0">
            <a:spAutoFit/>
          </a:bodyPr>
          <a:lstStyle/>
          <a:p>
            <a:r>
              <a:rPr lang="en-US" dirty="0"/>
              <a:t>0</a:t>
            </a:r>
          </a:p>
        </p:txBody>
      </p:sp>
      <p:cxnSp>
        <p:nvCxnSpPr>
          <p:cNvPr id="14" name="Straight Connector 13"/>
          <p:cNvCxnSpPr/>
          <p:nvPr/>
        </p:nvCxnSpPr>
        <p:spPr>
          <a:xfrm flipH="1">
            <a:off x="1014593" y="4353205"/>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6530" y="824702"/>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Waiting Time</a:t>
                      </a:r>
                      <a:endParaRPr lang="en-IN" sz="1800" b="1" kern="1200" dirty="0">
                        <a:solidFill>
                          <a:schemeClr val="tx1"/>
                        </a:solidFill>
                        <a:effectLst/>
                        <a:latin typeface="+mn-lt"/>
                        <a:ea typeface="+mn-ea"/>
                        <a:cs typeface="+mn-cs"/>
                      </a:endParaRPr>
                    </a:p>
                    <a:p>
                      <a:pPr algn="ctr"/>
                      <a:r>
                        <a:rPr lang="en-US" sz="1800" b="1" kern="1200" dirty="0">
                          <a:solidFill>
                            <a:schemeClr val="tx1"/>
                          </a:solidFill>
                          <a:effectLst/>
                          <a:latin typeface="+mn-lt"/>
                          <a:ea typeface="+mn-ea"/>
                          <a:cs typeface="+mn-cs"/>
                        </a:rPr>
                        <a:t>(TAT-ΔT)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2641" y="146766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6"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2960913282"/>
              </p:ext>
            </p:extLst>
          </p:nvPr>
        </p:nvGraphicFramePr>
        <p:xfrm>
          <a:off x="9800058" y="2023019"/>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extLst>
              <p:ext uri="{D42A27DB-BD31-4B8C-83A1-F6EECF244321}">
                <p14:modId xmlns:p14="http://schemas.microsoft.com/office/powerpoint/2010/main" val="2590170227"/>
              </p:ext>
            </p:extLst>
          </p:nvPr>
        </p:nvGraphicFramePr>
        <p:xfrm>
          <a:off x="9797475" y="259387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315181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43" name="Rectangle 42"/>
              <p:cNvSpPr/>
              <p:nvPr/>
            </p:nvSpPr>
            <p:spPr>
              <a:xfrm>
                <a:off x="2167232" y="4337713"/>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3" name="Rectangle 42"/>
              <p:cNvSpPr>
                <a:spLocks noRot="1" noChangeAspect="1" noMove="1" noResize="1" noEditPoints="1" noAdjustHandles="1" noChangeArrowheads="1" noChangeShapeType="1" noTextEdit="1"/>
              </p:cNvSpPr>
              <p:nvPr/>
            </p:nvSpPr>
            <p:spPr>
              <a:xfrm>
                <a:off x="2167232" y="4337713"/>
                <a:ext cx="115517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p:cNvSpPr/>
              <p:nvPr/>
            </p:nvSpPr>
            <p:spPr>
              <a:xfrm>
                <a:off x="3317340" y="4337712"/>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4" name="Rectangle 43"/>
              <p:cNvSpPr>
                <a:spLocks noRot="1" noChangeAspect="1" noMove="1" noResize="1" noEditPoints="1" noAdjustHandles="1" noChangeArrowheads="1" noChangeShapeType="1" noTextEdit="1"/>
              </p:cNvSpPr>
              <p:nvPr/>
            </p:nvSpPr>
            <p:spPr>
              <a:xfrm>
                <a:off x="3317340" y="4337712"/>
                <a:ext cx="1155170" cy="655359"/>
              </a:xfrm>
              <a:prstGeom prst="rect">
                <a:avLst/>
              </a:prstGeom>
              <a:blipFill>
                <a:blip r:embed="rId7"/>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p:cNvSpPr/>
              <p:nvPr/>
            </p:nvSpPr>
            <p:spPr>
              <a:xfrm>
                <a:off x="4469979" y="4337711"/>
                <a:ext cx="1450374"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3</m:t>
                          </m:r>
                        </m:sub>
                      </m:sSub>
                    </m:oMath>
                  </m:oMathPara>
                </a14:m>
                <a:endParaRPr lang="en-US" dirty="0"/>
              </a:p>
            </p:txBody>
          </p:sp>
        </mc:Choice>
        <mc:Fallback xmlns="">
          <p:sp>
            <p:nvSpPr>
              <p:cNvPr id="45" name="Rectangle 44"/>
              <p:cNvSpPr>
                <a:spLocks noRot="1" noChangeAspect="1" noMove="1" noResize="1" noEditPoints="1" noAdjustHandles="1" noChangeArrowheads="1" noChangeShapeType="1" noTextEdit="1"/>
              </p:cNvSpPr>
              <p:nvPr/>
            </p:nvSpPr>
            <p:spPr>
              <a:xfrm>
                <a:off x="4469979" y="4337711"/>
                <a:ext cx="1450374"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5920353" y="4337710"/>
                <a:ext cx="1450374"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6" name="Rectangle 45"/>
              <p:cNvSpPr>
                <a:spLocks noRot="1" noChangeAspect="1" noMove="1" noResize="1" noEditPoints="1" noAdjustHandles="1" noChangeArrowheads="1" noChangeShapeType="1" noTextEdit="1"/>
              </p:cNvSpPr>
              <p:nvPr/>
            </p:nvSpPr>
            <p:spPr>
              <a:xfrm>
                <a:off x="5920353" y="4337710"/>
                <a:ext cx="1450374" cy="655359"/>
              </a:xfrm>
              <a:prstGeom prst="rect">
                <a:avLst/>
              </a:prstGeom>
              <a:blipFill>
                <a:blip r:embed="rId9"/>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p:cNvSpPr/>
              <p:nvPr/>
            </p:nvSpPr>
            <p:spPr>
              <a:xfrm>
                <a:off x="7381351" y="4337709"/>
                <a:ext cx="1607666"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7381351" y="4337709"/>
                <a:ext cx="1607666" cy="655359"/>
              </a:xfrm>
              <a:prstGeom prst="rect">
                <a:avLst/>
              </a:prstGeom>
              <a:blipFill rotWithShape="0">
                <a:blip r:embed="rId10"/>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008008" y="4993068"/>
            <a:ext cx="318448" cy="381000"/>
          </a:xfrm>
          <a:prstGeom prst="rect">
            <a:avLst/>
          </a:prstGeom>
          <a:noFill/>
        </p:spPr>
        <p:txBody>
          <a:bodyPr wrap="square" rtlCol="0">
            <a:spAutoFit/>
          </a:bodyPr>
          <a:lstStyle/>
          <a:p>
            <a:r>
              <a:rPr lang="en-US" dirty="0"/>
              <a:t>1</a:t>
            </a:r>
          </a:p>
        </p:txBody>
      </p:sp>
      <p:sp>
        <p:nvSpPr>
          <p:cNvPr id="49" name="TextBox 48"/>
          <p:cNvSpPr txBox="1"/>
          <p:nvPr/>
        </p:nvSpPr>
        <p:spPr>
          <a:xfrm>
            <a:off x="3152804" y="4954815"/>
            <a:ext cx="318448" cy="381000"/>
          </a:xfrm>
          <a:prstGeom prst="rect">
            <a:avLst/>
          </a:prstGeom>
          <a:noFill/>
        </p:spPr>
        <p:txBody>
          <a:bodyPr wrap="square" rtlCol="0">
            <a:spAutoFit/>
          </a:bodyPr>
          <a:lstStyle/>
          <a:p>
            <a:r>
              <a:rPr lang="en-US" dirty="0"/>
              <a:t>3</a:t>
            </a:r>
          </a:p>
        </p:txBody>
      </p:sp>
      <p:sp>
        <p:nvSpPr>
          <p:cNvPr id="50" name="TextBox 49"/>
          <p:cNvSpPr txBox="1"/>
          <p:nvPr/>
        </p:nvSpPr>
        <p:spPr>
          <a:xfrm>
            <a:off x="4315817" y="4992946"/>
            <a:ext cx="318448" cy="381000"/>
          </a:xfrm>
          <a:prstGeom prst="rect">
            <a:avLst/>
          </a:prstGeom>
          <a:noFill/>
        </p:spPr>
        <p:txBody>
          <a:bodyPr wrap="square" rtlCol="0">
            <a:spAutoFit/>
          </a:bodyPr>
          <a:lstStyle/>
          <a:p>
            <a:r>
              <a:rPr lang="en-US" dirty="0"/>
              <a:t>5</a:t>
            </a:r>
          </a:p>
        </p:txBody>
      </p:sp>
      <p:sp>
        <p:nvSpPr>
          <p:cNvPr id="53" name="TextBox 52"/>
          <p:cNvSpPr txBox="1"/>
          <p:nvPr/>
        </p:nvSpPr>
        <p:spPr>
          <a:xfrm>
            <a:off x="8828972" y="4954815"/>
            <a:ext cx="531183" cy="369332"/>
          </a:xfrm>
          <a:prstGeom prst="rect">
            <a:avLst/>
          </a:prstGeom>
          <a:noFill/>
        </p:spPr>
        <p:txBody>
          <a:bodyPr wrap="square" rtlCol="0">
            <a:spAutoFit/>
          </a:bodyPr>
          <a:lstStyle/>
          <a:p>
            <a:r>
              <a:rPr lang="en-US" dirty="0"/>
              <a:t>13</a:t>
            </a:r>
          </a:p>
        </p:txBody>
      </p:sp>
      <p:sp>
        <p:nvSpPr>
          <p:cNvPr id="79" name="TextBox 78"/>
          <p:cNvSpPr txBox="1"/>
          <p:nvPr/>
        </p:nvSpPr>
        <p:spPr>
          <a:xfrm>
            <a:off x="382517" y="5462429"/>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Waiting Time </a:t>
            </a:r>
            <a:r>
              <a:rPr lang="en-US" sz="2000" dirty="0"/>
              <a:t>= Sum of all Process’s Waiting Time/ Total Process</a:t>
            </a:r>
          </a:p>
          <a:p>
            <a:r>
              <a:rPr lang="en-US" sz="2000" dirty="0"/>
              <a:t>                                              = (7+0+3+0)/4 </a:t>
            </a:r>
          </a:p>
          <a:p>
            <a:r>
              <a:rPr lang="en-US" sz="2000" dirty="0"/>
              <a:t>                                              = 2.5 </a:t>
            </a:r>
            <a:r>
              <a:rPr lang="en-US" sz="2000" dirty="0" err="1"/>
              <a:t>ms</a:t>
            </a:r>
            <a:endParaRPr lang="en-US" sz="2000" dirty="0"/>
          </a:p>
        </p:txBody>
      </p:sp>
      <p:sp>
        <p:nvSpPr>
          <p:cNvPr id="62" name="TextBox 61"/>
          <p:cNvSpPr txBox="1"/>
          <p:nvPr/>
        </p:nvSpPr>
        <p:spPr>
          <a:xfrm>
            <a:off x="5790488" y="5014213"/>
            <a:ext cx="318448" cy="381000"/>
          </a:xfrm>
          <a:prstGeom prst="rect">
            <a:avLst/>
          </a:prstGeom>
          <a:noFill/>
        </p:spPr>
        <p:txBody>
          <a:bodyPr wrap="square" rtlCol="0">
            <a:spAutoFit/>
          </a:bodyPr>
          <a:lstStyle/>
          <a:p>
            <a:r>
              <a:rPr lang="en-US" dirty="0"/>
              <a:t>6</a:t>
            </a:r>
          </a:p>
        </p:txBody>
      </p:sp>
      <p:sp>
        <p:nvSpPr>
          <p:cNvPr id="81" name="TextBox 80"/>
          <p:cNvSpPr txBox="1"/>
          <p:nvPr/>
        </p:nvSpPr>
        <p:spPr>
          <a:xfrm>
            <a:off x="7190339" y="4943147"/>
            <a:ext cx="423336" cy="381000"/>
          </a:xfrm>
          <a:prstGeom prst="rect">
            <a:avLst/>
          </a:prstGeom>
          <a:noFill/>
        </p:spPr>
        <p:txBody>
          <a:bodyPr wrap="square" rtlCol="0">
            <a:spAutoFit/>
          </a:bodyPr>
          <a:lstStyle/>
          <a:p>
            <a:r>
              <a:rPr lang="en-US" dirty="0"/>
              <a:t>8</a:t>
            </a:r>
          </a:p>
        </p:txBody>
      </p:sp>
      <p:sp>
        <p:nvSpPr>
          <p:cNvPr id="90" name="TextBox 89"/>
          <p:cNvSpPr txBox="1"/>
          <p:nvPr/>
        </p:nvSpPr>
        <p:spPr>
          <a:xfrm>
            <a:off x="7735846" y="1463869"/>
            <a:ext cx="2064742" cy="542441"/>
          </a:xfrm>
          <a:prstGeom prst="rect">
            <a:avLst/>
          </a:prstGeom>
          <a:noFill/>
          <a:ln w="57150">
            <a:solidFill>
              <a:srgbClr val="FF0000"/>
            </a:solidFill>
          </a:ln>
        </p:spPr>
        <p:txBody>
          <a:bodyPr wrap="square" rtlCol="0">
            <a:spAutoFit/>
          </a:bodyPr>
          <a:lstStyle/>
          <a:p>
            <a:endParaRPr lang="en-IN" dirty="0"/>
          </a:p>
        </p:txBody>
      </p:sp>
      <p:sp>
        <p:nvSpPr>
          <p:cNvPr id="91" name="TextBox 90"/>
          <p:cNvSpPr txBox="1"/>
          <p:nvPr/>
        </p:nvSpPr>
        <p:spPr>
          <a:xfrm>
            <a:off x="2742088" y="1484015"/>
            <a:ext cx="3590108" cy="542441"/>
          </a:xfrm>
          <a:prstGeom prst="rect">
            <a:avLst/>
          </a:prstGeom>
          <a:noFill/>
          <a:ln w="57150">
            <a:solidFill>
              <a:srgbClr val="FF0000"/>
            </a:solidFill>
          </a:ln>
        </p:spPr>
        <p:txBody>
          <a:bodyPr wrap="square" rtlCol="0">
            <a:spAutoFit/>
          </a:bodyPr>
          <a:lstStyle/>
          <a:p>
            <a:endParaRPr lang="en-IN" dirty="0"/>
          </a:p>
        </p:txBody>
      </p:sp>
      <p:sp>
        <p:nvSpPr>
          <p:cNvPr id="92" name="TextBox 91"/>
          <p:cNvSpPr txBox="1"/>
          <p:nvPr/>
        </p:nvSpPr>
        <p:spPr>
          <a:xfrm>
            <a:off x="7735846" y="2022121"/>
            <a:ext cx="2064742" cy="542441"/>
          </a:xfrm>
          <a:prstGeom prst="rect">
            <a:avLst/>
          </a:prstGeom>
          <a:noFill/>
          <a:ln w="57150">
            <a:solidFill>
              <a:srgbClr val="FF0000"/>
            </a:solidFill>
          </a:ln>
        </p:spPr>
        <p:txBody>
          <a:bodyPr wrap="square" rtlCol="0">
            <a:spAutoFit/>
          </a:bodyPr>
          <a:lstStyle/>
          <a:p>
            <a:endParaRPr lang="en-IN" dirty="0"/>
          </a:p>
        </p:txBody>
      </p:sp>
      <p:sp>
        <p:nvSpPr>
          <p:cNvPr id="93" name="TextBox 92"/>
          <p:cNvSpPr txBox="1"/>
          <p:nvPr/>
        </p:nvSpPr>
        <p:spPr>
          <a:xfrm>
            <a:off x="2712695" y="2022965"/>
            <a:ext cx="3590108" cy="542441"/>
          </a:xfrm>
          <a:prstGeom prst="rect">
            <a:avLst/>
          </a:prstGeom>
          <a:noFill/>
          <a:ln w="57150">
            <a:solidFill>
              <a:srgbClr val="FF0000"/>
            </a:solidFill>
          </a:ln>
        </p:spPr>
        <p:txBody>
          <a:bodyPr wrap="square" rtlCol="0">
            <a:spAutoFit/>
          </a:bodyPr>
          <a:lstStyle/>
          <a:p>
            <a:endParaRPr lang="en-IN" dirty="0"/>
          </a:p>
        </p:txBody>
      </p:sp>
      <p:sp>
        <p:nvSpPr>
          <p:cNvPr id="94" name="TextBox 93"/>
          <p:cNvSpPr txBox="1"/>
          <p:nvPr/>
        </p:nvSpPr>
        <p:spPr>
          <a:xfrm>
            <a:off x="7745153" y="2558557"/>
            <a:ext cx="2064742" cy="542441"/>
          </a:xfrm>
          <a:prstGeom prst="rect">
            <a:avLst/>
          </a:prstGeom>
          <a:noFill/>
          <a:ln w="57150">
            <a:solidFill>
              <a:srgbClr val="FF0000"/>
            </a:solidFill>
          </a:ln>
        </p:spPr>
        <p:txBody>
          <a:bodyPr wrap="square" rtlCol="0">
            <a:spAutoFit/>
          </a:bodyPr>
          <a:lstStyle/>
          <a:p>
            <a:endParaRPr lang="en-IN" dirty="0"/>
          </a:p>
        </p:txBody>
      </p:sp>
      <p:sp>
        <p:nvSpPr>
          <p:cNvPr id="95" name="TextBox 94"/>
          <p:cNvSpPr txBox="1"/>
          <p:nvPr/>
        </p:nvSpPr>
        <p:spPr>
          <a:xfrm>
            <a:off x="2712695" y="2594930"/>
            <a:ext cx="3590108" cy="542441"/>
          </a:xfrm>
          <a:prstGeom prst="rect">
            <a:avLst/>
          </a:prstGeom>
          <a:noFill/>
          <a:ln w="57150">
            <a:solidFill>
              <a:srgbClr val="FF0000"/>
            </a:solidFill>
          </a:ln>
        </p:spPr>
        <p:txBody>
          <a:bodyPr wrap="square" rtlCol="0">
            <a:spAutoFit/>
          </a:bodyPr>
          <a:lstStyle/>
          <a:p>
            <a:endParaRPr lang="en-IN" dirty="0"/>
          </a:p>
        </p:txBody>
      </p:sp>
      <p:sp>
        <p:nvSpPr>
          <p:cNvPr id="96" name="TextBox 95"/>
          <p:cNvSpPr txBox="1"/>
          <p:nvPr/>
        </p:nvSpPr>
        <p:spPr>
          <a:xfrm>
            <a:off x="7742085" y="3133584"/>
            <a:ext cx="2064742" cy="542441"/>
          </a:xfrm>
          <a:prstGeom prst="rect">
            <a:avLst/>
          </a:prstGeom>
          <a:noFill/>
          <a:ln w="57150">
            <a:solidFill>
              <a:srgbClr val="FF0000"/>
            </a:solidFill>
          </a:ln>
        </p:spPr>
        <p:txBody>
          <a:bodyPr wrap="square" rtlCol="0">
            <a:spAutoFit/>
          </a:bodyPr>
          <a:lstStyle/>
          <a:p>
            <a:endParaRPr lang="en-IN" dirty="0"/>
          </a:p>
        </p:txBody>
      </p:sp>
      <p:sp>
        <p:nvSpPr>
          <p:cNvPr id="97" name="TextBox 96"/>
          <p:cNvSpPr txBox="1"/>
          <p:nvPr/>
        </p:nvSpPr>
        <p:spPr>
          <a:xfrm>
            <a:off x="2742088" y="3155219"/>
            <a:ext cx="3590108" cy="542441"/>
          </a:xfrm>
          <a:prstGeom prst="rect">
            <a:avLst/>
          </a:prstGeom>
          <a:noFill/>
          <a:ln w="57150">
            <a:solidFill>
              <a:srgbClr val="FF0000"/>
            </a:solidFill>
          </a:ln>
        </p:spPr>
        <p:txBody>
          <a:bodyPr wrap="square" rtlCol="0">
            <a:spAutoFit/>
          </a:bodyPr>
          <a:lstStyle/>
          <a:p>
            <a:endParaRPr lang="en-IN" dirty="0"/>
          </a:p>
        </p:txBody>
      </p:sp>
      <p:sp>
        <p:nvSpPr>
          <p:cNvPr id="99" name="TextBox 98"/>
          <p:cNvSpPr txBox="1"/>
          <p:nvPr/>
        </p:nvSpPr>
        <p:spPr>
          <a:xfrm>
            <a:off x="9825532" y="1470057"/>
            <a:ext cx="2049246" cy="2222902"/>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173790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0"/>
                                        </p:tgtEl>
                                        <p:attrNameLst>
                                          <p:attrName>style.visibility</p:attrName>
                                        </p:attrNameLst>
                                      </p:cBhvr>
                                      <p:to>
                                        <p:strVal val="visible"/>
                                      </p:to>
                                    </p:set>
                                  </p:childTnLst>
                                </p:cTn>
                              </p:par>
                              <p:par>
                                <p:cTn id="9" presetID="26" presetClass="emph" presetSubtype="0" repeatCount="indefinite" fill="hold" grpId="1" nodeType="withEffect">
                                  <p:stCondLst>
                                    <p:cond delay="0"/>
                                  </p:stCondLst>
                                  <p:endCondLst>
                                    <p:cond evt="onNext" delay="0">
                                      <p:tgtEl>
                                        <p:sldTgt/>
                                      </p:tgtEl>
                                    </p:cond>
                                  </p:endCondLst>
                                  <p:childTnLst>
                                    <p:animEffect transition="out" filter="fade">
                                      <p:cBhvr>
                                        <p:cTn id="10" dur="500" tmFilter="0, 0; .2, .5; .8, .5; 1, 0"/>
                                        <p:tgtEl>
                                          <p:spTgt spid="90"/>
                                        </p:tgtEl>
                                      </p:cBhvr>
                                    </p:animEffect>
                                    <p:animScale>
                                      <p:cBhvr>
                                        <p:cTn id="11" dur="250" autoRev="1" fill="hold"/>
                                        <p:tgtEl>
                                          <p:spTgt spid="90"/>
                                        </p:tgtEl>
                                      </p:cBhvr>
                                      <p:by x="105000" y="105000"/>
                                    </p:animScale>
                                  </p:childTnLst>
                                </p:cTn>
                              </p:par>
                              <p:par>
                                <p:cTn id="12" presetID="1" presetClass="entr" presetSubtype="0" fill="hold" grpId="0" nodeType="withEffect">
                                  <p:stCondLst>
                                    <p:cond delay="0"/>
                                  </p:stCondLst>
                                  <p:childTnLst>
                                    <p:set>
                                      <p:cBhvr>
                                        <p:cTn id="13" dur="1" fill="hold">
                                          <p:stCondLst>
                                            <p:cond delay="0"/>
                                          </p:stCondLst>
                                        </p:cTn>
                                        <p:tgtEl>
                                          <p:spTgt spid="91"/>
                                        </p:tgtEl>
                                        <p:attrNameLst>
                                          <p:attrName>style.visibility</p:attrName>
                                        </p:attrNameLst>
                                      </p:cBhvr>
                                      <p:to>
                                        <p:strVal val="visible"/>
                                      </p:to>
                                    </p:set>
                                  </p:childTnLst>
                                </p:cTn>
                              </p:par>
                              <p:par>
                                <p:cTn id="14" presetID="26" presetClass="emph" presetSubtype="0" repeatCount="indefinite" fill="hold" grpId="1" nodeType="withEffect">
                                  <p:stCondLst>
                                    <p:cond delay="0"/>
                                  </p:stCondLst>
                                  <p:endCondLst>
                                    <p:cond evt="onNext" delay="0">
                                      <p:tgtEl>
                                        <p:sldTgt/>
                                      </p:tgtEl>
                                    </p:cond>
                                  </p:endCondLst>
                                  <p:childTnLst>
                                    <p:animEffect transition="out" filter="fade">
                                      <p:cBhvr>
                                        <p:cTn id="15" dur="500" tmFilter="0, 0; .2, .5; .8, .5; 1, 0"/>
                                        <p:tgtEl>
                                          <p:spTgt spid="91"/>
                                        </p:tgtEl>
                                      </p:cBhvr>
                                    </p:animEffect>
                                    <p:animScale>
                                      <p:cBhvr>
                                        <p:cTn id="16" dur="250" autoRev="1" fill="hold"/>
                                        <p:tgtEl>
                                          <p:spTgt spid="91"/>
                                        </p:tgtEl>
                                      </p:cBhvr>
                                      <p:by x="105000" y="105000"/>
                                    </p:animScale>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xit" presetSubtype="0" fill="hold" grpId="2" nodeType="withEffect">
                                  <p:stCondLst>
                                    <p:cond delay="0"/>
                                  </p:stCondLst>
                                  <p:childTnLst>
                                    <p:set>
                                      <p:cBhvr>
                                        <p:cTn id="22" dur="1" fill="hold">
                                          <p:stCondLst>
                                            <p:cond delay="0"/>
                                          </p:stCondLst>
                                        </p:cTn>
                                        <p:tgtEl>
                                          <p:spTgt spid="90"/>
                                        </p:tgtEl>
                                        <p:attrNameLst>
                                          <p:attrName>style.visibility</p:attrName>
                                        </p:attrNameLst>
                                      </p:cBhvr>
                                      <p:to>
                                        <p:strVal val="hidden"/>
                                      </p:to>
                                    </p:set>
                                  </p:childTnLst>
                                </p:cTn>
                              </p:par>
                              <p:par>
                                <p:cTn id="23" presetID="1" presetClass="exit" presetSubtype="0" fill="hold" grpId="2" nodeType="withEffect">
                                  <p:stCondLst>
                                    <p:cond delay="0"/>
                                  </p:stCondLst>
                                  <p:childTnLst>
                                    <p:set>
                                      <p:cBhvr>
                                        <p:cTn id="24" dur="1" fill="hold">
                                          <p:stCondLst>
                                            <p:cond delay="0"/>
                                          </p:stCondLst>
                                        </p:cTn>
                                        <p:tgtEl>
                                          <p:spTgt spid="91"/>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92"/>
                                        </p:tgtEl>
                                        <p:attrNameLst>
                                          <p:attrName>style.visibility</p:attrName>
                                        </p:attrNameLst>
                                      </p:cBhvr>
                                      <p:to>
                                        <p:strVal val="visible"/>
                                      </p:to>
                                    </p:set>
                                  </p:childTnLst>
                                </p:cTn>
                              </p:par>
                              <p:par>
                                <p:cTn id="27" presetID="26" presetClass="emph" presetSubtype="0" repeatCount="indefinite" fill="hold" grpId="1" nodeType="withEffect">
                                  <p:stCondLst>
                                    <p:cond delay="0"/>
                                  </p:stCondLst>
                                  <p:endCondLst>
                                    <p:cond evt="onNext" delay="0">
                                      <p:tgtEl>
                                        <p:sldTgt/>
                                      </p:tgtEl>
                                    </p:cond>
                                  </p:endCondLst>
                                  <p:childTnLst>
                                    <p:animEffect transition="out" filter="fade">
                                      <p:cBhvr>
                                        <p:cTn id="28" dur="500" tmFilter="0, 0; .2, .5; .8, .5; 1, 0"/>
                                        <p:tgtEl>
                                          <p:spTgt spid="92"/>
                                        </p:tgtEl>
                                      </p:cBhvr>
                                    </p:animEffect>
                                    <p:animScale>
                                      <p:cBhvr>
                                        <p:cTn id="29" dur="250" autoRev="1" fill="hold"/>
                                        <p:tgtEl>
                                          <p:spTgt spid="92"/>
                                        </p:tgtEl>
                                      </p:cBhvr>
                                      <p:by x="105000" y="105000"/>
                                    </p:animScale>
                                  </p:childTnLst>
                                </p:cTn>
                              </p:par>
                              <p:par>
                                <p:cTn id="30" presetID="1" presetClass="entr" presetSubtype="0" fill="hold" grpId="0" nodeType="withEffect">
                                  <p:stCondLst>
                                    <p:cond delay="0"/>
                                  </p:stCondLst>
                                  <p:childTnLst>
                                    <p:set>
                                      <p:cBhvr>
                                        <p:cTn id="31" dur="1" fill="hold">
                                          <p:stCondLst>
                                            <p:cond delay="0"/>
                                          </p:stCondLst>
                                        </p:cTn>
                                        <p:tgtEl>
                                          <p:spTgt spid="93"/>
                                        </p:tgtEl>
                                        <p:attrNameLst>
                                          <p:attrName>style.visibility</p:attrName>
                                        </p:attrNameLst>
                                      </p:cBhvr>
                                      <p:to>
                                        <p:strVal val="visible"/>
                                      </p:to>
                                    </p:set>
                                  </p:childTnLst>
                                </p:cTn>
                              </p:par>
                              <p:par>
                                <p:cTn id="32" presetID="26" presetClass="emph" presetSubtype="0" repeatCount="indefinite" fill="hold" grpId="1" nodeType="withEffect">
                                  <p:stCondLst>
                                    <p:cond delay="0"/>
                                  </p:stCondLst>
                                  <p:endCondLst>
                                    <p:cond evt="onNext" delay="0">
                                      <p:tgtEl>
                                        <p:sldTgt/>
                                      </p:tgtEl>
                                    </p:cond>
                                  </p:endCondLst>
                                  <p:childTnLst>
                                    <p:animEffect transition="out" filter="fade">
                                      <p:cBhvr>
                                        <p:cTn id="33" dur="500" tmFilter="0, 0; .2, .5; .8, .5; 1, 0"/>
                                        <p:tgtEl>
                                          <p:spTgt spid="93"/>
                                        </p:tgtEl>
                                      </p:cBhvr>
                                    </p:animEffect>
                                    <p:animScale>
                                      <p:cBhvr>
                                        <p:cTn id="34" dur="250" autoRev="1" fill="hold"/>
                                        <p:tgtEl>
                                          <p:spTgt spid="93"/>
                                        </p:tgtEl>
                                      </p:cBhvr>
                                      <p:by x="105000" y="105000"/>
                                    </p:animScale>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xit" presetSubtype="0" fill="hold" grpId="2" nodeType="withEffect">
                                  <p:stCondLst>
                                    <p:cond delay="0"/>
                                  </p:stCondLst>
                                  <p:childTnLst>
                                    <p:set>
                                      <p:cBhvr>
                                        <p:cTn id="40" dur="1" fill="hold">
                                          <p:stCondLst>
                                            <p:cond delay="0"/>
                                          </p:stCondLst>
                                        </p:cTn>
                                        <p:tgtEl>
                                          <p:spTgt spid="92"/>
                                        </p:tgtEl>
                                        <p:attrNameLst>
                                          <p:attrName>style.visibility</p:attrName>
                                        </p:attrNameLst>
                                      </p:cBhvr>
                                      <p:to>
                                        <p:strVal val="hidden"/>
                                      </p:to>
                                    </p:set>
                                  </p:childTnLst>
                                </p:cTn>
                              </p:par>
                              <p:par>
                                <p:cTn id="41" presetID="1" presetClass="exit" presetSubtype="0" fill="hold" grpId="2" nodeType="withEffect">
                                  <p:stCondLst>
                                    <p:cond delay="0"/>
                                  </p:stCondLst>
                                  <p:childTnLst>
                                    <p:set>
                                      <p:cBhvr>
                                        <p:cTn id="42" dur="1" fill="hold">
                                          <p:stCondLst>
                                            <p:cond delay="0"/>
                                          </p:stCondLst>
                                        </p:cTn>
                                        <p:tgtEl>
                                          <p:spTgt spid="93"/>
                                        </p:tgtEl>
                                        <p:attrNameLst>
                                          <p:attrName>style.visibility</p:attrName>
                                        </p:attrNameLst>
                                      </p:cBhvr>
                                      <p:to>
                                        <p:strVal val="hidden"/>
                                      </p:to>
                                    </p:set>
                                  </p:childTnLst>
                                </p:cTn>
                              </p:par>
                              <p:par>
                                <p:cTn id="43" presetID="1" presetClass="entr" presetSubtype="0" fill="hold" grpId="0" nodeType="withEffect">
                                  <p:stCondLst>
                                    <p:cond delay="0"/>
                                  </p:stCondLst>
                                  <p:childTnLst>
                                    <p:set>
                                      <p:cBhvr>
                                        <p:cTn id="44" dur="1" fill="hold">
                                          <p:stCondLst>
                                            <p:cond delay="0"/>
                                          </p:stCondLst>
                                        </p:cTn>
                                        <p:tgtEl>
                                          <p:spTgt spid="94"/>
                                        </p:tgtEl>
                                        <p:attrNameLst>
                                          <p:attrName>style.visibility</p:attrName>
                                        </p:attrNameLst>
                                      </p:cBhvr>
                                      <p:to>
                                        <p:strVal val="visible"/>
                                      </p:to>
                                    </p:set>
                                  </p:childTnLst>
                                </p:cTn>
                              </p:par>
                              <p:par>
                                <p:cTn id="45" presetID="26" presetClass="emph" presetSubtype="0" repeatCount="indefinite" fill="hold" grpId="1" nodeType="withEffect">
                                  <p:stCondLst>
                                    <p:cond delay="0"/>
                                  </p:stCondLst>
                                  <p:endCondLst>
                                    <p:cond evt="onNext" delay="0">
                                      <p:tgtEl>
                                        <p:sldTgt/>
                                      </p:tgtEl>
                                    </p:cond>
                                  </p:endCondLst>
                                  <p:childTnLst>
                                    <p:animEffect transition="out" filter="fade">
                                      <p:cBhvr>
                                        <p:cTn id="46" dur="500" tmFilter="0, 0; .2, .5; .8, .5; 1, 0"/>
                                        <p:tgtEl>
                                          <p:spTgt spid="94"/>
                                        </p:tgtEl>
                                      </p:cBhvr>
                                    </p:animEffect>
                                    <p:animScale>
                                      <p:cBhvr>
                                        <p:cTn id="47" dur="250" autoRev="1" fill="hold"/>
                                        <p:tgtEl>
                                          <p:spTgt spid="94"/>
                                        </p:tgtEl>
                                      </p:cBhvr>
                                      <p:by x="105000" y="105000"/>
                                    </p:animScale>
                                  </p:childTnLst>
                                </p:cTn>
                              </p:par>
                              <p:par>
                                <p:cTn id="48" presetID="1" presetClass="entr" presetSubtype="0" fill="hold" grpId="0" nodeType="withEffect">
                                  <p:stCondLst>
                                    <p:cond delay="0"/>
                                  </p:stCondLst>
                                  <p:childTnLst>
                                    <p:set>
                                      <p:cBhvr>
                                        <p:cTn id="49" dur="1" fill="hold">
                                          <p:stCondLst>
                                            <p:cond delay="0"/>
                                          </p:stCondLst>
                                        </p:cTn>
                                        <p:tgtEl>
                                          <p:spTgt spid="95"/>
                                        </p:tgtEl>
                                        <p:attrNameLst>
                                          <p:attrName>style.visibility</p:attrName>
                                        </p:attrNameLst>
                                      </p:cBhvr>
                                      <p:to>
                                        <p:strVal val="visible"/>
                                      </p:to>
                                    </p:set>
                                  </p:childTnLst>
                                </p:cTn>
                              </p:par>
                              <p:par>
                                <p:cTn id="50" presetID="26" presetClass="emph" presetSubtype="0" repeatCount="indefinite" fill="hold" grpId="1" nodeType="withEffect">
                                  <p:stCondLst>
                                    <p:cond delay="0"/>
                                  </p:stCondLst>
                                  <p:endCondLst>
                                    <p:cond evt="onNext" delay="0">
                                      <p:tgtEl>
                                        <p:sldTgt/>
                                      </p:tgtEl>
                                    </p:cond>
                                  </p:endCondLst>
                                  <p:childTnLst>
                                    <p:animEffect transition="out" filter="fade">
                                      <p:cBhvr>
                                        <p:cTn id="51" dur="500" tmFilter="0, 0; .2, .5; .8, .5; 1, 0"/>
                                        <p:tgtEl>
                                          <p:spTgt spid="95"/>
                                        </p:tgtEl>
                                      </p:cBhvr>
                                    </p:animEffect>
                                    <p:animScale>
                                      <p:cBhvr>
                                        <p:cTn id="52" dur="250" autoRev="1" fill="hold"/>
                                        <p:tgtEl>
                                          <p:spTgt spid="95"/>
                                        </p:tgtEl>
                                      </p:cBhvr>
                                      <p:by x="105000" y="105000"/>
                                    </p:animScale>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xit" presetSubtype="0" fill="hold" grpId="2" nodeType="withEffect">
                                  <p:stCondLst>
                                    <p:cond delay="0"/>
                                  </p:stCondLst>
                                  <p:childTnLst>
                                    <p:set>
                                      <p:cBhvr>
                                        <p:cTn id="58" dur="1" fill="hold">
                                          <p:stCondLst>
                                            <p:cond delay="0"/>
                                          </p:stCondLst>
                                        </p:cTn>
                                        <p:tgtEl>
                                          <p:spTgt spid="94"/>
                                        </p:tgtEl>
                                        <p:attrNameLst>
                                          <p:attrName>style.visibility</p:attrName>
                                        </p:attrNameLst>
                                      </p:cBhvr>
                                      <p:to>
                                        <p:strVal val="hidden"/>
                                      </p:to>
                                    </p:set>
                                  </p:childTnLst>
                                </p:cTn>
                              </p:par>
                              <p:par>
                                <p:cTn id="59" presetID="1" presetClass="exit" presetSubtype="0" fill="hold" grpId="2" nodeType="withEffect">
                                  <p:stCondLst>
                                    <p:cond delay="0"/>
                                  </p:stCondLst>
                                  <p:childTnLst>
                                    <p:set>
                                      <p:cBhvr>
                                        <p:cTn id="60" dur="1" fill="hold">
                                          <p:stCondLst>
                                            <p:cond delay="0"/>
                                          </p:stCondLst>
                                        </p:cTn>
                                        <p:tgtEl>
                                          <p:spTgt spid="95"/>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96"/>
                                        </p:tgtEl>
                                        <p:attrNameLst>
                                          <p:attrName>style.visibility</p:attrName>
                                        </p:attrNameLst>
                                      </p:cBhvr>
                                      <p:to>
                                        <p:strVal val="visible"/>
                                      </p:to>
                                    </p:set>
                                  </p:childTnLst>
                                </p:cTn>
                              </p:par>
                              <p:par>
                                <p:cTn id="63" presetID="26" presetClass="emph" presetSubtype="0" repeatCount="indefinite" fill="hold" grpId="1" nodeType="withEffect">
                                  <p:stCondLst>
                                    <p:cond delay="0"/>
                                  </p:stCondLst>
                                  <p:endCondLst>
                                    <p:cond evt="onNext" delay="0">
                                      <p:tgtEl>
                                        <p:sldTgt/>
                                      </p:tgtEl>
                                    </p:cond>
                                  </p:endCondLst>
                                  <p:childTnLst>
                                    <p:animEffect transition="out" filter="fade">
                                      <p:cBhvr>
                                        <p:cTn id="64" dur="500" tmFilter="0, 0; .2, .5; .8, .5; 1, 0"/>
                                        <p:tgtEl>
                                          <p:spTgt spid="96"/>
                                        </p:tgtEl>
                                      </p:cBhvr>
                                    </p:animEffect>
                                    <p:animScale>
                                      <p:cBhvr>
                                        <p:cTn id="65" dur="250" autoRev="1" fill="hold"/>
                                        <p:tgtEl>
                                          <p:spTgt spid="96"/>
                                        </p:tgtEl>
                                      </p:cBhvr>
                                      <p:by x="105000" y="105000"/>
                                    </p:animScale>
                                  </p:childTnLst>
                                </p:cTn>
                              </p:par>
                              <p:par>
                                <p:cTn id="66" presetID="1" presetClass="entr" presetSubtype="0" fill="hold" grpId="0" nodeType="withEffect">
                                  <p:stCondLst>
                                    <p:cond delay="0"/>
                                  </p:stCondLst>
                                  <p:childTnLst>
                                    <p:set>
                                      <p:cBhvr>
                                        <p:cTn id="67" dur="1" fill="hold">
                                          <p:stCondLst>
                                            <p:cond delay="0"/>
                                          </p:stCondLst>
                                        </p:cTn>
                                        <p:tgtEl>
                                          <p:spTgt spid="97"/>
                                        </p:tgtEl>
                                        <p:attrNameLst>
                                          <p:attrName>style.visibility</p:attrName>
                                        </p:attrNameLst>
                                      </p:cBhvr>
                                      <p:to>
                                        <p:strVal val="visible"/>
                                      </p:to>
                                    </p:set>
                                  </p:childTnLst>
                                </p:cTn>
                              </p:par>
                              <p:par>
                                <p:cTn id="68" presetID="26" presetClass="emph" presetSubtype="0" repeatCount="indefinite" fill="hold" grpId="1" nodeType="withEffect">
                                  <p:stCondLst>
                                    <p:cond delay="0"/>
                                  </p:stCondLst>
                                  <p:endCondLst>
                                    <p:cond evt="onNext" delay="0">
                                      <p:tgtEl>
                                        <p:sldTgt/>
                                      </p:tgtEl>
                                    </p:cond>
                                  </p:endCondLst>
                                  <p:childTnLst>
                                    <p:animEffect transition="out" filter="fade">
                                      <p:cBhvr>
                                        <p:cTn id="69" dur="500" tmFilter="0, 0; .2, .5; .8, .5; 1, 0"/>
                                        <p:tgtEl>
                                          <p:spTgt spid="97"/>
                                        </p:tgtEl>
                                      </p:cBhvr>
                                    </p:animEffect>
                                    <p:animScale>
                                      <p:cBhvr>
                                        <p:cTn id="70" dur="250" autoRev="1" fill="hold"/>
                                        <p:tgtEl>
                                          <p:spTgt spid="97"/>
                                        </p:tgtEl>
                                      </p:cBhvr>
                                      <p:by x="105000" y="105000"/>
                                    </p:animScale>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2" nodeType="clickEffect">
                                  <p:stCondLst>
                                    <p:cond delay="0"/>
                                  </p:stCondLst>
                                  <p:childTnLst>
                                    <p:set>
                                      <p:cBhvr>
                                        <p:cTn id="74" dur="1" fill="hold">
                                          <p:stCondLst>
                                            <p:cond delay="0"/>
                                          </p:stCondLst>
                                        </p:cTn>
                                        <p:tgtEl>
                                          <p:spTgt spid="96"/>
                                        </p:tgtEl>
                                        <p:attrNameLst>
                                          <p:attrName>style.visibility</p:attrName>
                                        </p:attrNameLst>
                                      </p:cBhvr>
                                      <p:to>
                                        <p:strVal val="hidden"/>
                                      </p:to>
                                    </p:set>
                                  </p:childTnLst>
                                </p:cTn>
                              </p:par>
                              <p:par>
                                <p:cTn id="75" presetID="1" presetClass="exit" presetSubtype="0" fill="hold" grpId="2" nodeType="withEffect">
                                  <p:stCondLst>
                                    <p:cond delay="0"/>
                                  </p:stCondLst>
                                  <p:childTnLst>
                                    <p:set>
                                      <p:cBhvr>
                                        <p:cTn id="76" dur="1" fill="hold">
                                          <p:stCondLst>
                                            <p:cond delay="0"/>
                                          </p:stCondLst>
                                        </p:cTn>
                                        <p:tgtEl>
                                          <p:spTgt spid="97"/>
                                        </p:tgtEl>
                                        <p:attrNameLst>
                                          <p:attrName>style.visibility</p:attrName>
                                        </p:attrNameLst>
                                      </p:cBhvr>
                                      <p:to>
                                        <p:strVal val="hidden"/>
                                      </p:to>
                                    </p:set>
                                  </p:childTnLst>
                                </p:cTn>
                              </p:par>
                              <p:par>
                                <p:cTn id="77" presetID="1" presetClass="entr" presetSubtype="0" fill="hold" grpId="0" nodeType="withEffect">
                                  <p:stCondLst>
                                    <p:cond delay="0"/>
                                  </p:stCondLst>
                                  <p:childTnLst>
                                    <p:set>
                                      <p:cBhvr>
                                        <p:cTn id="78" dur="1" fill="hold">
                                          <p:stCondLst>
                                            <p:cond delay="0"/>
                                          </p:stCondLst>
                                        </p:cTn>
                                        <p:tgtEl>
                                          <p:spTgt spid="7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9"/>
                                        </p:tgtEl>
                                        <p:attrNameLst>
                                          <p:attrName>style.visibility</p:attrName>
                                        </p:attrNameLst>
                                      </p:cBhvr>
                                      <p:to>
                                        <p:strVal val="visible"/>
                                      </p:to>
                                    </p:set>
                                  </p:childTnLst>
                                </p:cTn>
                              </p:par>
                              <p:par>
                                <p:cTn id="81" presetID="26" presetClass="emph" presetSubtype="0" repeatCount="indefinite" fill="hold" grpId="1" nodeType="withEffect">
                                  <p:stCondLst>
                                    <p:cond delay="0"/>
                                  </p:stCondLst>
                                  <p:endCondLst>
                                    <p:cond evt="onNext" delay="0">
                                      <p:tgtEl>
                                        <p:sldTgt/>
                                      </p:tgtEl>
                                    </p:cond>
                                  </p:endCondLst>
                                  <p:childTnLst>
                                    <p:animEffect transition="out" filter="fade">
                                      <p:cBhvr>
                                        <p:cTn id="82" dur="500" tmFilter="0, 0; .2, .5; .8, .5; 1, 0"/>
                                        <p:tgtEl>
                                          <p:spTgt spid="99"/>
                                        </p:tgtEl>
                                      </p:cBhvr>
                                    </p:animEffect>
                                    <p:animScale>
                                      <p:cBhvr>
                                        <p:cTn id="83" dur="250" autoRev="1" fill="hold"/>
                                        <p:tgtEl>
                                          <p:spTgt spid="9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90" grpId="0" animBg="1"/>
      <p:bldP spid="90" grpId="1" animBg="1"/>
      <p:bldP spid="90" grpId="2" animBg="1"/>
      <p:bldP spid="91" grpId="0" animBg="1"/>
      <p:bldP spid="91" grpId="1" animBg="1"/>
      <p:bldP spid="91" grpId="2" animBg="1"/>
      <p:bldP spid="92" grpId="0" animBg="1"/>
      <p:bldP spid="92" grpId="1" animBg="1"/>
      <p:bldP spid="92" grpId="2" animBg="1"/>
      <p:bldP spid="93" grpId="0" animBg="1"/>
      <p:bldP spid="93" grpId="1" animBg="1"/>
      <p:bldP spid="93" grpId="2" animBg="1"/>
      <p:bldP spid="94" grpId="0" animBg="1"/>
      <p:bldP spid="94" grpId="1" animBg="1"/>
      <p:bldP spid="94" grpId="2" animBg="1"/>
      <p:bldP spid="95" grpId="0" animBg="1"/>
      <p:bldP spid="95" grpId="1" animBg="1"/>
      <p:bldP spid="95" grpId="2" animBg="1"/>
      <p:bldP spid="96" grpId="0" animBg="1"/>
      <p:bldP spid="96" grpId="1" animBg="1"/>
      <p:bldP spid="96" grpId="2" animBg="1"/>
      <p:bldP spid="97" grpId="0" animBg="1"/>
      <p:bldP spid="97" grpId="1" animBg="1"/>
      <p:bldP spid="97" grpId="2" animBg="1"/>
      <p:bldP spid="99" grpId="0" animBg="1"/>
      <p:bldP spid="99" grpId="1"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pPr lvl="0"/>
            <a:r>
              <a:rPr lang="en-US" dirty="0">
                <a:gradFill flip="none" rotWithShape="1">
                  <a:gsLst>
                    <a:gs pos="10000">
                      <a:srgbClr val="3E2622"/>
                    </a:gs>
                    <a:gs pos="100000">
                      <a:srgbClr val="795547"/>
                    </a:gs>
                  </a:gsLst>
                  <a:lin ang="0" scaled="1"/>
                  <a:tileRect/>
                </a:gradFill>
              </a:rPr>
              <a:t>Round Robin (RR)</a:t>
            </a:r>
            <a:endParaRPr lang="en-US" dirty="0"/>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12.4</a:t>
            </a:r>
          </a:p>
        </p:txBody>
      </p:sp>
    </p:spTree>
    <p:extLst>
      <p:ext uri="{BB962C8B-B14F-4D97-AF65-F5344CB8AC3E}">
        <p14:creationId xmlns:p14="http://schemas.microsoft.com/office/powerpoint/2010/main" val="50857447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 (RR)</a:t>
            </a:r>
            <a:endParaRPr lang="en-IN" dirty="0"/>
          </a:p>
        </p:txBody>
      </p:sp>
      <p:sp>
        <p:nvSpPr>
          <p:cNvPr id="3" name="Content Placeholder 2"/>
          <p:cNvSpPr>
            <a:spLocks noGrp="1"/>
          </p:cNvSpPr>
          <p:nvPr>
            <p:ph idx="1"/>
          </p:nvPr>
        </p:nvSpPr>
        <p:spPr/>
        <p:txBody>
          <a:bodyPr/>
          <a:lstStyle/>
          <a:p>
            <a:r>
              <a:rPr lang="en-US" b="1" dirty="0"/>
              <a:t>Selection Criteria</a:t>
            </a:r>
            <a:endParaRPr lang="en-IN" b="1" dirty="0"/>
          </a:p>
          <a:p>
            <a:pPr lvl="1"/>
            <a:r>
              <a:rPr lang="en-US" dirty="0"/>
              <a:t>The process that requests </a:t>
            </a:r>
            <a:r>
              <a:rPr lang="en-US" b="1" dirty="0">
                <a:solidFill>
                  <a:schemeClr val="accent6"/>
                </a:solidFill>
              </a:rPr>
              <a:t>First is served first</a:t>
            </a:r>
            <a:r>
              <a:rPr lang="en-US" b="1" dirty="0">
                <a:solidFill>
                  <a:srgbClr val="C00000"/>
                </a:solidFill>
              </a:rPr>
              <a:t>. </a:t>
            </a:r>
            <a:r>
              <a:rPr lang="en-US" dirty="0"/>
              <a:t>It means that processes are served in the exact order as they come.</a:t>
            </a:r>
            <a:endParaRPr lang="en-IN" dirty="0"/>
          </a:p>
          <a:p>
            <a:pPr lvl="1"/>
            <a:r>
              <a:rPr lang="en-US" dirty="0"/>
              <a:t>The selection criteria are </a:t>
            </a:r>
            <a:r>
              <a:rPr lang="en-US" b="1" dirty="0">
                <a:solidFill>
                  <a:schemeClr val="accent6"/>
                </a:solidFill>
              </a:rPr>
              <a:t>same as in FCFS </a:t>
            </a:r>
            <a:r>
              <a:rPr lang="en-US" dirty="0"/>
              <a:t>scheduling.</a:t>
            </a:r>
          </a:p>
          <a:p>
            <a:r>
              <a:rPr lang="en-US" b="1" dirty="0"/>
              <a:t>Decision Mode</a:t>
            </a:r>
            <a:endParaRPr lang="en-IN" b="1" dirty="0"/>
          </a:p>
          <a:p>
            <a:pPr lvl="1"/>
            <a:r>
              <a:rPr lang="en-US" b="1" dirty="0">
                <a:solidFill>
                  <a:schemeClr val="accent6"/>
                </a:solidFill>
              </a:rPr>
              <a:t>Preemptive</a:t>
            </a:r>
            <a:r>
              <a:rPr lang="en-US" dirty="0"/>
              <a:t>: each process is allowed to run for specified time duration, called its </a:t>
            </a:r>
            <a:r>
              <a:rPr lang="en-US" b="1" dirty="0">
                <a:solidFill>
                  <a:schemeClr val="accent6"/>
                </a:solidFill>
              </a:rPr>
              <a:t>Quantum</a:t>
            </a:r>
            <a:r>
              <a:rPr lang="en-US" dirty="0"/>
              <a:t>. </a:t>
            </a:r>
          </a:p>
          <a:p>
            <a:pPr lvl="1"/>
            <a:r>
              <a:rPr lang="en-US" dirty="0"/>
              <a:t>Process is allowed to run only for this time interval.</a:t>
            </a:r>
            <a:endParaRPr lang="en-IN" dirty="0"/>
          </a:p>
          <a:p>
            <a:pPr lvl="1"/>
            <a:r>
              <a:rPr lang="en-US" dirty="0"/>
              <a:t>There are </a:t>
            </a:r>
            <a:r>
              <a:rPr lang="en-US" b="1" dirty="0">
                <a:solidFill>
                  <a:schemeClr val="accent6"/>
                </a:solidFill>
              </a:rPr>
              <a:t>two possible </a:t>
            </a:r>
            <a:r>
              <a:rPr lang="en-US" dirty="0"/>
              <a:t>way of execution current process</a:t>
            </a:r>
            <a:endParaRPr lang="en-IN" dirty="0"/>
          </a:p>
          <a:p>
            <a:pPr marL="1257300" lvl="2" indent="-342900">
              <a:buFont typeface="+mj-lt"/>
              <a:buAutoNum type="arabicPeriod"/>
            </a:pPr>
            <a:r>
              <a:rPr lang="en-US" dirty="0"/>
              <a:t>A process needs </a:t>
            </a:r>
            <a:r>
              <a:rPr lang="en-US" b="1" dirty="0">
                <a:solidFill>
                  <a:schemeClr val="accent6"/>
                </a:solidFill>
              </a:rPr>
              <a:t>CPU burst less than time quantum </a:t>
            </a:r>
            <a:r>
              <a:rPr lang="en-US" dirty="0"/>
              <a:t>– in this case, process will voluntarily release CPU and it will be moved to the end of the queue.</a:t>
            </a:r>
            <a:endParaRPr lang="en-IN" dirty="0"/>
          </a:p>
          <a:p>
            <a:pPr marL="1257300" lvl="2" indent="-342900">
              <a:buFont typeface="+mj-lt"/>
              <a:buAutoNum type="arabicPeriod"/>
            </a:pPr>
            <a:r>
              <a:rPr lang="en-US" dirty="0"/>
              <a:t>A process need </a:t>
            </a:r>
            <a:r>
              <a:rPr lang="en-US" b="1" dirty="0">
                <a:solidFill>
                  <a:schemeClr val="accent6"/>
                </a:solidFill>
              </a:rPr>
              <a:t>CPU burst longer than time quantum </a:t>
            </a:r>
            <a:r>
              <a:rPr lang="en-US" dirty="0"/>
              <a:t>– in this case, process will be running at the end of time quantum. After that it will be preempted and moved to end of queue. CPU will be allocated to another process.</a:t>
            </a:r>
          </a:p>
          <a:p>
            <a:r>
              <a:rPr lang="en-US" b="1" dirty="0"/>
              <a:t>Implementation</a:t>
            </a:r>
            <a:endParaRPr lang="en-IN" b="1" dirty="0"/>
          </a:p>
          <a:p>
            <a:pPr lvl="1"/>
            <a:r>
              <a:rPr lang="en-US" dirty="0"/>
              <a:t>This strategy can be implemented by using </a:t>
            </a:r>
            <a:r>
              <a:rPr lang="en-US" b="1" dirty="0">
                <a:solidFill>
                  <a:schemeClr val="accent6"/>
                </a:solidFill>
              </a:rPr>
              <a:t>circular FIFO queue</a:t>
            </a:r>
            <a:r>
              <a:rPr lang="en-US" dirty="0"/>
              <a:t>. When new process comes, or process release CPU, or Process is preempted, it is moved to end of queue.</a:t>
            </a:r>
            <a:endParaRPr lang="en-IN" dirty="0"/>
          </a:p>
          <a:p>
            <a:pPr lvl="1"/>
            <a:r>
              <a:rPr lang="en-US" dirty="0"/>
              <a:t>When CPU becomes free, a process from the first position in queue is selected to run.</a:t>
            </a:r>
            <a:endParaRPr lang="en-IN" dirty="0"/>
          </a:p>
          <a:p>
            <a:pPr marL="914400" lvl="2" indent="0">
              <a:buNone/>
            </a:pPr>
            <a:endParaRPr lang="en-IN" dirty="0"/>
          </a:p>
          <a:p>
            <a:pPr lvl="1"/>
            <a:endParaRPr lang="en-IN" dirty="0"/>
          </a:p>
          <a:p>
            <a:endParaRPr lang="en-IN" dirty="0"/>
          </a:p>
        </p:txBody>
      </p:sp>
    </p:spTree>
    <p:extLst>
      <p:ext uri="{BB962C8B-B14F-4D97-AF65-F5344CB8AC3E}">
        <p14:creationId xmlns:p14="http://schemas.microsoft.com/office/powerpoint/2010/main" val="54134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 (RR)</a:t>
            </a:r>
            <a:endParaRPr lang="en-IN" dirty="0"/>
          </a:p>
        </p:txBody>
      </p:sp>
      <p:sp>
        <p:nvSpPr>
          <p:cNvPr id="3" name="Content Placeholder 2"/>
          <p:cNvSpPr>
            <a:spLocks noGrp="1"/>
          </p:cNvSpPr>
          <p:nvPr>
            <p:ph idx="1"/>
          </p:nvPr>
        </p:nvSpPr>
        <p:spPr/>
        <p:txBody>
          <a:bodyPr/>
          <a:lstStyle/>
          <a:p>
            <a:r>
              <a:rPr lang="en-US" b="1" dirty="0"/>
              <a:t>Round Robin (RR) Example</a:t>
            </a:r>
            <a:endParaRPr lang="en-IN" b="1" dirty="0"/>
          </a:p>
          <a:p>
            <a:pPr lvl="1"/>
            <a:r>
              <a:rPr lang="en-US" dirty="0"/>
              <a:t>Consider the following set of four processes. Their arrival time and time required to complete the execution are given in following table. (Time value in milliseconds).</a:t>
            </a:r>
            <a:r>
              <a:rPr lang="en-IN" dirty="0"/>
              <a:t> Draw the Gantt chart and find Finish Time, Turn Around Time , Waiting Time , Average Turn Around Time, Average Waiting Time using RR algorithm.</a:t>
            </a:r>
            <a:endParaRPr lang="en-US" dirty="0"/>
          </a:p>
          <a:p>
            <a:pPr lvl="1"/>
            <a:endParaRPr lang="en-IN" b="1" dirty="0"/>
          </a:p>
          <a:p>
            <a:pPr lvl="1"/>
            <a:endParaRPr lang="en-IN" b="1" dirty="0"/>
          </a:p>
          <a:p>
            <a:endParaRPr lang="en-IN" dirty="0"/>
          </a:p>
        </p:txBody>
      </p:sp>
      <mc:AlternateContent xmlns:mc="http://schemas.openxmlformats.org/markup-compatibility/2006" xmlns:a14="http://schemas.microsoft.com/office/drawing/2010/main">
        <mc:Choice Requires="a14">
          <p:graphicFrame>
            <p:nvGraphicFramePr>
              <p:cNvPr id="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316597" y="2538790"/>
              <a:ext cx="5441876" cy="2874036"/>
            </p:xfrm>
            <a:graphic>
              <a:graphicData uri="http://schemas.openxmlformats.org/drawingml/2006/table">
                <a:tbl>
                  <a:tblPr firstRow="1" bandRow="1">
                    <a:tableStyleId>{8EC20E35-A176-4012-BC5E-935CFFF8708E}</a:tableStyleId>
                  </a:tblPr>
                  <a:tblGrid>
                    <a:gridCol w="984542">
                      <a:extLst>
                        <a:ext uri="{9D8B030D-6E8A-4147-A177-3AD203B41FA5}">
                          <a16:colId xmlns:a16="http://schemas.microsoft.com/office/drawing/2014/main" val="20000"/>
                        </a:ext>
                      </a:extLst>
                    </a:gridCol>
                    <a:gridCol w="1249784">
                      <a:extLst>
                        <a:ext uri="{9D8B030D-6E8A-4147-A177-3AD203B41FA5}">
                          <a16:colId xmlns:a16="http://schemas.microsoft.com/office/drawing/2014/main" val="20001"/>
                        </a:ext>
                      </a:extLst>
                    </a:gridCol>
                    <a:gridCol w="3207550">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6"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3743341275"/>
                  </p:ext>
                </p:extLst>
              </p:nvPr>
            </p:nvGraphicFramePr>
            <p:xfrm>
              <a:off x="2316597" y="2538790"/>
              <a:ext cx="5441876" cy="2874036"/>
            </p:xfrm>
            <a:graphic>
              <a:graphicData uri="http://schemas.openxmlformats.org/drawingml/2006/table">
                <a:tbl>
                  <a:tblPr firstRow="1" bandRow="1">
                    <a:tableStyleId>{8EC20E35-A176-4012-BC5E-935CFFF8708E}</a:tableStyleId>
                  </a:tblPr>
                  <a:tblGrid>
                    <a:gridCol w="984542">
                      <a:extLst>
                        <a:ext uri="{9D8B030D-6E8A-4147-A177-3AD203B41FA5}">
                          <a16:colId xmlns="" xmlns:a16="http://schemas.microsoft.com/office/drawing/2014/main" xmlns:a14="http://schemas.microsoft.com/office/drawing/2010/main" val="20000"/>
                        </a:ext>
                      </a:extLst>
                    </a:gridCol>
                    <a:gridCol w="1249784">
                      <a:extLst>
                        <a:ext uri="{9D8B030D-6E8A-4147-A177-3AD203B41FA5}">
                          <a16:colId xmlns="" xmlns:a16="http://schemas.microsoft.com/office/drawing/2014/main" xmlns:a14="http://schemas.microsoft.com/office/drawing/2010/main" val="20001"/>
                        </a:ext>
                      </a:extLst>
                    </a:gridCol>
                    <a:gridCol w="3207550">
                      <a:extLst>
                        <a:ext uri="{9D8B030D-6E8A-4147-A177-3AD203B41FA5}">
                          <a16:colId xmlns="" xmlns:a16="http://schemas.microsoft.com/office/drawing/2014/main"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79512" t="-3810" r="-257073"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17" t="-118478" r="-451852"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17" t="-218478" r="-451852"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17" t="-321978" r="-451852" b="-107692"/>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17" t="-417391" r="-451852" b="-6522"/>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p:spTree>
    <p:extLst>
      <p:ext uri="{BB962C8B-B14F-4D97-AF65-F5344CB8AC3E}">
        <p14:creationId xmlns:p14="http://schemas.microsoft.com/office/powerpoint/2010/main" val="256504704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496070" y="0"/>
                <a:ext cx="5664934"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Round Robin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Take Time quantum = 4 </a:t>
                </a:r>
                <a:r>
                  <a:rPr lang="en-US" sz="2000" dirty="0" err="1"/>
                  <a:t>ms</a:t>
                </a:r>
                <a:r>
                  <a:rPr lang="en-US" sz="2000" dirty="0"/>
                  <a:t> &amp; Context switch overhead = 1 </a:t>
                </a:r>
                <a:r>
                  <a:rPr lang="en-US" sz="2000" dirty="0" err="1"/>
                  <a:t>ms</a:t>
                </a:r>
                <a:endParaRPr lang="en-IN" sz="2000" dirty="0"/>
              </a:p>
              <a:p>
                <a:pPr marL="342900" indent="-342900" algn="just">
                  <a:buFont typeface="Wingdings" panose="05000000000000000000" pitchFamily="2" charset="2"/>
                  <a:buChar char="ü"/>
                </a:pPr>
                <a:r>
                  <a:rPr lang="en-US" sz="2000" dirty="0"/>
                  <a:t>At 4 </a:t>
                </a:r>
                <a:r>
                  <a:rPr lang="en-US" sz="2000" dirty="0" err="1"/>
                  <a:t>ms</a:t>
                </a:r>
                <a:r>
                  <a:rPr lang="en-US" sz="2000" dirty="0"/>
                  <a:t>, process </a:t>
                </a:r>
                <a14:m>
                  <m:oMath xmlns:m="http://schemas.openxmlformats.org/officeDocument/2006/math">
                    <m:sSub>
                      <m:sSubPr>
                        <m:ctrlPr>
                          <a:rPr lang="en-IN" sz="2000" b="1" i="1" smtClean="0">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completes its time quantum. </a:t>
                </a:r>
                <a:r>
                  <a:rPr lang="en-US" sz="2000"/>
                  <a:t>So, </a:t>
                </a:r>
                <a:r>
                  <a:rPr lang="en-US" sz="2000" dirty="0"/>
                  <a:t>it is preempted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𝟏</m:t>
                        </m:r>
                      </m:sub>
                    </m:sSub>
                  </m:oMath>
                </a14:m>
                <a:r>
                  <a:rPr lang="en-US" sz="2000" dirty="0"/>
                  <a:t> is allowed to run.</a:t>
                </a:r>
              </a:p>
              <a:p>
                <a:pPr marL="342900" indent="-342900" algn="just">
                  <a:buFont typeface="Wingdings" panose="05000000000000000000" pitchFamily="2" charset="2"/>
                  <a:buChar char="ü"/>
                </a:pPr>
                <a:r>
                  <a:rPr lang="en-US" sz="2000" dirty="0"/>
                  <a:t>1 </a:t>
                </a:r>
                <a:r>
                  <a:rPr lang="en-US" sz="2000" dirty="0" err="1"/>
                  <a:t>ms</a:t>
                </a:r>
                <a:r>
                  <a:rPr lang="en-US" sz="2000" dirty="0"/>
                  <a:t> is wasted on each context switch as overhead.</a:t>
                </a:r>
                <a:endParaRPr lang="en-IN" sz="2000" dirty="0"/>
              </a:p>
              <a:p>
                <a:pPr algn="just"/>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496070" y="0"/>
                <a:ext cx="5664934" cy="6588000"/>
              </a:xfrm>
              <a:prstGeom prst="rect">
                <a:avLst/>
              </a:prstGeom>
              <a:blipFill>
                <a:blip r:embed="rId2"/>
                <a:stretch>
                  <a:fillRect l="-646"/>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val="20000"/>
                        </a:ext>
                      </a:extLst>
                    </a:gridCol>
                    <a:gridCol w="1278598">
                      <a:extLst>
                        <a:ext uri="{9D8B030D-6E8A-4147-A177-3AD203B41FA5}">
                          <a16:colId xmlns:a16="http://schemas.microsoft.com/office/drawing/2014/main" val="20001"/>
                        </a:ext>
                      </a:extLst>
                    </a:gridCol>
                    <a:gridCol w="3207550">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xmlns="" xmlns:a14="http://schemas.microsoft.com/office/drawing/2010/main" val="20000"/>
                        </a:ext>
                      </a:extLst>
                    </a:gridCol>
                    <a:gridCol w="1278598">
                      <a:extLst>
                        <a:ext uri="{9D8B030D-6E8A-4147-A177-3AD203B41FA5}">
                          <a16:colId xmlns:a16="http://schemas.microsoft.com/office/drawing/2014/main" xmlns="" xmlns:a14="http://schemas.microsoft.com/office/drawing/2010/main" val="20001"/>
                        </a:ext>
                      </a:extLst>
                    </a:gridCol>
                    <a:gridCol w="3207550">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4762" t="-3810" r="-25142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118478" r="-470064"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218478" r="-470064"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318478" r="-470064"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418478" r="-470064"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5574" y="380202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5574" y="380202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37" name="TextBox 36"/>
          <p:cNvSpPr txBox="1"/>
          <p:nvPr/>
        </p:nvSpPr>
        <p:spPr>
          <a:xfrm>
            <a:off x="636260" y="4464340"/>
            <a:ext cx="318448" cy="381000"/>
          </a:xfrm>
          <a:prstGeom prst="rect">
            <a:avLst/>
          </a:prstGeom>
          <a:noFill/>
        </p:spPr>
        <p:txBody>
          <a:bodyPr wrap="square" rtlCol="0">
            <a:spAutoFit/>
          </a:bodyPr>
          <a:lstStyle/>
          <a:p>
            <a:r>
              <a:rPr lang="en-US" dirty="0"/>
              <a:t>4</a:t>
            </a:r>
          </a:p>
        </p:txBody>
      </p:sp>
      <p:sp>
        <p:nvSpPr>
          <p:cNvPr id="38" name="Rectangle 37"/>
          <p:cNvSpPr/>
          <p:nvPr/>
        </p:nvSpPr>
        <p:spPr>
          <a:xfrm>
            <a:off x="807059" y="3802019"/>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9" name="TextBox 38"/>
          <p:cNvSpPr txBox="1"/>
          <p:nvPr/>
        </p:nvSpPr>
        <p:spPr>
          <a:xfrm>
            <a:off x="910158" y="4463878"/>
            <a:ext cx="318448" cy="381000"/>
          </a:xfrm>
          <a:prstGeom prst="rect">
            <a:avLst/>
          </a:prstGeom>
          <a:noFill/>
        </p:spPr>
        <p:txBody>
          <a:bodyPr wrap="square" rtlCol="0">
            <a:spAutoFit/>
          </a:bodyPr>
          <a:lstStyle/>
          <a:p>
            <a:r>
              <a:rPr lang="en-US" dirty="0"/>
              <a:t>5</a:t>
            </a:r>
          </a:p>
        </p:txBody>
      </p:sp>
      <mc:AlternateContent xmlns:mc="http://schemas.openxmlformats.org/markup-compatibility/2006" xmlns:a14="http://schemas.microsoft.com/office/drawing/2010/main">
        <mc:Choice Requires="a14">
          <p:graphicFrame>
            <p:nvGraphicFramePr>
              <p:cNvPr id="5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5574" y="4893447"/>
              <a:ext cx="2518135" cy="123746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val="20000"/>
                        </a:ext>
                      </a:extLst>
                    </a:gridCol>
                    <a:gridCol w="1569780">
                      <a:extLst>
                        <a:ext uri="{9D8B030D-6E8A-4147-A177-3AD203B41FA5}">
                          <a16:colId xmlns:a16="http://schemas.microsoft.com/office/drawing/2014/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mc:Choice>
        <mc:Fallback xmlns="">
          <p:graphicFrame>
            <p:nvGraphicFramePr>
              <p:cNvPr id="59"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95574" y="4893447"/>
              <a:ext cx="2518135" cy="123746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xmlns="" xmlns:a14="http://schemas.microsoft.com/office/drawing/2010/main" val="20000"/>
                        </a:ext>
                      </a:extLst>
                    </a:gridCol>
                    <a:gridCol w="1569780">
                      <a:extLst>
                        <a:ext uri="{9D8B030D-6E8A-4147-A177-3AD203B41FA5}">
                          <a16:colId xmlns:a16="http://schemas.microsoft.com/office/drawing/2014/main" xmlns="" xmlns:a14="http://schemas.microsoft.com/office/drawing/2010/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1"/>
                          <a:stretch>
                            <a:fillRect t="-110606" r="-166026" b="-127273"/>
                          </a:stretch>
                        </a:blip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1"/>
                          <a:stretch>
                            <a:fillRect t="-213846" r="-166026" b="-29231"/>
                          </a:stretch>
                        </a:blip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bl>
              </a:graphicData>
            </a:graphic>
          </p:graphicFrame>
        </mc:Fallback>
      </mc:AlternateContent>
    </p:spTree>
    <p:extLst>
      <p:ext uri="{BB962C8B-B14F-4D97-AF65-F5344CB8AC3E}">
        <p14:creationId xmlns:p14="http://schemas.microsoft.com/office/powerpoint/2010/main" val="3026682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9"/>
                                        </p:tgtEl>
                                        <p:attrNameLst>
                                          <p:attrName>style.visibility</p:attrName>
                                        </p:attrNameLst>
                                      </p:cBhvr>
                                      <p:to>
                                        <p:strVal val="visible"/>
                                      </p:to>
                                    </p:set>
                                    <p:anim calcmode="lin" valueType="num">
                                      <p:cBhvr additive="base">
                                        <p:cTn id="31" dur="500" fill="hold"/>
                                        <p:tgtEl>
                                          <p:spTgt spid="59"/>
                                        </p:tgtEl>
                                        <p:attrNameLst>
                                          <p:attrName>ppt_x</p:attrName>
                                        </p:attrNameLst>
                                      </p:cBhvr>
                                      <p:tavLst>
                                        <p:tav tm="0">
                                          <p:val>
                                            <p:strVal val="#ppt_x"/>
                                          </p:val>
                                        </p:tav>
                                        <p:tav tm="100000">
                                          <p:val>
                                            <p:strVal val="#ppt_x"/>
                                          </p:val>
                                        </p:tav>
                                      </p:tavLst>
                                    </p:anim>
                                    <p:anim calcmode="lin" valueType="num">
                                      <p:cBhvr additive="base">
                                        <p:cTn id="32" dur="500" fill="hold"/>
                                        <p:tgtEl>
                                          <p:spTgt spid="59"/>
                                        </p:tgtEl>
                                        <p:attrNameLst>
                                          <p:attrName>ppt_y</p:attrName>
                                        </p:attrNameLst>
                                      </p:cBhvr>
                                      <p:tavLst>
                                        <p:tav tm="0">
                                          <p:val>
                                            <p:strVal val="1+#ppt_h/2"/>
                                          </p:val>
                                        </p:tav>
                                        <p:tav tm="100000">
                                          <p:val>
                                            <p:strVal val="#ppt_y"/>
                                          </p:val>
                                        </p:tav>
                                      </p:tavLst>
                                    </p:anim>
                                  </p:childTnLst>
                                </p:cTn>
                              </p:par>
                              <p:par>
                                <p:cTn id="33" presetID="1" presetClass="entr" presetSubtype="0" fill="hold" nodeType="with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5" grpId="0"/>
      <p:bldP spid="18" grpId="0" animBg="1"/>
      <p:bldP spid="37" grpId="0"/>
      <p:bldP spid="38" grpId="0" animBg="1"/>
      <p:bldP spid="39"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496070" y="0"/>
                <a:ext cx="5664934"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Round Robin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Take Time quantum = 4 </a:t>
                </a:r>
                <a:r>
                  <a:rPr lang="en-US" sz="2000" dirty="0" err="1"/>
                  <a:t>ms</a:t>
                </a:r>
                <a:r>
                  <a:rPr lang="en-US" sz="2000" dirty="0"/>
                  <a:t> &amp; Context switch overhead = 1 </a:t>
                </a:r>
                <a:r>
                  <a:rPr lang="en-US" sz="2000" dirty="0" err="1"/>
                  <a:t>ms</a:t>
                </a:r>
                <a:endParaRPr lang="en-IN" sz="2000" dirty="0"/>
              </a:p>
              <a:p>
                <a:pPr marL="342900" indent="-342900" algn="just">
                  <a:buFont typeface="Wingdings" panose="05000000000000000000" pitchFamily="2" charset="2"/>
                  <a:buChar char="ü"/>
                </a:pPr>
                <a:r>
                  <a:rPr lang="en-US" sz="2000" dirty="0"/>
                  <a:t>At 4 </a:t>
                </a:r>
                <a:r>
                  <a:rPr lang="en-US" sz="2000" dirty="0" err="1"/>
                  <a:t>ms</a:t>
                </a:r>
                <a:r>
                  <a:rPr lang="en-US" sz="2000" dirty="0"/>
                  <a:t>, process </a:t>
                </a:r>
                <a14:m>
                  <m:oMath xmlns:m="http://schemas.openxmlformats.org/officeDocument/2006/math">
                    <m:sSub>
                      <m:sSubPr>
                        <m:ctrlPr>
                          <a:rPr lang="en-IN" sz="2000" b="1" i="1" smtClean="0">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completes its time quantum. So it is preempted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𝟏</m:t>
                        </m:r>
                      </m:sub>
                    </m:sSub>
                  </m:oMath>
                </a14:m>
                <a:r>
                  <a:rPr lang="en-US" sz="2000" dirty="0"/>
                  <a:t> is allowed to run.</a:t>
                </a:r>
              </a:p>
              <a:p>
                <a:pPr marL="342900" indent="-342900" algn="just">
                  <a:buFont typeface="Wingdings" panose="05000000000000000000" pitchFamily="2" charset="2"/>
                  <a:buChar char="ü"/>
                </a:pPr>
                <a:r>
                  <a:rPr lang="en-US" sz="2000" dirty="0"/>
                  <a:t>1 </a:t>
                </a:r>
                <a:r>
                  <a:rPr lang="en-US" sz="2000" dirty="0" err="1"/>
                  <a:t>ms</a:t>
                </a:r>
                <a:r>
                  <a:rPr lang="en-US" sz="2000" dirty="0"/>
                  <a:t> is wasted on each context switch as overhead.</a:t>
                </a:r>
                <a:endParaRPr lang="en-IN" sz="2000" dirty="0"/>
              </a:p>
              <a:p>
                <a:pPr algn="just"/>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496070" y="0"/>
                <a:ext cx="5664934" cy="6588000"/>
              </a:xfrm>
              <a:prstGeom prst="rect">
                <a:avLst/>
              </a:prstGeom>
              <a:blipFill>
                <a:blip r:embed="rId2"/>
                <a:stretch>
                  <a:fillRect l="-646"/>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val="20000"/>
                        </a:ext>
                      </a:extLst>
                    </a:gridCol>
                    <a:gridCol w="1278598">
                      <a:extLst>
                        <a:ext uri="{9D8B030D-6E8A-4147-A177-3AD203B41FA5}">
                          <a16:colId xmlns:a16="http://schemas.microsoft.com/office/drawing/2014/main" val="20001"/>
                        </a:ext>
                      </a:extLst>
                    </a:gridCol>
                    <a:gridCol w="3207550">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xmlns="" xmlns:a14="http://schemas.microsoft.com/office/drawing/2010/main" val="20000"/>
                        </a:ext>
                      </a:extLst>
                    </a:gridCol>
                    <a:gridCol w="1278598">
                      <a:extLst>
                        <a:ext uri="{9D8B030D-6E8A-4147-A177-3AD203B41FA5}">
                          <a16:colId xmlns:a16="http://schemas.microsoft.com/office/drawing/2014/main" xmlns="" xmlns:a14="http://schemas.microsoft.com/office/drawing/2010/main" val="20001"/>
                        </a:ext>
                      </a:extLst>
                    </a:gridCol>
                    <a:gridCol w="3207550">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4762" t="-3810" r="-25142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118478" r="-470064"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218478" r="-470064"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318478" r="-470064"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418478" r="-470064"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5574" y="380202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5574" y="380202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37" name="TextBox 36"/>
          <p:cNvSpPr txBox="1"/>
          <p:nvPr/>
        </p:nvSpPr>
        <p:spPr>
          <a:xfrm>
            <a:off x="636260" y="4464340"/>
            <a:ext cx="318448" cy="381000"/>
          </a:xfrm>
          <a:prstGeom prst="rect">
            <a:avLst/>
          </a:prstGeom>
          <a:noFill/>
        </p:spPr>
        <p:txBody>
          <a:bodyPr wrap="square" rtlCol="0">
            <a:spAutoFit/>
          </a:bodyPr>
          <a:lstStyle/>
          <a:p>
            <a:r>
              <a:rPr lang="en-US" dirty="0"/>
              <a:t>4</a:t>
            </a:r>
          </a:p>
        </p:txBody>
      </p:sp>
      <p:sp>
        <p:nvSpPr>
          <p:cNvPr id="38" name="Rectangle 37"/>
          <p:cNvSpPr/>
          <p:nvPr/>
        </p:nvSpPr>
        <p:spPr>
          <a:xfrm>
            <a:off x="807059" y="3802019"/>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9" name="TextBox 38"/>
          <p:cNvSpPr txBox="1"/>
          <p:nvPr/>
        </p:nvSpPr>
        <p:spPr>
          <a:xfrm>
            <a:off x="910158" y="4463878"/>
            <a:ext cx="318448" cy="381000"/>
          </a:xfrm>
          <a:prstGeom prst="rect">
            <a:avLst/>
          </a:prstGeom>
          <a:noFill/>
        </p:spPr>
        <p:txBody>
          <a:bodyPr wrap="square" rtlCol="0">
            <a:spAutoFit/>
          </a:bodyPr>
          <a:lstStyle/>
          <a:p>
            <a:r>
              <a:rPr lang="en-US" dirty="0"/>
              <a:t>5</a:t>
            </a:r>
          </a:p>
        </p:txBody>
      </p:sp>
      <mc:AlternateContent xmlns:mc="http://schemas.openxmlformats.org/markup-compatibility/2006" xmlns:a14="http://schemas.microsoft.com/office/drawing/2010/main">
        <mc:Choice Requires="a14">
          <p:sp>
            <p:nvSpPr>
              <p:cNvPr id="40" name="Rectangle 39"/>
              <p:cNvSpPr/>
              <p:nvPr/>
            </p:nvSpPr>
            <p:spPr>
              <a:xfrm>
                <a:off x="1080957" y="3799958"/>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1080957" y="3799958"/>
                <a:ext cx="69991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p:sp>
        <p:nvSpPr>
          <p:cNvPr id="41" name="TextBox 40"/>
          <p:cNvSpPr txBox="1"/>
          <p:nvPr/>
        </p:nvSpPr>
        <p:spPr>
          <a:xfrm>
            <a:off x="1616581" y="4421303"/>
            <a:ext cx="318448" cy="381000"/>
          </a:xfrm>
          <a:prstGeom prst="rect">
            <a:avLst/>
          </a:prstGeom>
          <a:noFill/>
        </p:spPr>
        <p:txBody>
          <a:bodyPr wrap="square" rtlCol="0">
            <a:spAutoFit/>
          </a:bodyPr>
          <a:lstStyle/>
          <a:p>
            <a:r>
              <a:rPr lang="en-US" dirty="0"/>
              <a:t>9</a:t>
            </a:r>
          </a:p>
        </p:txBody>
      </p:sp>
      <p:sp>
        <p:nvSpPr>
          <p:cNvPr id="43" name="Rectangle 42"/>
          <p:cNvSpPr/>
          <p:nvPr/>
        </p:nvSpPr>
        <p:spPr>
          <a:xfrm>
            <a:off x="1792442" y="3799957"/>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46" name="TextBox 45"/>
          <p:cNvSpPr txBox="1"/>
          <p:nvPr/>
        </p:nvSpPr>
        <p:spPr>
          <a:xfrm>
            <a:off x="1876794" y="4425221"/>
            <a:ext cx="503953"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graphicFrame>
            <p:nvGraphicFramePr>
              <p:cNvPr id="72"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93340" y="4777577"/>
              <a:ext cx="2518135" cy="178610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val="20000"/>
                        </a:ext>
                      </a:extLst>
                    </a:gridCol>
                    <a:gridCol w="1569780">
                      <a:extLst>
                        <a:ext uri="{9D8B030D-6E8A-4147-A177-3AD203B41FA5}">
                          <a16:colId xmlns:a16="http://schemas.microsoft.com/office/drawing/2014/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1</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2</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0</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3</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72"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2451599483"/>
                  </p:ext>
                </p:extLst>
              </p:nvPr>
            </p:nvGraphicFramePr>
            <p:xfrm>
              <a:off x="993340" y="4777577"/>
              <a:ext cx="2518135" cy="1786101"/>
            </p:xfrm>
            <a:graphic>
              <a:graphicData uri="http://schemas.openxmlformats.org/drawingml/2006/table">
                <a:tbl>
                  <a:tblPr firstRow="1" bandRow="1">
                    <a:tableStyleId>{8EC20E35-A176-4012-BC5E-935CFFF8708E}</a:tableStyleId>
                  </a:tblPr>
                  <a:tblGrid>
                    <a:gridCol w="948355">
                      <a:extLst>
                        <a:ext uri="{9D8B030D-6E8A-4147-A177-3AD203B41FA5}">
                          <a16:colId xmlns="" xmlns:a16="http://schemas.microsoft.com/office/drawing/2014/main" xmlns:a14="http://schemas.microsoft.com/office/drawing/2010/main" val="20000"/>
                        </a:ext>
                      </a:extLst>
                    </a:gridCol>
                    <a:gridCol w="1569780">
                      <a:extLst>
                        <a:ext uri="{9D8B030D-6E8A-4147-A177-3AD203B41FA5}">
                          <a16:colId xmlns="" xmlns:a16="http://schemas.microsoft.com/office/drawing/2014/main" xmlns:a14="http://schemas.microsoft.com/office/drawing/2010/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6"/>
                          <a:stretch>
                            <a:fillRect t="-132727" r="-166667" b="-325455"/>
                          </a:stretch>
                        </a:blipFill>
                      </a:tcPr>
                    </a:tc>
                    <a:tc>
                      <a:txBody>
                        <a:bodyPr/>
                        <a:lstStyle/>
                        <a:p>
                          <a:pPr algn="ctr"/>
                          <a:r>
                            <a:rPr lang="en-IN" sz="16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6"/>
                          <a:stretch>
                            <a:fillRect t="-228571" r="-166667" b="-219643"/>
                          </a:stretch>
                        </a:blip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6"/>
                          <a:stretch>
                            <a:fillRect t="-334545" r="-166667" b="-123636"/>
                          </a:stretch>
                        </a:blipFill>
                      </a:tcPr>
                    </a:tc>
                    <a:tc>
                      <a:txBody>
                        <a:bodyPr/>
                        <a:lstStyle/>
                        <a:p>
                          <a:pPr algn="ctr"/>
                          <a:r>
                            <a:rPr lang="en-IN" sz="16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6"/>
                          <a:stretch>
                            <a:fillRect t="-434545" r="-166667" b="-23636"/>
                          </a:stretch>
                        </a:blipFill>
                      </a:tcPr>
                    </a:tc>
                    <a:tc>
                      <a:txBody>
                        <a:bodyPr/>
                        <a:lstStyle/>
                        <a:p>
                          <a:pPr algn="ctr"/>
                          <a:r>
                            <a:rPr lang="en-IN" sz="16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p:sp>
        <p:nvSpPr>
          <p:cNvPr id="73" name="TextBox 72"/>
          <p:cNvSpPr txBox="1"/>
          <p:nvPr/>
        </p:nvSpPr>
        <p:spPr>
          <a:xfrm>
            <a:off x="988955" y="5211629"/>
            <a:ext cx="2522520" cy="337174"/>
          </a:xfrm>
          <a:prstGeom prst="rect">
            <a:avLst/>
          </a:prstGeom>
          <a:noFill/>
          <a:ln w="38100">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1965819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2"/>
                                        </p:tgtEl>
                                        <p:attrNameLst>
                                          <p:attrName>style.visibility</p:attrName>
                                        </p:attrNameLst>
                                      </p:cBhvr>
                                      <p:to>
                                        <p:strVal val="visible"/>
                                      </p:to>
                                    </p:set>
                                    <p:anim calcmode="lin" valueType="num">
                                      <p:cBhvr additive="base">
                                        <p:cTn id="7" dur="500" fill="hold"/>
                                        <p:tgtEl>
                                          <p:spTgt spid="72"/>
                                        </p:tgtEl>
                                        <p:attrNameLst>
                                          <p:attrName>ppt_x</p:attrName>
                                        </p:attrNameLst>
                                      </p:cBhvr>
                                      <p:tavLst>
                                        <p:tav tm="0">
                                          <p:val>
                                            <p:strVal val="#ppt_x"/>
                                          </p:val>
                                        </p:tav>
                                        <p:tav tm="100000">
                                          <p:val>
                                            <p:strVal val="#ppt_x"/>
                                          </p:val>
                                        </p:tav>
                                      </p:tavLst>
                                    </p:anim>
                                    <p:anim calcmode="lin" valueType="num">
                                      <p:cBhvr additive="base">
                                        <p:cTn id="8"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72"/>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73"/>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p:bldP spid="43" grpId="0" animBg="1"/>
      <p:bldP spid="46" grpId="0"/>
      <p:bldP spid="73" grpId="0" animBg="1"/>
      <p:bldP spid="73" grpId="1"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496070" y="0"/>
                <a:ext cx="5664934"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Round Robin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Take Time quantum = 4 </a:t>
                </a:r>
                <a:r>
                  <a:rPr lang="en-US" sz="2000" dirty="0" err="1"/>
                  <a:t>ms</a:t>
                </a:r>
                <a:r>
                  <a:rPr lang="en-US" sz="2000" dirty="0"/>
                  <a:t> &amp; Context switch overhead = 1 </a:t>
                </a:r>
                <a:r>
                  <a:rPr lang="en-US" sz="2000" dirty="0" err="1"/>
                  <a:t>ms</a:t>
                </a:r>
                <a:endParaRPr lang="en-IN" sz="2000" dirty="0"/>
              </a:p>
              <a:p>
                <a:pPr marL="342900" indent="-342900" algn="just">
                  <a:buFont typeface="Wingdings" panose="05000000000000000000" pitchFamily="2" charset="2"/>
                  <a:buChar char="ü"/>
                </a:pPr>
                <a:r>
                  <a:rPr lang="en-US" sz="2000" dirty="0"/>
                  <a:t>At 4 </a:t>
                </a:r>
                <a:r>
                  <a:rPr lang="en-US" sz="2000" dirty="0" err="1"/>
                  <a:t>ms</a:t>
                </a:r>
                <a:r>
                  <a:rPr lang="en-US" sz="2000" dirty="0"/>
                  <a:t>, process </a:t>
                </a:r>
                <a14:m>
                  <m:oMath xmlns:m="http://schemas.openxmlformats.org/officeDocument/2006/math">
                    <m:sSub>
                      <m:sSubPr>
                        <m:ctrlPr>
                          <a:rPr lang="en-IN" sz="2000" b="1" i="1" smtClean="0">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completes its time quantum. So it is preempted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𝟏</m:t>
                        </m:r>
                      </m:sub>
                    </m:sSub>
                  </m:oMath>
                </a14:m>
                <a:r>
                  <a:rPr lang="en-US" sz="2000" dirty="0"/>
                  <a:t> is allowed to run.</a:t>
                </a:r>
              </a:p>
              <a:p>
                <a:pPr marL="342900" indent="-342900" algn="just">
                  <a:buFont typeface="Wingdings" panose="05000000000000000000" pitchFamily="2" charset="2"/>
                  <a:buChar char="ü"/>
                </a:pPr>
                <a:r>
                  <a:rPr lang="en-US" sz="2000" dirty="0"/>
                  <a:t>1 </a:t>
                </a:r>
                <a:r>
                  <a:rPr lang="en-US" sz="2000" dirty="0" err="1"/>
                  <a:t>ms</a:t>
                </a:r>
                <a:r>
                  <a:rPr lang="en-US" sz="2000" dirty="0"/>
                  <a:t> is wasted on each context switch as overhead.</a:t>
                </a:r>
                <a:endParaRPr lang="en-IN" sz="2000" dirty="0"/>
              </a:p>
              <a:p>
                <a:pPr algn="just"/>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496070" y="0"/>
                <a:ext cx="5664934" cy="6588000"/>
              </a:xfrm>
              <a:prstGeom prst="rect">
                <a:avLst/>
              </a:prstGeom>
              <a:blipFill>
                <a:blip r:embed="rId2"/>
                <a:stretch>
                  <a:fillRect l="-646"/>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val="20000"/>
                        </a:ext>
                      </a:extLst>
                    </a:gridCol>
                    <a:gridCol w="1278598">
                      <a:extLst>
                        <a:ext uri="{9D8B030D-6E8A-4147-A177-3AD203B41FA5}">
                          <a16:colId xmlns:a16="http://schemas.microsoft.com/office/drawing/2014/main" val="20001"/>
                        </a:ext>
                      </a:extLst>
                    </a:gridCol>
                    <a:gridCol w="3207550">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xmlns="" xmlns:a14="http://schemas.microsoft.com/office/drawing/2010/main" val="20000"/>
                        </a:ext>
                      </a:extLst>
                    </a:gridCol>
                    <a:gridCol w="1278598">
                      <a:extLst>
                        <a:ext uri="{9D8B030D-6E8A-4147-A177-3AD203B41FA5}">
                          <a16:colId xmlns:a16="http://schemas.microsoft.com/office/drawing/2014/main" xmlns="" xmlns:a14="http://schemas.microsoft.com/office/drawing/2010/main" val="20001"/>
                        </a:ext>
                      </a:extLst>
                    </a:gridCol>
                    <a:gridCol w="3207550">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4762" t="-3810" r="-25142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118478" r="-470064"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218478" r="-470064"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318478" r="-470064"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418478" r="-470064"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5574" y="380202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5574" y="380202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37" name="TextBox 36"/>
          <p:cNvSpPr txBox="1"/>
          <p:nvPr/>
        </p:nvSpPr>
        <p:spPr>
          <a:xfrm>
            <a:off x="636260" y="4464340"/>
            <a:ext cx="318448" cy="381000"/>
          </a:xfrm>
          <a:prstGeom prst="rect">
            <a:avLst/>
          </a:prstGeom>
          <a:noFill/>
        </p:spPr>
        <p:txBody>
          <a:bodyPr wrap="square" rtlCol="0">
            <a:spAutoFit/>
          </a:bodyPr>
          <a:lstStyle/>
          <a:p>
            <a:r>
              <a:rPr lang="en-US" dirty="0"/>
              <a:t>4</a:t>
            </a:r>
          </a:p>
        </p:txBody>
      </p:sp>
      <p:sp>
        <p:nvSpPr>
          <p:cNvPr id="38" name="Rectangle 37"/>
          <p:cNvSpPr/>
          <p:nvPr/>
        </p:nvSpPr>
        <p:spPr>
          <a:xfrm>
            <a:off x="807059" y="3802019"/>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9" name="TextBox 38"/>
          <p:cNvSpPr txBox="1"/>
          <p:nvPr/>
        </p:nvSpPr>
        <p:spPr>
          <a:xfrm>
            <a:off x="910158" y="4463878"/>
            <a:ext cx="318448" cy="381000"/>
          </a:xfrm>
          <a:prstGeom prst="rect">
            <a:avLst/>
          </a:prstGeom>
          <a:noFill/>
        </p:spPr>
        <p:txBody>
          <a:bodyPr wrap="square" rtlCol="0">
            <a:spAutoFit/>
          </a:bodyPr>
          <a:lstStyle/>
          <a:p>
            <a:r>
              <a:rPr lang="en-US" dirty="0"/>
              <a:t>5</a:t>
            </a:r>
          </a:p>
        </p:txBody>
      </p:sp>
      <mc:AlternateContent xmlns:mc="http://schemas.openxmlformats.org/markup-compatibility/2006" xmlns:a14="http://schemas.microsoft.com/office/drawing/2010/main">
        <mc:Choice Requires="a14">
          <p:sp>
            <p:nvSpPr>
              <p:cNvPr id="40" name="Rectangle 39"/>
              <p:cNvSpPr/>
              <p:nvPr/>
            </p:nvSpPr>
            <p:spPr>
              <a:xfrm>
                <a:off x="1080957" y="3799958"/>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1080957" y="3799958"/>
                <a:ext cx="69991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p:sp>
        <p:nvSpPr>
          <p:cNvPr id="41" name="TextBox 40"/>
          <p:cNvSpPr txBox="1"/>
          <p:nvPr/>
        </p:nvSpPr>
        <p:spPr>
          <a:xfrm>
            <a:off x="1616581" y="4421303"/>
            <a:ext cx="318448" cy="381000"/>
          </a:xfrm>
          <a:prstGeom prst="rect">
            <a:avLst/>
          </a:prstGeom>
          <a:noFill/>
        </p:spPr>
        <p:txBody>
          <a:bodyPr wrap="square" rtlCol="0">
            <a:spAutoFit/>
          </a:bodyPr>
          <a:lstStyle/>
          <a:p>
            <a:r>
              <a:rPr lang="en-US" dirty="0"/>
              <a:t>9</a:t>
            </a:r>
          </a:p>
        </p:txBody>
      </p:sp>
      <p:sp>
        <p:nvSpPr>
          <p:cNvPr id="43" name="Rectangle 42"/>
          <p:cNvSpPr/>
          <p:nvPr/>
        </p:nvSpPr>
        <p:spPr>
          <a:xfrm>
            <a:off x="1792442" y="3799957"/>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46" name="TextBox 45"/>
          <p:cNvSpPr txBox="1"/>
          <p:nvPr/>
        </p:nvSpPr>
        <p:spPr>
          <a:xfrm>
            <a:off x="1876794" y="4425221"/>
            <a:ext cx="503953"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sp>
            <p:nvSpPr>
              <p:cNvPr id="47" name="Rectangle 46"/>
              <p:cNvSpPr/>
              <p:nvPr/>
            </p:nvSpPr>
            <p:spPr>
              <a:xfrm>
                <a:off x="2071647" y="3799892"/>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2071647" y="3799892"/>
                <a:ext cx="69991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525848" y="4440236"/>
            <a:ext cx="503953" cy="369332"/>
          </a:xfrm>
          <a:prstGeom prst="rect">
            <a:avLst/>
          </a:prstGeom>
          <a:noFill/>
        </p:spPr>
        <p:txBody>
          <a:bodyPr wrap="square" rtlCol="0">
            <a:spAutoFit/>
          </a:bodyPr>
          <a:lstStyle/>
          <a:p>
            <a:r>
              <a:rPr lang="en-US" dirty="0"/>
              <a:t>12</a:t>
            </a:r>
          </a:p>
        </p:txBody>
      </p:sp>
      <p:sp>
        <p:nvSpPr>
          <p:cNvPr id="51" name="Rectangle 50"/>
          <p:cNvSpPr/>
          <p:nvPr/>
        </p:nvSpPr>
        <p:spPr>
          <a:xfrm>
            <a:off x="2794707" y="3799891"/>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2" name="TextBox 51"/>
          <p:cNvSpPr txBox="1"/>
          <p:nvPr/>
        </p:nvSpPr>
        <p:spPr>
          <a:xfrm>
            <a:off x="2816628" y="4421303"/>
            <a:ext cx="503953" cy="369332"/>
          </a:xfrm>
          <a:prstGeom prst="rect">
            <a:avLst/>
          </a:prstGeom>
          <a:noFill/>
        </p:spPr>
        <p:txBody>
          <a:bodyPr wrap="square" rtlCol="0">
            <a:spAutoFit/>
          </a:bodyPr>
          <a:lstStyle/>
          <a:p>
            <a:r>
              <a:rPr lang="en-US" dirty="0"/>
              <a:t>13</a:t>
            </a:r>
          </a:p>
        </p:txBody>
      </p:sp>
      <mc:AlternateContent xmlns:mc="http://schemas.openxmlformats.org/markup-compatibility/2006" xmlns:a14="http://schemas.microsoft.com/office/drawing/2010/main">
        <mc:Choice Requires="a14">
          <p:graphicFrame>
            <p:nvGraphicFramePr>
              <p:cNvPr id="7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311962" y="4777577"/>
              <a:ext cx="2518135" cy="178610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val="20000"/>
                        </a:ext>
                      </a:extLst>
                    </a:gridCol>
                    <a:gridCol w="1569780">
                      <a:extLst>
                        <a:ext uri="{9D8B030D-6E8A-4147-A177-3AD203B41FA5}">
                          <a16:colId xmlns:a16="http://schemas.microsoft.com/office/drawing/2014/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2</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0</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3</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1</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75"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103476169"/>
                  </p:ext>
                </p:extLst>
              </p:nvPr>
            </p:nvGraphicFramePr>
            <p:xfrm>
              <a:off x="1311962" y="4777577"/>
              <a:ext cx="2518135" cy="1786101"/>
            </p:xfrm>
            <a:graphic>
              <a:graphicData uri="http://schemas.openxmlformats.org/drawingml/2006/table">
                <a:tbl>
                  <a:tblPr firstRow="1" bandRow="1">
                    <a:tableStyleId>{8EC20E35-A176-4012-BC5E-935CFFF8708E}</a:tableStyleId>
                  </a:tblPr>
                  <a:tblGrid>
                    <a:gridCol w="948355">
                      <a:extLst>
                        <a:ext uri="{9D8B030D-6E8A-4147-A177-3AD203B41FA5}">
                          <a16:colId xmlns="" xmlns:a16="http://schemas.microsoft.com/office/drawing/2014/main" xmlns:a14="http://schemas.microsoft.com/office/drawing/2010/main" val="20000"/>
                        </a:ext>
                      </a:extLst>
                    </a:gridCol>
                    <a:gridCol w="1569780">
                      <a:extLst>
                        <a:ext uri="{9D8B030D-6E8A-4147-A177-3AD203B41FA5}">
                          <a16:colId xmlns="" xmlns:a16="http://schemas.microsoft.com/office/drawing/2014/main" xmlns:a14="http://schemas.microsoft.com/office/drawing/2010/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l="-641" t="-132727" r="-166026" b="-325455"/>
                          </a:stretch>
                        </a:blip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l="-641" t="-228571" r="-166026" b="-219643"/>
                          </a:stretch>
                        </a:blipFill>
                      </a:tcPr>
                    </a:tc>
                    <a:tc>
                      <a:txBody>
                        <a:bodyPr/>
                        <a:lstStyle/>
                        <a:p>
                          <a:pPr algn="ctr"/>
                          <a:r>
                            <a:rPr lang="en-IN" sz="16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l="-641" t="-334545" r="-166026" b="-123636"/>
                          </a:stretch>
                        </a:blipFill>
                      </a:tcPr>
                    </a:tc>
                    <a:tc>
                      <a:txBody>
                        <a:bodyPr/>
                        <a:lstStyle/>
                        <a:p>
                          <a:pPr algn="ctr"/>
                          <a:r>
                            <a:rPr lang="en-IN" sz="16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l="-641" t="-434545" r="-166026" b="-23636"/>
                          </a:stretch>
                        </a:blip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p:sp>
        <p:nvSpPr>
          <p:cNvPr id="76" name="TextBox 75"/>
          <p:cNvSpPr txBox="1"/>
          <p:nvPr/>
        </p:nvSpPr>
        <p:spPr>
          <a:xfrm>
            <a:off x="1314434" y="5213790"/>
            <a:ext cx="2522520" cy="337174"/>
          </a:xfrm>
          <a:prstGeom prst="rect">
            <a:avLst/>
          </a:prstGeom>
          <a:noFill/>
          <a:ln w="38100">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1742825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5"/>
                                        </p:tgtEl>
                                        <p:attrNameLst>
                                          <p:attrName>style.visibility</p:attrName>
                                        </p:attrNameLst>
                                      </p:cBhvr>
                                      <p:to>
                                        <p:strVal val="visible"/>
                                      </p:to>
                                    </p:set>
                                    <p:anim calcmode="lin" valueType="num">
                                      <p:cBhvr additive="base">
                                        <p:cTn id="7" dur="500" fill="hold"/>
                                        <p:tgtEl>
                                          <p:spTgt spid="75"/>
                                        </p:tgtEl>
                                        <p:attrNameLst>
                                          <p:attrName>ppt_x</p:attrName>
                                        </p:attrNameLst>
                                      </p:cBhvr>
                                      <p:tavLst>
                                        <p:tav tm="0">
                                          <p:val>
                                            <p:strVal val="#ppt_x"/>
                                          </p:val>
                                        </p:tav>
                                        <p:tav tm="100000">
                                          <p:val>
                                            <p:strVal val="#ppt_x"/>
                                          </p:val>
                                        </p:tav>
                                      </p:tavLst>
                                    </p:anim>
                                    <p:anim calcmode="lin" valueType="num">
                                      <p:cBhvr additive="base">
                                        <p:cTn id="8"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p:bldP spid="51" grpId="0" animBg="1"/>
      <p:bldP spid="52" grpId="0"/>
      <p:bldP spid="76"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496070" y="0"/>
                <a:ext cx="5664934"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Round Robin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Take Time quantum = 4 </a:t>
                </a:r>
                <a:r>
                  <a:rPr lang="en-US" sz="2000" dirty="0" err="1"/>
                  <a:t>ms</a:t>
                </a:r>
                <a:r>
                  <a:rPr lang="en-US" sz="2000" dirty="0"/>
                  <a:t> &amp; Context switch overhead = 1 </a:t>
                </a:r>
                <a:r>
                  <a:rPr lang="en-US" sz="2000" dirty="0" err="1"/>
                  <a:t>ms</a:t>
                </a:r>
                <a:endParaRPr lang="en-IN" sz="2000" dirty="0"/>
              </a:p>
              <a:p>
                <a:pPr marL="342900" indent="-342900" algn="just">
                  <a:buFont typeface="Wingdings" panose="05000000000000000000" pitchFamily="2" charset="2"/>
                  <a:buChar char="ü"/>
                </a:pPr>
                <a:r>
                  <a:rPr lang="en-US" sz="2000" dirty="0"/>
                  <a:t>At 4 </a:t>
                </a:r>
                <a:r>
                  <a:rPr lang="en-US" sz="2000" dirty="0" err="1"/>
                  <a:t>ms</a:t>
                </a:r>
                <a:r>
                  <a:rPr lang="en-US" sz="2000" dirty="0"/>
                  <a:t>, process </a:t>
                </a:r>
                <a14:m>
                  <m:oMath xmlns:m="http://schemas.openxmlformats.org/officeDocument/2006/math">
                    <m:sSub>
                      <m:sSubPr>
                        <m:ctrlPr>
                          <a:rPr lang="en-IN" sz="2000" b="1" i="1" smtClean="0">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completes its time quantum. So it is preempted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𝟏</m:t>
                        </m:r>
                      </m:sub>
                    </m:sSub>
                  </m:oMath>
                </a14:m>
                <a:r>
                  <a:rPr lang="en-US" sz="2000" dirty="0"/>
                  <a:t> is allowed to run.</a:t>
                </a:r>
              </a:p>
              <a:p>
                <a:pPr marL="342900" indent="-342900" algn="just">
                  <a:buFont typeface="Wingdings" panose="05000000000000000000" pitchFamily="2" charset="2"/>
                  <a:buChar char="ü"/>
                </a:pPr>
                <a:r>
                  <a:rPr lang="en-US" sz="2000" dirty="0"/>
                  <a:t>1 </a:t>
                </a:r>
                <a:r>
                  <a:rPr lang="en-US" sz="2000" dirty="0" err="1"/>
                  <a:t>ms</a:t>
                </a:r>
                <a:r>
                  <a:rPr lang="en-US" sz="2000" dirty="0"/>
                  <a:t> is wasted on each context switch as overhead.</a:t>
                </a:r>
                <a:endParaRPr lang="en-IN" sz="2000" dirty="0"/>
              </a:p>
              <a:p>
                <a:pPr marL="342900" indent="-342900" algn="just">
                  <a:buFont typeface="Wingdings" panose="05000000000000000000" pitchFamily="2" charset="2"/>
                  <a:buChar char="ü"/>
                </a:pPr>
                <a:r>
                  <a:rPr lang="en-US" sz="2000" dirty="0"/>
                  <a:t>At 12 </a:t>
                </a:r>
                <a:r>
                  <a:rPr lang="en-US" sz="2000" dirty="0" err="1"/>
                  <a:t>ms</a:t>
                </a:r>
                <a:r>
                  <a:rPr lang="en-US" sz="2000" dirty="0"/>
                  <a:t>,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𝟐</m:t>
                        </m:r>
                      </m:sub>
                    </m:sSub>
                  </m:oMath>
                </a14:m>
                <a:r>
                  <a:rPr lang="en-US" sz="2000" dirty="0"/>
                  <a:t> voluntarily release CPU,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is selected to run</a:t>
                </a:r>
                <a:endParaRPr lang="en-IN" sz="2000" dirty="0"/>
              </a:p>
              <a:p>
                <a:pPr marL="342900" indent="-342900" algn="just">
                  <a:buFont typeface="Wingdings" panose="05000000000000000000" pitchFamily="2" charset="2"/>
                  <a:buChar char="ü"/>
                </a:pPr>
                <a:r>
                  <a:rPr lang="en-US" sz="2000" dirty="0"/>
                  <a:t>This procedure is repeated till all processes complete their execution.</a:t>
                </a:r>
                <a:endParaRPr lang="en-IN" sz="2000" dirty="0"/>
              </a:p>
              <a:p>
                <a:pPr algn="just"/>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496070" y="0"/>
                <a:ext cx="5664934" cy="6588000"/>
              </a:xfrm>
              <a:prstGeom prst="rect">
                <a:avLst/>
              </a:prstGeom>
              <a:blipFill>
                <a:blip r:embed="rId2"/>
                <a:stretch>
                  <a:fillRect l="-646"/>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val="20000"/>
                        </a:ext>
                      </a:extLst>
                    </a:gridCol>
                    <a:gridCol w="1278598">
                      <a:extLst>
                        <a:ext uri="{9D8B030D-6E8A-4147-A177-3AD203B41FA5}">
                          <a16:colId xmlns:a16="http://schemas.microsoft.com/office/drawing/2014/main" val="20001"/>
                        </a:ext>
                      </a:extLst>
                    </a:gridCol>
                    <a:gridCol w="3207550">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xmlns="" xmlns:a14="http://schemas.microsoft.com/office/drawing/2010/main" val="20000"/>
                        </a:ext>
                      </a:extLst>
                    </a:gridCol>
                    <a:gridCol w="1278598">
                      <a:extLst>
                        <a:ext uri="{9D8B030D-6E8A-4147-A177-3AD203B41FA5}">
                          <a16:colId xmlns:a16="http://schemas.microsoft.com/office/drawing/2014/main" xmlns="" xmlns:a14="http://schemas.microsoft.com/office/drawing/2010/main" val="20001"/>
                        </a:ext>
                      </a:extLst>
                    </a:gridCol>
                    <a:gridCol w="3207550">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4762" t="-3810" r="-25142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118478" r="-470064"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218478" r="-470064"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318478" r="-470064"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418478" r="-470064"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5574" y="380202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5574" y="380202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37" name="TextBox 36"/>
          <p:cNvSpPr txBox="1"/>
          <p:nvPr/>
        </p:nvSpPr>
        <p:spPr>
          <a:xfrm>
            <a:off x="636260" y="4464340"/>
            <a:ext cx="318448" cy="381000"/>
          </a:xfrm>
          <a:prstGeom prst="rect">
            <a:avLst/>
          </a:prstGeom>
          <a:noFill/>
        </p:spPr>
        <p:txBody>
          <a:bodyPr wrap="square" rtlCol="0">
            <a:spAutoFit/>
          </a:bodyPr>
          <a:lstStyle/>
          <a:p>
            <a:r>
              <a:rPr lang="en-US" dirty="0"/>
              <a:t>4</a:t>
            </a:r>
          </a:p>
        </p:txBody>
      </p:sp>
      <p:sp>
        <p:nvSpPr>
          <p:cNvPr id="38" name="Rectangle 37"/>
          <p:cNvSpPr/>
          <p:nvPr/>
        </p:nvSpPr>
        <p:spPr>
          <a:xfrm>
            <a:off x="807059" y="3802019"/>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9" name="TextBox 38"/>
          <p:cNvSpPr txBox="1"/>
          <p:nvPr/>
        </p:nvSpPr>
        <p:spPr>
          <a:xfrm>
            <a:off x="910158" y="4463878"/>
            <a:ext cx="318448" cy="381000"/>
          </a:xfrm>
          <a:prstGeom prst="rect">
            <a:avLst/>
          </a:prstGeom>
          <a:noFill/>
        </p:spPr>
        <p:txBody>
          <a:bodyPr wrap="square" rtlCol="0">
            <a:spAutoFit/>
          </a:bodyPr>
          <a:lstStyle/>
          <a:p>
            <a:r>
              <a:rPr lang="en-US" dirty="0"/>
              <a:t>5</a:t>
            </a:r>
          </a:p>
        </p:txBody>
      </p:sp>
      <mc:AlternateContent xmlns:mc="http://schemas.openxmlformats.org/markup-compatibility/2006" xmlns:a14="http://schemas.microsoft.com/office/drawing/2010/main">
        <mc:Choice Requires="a14">
          <p:sp>
            <p:nvSpPr>
              <p:cNvPr id="40" name="Rectangle 39"/>
              <p:cNvSpPr/>
              <p:nvPr/>
            </p:nvSpPr>
            <p:spPr>
              <a:xfrm>
                <a:off x="1080957" y="3799958"/>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1080957" y="3799958"/>
                <a:ext cx="69991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p:sp>
        <p:nvSpPr>
          <p:cNvPr id="41" name="TextBox 40"/>
          <p:cNvSpPr txBox="1"/>
          <p:nvPr/>
        </p:nvSpPr>
        <p:spPr>
          <a:xfrm>
            <a:off x="1616581" y="4421303"/>
            <a:ext cx="318448" cy="381000"/>
          </a:xfrm>
          <a:prstGeom prst="rect">
            <a:avLst/>
          </a:prstGeom>
          <a:noFill/>
        </p:spPr>
        <p:txBody>
          <a:bodyPr wrap="square" rtlCol="0">
            <a:spAutoFit/>
          </a:bodyPr>
          <a:lstStyle/>
          <a:p>
            <a:r>
              <a:rPr lang="en-US" dirty="0"/>
              <a:t>9</a:t>
            </a:r>
          </a:p>
        </p:txBody>
      </p:sp>
      <p:sp>
        <p:nvSpPr>
          <p:cNvPr id="43" name="Rectangle 42"/>
          <p:cNvSpPr/>
          <p:nvPr/>
        </p:nvSpPr>
        <p:spPr>
          <a:xfrm>
            <a:off x="1792442" y="3799957"/>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46" name="TextBox 45"/>
          <p:cNvSpPr txBox="1"/>
          <p:nvPr/>
        </p:nvSpPr>
        <p:spPr>
          <a:xfrm>
            <a:off x="1876794" y="4425221"/>
            <a:ext cx="503953"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sp>
            <p:nvSpPr>
              <p:cNvPr id="47" name="Rectangle 46"/>
              <p:cNvSpPr/>
              <p:nvPr/>
            </p:nvSpPr>
            <p:spPr>
              <a:xfrm>
                <a:off x="2071647" y="3799892"/>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2071647" y="3799892"/>
                <a:ext cx="69991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525848" y="4440236"/>
            <a:ext cx="503953" cy="369332"/>
          </a:xfrm>
          <a:prstGeom prst="rect">
            <a:avLst/>
          </a:prstGeom>
          <a:noFill/>
        </p:spPr>
        <p:txBody>
          <a:bodyPr wrap="square" rtlCol="0">
            <a:spAutoFit/>
          </a:bodyPr>
          <a:lstStyle/>
          <a:p>
            <a:r>
              <a:rPr lang="en-US" dirty="0"/>
              <a:t>12</a:t>
            </a:r>
          </a:p>
        </p:txBody>
      </p:sp>
      <p:sp>
        <p:nvSpPr>
          <p:cNvPr id="51" name="Rectangle 50"/>
          <p:cNvSpPr/>
          <p:nvPr/>
        </p:nvSpPr>
        <p:spPr>
          <a:xfrm>
            <a:off x="2794707" y="3799891"/>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2" name="TextBox 51"/>
          <p:cNvSpPr txBox="1"/>
          <p:nvPr/>
        </p:nvSpPr>
        <p:spPr>
          <a:xfrm>
            <a:off x="2816628" y="4421303"/>
            <a:ext cx="503953" cy="369332"/>
          </a:xfrm>
          <a:prstGeom prst="rect">
            <a:avLst/>
          </a:prstGeom>
          <a:noFill/>
        </p:spPr>
        <p:txBody>
          <a:bodyPr wrap="square" rtlCol="0">
            <a:spAutoFit/>
          </a:bodyPr>
          <a:lstStyle/>
          <a:p>
            <a:r>
              <a:rPr lang="en-US" dirty="0"/>
              <a:t>13</a:t>
            </a:r>
          </a:p>
        </p:txBody>
      </p:sp>
      <mc:AlternateContent xmlns:mc="http://schemas.openxmlformats.org/markup-compatibility/2006" xmlns:a14="http://schemas.microsoft.com/office/drawing/2010/main">
        <mc:Choice Requires="a14">
          <p:sp>
            <p:nvSpPr>
              <p:cNvPr id="53" name="Rectangle 52"/>
              <p:cNvSpPr/>
              <p:nvPr/>
            </p:nvSpPr>
            <p:spPr>
              <a:xfrm>
                <a:off x="3068604" y="3799504"/>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3" name="Rectangle 52"/>
              <p:cNvSpPr>
                <a:spLocks noRot="1" noChangeAspect="1" noMove="1" noResize="1" noEditPoints="1" noAdjustHandles="1" noChangeArrowheads="1" noChangeShapeType="1" noTextEdit="1"/>
              </p:cNvSpPr>
              <p:nvPr/>
            </p:nvSpPr>
            <p:spPr>
              <a:xfrm>
                <a:off x="3068604" y="3799504"/>
                <a:ext cx="699910"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54" name="TextBox 53"/>
          <p:cNvSpPr txBox="1"/>
          <p:nvPr/>
        </p:nvSpPr>
        <p:spPr>
          <a:xfrm>
            <a:off x="3511475" y="4421303"/>
            <a:ext cx="503953" cy="369332"/>
          </a:xfrm>
          <a:prstGeom prst="rect">
            <a:avLst/>
          </a:prstGeom>
          <a:noFill/>
        </p:spPr>
        <p:txBody>
          <a:bodyPr wrap="square" rtlCol="0">
            <a:spAutoFit/>
          </a:bodyPr>
          <a:lstStyle/>
          <a:p>
            <a:r>
              <a:rPr lang="en-US" dirty="0"/>
              <a:t>17</a:t>
            </a:r>
          </a:p>
        </p:txBody>
      </p:sp>
      <p:sp>
        <p:nvSpPr>
          <p:cNvPr id="56" name="Rectangle 55"/>
          <p:cNvSpPr/>
          <p:nvPr/>
        </p:nvSpPr>
        <p:spPr>
          <a:xfrm>
            <a:off x="3783708" y="3799503"/>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7" name="TextBox 56"/>
          <p:cNvSpPr txBox="1"/>
          <p:nvPr/>
        </p:nvSpPr>
        <p:spPr>
          <a:xfrm>
            <a:off x="3836954" y="4421303"/>
            <a:ext cx="503953" cy="369332"/>
          </a:xfrm>
          <a:prstGeom prst="rect">
            <a:avLst/>
          </a:prstGeom>
          <a:noFill/>
        </p:spPr>
        <p:txBody>
          <a:bodyPr wrap="square" rtlCol="0">
            <a:spAutoFit/>
          </a:bodyPr>
          <a:lstStyle/>
          <a:p>
            <a:r>
              <a:rPr lang="en-US" dirty="0"/>
              <a:t>18</a:t>
            </a:r>
          </a:p>
        </p:txBody>
      </p:sp>
      <mc:AlternateContent xmlns:mc="http://schemas.openxmlformats.org/markup-compatibility/2006" xmlns:a14="http://schemas.microsoft.com/office/drawing/2010/main">
        <mc:Choice Requires="a14">
          <p:graphicFrame>
            <p:nvGraphicFramePr>
              <p:cNvPr id="7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724206" y="4893447"/>
              <a:ext cx="2518135" cy="145082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val="20000"/>
                        </a:ext>
                      </a:extLst>
                    </a:gridCol>
                    <a:gridCol w="1569780">
                      <a:extLst>
                        <a:ext uri="{9D8B030D-6E8A-4147-A177-3AD203B41FA5}">
                          <a16:colId xmlns:a16="http://schemas.microsoft.com/office/drawing/2014/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0</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3</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1</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mc:Choice>
        <mc:Fallback xmlns="">
          <p:graphicFrame>
            <p:nvGraphicFramePr>
              <p:cNvPr id="7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1724206" y="4893447"/>
              <a:ext cx="2518135" cy="145082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xmlns="" xmlns:a14="http://schemas.microsoft.com/office/drawing/2010/main" val="20000"/>
                        </a:ext>
                      </a:extLst>
                    </a:gridCol>
                    <a:gridCol w="1569780">
                      <a:extLst>
                        <a:ext uri="{9D8B030D-6E8A-4147-A177-3AD203B41FA5}">
                          <a16:colId xmlns:a16="http://schemas.microsoft.com/office/drawing/2014/main" xmlns="" xmlns:a14="http://schemas.microsoft.com/office/drawing/2010/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4"/>
                          <a:stretch>
                            <a:fillRect t="-130357" r="-166026" b="-219643"/>
                          </a:stretch>
                        </a:blipFill>
                      </a:tcPr>
                    </a:tc>
                    <a:tc>
                      <a:txBody>
                        <a:bodyPr/>
                        <a:lstStyle/>
                        <a:p>
                          <a:pPr algn="ctr"/>
                          <a:r>
                            <a:rPr lang="en-IN" sz="16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4"/>
                          <a:stretch>
                            <a:fillRect t="-234545" r="-166026" b="-123636"/>
                          </a:stretch>
                        </a:blipFill>
                      </a:tcPr>
                    </a:tc>
                    <a:tc>
                      <a:txBody>
                        <a:bodyPr/>
                        <a:lstStyle/>
                        <a:p>
                          <a:pPr algn="ctr"/>
                          <a:r>
                            <a:rPr lang="en-IN" sz="16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4"/>
                          <a:stretch>
                            <a:fillRect t="-334545" r="-166026" b="-23636"/>
                          </a:stretch>
                        </a:blip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bl>
              </a:graphicData>
            </a:graphic>
          </p:graphicFrame>
        </mc:Fallback>
      </mc:AlternateContent>
      <p:sp>
        <p:nvSpPr>
          <p:cNvPr id="79" name="TextBox 78"/>
          <p:cNvSpPr txBox="1"/>
          <p:nvPr/>
        </p:nvSpPr>
        <p:spPr>
          <a:xfrm>
            <a:off x="1742549" y="5323581"/>
            <a:ext cx="2522520" cy="337174"/>
          </a:xfrm>
          <a:prstGeom prst="rect">
            <a:avLst/>
          </a:prstGeom>
          <a:noFill/>
          <a:ln w="38100">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2185951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8"/>
                                        </p:tgtEl>
                                        <p:attrNameLst>
                                          <p:attrName>style.visibility</p:attrName>
                                        </p:attrNameLst>
                                      </p:cBhvr>
                                      <p:to>
                                        <p:strVal val="visible"/>
                                      </p:to>
                                    </p:set>
                                    <p:anim calcmode="lin" valueType="num">
                                      <p:cBhvr additive="base">
                                        <p:cTn id="7" dur="500" fill="hold"/>
                                        <p:tgtEl>
                                          <p:spTgt spid="78"/>
                                        </p:tgtEl>
                                        <p:attrNameLst>
                                          <p:attrName>ppt_x</p:attrName>
                                        </p:attrNameLst>
                                      </p:cBhvr>
                                      <p:tavLst>
                                        <p:tav tm="0">
                                          <p:val>
                                            <p:strVal val="#ppt_x"/>
                                          </p:val>
                                        </p:tav>
                                        <p:tav tm="100000">
                                          <p:val>
                                            <p:strVal val="#ppt_x"/>
                                          </p:val>
                                        </p:tav>
                                      </p:tavLst>
                                    </p:anim>
                                    <p:anim calcmode="lin" valueType="num">
                                      <p:cBhvr additive="base">
                                        <p:cTn id="8"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p:bldP spid="56" grpId="0" animBg="1"/>
      <p:bldP spid="57" grpId="0"/>
      <p:bldP spid="79"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496070" y="0"/>
                <a:ext cx="5664934"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Round Robin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Take Time quantum = 4 </a:t>
                </a:r>
                <a:r>
                  <a:rPr lang="en-US" sz="2000" dirty="0" err="1"/>
                  <a:t>ms</a:t>
                </a:r>
                <a:r>
                  <a:rPr lang="en-US" sz="2000" dirty="0"/>
                  <a:t> &amp; Context switch overhead = 1 </a:t>
                </a:r>
                <a:r>
                  <a:rPr lang="en-US" sz="2000" dirty="0" err="1"/>
                  <a:t>ms</a:t>
                </a:r>
                <a:endParaRPr lang="en-IN" sz="2000" dirty="0"/>
              </a:p>
              <a:p>
                <a:pPr marL="342900" indent="-342900" algn="just">
                  <a:buFont typeface="Wingdings" panose="05000000000000000000" pitchFamily="2" charset="2"/>
                  <a:buChar char="ü"/>
                </a:pPr>
                <a:r>
                  <a:rPr lang="en-US" sz="2000" dirty="0"/>
                  <a:t>At 4 </a:t>
                </a:r>
                <a:r>
                  <a:rPr lang="en-US" sz="2000" dirty="0" err="1"/>
                  <a:t>ms</a:t>
                </a:r>
                <a:r>
                  <a:rPr lang="en-US" sz="2000" dirty="0"/>
                  <a:t>, process </a:t>
                </a:r>
                <a14:m>
                  <m:oMath xmlns:m="http://schemas.openxmlformats.org/officeDocument/2006/math">
                    <m:sSub>
                      <m:sSubPr>
                        <m:ctrlPr>
                          <a:rPr lang="en-IN" sz="2000" b="1" i="1" smtClean="0">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completes its time quantum. So, it is preempted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𝟏</m:t>
                        </m:r>
                      </m:sub>
                    </m:sSub>
                  </m:oMath>
                </a14:m>
                <a:r>
                  <a:rPr lang="en-US" sz="2000" dirty="0"/>
                  <a:t> is allowed to run.</a:t>
                </a:r>
              </a:p>
              <a:p>
                <a:pPr marL="342900" indent="-342900" algn="just">
                  <a:buFont typeface="Wingdings" panose="05000000000000000000" pitchFamily="2" charset="2"/>
                  <a:buChar char="ü"/>
                </a:pPr>
                <a:r>
                  <a:rPr lang="en-US" sz="2000" dirty="0"/>
                  <a:t>1 </a:t>
                </a:r>
                <a:r>
                  <a:rPr lang="en-US" sz="2000" dirty="0" err="1"/>
                  <a:t>ms</a:t>
                </a:r>
                <a:r>
                  <a:rPr lang="en-US" sz="2000" dirty="0"/>
                  <a:t> is wasted on each context switch as overhead.</a:t>
                </a:r>
                <a:endParaRPr lang="en-IN" sz="2000" dirty="0"/>
              </a:p>
              <a:p>
                <a:pPr marL="342900" indent="-342900" algn="just">
                  <a:buFont typeface="Wingdings" panose="05000000000000000000" pitchFamily="2" charset="2"/>
                  <a:buChar char="ü"/>
                </a:pPr>
                <a:r>
                  <a:rPr lang="en-US" sz="2000" dirty="0"/>
                  <a:t>At 12 </a:t>
                </a:r>
                <a:r>
                  <a:rPr lang="en-US" sz="2000" dirty="0" err="1"/>
                  <a:t>ms</a:t>
                </a:r>
                <a:r>
                  <a:rPr lang="en-US" sz="2000" dirty="0"/>
                  <a:t>,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𝟐</m:t>
                        </m:r>
                      </m:sub>
                    </m:sSub>
                  </m:oMath>
                </a14:m>
                <a:r>
                  <a:rPr lang="en-US" sz="2000" dirty="0"/>
                  <a:t> voluntarily release CPU,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is selected to run</a:t>
                </a:r>
                <a:endParaRPr lang="en-IN" sz="2000" dirty="0"/>
              </a:p>
              <a:p>
                <a:pPr marL="342900" indent="-342900" algn="just">
                  <a:buFont typeface="Wingdings" panose="05000000000000000000" pitchFamily="2" charset="2"/>
                  <a:buChar char="ü"/>
                </a:pPr>
                <a:r>
                  <a:rPr lang="en-US" sz="2000" dirty="0"/>
                  <a:t>This procedure is repeated till all processes complete their execution.</a:t>
                </a:r>
                <a:endParaRPr lang="en-IN" sz="2000" dirty="0"/>
              </a:p>
              <a:p>
                <a:pPr algn="just"/>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496070" y="0"/>
                <a:ext cx="5664934" cy="6588000"/>
              </a:xfrm>
              <a:prstGeom prst="rect">
                <a:avLst/>
              </a:prstGeom>
              <a:blipFill>
                <a:blip r:embed="rId2"/>
                <a:stretch>
                  <a:fillRect l="-646"/>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val="20000"/>
                        </a:ext>
                      </a:extLst>
                    </a:gridCol>
                    <a:gridCol w="1278598">
                      <a:extLst>
                        <a:ext uri="{9D8B030D-6E8A-4147-A177-3AD203B41FA5}">
                          <a16:colId xmlns:a16="http://schemas.microsoft.com/office/drawing/2014/main" val="20001"/>
                        </a:ext>
                      </a:extLst>
                    </a:gridCol>
                    <a:gridCol w="3207550">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xmlns="" xmlns:a14="http://schemas.microsoft.com/office/drawing/2010/main" val="20000"/>
                        </a:ext>
                      </a:extLst>
                    </a:gridCol>
                    <a:gridCol w="1278598">
                      <a:extLst>
                        <a:ext uri="{9D8B030D-6E8A-4147-A177-3AD203B41FA5}">
                          <a16:colId xmlns:a16="http://schemas.microsoft.com/office/drawing/2014/main" xmlns="" xmlns:a14="http://schemas.microsoft.com/office/drawing/2010/main" val="20001"/>
                        </a:ext>
                      </a:extLst>
                    </a:gridCol>
                    <a:gridCol w="3207550">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4762" t="-3810" r="-25142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118478" r="-470064"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218478" r="-470064"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318478" r="-470064"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418478" r="-470064"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5574" y="380202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5574" y="380202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37" name="TextBox 36"/>
          <p:cNvSpPr txBox="1"/>
          <p:nvPr/>
        </p:nvSpPr>
        <p:spPr>
          <a:xfrm>
            <a:off x="636260" y="4464340"/>
            <a:ext cx="318448" cy="381000"/>
          </a:xfrm>
          <a:prstGeom prst="rect">
            <a:avLst/>
          </a:prstGeom>
          <a:noFill/>
        </p:spPr>
        <p:txBody>
          <a:bodyPr wrap="square" rtlCol="0">
            <a:spAutoFit/>
          </a:bodyPr>
          <a:lstStyle/>
          <a:p>
            <a:r>
              <a:rPr lang="en-US" dirty="0"/>
              <a:t>4</a:t>
            </a:r>
          </a:p>
        </p:txBody>
      </p:sp>
      <p:sp>
        <p:nvSpPr>
          <p:cNvPr id="38" name="Rectangle 37"/>
          <p:cNvSpPr/>
          <p:nvPr/>
        </p:nvSpPr>
        <p:spPr>
          <a:xfrm>
            <a:off x="807059" y="3802019"/>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9" name="TextBox 38"/>
          <p:cNvSpPr txBox="1"/>
          <p:nvPr/>
        </p:nvSpPr>
        <p:spPr>
          <a:xfrm>
            <a:off x="910158" y="4463878"/>
            <a:ext cx="318448" cy="381000"/>
          </a:xfrm>
          <a:prstGeom prst="rect">
            <a:avLst/>
          </a:prstGeom>
          <a:noFill/>
        </p:spPr>
        <p:txBody>
          <a:bodyPr wrap="square" rtlCol="0">
            <a:spAutoFit/>
          </a:bodyPr>
          <a:lstStyle/>
          <a:p>
            <a:r>
              <a:rPr lang="en-US" dirty="0"/>
              <a:t>5</a:t>
            </a:r>
          </a:p>
        </p:txBody>
      </p:sp>
      <mc:AlternateContent xmlns:mc="http://schemas.openxmlformats.org/markup-compatibility/2006" xmlns:a14="http://schemas.microsoft.com/office/drawing/2010/main">
        <mc:Choice Requires="a14">
          <p:sp>
            <p:nvSpPr>
              <p:cNvPr id="40" name="Rectangle 39"/>
              <p:cNvSpPr/>
              <p:nvPr/>
            </p:nvSpPr>
            <p:spPr>
              <a:xfrm>
                <a:off x="1080957" y="3799958"/>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1080957" y="3799958"/>
                <a:ext cx="69991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p:sp>
        <p:nvSpPr>
          <p:cNvPr id="41" name="TextBox 40"/>
          <p:cNvSpPr txBox="1"/>
          <p:nvPr/>
        </p:nvSpPr>
        <p:spPr>
          <a:xfrm>
            <a:off x="1616581" y="4421303"/>
            <a:ext cx="318448" cy="381000"/>
          </a:xfrm>
          <a:prstGeom prst="rect">
            <a:avLst/>
          </a:prstGeom>
          <a:noFill/>
        </p:spPr>
        <p:txBody>
          <a:bodyPr wrap="square" rtlCol="0">
            <a:spAutoFit/>
          </a:bodyPr>
          <a:lstStyle/>
          <a:p>
            <a:r>
              <a:rPr lang="en-US" dirty="0"/>
              <a:t>9</a:t>
            </a:r>
          </a:p>
        </p:txBody>
      </p:sp>
      <p:sp>
        <p:nvSpPr>
          <p:cNvPr id="43" name="Rectangle 42"/>
          <p:cNvSpPr/>
          <p:nvPr/>
        </p:nvSpPr>
        <p:spPr>
          <a:xfrm>
            <a:off x="1792442" y="3799957"/>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46" name="TextBox 45"/>
          <p:cNvSpPr txBox="1"/>
          <p:nvPr/>
        </p:nvSpPr>
        <p:spPr>
          <a:xfrm>
            <a:off x="1876794" y="4425221"/>
            <a:ext cx="503953"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sp>
            <p:nvSpPr>
              <p:cNvPr id="47" name="Rectangle 46"/>
              <p:cNvSpPr/>
              <p:nvPr/>
            </p:nvSpPr>
            <p:spPr>
              <a:xfrm>
                <a:off x="2071647" y="3799892"/>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2071647" y="3799892"/>
                <a:ext cx="69991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525848" y="4440236"/>
            <a:ext cx="503953" cy="369332"/>
          </a:xfrm>
          <a:prstGeom prst="rect">
            <a:avLst/>
          </a:prstGeom>
          <a:noFill/>
        </p:spPr>
        <p:txBody>
          <a:bodyPr wrap="square" rtlCol="0">
            <a:spAutoFit/>
          </a:bodyPr>
          <a:lstStyle/>
          <a:p>
            <a:r>
              <a:rPr lang="en-US" dirty="0"/>
              <a:t>12</a:t>
            </a:r>
          </a:p>
        </p:txBody>
      </p:sp>
      <p:sp>
        <p:nvSpPr>
          <p:cNvPr id="51" name="Rectangle 50"/>
          <p:cNvSpPr/>
          <p:nvPr/>
        </p:nvSpPr>
        <p:spPr>
          <a:xfrm>
            <a:off x="2794707" y="3799891"/>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2" name="TextBox 51"/>
          <p:cNvSpPr txBox="1"/>
          <p:nvPr/>
        </p:nvSpPr>
        <p:spPr>
          <a:xfrm>
            <a:off x="2816628" y="4421303"/>
            <a:ext cx="503953" cy="369332"/>
          </a:xfrm>
          <a:prstGeom prst="rect">
            <a:avLst/>
          </a:prstGeom>
          <a:noFill/>
        </p:spPr>
        <p:txBody>
          <a:bodyPr wrap="square" rtlCol="0">
            <a:spAutoFit/>
          </a:bodyPr>
          <a:lstStyle/>
          <a:p>
            <a:r>
              <a:rPr lang="en-US" dirty="0"/>
              <a:t>13</a:t>
            </a:r>
          </a:p>
        </p:txBody>
      </p:sp>
      <mc:AlternateContent xmlns:mc="http://schemas.openxmlformats.org/markup-compatibility/2006" xmlns:a14="http://schemas.microsoft.com/office/drawing/2010/main">
        <mc:Choice Requires="a14">
          <p:sp>
            <p:nvSpPr>
              <p:cNvPr id="53" name="Rectangle 52"/>
              <p:cNvSpPr/>
              <p:nvPr/>
            </p:nvSpPr>
            <p:spPr>
              <a:xfrm>
                <a:off x="3068604" y="3799504"/>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3" name="Rectangle 52"/>
              <p:cNvSpPr>
                <a:spLocks noRot="1" noChangeAspect="1" noMove="1" noResize="1" noEditPoints="1" noAdjustHandles="1" noChangeArrowheads="1" noChangeShapeType="1" noTextEdit="1"/>
              </p:cNvSpPr>
              <p:nvPr/>
            </p:nvSpPr>
            <p:spPr>
              <a:xfrm>
                <a:off x="3068604" y="3799504"/>
                <a:ext cx="699910"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54" name="TextBox 53"/>
          <p:cNvSpPr txBox="1"/>
          <p:nvPr/>
        </p:nvSpPr>
        <p:spPr>
          <a:xfrm>
            <a:off x="3511475" y="4421303"/>
            <a:ext cx="503953" cy="369332"/>
          </a:xfrm>
          <a:prstGeom prst="rect">
            <a:avLst/>
          </a:prstGeom>
          <a:noFill/>
        </p:spPr>
        <p:txBody>
          <a:bodyPr wrap="square" rtlCol="0">
            <a:spAutoFit/>
          </a:bodyPr>
          <a:lstStyle/>
          <a:p>
            <a:r>
              <a:rPr lang="en-US" dirty="0"/>
              <a:t>17</a:t>
            </a:r>
          </a:p>
        </p:txBody>
      </p:sp>
      <p:sp>
        <p:nvSpPr>
          <p:cNvPr id="56" name="Rectangle 55"/>
          <p:cNvSpPr/>
          <p:nvPr/>
        </p:nvSpPr>
        <p:spPr>
          <a:xfrm>
            <a:off x="3783708" y="3799503"/>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7" name="TextBox 56"/>
          <p:cNvSpPr txBox="1"/>
          <p:nvPr/>
        </p:nvSpPr>
        <p:spPr>
          <a:xfrm>
            <a:off x="3836954" y="4421303"/>
            <a:ext cx="503953" cy="369332"/>
          </a:xfrm>
          <a:prstGeom prst="rect">
            <a:avLst/>
          </a:prstGeom>
          <a:noFill/>
        </p:spPr>
        <p:txBody>
          <a:bodyPr wrap="square" rtlCol="0">
            <a:spAutoFit/>
          </a:bodyPr>
          <a:lstStyle/>
          <a:p>
            <a:r>
              <a:rPr lang="en-US" dirty="0"/>
              <a:t>18</a:t>
            </a:r>
          </a:p>
        </p:txBody>
      </p:sp>
      <mc:AlternateContent xmlns:mc="http://schemas.openxmlformats.org/markup-compatibility/2006" xmlns:a14="http://schemas.microsoft.com/office/drawing/2010/main">
        <mc:Choice Requires="a14">
          <p:sp>
            <p:nvSpPr>
              <p:cNvPr id="58" name="Rectangle 57"/>
              <p:cNvSpPr/>
              <p:nvPr/>
            </p:nvSpPr>
            <p:spPr>
              <a:xfrm>
                <a:off x="4042196" y="3799502"/>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58" name="Rectangle 57"/>
              <p:cNvSpPr>
                <a:spLocks noRot="1" noChangeAspect="1" noMove="1" noResize="1" noEditPoints="1" noAdjustHandles="1" noChangeArrowheads="1" noChangeShapeType="1" noTextEdit="1"/>
              </p:cNvSpPr>
              <p:nvPr/>
            </p:nvSpPr>
            <p:spPr>
              <a:xfrm>
                <a:off x="4042196" y="3799502"/>
                <a:ext cx="699910"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61" name="TextBox 60"/>
          <p:cNvSpPr txBox="1"/>
          <p:nvPr/>
        </p:nvSpPr>
        <p:spPr>
          <a:xfrm>
            <a:off x="4516040" y="4408245"/>
            <a:ext cx="503953" cy="369332"/>
          </a:xfrm>
          <a:prstGeom prst="rect">
            <a:avLst/>
          </a:prstGeom>
          <a:noFill/>
        </p:spPr>
        <p:txBody>
          <a:bodyPr wrap="square" rtlCol="0">
            <a:spAutoFit/>
          </a:bodyPr>
          <a:lstStyle/>
          <a:p>
            <a:r>
              <a:rPr lang="en-US" dirty="0"/>
              <a:t>22</a:t>
            </a:r>
          </a:p>
        </p:txBody>
      </p:sp>
      <p:sp>
        <p:nvSpPr>
          <p:cNvPr id="62" name="Rectangle 61"/>
          <p:cNvSpPr/>
          <p:nvPr/>
        </p:nvSpPr>
        <p:spPr>
          <a:xfrm>
            <a:off x="4757670" y="3794890"/>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63" name="TextBox 62"/>
          <p:cNvSpPr txBox="1"/>
          <p:nvPr/>
        </p:nvSpPr>
        <p:spPr>
          <a:xfrm>
            <a:off x="4805723" y="4408245"/>
            <a:ext cx="503953" cy="369332"/>
          </a:xfrm>
          <a:prstGeom prst="rect">
            <a:avLst/>
          </a:prstGeom>
          <a:noFill/>
        </p:spPr>
        <p:txBody>
          <a:bodyPr wrap="square" rtlCol="0">
            <a:spAutoFit/>
          </a:bodyPr>
          <a:lstStyle/>
          <a:p>
            <a:r>
              <a:rPr lang="en-US" dirty="0"/>
              <a:t>23</a:t>
            </a:r>
          </a:p>
        </p:txBody>
      </p:sp>
      <mc:AlternateContent xmlns:mc="http://schemas.openxmlformats.org/markup-compatibility/2006" xmlns:a14="http://schemas.microsoft.com/office/drawing/2010/main">
        <mc:Choice Requires="a14">
          <p:graphicFrame>
            <p:nvGraphicFramePr>
              <p:cNvPr id="8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693953" y="4901817"/>
              <a:ext cx="2518135" cy="145082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val="20000"/>
                        </a:ext>
                      </a:extLst>
                    </a:gridCol>
                    <a:gridCol w="1569780">
                      <a:extLst>
                        <a:ext uri="{9D8B030D-6E8A-4147-A177-3AD203B41FA5}">
                          <a16:colId xmlns:a16="http://schemas.microsoft.com/office/drawing/2014/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3</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1</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0</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mc:Choice>
        <mc:Fallback xmlns="">
          <p:graphicFrame>
            <p:nvGraphicFramePr>
              <p:cNvPr id="80"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693953" y="4901817"/>
              <a:ext cx="2518135" cy="145082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xmlns="" xmlns:a14="http://schemas.microsoft.com/office/drawing/2010/main" val="20000"/>
                        </a:ext>
                      </a:extLst>
                    </a:gridCol>
                    <a:gridCol w="1569780">
                      <a:extLst>
                        <a:ext uri="{9D8B030D-6E8A-4147-A177-3AD203B41FA5}">
                          <a16:colId xmlns:a16="http://schemas.microsoft.com/office/drawing/2014/main" xmlns="" xmlns:a14="http://schemas.microsoft.com/office/drawing/2010/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5"/>
                          <a:stretch>
                            <a:fillRect t="-132143" r="-166667" b="-217857"/>
                          </a:stretch>
                        </a:blipFill>
                      </a:tcPr>
                    </a:tc>
                    <a:tc>
                      <a:txBody>
                        <a:bodyPr/>
                        <a:lstStyle/>
                        <a:p>
                          <a:pPr algn="ctr"/>
                          <a:r>
                            <a:rPr lang="en-IN" sz="16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5"/>
                          <a:stretch>
                            <a:fillRect t="-236364" r="-166667" b="-121818"/>
                          </a:stretch>
                        </a:blip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5"/>
                          <a:stretch>
                            <a:fillRect t="-336364" r="-166667" b="-21818"/>
                          </a:stretch>
                        </a:blip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bl>
              </a:graphicData>
            </a:graphic>
          </p:graphicFrame>
        </mc:Fallback>
      </mc:AlternateContent>
      <p:sp>
        <p:nvSpPr>
          <p:cNvPr id="81" name="TextBox 80"/>
          <p:cNvSpPr txBox="1"/>
          <p:nvPr/>
        </p:nvSpPr>
        <p:spPr>
          <a:xfrm>
            <a:off x="2715602" y="5350865"/>
            <a:ext cx="2522520" cy="337174"/>
          </a:xfrm>
          <a:prstGeom prst="rect">
            <a:avLst/>
          </a:prstGeom>
          <a:noFill/>
          <a:ln w="38100">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1303875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61" grpId="0"/>
      <p:bldP spid="62" grpId="0" animBg="1"/>
      <p:bldP spid="63" grpId="0"/>
      <p:bldP spid="81"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496070" y="0"/>
                <a:ext cx="5664934"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Round Robin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Take Time quantum = 4 </a:t>
                </a:r>
                <a:r>
                  <a:rPr lang="en-US" sz="2000" dirty="0" err="1"/>
                  <a:t>ms</a:t>
                </a:r>
                <a:r>
                  <a:rPr lang="en-US" sz="2000" dirty="0"/>
                  <a:t> &amp; Context switch overhead = 1 </a:t>
                </a:r>
                <a:r>
                  <a:rPr lang="en-US" sz="2000" dirty="0" err="1"/>
                  <a:t>ms</a:t>
                </a:r>
                <a:endParaRPr lang="en-IN" sz="2000" dirty="0"/>
              </a:p>
              <a:p>
                <a:pPr marL="342900" indent="-342900" algn="just">
                  <a:buFont typeface="Wingdings" panose="05000000000000000000" pitchFamily="2" charset="2"/>
                  <a:buChar char="ü"/>
                </a:pPr>
                <a:r>
                  <a:rPr lang="en-US" sz="2000" dirty="0"/>
                  <a:t>At 4 </a:t>
                </a:r>
                <a:r>
                  <a:rPr lang="en-US" sz="2000" dirty="0" err="1"/>
                  <a:t>ms</a:t>
                </a:r>
                <a:r>
                  <a:rPr lang="en-US" sz="2000" dirty="0"/>
                  <a:t>, process </a:t>
                </a:r>
                <a14:m>
                  <m:oMath xmlns:m="http://schemas.openxmlformats.org/officeDocument/2006/math">
                    <m:sSub>
                      <m:sSubPr>
                        <m:ctrlPr>
                          <a:rPr lang="en-IN" sz="2000" b="1" i="1" smtClean="0">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completes its time quantum. So it is preempted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𝟏</m:t>
                        </m:r>
                      </m:sub>
                    </m:sSub>
                  </m:oMath>
                </a14:m>
                <a:r>
                  <a:rPr lang="en-US" sz="2000" dirty="0"/>
                  <a:t> is allowed to run.</a:t>
                </a:r>
              </a:p>
              <a:p>
                <a:pPr marL="342900" indent="-342900" algn="just">
                  <a:buFont typeface="Wingdings" panose="05000000000000000000" pitchFamily="2" charset="2"/>
                  <a:buChar char="ü"/>
                </a:pPr>
                <a:r>
                  <a:rPr lang="en-US" sz="2000" dirty="0"/>
                  <a:t>1 </a:t>
                </a:r>
                <a:r>
                  <a:rPr lang="en-US" sz="2000" dirty="0" err="1"/>
                  <a:t>ms</a:t>
                </a:r>
                <a:r>
                  <a:rPr lang="en-US" sz="2000" dirty="0"/>
                  <a:t> is wasted on each context switch as overhead.</a:t>
                </a:r>
                <a:endParaRPr lang="en-IN" sz="2000" dirty="0"/>
              </a:p>
              <a:p>
                <a:pPr marL="342900" indent="-342900" algn="just">
                  <a:buFont typeface="Wingdings" panose="05000000000000000000" pitchFamily="2" charset="2"/>
                  <a:buChar char="ü"/>
                </a:pPr>
                <a:r>
                  <a:rPr lang="en-US" sz="2000" dirty="0"/>
                  <a:t>At 12 </a:t>
                </a:r>
                <a:r>
                  <a:rPr lang="en-US" sz="2000" dirty="0" err="1"/>
                  <a:t>ms</a:t>
                </a:r>
                <a:r>
                  <a:rPr lang="en-US" sz="2000" dirty="0"/>
                  <a:t>,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𝟐</m:t>
                        </m:r>
                      </m:sub>
                    </m:sSub>
                  </m:oMath>
                </a14:m>
                <a:r>
                  <a:rPr lang="en-US" sz="2000" dirty="0"/>
                  <a:t> voluntarily release CPU,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is selected to run</a:t>
                </a:r>
                <a:endParaRPr lang="en-IN" sz="2000" dirty="0"/>
              </a:p>
              <a:p>
                <a:pPr marL="342900" indent="-342900" algn="just">
                  <a:buFont typeface="Wingdings" panose="05000000000000000000" pitchFamily="2" charset="2"/>
                  <a:buChar char="ü"/>
                </a:pPr>
                <a:r>
                  <a:rPr lang="en-US" sz="2000" dirty="0"/>
                  <a:t>This procedure is repeated till all processes complete their execution.</a:t>
                </a:r>
                <a:endParaRPr lang="en-IN" sz="2000" dirty="0"/>
              </a:p>
              <a:p>
                <a:pPr algn="just"/>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496070" y="0"/>
                <a:ext cx="5664934" cy="6588000"/>
              </a:xfrm>
              <a:prstGeom prst="rect">
                <a:avLst/>
              </a:prstGeom>
              <a:blipFill>
                <a:blip r:embed="rId2"/>
                <a:stretch>
                  <a:fillRect l="-646"/>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val="20000"/>
                        </a:ext>
                      </a:extLst>
                    </a:gridCol>
                    <a:gridCol w="1278598">
                      <a:extLst>
                        <a:ext uri="{9D8B030D-6E8A-4147-A177-3AD203B41FA5}">
                          <a16:colId xmlns:a16="http://schemas.microsoft.com/office/drawing/2014/main" val="20001"/>
                        </a:ext>
                      </a:extLst>
                    </a:gridCol>
                    <a:gridCol w="3207550">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xmlns="" xmlns:a14="http://schemas.microsoft.com/office/drawing/2010/main" val="20000"/>
                        </a:ext>
                      </a:extLst>
                    </a:gridCol>
                    <a:gridCol w="1278598">
                      <a:extLst>
                        <a:ext uri="{9D8B030D-6E8A-4147-A177-3AD203B41FA5}">
                          <a16:colId xmlns:a16="http://schemas.microsoft.com/office/drawing/2014/main" xmlns="" xmlns:a14="http://schemas.microsoft.com/office/drawing/2010/main" val="20001"/>
                        </a:ext>
                      </a:extLst>
                    </a:gridCol>
                    <a:gridCol w="3207550">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4762" t="-3810" r="-25142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118478" r="-470064"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218478" r="-470064"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318478" r="-470064"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418478" r="-470064"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5574" y="380202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5574" y="380202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37" name="TextBox 36"/>
          <p:cNvSpPr txBox="1"/>
          <p:nvPr/>
        </p:nvSpPr>
        <p:spPr>
          <a:xfrm>
            <a:off x="636260" y="4464340"/>
            <a:ext cx="318448" cy="381000"/>
          </a:xfrm>
          <a:prstGeom prst="rect">
            <a:avLst/>
          </a:prstGeom>
          <a:noFill/>
        </p:spPr>
        <p:txBody>
          <a:bodyPr wrap="square" rtlCol="0">
            <a:spAutoFit/>
          </a:bodyPr>
          <a:lstStyle/>
          <a:p>
            <a:r>
              <a:rPr lang="en-US" dirty="0"/>
              <a:t>4</a:t>
            </a:r>
          </a:p>
        </p:txBody>
      </p:sp>
      <p:sp>
        <p:nvSpPr>
          <p:cNvPr id="38" name="Rectangle 37"/>
          <p:cNvSpPr/>
          <p:nvPr/>
        </p:nvSpPr>
        <p:spPr>
          <a:xfrm>
            <a:off x="807059" y="3802019"/>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9" name="TextBox 38"/>
          <p:cNvSpPr txBox="1"/>
          <p:nvPr/>
        </p:nvSpPr>
        <p:spPr>
          <a:xfrm>
            <a:off x="910158" y="4463878"/>
            <a:ext cx="318448" cy="381000"/>
          </a:xfrm>
          <a:prstGeom prst="rect">
            <a:avLst/>
          </a:prstGeom>
          <a:noFill/>
        </p:spPr>
        <p:txBody>
          <a:bodyPr wrap="square" rtlCol="0">
            <a:spAutoFit/>
          </a:bodyPr>
          <a:lstStyle/>
          <a:p>
            <a:r>
              <a:rPr lang="en-US" dirty="0"/>
              <a:t>5</a:t>
            </a:r>
          </a:p>
        </p:txBody>
      </p:sp>
      <mc:AlternateContent xmlns:mc="http://schemas.openxmlformats.org/markup-compatibility/2006" xmlns:a14="http://schemas.microsoft.com/office/drawing/2010/main">
        <mc:Choice Requires="a14">
          <p:sp>
            <p:nvSpPr>
              <p:cNvPr id="40" name="Rectangle 39"/>
              <p:cNvSpPr/>
              <p:nvPr/>
            </p:nvSpPr>
            <p:spPr>
              <a:xfrm>
                <a:off x="1080957" y="3799958"/>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1080957" y="3799958"/>
                <a:ext cx="69991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p:sp>
        <p:nvSpPr>
          <p:cNvPr id="41" name="TextBox 40"/>
          <p:cNvSpPr txBox="1"/>
          <p:nvPr/>
        </p:nvSpPr>
        <p:spPr>
          <a:xfrm>
            <a:off x="1616581" y="4421303"/>
            <a:ext cx="318448" cy="381000"/>
          </a:xfrm>
          <a:prstGeom prst="rect">
            <a:avLst/>
          </a:prstGeom>
          <a:noFill/>
        </p:spPr>
        <p:txBody>
          <a:bodyPr wrap="square" rtlCol="0">
            <a:spAutoFit/>
          </a:bodyPr>
          <a:lstStyle/>
          <a:p>
            <a:r>
              <a:rPr lang="en-US" dirty="0"/>
              <a:t>9</a:t>
            </a:r>
          </a:p>
        </p:txBody>
      </p:sp>
      <p:sp>
        <p:nvSpPr>
          <p:cNvPr id="43" name="Rectangle 42"/>
          <p:cNvSpPr/>
          <p:nvPr/>
        </p:nvSpPr>
        <p:spPr>
          <a:xfrm>
            <a:off x="1792442" y="3799957"/>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46" name="TextBox 45"/>
          <p:cNvSpPr txBox="1"/>
          <p:nvPr/>
        </p:nvSpPr>
        <p:spPr>
          <a:xfrm>
            <a:off x="1876794" y="4425221"/>
            <a:ext cx="503953"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sp>
            <p:nvSpPr>
              <p:cNvPr id="47" name="Rectangle 46"/>
              <p:cNvSpPr/>
              <p:nvPr/>
            </p:nvSpPr>
            <p:spPr>
              <a:xfrm>
                <a:off x="2071647" y="3799892"/>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2071647" y="3799892"/>
                <a:ext cx="69991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525848" y="4440236"/>
            <a:ext cx="503953" cy="369332"/>
          </a:xfrm>
          <a:prstGeom prst="rect">
            <a:avLst/>
          </a:prstGeom>
          <a:noFill/>
        </p:spPr>
        <p:txBody>
          <a:bodyPr wrap="square" rtlCol="0">
            <a:spAutoFit/>
          </a:bodyPr>
          <a:lstStyle/>
          <a:p>
            <a:r>
              <a:rPr lang="en-US" dirty="0"/>
              <a:t>12</a:t>
            </a:r>
          </a:p>
        </p:txBody>
      </p:sp>
      <p:sp>
        <p:nvSpPr>
          <p:cNvPr id="51" name="Rectangle 50"/>
          <p:cNvSpPr/>
          <p:nvPr/>
        </p:nvSpPr>
        <p:spPr>
          <a:xfrm>
            <a:off x="2794707" y="3799891"/>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2" name="TextBox 51"/>
          <p:cNvSpPr txBox="1"/>
          <p:nvPr/>
        </p:nvSpPr>
        <p:spPr>
          <a:xfrm>
            <a:off x="2816628" y="4421303"/>
            <a:ext cx="503953" cy="369332"/>
          </a:xfrm>
          <a:prstGeom prst="rect">
            <a:avLst/>
          </a:prstGeom>
          <a:noFill/>
        </p:spPr>
        <p:txBody>
          <a:bodyPr wrap="square" rtlCol="0">
            <a:spAutoFit/>
          </a:bodyPr>
          <a:lstStyle/>
          <a:p>
            <a:r>
              <a:rPr lang="en-US" dirty="0"/>
              <a:t>13</a:t>
            </a:r>
          </a:p>
        </p:txBody>
      </p:sp>
      <mc:AlternateContent xmlns:mc="http://schemas.openxmlformats.org/markup-compatibility/2006" xmlns:a14="http://schemas.microsoft.com/office/drawing/2010/main">
        <mc:Choice Requires="a14">
          <p:sp>
            <p:nvSpPr>
              <p:cNvPr id="53" name="Rectangle 52"/>
              <p:cNvSpPr/>
              <p:nvPr/>
            </p:nvSpPr>
            <p:spPr>
              <a:xfrm>
                <a:off x="3068604" y="3799504"/>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3" name="Rectangle 52"/>
              <p:cNvSpPr>
                <a:spLocks noRot="1" noChangeAspect="1" noMove="1" noResize="1" noEditPoints="1" noAdjustHandles="1" noChangeArrowheads="1" noChangeShapeType="1" noTextEdit="1"/>
              </p:cNvSpPr>
              <p:nvPr/>
            </p:nvSpPr>
            <p:spPr>
              <a:xfrm>
                <a:off x="3068604" y="3799504"/>
                <a:ext cx="699910"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54" name="TextBox 53"/>
          <p:cNvSpPr txBox="1"/>
          <p:nvPr/>
        </p:nvSpPr>
        <p:spPr>
          <a:xfrm>
            <a:off x="3511475" y="4421303"/>
            <a:ext cx="503953" cy="369332"/>
          </a:xfrm>
          <a:prstGeom prst="rect">
            <a:avLst/>
          </a:prstGeom>
          <a:noFill/>
        </p:spPr>
        <p:txBody>
          <a:bodyPr wrap="square" rtlCol="0">
            <a:spAutoFit/>
          </a:bodyPr>
          <a:lstStyle/>
          <a:p>
            <a:r>
              <a:rPr lang="en-US" dirty="0"/>
              <a:t>17</a:t>
            </a:r>
          </a:p>
        </p:txBody>
      </p:sp>
      <p:sp>
        <p:nvSpPr>
          <p:cNvPr id="56" name="Rectangle 55"/>
          <p:cNvSpPr/>
          <p:nvPr/>
        </p:nvSpPr>
        <p:spPr>
          <a:xfrm>
            <a:off x="3783708" y="3799503"/>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7" name="TextBox 56"/>
          <p:cNvSpPr txBox="1"/>
          <p:nvPr/>
        </p:nvSpPr>
        <p:spPr>
          <a:xfrm>
            <a:off x="3836954" y="4421303"/>
            <a:ext cx="503953" cy="369332"/>
          </a:xfrm>
          <a:prstGeom prst="rect">
            <a:avLst/>
          </a:prstGeom>
          <a:noFill/>
        </p:spPr>
        <p:txBody>
          <a:bodyPr wrap="square" rtlCol="0">
            <a:spAutoFit/>
          </a:bodyPr>
          <a:lstStyle/>
          <a:p>
            <a:r>
              <a:rPr lang="en-US" dirty="0"/>
              <a:t>18</a:t>
            </a:r>
          </a:p>
        </p:txBody>
      </p:sp>
      <mc:AlternateContent xmlns:mc="http://schemas.openxmlformats.org/markup-compatibility/2006" xmlns:a14="http://schemas.microsoft.com/office/drawing/2010/main">
        <mc:Choice Requires="a14">
          <p:sp>
            <p:nvSpPr>
              <p:cNvPr id="58" name="Rectangle 57"/>
              <p:cNvSpPr/>
              <p:nvPr/>
            </p:nvSpPr>
            <p:spPr>
              <a:xfrm>
                <a:off x="4042196" y="3799502"/>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58" name="Rectangle 57"/>
              <p:cNvSpPr>
                <a:spLocks noRot="1" noChangeAspect="1" noMove="1" noResize="1" noEditPoints="1" noAdjustHandles="1" noChangeArrowheads="1" noChangeShapeType="1" noTextEdit="1"/>
              </p:cNvSpPr>
              <p:nvPr/>
            </p:nvSpPr>
            <p:spPr>
              <a:xfrm>
                <a:off x="4042196" y="3799502"/>
                <a:ext cx="699910"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61" name="TextBox 60"/>
          <p:cNvSpPr txBox="1"/>
          <p:nvPr/>
        </p:nvSpPr>
        <p:spPr>
          <a:xfrm>
            <a:off x="4516040" y="4408245"/>
            <a:ext cx="503953" cy="369332"/>
          </a:xfrm>
          <a:prstGeom prst="rect">
            <a:avLst/>
          </a:prstGeom>
          <a:noFill/>
        </p:spPr>
        <p:txBody>
          <a:bodyPr wrap="square" rtlCol="0">
            <a:spAutoFit/>
          </a:bodyPr>
          <a:lstStyle/>
          <a:p>
            <a:r>
              <a:rPr lang="en-US" dirty="0"/>
              <a:t>22</a:t>
            </a:r>
          </a:p>
        </p:txBody>
      </p:sp>
      <p:sp>
        <p:nvSpPr>
          <p:cNvPr id="62" name="Rectangle 61"/>
          <p:cNvSpPr/>
          <p:nvPr/>
        </p:nvSpPr>
        <p:spPr>
          <a:xfrm>
            <a:off x="4757670" y="3794890"/>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63" name="TextBox 62"/>
          <p:cNvSpPr txBox="1"/>
          <p:nvPr/>
        </p:nvSpPr>
        <p:spPr>
          <a:xfrm>
            <a:off x="4805723" y="4408245"/>
            <a:ext cx="503953" cy="369332"/>
          </a:xfrm>
          <a:prstGeom prst="rect">
            <a:avLst/>
          </a:prstGeom>
          <a:noFill/>
        </p:spPr>
        <p:txBody>
          <a:bodyPr wrap="square" rtlCol="0">
            <a:spAutoFit/>
          </a:bodyPr>
          <a:lstStyle/>
          <a:p>
            <a:r>
              <a:rPr lang="en-US" dirty="0"/>
              <a:t>23</a:t>
            </a:r>
          </a:p>
        </p:txBody>
      </p:sp>
      <mc:AlternateContent xmlns:mc="http://schemas.openxmlformats.org/markup-compatibility/2006" xmlns:a14="http://schemas.microsoft.com/office/drawing/2010/main">
        <mc:Choice Requires="a14">
          <p:sp>
            <p:nvSpPr>
              <p:cNvPr id="64" name="Rectangle 63"/>
              <p:cNvSpPr/>
              <p:nvPr/>
            </p:nvSpPr>
            <p:spPr>
              <a:xfrm>
                <a:off x="5029606" y="3799501"/>
                <a:ext cx="5198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64" name="Rectangle 63"/>
              <p:cNvSpPr>
                <a:spLocks noRot="1" noChangeAspect="1" noMove="1" noResize="1" noEditPoints="1" noAdjustHandles="1" noChangeArrowheads="1" noChangeShapeType="1" noTextEdit="1"/>
              </p:cNvSpPr>
              <p:nvPr/>
            </p:nvSpPr>
            <p:spPr>
              <a:xfrm>
                <a:off x="5029606" y="3799501"/>
                <a:ext cx="519870" cy="655359"/>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p:sp>
        <p:nvSpPr>
          <p:cNvPr id="65" name="TextBox 64"/>
          <p:cNvSpPr txBox="1"/>
          <p:nvPr/>
        </p:nvSpPr>
        <p:spPr>
          <a:xfrm>
            <a:off x="5287501" y="4421303"/>
            <a:ext cx="503953" cy="369332"/>
          </a:xfrm>
          <a:prstGeom prst="rect">
            <a:avLst/>
          </a:prstGeom>
          <a:noFill/>
        </p:spPr>
        <p:txBody>
          <a:bodyPr wrap="square" rtlCol="0">
            <a:spAutoFit/>
          </a:bodyPr>
          <a:lstStyle/>
          <a:p>
            <a:r>
              <a:rPr lang="en-US" dirty="0"/>
              <a:t>25</a:t>
            </a:r>
          </a:p>
        </p:txBody>
      </p:sp>
      <p:sp>
        <p:nvSpPr>
          <p:cNvPr id="67" name="Rectangle 66"/>
          <p:cNvSpPr/>
          <p:nvPr/>
        </p:nvSpPr>
        <p:spPr>
          <a:xfrm>
            <a:off x="5545987" y="3790522"/>
            <a:ext cx="25400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68" name="TextBox 67"/>
          <p:cNvSpPr txBox="1"/>
          <p:nvPr/>
        </p:nvSpPr>
        <p:spPr>
          <a:xfrm>
            <a:off x="5593701" y="4419823"/>
            <a:ext cx="503953" cy="369332"/>
          </a:xfrm>
          <a:prstGeom prst="rect">
            <a:avLst/>
          </a:prstGeom>
          <a:noFill/>
        </p:spPr>
        <p:txBody>
          <a:bodyPr wrap="square" rtlCol="0">
            <a:spAutoFit/>
          </a:bodyPr>
          <a:lstStyle/>
          <a:p>
            <a:r>
              <a:rPr lang="en-US" dirty="0"/>
              <a:t>26</a:t>
            </a:r>
          </a:p>
        </p:txBody>
      </p:sp>
      <mc:AlternateContent xmlns:mc="http://schemas.openxmlformats.org/markup-compatibility/2006" xmlns:a14="http://schemas.microsoft.com/office/drawing/2010/main">
        <mc:Choice Requires="a14">
          <p:graphicFrame>
            <p:nvGraphicFramePr>
              <p:cNvPr id="82"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649686" y="4878052"/>
              <a:ext cx="2518135" cy="111554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val="20000"/>
                        </a:ext>
                      </a:extLst>
                    </a:gridCol>
                    <a:gridCol w="1569780">
                      <a:extLst>
                        <a:ext uri="{9D8B030D-6E8A-4147-A177-3AD203B41FA5}">
                          <a16:colId xmlns:a16="http://schemas.microsoft.com/office/drawing/2014/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1</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0</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mc:Choice>
        <mc:Fallback xmlns="">
          <p:graphicFrame>
            <p:nvGraphicFramePr>
              <p:cNvPr id="82"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3649686" y="4878052"/>
              <a:ext cx="2518135" cy="111554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xmlns="" xmlns:a14="http://schemas.microsoft.com/office/drawing/2010/main" val="20000"/>
                        </a:ext>
                      </a:extLst>
                    </a:gridCol>
                    <a:gridCol w="1569780">
                      <a:extLst>
                        <a:ext uri="{9D8B030D-6E8A-4147-A177-3AD203B41FA5}">
                          <a16:colId xmlns:a16="http://schemas.microsoft.com/office/drawing/2014/main" xmlns="" xmlns:a14="http://schemas.microsoft.com/office/drawing/2010/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6"/>
                          <a:stretch>
                            <a:fillRect t="-132143" r="-166026" b="-119643"/>
                          </a:stretch>
                        </a:blip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6"/>
                          <a:stretch>
                            <a:fillRect t="-236364" r="-166026" b="-21818"/>
                          </a:stretch>
                        </a:blip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bl>
              </a:graphicData>
            </a:graphic>
          </p:graphicFrame>
        </mc:Fallback>
      </mc:AlternateContent>
      <p:sp>
        <p:nvSpPr>
          <p:cNvPr id="83" name="TextBox 82"/>
          <p:cNvSpPr txBox="1"/>
          <p:nvPr/>
        </p:nvSpPr>
        <p:spPr>
          <a:xfrm>
            <a:off x="3654285" y="5332361"/>
            <a:ext cx="2522520" cy="337174"/>
          </a:xfrm>
          <a:prstGeom prst="rect">
            <a:avLst/>
          </a:prstGeom>
          <a:noFill/>
          <a:ln w="38100">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170215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additive="base">
                                        <p:cTn id="7" dur="500" fill="hold"/>
                                        <p:tgtEl>
                                          <p:spTgt spid="82"/>
                                        </p:tgtEl>
                                        <p:attrNameLst>
                                          <p:attrName>ppt_x</p:attrName>
                                        </p:attrNameLst>
                                      </p:cBhvr>
                                      <p:tavLst>
                                        <p:tav tm="0">
                                          <p:val>
                                            <p:strVal val="#ppt_x"/>
                                          </p:val>
                                        </p:tav>
                                        <p:tav tm="100000">
                                          <p:val>
                                            <p:strVal val="#ppt_x"/>
                                          </p:val>
                                        </p:tav>
                                      </p:tavLst>
                                    </p:anim>
                                    <p:anim calcmode="lin" valueType="num">
                                      <p:cBhvr additive="base">
                                        <p:cTn id="8" dur="500" fill="hold"/>
                                        <p:tgtEl>
                                          <p:spTgt spid="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p:bldP spid="67" grpId="0" animBg="1"/>
      <p:bldP spid="68" grpId="0"/>
      <p:bldP spid="83"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496070" y="0"/>
                <a:ext cx="5664934"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Round Robin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Take Time quantum = 4 </a:t>
                </a:r>
                <a:r>
                  <a:rPr lang="en-US" sz="2000" dirty="0" err="1"/>
                  <a:t>ms</a:t>
                </a:r>
                <a:r>
                  <a:rPr lang="en-US" sz="2000" dirty="0"/>
                  <a:t> &amp; Context switch overhead = 1 </a:t>
                </a:r>
                <a:r>
                  <a:rPr lang="en-US" sz="2000" dirty="0" err="1"/>
                  <a:t>ms</a:t>
                </a:r>
                <a:endParaRPr lang="en-IN" sz="2000" dirty="0"/>
              </a:p>
              <a:p>
                <a:pPr marL="342900" indent="-342900" algn="just">
                  <a:buFont typeface="Wingdings" panose="05000000000000000000" pitchFamily="2" charset="2"/>
                  <a:buChar char="ü"/>
                </a:pPr>
                <a:r>
                  <a:rPr lang="en-US" sz="2000" dirty="0"/>
                  <a:t>At 4 </a:t>
                </a:r>
                <a:r>
                  <a:rPr lang="en-US" sz="2000" dirty="0" err="1"/>
                  <a:t>ms</a:t>
                </a:r>
                <a:r>
                  <a:rPr lang="en-US" sz="2000" dirty="0"/>
                  <a:t>, process </a:t>
                </a:r>
                <a14:m>
                  <m:oMath xmlns:m="http://schemas.openxmlformats.org/officeDocument/2006/math">
                    <m:sSub>
                      <m:sSubPr>
                        <m:ctrlPr>
                          <a:rPr lang="en-IN" sz="2000" b="1" i="1" smtClean="0">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completes its time quantum. So it is preempted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𝟏</m:t>
                        </m:r>
                      </m:sub>
                    </m:sSub>
                  </m:oMath>
                </a14:m>
                <a:r>
                  <a:rPr lang="en-US" sz="2000" dirty="0"/>
                  <a:t> is allowed to run.</a:t>
                </a:r>
              </a:p>
              <a:p>
                <a:pPr marL="342900" indent="-342900" algn="just">
                  <a:buFont typeface="Wingdings" panose="05000000000000000000" pitchFamily="2" charset="2"/>
                  <a:buChar char="ü"/>
                </a:pPr>
                <a:r>
                  <a:rPr lang="en-US" sz="2000" dirty="0"/>
                  <a:t>1 </a:t>
                </a:r>
                <a:r>
                  <a:rPr lang="en-US" sz="2000" dirty="0" err="1"/>
                  <a:t>ms</a:t>
                </a:r>
                <a:r>
                  <a:rPr lang="en-US" sz="2000" dirty="0"/>
                  <a:t> is wasted on each context switch as overhead.</a:t>
                </a:r>
                <a:endParaRPr lang="en-IN" sz="2000" dirty="0"/>
              </a:p>
              <a:p>
                <a:pPr marL="342900" indent="-342900" algn="just">
                  <a:buFont typeface="Wingdings" panose="05000000000000000000" pitchFamily="2" charset="2"/>
                  <a:buChar char="ü"/>
                </a:pPr>
                <a:r>
                  <a:rPr lang="en-US" sz="2000" dirty="0"/>
                  <a:t>At 12 </a:t>
                </a:r>
                <a:r>
                  <a:rPr lang="en-US" sz="2000" dirty="0" err="1"/>
                  <a:t>ms</a:t>
                </a:r>
                <a:r>
                  <a:rPr lang="en-US" sz="2000" dirty="0"/>
                  <a:t>,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𝟐</m:t>
                        </m:r>
                      </m:sub>
                    </m:sSub>
                  </m:oMath>
                </a14:m>
                <a:r>
                  <a:rPr lang="en-US" sz="2000" dirty="0"/>
                  <a:t> voluntarily release CPU,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is selected to run</a:t>
                </a:r>
                <a:endParaRPr lang="en-IN" sz="2000" dirty="0"/>
              </a:p>
              <a:p>
                <a:pPr marL="342900" indent="-342900" algn="just">
                  <a:buFont typeface="Wingdings" panose="05000000000000000000" pitchFamily="2" charset="2"/>
                  <a:buChar char="ü"/>
                </a:pPr>
                <a:r>
                  <a:rPr lang="en-US" sz="2000" dirty="0"/>
                  <a:t>This procedure is repeated till all processes complete their execution.</a:t>
                </a:r>
                <a:endParaRPr lang="en-IN" sz="2000" dirty="0"/>
              </a:p>
              <a:p>
                <a:pPr algn="just"/>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496070" y="0"/>
                <a:ext cx="5664934" cy="6588000"/>
              </a:xfrm>
              <a:prstGeom prst="rect">
                <a:avLst/>
              </a:prstGeom>
              <a:blipFill>
                <a:blip r:embed="rId2"/>
                <a:stretch>
                  <a:fillRect l="-646"/>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val="20000"/>
                        </a:ext>
                      </a:extLst>
                    </a:gridCol>
                    <a:gridCol w="1278598">
                      <a:extLst>
                        <a:ext uri="{9D8B030D-6E8A-4147-A177-3AD203B41FA5}">
                          <a16:colId xmlns:a16="http://schemas.microsoft.com/office/drawing/2014/main" val="20001"/>
                        </a:ext>
                      </a:extLst>
                    </a:gridCol>
                    <a:gridCol w="3207550">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346130" y="388018"/>
              <a:ext cx="5441876" cy="2874036"/>
            </p:xfrm>
            <a:graphic>
              <a:graphicData uri="http://schemas.openxmlformats.org/drawingml/2006/table">
                <a:tbl>
                  <a:tblPr firstRow="1" bandRow="1">
                    <a:tableStyleId>{8EC20E35-A176-4012-BC5E-935CFFF8708E}</a:tableStyleId>
                  </a:tblPr>
                  <a:tblGrid>
                    <a:gridCol w="955728">
                      <a:extLst>
                        <a:ext uri="{9D8B030D-6E8A-4147-A177-3AD203B41FA5}">
                          <a16:colId xmlns:a16="http://schemas.microsoft.com/office/drawing/2014/main" xmlns="" xmlns:a14="http://schemas.microsoft.com/office/drawing/2010/main" val="20000"/>
                        </a:ext>
                      </a:extLst>
                    </a:gridCol>
                    <a:gridCol w="1278598">
                      <a:extLst>
                        <a:ext uri="{9D8B030D-6E8A-4147-A177-3AD203B41FA5}">
                          <a16:colId xmlns:a16="http://schemas.microsoft.com/office/drawing/2014/main" xmlns="" xmlns:a14="http://schemas.microsoft.com/office/drawing/2010/main" val="20001"/>
                        </a:ext>
                      </a:extLst>
                    </a:gridCol>
                    <a:gridCol w="3207550">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4762" t="-3810" r="-25142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118478" r="-470064"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218478" r="-470064"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318478" r="-470064"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t="-418478" r="-470064"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5574" y="380202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5574" y="380202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37" name="TextBox 36"/>
          <p:cNvSpPr txBox="1"/>
          <p:nvPr/>
        </p:nvSpPr>
        <p:spPr>
          <a:xfrm>
            <a:off x="636260" y="4464340"/>
            <a:ext cx="318448" cy="381000"/>
          </a:xfrm>
          <a:prstGeom prst="rect">
            <a:avLst/>
          </a:prstGeom>
          <a:noFill/>
        </p:spPr>
        <p:txBody>
          <a:bodyPr wrap="square" rtlCol="0">
            <a:spAutoFit/>
          </a:bodyPr>
          <a:lstStyle/>
          <a:p>
            <a:r>
              <a:rPr lang="en-US" dirty="0"/>
              <a:t>4</a:t>
            </a:r>
          </a:p>
        </p:txBody>
      </p:sp>
      <p:sp>
        <p:nvSpPr>
          <p:cNvPr id="38" name="Rectangle 37"/>
          <p:cNvSpPr/>
          <p:nvPr/>
        </p:nvSpPr>
        <p:spPr>
          <a:xfrm>
            <a:off x="807059" y="3802019"/>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9" name="TextBox 38"/>
          <p:cNvSpPr txBox="1"/>
          <p:nvPr/>
        </p:nvSpPr>
        <p:spPr>
          <a:xfrm>
            <a:off x="910158" y="4463878"/>
            <a:ext cx="318448" cy="381000"/>
          </a:xfrm>
          <a:prstGeom prst="rect">
            <a:avLst/>
          </a:prstGeom>
          <a:noFill/>
        </p:spPr>
        <p:txBody>
          <a:bodyPr wrap="square" rtlCol="0">
            <a:spAutoFit/>
          </a:bodyPr>
          <a:lstStyle/>
          <a:p>
            <a:r>
              <a:rPr lang="en-US" dirty="0"/>
              <a:t>5</a:t>
            </a:r>
          </a:p>
        </p:txBody>
      </p:sp>
      <mc:AlternateContent xmlns:mc="http://schemas.openxmlformats.org/markup-compatibility/2006" xmlns:a14="http://schemas.microsoft.com/office/drawing/2010/main">
        <mc:Choice Requires="a14">
          <p:sp>
            <p:nvSpPr>
              <p:cNvPr id="40" name="Rectangle 39"/>
              <p:cNvSpPr/>
              <p:nvPr/>
            </p:nvSpPr>
            <p:spPr>
              <a:xfrm>
                <a:off x="1080957" y="3799958"/>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1080957" y="3799958"/>
                <a:ext cx="69991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p:sp>
        <p:nvSpPr>
          <p:cNvPr id="41" name="TextBox 40"/>
          <p:cNvSpPr txBox="1"/>
          <p:nvPr/>
        </p:nvSpPr>
        <p:spPr>
          <a:xfrm>
            <a:off x="1616581" y="4421303"/>
            <a:ext cx="318448" cy="381000"/>
          </a:xfrm>
          <a:prstGeom prst="rect">
            <a:avLst/>
          </a:prstGeom>
          <a:noFill/>
        </p:spPr>
        <p:txBody>
          <a:bodyPr wrap="square" rtlCol="0">
            <a:spAutoFit/>
          </a:bodyPr>
          <a:lstStyle/>
          <a:p>
            <a:r>
              <a:rPr lang="en-US" dirty="0"/>
              <a:t>9</a:t>
            </a:r>
          </a:p>
        </p:txBody>
      </p:sp>
      <p:sp>
        <p:nvSpPr>
          <p:cNvPr id="43" name="Rectangle 42"/>
          <p:cNvSpPr/>
          <p:nvPr/>
        </p:nvSpPr>
        <p:spPr>
          <a:xfrm>
            <a:off x="1792442" y="3799957"/>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46" name="TextBox 45"/>
          <p:cNvSpPr txBox="1"/>
          <p:nvPr/>
        </p:nvSpPr>
        <p:spPr>
          <a:xfrm>
            <a:off x="1876794" y="4425221"/>
            <a:ext cx="503953"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sp>
            <p:nvSpPr>
              <p:cNvPr id="47" name="Rectangle 46"/>
              <p:cNvSpPr/>
              <p:nvPr/>
            </p:nvSpPr>
            <p:spPr>
              <a:xfrm>
                <a:off x="2071647" y="3799892"/>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2071647" y="3799892"/>
                <a:ext cx="69991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525848" y="4440236"/>
            <a:ext cx="503953" cy="369332"/>
          </a:xfrm>
          <a:prstGeom prst="rect">
            <a:avLst/>
          </a:prstGeom>
          <a:noFill/>
        </p:spPr>
        <p:txBody>
          <a:bodyPr wrap="square" rtlCol="0">
            <a:spAutoFit/>
          </a:bodyPr>
          <a:lstStyle/>
          <a:p>
            <a:r>
              <a:rPr lang="en-US" dirty="0"/>
              <a:t>12</a:t>
            </a:r>
          </a:p>
        </p:txBody>
      </p:sp>
      <p:sp>
        <p:nvSpPr>
          <p:cNvPr id="51" name="Rectangle 50"/>
          <p:cNvSpPr/>
          <p:nvPr/>
        </p:nvSpPr>
        <p:spPr>
          <a:xfrm>
            <a:off x="2794707" y="3799891"/>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2" name="TextBox 51"/>
          <p:cNvSpPr txBox="1"/>
          <p:nvPr/>
        </p:nvSpPr>
        <p:spPr>
          <a:xfrm>
            <a:off x="2816628" y="4421303"/>
            <a:ext cx="503953" cy="369332"/>
          </a:xfrm>
          <a:prstGeom prst="rect">
            <a:avLst/>
          </a:prstGeom>
          <a:noFill/>
        </p:spPr>
        <p:txBody>
          <a:bodyPr wrap="square" rtlCol="0">
            <a:spAutoFit/>
          </a:bodyPr>
          <a:lstStyle/>
          <a:p>
            <a:r>
              <a:rPr lang="en-US" dirty="0"/>
              <a:t>13</a:t>
            </a:r>
          </a:p>
        </p:txBody>
      </p:sp>
      <mc:AlternateContent xmlns:mc="http://schemas.openxmlformats.org/markup-compatibility/2006" xmlns:a14="http://schemas.microsoft.com/office/drawing/2010/main">
        <mc:Choice Requires="a14">
          <p:sp>
            <p:nvSpPr>
              <p:cNvPr id="53" name="Rectangle 52"/>
              <p:cNvSpPr/>
              <p:nvPr/>
            </p:nvSpPr>
            <p:spPr>
              <a:xfrm>
                <a:off x="3068604" y="3799504"/>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3" name="Rectangle 52"/>
              <p:cNvSpPr>
                <a:spLocks noRot="1" noChangeAspect="1" noMove="1" noResize="1" noEditPoints="1" noAdjustHandles="1" noChangeArrowheads="1" noChangeShapeType="1" noTextEdit="1"/>
              </p:cNvSpPr>
              <p:nvPr/>
            </p:nvSpPr>
            <p:spPr>
              <a:xfrm>
                <a:off x="3068604" y="3799504"/>
                <a:ext cx="699910"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54" name="TextBox 53"/>
          <p:cNvSpPr txBox="1"/>
          <p:nvPr/>
        </p:nvSpPr>
        <p:spPr>
          <a:xfrm>
            <a:off x="3511475" y="4421303"/>
            <a:ext cx="503953" cy="369332"/>
          </a:xfrm>
          <a:prstGeom prst="rect">
            <a:avLst/>
          </a:prstGeom>
          <a:noFill/>
        </p:spPr>
        <p:txBody>
          <a:bodyPr wrap="square" rtlCol="0">
            <a:spAutoFit/>
          </a:bodyPr>
          <a:lstStyle/>
          <a:p>
            <a:r>
              <a:rPr lang="en-US" dirty="0"/>
              <a:t>17</a:t>
            </a:r>
          </a:p>
        </p:txBody>
      </p:sp>
      <p:sp>
        <p:nvSpPr>
          <p:cNvPr id="56" name="Rectangle 55"/>
          <p:cNvSpPr/>
          <p:nvPr/>
        </p:nvSpPr>
        <p:spPr>
          <a:xfrm>
            <a:off x="3783708" y="3799503"/>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7" name="TextBox 56"/>
          <p:cNvSpPr txBox="1"/>
          <p:nvPr/>
        </p:nvSpPr>
        <p:spPr>
          <a:xfrm>
            <a:off x="3836954" y="4421303"/>
            <a:ext cx="503953" cy="369332"/>
          </a:xfrm>
          <a:prstGeom prst="rect">
            <a:avLst/>
          </a:prstGeom>
          <a:noFill/>
        </p:spPr>
        <p:txBody>
          <a:bodyPr wrap="square" rtlCol="0">
            <a:spAutoFit/>
          </a:bodyPr>
          <a:lstStyle/>
          <a:p>
            <a:r>
              <a:rPr lang="en-US" dirty="0"/>
              <a:t>18</a:t>
            </a:r>
          </a:p>
        </p:txBody>
      </p:sp>
      <mc:AlternateContent xmlns:mc="http://schemas.openxmlformats.org/markup-compatibility/2006" xmlns:a14="http://schemas.microsoft.com/office/drawing/2010/main">
        <mc:Choice Requires="a14">
          <p:sp>
            <p:nvSpPr>
              <p:cNvPr id="58" name="Rectangle 57"/>
              <p:cNvSpPr/>
              <p:nvPr/>
            </p:nvSpPr>
            <p:spPr>
              <a:xfrm>
                <a:off x="4042196" y="3799502"/>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58" name="Rectangle 57"/>
              <p:cNvSpPr>
                <a:spLocks noRot="1" noChangeAspect="1" noMove="1" noResize="1" noEditPoints="1" noAdjustHandles="1" noChangeArrowheads="1" noChangeShapeType="1" noTextEdit="1"/>
              </p:cNvSpPr>
              <p:nvPr/>
            </p:nvSpPr>
            <p:spPr>
              <a:xfrm>
                <a:off x="4042196" y="3799502"/>
                <a:ext cx="699910"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61" name="TextBox 60"/>
          <p:cNvSpPr txBox="1"/>
          <p:nvPr/>
        </p:nvSpPr>
        <p:spPr>
          <a:xfrm>
            <a:off x="4516040" y="4408245"/>
            <a:ext cx="503953" cy="369332"/>
          </a:xfrm>
          <a:prstGeom prst="rect">
            <a:avLst/>
          </a:prstGeom>
          <a:noFill/>
        </p:spPr>
        <p:txBody>
          <a:bodyPr wrap="square" rtlCol="0">
            <a:spAutoFit/>
          </a:bodyPr>
          <a:lstStyle/>
          <a:p>
            <a:r>
              <a:rPr lang="en-US" dirty="0"/>
              <a:t>22</a:t>
            </a:r>
          </a:p>
        </p:txBody>
      </p:sp>
      <p:sp>
        <p:nvSpPr>
          <p:cNvPr id="62" name="Rectangle 61"/>
          <p:cNvSpPr/>
          <p:nvPr/>
        </p:nvSpPr>
        <p:spPr>
          <a:xfrm>
            <a:off x="4757670" y="3794890"/>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63" name="TextBox 62"/>
          <p:cNvSpPr txBox="1"/>
          <p:nvPr/>
        </p:nvSpPr>
        <p:spPr>
          <a:xfrm>
            <a:off x="4805723" y="4408245"/>
            <a:ext cx="503953" cy="369332"/>
          </a:xfrm>
          <a:prstGeom prst="rect">
            <a:avLst/>
          </a:prstGeom>
          <a:noFill/>
        </p:spPr>
        <p:txBody>
          <a:bodyPr wrap="square" rtlCol="0">
            <a:spAutoFit/>
          </a:bodyPr>
          <a:lstStyle/>
          <a:p>
            <a:r>
              <a:rPr lang="en-US" dirty="0"/>
              <a:t>23</a:t>
            </a:r>
          </a:p>
        </p:txBody>
      </p:sp>
      <mc:AlternateContent xmlns:mc="http://schemas.openxmlformats.org/markup-compatibility/2006" xmlns:a14="http://schemas.microsoft.com/office/drawing/2010/main">
        <mc:Choice Requires="a14">
          <p:sp>
            <p:nvSpPr>
              <p:cNvPr id="64" name="Rectangle 63"/>
              <p:cNvSpPr/>
              <p:nvPr/>
            </p:nvSpPr>
            <p:spPr>
              <a:xfrm>
                <a:off x="5029606" y="3799501"/>
                <a:ext cx="5198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64" name="Rectangle 63"/>
              <p:cNvSpPr>
                <a:spLocks noRot="1" noChangeAspect="1" noMove="1" noResize="1" noEditPoints="1" noAdjustHandles="1" noChangeArrowheads="1" noChangeShapeType="1" noTextEdit="1"/>
              </p:cNvSpPr>
              <p:nvPr/>
            </p:nvSpPr>
            <p:spPr>
              <a:xfrm>
                <a:off x="5029606" y="3799501"/>
                <a:ext cx="519870" cy="655359"/>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p:sp>
        <p:nvSpPr>
          <p:cNvPr id="65" name="TextBox 64"/>
          <p:cNvSpPr txBox="1"/>
          <p:nvPr/>
        </p:nvSpPr>
        <p:spPr>
          <a:xfrm>
            <a:off x="5287501" y="4421303"/>
            <a:ext cx="503953" cy="369332"/>
          </a:xfrm>
          <a:prstGeom prst="rect">
            <a:avLst/>
          </a:prstGeom>
          <a:noFill/>
        </p:spPr>
        <p:txBody>
          <a:bodyPr wrap="square" rtlCol="0">
            <a:spAutoFit/>
          </a:bodyPr>
          <a:lstStyle/>
          <a:p>
            <a:r>
              <a:rPr lang="en-US" dirty="0"/>
              <a:t>25</a:t>
            </a:r>
          </a:p>
        </p:txBody>
      </p:sp>
      <p:sp>
        <p:nvSpPr>
          <p:cNvPr id="67" name="Rectangle 66"/>
          <p:cNvSpPr/>
          <p:nvPr/>
        </p:nvSpPr>
        <p:spPr>
          <a:xfrm>
            <a:off x="5545987" y="3790522"/>
            <a:ext cx="25400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68" name="TextBox 67"/>
          <p:cNvSpPr txBox="1"/>
          <p:nvPr/>
        </p:nvSpPr>
        <p:spPr>
          <a:xfrm>
            <a:off x="5593701" y="4419823"/>
            <a:ext cx="503953" cy="369332"/>
          </a:xfrm>
          <a:prstGeom prst="rect">
            <a:avLst/>
          </a:prstGeom>
          <a:noFill/>
        </p:spPr>
        <p:txBody>
          <a:bodyPr wrap="square" rtlCol="0">
            <a:spAutoFit/>
          </a:bodyPr>
          <a:lstStyle/>
          <a:p>
            <a:r>
              <a:rPr lang="en-US" dirty="0"/>
              <a:t>26</a:t>
            </a:r>
          </a:p>
        </p:txBody>
      </p:sp>
      <mc:AlternateContent xmlns:mc="http://schemas.openxmlformats.org/markup-compatibility/2006" xmlns:a14="http://schemas.microsoft.com/office/drawing/2010/main">
        <mc:Choice Requires="a14">
          <p:sp>
            <p:nvSpPr>
              <p:cNvPr id="69" name="Rectangle 68"/>
              <p:cNvSpPr/>
              <p:nvPr/>
            </p:nvSpPr>
            <p:spPr>
              <a:xfrm>
                <a:off x="5796160" y="3799500"/>
                <a:ext cx="607694"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69" name="Rectangle 68"/>
              <p:cNvSpPr>
                <a:spLocks noRot="1" noChangeAspect="1" noMove="1" noResize="1" noEditPoints="1" noAdjustHandles="1" noChangeArrowheads="1" noChangeShapeType="1" noTextEdit="1"/>
              </p:cNvSpPr>
              <p:nvPr/>
            </p:nvSpPr>
            <p:spPr>
              <a:xfrm>
                <a:off x="5796160" y="3799500"/>
                <a:ext cx="607694" cy="655359"/>
              </a:xfrm>
              <a:prstGeom prst="rect">
                <a:avLst/>
              </a:prstGeom>
              <a:blipFill rotWithShape="0">
                <a:blip r:embed="rId10"/>
                <a:stretch>
                  <a:fillRect/>
                </a:stretch>
              </a:blipFill>
              <a:ln w="38100">
                <a:solidFill>
                  <a:schemeClr val="tx1"/>
                </a:solidFill>
              </a:ln>
            </p:spPr>
            <p:txBody>
              <a:bodyPr/>
              <a:lstStyle/>
              <a:p>
                <a:r>
                  <a:rPr lang="en-US">
                    <a:noFill/>
                  </a:rPr>
                  <a:t> </a:t>
                </a:r>
              </a:p>
            </p:txBody>
          </p:sp>
        </mc:Fallback>
      </mc:AlternateContent>
      <p:sp>
        <p:nvSpPr>
          <p:cNvPr id="70" name="TextBox 69"/>
          <p:cNvSpPr txBox="1"/>
          <p:nvPr/>
        </p:nvSpPr>
        <p:spPr>
          <a:xfrm>
            <a:off x="6102360" y="4418343"/>
            <a:ext cx="503953" cy="369332"/>
          </a:xfrm>
          <a:prstGeom prst="rect">
            <a:avLst/>
          </a:prstGeom>
          <a:noFill/>
        </p:spPr>
        <p:txBody>
          <a:bodyPr wrap="square" rtlCol="0">
            <a:spAutoFit/>
          </a:bodyPr>
          <a:lstStyle/>
          <a:p>
            <a:r>
              <a:rPr lang="en-US" dirty="0"/>
              <a:t>28</a:t>
            </a:r>
          </a:p>
        </p:txBody>
      </p:sp>
      <mc:AlternateContent xmlns:mc="http://schemas.openxmlformats.org/markup-compatibility/2006" xmlns:a14="http://schemas.microsoft.com/office/drawing/2010/main">
        <mc:Choice Requires="a14">
          <p:graphicFrame>
            <p:nvGraphicFramePr>
              <p:cNvPr id="8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977935" y="4893447"/>
              <a:ext cx="2518135" cy="78026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val="20000"/>
                        </a:ext>
                      </a:extLst>
                    </a:gridCol>
                    <a:gridCol w="1569780">
                      <a:extLst>
                        <a:ext uri="{9D8B030D-6E8A-4147-A177-3AD203B41FA5}">
                          <a16:colId xmlns:a16="http://schemas.microsoft.com/office/drawing/2014/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0</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Choice>
        <mc:Fallback xmlns="">
          <p:graphicFrame>
            <p:nvGraphicFramePr>
              <p:cNvPr id="84"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421619429"/>
                  </p:ext>
                </p:extLst>
              </p:nvPr>
            </p:nvGraphicFramePr>
            <p:xfrm>
              <a:off x="3977935" y="4893447"/>
              <a:ext cx="2518135" cy="780261"/>
            </p:xfrm>
            <a:graphic>
              <a:graphicData uri="http://schemas.openxmlformats.org/drawingml/2006/table">
                <a:tbl>
                  <a:tblPr firstRow="1" bandRow="1">
                    <a:tableStyleId>{8EC20E35-A176-4012-BC5E-935CFFF8708E}</a:tableStyleId>
                  </a:tblPr>
                  <a:tblGrid>
                    <a:gridCol w="948355">
                      <a:extLst>
                        <a:ext uri="{9D8B030D-6E8A-4147-A177-3AD203B41FA5}">
                          <a16:colId xmlns="" xmlns:a16="http://schemas.microsoft.com/office/drawing/2014/main" xmlns:a14="http://schemas.microsoft.com/office/drawing/2010/main" val="20000"/>
                        </a:ext>
                      </a:extLst>
                    </a:gridCol>
                    <a:gridCol w="1569780">
                      <a:extLst>
                        <a:ext uri="{9D8B030D-6E8A-4147-A177-3AD203B41FA5}">
                          <a16:colId xmlns="" xmlns:a16="http://schemas.microsoft.com/office/drawing/2014/main" xmlns:a14="http://schemas.microsoft.com/office/drawing/2010/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1"/>
                          <a:stretch>
                            <a:fillRect t="-134545" r="-166026" b="-23636"/>
                          </a:stretch>
                        </a:blip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bl>
              </a:graphicData>
            </a:graphic>
          </p:graphicFrame>
        </mc:Fallback>
      </mc:AlternateContent>
      <p:sp>
        <p:nvSpPr>
          <p:cNvPr id="85" name="TextBox 84"/>
          <p:cNvSpPr txBox="1"/>
          <p:nvPr/>
        </p:nvSpPr>
        <p:spPr>
          <a:xfrm>
            <a:off x="3961601" y="5338731"/>
            <a:ext cx="2522520" cy="337174"/>
          </a:xfrm>
          <a:prstGeom prst="rect">
            <a:avLst/>
          </a:prstGeom>
          <a:noFill/>
          <a:ln w="38100">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2085805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500" fill="hold"/>
                                        <p:tgtEl>
                                          <p:spTgt spid="84"/>
                                        </p:tgtEl>
                                        <p:attrNameLst>
                                          <p:attrName>ppt_x</p:attrName>
                                        </p:attrNameLst>
                                      </p:cBhvr>
                                      <p:tavLst>
                                        <p:tav tm="0">
                                          <p:val>
                                            <p:strVal val="#ppt_x"/>
                                          </p:val>
                                        </p:tav>
                                        <p:tav tm="100000">
                                          <p:val>
                                            <p:strVal val="#ppt_x"/>
                                          </p:val>
                                        </p:tav>
                                      </p:tavLst>
                                    </p:anim>
                                    <p:anim calcmode="lin" valueType="num">
                                      <p:cBhvr additive="base">
                                        <p:cTn id="8"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70" grpId="0"/>
      <p:bldP spid="85"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 (RR)</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534145" y="4315965"/>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534145" y="4315965"/>
                <a:ext cx="115517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p:sp>
        <p:nvSpPr>
          <p:cNvPr id="9" name="TextBox 8"/>
          <p:cNvSpPr txBox="1"/>
          <p:nvPr/>
        </p:nvSpPr>
        <p:spPr>
          <a:xfrm>
            <a:off x="374921" y="5011178"/>
            <a:ext cx="318448" cy="381000"/>
          </a:xfrm>
          <a:prstGeom prst="rect">
            <a:avLst/>
          </a:prstGeom>
          <a:noFill/>
        </p:spPr>
        <p:txBody>
          <a:bodyPr wrap="square" rtlCol="0">
            <a:spAutoFit/>
          </a:bodyPr>
          <a:lstStyle/>
          <a:p>
            <a:r>
              <a:rPr lang="en-US" dirty="0"/>
              <a:t>0</a:t>
            </a:r>
          </a:p>
        </p:txBody>
      </p:sp>
      <p:cxnSp>
        <p:nvCxnSpPr>
          <p:cNvPr id="14" name="Straight Connector 13"/>
          <p:cNvCxnSpPr/>
          <p:nvPr/>
        </p:nvCxnSpPr>
        <p:spPr>
          <a:xfrm flipH="1">
            <a:off x="534145" y="427611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8" name="TextBox 47"/>
          <p:cNvSpPr txBox="1"/>
          <p:nvPr/>
        </p:nvSpPr>
        <p:spPr>
          <a:xfrm>
            <a:off x="1500292" y="5011177"/>
            <a:ext cx="318448" cy="381000"/>
          </a:xfrm>
          <a:prstGeom prst="rect">
            <a:avLst/>
          </a:prstGeom>
          <a:noFill/>
        </p:spPr>
        <p:txBody>
          <a:bodyPr wrap="square" rtlCol="0">
            <a:spAutoFit/>
          </a:bodyPr>
          <a:lstStyle/>
          <a:p>
            <a:r>
              <a:rPr lang="en-US" dirty="0"/>
              <a:t>4</a:t>
            </a:r>
          </a:p>
        </p:txBody>
      </p:sp>
      <p:sp>
        <p:nvSpPr>
          <p:cNvPr id="41" name="Rectangle 40"/>
          <p:cNvSpPr/>
          <p:nvPr/>
        </p:nvSpPr>
        <p:spPr>
          <a:xfrm>
            <a:off x="1689315" y="4315965"/>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4" name="Rectangle 53"/>
              <p:cNvSpPr/>
              <p:nvPr/>
            </p:nvSpPr>
            <p:spPr>
              <a:xfrm>
                <a:off x="1943104" y="4315964"/>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54" name="Rectangle 53"/>
              <p:cNvSpPr>
                <a:spLocks noRot="1" noChangeAspect="1" noMove="1" noResize="1" noEditPoints="1" noAdjustHandles="1" noChangeArrowheads="1" noChangeShapeType="1" noTextEdit="1"/>
              </p:cNvSpPr>
              <p:nvPr/>
            </p:nvSpPr>
            <p:spPr>
              <a:xfrm>
                <a:off x="1943104" y="4315964"/>
                <a:ext cx="115517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55" name="Rectangle 54"/>
          <p:cNvSpPr/>
          <p:nvPr/>
        </p:nvSpPr>
        <p:spPr>
          <a:xfrm>
            <a:off x="3103336" y="4315963"/>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6" name="Rectangle 55"/>
              <p:cNvSpPr/>
              <p:nvPr/>
            </p:nvSpPr>
            <p:spPr>
              <a:xfrm>
                <a:off x="3362187" y="4315962"/>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56" name="Rectangle 55"/>
              <p:cNvSpPr>
                <a:spLocks noRot="1" noChangeAspect="1" noMove="1" noResize="1" noEditPoints="1" noAdjustHandles="1" noChangeArrowheads="1" noChangeShapeType="1" noTextEdit="1"/>
              </p:cNvSpPr>
              <p:nvPr/>
            </p:nvSpPr>
            <p:spPr>
              <a:xfrm>
                <a:off x="3362187" y="4315962"/>
                <a:ext cx="891257"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57" name="Rectangle 56"/>
          <p:cNvSpPr/>
          <p:nvPr/>
        </p:nvSpPr>
        <p:spPr>
          <a:xfrm>
            <a:off x="4243320" y="4315961"/>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9" name="Rectangle 58"/>
              <p:cNvSpPr/>
              <p:nvPr/>
            </p:nvSpPr>
            <p:spPr>
              <a:xfrm>
                <a:off x="4486482" y="4315960"/>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0</m:t>
                          </m:r>
                        </m:sub>
                      </m:sSub>
                    </m:oMath>
                  </m:oMathPara>
                </a14:m>
                <a:endParaRPr lang="en-US" dirty="0"/>
              </a:p>
            </p:txBody>
          </p:sp>
        </mc:Choice>
        <mc:Fallback xmlns="">
          <p:sp>
            <p:nvSpPr>
              <p:cNvPr id="59" name="Rectangle 58"/>
              <p:cNvSpPr>
                <a:spLocks noRot="1" noChangeAspect="1" noMove="1" noResize="1" noEditPoints="1" noAdjustHandles="1" noChangeArrowheads="1" noChangeShapeType="1" noTextEdit="1"/>
              </p:cNvSpPr>
              <p:nvPr/>
            </p:nvSpPr>
            <p:spPr>
              <a:xfrm>
                <a:off x="4486482" y="4315960"/>
                <a:ext cx="891257"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60" name="Rectangle 59"/>
          <p:cNvSpPr/>
          <p:nvPr/>
        </p:nvSpPr>
        <p:spPr>
          <a:xfrm>
            <a:off x="5377739" y="4315959"/>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1" name="Rectangle 60"/>
              <p:cNvSpPr/>
              <p:nvPr/>
            </p:nvSpPr>
            <p:spPr>
              <a:xfrm>
                <a:off x="5647217" y="4315959"/>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3</m:t>
                          </m:r>
                        </m:sub>
                      </m:sSub>
                    </m:oMath>
                  </m:oMathPara>
                </a14:m>
                <a:endParaRPr lang="en-US" dirty="0"/>
              </a:p>
            </p:txBody>
          </p:sp>
        </mc:Choice>
        <mc:Fallback xmlns="">
          <p:sp>
            <p:nvSpPr>
              <p:cNvPr id="61" name="Rectangle 60"/>
              <p:cNvSpPr>
                <a:spLocks noRot="1" noChangeAspect="1" noMove="1" noResize="1" noEditPoints="1" noAdjustHandles="1" noChangeArrowheads="1" noChangeShapeType="1" noTextEdit="1"/>
              </p:cNvSpPr>
              <p:nvPr/>
            </p:nvSpPr>
            <p:spPr>
              <a:xfrm>
                <a:off x="5647217" y="4315959"/>
                <a:ext cx="891257" cy="655359"/>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p:sp>
        <p:nvSpPr>
          <p:cNvPr id="62" name="Rectangle 61"/>
          <p:cNvSpPr/>
          <p:nvPr/>
        </p:nvSpPr>
        <p:spPr>
          <a:xfrm>
            <a:off x="6537922" y="4315958"/>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3" name="Rectangle 62"/>
              <p:cNvSpPr/>
              <p:nvPr/>
            </p:nvSpPr>
            <p:spPr>
              <a:xfrm>
                <a:off x="6801835" y="4315957"/>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63" name="Rectangle 62"/>
              <p:cNvSpPr>
                <a:spLocks noRot="1" noChangeAspect="1" noMove="1" noResize="1" noEditPoints="1" noAdjustHandles="1" noChangeArrowheads="1" noChangeShapeType="1" noTextEdit="1"/>
              </p:cNvSpPr>
              <p:nvPr/>
            </p:nvSpPr>
            <p:spPr>
              <a:xfrm>
                <a:off x="6801835" y="4315957"/>
                <a:ext cx="891257" cy="655359"/>
              </a:xfrm>
              <a:prstGeom prst="rect">
                <a:avLst/>
              </a:prstGeom>
              <a:blipFill rotWithShape="0">
                <a:blip r:embed="rId10"/>
                <a:stretch>
                  <a:fillRect/>
                </a:stretch>
              </a:blipFill>
              <a:ln w="38100">
                <a:solidFill>
                  <a:schemeClr val="tx1"/>
                </a:solidFill>
              </a:ln>
            </p:spPr>
            <p:txBody>
              <a:bodyPr/>
              <a:lstStyle/>
              <a:p>
                <a:r>
                  <a:rPr lang="en-US">
                    <a:noFill/>
                  </a:rPr>
                  <a:t> </a:t>
                </a:r>
              </a:p>
            </p:txBody>
          </p:sp>
        </mc:Fallback>
      </mc:AlternateContent>
      <p:sp>
        <p:nvSpPr>
          <p:cNvPr id="64" name="Rectangle 63"/>
          <p:cNvSpPr/>
          <p:nvPr/>
        </p:nvSpPr>
        <p:spPr>
          <a:xfrm>
            <a:off x="7683017" y="4315956"/>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5" name="Rectangle 64"/>
              <p:cNvSpPr/>
              <p:nvPr/>
            </p:nvSpPr>
            <p:spPr>
              <a:xfrm>
                <a:off x="7936855" y="4315955"/>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0</m:t>
                          </m:r>
                        </m:sub>
                      </m:sSub>
                    </m:oMath>
                  </m:oMathPara>
                </a14:m>
                <a:endParaRPr lang="en-US" dirty="0"/>
              </a:p>
            </p:txBody>
          </p:sp>
        </mc:Choice>
        <mc:Fallback xmlns="">
          <p:sp>
            <p:nvSpPr>
              <p:cNvPr id="65" name="Rectangle 64"/>
              <p:cNvSpPr>
                <a:spLocks noRot="1" noChangeAspect="1" noMove="1" noResize="1" noEditPoints="1" noAdjustHandles="1" noChangeArrowheads="1" noChangeShapeType="1" noTextEdit="1"/>
              </p:cNvSpPr>
              <p:nvPr/>
            </p:nvSpPr>
            <p:spPr>
              <a:xfrm>
                <a:off x="7936855" y="4315955"/>
                <a:ext cx="891257" cy="655359"/>
              </a:xfrm>
              <a:prstGeom prst="rect">
                <a:avLst/>
              </a:prstGeom>
              <a:blipFill rotWithShape="0">
                <a:blip r:embed="rId11"/>
                <a:stretch>
                  <a:fillRect/>
                </a:stretch>
              </a:blipFill>
              <a:ln w="38100">
                <a:solidFill>
                  <a:schemeClr val="tx1"/>
                </a:solidFill>
              </a:ln>
            </p:spPr>
            <p:txBody>
              <a:bodyPr/>
              <a:lstStyle/>
              <a:p>
                <a:r>
                  <a:rPr lang="en-US">
                    <a:noFill/>
                  </a:rPr>
                  <a:t> </a:t>
                </a:r>
              </a:p>
            </p:txBody>
          </p:sp>
        </mc:Fallback>
      </mc:AlternateContent>
      <p:sp>
        <p:nvSpPr>
          <p:cNvPr id="66" name="TextBox 65"/>
          <p:cNvSpPr txBox="1"/>
          <p:nvPr/>
        </p:nvSpPr>
        <p:spPr>
          <a:xfrm>
            <a:off x="1772245" y="5011176"/>
            <a:ext cx="318448" cy="381000"/>
          </a:xfrm>
          <a:prstGeom prst="rect">
            <a:avLst/>
          </a:prstGeom>
          <a:noFill/>
        </p:spPr>
        <p:txBody>
          <a:bodyPr wrap="square" rtlCol="0">
            <a:spAutoFit/>
          </a:bodyPr>
          <a:lstStyle/>
          <a:p>
            <a:r>
              <a:rPr lang="en-US" dirty="0"/>
              <a:t>5</a:t>
            </a:r>
          </a:p>
        </p:txBody>
      </p:sp>
      <p:sp>
        <p:nvSpPr>
          <p:cNvPr id="67" name="TextBox 66"/>
          <p:cNvSpPr txBox="1"/>
          <p:nvPr/>
        </p:nvSpPr>
        <p:spPr>
          <a:xfrm>
            <a:off x="2931467" y="4971314"/>
            <a:ext cx="318448" cy="381000"/>
          </a:xfrm>
          <a:prstGeom prst="rect">
            <a:avLst/>
          </a:prstGeom>
          <a:noFill/>
        </p:spPr>
        <p:txBody>
          <a:bodyPr wrap="square" rtlCol="0">
            <a:spAutoFit/>
          </a:bodyPr>
          <a:lstStyle/>
          <a:p>
            <a:r>
              <a:rPr lang="en-US" dirty="0"/>
              <a:t>9</a:t>
            </a:r>
          </a:p>
        </p:txBody>
      </p:sp>
      <p:sp>
        <p:nvSpPr>
          <p:cNvPr id="68" name="TextBox 67"/>
          <p:cNvSpPr txBox="1"/>
          <p:nvPr/>
        </p:nvSpPr>
        <p:spPr>
          <a:xfrm>
            <a:off x="3177435" y="4971314"/>
            <a:ext cx="411796" cy="369332"/>
          </a:xfrm>
          <a:prstGeom prst="rect">
            <a:avLst/>
          </a:prstGeom>
          <a:noFill/>
        </p:spPr>
        <p:txBody>
          <a:bodyPr wrap="square" rtlCol="0">
            <a:spAutoFit/>
          </a:bodyPr>
          <a:lstStyle/>
          <a:p>
            <a:r>
              <a:rPr lang="en-US" dirty="0"/>
              <a:t>10</a:t>
            </a:r>
          </a:p>
        </p:txBody>
      </p:sp>
      <p:sp>
        <p:nvSpPr>
          <p:cNvPr id="69" name="TextBox 68"/>
          <p:cNvSpPr txBox="1"/>
          <p:nvPr/>
        </p:nvSpPr>
        <p:spPr>
          <a:xfrm>
            <a:off x="4013627" y="4965478"/>
            <a:ext cx="411796" cy="369332"/>
          </a:xfrm>
          <a:prstGeom prst="rect">
            <a:avLst/>
          </a:prstGeom>
          <a:noFill/>
        </p:spPr>
        <p:txBody>
          <a:bodyPr wrap="square" rtlCol="0">
            <a:spAutoFit/>
          </a:bodyPr>
          <a:lstStyle/>
          <a:p>
            <a:r>
              <a:rPr lang="en-US" dirty="0">
                <a:solidFill>
                  <a:schemeClr val="accent6"/>
                </a:solidFill>
              </a:rPr>
              <a:t>12</a:t>
            </a:r>
          </a:p>
        </p:txBody>
      </p:sp>
      <p:sp>
        <p:nvSpPr>
          <p:cNvPr id="70" name="TextBox 69"/>
          <p:cNvSpPr txBox="1"/>
          <p:nvPr/>
        </p:nvSpPr>
        <p:spPr>
          <a:xfrm>
            <a:off x="4305249" y="4965478"/>
            <a:ext cx="411796" cy="369332"/>
          </a:xfrm>
          <a:prstGeom prst="rect">
            <a:avLst/>
          </a:prstGeom>
          <a:noFill/>
        </p:spPr>
        <p:txBody>
          <a:bodyPr wrap="square" rtlCol="0">
            <a:spAutoFit/>
          </a:bodyPr>
          <a:lstStyle/>
          <a:p>
            <a:r>
              <a:rPr lang="en-US" dirty="0"/>
              <a:t>13</a:t>
            </a:r>
          </a:p>
        </p:txBody>
      </p:sp>
      <p:sp>
        <p:nvSpPr>
          <p:cNvPr id="71" name="TextBox 70"/>
          <p:cNvSpPr txBox="1"/>
          <p:nvPr/>
        </p:nvSpPr>
        <p:spPr>
          <a:xfrm>
            <a:off x="5138257" y="4941711"/>
            <a:ext cx="411796" cy="369332"/>
          </a:xfrm>
          <a:prstGeom prst="rect">
            <a:avLst/>
          </a:prstGeom>
          <a:noFill/>
        </p:spPr>
        <p:txBody>
          <a:bodyPr wrap="square" rtlCol="0">
            <a:spAutoFit/>
          </a:bodyPr>
          <a:lstStyle/>
          <a:p>
            <a:r>
              <a:rPr lang="en-US" dirty="0"/>
              <a:t>17</a:t>
            </a:r>
          </a:p>
        </p:txBody>
      </p:sp>
      <p:sp>
        <p:nvSpPr>
          <p:cNvPr id="72" name="TextBox 71"/>
          <p:cNvSpPr txBox="1"/>
          <p:nvPr/>
        </p:nvSpPr>
        <p:spPr>
          <a:xfrm>
            <a:off x="5488013" y="4938896"/>
            <a:ext cx="411796" cy="369332"/>
          </a:xfrm>
          <a:prstGeom prst="rect">
            <a:avLst/>
          </a:prstGeom>
          <a:noFill/>
        </p:spPr>
        <p:txBody>
          <a:bodyPr wrap="square" rtlCol="0">
            <a:spAutoFit/>
          </a:bodyPr>
          <a:lstStyle/>
          <a:p>
            <a:r>
              <a:rPr lang="en-US" dirty="0"/>
              <a:t>18</a:t>
            </a:r>
          </a:p>
        </p:txBody>
      </p:sp>
      <p:sp>
        <p:nvSpPr>
          <p:cNvPr id="73" name="TextBox 72"/>
          <p:cNvSpPr txBox="1"/>
          <p:nvPr/>
        </p:nvSpPr>
        <p:spPr>
          <a:xfrm>
            <a:off x="6290773" y="4955106"/>
            <a:ext cx="411796" cy="369332"/>
          </a:xfrm>
          <a:prstGeom prst="rect">
            <a:avLst/>
          </a:prstGeom>
          <a:noFill/>
        </p:spPr>
        <p:txBody>
          <a:bodyPr wrap="square" rtlCol="0">
            <a:spAutoFit/>
          </a:bodyPr>
          <a:lstStyle/>
          <a:p>
            <a:r>
              <a:rPr lang="en-US" dirty="0">
                <a:solidFill>
                  <a:schemeClr val="accent6"/>
                </a:solidFill>
              </a:rPr>
              <a:t>22</a:t>
            </a:r>
          </a:p>
        </p:txBody>
      </p:sp>
      <p:sp>
        <p:nvSpPr>
          <p:cNvPr id="74" name="TextBox 73"/>
          <p:cNvSpPr txBox="1"/>
          <p:nvPr/>
        </p:nvSpPr>
        <p:spPr>
          <a:xfrm>
            <a:off x="6612119" y="4955106"/>
            <a:ext cx="411796" cy="369332"/>
          </a:xfrm>
          <a:prstGeom prst="rect">
            <a:avLst/>
          </a:prstGeom>
          <a:noFill/>
        </p:spPr>
        <p:txBody>
          <a:bodyPr wrap="square" rtlCol="0">
            <a:spAutoFit/>
          </a:bodyPr>
          <a:lstStyle/>
          <a:p>
            <a:r>
              <a:rPr lang="en-US" dirty="0"/>
              <a:t>23</a:t>
            </a:r>
          </a:p>
        </p:txBody>
      </p:sp>
      <p:sp>
        <p:nvSpPr>
          <p:cNvPr id="75" name="TextBox 74"/>
          <p:cNvSpPr txBox="1"/>
          <p:nvPr/>
        </p:nvSpPr>
        <p:spPr>
          <a:xfrm>
            <a:off x="7462897" y="4955106"/>
            <a:ext cx="411796" cy="369332"/>
          </a:xfrm>
          <a:prstGeom prst="rect">
            <a:avLst/>
          </a:prstGeom>
          <a:noFill/>
        </p:spPr>
        <p:txBody>
          <a:bodyPr wrap="square" rtlCol="0">
            <a:spAutoFit/>
          </a:bodyPr>
          <a:lstStyle/>
          <a:p>
            <a:r>
              <a:rPr lang="en-US" dirty="0">
                <a:solidFill>
                  <a:schemeClr val="accent6"/>
                </a:solidFill>
              </a:rPr>
              <a:t>25</a:t>
            </a:r>
          </a:p>
        </p:txBody>
      </p:sp>
      <p:sp>
        <p:nvSpPr>
          <p:cNvPr id="76" name="TextBox 75"/>
          <p:cNvSpPr txBox="1"/>
          <p:nvPr/>
        </p:nvSpPr>
        <p:spPr>
          <a:xfrm>
            <a:off x="7753387" y="4955106"/>
            <a:ext cx="411796" cy="369332"/>
          </a:xfrm>
          <a:prstGeom prst="rect">
            <a:avLst/>
          </a:prstGeom>
          <a:noFill/>
        </p:spPr>
        <p:txBody>
          <a:bodyPr wrap="square" rtlCol="0">
            <a:spAutoFit/>
          </a:bodyPr>
          <a:lstStyle/>
          <a:p>
            <a:r>
              <a:rPr lang="en-US" dirty="0"/>
              <a:t>26</a:t>
            </a:r>
          </a:p>
        </p:txBody>
      </p:sp>
      <p:sp>
        <p:nvSpPr>
          <p:cNvPr id="77" name="TextBox 76"/>
          <p:cNvSpPr txBox="1"/>
          <p:nvPr/>
        </p:nvSpPr>
        <p:spPr>
          <a:xfrm>
            <a:off x="8622214" y="4938892"/>
            <a:ext cx="411796" cy="369332"/>
          </a:xfrm>
          <a:prstGeom prst="rect">
            <a:avLst/>
          </a:prstGeom>
          <a:noFill/>
        </p:spPr>
        <p:txBody>
          <a:bodyPr wrap="square" rtlCol="0">
            <a:spAutoFit/>
          </a:bodyPr>
          <a:lstStyle/>
          <a:p>
            <a:r>
              <a:rPr lang="en-US" dirty="0">
                <a:solidFill>
                  <a:schemeClr val="accent6"/>
                </a:solidFill>
              </a:rPr>
              <a:t>28</a:t>
            </a:r>
          </a:p>
        </p:txBody>
      </p:sp>
      <p:sp>
        <p:nvSpPr>
          <p:cNvPr id="53" name="TextBox 52"/>
          <p:cNvSpPr txBox="1"/>
          <p:nvPr/>
        </p:nvSpPr>
        <p:spPr>
          <a:xfrm>
            <a:off x="6345845" y="1466111"/>
            <a:ext cx="1381969" cy="542441"/>
          </a:xfrm>
          <a:prstGeom prst="rect">
            <a:avLst/>
          </a:prstGeom>
          <a:noFill/>
          <a:ln w="57150">
            <a:solidFill>
              <a:srgbClr val="FF0000"/>
            </a:solidFill>
          </a:ln>
        </p:spPr>
        <p:txBody>
          <a:bodyPr wrap="square" rtlCol="0">
            <a:spAutoFit/>
          </a:bodyPr>
          <a:lstStyle/>
          <a:p>
            <a:endParaRPr lang="en-IN" dirty="0"/>
          </a:p>
        </p:txBody>
      </p:sp>
      <p:sp>
        <p:nvSpPr>
          <p:cNvPr id="58" name="TextBox 57"/>
          <p:cNvSpPr txBox="1"/>
          <p:nvPr/>
        </p:nvSpPr>
        <p:spPr>
          <a:xfrm>
            <a:off x="1237649" y="1489663"/>
            <a:ext cx="1490790" cy="542441"/>
          </a:xfrm>
          <a:prstGeom prst="rect">
            <a:avLst/>
          </a:prstGeom>
          <a:noFill/>
          <a:ln w="57150">
            <a:solidFill>
              <a:srgbClr val="FF0000"/>
            </a:solidFill>
          </a:ln>
        </p:spPr>
        <p:txBody>
          <a:bodyPr wrap="square" rtlCol="0">
            <a:spAutoFit/>
          </a:bodyPr>
          <a:lstStyle/>
          <a:p>
            <a:endParaRPr lang="en-IN" dirty="0"/>
          </a:p>
        </p:txBody>
      </p:sp>
      <p:sp>
        <p:nvSpPr>
          <p:cNvPr id="78" name="TextBox 77"/>
          <p:cNvSpPr txBox="1"/>
          <p:nvPr/>
        </p:nvSpPr>
        <p:spPr>
          <a:xfrm>
            <a:off x="6345844" y="2029018"/>
            <a:ext cx="1381969" cy="542441"/>
          </a:xfrm>
          <a:prstGeom prst="rect">
            <a:avLst/>
          </a:prstGeom>
          <a:noFill/>
          <a:ln w="57150">
            <a:solidFill>
              <a:srgbClr val="FF0000"/>
            </a:solidFill>
          </a:ln>
        </p:spPr>
        <p:txBody>
          <a:bodyPr wrap="square" rtlCol="0">
            <a:spAutoFit/>
          </a:bodyPr>
          <a:lstStyle/>
          <a:p>
            <a:endParaRPr lang="en-IN" dirty="0"/>
          </a:p>
        </p:txBody>
      </p:sp>
      <p:sp>
        <p:nvSpPr>
          <p:cNvPr id="79" name="TextBox 78"/>
          <p:cNvSpPr txBox="1"/>
          <p:nvPr/>
        </p:nvSpPr>
        <p:spPr>
          <a:xfrm>
            <a:off x="1237649" y="2047263"/>
            <a:ext cx="1490790" cy="542441"/>
          </a:xfrm>
          <a:prstGeom prst="rect">
            <a:avLst/>
          </a:prstGeom>
          <a:noFill/>
          <a:ln w="57150">
            <a:solidFill>
              <a:srgbClr val="FF0000"/>
            </a:solidFill>
          </a:ln>
        </p:spPr>
        <p:txBody>
          <a:bodyPr wrap="square" rtlCol="0">
            <a:spAutoFit/>
          </a:bodyPr>
          <a:lstStyle/>
          <a:p>
            <a:endParaRPr lang="en-IN" dirty="0"/>
          </a:p>
        </p:txBody>
      </p:sp>
      <p:sp>
        <p:nvSpPr>
          <p:cNvPr id="82" name="TextBox 81"/>
          <p:cNvSpPr txBox="1"/>
          <p:nvPr/>
        </p:nvSpPr>
        <p:spPr>
          <a:xfrm>
            <a:off x="6329552" y="2571459"/>
            <a:ext cx="1381969" cy="542441"/>
          </a:xfrm>
          <a:prstGeom prst="rect">
            <a:avLst/>
          </a:prstGeom>
          <a:noFill/>
          <a:ln w="57150">
            <a:solidFill>
              <a:srgbClr val="FF0000"/>
            </a:solidFill>
          </a:ln>
        </p:spPr>
        <p:txBody>
          <a:bodyPr wrap="square" rtlCol="0">
            <a:spAutoFit/>
          </a:bodyPr>
          <a:lstStyle/>
          <a:p>
            <a:endParaRPr lang="en-IN" dirty="0"/>
          </a:p>
        </p:txBody>
      </p:sp>
      <p:sp>
        <p:nvSpPr>
          <p:cNvPr id="83" name="TextBox 82"/>
          <p:cNvSpPr txBox="1"/>
          <p:nvPr/>
        </p:nvSpPr>
        <p:spPr>
          <a:xfrm>
            <a:off x="1234857" y="2571459"/>
            <a:ext cx="1490790" cy="542441"/>
          </a:xfrm>
          <a:prstGeom prst="rect">
            <a:avLst/>
          </a:prstGeom>
          <a:noFill/>
          <a:ln w="57150">
            <a:solidFill>
              <a:srgbClr val="FF0000"/>
            </a:solidFill>
          </a:ln>
        </p:spPr>
        <p:txBody>
          <a:bodyPr wrap="square" rtlCol="0">
            <a:spAutoFit/>
          </a:bodyPr>
          <a:lstStyle/>
          <a:p>
            <a:endParaRPr lang="en-IN" dirty="0"/>
          </a:p>
        </p:txBody>
      </p:sp>
      <p:sp>
        <p:nvSpPr>
          <p:cNvPr id="84" name="TextBox 83"/>
          <p:cNvSpPr txBox="1"/>
          <p:nvPr/>
        </p:nvSpPr>
        <p:spPr>
          <a:xfrm>
            <a:off x="6322251" y="3157241"/>
            <a:ext cx="1381969" cy="542441"/>
          </a:xfrm>
          <a:prstGeom prst="rect">
            <a:avLst/>
          </a:prstGeom>
          <a:noFill/>
          <a:ln w="57150">
            <a:solidFill>
              <a:srgbClr val="FF0000"/>
            </a:solidFill>
          </a:ln>
        </p:spPr>
        <p:txBody>
          <a:bodyPr wrap="square" rtlCol="0">
            <a:spAutoFit/>
          </a:bodyPr>
          <a:lstStyle/>
          <a:p>
            <a:endParaRPr lang="en-IN" dirty="0"/>
          </a:p>
        </p:txBody>
      </p:sp>
      <p:sp>
        <p:nvSpPr>
          <p:cNvPr id="85" name="TextBox 84"/>
          <p:cNvSpPr txBox="1"/>
          <p:nvPr/>
        </p:nvSpPr>
        <p:spPr>
          <a:xfrm>
            <a:off x="1218565" y="3110814"/>
            <a:ext cx="1490790" cy="542441"/>
          </a:xfrm>
          <a:prstGeom prst="rect">
            <a:avLst/>
          </a:prstGeom>
          <a:noFill/>
          <a:ln w="57150">
            <a:solidFill>
              <a:srgbClr val="FF0000"/>
            </a:solidFill>
          </a:ln>
        </p:spPr>
        <p:txBody>
          <a:bodyPr wrap="square" rtlCol="0">
            <a:spAutoFit/>
          </a:bodyPr>
          <a:lstStyle/>
          <a:p>
            <a:endParaRPr lang="en-IN" dirty="0"/>
          </a:p>
        </p:txBody>
      </p:sp>
      <p:sp>
        <p:nvSpPr>
          <p:cNvPr id="95" name="TextBox 94"/>
          <p:cNvSpPr txBox="1"/>
          <p:nvPr/>
        </p:nvSpPr>
        <p:spPr>
          <a:xfrm>
            <a:off x="374921" y="5506743"/>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Turnaround Time </a:t>
            </a:r>
            <a:r>
              <a:rPr lang="en-US" sz="2000" dirty="0"/>
              <a:t>= Sum of all Process’s Turn Around Time/ Total Process</a:t>
            </a:r>
          </a:p>
          <a:p>
            <a:r>
              <a:rPr lang="en-US" sz="2000" dirty="0"/>
              <a:t>                                                    = (28+24+9+17)/4 </a:t>
            </a:r>
          </a:p>
          <a:p>
            <a:r>
              <a:rPr lang="en-US" sz="2000" dirty="0"/>
              <a:t>                                                    = 19.5 </a:t>
            </a:r>
            <a:r>
              <a:rPr lang="en-US" sz="2000" dirty="0" err="1"/>
              <a:t>ms.</a:t>
            </a:r>
            <a:endParaRPr lang="en-US" sz="2000" dirty="0"/>
          </a:p>
        </p:txBody>
      </p:sp>
      <p:sp>
        <p:nvSpPr>
          <p:cNvPr id="80" name="TextBox 79"/>
          <p:cNvSpPr txBox="1"/>
          <p:nvPr/>
        </p:nvSpPr>
        <p:spPr>
          <a:xfrm>
            <a:off x="7729751" y="1466111"/>
            <a:ext cx="2049246" cy="2222902"/>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2484631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7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7"/>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75"/>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5"/>
                                        </p:tgtEl>
                                        <p:attrNameLst>
                                          <p:attrName>style.visibility</p:attrName>
                                        </p:attrNameLst>
                                      </p:cBhvr>
                                      <p:to>
                                        <p:strVal val="visible"/>
                                      </p:to>
                                    </p:set>
                                  </p:childTnLst>
                                </p:cTn>
                              </p:par>
                              <p:par>
                                <p:cTn id="27" presetID="1" presetClass="exit" presetSubtype="0" fill="hold" grpId="1" nodeType="withEffect">
                                  <p:stCondLst>
                                    <p:cond delay="0"/>
                                  </p:stCondLst>
                                  <p:childTnLst>
                                    <p:set>
                                      <p:cBhvr>
                                        <p:cTn id="28" dur="1" fill="hold">
                                          <p:stCondLst>
                                            <p:cond delay="0"/>
                                          </p:stCondLst>
                                        </p:cTn>
                                        <p:tgtEl>
                                          <p:spTgt spid="69"/>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9"/>
                                        </p:tgtEl>
                                        <p:attrNameLst>
                                          <p:attrName>style.visibility</p:attrName>
                                        </p:attrNameLst>
                                      </p:cBhvr>
                                      <p:to>
                                        <p:strVal val="visible"/>
                                      </p:to>
                                    </p:set>
                                  </p:childTnLst>
                                </p:cTn>
                              </p:par>
                              <p:par>
                                <p:cTn id="35" presetID="1" presetClass="exit" presetSubtype="0" fill="hold" grpId="0" nodeType="withEffect">
                                  <p:stCondLst>
                                    <p:cond delay="0"/>
                                  </p:stCondLst>
                                  <p:childTnLst>
                                    <p:set>
                                      <p:cBhvr>
                                        <p:cTn id="36" dur="1" fill="hold">
                                          <p:stCondLst>
                                            <p:cond delay="0"/>
                                          </p:stCondLst>
                                        </p:cTn>
                                        <p:tgtEl>
                                          <p:spTgt spid="73"/>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1" nodeType="withEffect">
                                  <p:stCondLst>
                                    <p:cond delay="0"/>
                                  </p:stCondLst>
                                  <p:childTnLst>
                                    <p:set>
                                      <p:cBhvr>
                                        <p:cTn id="42" dur="1" fill="hold">
                                          <p:stCondLst>
                                            <p:cond delay="0"/>
                                          </p:stCondLst>
                                        </p:cTn>
                                        <p:tgtEl>
                                          <p:spTgt spid="7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26" presetClass="emph" presetSubtype="0" repeatCount="indefinite" fill="hold" grpId="1" nodeType="withEffect">
                                  <p:stCondLst>
                                    <p:cond delay="0"/>
                                  </p:stCondLst>
                                  <p:endCondLst>
                                    <p:cond evt="onNext" delay="0">
                                      <p:tgtEl>
                                        <p:sldTgt/>
                                      </p:tgtEl>
                                    </p:cond>
                                  </p:endCondLst>
                                  <p:childTnLst>
                                    <p:animEffect transition="out" filter="fade">
                                      <p:cBhvr>
                                        <p:cTn id="50" dur="500" tmFilter="0, 0; .2, .5; .8, .5; 1, 0"/>
                                        <p:tgtEl>
                                          <p:spTgt spid="53"/>
                                        </p:tgtEl>
                                      </p:cBhvr>
                                    </p:animEffect>
                                    <p:animScale>
                                      <p:cBhvr>
                                        <p:cTn id="51" dur="250" autoRev="1" fill="hold"/>
                                        <p:tgtEl>
                                          <p:spTgt spid="53"/>
                                        </p:tgtEl>
                                      </p:cBhvr>
                                      <p:by x="105000" y="105000"/>
                                    </p:animScale>
                                  </p:childTnLst>
                                </p:cTn>
                              </p:par>
                              <p:par>
                                <p:cTn id="52" presetID="1" presetClass="entr" presetSubtype="0" fill="hold" grpId="0" nodeType="withEffect">
                                  <p:stCondLst>
                                    <p:cond delay="0"/>
                                  </p:stCondLst>
                                  <p:childTnLst>
                                    <p:set>
                                      <p:cBhvr>
                                        <p:cTn id="53" dur="1" fill="hold">
                                          <p:stCondLst>
                                            <p:cond delay="0"/>
                                          </p:stCondLst>
                                        </p:cTn>
                                        <p:tgtEl>
                                          <p:spTgt spid="58"/>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58"/>
                                        </p:tgtEl>
                                      </p:cBhvr>
                                    </p:animEffect>
                                    <p:animScale>
                                      <p:cBhvr>
                                        <p:cTn id="56" dur="250" autoRev="1" fill="hold"/>
                                        <p:tgtEl>
                                          <p:spTgt spid="58"/>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53"/>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58"/>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78"/>
                                        </p:tgtEl>
                                        <p:attrNameLst>
                                          <p:attrName>style.visibility</p:attrName>
                                        </p:attrNameLst>
                                      </p:cBhvr>
                                      <p:to>
                                        <p:strVal val="visible"/>
                                      </p:to>
                                    </p:set>
                                  </p:childTnLst>
                                </p:cTn>
                              </p:par>
                              <p:par>
                                <p:cTn id="67" presetID="26" presetClass="emph" presetSubtype="0" repeatCount="indefinite" fill="hold" grpId="1" nodeType="withEffect">
                                  <p:stCondLst>
                                    <p:cond delay="0"/>
                                  </p:stCondLst>
                                  <p:endCondLst>
                                    <p:cond evt="onNext" delay="0">
                                      <p:tgtEl>
                                        <p:sldTgt/>
                                      </p:tgtEl>
                                    </p:cond>
                                  </p:endCondLst>
                                  <p:childTnLst>
                                    <p:animEffect transition="out" filter="fade">
                                      <p:cBhvr>
                                        <p:cTn id="68" dur="500" tmFilter="0, 0; .2, .5; .8, .5; 1, 0"/>
                                        <p:tgtEl>
                                          <p:spTgt spid="78"/>
                                        </p:tgtEl>
                                      </p:cBhvr>
                                    </p:animEffect>
                                    <p:animScale>
                                      <p:cBhvr>
                                        <p:cTn id="69" dur="250" autoRev="1" fill="hold"/>
                                        <p:tgtEl>
                                          <p:spTgt spid="78"/>
                                        </p:tgtEl>
                                      </p:cBhvr>
                                      <p:by x="105000" y="105000"/>
                                    </p:animScale>
                                  </p:childTnLst>
                                </p:cTn>
                              </p:par>
                              <p:par>
                                <p:cTn id="70" presetID="1" presetClass="entr" presetSubtype="0" fill="hold" grpId="0" nodeType="withEffect">
                                  <p:stCondLst>
                                    <p:cond delay="0"/>
                                  </p:stCondLst>
                                  <p:childTnLst>
                                    <p:set>
                                      <p:cBhvr>
                                        <p:cTn id="71" dur="1" fill="hold">
                                          <p:stCondLst>
                                            <p:cond delay="0"/>
                                          </p:stCondLst>
                                        </p:cTn>
                                        <p:tgtEl>
                                          <p:spTgt spid="79"/>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79"/>
                                        </p:tgtEl>
                                      </p:cBhvr>
                                    </p:animEffect>
                                    <p:animScale>
                                      <p:cBhvr>
                                        <p:cTn id="74" dur="250" autoRev="1" fill="hold"/>
                                        <p:tgtEl>
                                          <p:spTgt spid="79"/>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par>
                                <p:cTn id="79" presetID="1" presetClass="exit" presetSubtype="0" fill="hold" grpId="2" nodeType="withEffect">
                                  <p:stCondLst>
                                    <p:cond delay="0"/>
                                  </p:stCondLst>
                                  <p:childTnLst>
                                    <p:set>
                                      <p:cBhvr>
                                        <p:cTn id="80" dur="1" fill="hold">
                                          <p:stCondLst>
                                            <p:cond delay="0"/>
                                          </p:stCondLst>
                                        </p:cTn>
                                        <p:tgtEl>
                                          <p:spTgt spid="78"/>
                                        </p:tgtEl>
                                        <p:attrNameLst>
                                          <p:attrName>style.visibility</p:attrName>
                                        </p:attrNameLst>
                                      </p:cBhvr>
                                      <p:to>
                                        <p:strVal val="hidden"/>
                                      </p:to>
                                    </p:set>
                                  </p:childTnLst>
                                </p:cTn>
                              </p:par>
                              <p:par>
                                <p:cTn id="81" presetID="1" presetClass="exit" presetSubtype="0" fill="hold" grpId="2" nodeType="withEffect">
                                  <p:stCondLst>
                                    <p:cond delay="0"/>
                                  </p:stCondLst>
                                  <p:childTnLst>
                                    <p:set>
                                      <p:cBhvr>
                                        <p:cTn id="82" dur="1" fill="hold">
                                          <p:stCondLst>
                                            <p:cond delay="0"/>
                                          </p:stCondLst>
                                        </p:cTn>
                                        <p:tgtEl>
                                          <p:spTgt spid="79"/>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0"/>
                                          </p:stCondLst>
                                        </p:cTn>
                                        <p:tgtEl>
                                          <p:spTgt spid="82"/>
                                        </p:tgtEl>
                                        <p:attrNameLst>
                                          <p:attrName>style.visibility</p:attrName>
                                        </p:attrNameLst>
                                      </p:cBhvr>
                                      <p:to>
                                        <p:strVal val="visible"/>
                                      </p:to>
                                    </p:set>
                                  </p:childTnLst>
                                </p:cTn>
                              </p:par>
                              <p:par>
                                <p:cTn id="85" presetID="26" presetClass="emph" presetSubtype="0" repeatCount="indefinite" fill="hold" grpId="1" nodeType="withEffect">
                                  <p:stCondLst>
                                    <p:cond delay="0"/>
                                  </p:stCondLst>
                                  <p:endCondLst>
                                    <p:cond evt="onNext" delay="0">
                                      <p:tgtEl>
                                        <p:sldTgt/>
                                      </p:tgtEl>
                                    </p:cond>
                                  </p:endCondLst>
                                  <p:childTnLst>
                                    <p:animEffect transition="out" filter="fade">
                                      <p:cBhvr>
                                        <p:cTn id="86" dur="500" tmFilter="0, 0; .2, .5; .8, .5; 1, 0"/>
                                        <p:tgtEl>
                                          <p:spTgt spid="82"/>
                                        </p:tgtEl>
                                      </p:cBhvr>
                                    </p:animEffect>
                                    <p:animScale>
                                      <p:cBhvr>
                                        <p:cTn id="87" dur="250" autoRev="1" fill="hold"/>
                                        <p:tgtEl>
                                          <p:spTgt spid="82"/>
                                        </p:tgtEl>
                                      </p:cBhvr>
                                      <p:by x="105000" y="105000"/>
                                    </p:animScale>
                                  </p:childTnLst>
                                </p:cTn>
                              </p:par>
                              <p:par>
                                <p:cTn id="88" presetID="1" presetClass="entr" presetSubtype="0" fill="hold" grpId="0" nodeType="withEffect">
                                  <p:stCondLst>
                                    <p:cond delay="0"/>
                                  </p:stCondLst>
                                  <p:childTnLst>
                                    <p:set>
                                      <p:cBhvr>
                                        <p:cTn id="89" dur="1" fill="hold">
                                          <p:stCondLst>
                                            <p:cond delay="0"/>
                                          </p:stCondLst>
                                        </p:cTn>
                                        <p:tgtEl>
                                          <p:spTgt spid="83"/>
                                        </p:tgtEl>
                                        <p:attrNameLst>
                                          <p:attrName>style.visibility</p:attrName>
                                        </p:attrNameLst>
                                      </p:cBhvr>
                                      <p:to>
                                        <p:strVal val="visible"/>
                                      </p:to>
                                    </p:set>
                                  </p:childTnLst>
                                </p:cTn>
                              </p:par>
                              <p:par>
                                <p:cTn id="90" presetID="26" presetClass="emph" presetSubtype="0" repeatCount="indefinite" fill="hold" grpId="1" nodeType="withEffect">
                                  <p:stCondLst>
                                    <p:cond delay="0"/>
                                  </p:stCondLst>
                                  <p:endCondLst>
                                    <p:cond evt="onNext" delay="0">
                                      <p:tgtEl>
                                        <p:sldTgt/>
                                      </p:tgtEl>
                                    </p:cond>
                                  </p:endCondLst>
                                  <p:childTnLst>
                                    <p:animEffect transition="out" filter="fade">
                                      <p:cBhvr>
                                        <p:cTn id="91" dur="500" tmFilter="0, 0; .2, .5; .8, .5; 1, 0"/>
                                        <p:tgtEl>
                                          <p:spTgt spid="83"/>
                                        </p:tgtEl>
                                      </p:cBhvr>
                                    </p:animEffect>
                                    <p:animScale>
                                      <p:cBhvr>
                                        <p:cTn id="92" dur="250" autoRev="1" fill="hold"/>
                                        <p:tgtEl>
                                          <p:spTgt spid="83"/>
                                        </p:tgtEl>
                                      </p:cBhvr>
                                      <p:by x="105000" y="105000"/>
                                    </p:animScale>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0"/>
                                        </p:tgtEl>
                                        <p:attrNameLst>
                                          <p:attrName>style.visibility</p:attrName>
                                        </p:attrNameLst>
                                      </p:cBhvr>
                                      <p:to>
                                        <p:strVal val="visible"/>
                                      </p:to>
                                    </p:set>
                                  </p:childTnLst>
                                </p:cTn>
                              </p:par>
                              <p:par>
                                <p:cTn id="97" presetID="1" presetClass="exit" presetSubtype="0" fill="hold" grpId="2" nodeType="withEffect">
                                  <p:stCondLst>
                                    <p:cond delay="0"/>
                                  </p:stCondLst>
                                  <p:childTnLst>
                                    <p:set>
                                      <p:cBhvr>
                                        <p:cTn id="98" dur="1" fill="hold">
                                          <p:stCondLst>
                                            <p:cond delay="0"/>
                                          </p:stCondLst>
                                        </p:cTn>
                                        <p:tgtEl>
                                          <p:spTgt spid="82"/>
                                        </p:tgtEl>
                                        <p:attrNameLst>
                                          <p:attrName>style.visibility</p:attrName>
                                        </p:attrNameLst>
                                      </p:cBhvr>
                                      <p:to>
                                        <p:strVal val="hidden"/>
                                      </p:to>
                                    </p:set>
                                  </p:childTnLst>
                                </p:cTn>
                              </p:par>
                              <p:par>
                                <p:cTn id="99" presetID="1" presetClass="exit" presetSubtype="0" fill="hold" grpId="2" nodeType="withEffect">
                                  <p:stCondLst>
                                    <p:cond delay="0"/>
                                  </p:stCondLst>
                                  <p:childTnLst>
                                    <p:set>
                                      <p:cBhvr>
                                        <p:cTn id="100" dur="1" fill="hold">
                                          <p:stCondLst>
                                            <p:cond delay="0"/>
                                          </p:stCondLst>
                                        </p:cTn>
                                        <p:tgtEl>
                                          <p:spTgt spid="83"/>
                                        </p:tgtEl>
                                        <p:attrNameLst>
                                          <p:attrName>style.visibility</p:attrName>
                                        </p:attrNameLst>
                                      </p:cBhvr>
                                      <p:to>
                                        <p:strVal val="hidden"/>
                                      </p:to>
                                    </p:set>
                                  </p:childTnLst>
                                </p:cTn>
                              </p:par>
                              <p:par>
                                <p:cTn id="101" presetID="1" presetClass="entr" presetSubtype="0" fill="hold" grpId="0" nodeType="withEffect">
                                  <p:stCondLst>
                                    <p:cond delay="0"/>
                                  </p:stCondLst>
                                  <p:childTnLst>
                                    <p:set>
                                      <p:cBhvr>
                                        <p:cTn id="102" dur="1" fill="hold">
                                          <p:stCondLst>
                                            <p:cond delay="0"/>
                                          </p:stCondLst>
                                        </p:cTn>
                                        <p:tgtEl>
                                          <p:spTgt spid="84"/>
                                        </p:tgtEl>
                                        <p:attrNameLst>
                                          <p:attrName>style.visibility</p:attrName>
                                        </p:attrNameLst>
                                      </p:cBhvr>
                                      <p:to>
                                        <p:strVal val="visible"/>
                                      </p:to>
                                    </p:set>
                                  </p:childTnLst>
                                </p:cTn>
                              </p:par>
                              <p:par>
                                <p:cTn id="103" presetID="26" presetClass="emph" presetSubtype="0" repeatCount="indefinite" fill="hold" grpId="1" nodeType="withEffect">
                                  <p:stCondLst>
                                    <p:cond delay="0"/>
                                  </p:stCondLst>
                                  <p:endCondLst>
                                    <p:cond evt="onNext" delay="0">
                                      <p:tgtEl>
                                        <p:sldTgt/>
                                      </p:tgtEl>
                                    </p:cond>
                                  </p:endCondLst>
                                  <p:childTnLst>
                                    <p:animEffect transition="out" filter="fade">
                                      <p:cBhvr>
                                        <p:cTn id="104" dur="500" tmFilter="0, 0; .2, .5; .8, .5; 1, 0"/>
                                        <p:tgtEl>
                                          <p:spTgt spid="84"/>
                                        </p:tgtEl>
                                      </p:cBhvr>
                                    </p:animEffect>
                                    <p:animScale>
                                      <p:cBhvr>
                                        <p:cTn id="105" dur="250" autoRev="1" fill="hold"/>
                                        <p:tgtEl>
                                          <p:spTgt spid="84"/>
                                        </p:tgtEl>
                                      </p:cBhvr>
                                      <p:by x="105000" y="105000"/>
                                    </p:animScale>
                                  </p:childTnLst>
                                </p:cTn>
                              </p:par>
                              <p:par>
                                <p:cTn id="106" presetID="1" presetClass="entr" presetSubtype="0" fill="hold" grpId="0" nodeType="withEffect">
                                  <p:stCondLst>
                                    <p:cond delay="0"/>
                                  </p:stCondLst>
                                  <p:childTnLst>
                                    <p:set>
                                      <p:cBhvr>
                                        <p:cTn id="107" dur="1" fill="hold">
                                          <p:stCondLst>
                                            <p:cond delay="0"/>
                                          </p:stCondLst>
                                        </p:cTn>
                                        <p:tgtEl>
                                          <p:spTgt spid="85"/>
                                        </p:tgtEl>
                                        <p:attrNameLst>
                                          <p:attrName>style.visibility</p:attrName>
                                        </p:attrNameLst>
                                      </p:cBhvr>
                                      <p:to>
                                        <p:strVal val="visible"/>
                                      </p:to>
                                    </p:set>
                                  </p:childTnLst>
                                </p:cTn>
                              </p:par>
                              <p:par>
                                <p:cTn id="108" presetID="26" presetClass="emph" presetSubtype="0" repeatCount="indefinite" fill="hold" grpId="1" nodeType="withEffect">
                                  <p:stCondLst>
                                    <p:cond delay="0"/>
                                  </p:stCondLst>
                                  <p:endCondLst>
                                    <p:cond evt="onNext" delay="0">
                                      <p:tgtEl>
                                        <p:sldTgt/>
                                      </p:tgtEl>
                                    </p:cond>
                                  </p:endCondLst>
                                  <p:childTnLst>
                                    <p:animEffect transition="out" filter="fade">
                                      <p:cBhvr>
                                        <p:cTn id="109" dur="500" tmFilter="0, 0; .2, .5; .8, .5; 1, 0"/>
                                        <p:tgtEl>
                                          <p:spTgt spid="85"/>
                                        </p:tgtEl>
                                      </p:cBhvr>
                                    </p:animEffect>
                                    <p:animScale>
                                      <p:cBhvr>
                                        <p:cTn id="110" dur="250" autoRev="1" fill="hold"/>
                                        <p:tgtEl>
                                          <p:spTgt spid="85"/>
                                        </p:tgtEl>
                                      </p:cBhvr>
                                      <p:by x="105000" y="105000"/>
                                    </p:animScale>
                                  </p:childTnLst>
                                </p:cTn>
                              </p:par>
                            </p:childTnLst>
                          </p:cTn>
                        </p:par>
                      </p:childTnLst>
                    </p:cTn>
                  </p:par>
                  <p:par>
                    <p:cTn id="111" fill="hold">
                      <p:stCondLst>
                        <p:cond delay="indefinite"/>
                      </p:stCondLst>
                      <p:childTnLst>
                        <p:par>
                          <p:cTn id="112" fill="hold">
                            <p:stCondLst>
                              <p:cond delay="0"/>
                            </p:stCondLst>
                            <p:childTnLst>
                              <p:par>
                                <p:cTn id="113" presetID="1" presetClass="exit" presetSubtype="0" fill="hold" grpId="2" nodeType="clickEffect">
                                  <p:stCondLst>
                                    <p:cond delay="0"/>
                                  </p:stCondLst>
                                  <p:childTnLst>
                                    <p:set>
                                      <p:cBhvr>
                                        <p:cTn id="114" dur="1" fill="hold">
                                          <p:stCondLst>
                                            <p:cond delay="0"/>
                                          </p:stCondLst>
                                        </p:cTn>
                                        <p:tgtEl>
                                          <p:spTgt spid="84"/>
                                        </p:tgtEl>
                                        <p:attrNameLst>
                                          <p:attrName>style.visibility</p:attrName>
                                        </p:attrNameLst>
                                      </p:cBhvr>
                                      <p:to>
                                        <p:strVal val="hidden"/>
                                      </p:to>
                                    </p:set>
                                  </p:childTnLst>
                                </p:cTn>
                              </p:par>
                              <p:par>
                                <p:cTn id="115" presetID="1" presetClass="exit" presetSubtype="0" fill="hold" grpId="2" nodeType="withEffect">
                                  <p:stCondLst>
                                    <p:cond delay="0"/>
                                  </p:stCondLst>
                                  <p:childTnLst>
                                    <p:set>
                                      <p:cBhvr>
                                        <p:cTn id="116" dur="1" fill="hold">
                                          <p:stCondLst>
                                            <p:cond delay="0"/>
                                          </p:stCondLst>
                                        </p:cTn>
                                        <p:tgtEl>
                                          <p:spTgt spid="85"/>
                                        </p:tgtEl>
                                        <p:attrNameLst>
                                          <p:attrName>style.visibility</p:attrName>
                                        </p:attrNameLst>
                                      </p:cBhvr>
                                      <p:to>
                                        <p:strVal val="hidden"/>
                                      </p:to>
                                    </p:set>
                                  </p:childTnLst>
                                </p:cTn>
                              </p:par>
                              <p:par>
                                <p:cTn id="117" presetID="1" presetClass="entr" presetSubtype="0" fill="hold" grpId="0" nodeType="withEffect">
                                  <p:stCondLst>
                                    <p:cond delay="0"/>
                                  </p:stCondLst>
                                  <p:childTnLst>
                                    <p:set>
                                      <p:cBhvr>
                                        <p:cTn id="118" dur="1" fill="hold">
                                          <p:stCondLst>
                                            <p:cond delay="0"/>
                                          </p:stCondLst>
                                        </p:cTn>
                                        <p:tgtEl>
                                          <p:spTgt spid="9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80"/>
                                        </p:tgtEl>
                                        <p:attrNameLst>
                                          <p:attrName>style.visibility</p:attrName>
                                        </p:attrNameLst>
                                      </p:cBhvr>
                                      <p:to>
                                        <p:strVal val="visible"/>
                                      </p:to>
                                    </p:set>
                                  </p:childTnLst>
                                </p:cTn>
                              </p:par>
                              <p:par>
                                <p:cTn id="121" presetID="26" presetClass="emph" presetSubtype="0" repeatCount="indefinite" fill="hold" grpId="1" nodeType="withEffect">
                                  <p:stCondLst>
                                    <p:cond delay="0"/>
                                  </p:stCondLst>
                                  <p:endCondLst>
                                    <p:cond evt="onNext" delay="0">
                                      <p:tgtEl>
                                        <p:sldTgt/>
                                      </p:tgtEl>
                                    </p:cond>
                                  </p:endCondLst>
                                  <p:childTnLst>
                                    <p:animEffect transition="out" filter="fade">
                                      <p:cBhvr>
                                        <p:cTn id="122" dur="500" tmFilter="0, 0; .2, .5; .8, .5; 1, 0"/>
                                        <p:tgtEl>
                                          <p:spTgt spid="80"/>
                                        </p:tgtEl>
                                      </p:cBhvr>
                                    </p:animEffect>
                                    <p:animScale>
                                      <p:cBhvr>
                                        <p:cTn id="123" dur="250" autoRev="1" fill="hold"/>
                                        <p:tgtEl>
                                          <p:spTgt spid="8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69" grpId="1"/>
      <p:bldP spid="73" grpId="0"/>
      <p:bldP spid="73" grpId="1"/>
      <p:bldP spid="75" grpId="0"/>
      <p:bldP spid="75" grpId="1"/>
      <p:bldP spid="77" grpId="0"/>
      <p:bldP spid="77" grpId="1"/>
      <p:bldP spid="53" grpId="0" animBg="1"/>
      <p:bldP spid="53" grpId="1" animBg="1"/>
      <p:bldP spid="53" grpId="2" animBg="1"/>
      <p:bldP spid="58" grpId="0" animBg="1"/>
      <p:bldP spid="58" grpId="1" animBg="1"/>
      <p:bldP spid="58" grpId="2" animBg="1"/>
      <p:bldP spid="78" grpId="0" animBg="1"/>
      <p:bldP spid="78" grpId="1" animBg="1"/>
      <p:bldP spid="78" grpId="2" animBg="1"/>
      <p:bldP spid="79" grpId="0" animBg="1"/>
      <p:bldP spid="79" grpId="1" animBg="1"/>
      <p:bldP spid="79" grpId="2" animBg="1"/>
      <p:bldP spid="82" grpId="0" animBg="1"/>
      <p:bldP spid="82" grpId="1" animBg="1"/>
      <p:bldP spid="82" grpId="2" animBg="1"/>
      <p:bldP spid="83" grpId="0" animBg="1"/>
      <p:bldP spid="83" grpId="1" animBg="1"/>
      <p:bldP spid="83" grpId="2" animBg="1"/>
      <p:bldP spid="84" grpId="0" animBg="1"/>
      <p:bldP spid="84" grpId="1" animBg="1"/>
      <p:bldP spid="84" grpId="2" animBg="1"/>
      <p:bldP spid="85" grpId="0" animBg="1"/>
      <p:bldP spid="85" grpId="1" animBg="1"/>
      <p:bldP spid="85" grpId="2" animBg="1"/>
      <p:bldP spid="95" grpId="0"/>
      <p:bldP spid="80" grpId="0" animBg="1"/>
      <p:bldP spid="80" grpId="1"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 (RR)</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534145" y="4315965"/>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534145" y="4315965"/>
                <a:ext cx="115517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p:sp>
        <p:nvSpPr>
          <p:cNvPr id="9" name="TextBox 8"/>
          <p:cNvSpPr txBox="1"/>
          <p:nvPr/>
        </p:nvSpPr>
        <p:spPr>
          <a:xfrm>
            <a:off x="374921" y="5011178"/>
            <a:ext cx="318448" cy="381000"/>
          </a:xfrm>
          <a:prstGeom prst="rect">
            <a:avLst/>
          </a:prstGeom>
          <a:noFill/>
        </p:spPr>
        <p:txBody>
          <a:bodyPr wrap="square" rtlCol="0">
            <a:spAutoFit/>
          </a:bodyPr>
          <a:lstStyle/>
          <a:p>
            <a:r>
              <a:rPr lang="en-US" dirty="0"/>
              <a:t>0</a:t>
            </a:r>
          </a:p>
        </p:txBody>
      </p:sp>
      <p:cxnSp>
        <p:nvCxnSpPr>
          <p:cNvPr id="14" name="Straight Connector 13"/>
          <p:cNvCxnSpPr/>
          <p:nvPr/>
        </p:nvCxnSpPr>
        <p:spPr>
          <a:xfrm flipH="1">
            <a:off x="534145" y="427611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6530" y="824702"/>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Waiting Time</a:t>
                      </a:r>
                      <a:endParaRPr lang="en-IN" sz="1800" b="1" kern="1200" dirty="0">
                        <a:solidFill>
                          <a:schemeClr val="tx1"/>
                        </a:solidFill>
                        <a:effectLst/>
                        <a:latin typeface="+mn-lt"/>
                        <a:ea typeface="+mn-ea"/>
                        <a:cs typeface="+mn-cs"/>
                      </a:endParaRPr>
                    </a:p>
                    <a:p>
                      <a:pPr algn="ctr"/>
                      <a:r>
                        <a:rPr lang="en-US" sz="1800" b="1" kern="1200" dirty="0">
                          <a:solidFill>
                            <a:schemeClr val="tx1"/>
                          </a:solidFill>
                          <a:effectLst/>
                          <a:latin typeface="+mn-lt"/>
                          <a:ea typeface="+mn-ea"/>
                          <a:cs typeface="+mn-cs"/>
                        </a:rPr>
                        <a:t>(TAT-ΔT)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2641" y="146766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0058" y="2023019"/>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259387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315181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8" name="TextBox 47"/>
          <p:cNvSpPr txBox="1"/>
          <p:nvPr/>
        </p:nvSpPr>
        <p:spPr>
          <a:xfrm>
            <a:off x="1500292" y="5011177"/>
            <a:ext cx="318448" cy="381000"/>
          </a:xfrm>
          <a:prstGeom prst="rect">
            <a:avLst/>
          </a:prstGeom>
          <a:noFill/>
        </p:spPr>
        <p:txBody>
          <a:bodyPr wrap="square" rtlCol="0">
            <a:spAutoFit/>
          </a:bodyPr>
          <a:lstStyle/>
          <a:p>
            <a:r>
              <a:rPr lang="en-US" dirty="0"/>
              <a:t>4</a:t>
            </a:r>
          </a:p>
        </p:txBody>
      </p:sp>
      <p:sp>
        <p:nvSpPr>
          <p:cNvPr id="41" name="Rectangle 40"/>
          <p:cNvSpPr/>
          <p:nvPr/>
        </p:nvSpPr>
        <p:spPr>
          <a:xfrm>
            <a:off x="1689315" y="4315965"/>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4" name="Rectangle 53"/>
              <p:cNvSpPr/>
              <p:nvPr/>
            </p:nvSpPr>
            <p:spPr>
              <a:xfrm>
                <a:off x="1943104" y="4315964"/>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54" name="Rectangle 53"/>
              <p:cNvSpPr>
                <a:spLocks noRot="1" noChangeAspect="1" noMove="1" noResize="1" noEditPoints="1" noAdjustHandles="1" noChangeArrowheads="1" noChangeShapeType="1" noTextEdit="1"/>
              </p:cNvSpPr>
              <p:nvPr/>
            </p:nvSpPr>
            <p:spPr>
              <a:xfrm>
                <a:off x="1943104" y="4315964"/>
                <a:ext cx="115517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55" name="Rectangle 54"/>
          <p:cNvSpPr/>
          <p:nvPr/>
        </p:nvSpPr>
        <p:spPr>
          <a:xfrm>
            <a:off x="3103336" y="4315963"/>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6" name="Rectangle 55"/>
              <p:cNvSpPr/>
              <p:nvPr/>
            </p:nvSpPr>
            <p:spPr>
              <a:xfrm>
                <a:off x="3362187" y="4315962"/>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56" name="Rectangle 55"/>
              <p:cNvSpPr>
                <a:spLocks noRot="1" noChangeAspect="1" noMove="1" noResize="1" noEditPoints="1" noAdjustHandles="1" noChangeArrowheads="1" noChangeShapeType="1" noTextEdit="1"/>
              </p:cNvSpPr>
              <p:nvPr/>
            </p:nvSpPr>
            <p:spPr>
              <a:xfrm>
                <a:off x="3362187" y="4315962"/>
                <a:ext cx="891257"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57" name="Rectangle 56"/>
          <p:cNvSpPr/>
          <p:nvPr/>
        </p:nvSpPr>
        <p:spPr>
          <a:xfrm>
            <a:off x="4243320" y="4315961"/>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9" name="Rectangle 58"/>
              <p:cNvSpPr/>
              <p:nvPr/>
            </p:nvSpPr>
            <p:spPr>
              <a:xfrm>
                <a:off x="4486482" y="4315960"/>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0</m:t>
                          </m:r>
                        </m:sub>
                      </m:sSub>
                    </m:oMath>
                  </m:oMathPara>
                </a14:m>
                <a:endParaRPr lang="en-US" dirty="0"/>
              </a:p>
            </p:txBody>
          </p:sp>
        </mc:Choice>
        <mc:Fallback xmlns="">
          <p:sp>
            <p:nvSpPr>
              <p:cNvPr id="59" name="Rectangle 58"/>
              <p:cNvSpPr>
                <a:spLocks noRot="1" noChangeAspect="1" noMove="1" noResize="1" noEditPoints="1" noAdjustHandles="1" noChangeArrowheads="1" noChangeShapeType="1" noTextEdit="1"/>
              </p:cNvSpPr>
              <p:nvPr/>
            </p:nvSpPr>
            <p:spPr>
              <a:xfrm>
                <a:off x="4486482" y="4315960"/>
                <a:ext cx="891257"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60" name="Rectangle 59"/>
          <p:cNvSpPr/>
          <p:nvPr/>
        </p:nvSpPr>
        <p:spPr>
          <a:xfrm>
            <a:off x="5377739" y="4315959"/>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1" name="Rectangle 60"/>
              <p:cNvSpPr/>
              <p:nvPr/>
            </p:nvSpPr>
            <p:spPr>
              <a:xfrm>
                <a:off x="5647217" y="4315959"/>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3</m:t>
                          </m:r>
                        </m:sub>
                      </m:sSub>
                    </m:oMath>
                  </m:oMathPara>
                </a14:m>
                <a:endParaRPr lang="en-US" dirty="0"/>
              </a:p>
            </p:txBody>
          </p:sp>
        </mc:Choice>
        <mc:Fallback xmlns="">
          <p:sp>
            <p:nvSpPr>
              <p:cNvPr id="61" name="Rectangle 60"/>
              <p:cNvSpPr>
                <a:spLocks noRot="1" noChangeAspect="1" noMove="1" noResize="1" noEditPoints="1" noAdjustHandles="1" noChangeArrowheads="1" noChangeShapeType="1" noTextEdit="1"/>
              </p:cNvSpPr>
              <p:nvPr/>
            </p:nvSpPr>
            <p:spPr>
              <a:xfrm>
                <a:off x="5647217" y="4315959"/>
                <a:ext cx="891257" cy="655359"/>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p:sp>
        <p:nvSpPr>
          <p:cNvPr id="62" name="Rectangle 61"/>
          <p:cNvSpPr/>
          <p:nvPr/>
        </p:nvSpPr>
        <p:spPr>
          <a:xfrm>
            <a:off x="6537922" y="4315958"/>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3" name="Rectangle 62"/>
              <p:cNvSpPr/>
              <p:nvPr/>
            </p:nvSpPr>
            <p:spPr>
              <a:xfrm>
                <a:off x="6801835" y="4315957"/>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63" name="Rectangle 62"/>
              <p:cNvSpPr>
                <a:spLocks noRot="1" noChangeAspect="1" noMove="1" noResize="1" noEditPoints="1" noAdjustHandles="1" noChangeArrowheads="1" noChangeShapeType="1" noTextEdit="1"/>
              </p:cNvSpPr>
              <p:nvPr/>
            </p:nvSpPr>
            <p:spPr>
              <a:xfrm>
                <a:off x="6801835" y="4315957"/>
                <a:ext cx="891257" cy="655359"/>
              </a:xfrm>
              <a:prstGeom prst="rect">
                <a:avLst/>
              </a:prstGeom>
              <a:blipFill rotWithShape="0">
                <a:blip r:embed="rId10"/>
                <a:stretch>
                  <a:fillRect/>
                </a:stretch>
              </a:blipFill>
              <a:ln w="38100">
                <a:solidFill>
                  <a:schemeClr val="tx1"/>
                </a:solidFill>
              </a:ln>
            </p:spPr>
            <p:txBody>
              <a:bodyPr/>
              <a:lstStyle/>
              <a:p>
                <a:r>
                  <a:rPr lang="en-US">
                    <a:noFill/>
                  </a:rPr>
                  <a:t> </a:t>
                </a:r>
              </a:p>
            </p:txBody>
          </p:sp>
        </mc:Fallback>
      </mc:AlternateContent>
      <p:sp>
        <p:nvSpPr>
          <p:cNvPr id="64" name="Rectangle 63"/>
          <p:cNvSpPr/>
          <p:nvPr/>
        </p:nvSpPr>
        <p:spPr>
          <a:xfrm>
            <a:off x="7683017" y="4315956"/>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5" name="Rectangle 64"/>
              <p:cNvSpPr/>
              <p:nvPr/>
            </p:nvSpPr>
            <p:spPr>
              <a:xfrm>
                <a:off x="7936855" y="4315955"/>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0</m:t>
                          </m:r>
                        </m:sub>
                      </m:sSub>
                    </m:oMath>
                  </m:oMathPara>
                </a14:m>
                <a:endParaRPr lang="en-US" dirty="0"/>
              </a:p>
            </p:txBody>
          </p:sp>
        </mc:Choice>
        <mc:Fallback xmlns="">
          <p:sp>
            <p:nvSpPr>
              <p:cNvPr id="65" name="Rectangle 64"/>
              <p:cNvSpPr>
                <a:spLocks noRot="1" noChangeAspect="1" noMove="1" noResize="1" noEditPoints="1" noAdjustHandles="1" noChangeArrowheads="1" noChangeShapeType="1" noTextEdit="1"/>
              </p:cNvSpPr>
              <p:nvPr/>
            </p:nvSpPr>
            <p:spPr>
              <a:xfrm>
                <a:off x="7936855" y="4315955"/>
                <a:ext cx="891257" cy="655359"/>
              </a:xfrm>
              <a:prstGeom prst="rect">
                <a:avLst/>
              </a:prstGeom>
              <a:blipFill rotWithShape="0">
                <a:blip r:embed="rId11"/>
                <a:stretch>
                  <a:fillRect/>
                </a:stretch>
              </a:blipFill>
              <a:ln w="38100">
                <a:solidFill>
                  <a:schemeClr val="tx1"/>
                </a:solidFill>
              </a:ln>
            </p:spPr>
            <p:txBody>
              <a:bodyPr/>
              <a:lstStyle/>
              <a:p>
                <a:r>
                  <a:rPr lang="en-US">
                    <a:noFill/>
                  </a:rPr>
                  <a:t> </a:t>
                </a:r>
              </a:p>
            </p:txBody>
          </p:sp>
        </mc:Fallback>
      </mc:AlternateContent>
      <p:sp>
        <p:nvSpPr>
          <p:cNvPr id="66" name="TextBox 65"/>
          <p:cNvSpPr txBox="1"/>
          <p:nvPr/>
        </p:nvSpPr>
        <p:spPr>
          <a:xfrm>
            <a:off x="1772245" y="5011176"/>
            <a:ext cx="318448" cy="381000"/>
          </a:xfrm>
          <a:prstGeom prst="rect">
            <a:avLst/>
          </a:prstGeom>
          <a:noFill/>
        </p:spPr>
        <p:txBody>
          <a:bodyPr wrap="square" rtlCol="0">
            <a:spAutoFit/>
          </a:bodyPr>
          <a:lstStyle/>
          <a:p>
            <a:r>
              <a:rPr lang="en-US" dirty="0"/>
              <a:t>5</a:t>
            </a:r>
          </a:p>
        </p:txBody>
      </p:sp>
      <p:sp>
        <p:nvSpPr>
          <p:cNvPr id="67" name="TextBox 66"/>
          <p:cNvSpPr txBox="1"/>
          <p:nvPr/>
        </p:nvSpPr>
        <p:spPr>
          <a:xfrm>
            <a:off x="2931467" y="4971314"/>
            <a:ext cx="318448" cy="381000"/>
          </a:xfrm>
          <a:prstGeom prst="rect">
            <a:avLst/>
          </a:prstGeom>
          <a:noFill/>
        </p:spPr>
        <p:txBody>
          <a:bodyPr wrap="square" rtlCol="0">
            <a:spAutoFit/>
          </a:bodyPr>
          <a:lstStyle/>
          <a:p>
            <a:r>
              <a:rPr lang="en-US" dirty="0"/>
              <a:t>9</a:t>
            </a:r>
          </a:p>
        </p:txBody>
      </p:sp>
      <p:sp>
        <p:nvSpPr>
          <p:cNvPr id="68" name="TextBox 67"/>
          <p:cNvSpPr txBox="1"/>
          <p:nvPr/>
        </p:nvSpPr>
        <p:spPr>
          <a:xfrm>
            <a:off x="3177435" y="4971314"/>
            <a:ext cx="411796" cy="369332"/>
          </a:xfrm>
          <a:prstGeom prst="rect">
            <a:avLst/>
          </a:prstGeom>
          <a:noFill/>
        </p:spPr>
        <p:txBody>
          <a:bodyPr wrap="square" rtlCol="0">
            <a:spAutoFit/>
          </a:bodyPr>
          <a:lstStyle/>
          <a:p>
            <a:r>
              <a:rPr lang="en-US" dirty="0"/>
              <a:t>10</a:t>
            </a:r>
          </a:p>
        </p:txBody>
      </p:sp>
      <p:sp>
        <p:nvSpPr>
          <p:cNvPr id="69" name="TextBox 68"/>
          <p:cNvSpPr txBox="1"/>
          <p:nvPr/>
        </p:nvSpPr>
        <p:spPr>
          <a:xfrm>
            <a:off x="4013627" y="4965478"/>
            <a:ext cx="411796" cy="369332"/>
          </a:xfrm>
          <a:prstGeom prst="rect">
            <a:avLst/>
          </a:prstGeom>
          <a:noFill/>
        </p:spPr>
        <p:txBody>
          <a:bodyPr wrap="square" rtlCol="0">
            <a:spAutoFit/>
          </a:bodyPr>
          <a:lstStyle/>
          <a:p>
            <a:r>
              <a:rPr lang="en-US" dirty="0"/>
              <a:t>12</a:t>
            </a:r>
          </a:p>
        </p:txBody>
      </p:sp>
      <p:sp>
        <p:nvSpPr>
          <p:cNvPr id="70" name="TextBox 69"/>
          <p:cNvSpPr txBox="1"/>
          <p:nvPr/>
        </p:nvSpPr>
        <p:spPr>
          <a:xfrm>
            <a:off x="4305249" y="4965478"/>
            <a:ext cx="411796" cy="369332"/>
          </a:xfrm>
          <a:prstGeom prst="rect">
            <a:avLst/>
          </a:prstGeom>
          <a:noFill/>
        </p:spPr>
        <p:txBody>
          <a:bodyPr wrap="square" rtlCol="0">
            <a:spAutoFit/>
          </a:bodyPr>
          <a:lstStyle/>
          <a:p>
            <a:r>
              <a:rPr lang="en-US" dirty="0"/>
              <a:t>13</a:t>
            </a:r>
          </a:p>
        </p:txBody>
      </p:sp>
      <p:sp>
        <p:nvSpPr>
          <p:cNvPr id="71" name="TextBox 70"/>
          <p:cNvSpPr txBox="1"/>
          <p:nvPr/>
        </p:nvSpPr>
        <p:spPr>
          <a:xfrm>
            <a:off x="5138257" y="4941711"/>
            <a:ext cx="411796" cy="369332"/>
          </a:xfrm>
          <a:prstGeom prst="rect">
            <a:avLst/>
          </a:prstGeom>
          <a:noFill/>
        </p:spPr>
        <p:txBody>
          <a:bodyPr wrap="square" rtlCol="0">
            <a:spAutoFit/>
          </a:bodyPr>
          <a:lstStyle/>
          <a:p>
            <a:r>
              <a:rPr lang="en-US" dirty="0"/>
              <a:t>17</a:t>
            </a:r>
          </a:p>
        </p:txBody>
      </p:sp>
      <p:sp>
        <p:nvSpPr>
          <p:cNvPr id="72" name="TextBox 71"/>
          <p:cNvSpPr txBox="1"/>
          <p:nvPr/>
        </p:nvSpPr>
        <p:spPr>
          <a:xfrm>
            <a:off x="5488013" y="4938896"/>
            <a:ext cx="411796" cy="369332"/>
          </a:xfrm>
          <a:prstGeom prst="rect">
            <a:avLst/>
          </a:prstGeom>
          <a:noFill/>
        </p:spPr>
        <p:txBody>
          <a:bodyPr wrap="square" rtlCol="0">
            <a:spAutoFit/>
          </a:bodyPr>
          <a:lstStyle/>
          <a:p>
            <a:r>
              <a:rPr lang="en-US" dirty="0"/>
              <a:t>18</a:t>
            </a:r>
          </a:p>
        </p:txBody>
      </p:sp>
      <p:sp>
        <p:nvSpPr>
          <p:cNvPr id="73" name="TextBox 72"/>
          <p:cNvSpPr txBox="1"/>
          <p:nvPr/>
        </p:nvSpPr>
        <p:spPr>
          <a:xfrm>
            <a:off x="6290773" y="4955106"/>
            <a:ext cx="411796" cy="369332"/>
          </a:xfrm>
          <a:prstGeom prst="rect">
            <a:avLst/>
          </a:prstGeom>
          <a:noFill/>
        </p:spPr>
        <p:txBody>
          <a:bodyPr wrap="square" rtlCol="0">
            <a:spAutoFit/>
          </a:bodyPr>
          <a:lstStyle/>
          <a:p>
            <a:r>
              <a:rPr lang="en-US" dirty="0"/>
              <a:t>22</a:t>
            </a:r>
          </a:p>
        </p:txBody>
      </p:sp>
      <p:sp>
        <p:nvSpPr>
          <p:cNvPr id="74" name="TextBox 73"/>
          <p:cNvSpPr txBox="1"/>
          <p:nvPr/>
        </p:nvSpPr>
        <p:spPr>
          <a:xfrm>
            <a:off x="6612119" y="4955106"/>
            <a:ext cx="411796" cy="369332"/>
          </a:xfrm>
          <a:prstGeom prst="rect">
            <a:avLst/>
          </a:prstGeom>
          <a:noFill/>
        </p:spPr>
        <p:txBody>
          <a:bodyPr wrap="square" rtlCol="0">
            <a:spAutoFit/>
          </a:bodyPr>
          <a:lstStyle/>
          <a:p>
            <a:r>
              <a:rPr lang="en-US" dirty="0"/>
              <a:t>23</a:t>
            </a:r>
          </a:p>
        </p:txBody>
      </p:sp>
      <p:sp>
        <p:nvSpPr>
          <p:cNvPr id="75" name="TextBox 74"/>
          <p:cNvSpPr txBox="1"/>
          <p:nvPr/>
        </p:nvSpPr>
        <p:spPr>
          <a:xfrm>
            <a:off x="7462897" y="4955106"/>
            <a:ext cx="411796" cy="369332"/>
          </a:xfrm>
          <a:prstGeom prst="rect">
            <a:avLst/>
          </a:prstGeom>
          <a:noFill/>
        </p:spPr>
        <p:txBody>
          <a:bodyPr wrap="square" rtlCol="0">
            <a:spAutoFit/>
          </a:bodyPr>
          <a:lstStyle/>
          <a:p>
            <a:r>
              <a:rPr lang="en-US" dirty="0"/>
              <a:t>25</a:t>
            </a:r>
          </a:p>
        </p:txBody>
      </p:sp>
      <p:sp>
        <p:nvSpPr>
          <p:cNvPr id="76" name="TextBox 75"/>
          <p:cNvSpPr txBox="1"/>
          <p:nvPr/>
        </p:nvSpPr>
        <p:spPr>
          <a:xfrm>
            <a:off x="7753387" y="4955106"/>
            <a:ext cx="411796" cy="369332"/>
          </a:xfrm>
          <a:prstGeom prst="rect">
            <a:avLst/>
          </a:prstGeom>
          <a:noFill/>
        </p:spPr>
        <p:txBody>
          <a:bodyPr wrap="square" rtlCol="0">
            <a:spAutoFit/>
          </a:bodyPr>
          <a:lstStyle/>
          <a:p>
            <a:r>
              <a:rPr lang="en-US" dirty="0"/>
              <a:t>26</a:t>
            </a:r>
          </a:p>
        </p:txBody>
      </p:sp>
      <p:sp>
        <p:nvSpPr>
          <p:cNvPr id="77" name="TextBox 76"/>
          <p:cNvSpPr txBox="1"/>
          <p:nvPr/>
        </p:nvSpPr>
        <p:spPr>
          <a:xfrm>
            <a:off x="8622214" y="4938892"/>
            <a:ext cx="411796" cy="369332"/>
          </a:xfrm>
          <a:prstGeom prst="rect">
            <a:avLst/>
          </a:prstGeom>
          <a:noFill/>
        </p:spPr>
        <p:txBody>
          <a:bodyPr wrap="square" rtlCol="0">
            <a:spAutoFit/>
          </a:bodyPr>
          <a:lstStyle/>
          <a:p>
            <a:r>
              <a:rPr lang="en-US" dirty="0"/>
              <a:t>28</a:t>
            </a:r>
          </a:p>
        </p:txBody>
      </p:sp>
      <p:sp>
        <p:nvSpPr>
          <p:cNvPr id="86" name="TextBox 85"/>
          <p:cNvSpPr txBox="1"/>
          <p:nvPr/>
        </p:nvSpPr>
        <p:spPr>
          <a:xfrm>
            <a:off x="7735846" y="1479367"/>
            <a:ext cx="2064742" cy="542441"/>
          </a:xfrm>
          <a:prstGeom prst="rect">
            <a:avLst/>
          </a:prstGeom>
          <a:noFill/>
          <a:ln w="57150">
            <a:solidFill>
              <a:srgbClr val="FF0000"/>
            </a:solidFill>
          </a:ln>
        </p:spPr>
        <p:txBody>
          <a:bodyPr wrap="square" rtlCol="0">
            <a:spAutoFit/>
          </a:bodyPr>
          <a:lstStyle/>
          <a:p>
            <a:endParaRPr lang="en-IN" dirty="0"/>
          </a:p>
        </p:txBody>
      </p:sp>
      <p:sp>
        <p:nvSpPr>
          <p:cNvPr id="87" name="TextBox 86"/>
          <p:cNvSpPr txBox="1"/>
          <p:nvPr/>
        </p:nvSpPr>
        <p:spPr>
          <a:xfrm>
            <a:off x="2742088" y="1484015"/>
            <a:ext cx="3590108" cy="542441"/>
          </a:xfrm>
          <a:prstGeom prst="rect">
            <a:avLst/>
          </a:prstGeom>
          <a:noFill/>
          <a:ln w="57150">
            <a:solidFill>
              <a:srgbClr val="FF0000"/>
            </a:solidFill>
          </a:ln>
        </p:spPr>
        <p:txBody>
          <a:bodyPr wrap="square" rtlCol="0">
            <a:spAutoFit/>
          </a:bodyPr>
          <a:lstStyle/>
          <a:p>
            <a:endParaRPr lang="en-IN" dirty="0"/>
          </a:p>
        </p:txBody>
      </p:sp>
      <p:sp>
        <p:nvSpPr>
          <p:cNvPr id="88" name="TextBox 87"/>
          <p:cNvSpPr txBox="1"/>
          <p:nvPr/>
        </p:nvSpPr>
        <p:spPr>
          <a:xfrm>
            <a:off x="7753387" y="2019623"/>
            <a:ext cx="2064742" cy="542441"/>
          </a:xfrm>
          <a:prstGeom prst="rect">
            <a:avLst/>
          </a:prstGeom>
          <a:noFill/>
          <a:ln w="57150">
            <a:solidFill>
              <a:srgbClr val="FF0000"/>
            </a:solidFill>
          </a:ln>
        </p:spPr>
        <p:txBody>
          <a:bodyPr wrap="square" rtlCol="0">
            <a:spAutoFit/>
          </a:bodyPr>
          <a:lstStyle/>
          <a:p>
            <a:endParaRPr lang="en-IN" dirty="0"/>
          </a:p>
        </p:txBody>
      </p:sp>
      <p:sp>
        <p:nvSpPr>
          <p:cNvPr id="89" name="TextBox 88"/>
          <p:cNvSpPr txBox="1"/>
          <p:nvPr/>
        </p:nvSpPr>
        <p:spPr>
          <a:xfrm>
            <a:off x="2770719" y="2008552"/>
            <a:ext cx="3590108" cy="542441"/>
          </a:xfrm>
          <a:prstGeom prst="rect">
            <a:avLst/>
          </a:prstGeom>
          <a:noFill/>
          <a:ln w="57150">
            <a:solidFill>
              <a:srgbClr val="FF0000"/>
            </a:solidFill>
          </a:ln>
        </p:spPr>
        <p:txBody>
          <a:bodyPr wrap="square" rtlCol="0">
            <a:spAutoFit/>
          </a:bodyPr>
          <a:lstStyle/>
          <a:p>
            <a:endParaRPr lang="en-IN" dirty="0"/>
          </a:p>
        </p:txBody>
      </p:sp>
      <p:sp>
        <p:nvSpPr>
          <p:cNvPr id="90" name="TextBox 89"/>
          <p:cNvSpPr txBox="1"/>
          <p:nvPr/>
        </p:nvSpPr>
        <p:spPr>
          <a:xfrm>
            <a:off x="7751344" y="2604314"/>
            <a:ext cx="2064742" cy="542441"/>
          </a:xfrm>
          <a:prstGeom prst="rect">
            <a:avLst/>
          </a:prstGeom>
          <a:noFill/>
          <a:ln w="57150">
            <a:solidFill>
              <a:srgbClr val="FF0000"/>
            </a:solidFill>
          </a:ln>
        </p:spPr>
        <p:txBody>
          <a:bodyPr wrap="square" rtlCol="0">
            <a:spAutoFit/>
          </a:bodyPr>
          <a:lstStyle/>
          <a:p>
            <a:endParaRPr lang="en-IN" dirty="0"/>
          </a:p>
        </p:txBody>
      </p:sp>
      <p:sp>
        <p:nvSpPr>
          <p:cNvPr id="91" name="TextBox 90"/>
          <p:cNvSpPr txBox="1"/>
          <p:nvPr/>
        </p:nvSpPr>
        <p:spPr>
          <a:xfrm>
            <a:off x="2749972" y="2626869"/>
            <a:ext cx="3590108" cy="542441"/>
          </a:xfrm>
          <a:prstGeom prst="rect">
            <a:avLst/>
          </a:prstGeom>
          <a:noFill/>
          <a:ln w="57150">
            <a:solidFill>
              <a:srgbClr val="FF0000"/>
            </a:solidFill>
          </a:ln>
        </p:spPr>
        <p:txBody>
          <a:bodyPr wrap="square" rtlCol="0">
            <a:spAutoFit/>
          </a:bodyPr>
          <a:lstStyle/>
          <a:p>
            <a:endParaRPr lang="en-IN" dirty="0"/>
          </a:p>
        </p:txBody>
      </p:sp>
      <p:sp>
        <p:nvSpPr>
          <p:cNvPr id="93" name="TextBox 92"/>
          <p:cNvSpPr txBox="1"/>
          <p:nvPr/>
        </p:nvSpPr>
        <p:spPr>
          <a:xfrm>
            <a:off x="7749635" y="3141796"/>
            <a:ext cx="2064742" cy="542441"/>
          </a:xfrm>
          <a:prstGeom prst="rect">
            <a:avLst/>
          </a:prstGeom>
          <a:noFill/>
          <a:ln w="57150">
            <a:solidFill>
              <a:srgbClr val="FF0000"/>
            </a:solidFill>
          </a:ln>
        </p:spPr>
        <p:txBody>
          <a:bodyPr wrap="square" rtlCol="0">
            <a:spAutoFit/>
          </a:bodyPr>
          <a:lstStyle/>
          <a:p>
            <a:endParaRPr lang="en-IN" dirty="0"/>
          </a:p>
        </p:txBody>
      </p:sp>
      <p:sp>
        <p:nvSpPr>
          <p:cNvPr id="94" name="TextBox 93"/>
          <p:cNvSpPr txBox="1"/>
          <p:nvPr/>
        </p:nvSpPr>
        <p:spPr>
          <a:xfrm>
            <a:off x="2702849" y="3166502"/>
            <a:ext cx="3590108" cy="542441"/>
          </a:xfrm>
          <a:prstGeom prst="rect">
            <a:avLst/>
          </a:prstGeom>
          <a:noFill/>
          <a:ln w="57150">
            <a:solidFill>
              <a:srgbClr val="FF0000"/>
            </a:solidFill>
          </a:ln>
        </p:spPr>
        <p:txBody>
          <a:bodyPr wrap="square" rtlCol="0">
            <a:spAutoFit/>
          </a:bodyPr>
          <a:lstStyle/>
          <a:p>
            <a:endParaRPr lang="en-IN" dirty="0"/>
          </a:p>
        </p:txBody>
      </p:sp>
      <p:sp>
        <p:nvSpPr>
          <p:cNvPr id="96" name="TextBox 95"/>
          <p:cNvSpPr txBox="1"/>
          <p:nvPr/>
        </p:nvSpPr>
        <p:spPr>
          <a:xfrm>
            <a:off x="499274" y="5482328"/>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Waiting Time </a:t>
            </a:r>
            <a:r>
              <a:rPr lang="en-US" sz="2000" dirty="0"/>
              <a:t>= Sum of all Process’s Waiting Time/ Total Process</a:t>
            </a:r>
          </a:p>
          <a:p>
            <a:r>
              <a:rPr lang="en-US" sz="2000" dirty="0"/>
              <a:t>                                              = (18+18+7+13)/4 </a:t>
            </a:r>
          </a:p>
          <a:p>
            <a:r>
              <a:rPr lang="en-US" sz="2000" dirty="0"/>
              <a:t>                                              = 14.00 </a:t>
            </a:r>
            <a:r>
              <a:rPr lang="en-US" sz="2000" dirty="0" err="1"/>
              <a:t>ms.</a:t>
            </a:r>
            <a:endParaRPr lang="en-US" sz="2000" dirty="0"/>
          </a:p>
        </p:txBody>
      </p:sp>
      <p:sp>
        <p:nvSpPr>
          <p:cNvPr id="81" name="TextBox 80"/>
          <p:cNvSpPr txBox="1"/>
          <p:nvPr/>
        </p:nvSpPr>
        <p:spPr>
          <a:xfrm>
            <a:off x="9800588" y="1461335"/>
            <a:ext cx="2049246" cy="2222902"/>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2141397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6"/>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500" tmFilter="0, 0; .2, .5; .8, .5; 1, 0"/>
                                        <p:tgtEl>
                                          <p:spTgt spid="86"/>
                                        </p:tgtEl>
                                      </p:cBhvr>
                                    </p:animEffect>
                                    <p:animScale>
                                      <p:cBhvr>
                                        <p:cTn id="15" dur="250" autoRev="1" fill="hold"/>
                                        <p:tgtEl>
                                          <p:spTgt spid="86"/>
                                        </p:tgtEl>
                                      </p:cBhvr>
                                      <p:by x="105000" y="105000"/>
                                    </p:animScale>
                                  </p:childTnLst>
                                </p:cTn>
                              </p:par>
                              <p:par>
                                <p:cTn id="16" presetID="1" presetClass="entr" presetSubtype="0" fill="hold" grpId="0" nodeType="withEffect">
                                  <p:stCondLst>
                                    <p:cond delay="0"/>
                                  </p:stCondLst>
                                  <p:childTnLst>
                                    <p:set>
                                      <p:cBhvr>
                                        <p:cTn id="17" dur="1" fill="hold">
                                          <p:stCondLst>
                                            <p:cond delay="0"/>
                                          </p:stCondLst>
                                        </p:cTn>
                                        <p:tgtEl>
                                          <p:spTgt spid="87"/>
                                        </p:tgtEl>
                                        <p:attrNameLst>
                                          <p:attrName>style.visibility</p:attrName>
                                        </p:attrNameLst>
                                      </p:cBhvr>
                                      <p:to>
                                        <p:strVal val="visible"/>
                                      </p:to>
                                    </p:set>
                                  </p:childTnLst>
                                </p:cTn>
                              </p:par>
                              <p:par>
                                <p:cTn id="18" presetID="26" presetClass="emph" presetSubtype="0" repeatCount="indefinite" fill="hold" grpId="1" nodeType="withEffect">
                                  <p:stCondLst>
                                    <p:cond delay="0"/>
                                  </p:stCondLst>
                                  <p:endCondLst>
                                    <p:cond evt="onNext" delay="0">
                                      <p:tgtEl>
                                        <p:sldTgt/>
                                      </p:tgtEl>
                                    </p:cond>
                                  </p:endCondLst>
                                  <p:childTnLst>
                                    <p:animEffect transition="out" filter="fade">
                                      <p:cBhvr>
                                        <p:cTn id="19" dur="500" tmFilter="0, 0; .2, .5; .8, .5; 1, 0"/>
                                        <p:tgtEl>
                                          <p:spTgt spid="87"/>
                                        </p:tgtEl>
                                      </p:cBhvr>
                                    </p:animEffect>
                                    <p:animScale>
                                      <p:cBhvr>
                                        <p:cTn id="20" dur="250" autoRev="1" fill="hold"/>
                                        <p:tgtEl>
                                          <p:spTgt spid="87"/>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xit" presetSubtype="0" fill="hold" grpId="2" nodeType="withEffect">
                                  <p:stCondLst>
                                    <p:cond delay="0"/>
                                  </p:stCondLst>
                                  <p:childTnLst>
                                    <p:set>
                                      <p:cBhvr>
                                        <p:cTn id="26" dur="1" fill="hold">
                                          <p:stCondLst>
                                            <p:cond delay="0"/>
                                          </p:stCondLst>
                                        </p:cTn>
                                        <p:tgtEl>
                                          <p:spTgt spid="86"/>
                                        </p:tgtEl>
                                        <p:attrNameLst>
                                          <p:attrName>style.visibility</p:attrName>
                                        </p:attrNameLst>
                                      </p:cBhvr>
                                      <p:to>
                                        <p:strVal val="hidden"/>
                                      </p:to>
                                    </p:set>
                                  </p:childTnLst>
                                </p:cTn>
                              </p:par>
                              <p:par>
                                <p:cTn id="27" presetID="1" presetClass="exit" presetSubtype="0" fill="hold" grpId="2" nodeType="withEffect">
                                  <p:stCondLst>
                                    <p:cond delay="0"/>
                                  </p:stCondLst>
                                  <p:childTnLst>
                                    <p:set>
                                      <p:cBhvr>
                                        <p:cTn id="28" dur="1" fill="hold">
                                          <p:stCondLst>
                                            <p:cond delay="0"/>
                                          </p:stCondLst>
                                        </p:cTn>
                                        <p:tgtEl>
                                          <p:spTgt spid="8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88"/>
                                        </p:tgtEl>
                                        <p:attrNameLst>
                                          <p:attrName>style.visibility</p:attrName>
                                        </p:attrNameLst>
                                      </p:cBhvr>
                                      <p:to>
                                        <p:strVal val="visible"/>
                                      </p:to>
                                    </p:set>
                                  </p:childTnLst>
                                </p:cTn>
                              </p:par>
                              <p:par>
                                <p:cTn id="31" presetID="26" presetClass="emph" presetSubtype="0" repeatCount="indefinite" fill="hold" grpId="1" nodeType="withEffect">
                                  <p:stCondLst>
                                    <p:cond delay="0"/>
                                  </p:stCondLst>
                                  <p:endCondLst>
                                    <p:cond evt="onNext" delay="0">
                                      <p:tgtEl>
                                        <p:sldTgt/>
                                      </p:tgtEl>
                                    </p:cond>
                                  </p:endCondLst>
                                  <p:childTnLst>
                                    <p:animEffect transition="out" filter="fade">
                                      <p:cBhvr>
                                        <p:cTn id="32" dur="500" tmFilter="0, 0; .2, .5; .8, .5; 1, 0"/>
                                        <p:tgtEl>
                                          <p:spTgt spid="88"/>
                                        </p:tgtEl>
                                      </p:cBhvr>
                                    </p:animEffect>
                                    <p:animScale>
                                      <p:cBhvr>
                                        <p:cTn id="33" dur="250" autoRev="1" fill="hold"/>
                                        <p:tgtEl>
                                          <p:spTgt spid="88"/>
                                        </p:tgtEl>
                                      </p:cBhvr>
                                      <p:by x="105000" y="105000"/>
                                    </p:animScale>
                                  </p:childTnLst>
                                </p:cTn>
                              </p:par>
                              <p:par>
                                <p:cTn id="34" presetID="1" presetClass="entr" presetSubtype="0" fill="hold" grpId="0" nodeType="withEffect">
                                  <p:stCondLst>
                                    <p:cond delay="0"/>
                                  </p:stCondLst>
                                  <p:childTnLst>
                                    <p:set>
                                      <p:cBhvr>
                                        <p:cTn id="35" dur="1" fill="hold">
                                          <p:stCondLst>
                                            <p:cond delay="0"/>
                                          </p:stCondLst>
                                        </p:cTn>
                                        <p:tgtEl>
                                          <p:spTgt spid="89"/>
                                        </p:tgtEl>
                                        <p:attrNameLst>
                                          <p:attrName>style.visibility</p:attrName>
                                        </p:attrNameLst>
                                      </p:cBhvr>
                                      <p:to>
                                        <p:strVal val="visible"/>
                                      </p:to>
                                    </p:set>
                                  </p:childTnLst>
                                </p:cTn>
                              </p:par>
                              <p:par>
                                <p:cTn id="36" presetID="26" presetClass="emph" presetSubtype="0" repeatCount="indefinite" fill="hold" grpId="1" nodeType="withEffect">
                                  <p:stCondLst>
                                    <p:cond delay="0"/>
                                  </p:stCondLst>
                                  <p:endCondLst>
                                    <p:cond evt="onNext" delay="0">
                                      <p:tgtEl>
                                        <p:sldTgt/>
                                      </p:tgtEl>
                                    </p:cond>
                                  </p:endCondLst>
                                  <p:childTnLst>
                                    <p:animEffect transition="out" filter="fade">
                                      <p:cBhvr>
                                        <p:cTn id="37" dur="500" tmFilter="0, 0; .2, .5; .8, .5; 1, 0"/>
                                        <p:tgtEl>
                                          <p:spTgt spid="89"/>
                                        </p:tgtEl>
                                      </p:cBhvr>
                                    </p:animEffect>
                                    <p:animScale>
                                      <p:cBhvr>
                                        <p:cTn id="38" dur="250" autoRev="1" fill="hold"/>
                                        <p:tgtEl>
                                          <p:spTgt spid="89"/>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xit" presetSubtype="0" fill="hold" grpId="2" nodeType="withEffect">
                                  <p:stCondLst>
                                    <p:cond delay="0"/>
                                  </p:stCondLst>
                                  <p:childTnLst>
                                    <p:set>
                                      <p:cBhvr>
                                        <p:cTn id="44" dur="1" fill="hold">
                                          <p:stCondLst>
                                            <p:cond delay="0"/>
                                          </p:stCondLst>
                                        </p:cTn>
                                        <p:tgtEl>
                                          <p:spTgt spid="88"/>
                                        </p:tgtEl>
                                        <p:attrNameLst>
                                          <p:attrName>style.visibility</p:attrName>
                                        </p:attrNameLst>
                                      </p:cBhvr>
                                      <p:to>
                                        <p:strVal val="hidden"/>
                                      </p:to>
                                    </p:set>
                                  </p:childTnLst>
                                </p:cTn>
                              </p:par>
                              <p:par>
                                <p:cTn id="45" presetID="1" presetClass="exit" presetSubtype="0" fill="hold" grpId="2" nodeType="withEffect">
                                  <p:stCondLst>
                                    <p:cond delay="0"/>
                                  </p:stCondLst>
                                  <p:childTnLst>
                                    <p:set>
                                      <p:cBhvr>
                                        <p:cTn id="46" dur="1" fill="hold">
                                          <p:stCondLst>
                                            <p:cond delay="0"/>
                                          </p:stCondLst>
                                        </p:cTn>
                                        <p:tgtEl>
                                          <p:spTgt spid="89"/>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90"/>
                                        </p:tgtEl>
                                        <p:attrNameLst>
                                          <p:attrName>style.visibility</p:attrName>
                                        </p:attrNameLst>
                                      </p:cBhvr>
                                      <p:to>
                                        <p:strVal val="visible"/>
                                      </p:to>
                                    </p:set>
                                  </p:childTnLst>
                                </p:cTn>
                              </p:par>
                              <p:par>
                                <p:cTn id="49" presetID="26" presetClass="emph" presetSubtype="0" repeatCount="indefinite" fill="hold" grpId="1" nodeType="withEffect">
                                  <p:stCondLst>
                                    <p:cond delay="0"/>
                                  </p:stCondLst>
                                  <p:endCondLst>
                                    <p:cond evt="onNext" delay="0">
                                      <p:tgtEl>
                                        <p:sldTgt/>
                                      </p:tgtEl>
                                    </p:cond>
                                  </p:endCondLst>
                                  <p:childTnLst>
                                    <p:animEffect transition="out" filter="fade">
                                      <p:cBhvr>
                                        <p:cTn id="50" dur="500" tmFilter="0, 0; .2, .5; .8, .5; 1, 0"/>
                                        <p:tgtEl>
                                          <p:spTgt spid="90"/>
                                        </p:tgtEl>
                                      </p:cBhvr>
                                    </p:animEffect>
                                    <p:animScale>
                                      <p:cBhvr>
                                        <p:cTn id="51" dur="250" autoRev="1" fill="hold"/>
                                        <p:tgtEl>
                                          <p:spTgt spid="90"/>
                                        </p:tgtEl>
                                      </p:cBhvr>
                                      <p:by x="105000" y="105000"/>
                                    </p:animScale>
                                  </p:childTnLst>
                                </p:cTn>
                              </p:par>
                              <p:par>
                                <p:cTn id="52" presetID="1" presetClass="entr" presetSubtype="0" fill="hold" grpId="0" nodeType="withEffect">
                                  <p:stCondLst>
                                    <p:cond delay="0"/>
                                  </p:stCondLst>
                                  <p:childTnLst>
                                    <p:set>
                                      <p:cBhvr>
                                        <p:cTn id="53" dur="1" fill="hold">
                                          <p:stCondLst>
                                            <p:cond delay="0"/>
                                          </p:stCondLst>
                                        </p:cTn>
                                        <p:tgtEl>
                                          <p:spTgt spid="91"/>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91"/>
                                        </p:tgtEl>
                                      </p:cBhvr>
                                    </p:animEffect>
                                    <p:animScale>
                                      <p:cBhvr>
                                        <p:cTn id="56" dur="250" autoRev="1" fill="hold"/>
                                        <p:tgtEl>
                                          <p:spTgt spid="91"/>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90"/>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91"/>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93"/>
                                        </p:tgtEl>
                                        <p:attrNameLst>
                                          <p:attrName>style.visibility</p:attrName>
                                        </p:attrNameLst>
                                      </p:cBhvr>
                                      <p:to>
                                        <p:strVal val="visible"/>
                                      </p:to>
                                    </p:set>
                                  </p:childTnLst>
                                </p:cTn>
                              </p:par>
                              <p:par>
                                <p:cTn id="67" presetID="26" presetClass="emph" presetSubtype="0" repeatCount="indefinite" fill="hold" grpId="1" nodeType="withEffect">
                                  <p:stCondLst>
                                    <p:cond delay="0"/>
                                  </p:stCondLst>
                                  <p:endCondLst>
                                    <p:cond evt="onNext" delay="0">
                                      <p:tgtEl>
                                        <p:sldTgt/>
                                      </p:tgtEl>
                                    </p:cond>
                                  </p:endCondLst>
                                  <p:childTnLst>
                                    <p:animEffect transition="out" filter="fade">
                                      <p:cBhvr>
                                        <p:cTn id="68" dur="500" tmFilter="0, 0; .2, .5; .8, .5; 1, 0"/>
                                        <p:tgtEl>
                                          <p:spTgt spid="93"/>
                                        </p:tgtEl>
                                      </p:cBhvr>
                                    </p:animEffect>
                                    <p:animScale>
                                      <p:cBhvr>
                                        <p:cTn id="69" dur="250" autoRev="1" fill="hold"/>
                                        <p:tgtEl>
                                          <p:spTgt spid="93"/>
                                        </p:tgtEl>
                                      </p:cBhvr>
                                      <p:by x="105000" y="105000"/>
                                    </p:animScale>
                                  </p:childTnLst>
                                </p:cTn>
                              </p:par>
                              <p:par>
                                <p:cTn id="70" presetID="1" presetClass="entr" presetSubtype="0" fill="hold" grpId="0" nodeType="withEffect">
                                  <p:stCondLst>
                                    <p:cond delay="0"/>
                                  </p:stCondLst>
                                  <p:childTnLst>
                                    <p:set>
                                      <p:cBhvr>
                                        <p:cTn id="71" dur="1" fill="hold">
                                          <p:stCondLst>
                                            <p:cond delay="0"/>
                                          </p:stCondLst>
                                        </p:cTn>
                                        <p:tgtEl>
                                          <p:spTgt spid="94"/>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94"/>
                                        </p:tgtEl>
                                      </p:cBhvr>
                                    </p:animEffect>
                                    <p:animScale>
                                      <p:cBhvr>
                                        <p:cTn id="74" dur="250" autoRev="1" fill="hold"/>
                                        <p:tgtEl>
                                          <p:spTgt spid="94"/>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93"/>
                                        </p:tgtEl>
                                        <p:attrNameLst>
                                          <p:attrName>style.visibility</p:attrName>
                                        </p:attrNameLst>
                                      </p:cBhvr>
                                      <p:to>
                                        <p:strVal val="hidden"/>
                                      </p:to>
                                    </p:set>
                                  </p:childTnLst>
                                </p:cTn>
                              </p:par>
                              <p:par>
                                <p:cTn id="79" presetID="1" presetClass="exit" presetSubtype="0" fill="hold" grpId="2" nodeType="withEffect">
                                  <p:stCondLst>
                                    <p:cond delay="0"/>
                                  </p:stCondLst>
                                  <p:childTnLst>
                                    <p:set>
                                      <p:cBhvr>
                                        <p:cTn id="80" dur="1" fill="hold">
                                          <p:stCondLst>
                                            <p:cond delay="0"/>
                                          </p:stCondLst>
                                        </p:cTn>
                                        <p:tgtEl>
                                          <p:spTgt spid="94"/>
                                        </p:tgtEl>
                                        <p:attrNameLst>
                                          <p:attrName>style.visibility</p:attrName>
                                        </p:attrNameLst>
                                      </p:cBhvr>
                                      <p:to>
                                        <p:strVal val="hidden"/>
                                      </p:to>
                                    </p:set>
                                  </p:childTnLst>
                                </p:cTn>
                              </p:par>
                              <p:par>
                                <p:cTn id="81" presetID="1" presetClass="entr" presetSubtype="0" fill="hold" grpId="0" nodeType="withEffect">
                                  <p:stCondLst>
                                    <p:cond delay="0"/>
                                  </p:stCondLst>
                                  <p:childTnLst>
                                    <p:set>
                                      <p:cBhvr>
                                        <p:cTn id="82" dur="1" fill="hold">
                                          <p:stCondLst>
                                            <p:cond delay="0"/>
                                          </p:stCondLst>
                                        </p:cTn>
                                        <p:tgtEl>
                                          <p:spTgt spid="9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1"/>
                                        </p:tgtEl>
                                        <p:attrNameLst>
                                          <p:attrName>style.visibility</p:attrName>
                                        </p:attrNameLst>
                                      </p:cBhvr>
                                      <p:to>
                                        <p:strVal val="visible"/>
                                      </p:to>
                                    </p:set>
                                  </p:childTnLst>
                                </p:cTn>
                              </p:par>
                              <p:par>
                                <p:cTn id="85" presetID="26" presetClass="emph" presetSubtype="0" repeatCount="indefinite" fill="hold" grpId="1" nodeType="withEffect">
                                  <p:stCondLst>
                                    <p:cond delay="0"/>
                                  </p:stCondLst>
                                  <p:endCondLst>
                                    <p:cond evt="onNext" delay="0">
                                      <p:tgtEl>
                                        <p:sldTgt/>
                                      </p:tgtEl>
                                    </p:cond>
                                  </p:endCondLst>
                                  <p:childTnLst>
                                    <p:animEffect transition="out" filter="fade">
                                      <p:cBhvr>
                                        <p:cTn id="86" dur="500" tmFilter="0, 0; .2, .5; .8, .5; 1, 0"/>
                                        <p:tgtEl>
                                          <p:spTgt spid="81"/>
                                        </p:tgtEl>
                                      </p:cBhvr>
                                    </p:animEffect>
                                    <p:animScale>
                                      <p:cBhvr>
                                        <p:cTn id="87" dur="250" autoRev="1" fill="hold"/>
                                        <p:tgtEl>
                                          <p:spTgt spid="8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86" grpId="1" animBg="1"/>
      <p:bldP spid="86" grpId="2" animBg="1"/>
      <p:bldP spid="87" grpId="0" animBg="1"/>
      <p:bldP spid="87" grpId="1" animBg="1"/>
      <p:bldP spid="87" grpId="2" animBg="1"/>
      <p:bldP spid="88" grpId="0" animBg="1"/>
      <p:bldP spid="88" grpId="1" animBg="1"/>
      <p:bldP spid="88" grpId="2" animBg="1"/>
      <p:bldP spid="89" grpId="0" animBg="1"/>
      <p:bldP spid="89" grpId="1" animBg="1"/>
      <p:bldP spid="89" grpId="2" animBg="1"/>
      <p:bldP spid="90" grpId="0" animBg="1"/>
      <p:bldP spid="90" grpId="1" animBg="1"/>
      <p:bldP spid="90" grpId="2" animBg="1"/>
      <p:bldP spid="91" grpId="0" animBg="1"/>
      <p:bldP spid="91" grpId="1" animBg="1"/>
      <p:bldP spid="91" grpId="2" animBg="1"/>
      <p:bldP spid="93" grpId="0" animBg="1"/>
      <p:bldP spid="93" grpId="1" animBg="1"/>
      <p:bldP spid="93" grpId="2" animBg="1"/>
      <p:bldP spid="94" grpId="0" animBg="1"/>
      <p:bldP spid="94" grpId="1" animBg="1"/>
      <p:bldP spid="94" grpId="2" animBg="1"/>
      <p:bldP spid="96" grpId="0"/>
      <p:bldP spid="81" grpId="0" animBg="1"/>
      <p:bldP spid="81" grpId="1"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 (RR)</a:t>
            </a:r>
            <a:endParaRPr lang="en-IN" dirty="0"/>
          </a:p>
        </p:txBody>
      </p:sp>
      <p:sp>
        <p:nvSpPr>
          <p:cNvPr id="3" name="Content Placeholder 2"/>
          <p:cNvSpPr>
            <a:spLocks noGrp="1"/>
          </p:cNvSpPr>
          <p:nvPr>
            <p:ph idx="1"/>
          </p:nvPr>
        </p:nvSpPr>
        <p:spPr/>
        <p:txBody>
          <a:bodyPr/>
          <a:lstStyle/>
          <a:p>
            <a:r>
              <a:rPr lang="en-US" b="1" dirty="0"/>
              <a:t>Advantages</a:t>
            </a:r>
          </a:p>
          <a:p>
            <a:pPr lvl="1">
              <a:buClr>
                <a:schemeClr val="tx1"/>
              </a:buClr>
            </a:pPr>
            <a:r>
              <a:rPr lang="en-US" b="1" dirty="0">
                <a:solidFill>
                  <a:schemeClr val="accent6"/>
                </a:solidFill>
              </a:rPr>
              <a:t>Simplest</a:t>
            </a:r>
            <a:r>
              <a:rPr lang="en-US" dirty="0"/>
              <a:t>,</a:t>
            </a:r>
            <a:r>
              <a:rPr lang="en-US" b="1" dirty="0">
                <a:solidFill>
                  <a:schemeClr val="accent6"/>
                </a:solidFill>
              </a:rPr>
              <a:t> fairest </a:t>
            </a:r>
            <a:r>
              <a:rPr lang="en-US" dirty="0"/>
              <a:t>and </a:t>
            </a:r>
            <a:r>
              <a:rPr lang="en-US" b="1" dirty="0">
                <a:solidFill>
                  <a:schemeClr val="accent6"/>
                </a:solidFill>
              </a:rPr>
              <a:t>most widely used algorithms</a:t>
            </a:r>
            <a:r>
              <a:rPr lang="en-US" dirty="0"/>
              <a:t>.</a:t>
            </a:r>
          </a:p>
          <a:p>
            <a:pPr lvl="1">
              <a:buClr>
                <a:schemeClr val="tx1"/>
              </a:buClr>
            </a:pPr>
            <a:endParaRPr lang="en-US" dirty="0"/>
          </a:p>
          <a:p>
            <a:r>
              <a:rPr lang="en-US" b="1" dirty="0"/>
              <a:t>Disadvantages</a:t>
            </a:r>
          </a:p>
          <a:p>
            <a:pPr lvl="1">
              <a:buClr>
                <a:schemeClr val="tx1"/>
              </a:buClr>
            </a:pPr>
            <a:r>
              <a:rPr lang="en-US" b="1" dirty="0">
                <a:solidFill>
                  <a:schemeClr val="accent6"/>
                </a:solidFill>
              </a:rPr>
              <a:t>Context switch overhead </a:t>
            </a:r>
            <a:r>
              <a:rPr lang="en-US" dirty="0"/>
              <a:t>is there.</a:t>
            </a:r>
          </a:p>
          <a:p>
            <a:pPr lvl="1">
              <a:buClr>
                <a:schemeClr val="tx1"/>
              </a:buClr>
            </a:pPr>
            <a:r>
              <a:rPr lang="en-US" b="1" dirty="0">
                <a:solidFill>
                  <a:schemeClr val="accent6"/>
                </a:solidFill>
              </a:rPr>
              <a:t>Determination</a:t>
            </a:r>
            <a:r>
              <a:rPr lang="en-US" b="1" dirty="0">
                <a:solidFill>
                  <a:srgbClr val="C00000"/>
                </a:solidFill>
              </a:rPr>
              <a:t> </a:t>
            </a:r>
            <a:r>
              <a:rPr lang="en-US" b="1" dirty="0">
                <a:solidFill>
                  <a:schemeClr val="accent6"/>
                </a:solidFill>
              </a:rPr>
              <a:t>of time quantum is too critical</a:t>
            </a:r>
            <a:r>
              <a:rPr lang="en-US" dirty="0"/>
              <a:t>. </a:t>
            </a:r>
          </a:p>
          <a:p>
            <a:pPr lvl="2">
              <a:buClr>
                <a:schemeClr val="tx1"/>
              </a:buClr>
            </a:pPr>
            <a:r>
              <a:rPr lang="en-US" sz="2000" dirty="0"/>
              <a:t>If it is too </a:t>
            </a:r>
            <a:r>
              <a:rPr lang="en-US" sz="2000" b="1" dirty="0">
                <a:solidFill>
                  <a:schemeClr val="accent6"/>
                </a:solidFill>
              </a:rPr>
              <a:t>short</a:t>
            </a:r>
            <a:r>
              <a:rPr lang="en-US" sz="2000" dirty="0"/>
              <a:t>, it </a:t>
            </a:r>
            <a:r>
              <a:rPr lang="en-US" sz="2000" b="1" dirty="0">
                <a:solidFill>
                  <a:schemeClr val="accent6"/>
                </a:solidFill>
              </a:rPr>
              <a:t>causes frequent context switches </a:t>
            </a:r>
            <a:r>
              <a:rPr lang="en-US" sz="2000" dirty="0"/>
              <a:t>and </a:t>
            </a:r>
            <a:r>
              <a:rPr lang="en-US" sz="2000" b="1" dirty="0">
                <a:solidFill>
                  <a:schemeClr val="accent6"/>
                </a:solidFill>
              </a:rPr>
              <a:t>lowers CPU efficiency</a:t>
            </a:r>
            <a:r>
              <a:rPr lang="en-US" sz="2000" dirty="0"/>
              <a:t>. </a:t>
            </a:r>
          </a:p>
          <a:p>
            <a:pPr lvl="2">
              <a:buClr>
                <a:schemeClr val="tx1"/>
              </a:buClr>
            </a:pPr>
            <a:r>
              <a:rPr lang="en-US" sz="2000" dirty="0"/>
              <a:t>If it is too </a:t>
            </a:r>
            <a:r>
              <a:rPr lang="en-US" sz="2000" b="1" dirty="0">
                <a:solidFill>
                  <a:schemeClr val="accent6"/>
                </a:solidFill>
              </a:rPr>
              <a:t>long</a:t>
            </a:r>
            <a:r>
              <a:rPr lang="en-US" sz="2000" dirty="0"/>
              <a:t>, it </a:t>
            </a:r>
            <a:r>
              <a:rPr lang="en-US" sz="2000" b="1" dirty="0">
                <a:solidFill>
                  <a:schemeClr val="accent6"/>
                </a:solidFill>
              </a:rPr>
              <a:t>causes poor res</a:t>
            </a:r>
            <a:r>
              <a:rPr lang="en-US" sz="2000" b="1" dirty="0">
                <a:solidFill>
                  <a:srgbClr val="C00000"/>
                </a:solidFill>
              </a:rPr>
              <a:t>ponse </a:t>
            </a:r>
            <a:r>
              <a:rPr lang="en-US" sz="2000" dirty="0"/>
              <a:t>for </a:t>
            </a:r>
            <a:r>
              <a:rPr lang="en-US" sz="2000" b="1" dirty="0">
                <a:solidFill>
                  <a:schemeClr val="accent6"/>
                </a:solidFill>
              </a:rPr>
              <a:t>short interactive process</a:t>
            </a:r>
            <a:r>
              <a:rPr lang="en-US" sz="2000" dirty="0"/>
              <a:t>.</a:t>
            </a:r>
          </a:p>
          <a:p>
            <a:endParaRPr lang="en-IN" dirty="0"/>
          </a:p>
        </p:txBody>
      </p:sp>
    </p:spTree>
    <p:extLst>
      <p:ext uri="{BB962C8B-B14F-4D97-AF65-F5344CB8AC3E}">
        <p14:creationId xmlns:p14="http://schemas.microsoft.com/office/powerpoint/2010/main" val="122859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 (RR)</a:t>
            </a:r>
            <a:endParaRPr lang="en-IN" dirty="0"/>
          </a:p>
        </p:txBody>
      </p:sp>
      <p:sp>
        <p:nvSpPr>
          <p:cNvPr id="3" name="Content Placeholder 2"/>
          <p:cNvSpPr>
            <a:spLocks noGrp="1"/>
          </p:cNvSpPr>
          <p:nvPr>
            <p:ph idx="1"/>
          </p:nvPr>
        </p:nvSpPr>
        <p:spPr/>
        <p:txBody>
          <a:bodyPr/>
          <a:lstStyle/>
          <a:p>
            <a:r>
              <a:rPr lang="en-US" b="1" dirty="0"/>
              <a:t>Round Robin (RR) Example</a:t>
            </a:r>
            <a:r>
              <a:rPr lang="en-US" b="1" dirty="0">
                <a:sym typeface="Wingdings" panose="05000000000000000000" pitchFamily="2" charset="2"/>
              </a:rPr>
              <a:t>(Self Study)</a:t>
            </a:r>
            <a:endParaRPr lang="en-IN" b="1" dirty="0"/>
          </a:p>
          <a:p>
            <a:pPr lvl="1"/>
            <a:r>
              <a:rPr lang="en-US" dirty="0"/>
              <a:t>Consider the following set of four processes. Their arrival time and time required to complete the execution are given in following table. (Time value in milliseconds).</a:t>
            </a:r>
            <a:r>
              <a:rPr lang="en-IN" dirty="0"/>
              <a:t> Draw the Gantt chart and find Finish Time, Turn Around Time , Waiting Time , Average Turn Around Time, Average Waiting Time using RR algorithm.</a:t>
            </a:r>
            <a:endParaRPr lang="en-US" dirty="0"/>
          </a:p>
          <a:p>
            <a:pPr lvl="1"/>
            <a:endParaRPr lang="en-IN" b="1" dirty="0"/>
          </a:p>
          <a:p>
            <a:pPr lvl="1"/>
            <a:endParaRPr lang="en-IN" b="1" dirty="0"/>
          </a:p>
          <a:p>
            <a:endParaRPr lang="en-IN" dirty="0"/>
          </a:p>
        </p:txBody>
      </p:sp>
      <mc:AlternateContent xmlns:mc="http://schemas.openxmlformats.org/markup-compatibility/2006" xmlns:a14="http://schemas.microsoft.com/office/drawing/2010/main">
        <mc:Choice Requires="a14">
          <p:graphicFrame>
            <p:nvGraphicFramePr>
              <p:cNvPr id="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169763" y="2538790"/>
              <a:ext cx="5588710" cy="2874036"/>
            </p:xfrm>
            <a:graphic>
              <a:graphicData uri="http://schemas.openxmlformats.org/drawingml/2006/table">
                <a:tbl>
                  <a:tblPr firstRow="1" bandRow="1">
                    <a:tableStyleId>{8EC20E35-A176-4012-BC5E-935CFFF8708E}</a:tableStyleId>
                  </a:tblPr>
                  <a:tblGrid>
                    <a:gridCol w="947441">
                      <a:extLst>
                        <a:ext uri="{9D8B030D-6E8A-4147-A177-3AD203B41FA5}">
                          <a16:colId xmlns:a16="http://schemas.microsoft.com/office/drawing/2014/main" val="20000"/>
                        </a:ext>
                      </a:extLst>
                    </a:gridCol>
                    <a:gridCol w="1347172">
                      <a:extLst>
                        <a:ext uri="{9D8B030D-6E8A-4147-A177-3AD203B41FA5}">
                          <a16:colId xmlns:a16="http://schemas.microsoft.com/office/drawing/2014/main" val="20001"/>
                        </a:ext>
                      </a:extLst>
                    </a:gridCol>
                    <a:gridCol w="3294097">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6"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1011215617"/>
                  </p:ext>
                </p:extLst>
              </p:nvPr>
            </p:nvGraphicFramePr>
            <p:xfrm>
              <a:off x="2169763" y="2538790"/>
              <a:ext cx="5588710" cy="2874036"/>
            </p:xfrm>
            <a:graphic>
              <a:graphicData uri="http://schemas.openxmlformats.org/drawingml/2006/table">
                <a:tbl>
                  <a:tblPr firstRow="1" bandRow="1">
                    <a:tableStyleId>{8EC20E35-A176-4012-BC5E-935CFFF8708E}</a:tableStyleId>
                  </a:tblPr>
                  <a:tblGrid>
                    <a:gridCol w="947441">
                      <a:extLst>
                        <a:ext uri="{9D8B030D-6E8A-4147-A177-3AD203B41FA5}">
                          <a16:colId xmlns="" xmlns:a16="http://schemas.microsoft.com/office/drawing/2014/main" xmlns:a14="http://schemas.microsoft.com/office/drawing/2010/main" val="20000"/>
                        </a:ext>
                      </a:extLst>
                    </a:gridCol>
                    <a:gridCol w="1347172">
                      <a:extLst>
                        <a:ext uri="{9D8B030D-6E8A-4147-A177-3AD203B41FA5}">
                          <a16:colId xmlns="" xmlns:a16="http://schemas.microsoft.com/office/drawing/2014/main" xmlns:a14="http://schemas.microsoft.com/office/drawing/2010/main" val="20001"/>
                        </a:ext>
                      </a:extLst>
                    </a:gridCol>
                    <a:gridCol w="3294097">
                      <a:extLst>
                        <a:ext uri="{9D8B030D-6E8A-4147-A177-3AD203B41FA5}">
                          <a16:colId xmlns="" xmlns:a16="http://schemas.microsoft.com/office/drawing/2014/main"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70588" t="-3810" r="-24524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489103"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489103"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21978" r="-489103" b="-107692"/>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7391" r="-489103" b="-6522"/>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p:spTree>
    <p:extLst>
      <p:ext uri="{BB962C8B-B14F-4D97-AF65-F5344CB8AC3E}">
        <p14:creationId xmlns:p14="http://schemas.microsoft.com/office/powerpoint/2010/main" val="132695809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496070" y="0"/>
                <a:ext cx="569593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Round Robin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Take Time quantum = 4 </a:t>
                </a:r>
                <a:r>
                  <a:rPr lang="en-US" sz="2000" dirty="0" err="1"/>
                  <a:t>ms</a:t>
                </a:r>
                <a:r>
                  <a:rPr lang="en-US" sz="2000" dirty="0"/>
                  <a:t> &amp; Context switch overhead = 1 </a:t>
                </a:r>
                <a:r>
                  <a:rPr lang="en-US" sz="2000" dirty="0" err="1"/>
                  <a:t>ms</a:t>
                </a:r>
                <a:endParaRPr lang="en-IN" sz="2000" dirty="0"/>
              </a:p>
              <a:p>
                <a:pPr marL="342900" indent="-342900" algn="just">
                  <a:buFont typeface="Wingdings" panose="05000000000000000000" pitchFamily="2" charset="2"/>
                  <a:buChar char="ü"/>
                </a:pPr>
                <a:r>
                  <a:rPr lang="en-US" sz="2000" dirty="0"/>
                  <a:t>At 4 </a:t>
                </a:r>
                <a:r>
                  <a:rPr lang="en-US" sz="2000" dirty="0" err="1"/>
                  <a:t>ms</a:t>
                </a:r>
                <a:r>
                  <a:rPr lang="en-US" sz="2000" dirty="0"/>
                  <a:t>, process </a:t>
                </a:r>
                <a14:m>
                  <m:oMath xmlns:m="http://schemas.openxmlformats.org/officeDocument/2006/math">
                    <m:sSub>
                      <m:sSubPr>
                        <m:ctrlPr>
                          <a:rPr lang="en-IN" sz="2000" b="1" i="1" smtClean="0">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completes its time quantum. So, it is preempted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𝟏</m:t>
                        </m:r>
                      </m:sub>
                    </m:sSub>
                  </m:oMath>
                </a14:m>
                <a:r>
                  <a:rPr lang="en-US" sz="2000" dirty="0"/>
                  <a:t> is allowed to run</a:t>
                </a:r>
              </a:p>
              <a:p>
                <a:pPr marL="342900" indent="-342900" algn="just">
                  <a:buFont typeface="Wingdings" panose="05000000000000000000" pitchFamily="2" charset="2"/>
                  <a:buChar char="ü"/>
                </a:pPr>
                <a:r>
                  <a:rPr lang="en-US" sz="2000" dirty="0"/>
                  <a:t>1 </a:t>
                </a:r>
                <a:r>
                  <a:rPr lang="en-US" sz="2000" dirty="0" err="1"/>
                  <a:t>ms</a:t>
                </a:r>
                <a:r>
                  <a:rPr lang="en-US" sz="2000" dirty="0"/>
                  <a:t> is wasted on each context switch as overhead</a:t>
                </a:r>
                <a:endParaRPr lang="en-IN" sz="2000" dirty="0"/>
              </a:p>
              <a:p>
                <a:pPr algn="just"/>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496070" y="0"/>
                <a:ext cx="5695930" cy="6588000"/>
              </a:xfrm>
              <a:prstGeom prst="rect">
                <a:avLst/>
              </a:prstGeom>
              <a:blipFill>
                <a:blip r:embed="rId2"/>
                <a:stretch>
                  <a:fillRect l="-642"/>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8072" y="412762"/>
              <a:ext cx="5692432" cy="2874036"/>
            </p:xfrm>
            <a:graphic>
              <a:graphicData uri="http://schemas.openxmlformats.org/drawingml/2006/table">
                <a:tbl>
                  <a:tblPr firstRow="1" bandRow="1">
                    <a:tableStyleId>{8EC20E35-A176-4012-BC5E-935CFFF8708E}</a:tableStyleId>
                  </a:tblPr>
                  <a:tblGrid>
                    <a:gridCol w="983786">
                      <a:extLst>
                        <a:ext uri="{9D8B030D-6E8A-4147-A177-3AD203B41FA5}">
                          <a16:colId xmlns:a16="http://schemas.microsoft.com/office/drawing/2014/main" val="20000"/>
                        </a:ext>
                      </a:extLst>
                    </a:gridCol>
                    <a:gridCol w="1353413">
                      <a:extLst>
                        <a:ext uri="{9D8B030D-6E8A-4147-A177-3AD203B41FA5}">
                          <a16:colId xmlns:a16="http://schemas.microsoft.com/office/drawing/2014/main" val="20001"/>
                        </a:ext>
                      </a:extLst>
                    </a:gridCol>
                    <a:gridCol w="3355233">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318072" y="412762"/>
              <a:ext cx="5692432" cy="2874036"/>
            </p:xfrm>
            <a:graphic>
              <a:graphicData uri="http://schemas.openxmlformats.org/drawingml/2006/table">
                <a:tbl>
                  <a:tblPr firstRow="1" bandRow="1">
                    <a:tableStyleId>{8EC20E35-A176-4012-BC5E-935CFFF8708E}</a:tableStyleId>
                  </a:tblPr>
                  <a:tblGrid>
                    <a:gridCol w="983786">
                      <a:extLst>
                        <a:ext uri="{9D8B030D-6E8A-4147-A177-3AD203B41FA5}">
                          <a16:colId xmlns:a16="http://schemas.microsoft.com/office/drawing/2014/main" xmlns="" xmlns:a14="http://schemas.microsoft.com/office/drawing/2010/main" val="20000"/>
                        </a:ext>
                      </a:extLst>
                    </a:gridCol>
                    <a:gridCol w="1353413">
                      <a:extLst>
                        <a:ext uri="{9D8B030D-6E8A-4147-A177-3AD203B41FA5}">
                          <a16:colId xmlns:a16="http://schemas.microsoft.com/office/drawing/2014/main" xmlns="" xmlns:a14="http://schemas.microsoft.com/office/drawing/2010/main" val="20001"/>
                        </a:ext>
                      </a:extLst>
                    </a:gridCol>
                    <a:gridCol w="3355233">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2973" t="-3810" r="-24909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118478" r="-481366"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218478" r="-481366"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318478" r="-481366"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418478" r="-481366"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5574" y="380202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5574" y="380202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5574" y="4844878"/>
              <a:ext cx="2518135" cy="123746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val="20000"/>
                        </a:ext>
                      </a:extLst>
                    </a:gridCol>
                    <a:gridCol w="1569780">
                      <a:extLst>
                        <a:ext uri="{9D8B030D-6E8A-4147-A177-3AD203B41FA5}">
                          <a16:colId xmlns:a16="http://schemas.microsoft.com/office/drawing/2014/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mc:Choice>
        <mc:Fallback xmlns="">
          <p:graphicFrame>
            <p:nvGraphicFramePr>
              <p:cNvPr id="25"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95574" y="4844878"/>
              <a:ext cx="2518135" cy="123746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xmlns="" xmlns:a14="http://schemas.microsoft.com/office/drawing/2010/main" val="20000"/>
                        </a:ext>
                      </a:extLst>
                    </a:gridCol>
                    <a:gridCol w="1569780">
                      <a:extLst>
                        <a:ext uri="{9D8B030D-6E8A-4147-A177-3AD203B41FA5}">
                          <a16:colId xmlns:a16="http://schemas.microsoft.com/office/drawing/2014/main" xmlns="" xmlns:a14="http://schemas.microsoft.com/office/drawing/2010/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5"/>
                          <a:stretch>
                            <a:fillRect t="-110606" r="-166026" b="-127273"/>
                          </a:stretch>
                        </a:blip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5"/>
                          <a:stretch>
                            <a:fillRect t="-213846" r="-166026" b="-29231"/>
                          </a:stretch>
                        </a:blip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bl>
              </a:graphicData>
            </a:graphic>
          </p:graphicFrame>
        </mc:Fallback>
      </mc:AlternateContent>
      <p:sp>
        <p:nvSpPr>
          <p:cNvPr id="37" name="TextBox 36"/>
          <p:cNvSpPr txBox="1"/>
          <p:nvPr/>
        </p:nvSpPr>
        <p:spPr>
          <a:xfrm>
            <a:off x="636260" y="4464340"/>
            <a:ext cx="318448" cy="381000"/>
          </a:xfrm>
          <a:prstGeom prst="rect">
            <a:avLst/>
          </a:prstGeom>
          <a:noFill/>
        </p:spPr>
        <p:txBody>
          <a:bodyPr wrap="square" rtlCol="0">
            <a:spAutoFit/>
          </a:bodyPr>
          <a:lstStyle/>
          <a:p>
            <a:r>
              <a:rPr lang="en-US" dirty="0"/>
              <a:t>4</a:t>
            </a:r>
          </a:p>
        </p:txBody>
      </p:sp>
      <p:sp>
        <p:nvSpPr>
          <p:cNvPr id="38" name="Rectangle 37"/>
          <p:cNvSpPr/>
          <p:nvPr/>
        </p:nvSpPr>
        <p:spPr>
          <a:xfrm>
            <a:off x="807059" y="3802019"/>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9" name="TextBox 38"/>
          <p:cNvSpPr txBox="1"/>
          <p:nvPr/>
        </p:nvSpPr>
        <p:spPr>
          <a:xfrm>
            <a:off x="910158" y="4463878"/>
            <a:ext cx="318448" cy="381000"/>
          </a:xfrm>
          <a:prstGeom prst="rect">
            <a:avLst/>
          </a:prstGeom>
          <a:noFill/>
        </p:spPr>
        <p:txBody>
          <a:bodyPr wrap="square" rtlCol="0">
            <a:spAutoFit/>
          </a:bodyPr>
          <a:lstStyle/>
          <a:p>
            <a:r>
              <a:rPr lang="en-US" dirty="0"/>
              <a:t>5</a:t>
            </a:r>
          </a:p>
        </p:txBody>
      </p:sp>
    </p:spTree>
    <p:extLst>
      <p:ext uri="{BB962C8B-B14F-4D97-AF65-F5344CB8AC3E}">
        <p14:creationId xmlns:p14="http://schemas.microsoft.com/office/powerpoint/2010/main" val="2262174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2" presetClass="entr" presetSubtype="4"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500" fill="hold"/>
                                        <p:tgtEl>
                                          <p:spTgt spid="25"/>
                                        </p:tgtEl>
                                        <p:attrNameLst>
                                          <p:attrName>ppt_x</p:attrName>
                                        </p:attrNameLst>
                                      </p:cBhvr>
                                      <p:tavLst>
                                        <p:tav tm="0">
                                          <p:val>
                                            <p:strVal val="#ppt_x"/>
                                          </p:val>
                                        </p:tav>
                                        <p:tav tm="100000">
                                          <p:val>
                                            <p:strVal val="#ppt_x"/>
                                          </p:val>
                                        </p:tav>
                                      </p:tavLst>
                                    </p:anim>
                                    <p:anim calcmode="lin" valueType="num">
                                      <p:cBhvr additive="base">
                                        <p:cTn id="26" dur="500" fill="hold"/>
                                        <p:tgtEl>
                                          <p:spTgt spid="25"/>
                                        </p:tgtEl>
                                        <p:attrNameLst>
                                          <p:attrName>ppt_y</p:attrName>
                                        </p:attrNameLst>
                                      </p:cBhvr>
                                      <p:tavLst>
                                        <p:tav tm="0">
                                          <p:val>
                                            <p:strVal val="1+#ppt_h/2"/>
                                          </p:val>
                                        </p:tav>
                                        <p:tav tm="100000">
                                          <p:val>
                                            <p:strVal val="#ppt_y"/>
                                          </p:val>
                                        </p:tav>
                                      </p:tavLst>
                                    </p:anim>
                                  </p:childTnLst>
                                </p:cTn>
                              </p:par>
                              <p:par>
                                <p:cTn id="27" presetID="1" presetClass="entr" presetSubtype="0"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5" grpId="0"/>
      <p:bldP spid="18" grpId="0" animBg="1"/>
      <p:bldP spid="37" grpId="0"/>
      <p:bldP spid="38" grpId="0" animBg="1"/>
      <p:bldP spid="39"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496070" y="0"/>
                <a:ext cx="569593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Round Robin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Take Time quantum = 4 </a:t>
                </a:r>
                <a:r>
                  <a:rPr lang="en-US" sz="2000" dirty="0" err="1"/>
                  <a:t>ms</a:t>
                </a:r>
                <a:r>
                  <a:rPr lang="en-US" sz="2000" dirty="0"/>
                  <a:t> &amp; Context switch overhead = 1 </a:t>
                </a:r>
                <a:r>
                  <a:rPr lang="en-US" sz="2000" dirty="0" err="1"/>
                  <a:t>ms</a:t>
                </a:r>
                <a:endParaRPr lang="en-IN" sz="2000" dirty="0"/>
              </a:p>
              <a:p>
                <a:pPr marL="342900" indent="-342900" algn="just">
                  <a:buFont typeface="Wingdings" panose="05000000000000000000" pitchFamily="2" charset="2"/>
                  <a:buChar char="ü"/>
                </a:pPr>
                <a:r>
                  <a:rPr lang="en-US" sz="2000" dirty="0"/>
                  <a:t>At 4 </a:t>
                </a:r>
                <a:r>
                  <a:rPr lang="en-US" sz="2000" dirty="0" err="1"/>
                  <a:t>ms</a:t>
                </a:r>
                <a:r>
                  <a:rPr lang="en-US" sz="2000" dirty="0"/>
                  <a:t>, process </a:t>
                </a:r>
                <a14:m>
                  <m:oMath xmlns:m="http://schemas.openxmlformats.org/officeDocument/2006/math">
                    <m:sSub>
                      <m:sSubPr>
                        <m:ctrlPr>
                          <a:rPr lang="en-IN" sz="2000" b="1" i="1" smtClean="0">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completes its time quantum. So it is preempted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𝟏</m:t>
                        </m:r>
                      </m:sub>
                    </m:sSub>
                  </m:oMath>
                </a14:m>
                <a:r>
                  <a:rPr lang="en-US" sz="2000" dirty="0"/>
                  <a:t> is allowed to run</a:t>
                </a:r>
              </a:p>
              <a:p>
                <a:pPr marL="342900" indent="-342900" algn="just">
                  <a:buFont typeface="Wingdings" panose="05000000000000000000" pitchFamily="2" charset="2"/>
                  <a:buChar char="ü"/>
                </a:pPr>
                <a:r>
                  <a:rPr lang="en-US" sz="2000" dirty="0"/>
                  <a:t>1 </a:t>
                </a:r>
                <a:r>
                  <a:rPr lang="en-US" sz="2000" dirty="0" err="1"/>
                  <a:t>ms</a:t>
                </a:r>
                <a:r>
                  <a:rPr lang="en-US" sz="2000" dirty="0"/>
                  <a:t> is wasted on each context switch as overhead</a:t>
                </a:r>
                <a:endParaRPr lang="en-IN" sz="2000" dirty="0"/>
              </a:p>
              <a:p>
                <a:pPr algn="just"/>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496070" y="0"/>
                <a:ext cx="5695930" cy="6588000"/>
              </a:xfrm>
              <a:prstGeom prst="rect">
                <a:avLst/>
              </a:prstGeom>
              <a:blipFill>
                <a:blip r:embed="rId2"/>
                <a:stretch>
                  <a:fillRect l="-642"/>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8072" y="412762"/>
              <a:ext cx="5692432" cy="2874036"/>
            </p:xfrm>
            <a:graphic>
              <a:graphicData uri="http://schemas.openxmlformats.org/drawingml/2006/table">
                <a:tbl>
                  <a:tblPr firstRow="1" bandRow="1">
                    <a:tableStyleId>{8EC20E35-A176-4012-BC5E-935CFFF8708E}</a:tableStyleId>
                  </a:tblPr>
                  <a:tblGrid>
                    <a:gridCol w="983786">
                      <a:extLst>
                        <a:ext uri="{9D8B030D-6E8A-4147-A177-3AD203B41FA5}">
                          <a16:colId xmlns:a16="http://schemas.microsoft.com/office/drawing/2014/main" val="20000"/>
                        </a:ext>
                      </a:extLst>
                    </a:gridCol>
                    <a:gridCol w="1353413">
                      <a:extLst>
                        <a:ext uri="{9D8B030D-6E8A-4147-A177-3AD203B41FA5}">
                          <a16:colId xmlns:a16="http://schemas.microsoft.com/office/drawing/2014/main" val="20001"/>
                        </a:ext>
                      </a:extLst>
                    </a:gridCol>
                    <a:gridCol w="3355233">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318072" y="412762"/>
              <a:ext cx="5692432" cy="2874036"/>
            </p:xfrm>
            <a:graphic>
              <a:graphicData uri="http://schemas.openxmlformats.org/drawingml/2006/table">
                <a:tbl>
                  <a:tblPr firstRow="1" bandRow="1">
                    <a:tableStyleId>{8EC20E35-A176-4012-BC5E-935CFFF8708E}</a:tableStyleId>
                  </a:tblPr>
                  <a:tblGrid>
                    <a:gridCol w="983786">
                      <a:extLst>
                        <a:ext uri="{9D8B030D-6E8A-4147-A177-3AD203B41FA5}">
                          <a16:colId xmlns:a16="http://schemas.microsoft.com/office/drawing/2014/main" xmlns="" xmlns:a14="http://schemas.microsoft.com/office/drawing/2010/main" val="20000"/>
                        </a:ext>
                      </a:extLst>
                    </a:gridCol>
                    <a:gridCol w="1353413">
                      <a:extLst>
                        <a:ext uri="{9D8B030D-6E8A-4147-A177-3AD203B41FA5}">
                          <a16:colId xmlns:a16="http://schemas.microsoft.com/office/drawing/2014/main" xmlns="" xmlns:a14="http://schemas.microsoft.com/office/drawing/2010/main" val="20001"/>
                        </a:ext>
                      </a:extLst>
                    </a:gridCol>
                    <a:gridCol w="3355233">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2973" t="-3810" r="-24909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118478" r="-481366"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218478" r="-481366"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318478" r="-481366"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418478" r="-481366"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5574" y="380202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5574" y="380202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37" name="TextBox 36"/>
          <p:cNvSpPr txBox="1"/>
          <p:nvPr/>
        </p:nvSpPr>
        <p:spPr>
          <a:xfrm>
            <a:off x="636260" y="4464340"/>
            <a:ext cx="318448" cy="381000"/>
          </a:xfrm>
          <a:prstGeom prst="rect">
            <a:avLst/>
          </a:prstGeom>
          <a:noFill/>
        </p:spPr>
        <p:txBody>
          <a:bodyPr wrap="square" rtlCol="0">
            <a:spAutoFit/>
          </a:bodyPr>
          <a:lstStyle/>
          <a:p>
            <a:r>
              <a:rPr lang="en-US" dirty="0"/>
              <a:t>4</a:t>
            </a:r>
          </a:p>
        </p:txBody>
      </p:sp>
      <p:sp>
        <p:nvSpPr>
          <p:cNvPr id="38" name="Rectangle 37"/>
          <p:cNvSpPr/>
          <p:nvPr/>
        </p:nvSpPr>
        <p:spPr>
          <a:xfrm>
            <a:off x="807059" y="3802019"/>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9" name="TextBox 38"/>
          <p:cNvSpPr txBox="1"/>
          <p:nvPr/>
        </p:nvSpPr>
        <p:spPr>
          <a:xfrm>
            <a:off x="910158" y="4463878"/>
            <a:ext cx="318448" cy="381000"/>
          </a:xfrm>
          <a:prstGeom prst="rect">
            <a:avLst/>
          </a:prstGeom>
          <a:noFill/>
        </p:spPr>
        <p:txBody>
          <a:bodyPr wrap="square" rtlCol="0">
            <a:spAutoFit/>
          </a:bodyPr>
          <a:lstStyle/>
          <a:p>
            <a:r>
              <a:rPr lang="en-US" dirty="0"/>
              <a:t>5</a:t>
            </a:r>
          </a:p>
        </p:txBody>
      </p:sp>
      <mc:AlternateContent xmlns:mc="http://schemas.openxmlformats.org/markup-compatibility/2006" xmlns:a14="http://schemas.microsoft.com/office/drawing/2010/main">
        <mc:Choice Requires="a14">
          <p:sp>
            <p:nvSpPr>
              <p:cNvPr id="40" name="Rectangle 39"/>
              <p:cNvSpPr/>
              <p:nvPr/>
            </p:nvSpPr>
            <p:spPr>
              <a:xfrm>
                <a:off x="1080957" y="3799958"/>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1080957" y="3799958"/>
                <a:ext cx="69991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41" name="TextBox 40"/>
          <p:cNvSpPr txBox="1"/>
          <p:nvPr/>
        </p:nvSpPr>
        <p:spPr>
          <a:xfrm>
            <a:off x="1616581" y="4421303"/>
            <a:ext cx="318448" cy="381000"/>
          </a:xfrm>
          <a:prstGeom prst="rect">
            <a:avLst/>
          </a:prstGeom>
          <a:noFill/>
        </p:spPr>
        <p:txBody>
          <a:bodyPr wrap="square" rtlCol="0">
            <a:spAutoFit/>
          </a:bodyPr>
          <a:lstStyle/>
          <a:p>
            <a:r>
              <a:rPr lang="en-US" dirty="0"/>
              <a:t>9</a:t>
            </a:r>
          </a:p>
        </p:txBody>
      </p:sp>
      <p:sp>
        <p:nvSpPr>
          <p:cNvPr id="43" name="Rectangle 42"/>
          <p:cNvSpPr/>
          <p:nvPr/>
        </p:nvSpPr>
        <p:spPr>
          <a:xfrm>
            <a:off x="1792442" y="3799957"/>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46" name="TextBox 45"/>
          <p:cNvSpPr txBox="1"/>
          <p:nvPr/>
        </p:nvSpPr>
        <p:spPr>
          <a:xfrm>
            <a:off x="1876794" y="4425221"/>
            <a:ext cx="503953"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graphicFrame>
            <p:nvGraphicFramePr>
              <p:cNvPr id="3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505639" y="4838787"/>
              <a:ext cx="2518135" cy="178610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val="20000"/>
                        </a:ext>
                      </a:extLst>
                    </a:gridCol>
                    <a:gridCol w="1569780">
                      <a:extLst>
                        <a:ext uri="{9D8B030D-6E8A-4147-A177-3AD203B41FA5}">
                          <a16:colId xmlns:a16="http://schemas.microsoft.com/office/drawing/2014/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1</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2</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0</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3</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505639" y="4838787"/>
              <a:ext cx="2518135" cy="178610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xmlns="" xmlns:a14="http://schemas.microsoft.com/office/drawing/2010/main" val="20000"/>
                        </a:ext>
                      </a:extLst>
                    </a:gridCol>
                    <a:gridCol w="1569780">
                      <a:extLst>
                        <a:ext uri="{9D8B030D-6E8A-4147-A177-3AD203B41FA5}">
                          <a16:colId xmlns:a16="http://schemas.microsoft.com/office/drawing/2014/main" xmlns="" xmlns:a14="http://schemas.microsoft.com/office/drawing/2010/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t="-132727" r="-166667" b="-325455"/>
                          </a:stretch>
                        </a:blipFill>
                      </a:tcPr>
                    </a:tc>
                    <a:tc>
                      <a:txBody>
                        <a:bodyPr/>
                        <a:lstStyle/>
                        <a:p>
                          <a:pPr algn="ctr"/>
                          <a:r>
                            <a:rPr lang="en-IN" sz="16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t="-228571" r="-166667" b="-219643"/>
                          </a:stretch>
                        </a:blip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t="-334545" r="-166667" b="-123636"/>
                          </a:stretch>
                        </a:blip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0"/>
                          <a:stretch>
                            <a:fillRect t="-434545" r="-166667" b="-23636"/>
                          </a:stretch>
                        </a:blipFill>
                      </a:tcPr>
                    </a:tc>
                    <a:tc>
                      <a:txBody>
                        <a:bodyPr/>
                        <a:lstStyle/>
                        <a:p>
                          <a:pPr algn="ctr"/>
                          <a:r>
                            <a:rPr lang="en-IN" sz="16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2" name="TextBox 1"/>
          <p:cNvSpPr txBox="1"/>
          <p:nvPr/>
        </p:nvSpPr>
        <p:spPr>
          <a:xfrm>
            <a:off x="511444" y="5269424"/>
            <a:ext cx="2518357" cy="369332"/>
          </a:xfrm>
          <a:prstGeom prst="rect">
            <a:avLst/>
          </a:prstGeom>
          <a:noFill/>
          <a:ln w="28575">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1985526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additive="base">
                                        <p:cTn id="7" dur="500" fill="hold"/>
                                        <p:tgtEl>
                                          <p:spTgt spid="34"/>
                                        </p:tgtEl>
                                        <p:attrNameLst>
                                          <p:attrName>ppt_x</p:attrName>
                                        </p:attrNameLst>
                                      </p:cBhvr>
                                      <p:tavLst>
                                        <p:tav tm="0">
                                          <p:val>
                                            <p:strVal val="#ppt_x"/>
                                          </p:val>
                                        </p:tav>
                                        <p:tav tm="100000">
                                          <p:val>
                                            <p:strVal val="#ppt_x"/>
                                          </p:val>
                                        </p:tav>
                                      </p:tavLst>
                                    </p:anim>
                                    <p:anim calcmode="lin" valueType="num">
                                      <p:cBhvr additive="base">
                                        <p:cTn id="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p:bldP spid="43" grpId="0" animBg="1"/>
      <p:bldP spid="46" grpId="0"/>
      <p:bldP spid="2"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496070" y="0"/>
                <a:ext cx="569593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Round Robin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Take Time quantum = 4 </a:t>
                </a:r>
                <a:r>
                  <a:rPr lang="en-US" sz="2000" dirty="0" err="1"/>
                  <a:t>ms</a:t>
                </a:r>
                <a:r>
                  <a:rPr lang="en-US" sz="2000" dirty="0"/>
                  <a:t> &amp; Context switch overhead = 1 </a:t>
                </a:r>
                <a:r>
                  <a:rPr lang="en-US" sz="2000" dirty="0" err="1"/>
                  <a:t>ms</a:t>
                </a:r>
                <a:endParaRPr lang="en-IN" sz="2000" dirty="0"/>
              </a:p>
              <a:p>
                <a:pPr marL="342900" indent="-342900" algn="just">
                  <a:buFont typeface="Wingdings" panose="05000000000000000000" pitchFamily="2" charset="2"/>
                  <a:buChar char="ü"/>
                </a:pPr>
                <a:r>
                  <a:rPr lang="en-US" sz="2000" dirty="0"/>
                  <a:t>At 4 </a:t>
                </a:r>
                <a:r>
                  <a:rPr lang="en-US" sz="2000" dirty="0" err="1"/>
                  <a:t>ms</a:t>
                </a:r>
                <a:r>
                  <a:rPr lang="en-US" sz="2000" dirty="0"/>
                  <a:t>, process </a:t>
                </a:r>
                <a14:m>
                  <m:oMath xmlns:m="http://schemas.openxmlformats.org/officeDocument/2006/math">
                    <m:sSub>
                      <m:sSubPr>
                        <m:ctrlPr>
                          <a:rPr lang="en-IN" sz="2000" b="1" i="1" smtClean="0">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completes its time quantum. So it is preempted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𝟏</m:t>
                        </m:r>
                      </m:sub>
                    </m:sSub>
                  </m:oMath>
                </a14:m>
                <a:r>
                  <a:rPr lang="en-US" sz="2000" dirty="0"/>
                  <a:t> is allowed to run</a:t>
                </a:r>
              </a:p>
              <a:p>
                <a:pPr marL="342900" indent="-342900" algn="just">
                  <a:buFont typeface="Wingdings" panose="05000000000000000000" pitchFamily="2" charset="2"/>
                  <a:buChar char="ü"/>
                </a:pPr>
                <a:r>
                  <a:rPr lang="en-US" sz="2000" dirty="0"/>
                  <a:t>1 </a:t>
                </a:r>
                <a:r>
                  <a:rPr lang="en-US" sz="2000" dirty="0" err="1"/>
                  <a:t>ms</a:t>
                </a:r>
                <a:r>
                  <a:rPr lang="en-US" sz="2000" dirty="0"/>
                  <a:t> is wasted on each context switch as overhead</a:t>
                </a:r>
                <a:endParaRPr lang="en-IN" sz="2000" dirty="0"/>
              </a:p>
              <a:p>
                <a:pPr algn="just"/>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496070" y="0"/>
                <a:ext cx="5695930" cy="6588000"/>
              </a:xfrm>
              <a:prstGeom prst="rect">
                <a:avLst/>
              </a:prstGeom>
              <a:blipFill>
                <a:blip r:embed="rId2"/>
                <a:stretch>
                  <a:fillRect l="-642"/>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8072" y="412762"/>
              <a:ext cx="5692432" cy="2874036"/>
            </p:xfrm>
            <a:graphic>
              <a:graphicData uri="http://schemas.openxmlformats.org/drawingml/2006/table">
                <a:tbl>
                  <a:tblPr firstRow="1" bandRow="1">
                    <a:tableStyleId>{8EC20E35-A176-4012-BC5E-935CFFF8708E}</a:tableStyleId>
                  </a:tblPr>
                  <a:tblGrid>
                    <a:gridCol w="983786">
                      <a:extLst>
                        <a:ext uri="{9D8B030D-6E8A-4147-A177-3AD203B41FA5}">
                          <a16:colId xmlns:a16="http://schemas.microsoft.com/office/drawing/2014/main" val="20000"/>
                        </a:ext>
                      </a:extLst>
                    </a:gridCol>
                    <a:gridCol w="1353413">
                      <a:extLst>
                        <a:ext uri="{9D8B030D-6E8A-4147-A177-3AD203B41FA5}">
                          <a16:colId xmlns:a16="http://schemas.microsoft.com/office/drawing/2014/main" val="20001"/>
                        </a:ext>
                      </a:extLst>
                    </a:gridCol>
                    <a:gridCol w="3355233">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318072" y="412762"/>
              <a:ext cx="5692432" cy="2874036"/>
            </p:xfrm>
            <a:graphic>
              <a:graphicData uri="http://schemas.openxmlformats.org/drawingml/2006/table">
                <a:tbl>
                  <a:tblPr firstRow="1" bandRow="1">
                    <a:tableStyleId>{8EC20E35-A176-4012-BC5E-935CFFF8708E}</a:tableStyleId>
                  </a:tblPr>
                  <a:tblGrid>
                    <a:gridCol w="983786">
                      <a:extLst>
                        <a:ext uri="{9D8B030D-6E8A-4147-A177-3AD203B41FA5}">
                          <a16:colId xmlns:a16="http://schemas.microsoft.com/office/drawing/2014/main" xmlns="" xmlns:a14="http://schemas.microsoft.com/office/drawing/2010/main" val="20000"/>
                        </a:ext>
                      </a:extLst>
                    </a:gridCol>
                    <a:gridCol w="1353413">
                      <a:extLst>
                        <a:ext uri="{9D8B030D-6E8A-4147-A177-3AD203B41FA5}">
                          <a16:colId xmlns:a16="http://schemas.microsoft.com/office/drawing/2014/main" xmlns="" xmlns:a14="http://schemas.microsoft.com/office/drawing/2010/main" val="20001"/>
                        </a:ext>
                      </a:extLst>
                    </a:gridCol>
                    <a:gridCol w="3355233">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2973" t="-3810" r="-24909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118478" r="-481366"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218478" r="-481366"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318478" r="-481366"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418478" r="-481366"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5574" y="380202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5574" y="380202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37" name="TextBox 36"/>
          <p:cNvSpPr txBox="1"/>
          <p:nvPr/>
        </p:nvSpPr>
        <p:spPr>
          <a:xfrm>
            <a:off x="636260" y="4464340"/>
            <a:ext cx="318448" cy="381000"/>
          </a:xfrm>
          <a:prstGeom prst="rect">
            <a:avLst/>
          </a:prstGeom>
          <a:noFill/>
        </p:spPr>
        <p:txBody>
          <a:bodyPr wrap="square" rtlCol="0">
            <a:spAutoFit/>
          </a:bodyPr>
          <a:lstStyle/>
          <a:p>
            <a:r>
              <a:rPr lang="en-US" dirty="0"/>
              <a:t>4</a:t>
            </a:r>
          </a:p>
        </p:txBody>
      </p:sp>
      <p:sp>
        <p:nvSpPr>
          <p:cNvPr id="38" name="Rectangle 37"/>
          <p:cNvSpPr/>
          <p:nvPr/>
        </p:nvSpPr>
        <p:spPr>
          <a:xfrm>
            <a:off x="807059" y="3802019"/>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9" name="TextBox 38"/>
          <p:cNvSpPr txBox="1"/>
          <p:nvPr/>
        </p:nvSpPr>
        <p:spPr>
          <a:xfrm>
            <a:off x="910158" y="4463878"/>
            <a:ext cx="318448" cy="381000"/>
          </a:xfrm>
          <a:prstGeom prst="rect">
            <a:avLst/>
          </a:prstGeom>
          <a:noFill/>
        </p:spPr>
        <p:txBody>
          <a:bodyPr wrap="square" rtlCol="0">
            <a:spAutoFit/>
          </a:bodyPr>
          <a:lstStyle/>
          <a:p>
            <a:r>
              <a:rPr lang="en-US" dirty="0"/>
              <a:t>5</a:t>
            </a:r>
          </a:p>
        </p:txBody>
      </p:sp>
      <mc:AlternateContent xmlns:mc="http://schemas.openxmlformats.org/markup-compatibility/2006" xmlns:a14="http://schemas.microsoft.com/office/drawing/2010/main">
        <mc:Choice Requires="a14">
          <p:sp>
            <p:nvSpPr>
              <p:cNvPr id="40" name="Rectangle 39"/>
              <p:cNvSpPr/>
              <p:nvPr/>
            </p:nvSpPr>
            <p:spPr>
              <a:xfrm>
                <a:off x="1080957" y="3799958"/>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1080957" y="3799958"/>
                <a:ext cx="69991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41" name="TextBox 40"/>
          <p:cNvSpPr txBox="1"/>
          <p:nvPr/>
        </p:nvSpPr>
        <p:spPr>
          <a:xfrm>
            <a:off x="1616581" y="4421303"/>
            <a:ext cx="318448" cy="381000"/>
          </a:xfrm>
          <a:prstGeom prst="rect">
            <a:avLst/>
          </a:prstGeom>
          <a:noFill/>
        </p:spPr>
        <p:txBody>
          <a:bodyPr wrap="square" rtlCol="0">
            <a:spAutoFit/>
          </a:bodyPr>
          <a:lstStyle/>
          <a:p>
            <a:r>
              <a:rPr lang="en-US" dirty="0"/>
              <a:t>9</a:t>
            </a:r>
          </a:p>
        </p:txBody>
      </p:sp>
      <p:sp>
        <p:nvSpPr>
          <p:cNvPr id="43" name="Rectangle 42"/>
          <p:cNvSpPr/>
          <p:nvPr/>
        </p:nvSpPr>
        <p:spPr>
          <a:xfrm>
            <a:off x="1792442" y="3799957"/>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46" name="TextBox 45"/>
          <p:cNvSpPr txBox="1"/>
          <p:nvPr/>
        </p:nvSpPr>
        <p:spPr>
          <a:xfrm>
            <a:off x="1876794" y="4425221"/>
            <a:ext cx="503953"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sp>
            <p:nvSpPr>
              <p:cNvPr id="47" name="Rectangle 46"/>
              <p:cNvSpPr/>
              <p:nvPr/>
            </p:nvSpPr>
            <p:spPr>
              <a:xfrm>
                <a:off x="2071647" y="3799892"/>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2071647" y="3799892"/>
                <a:ext cx="699910"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525848" y="4440236"/>
            <a:ext cx="503953" cy="369332"/>
          </a:xfrm>
          <a:prstGeom prst="rect">
            <a:avLst/>
          </a:prstGeom>
          <a:noFill/>
        </p:spPr>
        <p:txBody>
          <a:bodyPr wrap="square" rtlCol="0">
            <a:spAutoFit/>
          </a:bodyPr>
          <a:lstStyle/>
          <a:p>
            <a:r>
              <a:rPr lang="en-US" dirty="0"/>
              <a:t>12</a:t>
            </a:r>
          </a:p>
        </p:txBody>
      </p:sp>
      <p:sp>
        <p:nvSpPr>
          <p:cNvPr id="51" name="Rectangle 50"/>
          <p:cNvSpPr/>
          <p:nvPr/>
        </p:nvSpPr>
        <p:spPr>
          <a:xfrm>
            <a:off x="2794707" y="3799891"/>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2" name="TextBox 51"/>
          <p:cNvSpPr txBox="1"/>
          <p:nvPr/>
        </p:nvSpPr>
        <p:spPr>
          <a:xfrm>
            <a:off x="2816628" y="4421303"/>
            <a:ext cx="503953" cy="369332"/>
          </a:xfrm>
          <a:prstGeom prst="rect">
            <a:avLst/>
          </a:prstGeom>
          <a:noFill/>
        </p:spPr>
        <p:txBody>
          <a:bodyPr wrap="square" rtlCol="0">
            <a:spAutoFit/>
          </a:bodyPr>
          <a:lstStyle/>
          <a:p>
            <a:r>
              <a:rPr lang="en-US" dirty="0"/>
              <a:t>13</a:t>
            </a:r>
          </a:p>
        </p:txBody>
      </p:sp>
      <mc:AlternateContent xmlns:mc="http://schemas.openxmlformats.org/markup-compatibility/2006" xmlns:a14="http://schemas.microsoft.com/office/drawing/2010/main">
        <mc:Choice Requires="a14">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44053" y="4844878"/>
              <a:ext cx="2518135" cy="145082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val="20000"/>
                        </a:ext>
                      </a:extLst>
                    </a:gridCol>
                    <a:gridCol w="1569780">
                      <a:extLst>
                        <a:ext uri="{9D8B030D-6E8A-4147-A177-3AD203B41FA5}">
                          <a16:colId xmlns:a16="http://schemas.microsoft.com/office/drawing/2014/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2</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0</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600" i="1" baseline="0" smtClean="0">
                                        <a:solidFill>
                                          <a:schemeClr val="tx1"/>
                                        </a:solidFill>
                                        <a:latin typeface="Cambria Math" panose="02040503050406030204" pitchFamily="18" charset="0"/>
                                      </a:rPr>
                                    </m:ctrlPr>
                                  </m:sSubPr>
                                  <m:e>
                                    <m:r>
                                      <a:rPr lang="en-IN" sz="1600" b="0" i="1" baseline="0" smtClean="0">
                                        <a:solidFill>
                                          <a:schemeClr val="tx1"/>
                                        </a:solidFill>
                                        <a:latin typeface="Cambria Math" panose="02040503050406030204" pitchFamily="18" charset="0"/>
                                      </a:rPr>
                                      <m:t>𝑃</m:t>
                                    </m:r>
                                  </m:e>
                                  <m:sub>
                                    <m:r>
                                      <a:rPr lang="en-IN" sz="1600" b="0" i="1" baseline="0" smtClean="0">
                                        <a:solidFill>
                                          <a:schemeClr val="tx1"/>
                                        </a:solidFill>
                                        <a:latin typeface="Cambria Math" panose="02040503050406030204" pitchFamily="18" charset="0"/>
                                      </a:rPr>
                                      <m:t>3</m:t>
                                    </m:r>
                                  </m:sub>
                                </m:sSub>
                              </m:oMath>
                            </m:oMathPara>
                          </a14:m>
                          <a:endParaRPr lang="en-IN" sz="16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16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mc:Choice>
        <mc:Fallback xmlns="">
          <p:graphicFrame>
            <p:nvGraphicFramePr>
              <p:cNvPr id="35"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944053" y="4844878"/>
              <a:ext cx="2518135" cy="145082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xmlns="" xmlns:a14="http://schemas.microsoft.com/office/drawing/2010/main" val="20000"/>
                        </a:ext>
                      </a:extLst>
                    </a:gridCol>
                    <a:gridCol w="1569780">
                      <a:extLst>
                        <a:ext uri="{9D8B030D-6E8A-4147-A177-3AD203B41FA5}">
                          <a16:colId xmlns:a16="http://schemas.microsoft.com/office/drawing/2014/main" xmlns="" xmlns:a14="http://schemas.microsoft.com/office/drawing/2010/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1"/>
                          <a:stretch>
                            <a:fillRect t="-130357" r="-166026" b="-219643"/>
                          </a:stretch>
                        </a:blip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1"/>
                          <a:stretch>
                            <a:fillRect t="-234545" r="-166026" b="-123636"/>
                          </a:stretch>
                        </a:blipFill>
                      </a:tcPr>
                    </a:tc>
                    <a:tc>
                      <a:txBody>
                        <a:bodyPr/>
                        <a:lstStyle/>
                        <a:p>
                          <a:pPr algn="ctr"/>
                          <a:r>
                            <a:rPr lang="en-IN" sz="16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3352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1"/>
                          <a:stretch>
                            <a:fillRect t="-334545" r="-166026" b="-23636"/>
                          </a:stretch>
                        </a:blipFill>
                      </a:tcPr>
                    </a:tc>
                    <a:tc>
                      <a:txBody>
                        <a:bodyPr/>
                        <a:lstStyle/>
                        <a:p>
                          <a:pPr algn="ctr"/>
                          <a:r>
                            <a:rPr lang="en-IN" sz="16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bl>
              </a:graphicData>
            </a:graphic>
          </p:graphicFrame>
        </mc:Fallback>
      </mc:AlternateContent>
      <p:sp>
        <p:nvSpPr>
          <p:cNvPr id="36" name="TextBox 35"/>
          <p:cNvSpPr txBox="1"/>
          <p:nvPr/>
        </p:nvSpPr>
        <p:spPr>
          <a:xfrm>
            <a:off x="953718" y="5268941"/>
            <a:ext cx="2518357" cy="369332"/>
          </a:xfrm>
          <a:prstGeom prst="rect">
            <a:avLst/>
          </a:prstGeom>
          <a:noFill/>
          <a:ln w="28575">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548341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ppt_x"/>
                                          </p:val>
                                        </p:tav>
                                        <p:tav tm="100000">
                                          <p:val>
                                            <p:strVal val="#ppt_x"/>
                                          </p:val>
                                        </p:tav>
                                      </p:tavLst>
                                    </p:anim>
                                    <p:anim calcmode="lin" valueType="num">
                                      <p:cBhvr additive="base">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8" grpId="0"/>
      <p:bldP spid="51" grpId="0" animBg="1"/>
      <p:bldP spid="52" grpId="0"/>
      <p:bldP spid="36"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496070" y="0"/>
                <a:ext cx="569593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Round Robin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Take Time quantum = 4 </a:t>
                </a:r>
                <a:r>
                  <a:rPr lang="en-US" sz="2000" dirty="0" err="1"/>
                  <a:t>ms</a:t>
                </a:r>
                <a:r>
                  <a:rPr lang="en-US" sz="2000" dirty="0"/>
                  <a:t> &amp; Context switch overhead = 1 </a:t>
                </a:r>
                <a:r>
                  <a:rPr lang="en-US" sz="2000" dirty="0" err="1"/>
                  <a:t>ms</a:t>
                </a:r>
                <a:endParaRPr lang="en-IN" sz="2000" dirty="0"/>
              </a:p>
              <a:p>
                <a:pPr marL="342900" indent="-342900" algn="just">
                  <a:buFont typeface="Wingdings" panose="05000000000000000000" pitchFamily="2" charset="2"/>
                  <a:buChar char="ü"/>
                </a:pPr>
                <a:r>
                  <a:rPr lang="en-US" sz="2000" dirty="0"/>
                  <a:t>At 4 </a:t>
                </a:r>
                <a:r>
                  <a:rPr lang="en-US" sz="2000" dirty="0" err="1"/>
                  <a:t>ms</a:t>
                </a:r>
                <a:r>
                  <a:rPr lang="en-US" sz="2000" dirty="0"/>
                  <a:t>, process </a:t>
                </a:r>
                <a14:m>
                  <m:oMath xmlns:m="http://schemas.openxmlformats.org/officeDocument/2006/math">
                    <m:sSub>
                      <m:sSubPr>
                        <m:ctrlPr>
                          <a:rPr lang="en-IN" sz="2000" b="1" i="1" smtClean="0">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completes its time quantum. So it is preempted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𝟏</m:t>
                        </m:r>
                      </m:sub>
                    </m:sSub>
                  </m:oMath>
                </a14:m>
                <a:r>
                  <a:rPr lang="en-US" sz="2000" dirty="0"/>
                  <a:t> is allowed to run</a:t>
                </a:r>
              </a:p>
              <a:p>
                <a:pPr marL="342900" indent="-342900" algn="just">
                  <a:buFont typeface="Wingdings" panose="05000000000000000000" pitchFamily="2" charset="2"/>
                  <a:buChar char="ü"/>
                </a:pPr>
                <a:r>
                  <a:rPr lang="en-US" sz="2000" dirty="0"/>
                  <a:t>1 </a:t>
                </a:r>
                <a:r>
                  <a:rPr lang="en-US" sz="2000" dirty="0" err="1"/>
                  <a:t>ms</a:t>
                </a:r>
                <a:r>
                  <a:rPr lang="en-US" sz="2000" dirty="0"/>
                  <a:t> is wasted on each context switch as overhead</a:t>
                </a:r>
                <a:endParaRPr lang="en-IN" sz="2000" dirty="0"/>
              </a:p>
              <a:p>
                <a:pPr algn="just"/>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496070" y="0"/>
                <a:ext cx="5695930" cy="6588000"/>
              </a:xfrm>
              <a:prstGeom prst="rect">
                <a:avLst/>
              </a:prstGeom>
              <a:blipFill>
                <a:blip r:embed="rId2"/>
                <a:stretch>
                  <a:fillRect l="-642"/>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8072" y="412762"/>
              <a:ext cx="5692432" cy="2874036"/>
            </p:xfrm>
            <a:graphic>
              <a:graphicData uri="http://schemas.openxmlformats.org/drawingml/2006/table">
                <a:tbl>
                  <a:tblPr firstRow="1" bandRow="1">
                    <a:tableStyleId>{8EC20E35-A176-4012-BC5E-935CFFF8708E}</a:tableStyleId>
                  </a:tblPr>
                  <a:tblGrid>
                    <a:gridCol w="983786">
                      <a:extLst>
                        <a:ext uri="{9D8B030D-6E8A-4147-A177-3AD203B41FA5}">
                          <a16:colId xmlns:a16="http://schemas.microsoft.com/office/drawing/2014/main" val="20000"/>
                        </a:ext>
                      </a:extLst>
                    </a:gridCol>
                    <a:gridCol w="1353413">
                      <a:extLst>
                        <a:ext uri="{9D8B030D-6E8A-4147-A177-3AD203B41FA5}">
                          <a16:colId xmlns:a16="http://schemas.microsoft.com/office/drawing/2014/main" val="20001"/>
                        </a:ext>
                      </a:extLst>
                    </a:gridCol>
                    <a:gridCol w="3355233">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318072" y="412762"/>
              <a:ext cx="5692432" cy="2874036"/>
            </p:xfrm>
            <a:graphic>
              <a:graphicData uri="http://schemas.openxmlformats.org/drawingml/2006/table">
                <a:tbl>
                  <a:tblPr firstRow="1" bandRow="1">
                    <a:tableStyleId>{8EC20E35-A176-4012-BC5E-935CFFF8708E}</a:tableStyleId>
                  </a:tblPr>
                  <a:tblGrid>
                    <a:gridCol w="983786">
                      <a:extLst>
                        <a:ext uri="{9D8B030D-6E8A-4147-A177-3AD203B41FA5}">
                          <a16:colId xmlns:a16="http://schemas.microsoft.com/office/drawing/2014/main" xmlns="" xmlns:a14="http://schemas.microsoft.com/office/drawing/2010/main" val="20000"/>
                        </a:ext>
                      </a:extLst>
                    </a:gridCol>
                    <a:gridCol w="1353413">
                      <a:extLst>
                        <a:ext uri="{9D8B030D-6E8A-4147-A177-3AD203B41FA5}">
                          <a16:colId xmlns:a16="http://schemas.microsoft.com/office/drawing/2014/main" xmlns="" xmlns:a14="http://schemas.microsoft.com/office/drawing/2010/main" val="20001"/>
                        </a:ext>
                      </a:extLst>
                    </a:gridCol>
                    <a:gridCol w="3355233">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2973" t="-3810" r="-24909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118478" r="-481366"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218478" r="-481366"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318478" r="-481366"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418478" r="-481366"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5574" y="380202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5574" y="380202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37" name="TextBox 36"/>
          <p:cNvSpPr txBox="1"/>
          <p:nvPr/>
        </p:nvSpPr>
        <p:spPr>
          <a:xfrm>
            <a:off x="636260" y="4464340"/>
            <a:ext cx="318448" cy="381000"/>
          </a:xfrm>
          <a:prstGeom prst="rect">
            <a:avLst/>
          </a:prstGeom>
          <a:noFill/>
        </p:spPr>
        <p:txBody>
          <a:bodyPr wrap="square" rtlCol="0">
            <a:spAutoFit/>
          </a:bodyPr>
          <a:lstStyle/>
          <a:p>
            <a:r>
              <a:rPr lang="en-US" dirty="0"/>
              <a:t>4</a:t>
            </a:r>
          </a:p>
        </p:txBody>
      </p:sp>
      <p:sp>
        <p:nvSpPr>
          <p:cNvPr id="38" name="Rectangle 37"/>
          <p:cNvSpPr/>
          <p:nvPr/>
        </p:nvSpPr>
        <p:spPr>
          <a:xfrm>
            <a:off x="807059" y="3802019"/>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9" name="TextBox 38"/>
          <p:cNvSpPr txBox="1"/>
          <p:nvPr/>
        </p:nvSpPr>
        <p:spPr>
          <a:xfrm>
            <a:off x="910158" y="4463878"/>
            <a:ext cx="318448" cy="381000"/>
          </a:xfrm>
          <a:prstGeom prst="rect">
            <a:avLst/>
          </a:prstGeom>
          <a:noFill/>
        </p:spPr>
        <p:txBody>
          <a:bodyPr wrap="square" rtlCol="0">
            <a:spAutoFit/>
          </a:bodyPr>
          <a:lstStyle/>
          <a:p>
            <a:r>
              <a:rPr lang="en-US" dirty="0"/>
              <a:t>5</a:t>
            </a:r>
          </a:p>
        </p:txBody>
      </p:sp>
      <mc:AlternateContent xmlns:mc="http://schemas.openxmlformats.org/markup-compatibility/2006" xmlns:a14="http://schemas.microsoft.com/office/drawing/2010/main">
        <mc:Choice Requires="a14">
          <p:sp>
            <p:nvSpPr>
              <p:cNvPr id="40" name="Rectangle 39"/>
              <p:cNvSpPr/>
              <p:nvPr/>
            </p:nvSpPr>
            <p:spPr>
              <a:xfrm>
                <a:off x="1080957" y="3799958"/>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1080957" y="3799958"/>
                <a:ext cx="69991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41" name="TextBox 40"/>
          <p:cNvSpPr txBox="1"/>
          <p:nvPr/>
        </p:nvSpPr>
        <p:spPr>
          <a:xfrm>
            <a:off x="1616581" y="4421303"/>
            <a:ext cx="318448" cy="381000"/>
          </a:xfrm>
          <a:prstGeom prst="rect">
            <a:avLst/>
          </a:prstGeom>
          <a:noFill/>
        </p:spPr>
        <p:txBody>
          <a:bodyPr wrap="square" rtlCol="0">
            <a:spAutoFit/>
          </a:bodyPr>
          <a:lstStyle/>
          <a:p>
            <a:r>
              <a:rPr lang="en-US" dirty="0"/>
              <a:t>9</a:t>
            </a:r>
          </a:p>
        </p:txBody>
      </p:sp>
      <p:sp>
        <p:nvSpPr>
          <p:cNvPr id="43" name="Rectangle 42"/>
          <p:cNvSpPr/>
          <p:nvPr/>
        </p:nvSpPr>
        <p:spPr>
          <a:xfrm>
            <a:off x="1792442" y="3799957"/>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46" name="TextBox 45"/>
          <p:cNvSpPr txBox="1"/>
          <p:nvPr/>
        </p:nvSpPr>
        <p:spPr>
          <a:xfrm>
            <a:off x="1876794" y="4425221"/>
            <a:ext cx="503953"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sp>
            <p:nvSpPr>
              <p:cNvPr id="47" name="Rectangle 46"/>
              <p:cNvSpPr/>
              <p:nvPr/>
            </p:nvSpPr>
            <p:spPr>
              <a:xfrm>
                <a:off x="2071647" y="3799892"/>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2071647" y="3799892"/>
                <a:ext cx="699910"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525848" y="4440236"/>
            <a:ext cx="503953" cy="369332"/>
          </a:xfrm>
          <a:prstGeom prst="rect">
            <a:avLst/>
          </a:prstGeom>
          <a:noFill/>
        </p:spPr>
        <p:txBody>
          <a:bodyPr wrap="square" rtlCol="0">
            <a:spAutoFit/>
          </a:bodyPr>
          <a:lstStyle/>
          <a:p>
            <a:r>
              <a:rPr lang="en-US" dirty="0"/>
              <a:t>12</a:t>
            </a:r>
          </a:p>
        </p:txBody>
      </p:sp>
      <p:sp>
        <p:nvSpPr>
          <p:cNvPr id="51" name="Rectangle 50"/>
          <p:cNvSpPr/>
          <p:nvPr/>
        </p:nvSpPr>
        <p:spPr>
          <a:xfrm>
            <a:off x="2794707" y="3799891"/>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2" name="TextBox 51"/>
          <p:cNvSpPr txBox="1"/>
          <p:nvPr/>
        </p:nvSpPr>
        <p:spPr>
          <a:xfrm>
            <a:off x="2816628" y="4421303"/>
            <a:ext cx="503953" cy="369332"/>
          </a:xfrm>
          <a:prstGeom prst="rect">
            <a:avLst/>
          </a:prstGeom>
          <a:noFill/>
        </p:spPr>
        <p:txBody>
          <a:bodyPr wrap="square" rtlCol="0">
            <a:spAutoFit/>
          </a:bodyPr>
          <a:lstStyle/>
          <a:p>
            <a:r>
              <a:rPr lang="en-US" dirty="0"/>
              <a:t>13</a:t>
            </a:r>
          </a:p>
        </p:txBody>
      </p:sp>
      <mc:AlternateContent xmlns:mc="http://schemas.openxmlformats.org/markup-compatibility/2006" xmlns:a14="http://schemas.microsoft.com/office/drawing/2010/main">
        <mc:Choice Requires="a14">
          <p:sp>
            <p:nvSpPr>
              <p:cNvPr id="53" name="Rectangle 52"/>
              <p:cNvSpPr/>
              <p:nvPr/>
            </p:nvSpPr>
            <p:spPr>
              <a:xfrm>
                <a:off x="3068604" y="3799504"/>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3" name="Rectangle 52"/>
              <p:cNvSpPr>
                <a:spLocks noRot="1" noChangeAspect="1" noMove="1" noResize="1" noEditPoints="1" noAdjustHandles="1" noChangeArrowheads="1" noChangeShapeType="1" noTextEdit="1"/>
              </p:cNvSpPr>
              <p:nvPr/>
            </p:nvSpPr>
            <p:spPr>
              <a:xfrm>
                <a:off x="3068604" y="3799504"/>
                <a:ext cx="699910"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54" name="TextBox 53"/>
          <p:cNvSpPr txBox="1"/>
          <p:nvPr/>
        </p:nvSpPr>
        <p:spPr>
          <a:xfrm>
            <a:off x="3511475" y="4421303"/>
            <a:ext cx="503953" cy="369332"/>
          </a:xfrm>
          <a:prstGeom prst="rect">
            <a:avLst/>
          </a:prstGeom>
          <a:noFill/>
        </p:spPr>
        <p:txBody>
          <a:bodyPr wrap="square" rtlCol="0">
            <a:spAutoFit/>
          </a:bodyPr>
          <a:lstStyle/>
          <a:p>
            <a:r>
              <a:rPr lang="en-US" dirty="0"/>
              <a:t>15</a:t>
            </a:r>
          </a:p>
        </p:txBody>
      </p:sp>
      <p:sp>
        <p:nvSpPr>
          <p:cNvPr id="56" name="Rectangle 55"/>
          <p:cNvSpPr/>
          <p:nvPr/>
        </p:nvSpPr>
        <p:spPr>
          <a:xfrm>
            <a:off x="3783708" y="3799503"/>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7" name="TextBox 56"/>
          <p:cNvSpPr txBox="1"/>
          <p:nvPr/>
        </p:nvSpPr>
        <p:spPr>
          <a:xfrm>
            <a:off x="3836954" y="4421303"/>
            <a:ext cx="503953" cy="369332"/>
          </a:xfrm>
          <a:prstGeom prst="rect">
            <a:avLst/>
          </a:prstGeom>
          <a:noFill/>
        </p:spPr>
        <p:txBody>
          <a:bodyPr wrap="square" rtlCol="0">
            <a:spAutoFit/>
          </a:bodyPr>
          <a:lstStyle/>
          <a:p>
            <a:r>
              <a:rPr lang="en-US" dirty="0"/>
              <a:t>16</a:t>
            </a:r>
          </a:p>
        </p:txBody>
      </p:sp>
      <mc:AlternateContent xmlns:mc="http://schemas.openxmlformats.org/markup-compatibility/2006" xmlns:a14="http://schemas.microsoft.com/office/drawing/2010/main">
        <mc:Choice Requires="a14">
          <p:graphicFrame>
            <p:nvGraphicFramePr>
              <p:cNvPr id="4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054765" y="4858433"/>
              <a:ext cx="2518135" cy="123746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val="20000"/>
                        </a:ext>
                      </a:extLst>
                    </a:gridCol>
                    <a:gridCol w="1569780">
                      <a:extLst>
                        <a:ext uri="{9D8B030D-6E8A-4147-A177-3AD203B41FA5}">
                          <a16:colId xmlns:a16="http://schemas.microsoft.com/office/drawing/2014/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mc:Choice>
        <mc:Fallback xmlns="">
          <p:graphicFrame>
            <p:nvGraphicFramePr>
              <p:cNvPr id="49"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054765" y="4858433"/>
              <a:ext cx="2518135" cy="123746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xmlns="" xmlns:a14="http://schemas.microsoft.com/office/drawing/2010/main" val="20000"/>
                        </a:ext>
                      </a:extLst>
                    </a:gridCol>
                    <a:gridCol w="1569780">
                      <a:extLst>
                        <a:ext uri="{9D8B030D-6E8A-4147-A177-3AD203B41FA5}">
                          <a16:colId xmlns:a16="http://schemas.microsoft.com/office/drawing/2014/main" xmlns="" xmlns:a14="http://schemas.microsoft.com/office/drawing/2010/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2"/>
                          <a:stretch>
                            <a:fillRect l="-641" t="-110606" r="-166026" b="-127273"/>
                          </a:stretch>
                        </a:blip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2"/>
                          <a:stretch>
                            <a:fillRect l="-641" t="-213846" r="-166026" b="-29231"/>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bl>
              </a:graphicData>
            </a:graphic>
          </p:graphicFrame>
        </mc:Fallback>
      </mc:AlternateContent>
      <p:sp>
        <p:nvSpPr>
          <p:cNvPr id="59" name="TextBox 58"/>
          <p:cNvSpPr txBox="1"/>
          <p:nvPr/>
        </p:nvSpPr>
        <p:spPr>
          <a:xfrm>
            <a:off x="2068734" y="5303863"/>
            <a:ext cx="2518357" cy="369332"/>
          </a:xfrm>
          <a:prstGeom prst="rect">
            <a:avLst/>
          </a:prstGeom>
          <a:noFill/>
          <a:ln w="28575">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2981493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ppt_x"/>
                                          </p:val>
                                        </p:tav>
                                        <p:tav tm="100000">
                                          <p:val>
                                            <p:strVal val="#ppt_x"/>
                                          </p:val>
                                        </p:tav>
                                      </p:tavLst>
                                    </p:anim>
                                    <p:anim calcmode="lin" valueType="num">
                                      <p:cBhvr additive="base">
                                        <p:cTn id="8"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p:bldP spid="56" grpId="0" animBg="1"/>
      <p:bldP spid="57" grpId="0"/>
      <p:bldP spid="59"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496070" y="0"/>
                <a:ext cx="569593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Round Robin </a:t>
                </a:r>
                <a:r>
                  <a:rPr lang="en-IN" sz="2800" b="1" dirty="0"/>
                  <a:t>Example</a:t>
                </a:r>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Take Time quantum = 4 </a:t>
                </a:r>
                <a:r>
                  <a:rPr lang="en-US" sz="2000" dirty="0" err="1"/>
                  <a:t>ms</a:t>
                </a:r>
                <a:r>
                  <a:rPr lang="en-US" sz="2000" dirty="0"/>
                  <a:t> &amp; Context switch overhead = 1 </a:t>
                </a:r>
                <a:r>
                  <a:rPr lang="en-US" sz="2000" dirty="0" err="1"/>
                  <a:t>ms</a:t>
                </a:r>
                <a:endParaRPr lang="en-IN" sz="2000" dirty="0"/>
              </a:p>
              <a:p>
                <a:pPr marL="342900" indent="-342900" algn="just">
                  <a:buFont typeface="Wingdings" panose="05000000000000000000" pitchFamily="2" charset="2"/>
                  <a:buChar char="ü"/>
                </a:pPr>
                <a:r>
                  <a:rPr lang="en-US" sz="2000" dirty="0"/>
                  <a:t>At 4 </a:t>
                </a:r>
                <a:r>
                  <a:rPr lang="en-US" sz="2000" dirty="0" err="1"/>
                  <a:t>ms</a:t>
                </a:r>
                <a:r>
                  <a:rPr lang="en-US" sz="2000" dirty="0"/>
                  <a:t>, process </a:t>
                </a:r>
                <a14:m>
                  <m:oMath xmlns:m="http://schemas.openxmlformats.org/officeDocument/2006/math">
                    <m:sSub>
                      <m:sSubPr>
                        <m:ctrlPr>
                          <a:rPr lang="en-IN" sz="2000" b="1" i="1" smtClean="0">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a:solidFill>
                              <a:schemeClr val="bg1"/>
                            </a:solidFill>
                            <a:latin typeface="Cambria Math" panose="02040503050406030204" pitchFamily="18" charset="0"/>
                          </a:rPr>
                          <m:t>𝟎</m:t>
                        </m:r>
                      </m:sub>
                    </m:sSub>
                  </m:oMath>
                </a14:m>
                <a:r>
                  <a:rPr lang="en-US" sz="2000" dirty="0"/>
                  <a:t> completes its time quantum. So it is preempted and another process </a:t>
                </a:r>
                <a14:m>
                  <m:oMath xmlns:m="http://schemas.openxmlformats.org/officeDocument/2006/math">
                    <m:sSub>
                      <m:sSubPr>
                        <m:ctrlPr>
                          <a:rPr lang="en-IN" sz="2000" b="1" i="1">
                            <a:solidFill>
                              <a:schemeClr val="bg1"/>
                            </a:solidFill>
                            <a:latin typeface="Cambria Math" panose="02040503050406030204" pitchFamily="18" charset="0"/>
                          </a:rPr>
                        </m:ctrlPr>
                      </m:sSubPr>
                      <m:e>
                        <m:r>
                          <a:rPr lang="en-IN" sz="2000" b="1" i="1">
                            <a:solidFill>
                              <a:schemeClr val="bg1"/>
                            </a:solidFill>
                            <a:latin typeface="Cambria Math" panose="02040503050406030204" pitchFamily="18" charset="0"/>
                          </a:rPr>
                          <m:t>𝑷</m:t>
                        </m:r>
                      </m:e>
                      <m:sub>
                        <m:r>
                          <a:rPr lang="en-IN" sz="2000" b="1" i="1" smtClean="0">
                            <a:solidFill>
                              <a:schemeClr val="bg1"/>
                            </a:solidFill>
                            <a:latin typeface="Cambria Math" panose="02040503050406030204" pitchFamily="18" charset="0"/>
                          </a:rPr>
                          <m:t>𝟏</m:t>
                        </m:r>
                      </m:sub>
                    </m:sSub>
                  </m:oMath>
                </a14:m>
                <a:r>
                  <a:rPr lang="en-US" sz="2000" dirty="0"/>
                  <a:t> is allowed to run</a:t>
                </a:r>
              </a:p>
              <a:p>
                <a:pPr marL="342900" indent="-342900" algn="just">
                  <a:buFont typeface="Wingdings" panose="05000000000000000000" pitchFamily="2" charset="2"/>
                  <a:buChar char="ü"/>
                </a:pPr>
                <a:r>
                  <a:rPr lang="en-US" sz="2000" dirty="0"/>
                  <a:t>1 </a:t>
                </a:r>
                <a:r>
                  <a:rPr lang="en-US" sz="2000" dirty="0" err="1"/>
                  <a:t>ms</a:t>
                </a:r>
                <a:r>
                  <a:rPr lang="en-US" sz="2000" dirty="0"/>
                  <a:t> is wasted on each context switch as overhead</a:t>
                </a:r>
                <a:endParaRPr lang="en-IN" sz="2000" dirty="0"/>
              </a:p>
              <a:p>
                <a:pPr algn="just"/>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496070" y="0"/>
                <a:ext cx="5695930" cy="6588000"/>
              </a:xfrm>
              <a:prstGeom prst="rect">
                <a:avLst/>
              </a:prstGeom>
              <a:blipFill>
                <a:blip r:embed="rId2"/>
                <a:stretch>
                  <a:fillRect l="-642"/>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mc:AlternateContent xmlns:mc="http://schemas.openxmlformats.org/markup-compatibility/2006" xmlns:a14="http://schemas.microsoft.com/office/drawing/2010/main">
        <mc:Choice Requires="a14">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18072" y="412762"/>
              <a:ext cx="5692432" cy="2874036"/>
            </p:xfrm>
            <a:graphic>
              <a:graphicData uri="http://schemas.openxmlformats.org/drawingml/2006/table">
                <a:tbl>
                  <a:tblPr firstRow="1" bandRow="1">
                    <a:tableStyleId>{8EC20E35-A176-4012-BC5E-935CFFF8708E}</a:tableStyleId>
                  </a:tblPr>
                  <a:tblGrid>
                    <a:gridCol w="983786">
                      <a:extLst>
                        <a:ext uri="{9D8B030D-6E8A-4147-A177-3AD203B41FA5}">
                          <a16:colId xmlns:a16="http://schemas.microsoft.com/office/drawing/2014/main" val="20000"/>
                        </a:ext>
                      </a:extLst>
                    </a:gridCol>
                    <a:gridCol w="1353413">
                      <a:extLst>
                        <a:ext uri="{9D8B030D-6E8A-4147-A177-3AD203B41FA5}">
                          <a16:colId xmlns:a16="http://schemas.microsoft.com/office/drawing/2014/main" val="20001"/>
                        </a:ext>
                      </a:extLst>
                    </a:gridCol>
                    <a:gridCol w="3355233">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31"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318072" y="412762"/>
              <a:ext cx="5692432" cy="2874036"/>
            </p:xfrm>
            <a:graphic>
              <a:graphicData uri="http://schemas.openxmlformats.org/drawingml/2006/table">
                <a:tbl>
                  <a:tblPr firstRow="1" bandRow="1">
                    <a:tableStyleId>{8EC20E35-A176-4012-BC5E-935CFFF8708E}</a:tableStyleId>
                  </a:tblPr>
                  <a:tblGrid>
                    <a:gridCol w="983786">
                      <a:extLst>
                        <a:ext uri="{9D8B030D-6E8A-4147-A177-3AD203B41FA5}">
                          <a16:colId xmlns:a16="http://schemas.microsoft.com/office/drawing/2014/main" xmlns="" xmlns:a14="http://schemas.microsoft.com/office/drawing/2010/main" val="20000"/>
                        </a:ext>
                      </a:extLst>
                    </a:gridCol>
                    <a:gridCol w="1353413">
                      <a:extLst>
                        <a:ext uri="{9D8B030D-6E8A-4147-A177-3AD203B41FA5}">
                          <a16:colId xmlns:a16="http://schemas.microsoft.com/office/drawing/2014/main" xmlns="" xmlns:a14="http://schemas.microsoft.com/office/drawing/2010/main" val="20001"/>
                        </a:ext>
                      </a:extLst>
                    </a:gridCol>
                    <a:gridCol w="3355233">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l="-72973" t="-3810" r="-24909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118478" r="-481366"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218478" r="-481366"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318478" r="-481366"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3"/>
                          <a:stretch>
                            <a:fillRect l="-621" t="-418478" r="-481366"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512447"/>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5574" y="3802020"/>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5574" y="3802020"/>
                <a:ext cx="699910"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37" name="TextBox 36"/>
          <p:cNvSpPr txBox="1"/>
          <p:nvPr/>
        </p:nvSpPr>
        <p:spPr>
          <a:xfrm>
            <a:off x="636260" y="4464340"/>
            <a:ext cx="318448" cy="381000"/>
          </a:xfrm>
          <a:prstGeom prst="rect">
            <a:avLst/>
          </a:prstGeom>
          <a:noFill/>
        </p:spPr>
        <p:txBody>
          <a:bodyPr wrap="square" rtlCol="0">
            <a:spAutoFit/>
          </a:bodyPr>
          <a:lstStyle/>
          <a:p>
            <a:r>
              <a:rPr lang="en-US" dirty="0"/>
              <a:t>4</a:t>
            </a:r>
          </a:p>
        </p:txBody>
      </p:sp>
      <p:sp>
        <p:nvSpPr>
          <p:cNvPr id="38" name="Rectangle 37"/>
          <p:cNvSpPr/>
          <p:nvPr/>
        </p:nvSpPr>
        <p:spPr>
          <a:xfrm>
            <a:off x="807059" y="3802019"/>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9" name="TextBox 38"/>
          <p:cNvSpPr txBox="1"/>
          <p:nvPr/>
        </p:nvSpPr>
        <p:spPr>
          <a:xfrm>
            <a:off x="910158" y="4463878"/>
            <a:ext cx="318448" cy="381000"/>
          </a:xfrm>
          <a:prstGeom prst="rect">
            <a:avLst/>
          </a:prstGeom>
          <a:noFill/>
        </p:spPr>
        <p:txBody>
          <a:bodyPr wrap="square" rtlCol="0">
            <a:spAutoFit/>
          </a:bodyPr>
          <a:lstStyle/>
          <a:p>
            <a:r>
              <a:rPr lang="en-US" dirty="0"/>
              <a:t>5</a:t>
            </a:r>
          </a:p>
        </p:txBody>
      </p:sp>
      <mc:AlternateContent xmlns:mc="http://schemas.openxmlformats.org/markup-compatibility/2006" xmlns:a14="http://schemas.microsoft.com/office/drawing/2010/main">
        <mc:Choice Requires="a14">
          <p:sp>
            <p:nvSpPr>
              <p:cNvPr id="40" name="Rectangle 39"/>
              <p:cNvSpPr/>
              <p:nvPr/>
            </p:nvSpPr>
            <p:spPr>
              <a:xfrm>
                <a:off x="1080957" y="3799958"/>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1080957" y="3799958"/>
                <a:ext cx="69991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41" name="TextBox 40"/>
          <p:cNvSpPr txBox="1"/>
          <p:nvPr/>
        </p:nvSpPr>
        <p:spPr>
          <a:xfrm>
            <a:off x="1616581" y="4421303"/>
            <a:ext cx="318448" cy="381000"/>
          </a:xfrm>
          <a:prstGeom prst="rect">
            <a:avLst/>
          </a:prstGeom>
          <a:noFill/>
        </p:spPr>
        <p:txBody>
          <a:bodyPr wrap="square" rtlCol="0">
            <a:spAutoFit/>
          </a:bodyPr>
          <a:lstStyle/>
          <a:p>
            <a:r>
              <a:rPr lang="en-US" dirty="0"/>
              <a:t>9</a:t>
            </a:r>
          </a:p>
        </p:txBody>
      </p:sp>
      <p:sp>
        <p:nvSpPr>
          <p:cNvPr id="43" name="Rectangle 42"/>
          <p:cNvSpPr/>
          <p:nvPr/>
        </p:nvSpPr>
        <p:spPr>
          <a:xfrm>
            <a:off x="1792442" y="3799957"/>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46" name="TextBox 45"/>
          <p:cNvSpPr txBox="1"/>
          <p:nvPr/>
        </p:nvSpPr>
        <p:spPr>
          <a:xfrm>
            <a:off x="1876794" y="4425221"/>
            <a:ext cx="503953"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sp>
            <p:nvSpPr>
              <p:cNvPr id="47" name="Rectangle 46"/>
              <p:cNvSpPr/>
              <p:nvPr/>
            </p:nvSpPr>
            <p:spPr>
              <a:xfrm>
                <a:off x="2071647" y="3799892"/>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2071647" y="3799892"/>
                <a:ext cx="699910"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525848" y="4440236"/>
            <a:ext cx="503953" cy="369332"/>
          </a:xfrm>
          <a:prstGeom prst="rect">
            <a:avLst/>
          </a:prstGeom>
          <a:noFill/>
        </p:spPr>
        <p:txBody>
          <a:bodyPr wrap="square" rtlCol="0">
            <a:spAutoFit/>
          </a:bodyPr>
          <a:lstStyle/>
          <a:p>
            <a:r>
              <a:rPr lang="en-US" dirty="0"/>
              <a:t>12</a:t>
            </a:r>
          </a:p>
        </p:txBody>
      </p:sp>
      <p:sp>
        <p:nvSpPr>
          <p:cNvPr id="51" name="Rectangle 50"/>
          <p:cNvSpPr/>
          <p:nvPr/>
        </p:nvSpPr>
        <p:spPr>
          <a:xfrm>
            <a:off x="2794707" y="3799891"/>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2" name="TextBox 51"/>
          <p:cNvSpPr txBox="1"/>
          <p:nvPr/>
        </p:nvSpPr>
        <p:spPr>
          <a:xfrm>
            <a:off x="2816628" y="4421303"/>
            <a:ext cx="503953" cy="369332"/>
          </a:xfrm>
          <a:prstGeom prst="rect">
            <a:avLst/>
          </a:prstGeom>
          <a:noFill/>
        </p:spPr>
        <p:txBody>
          <a:bodyPr wrap="square" rtlCol="0">
            <a:spAutoFit/>
          </a:bodyPr>
          <a:lstStyle/>
          <a:p>
            <a:r>
              <a:rPr lang="en-US" dirty="0"/>
              <a:t>13</a:t>
            </a:r>
          </a:p>
        </p:txBody>
      </p:sp>
      <mc:AlternateContent xmlns:mc="http://schemas.openxmlformats.org/markup-compatibility/2006" xmlns:a14="http://schemas.microsoft.com/office/drawing/2010/main">
        <mc:Choice Requires="a14">
          <p:sp>
            <p:nvSpPr>
              <p:cNvPr id="53" name="Rectangle 52"/>
              <p:cNvSpPr/>
              <p:nvPr/>
            </p:nvSpPr>
            <p:spPr>
              <a:xfrm>
                <a:off x="3068604" y="3799504"/>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3" name="Rectangle 52"/>
              <p:cNvSpPr>
                <a:spLocks noRot="1" noChangeAspect="1" noMove="1" noResize="1" noEditPoints="1" noAdjustHandles="1" noChangeArrowheads="1" noChangeShapeType="1" noTextEdit="1"/>
              </p:cNvSpPr>
              <p:nvPr/>
            </p:nvSpPr>
            <p:spPr>
              <a:xfrm>
                <a:off x="3068604" y="3799504"/>
                <a:ext cx="699910"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54" name="TextBox 53"/>
          <p:cNvSpPr txBox="1"/>
          <p:nvPr/>
        </p:nvSpPr>
        <p:spPr>
          <a:xfrm>
            <a:off x="3511475" y="4421303"/>
            <a:ext cx="503953" cy="369332"/>
          </a:xfrm>
          <a:prstGeom prst="rect">
            <a:avLst/>
          </a:prstGeom>
          <a:noFill/>
        </p:spPr>
        <p:txBody>
          <a:bodyPr wrap="square" rtlCol="0">
            <a:spAutoFit/>
          </a:bodyPr>
          <a:lstStyle/>
          <a:p>
            <a:r>
              <a:rPr lang="en-US" dirty="0"/>
              <a:t>15</a:t>
            </a:r>
          </a:p>
        </p:txBody>
      </p:sp>
      <p:sp>
        <p:nvSpPr>
          <p:cNvPr id="56" name="Rectangle 55"/>
          <p:cNvSpPr/>
          <p:nvPr/>
        </p:nvSpPr>
        <p:spPr>
          <a:xfrm>
            <a:off x="3783708" y="3799503"/>
            <a:ext cx="262323"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57" name="TextBox 56"/>
          <p:cNvSpPr txBox="1"/>
          <p:nvPr/>
        </p:nvSpPr>
        <p:spPr>
          <a:xfrm>
            <a:off x="3836954" y="4421303"/>
            <a:ext cx="503953" cy="369332"/>
          </a:xfrm>
          <a:prstGeom prst="rect">
            <a:avLst/>
          </a:prstGeom>
          <a:noFill/>
        </p:spPr>
        <p:txBody>
          <a:bodyPr wrap="square" rtlCol="0">
            <a:spAutoFit/>
          </a:bodyPr>
          <a:lstStyle/>
          <a:p>
            <a:r>
              <a:rPr lang="en-US" dirty="0"/>
              <a:t>16</a:t>
            </a:r>
          </a:p>
        </p:txBody>
      </p:sp>
      <mc:AlternateContent xmlns:mc="http://schemas.openxmlformats.org/markup-compatibility/2006" xmlns:a14="http://schemas.microsoft.com/office/drawing/2010/main">
        <mc:Choice Requires="a14">
          <p:sp>
            <p:nvSpPr>
              <p:cNvPr id="58" name="Rectangle 57"/>
              <p:cNvSpPr/>
              <p:nvPr/>
            </p:nvSpPr>
            <p:spPr>
              <a:xfrm>
                <a:off x="4042196" y="3799502"/>
                <a:ext cx="6999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58" name="Rectangle 57"/>
              <p:cNvSpPr>
                <a:spLocks noRot="1" noChangeAspect="1" noMove="1" noResize="1" noEditPoints="1" noAdjustHandles="1" noChangeArrowheads="1" noChangeShapeType="1" noTextEdit="1"/>
              </p:cNvSpPr>
              <p:nvPr/>
            </p:nvSpPr>
            <p:spPr>
              <a:xfrm>
                <a:off x="4042196" y="3799502"/>
                <a:ext cx="699910" cy="655359"/>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p:sp>
        <p:nvSpPr>
          <p:cNvPr id="61" name="TextBox 60"/>
          <p:cNvSpPr txBox="1"/>
          <p:nvPr/>
        </p:nvSpPr>
        <p:spPr>
          <a:xfrm>
            <a:off x="4516040" y="4408245"/>
            <a:ext cx="503953" cy="369332"/>
          </a:xfrm>
          <a:prstGeom prst="rect">
            <a:avLst/>
          </a:prstGeom>
          <a:noFill/>
        </p:spPr>
        <p:txBody>
          <a:bodyPr wrap="square" rtlCol="0">
            <a:spAutoFit/>
          </a:bodyPr>
          <a:lstStyle/>
          <a:p>
            <a:r>
              <a:rPr lang="en-US" dirty="0"/>
              <a:t>17</a:t>
            </a:r>
          </a:p>
        </p:txBody>
      </p:sp>
      <mc:AlternateContent xmlns:mc="http://schemas.openxmlformats.org/markup-compatibility/2006" xmlns:a14="http://schemas.microsoft.com/office/drawing/2010/main">
        <mc:Choice Requires="a14">
          <p:graphicFrame>
            <p:nvGraphicFramePr>
              <p:cNvPr id="6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3027852" y="4844878"/>
              <a:ext cx="2518135" cy="84122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val="20000"/>
                        </a:ext>
                      </a:extLst>
                    </a:gridCol>
                    <a:gridCol w="1569780">
                      <a:extLst>
                        <a:ext uri="{9D8B030D-6E8A-4147-A177-3AD203B41FA5}">
                          <a16:colId xmlns:a16="http://schemas.microsoft.com/office/drawing/2014/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27546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Choice>
        <mc:Fallback xmlns="">
          <p:graphicFrame>
            <p:nvGraphicFramePr>
              <p:cNvPr id="60"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3027852" y="4844878"/>
              <a:ext cx="2518135" cy="841221"/>
            </p:xfrm>
            <a:graphic>
              <a:graphicData uri="http://schemas.openxmlformats.org/drawingml/2006/table">
                <a:tbl>
                  <a:tblPr firstRow="1" bandRow="1">
                    <a:tableStyleId>{8EC20E35-A176-4012-BC5E-935CFFF8708E}</a:tableStyleId>
                  </a:tblPr>
                  <a:tblGrid>
                    <a:gridCol w="948355">
                      <a:extLst>
                        <a:ext uri="{9D8B030D-6E8A-4147-A177-3AD203B41FA5}">
                          <a16:colId xmlns:a16="http://schemas.microsoft.com/office/drawing/2014/main" xmlns="" xmlns:a14="http://schemas.microsoft.com/office/drawing/2010/main" val="20000"/>
                        </a:ext>
                      </a:extLst>
                    </a:gridCol>
                    <a:gridCol w="1569780">
                      <a:extLst>
                        <a:ext uri="{9D8B030D-6E8A-4147-A177-3AD203B41FA5}">
                          <a16:colId xmlns:a16="http://schemas.microsoft.com/office/drawing/2014/main" xmlns="" xmlns:a14="http://schemas.microsoft.com/office/drawing/2010/main" val="20001"/>
                        </a:ext>
                      </a:extLst>
                    </a:gridCol>
                  </a:tblGrid>
                  <a:tr h="444981">
                    <a:tc>
                      <a:txBody>
                        <a:bodyPr/>
                        <a:lstStyle/>
                        <a:p>
                          <a:pPr algn="ctr"/>
                          <a:r>
                            <a:rPr lang="en-US" sz="1600"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600" b="1" kern="1200" dirty="0">
                              <a:solidFill>
                                <a:schemeClr val="tx1"/>
                              </a:solidFill>
                              <a:latin typeface="+mn-lt"/>
                              <a:ea typeface="+mn-ea"/>
                              <a:cs typeface="+mn-cs"/>
                            </a:rPr>
                            <a:t>Remaining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39624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13"/>
                          <a:stretch>
                            <a:fillRect t="-113846" r="-166026" b="-29231"/>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bl>
              </a:graphicData>
            </a:graphic>
          </p:graphicFrame>
        </mc:Fallback>
      </mc:AlternateContent>
      <p:sp>
        <p:nvSpPr>
          <p:cNvPr id="62" name="TextBox 61"/>
          <p:cNvSpPr txBox="1"/>
          <p:nvPr/>
        </p:nvSpPr>
        <p:spPr>
          <a:xfrm>
            <a:off x="3027026" y="5303380"/>
            <a:ext cx="2518357" cy="369332"/>
          </a:xfrm>
          <a:prstGeom prst="rect">
            <a:avLst/>
          </a:prstGeom>
          <a:noFill/>
          <a:ln w="28575">
            <a:solidFill>
              <a:srgbClr val="1AE61F"/>
            </a:solidFill>
          </a:ln>
        </p:spPr>
        <p:txBody>
          <a:bodyPr wrap="square" rtlCol="0">
            <a:spAutoFit/>
          </a:bodyPr>
          <a:lstStyle/>
          <a:p>
            <a:endParaRPr lang="en-IN" dirty="0"/>
          </a:p>
        </p:txBody>
      </p:sp>
    </p:spTree>
    <p:extLst>
      <p:ext uri="{BB962C8B-B14F-4D97-AF65-F5344CB8AC3E}">
        <p14:creationId xmlns:p14="http://schemas.microsoft.com/office/powerpoint/2010/main" val="1091845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ppt_x"/>
                                          </p:val>
                                        </p:tav>
                                        <p:tav tm="100000">
                                          <p:val>
                                            <p:strVal val="#ppt_x"/>
                                          </p:val>
                                        </p:tav>
                                      </p:tavLst>
                                    </p:anim>
                                    <p:anim calcmode="lin" valueType="num">
                                      <p:cBhvr additive="base">
                                        <p:cTn id="8"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61" grpId="0"/>
      <p:bldP spid="62"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 (RR)</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534145" y="4315965"/>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534145" y="4315965"/>
                <a:ext cx="115517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p:sp>
        <p:nvSpPr>
          <p:cNvPr id="9" name="TextBox 8"/>
          <p:cNvSpPr txBox="1"/>
          <p:nvPr/>
        </p:nvSpPr>
        <p:spPr>
          <a:xfrm>
            <a:off x="374921" y="5011178"/>
            <a:ext cx="318448" cy="381000"/>
          </a:xfrm>
          <a:prstGeom prst="rect">
            <a:avLst/>
          </a:prstGeom>
          <a:noFill/>
        </p:spPr>
        <p:txBody>
          <a:bodyPr wrap="square" rtlCol="0">
            <a:spAutoFit/>
          </a:bodyPr>
          <a:lstStyle/>
          <a:p>
            <a:r>
              <a:rPr lang="en-US" dirty="0"/>
              <a:t>0</a:t>
            </a:r>
          </a:p>
        </p:txBody>
      </p:sp>
      <p:cxnSp>
        <p:nvCxnSpPr>
          <p:cNvPr id="14" name="Straight Connector 13"/>
          <p:cNvCxnSpPr/>
          <p:nvPr/>
        </p:nvCxnSpPr>
        <p:spPr>
          <a:xfrm flipH="1">
            <a:off x="534145" y="427611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8" name="TextBox 47"/>
          <p:cNvSpPr txBox="1"/>
          <p:nvPr/>
        </p:nvSpPr>
        <p:spPr>
          <a:xfrm>
            <a:off x="1500292" y="5011177"/>
            <a:ext cx="318448" cy="381000"/>
          </a:xfrm>
          <a:prstGeom prst="rect">
            <a:avLst/>
          </a:prstGeom>
          <a:noFill/>
        </p:spPr>
        <p:txBody>
          <a:bodyPr wrap="square" rtlCol="0">
            <a:spAutoFit/>
          </a:bodyPr>
          <a:lstStyle/>
          <a:p>
            <a:r>
              <a:rPr lang="en-US" dirty="0"/>
              <a:t>4</a:t>
            </a:r>
          </a:p>
        </p:txBody>
      </p:sp>
      <p:sp>
        <p:nvSpPr>
          <p:cNvPr id="41" name="Rectangle 40"/>
          <p:cNvSpPr/>
          <p:nvPr/>
        </p:nvSpPr>
        <p:spPr>
          <a:xfrm>
            <a:off x="1689315" y="4315965"/>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4" name="Rectangle 53"/>
              <p:cNvSpPr/>
              <p:nvPr/>
            </p:nvSpPr>
            <p:spPr>
              <a:xfrm>
                <a:off x="1943104" y="4315964"/>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54" name="Rectangle 53"/>
              <p:cNvSpPr>
                <a:spLocks noRot="1" noChangeAspect="1" noMove="1" noResize="1" noEditPoints="1" noAdjustHandles="1" noChangeArrowheads="1" noChangeShapeType="1" noTextEdit="1"/>
              </p:cNvSpPr>
              <p:nvPr/>
            </p:nvSpPr>
            <p:spPr>
              <a:xfrm>
                <a:off x="1943104" y="4315964"/>
                <a:ext cx="115517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55" name="Rectangle 54"/>
          <p:cNvSpPr/>
          <p:nvPr/>
        </p:nvSpPr>
        <p:spPr>
          <a:xfrm>
            <a:off x="3103336" y="4315963"/>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6" name="Rectangle 55"/>
              <p:cNvSpPr/>
              <p:nvPr/>
            </p:nvSpPr>
            <p:spPr>
              <a:xfrm>
                <a:off x="3362187" y="4315962"/>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56" name="Rectangle 55"/>
              <p:cNvSpPr>
                <a:spLocks noRot="1" noChangeAspect="1" noMove="1" noResize="1" noEditPoints="1" noAdjustHandles="1" noChangeArrowheads="1" noChangeShapeType="1" noTextEdit="1"/>
              </p:cNvSpPr>
              <p:nvPr/>
            </p:nvSpPr>
            <p:spPr>
              <a:xfrm>
                <a:off x="3362187" y="4315962"/>
                <a:ext cx="891257"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57" name="Rectangle 56"/>
          <p:cNvSpPr/>
          <p:nvPr/>
        </p:nvSpPr>
        <p:spPr>
          <a:xfrm>
            <a:off x="4243320" y="4315961"/>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9" name="Rectangle 58"/>
              <p:cNvSpPr/>
              <p:nvPr/>
            </p:nvSpPr>
            <p:spPr>
              <a:xfrm>
                <a:off x="4486482" y="4315960"/>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9" name="Rectangle 58"/>
              <p:cNvSpPr>
                <a:spLocks noRot="1" noChangeAspect="1" noMove="1" noResize="1" noEditPoints="1" noAdjustHandles="1" noChangeArrowheads="1" noChangeShapeType="1" noTextEdit="1"/>
              </p:cNvSpPr>
              <p:nvPr/>
            </p:nvSpPr>
            <p:spPr>
              <a:xfrm>
                <a:off x="4486482" y="4315960"/>
                <a:ext cx="891257"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60" name="Rectangle 59"/>
          <p:cNvSpPr/>
          <p:nvPr/>
        </p:nvSpPr>
        <p:spPr>
          <a:xfrm>
            <a:off x="5377739" y="4315959"/>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1" name="Rectangle 60"/>
              <p:cNvSpPr/>
              <p:nvPr/>
            </p:nvSpPr>
            <p:spPr>
              <a:xfrm>
                <a:off x="5647217" y="4315959"/>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61" name="Rectangle 60"/>
              <p:cNvSpPr>
                <a:spLocks noRot="1" noChangeAspect="1" noMove="1" noResize="1" noEditPoints="1" noAdjustHandles="1" noChangeArrowheads="1" noChangeShapeType="1" noTextEdit="1"/>
              </p:cNvSpPr>
              <p:nvPr/>
            </p:nvSpPr>
            <p:spPr>
              <a:xfrm>
                <a:off x="5647217" y="4315959"/>
                <a:ext cx="891257" cy="655359"/>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p:sp>
        <p:nvSpPr>
          <p:cNvPr id="66" name="TextBox 65"/>
          <p:cNvSpPr txBox="1"/>
          <p:nvPr/>
        </p:nvSpPr>
        <p:spPr>
          <a:xfrm>
            <a:off x="1772245" y="5011176"/>
            <a:ext cx="318448" cy="381000"/>
          </a:xfrm>
          <a:prstGeom prst="rect">
            <a:avLst/>
          </a:prstGeom>
          <a:noFill/>
        </p:spPr>
        <p:txBody>
          <a:bodyPr wrap="square" rtlCol="0">
            <a:spAutoFit/>
          </a:bodyPr>
          <a:lstStyle/>
          <a:p>
            <a:r>
              <a:rPr lang="en-US" dirty="0"/>
              <a:t>5</a:t>
            </a:r>
          </a:p>
        </p:txBody>
      </p:sp>
      <p:sp>
        <p:nvSpPr>
          <p:cNvPr id="67" name="TextBox 66"/>
          <p:cNvSpPr txBox="1"/>
          <p:nvPr/>
        </p:nvSpPr>
        <p:spPr>
          <a:xfrm>
            <a:off x="2931467" y="4971314"/>
            <a:ext cx="318448" cy="381000"/>
          </a:xfrm>
          <a:prstGeom prst="rect">
            <a:avLst/>
          </a:prstGeom>
          <a:noFill/>
        </p:spPr>
        <p:txBody>
          <a:bodyPr wrap="square" rtlCol="0">
            <a:spAutoFit/>
          </a:bodyPr>
          <a:lstStyle/>
          <a:p>
            <a:r>
              <a:rPr lang="en-US" dirty="0">
                <a:solidFill>
                  <a:srgbClr val="C00000"/>
                </a:solidFill>
              </a:rPr>
              <a:t>9</a:t>
            </a:r>
          </a:p>
        </p:txBody>
      </p:sp>
      <p:sp>
        <p:nvSpPr>
          <p:cNvPr id="68" name="TextBox 67"/>
          <p:cNvSpPr txBox="1"/>
          <p:nvPr/>
        </p:nvSpPr>
        <p:spPr>
          <a:xfrm>
            <a:off x="3177435" y="4971314"/>
            <a:ext cx="411796" cy="369332"/>
          </a:xfrm>
          <a:prstGeom prst="rect">
            <a:avLst/>
          </a:prstGeom>
          <a:noFill/>
        </p:spPr>
        <p:txBody>
          <a:bodyPr wrap="square" rtlCol="0">
            <a:spAutoFit/>
          </a:bodyPr>
          <a:lstStyle/>
          <a:p>
            <a:r>
              <a:rPr lang="en-US" dirty="0"/>
              <a:t>10</a:t>
            </a:r>
          </a:p>
        </p:txBody>
      </p:sp>
      <p:sp>
        <p:nvSpPr>
          <p:cNvPr id="69" name="TextBox 68"/>
          <p:cNvSpPr txBox="1"/>
          <p:nvPr/>
        </p:nvSpPr>
        <p:spPr>
          <a:xfrm>
            <a:off x="4013627" y="4965478"/>
            <a:ext cx="411796" cy="369332"/>
          </a:xfrm>
          <a:prstGeom prst="rect">
            <a:avLst/>
          </a:prstGeom>
          <a:noFill/>
        </p:spPr>
        <p:txBody>
          <a:bodyPr wrap="square" rtlCol="0">
            <a:spAutoFit/>
          </a:bodyPr>
          <a:lstStyle/>
          <a:p>
            <a:r>
              <a:rPr lang="en-US" dirty="0">
                <a:solidFill>
                  <a:srgbClr val="C00000"/>
                </a:solidFill>
              </a:rPr>
              <a:t>12</a:t>
            </a:r>
          </a:p>
        </p:txBody>
      </p:sp>
      <p:sp>
        <p:nvSpPr>
          <p:cNvPr id="70" name="TextBox 69"/>
          <p:cNvSpPr txBox="1"/>
          <p:nvPr/>
        </p:nvSpPr>
        <p:spPr>
          <a:xfrm>
            <a:off x="4305249" y="4965478"/>
            <a:ext cx="411796" cy="369332"/>
          </a:xfrm>
          <a:prstGeom prst="rect">
            <a:avLst/>
          </a:prstGeom>
          <a:noFill/>
        </p:spPr>
        <p:txBody>
          <a:bodyPr wrap="square" rtlCol="0">
            <a:spAutoFit/>
          </a:bodyPr>
          <a:lstStyle/>
          <a:p>
            <a:r>
              <a:rPr lang="en-US" dirty="0"/>
              <a:t>13</a:t>
            </a:r>
          </a:p>
        </p:txBody>
      </p:sp>
      <p:sp>
        <p:nvSpPr>
          <p:cNvPr id="71" name="TextBox 70"/>
          <p:cNvSpPr txBox="1"/>
          <p:nvPr/>
        </p:nvSpPr>
        <p:spPr>
          <a:xfrm>
            <a:off x="5138257" y="4941711"/>
            <a:ext cx="411796" cy="369332"/>
          </a:xfrm>
          <a:prstGeom prst="rect">
            <a:avLst/>
          </a:prstGeom>
          <a:noFill/>
        </p:spPr>
        <p:txBody>
          <a:bodyPr wrap="square" rtlCol="0">
            <a:spAutoFit/>
          </a:bodyPr>
          <a:lstStyle/>
          <a:p>
            <a:r>
              <a:rPr lang="en-US" dirty="0">
                <a:solidFill>
                  <a:srgbClr val="C00000"/>
                </a:solidFill>
              </a:rPr>
              <a:t>15</a:t>
            </a:r>
          </a:p>
        </p:txBody>
      </p:sp>
      <p:sp>
        <p:nvSpPr>
          <p:cNvPr id="72" name="TextBox 71"/>
          <p:cNvSpPr txBox="1"/>
          <p:nvPr/>
        </p:nvSpPr>
        <p:spPr>
          <a:xfrm>
            <a:off x="5488013" y="4938896"/>
            <a:ext cx="411796" cy="369332"/>
          </a:xfrm>
          <a:prstGeom prst="rect">
            <a:avLst/>
          </a:prstGeom>
          <a:noFill/>
        </p:spPr>
        <p:txBody>
          <a:bodyPr wrap="square" rtlCol="0">
            <a:spAutoFit/>
          </a:bodyPr>
          <a:lstStyle/>
          <a:p>
            <a:r>
              <a:rPr lang="en-US" dirty="0"/>
              <a:t>16</a:t>
            </a:r>
          </a:p>
        </p:txBody>
      </p:sp>
      <p:sp>
        <p:nvSpPr>
          <p:cNvPr id="73" name="TextBox 72"/>
          <p:cNvSpPr txBox="1"/>
          <p:nvPr/>
        </p:nvSpPr>
        <p:spPr>
          <a:xfrm>
            <a:off x="6290773" y="4955106"/>
            <a:ext cx="411796" cy="369332"/>
          </a:xfrm>
          <a:prstGeom prst="rect">
            <a:avLst/>
          </a:prstGeom>
          <a:noFill/>
        </p:spPr>
        <p:txBody>
          <a:bodyPr wrap="square" rtlCol="0">
            <a:spAutoFit/>
          </a:bodyPr>
          <a:lstStyle/>
          <a:p>
            <a:r>
              <a:rPr lang="en-US" dirty="0">
                <a:solidFill>
                  <a:srgbClr val="C00000"/>
                </a:solidFill>
              </a:rPr>
              <a:t>17</a:t>
            </a:r>
          </a:p>
        </p:txBody>
      </p:sp>
      <p:sp>
        <p:nvSpPr>
          <p:cNvPr id="80" name="TextBox 79"/>
          <p:cNvSpPr txBox="1"/>
          <p:nvPr/>
        </p:nvSpPr>
        <p:spPr>
          <a:xfrm>
            <a:off x="6345845" y="1466111"/>
            <a:ext cx="1381969" cy="542441"/>
          </a:xfrm>
          <a:prstGeom prst="rect">
            <a:avLst/>
          </a:prstGeom>
          <a:noFill/>
          <a:ln w="57150">
            <a:solidFill>
              <a:srgbClr val="FF0000"/>
            </a:solidFill>
          </a:ln>
        </p:spPr>
        <p:txBody>
          <a:bodyPr wrap="square" rtlCol="0">
            <a:spAutoFit/>
          </a:bodyPr>
          <a:lstStyle/>
          <a:p>
            <a:endParaRPr lang="en-IN" dirty="0"/>
          </a:p>
        </p:txBody>
      </p:sp>
      <p:sp>
        <p:nvSpPr>
          <p:cNvPr id="81" name="TextBox 80"/>
          <p:cNvSpPr txBox="1"/>
          <p:nvPr/>
        </p:nvSpPr>
        <p:spPr>
          <a:xfrm>
            <a:off x="1237649" y="1489663"/>
            <a:ext cx="1490790" cy="542441"/>
          </a:xfrm>
          <a:prstGeom prst="rect">
            <a:avLst/>
          </a:prstGeom>
          <a:noFill/>
          <a:ln w="57150">
            <a:solidFill>
              <a:srgbClr val="FF0000"/>
            </a:solidFill>
          </a:ln>
        </p:spPr>
        <p:txBody>
          <a:bodyPr wrap="square" rtlCol="0">
            <a:spAutoFit/>
          </a:bodyPr>
          <a:lstStyle/>
          <a:p>
            <a:endParaRPr lang="en-IN" dirty="0"/>
          </a:p>
        </p:txBody>
      </p:sp>
      <p:sp>
        <p:nvSpPr>
          <p:cNvPr id="82" name="TextBox 81"/>
          <p:cNvSpPr txBox="1"/>
          <p:nvPr/>
        </p:nvSpPr>
        <p:spPr>
          <a:xfrm>
            <a:off x="6345845" y="2028905"/>
            <a:ext cx="1381969" cy="542441"/>
          </a:xfrm>
          <a:prstGeom prst="rect">
            <a:avLst/>
          </a:prstGeom>
          <a:noFill/>
          <a:ln w="57150">
            <a:solidFill>
              <a:srgbClr val="FF0000"/>
            </a:solidFill>
          </a:ln>
        </p:spPr>
        <p:txBody>
          <a:bodyPr wrap="square" rtlCol="0">
            <a:spAutoFit/>
          </a:bodyPr>
          <a:lstStyle/>
          <a:p>
            <a:endParaRPr lang="en-IN" dirty="0"/>
          </a:p>
        </p:txBody>
      </p:sp>
      <p:sp>
        <p:nvSpPr>
          <p:cNvPr id="83" name="TextBox 82"/>
          <p:cNvSpPr txBox="1"/>
          <p:nvPr/>
        </p:nvSpPr>
        <p:spPr>
          <a:xfrm>
            <a:off x="1237649" y="2028905"/>
            <a:ext cx="1490790" cy="542441"/>
          </a:xfrm>
          <a:prstGeom prst="rect">
            <a:avLst/>
          </a:prstGeom>
          <a:noFill/>
          <a:ln w="57150">
            <a:solidFill>
              <a:srgbClr val="FF0000"/>
            </a:solidFill>
          </a:ln>
        </p:spPr>
        <p:txBody>
          <a:bodyPr wrap="square" rtlCol="0">
            <a:spAutoFit/>
          </a:bodyPr>
          <a:lstStyle/>
          <a:p>
            <a:endParaRPr lang="en-IN" dirty="0"/>
          </a:p>
        </p:txBody>
      </p:sp>
      <p:sp>
        <p:nvSpPr>
          <p:cNvPr id="84" name="TextBox 83"/>
          <p:cNvSpPr txBox="1"/>
          <p:nvPr/>
        </p:nvSpPr>
        <p:spPr>
          <a:xfrm>
            <a:off x="6345844" y="2582720"/>
            <a:ext cx="1381969" cy="542441"/>
          </a:xfrm>
          <a:prstGeom prst="rect">
            <a:avLst/>
          </a:prstGeom>
          <a:noFill/>
          <a:ln w="57150">
            <a:solidFill>
              <a:srgbClr val="FF0000"/>
            </a:solidFill>
          </a:ln>
        </p:spPr>
        <p:txBody>
          <a:bodyPr wrap="square" rtlCol="0">
            <a:spAutoFit/>
          </a:bodyPr>
          <a:lstStyle/>
          <a:p>
            <a:endParaRPr lang="en-IN" dirty="0"/>
          </a:p>
        </p:txBody>
      </p:sp>
      <p:sp>
        <p:nvSpPr>
          <p:cNvPr id="85" name="TextBox 84"/>
          <p:cNvSpPr txBox="1"/>
          <p:nvPr/>
        </p:nvSpPr>
        <p:spPr>
          <a:xfrm>
            <a:off x="1237649" y="2568147"/>
            <a:ext cx="1490790" cy="542441"/>
          </a:xfrm>
          <a:prstGeom prst="rect">
            <a:avLst/>
          </a:prstGeom>
          <a:noFill/>
          <a:ln w="57150">
            <a:solidFill>
              <a:srgbClr val="FF0000"/>
            </a:solidFill>
          </a:ln>
        </p:spPr>
        <p:txBody>
          <a:bodyPr wrap="square" rtlCol="0">
            <a:spAutoFit/>
          </a:bodyPr>
          <a:lstStyle/>
          <a:p>
            <a:endParaRPr lang="en-IN" dirty="0"/>
          </a:p>
        </p:txBody>
      </p:sp>
      <p:sp>
        <p:nvSpPr>
          <p:cNvPr id="86" name="TextBox 85"/>
          <p:cNvSpPr txBox="1"/>
          <p:nvPr/>
        </p:nvSpPr>
        <p:spPr>
          <a:xfrm>
            <a:off x="6345843" y="3136535"/>
            <a:ext cx="1381969" cy="542441"/>
          </a:xfrm>
          <a:prstGeom prst="rect">
            <a:avLst/>
          </a:prstGeom>
          <a:noFill/>
          <a:ln w="57150">
            <a:solidFill>
              <a:srgbClr val="FF0000"/>
            </a:solidFill>
          </a:ln>
        </p:spPr>
        <p:txBody>
          <a:bodyPr wrap="square" rtlCol="0">
            <a:spAutoFit/>
          </a:bodyPr>
          <a:lstStyle/>
          <a:p>
            <a:endParaRPr lang="en-IN" dirty="0"/>
          </a:p>
        </p:txBody>
      </p:sp>
      <p:sp>
        <p:nvSpPr>
          <p:cNvPr id="87" name="TextBox 86"/>
          <p:cNvSpPr txBox="1"/>
          <p:nvPr/>
        </p:nvSpPr>
        <p:spPr>
          <a:xfrm>
            <a:off x="1237649" y="3136535"/>
            <a:ext cx="1490790" cy="542441"/>
          </a:xfrm>
          <a:prstGeom prst="rect">
            <a:avLst/>
          </a:prstGeom>
          <a:noFill/>
          <a:ln w="57150">
            <a:solidFill>
              <a:srgbClr val="FF0000"/>
            </a:solidFill>
          </a:ln>
        </p:spPr>
        <p:txBody>
          <a:bodyPr wrap="square" rtlCol="0">
            <a:spAutoFit/>
          </a:bodyPr>
          <a:lstStyle/>
          <a:p>
            <a:endParaRPr lang="en-IN" dirty="0"/>
          </a:p>
        </p:txBody>
      </p:sp>
      <p:sp>
        <p:nvSpPr>
          <p:cNvPr id="97" name="TextBox 96"/>
          <p:cNvSpPr txBox="1"/>
          <p:nvPr/>
        </p:nvSpPr>
        <p:spPr>
          <a:xfrm>
            <a:off x="461493" y="5496068"/>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Turnaround Time </a:t>
            </a:r>
            <a:r>
              <a:rPr lang="en-US" sz="2000" dirty="0"/>
              <a:t>= Sum of all Process’s Turn Around Time/ Total Process</a:t>
            </a:r>
          </a:p>
          <a:p>
            <a:r>
              <a:rPr lang="en-US" sz="2000" dirty="0"/>
              <a:t>                                                    = (15+8+9+12)/4 </a:t>
            </a:r>
          </a:p>
          <a:p>
            <a:r>
              <a:rPr lang="en-US" sz="2000" dirty="0"/>
              <a:t>                                                    = 11 </a:t>
            </a:r>
            <a:r>
              <a:rPr lang="en-US" sz="2000" dirty="0" err="1"/>
              <a:t>ms.</a:t>
            </a:r>
            <a:endParaRPr lang="en-US" sz="2000" dirty="0"/>
          </a:p>
        </p:txBody>
      </p:sp>
      <p:sp>
        <p:nvSpPr>
          <p:cNvPr id="62" name="TextBox 61"/>
          <p:cNvSpPr txBox="1"/>
          <p:nvPr/>
        </p:nvSpPr>
        <p:spPr>
          <a:xfrm>
            <a:off x="7727812" y="1471269"/>
            <a:ext cx="2049246" cy="2222902"/>
          </a:xfrm>
          <a:prstGeom prst="rect">
            <a:avLst/>
          </a:prstGeom>
          <a:noFill/>
          <a:ln w="57150">
            <a:solidFill>
              <a:srgbClr val="FF0000"/>
            </a:solidFill>
          </a:ln>
        </p:spPr>
        <p:txBody>
          <a:bodyPr wrap="square" rtlCol="0">
            <a:spAutoFit/>
          </a:bodyPr>
          <a:lstStyle/>
          <a:p>
            <a:endParaRPr lang="en-IN" dirty="0"/>
          </a:p>
        </p:txBody>
      </p:sp>
      <p:sp>
        <p:nvSpPr>
          <p:cNvPr id="45" name="TextBox 44">
            <a:extLst>
              <a:ext uri="{FF2B5EF4-FFF2-40B4-BE49-F238E27FC236}">
                <a16:creationId xmlns:a16="http://schemas.microsoft.com/office/drawing/2014/main" id="{31A08CF8-D934-4343-BFAC-E8967B370201}"/>
              </a:ext>
            </a:extLst>
          </p:cNvPr>
          <p:cNvSpPr txBox="1"/>
          <p:nvPr/>
        </p:nvSpPr>
        <p:spPr>
          <a:xfrm>
            <a:off x="2840400" y="4976945"/>
            <a:ext cx="428691" cy="346397"/>
          </a:xfrm>
          <a:prstGeom prst="rect">
            <a:avLst/>
          </a:prstGeom>
          <a:noFill/>
          <a:ln w="57150">
            <a:solidFill>
              <a:srgbClr val="FF0000"/>
            </a:solidFill>
          </a:ln>
        </p:spPr>
        <p:txBody>
          <a:bodyPr wrap="square" rtlCol="0">
            <a:spAutoFit/>
          </a:bodyPr>
          <a:lstStyle/>
          <a:p>
            <a:endParaRPr lang="en-IN" dirty="0"/>
          </a:p>
        </p:txBody>
      </p:sp>
      <p:sp>
        <p:nvSpPr>
          <p:cNvPr id="46" name="TextBox 45">
            <a:extLst>
              <a:ext uri="{FF2B5EF4-FFF2-40B4-BE49-F238E27FC236}">
                <a16:creationId xmlns:a16="http://schemas.microsoft.com/office/drawing/2014/main" id="{E9DE4BFB-6324-4D99-9E5B-13F2A390EC25}"/>
              </a:ext>
            </a:extLst>
          </p:cNvPr>
          <p:cNvSpPr txBox="1"/>
          <p:nvPr/>
        </p:nvSpPr>
        <p:spPr>
          <a:xfrm>
            <a:off x="3977869" y="4961640"/>
            <a:ext cx="428691" cy="346397"/>
          </a:xfrm>
          <a:prstGeom prst="rect">
            <a:avLst/>
          </a:prstGeom>
          <a:noFill/>
          <a:ln w="57150">
            <a:solidFill>
              <a:srgbClr val="FF0000"/>
            </a:solidFill>
          </a:ln>
        </p:spPr>
        <p:txBody>
          <a:bodyPr wrap="square" rtlCol="0">
            <a:spAutoFit/>
          </a:bodyPr>
          <a:lstStyle/>
          <a:p>
            <a:endParaRPr lang="en-IN" dirty="0"/>
          </a:p>
        </p:txBody>
      </p:sp>
      <p:sp>
        <p:nvSpPr>
          <p:cNvPr id="47" name="TextBox 46">
            <a:extLst>
              <a:ext uri="{FF2B5EF4-FFF2-40B4-BE49-F238E27FC236}">
                <a16:creationId xmlns:a16="http://schemas.microsoft.com/office/drawing/2014/main" id="{C06E0FCB-946E-4914-B3B6-C092971EBBB9}"/>
              </a:ext>
            </a:extLst>
          </p:cNvPr>
          <p:cNvSpPr txBox="1"/>
          <p:nvPr/>
        </p:nvSpPr>
        <p:spPr>
          <a:xfrm>
            <a:off x="5142533" y="4974133"/>
            <a:ext cx="428691" cy="346397"/>
          </a:xfrm>
          <a:prstGeom prst="rect">
            <a:avLst/>
          </a:prstGeom>
          <a:noFill/>
          <a:ln w="57150">
            <a:solidFill>
              <a:srgbClr val="FF0000"/>
            </a:solidFill>
          </a:ln>
        </p:spPr>
        <p:txBody>
          <a:bodyPr wrap="square" rtlCol="0">
            <a:spAutoFit/>
          </a:bodyPr>
          <a:lstStyle/>
          <a:p>
            <a:endParaRPr lang="en-IN" dirty="0"/>
          </a:p>
        </p:txBody>
      </p:sp>
      <p:sp>
        <p:nvSpPr>
          <p:cNvPr id="49" name="TextBox 48">
            <a:extLst>
              <a:ext uri="{FF2B5EF4-FFF2-40B4-BE49-F238E27FC236}">
                <a16:creationId xmlns:a16="http://schemas.microsoft.com/office/drawing/2014/main" id="{BBECCC0D-31E4-4A8D-9C49-5E600A50F5D4}"/>
              </a:ext>
            </a:extLst>
          </p:cNvPr>
          <p:cNvSpPr txBox="1"/>
          <p:nvPr/>
        </p:nvSpPr>
        <p:spPr>
          <a:xfrm>
            <a:off x="6292742" y="4956146"/>
            <a:ext cx="428691" cy="346397"/>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1013065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26" presetClass="emph" presetSubtype="0" repeatCount="indefinite" fill="hold" grpId="1" nodeType="withEffect">
                                  <p:stCondLst>
                                    <p:cond delay="0"/>
                                  </p:stCondLst>
                                  <p:endCondLst>
                                    <p:cond evt="onNext" delay="0">
                                      <p:tgtEl>
                                        <p:sldTgt/>
                                      </p:tgtEl>
                                    </p:cond>
                                  </p:endCondLst>
                                  <p:childTnLst>
                                    <p:animEffect transition="out" filter="fade">
                                      <p:cBhvr>
                                        <p:cTn id="16" dur="500" tmFilter="0, 0; .2, .5; .8, .5; 1, 0"/>
                                        <p:tgtEl>
                                          <p:spTgt spid="47"/>
                                        </p:tgtEl>
                                      </p:cBhvr>
                                    </p:animEffect>
                                    <p:animScale>
                                      <p:cBhvr>
                                        <p:cTn id="17" dur="250" autoRev="1" fill="hold"/>
                                        <p:tgtEl>
                                          <p:spTgt spid="47"/>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67"/>
                                        </p:tgtEl>
                                        <p:attrNameLst>
                                          <p:attrName>style.visibility</p:attrName>
                                        </p:attrNameLst>
                                      </p:cBhvr>
                                      <p:to>
                                        <p:strVal val="visible"/>
                                      </p:to>
                                    </p:set>
                                  </p:childTnLst>
                                </p:cTn>
                              </p:par>
                              <p:par>
                                <p:cTn id="24" presetID="1" presetClass="exit" presetSubtype="0" fill="hold" grpId="2" nodeType="withEffect">
                                  <p:stCondLst>
                                    <p:cond delay="0"/>
                                  </p:stCondLst>
                                  <p:childTnLst>
                                    <p:set>
                                      <p:cBhvr>
                                        <p:cTn id="25" dur="1" fill="hold">
                                          <p:stCondLst>
                                            <p:cond delay="0"/>
                                          </p:stCondLst>
                                        </p:cTn>
                                        <p:tgtEl>
                                          <p:spTgt spid="47"/>
                                        </p:tgtEl>
                                        <p:attrNameLst>
                                          <p:attrName>style.visibility</p:attrName>
                                        </p:attrNameLst>
                                      </p:cBhvr>
                                      <p:to>
                                        <p:strVal val="hidden"/>
                                      </p:to>
                                    </p:set>
                                  </p:childTnLst>
                                </p:cTn>
                              </p:par>
                              <p:par>
                                <p:cTn id="26" presetID="1" presetClass="entr" presetSubtype="0" fill="hold" grpId="0" nodeType="withEffect">
                                  <p:stCondLst>
                                    <p:cond delay="0"/>
                                  </p:stCondLst>
                                  <p:childTnLst>
                                    <p:set>
                                      <p:cBhvr>
                                        <p:cTn id="27" dur="1" fill="hold">
                                          <p:stCondLst>
                                            <p:cond delay="0"/>
                                          </p:stCondLst>
                                        </p:cTn>
                                        <p:tgtEl>
                                          <p:spTgt spid="45"/>
                                        </p:tgtEl>
                                        <p:attrNameLst>
                                          <p:attrName>style.visibility</p:attrName>
                                        </p:attrNameLst>
                                      </p:cBhvr>
                                      <p:to>
                                        <p:strVal val="visible"/>
                                      </p:to>
                                    </p:set>
                                  </p:childTnLst>
                                </p:cTn>
                              </p:par>
                              <p:par>
                                <p:cTn id="28" presetID="26" presetClass="emph" presetSubtype="0" repeatCount="indefinite" fill="hold" grpId="1" nodeType="withEffect">
                                  <p:stCondLst>
                                    <p:cond delay="0"/>
                                  </p:stCondLst>
                                  <p:endCondLst>
                                    <p:cond evt="onNext" delay="0">
                                      <p:tgtEl>
                                        <p:sldTgt/>
                                      </p:tgtEl>
                                    </p:cond>
                                  </p:endCondLst>
                                  <p:childTnLst>
                                    <p:animEffect transition="out" filter="fade">
                                      <p:cBhvr>
                                        <p:cTn id="29" dur="500" tmFilter="0, 0; .2, .5; .8, .5; 1, 0"/>
                                        <p:tgtEl>
                                          <p:spTgt spid="45"/>
                                        </p:tgtEl>
                                      </p:cBhvr>
                                    </p:animEffect>
                                    <p:animScale>
                                      <p:cBhvr>
                                        <p:cTn id="30" dur="250" autoRev="1" fill="hold"/>
                                        <p:tgtEl>
                                          <p:spTgt spid="45"/>
                                        </p:tgtEl>
                                      </p:cBhvr>
                                      <p:by x="105000" y="105000"/>
                                    </p:animScale>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9"/>
                                        </p:tgtEl>
                                        <p:attrNameLst>
                                          <p:attrName>style.visibility</p:attrName>
                                        </p:attrNameLst>
                                      </p:cBhvr>
                                      <p:to>
                                        <p:strVal val="visible"/>
                                      </p:to>
                                    </p:set>
                                  </p:childTnLst>
                                </p:cTn>
                              </p:par>
                              <p:par>
                                <p:cTn id="37" presetID="1" presetClass="exit" presetSubtype="0" fill="hold" grpId="2" nodeType="withEffect">
                                  <p:stCondLst>
                                    <p:cond delay="0"/>
                                  </p:stCondLst>
                                  <p:childTnLst>
                                    <p:set>
                                      <p:cBhvr>
                                        <p:cTn id="38" dur="1" fill="hold">
                                          <p:stCondLst>
                                            <p:cond delay="0"/>
                                          </p:stCondLst>
                                        </p:cTn>
                                        <p:tgtEl>
                                          <p:spTgt spid="45"/>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childTnLst>
                                </p:cTn>
                              </p:par>
                              <p:par>
                                <p:cTn id="41" presetID="26" presetClass="emph" presetSubtype="0" repeatCount="indefinite" fill="hold" grpId="1" nodeType="withEffect">
                                  <p:stCondLst>
                                    <p:cond delay="0"/>
                                  </p:stCondLst>
                                  <p:endCondLst>
                                    <p:cond evt="onNext" delay="0">
                                      <p:tgtEl>
                                        <p:sldTgt/>
                                      </p:tgtEl>
                                    </p:cond>
                                  </p:endCondLst>
                                  <p:childTnLst>
                                    <p:animEffect transition="out" filter="fade">
                                      <p:cBhvr>
                                        <p:cTn id="42" dur="500" tmFilter="0, 0; .2, .5; .8, .5; 1, 0"/>
                                        <p:tgtEl>
                                          <p:spTgt spid="46"/>
                                        </p:tgtEl>
                                      </p:cBhvr>
                                    </p:animEffect>
                                    <p:animScale>
                                      <p:cBhvr>
                                        <p:cTn id="43" dur="250" autoRev="1" fill="hold"/>
                                        <p:tgtEl>
                                          <p:spTgt spid="46"/>
                                        </p:tgtEl>
                                      </p:cBhvr>
                                      <p:by x="105000" y="105000"/>
                                    </p:animScale>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7"/>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73"/>
                                        </p:tgtEl>
                                        <p:attrNameLst>
                                          <p:attrName>style.visibility</p:attrName>
                                        </p:attrNameLst>
                                      </p:cBhvr>
                                      <p:to>
                                        <p:strVal val="visible"/>
                                      </p:to>
                                    </p:set>
                                  </p:childTnLst>
                                </p:cTn>
                              </p:par>
                              <p:par>
                                <p:cTn id="50" presetID="1" presetClass="exit" presetSubtype="0" fill="hold" grpId="2" nodeType="withEffect">
                                  <p:stCondLst>
                                    <p:cond delay="0"/>
                                  </p:stCondLst>
                                  <p:childTnLst>
                                    <p:set>
                                      <p:cBhvr>
                                        <p:cTn id="51" dur="1" fill="hold">
                                          <p:stCondLst>
                                            <p:cond delay="0"/>
                                          </p:stCondLst>
                                        </p:cTn>
                                        <p:tgtEl>
                                          <p:spTgt spid="46"/>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49"/>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49"/>
                                        </p:tgtEl>
                                      </p:cBhvr>
                                    </p:animEffect>
                                    <p:animScale>
                                      <p:cBhvr>
                                        <p:cTn id="56" dur="250" autoRev="1" fill="hold"/>
                                        <p:tgtEl>
                                          <p:spTgt spid="49"/>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4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0"/>
                                        </p:tgtEl>
                                        <p:attrNameLst>
                                          <p:attrName>style.visibility</p:attrName>
                                        </p:attrNameLst>
                                      </p:cBhvr>
                                      <p:to>
                                        <p:strVal val="visible"/>
                                      </p:to>
                                    </p:set>
                                  </p:childTnLst>
                                </p:cTn>
                              </p:par>
                              <p:par>
                                <p:cTn id="69" presetID="26" presetClass="emph" presetSubtype="0" repeatCount="indefinite" fill="hold" grpId="1" nodeType="withEffect">
                                  <p:stCondLst>
                                    <p:cond delay="0"/>
                                  </p:stCondLst>
                                  <p:endCondLst>
                                    <p:cond evt="onNext" delay="0">
                                      <p:tgtEl>
                                        <p:sldTgt/>
                                      </p:tgtEl>
                                    </p:cond>
                                  </p:endCondLst>
                                  <p:childTnLst>
                                    <p:animEffect transition="out" filter="fade">
                                      <p:cBhvr>
                                        <p:cTn id="70" dur="500" tmFilter="0, 0; .2, .5; .8, .5; 1, 0"/>
                                        <p:tgtEl>
                                          <p:spTgt spid="80"/>
                                        </p:tgtEl>
                                      </p:cBhvr>
                                    </p:animEffect>
                                    <p:animScale>
                                      <p:cBhvr>
                                        <p:cTn id="71" dur="250" autoRev="1" fill="hold"/>
                                        <p:tgtEl>
                                          <p:spTgt spid="80"/>
                                        </p:tgtEl>
                                      </p:cBhvr>
                                      <p:by x="105000" y="105000"/>
                                    </p:animScale>
                                  </p:childTnLst>
                                </p:cTn>
                              </p:par>
                              <p:par>
                                <p:cTn id="72" presetID="1" presetClass="entr" presetSubtype="0" fill="hold" grpId="0" nodeType="withEffect">
                                  <p:stCondLst>
                                    <p:cond delay="0"/>
                                  </p:stCondLst>
                                  <p:childTnLst>
                                    <p:set>
                                      <p:cBhvr>
                                        <p:cTn id="73" dur="1" fill="hold">
                                          <p:stCondLst>
                                            <p:cond delay="0"/>
                                          </p:stCondLst>
                                        </p:cTn>
                                        <p:tgtEl>
                                          <p:spTgt spid="81"/>
                                        </p:tgtEl>
                                        <p:attrNameLst>
                                          <p:attrName>style.visibility</p:attrName>
                                        </p:attrNameLst>
                                      </p:cBhvr>
                                      <p:to>
                                        <p:strVal val="visible"/>
                                      </p:to>
                                    </p:set>
                                  </p:childTnLst>
                                </p:cTn>
                              </p:par>
                              <p:par>
                                <p:cTn id="74" presetID="26" presetClass="emph" presetSubtype="0" repeatCount="indefinite" fill="hold" grpId="1" nodeType="withEffect">
                                  <p:stCondLst>
                                    <p:cond delay="0"/>
                                  </p:stCondLst>
                                  <p:endCondLst>
                                    <p:cond evt="onNext" delay="0">
                                      <p:tgtEl>
                                        <p:sldTgt/>
                                      </p:tgtEl>
                                    </p:cond>
                                  </p:endCondLst>
                                  <p:childTnLst>
                                    <p:animEffect transition="out" filter="fade">
                                      <p:cBhvr>
                                        <p:cTn id="75" dur="500" tmFilter="0, 0; .2, .5; .8, .5; 1, 0"/>
                                        <p:tgtEl>
                                          <p:spTgt spid="81"/>
                                        </p:tgtEl>
                                      </p:cBhvr>
                                    </p:animEffect>
                                    <p:animScale>
                                      <p:cBhvr>
                                        <p:cTn id="76" dur="250" autoRev="1" fill="hold"/>
                                        <p:tgtEl>
                                          <p:spTgt spid="81"/>
                                        </p:tgtEl>
                                      </p:cBhvr>
                                      <p:by x="105000" y="105000"/>
                                    </p:animScale>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childTnLst>
                                </p:cTn>
                              </p:par>
                              <p:par>
                                <p:cTn id="81" presetID="1" presetClass="exit" presetSubtype="0" fill="hold" grpId="2" nodeType="withEffect">
                                  <p:stCondLst>
                                    <p:cond delay="0"/>
                                  </p:stCondLst>
                                  <p:childTnLst>
                                    <p:set>
                                      <p:cBhvr>
                                        <p:cTn id="82" dur="1" fill="hold">
                                          <p:stCondLst>
                                            <p:cond delay="0"/>
                                          </p:stCondLst>
                                        </p:cTn>
                                        <p:tgtEl>
                                          <p:spTgt spid="80"/>
                                        </p:tgtEl>
                                        <p:attrNameLst>
                                          <p:attrName>style.visibility</p:attrName>
                                        </p:attrNameLst>
                                      </p:cBhvr>
                                      <p:to>
                                        <p:strVal val="hidden"/>
                                      </p:to>
                                    </p:set>
                                  </p:childTnLst>
                                </p:cTn>
                              </p:par>
                              <p:par>
                                <p:cTn id="83" presetID="1" presetClass="exit" presetSubtype="0" fill="hold" grpId="2" nodeType="withEffect">
                                  <p:stCondLst>
                                    <p:cond delay="0"/>
                                  </p:stCondLst>
                                  <p:childTnLst>
                                    <p:set>
                                      <p:cBhvr>
                                        <p:cTn id="84" dur="1" fill="hold">
                                          <p:stCondLst>
                                            <p:cond delay="0"/>
                                          </p:stCondLst>
                                        </p:cTn>
                                        <p:tgtEl>
                                          <p:spTgt spid="81"/>
                                        </p:tgtEl>
                                        <p:attrNameLst>
                                          <p:attrName>style.visibility</p:attrName>
                                        </p:attrNameLst>
                                      </p:cBhvr>
                                      <p:to>
                                        <p:strVal val="hidden"/>
                                      </p:to>
                                    </p:set>
                                  </p:childTnLst>
                                </p:cTn>
                              </p:par>
                              <p:par>
                                <p:cTn id="85" presetID="1" presetClass="entr" presetSubtype="0" fill="hold" grpId="0" nodeType="withEffect">
                                  <p:stCondLst>
                                    <p:cond delay="0"/>
                                  </p:stCondLst>
                                  <p:childTnLst>
                                    <p:set>
                                      <p:cBhvr>
                                        <p:cTn id="86" dur="1" fill="hold">
                                          <p:stCondLst>
                                            <p:cond delay="0"/>
                                          </p:stCondLst>
                                        </p:cTn>
                                        <p:tgtEl>
                                          <p:spTgt spid="82"/>
                                        </p:tgtEl>
                                        <p:attrNameLst>
                                          <p:attrName>style.visibility</p:attrName>
                                        </p:attrNameLst>
                                      </p:cBhvr>
                                      <p:to>
                                        <p:strVal val="visible"/>
                                      </p:to>
                                    </p:set>
                                  </p:childTnLst>
                                </p:cTn>
                              </p:par>
                              <p:par>
                                <p:cTn id="87" presetID="26" presetClass="emph" presetSubtype="0" repeatCount="indefinite" fill="hold" grpId="1" nodeType="withEffect">
                                  <p:stCondLst>
                                    <p:cond delay="0"/>
                                  </p:stCondLst>
                                  <p:endCondLst>
                                    <p:cond evt="onNext" delay="0">
                                      <p:tgtEl>
                                        <p:sldTgt/>
                                      </p:tgtEl>
                                    </p:cond>
                                  </p:endCondLst>
                                  <p:childTnLst>
                                    <p:animEffect transition="out" filter="fade">
                                      <p:cBhvr>
                                        <p:cTn id="88" dur="500" tmFilter="0, 0; .2, .5; .8, .5; 1, 0"/>
                                        <p:tgtEl>
                                          <p:spTgt spid="82"/>
                                        </p:tgtEl>
                                      </p:cBhvr>
                                    </p:animEffect>
                                    <p:animScale>
                                      <p:cBhvr>
                                        <p:cTn id="89" dur="250" autoRev="1" fill="hold"/>
                                        <p:tgtEl>
                                          <p:spTgt spid="82"/>
                                        </p:tgtEl>
                                      </p:cBhvr>
                                      <p:by x="105000" y="105000"/>
                                    </p:animScale>
                                  </p:childTnLst>
                                </p:cTn>
                              </p:par>
                              <p:par>
                                <p:cTn id="90" presetID="1" presetClass="entr" presetSubtype="0" fill="hold" grpId="0" nodeType="withEffect">
                                  <p:stCondLst>
                                    <p:cond delay="0"/>
                                  </p:stCondLst>
                                  <p:childTnLst>
                                    <p:set>
                                      <p:cBhvr>
                                        <p:cTn id="91" dur="1" fill="hold">
                                          <p:stCondLst>
                                            <p:cond delay="0"/>
                                          </p:stCondLst>
                                        </p:cTn>
                                        <p:tgtEl>
                                          <p:spTgt spid="83"/>
                                        </p:tgtEl>
                                        <p:attrNameLst>
                                          <p:attrName>style.visibility</p:attrName>
                                        </p:attrNameLst>
                                      </p:cBhvr>
                                      <p:to>
                                        <p:strVal val="visible"/>
                                      </p:to>
                                    </p:set>
                                  </p:childTnLst>
                                </p:cTn>
                              </p:par>
                              <p:par>
                                <p:cTn id="92" presetID="26" presetClass="emph" presetSubtype="0" repeatCount="indefinite" fill="hold" grpId="1" nodeType="withEffect">
                                  <p:stCondLst>
                                    <p:cond delay="0"/>
                                  </p:stCondLst>
                                  <p:endCondLst>
                                    <p:cond evt="onNext" delay="0">
                                      <p:tgtEl>
                                        <p:sldTgt/>
                                      </p:tgtEl>
                                    </p:cond>
                                  </p:endCondLst>
                                  <p:childTnLst>
                                    <p:animEffect transition="out" filter="fade">
                                      <p:cBhvr>
                                        <p:cTn id="93" dur="500" tmFilter="0, 0; .2, .5; .8, .5; 1, 0"/>
                                        <p:tgtEl>
                                          <p:spTgt spid="83"/>
                                        </p:tgtEl>
                                      </p:cBhvr>
                                    </p:animEffect>
                                    <p:animScale>
                                      <p:cBhvr>
                                        <p:cTn id="94" dur="250" autoRev="1" fill="hold"/>
                                        <p:tgtEl>
                                          <p:spTgt spid="83"/>
                                        </p:tgtEl>
                                      </p:cBhvr>
                                      <p:by x="105000" y="105000"/>
                                    </p:animScale>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9"/>
                                        </p:tgtEl>
                                        <p:attrNameLst>
                                          <p:attrName>style.visibility</p:attrName>
                                        </p:attrNameLst>
                                      </p:cBhvr>
                                      <p:to>
                                        <p:strVal val="visible"/>
                                      </p:to>
                                    </p:set>
                                  </p:childTnLst>
                                </p:cTn>
                              </p:par>
                              <p:par>
                                <p:cTn id="99" presetID="1" presetClass="exit" presetSubtype="0" fill="hold" grpId="2" nodeType="withEffect">
                                  <p:stCondLst>
                                    <p:cond delay="0"/>
                                  </p:stCondLst>
                                  <p:childTnLst>
                                    <p:set>
                                      <p:cBhvr>
                                        <p:cTn id="100" dur="1" fill="hold">
                                          <p:stCondLst>
                                            <p:cond delay="0"/>
                                          </p:stCondLst>
                                        </p:cTn>
                                        <p:tgtEl>
                                          <p:spTgt spid="82"/>
                                        </p:tgtEl>
                                        <p:attrNameLst>
                                          <p:attrName>style.visibility</p:attrName>
                                        </p:attrNameLst>
                                      </p:cBhvr>
                                      <p:to>
                                        <p:strVal val="hidden"/>
                                      </p:to>
                                    </p:set>
                                  </p:childTnLst>
                                </p:cTn>
                              </p:par>
                              <p:par>
                                <p:cTn id="101" presetID="1" presetClass="exit" presetSubtype="0" fill="hold" grpId="2" nodeType="withEffect">
                                  <p:stCondLst>
                                    <p:cond delay="0"/>
                                  </p:stCondLst>
                                  <p:childTnLst>
                                    <p:set>
                                      <p:cBhvr>
                                        <p:cTn id="102" dur="1" fill="hold">
                                          <p:stCondLst>
                                            <p:cond delay="0"/>
                                          </p:stCondLst>
                                        </p:cTn>
                                        <p:tgtEl>
                                          <p:spTgt spid="83"/>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84"/>
                                        </p:tgtEl>
                                        <p:attrNameLst>
                                          <p:attrName>style.visibility</p:attrName>
                                        </p:attrNameLst>
                                      </p:cBhvr>
                                      <p:to>
                                        <p:strVal val="visible"/>
                                      </p:to>
                                    </p:set>
                                  </p:childTnLst>
                                </p:cTn>
                              </p:par>
                              <p:par>
                                <p:cTn id="105" presetID="26" presetClass="emph" presetSubtype="0" repeatCount="indefinite" fill="hold" grpId="1" nodeType="withEffect">
                                  <p:stCondLst>
                                    <p:cond delay="0"/>
                                  </p:stCondLst>
                                  <p:endCondLst>
                                    <p:cond evt="onNext" delay="0">
                                      <p:tgtEl>
                                        <p:sldTgt/>
                                      </p:tgtEl>
                                    </p:cond>
                                  </p:endCondLst>
                                  <p:childTnLst>
                                    <p:animEffect transition="out" filter="fade">
                                      <p:cBhvr>
                                        <p:cTn id="106" dur="500" tmFilter="0, 0; .2, .5; .8, .5; 1, 0"/>
                                        <p:tgtEl>
                                          <p:spTgt spid="84"/>
                                        </p:tgtEl>
                                      </p:cBhvr>
                                    </p:animEffect>
                                    <p:animScale>
                                      <p:cBhvr>
                                        <p:cTn id="107" dur="250" autoRev="1" fill="hold"/>
                                        <p:tgtEl>
                                          <p:spTgt spid="84"/>
                                        </p:tgtEl>
                                      </p:cBhvr>
                                      <p:by x="105000" y="105000"/>
                                    </p:animScale>
                                  </p:childTnLst>
                                </p:cTn>
                              </p:par>
                              <p:par>
                                <p:cTn id="108" presetID="1" presetClass="entr" presetSubtype="0" fill="hold" grpId="0" nodeType="withEffect">
                                  <p:stCondLst>
                                    <p:cond delay="0"/>
                                  </p:stCondLst>
                                  <p:childTnLst>
                                    <p:set>
                                      <p:cBhvr>
                                        <p:cTn id="109" dur="1" fill="hold">
                                          <p:stCondLst>
                                            <p:cond delay="0"/>
                                          </p:stCondLst>
                                        </p:cTn>
                                        <p:tgtEl>
                                          <p:spTgt spid="85"/>
                                        </p:tgtEl>
                                        <p:attrNameLst>
                                          <p:attrName>style.visibility</p:attrName>
                                        </p:attrNameLst>
                                      </p:cBhvr>
                                      <p:to>
                                        <p:strVal val="visible"/>
                                      </p:to>
                                    </p:set>
                                  </p:childTnLst>
                                </p:cTn>
                              </p:par>
                              <p:par>
                                <p:cTn id="110" presetID="26" presetClass="emph" presetSubtype="0" repeatCount="indefinite" fill="hold" grpId="1" nodeType="withEffect">
                                  <p:stCondLst>
                                    <p:cond delay="0"/>
                                  </p:stCondLst>
                                  <p:endCondLst>
                                    <p:cond evt="onNext" delay="0">
                                      <p:tgtEl>
                                        <p:sldTgt/>
                                      </p:tgtEl>
                                    </p:cond>
                                  </p:endCondLst>
                                  <p:childTnLst>
                                    <p:animEffect transition="out" filter="fade">
                                      <p:cBhvr>
                                        <p:cTn id="111" dur="500" tmFilter="0, 0; .2, .5; .8, .5; 1, 0"/>
                                        <p:tgtEl>
                                          <p:spTgt spid="85"/>
                                        </p:tgtEl>
                                      </p:cBhvr>
                                    </p:animEffect>
                                    <p:animScale>
                                      <p:cBhvr>
                                        <p:cTn id="112" dur="250" autoRev="1" fill="hold"/>
                                        <p:tgtEl>
                                          <p:spTgt spid="85"/>
                                        </p:tgtEl>
                                      </p:cBhvr>
                                      <p:by x="105000" y="105000"/>
                                    </p:animScale>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40"/>
                                        </p:tgtEl>
                                        <p:attrNameLst>
                                          <p:attrName>style.visibility</p:attrName>
                                        </p:attrNameLst>
                                      </p:cBhvr>
                                      <p:to>
                                        <p:strVal val="visible"/>
                                      </p:to>
                                    </p:set>
                                  </p:childTnLst>
                                </p:cTn>
                              </p:par>
                              <p:par>
                                <p:cTn id="117" presetID="1" presetClass="exit" presetSubtype="0" fill="hold" grpId="2" nodeType="withEffect">
                                  <p:stCondLst>
                                    <p:cond delay="0"/>
                                  </p:stCondLst>
                                  <p:childTnLst>
                                    <p:set>
                                      <p:cBhvr>
                                        <p:cTn id="118" dur="1" fill="hold">
                                          <p:stCondLst>
                                            <p:cond delay="0"/>
                                          </p:stCondLst>
                                        </p:cTn>
                                        <p:tgtEl>
                                          <p:spTgt spid="84"/>
                                        </p:tgtEl>
                                        <p:attrNameLst>
                                          <p:attrName>style.visibility</p:attrName>
                                        </p:attrNameLst>
                                      </p:cBhvr>
                                      <p:to>
                                        <p:strVal val="hidden"/>
                                      </p:to>
                                    </p:set>
                                  </p:childTnLst>
                                </p:cTn>
                              </p:par>
                              <p:par>
                                <p:cTn id="119" presetID="1" presetClass="exit" presetSubtype="0" fill="hold" grpId="2" nodeType="withEffect">
                                  <p:stCondLst>
                                    <p:cond delay="0"/>
                                  </p:stCondLst>
                                  <p:childTnLst>
                                    <p:set>
                                      <p:cBhvr>
                                        <p:cTn id="120" dur="1" fill="hold">
                                          <p:stCondLst>
                                            <p:cond delay="0"/>
                                          </p:stCondLst>
                                        </p:cTn>
                                        <p:tgtEl>
                                          <p:spTgt spid="85"/>
                                        </p:tgtEl>
                                        <p:attrNameLst>
                                          <p:attrName>style.visibility</p:attrName>
                                        </p:attrNameLst>
                                      </p:cBhvr>
                                      <p:to>
                                        <p:strVal val="hidden"/>
                                      </p:to>
                                    </p:set>
                                  </p:childTnLst>
                                </p:cTn>
                              </p:par>
                              <p:par>
                                <p:cTn id="121" presetID="1" presetClass="entr" presetSubtype="0" fill="hold" grpId="0" nodeType="withEffect">
                                  <p:stCondLst>
                                    <p:cond delay="0"/>
                                  </p:stCondLst>
                                  <p:childTnLst>
                                    <p:set>
                                      <p:cBhvr>
                                        <p:cTn id="122" dur="1" fill="hold">
                                          <p:stCondLst>
                                            <p:cond delay="0"/>
                                          </p:stCondLst>
                                        </p:cTn>
                                        <p:tgtEl>
                                          <p:spTgt spid="86"/>
                                        </p:tgtEl>
                                        <p:attrNameLst>
                                          <p:attrName>style.visibility</p:attrName>
                                        </p:attrNameLst>
                                      </p:cBhvr>
                                      <p:to>
                                        <p:strVal val="visible"/>
                                      </p:to>
                                    </p:set>
                                  </p:childTnLst>
                                </p:cTn>
                              </p:par>
                              <p:par>
                                <p:cTn id="123" presetID="26" presetClass="emph" presetSubtype="0" repeatCount="indefinite" fill="hold" grpId="1" nodeType="withEffect">
                                  <p:stCondLst>
                                    <p:cond delay="0"/>
                                  </p:stCondLst>
                                  <p:endCondLst>
                                    <p:cond evt="onNext" delay="0">
                                      <p:tgtEl>
                                        <p:sldTgt/>
                                      </p:tgtEl>
                                    </p:cond>
                                  </p:endCondLst>
                                  <p:childTnLst>
                                    <p:animEffect transition="out" filter="fade">
                                      <p:cBhvr>
                                        <p:cTn id="124" dur="500" tmFilter="0, 0; .2, .5; .8, .5; 1, 0"/>
                                        <p:tgtEl>
                                          <p:spTgt spid="86"/>
                                        </p:tgtEl>
                                      </p:cBhvr>
                                    </p:animEffect>
                                    <p:animScale>
                                      <p:cBhvr>
                                        <p:cTn id="125" dur="250" autoRev="1" fill="hold"/>
                                        <p:tgtEl>
                                          <p:spTgt spid="86"/>
                                        </p:tgtEl>
                                      </p:cBhvr>
                                      <p:by x="105000" y="105000"/>
                                    </p:animScale>
                                  </p:childTnLst>
                                </p:cTn>
                              </p:par>
                              <p:par>
                                <p:cTn id="126" presetID="1" presetClass="entr" presetSubtype="0" fill="hold" grpId="0" nodeType="withEffect">
                                  <p:stCondLst>
                                    <p:cond delay="0"/>
                                  </p:stCondLst>
                                  <p:childTnLst>
                                    <p:set>
                                      <p:cBhvr>
                                        <p:cTn id="127" dur="1" fill="hold">
                                          <p:stCondLst>
                                            <p:cond delay="0"/>
                                          </p:stCondLst>
                                        </p:cTn>
                                        <p:tgtEl>
                                          <p:spTgt spid="87"/>
                                        </p:tgtEl>
                                        <p:attrNameLst>
                                          <p:attrName>style.visibility</p:attrName>
                                        </p:attrNameLst>
                                      </p:cBhvr>
                                      <p:to>
                                        <p:strVal val="visible"/>
                                      </p:to>
                                    </p:set>
                                  </p:childTnLst>
                                </p:cTn>
                              </p:par>
                              <p:par>
                                <p:cTn id="128" presetID="26" presetClass="emph" presetSubtype="0" repeatCount="indefinite" fill="hold" grpId="1" nodeType="withEffect">
                                  <p:stCondLst>
                                    <p:cond delay="0"/>
                                  </p:stCondLst>
                                  <p:endCondLst>
                                    <p:cond evt="onNext" delay="0">
                                      <p:tgtEl>
                                        <p:sldTgt/>
                                      </p:tgtEl>
                                    </p:cond>
                                  </p:endCondLst>
                                  <p:childTnLst>
                                    <p:animEffect transition="out" filter="fade">
                                      <p:cBhvr>
                                        <p:cTn id="129" dur="500" tmFilter="0, 0; .2, .5; .8, .5; 1, 0"/>
                                        <p:tgtEl>
                                          <p:spTgt spid="87"/>
                                        </p:tgtEl>
                                      </p:cBhvr>
                                    </p:animEffect>
                                    <p:animScale>
                                      <p:cBhvr>
                                        <p:cTn id="130" dur="250" autoRev="1" fill="hold"/>
                                        <p:tgtEl>
                                          <p:spTgt spid="87"/>
                                        </p:tgtEl>
                                      </p:cBhvr>
                                      <p:by x="105000" y="105000"/>
                                    </p:animScale>
                                  </p:childTnLst>
                                </p:cTn>
                              </p:par>
                            </p:childTnLst>
                          </p:cTn>
                        </p:par>
                      </p:childTnLst>
                    </p:cTn>
                  </p:par>
                  <p:par>
                    <p:cTn id="131" fill="hold">
                      <p:stCondLst>
                        <p:cond delay="indefinite"/>
                      </p:stCondLst>
                      <p:childTnLst>
                        <p:par>
                          <p:cTn id="132" fill="hold">
                            <p:stCondLst>
                              <p:cond delay="0"/>
                            </p:stCondLst>
                            <p:childTnLst>
                              <p:par>
                                <p:cTn id="133" presetID="1" presetClass="exit" presetSubtype="0" fill="hold" grpId="2" nodeType="clickEffect">
                                  <p:stCondLst>
                                    <p:cond delay="0"/>
                                  </p:stCondLst>
                                  <p:childTnLst>
                                    <p:set>
                                      <p:cBhvr>
                                        <p:cTn id="134" dur="1" fill="hold">
                                          <p:stCondLst>
                                            <p:cond delay="0"/>
                                          </p:stCondLst>
                                        </p:cTn>
                                        <p:tgtEl>
                                          <p:spTgt spid="86"/>
                                        </p:tgtEl>
                                        <p:attrNameLst>
                                          <p:attrName>style.visibility</p:attrName>
                                        </p:attrNameLst>
                                      </p:cBhvr>
                                      <p:to>
                                        <p:strVal val="hidden"/>
                                      </p:to>
                                    </p:set>
                                  </p:childTnLst>
                                </p:cTn>
                              </p:par>
                              <p:par>
                                <p:cTn id="135" presetID="1" presetClass="exit" presetSubtype="0" fill="hold" grpId="2" nodeType="withEffect">
                                  <p:stCondLst>
                                    <p:cond delay="0"/>
                                  </p:stCondLst>
                                  <p:childTnLst>
                                    <p:set>
                                      <p:cBhvr>
                                        <p:cTn id="136" dur="1" fill="hold">
                                          <p:stCondLst>
                                            <p:cond delay="0"/>
                                          </p:stCondLst>
                                        </p:cTn>
                                        <p:tgtEl>
                                          <p:spTgt spid="87"/>
                                        </p:tgtEl>
                                        <p:attrNameLst>
                                          <p:attrName>style.visibility</p:attrName>
                                        </p:attrNameLst>
                                      </p:cBhvr>
                                      <p:to>
                                        <p:strVal val="hidden"/>
                                      </p:to>
                                    </p:set>
                                  </p:childTnLst>
                                </p:cTn>
                              </p:par>
                              <p:par>
                                <p:cTn id="137" presetID="1" presetClass="entr" presetSubtype="0" fill="hold" grpId="0" nodeType="withEffect">
                                  <p:stCondLst>
                                    <p:cond delay="0"/>
                                  </p:stCondLst>
                                  <p:childTnLst>
                                    <p:set>
                                      <p:cBhvr>
                                        <p:cTn id="138" dur="1" fill="hold">
                                          <p:stCondLst>
                                            <p:cond delay="0"/>
                                          </p:stCondLst>
                                        </p:cTn>
                                        <p:tgtEl>
                                          <p:spTgt spid="97"/>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62"/>
                                        </p:tgtEl>
                                        <p:attrNameLst>
                                          <p:attrName>style.visibility</p:attrName>
                                        </p:attrNameLst>
                                      </p:cBhvr>
                                      <p:to>
                                        <p:strVal val="visible"/>
                                      </p:to>
                                    </p:set>
                                  </p:childTnLst>
                                </p:cTn>
                              </p:par>
                              <p:par>
                                <p:cTn id="141" presetID="26" presetClass="emph" presetSubtype="0" repeatCount="indefinite" fill="hold" grpId="1" nodeType="withEffect">
                                  <p:stCondLst>
                                    <p:cond delay="0"/>
                                  </p:stCondLst>
                                  <p:endCondLst>
                                    <p:cond evt="onNext" delay="0">
                                      <p:tgtEl>
                                        <p:sldTgt/>
                                      </p:tgtEl>
                                    </p:cond>
                                  </p:endCondLst>
                                  <p:childTnLst>
                                    <p:animEffect transition="out" filter="fade">
                                      <p:cBhvr>
                                        <p:cTn id="142" dur="500" tmFilter="0, 0; .2, .5; .8, .5; 1, 0"/>
                                        <p:tgtEl>
                                          <p:spTgt spid="62"/>
                                        </p:tgtEl>
                                      </p:cBhvr>
                                    </p:animEffect>
                                    <p:animScale>
                                      <p:cBhvr>
                                        <p:cTn id="143" dur="250" autoRev="1" fill="hold"/>
                                        <p:tgtEl>
                                          <p:spTgt spid="6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9" grpId="0"/>
      <p:bldP spid="71" grpId="0"/>
      <p:bldP spid="73" grpId="0"/>
      <p:bldP spid="80" grpId="0" animBg="1"/>
      <p:bldP spid="80" grpId="1" animBg="1"/>
      <p:bldP spid="80" grpId="2" animBg="1"/>
      <p:bldP spid="81" grpId="0" animBg="1"/>
      <p:bldP spid="81" grpId="1" animBg="1"/>
      <p:bldP spid="81" grpId="2" animBg="1"/>
      <p:bldP spid="82" grpId="0" animBg="1"/>
      <p:bldP spid="82" grpId="1" animBg="1"/>
      <p:bldP spid="82" grpId="2" animBg="1"/>
      <p:bldP spid="83" grpId="0" animBg="1"/>
      <p:bldP spid="83" grpId="1" animBg="1"/>
      <p:bldP spid="83" grpId="2" animBg="1"/>
      <p:bldP spid="84" grpId="0" animBg="1"/>
      <p:bldP spid="84" grpId="1" animBg="1"/>
      <p:bldP spid="84" grpId="2" animBg="1"/>
      <p:bldP spid="85" grpId="0" animBg="1"/>
      <p:bldP spid="85" grpId="1" animBg="1"/>
      <p:bldP spid="85" grpId="2" animBg="1"/>
      <p:bldP spid="86" grpId="0" animBg="1"/>
      <p:bldP spid="86" grpId="1" animBg="1"/>
      <p:bldP spid="86" grpId="2" animBg="1"/>
      <p:bldP spid="87" grpId="0" animBg="1"/>
      <p:bldP spid="87" grpId="1" animBg="1"/>
      <p:bldP spid="87" grpId="2" animBg="1"/>
      <p:bldP spid="97" grpId="0"/>
      <p:bldP spid="62" grpId="0" animBg="1"/>
      <p:bldP spid="62" grpId="1" animBg="1"/>
      <p:bldP spid="45" grpId="0" animBg="1"/>
      <p:bldP spid="45" grpId="1" animBg="1"/>
      <p:bldP spid="45" grpId="2" animBg="1"/>
      <p:bldP spid="46" grpId="0" animBg="1"/>
      <p:bldP spid="46" grpId="1" animBg="1"/>
      <p:bldP spid="46" grpId="2" animBg="1"/>
      <p:bldP spid="47" grpId="0" animBg="1"/>
      <p:bldP spid="47" grpId="1" animBg="1"/>
      <p:bldP spid="47" grpId="2" animBg="1"/>
      <p:bldP spid="49" grpId="0" animBg="1"/>
      <p:bldP spid="49" grpId="1" animBg="1"/>
      <p:bldP spid="49" grpId="2"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Round Robin (RR)</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xmlns="" xmlns:a14="http://schemas.microsoft.com/office/drawing/2010/main" val="20000"/>
                        </a:ext>
                      </a:extLst>
                    </a:gridCol>
                    <a:gridCol w="1547749">
                      <a:extLst>
                        <a:ext uri="{9D8B030D-6E8A-4147-A177-3AD203B41FA5}">
                          <a16:colId xmlns:a16="http://schemas.microsoft.com/office/drawing/2014/main" xmlns="" xmlns:a14="http://schemas.microsoft.com/office/drawing/2010/main" val="20001"/>
                        </a:ext>
                      </a:extLst>
                    </a:gridCol>
                    <a:gridCol w="3564248">
                      <a:extLst>
                        <a:ext uri="{9D8B030D-6E8A-4147-A177-3AD203B41FA5}">
                          <a16:colId xmlns:a16="http://schemas.microsoft.com/office/drawing/2014/main" xmlns=""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xmlns=""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xmlns=""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p:cNvSpPr/>
              <p:nvPr/>
            </p:nvSpPr>
            <p:spPr>
              <a:xfrm>
                <a:off x="534145" y="4315965"/>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534145" y="4315965"/>
                <a:ext cx="1155170"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p:sp>
        <p:nvSpPr>
          <p:cNvPr id="9" name="TextBox 8"/>
          <p:cNvSpPr txBox="1"/>
          <p:nvPr/>
        </p:nvSpPr>
        <p:spPr>
          <a:xfrm>
            <a:off x="374921" y="5011178"/>
            <a:ext cx="318448" cy="381000"/>
          </a:xfrm>
          <a:prstGeom prst="rect">
            <a:avLst/>
          </a:prstGeom>
          <a:noFill/>
        </p:spPr>
        <p:txBody>
          <a:bodyPr wrap="square" rtlCol="0">
            <a:spAutoFit/>
          </a:bodyPr>
          <a:lstStyle/>
          <a:p>
            <a:r>
              <a:rPr lang="en-US" dirty="0"/>
              <a:t>0</a:t>
            </a:r>
          </a:p>
        </p:txBody>
      </p:sp>
      <p:cxnSp>
        <p:nvCxnSpPr>
          <p:cNvPr id="14" name="Straight Connector 13"/>
          <p:cNvCxnSpPr/>
          <p:nvPr/>
        </p:nvCxnSpPr>
        <p:spPr>
          <a:xfrm flipH="1">
            <a:off x="534145" y="427611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6530" y="824702"/>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Waiting Time</a:t>
                      </a:r>
                      <a:endParaRPr lang="en-IN" sz="1800" b="1" kern="1200" dirty="0">
                        <a:solidFill>
                          <a:schemeClr val="tx1"/>
                        </a:solidFill>
                        <a:effectLst/>
                        <a:latin typeface="+mn-lt"/>
                        <a:ea typeface="+mn-ea"/>
                        <a:cs typeface="+mn-cs"/>
                      </a:endParaRPr>
                    </a:p>
                    <a:p>
                      <a:pPr algn="ctr"/>
                      <a:r>
                        <a:rPr lang="en-US" sz="1800" b="1" kern="1200" dirty="0">
                          <a:solidFill>
                            <a:schemeClr val="tx1"/>
                          </a:solidFill>
                          <a:effectLst/>
                          <a:latin typeface="+mn-lt"/>
                          <a:ea typeface="+mn-ea"/>
                          <a:cs typeface="+mn-cs"/>
                        </a:rPr>
                        <a:t>(TAT-ΔT)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2641" y="146766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0058" y="2023019"/>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259387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7</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315181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48" name="TextBox 47"/>
          <p:cNvSpPr txBox="1"/>
          <p:nvPr/>
        </p:nvSpPr>
        <p:spPr>
          <a:xfrm>
            <a:off x="1500292" y="5011177"/>
            <a:ext cx="318448" cy="381000"/>
          </a:xfrm>
          <a:prstGeom prst="rect">
            <a:avLst/>
          </a:prstGeom>
          <a:noFill/>
        </p:spPr>
        <p:txBody>
          <a:bodyPr wrap="square" rtlCol="0">
            <a:spAutoFit/>
          </a:bodyPr>
          <a:lstStyle/>
          <a:p>
            <a:r>
              <a:rPr lang="en-US" dirty="0"/>
              <a:t>4</a:t>
            </a:r>
          </a:p>
        </p:txBody>
      </p:sp>
      <p:sp>
        <p:nvSpPr>
          <p:cNvPr id="41" name="Rectangle 40"/>
          <p:cNvSpPr/>
          <p:nvPr/>
        </p:nvSpPr>
        <p:spPr>
          <a:xfrm>
            <a:off x="1689315" y="4315965"/>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4" name="Rectangle 53"/>
              <p:cNvSpPr/>
              <p:nvPr/>
            </p:nvSpPr>
            <p:spPr>
              <a:xfrm>
                <a:off x="1943104" y="4315964"/>
                <a:ext cx="115517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54" name="Rectangle 53"/>
              <p:cNvSpPr>
                <a:spLocks noRot="1" noChangeAspect="1" noMove="1" noResize="1" noEditPoints="1" noAdjustHandles="1" noChangeArrowheads="1" noChangeShapeType="1" noTextEdit="1"/>
              </p:cNvSpPr>
              <p:nvPr/>
            </p:nvSpPr>
            <p:spPr>
              <a:xfrm>
                <a:off x="1943104" y="4315964"/>
                <a:ext cx="1155170"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55" name="Rectangle 54"/>
          <p:cNvSpPr/>
          <p:nvPr/>
        </p:nvSpPr>
        <p:spPr>
          <a:xfrm>
            <a:off x="3103336" y="4315963"/>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6" name="Rectangle 55"/>
              <p:cNvSpPr/>
              <p:nvPr/>
            </p:nvSpPr>
            <p:spPr>
              <a:xfrm>
                <a:off x="3362187" y="4315962"/>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56" name="Rectangle 55"/>
              <p:cNvSpPr>
                <a:spLocks noRot="1" noChangeAspect="1" noMove="1" noResize="1" noEditPoints="1" noAdjustHandles="1" noChangeArrowheads="1" noChangeShapeType="1" noTextEdit="1"/>
              </p:cNvSpPr>
              <p:nvPr/>
            </p:nvSpPr>
            <p:spPr>
              <a:xfrm>
                <a:off x="3362187" y="4315962"/>
                <a:ext cx="891257"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57" name="Rectangle 56"/>
          <p:cNvSpPr/>
          <p:nvPr/>
        </p:nvSpPr>
        <p:spPr>
          <a:xfrm>
            <a:off x="4243320" y="4315961"/>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9" name="Rectangle 58"/>
              <p:cNvSpPr/>
              <p:nvPr/>
            </p:nvSpPr>
            <p:spPr>
              <a:xfrm>
                <a:off x="4486482" y="4315960"/>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9" name="Rectangle 58"/>
              <p:cNvSpPr>
                <a:spLocks noRot="1" noChangeAspect="1" noMove="1" noResize="1" noEditPoints="1" noAdjustHandles="1" noChangeArrowheads="1" noChangeShapeType="1" noTextEdit="1"/>
              </p:cNvSpPr>
              <p:nvPr/>
            </p:nvSpPr>
            <p:spPr>
              <a:xfrm>
                <a:off x="4486482" y="4315960"/>
                <a:ext cx="891257"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60" name="Rectangle 59"/>
          <p:cNvSpPr/>
          <p:nvPr/>
        </p:nvSpPr>
        <p:spPr>
          <a:xfrm>
            <a:off x="5377739" y="4315959"/>
            <a:ext cx="258851"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1" name="Rectangle 60"/>
              <p:cNvSpPr/>
              <p:nvPr/>
            </p:nvSpPr>
            <p:spPr>
              <a:xfrm>
                <a:off x="5647217" y="4315959"/>
                <a:ext cx="89125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61" name="Rectangle 60"/>
              <p:cNvSpPr>
                <a:spLocks noRot="1" noChangeAspect="1" noMove="1" noResize="1" noEditPoints="1" noAdjustHandles="1" noChangeArrowheads="1" noChangeShapeType="1" noTextEdit="1"/>
              </p:cNvSpPr>
              <p:nvPr/>
            </p:nvSpPr>
            <p:spPr>
              <a:xfrm>
                <a:off x="5647217" y="4315959"/>
                <a:ext cx="891257" cy="655359"/>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p:sp>
        <p:nvSpPr>
          <p:cNvPr id="66" name="TextBox 65"/>
          <p:cNvSpPr txBox="1"/>
          <p:nvPr/>
        </p:nvSpPr>
        <p:spPr>
          <a:xfrm>
            <a:off x="1772245" y="5011176"/>
            <a:ext cx="318448" cy="381000"/>
          </a:xfrm>
          <a:prstGeom prst="rect">
            <a:avLst/>
          </a:prstGeom>
          <a:noFill/>
        </p:spPr>
        <p:txBody>
          <a:bodyPr wrap="square" rtlCol="0">
            <a:spAutoFit/>
          </a:bodyPr>
          <a:lstStyle/>
          <a:p>
            <a:r>
              <a:rPr lang="en-US" dirty="0"/>
              <a:t>5</a:t>
            </a:r>
          </a:p>
        </p:txBody>
      </p:sp>
      <p:sp>
        <p:nvSpPr>
          <p:cNvPr id="67" name="TextBox 66"/>
          <p:cNvSpPr txBox="1"/>
          <p:nvPr/>
        </p:nvSpPr>
        <p:spPr>
          <a:xfrm>
            <a:off x="2931467" y="4971314"/>
            <a:ext cx="318448" cy="381000"/>
          </a:xfrm>
          <a:prstGeom prst="rect">
            <a:avLst/>
          </a:prstGeom>
          <a:noFill/>
        </p:spPr>
        <p:txBody>
          <a:bodyPr wrap="square" rtlCol="0">
            <a:spAutoFit/>
          </a:bodyPr>
          <a:lstStyle/>
          <a:p>
            <a:r>
              <a:rPr lang="en-US" dirty="0"/>
              <a:t>9</a:t>
            </a:r>
          </a:p>
        </p:txBody>
      </p:sp>
      <p:sp>
        <p:nvSpPr>
          <p:cNvPr id="68" name="TextBox 67"/>
          <p:cNvSpPr txBox="1"/>
          <p:nvPr/>
        </p:nvSpPr>
        <p:spPr>
          <a:xfrm>
            <a:off x="3177435" y="4971314"/>
            <a:ext cx="411796" cy="369332"/>
          </a:xfrm>
          <a:prstGeom prst="rect">
            <a:avLst/>
          </a:prstGeom>
          <a:noFill/>
        </p:spPr>
        <p:txBody>
          <a:bodyPr wrap="square" rtlCol="0">
            <a:spAutoFit/>
          </a:bodyPr>
          <a:lstStyle/>
          <a:p>
            <a:r>
              <a:rPr lang="en-US" dirty="0"/>
              <a:t>10</a:t>
            </a:r>
          </a:p>
        </p:txBody>
      </p:sp>
      <p:sp>
        <p:nvSpPr>
          <p:cNvPr id="69" name="TextBox 68"/>
          <p:cNvSpPr txBox="1"/>
          <p:nvPr/>
        </p:nvSpPr>
        <p:spPr>
          <a:xfrm>
            <a:off x="4013627" y="4965478"/>
            <a:ext cx="411796" cy="369332"/>
          </a:xfrm>
          <a:prstGeom prst="rect">
            <a:avLst/>
          </a:prstGeom>
          <a:noFill/>
        </p:spPr>
        <p:txBody>
          <a:bodyPr wrap="square" rtlCol="0">
            <a:spAutoFit/>
          </a:bodyPr>
          <a:lstStyle/>
          <a:p>
            <a:r>
              <a:rPr lang="en-US" dirty="0"/>
              <a:t>12</a:t>
            </a:r>
          </a:p>
        </p:txBody>
      </p:sp>
      <p:sp>
        <p:nvSpPr>
          <p:cNvPr id="70" name="TextBox 69"/>
          <p:cNvSpPr txBox="1"/>
          <p:nvPr/>
        </p:nvSpPr>
        <p:spPr>
          <a:xfrm>
            <a:off x="4305249" y="4965478"/>
            <a:ext cx="411796" cy="369332"/>
          </a:xfrm>
          <a:prstGeom prst="rect">
            <a:avLst/>
          </a:prstGeom>
          <a:noFill/>
        </p:spPr>
        <p:txBody>
          <a:bodyPr wrap="square" rtlCol="0">
            <a:spAutoFit/>
          </a:bodyPr>
          <a:lstStyle/>
          <a:p>
            <a:r>
              <a:rPr lang="en-US" dirty="0"/>
              <a:t>13</a:t>
            </a:r>
          </a:p>
        </p:txBody>
      </p:sp>
      <p:sp>
        <p:nvSpPr>
          <p:cNvPr id="71" name="TextBox 70"/>
          <p:cNvSpPr txBox="1"/>
          <p:nvPr/>
        </p:nvSpPr>
        <p:spPr>
          <a:xfrm>
            <a:off x="5138257" y="4941711"/>
            <a:ext cx="411796" cy="369332"/>
          </a:xfrm>
          <a:prstGeom prst="rect">
            <a:avLst/>
          </a:prstGeom>
          <a:noFill/>
        </p:spPr>
        <p:txBody>
          <a:bodyPr wrap="square" rtlCol="0">
            <a:spAutoFit/>
          </a:bodyPr>
          <a:lstStyle/>
          <a:p>
            <a:r>
              <a:rPr lang="en-US" dirty="0"/>
              <a:t>15</a:t>
            </a:r>
          </a:p>
        </p:txBody>
      </p:sp>
      <p:sp>
        <p:nvSpPr>
          <p:cNvPr id="72" name="TextBox 71"/>
          <p:cNvSpPr txBox="1"/>
          <p:nvPr/>
        </p:nvSpPr>
        <p:spPr>
          <a:xfrm>
            <a:off x="5488013" y="4938896"/>
            <a:ext cx="411796" cy="369332"/>
          </a:xfrm>
          <a:prstGeom prst="rect">
            <a:avLst/>
          </a:prstGeom>
          <a:noFill/>
        </p:spPr>
        <p:txBody>
          <a:bodyPr wrap="square" rtlCol="0">
            <a:spAutoFit/>
          </a:bodyPr>
          <a:lstStyle/>
          <a:p>
            <a:r>
              <a:rPr lang="en-US" dirty="0"/>
              <a:t>16</a:t>
            </a:r>
          </a:p>
        </p:txBody>
      </p:sp>
      <p:sp>
        <p:nvSpPr>
          <p:cNvPr id="73" name="TextBox 72"/>
          <p:cNvSpPr txBox="1"/>
          <p:nvPr/>
        </p:nvSpPr>
        <p:spPr>
          <a:xfrm>
            <a:off x="6290773" y="4955106"/>
            <a:ext cx="411796" cy="369332"/>
          </a:xfrm>
          <a:prstGeom prst="rect">
            <a:avLst/>
          </a:prstGeom>
          <a:noFill/>
        </p:spPr>
        <p:txBody>
          <a:bodyPr wrap="square" rtlCol="0">
            <a:spAutoFit/>
          </a:bodyPr>
          <a:lstStyle/>
          <a:p>
            <a:r>
              <a:rPr lang="en-US" dirty="0"/>
              <a:t>17</a:t>
            </a:r>
          </a:p>
        </p:txBody>
      </p:sp>
      <p:sp>
        <p:nvSpPr>
          <p:cNvPr id="88" name="TextBox 87"/>
          <p:cNvSpPr txBox="1"/>
          <p:nvPr/>
        </p:nvSpPr>
        <p:spPr>
          <a:xfrm>
            <a:off x="7735846" y="1479367"/>
            <a:ext cx="2064742" cy="542441"/>
          </a:xfrm>
          <a:prstGeom prst="rect">
            <a:avLst/>
          </a:prstGeom>
          <a:noFill/>
          <a:ln w="57150">
            <a:solidFill>
              <a:srgbClr val="FF0000"/>
            </a:solidFill>
          </a:ln>
        </p:spPr>
        <p:txBody>
          <a:bodyPr wrap="square" rtlCol="0">
            <a:spAutoFit/>
          </a:bodyPr>
          <a:lstStyle/>
          <a:p>
            <a:endParaRPr lang="en-IN" dirty="0"/>
          </a:p>
        </p:txBody>
      </p:sp>
      <p:sp>
        <p:nvSpPr>
          <p:cNvPr id="89" name="TextBox 88"/>
          <p:cNvSpPr txBox="1"/>
          <p:nvPr/>
        </p:nvSpPr>
        <p:spPr>
          <a:xfrm>
            <a:off x="2716093" y="1497088"/>
            <a:ext cx="3590108" cy="542441"/>
          </a:xfrm>
          <a:prstGeom prst="rect">
            <a:avLst/>
          </a:prstGeom>
          <a:noFill/>
          <a:ln w="57150">
            <a:solidFill>
              <a:srgbClr val="FF0000"/>
            </a:solidFill>
          </a:ln>
        </p:spPr>
        <p:txBody>
          <a:bodyPr wrap="square" rtlCol="0">
            <a:spAutoFit/>
          </a:bodyPr>
          <a:lstStyle/>
          <a:p>
            <a:endParaRPr lang="en-IN" dirty="0"/>
          </a:p>
        </p:txBody>
      </p:sp>
      <p:sp>
        <p:nvSpPr>
          <p:cNvPr id="90" name="TextBox 89"/>
          <p:cNvSpPr txBox="1"/>
          <p:nvPr/>
        </p:nvSpPr>
        <p:spPr>
          <a:xfrm>
            <a:off x="7735846" y="2040279"/>
            <a:ext cx="2064742" cy="542441"/>
          </a:xfrm>
          <a:prstGeom prst="rect">
            <a:avLst/>
          </a:prstGeom>
          <a:noFill/>
          <a:ln w="57150">
            <a:solidFill>
              <a:srgbClr val="FF0000"/>
            </a:solidFill>
          </a:ln>
        </p:spPr>
        <p:txBody>
          <a:bodyPr wrap="square" rtlCol="0">
            <a:spAutoFit/>
          </a:bodyPr>
          <a:lstStyle/>
          <a:p>
            <a:endParaRPr lang="en-IN" dirty="0"/>
          </a:p>
        </p:txBody>
      </p:sp>
      <p:sp>
        <p:nvSpPr>
          <p:cNvPr id="91" name="TextBox 90"/>
          <p:cNvSpPr txBox="1"/>
          <p:nvPr/>
        </p:nvSpPr>
        <p:spPr>
          <a:xfrm>
            <a:off x="2753569" y="2000583"/>
            <a:ext cx="3590108" cy="542441"/>
          </a:xfrm>
          <a:prstGeom prst="rect">
            <a:avLst/>
          </a:prstGeom>
          <a:noFill/>
          <a:ln w="57150">
            <a:solidFill>
              <a:srgbClr val="FF0000"/>
            </a:solidFill>
          </a:ln>
        </p:spPr>
        <p:txBody>
          <a:bodyPr wrap="square" rtlCol="0">
            <a:spAutoFit/>
          </a:bodyPr>
          <a:lstStyle/>
          <a:p>
            <a:endParaRPr lang="en-IN" dirty="0"/>
          </a:p>
        </p:txBody>
      </p:sp>
      <p:sp>
        <p:nvSpPr>
          <p:cNvPr id="92" name="TextBox 91"/>
          <p:cNvSpPr txBox="1"/>
          <p:nvPr/>
        </p:nvSpPr>
        <p:spPr>
          <a:xfrm>
            <a:off x="7735846" y="2594094"/>
            <a:ext cx="2064742" cy="542441"/>
          </a:xfrm>
          <a:prstGeom prst="rect">
            <a:avLst/>
          </a:prstGeom>
          <a:noFill/>
          <a:ln w="57150">
            <a:solidFill>
              <a:srgbClr val="FF0000"/>
            </a:solidFill>
          </a:ln>
        </p:spPr>
        <p:txBody>
          <a:bodyPr wrap="square" rtlCol="0">
            <a:spAutoFit/>
          </a:bodyPr>
          <a:lstStyle/>
          <a:p>
            <a:endParaRPr lang="en-IN" dirty="0"/>
          </a:p>
        </p:txBody>
      </p:sp>
      <p:sp>
        <p:nvSpPr>
          <p:cNvPr id="93" name="TextBox 92"/>
          <p:cNvSpPr txBox="1"/>
          <p:nvPr/>
        </p:nvSpPr>
        <p:spPr>
          <a:xfrm>
            <a:off x="2755735" y="2568592"/>
            <a:ext cx="3590108" cy="542441"/>
          </a:xfrm>
          <a:prstGeom prst="rect">
            <a:avLst/>
          </a:prstGeom>
          <a:noFill/>
          <a:ln w="57150">
            <a:solidFill>
              <a:srgbClr val="FF0000"/>
            </a:solidFill>
          </a:ln>
        </p:spPr>
        <p:txBody>
          <a:bodyPr wrap="square" rtlCol="0">
            <a:spAutoFit/>
          </a:bodyPr>
          <a:lstStyle/>
          <a:p>
            <a:endParaRPr lang="en-IN" dirty="0"/>
          </a:p>
        </p:txBody>
      </p:sp>
      <p:sp>
        <p:nvSpPr>
          <p:cNvPr id="94" name="TextBox 93"/>
          <p:cNvSpPr txBox="1"/>
          <p:nvPr/>
        </p:nvSpPr>
        <p:spPr>
          <a:xfrm>
            <a:off x="7735846" y="3167344"/>
            <a:ext cx="2064742" cy="542441"/>
          </a:xfrm>
          <a:prstGeom prst="rect">
            <a:avLst/>
          </a:prstGeom>
          <a:noFill/>
          <a:ln w="57150">
            <a:solidFill>
              <a:srgbClr val="FF0000"/>
            </a:solidFill>
          </a:ln>
        </p:spPr>
        <p:txBody>
          <a:bodyPr wrap="square" rtlCol="0">
            <a:spAutoFit/>
          </a:bodyPr>
          <a:lstStyle/>
          <a:p>
            <a:endParaRPr lang="en-IN" dirty="0"/>
          </a:p>
        </p:txBody>
      </p:sp>
      <p:sp>
        <p:nvSpPr>
          <p:cNvPr id="95" name="TextBox 94"/>
          <p:cNvSpPr txBox="1"/>
          <p:nvPr/>
        </p:nvSpPr>
        <p:spPr>
          <a:xfrm>
            <a:off x="2730607" y="3152905"/>
            <a:ext cx="3590108" cy="542441"/>
          </a:xfrm>
          <a:prstGeom prst="rect">
            <a:avLst/>
          </a:prstGeom>
          <a:noFill/>
          <a:ln w="57150">
            <a:solidFill>
              <a:srgbClr val="FF0000"/>
            </a:solidFill>
          </a:ln>
        </p:spPr>
        <p:txBody>
          <a:bodyPr wrap="square" rtlCol="0">
            <a:spAutoFit/>
          </a:bodyPr>
          <a:lstStyle/>
          <a:p>
            <a:endParaRPr lang="en-IN" dirty="0"/>
          </a:p>
        </p:txBody>
      </p:sp>
      <p:sp>
        <p:nvSpPr>
          <p:cNvPr id="96" name="TextBox 95"/>
          <p:cNvSpPr txBox="1"/>
          <p:nvPr/>
        </p:nvSpPr>
        <p:spPr>
          <a:xfrm>
            <a:off x="367829" y="5494198"/>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Waiting Time </a:t>
            </a:r>
            <a:r>
              <a:rPr lang="en-US" sz="2000" dirty="0"/>
              <a:t>= Sum of all Process’s Waiting Time/ Total Process</a:t>
            </a:r>
          </a:p>
          <a:p>
            <a:r>
              <a:rPr lang="en-US" sz="2000" dirty="0"/>
              <a:t>                                              = (9+4+7+11)/4 </a:t>
            </a:r>
          </a:p>
          <a:p>
            <a:r>
              <a:rPr lang="en-US" sz="2000" dirty="0"/>
              <a:t>                                              = 7.75 </a:t>
            </a:r>
            <a:r>
              <a:rPr lang="en-US" sz="2000"/>
              <a:t>ms</a:t>
            </a:r>
            <a:r>
              <a:rPr lang="en-US" sz="2000" dirty="0"/>
              <a:t>.</a:t>
            </a:r>
          </a:p>
        </p:txBody>
      </p:sp>
      <p:sp>
        <p:nvSpPr>
          <p:cNvPr id="63" name="TextBox 62"/>
          <p:cNvSpPr txBox="1"/>
          <p:nvPr/>
        </p:nvSpPr>
        <p:spPr>
          <a:xfrm>
            <a:off x="9824117" y="1489663"/>
            <a:ext cx="2049246" cy="2222902"/>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1392491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8"/>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500" tmFilter="0, 0; .2, .5; .8, .5; 1, 0"/>
                                        <p:tgtEl>
                                          <p:spTgt spid="88"/>
                                        </p:tgtEl>
                                      </p:cBhvr>
                                    </p:animEffect>
                                    <p:animScale>
                                      <p:cBhvr>
                                        <p:cTn id="15" dur="250" autoRev="1" fill="hold"/>
                                        <p:tgtEl>
                                          <p:spTgt spid="88"/>
                                        </p:tgtEl>
                                      </p:cBhvr>
                                      <p:by x="105000" y="105000"/>
                                    </p:animScale>
                                  </p:childTnLst>
                                </p:cTn>
                              </p:par>
                              <p:par>
                                <p:cTn id="16" presetID="1" presetClass="entr" presetSubtype="0" fill="hold" grpId="0" nodeType="withEffect">
                                  <p:stCondLst>
                                    <p:cond delay="0"/>
                                  </p:stCondLst>
                                  <p:childTnLst>
                                    <p:set>
                                      <p:cBhvr>
                                        <p:cTn id="17" dur="1" fill="hold">
                                          <p:stCondLst>
                                            <p:cond delay="0"/>
                                          </p:stCondLst>
                                        </p:cTn>
                                        <p:tgtEl>
                                          <p:spTgt spid="89"/>
                                        </p:tgtEl>
                                        <p:attrNameLst>
                                          <p:attrName>style.visibility</p:attrName>
                                        </p:attrNameLst>
                                      </p:cBhvr>
                                      <p:to>
                                        <p:strVal val="visible"/>
                                      </p:to>
                                    </p:set>
                                  </p:childTnLst>
                                </p:cTn>
                              </p:par>
                              <p:par>
                                <p:cTn id="18" presetID="26" presetClass="emph" presetSubtype="0" repeatCount="indefinite" fill="hold" grpId="1" nodeType="withEffect">
                                  <p:stCondLst>
                                    <p:cond delay="0"/>
                                  </p:stCondLst>
                                  <p:endCondLst>
                                    <p:cond evt="onNext" delay="0">
                                      <p:tgtEl>
                                        <p:sldTgt/>
                                      </p:tgtEl>
                                    </p:cond>
                                  </p:endCondLst>
                                  <p:childTnLst>
                                    <p:animEffect transition="out" filter="fade">
                                      <p:cBhvr>
                                        <p:cTn id="19" dur="500" tmFilter="0, 0; .2, .5; .8, .5; 1, 0"/>
                                        <p:tgtEl>
                                          <p:spTgt spid="89"/>
                                        </p:tgtEl>
                                      </p:cBhvr>
                                    </p:animEffect>
                                    <p:animScale>
                                      <p:cBhvr>
                                        <p:cTn id="20" dur="250" autoRev="1" fill="hold"/>
                                        <p:tgtEl>
                                          <p:spTgt spid="89"/>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xit" presetSubtype="0" fill="hold" grpId="2" nodeType="withEffect">
                                  <p:stCondLst>
                                    <p:cond delay="0"/>
                                  </p:stCondLst>
                                  <p:childTnLst>
                                    <p:set>
                                      <p:cBhvr>
                                        <p:cTn id="26" dur="1" fill="hold">
                                          <p:stCondLst>
                                            <p:cond delay="0"/>
                                          </p:stCondLst>
                                        </p:cTn>
                                        <p:tgtEl>
                                          <p:spTgt spid="88"/>
                                        </p:tgtEl>
                                        <p:attrNameLst>
                                          <p:attrName>style.visibility</p:attrName>
                                        </p:attrNameLst>
                                      </p:cBhvr>
                                      <p:to>
                                        <p:strVal val="hidden"/>
                                      </p:to>
                                    </p:set>
                                  </p:childTnLst>
                                </p:cTn>
                              </p:par>
                              <p:par>
                                <p:cTn id="27" presetID="1" presetClass="exit" presetSubtype="0" fill="hold" grpId="2" nodeType="withEffect">
                                  <p:stCondLst>
                                    <p:cond delay="0"/>
                                  </p:stCondLst>
                                  <p:childTnLst>
                                    <p:set>
                                      <p:cBhvr>
                                        <p:cTn id="28" dur="1" fill="hold">
                                          <p:stCondLst>
                                            <p:cond delay="0"/>
                                          </p:stCondLst>
                                        </p:cTn>
                                        <p:tgtEl>
                                          <p:spTgt spid="89"/>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par>
                                <p:cTn id="31" presetID="26" presetClass="emph" presetSubtype="0" repeatCount="indefinite" fill="hold" grpId="1" nodeType="withEffect">
                                  <p:stCondLst>
                                    <p:cond delay="0"/>
                                  </p:stCondLst>
                                  <p:endCondLst>
                                    <p:cond evt="onNext" delay="0">
                                      <p:tgtEl>
                                        <p:sldTgt/>
                                      </p:tgtEl>
                                    </p:cond>
                                  </p:endCondLst>
                                  <p:childTnLst>
                                    <p:animEffect transition="out" filter="fade">
                                      <p:cBhvr>
                                        <p:cTn id="32" dur="500" tmFilter="0, 0; .2, .5; .8, .5; 1, 0"/>
                                        <p:tgtEl>
                                          <p:spTgt spid="90"/>
                                        </p:tgtEl>
                                      </p:cBhvr>
                                    </p:animEffect>
                                    <p:animScale>
                                      <p:cBhvr>
                                        <p:cTn id="33" dur="250" autoRev="1" fill="hold"/>
                                        <p:tgtEl>
                                          <p:spTgt spid="90"/>
                                        </p:tgtEl>
                                      </p:cBhvr>
                                      <p:by x="105000" y="105000"/>
                                    </p:animScale>
                                  </p:childTnLst>
                                </p:cTn>
                              </p:par>
                              <p:par>
                                <p:cTn id="34" presetID="1" presetClass="entr" presetSubtype="0" fill="hold" grpId="0" nodeType="withEffect">
                                  <p:stCondLst>
                                    <p:cond delay="0"/>
                                  </p:stCondLst>
                                  <p:childTnLst>
                                    <p:set>
                                      <p:cBhvr>
                                        <p:cTn id="35" dur="1" fill="hold">
                                          <p:stCondLst>
                                            <p:cond delay="0"/>
                                          </p:stCondLst>
                                        </p:cTn>
                                        <p:tgtEl>
                                          <p:spTgt spid="91"/>
                                        </p:tgtEl>
                                        <p:attrNameLst>
                                          <p:attrName>style.visibility</p:attrName>
                                        </p:attrNameLst>
                                      </p:cBhvr>
                                      <p:to>
                                        <p:strVal val="visible"/>
                                      </p:to>
                                    </p:set>
                                  </p:childTnLst>
                                </p:cTn>
                              </p:par>
                              <p:par>
                                <p:cTn id="36" presetID="26" presetClass="emph" presetSubtype="0" repeatCount="indefinite" fill="hold" grpId="1" nodeType="withEffect">
                                  <p:stCondLst>
                                    <p:cond delay="0"/>
                                  </p:stCondLst>
                                  <p:endCondLst>
                                    <p:cond evt="onNext" delay="0">
                                      <p:tgtEl>
                                        <p:sldTgt/>
                                      </p:tgtEl>
                                    </p:cond>
                                  </p:endCondLst>
                                  <p:childTnLst>
                                    <p:animEffect transition="out" filter="fade">
                                      <p:cBhvr>
                                        <p:cTn id="37" dur="500" tmFilter="0, 0; .2, .5; .8, .5; 1, 0"/>
                                        <p:tgtEl>
                                          <p:spTgt spid="91"/>
                                        </p:tgtEl>
                                      </p:cBhvr>
                                    </p:animEffect>
                                    <p:animScale>
                                      <p:cBhvr>
                                        <p:cTn id="38" dur="250" autoRev="1" fill="hold"/>
                                        <p:tgtEl>
                                          <p:spTgt spid="91"/>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xit" presetSubtype="0" fill="hold" grpId="2" nodeType="withEffect">
                                  <p:stCondLst>
                                    <p:cond delay="0"/>
                                  </p:stCondLst>
                                  <p:childTnLst>
                                    <p:set>
                                      <p:cBhvr>
                                        <p:cTn id="44" dur="1" fill="hold">
                                          <p:stCondLst>
                                            <p:cond delay="0"/>
                                          </p:stCondLst>
                                        </p:cTn>
                                        <p:tgtEl>
                                          <p:spTgt spid="90"/>
                                        </p:tgtEl>
                                        <p:attrNameLst>
                                          <p:attrName>style.visibility</p:attrName>
                                        </p:attrNameLst>
                                      </p:cBhvr>
                                      <p:to>
                                        <p:strVal val="hidden"/>
                                      </p:to>
                                    </p:set>
                                  </p:childTnLst>
                                </p:cTn>
                              </p:par>
                              <p:par>
                                <p:cTn id="45" presetID="1" presetClass="exit" presetSubtype="0" fill="hold" grpId="2" nodeType="withEffect">
                                  <p:stCondLst>
                                    <p:cond delay="0"/>
                                  </p:stCondLst>
                                  <p:childTnLst>
                                    <p:set>
                                      <p:cBhvr>
                                        <p:cTn id="46" dur="1" fill="hold">
                                          <p:stCondLst>
                                            <p:cond delay="0"/>
                                          </p:stCondLst>
                                        </p:cTn>
                                        <p:tgtEl>
                                          <p:spTgt spid="91"/>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92"/>
                                        </p:tgtEl>
                                        <p:attrNameLst>
                                          <p:attrName>style.visibility</p:attrName>
                                        </p:attrNameLst>
                                      </p:cBhvr>
                                      <p:to>
                                        <p:strVal val="visible"/>
                                      </p:to>
                                    </p:set>
                                  </p:childTnLst>
                                </p:cTn>
                              </p:par>
                              <p:par>
                                <p:cTn id="49" presetID="26" presetClass="emph" presetSubtype="0" repeatCount="indefinite" fill="hold" grpId="1" nodeType="withEffect">
                                  <p:stCondLst>
                                    <p:cond delay="0"/>
                                  </p:stCondLst>
                                  <p:endCondLst>
                                    <p:cond evt="onNext" delay="0">
                                      <p:tgtEl>
                                        <p:sldTgt/>
                                      </p:tgtEl>
                                    </p:cond>
                                  </p:endCondLst>
                                  <p:childTnLst>
                                    <p:animEffect transition="out" filter="fade">
                                      <p:cBhvr>
                                        <p:cTn id="50" dur="500" tmFilter="0, 0; .2, .5; .8, .5; 1, 0"/>
                                        <p:tgtEl>
                                          <p:spTgt spid="92"/>
                                        </p:tgtEl>
                                      </p:cBhvr>
                                    </p:animEffect>
                                    <p:animScale>
                                      <p:cBhvr>
                                        <p:cTn id="51" dur="250" autoRev="1" fill="hold"/>
                                        <p:tgtEl>
                                          <p:spTgt spid="92"/>
                                        </p:tgtEl>
                                      </p:cBhvr>
                                      <p:by x="105000" y="105000"/>
                                    </p:animScale>
                                  </p:childTnLst>
                                </p:cTn>
                              </p:par>
                              <p:par>
                                <p:cTn id="52" presetID="1" presetClass="entr" presetSubtype="0" fill="hold" grpId="0" nodeType="withEffect">
                                  <p:stCondLst>
                                    <p:cond delay="0"/>
                                  </p:stCondLst>
                                  <p:childTnLst>
                                    <p:set>
                                      <p:cBhvr>
                                        <p:cTn id="53" dur="1" fill="hold">
                                          <p:stCondLst>
                                            <p:cond delay="0"/>
                                          </p:stCondLst>
                                        </p:cTn>
                                        <p:tgtEl>
                                          <p:spTgt spid="93"/>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93"/>
                                        </p:tgtEl>
                                      </p:cBhvr>
                                    </p:animEffect>
                                    <p:animScale>
                                      <p:cBhvr>
                                        <p:cTn id="56" dur="250" autoRev="1" fill="hold"/>
                                        <p:tgtEl>
                                          <p:spTgt spid="93"/>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92"/>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93"/>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94"/>
                                        </p:tgtEl>
                                        <p:attrNameLst>
                                          <p:attrName>style.visibility</p:attrName>
                                        </p:attrNameLst>
                                      </p:cBhvr>
                                      <p:to>
                                        <p:strVal val="visible"/>
                                      </p:to>
                                    </p:set>
                                  </p:childTnLst>
                                </p:cTn>
                              </p:par>
                              <p:par>
                                <p:cTn id="67" presetID="26" presetClass="emph" presetSubtype="0" repeatCount="indefinite" fill="hold" grpId="1" nodeType="withEffect">
                                  <p:stCondLst>
                                    <p:cond delay="0"/>
                                  </p:stCondLst>
                                  <p:endCondLst>
                                    <p:cond evt="onNext" delay="0">
                                      <p:tgtEl>
                                        <p:sldTgt/>
                                      </p:tgtEl>
                                    </p:cond>
                                  </p:endCondLst>
                                  <p:childTnLst>
                                    <p:animEffect transition="out" filter="fade">
                                      <p:cBhvr>
                                        <p:cTn id="68" dur="500" tmFilter="0, 0; .2, .5; .8, .5; 1, 0"/>
                                        <p:tgtEl>
                                          <p:spTgt spid="94"/>
                                        </p:tgtEl>
                                      </p:cBhvr>
                                    </p:animEffect>
                                    <p:animScale>
                                      <p:cBhvr>
                                        <p:cTn id="69" dur="250" autoRev="1" fill="hold"/>
                                        <p:tgtEl>
                                          <p:spTgt spid="94"/>
                                        </p:tgtEl>
                                      </p:cBhvr>
                                      <p:by x="105000" y="105000"/>
                                    </p:animScale>
                                  </p:childTnLst>
                                </p:cTn>
                              </p:par>
                              <p:par>
                                <p:cTn id="70" presetID="1" presetClass="entr" presetSubtype="0" fill="hold" grpId="0" nodeType="withEffect">
                                  <p:stCondLst>
                                    <p:cond delay="0"/>
                                  </p:stCondLst>
                                  <p:childTnLst>
                                    <p:set>
                                      <p:cBhvr>
                                        <p:cTn id="71" dur="1" fill="hold">
                                          <p:stCondLst>
                                            <p:cond delay="0"/>
                                          </p:stCondLst>
                                        </p:cTn>
                                        <p:tgtEl>
                                          <p:spTgt spid="95"/>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95"/>
                                        </p:tgtEl>
                                      </p:cBhvr>
                                    </p:animEffect>
                                    <p:animScale>
                                      <p:cBhvr>
                                        <p:cTn id="74" dur="250" autoRev="1" fill="hold"/>
                                        <p:tgtEl>
                                          <p:spTgt spid="95"/>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94"/>
                                        </p:tgtEl>
                                        <p:attrNameLst>
                                          <p:attrName>style.visibility</p:attrName>
                                        </p:attrNameLst>
                                      </p:cBhvr>
                                      <p:to>
                                        <p:strVal val="hidden"/>
                                      </p:to>
                                    </p:set>
                                  </p:childTnLst>
                                </p:cTn>
                              </p:par>
                              <p:par>
                                <p:cTn id="79" presetID="1" presetClass="exit" presetSubtype="0" fill="hold" grpId="2" nodeType="withEffect">
                                  <p:stCondLst>
                                    <p:cond delay="0"/>
                                  </p:stCondLst>
                                  <p:childTnLst>
                                    <p:set>
                                      <p:cBhvr>
                                        <p:cTn id="80" dur="1" fill="hold">
                                          <p:stCondLst>
                                            <p:cond delay="0"/>
                                          </p:stCondLst>
                                        </p:cTn>
                                        <p:tgtEl>
                                          <p:spTgt spid="95"/>
                                        </p:tgtEl>
                                        <p:attrNameLst>
                                          <p:attrName>style.visibility</p:attrName>
                                        </p:attrNameLst>
                                      </p:cBhvr>
                                      <p:to>
                                        <p:strVal val="hidden"/>
                                      </p:to>
                                    </p:set>
                                  </p:childTnLst>
                                </p:cTn>
                              </p:par>
                              <p:par>
                                <p:cTn id="81" presetID="1" presetClass="entr" presetSubtype="0" fill="hold" grpId="0" nodeType="withEffect">
                                  <p:stCondLst>
                                    <p:cond delay="0"/>
                                  </p:stCondLst>
                                  <p:childTnLst>
                                    <p:set>
                                      <p:cBhvr>
                                        <p:cTn id="82" dur="1" fill="hold">
                                          <p:stCondLst>
                                            <p:cond delay="0"/>
                                          </p:stCondLst>
                                        </p:cTn>
                                        <p:tgtEl>
                                          <p:spTgt spid="9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3"/>
                                        </p:tgtEl>
                                        <p:attrNameLst>
                                          <p:attrName>style.visibility</p:attrName>
                                        </p:attrNameLst>
                                      </p:cBhvr>
                                      <p:to>
                                        <p:strVal val="visible"/>
                                      </p:to>
                                    </p:set>
                                  </p:childTnLst>
                                </p:cTn>
                              </p:par>
                              <p:par>
                                <p:cTn id="85" presetID="26" presetClass="emph" presetSubtype="0" repeatCount="indefinite" fill="hold" grpId="1" nodeType="withEffect">
                                  <p:stCondLst>
                                    <p:cond delay="0"/>
                                  </p:stCondLst>
                                  <p:endCondLst>
                                    <p:cond evt="onNext" delay="0">
                                      <p:tgtEl>
                                        <p:sldTgt/>
                                      </p:tgtEl>
                                    </p:cond>
                                  </p:endCondLst>
                                  <p:childTnLst>
                                    <p:animEffect transition="out" filter="fade">
                                      <p:cBhvr>
                                        <p:cTn id="86" dur="500" tmFilter="0, 0; .2, .5; .8, .5; 1, 0"/>
                                        <p:tgtEl>
                                          <p:spTgt spid="63"/>
                                        </p:tgtEl>
                                      </p:cBhvr>
                                    </p:animEffect>
                                    <p:animScale>
                                      <p:cBhvr>
                                        <p:cTn id="87" dur="250" autoRev="1" fill="hold"/>
                                        <p:tgtEl>
                                          <p:spTgt spid="6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88" grpId="1" animBg="1"/>
      <p:bldP spid="88" grpId="2" animBg="1"/>
      <p:bldP spid="89" grpId="0" animBg="1"/>
      <p:bldP spid="89" grpId="1" animBg="1"/>
      <p:bldP spid="89" grpId="2" animBg="1"/>
      <p:bldP spid="90" grpId="0" animBg="1"/>
      <p:bldP spid="90" grpId="1" animBg="1"/>
      <p:bldP spid="90" grpId="2" animBg="1"/>
      <p:bldP spid="91" grpId="0" animBg="1"/>
      <p:bldP spid="91" grpId="1" animBg="1"/>
      <p:bldP spid="91" grpId="2" animBg="1"/>
      <p:bldP spid="92" grpId="0" animBg="1"/>
      <p:bldP spid="92" grpId="1" animBg="1"/>
      <p:bldP spid="92" grpId="2" animBg="1"/>
      <p:bldP spid="93" grpId="0" animBg="1"/>
      <p:bldP spid="93" grpId="1" animBg="1"/>
      <p:bldP spid="93" grpId="2" animBg="1"/>
      <p:bldP spid="94" grpId="0" animBg="1"/>
      <p:bldP spid="94" grpId="1" animBg="1"/>
      <p:bldP spid="94" grpId="2" animBg="1"/>
      <p:bldP spid="95" grpId="0" animBg="1"/>
      <p:bldP spid="95" grpId="1" animBg="1"/>
      <p:bldP spid="95" grpId="2" animBg="1"/>
      <p:bldP spid="96" grpId="0"/>
      <p:bldP spid="63" grpId="0" animBg="1"/>
      <p:bldP spid="63" grpId="1"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792E8-8838-4744-A7DD-92B0ED18307B}"/>
              </a:ext>
            </a:extLst>
          </p:cNvPr>
          <p:cNvSpPr>
            <a:spLocks noGrp="1"/>
          </p:cNvSpPr>
          <p:nvPr>
            <p:ph type="title"/>
          </p:nvPr>
        </p:nvSpPr>
        <p:spPr/>
        <p:txBody>
          <a:bodyPr/>
          <a:lstStyle/>
          <a:p>
            <a:pPr lvl="0"/>
            <a:r>
              <a:rPr lang="en-US" dirty="0">
                <a:gradFill flip="none" rotWithShape="1">
                  <a:gsLst>
                    <a:gs pos="10000">
                      <a:srgbClr val="3E2622"/>
                    </a:gs>
                    <a:gs pos="100000">
                      <a:srgbClr val="795547"/>
                    </a:gs>
                  </a:gsLst>
                  <a:lin ang="0" scaled="1"/>
                  <a:tileRect/>
                </a:gradFill>
              </a:rPr>
              <a:t>Priority Algorithm</a:t>
            </a:r>
            <a:endParaRPr lang="en-US" dirty="0"/>
          </a:p>
        </p:txBody>
      </p:sp>
      <p:sp>
        <p:nvSpPr>
          <p:cNvPr id="3" name="Text Placeholder 2">
            <a:extLst>
              <a:ext uri="{FF2B5EF4-FFF2-40B4-BE49-F238E27FC236}">
                <a16:creationId xmlns:a16="http://schemas.microsoft.com/office/drawing/2014/main" id="{6C915463-E8EE-4502-8261-E337007EFAAF}"/>
              </a:ext>
            </a:extLst>
          </p:cNvPr>
          <p:cNvSpPr>
            <a:spLocks noGrp="1"/>
          </p:cNvSpPr>
          <p:nvPr>
            <p:ph type="body" idx="1"/>
          </p:nvPr>
        </p:nvSpPr>
        <p:spPr/>
        <p:txBody>
          <a:bodyPr/>
          <a:lstStyle/>
          <a:p>
            <a:r>
              <a:rPr lang="en-US" dirty="0"/>
              <a:t>Section – 12.5</a:t>
            </a:r>
          </a:p>
        </p:txBody>
      </p:sp>
    </p:spTree>
    <p:extLst>
      <p:ext uri="{BB962C8B-B14F-4D97-AF65-F5344CB8AC3E}">
        <p14:creationId xmlns:p14="http://schemas.microsoft.com/office/powerpoint/2010/main" val="291054341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Preemptive Priority Scheduling</a:t>
            </a:r>
            <a:endParaRPr lang="en-IN" dirty="0"/>
          </a:p>
        </p:txBody>
      </p:sp>
      <p:sp>
        <p:nvSpPr>
          <p:cNvPr id="3" name="Content Placeholder 2"/>
          <p:cNvSpPr>
            <a:spLocks noGrp="1"/>
          </p:cNvSpPr>
          <p:nvPr>
            <p:ph idx="1"/>
          </p:nvPr>
        </p:nvSpPr>
        <p:spPr/>
        <p:txBody>
          <a:bodyPr/>
          <a:lstStyle/>
          <a:p>
            <a:r>
              <a:rPr lang="en-US" b="1" dirty="0"/>
              <a:t>Selection Criteria</a:t>
            </a:r>
            <a:endParaRPr lang="en-IN" b="1" dirty="0"/>
          </a:p>
          <a:p>
            <a:pPr lvl="1"/>
            <a:r>
              <a:rPr lang="en-US" dirty="0"/>
              <a:t>The process which have </a:t>
            </a:r>
            <a:r>
              <a:rPr lang="en-US" b="1" dirty="0">
                <a:solidFill>
                  <a:schemeClr val="accent6"/>
                </a:solidFill>
              </a:rPr>
              <a:t>highest priority is served first</a:t>
            </a:r>
            <a:r>
              <a:rPr lang="en-US" dirty="0"/>
              <a:t>.</a:t>
            </a:r>
            <a:endParaRPr lang="en-IN" dirty="0"/>
          </a:p>
          <a:p>
            <a:r>
              <a:rPr lang="en-US" b="1" dirty="0"/>
              <a:t>Decision Mode</a:t>
            </a:r>
            <a:endParaRPr lang="en-IN" b="1" dirty="0"/>
          </a:p>
          <a:p>
            <a:pPr lvl="1"/>
            <a:r>
              <a:rPr lang="en-US" dirty="0"/>
              <a:t>When new process arrives, its priority is compared with current process priority. If the new process have </a:t>
            </a:r>
            <a:r>
              <a:rPr lang="en-US" b="1" dirty="0">
                <a:solidFill>
                  <a:schemeClr val="accent6"/>
                </a:solidFill>
              </a:rPr>
              <a:t>highest priority</a:t>
            </a:r>
            <a:r>
              <a:rPr lang="en-US" dirty="0"/>
              <a:t>, then the current process is </a:t>
            </a:r>
            <a:r>
              <a:rPr lang="en-US" b="1" dirty="0">
                <a:solidFill>
                  <a:schemeClr val="accent6"/>
                </a:solidFill>
              </a:rPr>
              <a:t>suspended</a:t>
            </a:r>
            <a:r>
              <a:rPr lang="en-US" dirty="0"/>
              <a:t> and new process is started.</a:t>
            </a:r>
          </a:p>
          <a:p>
            <a:r>
              <a:rPr lang="en-US" b="1" dirty="0"/>
              <a:t>Implementation</a:t>
            </a:r>
            <a:endParaRPr lang="en-IN" b="1" dirty="0"/>
          </a:p>
          <a:p>
            <a:pPr lvl="1"/>
            <a:r>
              <a:rPr lang="en-US" dirty="0"/>
              <a:t>This strategy can be implemented using </a:t>
            </a:r>
            <a:r>
              <a:rPr lang="en-US" b="1" dirty="0">
                <a:solidFill>
                  <a:schemeClr val="accent6"/>
                </a:solidFill>
              </a:rPr>
              <a:t>FIFO queue</a:t>
            </a:r>
            <a:r>
              <a:rPr lang="en-US" dirty="0"/>
              <a:t>. All process in a queue are sorted based in priority with highest priority process at front end. </a:t>
            </a:r>
          </a:p>
          <a:p>
            <a:pPr lvl="1"/>
            <a:r>
              <a:rPr lang="en-US" dirty="0"/>
              <a:t>When CPU becomes free, the process from the first position in queue is selected to run.</a:t>
            </a:r>
            <a:endParaRPr lang="en-IN" dirty="0"/>
          </a:p>
          <a:p>
            <a:pPr lvl="1"/>
            <a:endParaRPr lang="en-IN" dirty="0"/>
          </a:p>
          <a:p>
            <a:endParaRPr lang="en-IN" dirty="0"/>
          </a:p>
        </p:txBody>
      </p:sp>
    </p:spTree>
    <p:extLst>
      <p:ext uri="{BB962C8B-B14F-4D97-AF65-F5344CB8AC3E}">
        <p14:creationId xmlns:p14="http://schemas.microsoft.com/office/powerpoint/2010/main" val="5291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Preemptive Priority Scheduling</a:t>
            </a:r>
            <a:endParaRPr lang="en-IN" dirty="0"/>
          </a:p>
        </p:txBody>
      </p:sp>
      <p:sp>
        <p:nvSpPr>
          <p:cNvPr id="3" name="Content Placeholder 2"/>
          <p:cNvSpPr>
            <a:spLocks noGrp="1"/>
          </p:cNvSpPr>
          <p:nvPr>
            <p:ph idx="1"/>
          </p:nvPr>
        </p:nvSpPr>
        <p:spPr/>
        <p:txBody>
          <a:bodyPr/>
          <a:lstStyle/>
          <a:p>
            <a:r>
              <a:rPr lang="en-IN" dirty="0"/>
              <a:t>Example</a:t>
            </a:r>
          </a:p>
          <a:p>
            <a:r>
              <a:rPr lang="en-US" dirty="0"/>
              <a:t>Consider the following set of four processes. Their priority, arrival and time required to complete the execution are given in following table. (Time value in milliseconds). The smallest value of priority will be considering as highest priority.</a:t>
            </a:r>
            <a:endParaRPr lang="en-IN"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2151529" y="2770095"/>
              <a:ext cx="7557247" cy="2729753"/>
            </p:xfrm>
            <a:graphic>
              <a:graphicData uri="http://schemas.openxmlformats.org/drawingml/2006/table">
                <a:tbl>
                  <a:tblPr firstRow="1" firstCol="1" bandRow="1">
                    <a:tableStyleId>{5C22544A-7EE6-4342-B048-85BDC9FD1C3A}</a:tableStyleId>
                  </a:tblPr>
                  <a:tblGrid>
                    <a:gridCol w="1048448">
                      <a:extLst>
                        <a:ext uri="{9D8B030D-6E8A-4147-A177-3AD203B41FA5}">
                          <a16:colId xmlns:a16="http://schemas.microsoft.com/office/drawing/2014/main" val="20000"/>
                        </a:ext>
                      </a:extLst>
                    </a:gridCol>
                    <a:gridCol w="1966245">
                      <a:extLst>
                        <a:ext uri="{9D8B030D-6E8A-4147-A177-3AD203B41FA5}">
                          <a16:colId xmlns:a16="http://schemas.microsoft.com/office/drawing/2014/main" val="20001"/>
                        </a:ext>
                      </a:extLst>
                    </a:gridCol>
                    <a:gridCol w="1966245">
                      <a:extLst>
                        <a:ext uri="{9D8B030D-6E8A-4147-A177-3AD203B41FA5}">
                          <a16:colId xmlns:a16="http://schemas.microsoft.com/office/drawing/2014/main" val="20002"/>
                        </a:ext>
                      </a:extLst>
                    </a:gridCol>
                    <a:gridCol w="2576309">
                      <a:extLst>
                        <a:ext uri="{9D8B030D-6E8A-4147-A177-3AD203B41FA5}">
                          <a16:colId xmlns:a16="http://schemas.microsoft.com/office/drawing/2014/main" val="20003"/>
                        </a:ext>
                      </a:extLst>
                    </a:gridCol>
                  </a:tblGrid>
                  <a:tr h="929305">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Process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Priority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Arrival Time(T0)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Completion Time (ΔT)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0000"/>
                      </a:ext>
                    </a:extLst>
                  </a:tr>
                  <a:tr h="450112">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0112">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0112">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50112">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11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002981539"/>
                  </p:ext>
                </p:extLst>
              </p:nvPr>
            </p:nvGraphicFramePr>
            <p:xfrm>
              <a:off x="2151529" y="2770095"/>
              <a:ext cx="7557247" cy="2729753"/>
            </p:xfrm>
            <a:graphic>
              <a:graphicData uri="http://schemas.openxmlformats.org/drawingml/2006/table">
                <a:tbl>
                  <a:tblPr firstRow="1" firstCol="1" bandRow="1">
                    <a:tableStyleId>{5C22544A-7EE6-4342-B048-85BDC9FD1C3A}</a:tableStyleId>
                  </a:tblPr>
                  <a:tblGrid>
                    <a:gridCol w="1048448"/>
                    <a:gridCol w="1966245"/>
                    <a:gridCol w="1966245"/>
                    <a:gridCol w="2576309"/>
                  </a:tblGrid>
                  <a:tr h="929305">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Process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Priority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Arrival Time(T0)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Completion Time (ΔT)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r>
                  <a:tr h="45011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581" t="-208108" r="-622674" b="-317568"/>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011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581" t="-308108" r="-622674" b="-217568"/>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smtClean="0">
                              <a:solidFill>
                                <a:schemeClr val="tx1"/>
                              </a:solidFill>
                              <a:latin typeface="+mn-lt"/>
                              <a:ea typeface="+mn-ea"/>
                              <a:cs typeface="+mn-cs"/>
                            </a:rPr>
                            <a:t>0</a:t>
                          </a:r>
                          <a:endParaRPr lang="en-US" sz="2000" kern="1200" baseline="0" dirty="0">
                            <a:solidFill>
                              <a:schemeClr val="tx1"/>
                            </a:solidFill>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011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581" t="-408108" r="-622674" b="-117568"/>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smtClean="0">
                              <a:solidFill>
                                <a:schemeClr val="tx1"/>
                              </a:solidFill>
                              <a:latin typeface="+mn-lt"/>
                              <a:ea typeface="+mn-ea"/>
                              <a:cs typeface="+mn-cs"/>
                            </a:rPr>
                            <a:t>6</a:t>
                          </a:r>
                          <a:endParaRPr lang="en-US" sz="2000" kern="1200" baseline="0" dirty="0">
                            <a:solidFill>
                              <a:schemeClr val="tx1"/>
                            </a:solidFill>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011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581" t="-508108" r="-622674" b="-17568"/>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smtClean="0">
                              <a:solidFill>
                                <a:schemeClr val="tx1"/>
                              </a:solidFill>
                              <a:latin typeface="+mn-lt"/>
                              <a:ea typeface="+mn-ea"/>
                              <a:cs typeface="+mn-cs"/>
                            </a:rPr>
                            <a:t>11</a:t>
                          </a:r>
                          <a:endParaRPr lang="en-US" sz="2000" kern="1200" baseline="0" dirty="0">
                            <a:solidFill>
                              <a:schemeClr val="tx1"/>
                            </a:solidFill>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mc:Fallback>
      </mc:AlternateContent>
    </p:spTree>
    <p:extLst>
      <p:ext uri="{BB962C8B-B14F-4D97-AF65-F5344CB8AC3E}">
        <p14:creationId xmlns:p14="http://schemas.microsoft.com/office/powerpoint/2010/main" val="531938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496070" y="0"/>
            <a:ext cx="569593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Preemptive Priority Scheduling</a:t>
            </a:r>
            <a:endParaRPr lang="en-IN" sz="2800" b="1" dirty="0"/>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In this example, Initially </a:t>
            </a:r>
            <a:r>
              <a:rPr lang="en-US" sz="2000" dirty="0">
                <a:solidFill>
                  <a:srgbClr val="FFFF00"/>
                </a:solidFill>
              </a:rPr>
              <a:t>process</a:t>
            </a:r>
            <a:r>
              <a:rPr lang="en-US" sz="2000" dirty="0"/>
              <a:t> </a:t>
            </a:r>
            <a:r>
              <a:rPr lang="en-US" sz="2000" dirty="0">
                <a:solidFill>
                  <a:srgbClr val="FFFF00"/>
                </a:solidFill>
              </a:rPr>
              <a:t>P0</a:t>
            </a:r>
            <a:r>
              <a:rPr lang="en-US" sz="2000" dirty="0"/>
              <a:t> and </a:t>
            </a:r>
            <a:r>
              <a:rPr lang="en-US" sz="2000" dirty="0">
                <a:solidFill>
                  <a:srgbClr val="FFFF00"/>
                </a:solidFill>
              </a:rPr>
              <a:t>P1</a:t>
            </a:r>
            <a:r>
              <a:rPr lang="en-US" sz="2000" dirty="0"/>
              <a:t> have same arrival time so process </a:t>
            </a:r>
            <a:r>
              <a:rPr lang="en-US" sz="2000" dirty="0">
                <a:solidFill>
                  <a:srgbClr val="FFFF00"/>
                </a:solidFill>
              </a:rPr>
              <a:t>p0</a:t>
            </a:r>
            <a:r>
              <a:rPr lang="en-US" sz="2000" dirty="0"/>
              <a:t> will </a:t>
            </a:r>
            <a:r>
              <a:rPr lang="en-US" sz="2000" dirty="0">
                <a:solidFill>
                  <a:srgbClr val="FFFF00"/>
                </a:solidFill>
              </a:rPr>
              <a:t>run</a:t>
            </a:r>
            <a:r>
              <a:rPr lang="en-US" sz="2000" dirty="0"/>
              <a:t> </a:t>
            </a:r>
            <a:r>
              <a:rPr lang="en-US" sz="2000" dirty="0">
                <a:solidFill>
                  <a:srgbClr val="FFFF00"/>
                </a:solidFill>
              </a:rPr>
              <a:t>first</a:t>
            </a:r>
            <a:r>
              <a:rPr lang="en-US" sz="2000" dirty="0"/>
              <a:t>.</a:t>
            </a:r>
          </a:p>
          <a:p>
            <a:pPr marL="342900" indent="-342900" algn="just">
              <a:buFont typeface="Wingdings" panose="05000000000000000000" pitchFamily="2" charset="2"/>
              <a:buChar char="ü"/>
            </a:pPr>
            <a:r>
              <a:rPr lang="en-US" sz="2000" dirty="0"/>
              <a:t>After completion of P0 at 4ms, the P1 will arrive and run for 2 second.</a:t>
            </a:r>
          </a:p>
          <a:p>
            <a:pPr marL="342900" indent="-342900" algn="just">
              <a:buFont typeface="Wingdings" panose="05000000000000000000" pitchFamily="2" charset="2"/>
              <a:buChar char="ü"/>
            </a:pPr>
            <a:r>
              <a:rPr lang="en-US" sz="2000" dirty="0"/>
              <a:t>After that </a:t>
            </a:r>
            <a:r>
              <a:rPr lang="en-US" sz="2000" dirty="0">
                <a:solidFill>
                  <a:srgbClr val="FFFF00"/>
                </a:solidFill>
              </a:rPr>
              <a:t>P1</a:t>
            </a:r>
            <a:r>
              <a:rPr lang="en-US" sz="2000" dirty="0"/>
              <a:t> will </a:t>
            </a:r>
            <a:r>
              <a:rPr lang="en-US" sz="2000" dirty="0">
                <a:solidFill>
                  <a:srgbClr val="FFFF00"/>
                </a:solidFill>
              </a:rPr>
              <a:t>be preempted</a:t>
            </a:r>
            <a:r>
              <a:rPr lang="en-US" sz="2000" dirty="0"/>
              <a:t> and </a:t>
            </a:r>
            <a:r>
              <a:rPr lang="en-US" sz="2000" dirty="0">
                <a:solidFill>
                  <a:srgbClr val="FFFF00"/>
                </a:solidFill>
              </a:rPr>
              <a:t>P2</a:t>
            </a:r>
            <a:r>
              <a:rPr lang="en-US" sz="2000" dirty="0"/>
              <a:t> will allow to </a:t>
            </a:r>
            <a:r>
              <a:rPr lang="en-US" sz="2000" dirty="0">
                <a:solidFill>
                  <a:srgbClr val="FFFF00"/>
                </a:solidFill>
              </a:rPr>
              <a:t>run</a:t>
            </a:r>
            <a:r>
              <a:rPr lang="en-US" sz="2000" dirty="0"/>
              <a:t> because P2 has </a:t>
            </a:r>
            <a:r>
              <a:rPr lang="en-US" sz="2000" dirty="0">
                <a:solidFill>
                  <a:srgbClr val="FFFF00"/>
                </a:solidFill>
              </a:rPr>
              <a:t>highest</a:t>
            </a:r>
            <a:r>
              <a:rPr lang="en-US" sz="2000" dirty="0"/>
              <a:t> </a:t>
            </a:r>
            <a:r>
              <a:rPr lang="en-US" sz="2000" dirty="0">
                <a:solidFill>
                  <a:srgbClr val="FFFF00"/>
                </a:solidFill>
              </a:rPr>
              <a:t>priority</a:t>
            </a:r>
            <a:r>
              <a:rPr lang="en-US" sz="2000" dirty="0"/>
              <a:t> then P1.</a:t>
            </a:r>
          </a:p>
          <a:p>
            <a:pPr marL="342900" indent="-342900" algn="just">
              <a:buFont typeface="Wingdings" panose="05000000000000000000" pitchFamily="2" charset="2"/>
              <a:buChar char="ü"/>
            </a:pPr>
            <a:r>
              <a:rPr lang="en-US" sz="2000" dirty="0"/>
              <a:t>P2 will run until its completion time 8ms and then again P1 will again allow to run for 1ms because P1 have highest priority then P3.</a:t>
            </a:r>
          </a:p>
          <a:p>
            <a:pPr marL="342900" indent="-342900" algn="just">
              <a:buFont typeface="Wingdings" panose="05000000000000000000" pitchFamily="2" charset="2"/>
              <a:buChar char="ü"/>
            </a:pPr>
            <a:r>
              <a:rPr lang="en-US" sz="2000" dirty="0"/>
              <a:t>This process is repeated until all process complete its execution.</a:t>
            </a:r>
          </a:p>
          <a:p>
            <a:pPr marL="342900" indent="-342900" algn="just">
              <a:buFont typeface="Wingdings" panose="05000000000000000000" pitchFamily="2" charset="2"/>
              <a:buChar char="Ø"/>
            </a:pPr>
            <a:endParaRPr lang="en-IN" sz="2000" dirty="0"/>
          </a:p>
        </p:txBody>
      </p:sp>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306589" y="3899679"/>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11015" y="4621604"/>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306588" y="3911177"/>
                <a:ext cx="86564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306588" y="3911177"/>
                <a:ext cx="865647" cy="655359"/>
              </a:xfrm>
              <a:prstGeom prst="rect">
                <a:avLst/>
              </a:prstGeom>
              <a:blipFill rotWithShape="0">
                <a:blip r:embed="rId2"/>
                <a:stretch>
                  <a:fillRect/>
                </a:stretch>
              </a:blipFill>
              <a:ln w="38100">
                <a:solidFill>
                  <a:schemeClr val="tx1"/>
                </a:solidFill>
              </a:ln>
            </p:spPr>
            <p:txBody>
              <a:bodyPr/>
              <a:lstStyle/>
              <a:p>
                <a:r>
                  <a:rPr lang="en-US">
                    <a:noFill/>
                  </a:rPr>
                  <a:t> </a:t>
                </a:r>
              </a:p>
            </p:txBody>
          </p:sp>
        </mc:Fallback>
      </mc:AlternateContent>
      <p:sp>
        <p:nvSpPr>
          <p:cNvPr id="37" name="TextBox 36"/>
          <p:cNvSpPr txBox="1"/>
          <p:nvPr/>
        </p:nvSpPr>
        <p:spPr>
          <a:xfrm>
            <a:off x="1006163" y="4617125"/>
            <a:ext cx="318448" cy="381000"/>
          </a:xfrm>
          <a:prstGeom prst="rect">
            <a:avLst/>
          </a:prstGeom>
          <a:noFill/>
        </p:spPr>
        <p:txBody>
          <a:bodyPr wrap="square" rtlCol="0">
            <a:spAutoFit/>
          </a:bodyPr>
          <a:lstStyle/>
          <a:p>
            <a:r>
              <a:rPr lang="en-US" dirty="0"/>
              <a:t>4</a:t>
            </a:r>
          </a:p>
        </p:txBody>
      </p:sp>
      <p:sp>
        <p:nvSpPr>
          <p:cNvPr id="39" name="TextBox 38"/>
          <p:cNvSpPr txBox="1"/>
          <p:nvPr/>
        </p:nvSpPr>
        <p:spPr>
          <a:xfrm>
            <a:off x="1522982" y="4617125"/>
            <a:ext cx="318448" cy="381000"/>
          </a:xfrm>
          <a:prstGeom prst="rect">
            <a:avLst/>
          </a:prstGeom>
          <a:noFill/>
        </p:spPr>
        <p:txBody>
          <a:bodyPr wrap="square" rtlCol="0">
            <a:spAutoFit/>
          </a:bodyPr>
          <a:lstStyle/>
          <a:p>
            <a:r>
              <a:rPr lang="en-US" dirty="0"/>
              <a:t>6</a:t>
            </a:r>
          </a:p>
        </p:txBody>
      </p:sp>
      <mc:AlternateContent xmlns:mc="http://schemas.openxmlformats.org/markup-compatibility/2006" xmlns:a14="http://schemas.microsoft.com/office/drawing/2010/main">
        <mc:Choice Requires="a14">
          <p:sp>
            <p:nvSpPr>
              <p:cNvPr id="40" name="Rectangle 39"/>
              <p:cNvSpPr/>
              <p:nvPr/>
            </p:nvSpPr>
            <p:spPr>
              <a:xfrm>
                <a:off x="1172235" y="3909115"/>
                <a:ext cx="553335"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1172235" y="3909115"/>
                <a:ext cx="553335"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p:cNvSpPr/>
              <p:nvPr/>
            </p:nvSpPr>
            <p:spPr>
              <a:xfrm>
                <a:off x="1725570" y="3909049"/>
                <a:ext cx="1257002"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1725570" y="3909049"/>
                <a:ext cx="1257002"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738265" y="4632586"/>
            <a:ext cx="503953" cy="369332"/>
          </a:xfrm>
          <a:prstGeom prst="rect">
            <a:avLst/>
          </a:prstGeom>
          <a:noFill/>
        </p:spPr>
        <p:txBody>
          <a:bodyPr wrap="square" rtlCol="0">
            <a:spAutoFit/>
          </a:bodyPr>
          <a:lstStyle/>
          <a:p>
            <a:r>
              <a:rPr lang="en-US" dirty="0"/>
              <a:t>14</a:t>
            </a:r>
          </a:p>
        </p:txBody>
      </p:sp>
      <mc:AlternateContent xmlns:mc="http://schemas.openxmlformats.org/markup-compatibility/2006" xmlns:a14="http://schemas.microsoft.com/office/drawing/2010/main">
        <mc:Choice Requires="a14">
          <p:sp>
            <p:nvSpPr>
              <p:cNvPr id="53" name="Rectangle 52"/>
              <p:cNvSpPr/>
              <p:nvPr/>
            </p:nvSpPr>
            <p:spPr>
              <a:xfrm>
                <a:off x="2982573" y="3908661"/>
                <a:ext cx="7875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53" name="Rectangle 52"/>
              <p:cNvSpPr>
                <a:spLocks noRot="1" noChangeAspect="1" noMove="1" noResize="1" noEditPoints="1" noAdjustHandles="1" noChangeArrowheads="1" noChangeShapeType="1" noTextEdit="1"/>
              </p:cNvSpPr>
              <p:nvPr/>
            </p:nvSpPr>
            <p:spPr>
              <a:xfrm>
                <a:off x="2982573" y="3908661"/>
                <a:ext cx="78751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p:sp>
        <p:nvSpPr>
          <p:cNvPr id="54" name="TextBox 53"/>
          <p:cNvSpPr txBox="1"/>
          <p:nvPr/>
        </p:nvSpPr>
        <p:spPr>
          <a:xfrm>
            <a:off x="3366297" y="4622959"/>
            <a:ext cx="503953" cy="369332"/>
          </a:xfrm>
          <a:prstGeom prst="rect">
            <a:avLst/>
          </a:prstGeom>
          <a:noFill/>
        </p:spPr>
        <p:txBody>
          <a:bodyPr wrap="square" rtlCol="0">
            <a:spAutoFit/>
          </a:bodyPr>
          <a:lstStyle/>
          <a:p>
            <a:r>
              <a:rPr lang="en-US" dirty="0"/>
              <a:t>15</a:t>
            </a:r>
          </a:p>
        </p:txBody>
      </p:sp>
      <mc:AlternateContent xmlns:mc="http://schemas.openxmlformats.org/markup-compatibility/2006" xmlns:a14="http://schemas.microsoft.com/office/drawing/2010/main">
        <mc:Choice Requires="a14">
          <p:sp>
            <p:nvSpPr>
              <p:cNvPr id="58" name="Rectangle 57"/>
              <p:cNvSpPr/>
              <p:nvPr/>
            </p:nvSpPr>
            <p:spPr>
              <a:xfrm>
                <a:off x="3770083" y="3908659"/>
                <a:ext cx="102282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58" name="Rectangle 57"/>
              <p:cNvSpPr>
                <a:spLocks noRot="1" noChangeAspect="1" noMove="1" noResize="1" noEditPoints="1" noAdjustHandles="1" noChangeArrowheads="1" noChangeShapeType="1" noTextEdit="1"/>
              </p:cNvSpPr>
              <p:nvPr/>
            </p:nvSpPr>
            <p:spPr>
              <a:xfrm>
                <a:off x="3770083" y="3908659"/>
                <a:ext cx="1022827"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61" name="TextBox 60"/>
          <p:cNvSpPr txBox="1"/>
          <p:nvPr/>
        </p:nvSpPr>
        <p:spPr>
          <a:xfrm>
            <a:off x="4526455" y="4617125"/>
            <a:ext cx="503953" cy="369332"/>
          </a:xfrm>
          <a:prstGeom prst="rect">
            <a:avLst/>
          </a:prstGeom>
          <a:noFill/>
        </p:spPr>
        <p:txBody>
          <a:bodyPr wrap="square" rtlCol="0">
            <a:spAutoFit/>
          </a:bodyPr>
          <a:lstStyle/>
          <a:p>
            <a:r>
              <a:rPr lang="en-US" dirty="0"/>
              <a:t>20</a:t>
            </a:r>
          </a:p>
        </p:txBody>
      </p:sp>
      <mc:AlternateContent xmlns:mc="http://schemas.openxmlformats.org/markup-compatibility/2006" xmlns:a14="http://schemas.microsoft.com/office/drawing/2010/main">
        <mc:Choice Requires="a14">
          <p:graphicFrame>
            <p:nvGraphicFramePr>
              <p:cNvPr id="42" name="Table 41"/>
              <p:cNvGraphicFramePr>
                <a:graphicFrameLocks noGrp="1"/>
              </p:cNvGraphicFramePr>
              <p:nvPr/>
            </p:nvGraphicFramePr>
            <p:xfrm>
              <a:off x="318448" y="658908"/>
              <a:ext cx="5822578" cy="2225040"/>
            </p:xfrm>
            <a:graphic>
              <a:graphicData uri="http://schemas.openxmlformats.org/drawingml/2006/table">
                <a:tbl>
                  <a:tblPr firstRow="1" firstCol="1" bandRow="1">
                    <a:tableStyleId>{5C22544A-7EE6-4342-B048-85BDC9FD1C3A}</a:tableStyleId>
                  </a:tblPr>
                  <a:tblGrid>
                    <a:gridCol w="969698">
                      <a:extLst>
                        <a:ext uri="{9D8B030D-6E8A-4147-A177-3AD203B41FA5}">
                          <a16:colId xmlns:a16="http://schemas.microsoft.com/office/drawing/2014/main" val="20000"/>
                        </a:ext>
                      </a:extLst>
                    </a:gridCol>
                    <a:gridCol w="1353011">
                      <a:extLst>
                        <a:ext uri="{9D8B030D-6E8A-4147-A177-3AD203B41FA5}">
                          <a16:colId xmlns:a16="http://schemas.microsoft.com/office/drawing/2014/main" val="20001"/>
                        </a:ext>
                      </a:extLst>
                    </a:gridCol>
                    <a:gridCol w="1514919">
                      <a:extLst>
                        <a:ext uri="{9D8B030D-6E8A-4147-A177-3AD203B41FA5}">
                          <a16:colId xmlns:a16="http://schemas.microsoft.com/office/drawing/2014/main" val="20002"/>
                        </a:ext>
                      </a:extLst>
                    </a:gridCol>
                    <a:gridCol w="1984950">
                      <a:extLst>
                        <a:ext uri="{9D8B030D-6E8A-4147-A177-3AD203B41FA5}">
                          <a16:colId xmlns:a16="http://schemas.microsoft.com/office/drawing/2014/main" val="20003"/>
                        </a:ext>
                      </a:extLst>
                    </a:gridCol>
                  </a:tblGrid>
                  <a:tr h="585965">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Process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Priority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Arrival Time(T0)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Completion Time (ΔT)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0000"/>
                      </a:ext>
                    </a:extLst>
                  </a:tr>
                  <a:tr h="28381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381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381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381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11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mc:Choice>
        <mc:Fallback xmlns="">
          <p:graphicFrame>
            <p:nvGraphicFramePr>
              <p:cNvPr id="42" name="Table 41"/>
              <p:cNvGraphicFramePr>
                <a:graphicFrameLocks noGrp="1"/>
              </p:cNvGraphicFramePr>
              <p:nvPr>
                <p:extLst>
                  <p:ext uri="{D42A27DB-BD31-4B8C-83A1-F6EECF244321}">
                    <p14:modId xmlns:p14="http://schemas.microsoft.com/office/powerpoint/2010/main" val="1660548940"/>
                  </p:ext>
                </p:extLst>
              </p:nvPr>
            </p:nvGraphicFramePr>
            <p:xfrm>
              <a:off x="318448" y="658908"/>
              <a:ext cx="5822578" cy="2225040"/>
            </p:xfrm>
            <a:graphic>
              <a:graphicData uri="http://schemas.openxmlformats.org/drawingml/2006/table">
                <a:tbl>
                  <a:tblPr firstRow="1" firstCol="1" bandRow="1">
                    <a:tableStyleId>{5C22544A-7EE6-4342-B048-85BDC9FD1C3A}</a:tableStyleId>
                  </a:tblPr>
                  <a:tblGrid>
                    <a:gridCol w="969698"/>
                    <a:gridCol w="1353011"/>
                    <a:gridCol w="1514919"/>
                    <a:gridCol w="1984950"/>
                  </a:tblGrid>
                  <a:tr h="701040">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Process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Priority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Arrival Time(T0)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Completion Time (ΔT)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r>
                  <a:tr h="381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7"/>
                          <a:stretch>
                            <a:fillRect l="-629" t="-196825" r="-502516" b="-328571"/>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81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7"/>
                          <a:stretch>
                            <a:fillRect l="-629" t="-296825" r="-502516" b="-228571"/>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81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7"/>
                          <a:stretch>
                            <a:fillRect l="-629" t="-403226" r="-502516" b="-132258"/>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81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7"/>
                          <a:stretch>
                            <a:fillRect l="-629" t="-495238" r="-502516" b="-30159"/>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11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mc:Fallback>
      </mc:AlternateContent>
    </p:spTree>
    <p:extLst>
      <p:ext uri="{BB962C8B-B14F-4D97-AF65-F5344CB8AC3E}">
        <p14:creationId xmlns:p14="http://schemas.microsoft.com/office/powerpoint/2010/main" val="3183659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5" grpId="0"/>
      <p:bldP spid="18" grpId="0" animBg="1"/>
      <p:bldP spid="37" grpId="0"/>
      <p:bldP spid="39" grpId="0"/>
      <p:bldP spid="40" grpId="0" animBg="1"/>
      <p:bldP spid="47" grpId="0" animBg="1"/>
      <p:bldP spid="48" grpId="0"/>
      <p:bldP spid="53" grpId="0" animBg="1"/>
      <p:bldP spid="54" grpId="0"/>
      <p:bldP spid="58" grpId="0" animBg="1"/>
      <p:bldP spid="61"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Preemptive Priority Scheduling</a:t>
            </a:r>
            <a:endParaRPr lang="en-IN" dirty="0"/>
          </a:p>
        </p:txBody>
      </p:sp>
      <mc:AlternateContent xmlns:mc="http://schemas.openxmlformats.org/markup-compatibility/2006" xmlns:a14="http://schemas.microsoft.com/office/drawing/2010/main">
        <mc:Choice Requires="a14">
          <p:graphicFrame>
            <p:nvGraphicFramePr>
              <p:cNvPr id="1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16"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881442119"/>
                  </p:ext>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 xmlns:a16="http://schemas.microsoft.com/office/drawing/2014/main" xmlns:a14="http://schemas.microsoft.com/office/drawing/2010/main" val="20000"/>
                        </a:ext>
                      </a:extLst>
                    </a:gridCol>
                    <a:gridCol w="1547749">
                      <a:extLst>
                        <a:ext uri="{9D8B030D-6E8A-4147-A177-3AD203B41FA5}">
                          <a16:colId xmlns="" xmlns:a16="http://schemas.microsoft.com/office/drawing/2014/main" xmlns:a14="http://schemas.microsoft.com/office/drawing/2010/main" val="20001"/>
                        </a:ext>
                      </a:extLst>
                    </a:gridCol>
                    <a:gridCol w="3564248">
                      <a:extLst>
                        <a:ext uri="{9D8B030D-6E8A-4147-A177-3AD203B41FA5}">
                          <a16:colId xmlns="" xmlns:a16="http://schemas.microsoft.com/office/drawing/2014/main"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0</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6</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smtClean="0">
                              <a:solidFill>
                                <a:schemeClr val="tx1"/>
                              </a:solidFill>
                            </a:rPr>
                            <a:t>11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1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2"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cxnSp>
        <p:nvCxnSpPr>
          <p:cNvPr id="50" name="Straight Connector 49"/>
          <p:cNvCxnSpPr/>
          <p:nvPr/>
        </p:nvCxnSpPr>
        <p:spPr>
          <a:xfrm flipH="1">
            <a:off x="307436" y="4242297"/>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211862" y="4964222"/>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52" name="Rectangle 51"/>
              <p:cNvSpPr/>
              <p:nvPr/>
            </p:nvSpPr>
            <p:spPr>
              <a:xfrm>
                <a:off x="307435" y="4253795"/>
                <a:ext cx="86564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2" name="Rectangle 51"/>
              <p:cNvSpPr>
                <a:spLocks noRot="1" noChangeAspect="1" noMove="1" noResize="1" noEditPoints="1" noAdjustHandles="1" noChangeArrowheads="1" noChangeShapeType="1" noTextEdit="1"/>
              </p:cNvSpPr>
              <p:nvPr/>
            </p:nvSpPr>
            <p:spPr>
              <a:xfrm>
                <a:off x="307435" y="4253795"/>
                <a:ext cx="865647"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53" name="TextBox 52"/>
          <p:cNvSpPr txBox="1"/>
          <p:nvPr/>
        </p:nvSpPr>
        <p:spPr>
          <a:xfrm>
            <a:off x="1007010" y="4959743"/>
            <a:ext cx="318448" cy="381000"/>
          </a:xfrm>
          <a:prstGeom prst="rect">
            <a:avLst/>
          </a:prstGeom>
          <a:noFill/>
        </p:spPr>
        <p:txBody>
          <a:bodyPr wrap="square" rtlCol="0">
            <a:spAutoFit/>
          </a:bodyPr>
          <a:lstStyle/>
          <a:p>
            <a:r>
              <a:rPr lang="en-US" dirty="0"/>
              <a:t>4</a:t>
            </a:r>
          </a:p>
        </p:txBody>
      </p:sp>
      <p:sp>
        <p:nvSpPr>
          <p:cNvPr id="54" name="TextBox 53"/>
          <p:cNvSpPr txBox="1"/>
          <p:nvPr/>
        </p:nvSpPr>
        <p:spPr>
          <a:xfrm>
            <a:off x="1523829" y="4959743"/>
            <a:ext cx="318448" cy="381000"/>
          </a:xfrm>
          <a:prstGeom prst="rect">
            <a:avLst/>
          </a:prstGeom>
          <a:noFill/>
        </p:spPr>
        <p:txBody>
          <a:bodyPr wrap="square" rtlCol="0">
            <a:spAutoFit/>
          </a:bodyPr>
          <a:lstStyle/>
          <a:p>
            <a:r>
              <a:rPr lang="en-US" dirty="0"/>
              <a:t>6</a:t>
            </a:r>
          </a:p>
        </p:txBody>
      </p:sp>
      <mc:AlternateContent xmlns:mc="http://schemas.openxmlformats.org/markup-compatibility/2006" xmlns:a14="http://schemas.microsoft.com/office/drawing/2010/main">
        <mc:Choice Requires="a14">
          <p:sp>
            <p:nvSpPr>
              <p:cNvPr id="55" name="Rectangle 54"/>
              <p:cNvSpPr/>
              <p:nvPr/>
            </p:nvSpPr>
            <p:spPr>
              <a:xfrm>
                <a:off x="1173082" y="4251733"/>
                <a:ext cx="553335"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55" name="Rectangle 54"/>
              <p:cNvSpPr>
                <a:spLocks noRot="1" noChangeAspect="1" noMove="1" noResize="1" noEditPoints="1" noAdjustHandles="1" noChangeArrowheads="1" noChangeShapeType="1" noTextEdit="1"/>
              </p:cNvSpPr>
              <p:nvPr/>
            </p:nvSpPr>
            <p:spPr>
              <a:xfrm>
                <a:off x="1173082" y="4251733"/>
                <a:ext cx="553335"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p:cNvSpPr/>
              <p:nvPr/>
            </p:nvSpPr>
            <p:spPr>
              <a:xfrm>
                <a:off x="1726417" y="4251667"/>
                <a:ext cx="1257002"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56" name="Rectangle 55"/>
              <p:cNvSpPr>
                <a:spLocks noRot="1" noChangeAspect="1" noMove="1" noResize="1" noEditPoints="1" noAdjustHandles="1" noChangeArrowheads="1" noChangeShapeType="1" noTextEdit="1"/>
              </p:cNvSpPr>
              <p:nvPr/>
            </p:nvSpPr>
            <p:spPr>
              <a:xfrm>
                <a:off x="1726417" y="4251667"/>
                <a:ext cx="1257002"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57" name="TextBox 56"/>
          <p:cNvSpPr txBox="1"/>
          <p:nvPr/>
        </p:nvSpPr>
        <p:spPr>
          <a:xfrm>
            <a:off x="2725044" y="4975204"/>
            <a:ext cx="503953" cy="369332"/>
          </a:xfrm>
          <a:prstGeom prst="rect">
            <a:avLst/>
          </a:prstGeom>
          <a:noFill/>
        </p:spPr>
        <p:txBody>
          <a:bodyPr wrap="square" rtlCol="0">
            <a:spAutoFit/>
          </a:bodyPr>
          <a:lstStyle/>
          <a:p>
            <a:r>
              <a:rPr lang="en-US" dirty="0"/>
              <a:t>14</a:t>
            </a:r>
          </a:p>
        </p:txBody>
      </p:sp>
      <mc:AlternateContent xmlns:mc="http://schemas.openxmlformats.org/markup-compatibility/2006" xmlns:a14="http://schemas.microsoft.com/office/drawing/2010/main">
        <mc:Choice Requires="a14">
          <p:sp>
            <p:nvSpPr>
              <p:cNvPr id="58" name="Rectangle 57"/>
              <p:cNvSpPr/>
              <p:nvPr/>
            </p:nvSpPr>
            <p:spPr>
              <a:xfrm>
                <a:off x="2983420" y="4251279"/>
                <a:ext cx="7875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58" name="Rectangle 57"/>
              <p:cNvSpPr>
                <a:spLocks noRot="1" noChangeAspect="1" noMove="1" noResize="1" noEditPoints="1" noAdjustHandles="1" noChangeArrowheads="1" noChangeShapeType="1" noTextEdit="1"/>
              </p:cNvSpPr>
              <p:nvPr/>
            </p:nvSpPr>
            <p:spPr>
              <a:xfrm>
                <a:off x="2983420" y="4251279"/>
                <a:ext cx="787510" cy="655359"/>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p:sp>
        <p:nvSpPr>
          <p:cNvPr id="59" name="TextBox 58"/>
          <p:cNvSpPr txBox="1"/>
          <p:nvPr/>
        </p:nvSpPr>
        <p:spPr>
          <a:xfrm>
            <a:off x="3550028" y="4965577"/>
            <a:ext cx="503953" cy="369332"/>
          </a:xfrm>
          <a:prstGeom prst="rect">
            <a:avLst/>
          </a:prstGeom>
          <a:noFill/>
        </p:spPr>
        <p:txBody>
          <a:bodyPr wrap="square" rtlCol="0">
            <a:spAutoFit/>
          </a:bodyPr>
          <a:lstStyle/>
          <a:p>
            <a:r>
              <a:rPr lang="en-US" dirty="0"/>
              <a:t>15</a:t>
            </a:r>
          </a:p>
        </p:txBody>
      </p:sp>
      <mc:AlternateContent xmlns:mc="http://schemas.openxmlformats.org/markup-compatibility/2006" xmlns:a14="http://schemas.microsoft.com/office/drawing/2010/main">
        <mc:Choice Requires="a14">
          <p:sp>
            <p:nvSpPr>
              <p:cNvPr id="60" name="Rectangle 59"/>
              <p:cNvSpPr/>
              <p:nvPr/>
            </p:nvSpPr>
            <p:spPr>
              <a:xfrm>
                <a:off x="3770930" y="4251277"/>
                <a:ext cx="102282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60" name="Rectangle 59"/>
              <p:cNvSpPr>
                <a:spLocks noRot="1" noChangeAspect="1" noMove="1" noResize="1" noEditPoints="1" noAdjustHandles="1" noChangeArrowheads="1" noChangeShapeType="1" noTextEdit="1"/>
              </p:cNvSpPr>
              <p:nvPr/>
            </p:nvSpPr>
            <p:spPr>
              <a:xfrm>
                <a:off x="3770930" y="4251277"/>
                <a:ext cx="1022827" cy="655359"/>
              </a:xfrm>
              <a:prstGeom prst="rect">
                <a:avLst/>
              </a:prstGeom>
              <a:blipFill rotWithShape="0">
                <a:blip r:embed="rId10"/>
                <a:stretch>
                  <a:fillRect/>
                </a:stretch>
              </a:blipFill>
              <a:ln w="38100">
                <a:solidFill>
                  <a:schemeClr val="tx1"/>
                </a:solidFill>
              </a:ln>
            </p:spPr>
            <p:txBody>
              <a:bodyPr/>
              <a:lstStyle/>
              <a:p>
                <a:r>
                  <a:rPr lang="en-US">
                    <a:noFill/>
                  </a:rPr>
                  <a:t> </a:t>
                </a:r>
              </a:p>
            </p:txBody>
          </p:sp>
        </mc:Fallback>
      </mc:AlternateContent>
      <p:sp>
        <p:nvSpPr>
          <p:cNvPr id="61" name="TextBox 60"/>
          <p:cNvSpPr txBox="1"/>
          <p:nvPr/>
        </p:nvSpPr>
        <p:spPr>
          <a:xfrm>
            <a:off x="4527302" y="4959743"/>
            <a:ext cx="503953" cy="369332"/>
          </a:xfrm>
          <a:prstGeom prst="rect">
            <a:avLst/>
          </a:prstGeom>
          <a:noFill/>
        </p:spPr>
        <p:txBody>
          <a:bodyPr wrap="square" rtlCol="0">
            <a:spAutoFit/>
          </a:bodyPr>
          <a:lstStyle/>
          <a:p>
            <a:r>
              <a:rPr lang="en-US" dirty="0"/>
              <a:t>20</a:t>
            </a:r>
          </a:p>
        </p:txBody>
      </p:sp>
      <p:sp>
        <p:nvSpPr>
          <p:cNvPr id="62" name="TextBox 61"/>
          <p:cNvSpPr txBox="1"/>
          <p:nvPr/>
        </p:nvSpPr>
        <p:spPr>
          <a:xfrm>
            <a:off x="6345845" y="1466111"/>
            <a:ext cx="1381969" cy="542441"/>
          </a:xfrm>
          <a:prstGeom prst="rect">
            <a:avLst/>
          </a:prstGeom>
          <a:noFill/>
          <a:ln w="57150">
            <a:solidFill>
              <a:srgbClr val="FF0000"/>
            </a:solidFill>
          </a:ln>
        </p:spPr>
        <p:txBody>
          <a:bodyPr wrap="square" rtlCol="0">
            <a:spAutoFit/>
          </a:bodyPr>
          <a:lstStyle/>
          <a:p>
            <a:endParaRPr lang="en-IN" dirty="0"/>
          </a:p>
        </p:txBody>
      </p:sp>
      <p:sp>
        <p:nvSpPr>
          <p:cNvPr id="63" name="TextBox 62"/>
          <p:cNvSpPr txBox="1"/>
          <p:nvPr/>
        </p:nvSpPr>
        <p:spPr>
          <a:xfrm>
            <a:off x="1237649" y="1489663"/>
            <a:ext cx="1490790" cy="542441"/>
          </a:xfrm>
          <a:prstGeom prst="rect">
            <a:avLst/>
          </a:prstGeom>
          <a:noFill/>
          <a:ln w="57150">
            <a:solidFill>
              <a:srgbClr val="FF0000"/>
            </a:solidFill>
          </a:ln>
        </p:spPr>
        <p:txBody>
          <a:bodyPr wrap="square" rtlCol="0">
            <a:spAutoFit/>
          </a:bodyPr>
          <a:lstStyle/>
          <a:p>
            <a:endParaRPr lang="en-IN" dirty="0"/>
          </a:p>
        </p:txBody>
      </p:sp>
      <p:sp>
        <p:nvSpPr>
          <p:cNvPr id="64" name="TextBox 63"/>
          <p:cNvSpPr txBox="1"/>
          <p:nvPr/>
        </p:nvSpPr>
        <p:spPr>
          <a:xfrm>
            <a:off x="6345845" y="2028905"/>
            <a:ext cx="1381969" cy="542441"/>
          </a:xfrm>
          <a:prstGeom prst="rect">
            <a:avLst/>
          </a:prstGeom>
          <a:noFill/>
          <a:ln w="57150">
            <a:solidFill>
              <a:srgbClr val="FF0000"/>
            </a:solidFill>
          </a:ln>
        </p:spPr>
        <p:txBody>
          <a:bodyPr wrap="square" rtlCol="0">
            <a:spAutoFit/>
          </a:bodyPr>
          <a:lstStyle/>
          <a:p>
            <a:endParaRPr lang="en-IN" dirty="0"/>
          </a:p>
        </p:txBody>
      </p:sp>
      <p:sp>
        <p:nvSpPr>
          <p:cNvPr id="65" name="TextBox 64"/>
          <p:cNvSpPr txBox="1"/>
          <p:nvPr/>
        </p:nvSpPr>
        <p:spPr>
          <a:xfrm>
            <a:off x="1237649" y="2028905"/>
            <a:ext cx="1490790" cy="542441"/>
          </a:xfrm>
          <a:prstGeom prst="rect">
            <a:avLst/>
          </a:prstGeom>
          <a:noFill/>
          <a:ln w="57150">
            <a:solidFill>
              <a:srgbClr val="FF0000"/>
            </a:solidFill>
          </a:ln>
        </p:spPr>
        <p:txBody>
          <a:bodyPr wrap="square" rtlCol="0">
            <a:spAutoFit/>
          </a:bodyPr>
          <a:lstStyle/>
          <a:p>
            <a:endParaRPr lang="en-IN" dirty="0"/>
          </a:p>
        </p:txBody>
      </p:sp>
      <p:sp>
        <p:nvSpPr>
          <p:cNvPr id="66" name="TextBox 65"/>
          <p:cNvSpPr txBox="1"/>
          <p:nvPr/>
        </p:nvSpPr>
        <p:spPr>
          <a:xfrm>
            <a:off x="6345844" y="2582720"/>
            <a:ext cx="1381969" cy="542441"/>
          </a:xfrm>
          <a:prstGeom prst="rect">
            <a:avLst/>
          </a:prstGeom>
          <a:noFill/>
          <a:ln w="57150">
            <a:solidFill>
              <a:srgbClr val="FF0000"/>
            </a:solidFill>
          </a:ln>
        </p:spPr>
        <p:txBody>
          <a:bodyPr wrap="square" rtlCol="0">
            <a:spAutoFit/>
          </a:bodyPr>
          <a:lstStyle/>
          <a:p>
            <a:endParaRPr lang="en-IN" dirty="0"/>
          </a:p>
        </p:txBody>
      </p:sp>
      <p:sp>
        <p:nvSpPr>
          <p:cNvPr id="67" name="TextBox 66"/>
          <p:cNvSpPr txBox="1"/>
          <p:nvPr/>
        </p:nvSpPr>
        <p:spPr>
          <a:xfrm>
            <a:off x="1237649" y="2568147"/>
            <a:ext cx="1490790" cy="542441"/>
          </a:xfrm>
          <a:prstGeom prst="rect">
            <a:avLst/>
          </a:prstGeom>
          <a:noFill/>
          <a:ln w="57150">
            <a:solidFill>
              <a:srgbClr val="FF0000"/>
            </a:solidFill>
          </a:ln>
        </p:spPr>
        <p:txBody>
          <a:bodyPr wrap="square" rtlCol="0">
            <a:spAutoFit/>
          </a:bodyPr>
          <a:lstStyle/>
          <a:p>
            <a:endParaRPr lang="en-IN" dirty="0"/>
          </a:p>
        </p:txBody>
      </p:sp>
      <p:sp>
        <p:nvSpPr>
          <p:cNvPr id="68" name="TextBox 67"/>
          <p:cNvSpPr txBox="1"/>
          <p:nvPr/>
        </p:nvSpPr>
        <p:spPr>
          <a:xfrm>
            <a:off x="6345843" y="3136535"/>
            <a:ext cx="1381969" cy="542441"/>
          </a:xfrm>
          <a:prstGeom prst="rect">
            <a:avLst/>
          </a:prstGeom>
          <a:noFill/>
          <a:ln w="57150">
            <a:solidFill>
              <a:srgbClr val="FF0000"/>
            </a:solidFill>
          </a:ln>
        </p:spPr>
        <p:txBody>
          <a:bodyPr wrap="square" rtlCol="0">
            <a:spAutoFit/>
          </a:bodyPr>
          <a:lstStyle/>
          <a:p>
            <a:endParaRPr lang="en-IN" dirty="0"/>
          </a:p>
        </p:txBody>
      </p:sp>
      <p:sp>
        <p:nvSpPr>
          <p:cNvPr id="69" name="TextBox 68"/>
          <p:cNvSpPr txBox="1"/>
          <p:nvPr/>
        </p:nvSpPr>
        <p:spPr>
          <a:xfrm>
            <a:off x="1237649" y="3136535"/>
            <a:ext cx="1490790" cy="542441"/>
          </a:xfrm>
          <a:prstGeom prst="rect">
            <a:avLst/>
          </a:prstGeom>
          <a:noFill/>
          <a:ln w="57150">
            <a:solidFill>
              <a:srgbClr val="FF0000"/>
            </a:solidFill>
          </a:ln>
        </p:spPr>
        <p:txBody>
          <a:bodyPr wrap="square" rtlCol="0">
            <a:spAutoFit/>
          </a:bodyPr>
          <a:lstStyle/>
          <a:p>
            <a:endParaRPr lang="en-IN" dirty="0"/>
          </a:p>
        </p:txBody>
      </p:sp>
      <p:sp>
        <p:nvSpPr>
          <p:cNvPr id="78" name="TextBox 77"/>
          <p:cNvSpPr txBox="1"/>
          <p:nvPr/>
        </p:nvSpPr>
        <p:spPr>
          <a:xfrm>
            <a:off x="367829" y="5479625"/>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Turnaround Time </a:t>
            </a:r>
            <a:r>
              <a:rPr lang="en-US" sz="2000" dirty="0"/>
              <a:t>= Sum of all Process’s Turn Around Time/ Total Process</a:t>
            </a:r>
          </a:p>
          <a:p>
            <a:r>
              <a:rPr lang="en-US" sz="2000" dirty="0"/>
              <a:t>                                                    = (4+15+8+9)/4 </a:t>
            </a:r>
          </a:p>
          <a:p>
            <a:r>
              <a:rPr lang="en-US" sz="2000" dirty="0"/>
              <a:t>                                                    = 9 Ms.</a:t>
            </a:r>
          </a:p>
        </p:txBody>
      </p:sp>
      <p:sp>
        <p:nvSpPr>
          <p:cNvPr id="79" name="TextBox 78"/>
          <p:cNvSpPr txBox="1"/>
          <p:nvPr/>
        </p:nvSpPr>
        <p:spPr>
          <a:xfrm>
            <a:off x="7786805" y="1456074"/>
            <a:ext cx="2049246" cy="2222902"/>
          </a:xfrm>
          <a:prstGeom prst="rect">
            <a:avLst/>
          </a:prstGeom>
          <a:noFill/>
          <a:ln w="57150">
            <a:solidFill>
              <a:srgbClr val="FF0000"/>
            </a:solidFill>
          </a:ln>
        </p:spPr>
        <p:txBody>
          <a:bodyPr wrap="square" rtlCol="0">
            <a:spAutoFit/>
          </a:bodyPr>
          <a:lstStyle/>
          <a:p>
            <a:endParaRPr lang="en-IN" dirty="0"/>
          </a:p>
        </p:txBody>
      </p:sp>
      <p:sp>
        <p:nvSpPr>
          <p:cNvPr id="36" name="TextBox 35">
            <a:extLst>
              <a:ext uri="{FF2B5EF4-FFF2-40B4-BE49-F238E27FC236}">
                <a16:creationId xmlns:a16="http://schemas.microsoft.com/office/drawing/2014/main" id="{3D473B93-CCED-4D5A-8082-67B2C8C4AA83}"/>
              </a:ext>
            </a:extLst>
          </p:cNvPr>
          <p:cNvSpPr txBox="1"/>
          <p:nvPr/>
        </p:nvSpPr>
        <p:spPr>
          <a:xfrm>
            <a:off x="926864" y="4977626"/>
            <a:ext cx="428691" cy="346397"/>
          </a:xfrm>
          <a:prstGeom prst="rect">
            <a:avLst/>
          </a:prstGeom>
          <a:noFill/>
          <a:ln w="57150">
            <a:solidFill>
              <a:srgbClr val="FF0000"/>
            </a:solidFill>
          </a:ln>
        </p:spPr>
        <p:txBody>
          <a:bodyPr wrap="square" rtlCol="0">
            <a:spAutoFit/>
          </a:bodyPr>
          <a:lstStyle/>
          <a:p>
            <a:endParaRPr lang="en-IN" dirty="0"/>
          </a:p>
        </p:txBody>
      </p:sp>
      <p:sp>
        <p:nvSpPr>
          <p:cNvPr id="37" name="TextBox 36">
            <a:extLst>
              <a:ext uri="{FF2B5EF4-FFF2-40B4-BE49-F238E27FC236}">
                <a16:creationId xmlns:a16="http://schemas.microsoft.com/office/drawing/2014/main" id="{05034739-28DA-461D-84F9-293530F61F6E}"/>
              </a:ext>
            </a:extLst>
          </p:cNvPr>
          <p:cNvSpPr txBox="1"/>
          <p:nvPr/>
        </p:nvSpPr>
        <p:spPr>
          <a:xfrm>
            <a:off x="2737283" y="4975204"/>
            <a:ext cx="428691" cy="346397"/>
          </a:xfrm>
          <a:prstGeom prst="rect">
            <a:avLst/>
          </a:prstGeom>
          <a:noFill/>
          <a:ln w="57150">
            <a:solidFill>
              <a:srgbClr val="FF0000"/>
            </a:solidFill>
          </a:ln>
        </p:spPr>
        <p:txBody>
          <a:bodyPr wrap="square" rtlCol="0">
            <a:spAutoFit/>
          </a:bodyPr>
          <a:lstStyle/>
          <a:p>
            <a:endParaRPr lang="en-IN" dirty="0"/>
          </a:p>
        </p:txBody>
      </p:sp>
      <p:sp>
        <p:nvSpPr>
          <p:cNvPr id="38" name="TextBox 37">
            <a:extLst>
              <a:ext uri="{FF2B5EF4-FFF2-40B4-BE49-F238E27FC236}">
                <a16:creationId xmlns:a16="http://schemas.microsoft.com/office/drawing/2014/main" id="{2C6A129E-A014-49EF-B905-F58C0DB41163}"/>
              </a:ext>
            </a:extLst>
          </p:cNvPr>
          <p:cNvSpPr txBox="1"/>
          <p:nvPr/>
        </p:nvSpPr>
        <p:spPr>
          <a:xfrm>
            <a:off x="3550028" y="4975204"/>
            <a:ext cx="428691" cy="346397"/>
          </a:xfrm>
          <a:prstGeom prst="rect">
            <a:avLst/>
          </a:prstGeom>
          <a:noFill/>
          <a:ln w="57150">
            <a:solidFill>
              <a:srgbClr val="FF0000"/>
            </a:solidFill>
          </a:ln>
        </p:spPr>
        <p:txBody>
          <a:bodyPr wrap="square" rtlCol="0">
            <a:spAutoFit/>
          </a:bodyPr>
          <a:lstStyle/>
          <a:p>
            <a:endParaRPr lang="en-IN" dirty="0"/>
          </a:p>
        </p:txBody>
      </p:sp>
      <p:sp>
        <p:nvSpPr>
          <p:cNvPr id="39" name="TextBox 38">
            <a:extLst>
              <a:ext uri="{FF2B5EF4-FFF2-40B4-BE49-F238E27FC236}">
                <a16:creationId xmlns:a16="http://schemas.microsoft.com/office/drawing/2014/main" id="{08DB84EE-A8B6-443B-89AE-A9E056E95D94}"/>
              </a:ext>
            </a:extLst>
          </p:cNvPr>
          <p:cNvSpPr txBox="1"/>
          <p:nvPr/>
        </p:nvSpPr>
        <p:spPr>
          <a:xfrm>
            <a:off x="4564932" y="4959447"/>
            <a:ext cx="428691" cy="346397"/>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89621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26" presetClass="emph" presetSubtype="0" repeatCount="indefinite" fill="hold" grpId="1" nodeType="withEffect">
                                  <p:stCondLst>
                                    <p:cond delay="0"/>
                                  </p:stCondLst>
                                  <p:endCondLst>
                                    <p:cond evt="onNext" delay="0">
                                      <p:tgtEl>
                                        <p:sldTgt/>
                                      </p:tgtEl>
                                    </p:cond>
                                  </p:endCondLst>
                                  <p:childTnLst>
                                    <p:animEffect transition="out" filter="fade">
                                      <p:cBhvr>
                                        <p:cTn id="34" dur="500" tmFilter="0, 0; .2, .5; .8, .5; 1, 0"/>
                                        <p:tgtEl>
                                          <p:spTgt spid="36"/>
                                        </p:tgtEl>
                                      </p:cBhvr>
                                    </p:animEffect>
                                    <p:animScale>
                                      <p:cBhvr>
                                        <p:cTn id="35" dur="250" autoRev="1" fill="hold"/>
                                        <p:tgtEl>
                                          <p:spTgt spid="36"/>
                                        </p:tgtEl>
                                      </p:cBhvr>
                                      <p:by x="105000" y="105000"/>
                                    </p:animScale>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9"/>
                                        </p:tgtEl>
                                        <p:attrNameLst>
                                          <p:attrName>style.visibility</p:attrName>
                                        </p:attrNameLst>
                                      </p:cBhvr>
                                      <p:to>
                                        <p:strVal val="visible"/>
                                      </p:to>
                                    </p:set>
                                  </p:childTnLst>
                                </p:cTn>
                              </p:par>
                              <p:par>
                                <p:cTn id="42" presetID="1" presetClass="exit" presetSubtype="0" fill="hold" grpId="2" nodeType="withEffect">
                                  <p:stCondLst>
                                    <p:cond delay="0"/>
                                  </p:stCondLst>
                                  <p:childTnLst>
                                    <p:set>
                                      <p:cBhvr>
                                        <p:cTn id="43" dur="1" fill="hold">
                                          <p:stCondLst>
                                            <p:cond delay="0"/>
                                          </p:stCondLst>
                                        </p:cTn>
                                        <p:tgtEl>
                                          <p:spTgt spid="36"/>
                                        </p:tgtEl>
                                        <p:attrNameLst>
                                          <p:attrName>style.visibility</p:attrName>
                                        </p:attrNameLst>
                                      </p:cBhvr>
                                      <p:to>
                                        <p:strVal val="hidden"/>
                                      </p:to>
                                    </p:set>
                                  </p:childTnLst>
                                </p:cTn>
                              </p:par>
                              <p:par>
                                <p:cTn id="44" presetID="1" presetClass="entr" presetSubtype="0"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childTnLst>
                                </p:cTn>
                              </p:par>
                              <p:par>
                                <p:cTn id="46" presetID="26" presetClass="emph" presetSubtype="0" repeatCount="indefinite" fill="hold" grpId="1" nodeType="withEffect">
                                  <p:stCondLst>
                                    <p:cond delay="0"/>
                                  </p:stCondLst>
                                  <p:endCondLst>
                                    <p:cond evt="onNext" delay="0">
                                      <p:tgtEl>
                                        <p:sldTgt/>
                                      </p:tgtEl>
                                    </p:cond>
                                  </p:endCondLst>
                                  <p:childTnLst>
                                    <p:animEffect transition="out" filter="fade">
                                      <p:cBhvr>
                                        <p:cTn id="47" dur="500" tmFilter="0, 0; .2, .5; .8, .5; 1, 0"/>
                                        <p:tgtEl>
                                          <p:spTgt spid="38"/>
                                        </p:tgtEl>
                                      </p:cBhvr>
                                    </p:animEffect>
                                    <p:animScale>
                                      <p:cBhvr>
                                        <p:cTn id="48" dur="250" autoRev="1" fill="hold"/>
                                        <p:tgtEl>
                                          <p:spTgt spid="38"/>
                                        </p:tgtEl>
                                      </p:cBhvr>
                                      <p:by x="105000" y="105000"/>
                                    </p:animScale>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xit" presetSubtype="0" fill="hold" grpId="2" nodeType="withEffect">
                                  <p:stCondLst>
                                    <p:cond delay="0"/>
                                  </p:stCondLst>
                                  <p:childTnLst>
                                    <p:set>
                                      <p:cBhvr>
                                        <p:cTn id="56" dur="1" fill="hold">
                                          <p:stCondLst>
                                            <p:cond delay="0"/>
                                          </p:stCondLst>
                                        </p:cTn>
                                        <p:tgtEl>
                                          <p:spTgt spid="38"/>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par>
                                <p:cTn id="59" presetID="26" presetClass="emph" presetSubtype="0" repeatCount="indefinite" fill="hold" grpId="1" nodeType="withEffect">
                                  <p:stCondLst>
                                    <p:cond delay="0"/>
                                  </p:stCondLst>
                                  <p:endCondLst>
                                    <p:cond evt="onNext" delay="0">
                                      <p:tgtEl>
                                        <p:sldTgt/>
                                      </p:tgtEl>
                                    </p:cond>
                                  </p:endCondLst>
                                  <p:childTnLst>
                                    <p:animEffect transition="out" filter="fade">
                                      <p:cBhvr>
                                        <p:cTn id="60" dur="500" tmFilter="0, 0; .2, .5; .8, .5; 1, 0"/>
                                        <p:tgtEl>
                                          <p:spTgt spid="37"/>
                                        </p:tgtEl>
                                      </p:cBhvr>
                                    </p:animEffect>
                                    <p:animScale>
                                      <p:cBhvr>
                                        <p:cTn id="61" dur="250" autoRev="1" fill="hold"/>
                                        <p:tgtEl>
                                          <p:spTgt spid="37"/>
                                        </p:tgtEl>
                                      </p:cBhvr>
                                      <p:by x="105000" y="105000"/>
                                    </p:animScale>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3"/>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61"/>
                                        </p:tgtEl>
                                        <p:attrNameLst>
                                          <p:attrName>style.visibility</p:attrName>
                                        </p:attrNameLst>
                                      </p:cBhvr>
                                      <p:to>
                                        <p:strVal val="visible"/>
                                      </p:to>
                                    </p:set>
                                  </p:childTnLst>
                                </p:cTn>
                              </p:par>
                              <p:par>
                                <p:cTn id="68" presetID="1" presetClass="exit" presetSubtype="0" fill="hold" grpId="2" nodeType="withEffect">
                                  <p:stCondLst>
                                    <p:cond delay="0"/>
                                  </p:stCondLst>
                                  <p:childTnLst>
                                    <p:set>
                                      <p:cBhvr>
                                        <p:cTn id="69" dur="1" fill="hold">
                                          <p:stCondLst>
                                            <p:cond delay="0"/>
                                          </p:stCondLst>
                                        </p:cTn>
                                        <p:tgtEl>
                                          <p:spTgt spid="37"/>
                                        </p:tgtEl>
                                        <p:attrNameLst>
                                          <p:attrName>style.visibility</p:attrName>
                                        </p:attrNameLst>
                                      </p:cBhvr>
                                      <p:to>
                                        <p:strVal val="hidden"/>
                                      </p:to>
                                    </p:set>
                                  </p:childTnLst>
                                </p:cTn>
                              </p:par>
                              <p:par>
                                <p:cTn id="70" presetID="1"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39"/>
                                        </p:tgtEl>
                                      </p:cBhvr>
                                    </p:animEffect>
                                    <p:animScale>
                                      <p:cBhvr>
                                        <p:cTn id="74" dur="250" autoRev="1" fill="hold"/>
                                        <p:tgtEl>
                                          <p:spTgt spid="39"/>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9"/>
                                        </p:tgtEl>
                                        <p:attrNameLst>
                                          <p:attrName>style.visibility</p:attrName>
                                        </p:attrNameLst>
                                      </p:cBhvr>
                                      <p:to>
                                        <p:strVal val="visible"/>
                                      </p:to>
                                    </p:set>
                                  </p:childTnLst>
                                </p:cTn>
                              </p:par>
                              <p:par>
                                <p:cTn id="79" presetID="1" presetClass="exit" presetSubtype="0" fill="hold" grpId="2" nodeType="withEffect">
                                  <p:stCondLst>
                                    <p:cond delay="0"/>
                                  </p:stCondLst>
                                  <p:childTnLst>
                                    <p:set>
                                      <p:cBhvr>
                                        <p:cTn id="80" dur="1" fill="hold">
                                          <p:stCondLst>
                                            <p:cond delay="0"/>
                                          </p:stCondLst>
                                        </p:cTn>
                                        <p:tgtEl>
                                          <p:spTgt spid="39"/>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2"/>
                                        </p:tgtEl>
                                        <p:attrNameLst>
                                          <p:attrName>style.visibility</p:attrName>
                                        </p:attrNameLst>
                                      </p:cBhvr>
                                      <p:to>
                                        <p:strVal val="visible"/>
                                      </p:to>
                                    </p:set>
                                  </p:childTnLst>
                                </p:cTn>
                              </p:par>
                              <p:par>
                                <p:cTn id="87" presetID="26" presetClass="emph" presetSubtype="0" repeatCount="indefinite" fill="hold" grpId="1" nodeType="withEffect">
                                  <p:stCondLst>
                                    <p:cond delay="0"/>
                                  </p:stCondLst>
                                  <p:endCondLst>
                                    <p:cond evt="onNext" delay="0">
                                      <p:tgtEl>
                                        <p:sldTgt/>
                                      </p:tgtEl>
                                    </p:cond>
                                  </p:endCondLst>
                                  <p:childTnLst>
                                    <p:animEffect transition="out" filter="fade">
                                      <p:cBhvr>
                                        <p:cTn id="88" dur="500" tmFilter="0, 0; .2, .5; .8, .5; 1, 0"/>
                                        <p:tgtEl>
                                          <p:spTgt spid="62"/>
                                        </p:tgtEl>
                                      </p:cBhvr>
                                    </p:animEffect>
                                    <p:animScale>
                                      <p:cBhvr>
                                        <p:cTn id="89" dur="250" autoRev="1" fill="hold"/>
                                        <p:tgtEl>
                                          <p:spTgt spid="62"/>
                                        </p:tgtEl>
                                      </p:cBhvr>
                                      <p:by x="105000" y="105000"/>
                                    </p:animScale>
                                  </p:childTnLst>
                                </p:cTn>
                              </p:par>
                              <p:par>
                                <p:cTn id="90" presetID="1" presetClass="entr" presetSubtype="0" fill="hold" grpId="0" nodeType="withEffect">
                                  <p:stCondLst>
                                    <p:cond delay="0"/>
                                  </p:stCondLst>
                                  <p:childTnLst>
                                    <p:set>
                                      <p:cBhvr>
                                        <p:cTn id="91" dur="1" fill="hold">
                                          <p:stCondLst>
                                            <p:cond delay="0"/>
                                          </p:stCondLst>
                                        </p:cTn>
                                        <p:tgtEl>
                                          <p:spTgt spid="63"/>
                                        </p:tgtEl>
                                        <p:attrNameLst>
                                          <p:attrName>style.visibility</p:attrName>
                                        </p:attrNameLst>
                                      </p:cBhvr>
                                      <p:to>
                                        <p:strVal val="visible"/>
                                      </p:to>
                                    </p:set>
                                  </p:childTnLst>
                                </p:cTn>
                              </p:par>
                              <p:par>
                                <p:cTn id="92" presetID="26" presetClass="emph" presetSubtype="0" repeatCount="indefinite" fill="hold" grpId="1" nodeType="withEffect">
                                  <p:stCondLst>
                                    <p:cond delay="0"/>
                                  </p:stCondLst>
                                  <p:endCondLst>
                                    <p:cond evt="onNext" delay="0">
                                      <p:tgtEl>
                                        <p:sldTgt/>
                                      </p:tgtEl>
                                    </p:cond>
                                  </p:endCondLst>
                                  <p:childTnLst>
                                    <p:animEffect transition="out" filter="fade">
                                      <p:cBhvr>
                                        <p:cTn id="93" dur="500" tmFilter="0, 0; .2, .5; .8, .5; 1, 0"/>
                                        <p:tgtEl>
                                          <p:spTgt spid="63"/>
                                        </p:tgtEl>
                                      </p:cBhvr>
                                    </p:animEffect>
                                    <p:animScale>
                                      <p:cBhvr>
                                        <p:cTn id="94" dur="250" autoRev="1" fill="hold"/>
                                        <p:tgtEl>
                                          <p:spTgt spid="63"/>
                                        </p:tgtEl>
                                      </p:cBhvr>
                                      <p:by x="105000" y="105000"/>
                                    </p:animScale>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6"/>
                                        </p:tgtEl>
                                        <p:attrNameLst>
                                          <p:attrName>style.visibility</p:attrName>
                                        </p:attrNameLst>
                                      </p:cBhvr>
                                      <p:to>
                                        <p:strVal val="visible"/>
                                      </p:to>
                                    </p:set>
                                  </p:childTnLst>
                                </p:cTn>
                              </p:par>
                              <p:par>
                                <p:cTn id="99" presetID="1" presetClass="exit" presetSubtype="0" fill="hold" grpId="2" nodeType="withEffect">
                                  <p:stCondLst>
                                    <p:cond delay="0"/>
                                  </p:stCondLst>
                                  <p:childTnLst>
                                    <p:set>
                                      <p:cBhvr>
                                        <p:cTn id="100" dur="1" fill="hold">
                                          <p:stCondLst>
                                            <p:cond delay="0"/>
                                          </p:stCondLst>
                                        </p:cTn>
                                        <p:tgtEl>
                                          <p:spTgt spid="62"/>
                                        </p:tgtEl>
                                        <p:attrNameLst>
                                          <p:attrName>style.visibility</p:attrName>
                                        </p:attrNameLst>
                                      </p:cBhvr>
                                      <p:to>
                                        <p:strVal val="hidden"/>
                                      </p:to>
                                    </p:set>
                                  </p:childTnLst>
                                </p:cTn>
                              </p:par>
                              <p:par>
                                <p:cTn id="101" presetID="1" presetClass="exit" presetSubtype="0" fill="hold" grpId="2" nodeType="withEffect">
                                  <p:stCondLst>
                                    <p:cond delay="0"/>
                                  </p:stCondLst>
                                  <p:childTnLst>
                                    <p:set>
                                      <p:cBhvr>
                                        <p:cTn id="102" dur="1" fill="hold">
                                          <p:stCondLst>
                                            <p:cond delay="0"/>
                                          </p:stCondLst>
                                        </p:cTn>
                                        <p:tgtEl>
                                          <p:spTgt spid="63"/>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64"/>
                                        </p:tgtEl>
                                        <p:attrNameLst>
                                          <p:attrName>style.visibility</p:attrName>
                                        </p:attrNameLst>
                                      </p:cBhvr>
                                      <p:to>
                                        <p:strVal val="visible"/>
                                      </p:to>
                                    </p:set>
                                  </p:childTnLst>
                                </p:cTn>
                              </p:par>
                              <p:par>
                                <p:cTn id="105" presetID="26" presetClass="emph" presetSubtype="0" repeatCount="indefinite" fill="hold" grpId="1" nodeType="withEffect">
                                  <p:stCondLst>
                                    <p:cond delay="0"/>
                                  </p:stCondLst>
                                  <p:endCondLst>
                                    <p:cond evt="onNext" delay="0">
                                      <p:tgtEl>
                                        <p:sldTgt/>
                                      </p:tgtEl>
                                    </p:cond>
                                  </p:endCondLst>
                                  <p:childTnLst>
                                    <p:animEffect transition="out" filter="fade">
                                      <p:cBhvr>
                                        <p:cTn id="106" dur="500" tmFilter="0, 0; .2, .5; .8, .5; 1, 0"/>
                                        <p:tgtEl>
                                          <p:spTgt spid="64"/>
                                        </p:tgtEl>
                                      </p:cBhvr>
                                    </p:animEffect>
                                    <p:animScale>
                                      <p:cBhvr>
                                        <p:cTn id="107" dur="250" autoRev="1" fill="hold"/>
                                        <p:tgtEl>
                                          <p:spTgt spid="64"/>
                                        </p:tgtEl>
                                      </p:cBhvr>
                                      <p:by x="105000" y="105000"/>
                                    </p:animScale>
                                  </p:childTnLst>
                                </p:cTn>
                              </p:par>
                              <p:par>
                                <p:cTn id="108" presetID="1" presetClass="entr" presetSubtype="0" fill="hold" grpId="0" nodeType="withEffect">
                                  <p:stCondLst>
                                    <p:cond delay="0"/>
                                  </p:stCondLst>
                                  <p:childTnLst>
                                    <p:set>
                                      <p:cBhvr>
                                        <p:cTn id="109" dur="1" fill="hold">
                                          <p:stCondLst>
                                            <p:cond delay="0"/>
                                          </p:stCondLst>
                                        </p:cTn>
                                        <p:tgtEl>
                                          <p:spTgt spid="65"/>
                                        </p:tgtEl>
                                        <p:attrNameLst>
                                          <p:attrName>style.visibility</p:attrName>
                                        </p:attrNameLst>
                                      </p:cBhvr>
                                      <p:to>
                                        <p:strVal val="visible"/>
                                      </p:to>
                                    </p:set>
                                  </p:childTnLst>
                                </p:cTn>
                              </p:par>
                              <p:par>
                                <p:cTn id="110" presetID="26" presetClass="emph" presetSubtype="0" repeatCount="indefinite" fill="hold" grpId="1" nodeType="withEffect">
                                  <p:stCondLst>
                                    <p:cond delay="0"/>
                                  </p:stCondLst>
                                  <p:endCondLst>
                                    <p:cond evt="onNext" delay="0">
                                      <p:tgtEl>
                                        <p:sldTgt/>
                                      </p:tgtEl>
                                    </p:cond>
                                  </p:endCondLst>
                                  <p:childTnLst>
                                    <p:animEffect transition="out" filter="fade">
                                      <p:cBhvr>
                                        <p:cTn id="111" dur="500" tmFilter="0, 0; .2, .5; .8, .5; 1, 0"/>
                                        <p:tgtEl>
                                          <p:spTgt spid="65"/>
                                        </p:tgtEl>
                                      </p:cBhvr>
                                    </p:animEffect>
                                    <p:animScale>
                                      <p:cBhvr>
                                        <p:cTn id="112" dur="250" autoRev="1" fill="hold"/>
                                        <p:tgtEl>
                                          <p:spTgt spid="65"/>
                                        </p:tgtEl>
                                      </p:cBhvr>
                                      <p:by x="105000" y="105000"/>
                                    </p:animScale>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30"/>
                                        </p:tgtEl>
                                        <p:attrNameLst>
                                          <p:attrName>style.visibility</p:attrName>
                                        </p:attrNameLst>
                                      </p:cBhvr>
                                      <p:to>
                                        <p:strVal val="visible"/>
                                      </p:to>
                                    </p:set>
                                  </p:childTnLst>
                                </p:cTn>
                              </p:par>
                              <p:par>
                                <p:cTn id="117" presetID="1" presetClass="exit" presetSubtype="0" fill="hold" grpId="2" nodeType="withEffect">
                                  <p:stCondLst>
                                    <p:cond delay="0"/>
                                  </p:stCondLst>
                                  <p:childTnLst>
                                    <p:set>
                                      <p:cBhvr>
                                        <p:cTn id="118" dur="1" fill="hold">
                                          <p:stCondLst>
                                            <p:cond delay="0"/>
                                          </p:stCondLst>
                                        </p:cTn>
                                        <p:tgtEl>
                                          <p:spTgt spid="64"/>
                                        </p:tgtEl>
                                        <p:attrNameLst>
                                          <p:attrName>style.visibility</p:attrName>
                                        </p:attrNameLst>
                                      </p:cBhvr>
                                      <p:to>
                                        <p:strVal val="hidden"/>
                                      </p:to>
                                    </p:set>
                                  </p:childTnLst>
                                </p:cTn>
                              </p:par>
                              <p:par>
                                <p:cTn id="119" presetID="1" presetClass="exit" presetSubtype="0" fill="hold" grpId="2" nodeType="withEffect">
                                  <p:stCondLst>
                                    <p:cond delay="0"/>
                                  </p:stCondLst>
                                  <p:childTnLst>
                                    <p:set>
                                      <p:cBhvr>
                                        <p:cTn id="120" dur="1" fill="hold">
                                          <p:stCondLst>
                                            <p:cond delay="0"/>
                                          </p:stCondLst>
                                        </p:cTn>
                                        <p:tgtEl>
                                          <p:spTgt spid="65"/>
                                        </p:tgtEl>
                                        <p:attrNameLst>
                                          <p:attrName>style.visibility</p:attrName>
                                        </p:attrNameLst>
                                      </p:cBhvr>
                                      <p:to>
                                        <p:strVal val="hidden"/>
                                      </p:to>
                                    </p:set>
                                  </p:childTnLst>
                                </p:cTn>
                              </p:par>
                              <p:par>
                                <p:cTn id="121" presetID="1" presetClass="entr" presetSubtype="0" fill="hold" grpId="0" nodeType="withEffect">
                                  <p:stCondLst>
                                    <p:cond delay="0"/>
                                  </p:stCondLst>
                                  <p:childTnLst>
                                    <p:set>
                                      <p:cBhvr>
                                        <p:cTn id="122" dur="1" fill="hold">
                                          <p:stCondLst>
                                            <p:cond delay="0"/>
                                          </p:stCondLst>
                                        </p:cTn>
                                        <p:tgtEl>
                                          <p:spTgt spid="66"/>
                                        </p:tgtEl>
                                        <p:attrNameLst>
                                          <p:attrName>style.visibility</p:attrName>
                                        </p:attrNameLst>
                                      </p:cBhvr>
                                      <p:to>
                                        <p:strVal val="visible"/>
                                      </p:to>
                                    </p:set>
                                  </p:childTnLst>
                                </p:cTn>
                              </p:par>
                              <p:par>
                                <p:cTn id="123" presetID="26" presetClass="emph" presetSubtype="0" repeatCount="indefinite" fill="hold" grpId="1" nodeType="withEffect">
                                  <p:stCondLst>
                                    <p:cond delay="0"/>
                                  </p:stCondLst>
                                  <p:endCondLst>
                                    <p:cond evt="onNext" delay="0">
                                      <p:tgtEl>
                                        <p:sldTgt/>
                                      </p:tgtEl>
                                    </p:cond>
                                  </p:endCondLst>
                                  <p:childTnLst>
                                    <p:animEffect transition="out" filter="fade">
                                      <p:cBhvr>
                                        <p:cTn id="124" dur="500" tmFilter="0, 0; .2, .5; .8, .5; 1, 0"/>
                                        <p:tgtEl>
                                          <p:spTgt spid="66"/>
                                        </p:tgtEl>
                                      </p:cBhvr>
                                    </p:animEffect>
                                    <p:animScale>
                                      <p:cBhvr>
                                        <p:cTn id="125" dur="250" autoRev="1" fill="hold"/>
                                        <p:tgtEl>
                                          <p:spTgt spid="66"/>
                                        </p:tgtEl>
                                      </p:cBhvr>
                                      <p:by x="105000" y="105000"/>
                                    </p:animScale>
                                  </p:childTnLst>
                                </p:cTn>
                              </p:par>
                              <p:par>
                                <p:cTn id="126" presetID="1" presetClass="entr" presetSubtype="0" fill="hold" grpId="0" nodeType="withEffect">
                                  <p:stCondLst>
                                    <p:cond delay="0"/>
                                  </p:stCondLst>
                                  <p:childTnLst>
                                    <p:set>
                                      <p:cBhvr>
                                        <p:cTn id="127" dur="1" fill="hold">
                                          <p:stCondLst>
                                            <p:cond delay="0"/>
                                          </p:stCondLst>
                                        </p:cTn>
                                        <p:tgtEl>
                                          <p:spTgt spid="67"/>
                                        </p:tgtEl>
                                        <p:attrNameLst>
                                          <p:attrName>style.visibility</p:attrName>
                                        </p:attrNameLst>
                                      </p:cBhvr>
                                      <p:to>
                                        <p:strVal val="visible"/>
                                      </p:to>
                                    </p:set>
                                  </p:childTnLst>
                                </p:cTn>
                              </p:par>
                              <p:par>
                                <p:cTn id="128" presetID="26" presetClass="emph" presetSubtype="0" repeatCount="indefinite" fill="hold" grpId="1" nodeType="withEffect">
                                  <p:stCondLst>
                                    <p:cond delay="0"/>
                                  </p:stCondLst>
                                  <p:endCondLst>
                                    <p:cond evt="onNext" delay="0">
                                      <p:tgtEl>
                                        <p:sldTgt/>
                                      </p:tgtEl>
                                    </p:cond>
                                  </p:endCondLst>
                                  <p:childTnLst>
                                    <p:animEffect transition="out" filter="fade">
                                      <p:cBhvr>
                                        <p:cTn id="129" dur="500" tmFilter="0, 0; .2, .5; .8, .5; 1, 0"/>
                                        <p:tgtEl>
                                          <p:spTgt spid="67"/>
                                        </p:tgtEl>
                                      </p:cBhvr>
                                    </p:animEffect>
                                    <p:animScale>
                                      <p:cBhvr>
                                        <p:cTn id="130" dur="250" autoRev="1" fill="hold"/>
                                        <p:tgtEl>
                                          <p:spTgt spid="67"/>
                                        </p:tgtEl>
                                      </p:cBhvr>
                                      <p:by x="105000" y="105000"/>
                                    </p:animScale>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31"/>
                                        </p:tgtEl>
                                        <p:attrNameLst>
                                          <p:attrName>style.visibility</p:attrName>
                                        </p:attrNameLst>
                                      </p:cBhvr>
                                      <p:to>
                                        <p:strVal val="visible"/>
                                      </p:to>
                                    </p:set>
                                  </p:childTnLst>
                                </p:cTn>
                              </p:par>
                              <p:par>
                                <p:cTn id="135" presetID="1" presetClass="exit" presetSubtype="0" fill="hold" grpId="2" nodeType="withEffect">
                                  <p:stCondLst>
                                    <p:cond delay="0"/>
                                  </p:stCondLst>
                                  <p:childTnLst>
                                    <p:set>
                                      <p:cBhvr>
                                        <p:cTn id="136" dur="1" fill="hold">
                                          <p:stCondLst>
                                            <p:cond delay="0"/>
                                          </p:stCondLst>
                                        </p:cTn>
                                        <p:tgtEl>
                                          <p:spTgt spid="66"/>
                                        </p:tgtEl>
                                        <p:attrNameLst>
                                          <p:attrName>style.visibility</p:attrName>
                                        </p:attrNameLst>
                                      </p:cBhvr>
                                      <p:to>
                                        <p:strVal val="hidden"/>
                                      </p:to>
                                    </p:set>
                                  </p:childTnLst>
                                </p:cTn>
                              </p:par>
                              <p:par>
                                <p:cTn id="137" presetID="1" presetClass="exit" presetSubtype="0" fill="hold" grpId="2" nodeType="withEffect">
                                  <p:stCondLst>
                                    <p:cond delay="0"/>
                                  </p:stCondLst>
                                  <p:childTnLst>
                                    <p:set>
                                      <p:cBhvr>
                                        <p:cTn id="138" dur="1" fill="hold">
                                          <p:stCondLst>
                                            <p:cond delay="0"/>
                                          </p:stCondLst>
                                        </p:cTn>
                                        <p:tgtEl>
                                          <p:spTgt spid="67"/>
                                        </p:tgtEl>
                                        <p:attrNameLst>
                                          <p:attrName>style.visibility</p:attrName>
                                        </p:attrNameLst>
                                      </p:cBhvr>
                                      <p:to>
                                        <p:strVal val="hidden"/>
                                      </p:to>
                                    </p:set>
                                  </p:childTnLst>
                                </p:cTn>
                              </p:par>
                              <p:par>
                                <p:cTn id="139" presetID="1" presetClass="entr" presetSubtype="0" fill="hold" grpId="0" nodeType="withEffect">
                                  <p:stCondLst>
                                    <p:cond delay="0"/>
                                  </p:stCondLst>
                                  <p:childTnLst>
                                    <p:set>
                                      <p:cBhvr>
                                        <p:cTn id="140" dur="1" fill="hold">
                                          <p:stCondLst>
                                            <p:cond delay="0"/>
                                          </p:stCondLst>
                                        </p:cTn>
                                        <p:tgtEl>
                                          <p:spTgt spid="68"/>
                                        </p:tgtEl>
                                        <p:attrNameLst>
                                          <p:attrName>style.visibility</p:attrName>
                                        </p:attrNameLst>
                                      </p:cBhvr>
                                      <p:to>
                                        <p:strVal val="visible"/>
                                      </p:to>
                                    </p:set>
                                  </p:childTnLst>
                                </p:cTn>
                              </p:par>
                              <p:par>
                                <p:cTn id="141" presetID="26" presetClass="emph" presetSubtype="0" repeatCount="indefinite" fill="hold" grpId="1" nodeType="withEffect">
                                  <p:stCondLst>
                                    <p:cond delay="0"/>
                                  </p:stCondLst>
                                  <p:endCondLst>
                                    <p:cond evt="onNext" delay="0">
                                      <p:tgtEl>
                                        <p:sldTgt/>
                                      </p:tgtEl>
                                    </p:cond>
                                  </p:endCondLst>
                                  <p:childTnLst>
                                    <p:animEffect transition="out" filter="fade">
                                      <p:cBhvr>
                                        <p:cTn id="142" dur="500" tmFilter="0, 0; .2, .5; .8, .5; 1, 0"/>
                                        <p:tgtEl>
                                          <p:spTgt spid="68"/>
                                        </p:tgtEl>
                                      </p:cBhvr>
                                    </p:animEffect>
                                    <p:animScale>
                                      <p:cBhvr>
                                        <p:cTn id="143" dur="250" autoRev="1" fill="hold"/>
                                        <p:tgtEl>
                                          <p:spTgt spid="68"/>
                                        </p:tgtEl>
                                      </p:cBhvr>
                                      <p:by x="105000" y="105000"/>
                                    </p:animScale>
                                  </p:childTnLst>
                                </p:cTn>
                              </p:par>
                              <p:par>
                                <p:cTn id="144" presetID="1" presetClass="entr" presetSubtype="0" fill="hold" grpId="0" nodeType="withEffect">
                                  <p:stCondLst>
                                    <p:cond delay="0"/>
                                  </p:stCondLst>
                                  <p:childTnLst>
                                    <p:set>
                                      <p:cBhvr>
                                        <p:cTn id="145" dur="1" fill="hold">
                                          <p:stCondLst>
                                            <p:cond delay="0"/>
                                          </p:stCondLst>
                                        </p:cTn>
                                        <p:tgtEl>
                                          <p:spTgt spid="69"/>
                                        </p:tgtEl>
                                        <p:attrNameLst>
                                          <p:attrName>style.visibility</p:attrName>
                                        </p:attrNameLst>
                                      </p:cBhvr>
                                      <p:to>
                                        <p:strVal val="visible"/>
                                      </p:to>
                                    </p:set>
                                  </p:childTnLst>
                                </p:cTn>
                              </p:par>
                              <p:par>
                                <p:cTn id="146" presetID="26" presetClass="emph" presetSubtype="0" repeatCount="indefinite" fill="hold" grpId="1" nodeType="withEffect">
                                  <p:stCondLst>
                                    <p:cond delay="0"/>
                                  </p:stCondLst>
                                  <p:endCondLst>
                                    <p:cond evt="onNext" delay="0">
                                      <p:tgtEl>
                                        <p:sldTgt/>
                                      </p:tgtEl>
                                    </p:cond>
                                  </p:endCondLst>
                                  <p:childTnLst>
                                    <p:animEffect transition="out" filter="fade">
                                      <p:cBhvr>
                                        <p:cTn id="147" dur="500" tmFilter="0, 0; .2, .5; .8, .5; 1, 0"/>
                                        <p:tgtEl>
                                          <p:spTgt spid="69"/>
                                        </p:tgtEl>
                                      </p:cBhvr>
                                    </p:animEffect>
                                    <p:animScale>
                                      <p:cBhvr>
                                        <p:cTn id="148" dur="250" autoRev="1" fill="hold"/>
                                        <p:tgtEl>
                                          <p:spTgt spid="69"/>
                                        </p:tgtEl>
                                      </p:cBhvr>
                                      <p:by x="105000" y="105000"/>
                                    </p:animScale>
                                  </p:childTnLst>
                                </p:cTn>
                              </p:par>
                            </p:childTnLst>
                          </p:cTn>
                        </p:par>
                      </p:childTnLst>
                    </p:cTn>
                  </p:par>
                  <p:par>
                    <p:cTn id="149" fill="hold">
                      <p:stCondLst>
                        <p:cond delay="indefinite"/>
                      </p:stCondLst>
                      <p:childTnLst>
                        <p:par>
                          <p:cTn id="150" fill="hold">
                            <p:stCondLst>
                              <p:cond delay="0"/>
                            </p:stCondLst>
                            <p:childTnLst>
                              <p:par>
                                <p:cTn id="151" presetID="1" presetClass="exit" presetSubtype="0" fill="hold" grpId="2" nodeType="clickEffect">
                                  <p:stCondLst>
                                    <p:cond delay="0"/>
                                  </p:stCondLst>
                                  <p:childTnLst>
                                    <p:set>
                                      <p:cBhvr>
                                        <p:cTn id="152" dur="1" fill="hold">
                                          <p:stCondLst>
                                            <p:cond delay="0"/>
                                          </p:stCondLst>
                                        </p:cTn>
                                        <p:tgtEl>
                                          <p:spTgt spid="68"/>
                                        </p:tgtEl>
                                        <p:attrNameLst>
                                          <p:attrName>style.visibility</p:attrName>
                                        </p:attrNameLst>
                                      </p:cBhvr>
                                      <p:to>
                                        <p:strVal val="hidden"/>
                                      </p:to>
                                    </p:set>
                                  </p:childTnLst>
                                </p:cTn>
                              </p:par>
                              <p:par>
                                <p:cTn id="153" presetID="1" presetClass="exit" presetSubtype="0" fill="hold" grpId="2" nodeType="withEffect">
                                  <p:stCondLst>
                                    <p:cond delay="0"/>
                                  </p:stCondLst>
                                  <p:childTnLst>
                                    <p:set>
                                      <p:cBhvr>
                                        <p:cTn id="154" dur="1" fill="hold">
                                          <p:stCondLst>
                                            <p:cond delay="0"/>
                                          </p:stCondLst>
                                        </p:cTn>
                                        <p:tgtEl>
                                          <p:spTgt spid="69"/>
                                        </p:tgtEl>
                                        <p:attrNameLst>
                                          <p:attrName>style.visibility</p:attrName>
                                        </p:attrNameLst>
                                      </p:cBhvr>
                                      <p:to>
                                        <p:strVal val="hidden"/>
                                      </p:to>
                                    </p:set>
                                  </p:childTnLst>
                                </p:cTn>
                              </p:par>
                              <p:par>
                                <p:cTn id="155" presetID="1" presetClass="entr" presetSubtype="0" fill="hold" grpId="0" nodeType="withEffect">
                                  <p:stCondLst>
                                    <p:cond delay="0"/>
                                  </p:stCondLst>
                                  <p:childTnLst>
                                    <p:set>
                                      <p:cBhvr>
                                        <p:cTn id="156" dur="1" fill="hold">
                                          <p:stCondLst>
                                            <p:cond delay="0"/>
                                          </p:stCondLst>
                                        </p:cTn>
                                        <p:tgtEl>
                                          <p:spTgt spid="7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79"/>
                                        </p:tgtEl>
                                        <p:attrNameLst>
                                          <p:attrName>style.visibility</p:attrName>
                                        </p:attrNameLst>
                                      </p:cBhvr>
                                      <p:to>
                                        <p:strVal val="visible"/>
                                      </p:to>
                                    </p:set>
                                  </p:childTnLst>
                                </p:cTn>
                              </p:par>
                              <p:par>
                                <p:cTn id="159" presetID="26" presetClass="emph" presetSubtype="0" repeatCount="indefinite" fill="hold" grpId="1" nodeType="withEffect">
                                  <p:stCondLst>
                                    <p:cond delay="0"/>
                                  </p:stCondLst>
                                  <p:endCondLst>
                                    <p:cond evt="onNext" delay="0">
                                      <p:tgtEl>
                                        <p:sldTgt/>
                                      </p:tgtEl>
                                    </p:cond>
                                  </p:endCondLst>
                                  <p:childTnLst>
                                    <p:animEffect transition="out" filter="fade">
                                      <p:cBhvr>
                                        <p:cTn id="160" dur="500" tmFilter="0, 0; .2, .5; .8, .5; 1, 0"/>
                                        <p:tgtEl>
                                          <p:spTgt spid="79"/>
                                        </p:tgtEl>
                                      </p:cBhvr>
                                    </p:animEffect>
                                    <p:animScale>
                                      <p:cBhvr>
                                        <p:cTn id="161" dur="250" autoRev="1" fill="hold"/>
                                        <p:tgtEl>
                                          <p:spTgt spid="7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P spid="52" grpId="0" animBg="1"/>
      <p:bldP spid="53" grpId="0"/>
      <p:bldP spid="54" grpId="0"/>
      <p:bldP spid="55" grpId="0" animBg="1"/>
      <p:bldP spid="56" grpId="0" animBg="1"/>
      <p:bldP spid="57" grpId="0"/>
      <p:bldP spid="58" grpId="0" animBg="1"/>
      <p:bldP spid="59" grpId="0"/>
      <p:bldP spid="60" grpId="0" animBg="1"/>
      <p:bldP spid="61" grpId="0"/>
      <p:bldP spid="62" grpId="0" animBg="1"/>
      <p:bldP spid="62" grpId="1" animBg="1"/>
      <p:bldP spid="62" grpId="2" animBg="1"/>
      <p:bldP spid="63" grpId="0" animBg="1"/>
      <p:bldP spid="63" grpId="1" animBg="1"/>
      <p:bldP spid="63" grpId="2" animBg="1"/>
      <p:bldP spid="64" grpId="0" animBg="1"/>
      <p:bldP spid="64" grpId="1" animBg="1"/>
      <p:bldP spid="64" grpId="2" animBg="1"/>
      <p:bldP spid="65" grpId="0" animBg="1"/>
      <p:bldP spid="65" grpId="1" animBg="1"/>
      <p:bldP spid="65" grpId="2" animBg="1"/>
      <p:bldP spid="66" grpId="0" animBg="1"/>
      <p:bldP spid="66" grpId="1" animBg="1"/>
      <p:bldP spid="66" grpId="2" animBg="1"/>
      <p:bldP spid="67" grpId="0" animBg="1"/>
      <p:bldP spid="67" grpId="1" animBg="1"/>
      <p:bldP spid="67" grpId="2" animBg="1"/>
      <p:bldP spid="68" grpId="0" animBg="1"/>
      <p:bldP spid="68" grpId="1" animBg="1"/>
      <p:bldP spid="68" grpId="2" animBg="1"/>
      <p:bldP spid="69" grpId="0" animBg="1"/>
      <p:bldP spid="69" grpId="1" animBg="1"/>
      <p:bldP spid="69" grpId="2" animBg="1"/>
      <p:bldP spid="78" grpId="0"/>
      <p:bldP spid="79" grpId="0" animBg="1"/>
      <p:bldP spid="79" grpId="1" animBg="1"/>
      <p:bldP spid="36" grpId="0" animBg="1"/>
      <p:bldP spid="36" grpId="1" animBg="1"/>
      <p:bldP spid="36" grpId="2" animBg="1"/>
      <p:bldP spid="37" grpId="0" animBg="1"/>
      <p:bldP spid="37" grpId="1" animBg="1"/>
      <p:bldP spid="37" grpId="2" animBg="1"/>
      <p:bldP spid="38" grpId="0" animBg="1"/>
      <p:bldP spid="38" grpId="1" animBg="1"/>
      <p:bldP spid="38" grpId="2" animBg="1"/>
      <p:bldP spid="39" grpId="0" animBg="1"/>
      <p:bldP spid="39" grpId="1" animBg="1"/>
      <p:bldP spid="39" grpId="2"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Preemptive Priority Scheduling</a:t>
            </a:r>
            <a:endParaRPr lang="en-IN" dirty="0"/>
          </a:p>
        </p:txBody>
      </p:sp>
      <mc:AlternateContent xmlns:mc="http://schemas.openxmlformats.org/markup-compatibility/2006" xmlns:a14="http://schemas.microsoft.com/office/drawing/2010/main">
        <mc:Choice Requires="a14">
          <p:graphicFrame>
            <p:nvGraphicFramePr>
              <p:cNvPr id="1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16"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881442119"/>
                  </p:ext>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 xmlns:a16="http://schemas.microsoft.com/office/drawing/2014/main" xmlns:a14="http://schemas.microsoft.com/office/drawing/2010/main" val="20000"/>
                        </a:ext>
                      </a:extLst>
                    </a:gridCol>
                    <a:gridCol w="1547749">
                      <a:extLst>
                        <a:ext uri="{9D8B030D-6E8A-4147-A177-3AD203B41FA5}">
                          <a16:colId xmlns="" xmlns:a16="http://schemas.microsoft.com/office/drawing/2014/main" xmlns:a14="http://schemas.microsoft.com/office/drawing/2010/main" val="20001"/>
                        </a:ext>
                      </a:extLst>
                    </a:gridCol>
                    <a:gridCol w="3564248">
                      <a:extLst>
                        <a:ext uri="{9D8B030D-6E8A-4147-A177-3AD203B41FA5}">
                          <a16:colId xmlns="" xmlns:a16="http://schemas.microsoft.com/office/drawing/2014/main"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0</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6</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smtClean="0">
                              <a:solidFill>
                                <a:schemeClr val="tx1"/>
                              </a:solidFill>
                            </a:rPr>
                            <a:t>11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t="-3774" r="-439" b="-15094"/>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1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a16="http://schemas.microsoft.com/office/drawing/2014/main" xmlns=""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xmlns=""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5"/>
                          <a:stretch>
                            <a:fillRect l="-289" t="-3774" r="-289" b="-16038"/>
                          </a:stretch>
                        </a:blipFill>
                      </a:tcPr>
                    </a:tc>
                    <a:extLst>
                      <a:ext uri="{0D108BD9-81ED-4DB2-BD59-A6C34878D82A}">
                        <a16:rowId xmlns:a16="http://schemas.microsoft.com/office/drawing/2014/main" xmlns=""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6530" y="824702"/>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Waiting Time</a:t>
                      </a:r>
                      <a:endParaRPr lang="en-IN" sz="1800" b="1" kern="1200" dirty="0">
                        <a:solidFill>
                          <a:schemeClr val="tx1"/>
                        </a:solidFill>
                        <a:effectLst/>
                        <a:latin typeface="+mn-lt"/>
                        <a:ea typeface="+mn-ea"/>
                        <a:cs typeface="+mn-cs"/>
                      </a:endParaRPr>
                    </a:p>
                    <a:p>
                      <a:pPr algn="ctr"/>
                      <a:r>
                        <a:rPr lang="en-US" sz="1800" b="1" kern="1200" dirty="0">
                          <a:solidFill>
                            <a:schemeClr val="tx1"/>
                          </a:solidFill>
                          <a:effectLst/>
                          <a:latin typeface="+mn-lt"/>
                          <a:ea typeface="+mn-ea"/>
                          <a:cs typeface="+mn-cs"/>
                        </a:rPr>
                        <a:t>(TAT-ΔT)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2"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2641" y="146766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0058" y="2023019"/>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259387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315181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cxnSp>
        <p:nvCxnSpPr>
          <p:cNvPr id="50" name="Straight Connector 49"/>
          <p:cNvCxnSpPr/>
          <p:nvPr/>
        </p:nvCxnSpPr>
        <p:spPr>
          <a:xfrm flipH="1">
            <a:off x="307436" y="4242297"/>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211862" y="4964222"/>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52" name="Rectangle 51"/>
              <p:cNvSpPr/>
              <p:nvPr/>
            </p:nvSpPr>
            <p:spPr>
              <a:xfrm>
                <a:off x="307435" y="4253795"/>
                <a:ext cx="86564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52" name="Rectangle 51"/>
              <p:cNvSpPr>
                <a:spLocks noRot="1" noChangeAspect="1" noMove="1" noResize="1" noEditPoints="1" noAdjustHandles="1" noChangeArrowheads="1" noChangeShapeType="1" noTextEdit="1"/>
              </p:cNvSpPr>
              <p:nvPr/>
            </p:nvSpPr>
            <p:spPr>
              <a:xfrm>
                <a:off x="307435" y="4253795"/>
                <a:ext cx="865647"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53" name="TextBox 52"/>
          <p:cNvSpPr txBox="1"/>
          <p:nvPr/>
        </p:nvSpPr>
        <p:spPr>
          <a:xfrm>
            <a:off x="1007010" y="4959743"/>
            <a:ext cx="318448" cy="381000"/>
          </a:xfrm>
          <a:prstGeom prst="rect">
            <a:avLst/>
          </a:prstGeom>
          <a:noFill/>
        </p:spPr>
        <p:txBody>
          <a:bodyPr wrap="square" rtlCol="0">
            <a:spAutoFit/>
          </a:bodyPr>
          <a:lstStyle/>
          <a:p>
            <a:r>
              <a:rPr lang="en-US" dirty="0"/>
              <a:t>4</a:t>
            </a:r>
          </a:p>
        </p:txBody>
      </p:sp>
      <p:sp>
        <p:nvSpPr>
          <p:cNvPr id="54" name="TextBox 53"/>
          <p:cNvSpPr txBox="1"/>
          <p:nvPr/>
        </p:nvSpPr>
        <p:spPr>
          <a:xfrm>
            <a:off x="1523829" y="4959743"/>
            <a:ext cx="318448" cy="381000"/>
          </a:xfrm>
          <a:prstGeom prst="rect">
            <a:avLst/>
          </a:prstGeom>
          <a:noFill/>
        </p:spPr>
        <p:txBody>
          <a:bodyPr wrap="square" rtlCol="0">
            <a:spAutoFit/>
          </a:bodyPr>
          <a:lstStyle/>
          <a:p>
            <a:r>
              <a:rPr lang="en-US" dirty="0"/>
              <a:t>6</a:t>
            </a:r>
          </a:p>
        </p:txBody>
      </p:sp>
      <mc:AlternateContent xmlns:mc="http://schemas.openxmlformats.org/markup-compatibility/2006" xmlns:a14="http://schemas.microsoft.com/office/drawing/2010/main">
        <mc:Choice Requires="a14">
          <p:sp>
            <p:nvSpPr>
              <p:cNvPr id="55" name="Rectangle 54"/>
              <p:cNvSpPr/>
              <p:nvPr/>
            </p:nvSpPr>
            <p:spPr>
              <a:xfrm>
                <a:off x="1173082" y="4251733"/>
                <a:ext cx="553335"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1</m:t>
                          </m:r>
                        </m:sub>
                      </m:sSub>
                    </m:oMath>
                  </m:oMathPara>
                </a14:m>
                <a:endParaRPr lang="en-US" dirty="0"/>
              </a:p>
            </p:txBody>
          </p:sp>
        </mc:Choice>
        <mc:Fallback xmlns="">
          <p:sp>
            <p:nvSpPr>
              <p:cNvPr id="55" name="Rectangle 54"/>
              <p:cNvSpPr>
                <a:spLocks noRot="1" noChangeAspect="1" noMove="1" noResize="1" noEditPoints="1" noAdjustHandles="1" noChangeArrowheads="1" noChangeShapeType="1" noTextEdit="1"/>
              </p:cNvSpPr>
              <p:nvPr/>
            </p:nvSpPr>
            <p:spPr>
              <a:xfrm>
                <a:off x="1173082" y="4251733"/>
                <a:ext cx="553335"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p:cNvSpPr/>
              <p:nvPr/>
            </p:nvSpPr>
            <p:spPr>
              <a:xfrm>
                <a:off x="1726417" y="4251667"/>
                <a:ext cx="1257002"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56" name="Rectangle 55"/>
              <p:cNvSpPr>
                <a:spLocks noRot="1" noChangeAspect="1" noMove="1" noResize="1" noEditPoints="1" noAdjustHandles="1" noChangeArrowheads="1" noChangeShapeType="1" noTextEdit="1"/>
              </p:cNvSpPr>
              <p:nvPr/>
            </p:nvSpPr>
            <p:spPr>
              <a:xfrm>
                <a:off x="1726417" y="4251667"/>
                <a:ext cx="1257002"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57" name="TextBox 56"/>
          <p:cNvSpPr txBox="1"/>
          <p:nvPr/>
        </p:nvSpPr>
        <p:spPr>
          <a:xfrm>
            <a:off x="2739112" y="4975204"/>
            <a:ext cx="503953" cy="369332"/>
          </a:xfrm>
          <a:prstGeom prst="rect">
            <a:avLst/>
          </a:prstGeom>
          <a:noFill/>
        </p:spPr>
        <p:txBody>
          <a:bodyPr wrap="square" rtlCol="0">
            <a:spAutoFit/>
          </a:bodyPr>
          <a:lstStyle/>
          <a:p>
            <a:r>
              <a:rPr lang="en-US" dirty="0"/>
              <a:t>14</a:t>
            </a:r>
          </a:p>
        </p:txBody>
      </p:sp>
      <mc:AlternateContent xmlns:mc="http://schemas.openxmlformats.org/markup-compatibility/2006" xmlns:a14="http://schemas.microsoft.com/office/drawing/2010/main">
        <mc:Choice Requires="a14">
          <p:sp>
            <p:nvSpPr>
              <p:cNvPr id="58" name="Rectangle 57"/>
              <p:cNvSpPr/>
              <p:nvPr/>
            </p:nvSpPr>
            <p:spPr>
              <a:xfrm>
                <a:off x="2983420" y="4251279"/>
                <a:ext cx="78751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58" name="Rectangle 57"/>
              <p:cNvSpPr>
                <a:spLocks noRot="1" noChangeAspect="1" noMove="1" noResize="1" noEditPoints="1" noAdjustHandles="1" noChangeArrowheads="1" noChangeShapeType="1" noTextEdit="1"/>
              </p:cNvSpPr>
              <p:nvPr/>
            </p:nvSpPr>
            <p:spPr>
              <a:xfrm>
                <a:off x="2983420" y="4251279"/>
                <a:ext cx="787510" cy="655359"/>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p:sp>
        <p:nvSpPr>
          <p:cNvPr id="59" name="TextBox 58"/>
          <p:cNvSpPr txBox="1"/>
          <p:nvPr/>
        </p:nvSpPr>
        <p:spPr>
          <a:xfrm>
            <a:off x="3367144" y="4965577"/>
            <a:ext cx="503953" cy="369332"/>
          </a:xfrm>
          <a:prstGeom prst="rect">
            <a:avLst/>
          </a:prstGeom>
          <a:noFill/>
        </p:spPr>
        <p:txBody>
          <a:bodyPr wrap="square" rtlCol="0">
            <a:spAutoFit/>
          </a:bodyPr>
          <a:lstStyle/>
          <a:p>
            <a:r>
              <a:rPr lang="en-US" dirty="0"/>
              <a:t>15</a:t>
            </a:r>
          </a:p>
        </p:txBody>
      </p:sp>
      <mc:AlternateContent xmlns:mc="http://schemas.openxmlformats.org/markup-compatibility/2006" xmlns:a14="http://schemas.microsoft.com/office/drawing/2010/main">
        <mc:Choice Requires="a14">
          <p:sp>
            <p:nvSpPr>
              <p:cNvPr id="60" name="Rectangle 59"/>
              <p:cNvSpPr/>
              <p:nvPr/>
            </p:nvSpPr>
            <p:spPr>
              <a:xfrm>
                <a:off x="3770930" y="4251277"/>
                <a:ext cx="1022827"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60" name="Rectangle 59"/>
              <p:cNvSpPr>
                <a:spLocks noRot="1" noChangeAspect="1" noMove="1" noResize="1" noEditPoints="1" noAdjustHandles="1" noChangeArrowheads="1" noChangeShapeType="1" noTextEdit="1"/>
              </p:cNvSpPr>
              <p:nvPr/>
            </p:nvSpPr>
            <p:spPr>
              <a:xfrm>
                <a:off x="3770930" y="4251277"/>
                <a:ext cx="1022827" cy="655359"/>
              </a:xfrm>
              <a:prstGeom prst="rect">
                <a:avLst/>
              </a:prstGeom>
              <a:blipFill rotWithShape="0">
                <a:blip r:embed="rId10"/>
                <a:stretch>
                  <a:fillRect/>
                </a:stretch>
              </a:blipFill>
              <a:ln w="38100">
                <a:solidFill>
                  <a:schemeClr val="tx1"/>
                </a:solidFill>
              </a:ln>
            </p:spPr>
            <p:txBody>
              <a:bodyPr/>
              <a:lstStyle/>
              <a:p>
                <a:r>
                  <a:rPr lang="en-US">
                    <a:noFill/>
                  </a:rPr>
                  <a:t> </a:t>
                </a:r>
              </a:p>
            </p:txBody>
          </p:sp>
        </mc:Fallback>
      </mc:AlternateContent>
      <p:sp>
        <p:nvSpPr>
          <p:cNvPr id="61" name="TextBox 60"/>
          <p:cNvSpPr txBox="1"/>
          <p:nvPr/>
        </p:nvSpPr>
        <p:spPr>
          <a:xfrm>
            <a:off x="4527302" y="4959743"/>
            <a:ext cx="503953" cy="369332"/>
          </a:xfrm>
          <a:prstGeom prst="rect">
            <a:avLst/>
          </a:prstGeom>
          <a:noFill/>
        </p:spPr>
        <p:txBody>
          <a:bodyPr wrap="square" rtlCol="0">
            <a:spAutoFit/>
          </a:bodyPr>
          <a:lstStyle/>
          <a:p>
            <a:r>
              <a:rPr lang="en-US" dirty="0"/>
              <a:t>20</a:t>
            </a:r>
          </a:p>
        </p:txBody>
      </p:sp>
      <p:sp>
        <p:nvSpPr>
          <p:cNvPr id="70" name="TextBox 69"/>
          <p:cNvSpPr txBox="1"/>
          <p:nvPr/>
        </p:nvSpPr>
        <p:spPr>
          <a:xfrm>
            <a:off x="7735846" y="1479367"/>
            <a:ext cx="2064742" cy="542441"/>
          </a:xfrm>
          <a:prstGeom prst="rect">
            <a:avLst/>
          </a:prstGeom>
          <a:noFill/>
          <a:ln w="57150">
            <a:solidFill>
              <a:srgbClr val="FF0000"/>
            </a:solidFill>
          </a:ln>
        </p:spPr>
        <p:txBody>
          <a:bodyPr wrap="square" rtlCol="0">
            <a:spAutoFit/>
          </a:bodyPr>
          <a:lstStyle/>
          <a:p>
            <a:endParaRPr lang="en-IN" dirty="0"/>
          </a:p>
        </p:txBody>
      </p:sp>
      <p:sp>
        <p:nvSpPr>
          <p:cNvPr id="71" name="TextBox 70"/>
          <p:cNvSpPr txBox="1"/>
          <p:nvPr/>
        </p:nvSpPr>
        <p:spPr>
          <a:xfrm>
            <a:off x="2716093" y="1497088"/>
            <a:ext cx="3590108" cy="542441"/>
          </a:xfrm>
          <a:prstGeom prst="rect">
            <a:avLst/>
          </a:prstGeom>
          <a:noFill/>
          <a:ln w="57150">
            <a:solidFill>
              <a:srgbClr val="FF0000"/>
            </a:solidFill>
          </a:ln>
        </p:spPr>
        <p:txBody>
          <a:bodyPr wrap="square" rtlCol="0">
            <a:spAutoFit/>
          </a:bodyPr>
          <a:lstStyle/>
          <a:p>
            <a:endParaRPr lang="en-IN" dirty="0"/>
          </a:p>
        </p:txBody>
      </p:sp>
      <p:sp>
        <p:nvSpPr>
          <p:cNvPr id="72" name="TextBox 71"/>
          <p:cNvSpPr txBox="1"/>
          <p:nvPr/>
        </p:nvSpPr>
        <p:spPr>
          <a:xfrm>
            <a:off x="7735846" y="2040279"/>
            <a:ext cx="2064742" cy="542441"/>
          </a:xfrm>
          <a:prstGeom prst="rect">
            <a:avLst/>
          </a:prstGeom>
          <a:noFill/>
          <a:ln w="57150">
            <a:solidFill>
              <a:srgbClr val="FF0000"/>
            </a:solidFill>
          </a:ln>
        </p:spPr>
        <p:txBody>
          <a:bodyPr wrap="square" rtlCol="0">
            <a:spAutoFit/>
          </a:bodyPr>
          <a:lstStyle/>
          <a:p>
            <a:endParaRPr lang="en-IN" dirty="0"/>
          </a:p>
        </p:txBody>
      </p:sp>
      <p:sp>
        <p:nvSpPr>
          <p:cNvPr id="73" name="TextBox 72"/>
          <p:cNvSpPr txBox="1"/>
          <p:nvPr/>
        </p:nvSpPr>
        <p:spPr>
          <a:xfrm>
            <a:off x="2768083" y="2000583"/>
            <a:ext cx="3590108" cy="542441"/>
          </a:xfrm>
          <a:prstGeom prst="rect">
            <a:avLst/>
          </a:prstGeom>
          <a:noFill/>
          <a:ln w="57150">
            <a:solidFill>
              <a:srgbClr val="FF0000"/>
            </a:solidFill>
          </a:ln>
        </p:spPr>
        <p:txBody>
          <a:bodyPr wrap="square" rtlCol="0">
            <a:spAutoFit/>
          </a:bodyPr>
          <a:lstStyle/>
          <a:p>
            <a:endParaRPr lang="en-IN" dirty="0"/>
          </a:p>
        </p:txBody>
      </p:sp>
      <p:sp>
        <p:nvSpPr>
          <p:cNvPr id="74" name="TextBox 73"/>
          <p:cNvSpPr txBox="1"/>
          <p:nvPr/>
        </p:nvSpPr>
        <p:spPr>
          <a:xfrm>
            <a:off x="7735846" y="2594094"/>
            <a:ext cx="2064742" cy="542441"/>
          </a:xfrm>
          <a:prstGeom prst="rect">
            <a:avLst/>
          </a:prstGeom>
          <a:noFill/>
          <a:ln w="57150">
            <a:solidFill>
              <a:srgbClr val="FF0000"/>
            </a:solidFill>
          </a:ln>
        </p:spPr>
        <p:txBody>
          <a:bodyPr wrap="square" rtlCol="0">
            <a:spAutoFit/>
          </a:bodyPr>
          <a:lstStyle/>
          <a:p>
            <a:endParaRPr lang="en-IN" dirty="0"/>
          </a:p>
        </p:txBody>
      </p:sp>
      <p:sp>
        <p:nvSpPr>
          <p:cNvPr id="75" name="TextBox 74"/>
          <p:cNvSpPr txBox="1"/>
          <p:nvPr/>
        </p:nvSpPr>
        <p:spPr>
          <a:xfrm>
            <a:off x="2755735" y="2568592"/>
            <a:ext cx="3590108" cy="542441"/>
          </a:xfrm>
          <a:prstGeom prst="rect">
            <a:avLst/>
          </a:prstGeom>
          <a:noFill/>
          <a:ln w="57150">
            <a:solidFill>
              <a:srgbClr val="FF0000"/>
            </a:solidFill>
          </a:ln>
        </p:spPr>
        <p:txBody>
          <a:bodyPr wrap="square" rtlCol="0">
            <a:spAutoFit/>
          </a:bodyPr>
          <a:lstStyle/>
          <a:p>
            <a:endParaRPr lang="en-IN" dirty="0"/>
          </a:p>
        </p:txBody>
      </p:sp>
      <p:sp>
        <p:nvSpPr>
          <p:cNvPr id="76" name="TextBox 75"/>
          <p:cNvSpPr txBox="1"/>
          <p:nvPr/>
        </p:nvSpPr>
        <p:spPr>
          <a:xfrm>
            <a:off x="7735846" y="3167344"/>
            <a:ext cx="2064742" cy="542441"/>
          </a:xfrm>
          <a:prstGeom prst="rect">
            <a:avLst/>
          </a:prstGeom>
          <a:noFill/>
          <a:ln w="57150">
            <a:solidFill>
              <a:srgbClr val="FF0000"/>
            </a:solidFill>
          </a:ln>
        </p:spPr>
        <p:txBody>
          <a:bodyPr wrap="square" rtlCol="0">
            <a:spAutoFit/>
          </a:bodyPr>
          <a:lstStyle/>
          <a:p>
            <a:endParaRPr lang="en-IN" dirty="0"/>
          </a:p>
        </p:txBody>
      </p:sp>
      <p:sp>
        <p:nvSpPr>
          <p:cNvPr id="77" name="TextBox 76"/>
          <p:cNvSpPr txBox="1"/>
          <p:nvPr/>
        </p:nvSpPr>
        <p:spPr>
          <a:xfrm>
            <a:off x="2716093" y="3152905"/>
            <a:ext cx="3590108" cy="542441"/>
          </a:xfrm>
          <a:prstGeom prst="rect">
            <a:avLst/>
          </a:prstGeom>
          <a:noFill/>
          <a:ln w="57150">
            <a:solidFill>
              <a:srgbClr val="FF0000"/>
            </a:solidFill>
          </a:ln>
        </p:spPr>
        <p:txBody>
          <a:bodyPr wrap="square" rtlCol="0">
            <a:spAutoFit/>
          </a:bodyPr>
          <a:lstStyle/>
          <a:p>
            <a:endParaRPr lang="en-IN" dirty="0"/>
          </a:p>
        </p:txBody>
      </p:sp>
      <p:sp>
        <p:nvSpPr>
          <p:cNvPr id="80" name="TextBox 79"/>
          <p:cNvSpPr txBox="1"/>
          <p:nvPr/>
        </p:nvSpPr>
        <p:spPr>
          <a:xfrm>
            <a:off x="9824117" y="1489663"/>
            <a:ext cx="2049246" cy="2222902"/>
          </a:xfrm>
          <a:prstGeom prst="rect">
            <a:avLst/>
          </a:prstGeom>
          <a:noFill/>
          <a:ln w="57150">
            <a:solidFill>
              <a:srgbClr val="FF0000"/>
            </a:solidFill>
          </a:ln>
        </p:spPr>
        <p:txBody>
          <a:bodyPr wrap="square" rtlCol="0">
            <a:spAutoFit/>
          </a:bodyPr>
          <a:lstStyle/>
          <a:p>
            <a:endParaRPr lang="en-IN" dirty="0"/>
          </a:p>
        </p:txBody>
      </p:sp>
      <p:sp>
        <p:nvSpPr>
          <p:cNvPr id="82" name="TextBox 81"/>
          <p:cNvSpPr txBox="1"/>
          <p:nvPr/>
        </p:nvSpPr>
        <p:spPr>
          <a:xfrm>
            <a:off x="307435" y="5552904"/>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Waiting Time </a:t>
            </a:r>
            <a:r>
              <a:rPr lang="en-US" sz="2000" dirty="0"/>
              <a:t>= Sum of all Process’s Waiting Time/ Total Process</a:t>
            </a:r>
          </a:p>
          <a:p>
            <a:r>
              <a:rPr lang="en-US" sz="2000" dirty="0"/>
              <a:t>                                              = (0+12+0+4)/4 </a:t>
            </a:r>
          </a:p>
          <a:p>
            <a:r>
              <a:rPr lang="en-US" sz="2000" dirty="0"/>
              <a:t>                                              = 4 Ms.</a:t>
            </a:r>
          </a:p>
        </p:txBody>
      </p:sp>
    </p:spTree>
    <p:extLst>
      <p:ext uri="{BB962C8B-B14F-4D97-AF65-F5344CB8AC3E}">
        <p14:creationId xmlns:p14="http://schemas.microsoft.com/office/powerpoint/2010/main" val="2819758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0"/>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500" tmFilter="0, 0; .2, .5; .8, .5; 1, 0"/>
                                        <p:tgtEl>
                                          <p:spTgt spid="70"/>
                                        </p:tgtEl>
                                      </p:cBhvr>
                                    </p:animEffect>
                                    <p:animScale>
                                      <p:cBhvr>
                                        <p:cTn id="15" dur="250" autoRev="1" fill="hold"/>
                                        <p:tgtEl>
                                          <p:spTgt spid="70"/>
                                        </p:tgtEl>
                                      </p:cBhvr>
                                      <p:by x="105000" y="105000"/>
                                    </p:animScale>
                                  </p:childTnLst>
                                </p:cTn>
                              </p:par>
                              <p:par>
                                <p:cTn id="16" presetID="1" presetClass="entr" presetSubtype="0" fill="hold" grpId="0" nodeType="withEffect">
                                  <p:stCondLst>
                                    <p:cond delay="0"/>
                                  </p:stCondLst>
                                  <p:childTnLst>
                                    <p:set>
                                      <p:cBhvr>
                                        <p:cTn id="17" dur="1" fill="hold">
                                          <p:stCondLst>
                                            <p:cond delay="0"/>
                                          </p:stCondLst>
                                        </p:cTn>
                                        <p:tgtEl>
                                          <p:spTgt spid="71"/>
                                        </p:tgtEl>
                                        <p:attrNameLst>
                                          <p:attrName>style.visibility</p:attrName>
                                        </p:attrNameLst>
                                      </p:cBhvr>
                                      <p:to>
                                        <p:strVal val="visible"/>
                                      </p:to>
                                    </p:set>
                                  </p:childTnLst>
                                </p:cTn>
                              </p:par>
                              <p:par>
                                <p:cTn id="18" presetID="26" presetClass="emph" presetSubtype="0" repeatCount="indefinite" fill="hold" grpId="1" nodeType="withEffect">
                                  <p:stCondLst>
                                    <p:cond delay="0"/>
                                  </p:stCondLst>
                                  <p:endCondLst>
                                    <p:cond evt="onNext" delay="0">
                                      <p:tgtEl>
                                        <p:sldTgt/>
                                      </p:tgtEl>
                                    </p:cond>
                                  </p:endCondLst>
                                  <p:childTnLst>
                                    <p:animEffect transition="out" filter="fade">
                                      <p:cBhvr>
                                        <p:cTn id="19" dur="500" tmFilter="0, 0; .2, .5; .8, .5; 1, 0"/>
                                        <p:tgtEl>
                                          <p:spTgt spid="71"/>
                                        </p:tgtEl>
                                      </p:cBhvr>
                                    </p:animEffect>
                                    <p:animScale>
                                      <p:cBhvr>
                                        <p:cTn id="20" dur="250" autoRev="1" fill="hold"/>
                                        <p:tgtEl>
                                          <p:spTgt spid="71"/>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xit" presetSubtype="0" fill="hold" grpId="2" nodeType="withEffect">
                                  <p:stCondLst>
                                    <p:cond delay="0"/>
                                  </p:stCondLst>
                                  <p:childTnLst>
                                    <p:set>
                                      <p:cBhvr>
                                        <p:cTn id="26" dur="1" fill="hold">
                                          <p:stCondLst>
                                            <p:cond delay="0"/>
                                          </p:stCondLst>
                                        </p:cTn>
                                        <p:tgtEl>
                                          <p:spTgt spid="70"/>
                                        </p:tgtEl>
                                        <p:attrNameLst>
                                          <p:attrName>style.visibility</p:attrName>
                                        </p:attrNameLst>
                                      </p:cBhvr>
                                      <p:to>
                                        <p:strVal val="hidden"/>
                                      </p:to>
                                    </p:set>
                                  </p:childTnLst>
                                </p:cTn>
                              </p:par>
                              <p:par>
                                <p:cTn id="27" presetID="1" presetClass="exit" presetSubtype="0" fill="hold" grpId="2" nodeType="withEffect">
                                  <p:stCondLst>
                                    <p:cond delay="0"/>
                                  </p:stCondLst>
                                  <p:childTnLst>
                                    <p:set>
                                      <p:cBhvr>
                                        <p:cTn id="28" dur="1" fill="hold">
                                          <p:stCondLst>
                                            <p:cond delay="0"/>
                                          </p:stCondLst>
                                        </p:cTn>
                                        <p:tgtEl>
                                          <p:spTgt spid="71"/>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72"/>
                                        </p:tgtEl>
                                        <p:attrNameLst>
                                          <p:attrName>style.visibility</p:attrName>
                                        </p:attrNameLst>
                                      </p:cBhvr>
                                      <p:to>
                                        <p:strVal val="visible"/>
                                      </p:to>
                                    </p:set>
                                  </p:childTnLst>
                                </p:cTn>
                              </p:par>
                              <p:par>
                                <p:cTn id="31" presetID="26" presetClass="emph" presetSubtype="0" repeatCount="indefinite" fill="hold" grpId="1" nodeType="withEffect">
                                  <p:stCondLst>
                                    <p:cond delay="0"/>
                                  </p:stCondLst>
                                  <p:endCondLst>
                                    <p:cond evt="onNext" delay="0">
                                      <p:tgtEl>
                                        <p:sldTgt/>
                                      </p:tgtEl>
                                    </p:cond>
                                  </p:endCondLst>
                                  <p:childTnLst>
                                    <p:animEffect transition="out" filter="fade">
                                      <p:cBhvr>
                                        <p:cTn id="32" dur="500" tmFilter="0, 0; .2, .5; .8, .5; 1, 0"/>
                                        <p:tgtEl>
                                          <p:spTgt spid="72"/>
                                        </p:tgtEl>
                                      </p:cBhvr>
                                    </p:animEffect>
                                    <p:animScale>
                                      <p:cBhvr>
                                        <p:cTn id="33" dur="250" autoRev="1" fill="hold"/>
                                        <p:tgtEl>
                                          <p:spTgt spid="72"/>
                                        </p:tgtEl>
                                      </p:cBhvr>
                                      <p:by x="105000" y="105000"/>
                                    </p:animScale>
                                  </p:childTnLst>
                                </p:cTn>
                              </p:par>
                              <p:par>
                                <p:cTn id="34" presetID="1" presetClass="entr" presetSubtype="0" fill="hold" grpId="0" nodeType="withEffect">
                                  <p:stCondLst>
                                    <p:cond delay="0"/>
                                  </p:stCondLst>
                                  <p:childTnLst>
                                    <p:set>
                                      <p:cBhvr>
                                        <p:cTn id="35" dur="1" fill="hold">
                                          <p:stCondLst>
                                            <p:cond delay="0"/>
                                          </p:stCondLst>
                                        </p:cTn>
                                        <p:tgtEl>
                                          <p:spTgt spid="73"/>
                                        </p:tgtEl>
                                        <p:attrNameLst>
                                          <p:attrName>style.visibility</p:attrName>
                                        </p:attrNameLst>
                                      </p:cBhvr>
                                      <p:to>
                                        <p:strVal val="visible"/>
                                      </p:to>
                                    </p:set>
                                  </p:childTnLst>
                                </p:cTn>
                              </p:par>
                              <p:par>
                                <p:cTn id="36" presetID="26" presetClass="emph" presetSubtype="0" repeatCount="indefinite" fill="hold" grpId="1" nodeType="withEffect">
                                  <p:stCondLst>
                                    <p:cond delay="0"/>
                                  </p:stCondLst>
                                  <p:endCondLst>
                                    <p:cond evt="onNext" delay="0">
                                      <p:tgtEl>
                                        <p:sldTgt/>
                                      </p:tgtEl>
                                    </p:cond>
                                  </p:endCondLst>
                                  <p:childTnLst>
                                    <p:animEffect transition="out" filter="fade">
                                      <p:cBhvr>
                                        <p:cTn id="37" dur="500" tmFilter="0, 0; .2, .5; .8, .5; 1, 0"/>
                                        <p:tgtEl>
                                          <p:spTgt spid="73"/>
                                        </p:tgtEl>
                                      </p:cBhvr>
                                    </p:animEffect>
                                    <p:animScale>
                                      <p:cBhvr>
                                        <p:cTn id="38" dur="250" autoRev="1" fill="hold"/>
                                        <p:tgtEl>
                                          <p:spTgt spid="73"/>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xit" presetSubtype="0" fill="hold" grpId="2" nodeType="withEffect">
                                  <p:stCondLst>
                                    <p:cond delay="0"/>
                                  </p:stCondLst>
                                  <p:childTnLst>
                                    <p:set>
                                      <p:cBhvr>
                                        <p:cTn id="44" dur="1" fill="hold">
                                          <p:stCondLst>
                                            <p:cond delay="0"/>
                                          </p:stCondLst>
                                        </p:cTn>
                                        <p:tgtEl>
                                          <p:spTgt spid="72"/>
                                        </p:tgtEl>
                                        <p:attrNameLst>
                                          <p:attrName>style.visibility</p:attrName>
                                        </p:attrNameLst>
                                      </p:cBhvr>
                                      <p:to>
                                        <p:strVal val="hidden"/>
                                      </p:to>
                                    </p:set>
                                  </p:childTnLst>
                                </p:cTn>
                              </p:par>
                              <p:par>
                                <p:cTn id="45" presetID="1" presetClass="exit" presetSubtype="0" fill="hold" grpId="2" nodeType="withEffect">
                                  <p:stCondLst>
                                    <p:cond delay="0"/>
                                  </p:stCondLst>
                                  <p:childTnLst>
                                    <p:set>
                                      <p:cBhvr>
                                        <p:cTn id="46" dur="1" fill="hold">
                                          <p:stCondLst>
                                            <p:cond delay="0"/>
                                          </p:stCondLst>
                                        </p:cTn>
                                        <p:tgtEl>
                                          <p:spTgt spid="73"/>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74"/>
                                        </p:tgtEl>
                                        <p:attrNameLst>
                                          <p:attrName>style.visibility</p:attrName>
                                        </p:attrNameLst>
                                      </p:cBhvr>
                                      <p:to>
                                        <p:strVal val="visible"/>
                                      </p:to>
                                    </p:set>
                                  </p:childTnLst>
                                </p:cTn>
                              </p:par>
                              <p:par>
                                <p:cTn id="49" presetID="26" presetClass="emph" presetSubtype="0" repeatCount="indefinite" fill="hold" grpId="1" nodeType="withEffect">
                                  <p:stCondLst>
                                    <p:cond delay="0"/>
                                  </p:stCondLst>
                                  <p:endCondLst>
                                    <p:cond evt="onNext" delay="0">
                                      <p:tgtEl>
                                        <p:sldTgt/>
                                      </p:tgtEl>
                                    </p:cond>
                                  </p:endCondLst>
                                  <p:childTnLst>
                                    <p:animEffect transition="out" filter="fade">
                                      <p:cBhvr>
                                        <p:cTn id="50" dur="500" tmFilter="0, 0; .2, .5; .8, .5; 1, 0"/>
                                        <p:tgtEl>
                                          <p:spTgt spid="74"/>
                                        </p:tgtEl>
                                      </p:cBhvr>
                                    </p:animEffect>
                                    <p:animScale>
                                      <p:cBhvr>
                                        <p:cTn id="51" dur="250" autoRev="1" fill="hold"/>
                                        <p:tgtEl>
                                          <p:spTgt spid="74"/>
                                        </p:tgtEl>
                                      </p:cBhvr>
                                      <p:by x="105000" y="105000"/>
                                    </p:animScale>
                                  </p:childTnLst>
                                </p:cTn>
                              </p:par>
                              <p:par>
                                <p:cTn id="52" presetID="1" presetClass="entr" presetSubtype="0" fill="hold" grpId="0" nodeType="withEffect">
                                  <p:stCondLst>
                                    <p:cond delay="0"/>
                                  </p:stCondLst>
                                  <p:childTnLst>
                                    <p:set>
                                      <p:cBhvr>
                                        <p:cTn id="53" dur="1" fill="hold">
                                          <p:stCondLst>
                                            <p:cond delay="0"/>
                                          </p:stCondLst>
                                        </p:cTn>
                                        <p:tgtEl>
                                          <p:spTgt spid="75"/>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75"/>
                                        </p:tgtEl>
                                      </p:cBhvr>
                                    </p:animEffect>
                                    <p:animScale>
                                      <p:cBhvr>
                                        <p:cTn id="56" dur="250" autoRev="1" fill="hold"/>
                                        <p:tgtEl>
                                          <p:spTgt spid="75"/>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74"/>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75"/>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76"/>
                                        </p:tgtEl>
                                        <p:attrNameLst>
                                          <p:attrName>style.visibility</p:attrName>
                                        </p:attrNameLst>
                                      </p:cBhvr>
                                      <p:to>
                                        <p:strVal val="visible"/>
                                      </p:to>
                                    </p:set>
                                  </p:childTnLst>
                                </p:cTn>
                              </p:par>
                              <p:par>
                                <p:cTn id="67" presetID="26" presetClass="emph" presetSubtype="0" repeatCount="indefinite" fill="hold" grpId="1" nodeType="withEffect">
                                  <p:stCondLst>
                                    <p:cond delay="0"/>
                                  </p:stCondLst>
                                  <p:endCondLst>
                                    <p:cond evt="onNext" delay="0">
                                      <p:tgtEl>
                                        <p:sldTgt/>
                                      </p:tgtEl>
                                    </p:cond>
                                  </p:endCondLst>
                                  <p:childTnLst>
                                    <p:animEffect transition="out" filter="fade">
                                      <p:cBhvr>
                                        <p:cTn id="68" dur="500" tmFilter="0, 0; .2, .5; .8, .5; 1, 0"/>
                                        <p:tgtEl>
                                          <p:spTgt spid="76"/>
                                        </p:tgtEl>
                                      </p:cBhvr>
                                    </p:animEffect>
                                    <p:animScale>
                                      <p:cBhvr>
                                        <p:cTn id="69" dur="250" autoRev="1" fill="hold"/>
                                        <p:tgtEl>
                                          <p:spTgt spid="76"/>
                                        </p:tgtEl>
                                      </p:cBhvr>
                                      <p:by x="105000" y="105000"/>
                                    </p:animScale>
                                  </p:childTnLst>
                                </p:cTn>
                              </p:par>
                              <p:par>
                                <p:cTn id="70" presetID="1" presetClass="entr" presetSubtype="0" fill="hold" grpId="0" nodeType="withEffect">
                                  <p:stCondLst>
                                    <p:cond delay="0"/>
                                  </p:stCondLst>
                                  <p:childTnLst>
                                    <p:set>
                                      <p:cBhvr>
                                        <p:cTn id="71" dur="1" fill="hold">
                                          <p:stCondLst>
                                            <p:cond delay="0"/>
                                          </p:stCondLst>
                                        </p:cTn>
                                        <p:tgtEl>
                                          <p:spTgt spid="77"/>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77"/>
                                        </p:tgtEl>
                                      </p:cBhvr>
                                    </p:animEffect>
                                    <p:animScale>
                                      <p:cBhvr>
                                        <p:cTn id="74" dur="250" autoRev="1" fill="hold"/>
                                        <p:tgtEl>
                                          <p:spTgt spid="77"/>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76"/>
                                        </p:tgtEl>
                                        <p:attrNameLst>
                                          <p:attrName>style.visibility</p:attrName>
                                        </p:attrNameLst>
                                      </p:cBhvr>
                                      <p:to>
                                        <p:strVal val="hidden"/>
                                      </p:to>
                                    </p:set>
                                  </p:childTnLst>
                                </p:cTn>
                              </p:par>
                              <p:par>
                                <p:cTn id="79" presetID="1" presetClass="exit" presetSubtype="0" fill="hold" grpId="2" nodeType="withEffect">
                                  <p:stCondLst>
                                    <p:cond delay="0"/>
                                  </p:stCondLst>
                                  <p:childTnLst>
                                    <p:set>
                                      <p:cBhvr>
                                        <p:cTn id="80" dur="1" fill="hold">
                                          <p:stCondLst>
                                            <p:cond delay="0"/>
                                          </p:stCondLst>
                                        </p:cTn>
                                        <p:tgtEl>
                                          <p:spTgt spid="77"/>
                                        </p:tgtEl>
                                        <p:attrNameLst>
                                          <p:attrName>style.visibility</p:attrName>
                                        </p:attrNameLst>
                                      </p:cBhvr>
                                      <p:to>
                                        <p:strVal val="hidden"/>
                                      </p:to>
                                    </p:set>
                                  </p:childTnLst>
                                </p:cTn>
                              </p:par>
                              <p:par>
                                <p:cTn id="81" presetID="1" presetClass="entr" presetSubtype="0" fill="hold" grpId="0" nodeType="withEffect">
                                  <p:stCondLst>
                                    <p:cond delay="0"/>
                                  </p:stCondLst>
                                  <p:childTnLst>
                                    <p:set>
                                      <p:cBhvr>
                                        <p:cTn id="82" dur="1" fill="hold">
                                          <p:stCondLst>
                                            <p:cond delay="0"/>
                                          </p:stCondLst>
                                        </p:cTn>
                                        <p:tgtEl>
                                          <p:spTgt spid="8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0"/>
                                        </p:tgtEl>
                                        <p:attrNameLst>
                                          <p:attrName>style.visibility</p:attrName>
                                        </p:attrNameLst>
                                      </p:cBhvr>
                                      <p:to>
                                        <p:strVal val="visible"/>
                                      </p:to>
                                    </p:set>
                                  </p:childTnLst>
                                </p:cTn>
                              </p:par>
                              <p:par>
                                <p:cTn id="85" presetID="26" presetClass="emph" presetSubtype="0" repeatCount="indefinite" fill="hold" grpId="1" nodeType="withEffect">
                                  <p:stCondLst>
                                    <p:cond delay="0"/>
                                  </p:stCondLst>
                                  <p:endCondLst>
                                    <p:cond evt="onNext" delay="0">
                                      <p:tgtEl>
                                        <p:sldTgt/>
                                      </p:tgtEl>
                                    </p:cond>
                                  </p:endCondLst>
                                  <p:childTnLst>
                                    <p:animEffect transition="out" filter="fade">
                                      <p:cBhvr>
                                        <p:cTn id="86" dur="500" tmFilter="0, 0; .2, .5; .8, .5; 1, 0"/>
                                        <p:tgtEl>
                                          <p:spTgt spid="80"/>
                                        </p:tgtEl>
                                      </p:cBhvr>
                                    </p:animEffect>
                                    <p:animScale>
                                      <p:cBhvr>
                                        <p:cTn id="87" dur="250" autoRev="1" fill="hold"/>
                                        <p:tgtEl>
                                          <p:spTgt spid="8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0" grpId="1" animBg="1"/>
      <p:bldP spid="70" grpId="2" animBg="1"/>
      <p:bldP spid="71" grpId="0" animBg="1"/>
      <p:bldP spid="71" grpId="1" animBg="1"/>
      <p:bldP spid="71" grpId="2" animBg="1"/>
      <p:bldP spid="72" grpId="0" animBg="1"/>
      <p:bldP spid="72" grpId="1" animBg="1"/>
      <p:bldP spid="72" grpId="2" animBg="1"/>
      <p:bldP spid="73" grpId="0" animBg="1"/>
      <p:bldP spid="73" grpId="1" animBg="1"/>
      <p:bldP spid="73" grpId="2" animBg="1"/>
      <p:bldP spid="74" grpId="0" animBg="1"/>
      <p:bldP spid="74" grpId="1" animBg="1"/>
      <p:bldP spid="74" grpId="2" animBg="1"/>
      <p:bldP spid="75" grpId="0" animBg="1"/>
      <p:bldP spid="75" grpId="1" animBg="1"/>
      <p:bldP spid="75" grpId="2" animBg="1"/>
      <p:bldP spid="76" grpId="0" animBg="1"/>
      <p:bldP spid="76" grpId="1" animBg="1"/>
      <p:bldP spid="76" grpId="2" animBg="1"/>
      <p:bldP spid="77" grpId="0" animBg="1"/>
      <p:bldP spid="77" grpId="1" animBg="1"/>
      <p:bldP spid="77" grpId="2" animBg="1"/>
      <p:bldP spid="80" grpId="0" animBg="1"/>
      <p:bldP spid="80" grpId="1" animBg="1"/>
      <p:bldP spid="82"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Preemptive Priority Scheduling</a:t>
            </a:r>
            <a:endParaRPr lang="en-IN" dirty="0"/>
          </a:p>
        </p:txBody>
      </p:sp>
      <p:sp>
        <p:nvSpPr>
          <p:cNvPr id="3" name="Content Placeholder 2"/>
          <p:cNvSpPr>
            <a:spLocks noGrp="1"/>
          </p:cNvSpPr>
          <p:nvPr>
            <p:ph idx="1"/>
          </p:nvPr>
        </p:nvSpPr>
        <p:spPr/>
        <p:txBody>
          <a:bodyPr/>
          <a:lstStyle/>
          <a:p>
            <a:r>
              <a:rPr lang="en-US" b="1" dirty="0"/>
              <a:t>Advantages</a:t>
            </a:r>
          </a:p>
          <a:p>
            <a:pPr lvl="1"/>
            <a:r>
              <a:rPr lang="en-US" b="1" dirty="0">
                <a:solidFill>
                  <a:schemeClr val="accent6"/>
                </a:solidFill>
              </a:rPr>
              <a:t>Easy</a:t>
            </a:r>
            <a:r>
              <a:rPr lang="en-US" dirty="0"/>
              <a:t> to use scheduling method.</a:t>
            </a:r>
          </a:p>
          <a:p>
            <a:pPr lvl="1"/>
            <a:r>
              <a:rPr lang="en-US" dirty="0"/>
              <a:t>Processes are executed on the basis of priority so high priority does not need to wait for long which saves time</a:t>
            </a:r>
          </a:p>
          <a:p>
            <a:r>
              <a:rPr lang="en-US" b="1" dirty="0"/>
              <a:t>Disadvantages</a:t>
            </a:r>
          </a:p>
          <a:p>
            <a:pPr lvl="1"/>
            <a:r>
              <a:rPr lang="en-US" dirty="0"/>
              <a:t>If the system eventually </a:t>
            </a:r>
            <a:r>
              <a:rPr lang="en-US" b="1" dirty="0">
                <a:solidFill>
                  <a:schemeClr val="accent6"/>
                </a:solidFill>
              </a:rPr>
              <a:t>crashes</a:t>
            </a:r>
            <a:r>
              <a:rPr lang="en-US" dirty="0"/>
              <a:t>, all </a:t>
            </a:r>
            <a:r>
              <a:rPr lang="en-US" b="1" dirty="0">
                <a:solidFill>
                  <a:schemeClr val="accent6"/>
                </a:solidFill>
              </a:rPr>
              <a:t>low priority processes </a:t>
            </a:r>
            <a:r>
              <a:rPr lang="en-US" dirty="0"/>
              <a:t>get </a:t>
            </a:r>
            <a:r>
              <a:rPr lang="en-US" b="1" dirty="0">
                <a:solidFill>
                  <a:schemeClr val="accent6"/>
                </a:solidFill>
              </a:rPr>
              <a:t>lost</a:t>
            </a:r>
            <a:r>
              <a:rPr lang="en-US" dirty="0"/>
              <a:t>.</a:t>
            </a:r>
          </a:p>
          <a:p>
            <a:pPr lvl="1"/>
            <a:r>
              <a:rPr lang="en-US" b="1" dirty="0">
                <a:solidFill>
                  <a:schemeClr val="accent6"/>
                </a:solidFill>
              </a:rPr>
              <a:t>Starvation</a:t>
            </a:r>
            <a:r>
              <a:rPr lang="en-US" dirty="0"/>
              <a:t> is </a:t>
            </a:r>
            <a:r>
              <a:rPr lang="en-US" b="1" dirty="0">
                <a:solidFill>
                  <a:schemeClr val="accent6"/>
                </a:solidFill>
              </a:rPr>
              <a:t>possible</a:t>
            </a:r>
            <a:r>
              <a:rPr lang="en-US" dirty="0"/>
              <a:t> for lowest priority process. This can be overcome by using technique called “</a:t>
            </a:r>
            <a:r>
              <a:rPr lang="en-US" b="1" dirty="0">
                <a:solidFill>
                  <a:schemeClr val="accent6"/>
                </a:solidFill>
              </a:rPr>
              <a:t>Aging</a:t>
            </a:r>
            <a:r>
              <a:rPr lang="en-US" dirty="0"/>
              <a:t>”.</a:t>
            </a:r>
          </a:p>
          <a:p>
            <a:pPr lvl="1"/>
            <a:r>
              <a:rPr lang="en-US" dirty="0"/>
              <a:t>Context switch overhead is there.</a:t>
            </a:r>
            <a:endParaRPr lang="en-IN" dirty="0"/>
          </a:p>
          <a:p>
            <a:pPr lvl="1"/>
            <a:endParaRPr lang="en-IN" dirty="0"/>
          </a:p>
          <a:p>
            <a:endParaRPr lang="en-IN" dirty="0"/>
          </a:p>
        </p:txBody>
      </p:sp>
    </p:spTree>
    <p:extLst>
      <p:ext uri="{BB962C8B-B14F-4D97-AF65-F5344CB8AC3E}">
        <p14:creationId xmlns:p14="http://schemas.microsoft.com/office/powerpoint/2010/main" val="3558318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Preemptive Priority Scheduling</a:t>
            </a:r>
            <a:endParaRPr lang="en-IN" dirty="0"/>
          </a:p>
        </p:txBody>
      </p:sp>
      <p:sp>
        <p:nvSpPr>
          <p:cNvPr id="3" name="Content Placeholder 2"/>
          <p:cNvSpPr>
            <a:spLocks noGrp="1"/>
          </p:cNvSpPr>
          <p:nvPr>
            <p:ph idx="1"/>
          </p:nvPr>
        </p:nvSpPr>
        <p:spPr/>
        <p:txBody>
          <a:bodyPr/>
          <a:lstStyle/>
          <a:p>
            <a:r>
              <a:rPr lang="en-US" b="1" dirty="0"/>
              <a:t>Preemptive Priority Algorithm</a:t>
            </a:r>
            <a:endParaRPr lang="en-IN" b="1" dirty="0"/>
          </a:p>
          <a:p>
            <a:pPr lvl="1"/>
            <a:r>
              <a:rPr lang="en-US" dirty="0"/>
              <a:t>Consider the following set of four processes. Their priority, arrival time and time required to complete the execution are given in following table. (Time value in milliseconds).</a:t>
            </a:r>
            <a:r>
              <a:rPr lang="en-IN" dirty="0"/>
              <a:t> Draw the Gantt chart and find Finish Time, Average Waiting Time and Turn Around Time  for SRTN algorithm.</a:t>
            </a:r>
            <a:endParaRPr lang="en-IN" b="1" dirty="0"/>
          </a:p>
          <a:p>
            <a:pPr marL="0" indent="0">
              <a:buNone/>
            </a:pPr>
            <a:endParaRPr lang="en-IN" dirty="0"/>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775010" y="2600869"/>
              <a:ext cx="6952130" cy="2874036"/>
            </p:xfrm>
            <a:graphic>
              <a:graphicData uri="http://schemas.openxmlformats.org/drawingml/2006/table">
                <a:tbl>
                  <a:tblPr firstRow="1" bandRow="1">
                    <a:tableStyleId>{8EC20E35-A176-4012-BC5E-935CFFF8708E}</a:tableStyleId>
                  </a:tblPr>
                  <a:tblGrid>
                    <a:gridCol w="981901">
                      <a:extLst>
                        <a:ext uri="{9D8B030D-6E8A-4147-A177-3AD203B41FA5}">
                          <a16:colId xmlns:a16="http://schemas.microsoft.com/office/drawing/2014/main" val="20000"/>
                        </a:ext>
                      </a:extLst>
                    </a:gridCol>
                    <a:gridCol w="1327472">
                      <a:extLst>
                        <a:ext uri="{9D8B030D-6E8A-4147-A177-3AD203B41FA5}">
                          <a16:colId xmlns:a16="http://schemas.microsoft.com/office/drawing/2014/main" val="20003"/>
                        </a:ext>
                      </a:extLst>
                    </a:gridCol>
                    <a:gridCol w="1327472">
                      <a:extLst>
                        <a:ext uri="{9D8B030D-6E8A-4147-A177-3AD203B41FA5}">
                          <a16:colId xmlns:a16="http://schemas.microsoft.com/office/drawing/2014/main" val="20001"/>
                        </a:ext>
                      </a:extLst>
                    </a:gridCol>
                    <a:gridCol w="3315285">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Priority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US"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5"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3839782962"/>
                  </p:ext>
                </p:extLst>
              </p:nvPr>
            </p:nvGraphicFramePr>
            <p:xfrm>
              <a:off x="1775010" y="2600869"/>
              <a:ext cx="6952130" cy="2874036"/>
            </p:xfrm>
            <a:graphic>
              <a:graphicData uri="http://schemas.openxmlformats.org/drawingml/2006/table">
                <a:tbl>
                  <a:tblPr firstRow="1" bandRow="1">
                    <a:tableStyleId>{8EC20E35-A176-4012-BC5E-935CFFF8708E}</a:tableStyleId>
                  </a:tblPr>
                  <a:tblGrid>
                    <a:gridCol w="981901">
                      <a:extLst>
                        <a:ext uri="{9D8B030D-6E8A-4147-A177-3AD203B41FA5}">
                          <a16:colId xmlns="" xmlns:a16="http://schemas.microsoft.com/office/drawing/2014/main" xmlns:a14="http://schemas.microsoft.com/office/drawing/2010/main" val="20000"/>
                        </a:ext>
                      </a:extLst>
                    </a:gridCol>
                    <a:gridCol w="1327472"/>
                    <a:gridCol w="1327472">
                      <a:extLst>
                        <a:ext uri="{9D8B030D-6E8A-4147-A177-3AD203B41FA5}">
                          <a16:colId xmlns="" xmlns:a16="http://schemas.microsoft.com/office/drawing/2014/main" xmlns:a14="http://schemas.microsoft.com/office/drawing/2010/main" val="20001"/>
                        </a:ext>
                      </a:extLst>
                    </a:gridCol>
                    <a:gridCol w="3315285">
                      <a:extLst>
                        <a:ext uri="{9D8B030D-6E8A-4147-A177-3AD203B41FA5}">
                          <a16:colId xmlns="" xmlns:a16="http://schemas.microsoft.com/office/drawing/2014/main"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smtClean="0">
                              <a:solidFill>
                                <a:schemeClr val="tx1"/>
                              </a:solidFill>
                              <a:latin typeface="+mn-lt"/>
                              <a:ea typeface="+mn-ea"/>
                              <a:cs typeface="+mn-cs"/>
                            </a:rPr>
                            <a:t>Priority</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174312" t="-3810" r="-250000"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21" t="-118478" r="-609317" b="-305435"/>
                          </a:stretch>
                        </a:blipFill>
                      </a:tcPr>
                    </a:tc>
                    <a:tc>
                      <a:txBody>
                        <a:bodyPr/>
                        <a:lstStyle/>
                        <a:p>
                          <a:pPr algn="ctr"/>
                          <a:r>
                            <a:rPr lang="en-IN" sz="2000" baseline="0" dirty="0" smtClean="0">
                              <a:solidFill>
                                <a:schemeClr val="tx1"/>
                              </a:solidFill>
                            </a:rPr>
                            <a:t>2</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21" t="-218478" r="-609317" b="-205435"/>
                          </a:stretch>
                        </a:blipFill>
                      </a:tcPr>
                    </a:tc>
                    <a:tc>
                      <a:txBody>
                        <a:bodyPr/>
                        <a:lstStyle/>
                        <a:p>
                          <a:pPr algn="ctr"/>
                          <a:r>
                            <a:rPr lang="en-IN" sz="2000" baseline="0" dirty="0" smtClean="0">
                              <a:solidFill>
                                <a:schemeClr val="tx1"/>
                              </a:solidFill>
                            </a:rPr>
                            <a:t>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21" t="-318478" r="-609317" b="-105435"/>
                          </a:stretch>
                        </a:blipFill>
                      </a:tcPr>
                    </a:tc>
                    <a:tc>
                      <a:txBody>
                        <a:bodyPr/>
                        <a:lstStyle/>
                        <a:p>
                          <a:pPr algn="ctr"/>
                          <a:r>
                            <a:rPr lang="en-IN" sz="2000" baseline="0" dirty="0" smtClean="0">
                              <a:solidFill>
                                <a:schemeClr val="tx1"/>
                              </a:solidFill>
                            </a:rPr>
                            <a:t>3</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l="-621" t="-418478" r="-609317" b="-5435"/>
                          </a:stretch>
                        </a:blipFill>
                      </a:tcPr>
                    </a:tc>
                    <a:tc>
                      <a:txBody>
                        <a:bodyPr/>
                        <a:lstStyle/>
                        <a:p>
                          <a:pPr algn="ctr"/>
                          <a:r>
                            <a:rPr lang="en-IN" sz="2000" baseline="0" dirty="0" smtClean="0">
                              <a:solidFill>
                                <a:schemeClr val="tx1"/>
                              </a:solidFill>
                            </a:rPr>
                            <a:t>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p:spTree>
    <p:extLst>
      <p:ext uri="{BB962C8B-B14F-4D97-AF65-F5344CB8AC3E}">
        <p14:creationId xmlns:p14="http://schemas.microsoft.com/office/powerpoint/2010/main" val="45944121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Preemptive Priority Scheduling</a:t>
                </a:r>
                <a:endParaRPr lang="en-IN" sz="2800" b="1" dirty="0"/>
              </a:p>
              <a:p>
                <a:pPr marL="342900" indent="-342900" algn="just">
                  <a:lnSpc>
                    <a:spcPct val="120000"/>
                  </a:lnSpc>
                  <a:buFont typeface="Wingdings" panose="05000000000000000000" pitchFamily="2" charset="2"/>
                  <a:buChar char="ü"/>
                </a:pPr>
                <a:r>
                  <a:rPr lang="en-US" sz="2400" dirty="0"/>
                  <a:t>In this example process P</a:t>
                </a:r>
                <a:r>
                  <a:rPr lang="en-US" sz="2400" baseline="-25000" dirty="0"/>
                  <a:t>1</a:t>
                </a:r>
                <a:r>
                  <a:rPr lang="en-US" sz="2400" dirty="0"/>
                  <a:t> arrival time is 0. So Process from the ready queue with </a:t>
                </a:r>
                <a14:m>
                  <m:oMath xmlns:m="http://schemas.openxmlformats.org/officeDocument/2006/math">
                    <m:sSub>
                      <m:sSubPr>
                        <m:ctrlPr>
                          <a:rPr lang="en-IN" sz="2400" b="1" i="1" smtClean="0">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US" sz="2400" b="1" i="1" smtClean="0">
                            <a:solidFill>
                              <a:schemeClr val="bg1"/>
                            </a:solidFill>
                            <a:latin typeface="Cambria Math" panose="02040503050406030204" pitchFamily="18" charset="0"/>
                          </a:rPr>
                          <m:t>𝟏</m:t>
                        </m:r>
                      </m:sub>
                    </m:sSub>
                  </m:oMath>
                </a14:m>
                <a:r>
                  <a:rPr lang="en-US" sz="2400" dirty="0"/>
                  <a:t> is selected and allowed to run for 1s because next process with highest priority P</a:t>
                </a:r>
                <a:r>
                  <a:rPr lang="en-US" sz="2400" baseline="-25000" dirty="0"/>
                  <a:t>2</a:t>
                </a:r>
                <a:r>
                  <a:rPr lang="en-US" sz="2400" dirty="0"/>
                  <a:t> will arrives and allowed to run till it completes.</a:t>
                </a:r>
              </a:p>
              <a:p>
                <a:pPr marL="342900" indent="-342900" algn="just">
                  <a:buFont typeface="Wingdings" panose="05000000000000000000" pitchFamily="2" charset="2"/>
                  <a:buChar char="ü"/>
                </a:pPr>
                <a:r>
                  <a:rPr lang="en-US" sz="2400" dirty="0"/>
                  <a:t>Likewise Next Process from the ready queue with highest priority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US" sz="2400" b="1" i="1" smtClean="0">
                            <a:solidFill>
                              <a:schemeClr val="bg1"/>
                            </a:solidFill>
                            <a:latin typeface="Cambria Math" panose="02040503050406030204" pitchFamily="18" charset="0"/>
                          </a:rPr>
                          <m:t>𝟒</m:t>
                        </m:r>
                      </m:sub>
                    </m:sSub>
                  </m:oMath>
                </a14:m>
                <a:r>
                  <a:rPr lang="en-US" sz="2400" dirty="0"/>
                  <a:t> is selected and allowed to run till it completes.</a:t>
                </a:r>
              </a:p>
              <a:p>
                <a:pPr marL="342900" indent="-342900" algn="just">
                  <a:buFont typeface="Wingdings" panose="05000000000000000000" pitchFamily="2" charset="2"/>
                  <a:buChar char="ü"/>
                </a:pPr>
                <a:r>
                  <a:rPr lang="en-US" sz="2400" dirty="0"/>
                  <a:t>Next P</a:t>
                </a:r>
                <a:r>
                  <a:rPr lang="en-US" sz="2400" baseline="-25000" dirty="0"/>
                  <a:t>1</a:t>
                </a:r>
                <a:r>
                  <a:rPr lang="en-US" sz="2400" dirty="0"/>
                  <a:t> is selected to complete its remaining task. </a:t>
                </a:r>
                <a:endParaRPr lang="en-IN" sz="2400" dirty="0"/>
              </a:p>
              <a:p>
                <a:pPr marL="342900" indent="-342900" algn="just">
                  <a:buFont typeface="Wingdings" panose="05000000000000000000" pitchFamily="2" charset="2"/>
                  <a:buChar char="ü"/>
                </a:pPr>
                <a:r>
                  <a:rPr lang="en-US" sz="2400" dirty="0"/>
                  <a:t>Whenever more than one process is available, such type of decision is taken.</a:t>
                </a:r>
              </a:p>
              <a:p>
                <a:pPr marL="342900" indent="-342900" algn="just">
                  <a:buFont typeface="Wingdings" panose="05000000000000000000" pitchFamily="2" charset="2"/>
                  <a:buChar char="ü"/>
                </a:pPr>
                <a:r>
                  <a:rPr lang="en-US" sz="2400" dirty="0"/>
                  <a:t>This procedure is repeated till all processes complete their execution.</a:t>
                </a:r>
                <a:endParaRPr lang="en-IN" sz="2400" dirty="0"/>
              </a:p>
              <a:p>
                <a:pPr algn="just">
                  <a:lnSpc>
                    <a:spcPct val="120000"/>
                  </a:lnSpc>
                </a:pPr>
                <a:endParaRPr lang="en-IN" sz="2800" b="1" dirty="0"/>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p:sp>
        <p:nvSpPr>
          <p:cNvPr id="16" name="TextBox 15"/>
          <p:cNvSpPr txBox="1"/>
          <p:nvPr/>
        </p:nvSpPr>
        <p:spPr>
          <a:xfrm>
            <a:off x="158276" y="152363"/>
            <a:ext cx="3022169"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b="1" dirty="0"/>
              <a:t>Example</a:t>
            </a:r>
          </a:p>
        </p:txBody>
      </p:sp>
      <p:sp>
        <p:nvSpPr>
          <p:cNvPr id="33" name="TextBox 32"/>
          <p:cNvSpPr txBox="1"/>
          <p:nvPr/>
        </p:nvSpPr>
        <p:spPr>
          <a:xfrm>
            <a:off x="170481" y="3840997"/>
            <a:ext cx="3022169" cy="461665"/>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a:t>Gantt Chart</a:t>
            </a:r>
          </a:p>
        </p:txBody>
      </p:sp>
      <mc:AlternateContent xmlns:mc="http://schemas.openxmlformats.org/markup-compatibility/2006" xmlns:a14="http://schemas.microsoft.com/office/drawing/2010/main">
        <mc:Choice Requires="a14">
          <p:sp>
            <p:nvSpPr>
              <p:cNvPr id="39" name="Rectangle 38"/>
              <p:cNvSpPr/>
              <p:nvPr/>
            </p:nvSpPr>
            <p:spPr>
              <a:xfrm>
                <a:off x="2971803" y="4722097"/>
                <a:ext cx="1274523" cy="63342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39" name="Rectangle 38"/>
              <p:cNvSpPr>
                <a:spLocks noRot="1" noChangeAspect="1" noMove="1" noResize="1" noEditPoints="1" noAdjustHandles="1" noChangeArrowheads="1" noChangeShapeType="1" noTextEdit="1"/>
              </p:cNvSpPr>
              <p:nvPr/>
            </p:nvSpPr>
            <p:spPr>
              <a:xfrm>
                <a:off x="2971803" y="4722097"/>
                <a:ext cx="1274523" cy="633425"/>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2399151" y="4715928"/>
                <a:ext cx="600099" cy="63933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4</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2399151" y="4715928"/>
                <a:ext cx="600099" cy="63933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667184" y="4715929"/>
                <a:ext cx="614520" cy="639338"/>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42" name="Rectangle 41"/>
              <p:cNvSpPr>
                <a:spLocks noRot="1" noChangeAspect="1" noMove="1" noResize="1" noEditPoints="1" noAdjustHandles="1" noChangeArrowheads="1" noChangeShapeType="1" noTextEdit="1"/>
              </p:cNvSpPr>
              <p:nvPr/>
            </p:nvSpPr>
            <p:spPr>
              <a:xfrm>
                <a:off x="667184" y="4715929"/>
                <a:ext cx="614520" cy="639338"/>
              </a:xfrm>
              <a:prstGeom prst="rect">
                <a:avLst/>
              </a:prstGeom>
              <a:blipFill rotWithShape="0">
                <a:blip r:embed="rId5"/>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1281705" y="4715930"/>
                <a:ext cx="1138766" cy="639337"/>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2</m:t>
                          </m:r>
                        </m:sub>
                      </m:sSub>
                    </m:oMath>
                  </m:oMathPara>
                </a14:m>
                <a:endParaRPr lang="en-US" dirty="0"/>
              </a:p>
            </p:txBody>
          </p:sp>
        </mc:Choice>
        <mc:Fallback xmlns="">
          <p:sp>
            <p:nvSpPr>
              <p:cNvPr id="43" name="Rectangle 42"/>
              <p:cNvSpPr>
                <a:spLocks noRot="1" noChangeAspect="1" noMove="1" noResize="1" noEditPoints="1" noAdjustHandles="1" noChangeArrowheads="1" noChangeShapeType="1" noTextEdit="1"/>
              </p:cNvSpPr>
              <p:nvPr/>
            </p:nvSpPr>
            <p:spPr>
              <a:xfrm>
                <a:off x="1281705" y="4715930"/>
                <a:ext cx="1138766" cy="639337"/>
              </a:xfrm>
              <a:prstGeom prst="rect">
                <a:avLst/>
              </a:prstGeom>
              <a:blipFill rotWithShape="0">
                <a:blip r:embed="rId6"/>
                <a:stretch>
                  <a:fillRect/>
                </a:stretch>
              </a:blipFill>
              <a:ln w="38100">
                <a:solidFill>
                  <a:srgbClr val="4B302A"/>
                </a:solidFill>
              </a:ln>
            </p:spPr>
            <p:txBody>
              <a:bodyPr/>
              <a:lstStyle/>
              <a:p>
                <a:r>
                  <a:rPr lang="en-US">
                    <a:noFill/>
                  </a:rPr>
                  <a:t> </a:t>
                </a:r>
              </a:p>
            </p:txBody>
          </p:sp>
        </mc:Fallback>
      </mc:AlternateContent>
      <p:cxnSp>
        <p:nvCxnSpPr>
          <p:cNvPr id="44" name="Straight Connector 43"/>
          <p:cNvCxnSpPr/>
          <p:nvPr/>
        </p:nvCxnSpPr>
        <p:spPr>
          <a:xfrm flipH="1">
            <a:off x="676407" y="4684410"/>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540423" y="5340516"/>
            <a:ext cx="318448" cy="381000"/>
          </a:xfrm>
          <a:prstGeom prst="rect">
            <a:avLst/>
          </a:prstGeom>
          <a:noFill/>
        </p:spPr>
        <p:txBody>
          <a:bodyPr wrap="square" rtlCol="0">
            <a:spAutoFit/>
          </a:bodyPr>
          <a:lstStyle/>
          <a:p>
            <a:r>
              <a:rPr lang="en-US" dirty="0"/>
              <a:t>0</a:t>
            </a:r>
          </a:p>
        </p:txBody>
      </p:sp>
      <p:sp>
        <p:nvSpPr>
          <p:cNvPr id="46" name="TextBox 45"/>
          <p:cNvSpPr txBox="1"/>
          <p:nvPr/>
        </p:nvSpPr>
        <p:spPr>
          <a:xfrm>
            <a:off x="1110018" y="5353726"/>
            <a:ext cx="283418" cy="369332"/>
          </a:xfrm>
          <a:prstGeom prst="rect">
            <a:avLst/>
          </a:prstGeom>
          <a:noFill/>
        </p:spPr>
        <p:txBody>
          <a:bodyPr wrap="square" rtlCol="0">
            <a:spAutoFit/>
          </a:bodyPr>
          <a:lstStyle/>
          <a:p>
            <a:r>
              <a:rPr lang="en-US" dirty="0"/>
              <a:t>1</a:t>
            </a:r>
          </a:p>
        </p:txBody>
      </p:sp>
      <p:sp>
        <p:nvSpPr>
          <p:cNvPr id="47" name="TextBox 46"/>
          <p:cNvSpPr txBox="1"/>
          <p:nvPr/>
        </p:nvSpPr>
        <p:spPr>
          <a:xfrm>
            <a:off x="2205920" y="5346350"/>
            <a:ext cx="437735" cy="369332"/>
          </a:xfrm>
          <a:prstGeom prst="rect">
            <a:avLst/>
          </a:prstGeom>
          <a:noFill/>
        </p:spPr>
        <p:txBody>
          <a:bodyPr wrap="square" rtlCol="0">
            <a:spAutoFit/>
          </a:bodyPr>
          <a:lstStyle/>
          <a:p>
            <a:r>
              <a:rPr lang="en-US" dirty="0"/>
              <a:t>5</a:t>
            </a:r>
          </a:p>
        </p:txBody>
      </p:sp>
      <p:sp>
        <p:nvSpPr>
          <p:cNvPr id="48" name="TextBox 47"/>
          <p:cNvSpPr txBox="1"/>
          <p:nvPr/>
        </p:nvSpPr>
        <p:spPr>
          <a:xfrm>
            <a:off x="2760110" y="5353726"/>
            <a:ext cx="453006" cy="369332"/>
          </a:xfrm>
          <a:prstGeom prst="rect">
            <a:avLst/>
          </a:prstGeom>
          <a:noFill/>
        </p:spPr>
        <p:txBody>
          <a:bodyPr wrap="square" rtlCol="0">
            <a:spAutoFit/>
          </a:bodyPr>
          <a:lstStyle/>
          <a:p>
            <a:r>
              <a:rPr lang="en-US" dirty="0"/>
              <a:t>6</a:t>
            </a:r>
          </a:p>
        </p:txBody>
      </p:sp>
      <p:sp>
        <p:nvSpPr>
          <p:cNvPr id="49" name="TextBox 48"/>
          <p:cNvSpPr txBox="1"/>
          <p:nvPr/>
        </p:nvSpPr>
        <p:spPr>
          <a:xfrm>
            <a:off x="4039323" y="5346350"/>
            <a:ext cx="448784" cy="369332"/>
          </a:xfrm>
          <a:prstGeom prst="rect">
            <a:avLst/>
          </a:prstGeom>
          <a:noFill/>
        </p:spPr>
        <p:txBody>
          <a:bodyPr wrap="square" rtlCol="0">
            <a:spAutoFit/>
          </a:bodyPr>
          <a:lstStyle/>
          <a:p>
            <a:r>
              <a:rPr lang="en-US" dirty="0"/>
              <a:t>11</a:t>
            </a:r>
          </a:p>
        </p:txBody>
      </p:sp>
      <mc:AlternateContent xmlns:mc="http://schemas.openxmlformats.org/markup-compatibility/2006" xmlns:a14="http://schemas.microsoft.com/office/drawing/2010/main">
        <mc:Choice Requires="a14">
          <p:graphicFrame>
            <p:nvGraphicFramePr>
              <p:cNvPr id="1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58276" y="633991"/>
              <a:ext cx="5718874" cy="3148356"/>
            </p:xfrm>
            <a:graphic>
              <a:graphicData uri="http://schemas.openxmlformats.org/drawingml/2006/table">
                <a:tbl>
                  <a:tblPr firstRow="1" bandRow="1">
                    <a:tableStyleId>{8EC20E35-A176-4012-BC5E-935CFFF8708E}</a:tableStyleId>
                  </a:tblPr>
                  <a:tblGrid>
                    <a:gridCol w="1031369">
                      <a:extLst>
                        <a:ext uri="{9D8B030D-6E8A-4147-A177-3AD203B41FA5}">
                          <a16:colId xmlns:a16="http://schemas.microsoft.com/office/drawing/2014/main" val="20000"/>
                        </a:ext>
                      </a:extLst>
                    </a:gridCol>
                    <a:gridCol w="968188">
                      <a:extLst>
                        <a:ext uri="{9D8B030D-6E8A-4147-A177-3AD203B41FA5}">
                          <a16:colId xmlns:a16="http://schemas.microsoft.com/office/drawing/2014/main" val="20003"/>
                        </a:ext>
                      </a:extLst>
                    </a:gridCol>
                    <a:gridCol w="1156448">
                      <a:extLst>
                        <a:ext uri="{9D8B030D-6E8A-4147-A177-3AD203B41FA5}">
                          <a16:colId xmlns:a16="http://schemas.microsoft.com/office/drawing/2014/main" val="20001"/>
                        </a:ext>
                      </a:extLst>
                    </a:gridCol>
                    <a:gridCol w="256286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Priority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17"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1075328038"/>
                  </p:ext>
                </p:extLst>
              </p:nvPr>
            </p:nvGraphicFramePr>
            <p:xfrm>
              <a:off x="158276" y="633991"/>
              <a:ext cx="5718874" cy="3148356"/>
            </p:xfrm>
            <a:graphic>
              <a:graphicData uri="http://schemas.openxmlformats.org/drawingml/2006/table">
                <a:tbl>
                  <a:tblPr firstRow="1" bandRow="1">
                    <a:tableStyleId>{8EC20E35-A176-4012-BC5E-935CFFF8708E}</a:tableStyleId>
                  </a:tblPr>
                  <a:tblGrid>
                    <a:gridCol w="1031369">
                      <a:extLst>
                        <a:ext uri="{9D8B030D-6E8A-4147-A177-3AD203B41FA5}">
                          <a16:colId xmlns="" xmlns:a16="http://schemas.microsoft.com/office/drawing/2014/main" xmlns:a14="http://schemas.microsoft.com/office/drawing/2010/main" val="20000"/>
                        </a:ext>
                      </a:extLst>
                    </a:gridCol>
                    <a:gridCol w="968188"/>
                    <a:gridCol w="1156448">
                      <a:extLst>
                        <a:ext uri="{9D8B030D-6E8A-4147-A177-3AD203B41FA5}">
                          <a16:colId xmlns="" xmlns:a16="http://schemas.microsoft.com/office/drawing/2014/main" xmlns:a14="http://schemas.microsoft.com/office/drawing/2010/main" val="20001"/>
                        </a:ext>
                      </a:extLst>
                    </a:gridCol>
                    <a:gridCol w="2562869">
                      <a:extLst>
                        <a:ext uri="{9D8B030D-6E8A-4147-A177-3AD203B41FA5}">
                          <a16:colId xmlns="" xmlns:a16="http://schemas.microsoft.com/office/drawing/2014/main" xmlns:a14="http://schemas.microsoft.com/office/drawing/2010/main" val="20002"/>
                        </a:ext>
                      </a:extLst>
                    </a:gridCol>
                  </a:tblGrid>
                  <a:tr h="91440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smtClean="0">
                              <a:solidFill>
                                <a:schemeClr val="tx1"/>
                              </a:solidFill>
                              <a:latin typeface="+mn-lt"/>
                              <a:ea typeface="+mn-ea"/>
                              <a:cs typeface="+mn-cs"/>
                            </a:rPr>
                            <a:t>Priority</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7"/>
                          <a:stretch>
                            <a:fillRect l="-173158" t="-2667" r="-222105" b="-248000"/>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t="-167391" r="-453529" b="-304348"/>
                          </a:stretch>
                        </a:blipFill>
                      </a:tcPr>
                    </a:tc>
                    <a:tc>
                      <a:txBody>
                        <a:bodyPr/>
                        <a:lstStyle/>
                        <a:p>
                          <a:pPr algn="ctr"/>
                          <a:r>
                            <a:rPr lang="en-IN" sz="2000" baseline="0" dirty="0" smtClean="0">
                              <a:solidFill>
                                <a:schemeClr val="tx1"/>
                              </a:solidFill>
                            </a:rPr>
                            <a:t>2</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t="-267391" r="-453529" b="-204348"/>
                          </a:stretch>
                        </a:blipFill>
                      </a:tcPr>
                    </a:tc>
                    <a:tc>
                      <a:txBody>
                        <a:bodyPr/>
                        <a:lstStyle/>
                        <a:p>
                          <a:pPr algn="ctr"/>
                          <a:r>
                            <a:rPr lang="en-IN" sz="2000" baseline="0" dirty="0" smtClean="0">
                              <a:solidFill>
                                <a:schemeClr val="tx1"/>
                              </a:solidFill>
                            </a:rPr>
                            <a:t>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smtClean="0">
                              <a:solidFill>
                                <a:schemeClr val="tx1"/>
                              </a:solidFill>
                            </a:rPr>
                            <a:t>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t="-371429" r="-453529" b="-106593"/>
                          </a:stretch>
                        </a:blipFill>
                      </a:tcPr>
                    </a:tc>
                    <a:tc>
                      <a:txBody>
                        <a:bodyPr/>
                        <a:lstStyle/>
                        <a:p>
                          <a:pPr algn="ctr"/>
                          <a:r>
                            <a:rPr lang="en-IN" sz="2000" baseline="0" dirty="0" smtClean="0">
                              <a:solidFill>
                                <a:schemeClr val="tx1"/>
                              </a:solidFill>
                            </a:rPr>
                            <a:t>3</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t="-466304" r="-453529" b="-5435"/>
                          </a:stretch>
                        </a:blipFill>
                      </a:tcPr>
                    </a:tc>
                    <a:tc>
                      <a:txBody>
                        <a:bodyPr/>
                        <a:lstStyle/>
                        <a:p>
                          <a:pPr algn="ctr"/>
                          <a:r>
                            <a:rPr lang="en-IN" sz="2000" baseline="0" dirty="0" smtClean="0">
                              <a:solidFill>
                                <a:schemeClr val="tx1"/>
                              </a:solidFill>
                            </a:rPr>
                            <a:t>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sp>
            <p:nvSpPr>
              <p:cNvPr id="18" name="Rectangle 17"/>
              <p:cNvSpPr/>
              <p:nvPr/>
            </p:nvSpPr>
            <p:spPr>
              <a:xfrm>
                <a:off x="4241486" y="4720301"/>
                <a:ext cx="872543" cy="63342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3</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4241486" y="4720301"/>
                <a:ext cx="872543" cy="633425"/>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19" name="TextBox 18"/>
          <p:cNvSpPr txBox="1"/>
          <p:nvPr/>
        </p:nvSpPr>
        <p:spPr>
          <a:xfrm>
            <a:off x="4879111" y="5346350"/>
            <a:ext cx="448784" cy="369332"/>
          </a:xfrm>
          <a:prstGeom prst="rect">
            <a:avLst/>
          </a:prstGeom>
          <a:noFill/>
        </p:spPr>
        <p:txBody>
          <a:bodyPr wrap="square" rtlCol="0">
            <a:spAutoFit/>
          </a:bodyPr>
          <a:lstStyle/>
          <a:p>
            <a:r>
              <a:rPr lang="en-US" dirty="0"/>
              <a:t>13</a:t>
            </a:r>
          </a:p>
        </p:txBody>
      </p:sp>
    </p:spTree>
    <p:extLst>
      <p:ext uri="{BB962C8B-B14F-4D97-AF65-F5344CB8AC3E}">
        <p14:creationId xmlns:p14="http://schemas.microsoft.com/office/powerpoint/2010/main" val="291859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9" grpId="0" animBg="1"/>
      <p:bldP spid="40" grpId="0" animBg="1"/>
      <p:bldP spid="42" grpId="0" animBg="1"/>
      <p:bldP spid="43" grpId="0" animBg="1"/>
      <p:bldP spid="45" grpId="0"/>
      <p:bldP spid="46" grpId="0"/>
      <p:bldP spid="47" grpId="0"/>
      <p:bldP spid="48" grpId="0"/>
      <p:bldP spid="49" grpId="0"/>
      <p:bldP spid="18" grpId="0" animBg="1"/>
      <p:bldP spid="19"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Preemptive Priority Scheduling</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US"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3824174638"/>
                  </p:ext>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 xmlns:a16="http://schemas.microsoft.com/office/drawing/2014/main" xmlns:a14="http://schemas.microsoft.com/office/drawing/2010/main" val="20000"/>
                        </a:ext>
                      </a:extLst>
                    </a:gridCol>
                    <a:gridCol w="1547749">
                      <a:extLst>
                        <a:ext uri="{9D8B030D-6E8A-4147-A177-3AD203B41FA5}">
                          <a16:colId xmlns="" xmlns:a16="http://schemas.microsoft.com/office/drawing/2014/main" xmlns:a14="http://schemas.microsoft.com/office/drawing/2010/main" val="20001"/>
                        </a:ext>
                      </a:extLst>
                    </a:gridCol>
                    <a:gridCol w="3564248">
                      <a:extLst>
                        <a:ext uri="{9D8B030D-6E8A-4147-A177-3AD203B41FA5}">
                          <a16:colId xmlns="" xmlns:a16="http://schemas.microsoft.com/office/drawing/2014/main"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 xmlns:a16="http://schemas.microsoft.com/office/drawing/2014/main"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3774" r="-439" b="-15094"/>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 xmlns:a16="http://schemas.microsoft.com/office/drawing/2014/main"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289" t="-3774" r="-289" b="-16038"/>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80" name="TextBox 79"/>
          <p:cNvSpPr txBox="1"/>
          <p:nvPr/>
        </p:nvSpPr>
        <p:spPr>
          <a:xfrm>
            <a:off x="6345843" y="1505039"/>
            <a:ext cx="1381969" cy="542441"/>
          </a:xfrm>
          <a:prstGeom prst="rect">
            <a:avLst/>
          </a:prstGeom>
          <a:noFill/>
          <a:ln w="57150">
            <a:solidFill>
              <a:srgbClr val="FF0000"/>
            </a:solidFill>
          </a:ln>
        </p:spPr>
        <p:txBody>
          <a:bodyPr wrap="square" rtlCol="0">
            <a:spAutoFit/>
          </a:bodyPr>
          <a:lstStyle/>
          <a:p>
            <a:endParaRPr lang="en-IN" dirty="0"/>
          </a:p>
        </p:txBody>
      </p:sp>
      <p:sp>
        <p:nvSpPr>
          <p:cNvPr id="81" name="TextBox 80"/>
          <p:cNvSpPr txBox="1"/>
          <p:nvPr/>
        </p:nvSpPr>
        <p:spPr>
          <a:xfrm>
            <a:off x="1237649" y="1489663"/>
            <a:ext cx="1490790" cy="542441"/>
          </a:xfrm>
          <a:prstGeom prst="rect">
            <a:avLst/>
          </a:prstGeom>
          <a:noFill/>
          <a:ln w="57150">
            <a:solidFill>
              <a:srgbClr val="FF0000"/>
            </a:solidFill>
          </a:ln>
        </p:spPr>
        <p:txBody>
          <a:bodyPr wrap="square" rtlCol="0">
            <a:spAutoFit/>
          </a:bodyPr>
          <a:lstStyle/>
          <a:p>
            <a:endParaRPr lang="en-IN" dirty="0"/>
          </a:p>
        </p:txBody>
      </p:sp>
      <p:sp>
        <p:nvSpPr>
          <p:cNvPr id="82" name="TextBox 81"/>
          <p:cNvSpPr txBox="1"/>
          <p:nvPr/>
        </p:nvSpPr>
        <p:spPr>
          <a:xfrm>
            <a:off x="6347192" y="2047310"/>
            <a:ext cx="1381969" cy="542441"/>
          </a:xfrm>
          <a:prstGeom prst="rect">
            <a:avLst/>
          </a:prstGeom>
          <a:noFill/>
          <a:ln w="57150">
            <a:solidFill>
              <a:srgbClr val="FF0000"/>
            </a:solidFill>
          </a:ln>
        </p:spPr>
        <p:txBody>
          <a:bodyPr wrap="square" rtlCol="0">
            <a:spAutoFit/>
          </a:bodyPr>
          <a:lstStyle/>
          <a:p>
            <a:endParaRPr lang="en-IN" dirty="0"/>
          </a:p>
        </p:txBody>
      </p:sp>
      <p:sp>
        <p:nvSpPr>
          <p:cNvPr id="83" name="TextBox 82"/>
          <p:cNvSpPr txBox="1"/>
          <p:nvPr/>
        </p:nvSpPr>
        <p:spPr>
          <a:xfrm>
            <a:off x="1237649" y="2028905"/>
            <a:ext cx="1490790" cy="542441"/>
          </a:xfrm>
          <a:prstGeom prst="rect">
            <a:avLst/>
          </a:prstGeom>
          <a:noFill/>
          <a:ln w="57150">
            <a:solidFill>
              <a:srgbClr val="FF0000"/>
            </a:solidFill>
          </a:ln>
        </p:spPr>
        <p:txBody>
          <a:bodyPr wrap="square" rtlCol="0">
            <a:spAutoFit/>
          </a:bodyPr>
          <a:lstStyle/>
          <a:p>
            <a:endParaRPr lang="en-IN" dirty="0"/>
          </a:p>
        </p:txBody>
      </p:sp>
      <p:sp>
        <p:nvSpPr>
          <p:cNvPr id="84" name="TextBox 83"/>
          <p:cNvSpPr txBox="1"/>
          <p:nvPr/>
        </p:nvSpPr>
        <p:spPr>
          <a:xfrm>
            <a:off x="6347193" y="2592095"/>
            <a:ext cx="1381969" cy="542441"/>
          </a:xfrm>
          <a:prstGeom prst="rect">
            <a:avLst/>
          </a:prstGeom>
          <a:noFill/>
          <a:ln w="57150">
            <a:solidFill>
              <a:srgbClr val="FF0000"/>
            </a:solidFill>
          </a:ln>
        </p:spPr>
        <p:txBody>
          <a:bodyPr wrap="square" rtlCol="0">
            <a:spAutoFit/>
          </a:bodyPr>
          <a:lstStyle/>
          <a:p>
            <a:endParaRPr lang="en-IN" dirty="0"/>
          </a:p>
        </p:txBody>
      </p:sp>
      <p:sp>
        <p:nvSpPr>
          <p:cNvPr id="85" name="TextBox 84"/>
          <p:cNvSpPr txBox="1"/>
          <p:nvPr/>
        </p:nvSpPr>
        <p:spPr>
          <a:xfrm>
            <a:off x="1237649" y="2568147"/>
            <a:ext cx="1490790" cy="542441"/>
          </a:xfrm>
          <a:prstGeom prst="rect">
            <a:avLst/>
          </a:prstGeom>
          <a:noFill/>
          <a:ln w="57150">
            <a:solidFill>
              <a:srgbClr val="FF0000"/>
            </a:solidFill>
          </a:ln>
        </p:spPr>
        <p:txBody>
          <a:bodyPr wrap="square" rtlCol="0">
            <a:spAutoFit/>
          </a:bodyPr>
          <a:lstStyle/>
          <a:p>
            <a:endParaRPr lang="en-IN" dirty="0"/>
          </a:p>
        </p:txBody>
      </p:sp>
      <p:sp>
        <p:nvSpPr>
          <p:cNvPr id="86" name="TextBox 85"/>
          <p:cNvSpPr txBox="1"/>
          <p:nvPr/>
        </p:nvSpPr>
        <p:spPr>
          <a:xfrm>
            <a:off x="6321698" y="3151722"/>
            <a:ext cx="1381969" cy="542441"/>
          </a:xfrm>
          <a:prstGeom prst="rect">
            <a:avLst/>
          </a:prstGeom>
          <a:noFill/>
          <a:ln w="57150">
            <a:solidFill>
              <a:srgbClr val="FF0000"/>
            </a:solidFill>
          </a:ln>
        </p:spPr>
        <p:txBody>
          <a:bodyPr wrap="square" rtlCol="0">
            <a:spAutoFit/>
          </a:bodyPr>
          <a:lstStyle/>
          <a:p>
            <a:endParaRPr lang="en-IN" dirty="0"/>
          </a:p>
        </p:txBody>
      </p:sp>
      <p:sp>
        <p:nvSpPr>
          <p:cNvPr id="87" name="TextBox 86"/>
          <p:cNvSpPr txBox="1"/>
          <p:nvPr/>
        </p:nvSpPr>
        <p:spPr>
          <a:xfrm>
            <a:off x="1237649" y="3136535"/>
            <a:ext cx="1490790" cy="542441"/>
          </a:xfrm>
          <a:prstGeom prst="rect">
            <a:avLst/>
          </a:prstGeom>
          <a:noFill/>
          <a:ln w="57150">
            <a:solidFill>
              <a:srgbClr val="FF0000"/>
            </a:solidFill>
          </a:ln>
        </p:spPr>
        <p:txBody>
          <a:bodyPr wrap="square" rtlCol="0">
            <a:spAutoFit/>
          </a:bodyPr>
          <a:lstStyle/>
          <a:p>
            <a:endParaRPr lang="en-IN" dirty="0"/>
          </a:p>
        </p:txBody>
      </p:sp>
      <p:sp>
        <p:nvSpPr>
          <p:cNvPr id="97" name="TextBox 96"/>
          <p:cNvSpPr txBox="1"/>
          <p:nvPr/>
        </p:nvSpPr>
        <p:spPr>
          <a:xfrm>
            <a:off x="131180" y="5505196"/>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Turnaround Time </a:t>
            </a:r>
            <a:r>
              <a:rPr lang="en-US" sz="2000" dirty="0"/>
              <a:t>= Sum of all Process’s Turn Around Time/ Total Process</a:t>
            </a:r>
          </a:p>
          <a:p>
            <a:r>
              <a:rPr lang="en-US" sz="2000" dirty="0"/>
              <a:t>                                                    = (11+4+10+1)/4 </a:t>
            </a:r>
          </a:p>
          <a:p>
            <a:r>
              <a:rPr lang="en-US" sz="2000" dirty="0"/>
              <a:t>                                                    = 6.5 Ms.</a:t>
            </a:r>
          </a:p>
        </p:txBody>
      </p:sp>
      <p:sp>
        <p:nvSpPr>
          <p:cNvPr id="62" name="TextBox 61"/>
          <p:cNvSpPr txBox="1"/>
          <p:nvPr/>
        </p:nvSpPr>
        <p:spPr>
          <a:xfrm>
            <a:off x="7757112" y="1490525"/>
            <a:ext cx="2049246" cy="2222902"/>
          </a:xfrm>
          <a:prstGeom prst="rect">
            <a:avLst/>
          </a:prstGeom>
          <a:noFill/>
          <a:ln w="57150">
            <a:solidFill>
              <a:srgbClr val="FF0000"/>
            </a:solidFill>
          </a:ln>
        </p:spPr>
        <p:txBody>
          <a:bodyPr wrap="square" rtlCol="0">
            <a:spAutoFit/>
          </a:bodyPr>
          <a:lstStyle/>
          <a:p>
            <a:endParaRPr lang="en-IN" dirty="0"/>
          </a:p>
        </p:txBody>
      </p:sp>
      <mc:AlternateContent xmlns:mc="http://schemas.openxmlformats.org/markup-compatibility/2006" xmlns:a14="http://schemas.microsoft.com/office/drawing/2010/main">
        <mc:Choice Requires="a14">
          <p:sp>
            <p:nvSpPr>
              <p:cNvPr id="128" name="Rectangle 127"/>
              <p:cNvSpPr/>
              <p:nvPr/>
            </p:nvSpPr>
            <p:spPr>
              <a:xfrm>
                <a:off x="2971803" y="4342705"/>
                <a:ext cx="1274523" cy="63342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128" name="Rectangle 127"/>
              <p:cNvSpPr>
                <a:spLocks noRot="1" noChangeAspect="1" noMove="1" noResize="1" noEditPoints="1" noAdjustHandles="1" noChangeArrowheads="1" noChangeShapeType="1" noTextEdit="1"/>
              </p:cNvSpPr>
              <p:nvPr/>
            </p:nvSpPr>
            <p:spPr>
              <a:xfrm>
                <a:off x="2971803" y="4342705"/>
                <a:ext cx="1274523" cy="633425"/>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9" name="Rectangle 128"/>
              <p:cNvSpPr/>
              <p:nvPr/>
            </p:nvSpPr>
            <p:spPr>
              <a:xfrm>
                <a:off x="2399151" y="4336536"/>
                <a:ext cx="600099" cy="63933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4</m:t>
                          </m:r>
                        </m:sub>
                      </m:sSub>
                    </m:oMath>
                  </m:oMathPara>
                </a14:m>
                <a:endParaRPr lang="en-US" dirty="0"/>
              </a:p>
            </p:txBody>
          </p:sp>
        </mc:Choice>
        <mc:Fallback xmlns="">
          <p:sp>
            <p:nvSpPr>
              <p:cNvPr id="129" name="Rectangle 128"/>
              <p:cNvSpPr>
                <a:spLocks noRot="1" noChangeAspect="1" noMove="1" noResize="1" noEditPoints="1" noAdjustHandles="1" noChangeArrowheads="1" noChangeShapeType="1" noTextEdit="1"/>
              </p:cNvSpPr>
              <p:nvPr/>
            </p:nvSpPr>
            <p:spPr>
              <a:xfrm>
                <a:off x="2399151" y="4336536"/>
                <a:ext cx="600099" cy="63933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0" name="Rectangle 129"/>
              <p:cNvSpPr/>
              <p:nvPr/>
            </p:nvSpPr>
            <p:spPr>
              <a:xfrm>
                <a:off x="667184" y="4336537"/>
                <a:ext cx="614520" cy="639338"/>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130" name="Rectangle 129"/>
              <p:cNvSpPr>
                <a:spLocks noRot="1" noChangeAspect="1" noMove="1" noResize="1" noEditPoints="1" noAdjustHandles="1" noChangeArrowheads="1" noChangeShapeType="1" noTextEdit="1"/>
              </p:cNvSpPr>
              <p:nvPr/>
            </p:nvSpPr>
            <p:spPr>
              <a:xfrm>
                <a:off x="667184" y="4336537"/>
                <a:ext cx="614520" cy="639338"/>
              </a:xfrm>
              <a:prstGeom prst="rect">
                <a:avLst/>
              </a:prstGeom>
              <a:blipFill rotWithShape="0">
                <a:blip r:embed="rId7"/>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1" name="Rectangle 130"/>
              <p:cNvSpPr/>
              <p:nvPr/>
            </p:nvSpPr>
            <p:spPr>
              <a:xfrm>
                <a:off x="1281705" y="4336538"/>
                <a:ext cx="1138766" cy="639337"/>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2</m:t>
                          </m:r>
                        </m:sub>
                      </m:sSub>
                    </m:oMath>
                  </m:oMathPara>
                </a14:m>
                <a:endParaRPr lang="en-US" dirty="0"/>
              </a:p>
            </p:txBody>
          </p:sp>
        </mc:Choice>
        <mc:Fallback xmlns="">
          <p:sp>
            <p:nvSpPr>
              <p:cNvPr id="131" name="Rectangle 130"/>
              <p:cNvSpPr>
                <a:spLocks noRot="1" noChangeAspect="1" noMove="1" noResize="1" noEditPoints="1" noAdjustHandles="1" noChangeArrowheads="1" noChangeShapeType="1" noTextEdit="1"/>
              </p:cNvSpPr>
              <p:nvPr/>
            </p:nvSpPr>
            <p:spPr>
              <a:xfrm>
                <a:off x="1281705" y="4336538"/>
                <a:ext cx="1138766" cy="639337"/>
              </a:xfrm>
              <a:prstGeom prst="rect">
                <a:avLst/>
              </a:prstGeom>
              <a:blipFill rotWithShape="0">
                <a:blip r:embed="rId8"/>
                <a:stretch>
                  <a:fillRect/>
                </a:stretch>
              </a:blipFill>
              <a:ln w="38100">
                <a:solidFill>
                  <a:srgbClr val="4B302A"/>
                </a:solidFill>
              </a:ln>
            </p:spPr>
            <p:txBody>
              <a:bodyPr/>
              <a:lstStyle/>
              <a:p>
                <a:r>
                  <a:rPr lang="en-US">
                    <a:noFill/>
                  </a:rPr>
                  <a:t> </a:t>
                </a:r>
              </a:p>
            </p:txBody>
          </p:sp>
        </mc:Fallback>
      </mc:AlternateContent>
      <p:cxnSp>
        <p:nvCxnSpPr>
          <p:cNvPr id="132" name="Straight Connector 131"/>
          <p:cNvCxnSpPr/>
          <p:nvPr/>
        </p:nvCxnSpPr>
        <p:spPr>
          <a:xfrm flipH="1">
            <a:off x="676407" y="4361888"/>
            <a:ext cx="5062" cy="54161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133" name="TextBox 132"/>
          <p:cNvSpPr txBox="1"/>
          <p:nvPr/>
        </p:nvSpPr>
        <p:spPr>
          <a:xfrm>
            <a:off x="540423" y="4961124"/>
            <a:ext cx="318448" cy="381000"/>
          </a:xfrm>
          <a:prstGeom prst="rect">
            <a:avLst/>
          </a:prstGeom>
          <a:noFill/>
        </p:spPr>
        <p:txBody>
          <a:bodyPr wrap="square" rtlCol="0">
            <a:spAutoFit/>
          </a:bodyPr>
          <a:lstStyle/>
          <a:p>
            <a:r>
              <a:rPr lang="en-US" dirty="0"/>
              <a:t>0</a:t>
            </a:r>
          </a:p>
        </p:txBody>
      </p:sp>
      <p:sp>
        <p:nvSpPr>
          <p:cNvPr id="134" name="TextBox 133"/>
          <p:cNvSpPr txBox="1"/>
          <p:nvPr/>
        </p:nvSpPr>
        <p:spPr>
          <a:xfrm>
            <a:off x="1110018" y="4974334"/>
            <a:ext cx="283418" cy="369332"/>
          </a:xfrm>
          <a:prstGeom prst="rect">
            <a:avLst/>
          </a:prstGeom>
          <a:noFill/>
        </p:spPr>
        <p:txBody>
          <a:bodyPr wrap="square" rtlCol="0">
            <a:spAutoFit/>
          </a:bodyPr>
          <a:lstStyle/>
          <a:p>
            <a:r>
              <a:rPr lang="en-US" dirty="0"/>
              <a:t>1</a:t>
            </a:r>
          </a:p>
        </p:txBody>
      </p:sp>
      <p:sp>
        <p:nvSpPr>
          <p:cNvPr id="135" name="TextBox 134"/>
          <p:cNvSpPr txBox="1"/>
          <p:nvPr/>
        </p:nvSpPr>
        <p:spPr>
          <a:xfrm>
            <a:off x="2205920" y="4966958"/>
            <a:ext cx="437735" cy="369332"/>
          </a:xfrm>
          <a:prstGeom prst="rect">
            <a:avLst/>
          </a:prstGeom>
          <a:noFill/>
        </p:spPr>
        <p:txBody>
          <a:bodyPr wrap="square" rtlCol="0">
            <a:spAutoFit/>
          </a:bodyPr>
          <a:lstStyle/>
          <a:p>
            <a:r>
              <a:rPr lang="en-US" dirty="0"/>
              <a:t>5</a:t>
            </a:r>
          </a:p>
        </p:txBody>
      </p:sp>
      <p:sp>
        <p:nvSpPr>
          <p:cNvPr id="136" name="TextBox 135"/>
          <p:cNvSpPr txBox="1"/>
          <p:nvPr/>
        </p:nvSpPr>
        <p:spPr>
          <a:xfrm>
            <a:off x="2760110" y="4974334"/>
            <a:ext cx="453006" cy="369332"/>
          </a:xfrm>
          <a:prstGeom prst="rect">
            <a:avLst/>
          </a:prstGeom>
          <a:noFill/>
        </p:spPr>
        <p:txBody>
          <a:bodyPr wrap="square" rtlCol="0">
            <a:spAutoFit/>
          </a:bodyPr>
          <a:lstStyle/>
          <a:p>
            <a:r>
              <a:rPr lang="en-US" dirty="0"/>
              <a:t>6</a:t>
            </a:r>
          </a:p>
        </p:txBody>
      </p:sp>
      <p:sp>
        <p:nvSpPr>
          <p:cNvPr id="137" name="TextBox 136"/>
          <p:cNvSpPr txBox="1"/>
          <p:nvPr/>
        </p:nvSpPr>
        <p:spPr>
          <a:xfrm>
            <a:off x="4039323" y="4966958"/>
            <a:ext cx="448784" cy="369332"/>
          </a:xfrm>
          <a:prstGeom prst="rect">
            <a:avLst/>
          </a:prstGeom>
          <a:noFill/>
        </p:spPr>
        <p:txBody>
          <a:bodyPr wrap="square" rtlCol="0">
            <a:spAutoFit/>
          </a:bodyPr>
          <a:lstStyle/>
          <a:p>
            <a:r>
              <a:rPr lang="en-US" dirty="0"/>
              <a:t>11</a:t>
            </a:r>
          </a:p>
        </p:txBody>
      </p:sp>
      <mc:AlternateContent xmlns:mc="http://schemas.openxmlformats.org/markup-compatibility/2006" xmlns:a14="http://schemas.microsoft.com/office/drawing/2010/main">
        <mc:Choice Requires="a14">
          <p:sp>
            <p:nvSpPr>
              <p:cNvPr id="138" name="Rectangle 137"/>
              <p:cNvSpPr/>
              <p:nvPr/>
            </p:nvSpPr>
            <p:spPr>
              <a:xfrm>
                <a:off x="4241486" y="4340909"/>
                <a:ext cx="872543" cy="63342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3</m:t>
                          </m:r>
                        </m:sub>
                      </m:sSub>
                    </m:oMath>
                  </m:oMathPara>
                </a14:m>
                <a:endParaRPr lang="en-US" dirty="0"/>
              </a:p>
            </p:txBody>
          </p:sp>
        </mc:Choice>
        <mc:Fallback xmlns="">
          <p:sp>
            <p:nvSpPr>
              <p:cNvPr id="138" name="Rectangle 137"/>
              <p:cNvSpPr>
                <a:spLocks noRot="1" noChangeAspect="1" noMove="1" noResize="1" noEditPoints="1" noAdjustHandles="1" noChangeArrowheads="1" noChangeShapeType="1" noTextEdit="1"/>
              </p:cNvSpPr>
              <p:nvPr/>
            </p:nvSpPr>
            <p:spPr>
              <a:xfrm>
                <a:off x="4241486" y="4340909"/>
                <a:ext cx="872543" cy="633425"/>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p:sp>
        <p:nvSpPr>
          <p:cNvPr id="139" name="TextBox 138"/>
          <p:cNvSpPr txBox="1"/>
          <p:nvPr/>
        </p:nvSpPr>
        <p:spPr>
          <a:xfrm>
            <a:off x="4879111" y="4966958"/>
            <a:ext cx="448784" cy="369332"/>
          </a:xfrm>
          <a:prstGeom prst="rect">
            <a:avLst/>
          </a:prstGeom>
          <a:noFill/>
        </p:spPr>
        <p:txBody>
          <a:bodyPr wrap="square" rtlCol="0">
            <a:spAutoFit/>
          </a:bodyPr>
          <a:lstStyle/>
          <a:p>
            <a:r>
              <a:rPr lang="en-US" dirty="0"/>
              <a:t>13</a:t>
            </a:r>
          </a:p>
        </p:txBody>
      </p:sp>
      <p:sp>
        <p:nvSpPr>
          <p:cNvPr id="37" name="TextBox 36">
            <a:extLst>
              <a:ext uri="{FF2B5EF4-FFF2-40B4-BE49-F238E27FC236}">
                <a16:creationId xmlns:a16="http://schemas.microsoft.com/office/drawing/2014/main" id="{1E44C57A-AD69-4BEF-AC24-8477FFFD8937}"/>
              </a:ext>
            </a:extLst>
          </p:cNvPr>
          <p:cNvSpPr txBox="1"/>
          <p:nvPr/>
        </p:nvSpPr>
        <p:spPr>
          <a:xfrm>
            <a:off x="2134101" y="4977760"/>
            <a:ext cx="428691" cy="346397"/>
          </a:xfrm>
          <a:prstGeom prst="rect">
            <a:avLst/>
          </a:prstGeom>
          <a:noFill/>
          <a:ln w="57150">
            <a:solidFill>
              <a:srgbClr val="FF0000"/>
            </a:solidFill>
          </a:ln>
        </p:spPr>
        <p:txBody>
          <a:bodyPr wrap="square" rtlCol="0">
            <a:spAutoFit/>
          </a:bodyPr>
          <a:lstStyle/>
          <a:p>
            <a:endParaRPr lang="en-IN" dirty="0"/>
          </a:p>
        </p:txBody>
      </p:sp>
      <p:sp>
        <p:nvSpPr>
          <p:cNvPr id="38" name="TextBox 37">
            <a:extLst>
              <a:ext uri="{FF2B5EF4-FFF2-40B4-BE49-F238E27FC236}">
                <a16:creationId xmlns:a16="http://schemas.microsoft.com/office/drawing/2014/main" id="{F28C3E01-F56C-4A87-BD02-83C6EE63195E}"/>
              </a:ext>
            </a:extLst>
          </p:cNvPr>
          <p:cNvSpPr txBox="1"/>
          <p:nvPr/>
        </p:nvSpPr>
        <p:spPr>
          <a:xfrm>
            <a:off x="2726162" y="4974037"/>
            <a:ext cx="428691" cy="346397"/>
          </a:xfrm>
          <a:prstGeom prst="rect">
            <a:avLst/>
          </a:prstGeom>
          <a:noFill/>
          <a:ln w="57150">
            <a:solidFill>
              <a:srgbClr val="FF0000"/>
            </a:solidFill>
          </a:ln>
        </p:spPr>
        <p:txBody>
          <a:bodyPr wrap="square" rtlCol="0">
            <a:spAutoFit/>
          </a:bodyPr>
          <a:lstStyle/>
          <a:p>
            <a:endParaRPr lang="en-IN" dirty="0"/>
          </a:p>
        </p:txBody>
      </p:sp>
      <p:sp>
        <p:nvSpPr>
          <p:cNvPr id="41" name="TextBox 40">
            <a:extLst>
              <a:ext uri="{FF2B5EF4-FFF2-40B4-BE49-F238E27FC236}">
                <a16:creationId xmlns:a16="http://schemas.microsoft.com/office/drawing/2014/main" id="{FC1B9861-CDCE-4BF6-9635-3C86867B8239}"/>
              </a:ext>
            </a:extLst>
          </p:cNvPr>
          <p:cNvSpPr txBox="1"/>
          <p:nvPr/>
        </p:nvSpPr>
        <p:spPr>
          <a:xfrm>
            <a:off x="4004891" y="4974037"/>
            <a:ext cx="428691" cy="346397"/>
          </a:xfrm>
          <a:prstGeom prst="rect">
            <a:avLst/>
          </a:prstGeom>
          <a:noFill/>
          <a:ln w="57150">
            <a:solidFill>
              <a:srgbClr val="FF0000"/>
            </a:solidFill>
          </a:ln>
        </p:spPr>
        <p:txBody>
          <a:bodyPr wrap="square" rtlCol="0">
            <a:spAutoFit/>
          </a:bodyPr>
          <a:lstStyle/>
          <a:p>
            <a:endParaRPr lang="en-IN" dirty="0"/>
          </a:p>
        </p:txBody>
      </p:sp>
      <p:sp>
        <p:nvSpPr>
          <p:cNvPr id="43" name="TextBox 42">
            <a:extLst>
              <a:ext uri="{FF2B5EF4-FFF2-40B4-BE49-F238E27FC236}">
                <a16:creationId xmlns:a16="http://schemas.microsoft.com/office/drawing/2014/main" id="{279DF6A6-7C03-46ED-9A91-A09D8924B539}"/>
              </a:ext>
            </a:extLst>
          </p:cNvPr>
          <p:cNvSpPr txBox="1"/>
          <p:nvPr/>
        </p:nvSpPr>
        <p:spPr>
          <a:xfrm>
            <a:off x="4899683" y="4970041"/>
            <a:ext cx="428691" cy="346397"/>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2539010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26" presetClass="emph" presetSubtype="0" repeatCount="indefinite" fill="hold" grpId="1" nodeType="withEffect">
                                  <p:stCondLst>
                                    <p:cond delay="0"/>
                                  </p:stCondLst>
                                  <p:endCondLst>
                                    <p:cond evt="onNext" delay="0">
                                      <p:tgtEl>
                                        <p:sldTgt/>
                                      </p:tgtEl>
                                    </p:cond>
                                  </p:endCondLst>
                                  <p:childTnLst>
                                    <p:animEffect transition="out" filter="fade">
                                      <p:cBhvr>
                                        <p:cTn id="34" dur="500" tmFilter="0, 0; .2, .5; .8, .5; 1, 0"/>
                                        <p:tgtEl>
                                          <p:spTgt spid="41"/>
                                        </p:tgtEl>
                                      </p:cBhvr>
                                    </p:animEffect>
                                    <p:animScale>
                                      <p:cBhvr>
                                        <p:cTn id="35" dur="250" autoRev="1" fill="hold"/>
                                        <p:tgtEl>
                                          <p:spTgt spid="41"/>
                                        </p:tgtEl>
                                      </p:cBhvr>
                                      <p:by x="105000" y="105000"/>
                                    </p:animScale>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25"/>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35"/>
                                        </p:tgtEl>
                                        <p:attrNameLst>
                                          <p:attrName>style.visibility</p:attrName>
                                        </p:attrNameLst>
                                      </p:cBhvr>
                                      <p:to>
                                        <p:strVal val="visible"/>
                                      </p:to>
                                    </p:set>
                                  </p:childTnLst>
                                </p:cTn>
                              </p:par>
                              <p:par>
                                <p:cTn id="42" presetID="1" presetClass="exit" presetSubtype="0" fill="hold" grpId="2" nodeType="withEffect">
                                  <p:stCondLst>
                                    <p:cond delay="0"/>
                                  </p:stCondLst>
                                  <p:childTnLst>
                                    <p:set>
                                      <p:cBhvr>
                                        <p:cTn id="43" dur="1" fill="hold">
                                          <p:stCondLst>
                                            <p:cond delay="0"/>
                                          </p:stCondLst>
                                        </p:cTn>
                                        <p:tgtEl>
                                          <p:spTgt spid="41"/>
                                        </p:tgtEl>
                                        <p:attrNameLst>
                                          <p:attrName>style.visibility</p:attrName>
                                        </p:attrNameLst>
                                      </p:cBhvr>
                                      <p:to>
                                        <p:strVal val="hidden"/>
                                      </p:to>
                                    </p:set>
                                  </p:childTnLst>
                                </p:cTn>
                              </p:par>
                              <p:par>
                                <p:cTn id="44" presetID="1"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childTnLst>
                                </p:cTn>
                              </p:par>
                              <p:par>
                                <p:cTn id="46" presetID="26" presetClass="emph" presetSubtype="0" repeatCount="indefinite" fill="hold" grpId="1" nodeType="withEffect">
                                  <p:stCondLst>
                                    <p:cond delay="0"/>
                                  </p:stCondLst>
                                  <p:endCondLst>
                                    <p:cond evt="onNext" delay="0">
                                      <p:tgtEl>
                                        <p:sldTgt/>
                                      </p:tgtEl>
                                    </p:cond>
                                  </p:endCondLst>
                                  <p:childTnLst>
                                    <p:animEffect transition="out" filter="fade">
                                      <p:cBhvr>
                                        <p:cTn id="47" dur="500" tmFilter="0, 0; .2, .5; .8, .5; 1, 0"/>
                                        <p:tgtEl>
                                          <p:spTgt spid="37"/>
                                        </p:tgtEl>
                                      </p:cBhvr>
                                    </p:animEffect>
                                    <p:animScale>
                                      <p:cBhvr>
                                        <p:cTn id="48" dur="250" autoRev="1" fill="hold"/>
                                        <p:tgtEl>
                                          <p:spTgt spid="37"/>
                                        </p:tgtEl>
                                      </p:cBhvr>
                                      <p:by x="105000" y="105000"/>
                                    </p:animScale>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39"/>
                                        </p:tgtEl>
                                        <p:attrNameLst>
                                          <p:attrName>style.visibility</p:attrName>
                                        </p:attrNameLst>
                                      </p:cBhvr>
                                      <p:to>
                                        <p:strVal val="visible"/>
                                      </p:to>
                                    </p:set>
                                  </p:childTnLst>
                                </p:cTn>
                              </p:par>
                              <p:par>
                                <p:cTn id="55" presetID="1" presetClass="exit" presetSubtype="0" fill="hold" grpId="2" nodeType="withEffect">
                                  <p:stCondLst>
                                    <p:cond delay="0"/>
                                  </p:stCondLst>
                                  <p:childTnLst>
                                    <p:set>
                                      <p:cBhvr>
                                        <p:cTn id="56" dur="1" fill="hold">
                                          <p:stCondLst>
                                            <p:cond delay="0"/>
                                          </p:stCondLst>
                                        </p:cTn>
                                        <p:tgtEl>
                                          <p:spTgt spid="37"/>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par>
                                <p:cTn id="59" presetID="26" presetClass="emph" presetSubtype="0" repeatCount="indefinite" fill="hold" grpId="1" nodeType="withEffect">
                                  <p:stCondLst>
                                    <p:cond delay="0"/>
                                  </p:stCondLst>
                                  <p:endCondLst>
                                    <p:cond evt="onNext" delay="0">
                                      <p:tgtEl>
                                        <p:sldTgt/>
                                      </p:tgtEl>
                                    </p:cond>
                                  </p:endCondLst>
                                  <p:childTnLst>
                                    <p:animEffect transition="out" filter="fade">
                                      <p:cBhvr>
                                        <p:cTn id="60" dur="500" tmFilter="0, 0; .2, .5; .8, .5; 1, 0"/>
                                        <p:tgtEl>
                                          <p:spTgt spid="43"/>
                                        </p:tgtEl>
                                      </p:cBhvr>
                                    </p:animEffect>
                                    <p:animScale>
                                      <p:cBhvr>
                                        <p:cTn id="61" dur="250" autoRev="1" fill="hold"/>
                                        <p:tgtEl>
                                          <p:spTgt spid="43"/>
                                        </p:tgtEl>
                                      </p:cBhvr>
                                      <p:by x="105000" y="105000"/>
                                    </p:animScale>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7"/>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136"/>
                                        </p:tgtEl>
                                        <p:attrNameLst>
                                          <p:attrName>style.visibility</p:attrName>
                                        </p:attrNameLst>
                                      </p:cBhvr>
                                      <p:to>
                                        <p:strVal val="visible"/>
                                      </p:to>
                                    </p:set>
                                  </p:childTnLst>
                                </p:cTn>
                              </p:par>
                              <p:par>
                                <p:cTn id="68" presetID="1" presetClass="exit" presetSubtype="0" fill="hold" grpId="2" nodeType="withEffect">
                                  <p:stCondLst>
                                    <p:cond delay="0"/>
                                  </p:stCondLst>
                                  <p:childTnLst>
                                    <p:set>
                                      <p:cBhvr>
                                        <p:cTn id="69" dur="1" fill="hold">
                                          <p:stCondLst>
                                            <p:cond delay="0"/>
                                          </p:stCondLst>
                                        </p:cTn>
                                        <p:tgtEl>
                                          <p:spTgt spid="43"/>
                                        </p:tgtEl>
                                        <p:attrNameLst>
                                          <p:attrName>style.visibility</p:attrName>
                                        </p:attrNameLst>
                                      </p:cBhvr>
                                      <p:to>
                                        <p:strVal val="hidden"/>
                                      </p:to>
                                    </p:set>
                                  </p:childTnLst>
                                </p:cTn>
                              </p:par>
                              <p:par>
                                <p:cTn id="70" presetID="1" presetClass="entr" presetSubtype="0" fill="hold" grpId="0" nodeType="withEffect">
                                  <p:stCondLst>
                                    <p:cond delay="0"/>
                                  </p:stCondLst>
                                  <p:childTnLst>
                                    <p:set>
                                      <p:cBhvr>
                                        <p:cTn id="71" dur="1" fill="hold">
                                          <p:stCondLst>
                                            <p:cond delay="0"/>
                                          </p:stCondLst>
                                        </p:cTn>
                                        <p:tgtEl>
                                          <p:spTgt spid="38"/>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38"/>
                                        </p:tgtEl>
                                      </p:cBhvr>
                                    </p:animEffect>
                                    <p:animScale>
                                      <p:cBhvr>
                                        <p:cTn id="74" dur="250" autoRev="1" fill="hold"/>
                                        <p:tgtEl>
                                          <p:spTgt spid="38"/>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3"/>
                                        </p:tgtEl>
                                        <p:attrNameLst>
                                          <p:attrName>style.visibility</p:attrName>
                                        </p:attrNameLst>
                                      </p:cBhvr>
                                      <p:to>
                                        <p:strVal val="visible"/>
                                      </p:to>
                                    </p:set>
                                  </p:childTnLst>
                                </p:cTn>
                              </p:par>
                              <p:par>
                                <p:cTn id="79" presetID="1" presetClass="exit" presetSubtype="0" fill="hold" grpId="2" nodeType="withEffect">
                                  <p:stCondLst>
                                    <p:cond delay="0"/>
                                  </p:stCondLst>
                                  <p:childTnLst>
                                    <p:set>
                                      <p:cBhvr>
                                        <p:cTn id="80" dur="1" fill="hold">
                                          <p:stCondLst>
                                            <p:cond delay="0"/>
                                          </p:stCondLst>
                                        </p:cTn>
                                        <p:tgtEl>
                                          <p:spTgt spid="38"/>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2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0"/>
                                        </p:tgtEl>
                                        <p:attrNameLst>
                                          <p:attrName>style.visibility</p:attrName>
                                        </p:attrNameLst>
                                      </p:cBhvr>
                                      <p:to>
                                        <p:strVal val="visible"/>
                                      </p:to>
                                    </p:set>
                                  </p:childTnLst>
                                </p:cTn>
                              </p:par>
                              <p:par>
                                <p:cTn id="87" presetID="26" presetClass="emph" presetSubtype="0" repeatCount="indefinite" fill="hold" grpId="1" nodeType="withEffect">
                                  <p:stCondLst>
                                    <p:cond delay="0"/>
                                  </p:stCondLst>
                                  <p:endCondLst>
                                    <p:cond evt="onNext" delay="0">
                                      <p:tgtEl>
                                        <p:sldTgt/>
                                      </p:tgtEl>
                                    </p:cond>
                                  </p:endCondLst>
                                  <p:childTnLst>
                                    <p:animEffect transition="out" filter="fade">
                                      <p:cBhvr>
                                        <p:cTn id="88" dur="500" tmFilter="0, 0; .2, .5; .8, .5; 1, 0"/>
                                        <p:tgtEl>
                                          <p:spTgt spid="80"/>
                                        </p:tgtEl>
                                      </p:cBhvr>
                                    </p:animEffect>
                                    <p:animScale>
                                      <p:cBhvr>
                                        <p:cTn id="89" dur="250" autoRev="1" fill="hold"/>
                                        <p:tgtEl>
                                          <p:spTgt spid="80"/>
                                        </p:tgtEl>
                                      </p:cBhvr>
                                      <p:by x="105000" y="105000"/>
                                    </p:animScale>
                                  </p:childTnLst>
                                </p:cTn>
                              </p:par>
                              <p:par>
                                <p:cTn id="90" presetID="1" presetClass="entr" presetSubtype="0" fill="hold" grpId="0" nodeType="withEffect">
                                  <p:stCondLst>
                                    <p:cond delay="0"/>
                                  </p:stCondLst>
                                  <p:childTnLst>
                                    <p:set>
                                      <p:cBhvr>
                                        <p:cTn id="91" dur="1" fill="hold">
                                          <p:stCondLst>
                                            <p:cond delay="0"/>
                                          </p:stCondLst>
                                        </p:cTn>
                                        <p:tgtEl>
                                          <p:spTgt spid="81"/>
                                        </p:tgtEl>
                                        <p:attrNameLst>
                                          <p:attrName>style.visibility</p:attrName>
                                        </p:attrNameLst>
                                      </p:cBhvr>
                                      <p:to>
                                        <p:strVal val="visible"/>
                                      </p:to>
                                    </p:set>
                                  </p:childTnLst>
                                </p:cTn>
                              </p:par>
                              <p:par>
                                <p:cTn id="92" presetID="26" presetClass="emph" presetSubtype="0" repeatCount="indefinite" fill="hold" grpId="1" nodeType="withEffect">
                                  <p:stCondLst>
                                    <p:cond delay="0"/>
                                  </p:stCondLst>
                                  <p:endCondLst>
                                    <p:cond evt="onNext" delay="0">
                                      <p:tgtEl>
                                        <p:sldTgt/>
                                      </p:tgtEl>
                                    </p:cond>
                                  </p:endCondLst>
                                  <p:childTnLst>
                                    <p:animEffect transition="out" filter="fade">
                                      <p:cBhvr>
                                        <p:cTn id="93" dur="500" tmFilter="0, 0; .2, .5; .8, .5; 1, 0"/>
                                        <p:tgtEl>
                                          <p:spTgt spid="81"/>
                                        </p:tgtEl>
                                      </p:cBhvr>
                                    </p:animEffect>
                                    <p:animScale>
                                      <p:cBhvr>
                                        <p:cTn id="94" dur="250" autoRev="1" fill="hold"/>
                                        <p:tgtEl>
                                          <p:spTgt spid="81"/>
                                        </p:tgtEl>
                                      </p:cBhvr>
                                      <p:by x="105000" y="105000"/>
                                    </p:animScale>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5"/>
                                        </p:tgtEl>
                                        <p:attrNameLst>
                                          <p:attrName>style.visibility</p:attrName>
                                        </p:attrNameLst>
                                      </p:cBhvr>
                                      <p:to>
                                        <p:strVal val="visible"/>
                                      </p:to>
                                    </p:set>
                                  </p:childTnLst>
                                </p:cTn>
                              </p:par>
                              <p:par>
                                <p:cTn id="99" presetID="1" presetClass="exit" presetSubtype="0" fill="hold" grpId="2" nodeType="withEffect">
                                  <p:stCondLst>
                                    <p:cond delay="0"/>
                                  </p:stCondLst>
                                  <p:childTnLst>
                                    <p:set>
                                      <p:cBhvr>
                                        <p:cTn id="100" dur="1" fill="hold">
                                          <p:stCondLst>
                                            <p:cond delay="0"/>
                                          </p:stCondLst>
                                        </p:cTn>
                                        <p:tgtEl>
                                          <p:spTgt spid="80"/>
                                        </p:tgtEl>
                                        <p:attrNameLst>
                                          <p:attrName>style.visibility</p:attrName>
                                        </p:attrNameLst>
                                      </p:cBhvr>
                                      <p:to>
                                        <p:strVal val="hidden"/>
                                      </p:to>
                                    </p:set>
                                  </p:childTnLst>
                                </p:cTn>
                              </p:par>
                              <p:par>
                                <p:cTn id="101" presetID="1" presetClass="exit" presetSubtype="0" fill="hold" grpId="2" nodeType="withEffect">
                                  <p:stCondLst>
                                    <p:cond delay="0"/>
                                  </p:stCondLst>
                                  <p:childTnLst>
                                    <p:set>
                                      <p:cBhvr>
                                        <p:cTn id="102" dur="1" fill="hold">
                                          <p:stCondLst>
                                            <p:cond delay="0"/>
                                          </p:stCondLst>
                                        </p:cTn>
                                        <p:tgtEl>
                                          <p:spTgt spid="81"/>
                                        </p:tgtEl>
                                        <p:attrNameLst>
                                          <p:attrName>style.visibility</p:attrName>
                                        </p:attrNameLst>
                                      </p:cBhvr>
                                      <p:to>
                                        <p:strVal val="hidden"/>
                                      </p:to>
                                    </p:set>
                                  </p:childTnLst>
                                </p:cTn>
                              </p:par>
                              <p:par>
                                <p:cTn id="103" presetID="1" presetClass="entr" presetSubtype="0" fill="hold" grpId="0" nodeType="withEffect">
                                  <p:stCondLst>
                                    <p:cond delay="0"/>
                                  </p:stCondLst>
                                  <p:childTnLst>
                                    <p:set>
                                      <p:cBhvr>
                                        <p:cTn id="104" dur="1" fill="hold">
                                          <p:stCondLst>
                                            <p:cond delay="0"/>
                                          </p:stCondLst>
                                        </p:cTn>
                                        <p:tgtEl>
                                          <p:spTgt spid="82"/>
                                        </p:tgtEl>
                                        <p:attrNameLst>
                                          <p:attrName>style.visibility</p:attrName>
                                        </p:attrNameLst>
                                      </p:cBhvr>
                                      <p:to>
                                        <p:strVal val="visible"/>
                                      </p:to>
                                    </p:set>
                                  </p:childTnLst>
                                </p:cTn>
                              </p:par>
                              <p:par>
                                <p:cTn id="105" presetID="26" presetClass="emph" presetSubtype="0" repeatCount="indefinite" fill="hold" grpId="1" nodeType="withEffect">
                                  <p:stCondLst>
                                    <p:cond delay="0"/>
                                  </p:stCondLst>
                                  <p:endCondLst>
                                    <p:cond evt="onNext" delay="0">
                                      <p:tgtEl>
                                        <p:sldTgt/>
                                      </p:tgtEl>
                                    </p:cond>
                                  </p:endCondLst>
                                  <p:childTnLst>
                                    <p:animEffect transition="out" filter="fade">
                                      <p:cBhvr>
                                        <p:cTn id="106" dur="500" tmFilter="0, 0; .2, .5; .8, .5; 1, 0"/>
                                        <p:tgtEl>
                                          <p:spTgt spid="82"/>
                                        </p:tgtEl>
                                      </p:cBhvr>
                                    </p:animEffect>
                                    <p:animScale>
                                      <p:cBhvr>
                                        <p:cTn id="107" dur="250" autoRev="1" fill="hold"/>
                                        <p:tgtEl>
                                          <p:spTgt spid="82"/>
                                        </p:tgtEl>
                                      </p:cBhvr>
                                      <p:by x="105000" y="105000"/>
                                    </p:animScale>
                                  </p:childTnLst>
                                </p:cTn>
                              </p:par>
                              <p:par>
                                <p:cTn id="108" presetID="1" presetClass="entr" presetSubtype="0" fill="hold" grpId="0" nodeType="withEffect">
                                  <p:stCondLst>
                                    <p:cond delay="0"/>
                                  </p:stCondLst>
                                  <p:childTnLst>
                                    <p:set>
                                      <p:cBhvr>
                                        <p:cTn id="109" dur="1" fill="hold">
                                          <p:stCondLst>
                                            <p:cond delay="0"/>
                                          </p:stCondLst>
                                        </p:cTn>
                                        <p:tgtEl>
                                          <p:spTgt spid="83"/>
                                        </p:tgtEl>
                                        <p:attrNameLst>
                                          <p:attrName>style.visibility</p:attrName>
                                        </p:attrNameLst>
                                      </p:cBhvr>
                                      <p:to>
                                        <p:strVal val="visible"/>
                                      </p:to>
                                    </p:set>
                                  </p:childTnLst>
                                </p:cTn>
                              </p:par>
                              <p:par>
                                <p:cTn id="110" presetID="26" presetClass="emph" presetSubtype="0" repeatCount="indefinite" fill="hold" grpId="1" nodeType="withEffect">
                                  <p:stCondLst>
                                    <p:cond delay="0"/>
                                  </p:stCondLst>
                                  <p:endCondLst>
                                    <p:cond evt="onNext" delay="0">
                                      <p:tgtEl>
                                        <p:sldTgt/>
                                      </p:tgtEl>
                                    </p:cond>
                                  </p:endCondLst>
                                  <p:childTnLst>
                                    <p:animEffect transition="out" filter="fade">
                                      <p:cBhvr>
                                        <p:cTn id="111" dur="500" tmFilter="0, 0; .2, .5; .8, .5; 1, 0"/>
                                        <p:tgtEl>
                                          <p:spTgt spid="83"/>
                                        </p:tgtEl>
                                      </p:cBhvr>
                                    </p:animEffect>
                                    <p:animScale>
                                      <p:cBhvr>
                                        <p:cTn id="112" dur="250" autoRev="1" fill="hold"/>
                                        <p:tgtEl>
                                          <p:spTgt spid="83"/>
                                        </p:tgtEl>
                                      </p:cBhvr>
                                      <p:by x="105000" y="105000"/>
                                    </p:animScale>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39"/>
                                        </p:tgtEl>
                                        <p:attrNameLst>
                                          <p:attrName>style.visibility</p:attrName>
                                        </p:attrNameLst>
                                      </p:cBhvr>
                                      <p:to>
                                        <p:strVal val="visible"/>
                                      </p:to>
                                    </p:set>
                                  </p:childTnLst>
                                </p:cTn>
                              </p:par>
                              <p:par>
                                <p:cTn id="117" presetID="1" presetClass="exit" presetSubtype="0" fill="hold" grpId="2" nodeType="withEffect">
                                  <p:stCondLst>
                                    <p:cond delay="0"/>
                                  </p:stCondLst>
                                  <p:childTnLst>
                                    <p:set>
                                      <p:cBhvr>
                                        <p:cTn id="118" dur="1" fill="hold">
                                          <p:stCondLst>
                                            <p:cond delay="0"/>
                                          </p:stCondLst>
                                        </p:cTn>
                                        <p:tgtEl>
                                          <p:spTgt spid="82"/>
                                        </p:tgtEl>
                                        <p:attrNameLst>
                                          <p:attrName>style.visibility</p:attrName>
                                        </p:attrNameLst>
                                      </p:cBhvr>
                                      <p:to>
                                        <p:strVal val="hidden"/>
                                      </p:to>
                                    </p:set>
                                  </p:childTnLst>
                                </p:cTn>
                              </p:par>
                              <p:par>
                                <p:cTn id="119" presetID="1" presetClass="exit" presetSubtype="0" fill="hold" grpId="2" nodeType="withEffect">
                                  <p:stCondLst>
                                    <p:cond delay="0"/>
                                  </p:stCondLst>
                                  <p:childTnLst>
                                    <p:set>
                                      <p:cBhvr>
                                        <p:cTn id="120" dur="1" fill="hold">
                                          <p:stCondLst>
                                            <p:cond delay="0"/>
                                          </p:stCondLst>
                                        </p:cTn>
                                        <p:tgtEl>
                                          <p:spTgt spid="83"/>
                                        </p:tgtEl>
                                        <p:attrNameLst>
                                          <p:attrName>style.visibility</p:attrName>
                                        </p:attrNameLst>
                                      </p:cBhvr>
                                      <p:to>
                                        <p:strVal val="hidden"/>
                                      </p:to>
                                    </p:set>
                                  </p:childTnLst>
                                </p:cTn>
                              </p:par>
                              <p:par>
                                <p:cTn id="121" presetID="1" presetClass="entr" presetSubtype="0" fill="hold" grpId="0" nodeType="withEffect">
                                  <p:stCondLst>
                                    <p:cond delay="0"/>
                                  </p:stCondLst>
                                  <p:childTnLst>
                                    <p:set>
                                      <p:cBhvr>
                                        <p:cTn id="122" dur="1" fill="hold">
                                          <p:stCondLst>
                                            <p:cond delay="0"/>
                                          </p:stCondLst>
                                        </p:cTn>
                                        <p:tgtEl>
                                          <p:spTgt spid="84"/>
                                        </p:tgtEl>
                                        <p:attrNameLst>
                                          <p:attrName>style.visibility</p:attrName>
                                        </p:attrNameLst>
                                      </p:cBhvr>
                                      <p:to>
                                        <p:strVal val="visible"/>
                                      </p:to>
                                    </p:set>
                                  </p:childTnLst>
                                </p:cTn>
                              </p:par>
                              <p:par>
                                <p:cTn id="123" presetID="26" presetClass="emph" presetSubtype="0" repeatCount="indefinite" fill="hold" grpId="1" nodeType="withEffect">
                                  <p:stCondLst>
                                    <p:cond delay="0"/>
                                  </p:stCondLst>
                                  <p:endCondLst>
                                    <p:cond evt="onNext" delay="0">
                                      <p:tgtEl>
                                        <p:sldTgt/>
                                      </p:tgtEl>
                                    </p:cond>
                                  </p:endCondLst>
                                  <p:childTnLst>
                                    <p:animEffect transition="out" filter="fade">
                                      <p:cBhvr>
                                        <p:cTn id="124" dur="500" tmFilter="0, 0; .2, .5; .8, .5; 1, 0"/>
                                        <p:tgtEl>
                                          <p:spTgt spid="84"/>
                                        </p:tgtEl>
                                      </p:cBhvr>
                                    </p:animEffect>
                                    <p:animScale>
                                      <p:cBhvr>
                                        <p:cTn id="125" dur="250" autoRev="1" fill="hold"/>
                                        <p:tgtEl>
                                          <p:spTgt spid="84"/>
                                        </p:tgtEl>
                                      </p:cBhvr>
                                      <p:by x="105000" y="105000"/>
                                    </p:animScale>
                                  </p:childTnLst>
                                </p:cTn>
                              </p:par>
                              <p:par>
                                <p:cTn id="126" presetID="1" presetClass="entr" presetSubtype="0" fill="hold" grpId="0" nodeType="withEffect">
                                  <p:stCondLst>
                                    <p:cond delay="0"/>
                                  </p:stCondLst>
                                  <p:childTnLst>
                                    <p:set>
                                      <p:cBhvr>
                                        <p:cTn id="127" dur="1" fill="hold">
                                          <p:stCondLst>
                                            <p:cond delay="0"/>
                                          </p:stCondLst>
                                        </p:cTn>
                                        <p:tgtEl>
                                          <p:spTgt spid="85"/>
                                        </p:tgtEl>
                                        <p:attrNameLst>
                                          <p:attrName>style.visibility</p:attrName>
                                        </p:attrNameLst>
                                      </p:cBhvr>
                                      <p:to>
                                        <p:strVal val="visible"/>
                                      </p:to>
                                    </p:set>
                                  </p:childTnLst>
                                </p:cTn>
                              </p:par>
                              <p:par>
                                <p:cTn id="128" presetID="26" presetClass="emph" presetSubtype="0" repeatCount="indefinite" fill="hold" grpId="1" nodeType="withEffect">
                                  <p:stCondLst>
                                    <p:cond delay="0"/>
                                  </p:stCondLst>
                                  <p:endCondLst>
                                    <p:cond evt="onNext" delay="0">
                                      <p:tgtEl>
                                        <p:sldTgt/>
                                      </p:tgtEl>
                                    </p:cond>
                                  </p:endCondLst>
                                  <p:childTnLst>
                                    <p:animEffect transition="out" filter="fade">
                                      <p:cBhvr>
                                        <p:cTn id="129" dur="500" tmFilter="0, 0; .2, .5; .8, .5; 1, 0"/>
                                        <p:tgtEl>
                                          <p:spTgt spid="85"/>
                                        </p:tgtEl>
                                      </p:cBhvr>
                                    </p:animEffect>
                                    <p:animScale>
                                      <p:cBhvr>
                                        <p:cTn id="130" dur="250" autoRev="1" fill="hold"/>
                                        <p:tgtEl>
                                          <p:spTgt spid="85"/>
                                        </p:tgtEl>
                                      </p:cBhvr>
                                      <p:by x="105000" y="105000"/>
                                    </p:animScale>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40"/>
                                        </p:tgtEl>
                                        <p:attrNameLst>
                                          <p:attrName>style.visibility</p:attrName>
                                        </p:attrNameLst>
                                      </p:cBhvr>
                                      <p:to>
                                        <p:strVal val="visible"/>
                                      </p:to>
                                    </p:set>
                                  </p:childTnLst>
                                </p:cTn>
                              </p:par>
                              <p:par>
                                <p:cTn id="135" presetID="1" presetClass="exit" presetSubtype="0" fill="hold" grpId="2" nodeType="withEffect">
                                  <p:stCondLst>
                                    <p:cond delay="0"/>
                                  </p:stCondLst>
                                  <p:childTnLst>
                                    <p:set>
                                      <p:cBhvr>
                                        <p:cTn id="136" dur="1" fill="hold">
                                          <p:stCondLst>
                                            <p:cond delay="0"/>
                                          </p:stCondLst>
                                        </p:cTn>
                                        <p:tgtEl>
                                          <p:spTgt spid="84"/>
                                        </p:tgtEl>
                                        <p:attrNameLst>
                                          <p:attrName>style.visibility</p:attrName>
                                        </p:attrNameLst>
                                      </p:cBhvr>
                                      <p:to>
                                        <p:strVal val="hidden"/>
                                      </p:to>
                                    </p:set>
                                  </p:childTnLst>
                                </p:cTn>
                              </p:par>
                              <p:par>
                                <p:cTn id="137" presetID="1" presetClass="exit" presetSubtype="0" fill="hold" grpId="2" nodeType="withEffect">
                                  <p:stCondLst>
                                    <p:cond delay="0"/>
                                  </p:stCondLst>
                                  <p:childTnLst>
                                    <p:set>
                                      <p:cBhvr>
                                        <p:cTn id="138" dur="1" fill="hold">
                                          <p:stCondLst>
                                            <p:cond delay="0"/>
                                          </p:stCondLst>
                                        </p:cTn>
                                        <p:tgtEl>
                                          <p:spTgt spid="85"/>
                                        </p:tgtEl>
                                        <p:attrNameLst>
                                          <p:attrName>style.visibility</p:attrName>
                                        </p:attrNameLst>
                                      </p:cBhvr>
                                      <p:to>
                                        <p:strVal val="hidden"/>
                                      </p:to>
                                    </p:set>
                                  </p:childTnLst>
                                </p:cTn>
                              </p:par>
                              <p:par>
                                <p:cTn id="139" presetID="1" presetClass="entr" presetSubtype="0" fill="hold" grpId="0" nodeType="withEffect">
                                  <p:stCondLst>
                                    <p:cond delay="0"/>
                                  </p:stCondLst>
                                  <p:childTnLst>
                                    <p:set>
                                      <p:cBhvr>
                                        <p:cTn id="140" dur="1" fill="hold">
                                          <p:stCondLst>
                                            <p:cond delay="0"/>
                                          </p:stCondLst>
                                        </p:cTn>
                                        <p:tgtEl>
                                          <p:spTgt spid="86"/>
                                        </p:tgtEl>
                                        <p:attrNameLst>
                                          <p:attrName>style.visibility</p:attrName>
                                        </p:attrNameLst>
                                      </p:cBhvr>
                                      <p:to>
                                        <p:strVal val="visible"/>
                                      </p:to>
                                    </p:set>
                                  </p:childTnLst>
                                </p:cTn>
                              </p:par>
                              <p:par>
                                <p:cTn id="141" presetID="26" presetClass="emph" presetSubtype="0" repeatCount="indefinite" fill="hold" grpId="1" nodeType="withEffect">
                                  <p:stCondLst>
                                    <p:cond delay="0"/>
                                  </p:stCondLst>
                                  <p:endCondLst>
                                    <p:cond evt="onNext" delay="0">
                                      <p:tgtEl>
                                        <p:sldTgt/>
                                      </p:tgtEl>
                                    </p:cond>
                                  </p:endCondLst>
                                  <p:childTnLst>
                                    <p:animEffect transition="out" filter="fade">
                                      <p:cBhvr>
                                        <p:cTn id="142" dur="500" tmFilter="0, 0; .2, .5; .8, .5; 1, 0"/>
                                        <p:tgtEl>
                                          <p:spTgt spid="86"/>
                                        </p:tgtEl>
                                      </p:cBhvr>
                                    </p:animEffect>
                                    <p:animScale>
                                      <p:cBhvr>
                                        <p:cTn id="143" dur="250" autoRev="1" fill="hold"/>
                                        <p:tgtEl>
                                          <p:spTgt spid="86"/>
                                        </p:tgtEl>
                                      </p:cBhvr>
                                      <p:by x="105000" y="105000"/>
                                    </p:animScale>
                                  </p:childTnLst>
                                </p:cTn>
                              </p:par>
                              <p:par>
                                <p:cTn id="144" presetID="1" presetClass="entr" presetSubtype="0" fill="hold" grpId="0" nodeType="withEffect">
                                  <p:stCondLst>
                                    <p:cond delay="0"/>
                                  </p:stCondLst>
                                  <p:childTnLst>
                                    <p:set>
                                      <p:cBhvr>
                                        <p:cTn id="145" dur="1" fill="hold">
                                          <p:stCondLst>
                                            <p:cond delay="0"/>
                                          </p:stCondLst>
                                        </p:cTn>
                                        <p:tgtEl>
                                          <p:spTgt spid="87"/>
                                        </p:tgtEl>
                                        <p:attrNameLst>
                                          <p:attrName>style.visibility</p:attrName>
                                        </p:attrNameLst>
                                      </p:cBhvr>
                                      <p:to>
                                        <p:strVal val="visible"/>
                                      </p:to>
                                    </p:set>
                                  </p:childTnLst>
                                </p:cTn>
                              </p:par>
                              <p:par>
                                <p:cTn id="146" presetID="26" presetClass="emph" presetSubtype="0" repeatCount="indefinite" fill="hold" grpId="1" nodeType="withEffect">
                                  <p:stCondLst>
                                    <p:cond delay="0"/>
                                  </p:stCondLst>
                                  <p:endCondLst>
                                    <p:cond evt="onNext" delay="0">
                                      <p:tgtEl>
                                        <p:sldTgt/>
                                      </p:tgtEl>
                                    </p:cond>
                                  </p:endCondLst>
                                  <p:childTnLst>
                                    <p:animEffect transition="out" filter="fade">
                                      <p:cBhvr>
                                        <p:cTn id="147" dur="500" tmFilter="0, 0; .2, .5; .8, .5; 1, 0"/>
                                        <p:tgtEl>
                                          <p:spTgt spid="87"/>
                                        </p:tgtEl>
                                      </p:cBhvr>
                                    </p:animEffect>
                                    <p:animScale>
                                      <p:cBhvr>
                                        <p:cTn id="148" dur="250" autoRev="1" fill="hold"/>
                                        <p:tgtEl>
                                          <p:spTgt spid="87"/>
                                        </p:tgtEl>
                                      </p:cBhvr>
                                      <p:by x="105000" y="105000"/>
                                    </p:animScale>
                                  </p:childTnLst>
                                </p:cTn>
                              </p:par>
                            </p:childTnLst>
                          </p:cTn>
                        </p:par>
                      </p:childTnLst>
                    </p:cTn>
                  </p:par>
                  <p:par>
                    <p:cTn id="149" fill="hold">
                      <p:stCondLst>
                        <p:cond delay="indefinite"/>
                      </p:stCondLst>
                      <p:childTnLst>
                        <p:par>
                          <p:cTn id="150" fill="hold">
                            <p:stCondLst>
                              <p:cond delay="0"/>
                            </p:stCondLst>
                            <p:childTnLst>
                              <p:par>
                                <p:cTn id="151" presetID="1" presetClass="exit" presetSubtype="0" fill="hold" grpId="2" nodeType="clickEffect">
                                  <p:stCondLst>
                                    <p:cond delay="0"/>
                                  </p:stCondLst>
                                  <p:childTnLst>
                                    <p:set>
                                      <p:cBhvr>
                                        <p:cTn id="152" dur="1" fill="hold">
                                          <p:stCondLst>
                                            <p:cond delay="0"/>
                                          </p:stCondLst>
                                        </p:cTn>
                                        <p:tgtEl>
                                          <p:spTgt spid="86"/>
                                        </p:tgtEl>
                                        <p:attrNameLst>
                                          <p:attrName>style.visibility</p:attrName>
                                        </p:attrNameLst>
                                      </p:cBhvr>
                                      <p:to>
                                        <p:strVal val="hidden"/>
                                      </p:to>
                                    </p:set>
                                  </p:childTnLst>
                                </p:cTn>
                              </p:par>
                              <p:par>
                                <p:cTn id="153" presetID="1" presetClass="exit" presetSubtype="0" fill="hold" grpId="2" nodeType="withEffect">
                                  <p:stCondLst>
                                    <p:cond delay="0"/>
                                  </p:stCondLst>
                                  <p:childTnLst>
                                    <p:set>
                                      <p:cBhvr>
                                        <p:cTn id="154" dur="1" fill="hold">
                                          <p:stCondLst>
                                            <p:cond delay="0"/>
                                          </p:stCondLst>
                                        </p:cTn>
                                        <p:tgtEl>
                                          <p:spTgt spid="87"/>
                                        </p:tgtEl>
                                        <p:attrNameLst>
                                          <p:attrName>style.visibility</p:attrName>
                                        </p:attrNameLst>
                                      </p:cBhvr>
                                      <p:to>
                                        <p:strVal val="hidden"/>
                                      </p:to>
                                    </p:set>
                                  </p:childTnLst>
                                </p:cTn>
                              </p:par>
                              <p:par>
                                <p:cTn id="155" presetID="1" presetClass="entr" presetSubtype="0" fill="hold" grpId="0" nodeType="withEffect">
                                  <p:stCondLst>
                                    <p:cond delay="0"/>
                                  </p:stCondLst>
                                  <p:childTnLst>
                                    <p:set>
                                      <p:cBhvr>
                                        <p:cTn id="156" dur="1" fill="hold">
                                          <p:stCondLst>
                                            <p:cond delay="0"/>
                                          </p:stCondLst>
                                        </p:cTn>
                                        <p:tgtEl>
                                          <p:spTgt spid="97"/>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62"/>
                                        </p:tgtEl>
                                        <p:attrNameLst>
                                          <p:attrName>style.visibility</p:attrName>
                                        </p:attrNameLst>
                                      </p:cBhvr>
                                      <p:to>
                                        <p:strVal val="visible"/>
                                      </p:to>
                                    </p:set>
                                  </p:childTnLst>
                                </p:cTn>
                              </p:par>
                              <p:par>
                                <p:cTn id="159" presetID="26" presetClass="emph" presetSubtype="0" repeatCount="indefinite" fill="hold" grpId="1" nodeType="withEffect">
                                  <p:stCondLst>
                                    <p:cond delay="0"/>
                                  </p:stCondLst>
                                  <p:endCondLst>
                                    <p:cond evt="onNext" delay="0">
                                      <p:tgtEl>
                                        <p:sldTgt/>
                                      </p:tgtEl>
                                    </p:cond>
                                  </p:endCondLst>
                                  <p:childTnLst>
                                    <p:animEffect transition="out" filter="fade">
                                      <p:cBhvr>
                                        <p:cTn id="160" dur="500" tmFilter="0, 0; .2, .5; .8, .5; 1, 0"/>
                                        <p:tgtEl>
                                          <p:spTgt spid="62"/>
                                        </p:tgtEl>
                                      </p:cBhvr>
                                    </p:animEffect>
                                    <p:animScale>
                                      <p:cBhvr>
                                        <p:cTn id="161" dur="250" autoRev="1" fill="hold"/>
                                        <p:tgtEl>
                                          <p:spTgt spid="6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0" grpId="1" animBg="1"/>
      <p:bldP spid="80" grpId="2" animBg="1"/>
      <p:bldP spid="81" grpId="0" animBg="1"/>
      <p:bldP spid="81" grpId="1" animBg="1"/>
      <p:bldP spid="81" grpId="2" animBg="1"/>
      <p:bldP spid="82" grpId="0" animBg="1"/>
      <p:bldP spid="82" grpId="1" animBg="1"/>
      <p:bldP spid="82" grpId="2" animBg="1"/>
      <p:bldP spid="83" grpId="0" animBg="1"/>
      <p:bldP spid="83" grpId="1" animBg="1"/>
      <p:bldP spid="83" grpId="2" animBg="1"/>
      <p:bldP spid="84" grpId="0" animBg="1"/>
      <p:bldP spid="84" grpId="1" animBg="1"/>
      <p:bldP spid="84" grpId="2" animBg="1"/>
      <p:bldP spid="85" grpId="0" animBg="1"/>
      <p:bldP spid="85" grpId="1" animBg="1"/>
      <p:bldP spid="85" grpId="2" animBg="1"/>
      <p:bldP spid="86" grpId="0" animBg="1"/>
      <p:bldP spid="86" grpId="1" animBg="1"/>
      <p:bldP spid="86" grpId="2" animBg="1"/>
      <p:bldP spid="87" grpId="0" animBg="1"/>
      <p:bldP spid="87" grpId="1" animBg="1"/>
      <p:bldP spid="87" grpId="2" animBg="1"/>
      <p:bldP spid="97" grpId="0"/>
      <p:bldP spid="62" grpId="0" animBg="1"/>
      <p:bldP spid="62" grpId="1" animBg="1"/>
      <p:bldP spid="128" grpId="0" animBg="1"/>
      <p:bldP spid="129" grpId="0" animBg="1"/>
      <p:bldP spid="130" grpId="0" animBg="1"/>
      <p:bldP spid="131" grpId="0" animBg="1"/>
      <p:bldP spid="133" grpId="0"/>
      <p:bldP spid="134" grpId="0"/>
      <p:bldP spid="135" grpId="0"/>
      <p:bldP spid="136" grpId="0"/>
      <p:bldP spid="137" grpId="0"/>
      <p:bldP spid="138" grpId="0" animBg="1"/>
      <p:bldP spid="139" grpId="0"/>
      <p:bldP spid="37" grpId="0" animBg="1"/>
      <p:bldP spid="37" grpId="1" animBg="1"/>
      <p:bldP spid="37" grpId="2" animBg="1"/>
      <p:bldP spid="38" grpId="0" animBg="1"/>
      <p:bldP spid="38" grpId="1" animBg="1"/>
      <p:bldP spid="38" grpId="2" animBg="1"/>
      <p:bldP spid="41" grpId="0" animBg="1"/>
      <p:bldP spid="41" grpId="1" animBg="1"/>
      <p:bldP spid="41" grpId="2" animBg="1"/>
      <p:bldP spid="43" grpId="0" animBg="1"/>
      <p:bldP spid="43" grpId="1" animBg="1"/>
      <p:bldP spid="43" grpId="2"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Preemptive Priority Scheduling</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US"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3824174638"/>
                  </p:ext>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 xmlns:a16="http://schemas.microsoft.com/office/drawing/2014/main" xmlns:a14="http://schemas.microsoft.com/office/drawing/2010/main" val="20000"/>
                        </a:ext>
                      </a:extLst>
                    </a:gridCol>
                    <a:gridCol w="1547749">
                      <a:extLst>
                        <a:ext uri="{9D8B030D-6E8A-4147-A177-3AD203B41FA5}">
                          <a16:colId xmlns="" xmlns:a16="http://schemas.microsoft.com/office/drawing/2014/main" xmlns:a14="http://schemas.microsoft.com/office/drawing/2010/main" val="20001"/>
                        </a:ext>
                      </a:extLst>
                    </a:gridCol>
                    <a:gridCol w="3564248">
                      <a:extLst>
                        <a:ext uri="{9D8B030D-6E8A-4147-A177-3AD203B41FA5}">
                          <a16:colId xmlns="" xmlns:a16="http://schemas.microsoft.com/office/drawing/2014/main"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 xmlns:a16="http://schemas.microsoft.com/office/drawing/2014/main"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3774" r="-439" b="-15094"/>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 xmlns:a16="http://schemas.microsoft.com/office/drawing/2014/main"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289" t="-3774" r="-289" b="-16038"/>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6530" y="824702"/>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Waiting Time</a:t>
                      </a:r>
                      <a:endParaRPr lang="en-IN" sz="1800" b="1" kern="1200" dirty="0">
                        <a:solidFill>
                          <a:schemeClr val="tx1"/>
                        </a:solidFill>
                        <a:effectLst/>
                        <a:latin typeface="+mn-lt"/>
                        <a:ea typeface="+mn-ea"/>
                        <a:cs typeface="+mn-cs"/>
                      </a:endParaRPr>
                    </a:p>
                    <a:p>
                      <a:pPr algn="ctr"/>
                      <a:r>
                        <a:rPr lang="en-US" sz="1800" b="1" kern="1200" dirty="0">
                          <a:solidFill>
                            <a:schemeClr val="tx1"/>
                          </a:solidFill>
                          <a:effectLst/>
                          <a:latin typeface="+mn-lt"/>
                          <a:ea typeface="+mn-ea"/>
                          <a:cs typeface="+mn-cs"/>
                        </a:rPr>
                        <a:t>(TAT-ΔT)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2641" y="146766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0058" y="2023019"/>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259387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315181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88" name="TextBox 87"/>
          <p:cNvSpPr txBox="1"/>
          <p:nvPr/>
        </p:nvSpPr>
        <p:spPr>
          <a:xfrm>
            <a:off x="7735846" y="1479367"/>
            <a:ext cx="2064742" cy="542441"/>
          </a:xfrm>
          <a:prstGeom prst="rect">
            <a:avLst/>
          </a:prstGeom>
          <a:noFill/>
          <a:ln w="57150">
            <a:solidFill>
              <a:srgbClr val="FF0000"/>
            </a:solidFill>
          </a:ln>
        </p:spPr>
        <p:txBody>
          <a:bodyPr wrap="square" rtlCol="0">
            <a:spAutoFit/>
          </a:bodyPr>
          <a:lstStyle/>
          <a:p>
            <a:endParaRPr lang="en-IN" dirty="0"/>
          </a:p>
        </p:txBody>
      </p:sp>
      <p:sp>
        <p:nvSpPr>
          <p:cNvPr id="89" name="TextBox 88"/>
          <p:cNvSpPr txBox="1"/>
          <p:nvPr/>
        </p:nvSpPr>
        <p:spPr>
          <a:xfrm>
            <a:off x="2716093" y="1497088"/>
            <a:ext cx="3590108" cy="542441"/>
          </a:xfrm>
          <a:prstGeom prst="rect">
            <a:avLst/>
          </a:prstGeom>
          <a:noFill/>
          <a:ln w="57150">
            <a:solidFill>
              <a:srgbClr val="FF0000"/>
            </a:solidFill>
          </a:ln>
        </p:spPr>
        <p:txBody>
          <a:bodyPr wrap="square" rtlCol="0">
            <a:spAutoFit/>
          </a:bodyPr>
          <a:lstStyle/>
          <a:p>
            <a:endParaRPr lang="en-IN" dirty="0"/>
          </a:p>
        </p:txBody>
      </p:sp>
      <p:sp>
        <p:nvSpPr>
          <p:cNvPr id="90" name="TextBox 89"/>
          <p:cNvSpPr txBox="1"/>
          <p:nvPr/>
        </p:nvSpPr>
        <p:spPr>
          <a:xfrm>
            <a:off x="7727812" y="2034709"/>
            <a:ext cx="2064742" cy="542441"/>
          </a:xfrm>
          <a:prstGeom prst="rect">
            <a:avLst/>
          </a:prstGeom>
          <a:noFill/>
          <a:ln w="57150">
            <a:solidFill>
              <a:srgbClr val="FF0000"/>
            </a:solidFill>
          </a:ln>
        </p:spPr>
        <p:txBody>
          <a:bodyPr wrap="square" rtlCol="0">
            <a:spAutoFit/>
          </a:bodyPr>
          <a:lstStyle/>
          <a:p>
            <a:endParaRPr lang="en-IN" dirty="0"/>
          </a:p>
        </p:txBody>
      </p:sp>
      <p:sp>
        <p:nvSpPr>
          <p:cNvPr id="91" name="TextBox 90"/>
          <p:cNvSpPr txBox="1"/>
          <p:nvPr/>
        </p:nvSpPr>
        <p:spPr>
          <a:xfrm>
            <a:off x="2768083" y="2000583"/>
            <a:ext cx="3590108" cy="542441"/>
          </a:xfrm>
          <a:prstGeom prst="rect">
            <a:avLst/>
          </a:prstGeom>
          <a:noFill/>
          <a:ln w="57150">
            <a:solidFill>
              <a:srgbClr val="FF0000"/>
            </a:solidFill>
          </a:ln>
        </p:spPr>
        <p:txBody>
          <a:bodyPr wrap="square" rtlCol="0">
            <a:spAutoFit/>
          </a:bodyPr>
          <a:lstStyle/>
          <a:p>
            <a:endParaRPr lang="en-IN" dirty="0"/>
          </a:p>
        </p:txBody>
      </p:sp>
      <p:sp>
        <p:nvSpPr>
          <p:cNvPr id="92" name="TextBox 91"/>
          <p:cNvSpPr txBox="1"/>
          <p:nvPr/>
        </p:nvSpPr>
        <p:spPr>
          <a:xfrm>
            <a:off x="7743594" y="2589274"/>
            <a:ext cx="2064742" cy="542441"/>
          </a:xfrm>
          <a:prstGeom prst="rect">
            <a:avLst/>
          </a:prstGeom>
          <a:noFill/>
          <a:ln w="57150">
            <a:solidFill>
              <a:srgbClr val="FF0000"/>
            </a:solidFill>
          </a:ln>
        </p:spPr>
        <p:txBody>
          <a:bodyPr wrap="square" rtlCol="0">
            <a:spAutoFit/>
          </a:bodyPr>
          <a:lstStyle/>
          <a:p>
            <a:endParaRPr lang="en-IN" dirty="0"/>
          </a:p>
        </p:txBody>
      </p:sp>
      <p:sp>
        <p:nvSpPr>
          <p:cNvPr id="93" name="TextBox 92"/>
          <p:cNvSpPr txBox="1"/>
          <p:nvPr/>
        </p:nvSpPr>
        <p:spPr>
          <a:xfrm>
            <a:off x="2755735" y="2568592"/>
            <a:ext cx="3590108" cy="542441"/>
          </a:xfrm>
          <a:prstGeom prst="rect">
            <a:avLst/>
          </a:prstGeom>
          <a:noFill/>
          <a:ln w="57150">
            <a:solidFill>
              <a:srgbClr val="FF0000"/>
            </a:solidFill>
          </a:ln>
        </p:spPr>
        <p:txBody>
          <a:bodyPr wrap="square" rtlCol="0">
            <a:spAutoFit/>
          </a:bodyPr>
          <a:lstStyle/>
          <a:p>
            <a:endParaRPr lang="en-IN" dirty="0"/>
          </a:p>
        </p:txBody>
      </p:sp>
      <p:sp>
        <p:nvSpPr>
          <p:cNvPr id="94" name="TextBox 93"/>
          <p:cNvSpPr txBox="1"/>
          <p:nvPr/>
        </p:nvSpPr>
        <p:spPr>
          <a:xfrm>
            <a:off x="7758189" y="3143839"/>
            <a:ext cx="2064742" cy="542441"/>
          </a:xfrm>
          <a:prstGeom prst="rect">
            <a:avLst/>
          </a:prstGeom>
          <a:noFill/>
          <a:ln w="57150">
            <a:solidFill>
              <a:srgbClr val="FF0000"/>
            </a:solidFill>
          </a:ln>
        </p:spPr>
        <p:txBody>
          <a:bodyPr wrap="square" rtlCol="0">
            <a:spAutoFit/>
          </a:bodyPr>
          <a:lstStyle/>
          <a:p>
            <a:endParaRPr lang="en-IN" dirty="0"/>
          </a:p>
        </p:txBody>
      </p:sp>
      <p:sp>
        <p:nvSpPr>
          <p:cNvPr id="95" name="TextBox 94"/>
          <p:cNvSpPr txBox="1"/>
          <p:nvPr/>
        </p:nvSpPr>
        <p:spPr>
          <a:xfrm>
            <a:off x="2716093" y="3152905"/>
            <a:ext cx="3590108" cy="542441"/>
          </a:xfrm>
          <a:prstGeom prst="rect">
            <a:avLst/>
          </a:prstGeom>
          <a:noFill/>
          <a:ln w="57150">
            <a:solidFill>
              <a:srgbClr val="FF0000"/>
            </a:solidFill>
          </a:ln>
        </p:spPr>
        <p:txBody>
          <a:bodyPr wrap="square" rtlCol="0">
            <a:spAutoFit/>
          </a:bodyPr>
          <a:lstStyle/>
          <a:p>
            <a:endParaRPr lang="en-IN" dirty="0"/>
          </a:p>
        </p:txBody>
      </p:sp>
      <p:sp>
        <p:nvSpPr>
          <p:cNvPr id="96" name="TextBox 95"/>
          <p:cNvSpPr txBox="1"/>
          <p:nvPr/>
        </p:nvSpPr>
        <p:spPr>
          <a:xfrm>
            <a:off x="367829" y="5494198"/>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Waiting Time </a:t>
            </a:r>
            <a:r>
              <a:rPr lang="en-US" sz="2000" dirty="0"/>
              <a:t>= Sum of all Process’s Waiting Time/ Total Process</a:t>
            </a:r>
          </a:p>
          <a:p>
            <a:r>
              <a:rPr lang="en-US" sz="2000" dirty="0"/>
              <a:t>                                              = (5+0+8+0)/4 </a:t>
            </a:r>
          </a:p>
          <a:p>
            <a:r>
              <a:rPr lang="en-US" sz="2000" dirty="0"/>
              <a:t>                                              = 3.25 Ms.</a:t>
            </a:r>
          </a:p>
        </p:txBody>
      </p:sp>
      <p:sp>
        <p:nvSpPr>
          <p:cNvPr id="63" name="TextBox 62"/>
          <p:cNvSpPr txBox="1"/>
          <p:nvPr/>
        </p:nvSpPr>
        <p:spPr>
          <a:xfrm>
            <a:off x="9814759" y="1480644"/>
            <a:ext cx="2049246" cy="2222902"/>
          </a:xfrm>
          <a:prstGeom prst="rect">
            <a:avLst/>
          </a:prstGeom>
          <a:noFill/>
          <a:ln w="57150">
            <a:solidFill>
              <a:srgbClr val="FF0000"/>
            </a:solidFill>
          </a:ln>
        </p:spPr>
        <p:txBody>
          <a:bodyPr wrap="square" rtlCol="0">
            <a:spAutoFit/>
          </a:bodyPr>
          <a:lstStyle/>
          <a:p>
            <a:endParaRPr lang="en-IN" dirty="0"/>
          </a:p>
        </p:txBody>
      </p:sp>
      <mc:AlternateContent xmlns:mc="http://schemas.openxmlformats.org/markup-compatibility/2006" xmlns:a14="http://schemas.microsoft.com/office/drawing/2010/main">
        <mc:Choice Requires="a14">
          <p:sp>
            <p:nvSpPr>
              <p:cNvPr id="128" name="Rectangle 127"/>
              <p:cNvSpPr/>
              <p:nvPr/>
            </p:nvSpPr>
            <p:spPr>
              <a:xfrm>
                <a:off x="2971803" y="4342705"/>
                <a:ext cx="1274523" cy="63342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128" name="Rectangle 127"/>
              <p:cNvSpPr>
                <a:spLocks noRot="1" noChangeAspect="1" noMove="1" noResize="1" noEditPoints="1" noAdjustHandles="1" noChangeArrowheads="1" noChangeShapeType="1" noTextEdit="1"/>
              </p:cNvSpPr>
              <p:nvPr/>
            </p:nvSpPr>
            <p:spPr>
              <a:xfrm>
                <a:off x="2971803" y="4342705"/>
                <a:ext cx="1274523" cy="633425"/>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9" name="Rectangle 128"/>
              <p:cNvSpPr/>
              <p:nvPr/>
            </p:nvSpPr>
            <p:spPr>
              <a:xfrm>
                <a:off x="2399151" y="4336536"/>
                <a:ext cx="600099" cy="63933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4</m:t>
                          </m:r>
                        </m:sub>
                      </m:sSub>
                    </m:oMath>
                  </m:oMathPara>
                </a14:m>
                <a:endParaRPr lang="en-US" dirty="0"/>
              </a:p>
            </p:txBody>
          </p:sp>
        </mc:Choice>
        <mc:Fallback xmlns="">
          <p:sp>
            <p:nvSpPr>
              <p:cNvPr id="129" name="Rectangle 128"/>
              <p:cNvSpPr>
                <a:spLocks noRot="1" noChangeAspect="1" noMove="1" noResize="1" noEditPoints="1" noAdjustHandles="1" noChangeArrowheads="1" noChangeShapeType="1" noTextEdit="1"/>
              </p:cNvSpPr>
              <p:nvPr/>
            </p:nvSpPr>
            <p:spPr>
              <a:xfrm>
                <a:off x="2399151" y="4336536"/>
                <a:ext cx="600099" cy="63933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0" name="Rectangle 129"/>
              <p:cNvSpPr/>
              <p:nvPr/>
            </p:nvSpPr>
            <p:spPr>
              <a:xfrm>
                <a:off x="667184" y="4336537"/>
                <a:ext cx="614520" cy="639338"/>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130" name="Rectangle 129"/>
              <p:cNvSpPr>
                <a:spLocks noRot="1" noChangeAspect="1" noMove="1" noResize="1" noEditPoints="1" noAdjustHandles="1" noChangeArrowheads="1" noChangeShapeType="1" noTextEdit="1"/>
              </p:cNvSpPr>
              <p:nvPr/>
            </p:nvSpPr>
            <p:spPr>
              <a:xfrm>
                <a:off x="667184" y="4336537"/>
                <a:ext cx="614520" cy="639338"/>
              </a:xfrm>
              <a:prstGeom prst="rect">
                <a:avLst/>
              </a:prstGeom>
              <a:blipFill rotWithShape="0">
                <a:blip r:embed="rId7"/>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1" name="Rectangle 130"/>
              <p:cNvSpPr/>
              <p:nvPr/>
            </p:nvSpPr>
            <p:spPr>
              <a:xfrm>
                <a:off x="1281705" y="4336538"/>
                <a:ext cx="1138766" cy="639337"/>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2</m:t>
                          </m:r>
                        </m:sub>
                      </m:sSub>
                    </m:oMath>
                  </m:oMathPara>
                </a14:m>
                <a:endParaRPr lang="en-US" dirty="0"/>
              </a:p>
            </p:txBody>
          </p:sp>
        </mc:Choice>
        <mc:Fallback xmlns="">
          <p:sp>
            <p:nvSpPr>
              <p:cNvPr id="131" name="Rectangle 130"/>
              <p:cNvSpPr>
                <a:spLocks noRot="1" noChangeAspect="1" noMove="1" noResize="1" noEditPoints="1" noAdjustHandles="1" noChangeArrowheads="1" noChangeShapeType="1" noTextEdit="1"/>
              </p:cNvSpPr>
              <p:nvPr/>
            </p:nvSpPr>
            <p:spPr>
              <a:xfrm>
                <a:off x="1281705" y="4336538"/>
                <a:ext cx="1138766" cy="639337"/>
              </a:xfrm>
              <a:prstGeom prst="rect">
                <a:avLst/>
              </a:prstGeom>
              <a:blipFill rotWithShape="0">
                <a:blip r:embed="rId8"/>
                <a:stretch>
                  <a:fillRect/>
                </a:stretch>
              </a:blipFill>
              <a:ln w="38100">
                <a:solidFill>
                  <a:srgbClr val="4B302A"/>
                </a:solidFill>
              </a:ln>
            </p:spPr>
            <p:txBody>
              <a:bodyPr/>
              <a:lstStyle/>
              <a:p>
                <a:r>
                  <a:rPr lang="en-US">
                    <a:noFill/>
                  </a:rPr>
                  <a:t> </a:t>
                </a:r>
              </a:p>
            </p:txBody>
          </p:sp>
        </mc:Fallback>
      </mc:AlternateContent>
      <p:cxnSp>
        <p:nvCxnSpPr>
          <p:cNvPr id="132" name="Straight Connector 131"/>
          <p:cNvCxnSpPr/>
          <p:nvPr/>
        </p:nvCxnSpPr>
        <p:spPr>
          <a:xfrm flipH="1">
            <a:off x="676407" y="4361888"/>
            <a:ext cx="5062" cy="54161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133" name="TextBox 132"/>
          <p:cNvSpPr txBox="1"/>
          <p:nvPr/>
        </p:nvSpPr>
        <p:spPr>
          <a:xfrm>
            <a:off x="540423" y="4961124"/>
            <a:ext cx="318448" cy="381000"/>
          </a:xfrm>
          <a:prstGeom prst="rect">
            <a:avLst/>
          </a:prstGeom>
          <a:noFill/>
        </p:spPr>
        <p:txBody>
          <a:bodyPr wrap="square" rtlCol="0">
            <a:spAutoFit/>
          </a:bodyPr>
          <a:lstStyle/>
          <a:p>
            <a:r>
              <a:rPr lang="en-US" dirty="0"/>
              <a:t>0</a:t>
            </a:r>
          </a:p>
        </p:txBody>
      </p:sp>
      <p:sp>
        <p:nvSpPr>
          <p:cNvPr id="134" name="TextBox 133"/>
          <p:cNvSpPr txBox="1"/>
          <p:nvPr/>
        </p:nvSpPr>
        <p:spPr>
          <a:xfrm>
            <a:off x="1110018" y="4974334"/>
            <a:ext cx="283418" cy="369332"/>
          </a:xfrm>
          <a:prstGeom prst="rect">
            <a:avLst/>
          </a:prstGeom>
          <a:noFill/>
        </p:spPr>
        <p:txBody>
          <a:bodyPr wrap="square" rtlCol="0">
            <a:spAutoFit/>
          </a:bodyPr>
          <a:lstStyle/>
          <a:p>
            <a:r>
              <a:rPr lang="en-US" dirty="0"/>
              <a:t>1</a:t>
            </a:r>
          </a:p>
        </p:txBody>
      </p:sp>
      <p:sp>
        <p:nvSpPr>
          <p:cNvPr id="135" name="TextBox 134"/>
          <p:cNvSpPr txBox="1"/>
          <p:nvPr/>
        </p:nvSpPr>
        <p:spPr>
          <a:xfrm>
            <a:off x="2205920" y="4966958"/>
            <a:ext cx="437735" cy="369332"/>
          </a:xfrm>
          <a:prstGeom prst="rect">
            <a:avLst/>
          </a:prstGeom>
          <a:noFill/>
        </p:spPr>
        <p:txBody>
          <a:bodyPr wrap="square" rtlCol="0">
            <a:spAutoFit/>
          </a:bodyPr>
          <a:lstStyle/>
          <a:p>
            <a:r>
              <a:rPr lang="en-US" dirty="0"/>
              <a:t>5</a:t>
            </a:r>
          </a:p>
        </p:txBody>
      </p:sp>
      <p:sp>
        <p:nvSpPr>
          <p:cNvPr id="136" name="TextBox 135"/>
          <p:cNvSpPr txBox="1"/>
          <p:nvPr/>
        </p:nvSpPr>
        <p:spPr>
          <a:xfrm>
            <a:off x="2760110" y="4974334"/>
            <a:ext cx="453006" cy="369332"/>
          </a:xfrm>
          <a:prstGeom prst="rect">
            <a:avLst/>
          </a:prstGeom>
          <a:noFill/>
        </p:spPr>
        <p:txBody>
          <a:bodyPr wrap="square" rtlCol="0">
            <a:spAutoFit/>
          </a:bodyPr>
          <a:lstStyle/>
          <a:p>
            <a:r>
              <a:rPr lang="en-US" dirty="0"/>
              <a:t>6</a:t>
            </a:r>
          </a:p>
        </p:txBody>
      </p:sp>
      <p:sp>
        <p:nvSpPr>
          <p:cNvPr id="137" name="TextBox 136"/>
          <p:cNvSpPr txBox="1"/>
          <p:nvPr/>
        </p:nvSpPr>
        <p:spPr>
          <a:xfrm>
            <a:off x="4039323" y="4966958"/>
            <a:ext cx="448784" cy="369332"/>
          </a:xfrm>
          <a:prstGeom prst="rect">
            <a:avLst/>
          </a:prstGeom>
          <a:noFill/>
        </p:spPr>
        <p:txBody>
          <a:bodyPr wrap="square" rtlCol="0">
            <a:spAutoFit/>
          </a:bodyPr>
          <a:lstStyle/>
          <a:p>
            <a:r>
              <a:rPr lang="en-US" dirty="0"/>
              <a:t>11</a:t>
            </a:r>
          </a:p>
        </p:txBody>
      </p:sp>
      <mc:AlternateContent xmlns:mc="http://schemas.openxmlformats.org/markup-compatibility/2006" xmlns:a14="http://schemas.microsoft.com/office/drawing/2010/main">
        <mc:Choice Requires="a14">
          <p:sp>
            <p:nvSpPr>
              <p:cNvPr id="138" name="Rectangle 137"/>
              <p:cNvSpPr/>
              <p:nvPr/>
            </p:nvSpPr>
            <p:spPr>
              <a:xfrm>
                <a:off x="4241486" y="4340909"/>
                <a:ext cx="872543" cy="63342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3</m:t>
                          </m:r>
                        </m:sub>
                      </m:sSub>
                    </m:oMath>
                  </m:oMathPara>
                </a14:m>
                <a:endParaRPr lang="en-US" dirty="0"/>
              </a:p>
            </p:txBody>
          </p:sp>
        </mc:Choice>
        <mc:Fallback xmlns="">
          <p:sp>
            <p:nvSpPr>
              <p:cNvPr id="138" name="Rectangle 137"/>
              <p:cNvSpPr>
                <a:spLocks noRot="1" noChangeAspect="1" noMove="1" noResize="1" noEditPoints="1" noAdjustHandles="1" noChangeArrowheads="1" noChangeShapeType="1" noTextEdit="1"/>
              </p:cNvSpPr>
              <p:nvPr/>
            </p:nvSpPr>
            <p:spPr>
              <a:xfrm>
                <a:off x="4241486" y="4340909"/>
                <a:ext cx="872543" cy="633425"/>
              </a:xfrm>
              <a:prstGeom prst="rect">
                <a:avLst/>
              </a:prstGeom>
              <a:blipFill rotWithShape="0">
                <a:blip r:embed="rId9"/>
                <a:stretch>
                  <a:fillRect/>
                </a:stretch>
              </a:blipFill>
              <a:ln w="38100">
                <a:solidFill>
                  <a:schemeClr val="tx1"/>
                </a:solidFill>
              </a:ln>
            </p:spPr>
            <p:txBody>
              <a:bodyPr/>
              <a:lstStyle/>
              <a:p>
                <a:r>
                  <a:rPr lang="en-US">
                    <a:noFill/>
                  </a:rPr>
                  <a:t> </a:t>
                </a:r>
              </a:p>
            </p:txBody>
          </p:sp>
        </mc:Fallback>
      </mc:AlternateContent>
      <p:sp>
        <p:nvSpPr>
          <p:cNvPr id="139" name="TextBox 138"/>
          <p:cNvSpPr txBox="1"/>
          <p:nvPr/>
        </p:nvSpPr>
        <p:spPr>
          <a:xfrm>
            <a:off x="4879111" y="4966958"/>
            <a:ext cx="448784" cy="369332"/>
          </a:xfrm>
          <a:prstGeom prst="rect">
            <a:avLst/>
          </a:prstGeom>
          <a:noFill/>
        </p:spPr>
        <p:txBody>
          <a:bodyPr wrap="square" rtlCol="0">
            <a:spAutoFit/>
          </a:bodyPr>
          <a:lstStyle/>
          <a:p>
            <a:r>
              <a:rPr lang="en-US" dirty="0"/>
              <a:t>13</a:t>
            </a:r>
          </a:p>
        </p:txBody>
      </p:sp>
    </p:spTree>
    <p:extLst>
      <p:ext uri="{BB962C8B-B14F-4D97-AF65-F5344CB8AC3E}">
        <p14:creationId xmlns:p14="http://schemas.microsoft.com/office/powerpoint/2010/main" val="228098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8"/>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500" tmFilter="0, 0; .2, .5; .8, .5; 1, 0"/>
                                        <p:tgtEl>
                                          <p:spTgt spid="88"/>
                                        </p:tgtEl>
                                      </p:cBhvr>
                                    </p:animEffect>
                                    <p:animScale>
                                      <p:cBhvr>
                                        <p:cTn id="15" dur="250" autoRev="1" fill="hold"/>
                                        <p:tgtEl>
                                          <p:spTgt spid="88"/>
                                        </p:tgtEl>
                                      </p:cBhvr>
                                      <p:by x="105000" y="105000"/>
                                    </p:animScale>
                                  </p:childTnLst>
                                </p:cTn>
                              </p:par>
                              <p:par>
                                <p:cTn id="16" presetID="1" presetClass="entr" presetSubtype="0" fill="hold" grpId="0" nodeType="withEffect">
                                  <p:stCondLst>
                                    <p:cond delay="0"/>
                                  </p:stCondLst>
                                  <p:childTnLst>
                                    <p:set>
                                      <p:cBhvr>
                                        <p:cTn id="17" dur="1" fill="hold">
                                          <p:stCondLst>
                                            <p:cond delay="0"/>
                                          </p:stCondLst>
                                        </p:cTn>
                                        <p:tgtEl>
                                          <p:spTgt spid="89"/>
                                        </p:tgtEl>
                                        <p:attrNameLst>
                                          <p:attrName>style.visibility</p:attrName>
                                        </p:attrNameLst>
                                      </p:cBhvr>
                                      <p:to>
                                        <p:strVal val="visible"/>
                                      </p:to>
                                    </p:set>
                                  </p:childTnLst>
                                </p:cTn>
                              </p:par>
                              <p:par>
                                <p:cTn id="18" presetID="26" presetClass="emph" presetSubtype="0" repeatCount="indefinite" fill="hold" grpId="1" nodeType="withEffect">
                                  <p:stCondLst>
                                    <p:cond delay="0"/>
                                  </p:stCondLst>
                                  <p:endCondLst>
                                    <p:cond evt="onNext" delay="0">
                                      <p:tgtEl>
                                        <p:sldTgt/>
                                      </p:tgtEl>
                                    </p:cond>
                                  </p:endCondLst>
                                  <p:childTnLst>
                                    <p:animEffect transition="out" filter="fade">
                                      <p:cBhvr>
                                        <p:cTn id="19" dur="500" tmFilter="0, 0; .2, .5; .8, .5; 1, 0"/>
                                        <p:tgtEl>
                                          <p:spTgt spid="89"/>
                                        </p:tgtEl>
                                      </p:cBhvr>
                                    </p:animEffect>
                                    <p:animScale>
                                      <p:cBhvr>
                                        <p:cTn id="20" dur="250" autoRev="1" fill="hold"/>
                                        <p:tgtEl>
                                          <p:spTgt spid="89"/>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xit" presetSubtype="0" fill="hold" grpId="2" nodeType="withEffect">
                                  <p:stCondLst>
                                    <p:cond delay="0"/>
                                  </p:stCondLst>
                                  <p:childTnLst>
                                    <p:set>
                                      <p:cBhvr>
                                        <p:cTn id="26" dur="1" fill="hold">
                                          <p:stCondLst>
                                            <p:cond delay="0"/>
                                          </p:stCondLst>
                                        </p:cTn>
                                        <p:tgtEl>
                                          <p:spTgt spid="88"/>
                                        </p:tgtEl>
                                        <p:attrNameLst>
                                          <p:attrName>style.visibility</p:attrName>
                                        </p:attrNameLst>
                                      </p:cBhvr>
                                      <p:to>
                                        <p:strVal val="hidden"/>
                                      </p:to>
                                    </p:set>
                                  </p:childTnLst>
                                </p:cTn>
                              </p:par>
                              <p:par>
                                <p:cTn id="27" presetID="1" presetClass="exit" presetSubtype="0" fill="hold" grpId="2" nodeType="withEffect">
                                  <p:stCondLst>
                                    <p:cond delay="0"/>
                                  </p:stCondLst>
                                  <p:childTnLst>
                                    <p:set>
                                      <p:cBhvr>
                                        <p:cTn id="28" dur="1" fill="hold">
                                          <p:stCondLst>
                                            <p:cond delay="0"/>
                                          </p:stCondLst>
                                        </p:cTn>
                                        <p:tgtEl>
                                          <p:spTgt spid="89"/>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par>
                                <p:cTn id="31" presetID="26" presetClass="emph" presetSubtype="0" repeatCount="indefinite" fill="hold" grpId="1" nodeType="withEffect">
                                  <p:stCondLst>
                                    <p:cond delay="0"/>
                                  </p:stCondLst>
                                  <p:endCondLst>
                                    <p:cond evt="onNext" delay="0">
                                      <p:tgtEl>
                                        <p:sldTgt/>
                                      </p:tgtEl>
                                    </p:cond>
                                  </p:endCondLst>
                                  <p:childTnLst>
                                    <p:animEffect transition="out" filter="fade">
                                      <p:cBhvr>
                                        <p:cTn id="32" dur="500" tmFilter="0, 0; .2, .5; .8, .5; 1, 0"/>
                                        <p:tgtEl>
                                          <p:spTgt spid="90"/>
                                        </p:tgtEl>
                                      </p:cBhvr>
                                    </p:animEffect>
                                    <p:animScale>
                                      <p:cBhvr>
                                        <p:cTn id="33" dur="250" autoRev="1" fill="hold"/>
                                        <p:tgtEl>
                                          <p:spTgt spid="90"/>
                                        </p:tgtEl>
                                      </p:cBhvr>
                                      <p:by x="105000" y="105000"/>
                                    </p:animScale>
                                  </p:childTnLst>
                                </p:cTn>
                              </p:par>
                              <p:par>
                                <p:cTn id="34" presetID="1" presetClass="entr" presetSubtype="0" fill="hold" grpId="0" nodeType="withEffect">
                                  <p:stCondLst>
                                    <p:cond delay="0"/>
                                  </p:stCondLst>
                                  <p:childTnLst>
                                    <p:set>
                                      <p:cBhvr>
                                        <p:cTn id="35" dur="1" fill="hold">
                                          <p:stCondLst>
                                            <p:cond delay="0"/>
                                          </p:stCondLst>
                                        </p:cTn>
                                        <p:tgtEl>
                                          <p:spTgt spid="91"/>
                                        </p:tgtEl>
                                        <p:attrNameLst>
                                          <p:attrName>style.visibility</p:attrName>
                                        </p:attrNameLst>
                                      </p:cBhvr>
                                      <p:to>
                                        <p:strVal val="visible"/>
                                      </p:to>
                                    </p:set>
                                  </p:childTnLst>
                                </p:cTn>
                              </p:par>
                              <p:par>
                                <p:cTn id="36" presetID="26" presetClass="emph" presetSubtype="0" repeatCount="indefinite" fill="hold" grpId="1" nodeType="withEffect">
                                  <p:stCondLst>
                                    <p:cond delay="0"/>
                                  </p:stCondLst>
                                  <p:endCondLst>
                                    <p:cond evt="onNext" delay="0">
                                      <p:tgtEl>
                                        <p:sldTgt/>
                                      </p:tgtEl>
                                    </p:cond>
                                  </p:endCondLst>
                                  <p:childTnLst>
                                    <p:animEffect transition="out" filter="fade">
                                      <p:cBhvr>
                                        <p:cTn id="37" dur="500" tmFilter="0, 0; .2, .5; .8, .5; 1, 0"/>
                                        <p:tgtEl>
                                          <p:spTgt spid="91"/>
                                        </p:tgtEl>
                                      </p:cBhvr>
                                    </p:animEffect>
                                    <p:animScale>
                                      <p:cBhvr>
                                        <p:cTn id="38" dur="250" autoRev="1" fill="hold"/>
                                        <p:tgtEl>
                                          <p:spTgt spid="91"/>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xit" presetSubtype="0" fill="hold" grpId="2" nodeType="withEffect">
                                  <p:stCondLst>
                                    <p:cond delay="0"/>
                                  </p:stCondLst>
                                  <p:childTnLst>
                                    <p:set>
                                      <p:cBhvr>
                                        <p:cTn id="44" dur="1" fill="hold">
                                          <p:stCondLst>
                                            <p:cond delay="0"/>
                                          </p:stCondLst>
                                        </p:cTn>
                                        <p:tgtEl>
                                          <p:spTgt spid="90"/>
                                        </p:tgtEl>
                                        <p:attrNameLst>
                                          <p:attrName>style.visibility</p:attrName>
                                        </p:attrNameLst>
                                      </p:cBhvr>
                                      <p:to>
                                        <p:strVal val="hidden"/>
                                      </p:to>
                                    </p:set>
                                  </p:childTnLst>
                                </p:cTn>
                              </p:par>
                              <p:par>
                                <p:cTn id="45" presetID="1" presetClass="exit" presetSubtype="0" fill="hold" grpId="2" nodeType="withEffect">
                                  <p:stCondLst>
                                    <p:cond delay="0"/>
                                  </p:stCondLst>
                                  <p:childTnLst>
                                    <p:set>
                                      <p:cBhvr>
                                        <p:cTn id="46" dur="1" fill="hold">
                                          <p:stCondLst>
                                            <p:cond delay="0"/>
                                          </p:stCondLst>
                                        </p:cTn>
                                        <p:tgtEl>
                                          <p:spTgt spid="91"/>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92"/>
                                        </p:tgtEl>
                                        <p:attrNameLst>
                                          <p:attrName>style.visibility</p:attrName>
                                        </p:attrNameLst>
                                      </p:cBhvr>
                                      <p:to>
                                        <p:strVal val="visible"/>
                                      </p:to>
                                    </p:set>
                                  </p:childTnLst>
                                </p:cTn>
                              </p:par>
                              <p:par>
                                <p:cTn id="49" presetID="26" presetClass="emph" presetSubtype="0" repeatCount="indefinite" fill="hold" grpId="1" nodeType="withEffect">
                                  <p:stCondLst>
                                    <p:cond delay="0"/>
                                  </p:stCondLst>
                                  <p:endCondLst>
                                    <p:cond evt="onNext" delay="0">
                                      <p:tgtEl>
                                        <p:sldTgt/>
                                      </p:tgtEl>
                                    </p:cond>
                                  </p:endCondLst>
                                  <p:childTnLst>
                                    <p:animEffect transition="out" filter="fade">
                                      <p:cBhvr>
                                        <p:cTn id="50" dur="500" tmFilter="0, 0; .2, .5; .8, .5; 1, 0"/>
                                        <p:tgtEl>
                                          <p:spTgt spid="92"/>
                                        </p:tgtEl>
                                      </p:cBhvr>
                                    </p:animEffect>
                                    <p:animScale>
                                      <p:cBhvr>
                                        <p:cTn id="51" dur="250" autoRev="1" fill="hold"/>
                                        <p:tgtEl>
                                          <p:spTgt spid="92"/>
                                        </p:tgtEl>
                                      </p:cBhvr>
                                      <p:by x="105000" y="105000"/>
                                    </p:animScale>
                                  </p:childTnLst>
                                </p:cTn>
                              </p:par>
                              <p:par>
                                <p:cTn id="52" presetID="1" presetClass="entr" presetSubtype="0" fill="hold" grpId="0" nodeType="withEffect">
                                  <p:stCondLst>
                                    <p:cond delay="0"/>
                                  </p:stCondLst>
                                  <p:childTnLst>
                                    <p:set>
                                      <p:cBhvr>
                                        <p:cTn id="53" dur="1" fill="hold">
                                          <p:stCondLst>
                                            <p:cond delay="0"/>
                                          </p:stCondLst>
                                        </p:cTn>
                                        <p:tgtEl>
                                          <p:spTgt spid="93"/>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93"/>
                                        </p:tgtEl>
                                      </p:cBhvr>
                                    </p:animEffect>
                                    <p:animScale>
                                      <p:cBhvr>
                                        <p:cTn id="56" dur="250" autoRev="1" fill="hold"/>
                                        <p:tgtEl>
                                          <p:spTgt spid="93"/>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92"/>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93"/>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94"/>
                                        </p:tgtEl>
                                        <p:attrNameLst>
                                          <p:attrName>style.visibility</p:attrName>
                                        </p:attrNameLst>
                                      </p:cBhvr>
                                      <p:to>
                                        <p:strVal val="visible"/>
                                      </p:to>
                                    </p:set>
                                  </p:childTnLst>
                                </p:cTn>
                              </p:par>
                              <p:par>
                                <p:cTn id="67" presetID="26" presetClass="emph" presetSubtype="0" repeatCount="indefinite" fill="hold" grpId="1" nodeType="withEffect">
                                  <p:stCondLst>
                                    <p:cond delay="0"/>
                                  </p:stCondLst>
                                  <p:endCondLst>
                                    <p:cond evt="onNext" delay="0">
                                      <p:tgtEl>
                                        <p:sldTgt/>
                                      </p:tgtEl>
                                    </p:cond>
                                  </p:endCondLst>
                                  <p:childTnLst>
                                    <p:animEffect transition="out" filter="fade">
                                      <p:cBhvr>
                                        <p:cTn id="68" dur="500" tmFilter="0, 0; .2, .5; .8, .5; 1, 0"/>
                                        <p:tgtEl>
                                          <p:spTgt spid="94"/>
                                        </p:tgtEl>
                                      </p:cBhvr>
                                    </p:animEffect>
                                    <p:animScale>
                                      <p:cBhvr>
                                        <p:cTn id="69" dur="250" autoRev="1" fill="hold"/>
                                        <p:tgtEl>
                                          <p:spTgt spid="94"/>
                                        </p:tgtEl>
                                      </p:cBhvr>
                                      <p:by x="105000" y="105000"/>
                                    </p:animScale>
                                  </p:childTnLst>
                                </p:cTn>
                              </p:par>
                              <p:par>
                                <p:cTn id="70" presetID="1" presetClass="entr" presetSubtype="0" fill="hold" grpId="0" nodeType="withEffect">
                                  <p:stCondLst>
                                    <p:cond delay="0"/>
                                  </p:stCondLst>
                                  <p:childTnLst>
                                    <p:set>
                                      <p:cBhvr>
                                        <p:cTn id="71" dur="1" fill="hold">
                                          <p:stCondLst>
                                            <p:cond delay="0"/>
                                          </p:stCondLst>
                                        </p:cTn>
                                        <p:tgtEl>
                                          <p:spTgt spid="95"/>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95"/>
                                        </p:tgtEl>
                                      </p:cBhvr>
                                    </p:animEffect>
                                    <p:animScale>
                                      <p:cBhvr>
                                        <p:cTn id="74" dur="250" autoRev="1" fill="hold"/>
                                        <p:tgtEl>
                                          <p:spTgt spid="95"/>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94"/>
                                        </p:tgtEl>
                                        <p:attrNameLst>
                                          <p:attrName>style.visibility</p:attrName>
                                        </p:attrNameLst>
                                      </p:cBhvr>
                                      <p:to>
                                        <p:strVal val="hidden"/>
                                      </p:to>
                                    </p:set>
                                  </p:childTnLst>
                                </p:cTn>
                              </p:par>
                              <p:par>
                                <p:cTn id="79" presetID="1" presetClass="exit" presetSubtype="0" fill="hold" grpId="2" nodeType="withEffect">
                                  <p:stCondLst>
                                    <p:cond delay="0"/>
                                  </p:stCondLst>
                                  <p:childTnLst>
                                    <p:set>
                                      <p:cBhvr>
                                        <p:cTn id="80" dur="1" fill="hold">
                                          <p:stCondLst>
                                            <p:cond delay="0"/>
                                          </p:stCondLst>
                                        </p:cTn>
                                        <p:tgtEl>
                                          <p:spTgt spid="95"/>
                                        </p:tgtEl>
                                        <p:attrNameLst>
                                          <p:attrName>style.visibility</p:attrName>
                                        </p:attrNameLst>
                                      </p:cBhvr>
                                      <p:to>
                                        <p:strVal val="hidden"/>
                                      </p:to>
                                    </p:set>
                                  </p:childTnLst>
                                </p:cTn>
                              </p:par>
                              <p:par>
                                <p:cTn id="81" presetID="1" presetClass="entr" presetSubtype="0" fill="hold" grpId="0" nodeType="withEffect">
                                  <p:stCondLst>
                                    <p:cond delay="0"/>
                                  </p:stCondLst>
                                  <p:childTnLst>
                                    <p:set>
                                      <p:cBhvr>
                                        <p:cTn id="82" dur="1" fill="hold">
                                          <p:stCondLst>
                                            <p:cond delay="0"/>
                                          </p:stCondLst>
                                        </p:cTn>
                                        <p:tgtEl>
                                          <p:spTgt spid="9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3"/>
                                        </p:tgtEl>
                                        <p:attrNameLst>
                                          <p:attrName>style.visibility</p:attrName>
                                        </p:attrNameLst>
                                      </p:cBhvr>
                                      <p:to>
                                        <p:strVal val="visible"/>
                                      </p:to>
                                    </p:set>
                                  </p:childTnLst>
                                </p:cTn>
                              </p:par>
                              <p:par>
                                <p:cTn id="85" presetID="26" presetClass="emph" presetSubtype="0" repeatCount="indefinite" fill="hold" grpId="1" nodeType="withEffect">
                                  <p:stCondLst>
                                    <p:cond delay="0"/>
                                  </p:stCondLst>
                                  <p:endCondLst>
                                    <p:cond evt="onNext" delay="0">
                                      <p:tgtEl>
                                        <p:sldTgt/>
                                      </p:tgtEl>
                                    </p:cond>
                                  </p:endCondLst>
                                  <p:childTnLst>
                                    <p:animEffect transition="out" filter="fade">
                                      <p:cBhvr>
                                        <p:cTn id="86" dur="500" tmFilter="0, 0; .2, .5; .8, .5; 1, 0"/>
                                        <p:tgtEl>
                                          <p:spTgt spid="63"/>
                                        </p:tgtEl>
                                      </p:cBhvr>
                                    </p:animEffect>
                                    <p:animScale>
                                      <p:cBhvr>
                                        <p:cTn id="87" dur="250" autoRev="1" fill="hold"/>
                                        <p:tgtEl>
                                          <p:spTgt spid="6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88" grpId="1" animBg="1"/>
      <p:bldP spid="88" grpId="2" animBg="1"/>
      <p:bldP spid="89" grpId="0" animBg="1"/>
      <p:bldP spid="89" grpId="1" animBg="1"/>
      <p:bldP spid="89" grpId="2" animBg="1"/>
      <p:bldP spid="90" grpId="0" animBg="1"/>
      <p:bldP spid="90" grpId="1" animBg="1"/>
      <p:bldP spid="90" grpId="2" animBg="1"/>
      <p:bldP spid="91" grpId="0" animBg="1"/>
      <p:bldP spid="91" grpId="1" animBg="1"/>
      <p:bldP spid="91" grpId="2" animBg="1"/>
      <p:bldP spid="92" grpId="0" animBg="1"/>
      <p:bldP spid="92" grpId="1" animBg="1"/>
      <p:bldP spid="92" grpId="2" animBg="1"/>
      <p:bldP spid="93" grpId="0" animBg="1"/>
      <p:bldP spid="93" grpId="1" animBg="1"/>
      <p:bldP spid="93" grpId="2" animBg="1"/>
      <p:bldP spid="94" grpId="0" animBg="1"/>
      <p:bldP spid="94" grpId="1" animBg="1"/>
      <p:bldP spid="94" grpId="2" animBg="1"/>
      <p:bldP spid="95" grpId="0" animBg="1"/>
      <p:bldP spid="95" grpId="1" animBg="1"/>
      <p:bldP spid="95" grpId="2" animBg="1"/>
      <p:bldP spid="96" grpId="0"/>
      <p:bldP spid="63" grpId="0" animBg="1"/>
      <p:bldP spid="63" grpId="1"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Non-Preemptive Priority Scheduling</a:t>
            </a:r>
            <a:endParaRPr lang="en-IN" dirty="0"/>
          </a:p>
        </p:txBody>
      </p:sp>
      <p:sp>
        <p:nvSpPr>
          <p:cNvPr id="3" name="Content Placeholder 2"/>
          <p:cNvSpPr>
            <a:spLocks noGrp="1"/>
          </p:cNvSpPr>
          <p:nvPr>
            <p:ph idx="1"/>
          </p:nvPr>
        </p:nvSpPr>
        <p:spPr/>
        <p:txBody>
          <a:bodyPr/>
          <a:lstStyle/>
          <a:p>
            <a:r>
              <a:rPr lang="en-US" b="1" dirty="0"/>
              <a:t>Selection Criteria</a:t>
            </a:r>
            <a:endParaRPr lang="en-IN" b="1" dirty="0"/>
          </a:p>
          <a:p>
            <a:pPr lvl="1"/>
            <a:r>
              <a:rPr lang="en-US" dirty="0"/>
              <a:t>The process which </a:t>
            </a:r>
            <a:r>
              <a:rPr lang="en-US" b="1" dirty="0">
                <a:solidFill>
                  <a:schemeClr val="accent6"/>
                </a:solidFill>
              </a:rPr>
              <a:t>have highest priority is served first</a:t>
            </a:r>
            <a:r>
              <a:rPr lang="en-US" b="1" dirty="0"/>
              <a:t>.</a:t>
            </a:r>
            <a:endParaRPr lang="en-IN" b="1" dirty="0"/>
          </a:p>
          <a:p>
            <a:r>
              <a:rPr lang="en-US" b="1" dirty="0"/>
              <a:t>Decision Mode</a:t>
            </a:r>
            <a:endParaRPr lang="en-IN" b="1" dirty="0"/>
          </a:p>
          <a:p>
            <a:pPr lvl="1"/>
            <a:r>
              <a:rPr lang="en-US" dirty="0"/>
              <a:t>Once a process is selected</a:t>
            </a:r>
            <a:r>
              <a:rPr lang="en-US" b="1" dirty="0"/>
              <a:t>, </a:t>
            </a:r>
            <a:r>
              <a:rPr lang="en-US" b="1" dirty="0">
                <a:solidFill>
                  <a:schemeClr val="accent6"/>
                </a:solidFill>
              </a:rPr>
              <a:t>it runs until it blocks for I/O or some event</a:t>
            </a:r>
            <a:r>
              <a:rPr lang="en-US" dirty="0"/>
              <a:t>,</a:t>
            </a:r>
            <a:r>
              <a:rPr lang="en-US" b="1" dirty="0">
                <a:solidFill>
                  <a:schemeClr val="accent6"/>
                </a:solidFill>
              </a:rPr>
              <a:t> or it’s terminated</a:t>
            </a:r>
            <a:r>
              <a:rPr lang="en-US" dirty="0"/>
              <a:t>.</a:t>
            </a:r>
          </a:p>
          <a:p>
            <a:r>
              <a:rPr lang="en-US" b="1" dirty="0"/>
              <a:t>Implementation</a:t>
            </a:r>
            <a:endParaRPr lang="en-IN" b="1" dirty="0"/>
          </a:p>
          <a:p>
            <a:pPr lvl="1"/>
            <a:r>
              <a:rPr lang="en-US" dirty="0"/>
              <a:t>This strategy can be implemented by using </a:t>
            </a:r>
            <a:r>
              <a:rPr lang="en-US" b="1" dirty="0">
                <a:solidFill>
                  <a:schemeClr val="accent6"/>
                </a:solidFill>
              </a:rPr>
              <a:t>sorted FIFO Queue</a:t>
            </a:r>
            <a:r>
              <a:rPr lang="en-US" dirty="0"/>
              <a:t>. All process in a queue are sorted based on their priority, with highest priority process are at front end. When CPU get free, a process from the first position in a queue is selected to run.</a:t>
            </a:r>
            <a:endParaRPr lang="en-IN" dirty="0"/>
          </a:p>
          <a:p>
            <a:endParaRPr lang="en-IN" dirty="0"/>
          </a:p>
        </p:txBody>
      </p:sp>
    </p:spTree>
    <p:extLst>
      <p:ext uri="{BB962C8B-B14F-4D97-AF65-F5344CB8AC3E}">
        <p14:creationId xmlns:p14="http://schemas.microsoft.com/office/powerpoint/2010/main" val="3188893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Non-Preemptive Priority Scheduling</a:t>
            </a:r>
            <a:endParaRPr lang="en-IN" dirty="0"/>
          </a:p>
        </p:txBody>
      </p:sp>
      <p:sp>
        <p:nvSpPr>
          <p:cNvPr id="3" name="Content Placeholder 2"/>
          <p:cNvSpPr>
            <a:spLocks noGrp="1"/>
          </p:cNvSpPr>
          <p:nvPr>
            <p:ph idx="1"/>
          </p:nvPr>
        </p:nvSpPr>
        <p:spPr/>
        <p:txBody>
          <a:bodyPr/>
          <a:lstStyle/>
          <a:p>
            <a:r>
              <a:rPr lang="en-IN" dirty="0"/>
              <a:t>Example</a:t>
            </a:r>
          </a:p>
          <a:p>
            <a:r>
              <a:rPr lang="en-US" dirty="0"/>
              <a:t>Consider the following set of four processes. Their priority, arrival and time required to complete the execution are given in following table. (Time value in milliseconds). The smallest value of priority will be considering as highest priority</a:t>
            </a:r>
            <a:endParaRPr lang="en-IN"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2151529" y="2770095"/>
              <a:ext cx="7557247" cy="2729753"/>
            </p:xfrm>
            <a:graphic>
              <a:graphicData uri="http://schemas.openxmlformats.org/drawingml/2006/table">
                <a:tbl>
                  <a:tblPr firstRow="1" firstCol="1" bandRow="1">
                    <a:tableStyleId>{5C22544A-7EE6-4342-B048-85BDC9FD1C3A}</a:tableStyleId>
                  </a:tblPr>
                  <a:tblGrid>
                    <a:gridCol w="1048448">
                      <a:extLst>
                        <a:ext uri="{9D8B030D-6E8A-4147-A177-3AD203B41FA5}">
                          <a16:colId xmlns:a16="http://schemas.microsoft.com/office/drawing/2014/main" val="20000"/>
                        </a:ext>
                      </a:extLst>
                    </a:gridCol>
                    <a:gridCol w="1966245">
                      <a:extLst>
                        <a:ext uri="{9D8B030D-6E8A-4147-A177-3AD203B41FA5}">
                          <a16:colId xmlns:a16="http://schemas.microsoft.com/office/drawing/2014/main" val="20001"/>
                        </a:ext>
                      </a:extLst>
                    </a:gridCol>
                    <a:gridCol w="1966245">
                      <a:extLst>
                        <a:ext uri="{9D8B030D-6E8A-4147-A177-3AD203B41FA5}">
                          <a16:colId xmlns:a16="http://schemas.microsoft.com/office/drawing/2014/main" val="20002"/>
                        </a:ext>
                      </a:extLst>
                    </a:gridCol>
                    <a:gridCol w="2576309">
                      <a:extLst>
                        <a:ext uri="{9D8B030D-6E8A-4147-A177-3AD203B41FA5}">
                          <a16:colId xmlns:a16="http://schemas.microsoft.com/office/drawing/2014/main" val="20003"/>
                        </a:ext>
                      </a:extLst>
                    </a:gridCol>
                  </a:tblGrid>
                  <a:tr h="929305">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Process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Priority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Arrival Time(T0)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Completion Time (ΔT)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0000"/>
                      </a:ext>
                    </a:extLst>
                  </a:tr>
                  <a:tr h="450112">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10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50112">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50112">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50112">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11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832542082"/>
                  </p:ext>
                </p:extLst>
              </p:nvPr>
            </p:nvGraphicFramePr>
            <p:xfrm>
              <a:off x="2151529" y="2770095"/>
              <a:ext cx="7557247" cy="2729753"/>
            </p:xfrm>
            <a:graphic>
              <a:graphicData uri="http://schemas.openxmlformats.org/drawingml/2006/table">
                <a:tbl>
                  <a:tblPr firstRow="1" firstCol="1" bandRow="1">
                    <a:tableStyleId>{5C22544A-7EE6-4342-B048-85BDC9FD1C3A}</a:tableStyleId>
                  </a:tblPr>
                  <a:tblGrid>
                    <a:gridCol w="1048448"/>
                    <a:gridCol w="1966245"/>
                    <a:gridCol w="1966245"/>
                    <a:gridCol w="2576309"/>
                  </a:tblGrid>
                  <a:tr h="929305">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Process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Priority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Arrival Time(T0)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Completion Time (ΔT)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r>
                  <a:tr h="45011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581" t="-208108" r="-622674" b="-317568"/>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smtClean="0">
                              <a:solidFill>
                                <a:schemeClr val="tx1"/>
                              </a:solidFill>
                              <a:latin typeface="+mn-lt"/>
                              <a:ea typeface="+mn-ea"/>
                              <a:cs typeface="+mn-cs"/>
                            </a:rPr>
                            <a:t>10</a:t>
                          </a:r>
                          <a:endParaRPr lang="en-US" sz="2000" kern="1200" baseline="0" dirty="0">
                            <a:solidFill>
                              <a:schemeClr val="tx1"/>
                            </a:solidFill>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011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581" t="-308108" r="-622674" b="-217568"/>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011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581" t="-408108" r="-622674" b="-117568"/>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011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581" t="-508108" r="-622674" b="-17568"/>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11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mc:Fallback>
      </mc:AlternateContent>
    </p:spTree>
    <p:extLst>
      <p:ext uri="{BB962C8B-B14F-4D97-AF65-F5344CB8AC3E}">
        <p14:creationId xmlns:p14="http://schemas.microsoft.com/office/powerpoint/2010/main" val="1172419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496070" y="0"/>
            <a:ext cx="569593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Non Preemptive Priority Scheduling</a:t>
            </a:r>
            <a:endParaRPr lang="en-IN" sz="2800" b="1" dirty="0"/>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ü"/>
            </a:pPr>
            <a:r>
              <a:rPr lang="en-US" sz="2000" dirty="0"/>
              <a:t>In this example, Initially the process with highest priority </a:t>
            </a:r>
            <a:r>
              <a:rPr lang="en-US" sz="2000" dirty="0">
                <a:solidFill>
                  <a:srgbClr val="FFFF00"/>
                </a:solidFill>
              </a:rPr>
              <a:t>P0</a:t>
            </a:r>
            <a:r>
              <a:rPr lang="en-US" sz="2000" dirty="0"/>
              <a:t> is present and it allowed to run. </a:t>
            </a:r>
          </a:p>
          <a:p>
            <a:pPr marL="342900" indent="-342900" algn="just">
              <a:buFont typeface="Wingdings" panose="05000000000000000000" pitchFamily="2" charset="2"/>
              <a:buChar char="ü"/>
            </a:pPr>
            <a:r>
              <a:rPr lang="en-US" sz="2000" dirty="0"/>
              <a:t>But when P0 competes, all the other process are present.</a:t>
            </a:r>
          </a:p>
          <a:p>
            <a:pPr marL="342900" indent="-342900" algn="just">
              <a:buFont typeface="Wingdings" panose="05000000000000000000" pitchFamily="2" charset="2"/>
              <a:buChar char="ü"/>
            </a:pPr>
            <a:r>
              <a:rPr lang="en-US" sz="2000" dirty="0"/>
              <a:t>The process with </a:t>
            </a:r>
            <a:r>
              <a:rPr lang="en-US" sz="2000" dirty="0">
                <a:solidFill>
                  <a:srgbClr val="FFFF00"/>
                </a:solidFill>
              </a:rPr>
              <a:t>highest</a:t>
            </a:r>
            <a:r>
              <a:rPr lang="en-US" sz="2000" dirty="0"/>
              <a:t> </a:t>
            </a:r>
            <a:r>
              <a:rPr lang="en-US" sz="2000" dirty="0">
                <a:solidFill>
                  <a:srgbClr val="FFFF00"/>
                </a:solidFill>
              </a:rPr>
              <a:t>priority</a:t>
            </a:r>
            <a:r>
              <a:rPr lang="en-US" sz="2000" dirty="0"/>
              <a:t> </a:t>
            </a:r>
            <a:r>
              <a:rPr lang="en-US" sz="2000" dirty="0">
                <a:solidFill>
                  <a:srgbClr val="FFFF00"/>
                </a:solidFill>
              </a:rPr>
              <a:t>P2</a:t>
            </a:r>
            <a:r>
              <a:rPr lang="en-US" sz="2000" dirty="0"/>
              <a:t> will be selected and allowed to run till it completes.</a:t>
            </a:r>
          </a:p>
          <a:p>
            <a:pPr marL="342900" indent="-342900" algn="just">
              <a:buFont typeface="Wingdings" panose="05000000000000000000" pitchFamily="2" charset="2"/>
              <a:buChar char="ü"/>
            </a:pPr>
            <a:r>
              <a:rPr lang="en-US" sz="2000" dirty="0"/>
              <a:t>After </a:t>
            </a:r>
            <a:r>
              <a:rPr lang="en-US" sz="2000" dirty="0">
                <a:solidFill>
                  <a:srgbClr val="FFFF00"/>
                </a:solidFill>
              </a:rPr>
              <a:t>P2</a:t>
            </a:r>
            <a:r>
              <a:rPr lang="en-US" sz="2000" dirty="0"/>
              <a:t> next </a:t>
            </a:r>
            <a:r>
              <a:rPr lang="en-US" sz="2000" dirty="0">
                <a:solidFill>
                  <a:srgbClr val="FFFF00"/>
                </a:solidFill>
              </a:rPr>
              <a:t>highest</a:t>
            </a:r>
            <a:r>
              <a:rPr lang="en-US" sz="2000" dirty="0"/>
              <a:t> </a:t>
            </a:r>
            <a:r>
              <a:rPr lang="en-US" sz="2000" dirty="0">
                <a:solidFill>
                  <a:srgbClr val="FFFF00"/>
                </a:solidFill>
              </a:rPr>
              <a:t>priority</a:t>
            </a:r>
            <a:r>
              <a:rPr lang="en-US" sz="2000" dirty="0"/>
              <a:t> is </a:t>
            </a:r>
            <a:r>
              <a:rPr lang="en-US" sz="2000" dirty="0">
                <a:solidFill>
                  <a:srgbClr val="FFFF00"/>
                </a:solidFill>
              </a:rPr>
              <a:t>P1</a:t>
            </a:r>
            <a:r>
              <a:rPr lang="en-US" sz="2000" dirty="0"/>
              <a:t> will be selected and allow to run till it complete.</a:t>
            </a:r>
          </a:p>
          <a:p>
            <a:pPr marL="342900" indent="-342900" algn="just">
              <a:buFont typeface="Wingdings" panose="05000000000000000000" pitchFamily="2" charset="2"/>
              <a:buChar char="ü"/>
            </a:pPr>
            <a:r>
              <a:rPr lang="en-US" sz="2000" dirty="0"/>
              <a:t>This process is repeat until all processes completes their execution.</a:t>
            </a:r>
            <a:endParaRPr lang="en-IN" sz="2000" dirty="0"/>
          </a:p>
        </p:txBody>
      </p:sp>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p:sp>
        <p:nvSpPr>
          <p:cNvPr id="16" name="TextBox 15"/>
          <p:cNvSpPr txBox="1"/>
          <p:nvPr/>
        </p:nvSpPr>
        <p:spPr>
          <a:xfrm>
            <a:off x="95574" y="0"/>
            <a:ext cx="3022169" cy="400110"/>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Example</a:t>
            </a:r>
          </a:p>
        </p:txBody>
      </p:sp>
      <p:sp>
        <p:nvSpPr>
          <p:cNvPr id="33" name="TextBox 32"/>
          <p:cNvSpPr txBox="1"/>
          <p:nvPr/>
        </p:nvSpPr>
        <p:spPr>
          <a:xfrm>
            <a:off x="0" y="3294743"/>
            <a:ext cx="6593874" cy="40011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Gantt Chart</a:t>
            </a:r>
          </a:p>
        </p:txBody>
      </p:sp>
      <p:cxnSp>
        <p:nvCxnSpPr>
          <p:cNvPr id="44" name="Straight Connector 43"/>
          <p:cNvCxnSpPr/>
          <p:nvPr/>
        </p:nvCxnSpPr>
        <p:spPr>
          <a:xfrm flipH="1">
            <a:off x="95574" y="3790522"/>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0" y="4498605"/>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18" name="Rectangle 17"/>
              <p:cNvSpPr/>
              <p:nvPr/>
            </p:nvSpPr>
            <p:spPr>
              <a:xfrm>
                <a:off x="95573" y="3802020"/>
                <a:ext cx="16817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18" name="Rectangle 17"/>
              <p:cNvSpPr>
                <a:spLocks noRot="1" noChangeAspect="1" noMove="1" noResize="1" noEditPoints="1" noAdjustHandles="1" noChangeArrowheads="1" noChangeShapeType="1" noTextEdit="1"/>
              </p:cNvSpPr>
              <p:nvPr/>
            </p:nvSpPr>
            <p:spPr>
              <a:xfrm>
                <a:off x="95573" y="3802020"/>
                <a:ext cx="1681740" cy="655359"/>
              </a:xfrm>
              <a:prstGeom prst="rect">
                <a:avLst/>
              </a:prstGeom>
              <a:blipFill rotWithShape="0">
                <a:blip r:embed="rId2"/>
                <a:stretch>
                  <a:fillRect/>
                </a:stretch>
              </a:blipFill>
              <a:ln w="38100">
                <a:solidFill>
                  <a:schemeClr val="tx1"/>
                </a:solidFill>
              </a:ln>
            </p:spPr>
            <p:txBody>
              <a:bodyPr/>
              <a:lstStyle/>
              <a:p>
                <a:r>
                  <a:rPr lang="en-US">
                    <a:noFill/>
                  </a:rPr>
                  <a:t> </a:t>
                </a:r>
              </a:p>
            </p:txBody>
          </p:sp>
        </mc:Fallback>
      </mc:AlternateContent>
      <p:sp>
        <p:nvSpPr>
          <p:cNvPr id="39" name="TextBox 38"/>
          <p:cNvSpPr txBox="1"/>
          <p:nvPr/>
        </p:nvSpPr>
        <p:spPr>
          <a:xfrm>
            <a:off x="1483809" y="4507968"/>
            <a:ext cx="465346"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sp>
            <p:nvSpPr>
              <p:cNvPr id="47" name="Rectangle 46"/>
              <p:cNvSpPr/>
              <p:nvPr/>
            </p:nvSpPr>
            <p:spPr>
              <a:xfrm>
                <a:off x="1777312" y="3799892"/>
                <a:ext cx="1260325"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47" name="Rectangle 46"/>
              <p:cNvSpPr>
                <a:spLocks noRot="1" noChangeAspect="1" noMove="1" noResize="1" noEditPoints="1" noAdjustHandles="1" noChangeArrowheads="1" noChangeShapeType="1" noTextEdit="1"/>
              </p:cNvSpPr>
              <p:nvPr/>
            </p:nvSpPr>
            <p:spPr>
              <a:xfrm>
                <a:off x="1777312" y="3799892"/>
                <a:ext cx="1260325" cy="655359"/>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p:sp>
        <p:nvSpPr>
          <p:cNvPr id="48" name="TextBox 47"/>
          <p:cNvSpPr txBox="1"/>
          <p:nvPr/>
        </p:nvSpPr>
        <p:spPr>
          <a:xfrm>
            <a:off x="2794400" y="4507968"/>
            <a:ext cx="503953" cy="369332"/>
          </a:xfrm>
          <a:prstGeom prst="rect">
            <a:avLst/>
          </a:prstGeom>
          <a:noFill/>
        </p:spPr>
        <p:txBody>
          <a:bodyPr wrap="square" rtlCol="0">
            <a:spAutoFit/>
          </a:bodyPr>
          <a:lstStyle/>
          <a:p>
            <a:r>
              <a:rPr lang="en-US" dirty="0"/>
              <a:t>18</a:t>
            </a:r>
          </a:p>
        </p:txBody>
      </p:sp>
      <mc:AlternateContent xmlns:mc="http://schemas.openxmlformats.org/markup-compatibility/2006" xmlns:a14="http://schemas.microsoft.com/office/drawing/2010/main">
        <mc:Choice Requires="a14">
          <p:sp>
            <p:nvSpPr>
              <p:cNvPr id="53" name="Rectangle 52"/>
              <p:cNvSpPr/>
              <p:nvPr/>
            </p:nvSpPr>
            <p:spPr>
              <a:xfrm>
                <a:off x="3037636" y="3799504"/>
                <a:ext cx="754435"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53" name="Rectangle 52"/>
              <p:cNvSpPr>
                <a:spLocks noRot="1" noChangeAspect="1" noMove="1" noResize="1" noEditPoints="1" noAdjustHandles="1" noChangeArrowheads="1" noChangeShapeType="1" noTextEdit="1"/>
              </p:cNvSpPr>
              <p:nvPr/>
            </p:nvSpPr>
            <p:spPr>
              <a:xfrm>
                <a:off x="3037636" y="3799504"/>
                <a:ext cx="754435" cy="65535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p:sp>
        <p:nvSpPr>
          <p:cNvPr id="54" name="TextBox 53"/>
          <p:cNvSpPr txBox="1"/>
          <p:nvPr/>
        </p:nvSpPr>
        <p:spPr>
          <a:xfrm>
            <a:off x="3571418" y="4507968"/>
            <a:ext cx="503953" cy="369332"/>
          </a:xfrm>
          <a:prstGeom prst="rect">
            <a:avLst/>
          </a:prstGeom>
          <a:noFill/>
        </p:spPr>
        <p:txBody>
          <a:bodyPr wrap="square" rtlCol="0">
            <a:spAutoFit/>
          </a:bodyPr>
          <a:lstStyle/>
          <a:p>
            <a:r>
              <a:rPr lang="en-US" dirty="0"/>
              <a:t>21</a:t>
            </a:r>
          </a:p>
        </p:txBody>
      </p:sp>
      <mc:AlternateContent xmlns:mc="http://schemas.openxmlformats.org/markup-compatibility/2006" xmlns:a14="http://schemas.microsoft.com/office/drawing/2010/main">
        <mc:Choice Requires="a14">
          <p:sp>
            <p:nvSpPr>
              <p:cNvPr id="58" name="Rectangle 57"/>
              <p:cNvSpPr/>
              <p:nvPr/>
            </p:nvSpPr>
            <p:spPr>
              <a:xfrm>
                <a:off x="3792071" y="3799502"/>
                <a:ext cx="1027322"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58" name="Rectangle 57"/>
              <p:cNvSpPr>
                <a:spLocks noRot="1" noChangeAspect="1" noMove="1" noResize="1" noEditPoints="1" noAdjustHandles="1" noChangeArrowheads="1" noChangeShapeType="1" noTextEdit="1"/>
              </p:cNvSpPr>
              <p:nvPr/>
            </p:nvSpPr>
            <p:spPr>
              <a:xfrm>
                <a:off x="3792071" y="3799502"/>
                <a:ext cx="1027322"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p:sp>
        <p:nvSpPr>
          <p:cNvPr id="61" name="TextBox 60"/>
          <p:cNvSpPr txBox="1"/>
          <p:nvPr/>
        </p:nvSpPr>
        <p:spPr>
          <a:xfrm>
            <a:off x="4567416" y="4504439"/>
            <a:ext cx="503953" cy="369332"/>
          </a:xfrm>
          <a:prstGeom prst="rect">
            <a:avLst/>
          </a:prstGeom>
          <a:noFill/>
        </p:spPr>
        <p:txBody>
          <a:bodyPr wrap="square" rtlCol="0">
            <a:spAutoFit/>
          </a:bodyPr>
          <a:lstStyle/>
          <a:p>
            <a:r>
              <a:rPr lang="en-US" dirty="0"/>
              <a:t>26</a:t>
            </a:r>
          </a:p>
        </p:txBody>
      </p:sp>
      <mc:AlternateContent xmlns:mc="http://schemas.openxmlformats.org/markup-compatibility/2006" xmlns:a14="http://schemas.microsoft.com/office/drawing/2010/main">
        <mc:Choice Requires="a14">
          <p:graphicFrame>
            <p:nvGraphicFramePr>
              <p:cNvPr id="42" name="Table 41"/>
              <p:cNvGraphicFramePr>
                <a:graphicFrameLocks noGrp="1"/>
              </p:cNvGraphicFramePr>
              <p:nvPr/>
            </p:nvGraphicFramePr>
            <p:xfrm>
              <a:off x="318448" y="658908"/>
              <a:ext cx="5822578" cy="2225040"/>
            </p:xfrm>
            <a:graphic>
              <a:graphicData uri="http://schemas.openxmlformats.org/drawingml/2006/table">
                <a:tbl>
                  <a:tblPr firstRow="1" firstCol="1" bandRow="1">
                    <a:tableStyleId>{5C22544A-7EE6-4342-B048-85BDC9FD1C3A}</a:tableStyleId>
                  </a:tblPr>
                  <a:tblGrid>
                    <a:gridCol w="969698">
                      <a:extLst>
                        <a:ext uri="{9D8B030D-6E8A-4147-A177-3AD203B41FA5}">
                          <a16:colId xmlns:a16="http://schemas.microsoft.com/office/drawing/2014/main" val="20000"/>
                        </a:ext>
                      </a:extLst>
                    </a:gridCol>
                    <a:gridCol w="1353011">
                      <a:extLst>
                        <a:ext uri="{9D8B030D-6E8A-4147-A177-3AD203B41FA5}">
                          <a16:colId xmlns:a16="http://schemas.microsoft.com/office/drawing/2014/main" val="20001"/>
                        </a:ext>
                      </a:extLst>
                    </a:gridCol>
                    <a:gridCol w="1514919">
                      <a:extLst>
                        <a:ext uri="{9D8B030D-6E8A-4147-A177-3AD203B41FA5}">
                          <a16:colId xmlns:a16="http://schemas.microsoft.com/office/drawing/2014/main" val="20002"/>
                        </a:ext>
                      </a:extLst>
                    </a:gridCol>
                    <a:gridCol w="1984950">
                      <a:extLst>
                        <a:ext uri="{9D8B030D-6E8A-4147-A177-3AD203B41FA5}">
                          <a16:colId xmlns:a16="http://schemas.microsoft.com/office/drawing/2014/main" val="20003"/>
                        </a:ext>
                      </a:extLst>
                    </a:gridCol>
                  </a:tblGrid>
                  <a:tr h="585965">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Process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Priority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Arrival Time(T0)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Completion Time (ΔT)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10000"/>
                      </a:ext>
                    </a:extLst>
                  </a:tr>
                  <a:tr h="28381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10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8381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381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83814">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11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mc:Choice>
        <mc:Fallback xmlns="">
          <p:graphicFrame>
            <p:nvGraphicFramePr>
              <p:cNvPr id="42" name="Table 41"/>
              <p:cNvGraphicFramePr>
                <a:graphicFrameLocks noGrp="1"/>
              </p:cNvGraphicFramePr>
              <p:nvPr>
                <p:extLst>
                  <p:ext uri="{D42A27DB-BD31-4B8C-83A1-F6EECF244321}">
                    <p14:modId xmlns:p14="http://schemas.microsoft.com/office/powerpoint/2010/main" val="2223068804"/>
                  </p:ext>
                </p:extLst>
              </p:nvPr>
            </p:nvGraphicFramePr>
            <p:xfrm>
              <a:off x="318448" y="658908"/>
              <a:ext cx="5822578" cy="2225040"/>
            </p:xfrm>
            <a:graphic>
              <a:graphicData uri="http://schemas.openxmlformats.org/drawingml/2006/table">
                <a:tbl>
                  <a:tblPr firstRow="1" firstCol="1" bandRow="1">
                    <a:tableStyleId>{5C22544A-7EE6-4342-B048-85BDC9FD1C3A}</a:tableStyleId>
                  </a:tblPr>
                  <a:tblGrid>
                    <a:gridCol w="969698"/>
                    <a:gridCol w="1353011"/>
                    <a:gridCol w="1514919"/>
                    <a:gridCol w="1984950"/>
                  </a:tblGrid>
                  <a:tr h="701040">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Process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Priority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Arrival Time(T0)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Completion Time (ΔT)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r>
                  <a:tr h="381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6"/>
                          <a:stretch>
                            <a:fillRect l="-629" t="-196825" r="-502516" b="-328571"/>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smtClean="0">
                              <a:solidFill>
                                <a:schemeClr val="tx1"/>
                              </a:solidFill>
                              <a:latin typeface="+mn-lt"/>
                              <a:ea typeface="+mn-ea"/>
                              <a:cs typeface="+mn-cs"/>
                            </a:rPr>
                            <a:t>10</a:t>
                          </a:r>
                          <a:endParaRPr lang="en-US" sz="2000" kern="1200" baseline="0" dirty="0">
                            <a:solidFill>
                              <a:schemeClr val="tx1"/>
                            </a:solidFill>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81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6"/>
                          <a:stretch>
                            <a:fillRect l="-629" t="-296825" r="-502516" b="-228571"/>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81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6"/>
                          <a:stretch>
                            <a:fillRect l="-629" t="-403226" r="-502516" b="-132258"/>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38100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rotWithShape="0">
                          <a:blip r:embed="rId6"/>
                          <a:stretch>
                            <a:fillRect l="-629" t="-495238" r="-502516" b="-30159"/>
                          </a:stretch>
                        </a:blip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a:solidFill>
                                <a:schemeClr val="tx1"/>
                              </a:solidFill>
                              <a:latin typeface="+mn-lt"/>
                              <a:ea typeface="+mn-ea"/>
                              <a:cs typeface="+mn-cs"/>
                            </a:rPr>
                            <a:t>11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defTabSz="914400" rtl="0" eaLnBrk="1" latinLnBrk="0" hangingPunct="1">
                            <a:lnSpc>
                              <a:spcPct val="115000"/>
                            </a:lnSpc>
                            <a:spcBef>
                              <a:spcPts val="0"/>
                            </a:spcBef>
                            <a:spcAft>
                              <a:spcPts val="0"/>
                            </a:spcAft>
                          </a:pPr>
                          <a:r>
                            <a:rPr lang="en-US" sz="2000" kern="1200" baseline="0" dirty="0">
                              <a:solidFill>
                                <a:schemeClr val="tx1"/>
                              </a:solidFill>
                              <a:latin typeface="+mn-lt"/>
                              <a:ea typeface="+mn-ea"/>
                              <a:cs typeface="+mn-cs"/>
                            </a:rPr>
                            <a:t>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mc:Fallback>
      </mc:AlternateContent>
    </p:spTree>
    <p:extLst>
      <p:ext uri="{BB962C8B-B14F-4D97-AF65-F5344CB8AC3E}">
        <p14:creationId xmlns:p14="http://schemas.microsoft.com/office/powerpoint/2010/main" val="269277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5" grpId="0"/>
      <p:bldP spid="18" grpId="0" animBg="1"/>
      <p:bldP spid="39" grpId="0"/>
      <p:bldP spid="47" grpId="0" animBg="1"/>
      <p:bldP spid="48" grpId="0"/>
      <p:bldP spid="53" grpId="0" animBg="1"/>
      <p:bldP spid="54" grpId="0"/>
      <p:bldP spid="58" grpId="0" animBg="1"/>
      <p:bldP spid="61"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Non-Preemptive Priority Scheduling</a:t>
            </a:r>
            <a:endParaRPr lang="en-IN" dirty="0"/>
          </a:p>
        </p:txBody>
      </p:sp>
      <mc:AlternateContent xmlns:mc="http://schemas.openxmlformats.org/markup-compatibility/2006" xmlns:a14="http://schemas.microsoft.com/office/drawing/2010/main">
        <mc:Choice Requires="a14">
          <p:graphicFrame>
            <p:nvGraphicFramePr>
              <p:cNvPr id="1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16"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1908370055"/>
                  </p:ext>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 xmlns:a16="http://schemas.microsoft.com/office/drawing/2014/main" xmlns:a14="http://schemas.microsoft.com/office/drawing/2010/main" val="20000"/>
                        </a:ext>
                      </a:extLst>
                    </a:gridCol>
                    <a:gridCol w="1547749">
                      <a:extLst>
                        <a:ext uri="{9D8B030D-6E8A-4147-A177-3AD203B41FA5}">
                          <a16:colId xmlns="" xmlns:a16="http://schemas.microsoft.com/office/drawing/2014/main" xmlns:a14="http://schemas.microsoft.com/office/drawing/2010/main" val="20001"/>
                        </a:ext>
                      </a:extLst>
                    </a:gridCol>
                    <a:gridCol w="3564248">
                      <a:extLst>
                        <a:ext uri="{9D8B030D-6E8A-4147-A177-3AD203B41FA5}">
                          <a16:colId xmlns="" xmlns:a16="http://schemas.microsoft.com/office/drawing/2014/main"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smtClean="0">
                              <a:solidFill>
                                <a:schemeClr val="tx1"/>
                              </a:solidFill>
                            </a:rPr>
                            <a:t>10</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0</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6</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smtClean="0">
                              <a:solidFill>
                                <a:schemeClr val="tx1"/>
                              </a:solidFill>
                            </a:rPr>
                            <a:t>11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7"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 xmlns:a16="http://schemas.microsoft.com/office/drawing/2014/main"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3774" r="-439" b="-15094"/>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1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9"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 xmlns:a16="http://schemas.microsoft.com/office/drawing/2014/main"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289" t="-3774" r="-289" b="-16038"/>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graphicFrame>
        <p:nvGraphicFramePr>
          <p:cNvPr id="2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2"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62" name="TextBox 61"/>
          <p:cNvSpPr txBox="1"/>
          <p:nvPr/>
        </p:nvSpPr>
        <p:spPr>
          <a:xfrm>
            <a:off x="6330349" y="1493650"/>
            <a:ext cx="1381969" cy="542441"/>
          </a:xfrm>
          <a:prstGeom prst="rect">
            <a:avLst/>
          </a:prstGeom>
          <a:noFill/>
          <a:ln w="57150">
            <a:solidFill>
              <a:srgbClr val="FF0000"/>
            </a:solidFill>
          </a:ln>
        </p:spPr>
        <p:txBody>
          <a:bodyPr wrap="square" rtlCol="0">
            <a:spAutoFit/>
          </a:bodyPr>
          <a:lstStyle/>
          <a:p>
            <a:endParaRPr lang="en-IN" dirty="0"/>
          </a:p>
        </p:txBody>
      </p:sp>
      <p:sp>
        <p:nvSpPr>
          <p:cNvPr id="63" name="TextBox 62"/>
          <p:cNvSpPr txBox="1"/>
          <p:nvPr/>
        </p:nvSpPr>
        <p:spPr>
          <a:xfrm>
            <a:off x="1237649" y="1489663"/>
            <a:ext cx="1490790" cy="542441"/>
          </a:xfrm>
          <a:prstGeom prst="rect">
            <a:avLst/>
          </a:prstGeom>
          <a:noFill/>
          <a:ln w="57150">
            <a:solidFill>
              <a:srgbClr val="FF0000"/>
            </a:solidFill>
          </a:ln>
        </p:spPr>
        <p:txBody>
          <a:bodyPr wrap="square" rtlCol="0">
            <a:spAutoFit/>
          </a:bodyPr>
          <a:lstStyle/>
          <a:p>
            <a:endParaRPr lang="en-IN" dirty="0"/>
          </a:p>
        </p:txBody>
      </p:sp>
      <p:sp>
        <p:nvSpPr>
          <p:cNvPr id="64" name="TextBox 63"/>
          <p:cNvSpPr txBox="1"/>
          <p:nvPr/>
        </p:nvSpPr>
        <p:spPr>
          <a:xfrm>
            <a:off x="6346128" y="2022741"/>
            <a:ext cx="1381969" cy="542441"/>
          </a:xfrm>
          <a:prstGeom prst="rect">
            <a:avLst/>
          </a:prstGeom>
          <a:noFill/>
          <a:ln w="57150">
            <a:solidFill>
              <a:srgbClr val="FF0000"/>
            </a:solidFill>
          </a:ln>
        </p:spPr>
        <p:txBody>
          <a:bodyPr wrap="square" rtlCol="0">
            <a:spAutoFit/>
          </a:bodyPr>
          <a:lstStyle/>
          <a:p>
            <a:endParaRPr lang="en-IN" dirty="0"/>
          </a:p>
        </p:txBody>
      </p:sp>
      <p:sp>
        <p:nvSpPr>
          <p:cNvPr id="65" name="TextBox 64"/>
          <p:cNvSpPr txBox="1"/>
          <p:nvPr/>
        </p:nvSpPr>
        <p:spPr>
          <a:xfrm>
            <a:off x="1237649" y="2028905"/>
            <a:ext cx="1490790" cy="542441"/>
          </a:xfrm>
          <a:prstGeom prst="rect">
            <a:avLst/>
          </a:prstGeom>
          <a:noFill/>
          <a:ln w="57150">
            <a:solidFill>
              <a:srgbClr val="FF0000"/>
            </a:solidFill>
          </a:ln>
        </p:spPr>
        <p:txBody>
          <a:bodyPr wrap="square" rtlCol="0">
            <a:spAutoFit/>
          </a:bodyPr>
          <a:lstStyle/>
          <a:p>
            <a:endParaRPr lang="en-IN" dirty="0"/>
          </a:p>
        </p:txBody>
      </p:sp>
      <p:sp>
        <p:nvSpPr>
          <p:cNvPr id="66" name="TextBox 65"/>
          <p:cNvSpPr txBox="1"/>
          <p:nvPr/>
        </p:nvSpPr>
        <p:spPr>
          <a:xfrm>
            <a:off x="6306200" y="2592451"/>
            <a:ext cx="1381969" cy="542441"/>
          </a:xfrm>
          <a:prstGeom prst="rect">
            <a:avLst/>
          </a:prstGeom>
          <a:noFill/>
          <a:ln w="57150">
            <a:solidFill>
              <a:srgbClr val="FF0000"/>
            </a:solidFill>
          </a:ln>
        </p:spPr>
        <p:txBody>
          <a:bodyPr wrap="square" rtlCol="0">
            <a:spAutoFit/>
          </a:bodyPr>
          <a:lstStyle/>
          <a:p>
            <a:endParaRPr lang="en-IN" dirty="0"/>
          </a:p>
        </p:txBody>
      </p:sp>
      <p:sp>
        <p:nvSpPr>
          <p:cNvPr id="67" name="TextBox 66"/>
          <p:cNvSpPr txBox="1"/>
          <p:nvPr/>
        </p:nvSpPr>
        <p:spPr>
          <a:xfrm>
            <a:off x="1237649" y="2568147"/>
            <a:ext cx="1490790" cy="542441"/>
          </a:xfrm>
          <a:prstGeom prst="rect">
            <a:avLst/>
          </a:prstGeom>
          <a:noFill/>
          <a:ln w="57150">
            <a:solidFill>
              <a:srgbClr val="FF0000"/>
            </a:solidFill>
          </a:ln>
        </p:spPr>
        <p:txBody>
          <a:bodyPr wrap="square" rtlCol="0">
            <a:spAutoFit/>
          </a:bodyPr>
          <a:lstStyle/>
          <a:p>
            <a:endParaRPr lang="en-IN" dirty="0"/>
          </a:p>
        </p:txBody>
      </p:sp>
      <p:sp>
        <p:nvSpPr>
          <p:cNvPr id="68" name="TextBox 67"/>
          <p:cNvSpPr txBox="1"/>
          <p:nvPr/>
        </p:nvSpPr>
        <p:spPr>
          <a:xfrm>
            <a:off x="6306201" y="3157704"/>
            <a:ext cx="1381969" cy="542441"/>
          </a:xfrm>
          <a:prstGeom prst="rect">
            <a:avLst/>
          </a:prstGeom>
          <a:noFill/>
          <a:ln w="57150">
            <a:solidFill>
              <a:srgbClr val="FF0000"/>
            </a:solidFill>
          </a:ln>
        </p:spPr>
        <p:txBody>
          <a:bodyPr wrap="square" rtlCol="0">
            <a:spAutoFit/>
          </a:bodyPr>
          <a:lstStyle/>
          <a:p>
            <a:endParaRPr lang="en-IN" dirty="0"/>
          </a:p>
        </p:txBody>
      </p:sp>
      <p:sp>
        <p:nvSpPr>
          <p:cNvPr id="69" name="TextBox 68"/>
          <p:cNvSpPr txBox="1"/>
          <p:nvPr/>
        </p:nvSpPr>
        <p:spPr>
          <a:xfrm>
            <a:off x="1237649" y="3136535"/>
            <a:ext cx="1490790" cy="542441"/>
          </a:xfrm>
          <a:prstGeom prst="rect">
            <a:avLst/>
          </a:prstGeom>
          <a:noFill/>
          <a:ln w="57150">
            <a:solidFill>
              <a:srgbClr val="FF0000"/>
            </a:solidFill>
          </a:ln>
        </p:spPr>
        <p:txBody>
          <a:bodyPr wrap="square" rtlCol="0">
            <a:spAutoFit/>
          </a:bodyPr>
          <a:lstStyle/>
          <a:p>
            <a:endParaRPr lang="en-IN" dirty="0"/>
          </a:p>
        </p:txBody>
      </p:sp>
      <p:sp>
        <p:nvSpPr>
          <p:cNvPr id="78" name="TextBox 77"/>
          <p:cNvSpPr txBox="1"/>
          <p:nvPr/>
        </p:nvSpPr>
        <p:spPr>
          <a:xfrm>
            <a:off x="367829" y="5479625"/>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Turnaround Time </a:t>
            </a:r>
            <a:r>
              <a:rPr lang="en-US" sz="2000" dirty="0"/>
              <a:t>= Sum of all Process’s Turn Around Time/ Total Process</a:t>
            </a:r>
          </a:p>
          <a:p>
            <a:r>
              <a:rPr lang="en-US" sz="2000" dirty="0"/>
              <a:t>                                                    = (10+21+12+15)/4 </a:t>
            </a:r>
          </a:p>
          <a:p>
            <a:r>
              <a:rPr lang="en-US" sz="2000" dirty="0"/>
              <a:t>                                                    = 14.5 Ms.</a:t>
            </a:r>
          </a:p>
        </p:txBody>
      </p:sp>
      <p:sp>
        <p:nvSpPr>
          <p:cNvPr id="79" name="TextBox 78"/>
          <p:cNvSpPr txBox="1"/>
          <p:nvPr/>
        </p:nvSpPr>
        <p:spPr>
          <a:xfrm>
            <a:off x="7712318" y="1489663"/>
            <a:ext cx="2049246" cy="2222902"/>
          </a:xfrm>
          <a:prstGeom prst="rect">
            <a:avLst/>
          </a:prstGeom>
          <a:noFill/>
          <a:ln w="57150">
            <a:solidFill>
              <a:srgbClr val="FF0000"/>
            </a:solidFill>
          </a:ln>
        </p:spPr>
        <p:txBody>
          <a:bodyPr wrap="square" rtlCol="0">
            <a:spAutoFit/>
          </a:bodyPr>
          <a:lstStyle/>
          <a:p>
            <a:endParaRPr lang="en-IN" dirty="0"/>
          </a:p>
        </p:txBody>
      </p:sp>
      <p:cxnSp>
        <p:nvCxnSpPr>
          <p:cNvPr id="92" name="Straight Connector 91"/>
          <p:cNvCxnSpPr/>
          <p:nvPr/>
        </p:nvCxnSpPr>
        <p:spPr>
          <a:xfrm flipH="1">
            <a:off x="324174" y="4299133"/>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228600" y="5007216"/>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94" name="Rectangle 93"/>
              <p:cNvSpPr/>
              <p:nvPr/>
            </p:nvSpPr>
            <p:spPr>
              <a:xfrm>
                <a:off x="324173" y="4310631"/>
                <a:ext cx="16817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94" name="Rectangle 93"/>
              <p:cNvSpPr>
                <a:spLocks noRot="1" noChangeAspect="1" noMove="1" noResize="1" noEditPoints="1" noAdjustHandles="1" noChangeArrowheads="1" noChangeShapeType="1" noTextEdit="1"/>
              </p:cNvSpPr>
              <p:nvPr/>
            </p:nvSpPr>
            <p:spPr>
              <a:xfrm>
                <a:off x="324173" y="4310631"/>
                <a:ext cx="168174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p:sp>
        <p:nvSpPr>
          <p:cNvPr id="95" name="TextBox 94"/>
          <p:cNvSpPr txBox="1"/>
          <p:nvPr/>
        </p:nvSpPr>
        <p:spPr>
          <a:xfrm>
            <a:off x="1712409" y="5016579"/>
            <a:ext cx="465346"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sp>
            <p:nvSpPr>
              <p:cNvPr id="96" name="Rectangle 95"/>
              <p:cNvSpPr/>
              <p:nvPr/>
            </p:nvSpPr>
            <p:spPr>
              <a:xfrm>
                <a:off x="2005912" y="4308503"/>
                <a:ext cx="1260325"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96" name="Rectangle 95"/>
              <p:cNvSpPr>
                <a:spLocks noRot="1" noChangeAspect="1" noMove="1" noResize="1" noEditPoints="1" noAdjustHandles="1" noChangeArrowheads="1" noChangeShapeType="1" noTextEdit="1"/>
              </p:cNvSpPr>
              <p:nvPr/>
            </p:nvSpPr>
            <p:spPr>
              <a:xfrm>
                <a:off x="2005912" y="4308503"/>
                <a:ext cx="1260325"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97" name="TextBox 96"/>
          <p:cNvSpPr txBox="1"/>
          <p:nvPr/>
        </p:nvSpPr>
        <p:spPr>
          <a:xfrm>
            <a:off x="3023000" y="5016579"/>
            <a:ext cx="503953" cy="369332"/>
          </a:xfrm>
          <a:prstGeom prst="rect">
            <a:avLst/>
          </a:prstGeom>
          <a:noFill/>
        </p:spPr>
        <p:txBody>
          <a:bodyPr wrap="square" rtlCol="0">
            <a:spAutoFit/>
          </a:bodyPr>
          <a:lstStyle/>
          <a:p>
            <a:r>
              <a:rPr lang="en-US" dirty="0"/>
              <a:t>18</a:t>
            </a:r>
          </a:p>
        </p:txBody>
      </p:sp>
      <mc:AlternateContent xmlns:mc="http://schemas.openxmlformats.org/markup-compatibility/2006" xmlns:a14="http://schemas.microsoft.com/office/drawing/2010/main">
        <mc:Choice Requires="a14">
          <p:sp>
            <p:nvSpPr>
              <p:cNvPr id="98" name="Rectangle 97"/>
              <p:cNvSpPr/>
              <p:nvPr/>
            </p:nvSpPr>
            <p:spPr>
              <a:xfrm>
                <a:off x="3266236" y="4308115"/>
                <a:ext cx="754435"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98" name="Rectangle 97"/>
              <p:cNvSpPr>
                <a:spLocks noRot="1" noChangeAspect="1" noMove="1" noResize="1" noEditPoints="1" noAdjustHandles="1" noChangeArrowheads="1" noChangeShapeType="1" noTextEdit="1"/>
              </p:cNvSpPr>
              <p:nvPr/>
            </p:nvSpPr>
            <p:spPr>
              <a:xfrm>
                <a:off x="3266236" y="4308115"/>
                <a:ext cx="754435"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99" name="TextBox 98"/>
          <p:cNvSpPr txBox="1"/>
          <p:nvPr/>
        </p:nvSpPr>
        <p:spPr>
          <a:xfrm>
            <a:off x="3800018" y="5016579"/>
            <a:ext cx="503953" cy="369332"/>
          </a:xfrm>
          <a:prstGeom prst="rect">
            <a:avLst/>
          </a:prstGeom>
          <a:noFill/>
        </p:spPr>
        <p:txBody>
          <a:bodyPr wrap="square" rtlCol="0">
            <a:spAutoFit/>
          </a:bodyPr>
          <a:lstStyle/>
          <a:p>
            <a:r>
              <a:rPr lang="en-US" dirty="0"/>
              <a:t>21</a:t>
            </a:r>
          </a:p>
        </p:txBody>
      </p:sp>
      <mc:AlternateContent xmlns:mc="http://schemas.openxmlformats.org/markup-compatibility/2006" xmlns:a14="http://schemas.microsoft.com/office/drawing/2010/main">
        <mc:Choice Requires="a14">
          <p:sp>
            <p:nvSpPr>
              <p:cNvPr id="100" name="Rectangle 99"/>
              <p:cNvSpPr/>
              <p:nvPr/>
            </p:nvSpPr>
            <p:spPr>
              <a:xfrm>
                <a:off x="4020671" y="4308113"/>
                <a:ext cx="1027322"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100" name="Rectangle 99"/>
              <p:cNvSpPr>
                <a:spLocks noRot="1" noChangeAspect="1" noMove="1" noResize="1" noEditPoints="1" noAdjustHandles="1" noChangeArrowheads="1" noChangeShapeType="1" noTextEdit="1"/>
              </p:cNvSpPr>
              <p:nvPr/>
            </p:nvSpPr>
            <p:spPr>
              <a:xfrm>
                <a:off x="4020671" y="4308113"/>
                <a:ext cx="1027322"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101" name="TextBox 100"/>
          <p:cNvSpPr txBox="1"/>
          <p:nvPr/>
        </p:nvSpPr>
        <p:spPr>
          <a:xfrm>
            <a:off x="4796016" y="5013050"/>
            <a:ext cx="503953" cy="369332"/>
          </a:xfrm>
          <a:prstGeom prst="rect">
            <a:avLst/>
          </a:prstGeom>
          <a:noFill/>
        </p:spPr>
        <p:txBody>
          <a:bodyPr wrap="square" rtlCol="0">
            <a:spAutoFit/>
          </a:bodyPr>
          <a:lstStyle/>
          <a:p>
            <a:r>
              <a:rPr lang="en-US" dirty="0"/>
              <a:t>26</a:t>
            </a:r>
          </a:p>
        </p:txBody>
      </p:sp>
      <p:sp>
        <p:nvSpPr>
          <p:cNvPr id="34" name="TextBox 33">
            <a:extLst>
              <a:ext uri="{FF2B5EF4-FFF2-40B4-BE49-F238E27FC236}">
                <a16:creationId xmlns:a16="http://schemas.microsoft.com/office/drawing/2014/main" id="{80431C92-4EEC-4384-BB94-800C23512E53}"/>
              </a:ext>
            </a:extLst>
          </p:cNvPr>
          <p:cNvSpPr txBox="1"/>
          <p:nvPr/>
        </p:nvSpPr>
        <p:spPr>
          <a:xfrm>
            <a:off x="1712409" y="5002832"/>
            <a:ext cx="428691" cy="346397"/>
          </a:xfrm>
          <a:prstGeom prst="rect">
            <a:avLst/>
          </a:prstGeom>
          <a:noFill/>
          <a:ln w="57150">
            <a:solidFill>
              <a:srgbClr val="FF0000"/>
            </a:solidFill>
          </a:ln>
        </p:spPr>
        <p:txBody>
          <a:bodyPr wrap="square" rtlCol="0">
            <a:spAutoFit/>
          </a:bodyPr>
          <a:lstStyle/>
          <a:p>
            <a:endParaRPr lang="en-IN" dirty="0"/>
          </a:p>
        </p:txBody>
      </p:sp>
      <p:sp>
        <p:nvSpPr>
          <p:cNvPr id="35" name="TextBox 34">
            <a:extLst>
              <a:ext uri="{FF2B5EF4-FFF2-40B4-BE49-F238E27FC236}">
                <a16:creationId xmlns:a16="http://schemas.microsoft.com/office/drawing/2014/main" id="{C8350D8D-5066-47A3-AB8A-EBCDEEE809E4}"/>
              </a:ext>
            </a:extLst>
          </p:cNvPr>
          <p:cNvSpPr txBox="1"/>
          <p:nvPr/>
        </p:nvSpPr>
        <p:spPr>
          <a:xfrm>
            <a:off x="3047031" y="5002833"/>
            <a:ext cx="428691" cy="346397"/>
          </a:xfrm>
          <a:prstGeom prst="rect">
            <a:avLst/>
          </a:prstGeom>
          <a:noFill/>
          <a:ln w="57150">
            <a:solidFill>
              <a:srgbClr val="FF0000"/>
            </a:solidFill>
          </a:ln>
        </p:spPr>
        <p:txBody>
          <a:bodyPr wrap="square" rtlCol="0">
            <a:spAutoFit/>
          </a:bodyPr>
          <a:lstStyle/>
          <a:p>
            <a:endParaRPr lang="en-IN" dirty="0"/>
          </a:p>
        </p:txBody>
      </p:sp>
      <p:sp>
        <p:nvSpPr>
          <p:cNvPr id="36" name="TextBox 35">
            <a:extLst>
              <a:ext uri="{FF2B5EF4-FFF2-40B4-BE49-F238E27FC236}">
                <a16:creationId xmlns:a16="http://schemas.microsoft.com/office/drawing/2014/main" id="{6A0744A1-6122-4242-BB64-361CBF74B988}"/>
              </a:ext>
            </a:extLst>
          </p:cNvPr>
          <p:cNvSpPr txBox="1"/>
          <p:nvPr/>
        </p:nvSpPr>
        <p:spPr>
          <a:xfrm>
            <a:off x="3804652" y="5002833"/>
            <a:ext cx="428691" cy="346397"/>
          </a:xfrm>
          <a:prstGeom prst="rect">
            <a:avLst/>
          </a:prstGeom>
          <a:noFill/>
          <a:ln w="57150">
            <a:solidFill>
              <a:srgbClr val="FF0000"/>
            </a:solidFill>
          </a:ln>
        </p:spPr>
        <p:txBody>
          <a:bodyPr wrap="square" rtlCol="0">
            <a:spAutoFit/>
          </a:bodyPr>
          <a:lstStyle/>
          <a:p>
            <a:endParaRPr lang="en-IN" dirty="0"/>
          </a:p>
        </p:txBody>
      </p:sp>
      <p:sp>
        <p:nvSpPr>
          <p:cNvPr id="37" name="TextBox 36">
            <a:extLst>
              <a:ext uri="{FF2B5EF4-FFF2-40B4-BE49-F238E27FC236}">
                <a16:creationId xmlns:a16="http://schemas.microsoft.com/office/drawing/2014/main" id="{48E8FD18-FDB6-43FC-BF36-59E192D2BFBC}"/>
              </a:ext>
            </a:extLst>
          </p:cNvPr>
          <p:cNvSpPr txBox="1"/>
          <p:nvPr/>
        </p:nvSpPr>
        <p:spPr>
          <a:xfrm>
            <a:off x="4796016" y="5002832"/>
            <a:ext cx="428691" cy="346397"/>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1873462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26" presetClass="emph" presetSubtype="0" repeatCount="indefinite" fill="hold" grpId="1" nodeType="withEffect">
                                  <p:stCondLst>
                                    <p:cond delay="0"/>
                                  </p:stCondLst>
                                  <p:endCondLst>
                                    <p:cond evt="onNext" delay="0">
                                      <p:tgtEl>
                                        <p:sldTgt/>
                                      </p:tgtEl>
                                    </p:cond>
                                  </p:endCondLst>
                                  <p:childTnLst>
                                    <p:animEffect transition="out" filter="fade">
                                      <p:cBhvr>
                                        <p:cTn id="30" dur="500" tmFilter="0, 0; .2, .5; .8, .5; 1, 0"/>
                                        <p:tgtEl>
                                          <p:spTgt spid="34"/>
                                        </p:tgtEl>
                                      </p:cBhvr>
                                    </p:animEffect>
                                    <p:animScale>
                                      <p:cBhvr>
                                        <p:cTn id="31" dur="250" autoRev="1" fill="hold"/>
                                        <p:tgtEl>
                                          <p:spTgt spid="34"/>
                                        </p:tgtEl>
                                      </p:cBhvr>
                                      <p:by x="105000" y="105000"/>
                                    </p:animScale>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99"/>
                                        </p:tgtEl>
                                        <p:attrNameLst>
                                          <p:attrName>style.visibility</p:attrName>
                                        </p:attrNameLst>
                                      </p:cBhvr>
                                      <p:to>
                                        <p:strVal val="visible"/>
                                      </p:to>
                                    </p:set>
                                  </p:childTnLst>
                                </p:cTn>
                              </p:par>
                              <p:par>
                                <p:cTn id="38" presetID="1" presetClass="exit" presetSubtype="0" fill="hold" grpId="2" nodeType="withEffect">
                                  <p:stCondLst>
                                    <p:cond delay="0"/>
                                  </p:stCondLst>
                                  <p:childTnLst>
                                    <p:set>
                                      <p:cBhvr>
                                        <p:cTn id="39" dur="1" fill="hold">
                                          <p:stCondLst>
                                            <p:cond delay="0"/>
                                          </p:stCondLst>
                                        </p:cTn>
                                        <p:tgtEl>
                                          <p:spTgt spid="34"/>
                                        </p:tgtEl>
                                        <p:attrNameLst>
                                          <p:attrName>style.visibility</p:attrName>
                                        </p:attrNameLst>
                                      </p:cBhvr>
                                      <p:to>
                                        <p:strVal val="hidden"/>
                                      </p:to>
                                    </p:set>
                                  </p:childTnLst>
                                </p:cTn>
                              </p:par>
                              <p:par>
                                <p:cTn id="40" presetID="1" presetClass="entr" presetSubtype="0"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childTnLst>
                                </p:cTn>
                              </p:par>
                              <p:par>
                                <p:cTn id="42" presetID="26" presetClass="emph" presetSubtype="0" repeatCount="indefinite" fill="hold" grpId="1" nodeType="withEffect">
                                  <p:stCondLst>
                                    <p:cond delay="0"/>
                                  </p:stCondLst>
                                  <p:endCondLst>
                                    <p:cond evt="onNext" delay="0">
                                      <p:tgtEl>
                                        <p:sldTgt/>
                                      </p:tgtEl>
                                    </p:cond>
                                  </p:endCondLst>
                                  <p:childTnLst>
                                    <p:animEffect transition="out" filter="fade">
                                      <p:cBhvr>
                                        <p:cTn id="43" dur="500" tmFilter="0, 0; .2, .5; .8, .5; 1, 0"/>
                                        <p:tgtEl>
                                          <p:spTgt spid="36"/>
                                        </p:tgtEl>
                                      </p:cBhvr>
                                    </p:animEffect>
                                    <p:animScale>
                                      <p:cBhvr>
                                        <p:cTn id="44" dur="250" autoRev="1" fill="hold"/>
                                        <p:tgtEl>
                                          <p:spTgt spid="36"/>
                                        </p:tgtEl>
                                      </p:cBhvr>
                                      <p:by x="105000" y="105000"/>
                                    </p:animScale>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7"/>
                                        </p:tgtEl>
                                        <p:attrNameLst>
                                          <p:attrName>style.visibility</p:attrName>
                                        </p:attrNameLst>
                                      </p:cBhvr>
                                      <p:to>
                                        <p:strVal val="visible"/>
                                      </p:to>
                                    </p:set>
                                  </p:childTnLst>
                                </p:cTn>
                              </p:par>
                              <p:par>
                                <p:cTn id="51" presetID="1" presetClass="exit" presetSubtype="0" fill="hold" grpId="2" nodeType="withEffect">
                                  <p:stCondLst>
                                    <p:cond delay="0"/>
                                  </p:stCondLst>
                                  <p:childTnLst>
                                    <p:set>
                                      <p:cBhvr>
                                        <p:cTn id="52" dur="1" fill="hold">
                                          <p:stCondLst>
                                            <p:cond delay="0"/>
                                          </p:stCondLst>
                                        </p:cTn>
                                        <p:tgtEl>
                                          <p:spTgt spid="36"/>
                                        </p:tgtEl>
                                        <p:attrNameLst>
                                          <p:attrName>style.visibility</p:attrName>
                                        </p:attrNameLst>
                                      </p:cBhvr>
                                      <p:to>
                                        <p:strVal val="hidden"/>
                                      </p:to>
                                    </p:set>
                                  </p:childTnLst>
                                </p:cTn>
                              </p:par>
                              <p:par>
                                <p:cTn id="53" presetID="1" presetClass="entr" presetSubtype="0"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par>
                                <p:cTn id="55" presetID="26" presetClass="emph" presetSubtype="0" repeatCount="indefinite" fill="hold" grpId="1" nodeType="withEffect">
                                  <p:stCondLst>
                                    <p:cond delay="0"/>
                                  </p:stCondLst>
                                  <p:endCondLst>
                                    <p:cond evt="onNext" delay="0">
                                      <p:tgtEl>
                                        <p:sldTgt/>
                                      </p:tgtEl>
                                    </p:cond>
                                  </p:endCondLst>
                                  <p:childTnLst>
                                    <p:animEffect transition="out" filter="fade">
                                      <p:cBhvr>
                                        <p:cTn id="56" dur="500" tmFilter="0, 0; .2, .5; .8, .5; 1, 0"/>
                                        <p:tgtEl>
                                          <p:spTgt spid="35"/>
                                        </p:tgtEl>
                                      </p:cBhvr>
                                    </p:animEffect>
                                    <p:animScale>
                                      <p:cBhvr>
                                        <p:cTn id="57" dur="250" autoRev="1" fill="hold"/>
                                        <p:tgtEl>
                                          <p:spTgt spid="35"/>
                                        </p:tgtEl>
                                      </p:cBhvr>
                                      <p:by x="105000" y="105000"/>
                                    </p:animScale>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3"/>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01"/>
                                        </p:tgtEl>
                                        <p:attrNameLst>
                                          <p:attrName>style.visibility</p:attrName>
                                        </p:attrNameLst>
                                      </p:cBhvr>
                                      <p:to>
                                        <p:strVal val="visible"/>
                                      </p:to>
                                    </p:set>
                                  </p:childTnLst>
                                </p:cTn>
                              </p:par>
                              <p:par>
                                <p:cTn id="64" presetID="1" presetClass="exit" presetSubtype="0" fill="hold" grpId="2" nodeType="withEffect">
                                  <p:stCondLst>
                                    <p:cond delay="0"/>
                                  </p:stCondLst>
                                  <p:childTnLst>
                                    <p:set>
                                      <p:cBhvr>
                                        <p:cTn id="65" dur="1" fill="hold">
                                          <p:stCondLst>
                                            <p:cond delay="0"/>
                                          </p:stCondLst>
                                        </p:cTn>
                                        <p:tgtEl>
                                          <p:spTgt spid="35"/>
                                        </p:tgtEl>
                                        <p:attrNameLst>
                                          <p:attrName>style.visibility</p:attrName>
                                        </p:attrNameLst>
                                      </p:cBhvr>
                                      <p:to>
                                        <p:strVal val="hidden"/>
                                      </p:to>
                                    </p:set>
                                  </p:childTnLst>
                                </p:cTn>
                              </p:par>
                              <p:par>
                                <p:cTn id="66" presetID="1" presetClass="entr" presetSubtype="0"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childTnLst>
                                </p:cTn>
                              </p:par>
                              <p:par>
                                <p:cTn id="68" presetID="26" presetClass="emph" presetSubtype="0" repeatCount="indefinite" fill="hold" grpId="1" nodeType="withEffect">
                                  <p:stCondLst>
                                    <p:cond delay="0"/>
                                  </p:stCondLst>
                                  <p:endCondLst>
                                    <p:cond evt="onNext" delay="0">
                                      <p:tgtEl>
                                        <p:sldTgt/>
                                      </p:tgtEl>
                                    </p:cond>
                                  </p:endCondLst>
                                  <p:childTnLst>
                                    <p:animEffect transition="out" filter="fade">
                                      <p:cBhvr>
                                        <p:cTn id="69" dur="500" tmFilter="0, 0; .2, .5; .8, .5; 1, 0"/>
                                        <p:tgtEl>
                                          <p:spTgt spid="37"/>
                                        </p:tgtEl>
                                      </p:cBhvr>
                                    </p:animEffect>
                                    <p:animScale>
                                      <p:cBhvr>
                                        <p:cTn id="70" dur="250" autoRev="1" fill="hold"/>
                                        <p:tgtEl>
                                          <p:spTgt spid="37"/>
                                        </p:tgtEl>
                                      </p:cBhvr>
                                      <p:by x="105000" y="105000"/>
                                    </p:animScale>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9"/>
                                        </p:tgtEl>
                                        <p:attrNameLst>
                                          <p:attrName>style.visibility</p:attrName>
                                        </p:attrNameLst>
                                      </p:cBhvr>
                                      <p:to>
                                        <p:strVal val="visible"/>
                                      </p:to>
                                    </p:set>
                                  </p:childTnLst>
                                </p:cTn>
                              </p:par>
                              <p:par>
                                <p:cTn id="75" presetID="1" presetClass="exit" presetSubtype="0" fill="hold" grpId="2" nodeType="withEffect">
                                  <p:stCondLst>
                                    <p:cond delay="0"/>
                                  </p:stCondLst>
                                  <p:childTnLst>
                                    <p:set>
                                      <p:cBhvr>
                                        <p:cTn id="76" dur="1" fill="hold">
                                          <p:stCondLst>
                                            <p:cond delay="0"/>
                                          </p:stCondLst>
                                        </p:cTn>
                                        <p:tgtEl>
                                          <p:spTgt spid="37"/>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2"/>
                                        </p:tgtEl>
                                        <p:attrNameLst>
                                          <p:attrName>style.visibility</p:attrName>
                                        </p:attrNameLst>
                                      </p:cBhvr>
                                      <p:to>
                                        <p:strVal val="visible"/>
                                      </p:to>
                                    </p:set>
                                  </p:childTnLst>
                                </p:cTn>
                              </p:par>
                              <p:par>
                                <p:cTn id="83" presetID="26" presetClass="emph" presetSubtype="0" repeatCount="indefinite" fill="hold" grpId="1" nodeType="withEffect">
                                  <p:stCondLst>
                                    <p:cond delay="0"/>
                                  </p:stCondLst>
                                  <p:endCondLst>
                                    <p:cond evt="onNext" delay="0">
                                      <p:tgtEl>
                                        <p:sldTgt/>
                                      </p:tgtEl>
                                    </p:cond>
                                  </p:endCondLst>
                                  <p:childTnLst>
                                    <p:animEffect transition="out" filter="fade">
                                      <p:cBhvr>
                                        <p:cTn id="84" dur="500" tmFilter="0, 0; .2, .5; .8, .5; 1, 0"/>
                                        <p:tgtEl>
                                          <p:spTgt spid="62"/>
                                        </p:tgtEl>
                                      </p:cBhvr>
                                    </p:animEffect>
                                    <p:animScale>
                                      <p:cBhvr>
                                        <p:cTn id="85" dur="250" autoRev="1" fill="hold"/>
                                        <p:tgtEl>
                                          <p:spTgt spid="62"/>
                                        </p:tgtEl>
                                      </p:cBhvr>
                                      <p:by x="105000" y="105000"/>
                                    </p:animScale>
                                  </p:childTnLst>
                                </p:cTn>
                              </p:par>
                              <p:par>
                                <p:cTn id="86" presetID="1" presetClass="entr" presetSubtype="0" fill="hold" grpId="0" nodeType="withEffect">
                                  <p:stCondLst>
                                    <p:cond delay="0"/>
                                  </p:stCondLst>
                                  <p:childTnLst>
                                    <p:set>
                                      <p:cBhvr>
                                        <p:cTn id="87" dur="1" fill="hold">
                                          <p:stCondLst>
                                            <p:cond delay="0"/>
                                          </p:stCondLst>
                                        </p:cTn>
                                        <p:tgtEl>
                                          <p:spTgt spid="63"/>
                                        </p:tgtEl>
                                        <p:attrNameLst>
                                          <p:attrName>style.visibility</p:attrName>
                                        </p:attrNameLst>
                                      </p:cBhvr>
                                      <p:to>
                                        <p:strVal val="visible"/>
                                      </p:to>
                                    </p:set>
                                  </p:childTnLst>
                                </p:cTn>
                              </p:par>
                              <p:par>
                                <p:cTn id="88" presetID="26" presetClass="emph" presetSubtype="0" repeatCount="indefinite" fill="hold" grpId="1" nodeType="withEffect">
                                  <p:stCondLst>
                                    <p:cond delay="0"/>
                                  </p:stCondLst>
                                  <p:endCondLst>
                                    <p:cond evt="onNext" delay="0">
                                      <p:tgtEl>
                                        <p:sldTgt/>
                                      </p:tgtEl>
                                    </p:cond>
                                  </p:endCondLst>
                                  <p:childTnLst>
                                    <p:animEffect transition="out" filter="fade">
                                      <p:cBhvr>
                                        <p:cTn id="89" dur="500" tmFilter="0, 0; .2, .5; .8, .5; 1, 0"/>
                                        <p:tgtEl>
                                          <p:spTgt spid="63"/>
                                        </p:tgtEl>
                                      </p:cBhvr>
                                    </p:animEffect>
                                    <p:animScale>
                                      <p:cBhvr>
                                        <p:cTn id="90" dur="250" autoRev="1" fill="hold"/>
                                        <p:tgtEl>
                                          <p:spTgt spid="63"/>
                                        </p:tgtEl>
                                      </p:cBhvr>
                                      <p:by x="105000" y="105000"/>
                                    </p:animScale>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26"/>
                                        </p:tgtEl>
                                        <p:attrNameLst>
                                          <p:attrName>style.visibility</p:attrName>
                                        </p:attrNameLst>
                                      </p:cBhvr>
                                      <p:to>
                                        <p:strVal val="visible"/>
                                      </p:to>
                                    </p:set>
                                  </p:childTnLst>
                                </p:cTn>
                              </p:par>
                              <p:par>
                                <p:cTn id="95" presetID="1" presetClass="exit" presetSubtype="0" fill="hold" grpId="2" nodeType="withEffect">
                                  <p:stCondLst>
                                    <p:cond delay="0"/>
                                  </p:stCondLst>
                                  <p:childTnLst>
                                    <p:set>
                                      <p:cBhvr>
                                        <p:cTn id="96" dur="1" fill="hold">
                                          <p:stCondLst>
                                            <p:cond delay="0"/>
                                          </p:stCondLst>
                                        </p:cTn>
                                        <p:tgtEl>
                                          <p:spTgt spid="62"/>
                                        </p:tgtEl>
                                        <p:attrNameLst>
                                          <p:attrName>style.visibility</p:attrName>
                                        </p:attrNameLst>
                                      </p:cBhvr>
                                      <p:to>
                                        <p:strVal val="hidden"/>
                                      </p:to>
                                    </p:set>
                                  </p:childTnLst>
                                </p:cTn>
                              </p:par>
                              <p:par>
                                <p:cTn id="97" presetID="1" presetClass="exit" presetSubtype="0" fill="hold" grpId="2" nodeType="withEffect">
                                  <p:stCondLst>
                                    <p:cond delay="0"/>
                                  </p:stCondLst>
                                  <p:childTnLst>
                                    <p:set>
                                      <p:cBhvr>
                                        <p:cTn id="98" dur="1" fill="hold">
                                          <p:stCondLst>
                                            <p:cond delay="0"/>
                                          </p:stCondLst>
                                        </p:cTn>
                                        <p:tgtEl>
                                          <p:spTgt spid="63"/>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64"/>
                                        </p:tgtEl>
                                        <p:attrNameLst>
                                          <p:attrName>style.visibility</p:attrName>
                                        </p:attrNameLst>
                                      </p:cBhvr>
                                      <p:to>
                                        <p:strVal val="visible"/>
                                      </p:to>
                                    </p:set>
                                  </p:childTnLst>
                                </p:cTn>
                              </p:par>
                              <p:par>
                                <p:cTn id="101" presetID="26" presetClass="emph" presetSubtype="0" repeatCount="indefinite" fill="hold" grpId="1" nodeType="withEffect">
                                  <p:stCondLst>
                                    <p:cond delay="0"/>
                                  </p:stCondLst>
                                  <p:endCondLst>
                                    <p:cond evt="onNext" delay="0">
                                      <p:tgtEl>
                                        <p:sldTgt/>
                                      </p:tgtEl>
                                    </p:cond>
                                  </p:endCondLst>
                                  <p:childTnLst>
                                    <p:animEffect transition="out" filter="fade">
                                      <p:cBhvr>
                                        <p:cTn id="102" dur="500" tmFilter="0, 0; .2, .5; .8, .5; 1, 0"/>
                                        <p:tgtEl>
                                          <p:spTgt spid="64"/>
                                        </p:tgtEl>
                                      </p:cBhvr>
                                    </p:animEffect>
                                    <p:animScale>
                                      <p:cBhvr>
                                        <p:cTn id="103" dur="250" autoRev="1" fill="hold"/>
                                        <p:tgtEl>
                                          <p:spTgt spid="64"/>
                                        </p:tgtEl>
                                      </p:cBhvr>
                                      <p:by x="105000" y="105000"/>
                                    </p:animScale>
                                  </p:childTnLst>
                                </p:cTn>
                              </p:par>
                              <p:par>
                                <p:cTn id="104" presetID="1" presetClass="entr" presetSubtype="0" fill="hold" grpId="0" nodeType="withEffect">
                                  <p:stCondLst>
                                    <p:cond delay="0"/>
                                  </p:stCondLst>
                                  <p:childTnLst>
                                    <p:set>
                                      <p:cBhvr>
                                        <p:cTn id="105" dur="1" fill="hold">
                                          <p:stCondLst>
                                            <p:cond delay="0"/>
                                          </p:stCondLst>
                                        </p:cTn>
                                        <p:tgtEl>
                                          <p:spTgt spid="65"/>
                                        </p:tgtEl>
                                        <p:attrNameLst>
                                          <p:attrName>style.visibility</p:attrName>
                                        </p:attrNameLst>
                                      </p:cBhvr>
                                      <p:to>
                                        <p:strVal val="visible"/>
                                      </p:to>
                                    </p:set>
                                  </p:childTnLst>
                                </p:cTn>
                              </p:par>
                              <p:par>
                                <p:cTn id="106" presetID="26" presetClass="emph" presetSubtype="0" repeatCount="indefinite" fill="hold" grpId="1" nodeType="withEffect">
                                  <p:stCondLst>
                                    <p:cond delay="0"/>
                                  </p:stCondLst>
                                  <p:endCondLst>
                                    <p:cond evt="onNext" delay="0">
                                      <p:tgtEl>
                                        <p:sldTgt/>
                                      </p:tgtEl>
                                    </p:cond>
                                  </p:endCondLst>
                                  <p:childTnLst>
                                    <p:animEffect transition="out" filter="fade">
                                      <p:cBhvr>
                                        <p:cTn id="107" dur="500" tmFilter="0, 0; .2, .5; .8, .5; 1, 0"/>
                                        <p:tgtEl>
                                          <p:spTgt spid="65"/>
                                        </p:tgtEl>
                                      </p:cBhvr>
                                    </p:animEffect>
                                    <p:animScale>
                                      <p:cBhvr>
                                        <p:cTn id="108" dur="250" autoRev="1" fill="hold"/>
                                        <p:tgtEl>
                                          <p:spTgt spid="65"/>
                                        </p:tgtEl>
                                      </p:cBhvr>
                                      <p:by x="105000" y="105000"/>
                                    </p:animScale>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30"/>
                                        </p:tgtEl>
                                        <p:attrNameLst>
                                          <p:attrName>style.visibility</p:attrName>
                                        </p:attrNameLst>
                                      </p:cBhvr>
                                      <p:to>
                                        <p:strVal val="visible"/>
                                      </p:to>
                                    </p:set>
                                  </p:childTnLst>
                                </p:cTn>
                              </p:par>
                              <p:par>
                                <p:cTn id="113" presetID="1" presetClass="exit" presetSubtype="0" fill="hold" grpId="2" nodeType="withEffect">
                                  <p:stCondLst>
                                    <p:cond delay="0"/>
                                  </p:stCondLst>
                                  <p:childTnLst>
                                    <p:set>
                                      <p:cBhvr>
                                        <p:cTn id="114" dur="1" fill="hold">
                                          <p:stCondLst>
                                            <p:cond delay="0"/>
                                          </p:stCondLst>
                                        </p:cTn>
                                        <p:tgtEl>
                                          <p:spTgt spid="64"/>
                                        </p:tgtEl>
                                        <p:attrNameLst>
                                          <p:attrName>style.visibility</p:attrName>
                                        </p:attrNameLst>
                                      </p:cBhvr>
                                      <p:to>
                                        <p:strVal val="hidden"/>
                                      </p:to>
                                    </p:set>
                                  </p:childTnLst>
                                </p:cTn>
                              </p:par>
                              <p:par>
                                <p:cTn id="115" presetID="1" presetClass="exit" presetSubtype="0" fill="hold" grpId="2" nodeType="withEffect">
                                  <p:stCondLst>
                                    <p:cond delay="0"/>
                                  </p:stCondLst>
                                  <p:childTnLst>
                                    <p:set>
                                      <p:cBhvr>
                                        <p:cTn id="116" dur="1" fill="hold">
                                          <p:stCondLst>
                                            <p:cond delay="0"/>
                                          </p:stCondLst>
                                        </p:cTn>
                                        <p:tgtEl>
                                          <p:spTgt spid="65"/>
                                        </p:tgtEl>
                                        <p:attrNameLst>
                                          <p:attrName>style.visibility</p:attrName>
                                        </p:attrNameLst>
                                      </p:cBhvr>
                                      <p:to>
                                        <p:strVal val="hidden"/>
                                      </p:to>
                                    </p:set>
                                  </p:childTnLst>
                                </p:cTn>
                              </p:par>
                              <p:par>
                                <p:cTn id="117" presetID="1" presetClass="entr" presetSubtype="0" fill="hold" grpId="0" nodeType="withEffect">
                                  <p:stCondLst>
                                    <p:cond delay="0"/>
                                  </p:stCondLst>
                                  <p:childTnLst>
                                    <p:set>
                                      <p:cBhvr>
                                        <p:cTn id="118" dur="1" fill="hold">
                                          <p:stCondLst>
                                            <p:cond delay="0"/>
                                          </p:stCondLst>
                                        </p:cTn>
                                        <p:tgtEl>
                                          <p:spTgt spid="66"/>
                                        </p:tgtEl>
                                        <p:attrNameLst>
                                          <p:attrName>style.visibility</p:attrName>
                                        </p:attrNameLst>
                                      </p:cBhvr>
                                      <p:to>
                                        <p:strVal val="visible"/>
                                      </p:to>
                                    </p:set>
                                  </p:childTnLst>
                                </p:cTn>
                              </p:par>
                              <p:par>
                                <p:cTn id="119" presetID="26" presetClass="emph" presetSubtype="0" repeatCount="indefinite" fill="hold" grpId="1" nodeType="withEffect">
                                  <p:stCondLst>
                                    <p:cond delay="0"/>
                                  </p:stCondLst>
                                  <p:endCondLst>
                                    <p:cond evt="onNext" delay="0">
                                      <p:tgtEl>
                                        <p:sldTgt/>
                                      </p:tgtEl>
                                    </p:cond>
                                  </p:endCondLst>
                                  <p:childTnLst>
                                    <p:animEffect transition="out" filter="fade">
                                      <p:cBhvr>
                                        <p:cTn id="120" dur="500" tmFilter="0, 0; .2, .5; .8, .5; 1, 0"/>
                                        <p:tgtEl>
                                          <p:spTgt spid="66"/>
                                        </p:tgtEl>
                                      </p:cBhvr>
                                    </p:animEffect>
                                    <p:animScale>
                                      <p:cBhvr>
                                        <p:cTn id="121" dur="250" autoRev="1" fill="hold"/>
                                        <p:tgtEl>
                                          <p:spTgt spid="66"/>
                                        </p:tgtEl>
                                      </p:cBhvr>
                                      <p:by x="105000" y="105000"/>
                                    </p:animScale>
                                  </p:childTnLst>
                                </p:cTn>
                              </p:par>
                              <p:par>
                                <p:cTn id="122" presetID="1" presetClass="entr" presetSubtype="0" fill="hold" grpId="0" nodeType="withEffect">
                                  <p:stCondLst>
                                    <p:cond delay="0"/>
                                  </p:stCondLst>
                                  <p:childTnLst>
                                    <p:set>
                                      <p:cBhvr>
                                        <p:cTn id="123" dur="1" fill="hold">
                                          <p:stCondLst>
                                            <p:cond delay="0"/>
                                          </p:stCondLst>
                                        </p:cTn>
                                        <p:tgtEl>
                                          <p:spTgt spid="67"/>
                                        </p:tgtEl>
                                        <p:attrNameLst>
                                          <p:attrName>style.visibility</p:attrName>
                                        </p:attrNameLst>
                                      </p:cBhvr>
                                      <p:to>
                                        <p:strVal val="visible"/>
                                      </p:to>
                                    </p:set>
                                  </p:childTnLst>
                                </p:cTn>
                              </p:par>
                              <p:par>
                                <p:cTn id="124" presetID="26" presetClass="emph" presetSubtype="0" repeatCount="indefinite" fill="hold" grpId="1" nodeType="withEffect">
                                  <p:stCondLst>
                                    <p:cond delay="0"/>
                                  </p:stCondLst>
                                  <p:endCondLst>
                                    <p:cond evt="onNext" delay="0">
                                      <p:tgtEl>
                                        <p:sldTgt/>
                                      </p:tgtEl>
                                    </p:cond>
                                  </p:endCondLst>
                                  <p:childTnLst>
                                    <p:animEffect transition="out" filter="fade">
                                      <p:cBhvr>
                                        <p:cTn id="125" dur="500" tmFilter="0, 0; .2, .5; .8, .5; 1, 0"/>
                                        <p:tgtEl>
                                          <p:spTgt spid="67"/>
                                        </p:tgtEl>
                                      </p:cBhvr>
                                    </p:animEffect>
                                    <p:animScale>
                                      <p:cBhvr>
                                        <p:cTn id="126" dur="250" autoRev="1" fill="hold"/>
                                        <p:tgtEl>
                                          <p:spTgt spid="67"/>
                                        </p:tgtEl>
                                      </p:cBhvr>
                                      <p:by x="105000" y="105000"/>
                                    </p:animScale>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31"/>
                                        </p:tgtEl>
                                        <p:attrNameLst>
                                          <p:attrName>style.visibility</p:attrName>
                                        </p:attrNameLst>
                                      </p:cBhvr>
                                      <p:to>
                                        <p:strVal val="visible"/>
                                      </p:to>
                                    </p:set>
                                  </p:childTnLst>
                                </p:cTn>
                              </p:par>
                              <p:par>
                                <p:cTn id="131" presetID="1" presetClass="exit" presetSubtype="0" fill="hold" grpId="2" nodeType="withEffect">
                                  <p:stCondLst>
                                    <p:cond delay="0"/>
                                  </p:stCondLst>
                                  <p:childTnLst>
                                    <p:set>
                                      <p:cBhvr>
                                        <p:cTn id="132" dur="1" fill="hold">
                                          <p:stCondLst>
                                            <p:cond delay="0"/>
                                          </p:stCondLst>
                                        </p:cTn>
                                        <p:tgtEl>
                                          <p:spTgt spid="66"/>
                                        </p:tgtEl>
                                        <p:attrNameLst>
                                          <p:attrName>style.visibility</p:attrName>
                                        </p:attrNameLst>
                                      </p:cBhvr>
                                      <p:to>
                                        <p:strVal val="hidden"/>
                                      </p:to>
                                    </p:set>
                                  </p:childTnLst>
                                </p:cTn>
                              </p:par>
                              <p:par>
                                <p:cTn id="133" presetID="1" presetClass="exit" presetSubtype="0" fill="hold" grpId="2" nodeType="withEffect">
                                  <p:stCondLst>
                                    <p:cond delay="0"/>
                                  </p:stCondLst>
                                  <p:childTnLst>
                                    <p:set>
                                      <p:cBhvr>
                                        <p:cTn id="134" dur="1" fill="hold">
                                          <p:stCondLst>
                                            <p:cond delay="0"/>
                                          </p:stCondLst>
                                        </p:cTn>
                                        <p:tgtEl>
                                          <p:spTgt spid="67"/>
                                        </p:tgtEl>
                                        <p:attrNameLst>
                                          <p:attrName>style.visibility</p:attrName>
                                        </p:attrNameLst>
                                      </p:cBhvr>
                                      <p:to>
                                        <p:strVal val="hidden"/>
                                      </p:to>
                                    </p:set>
                                  </p:childTnLst>
                                </p:cTn>
                              </p:par>
                              <p:par>
                                <p:cTn id="135" presetID="1" presetClass="entr" presetSubtype="0" fill="hold" grpId="0" nodeType="withEffect">
                                  <p:stCondLst>
                                    <p:cond delay="0"/>
                                  </p:stCondLst>
                                  <p:childTnLst>
                                    <p:set>
                                      <p:cBhvr>
                                        <p:cTn id="136" dur="1" fill="hold">
                                          <p:stCondLst>
                                            <p:cond delay="0"/>
                                          </p:stCondLst>
                                        </p:cTn>
                                        <p:tgtEl>
                                          <p:spTgt spid="68"/>
                                        </p:tgtEl>
                                        <p:attrNameLst>
                                          <p:attrName>style.visibility</p:attrName>
                                        </p:attrNameLst>
                                      </p:cBhvr>
                                      <p:to>
                                        <p:strVal val="visible"/>
                                      </p:to>
                                    </p:set>
                                  </p:childTnLst>
                                </p:cTn>
                              </p:par>
                              <p:par>
                                <p:cTn id="137" presetID="26" presetClass="emph" presetSubtype="0" repeatCount="indefinite" fill="hold" grpId="1" nodeType="withEffect">
                                  <p:stCondLst>
                                    <p:cond delay="0"/>
                                  </p:stCondLst>
                                  <p:endCondLst>
                                    <p:cond evt="onNext" delay="0">
                                      <p:tgtEl>
                                        <p:sldTgt/>
                                      </p:tgtEl>
                                    </p:cond>
                                  </p:endCondLst>
                                  <p:childTnLst>
                                    <p:animEffect transition="out" filter="fade">
                                      <p:cBhvr>
                                        <p:cTn id="138" dur="500" tmFilter="0, 0; .2, .5; .8, .5; 1, 0"/>
                                        <p:tgtEl>
                                          <p:spTgt spid="68"/>
                                        </p:tgtEl>
                                      </p:cBhvr>
                                    </p:animEffect>
                                    <p:animScale>
                                      <p:cBhvr>
                                        <p:cTn id="139" dur="250" autoRev="1" fill="hold"/>
                                        <p:tgtEl>
                                          <p:spTgt spid="68"/>
                                        </p:tgtEl>
                                      </p:cBhvr>
                                      <p:by x="105000" y="105000"/>
                                    </p:animScale>
                                  </p:childTnLst>
                                </p:cTn>
                              </p:par>
                              <p:par>
                                <p:cTn id="140" presetID="1" presetClass="entr" presetSubtype="0" fill="hold" grpId="0" nodeType="withEffect">
                                  <p:stCondLst>
                                    <p:cond delay="0"/>
                                  </p:stCondLst>
                                  <p:childTnLst>
                                    <p:set>
                                      <p:cBhvr>
                                        <p:cTn id="141" dur="1" fill="hold">
                                          <p:stCondLst>
                                            <p:cond delay="0"/>
                                          </p:stCondLst>
                                        </p:cTn>
                                        <p:tgtEl>
                                          <p:spTgt spid="69"/>
                                        </p:tgtEl>
                                        <p:attrNameLst>
                                          <p:attrName>style.visibility</p:attrName>
                                        </p:attrNameLst>
                                      </p:cBhvr>
                                      <p:to>
                                        <p:strVal val="visible"/>
                                      </p:to>
                                    </p:set>
                                  </p:childTnLst>
                                </p:cTn>
                              </p:par>
                              <p:par>
                                <p:cTn id="142" presetID="26" presetClass="emph" presetSubtype="0" repeatCount="indefinite" fill="hold" grpId="1" nodeType="withEffect">
                                  <p:stCondLst>
                                    <p:cond delay="0"/>
                                  </p:stCondLst>
                                  <p:endCondLst>
                                    <p:cond evt="onNext" delay="0">
                                      <p:tgtEl>
                                        <p:sldTgt/>
                                      </p:tgtEl>
                                    </p:cond>
                                  </p:endCondLst>
                                  <p:childTnLst>
                                    <p:animEffect transition="out" filter="fade">
                                      <p:cBhvr>
                                        <p:cTn id="143" dur="500" tmFilter="0, 0; .2, .5; .8, .5; 1, 0"/>
                                        <p:tgtEl>
                                          <p:spTgt spid="69"/>
                                        </p:tgtEl>
                                      </p:cBhvr>
                                    </p:animEffect>
                                    <p:animScale>
                                      <p:cBhvr>
                                        <p:cTn id="144" dur="250" autoRev="1" fill="hold"/>
                                        <p:tgtEl>
                                          <p:spTgt spid="69"/>
                                        </p:tgtEl>
                                      </p:cBhvr>
                                      <p:by x="105000" y="105000"/>
                                    </p:animScale>
                                  </p:childTnLst>
                                </p:cTn>
                              </p:par>
                            </p:childTnLst>
                          </p:cTn>
                        </p:par>
                      </p:childTnLst>
                    </p:cTn>
                  </p:par>
                  <p:par>
                    <p:cTn id="145" fill="hold">
                      <p:stCondLst>
                        <p:cond delay="indefinite"/>
                      </p:stCondLst>
                      <p:childTnLst>
                        <p:par>
                          <p:cTn id="146" fill="hold">
                            <p:stCondLst>
                              <p:cond delay="0"/>
                            </p:stCondLst>
                            <p:childTnLst>
                              <p:par>
                                <p:cTn id="147" presetID="1" presetClass="exit" presetSubtype="0" fill="hold" grpId="2" nodeType="clickEffect">
                                  <p:stCondLst>
                                    <p:cond delay="0"/>
                                  </p:stCondLst>
                                  <p:childTnLst>
                                    <p:set>
                                      <p:cBhvr>
                                        <p:cTn id="148" dur="1" fill="hold">
                                          <p:stCondLst>
                                            <p:cond delay="0"/>
                                          </p:stCondLst>
                                        </p:cTn>
                                        <p:tgtEl>
                                          <p:spTgt spid="68"/>
                                        </p:tgtEl>
                                        <p:attrNameLst>
                                          <p:attrName>style.visibility</p:attrName>
                                        </p:attrNameLst>
                                      </p:cBhvr>
                                      <p:to>
                                        <p:strVal val="hidden"/>
                                      </p:to>
                                    </p:set>
                                  </p:childTnLst>
                                </p:cTn>
                              </p:par>
                              <p:par>
                                <p:cTn id="149" presetID="1" presetClass="exit" presetSubtype="0" fill="hold" grpId="2" nodeType="withEffect">
                                  <p:stCondLst>
                                    <p:cond delay="0"/>
                                  </p:stCondLst>
                                  <p:childTnLst>
                                    <p:set>
                                      <p:cBhvr>
                                        <p:cTn id="150" dur="1" fill="hold">
                                          <p:stCondLst>
                                            <p:cond delay="0"/>
                                          </p:stCondLst>
                                        </p:cTn>
                                        <p:tgtEl>
                                          <p:spTgt spid="69"/>
                                        </p:tgtEl>
                                        <p:attrNameLst>
                                          <p:attrName>style.visibility</p:attrName>
                                        </p:attrNameLst>
                                      </p:cBhvr>
                                      <p:to>
                                        <p:strVal val="hidden"/>
                                      </p:to>
                                    </p:set>
                                  </p:childTnLst>
                                </p:cTn>
                              </p:par>
                              <p:par>
                                <p:cTn id="151" presetID="1" presetClass="entr" presetSubtype="0" fill="hold" grpId="0" nodeType="withEffect">
                                  <p:stCondLst>
                                    <p:cond delay="0"/>
                                  </p:stCondLst>
                                  <p:childTnLst>
                                    <p:set>
                                      <p:cBhvr>
                                        <p:cTn id="152" dur="1" fill="hold">
                                          <p:stCondLst>
                                            <p:cond delay="0"/>
                                          </p:stCondLst>
                                        </p:cTn>
                                        <p:tgtEl>
                                          <p:spTgt spid="78"/>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79"/>
                                        </p:tgtEl>
                                        <p:attrNameLst>
                                          <p:attrName>style.visibility</p:attrName>
                                        </p:attrNameLst>
                                      </p:cBhvr>
                                      <p:to>
                                        <p:strVal val="visible"/>
                                      </p:to>
                                    </p:set>
                                  </p:childTnLst>
                                </p:cTn>
                              </p:par>
                              <p:par>
                                <p:cTn id="155" presetID="26" presetClass="emph" presetSubtype="0" repeatCount="indefinite" fill="hold" grpId="1" nodeType="withEffect">
                                  <p:stCondLst>
                                    <p:cond delay="0"/>
                                  </p:stCondLst>
                                  <p:endCondLst>
                                    <p:cond evt="onNext" delay="0">
                                      <p:tgtEl>
                                        <p:sldTgt/>
                                      </p:tgtEl>
                                    </p:cond>
                                  </p:endCondLst>
                                  <p:childTnLst>
                                    <p:animEffect transition="out" filter="fade">
                                      <p:cBhvr>
                                        <p:cTn id="156" dur="500" tmFilter="0, 0; .2, .5; .8, .5; 1, 0"/>
                                        <p:tgtEl>
                                          <p:spTgt spid="79"/>
                                        </p:tgtEl>
                                      </p:cBhvr>
                                    </p:animEffect>
                                    <p:animScale>
                                      <p:cBhvr>
                                        <p:cTn id="157" dur="250" autoRev="1" fill="hold"/>
                                        <p:tgtEl>
                                          <p:spTgt spid="7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2" grpId="1" animBg="1"/>
      <p:bldP spid="62" grpId="2" animBg="1"/>
      <p:bldP spid="63" grpId="0" animBg="1"/>
      <p:bldP spid="63" grpId="1" animBg="1"/>
      <p:bldP spid="63" grpId="2" animBg="1"/>
      <p:bldP spid="64" grpId="0" animBg="1"/>
      <p:bldP spid="64" grpId="1" animBg="1"/>
      <p:bldP spid="64" grpId="2" animBg="1"/>
      <p:bldP spid="65" grpId="0" animBg="1"/>
      <p:bldP spid="65" grpId="1" animBg="1"/>
      <p:bldP spid="65" grpId="2" animBg="1"/>
      <p:bldP spid="66" grpId="0" animBg="1"/>
      <p:bldP spid="66" grpId="1" animBg="1"/>
      <p:bldP spid="66" grpId="2" animBg="1"/>
      <p:bldP spid="67" grpId="0" animBg="1"/>
      <p:bldP spid="67" grpId="1" animBg="1"/>
      <p:bldP spid="67" grpId="2" animBg="1"/>
      <p:bldP spid="68" grpId="0" animBg="1"/>
      <p:bldP spid="68" grpId="1" animBg="1"/>
      <p:bldP spid="68" grpId="2" animBg="1"/>
      <p:bldP spid="69" grpId="0" animBg="1"/>
      <p:bldP spid="69" grpId="1" animBg="1"/>
      <p:bldP spid="69" grpId="2" animBg="1"/>
      <p:bldP spid="78" grpId="0"/>
      <p:bldP spid="79" grpId="0" animBg="1"/>
      <p:bldP spid="79" grpId="1" animBg="1"/>
      <p:bldP spid="93" grpId="0"/>
      <p:bldP spid="94" grpId="0" animBg="1"/>
      <p:bldP spid="95" grpId="0"/>
      <p:bldP spid="96" grpId="0" animBg="1"/>
      <p:bldP spid="97" grpId="0"/>
      <p:bldP spid="98" grpId="0" animBg="1"/>
      <p:bldP spid="99" grpId="0"/>
      <p:bldP spid="100" grpId="0" animBg="1"/>
      <p:bldP spid="101" grpId="0"/>
      <p:bldP spid="34" grpId="0" animBg="1"/>
      <p:bldP spid="34" grpId="1" animBg="1"/>
      <p:bldP spid="34" grpId="2" animBg="1"/>
      <p:bldP spid="35" grpId="0" animBg="1"/>
      <p:bldP spid="35" grpId="1" animBg="1"/>
      <p:bldP spid="35" grpId="2" animBg="1"/>
      <p:bldP spid="36" grpId="0" animBg="1"/>
      <p:bldP spid="36" grpId="1" animBg="1"/>
      <p:bldP spid="36" grpId="2" animBg="1"/>
      <p:bldP spid="37" grpId="0" animBg="1"/>
      <p:bldP spid="37" grpId="1" animBg="1"/>
      <p:bldP spid="37" grpId="2"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Non-Preemptive Priority Scheduling</a:t>
            </a:r>
            <a:endParaRPr lang="en-IN" dirty="0"/>
          </a:p>
        </p:txBody>
      </p:sp>
      <mc:AlternateContent xmlns:mc="http://schemas.openxmlformats.org/markup-compatibility/2006" xmlns:a14="http://schemas.microsoft.com/office/drawing/2010/main">
        <mc:Choice Requires="a14">
          <p:graphicFrame>
            <p:nvGraphicFramePr>
              <p:cNvPr id="1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0</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16"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1908370055"/>
                  </p:ext>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 xmlns:a16="http://schemas.microsoft.com/office/drawing/2014/main" xmlns:a14="http://schemas.microsoft.com/office/drawing/2010/main" val="20000"/>
                        </a:ext>
                      </a:extLst>
                    </a:gridCol>
                    <a:gridCol w="1547749">
                      <a:extLst>
                        <a:ext uri="{9D8B030D-6E8A-4147-A177-3AD203B41FA5}">
                          <a16:colId xmlns="" xmlns:a16="http://schemas.microsoft.com/office/drawing/2014/main" xmlns:a14="http://schemas.microsoft.com/office/drawing/2010/main" val="20001"/>
                        </a:ext>
                      </a:extLst>
                    </a:gridCol>
                    <a:gridCol w="3564248">
                      <a:extLst>
                        <a:ext uri="{9D8B030D-6E8A-4147-A177-3AD203B41FA5}">
                          <a16:colId xmlns="" xmlns:a16="http://schemas.microsoft.com/office/drawing/2014/main"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smtClean="0">
                              <a:solidFill>
                                <a:schemeClr val="tx1"/>
                              </a:solidFill>
                            </a:rPr>
                            <a:t>10</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0</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6</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8</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smtClean="0">
                              <a:solidFill>
                                <a:schemeClr val="tx1"/>
                              </a:solidFill>
                            </a:rPr>
                            <a:t>11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7"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 xmlns:a16="http://schemas.microsoft.com/office/drawing/2014/main"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3774" r="-439" b="-15094"/>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1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9"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 xmlns:a16="http://schemas.microsoft.com/office/drawing/2014/main"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289" t="-3774" r="-289" b="-16038"/>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6530" y="824702"/>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Waiting Time</a:t>
                      </a:r>
                      <a:endParaRPr lang="en-IN" sz="1800" b="1" kern="1200" dirty="0">
                        <a:solidFill>
                          <a:schemeClr val="tx1"/>
                        </a:solidFill>
                        <a:effectLst/>
                        <a:latin typeface="+mn-lt"/>
                        <a:ea typeface="+mn-ea"/>
                        <a:cs typeface="+mn-cs"/>
                      </a:endParaRPr>
                    </a:p>
                    <a:p>
                      <a:pPr algn="ctr"/>
                      <a:r>
                        <a:rPr lang="en-US" sz="1800" b="1" kern="1200" dirty="0">
                          <a:solidFill>
                            <a:schemeClr val="tx1"/>
                          </a:solidFill>
                          <a:effectLst/>
                          <a:latin typeface="+mn-lt"/>
                          <a:ea typeface="+mn-ea"/>
                          <a:cs typeface="+mn-cs"/>
                        </a:rPr>
                        <a:t>(TAT-ΔT)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2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2"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2641" y="146766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21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0058" y="2023019"/>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259387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315181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1"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70" name="TextBox 69"/>
          <p:cNvSpPr txBox="1"/>
          <p:nvPr/>
        </p:nvSpPr>
        <p:spPr>
          <a:xfrm>
            <a:off x="7735846" y="1496902"/>
            <a:ext cx="2064742" cy="542441"/>
          </a:xfrm>
          <a:prstGeom prst="rect">
            <a:avLst/>
          </a:prstGeom>
          <a:noFill/>
          <a:ln w="57150">
            <a:solidFill>
              <a:srgbClr val="FF0000"/>
            </a:solidFill>
          </a:ln>
        </p:spPr>
        <p:txBody>
          <a:bodyPr wrap="square" rtlCol="0">
            <a:spAutoFit/>
          </a:bodyPr>
          <a:lstStyle/>
          <a:p>
            <a:endParaRPr lang="en-IN" dirty="0"/>
          </a:p>
        </p:txBody>
      </p:sp>
      <p:sp>
        <p:nvSpPr>
          <p:cNvPr id="71" name="TextBox 70"/>
          <p:cNvSpPr txBox="1"/>
          <p:nvPr/>
        </p:nvSpPr>
        <p:spPr>
          <a:xfrm>
            <a:off x="2768083" y="1482949"/>
            <a:ext cx="3590108" cy="542441"/>
          </a:xfrm>
          <a:prstGeom prst="rect">
            <a:avLst/>
          </a:prstGeom>
          <a:noFill/>
          <a:ln w="57150">
            <a:solidFill>
              <a:srgbClr val="FF0000"/>
            </a:solidFill>
          </a:ln>
        </p:spPr>
        <p:txBody>
          <a:bodyPr wrap="square" rtlCol="0">
            <a:spAutoFit/>
          </a:bodyPr>
          <a:lstStyle/>
          <a:p>
            <a:endParaRPr lang="en-IN" dirty="0"/>
          </a:p>
        </p:txBody>
      </p:sp>
      <p:sp>
        <p:nvSpPr>
          <p:cNvPr id="72" name="TextBox 71"/>
          <p:cNvSpPr txBox="1"/>
          <p:nvPr/>
        </p:nvSpPr>
        <p:spPr>
          <a:xfrm>
            <a:off x="7731393" y="2027583"/>
            <a:ext cx="2064742" cy="542441"/>
          </a:xfrm>
          <a:prstGeom prst="rect">
            <a:avLst/>
          </a:prstGeom>
          <a:noFill/>
          <a:ln w="57150">
            <a:solidFill>
              <a:srgbClr val="FF0000"/>
            </a:solidFill>
          </a:ln>
        </p:spPr>
        <p:txBody>
          <a:bodyPr wrap="square" rtlCol="0">
            <a:spAutoFit/>
          </a:bodyPr>
          <a:lstStyle/>
          <a:p>
            <a:endParaRPr lang="en-IN" dirty="0"/>
          </a:p>
        </p:txBody>
      </p:sp>
      <p:sp>
        <p:nvSpPr>
          <p:cNvPr id="73" name="TextBox 72"/>
          <p:cNvSpPr txBox="1"/>
          <p:nvPr/>
        </p:nvSpPr>
        <p:spPr>
          <a:xfrm>
            <a:off x="2768083" y="2000583"/>
            <a:ext cx="3590108" cy="542441"/>
          </a:xfrm>
          <a:prstGeom prst="rect">
            <a:avLst/>
          </a:prstGeom>
          <a:noFill/>
          <a:ln w="57150">
            <a:solidFill>
              <a:srgbClr val="FF0000"/>
            </a:solidFill>
          </a:ln>
        </p:spPr>
        <p:txBody>
          <a:bodyPr wrap="square" rtlCol="0">
            <a:spAutoFit/>
          </a:bodyPr>
          <a:lstStyle/>
          <a:p>
            <a:endParaRPr lang="en-IN" dirty="0"/>
          </a:p>
        </p:txBody>
      </p:sp>
      <p:sp>
        <p:nvSpPr>
          <p:cNvPr id="74" name="TextBox 73"/>
          <p:cNvSpPr txBox="1"/>
          <p:nvPr/>
        </p:nvSpPr>
        <p:spPr>
          <a:xfrm>
            <a:off x="7731393" y="2596706"/>
            <a:ext cx="2064742" cy="542441"/>
          </a:xfrm>
          <a:prstGeom prst="rect">
            <a:avLst/>
          </a:prstGeom>
          <a:noFill/>
          <a:ln w="57150">
            <a:solidFill>
              <a:srgbClr val="FF0000"/>
            </a:solidFill>
          </a:ln>
        </p:spPr>
        <p:txBody>
          <a:bodyPr wrap="square" rtlCol="0">
            <a:spAutoFit/>
          </a:bodyPr>
          <a:lstStyle/>
          <a:p>
            <a:endParaRPr lang="en-IN" dirty="0"/>
          </a:p>
        </p:txBody>
      </p:sp>
      <p:sp>
        <p:nvSpPr>
          <p:cNvPr id="75" name="TextBox 74"/>
          <p:cNvSpPr txBox="1"/>
          <p:nvPr/>
        </p:nvSpPr>
        <p:spPr>
          <a:xfrm>
            <a:off x="2755735" y="2568592"/>
            <a:ext cx="3590108" cy="542441"/>
          </a:xfrm>
          <a:prstGeom prst="rect">
            <a:avLst/>
          </a:prstGeom>
          <a:noFill/>
          <a:ln w="57150">
            <a:solidFill>
              <a:srgbClr val="FF0000"/>
            </a:solidFill>
          </a:ln>
        </p:spPr>
        <p:txBody>
          <a:bodyPr wrap="square" rtlCol="0">
            <a:spAutoFit/>
          </a:bodyPr>
          <a:lstStyle/>
          <a:p>
            <a:endParaRPr lang="en-IN" dirty="0"/>
          </a:p>
        </p:txBody>
      </p:sp>
      <p:sp>
        <p:nvSpPr>
          <p:cNvPr id="76" name="TextBox 75"/>
          <p:cNvSpPr txBox="1"/>
          <p:nvPr/>
        </p:nvSpPr>
        <p:spPr>
          <a:xfrm>
            <a:off x="7735846" y="3167344"/>
            <a:ext cx="2064742" cy="542441"/>
          </a:xfrm>
          <a:prstGeom prst="rect">
            <a:avLst/>
          </a:prstGeom>
          <a:noFill/>
          <a:ln w="57150">
            <a:solidFill>
              <a:srgbClr val="FF0000"/>
            </a:solidFill>
          </a:ln>
        </p:spPr>
        <p:txBody>
          <a:bodyPr wrap="square" rtlCol="0">
            <a:spAutoFit/>
          </a:bodyPr>
          <a:lstStyle/>
          <a:p>
            <a:endParaRPr lang="en-IN" dirty="0"/>
          </a:p>
        </p:txBody>
      </p:sp>
      <p:sp>
        <p:nvSpPr>
          <p:cNvPr id="77" name="TextBox 76"/>
          <p:cNvSpPr txBox="1"/>
          <p:nvPr/>
        </p:nvSpPr>
        <p:spPr>
          <a:xfrm>
            <a:off x="2716093" y="3152905"/>
            <a:ext cx="3590108" cy="542441"/>
          </a:xfrm>
          <a:prstGeom prst="rect">
            <a:avLst/>
          </a:prstGeom>
          <a:noFill/>
          <a:ln w="57150">
            <a:solidFill>
              <a:srgbClr val="FF0000"/>
            </a:solidFill>
          </a:ln>
        </p:spPr>
        <p:txBody>
          <a:bodyPr wrap="square" rtlCol="0">
            <a:spAutoFit/>
          </a:bodyPr>
          <a:lstStyle/>
          <a:p>
            <a:endParaRPr lang="en-IN" dirty="0"/>
          </a:p>
        </p:txBody>
      </p:sp>
      <p:sp>
        <p:nvSpPr>
          <p:cNvPr id="80" name="TextBox 79"/>
          <p:cNvSpPr txBox="1"/>
          <p:nvPr/>
        </p:nvSpPr>
        <p:spPr>
          <a:xfrm>
            <a:off x="9848933" y="1496902"/>
            <a:ext cx="2049246" cy="2222902"/>
          </a:xfrm>
          <a:prstGeom prst="rect">
            <a:avLst/>
          </a:prstGeom>
          <a:noFill/>
          <a:ln w="57150">
            <a:solidFill>
              <a:srgbClr val="FF0000"/>
            </a:solidFill>
          </a:ln>
        </p:spPr>
        <p:txBody>
          <a:bodyPr wrap="square" rtlCol="0">
            <a:spAutoFit/>
          </a:bodyPr>
          <a:lstStyle/>
          <a:p>
            <a:endParaRPr lang="en-IN" dirty="0"/>
          </a:p>
        </p:txBody>
      </p:sp>
      <p:sp>
        <p:nvSpPr>
          <p:cNvPr id="82" name="TextBox 81"/>
          <p:cNvSpPr txBox="1"/>
          <p:nvPr/>
        </p:nvSpPr>
        <p:spPr>
          <a:xfrm>
            <a:off x="228600" y="5567259"/>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Waiting Time </a:t>
            </a:r>
            <a:r>
              <a:rPr lang="en-US" sz="2000" dirty="0"/>
              <a:t>= Sum of all Process’s Waiting Time/ Total Process</a:t>
            </a:r>
          </a:p>
          <a:p>
            <a:r>
              <a:rPr lang="en-US" sz="2000" dirty="0"/>
              <a:t>                                              = (0+18+4+10)/4 </a:t>
            </a:r>
          </a:p>
          <a:p>
            <a:r>
              <a:rPr lang="en-US" sz="2000" dirty="0"/>
              <a:t>                                              = 8 Ms.</a:t>
            </a:r>
          </a:p>
        </p:txBody>
      </p:sp>
      <p:cxnSp>
        <p:nvCxnSpPr>
          <p:cNvPr id="92" name="Straight Connector 91"/>
          <p:cNvCxnSpPr/>
          <p:nvPr/>
        </p:nvCxnSpPr>
        <p:spPr>
          <a:xfrm flipH="1">
            <a:off x="324174" y="4299133"/>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93" name="TextBox 92"/>
          <p:cNvSpPr txBox="1"/>
          <p:nvPr/>
        </p:nvSpPr>
        <p:spPr>
          <a:xfrm>
            <a:off x="228600" y="5007216"/>
            <a:ext cx="318448" cy="381000"/>
          </a:xfrm>
          <a:prstGeom prst="rect">
            <a:avLst/>
          </a:prstGeom>
          <a:noFill/>
        </p:spPr>
        <p:txBody>
          <a:bodyPr wrap="square" rtlCol="0">
            <a:spAutoFit/>
          </a:bodyPr>
          <a:lstStyle/>
          <a:p>
            <a:r>
              <a:rPr lang="en-US" dirty="0"/>
              <a:t>0</a:t>
            </a:r>
          </a:p>
        </p:txBody>
      </p:sp>
      <mc:AlternateContent xmlns:mc="http://schemas.openxmlformats.org/markup-compatibility/2006" xmlns:a14="http://schemas.microsoft.com/office/drawing/2010/main">
        <mc:Choice Requires="a14">
          <p:sp>
            <p:nvSpPr>
              <p:cNvPr id="94" name="Rectangle 93"/>
              <p:cNvSpPr/>
              <p:nvPr/>
            </p:nvSpPr>
            <p:spPr>
              <a:xfrm>
                <a:off x="324173" y="4310631"/>
                <a:ext cx="1681740"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i="1">
                              <a:solidFill>
                                <a:schemeClr val="tx1"/>
                              </a:solidFill>
                              <a:latin typeface="Cambria Math" panose="02040503050406030204" pitchFamily="18" charset="0"/>
                            </a:rPr>
                            <m:t>0</m:t>
                          </m:r>
                        </m:sub>
                      </m:sSub>
                    </m:oMath>
                  </m:oMathPara>
                </a14:m>
                <a:endParaRPr lang="en-US" dirty="0"/>
              </a:p>
            </p:txBody>
          </p:sp>
        </mc:Choice>
        <mc:Fallback xmlns="">
          <p:sp>
            <p:nvSpPr>
              <p:cNvPr id="94" name="Rectangle 93"/>
              <p:cNvSpPr>
                <a:spLocks noRot="1" noChangeAspect="1" noMove="1" noResize="1" noEditPoints="1" noAdjustHandles="1" noChangeArrowheads="1" noChangeShapeType="1" noTextEdit="1"/>
              </p:cNvSpPr>
              <p:nvPr/>
            </p:nvSpPr>
            <p:spPr>
              <a:xfrm>
                <a:off x="324173" y="4310631"/>
                <a:ext cx="1681740" cy="655359"/>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p:sp>
        <p:nvSpPr>
          <p:cNvPr id="95" name="TextBox 94"/>
          <p:cNvSpPr txBox="1"/>
          <p:nvPr/>
        </p:nvSpPr>
        <p:spPr>
          <a:xfrm>
            <a:off x="1712409" y="5016579"/>
            <a:ext cx="465346" cy="369332"/>
          </a:xfrm>
          <a:prstGeom prst="rect">
            <a:avLst/>
          </a:prstGeom>
          <a:noFill/>
        </p:spPr>
        <p:txBody>
          <a:bodyPr wrap="square" rtlCol="0">
            <a:spAutoFit/>
          </a:bodyPr>
          <a:lstStyle/>
          <a:p>
            <a:r>
              <a:rPr lang="en-US" dirty="0"/>
              <a:t>10</a:t>
            </a:r>
          </a:p>
        </p:txBody>
      </p:sp>
      <mc:AlternateContent xmlns:mc="http://schemas.openxmlformats.org/markup-compatibility/2006" xmlns:a14="http://schemas.microsoft.com/office/drawing/2010/main">
        <mc:Choice Requires="a14">
          <p:sp>
            <p:nvSpPr>
              <p:cNvPr id="96" name="Rectangle 95"/>
              <p:cNvSpPr/>
              <p:nvPr/>
            </p:nvSpPr>
            <p:spPr>
              <a:xfrm>
                <a:off x="2005912" y="4308503"/>
                <a:ext cx="1260325"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2</m:t>
                          </m:r>
                        </m:sub>
                      </m:sSub>
                    </m:oMath>
                  </m:oMathPara>
                </a14:m>
                <a:endParaRPr lang="en-US" dirty="0"/>
              </a:p>
            </p:txBody>
          </p:sp>
        </mc:Choice>
        <mc:Fallback xmlns="">
          <p:sp>
            <p:nvSpPr>
              <p:cNvPr id="96" name="Rectangle 95"/>
              <p:cNvSpPr>
                <a:spLocks noRot="1" noChangeAspect="1" noMove="1" noResize="1" noEditPoints="1" noAdjustHandles="1" noChangeArrowheads="1" noChangeShapeType="1" noTextEdit="1"/>
              </p:cNvSpPr>
              <p:nvPr/>
            </p:nvSpPr>
            <p:spPr>
              <a:xfrm>
                <a:off x="2005912" y="4308503"/>
                <a:ext cx="1260325" cy="65535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p:sp>
        <p:nvSpPr>
          <p:cNvPr id="97" name="TextBox 96"/>
          <p:cNvSpPr txBox="1"/>
          <p:nvPr/>
        </p:nvSpPr>
        <p:spPr>
          <a:xfrm>
            <a:off x="3023000" y="5016579"/>
            <a:ext cx="503953" cy="369332"/>
          </a:xfrm>
          <a:prstGeom prst="rect">
            <a:avLst/>
          </a:prstGeom>
          <a:noFill/>
        </p:spPr>
        <p:txBody>
          <a:bodyPr wrap="square" rtlCol="0">
            <a:spAutoFit/>
          </a:bodyPr>
          <a:lstStyle/>
          <a:p>
            <a:r>
              <a:rPr lang="en-US" dirty="0"/>
              <a:t>18</a:t>
            </a:r>
          </a:p>
        </p:txBody>
      </p:sp>
      <mc:AlternateContent xmlns:mc="http://schemas.openxmlformats.org/markup-compatibility/2006" xmlns:a14="http://schemas.microsoft.com/office/drawing/2010/main">
        <mc:Choice Requires="a14">
          <p:sp>
            <p:nvSpPr>
              <p:cNvPr id="98" name="Rectangle 97"/>
              <p:cNvSpPr/>
              <p:nvPr/>
            </p:nvSpPr>
            <p:spPr>
              <a:xfrm>
                <a:off x="3266236" y="4308115"/>
                <a:ext cx="754435"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98" name="Rectangle 97"/>
              <p:cNvSpPr>
                <a:spLocks noRot="1" noChangeAspect="1" noMove="1" noResize="1" noEditPoints="1" noAdjustHandles="1" noChangeArrowheads="1" noChangeShapeType="1" noTextEdit="1"/>
              </p:cNvSpPr>
              <p:nvPr/>
            </p:nvSpPr>
            <p:spPr>
              <a:xfrm>
                <a:off x="3266236" y="4308115"/>
                <a:ext cx="754435" cy="655359"/>
              </a:xfrm>
              <a:prstGeom prst="rect">
                <a:avLst/>
              </a:prstGeom>
              <a:blipFill rotWithShape="0">
                <a:blip r:embed="rId7"/>
                <a:stretch>
                  <a:fillRect/>
                </a:stretch>
              </a:blipFill>
              <a:ln w="38100">
                <a:solidFill>
                  <a:schemeClr val="tx1"/>
                </a:solidFill>
              </a:ln>
            </p:spPr>
            <p:txBody>
              <a:bodyPr/>
              <a:lstStyle/>
              <a:p>
                <a:r>
                  <a:rPr lang="en-US">
                    <a:noFill/>
                  </a:rPr>
                  <a:t> </a:t>
                </a:r>
              </a:p>
            </p:txBody>
          </p:sp>
        </mc:Fallback>
      </mc:AlternateContent>
      <p:sp>
        <p:nvSpPr>
          <p:cNvPr id="99" name="TextBox 98"/>
          <p:cNvSpPr txBox="1"/>
          <p:nvPr/>
        </p:nvSpPr>
        <p:spPr>
          <a:xfrm>
            <a:off x="3800018" y="5016579"/>
            <a:ext cx="503953" cy="369332"/>
          </a:xfrm>
          <a:prstGeom prst="rect">
            <a:avLst/>
          </a:prstGeom>
          <a:noFill/>
        </p:spPr>
        <p:txBody>
          <a:bodyPr wrap="square" rtlCol="0">
            <a:spAutoFit/>
          </a:bodyPr>
          <a:lstStyle/>
          <a:p>
            <a:r>
              <a:rPr lang="en-US" dirty="0"/>
              <a:t>21</a:t>
            </a:r>
          </a:p>
        </p:txBody>
      </p:sp>
      <mc:AlternateContent xmlns:mc="http://schemas.openxmlformats.org/markup-compatibility/2006" xmlns:a14="http://schemas.microsoft.com/office/drawing/2010/main">
        <mc:Choice Requires="a14">
          <p:sp>
            <p:nvSpPr>
              <p:cNvPr id="100" name="Rectangle 99"/>
              <p:cNvSpPr/>
              <p:nvPr/>
            </p:nvSpPr>
            <p:spPr>
              <a:xfrm>
                <a:off x="4020671" y="4308113"/>
                <a:ext cx="1027322" cy="65535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IN" b="0" i="1" smtClean="0">
                              <a:solidFill>
                                <a:schemeClr val="tx1"/>
                              </a:solidFill>
                              <a:latin typeface="Cambria Math" panose="02040503050406030204" pitchFamily="18" charset="0"/>
                            </a:rPr>
                            <m:t>3</m:t>
                          </m:r>
                        </m:sub>
                      </m:sSub>
                    </m:oMath>
                  </m:oMathPara>
                </a14:m>
                <a:endParaRPr lang="en-US" dirty="0"/>
              </a:p>
            </p:txBody>
          </p:sp>
        </mc:Choice>
        <mc:Fallback xmlns="">
          <p:sp>
            <p:nvSpPr>
              <p:cNvPr id="100" name="Rectangle 99"/>
              <p:cNvSpPr>
                <a:spLocks noRot="1" noChangeAspect="1" noMove="1" noResize="1" noEditPoints="1" noAdjustHandles="1" noChangeArrowheads="1" noChangeShapeType="1" noTextEdit="1"/>
              </p:cNvSpPr>
              <p:nvPr/>
            </p:nvSpPr>
            <p:spPr>
              <a:xfrm>
                <a:off x="4020671" y="4308113"/>
                <a:ext cx="1027322" cy="655359"/>
              </a:xfrm>
              <a:prstGeom prst="rect">
                <a:avLst/>
              </a:prstGeom>
              <a:blipFill rotWithShape="0">
                <a:blip r:embed="rId8"/>
                <a:stretch>
                  <a:fillRect/>
                </a:stretch>
              </a:blipFill>
              <a:ln w="38100">
                <a:solidFill>
                  <a:schemeClr val="tx1"/>
                </a:solidFill>
              </a:ln>
            </p:spPr>
            <p:txBody>
              <a:bodyPr/>
              <a:lstStyle/>
              <a:p>
                <a:r>
                  <a:rPr lang="en-US">
                    <a:noFill/>
                  </a:rPr>
                  <a:t> </a:t>
                </a:r>
              </a:p>
            </p:txBody>
          </p:sp>
        </mc:Fallback>
      </mc:AlternateContent>
      <p:sp>
        <p:nvSpPr>
          <p:cNvPr id="101" name="TextBox 100"/>
          <p:cNvSpPr txBox="1"/>
          <p:nvPr/>
        </p:nvSpPr>
        <p:spPr>
          <a:xfrm>
            <a:off x="4796016" y="5013050"/>
            <a:ext cx="503953" cy="369332"/>
          </a:xfrm>
          <a:prstGeom prst="rect">
            <a:avLst/>
          </a:prstGeom>
          <a:noFill/>
        </p:spPr>
        <p:txBody>
          <a:bodyPr wrap="square" rtlCol="0">
            <a:spAutoFit/>
          </a:bodyPr>
          <a:lstStyle/>
          <a:p>
            <a:r>
              <a:rPr lang="en-US" dirty="0"/>
              <a:t>26</a:t>
            </a:r>
          </a:p>
        </p:txBody>
      </p:sp>
    </p:spTree>
    <p:extLst>
      <p:ext uri="{BB962C8B-B14F-4D97-AF65-F5344CB8AC3E}">
        <p14:creationId xmlns:p14="http://schemas.microsoft.com/office/powerpoint/2010/main" val="3585803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0"/>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500" tmFilter="0, 0; .2, .5; .8, .5; 1, 0"/>
                                        <p:tgtEl>
                                          <p:spTgt spid="70"/>
                                        </p:tgtEl>
                                      </p:cBhvr>
                                    </p:animEffect>
                                    <p:animScale>
                                      <p:cBhvr>
                                        <p:cTn id="15" dur="250" autoRev="1" fill="hold"/>
                                        <p:tgtEl>
                                          <p:spTgt spid="70"/>
                                        </p:tgtEl>
                                      </p:cBhvr>
                                      <p:by x="105000" y="105000"/>
                                    </p:animScale>
                                  </p:childTnLst>
                                </p:cTn>
                              </p:par>
                              <p:par>
                                <p:cTn id="16" presetID="1" presetClass="entr" presetSubtype="0" fill="hold" grpId="0" nodeType="withEffect">
                                  <p:stCondLst>
                                    <p:cond delay="0"/>
                                  </p:stCondLst>
                                  <p:childTnLst>
                                    <p:set>
                                      <p:cBhvr>
                                        <p:cTn id="17" dur="1" fill="hold">
                                          <p:stCondLst>
                                            <p:cond delay="0"/>
                                          </p:stCondLst>
                                        </p:cTn>
                                        <p:tgtEl>
                                          <p:spTgt spid="71"/>
                                        </p:tgtEl>
                                        <p:attrNameLst>
                                          <p:attrName>style.visibility</p:attrName>
                                        </p:attrNameLst>
                                      </p:cBhvr>
                                      <p:to>
                                        <p:strVal val="visible"/>
                                      </p:to>
                                    </p:set>
                                  </p:childTnLst>
                                </p:cTn>
                              </p:par>
                              <p:par>
                                <p:cTn id="18" presetID="26" presetClass="emph" presetSubtype="0" repeatCount="indefinite" fill="hold" grpId="1" nodeType="withEffect">
                                  <p:stCondLst>
                                    <p:cond delay="0"/>
                                  </p:stCondLst>
                                  <p:endCondLst>
                                    <p:cond evt="onNext" delay="0">
                                      <p:tgtEl>
                                        <p:sldTgt/>
                                      </p:tgtEl>
                                    </p:cond>
                                  </p:endCondLst>
                                  <p:childTnLst>
                                    <p:animEffect transition="out" filter="fade">
                                      <p:cBhvr>
                                        <p:cTn id="19" dur="500" tmFilter="0, 0; .2, .5; .8, .5; 1, 0"/>
                                        <p:tgtEl>
                                          <p:spTgt spid="71"/>
                                        </p:tgtEl>
                                      </p:cBhvr>
                                    </p:animEffect>
                                    <p:animScale>
                                      <p:cBhvr>
                                        <p:cTn id="20" dur="250" autoRev="1" fill="hold"/>
                                        <p:tgtEl>
                                          <p:spTgt spid="71"/>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xit" presetSubtype="0" fill="hold" grpId="2" nodeType="withEffect">
                                  <p:stCondLst>
                                    <p:cond delay="0"/>
                                  </p:stCondLst>
                                  <p:childTnLst>
                                    <p:set>
                                      <p:cBhvr>
                                        <p:cTn id="26" dur="1" fill="hold">
                                          <p:stCondLst>
                                            <p:cond delay="0"/>
                                          </p:stCondLst>
                                        </p:cTn>
                                        <p:tgtEl>
                                          <p:spTgt spid="70"/>
                                        </p:tgtEl>
                                        <p:attrNameLst>
                                          <p:attrName>style.visibility</p:attrName>
                                        </p:attrNameLst>
                                      </p:cBhvr>
                                      <p:to>
                                        <p:strVal val="hidden"/>
                                      </p:to>
                                    </p:set>
                                  </p:childTnLst>
                                </p:cTn>
                              </p:par>
                              <p:par>
                                <p:cTn id="27" presetID="1" presetClass="exit" presetSubtype="0" fill="hold" grpId="2" nodeType="withEffect">
                                  <p:stCondLst>
                                    <p:cond delay="0"/>
                                  </p:stCondLst>
                                  <p:childTnLst>
                                    <p:set>
                                      <p:cBhvr>
                                        <p:cTn id="28" dur="1" fill="hold">
                                          <p:stCondLst>
                                            <p:cond delay="0"/>
                                          </p:stCondLst>
                                        </p:cTn>
                                        <p:tgtEl>
                                          <p:spTgt spid="71"/>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72"/>
                                        </p:tgtEl>
                                        <p:attrNameLst>
                                          <p:attrName>style.visibility</p:attrName>
                                        </p:attrNameLst>
                                      </p:cBhvr>
                                      <p:to>
                                        <p:strVal val="visible"/>
                                      </p:to>
                                    </p:set>
                                  </p:childTnLst>
                                </p:cTn>
                              </p:par>
                              <p:par>
                                <p:cTn id="31" presetID="26" presetClass="emph" presetSubtype="0" repeatCount="indefinite" fill="hold" grpId="1" nodeType="withEffect">
                                  <p:stCondLst>
                                    <p:cond delay="0"/>
                                  </p:stCondLst>
                                  <p:endCondLst>
                                    <p:cond evt="onNext" delay="0">
                                      <p:tgtEl>
                                        <p:sldTgt/>
                                      </p:tgtEl>
                                    </p:cond>
                                  </p:endCondLst>
                                  <p:childTnLst>
                                    <p:animEffect transition="out" filter="fade">
                                      <p:cBhvr>
                                        <p:cTn id="32" dur="500" tmFilter="0, 0; .2, .5; .8, .5; 1, 0"/>
                                        <p:tgtEl>
                                          <p:spTgt spid="72"/>
                                        </p:tgtEl>
                                      </p:cBhvr>
                                    </p:animEffect>
                                    <p:animScale>
                                      <p:cBhvr>
                                        <p:cTn id="33" dur="250" autoRev="1" fill="hold"/>
                                        <p:tgtEl>
                                          <p:spTgt spid="72"/>
                                        </p:tgtEl>
                                      </p:cBhvr>
                                      <p:by x="105000" y="105000"/>
                                    </p:animScale>
                                  </p:childTnLst>
                                </p:cTn>
                              </p:par>
                              <p:par>
                                <p:cTn id="34" presetID="1" presetClass="entr" presetSubtype="0" fill="hold" grpId="0" nodeType="withEffect">
                                  <p:stCondLst>
                                    <p:cond delay="0"/>
                                  </p:stCondLst>
                                  <p:childTnLst>
                                    <p:set>
                                      <p:cBhvr>
                                        <p:cTn id="35" dur="1" fill="hold">
                                          <p:stCondLst>
                                            <p:cond delay="0"/>
                                          </p:stCondLst>
                                        </p:cTn>
                                        <p:tgtEl>
                                          <p:spTgt spid="73"/>
                                        </p:tgtEl>
                                        <p:attrNameLst>
                                          <p:attrName>style.visibility</p:attrName>
                                        </p:attrNameLst>
                                      </p:cBhvr>
                                      <p:to>
                                        <p:strVal val="visible"/>
                                      </p:to>
                                    </p:set>
                                  </p:childTnLst>
                                </p:cTn>
                              </p:par>
                              <p:par>
                                <p:cTn id="36" presetID="26" presetClass="emph" presetSubtype="0" repeatCount="indefinite" fill="hold" grpId="1" nodeType="withEffect">
                                  <p:stCondLst>
                                    <p:cond delay="0"/>
                                  </p:stCondLst>
                                  <p:endCondLst>
                                    <p:cond evt="onNext" delay="0">
                                      <p:tgtEl>
                                        <p:sldTgt/>
                                      </p:tgtEl>
                                    </p:cond>
                                  </p:endCondLst>
                                  <p:childTnLst>
                                    <p:animEffect transition="out" filter="fade">
                                      <p:cBhvr>
                                        <p:cTn id="37" dur="500" tmFilter="0, 0; .2, .5; .8, .5; 1, 0"/>
                                        <p:tgtEl>
                                          <p:spTgt spid="73"/>
                                        </p:tgtEl>
                                      </p:cBhvr>
                                    </p:animEffect>
                                    <p:animScale>
                                      <p:cBhvr>
                                        <p:cTn id="38" dur="250" autoRev="1" fill="hold"/>
                                        <p:tgtEl>
                                          <p:spTgt spid="73"/>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xit" presetSubtype="0" fill="hold" grpId="2" nodeType="withEffect">
                                  <p:stCondLst>
                                    <p:cond delay="0"/>
                                  </p:stCondLst>
                                  <p:childTnLst>
                                    <p:set>
                                      <p:cBhvr>
                                        <p:cTn id="44" dur="1" fill="hold">
                                          <p:stCondLst>
                                            <p:cond delay="0"/>
                                          </p:stCondLst>
                                        </p:cTn>
                                        <p:tgtEl>
                                          <p:spTgt spid="72"/>
                                        </p:tgtEl>
                                        <p:attrNameLst>
                                          <p:attrName>style.visibility</p:attrName>
                                        </p:attrNameLst>
                                      </p:cBhvr>
                                      <p:to>
                                        <p:strVal val="hidden"/>
                                      </p:to>
                                    </p:set>
                                  </p:childTnLst>
                                </p:cTn>
                              </p:par>
                              <p:par>
                                <p:cTn id="45" presetID="1" presetClass="exit" presetSubtype="0" fill="hold" grpId="2" nodeType="withEffect">
                                  <p:stCondLst>
                                    <p:cond delay="0"/>
                                  </p:stCondLst>
                                  <p:childTnLst>
                                    <p:set>
                                      <p:cBhvr>
                                        <p:cTn id="46" dur="1" fill="hold">
                                          <p:stCondLst>
                                            <p:cond delay="0"/>
                                          </p:stCondLst>
                                        </p:cTn>
                                        <p:tgtEl>
                                          <p:spTgt spid="73"/>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74"/>
                                        </p:tgtEl>
                                        <p:attrNameLst>
                                          <p:attrName>style.visibility</p:attrName>
                                        </p:attrNameLst>
                                      </p:cBhvr>
                                      <p:to>
                                        <p:strVal val="visible"/>
                                      </p:to>
                                    </p:set>
                                  </p:childTnLst>
                                </p:cTn>
                              </p:par>
                              <p:par>
                                <p:cTn id="49" presetID="26" presetClass="emph" presetSubtype="0" repeatCount="indefinite" fill="hold" grpId="1" nodeType="withEffect">
                                  <p:stCondLst>
                                    <p:cond delay="0"/>
                                  </p:stCondLst>
                                  <p:endCondLst>
                                    <p:cond evt="onNext" delay="0">
                                      <p:tgtEl>
                                        <p:sldTgt/>
                                      </p:tgtEl>
                                    </p:cond>
                                  </p:endCondLst>
                                  <p:childTnLst>
                                    <p:animEffect transition="out" filter="fade">
                                      <p:cBhvr>
                                        <p:cTn id="50" dur="500" tmFilter="0, 0; .2, .5; .8, .5; 1, 0"/>
                                        <p:tgtEl>
                                          <p:spTgt spid="74"/>
                                        </p:tgtEl>
                                      </p:cBhvr>
                                    </p:animEffect>
                                    <p:animScale>
                                      <p:cBhvr>
                                        <p:cTn id="51" dur="250" autoRev="1" fill="hold"/>
                                        <p:tgtEl>
                                          <p:spTgt spid="74"/>
                                        </p:tgtEl>
                                      </p:cBhvr>
                                      <p:by x="105000" y="105000"/>
                                    </p:animScale>
                                  </p:childTnLst>
                                </p:cTn>
                              </p:par>
                              <p:par>
                                <p:cTn id="52" presetID="1" presetClass="entr" presetSubtype="0" fill="hold" grpId="0" nodeType="withEffect">
                                  <p:stCondLst>
                                    <p:cond delay="0"/>
                                  </p:stCondLst>
                                  <p:childTnLst>
                                    <p:set>
                                      <p:cBhvr>
                                        <p:cTn id="53" dur="1" fill="hold">
                                          <p:stCondLst>
                                            <p:cond delay="0"/>
                                          </p:stCondLst>
                                        </p:cTn>
                                        <p:tgtEl>
                                          <p:spTgt spid="75"/>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75"/>
                                        </p:tgtEl>
                                      </p:cBhvr>
                                    </p:animEffect>
                                    <p:animScale>
                                      <p:cBhvr>
                                        <p:cTn id="56" dur="250" autoRev="1" fill="hold"/>
                                        <p:tgtEl>
                                          <p:spTgt spid="75"/>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74"/>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75"/>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76"/>
                                        </p:tgtEl>
                                        <p:attrNameLst>
                                          <p:attrName>style.visibility</p:attrName>
                                        </p:attrNameLst>
                                      </p:cBhvr>
                                      <p:to>
                                        <p:strVal val="visible"/>
                                      </p:to>
                                    </p:set>
                                  </p:childTnLst>
                                </p:cTn>
                              </p:par>
                              <p:par>
                                <p:cTn id="67" presetID="26" presetClass="emph" presetSubtype="0" repeatCount="indefinite" fill="hold" grpId="1" nodeType="withEffect">
                                  <p:stCondLst>
                                    <p:cond delay="0"/>
                                  </p:stCondLst>
                                  <p:endCondLst>
                                    <p:cond evt="onNext" delay="0">
                                      <p:tgtEl>
                                        <p:sldTgt/>
                                      </p:tgtEl>
                                    </p:cond>
                                  </p:endCondLst>
                                  <p:childTnLst>
                                    <p:animEffect transition="out" filter="fade">
                                      <p:cBhvr>
                                        <p:cTn id="68" dur="500" tmFilter="0, 0; .2, .5; .8, .5; 1, 0"/>
                                        <p:tgtEl>
                                          <p:spTgt spid="76"/>
                                        </p:tgtEl>
                                      </p:cBhvr>
                                    </p:animEffect>
                                    <p:animScale>
                                      <p:cBhvr>
                                        <p:cTn id="69" dur="250" autoRev="1" fill="hold"/>
                                        <p:tgtEl>
                                          <p:spTgt spid="76"/>
                                        </p:tgtEl>
                                      </p:cBhvr>
                                      <p:by x="105000" y="105000"/>
                                    </p:animScale>
                                  </p:childTnLst>
                                </p:cTn>
                              </p:par>
                              <p:par>
                                <p:cTn id="70" presetID="1" presetClass="entr" presetSubtype="0" fill="hold" grpId="0" nodeType="withEffect">
                                  <p:stCondLst>
                                    <p:cond delay="0"/>
                                  </p:stCondLst>
                                  <p:childTnLst>
                                    <p:set>
                                      <p:cBhvr>
                                        <p:cTn id="71" dur="1" fill="hold">
                                          <p:stCondLst>
                                            <p:cond delay="0"/>
                                          </p:stCondLst>
                                        </p:cTn>
                                        <p:tgtEl>
                                          <p:spTgt spid="77"/>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77"/>
                                        </p:tgtEl>
                                      </p:cBhvr>
                                    </p:animEffect>
                                    <p:animScale>
                                      <p:cBhvr>
                                        <p:cTn id="74" dur="250" autoRev="1" fill="hold"/>
                                        <p:tgtEl>
                                          <p:spTgt spid="77"/>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76"/>
                                        </p:tgtEl>
                                        <p:attrNameLst>
                                          <p:attrName>style.visibility</p:attrName>
                                        </p:attrNameLst>
                                      </p:cBhvr>
                                      <p:to>
                                        <p:strVal val="hidden"/>
                                      </p:to>
                                    </p:set>
                                  </p:childTnLst>
                                </p:cTn>
                              </p:par>
                              <p:par>
                                <p:cTn id="79" presetID="1" presetClass="exit" presetSubtype="0" fill="hold" grpId="2" nodeType="withEffect">
                                  <p:stCondLst>
                                    <p:cond delay="0"/>
                                  </p:stCondLst>
                                  <p:childTnLst>
                                    <p:set>
                                      <p:cBhvr>
                                        <p:cTn id="80" dur="1" fill="hold">
                                          <p:stCondLst>
                                            <p:cond delay="0"/>
                                          </p:stCondLst>
                                        </p:cTn>
                                        <p:tgtEl>
                                          <p:spTgt spid="77"/>
                                        </p:tgtEl>
                                        <p:attrNameLst>
                                          <p:attrName>style.visibility</p:attrName>
                                        </p:attrNameLst>
                                      </p:cBhvr>
                                      <p:to>
                                        <p:strVal val="hidden"/>
                                      </p:to>
                                    </p:set>
                                  </p:childTnLst>
                                </p:cTn>
                              </p:par>
                              <p:par>
                                <p:cTn id="81" presetID="1" presetClass="entr" presetSubtype="0" fill="hold" grpId="0" nodeType="withEffect">
                                  <p:stCondLst>
                                    <p:cond delay="0"/>
                                  </p:stCondLst>
                                  <p:childTnLst>
                                    <p:set>
                                      <p:cBhvr>
                                        <p:cTn id="82" dur="1" fill="hold">
                                          <p:stCondLst>
                                            <p:cond delay="0"/>
                                          </p:stCondLst>
                                        </p:cTn>
                                        <p:tgtEl>
                                          <p:spTgt spid="8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0"/>
                                        </p:tgtEl>
                                        <p:attrNameLst>
                                          <p:attrName>style.visibility</p:attrName>
                                        </p:attrNameLst>
                                      </p:cBhvr>
                                      <p:to>
                                        <p:strVal val="visible"/>
                                      </p:to>
                                    </p:set>
                                  </p:childTnLst>
                                </p:cTn>
                              </p:par>
                              <p:par>
                                <p:cTn id="85" presetID="26" presetClass="emph" presetSubtype="0" repeatCount="indefinite" fill="hold" grpId="1" nodeType="withEffect">
                                  <p:stCondLst>
                                    <p:cond delay="0"/>
                                  </p:stCondLst>
                                  <p:endCondLst>
                                    <p:cond evt="onNext" delay="0">
                                      <p:tgtEl>
                                        <p:sldTgt/>
                                      </p:tgtEl>
                                    </p:cond>
                                  </p:endCondLst>
                                  <p:childTnLst>
                                    <p:animEffect transition="out" filter="fade">
                                      <p:cBhvr>
                                        <p:cTn id="86" dur="500" tmFilter="0, 0; .2, .5; .8, .5; 1, 0"/>
                                        <p:tgtEl>
                                          <p:spTgt spid="80"/>
                                        </p:tgtEl>
                                      </p:cBhvr>
                                    </p:animEffect>
                                    <p:animScale>
                                      <p:cBhvr>
                                        <p:cTn id="87" dur="250" autoRev="1" fill="hold"/>
                                        <p:tgtEl>
                                          <p:spTgt spid="8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0" grpId="1" animBg="1"/>
      <p:bldP spid="70" grpId="2" animBg="1"/>
      <p:bldP spid="71" grpId="0" animBg="1"/>
      <p:bldP spid="71" grpId="1" animBg="1"/>
      <p:bldP spid="71" grpId="2" animBg="1"/>
      <p:bldP spid="72" grpId="0" animBg="1"/>
      <p:bldP spid="72" grpId="1" animBg="1"/>
      <p:bldP spid="72" grpId="2" animBg="1"/>
      <p:bldP spid="73" grpId="0" animBg="1"/>
      <p:bldP spid="73" grpId="1" animBg="1"/>
      <p:bldP spid="73" grpId="2" animBg="1"/>
      <p:bldP spid="74" grpId="0" animBg="1"/>
      <p:bldP spid="74" grpId="1" animBg="1"/>
      <p:bldP spid="74" grpId="2" animBg="1"/>
      <p:bldP spid="75" grpId="0" animBg="1"/>
      <p:bldP spid="75" grpId="1" animBg="1"/>
      <p:bldP spid="75" grpId="2" animBg="1"/>
      <p:bldP spid="76" grpId="0" animBg="1"/>
      <p:bldP spid="76" grpId="1" animBg="1"/>
      <p:bldP spid="76" grpId="2" animBg="1"/>
      <p:bldP spid="77" grpId="0" animBg="1"/>
      <p:bldP spid="77" grpId="1" animBg="1"/>
      <p:bldP spid="77" grpId="2" animBg="1"/>
      <p:bldP spid="80" grpId="0" animBg="1"/>
      <p:bldP spid="80" grpId="1" animBg="1"/>
      <p:bldP spid="82" grpId="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Non-Preemptive Priority Scheduling</a:t>
            </a:r>
            <a:endParaRPr lang="en-IN" dirty="0"/>
          </a:p>
        </p:txBody>
      </p:sp>
      <p:sp>
        <p:nvSpPr>
          <p:cNvPr id="3" name="Content Placeholder 2"/>
          <p:cNvSpPr>
            <a:spLocks noGrp="1"/>
          </p:cNvSpPr>
          <p:nvPr>
            <p:ph idx="1"/>
          </p:nvPr>
        </p:nvSpPr>
        <p:spPr/>
        <p:txBody>
          <a:bodyPr/>
          <a:lstStyle/>
          <a:p>
            <a:r>
              <a:rPr lang="en-US" b="1" dirty="0"/>
              <a:t>Advantages</a:t>
            </a:r>
          </a:p>
          <a:p>
            <a:pPr lvl="1"/>
            <a:r>
              <a:rPr lang="en-US" dirty="0"/>
              <a:t>Priority is considered. Critical processes get even </a:t>
            </a:r>
            <a:r>
              <a:rPr lang="en-US" b="1" dirty="0">
                <a:solidFill>
                  <a:schemeClr val="accent6"/>
                </a:solidFill>
              </a:rPr>
              <a:t>better response time</a:t>
            </a:r>
            <a:r>
              <a:rPr lang="en-US" dirty="0"/>
              <a:t>.</a:t>
            </a:r>
          </a:p>
          <a:p>
            <a:r>
              <a:rPr lang="en-US" b="1" dirty="0"/>
              <a:t>Disadvantages</a:t>
            </a:r>
          </a:p>
          <a:p>
            <a:pPr lvl="1"/>
            <a:r>
              <a:rPr lang="en-US" b="1" dirty="0">
                <a:solidFill>
                  <a:schemeClr val="accent6"/>
                </a:solidFill>
              </a:rPr>
              <a:t>Starvation is possible </a:t>
            </a:r>
            <a:r>
              <a:rPr lang="en-US" dirty="0"/>
              <a:t>for lowest priority process. This can be overcome by using technique called “</a:t>
            </a:r>
            <a:r>
              <a:rPr lang="en-US" b="1" dirty="0">
                <a:solidFill>
                  <a:schemeClr val="accent6"/>
                </a:solidFill>
              </a:rPr>
              <a:t>Aging</a:t>
            </a:r>
            <a:r>
              <a:rPr lang="en-US" dirty="0"/>
              <a:t>”.</a:t>
            </a:r>
          </a:p>
          <a:p>
            <a:pPr lvl="1"/>
            <a:r>
              <a:rPr lang="en-US" dirty="0"/>
              <a:t>Aging is process that increase the priority of processes that wait in system for a long time.</a:t>
            </a:r>
            <a:endParaRPr lang="en-IN" dirty="0"/>
          </a:p>
          <a:p>
            <a:pPr lvl="1"/>
            <a:endParaRPr lang="en-IN" dirty="0"/>
          </a:p>
          <a:p>
            <a:endParaRPr lang="en-IN" dirty="0"/>
          </a:p>
        </p:txBody>
      </p:sp>
    </p:spTree>
    <p:extLst>
      <p:ext uri="{BB962C8B-B14F-4D97-AF65-F5344CB8AC3E}">
        <p14:creationId xmlns:p14="http://schemas.microsoft.com/office/powerpoint/2010/main" val="4273194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 Preemptive Priority Scheduling</a:t>
            </a:r>
            <a:endParaRPr lang="en-IN" dirty="0"/>
          </a:p>
        </p:txBody>
      </p:sp>
      <p:sp>
        <p:nvSpPr>
          <p:cNvPr id="3" name="Content Placeholder 2"/>
          <p:cNvSpPr>
            <a:spLocks noGrp="1"/>
          </p:cNvSpPr>
          <p:nvPr>
            <p:ph idx="1"/>
          </p:nvPr>
        </p:nvSpPr>
        <p:spPr/>
        <p:txBody>
          <a:bodyPr/>
          <a:lstStyle/>
          <a:p>
            <a:r>
              <a:rPr lang="en-US" b="1" dirty="0"/>
              <a:t>Non Preemptive Priority Scheduling</a:t>
            </a:r>
            <a:endParaRPr lang="en-IN" b="1" dirty="0"/>
          </a:p>
          <a:p>
            <a:pPr lvl="1"/>
            <a:r>
              <a:rPr lang="en-US" dirty="0"/>
              <a:t>Consider the following set of four processes. Their priority, arrival time and time required to complete the execution are given in following table. (Time value in milliseconds).</a:t>
            </a:r>
            <a:r>
              <a:rPr lang="en-IN" dirty="0"/>
              <a:t> Draw the Gantt chart and find Finish Time, Average Waiting Time and Turn Around Time  for SRTN algorithm. </a:t>
            </a:r>
            <a:endParaRPr lang="en-IN" b="1" dirty="0"/>
          </a:p>
          <a:p>
            <a:pPr marL="0" indent="0">
              <a:buNone/>
            </a:pPr>
            <a:endParaRPr lang="en-IN" dirty="0"/>
          </a:p>
        </p:txBody>
      </p:sp>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393576" y="2614317"/>
              <a:ext cx="6656293" cy="2874036"/>
            </p:xfrm>
            <a:graphic>
              <a:graphicData uri="http://schemas.openxmlformats.org/drawingml/2006/table">
                <a:tbl>
                  <a:tblPr firstRow="1" bandRow="1">
                    <a:tableStyleId>{8EC20E35-A176-4012-BC5E-935CFFF8708E}</a:tableStyleId>
                  </a:tblPr>
                  <a:tblGrid>
                    <a:gridCol w="940118">
                      <a:extLst>
                        <a:ext uri="{9D8B030D-6E8A-4147-A177-3AD203B41FA5}">
                          <a16:colId xmlns:a16="http://schemas.microsoft.com/office/drawing/2014/main" val="20000"/>
                        </a:ext>
                      </a:extLst>
                    </a:gridCol>
                    <a:gridCol w="1270983">
                      <a:extLst>
                        <a:ext uri="{9D8B030D-6E8A-4147-A177-3AD203B41FA5}">
                          <a16:colId xmlns:a16="http://schemas.microsoft.com/office/drawing/2014/main" val="20003"/>
                        </a:ext>
                      </a:extLst>
                    </a:gridCol>
                    <a:gridCol w="1270983">
                      <a:extLst>
                        <a:ext uri="{9D8B030D-6E8A-4147-A177-3AD203B41FA5}">
                          <a16:colId xmlns:a16="http://schemas.microsoft.com/office/drawing/2014/main" val="20001"/>
                        </a:ext>
                      </a:extLst>
                    </a:gridCol>
                    <a:gridCol w="317420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Priority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US"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US"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5"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2329411247"/>
                  </p:ext>
                </p:extLst>
              </p:nvPr>
            </p:nvGraphicFramePr>
            <p:xfrm>
              <a:off x="2393576" y="2614317"/>
              <a:ext cx="6656293" cy="2874036"/>
            </p:xfrm>
            <a:graphic>
              <a:graphicData uri="http://schemas.openxmlformats.org/drawingml/2006/table">
                <a:tbl>
                  <a:tblPr firstRow="1" bandRow="1">
                    <a:tableStyleId>{8EC20E35-A176-4012-BC5E-935CFFF8708E}</a:tableStyleId>
                  </a:tblPr>
                  <a:tblGrid>
                    <a:gridCol w="940118">
                      <a:extLst>
                        <a:ext uri="{9D8B030D-6E8A-4147-A177-3AD203B41FA5}">
                          <a16:colId xmlns="" xmlns:a16="http://schemas.microsoft.com/office/drawing/2014/main" xmlns:a14="http://schemas.microsoft.com/office/drawing/2010/main" val="20000"/>
                        </a:ext>
                      </a:extLst>
                    </a:gridCol>
                    <a:gridCol w="1270983"/>
                    <a:gridCol w="1270983">
                      <a:extLst>
                        <a:ext uri="{9D8B030D-6E8A-4147-A177-3AD203B41FA5}">
                          <a16:colId xmlns="" xmlns:a16="http://schemas.microsoft.com/office/drawing/2014/main" xmlns:a14="http://schemas.microsoft.com/office/drawing/2010/main" val="20001"/>
                        </a:ext>
                      </a:extLst>
                    </a:gridCol>
                    <a:gridCol w="3174209">
                      <a:extLst>
                        <a:ext uri="{9D8B030D-6E8A-4147-A177-3AD203B41FA5}">
                          <a16:colId xmlns="" xmlns:a16="http://schemas.microsoft.com/office/drawing/2014/main"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smtClean="0">
                              <a:solidFill>
                                <a:schemeClr val="tx1"/>
                              </a:solidFill>
                              <a:latin typeface="+mn-lt"/>
                              <a:ea typeface="+mn-ea"/>
                              <a:cs typeface="+mn-cs"/>
                            </a:rPr>
                            <a:t>Priority</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173684" t="-3810" r="-249761"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610390" b="-305435"/>
                          </a:stretch>
                        </a:blipFill>
                      </a:tcPr>
                    </a:tc>
                    <a:tc>
                      <a:txBody>
                        <a:bodyPr/>
                        <a:lstStyle/>
                        <a:p>
                          <a:pPr algn="ctr"/>
                          <a:r>
                            <a:rPr lang="en-IN" sz="2000" baseline="0" dirty="0" smtClean="0">
                              <a:solidFill>
                                <a:schemeClr val="tx1"/>
                              </a:solidFill>
                            </a:rPr>
                            <a:t>2</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610390" b="-205435"/>
                          </a:stretch>
                        </a:blipFill>
                      </a:tcPr>
                    </a:tc>
                    <a:tc>
                      <a:txBody>
                        <a:bodyPr/>
                        <a:lstStyle/>
                        <a:p>
                          <a:pPr algn="ctr"/>
                          <a:r>
                            <a:rPr lang="en-IN" sz="2000" baseline="0" dirty="0" smtClean="0">
                              <a:solidFill>
                                <a:schemeClr val="tx1"/>
                              </a:solidFill>
                            </a:rPr>
                            <a:t>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610390" b="-105435"/>
                          </a:stretch>
                        </a:blipFill>
                      </a:tcPr>
                    </a:tc>
                    <a:tc>
                      <a:txBody>
                        <a:bodyPr/>
                        <a:lstStyle/>
                        <a:p>
                          <a:pPr algn="ctr"/>
                          <a:r>
                            <a:rPr lang="en-IN" sz="2000" baseline="0" dirty="0" smtClean="0">
                              <a:solidFill>
                                <a:schemeClr val="tx1"/>
                              </a:solidFill>
                            </a:rPr>
                            <a:t>3</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610390" b="-5435"/>
                          </a:stretch>
                        </a:blipFill>
                      </a:tcPr>
                    </a:tc>
                    <a:tc>
                      <a:txBody>
                        <a:bodyPr/>
                        <a:lstStyle/>
                        <a:p>
                          <a:pPr algn="ctr"/>
                          <a:r>
                            <a:rPr lang="en-IN" sz="2000" baseline="0" dirty="0" smtClean="0">
                              <a:solidFill>
                                <a:schemeClr val="tx1"/>
                              </a:solidFill>
                            </a:rPr>
                            <a:t>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p:spTree>
    <p:extLst>
      <p:ext uri="{BB962C8B-B14F-4D97-AF65-F5344CB8AC3E}">
        <p14:creationId xmlns:p14="http://schemas.microsoft.com/office/powerpoint/2010/main" val="68678115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4B20E2A-F2D8-419C-9FD1-95D26342647C}"/>
                  </a:ext>
                </a:extLst>
              </p:cNvPr>
              <p:cNvSpPr/>
              <p:nvPr/>
            </p:nvSpPr>
            <p:spPr>
              <a:xfrm>
                <a:off x="6065004" y="0"/>
                <a:ext cx="6096000" cy="6588000"/>
              </a:xfrm>
              <a:prstGeom prst="rect">
                <a:avLst/>
              </a:prstGeom>
              <a:solidFill>
                <a:srgbClr val="4B302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bIns="180000" rtlCol="0" anchor="t"/>
              <a:lstStyle/>
              <a:p>
                <a:pPr algn="just">
                  <a:lnSpc>
                    <a:spcPct val="120000"/>
                  </a:lnSpc>
                </a:pPr>
                <a:r>
                  <a:rPr lang="en-US" sz="2800" b="1" dirty="0"/>
                  <a:t>Non-Preemptive Priority Scheduling</a:t>
                </a:r>
                <a:endParaRPr lang="en-IN" sz="2800" b="1" dirty="0"/>
              </a:p>
              <a:p>
                <a:pPr marL="342900" indent="-342900" algn="just">
                  <a:lnSpc>
                    <a:spcPct val="120000"/>
                  </a:lnSpc>
                  <a:buFont typeface="Wingdings" panose="05000000000000000000" pitchFamily="2" charset="2"/>
                  <a:buChar char="ü"/>
                </a:pPr>
                <a:r>
                  <a:rPr lang="en-US" sz="2400" dirty="0"/>
                  <a:t>In this example process P</a:t>
                </a:r>
                <a:r>
                  <a:rPr lang="en-US" sz="2400" baseline="-25000" dirty="0"/>
                  <a:t>1</a:t>
                </a:r>
                <a:r>
                  <a:rPr lang="en-US" sz="2400" dirty="0"/>
                  <a:t> arrival time is 0. So, Process from the ready queue with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US" sz="2400" b="1" i="1">
                            <a:solidFill>
                              <a:schemeClr val="bg1"/>
                            </a:solidFill>
                            <a:latin typeface="Cambria Math" panose="02040503050406030204" pitchFamily="18" charset="0"/>
                          </a:rPr>
                          <m:t>𝟏</m:t>
                        </m:r>
                      </m:sub>
                    </m:sSub>
                  </m:oMath>
                </a14:m>
                <a:r>
                  <a:rPr lang="en-US" sz="2400" dirty="0"/>
                  <a:t> is selected and allowed to run until its completes.</a:t>
                </a:r>
              </a:p>
              <a:p>
                <a:pPr marL="342900" indent="-342900" algn="just">
                  <a:lnSpc>
                    <a:spcPct val="120000"/>
                  </a:lnSpc>
                  <a:buFont typeface="Wingdings" panose="05000000000000000000" pitchFamily="2" charset="2"/>
                  <a:buChar char="ü"/>
                </a:pPr>
                <a:r>
                  <a:rPr lang="en-US" sz="2400" dirty="0"/>
                  <a:t>Next process with highest priority P</a:t>
                </a:r>
                <a:r>
                  <a:rPr lang="en-US" sz="2400" baseline="-25000" dirty="0"/>
                  <a:t>2</a:t>
                </a:r>
                <a:r>
                  <a:rPr lang="en-US" sz="2400" dirty="0"/>
                  <a:t> will arrives and allowed to run till it completes.</a:t>
                </a:r>
              </a:p>
              <a:p>
                <a:pPr marL="342900" indent="-342900" algn="just">
                  <a:buFont typeface="Wingdings" panose="05000000000000000000" pitchFamily="2" charset="2"/>
                  <a:buChar char="ü"/>
                </a:pPr>
                <a:r>
                  <a:rPr lang="en-US" sz="2400" dirty="0"/>
                  <a:t>Likewise Next Process from the ready queue with highest priority </a:t>
                </a:r>
                <a14:m>
                  <m:oMath xmlns:m="http://schemas.openxmlformats.org/officeDocument/2006/math">
                    <m:sSub>
                      <m:sSubPr>
                        <m:ctrlPr>
                          <a:rPr lang="en-IN" sz="2400" b="1" i="1">
                            <a:solidFill>
                              <a:schemeClr val="bg1"/>
                            </a:solidFill>
                            <a:latin typeface="Cambria Math" panose="02040503050406030204" pitchFamily="18" charset="0"/>
                          </a:rPr>
                        </m:ctrlPr>
                      </m:sSubPr>
                      <m:e>
                        <m:r>
                          <a:rPr lang="en-IN" sz="2400" b="1" i="1">
                            <a:solidFill>
                              <a:schemeClr val="bg1"/>
                            </a:solidFill>
                            <a:latin typeface="Cambria Math" panose="02040503050406030204" pitchFamily="18" charset="0"/>
                          </a:rPr>
                          <m:t>𝑷</m:t>
                        </m:r>
                      </m:e>
                      <m:sub>
                        <m:r>
                          <a:rPr lang="en-US" sz="2400" b="1" i="1">
                            <a:solidFill>
                              <a:schemeClr val="bg1"/>
                            </a:solidFill>
                            <a:latin typeface="Cambria Math" panose="02040503050406030204" pitchFamily="18" charset="0"/>
                          </a:rPr>
                          <m:t>𝟒</m:t>
                        </m:r>
                      </m:sub>
                    </m:sSub>
                  </m:oMath>
                </a14:m>
                <a:r>
                  <a:rPr lang="en-US" sz="2400" dirty="0"/>
                  <a:t> is selected and allowed to run till it completes.</a:t>
                </a:r>
              </a:p>
              <a:p>
                <a:pPr marL="342900" indent="-342900" algn="just">
                  <a:buFont typeface="Wingdings" panose="05000000000000000000" pitchFamily="2" charset="2"/>
                  <a:buChar char="ü"/>
                </a:pPr>
                <a:r>
                  <a:rPr lang="en-US" sz="2400" dirty="0"/>
                  <a:t>Whenever more than one process is available, such type of decision is taken.</a:t>
                </a:r>
              </a:p>
              <a:p>
                <a:pPr marL="342900" indent="-342900" algn="just">
                  <a:buFont typeface="Wingdings" panose="05000000000000000000" pitchFamily="2" charset="2"/>
                  <a:buChar char="ü"/>
                </a:pPr>
                <a:r>
                  <a:rPr lang="en-US" sz="2400" dirty="0"/>
                  <a:t>This procedure is repeated till all processes complete their execution.</a:t>
                </a:r>
                <a:endParaRPr lang="en-IN" sz="2400" dirty="0"/>
              </a:p>
              <a:p>
                <a:pPr marL="342900" lvl="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endParaRPr lang="en-IN" sz="2400" dirty="0"/>
              </a:p>
            </p:txBody>
          </p:sp>
        </mc:Choice>
        <mc:Fallback xmlns="">
          <p:sp>
            <p:nvSpPr>
              <p:cNvPr id="3" name="Rectangle 2">
                <a:extLst>
                  <a:ext uri="{FF2B5EF4-FFF2-40B4-BE49-F238E27FC236}">
                    <a16:creationId xmlns:a16="http://schemas.microsoft.com/office/drawing/2014/main" id="{54B20E2A-F2D8-419C-9FD1-95D26342647C}"/>
                  </a:ext>
                </a:extLst>
              </p:cNvPr>
              <p:cNvSpPr>
                <a:spLocks noRot="1" noChangeAspect="1" noMove="1" noResize="1" noEditPoints="1" noAdjustHandles="1" noChangeArrowheads="1" noChangeShapeType="1" noTextEdit="1"/>
              </p:cNvSpPr>
              <p:nvPr/>
            </p:nvSpPr>
            <p:spPr>
              <a:xfrm>
                <a:off x="6065004" y="0"/>
                <a:ext cx="6096000" cy="6588000"/>
              </a:xfrm>
              <a:prstGeom prst="rect">
                <a:avLst/>
              </a:prstGeom>
              <a:blipFill>
                <a:blip r:embed="rId2"/>
                <a:stretch>
                  <a:fillRect l="-600" r="-100"/>
                </a:stretch>
              </a:blipFill>
              <a:ln>
                <a:noFill/>
              </a:ln>
            </p:spPr>
            <p:txBody>
              <a:bodyPr/>
              <a:lstStyle/>
              <a:p>
                <a:r>
                  <a:rPr lang="en-IN">
                    <a:noFill/>
                  </a:rPr>
                  <a:t> </a:t>
                </a:r>
              </a:p>
            </p:txBody>
          </p:sp>
        </mc:Fallback>
      </mc:AlternateContent>
      <p:sp>
        <p:nvSpPr>
          <p:cNvPr id="74" name="TextBox 73"/>
          <p:cNvSpPr txBox="1"/>
          <p:nvPr/>
        </p:nvSpPr>
        <p:spPr>
          <a:xfrm>
            <a:off x="888569" y="3089917"/>
            <a:ext cx="792997" cy="369332"/>
          </a:xfrm>
          <a:prstGeom prst="rect">
            <a:avLst/>
          </a:prstGeom>
          <a:noFill/>
          <a:ln w="38100">
            <a:solidFill>
              <a:schemeClr val="bg2"/>
            </a:solidFill>
          </a:ln>
        </p:spPr>
        <p:txBody>
          <a:bodyPr wrap="square" rtlCol="0">
            <a:spAutoFit/>
          </a:bodyPr>
          <a:lstStyle/>
          <a:p>
            <a:pPr algn="ctr"/>
            <a:endParaRPr lang="en-IN" dirty="0">
              <a:solidFill>
                <a:srgbClr val="92D050"/>
              </a:solidFill>
            </a:endParaRPr>
          </a:p>
        </p:txBody>
      </p:sp>
      <p:sp>
        <p:nvSpPr>
          <p:cNvPr id="16" name="TextBox 15"/>
          <p:cNvSpPr txBox="1"/>
          <p:nvPr/>
        </p:nvSpPr>
        <p:spPr>
          <a:xfrm>
            <a:off x="158276" y="152363"/>
            <a:ext cx="3022169" cy="461665"/>
          </a:xfrm>
          <a:prstGeom prst="rect">
            <a:avLst/>
          </a:prstGeom>
          <a:noFill/>
        </p:spPr>
        <p:txBody>
          <a:bodyPr wrap="square" rtlCol="0">
            <a:spAutoFit/>
          </a:bodyPr>
          <a:lstStyle/>
          <a:p>
            <a:pPr marL="342900" indent="-342900">
              <a:buFont typeface="Wingdings" panose="05000000000000000000" pitchFamily="2" charset="2"/>
              <a:buChar char="Ø"/>
            </a:pPr>
            <a:r>
              <a:rPr lang="en-IN" sz="2400" b="1" dirty="0"/>
              <a:t>Example</a:t>
            </a:r>
          </a:p>
        </p:txBody>
      </p:sp>
      <p:sp>
        <p:nvSpPr>
          <p:cNvPr id="33" name="TextBox 32"/>
          <p:cNvSpPr txBox="1"/>
          <p:nvPr/>
        </p:nvSpPr>
        <p:spPr>
          <a:xfrm>
            <a:off x="170481" y="3840997"/>
            <a:ext cx="3022169" cy="461665"/>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a:t>Gantt Chart</a:t>
            </a:r>
          </a:p>
        </p:txBody>
      </p:sp>
      <mc:AlternateContent xmlns:mc="http://schemas.openxmlformats.org/markup-compatibility/2006" xmlns:a14="http://schemas.microsoft.com/office/drawing/2010/main">
        <mc:Choice Requires="a14">
          <p:sp>
            <p:nvSpPr>
              <p:cNvPr id="39" name="Rectangle 38"/>
              <p:cNvSpPr/>
              <p:nvPr/>
            </p:nvSpPr>
            <p:spPr>
              <a:xfrm>
                <a:off x="4436679" y="4720472"/>
                <a:ext cx="792502" cy="63342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3</m:t>
                          </m:r>
                        </m:sub>
                      </m:sSub>
                    </m:oMath>
                  </m:oMathPara>
                </a14:m>
                <a:endParaRPr lang="en-US" dirty="0"/>
              </a:p>
            </p:txBody>
          </p:sp>
        </mc:Choice>
        <mc:Fallback xmlns="">
          <p:sp>
            <p:nvSpPr>
              <p:cNvPr id="39" name="Rectangle 38"/>
              <p:cNvSpPr>
                <a:spLocks noRot="1" noChangeAspect="1" noMove="1" noResize="1" noEditPoints="1" noAdjustHandles="1" noChangeArrowheads="1" noChangeShapeType="1" noTextEdit="1"/>
              </p:cNvSpPr>
              <p:nvPr/>
            </p:nvSpPr>
            <p:spPr>
              <a:xfrm>
                <a:off x="4436679" y="4720472"/>
                <a:ext cx="792502" cy="633425"/>
              </a:xfrm>
              <a:prstGeom prst="rect">
                <a:avLst/>
              </a:prstGeom>
              <a:blipFill rotWithShape="0">
                <a:blip r:embed="rId3"/>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p:cNvSpPr/>
              <p:nvPr/>
            </p:nvSpPr>
            <p:spPr>
              <a:xfrm>
                <a:off x="3839718" y="4715928"/>
                <a:ext cx="596961" cy="63933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4</m:t>
                          </m:r>
                        </m:sub>
                      </m:sSub>
                    </m:oMath>
                  </m:oMathPara>
                </a14:m>
                <a:endParaRPr lang="en-US" dirty="0"/>
              </a:p>
            </p:txBody>
          </p:sp>
        </mc:Choice>
        <mc:Fallback xmlns="">
          <p:sp>
            <p:nvSpPr>
              <p:cNvPr id="40" name="Rectangle 39"/>
              <p:cNvSpPr>
                <a:spLocks noRot="1" noChangeAspect="1" noMove="1" noResize="1" noEditPoints="1" noAdjustHandles="1" noChangeArrowheads="1" noChangeShapeType="1" noTextEdit="1"/>
              </p:cNvSpPr>
              <p:nvPr/>
            </p:nvSpPr>
            <p:spPr>
              <a:xfrm>
                <a:off x="3839718" y="4715928"/>
                <a:ext cx="596961" cy="639339"/>
              </a:xfrm>
              <a:prstGeom prst="rect">
                <a:avLst/>
              </a:prstGeom>
              <a:blipFill rotWithShape="0">
                <a:blip r:embed="rId4"/>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1015330" y="4715929"/>
                <a:ext cx="1691564" cy="639338"/>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42" name="Rectangle 41"/>
              <p:cNvSpPr>
                <a:spLocks noRot="1" noChangeAspect="1" noMove="1" noResize="1" noEditPoints="1" noAdjustHandles="1" noChangeArrowheads="1" noChangeShapeType="1" noTextEdit="1"/>
              </p:cNvSpPr>
              <p:nvPr/>
            </p:nvSpPr>
            <p:spPr>
              <a:xfrm>
                <a:off x="1015330" y="4715929"/>
                <a:ext cx="1691564" cy="639338"/>
              </a:xfrm>
              <a:prstGeom prst="rect">
                <a:avLst/>
              </a:prstGeom>
              <a:blipFill rotWithShape="0">
                <a:blip r:embed="rId5"/>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2714828" y="4715930"/>
                <a:ext cx="1124890" cy="639337"/>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2</m:t>
                          </m:r>
                        </m:sub>
                      </m:sSub>
                    </m:oMath>
                  </m:oMathPara>
                </a14:m>
                <a:endParaRPr lang="en-US" dirty="0"/>
              </a:p>
            </p:txBody>
          </p:sp>
        </mc:Choice>
        <mc:Fallback xmlns="">
          <p:sp>
            <p:nvSpPr>
              <p:cNvPr id="43" name="Rectangle 42"/>
              <p:cNvSpPr>
                <a:spLocks noRot="1" noChangeAspect="1" noMove="1" noResize="1" noEditPoints="1" noAdjustHandles="1" noChangeArrowheads="1" noChangeShapeType="1" noTextEdit="1"/>
              </p:cNvSpPr>
              <p:nvPr/>
            </p:nvSpPr>
            <p:spPr>
              <a:xfrm>
                <a:off x="2714828" y="4715930"/>
                <a:ext cx="1124890" cy="639337"/>
              </a:xfrm>
              <a:prstGeom prst="rect">
                <a:avLst/>
              </a:prstGeom>
              <a:blipFill rotWithShape="0">
                <a:blip r:embed="rId6"/>
                <a:stretch>
                  <a:fillRect/>
                </a:stretch>
              </a:blipFill>
              <a:ln w="38100">
                <a:solidFill>
                  <a:srgbClr val="4B302A"/>
                </a:solidFill>
              </a:ln>
            </p:spPr>
            <p:txBody>
              <a:bodyPr/>
              <a:lstStyle/>
              <a:p>
                <a:r>
                  <a:rPr lang="en-US">
                    <a:noFill/>
                  </a:rPr>
                  <a:t> </a:t>
                </a:r>
              </a:p>
            </p:txBody>
          </p:sp>
        </mc:Fallback>
      </mc:AlternateContent>
      <p:cxnSp>
        <p:nvCxnSpPr>
          <p:cNvPr id="44" name="Straight Connector 43"/>
          <p:cNvCxnSpPr/>
          <p:nvPr/>
        </p:nvCxnSpPr>
        <p:spPr>
          <a:xfrm flipH="1">
            <a:off x="1024553" y="4684410"/>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888569" y="5340516"/>
            <a:ext cx="318448" cy="381000"/>
          </a:xfrm>
          <a:prstGeom prst="rect">
            <a:avLst/>
          </a:prstGeom>
          <a:noFill/>
        </p:spPr>
        <p:txBody>
          <a:bodyPr wrap="square" rtlCol="0">
            <a:spAutoFit/>
          </a:bodyPr>
          <a:lstStyle/>
          <a:p>
            <a:r>
              <a:rPr lang="en-US" dirty="0"/>
              <a:t>0</a:t>
            </a:r>
          </a:p>
        </p:txBody>
      </p:sp>
      <p:sp>
        <p:nvSpPr>
          <p:cNvPr id="46" name="TextBox 45"/>
          <p:cNvSpPr txBox="1"/>
          <p:nvPr/>
        </p:nvSpPr>
        <p:spPr>
          <a:xfrm>
            <a:off x="2540700" y="5352184"/>
            <a:ext cx="283418" cy="369332"/>
          </a:xfrm>
          <a:prstGeom prst="rect">
            <a:avLst/>
          </a:prstGeom>
          <a:noFill/>
        </p:spPr>
        <p:txBody>
          <a:bodyPr wrap="square" rtlCol="0">
            <a:spAutoFit/>
          </a:bodyPr>
          <a:lstStyle/>
          <a:p>
            <a:r>
              <a:rPr lang="en-US" dirty="0"/>
              <a:t>6</a:t>
            </a:r>
          </a:p>
        </p:txBody>
      </p:sp>
      <p:sp>
        <p:nvSpPr>
          <p:cNvPr id="47" name="TextBox 46"/>
          <p:cNvSpPr txBox="1"/>
          <p:nvPr/>
        </p:nvSpPr>
        <p:spPr>
          <a:xfrm>
            <a:off x="3601844" y="5346350"/>
            <a:ext cx="437735" cy="369332"/>
          </a:xfrm>
          <a:prstGeom prst="rect">
            <a:avLst/>
          </a:prstGeom>
          <a:noFill/>
        </p:spPr>
        <p:txBody>
          <a:bodyPr wrap="square" rtlCol="0">
            <a:spAutoFit/>
          </a:bodyPr>
          <a:lstStyle/>
          <a:p>
            <a:r>
              <a:rPr lang="en-US" dirty="0"/>
              <a:t>10</a:t>
            </a:r>
          </a:p>
        </p:txBody>
      </p:sp>
      <p:sp>
        <p:nvSpPr>
          <p:cNvPr id="48" name="TextBox 47"/>
          <p:cNvSpPr txBox="1"/>
          <p:nvPr/>
        </p:nvSpPr>
        <p:spPr>
          <a:xfrm>
            <a:off x="4262551" y="5353897"/>
            <a:ext cx="453006" cy="369332"/>
          </a:xfrm>
          <a:prstGeom prst="rect">
            <a:avLst/>
          </a:prstGeom>
          <a:noFill/>
        </p:spPr>
        <p:txBody>
          <a:bodyPr wrap="square" rtlCol="0">
            <a:spAutoFit/>
          </a:bodyPr>
          <a:lstStyle/>
          <a:p>
            <a:r>
              <a:rPr lang="en-US" dirty="0"/>
              <a:t>11</a:t>
            </a:r>
          </a:p>
        </p:txBody>
      </p:sp>
      <p:sp>
        <p:nvSpPr>
          <p:cNvPr id="49" name="TextBox 48"/>
          <p:cNvSpPr txBox="1"/>
          <p:nvPr/>
        </p:nvSpPr>
        <p:spPr>
          <a:xfrm>
            <a:off x="4946591" y="5353897"/>
            <a:ext cx="448784" cy="369332"/>
          </a:xfrm>
          <a:prstGeom prst="rect">
            <a:avLst/>
          </a:prstGeom>
          <a:noFill/>
        </p:spPr>
        <p:txBody>
          <a:bodyPr wrap="square" rtlCol="0">
            <a:spAutoFit/>
          </a:bodyPr>
          <a:lstStyle/>
          <a:p>
            <a:r>
              <a:rPr lang="en-US" dirty="0"/>
              <a:t>13</a:t>
            </a:r>
          </a:p>
        </p:txBody>
      </p:sp>
      <mc:AlternateContent xmlns:mc="http://schemas.openxmlformats.org/markup-compatibility/2006" xmlns:a14="http://schemas.microsoft.com/office/drawing/2010/main">
        <mc:Choice Requires="a14">
          <p:graphicFrame>
            <p:nvGraphicFramePr>
              <p:cNvPr id="1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158276" y="633991"/>
              <a:ext cx="5718874" cy="3148356"/>
            </p:xfrm>
            <a:graphic>
              <a:graphicData uri="http://schemas.openxmlformats.org/drawingml/2006/table">
                <a:tbl>
                  <a:tblPr firstRow="1" bandRow="1">
                    <a:tableStyleId>{8EC20E35-A176-4012-BC5E-935CFFF8708E}</a:tableStyleId>
                  </a:tblPr>
                  <a:tblGrid>
                    <a:gridCol w="1031369">
                      <a:extLst>
                        <a:ext uri="{9D8B030D-6E8A-4147-A177-3AD203B41FA5}">
                          <a16:colId xmlns:a16="http://schemas.microsoft.com/office/drawing/2014/main" val="20000"/>
                        </a:ext>
                      </a:extLst>
                    </a:gridCol>
                    <a:gridCol w="968188">
                      <a:extLst>
                        <a:ext uri="{9D8B030D-6E8A-4147-A177-3AD203B41FA5}">
                          <a16:colId xmlns:a16="http://schemas.microsoft.com/office/drawing/2014/main" val="20003"/>
                        </a:ext>
                      </a:extLst>
                    </a:gridCol>
                    <a:gridCol w="1156448">
                      <a:extLst>
                        <a:ext uri="{9D8B030D-6E8A-4147-A177-3AD203B41FA5}">
                          <a16:colId xmlns:a16="http://schemas.microsoft.com/office/drawing/2014/main" val="20001"/>
                        </a:ext>
                      </a:extLst>
                    </a:gridCol>
                    <a:gridCol w="2562869">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Priority</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17"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nvPr>
            </p:nvGraphicFramePr>
            <p:xfrm>
              <a:off x="158276" y="633991"/>
              <a:ext cx="5718874" cy="3148356"/>
            </p:xfrm>
            <a:graphic>
              <a:graphicData uri="http://schemas.openxmlformats.org/drawingml/2006/table">
                <a:tbl>
                  <a:tblPr firstRow="1" bandRow="1">
                    <a:tableStyleId>{8EC20E35-A176-4012-BC5E-935CFFF8708E}</a:tableStyleId>
                  </a:tblPr>
                  <a:tblGrid>
                    <a:gridCol w="1031369">
                      <a:extLst>
                        <a:ext uri="{9D8B030D-6E8A-4147-A177-3AD203B41FA5}">
                          <a16:colId xmlns="" xmlns:a16="http://schemas.microsoft.com/office/drawing/2014/main" xmlns:a14="http://schemas.microsoft.com/office/drawing/2010/main" val="20000"/>
                        </a:ext>
                      </a:extLst>
                    </a:gridCol>
                    <a:gridCol w="968188"/>
                    <a:gridCol w="1156448">
                      <a:extLst>
                        <a:ext uri="{9D8B030D-6E8A-4147-A177-3AD203B41FA5}">
                          <a16:colId xmlns="" xmlns:a16="http://schemas.microsoft.com/office/drawing/2014/main" xmlns:a14="http://schemas.microsoft.com/office/drawing/2010/main" val="20001"/>
                        </a:ext>
                      </a:extLst>
                    </a:gridCol>
                    <a:gridCol w="2562869">
                      <a:extLst>
                        <a:ext uri="{9D8B030D-6E8A-4147-A177-3AD203B41FA5}">
                          <a16:colId xmlns="" xmlns:a16="http://schemas.microsoft.com/office/drawing/2014/main" xmlns:a14="http://schemas.microsoft.com/office/drawing/2010/main" val="20002"/>
                        </a:ext>
                      </a:extLst>
                    </a:gridCol>
                  </a:tblGrid>
                  <a:tr h="91440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smtClean="0">
                              <a:solidFill>
                                <a:schemeClr val="tx1"/>
                              </a:solidFill>
                              <a:latin typeface="+mn-lt"/>
                              <a:ea typeface="+mn-ea"/>
                              <a:cs typeface="+mn-cs"/>
                            </a:rPr>
                            <a:t>Priority</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7"/>
                          <a:stretch>
                            <a:fillRect l="-173158" t="-2667" r="-222105" b="-248000"/>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t="-167391" r="-453529" b="-304348"/>
                          </a:stretch>
                        </a:blipFill>
                      </a:tcPr>
                    </a:tc>
                    <a:tc>
                      <a:txBody>
                        <a:bodyPr/>
                        <a:lstStyle/>
                        <a:p>
                          <a:pPr algn="ctr"/>
                          <a:r>
                            <a:rPr lang="en-IN" sz="2000" baseline="0" dirty="0" smtClean="0">
                              <a:solidFill>
                                <a:schemeClr val="tx1"/>
                              </a:solidFill>
                            </a:rPr>
                            <a:t>2</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t="-267391" r="-453529" b="-204348"/>
                          </a:stretch>
                        </a:blipFill>
                      </a:tcPr>
                    </a:tc>
                    <a:tc>
                      <a:txBody>
                        <a:bodyPr/>
                        <a:lstStyle/>
                        <a:p>
                          <a:pPr algn="ctr"/>
                          <a:r>
                            <a:rPr lang="en-IN" sz="2000" baseline="0" dirty="0" smtClean="0">
                              <a:solidFill>
                                <a:schemeClr val="tx1"/>
                              </a:solidFill>
                            </a:rPr>
                            <a:t>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t="-371429" r="-453529" b="-106593"/>
                          </a:stretch>
                        </a:blipFill>
                      </a:tcPr>
                    </a:tc>
                    <a:tc>
                      <a:txBody>
                        <a:bodyPr/>
                        <a:lstStyle/>
                        <a:p>
                          <a:pPr algn="ctr"/>
                          <a:r>
                            <a:rPr lang="en-IN" sz="2000" baseline="0" dirty="0" smtClean="0">
                              <a:solidFill>
                                <a:schemeClr val="tx1"/>
                              </a:solidFill>
                            </a:rPr>
                            <a:t>3</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7"/>
                          <a:stretch>
                            <a:fillRect t="-466304" r="-453529" b="-5435"/>
                          </a:stretch>
                        </a:blipFill>
                      </a:tcPr>
                    </a:tc>
                    <a:tc>
                      <a:txBody>
                        <a:bodyPr/>
                        <a:lstStyle/>
                        <a:p>
                          <a:pPr algn="ctr"/>
                          <a:r>
                            <a:rPr lang="en-IN" sz="2000" baseline="0" dirty="0" smtClean="0">
                              <a:solidFill>
                                <a:schemeClr val="tx1"/>
                              </a:solidFill>
                            </a:rPr>
                            <a:t>1</a:t>
                          </a:r>
                          <a:endParaRPr lang="en-IN" sz="20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p:spTree>
    <p:extLst>
      <p:ext uri="{BB962C8B-B14F-4D97-AF65-F5344CB8AC3E}">
        <p14:creationId xmlns:p14="http://schemas.microsoft.com/office/powerpoint/2010/main" val="281370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9" grpId="0" animBg="1"/>
      <p:bldP spid="40" grpId="0" animBg="1"/>
      <p:bldP spid="42" grpId="0" animBg="1"/>
      <p:bldP spid="43" grpId="0" animBg="1"/>
      <p:bldP spid="45" grpId="0"/>
      <p:bldP spid="46" grpId="0"/>
      <p:bldP spid="47" grpId="0"/>
      <p:bldP spid="48" grpId="0"/>
      <p:bldP spid="49"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Non-Preemptive Priority Scheduling</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US"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1372737725"/>
                  </p:ext>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 xmlns:a16="http://schemas.microsoft.com/office/drawing/2014/main" xmlns:a14="http://schemas.microsoft.com/office/drawing/2010/main" val="20000"/>
                        </a:ext>
                      </a:extLst>
                    </a:gridCol>
                    <a:gridCol w="1547749">
                      <a:extLst>
                        <a:ext uri="{9D8B030D-6E8A-4147-A177-3AD203B41FA5}">
                          <a16:colId xmlns="" xmlns:a16="http://schemas.microsoft.com/office/drawing/2014/main" xmlns:a14="http://schemas.microsoft.com/office/drawing/2010/main" val="20001"/>
                        </a:ext>
                      </a:extLst>
                    </a:gridCol>
                    <a:gridCol w="3564248">
                      <a:extLst>
                        <a:ext uri="{9D8B030D-6E8A-4147-A177-3AD203B41FA5}">
                          <a16:colId xmlns="" xmlns:a16="http://schemas.microsoft.com/office/drawing/2014/main"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 xmlns:a16="http://schemas.microsoft.com/office/drawing/2014/main"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3774" r="-439" b="-15094"/>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 xmlns:a16="http://schemas.microsoft.com/office/drawing/2014/main"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289" t="-3774" r="-289" b="-16038"/>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80" name="TextBox 79"/>
          <p:cNvSpPr txBox="1"/>
          <p:nvPr/>
        </p:nvSpPr>
        <p:spPr>
          <a:xfrm>
            <a:off x="6349860" y="1497088"/>
            <a:ext cx="1381969" cy="542441"/>
          </a:xfrm>
          <a:prstGeom prst="rect">
            <a:avLst/>
          </a:prstGeom>
          <a:noFill/>
          <a:ln w="57150">
            <a:solidFill>
              <a:srgbClr val="FF0000"/>
            </a:solidFill>
          </a:ln>
        </p:spPr>
        <p:txBody>
          <a:bodyPr wrap="square" rtlCol="0">
            <a:spAutoFit/>
          </a:bodyPr>
          <a:lstStyle/>
          <a:p>
            <a:endParaRPr lang="en-IN" dirty="0"/>
          </a:p>
        </p:txBody>
      </p:sp>
      <p:sp>
        <p:nvSpPr>
          <p:cNvPr id="81" name="TextBox 80"/>
          <p:cNvSpPr txBox="1"/>
          <p:nvPr/>
        </p:nvSpPr>
        <p:spPr>
          <a:xfrm>
            <a:off x="1237649" y="1489663"/>
            <a:ext cx="1490790" cy="542441"/>
          </a:xfrm>
          <a:prstGeom prst="rect">
            <a:avLst/>
          </a:prstGeom>
          <a:noFill/>
          <a:ln w="57150">
            <a:solidFill>
              <a:srgbClr val="FF0000"/>
            </a:solidFill>
          </a:ln>
        </p:spPr>
        <p:txBody>
          <a:bodyPr wrap="square" rtlCol="0">
            <a:spAutoFit/>
          </a:bodyPr>
          <a:lstStyle/>
          <a:p>
            <a:endParaRPr lang="en-IN" dirty="0"/>
          </a:p>
        </p:txBody>
      </p:sp>
      <p:sp>
        <p:nvSpPr>
          <p:cNvPr id="82" name="TextBox 81"/>
          <p:cNvSpPr txBox="1"/>
          <p:nvPr/>
        </p:nvSpPr>
        <p:spPr>
          <a:xfrm>
            <a:off x="6344123" y="2038281"/>
            <a:ext cx="1381969" cy="542441"/>
          </a:xfrm>
          <a:prstGeom prst="rect">
            <a:avLst/>
          </a:prstGeom>
          <a:noFill/>
          <a:ln w="57150">
            <a:solidFill>
              <a:srgbClr val="FF0000"/>
            </a:solidFill>
          </a:ln>
        </p:spPr>
        <p:txBody>
          <a:bodyPr wrap="square" rtlCol="0">
            <a:spAutoFit/>
          </a:bodyPr>
          <a:lstStyle/>
          <a:p>
            <a:endParaRPr lang="en-IN" dirty="0"/>
          </a:p>
        </p:txBody>
      </p:sp>
      <p:sp>
        <p:nvSpPr>
          <p:cNvPr id="83" name="TextBox 82"/>
          <p:cNvSpPr txBox="1"/>
          <p:nvPr/>
        </p:nvSpPr>
        <p:spPr>
          <a:xfrm>
            <a:off x="1237649" y="2028905"/>
            <a:ext cx="1490790" cy="542441"/>
          </a:xfrm>
          <a:prstGeom prst="rect">
            <a:avLst/>
          </a:prstGeom>
          <a:noFill/>
          <a:ln w="57150">
            <a:solidFill>
              <a:srgbClr val="FF0000"/>
            </a:solidFill>
          </a:ln>
        </p:spPr>
        <p:txBody>
          <a:bodyPr wrap="square" rtlCol="0">
            <a:spAutoFit/>
          </a:bodyPr>
          <a:lstStyle/>
          <a:p>
            <a:endParaRPr lang="en-IN" dirty="0"/>
          </a:p>
        </p:txBody>
      </p:sp>
      <p:sp>
        <p:nvSpPr>
          <p:cNvPr id="84" name="TextBox 83"/>
          <p:cNvSpPr txBox="1"/>
          <p:nvPr/>
        </p:nvSpPr>
        <p:spPr>
          <a:xfrm>
            <a:off x="6334691" y="2601114"/>
            <a:ext cx="1381969" cy="542441"/>
          </a:xfrm>
          <a:prstGeom prst="rect">
            <a:avLst/>
          </a:prstGeom>
          <a:noFill/>
          <a:ln w="57150">
            <a:solidFill>
              <a:srgbClr val="FF0000"/>
            </a:solidFill>
          </a:ln>
        </p:spPr>
        <p:txBody>
          <a:bodyPr wrap="square" rtlCol="0">
            <a:spAutoFit/>
          </a:bodyPr>
          <a:lstStyle/>
          <a:p>
            <a:endParaRPr lang="en-IN" dirty="0"/>
          </a:p>
        </p:txBody>
      </p:sp>
      <p:sp>
        <p:nvSpPr>
          <p:cNvPr id="85" name="TextBox 84"/>
          <p:cNvSpPr txBox="1"/>
          <p:nvPr/>
        </p:nvSpPr>
        <p:spPr>
          <a:xfrm>
            <a:off x="1237649" y="2568147"/>
            <a:ext cx="1490790" cy="542441"/>
          </a:xfrm>
          <a:prstGeom prst="rect">
            <a:avLst/>
          </a:prstGeom>
          <a:noFill/>
          <a:ln w="57150">
            <a:solidFill>
              <a:srgbClr val="FF0000"/>
            </a:solidFill>
          </a:ln>
        </p:spPr>
        <p:txBody>
          <a:bodyPr wrap="square" rtlCol="0">
            <a:spAutoFit/>
          </a:bodyPr>
          <a:lstStyle/>
          <a:p>
            <a:endParaRPr lang="en-IN" dirty="0"/>
          </a:p>
        </p:txBody>
      </p:sp>
      <p:sp>
        <p:nvSpPr>
          <p:cNvPr id="86" name="TextBox 85"/>
          <p:cNvSpPr txBox="1"/>
          <p:nvPr/>
        </p:nvSpPr>
        <p:spPr>
          <a:xfrm>
            <a:off x="6325715" y="3142360"/>
            <a:ext cx="1381969" cy="542441"/>
          </a:xfrm>
          <a:prstGeom prst="rect">
            <a:avLst/>
          </a:prstGeom>
          <a:noFill/>
          <a:ln w="57150">
            <a:solidFill>
              <a:srgbClr val="FF0000"/>
            </a:solidFill>
          </a:ln>
        </p:spPr>
        <p:txBody>
          <a:bodyPr wrap="square" rtlCol="0">
            <a:spAutoFit/>
          </a:bodyPr>
          <a:lstStyle/>
          <a:p>
            <a:endParaRPr lang="en-IN" dirty="0"/>
          </a:p>
        </p:txBody>
      </p:sp>
      <p:sp>
        <p:nvSpPr>
          <p:cNvPr id="87" name="TextBox 86"/>
          <p:cNvSpPr txBox="1"/>
          <p:nvPr/>
        </p:nvSpPr>
        <p:spPr>
          <a:xfrm>
            <a:off x="1237649" y="3136535"/>
            <a:ext cx="1490790" cy="542441"/>
          </a:xfrm>
          <a:prstGeom prst="rect">
            <a:avLst/>
          </a:prstGeom>
          <a:noFill/>
          <a:ln w="57150">
            <a:solidFill>
              <a:srgbClr val="FF0000"/>
            </a:solidFill>
          </a:ln>
        </p:spPr>
        <p:txBody>
          <a:bodyPr wrap="square" rtlCol="0">
            <a:spAutoFit/>
          </a:bodyPr>
          <a:lstStyle/>
          <a:p>
            <a:endParaRPr lang="en-IN" dirty="0"/>
          </a:p>
        </p:txBody>
      </p:sp>
      <p:sp>
        <p:nvSpPr>
          <p:cNvPr id="97" name="TextBox 96"/>
          <p:cNvSpPr txBox="1"/>
          <p:nvPr/>
        </p:nvSpPr>
        <p:spPr>
          <a:xfrm>
            <a:off x="494590" y="5422470"/>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Turnaround Time </a:t>
            </a:r>
            <a:r>
              <a:rPr lang="en-US" sz="2000" dirty="0"/>
              <a:t>= Sum of all Process’s Turn Around Time/ Total Process</a:t>
            </a:r>
          </a:p>
          <a:p>
            <a:r>
              <a:rPr lang="en-US" sz="2000" dirty="0"/>
              <a:t>                                                    = (6+9+10+6)/4 </a:t>
            </a:r>
          </a:p>
          <a:p>
            <a:r>
              <a:rPr lang="en-US" sz="2000" dirty="0"/>
              <a:t>                                                    = 7.75 Ms.</a:t>
            </a:r>
          </a:p>
        </p:txBody>
      </p:sp>
      <p:sp>
        <p:nvSpPr>
          <p:cNvPr id="62" name="TextBox 61"/>
          <p:cNvSpPr txBox="1"/>
          <p:nvPr/>
        </p:nvSpPr>
        <p:spPr>
          <a:xfrm>
            <a:off x="7740160" y="1456696"/>
            <a:ext cx="2049246" cy="2222902"/>
          </a:xfrm>
          <a:prstGeom prst="rect">
            <a:avLst/>
          </a:prstGeom>
          <a:noFill/>
          <a:ln w="57150">
            <a:solidFill>
              <a:srgbClr val="FF0000"/>
            </a:solidFill>
          </a:ln>
        </p:spPr>
        <p:txBody>
          <a:bodyPr wrap="square" rtlCol="0">
            <a:spAutoFit/>
          </a:bodyPr>
          <a:lstStyle/>
          <a:p>
            <a:endParaRPr lang="en-IN" dirty="0"/>
          </a:p>
        </p:txBody>
      </p:sp>
      <mc:AlternateContent xmlns:mc="http://schemas.openxmlformats.org/markup-compatibility/2006" xmlns:a14="http://schemas.microsoft.com/office/drawing/2010/main">
        <mc:Choice Requires="a14">
          <p:sp>
            <p:nvSpPr>
              <p:cNvPr id="64" name="Rectangle 63"/>
              <p:cNvSpPr/>
              <p:nvPr/>
            </p:nvSpPr>
            <p:spPr>
              <a:xfrm>
                <a:off x="3915939" y="4243963"/>
                <a:ext cx="792502" cy="63342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3</m:t>
                          </m:r>
                        </m:sub>
                      </m:sSub>
                    </m:oMath>
                  </m:oMathPara>
                </a14:m>
                <a:endParaRPr lang="en-US" dirty="0"/>
              </a:p>
            </p:txBody>
          </p:sp>
        </mc:Choice>
        <mc:Fallback xmlns="">
          <p:sp>
            <p:nvSpPr>
              <p:cNvPr id="64" name="Rectangle 63"/>
              <p:cNvSpPr>
                <a:spLocks noRot="1" noChangeAspect="1" noMove="1" noResize="1" noEditPoints="1" noAdjustHandles="1" noChangeArrowheads="1" noChangeShapeType="1" noTextEdit="1"/>
              </p:cNvSpPr>
              <p:nvPr/>
            </p:nvSpPr>
            <p:spPr>
              <a:xfrm>
                <a:off x="3915939" y="4243963"/>
                <a:ext cx="792502" cy="633425"/>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3318978" y="4239419"/>
                <a:ext cx="596961" cy="63933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4</m:t>
                          </m:r>
                        </m:sub>
                      </m:sSub>
                    </m:oMath>
                  </m:oMathPara>
                </a14:m>
                <a:endParaRPr lang="en-US" dirty="0"/>
              </a:p>
            </p:txBody>
          </p:sp>
        </mc:Choice>
        <mc:Fallback xmlns="">
          <p:sp>
            <p:nvSpPr>
              <p:cNvPr id="65" name="Rectangle 64"/>
              <p:cNvSpPr>
                <a:spLocks noRot="1" noChangeAspect="1" noMove="1" noResize="1" noEditPoints="1" noAdjustHandles="1" noChangeArrowheads="1" noChangeShapeType="1" noTextEdit="1"/>
              </p:cNvSpPr>
              <p:nvPr/>
            </p:nvSpPr>
            <p:spPr>
              <a:xfrm>
                <a:off x="3318978" y="4239419"/>
                <a:ext cx="596961" cy="63933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p:cNvSpPr/>
              <p:nvPr/>
            </p:nvSpPr>
            <p:spPr>
              <a:xfrm>
                <a:off x="494590" y="4239420"/>
                <a:ext cx="1691564" cy="639338"/>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74" name="Rectangle 73"/>
              <p:cNvSpPr>
                <a:spLocks noRot="1" noChangeAspect="1" noMove="1" noResize="1" noEditPoints="1" noAdjustHandles="1" noChangeArrowheads="1" noChangeShapeType="1" noTextEdit="1"/>
              </p:cNvSpPr>
              <p:nvPr/>
            </p:nvSpPr>
            <p:spPr>
              <a:xfrm>
                <a:off x="494590" y="4239420"/>
                <a:ext cx="1691564" cy="639338"/>
              </a:xfrm>
              <a:prstGeom prst="rect">
                <a:avLst/>
              </a:prstGeom>
              <a:blipFill rotWithShape="0">
                <a:blip r:embed="rId7"/>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p:cNvSpPr/>
              <p:nvPr/>
            </p:nvSpPr>
            <p:spPr>
              <a:xfrm>
                <a:off x="2194088" y="4239421"/>
                <a:ext cx="1124890" cy="639337"/>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2</m:t>
                          </m:r>
                        </m:sub>
                      </m:sSub>
                    </m:oMath>
                  </m:oMathPara>
                </a14:m>
                <a:endParaRPr lang="en-US" dirty="0"/>
              </a:p>
            </p:txBody>
          </p:sp>
        </mc:Choice>
        <mc:Fallback xmlns="">
          <p:sp>
            <p:nvSpPr>
              <p:cNvPr id="75" name="Rectangle 74"/>
              <p:cNvSpPr>
                <a:spLocks noRot="1" noChangeAspect="1" noMove="1" noResize="1" noEditPoints="1" noAdjustHandles="1" noChangeArrowheads="1" noChangeShapeType="1" noTextEdit="1"/>
              </p:cNvSpPr>
              <p:nvPr/>
            </p:nvSpPr>
            <p:spPr>
              <a:xfrm>
                <a:off x="2194088" y="4239421"/>
                <a:ext cx="1124890" cy="639337"/>
              </a:xfrm>
              <a:prstGeom prst="rect">
                <a:avLst/>
              </a:prstGeom>
              <a:blipFill rotWithShape="0">
                <a:blip r:embed="rId8"/>
                <a:stretch>
                  <a:fillRect/>
                </a:stretch>
              </a:blipFill>
              <a:ln w="38100">
                <a:solidFill>
                  <a:srgbClr val="4B302A"/>
                </a:solidFill>
              </a:ln>
            </p:spPr>
            <p:txBody>
              <a:bodyPr/>
              <a:lstStyle/>
              <a:p>
                <a:r>
                  <a:rPr lang="en-US">
                    <a:noFill/>
                  </a:rPr>
                  <a:t> </a:t>
                </a:r>
              </a:p>
            </p:txBody>
          </p:sp>
        </mc:Fallback>
      </mc:AlternateContent>
      <p:cxnSp>
        <p:nvCxnSpPr>
          <p:cNvPr id="76" name="Straight Connector 75"/>
          <p:cNvCxnSpPr/>
          <p:nvPr/>
        </p:nvCxnSpPr>
        <p:spPr>
          <a:xfrm flipH="1">
            <a:off x="503813" y="4207901"/>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367829" y="4864007"/>
            <a:ext cx="318448" cy="381000"/>
          </a:xfrm>
          <a:prstGeom prst="rect">
            <a:avLst/>
          </a:prstGeom>
          <a:noFill/>
        </p:spPr>
        <p:txBody>
          <a:bodyPr wrap="square" rtlCol="0">
            <a:spAutoFit/>
          </a:bodyPr>
          <a:lstStyle/>
          <a:p>
            <a:r>
              <a:rPr lang="en-US" dirty="0"/>
              <a:t>0</a:t>
            </a:r>
          </a:p>
        </p:txBody>
      </p:sp>
      <p:sp>
        <p:nvSpPr>
          <p:cNvPr id="98" name="TextBox 97"/>
          <p:cNvSpPr txBox="1"/>
          <p:nvPr/>
        </p:nvSpPr>
        <p:spPr>
          <a:xfrm>
            <a:off x="2019960" y="4875675"/>
            <a:ext cx="283418" cy="369332"/>
          </a:xfrm>
          <a:prstGeom prst="rect">
            <a:avLst/>
          </a:prstGeom>
          <a:noFill/>
        </p:spPr>
        <p:txBody>
          <a:bodyPr wrap="square" rtlCol="0">
            <a:spAutoFit/>
          </a:bodyPr>
          <a:lstStyle/>
          <a:p>
            <a:r>
              <a:rPr lang="en-US" dirty="0"/>
              <a:t>6</a:t>
            </a:r>
          </a:p>
        </p:txBody>
      </p:sp>
      <p:sp>
        <p:nvSpPr>
          <p:cNvPr id="99" name="TextBox 98"/>
          <p:cNvSpPr txBox="1"/>
          <p:nvPr/>
        </p:nvSpPr>
        <p:spPr>
          <a:xfrm>
            <a:off x="3081104" y="4869841"/>
            <a:ext cx="437735" cy="369332"/>
          </a:xfrm>
          <a:prstGeom prst="rect">
            <a:avLst/>
          </a:prstGeom>
          <a:noFill/>
        </p:spPr>
        <p:txBody>
          <a:bodyPr wrap="square" rtlCol="0">
            <a:spAutoFit/>
          </a:bodyPr>
          <a:lstStyle/>
          <a:p>
            <a:r>
              <a:rPr lang="en-US" dirty="0"/>
              <a:t>10</a:t>
            </a:r>
          </a:p>
        </p:txBody>
      </p:sp>
      <p:sp>
        <p:nvSpPr>
          <p:cNvPr id="100" name="TextBox 99"/>
          <p:cNvSpPr txBox="1"/>
          <p:nvPr/>
        </p:nvSpPr>
        <p:spPr>
          <a:xfrm>
            <a:off x="3741811" y="4877388"/>
            <a:ext cx="453006" cy="369332"/>
          </a:xfrm>
          <a:prstGeom prst="rect">
            <a:avLst/>
          </a:prstGeom>
          <a:noFill/>
        </p:spPr>
        <p:txBody>
          <a:bodyPr wrap="square" rtlCol="0">
            <a:spAutoFit/>
          </a:bodyPr>
          <a:lstStyle/>
          <a:p>
            <a:r>
              <a:rPr lang="en-US" dirty="0"/>
              <a:t>11</a:t>
            </a:r>
          </a:p>
        </p:txBody>
      </p:sp>
      <p:sp>
        <p:nvSpPr>
          <p:cNvPr id="101" name="TextBox 100"/>
          <p:cNvSpPr txBox="1"/>
          <p:nvPr/>
        </p:nvSpPr>
        <p:spPr>
          <a:xfrm>
            <a:off x="4425851" y="4877388"/>
            <a:ext cx="448784" cy="369332"/>
          </a:xfrm>
          <a:prstGeom prst="rect">
            <a:avLst/>
          </a:prstGeom>
          <a:noFill/>
        </p:spPr>
        <p:txBody>
          <a:bodyPr wrap="square" rtlCol="0">
            <a:spAutoFit/>
          </a:bodyPr>
          <a:lstStyle/>
          <a:p>
            <a:r>
              <a:rPr lang="en-US" dirty="0"/>
              <a:t>13</a:t>
            </a:r>
          </a:p>
        </p:txBody>
      </p:sp>
      <p:sp>
        <p:nvSpPr>
          <p:cNvPr id="36" name="TextBox 35">
            <a:extLst>
              <a:ext uri="{FF2B5EF4-FFF2-40B4-BE49-F238E27FC236}">
                <a16:creationId xmlns:a16="http://schemas.microsoft.com/office/drawing/2014/main" id="{102F346B-8551-455F-8FAA-2A110D557541}"/>
              </a:ext>
            </a:extLst>
          </p:cNvPr>
          <p:cNvSpPr txBox="1"/>
          <p:nvPr/>
        </p:nvSpPr>
        <p:spPr>
          <a:xfrm>
            <a:off x="1946031" y="4900738"/>
            <a:ext cx="428691" cy="346397"/>
          </a:xfrm>
          <a:prstGeom prst="rect">
            <a:avLst/>
          </a:prstGeom>
          <a:noFill/>
          <a:ln w="57150">
            <a:solidFill>
              <a:srgbClr val="FF0000"/>
            </a:solidFill>
          </a:ln>
        </p:spPr>
        <p:txBody>
          <a:bodyPr wrap="square" rtlCol="0">
            <a:spAutoFit/>
          </a:bodyPr>
          <a:lstStyle/>
          <a:p>
            <a:endParaRPr lang="en-IN" dirty="0"/>
          </a:p>
        </p:txBody>
      </p:sp>
      <p:sp>
        <p:nvSpPr>
          <p:cNvPr id="37" name="TextBox 36">
            <a:extLst>
              <a:ext uri="{FF2B5EF4-FFF2-40B4-BE49-F238E27FC236}">
                <a16:creationId xmlns:a16="http://schemas.microsoft.com/office/drawing/2014/main" id="{01A3E8B8-1728-419B-8618-C3107905E952}"/>
              </a:ext>
            </a:extLst>
          </p:cNvPr>
          <p:cNvSpPr txBox="1"/>
          <p:nvPr/>
        </p:nvSpPr>
        <p:spPr>
          <a:xfrm>
            <a:off x="3083500" y="4885433"/>
            <a:ext cx="428691" cy="346397"/>
          </a:xfrm>
          <a:prstGeom prst="rect">
            <a:avLst/>
          </a:prstGeom>
          <a:noFill/>
          <a:ln w="57150">
            <a:solidFill>
              <a:srgbClr val="FF0000"/>
            </a:solidFill>
          </a:ln>
        </p:spPr>
        <p:txBody>
          <a:bodyPr wrap="square" rtlCol="0">
            <a:spAutoFit/>
          </a:bodyPr>
          <a:lstStyle/>
          <a:p>
            <a:endParaRPr lang="en-IN" dirty="0"/>
          </a:p>
        </p:txBody>
      </p:sp>
      <p:sp>
        <p:nvSpPr>
          <p:cNvPr id="38" name="TextBox 37">
            <a:extLst>
              <a:ext uri="{FF2B5EF4-FFF2-40B4-BE49-F238E27FC236}">
                <a16:creationId xmlns:a16="http://schemas.microsoft.com/office/drawing/2014/main" id="{6D54D202-DC90-41ED-90FC-AAE74C343E0F}"/>
              </a:ext>
            </a:extLst>
          </p:cNvPr>
          <p:cNvSpPr txBox="1"/>
          <p:nvPr/>
        </p:nvSpPr>
        <p:spPr>
          <a:xfrm>
            <a:off x="3698025" y="4898081"/>
            <a:ext cx="428691" cy="346397"/>
          </a:xfrm>
          <a:prstGeom prst="rect">
            <a:avLst/>
          </a:prstGeom>
          <a:noFill/>
          <a:ln w="57150">
            <a:solidFill>
              <a:srgbClr val="FF0000"/>
            </a:solidFill>
          </a:ln>
        </p:spPr>
        <p:txBody>
          <a:bodyPr wrap="square" rtlCol="0">
            <a:spAutoFit/>
          </a:bodyPr>
          <a:lstStyle/>
          <a:p>
            <a:endParaRPr lang="en-IN" dirty="0"/>
          </a:p>
        </p:txBody>
      </p:sp>
      <p:sp>
        <p:nvSpPr>
          <p:cNvPr id="41" name="TextBox 40">
            <a:extLst>
              <a:ext uri="{FF2B5EF4-FFF2-40B4-BE49-F238E27FC236}">
                <a16:creationId xmlns:a16="http://schemas.microsoft.com/office/drawing/2014/main" id="{89F0545F-3DF1-49C4-9580-D8F4276AA568}"/>
              </a:ext>
            </a:extLst>
          </p:cNvPr>
          <p:cNvSpPr txBox="1"/>
          <p:nvPr/>
        </p:nvSpPr>
        <p:spPr>
          <a:xfrm>
            <a:off x="4457237" y="4894829"/>
            <a:ext cx="428691" cy="346397"/>
          </a:xfrm>
          <a:prstGeom prst="rect">
            <a:avLst/>
          </a:prstGeom>
          <a:noFill/>
          <a:ln w="57150">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140106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par>
                                <p:cTn id="29" presetID="26" presetClass="emph" presetSubtype="0" repeatCount="indefinite" fill="hold" grpId="1" nodeType="withEffect">
                                  <p:stCondLst>
                                    <p:cond delay="0"/>
                                  </p:stCondLst>
                                  <p:endCondLst>
                                    <p:cond evt="onNext" delay="0">
                                      <p:tgtEl>
                                        <p:sldTgt/>
                                      </p:tgtEl>
                                    </p:cond>
                                  </p:endCondLst>
                                  <p:childTnLst>
                                    <p:animEffect transition="out" filter="fade">
                                      <p:cBhvr>
                                        <p:cTn id="30" dur="500" tmFilter="0, 0; .2, .5; .8, .5; 1, 0"/>
                                        <p:tgtEl>
                                          <p:spTgt spid="36"/>
                                        </p:tgtEl>
                                      </p:cBhvr>
                                    </p:animEffect>
                                    <p:animScale>
                                      <p:cBhvr>
                                        <p:cTn id="31" dur="250" autoRev="1" fill="hold"/>
                                        <p:tgtEl>
                                          <p:spTgt spid="36"/>
                                        </p:tgtEl>
                                      </p:cBhvr>
                                      <p:by x="105000" y="105000"/>
                                    </p:animScale>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99"/>
                                        </p:tgtEl>
                                        <p:attrNameLst>
                                          <p:attrName>style.visibility</p:attrName>
                                        </p:attrNameLst>
                                      </p:cBhvr>
                                      <p:to>
                                        <p:strVal val="visible"/>
                                      </p:to>
                                    </p:set>
                                  </p:childTnLst>
                                </p:cTn>
                              </p:par>
                              <p:par>
                                <p:cTn id="38" presetID="1" presetClass="exit" presetSubtype="0" fill="hold" grpId="2" nodeType="withEffect">
                                  <p:stCondLst>
                                    <p:cond delay="0"/>
                                  </p:stCondLst>
                                  <p:childTnLst>
                                    <p:set>
                                      <p:cBhvr>
                                        <p:cTn id="39" dur="1" fill="hold">
                                          <p:stCondLst>
                                            <p:cond delay="0"/>
                                          </p:stCondLst>
                                        </p:cTn>
                                        <p:tgtEl>
                                          <p:spTgt spid="36"/>
                                        </p:tgtEl>
                                        <p:attrNameLst>
                                          <p:attrName>style.visibility</p:attrName>
                                        </p:attrNameLst>
                                      </p:cBhvr>
                                      <p:to>
                                        <p:strVal val="hidden"/>
                                      </p:to>
                                    </p:set>
                                  </p:childTnLst>
                                </p:cTn>
                              </p:par>
                              <p:par>
                                <p:cTn id="40" presetID="1" presetClass="entr" presetSubtype="0" fill="hold" grpId="0" nodeType="withEffect">
                                  <p:stCondLst>
                                    <p:cond delay="0"/>
                                  </p:stCondLst>
                                  <p:childTnLst>
                                    <p:set>
                                      <p:cBhvr>
                                        <p:cTn id="41" dur="1" fill="hold">
                                          <p:stCondLst>
                                            <p:cond delay="0"/>
                                          </p:stCondLst>
                                        </p:cTn>
                                        <p:tgtEl>
                                          <p:spTgt spid="37"/>
                                        </p:tgtEl>
                                        <p:attrNameLst>
                                          <p:attrName>style.visibility</p:attrName>
                                        </p:attrNameLst>
                                      </p:cBhvr>
                                      <p:to>
                                        <p:strVal val="visible"/>
                                      </p:to>
                                    </p:set>
                                  </p:childTnLst>
                                </p:cTn>
                              </p:par>
                              <p:par>
                                <p:cTn id="42" presetID="26" presetClass="emph" presetSubtype="0" repeatCount="indefinite" fill="hold" grpId="1" nodeType="withEffect">
                                  <p:stCondLst>
                                    <p:cond delay="0"/>
                                  </p:stCondLst>
                                  <p:endCondLst>
                                    <p:cond evt="onNext" delay="0">
                                      <p:tgtEl>
                                        <p:sldTgt/>
                                      </p:tgtEl>
                                    </p:cond>
                                  </p:endCondLst>
                                  <p:childTnLst>
                                    <p:animEffect transition="out" filter="fade">
                                      <p:cBhvr>
                                        <p:cTn id="43" dur="500" tmFilter="0, 0; .2, .5; .8, .5; 1, 0"/>
                                        <p:tgtEl>
                                          <p:spTgt spid="37"/>
                                        </p:tgtEl>
                                      </p:cBhvr>
                                    </p:animEffect>
                                    <p:animScale>
                                      <p:cBhvr>
                                        <p:cTn id="44" dur="250" autoRev="1" fill="hold"/>
                                        <p:tgtEl>
                                          <p:spTgt spid="37"/>
                                        </p:tgtEl>
                                      </p:cBhvr>
                                      <p:by x="105000" y="105000"/>
                                    </p:animScale>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1"/>
                                        </p:tgtEl>
                                        <p:attrNameLst>
                                          <p:attrName>style.visibility</p:attrName>
                                        </p:attrNameLst>
                                      </p:cBhvr>
                                      <p:to>
                                        <p:strVal val="visible"/>
                                      </p:to>
                                    </p:set>
                                  </p:childTnLst>
                                </p:cTn>
                              </p:par>
                              <p:par>
                                <p:cTn id="51" presetID="1" presetClass="exit" presetSubtype="0" fill="hold" grpId="2" nodeType="withEffect">
                                  <p:stCondLst>
                                    <p:cond delay="0"/>
                                  </p:stCondLst>
                                  <p:childTnLst>
                                    <p:set>
                                      <p:cBhvr>
                                        <p:cTn id="52" dur="1" fill="hold">
                                          <p:stCondLst>
                                            <p:cond delay="0"/>
                                          </p:stCondLst>
                                        </p:cTn>
                                        <p:tgtEl>
                                          <p:spTgt spid="37"/>
                                        </p:tgtEl>
                                        <p:attrNameLst>
                                          <p:attrName>style.visibility</p:attrName>
                                        </p:attrNameLst>
                                      </p:cBhvr>
                                      <p:to>
                                        <p:strVal val="hidden"/>
                                      </p:to>
                                    </p:set>
                                  </p:childTnLst>
                                </p:cTn>
                              </p:par>
                              <p:par>
                                <p:cTn id="53" presetID="1"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26" presetClass="emph" presetSubtype="0" repeatCount="indefinite" fill="hold" grpId="1" nodeType="withEffect">
                                  <p:stCondLst>
                                    <p:cond delay="0"/>
                                  </p:stCondLst>
                                  <p:endCondLst>
                                    <p:cond evt="onNext" delay="0">
                                      <p:tgtEl>
                                        <p:sldTgt/>
                                      </p:tgtEl>
                                    </p:cond>
                                  </p:endCondLst>
                                  <p:childTnLst>
                                    <p:animEffect transition="out" filter="fade">
                                      <p:cBhvr>
                                        <p:cTn id="56" dur="500" tmFilter="0, 0; .2, .5; .8, .5; 1, 0"/>
                                        <p:tgtEl>
                                          <p:spTgt spid="41"/>
                                        </p:tgtEl>
                                      </p:cBhvr>
                                    </p:animEffect>
                                    <p:animScale>
                                      <p:cBhvr>
                                        <p:cTn id="57" dur="250" autoRev="1" fill="hold"/>
                                        <p:tgtEl>
                                          <p:spTgt spid="41"/>
                                        </p:tgtEl>
                                      </p:cBhvr>
                                      <p:by x="105000" y="105000"/>
                                    </p:animScale>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7"/>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00"/>
                                        </p:tgtEl>
                                        <p:attrNameLst>
                                          <p:attrName>style.visibility</p:attrName>
                                        </p:attrNameLst>
                                      </p:cBhvr>
                                      <p:to>
                                        <p:strVal val="visible"/>
                                      </p:to>
                                    </p:set>
                                  </p:childTnLst>
                                </p:cTn>
                              </p:par>
                              <p:par>
                                <p:cTn id="64" presetID="1" presetClass="exit" presetSubtype="0" fill="hold" grpId="2" nodeType="withEffect">
                                  <p:stCondLst>
                                    <p:cond delay="0"/>
                                  </p:stCondLst>
                                  <p:childTnLst>
                                    <p:set>
                                      <p:cBhvr>
                                        <p:cTn id="65" dur="1" fill="hold">
                                          <p:stCondLst>
                                            <p:cond delay="0"/>
                                          </p:stCondLst>
                                        </p:cTn>
                                        <p:tgtEl>
                                          <p:spTgt spid="41"/>
                                        </p:tgtEl>
                                        <p:attrNameLst>
                                          <p:attrName>style.visibility</p:attrName>
                                        </p:attrNameLst>
                                      </p:cBhvr>
                                      <p:to>
                                        <p:strVal val="hidden"/>
                                      </p:to>
                                    </p:set>
                                  </p:childTnLst>
                                </p:cTn>
                              </p:par>
                              <p:par>
                                <p:cTn id="66" presetID="1"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childTnLst>
                                </p:cTn>
                              </p:par>
                              <p:par>
                                <p:cTn id="68" presetID="26" presetClass="emph" presetSubtype="0" repeatCount="indefinite" fill="hold" grpId="1" nodeType="withEffect">
                                  <p:stCondLst>
                                    <p:cond delay="0"/>
                                  </p:stCondLst>
                                  <p:endCondLst>
                                    <p:cond evt="onNext" delay="0">
                                      <p:tgtEl>
                                        <p:sldTgt/>
                                      </p:tgtEl>
                                    </p:cond>
                                  </p:endCondLst>
                                  <p:childTnLst>
                                    <p:animEffect transition="out" filter="fade">
                                      <p:cBhvr>
                                        <p:cTn id="69" dur="500" tmFilter="0, 0; .2, .5; .8, .5; 1, 0"/>
                                        <p:tgtEl>
                                          <p:spTgt spid="38"/>
                                        </p:tgtEl>
                                      </p:cBhvr>
                                    </p:animEffect>
                                    <p:animScale>
                                      <p:cBhvr>
                                        <p:cTn id="70" dur="250" autoRev="1" fill="hold"/>
                                        <p:tgtEl>
                                          <p:spTgt spid="38"/>
                                        </p:tgtEl>
                                      </p:cBhvr>
                                      <p:by x="105000" y="105000"/>
                                    </p:animScale>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par>
                                <p:cTn id="75" presetID="1" presetClass="exit" presetSubtype="0" fill="hold" grpId="2" nodeType="withEffect">
                                  <p:stCondLst>
                                    <p:cond delay="0"/>
                                  </p:stCondLst>
                                  <p:childTnLst>
                                    <p:set>
                                      <p:cBhvr>
                                        <p:cTn id="76" dur="1" fill="hold">
                                          <p:stCondLst>
                                            <p:cond delay="0"/>
                                          </p:stCondLst>
                                        </p:cTn>
                                        <p:tgtEl>
                                          <p:spTgt spid="38"/>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2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0"/>
                                        </p:tgtEl>
                                        <p:attrNameLst>
                                          <p:attrName>style.visibility</p:attrName>
                                        </p:attrNameLst>
                                      </p:cBhvr>
                                      <p:to>
                                        <p:strVal val="visible"/>
                                      </p:to>
                                    </p:set>
                                  </p:childTnLst>
                                </p:cTn>
                              </p:par>
                              <p:par>
                                <p:cTn id="83" presetID="26" presetClass="emph" presetSubtype="0" repeatCount="indefinite" fill="hold" grpId="1" nodeType="withEffect">
                                  <p:stCondLst>
                                    <p:cond delay="0"/>
                                  </p:stCondLst>
                                  <p:endCondLst>
                                    <p:cond evt="onNext" delay="0">
                                      <p:tgtEl>
                                        <p:sldTgt/>
                                      </p:tgtEl>
                                    </p:cond>
                                  </p:endCondLst>
                                  <p:childTnLst>
                                    <p:animEffect transition="out" filter="fade">
                                      <p:cBhvr>
                                        <p:cTn id="84" dur="500" tmFilter="0, 0; .2, .5; .8, .5; 1, 0"/>
                                        <p:tgtEl>
                                          <p:spTgt spid="80"/>
                                        </p:tgtEl>
                                      </p:cBhvr>
                                    </p:animEffect>
                                    <p:animScale>
                                      <p:cBhvr>
                                        <p:cTn id="85" dur="250" autoRev="1" fill="hold"/>
                                        <p:tgtEl>
                                          <p:spTgt spid="80"/>
                                        </p:tgtEl>
                                      </p:cBhvr>
                                      <p:by x="105000" y="105000"/>
                                    </p:animScale>
                                  </p:childTnLst>
                                </p:cTn>
                              </p:par>
                              <p:par>
                                <p:cTn id="86" presetID="1" presetClass="entr" presetSubtype="0" fill="hold" grpId="0" nodeType="withEffect">
                                  <p:stCondLst>
                                    <p:cond delay="0"/>
                                  </p:stCondLst>
                                  <p:childTnLst>
                                    <p:set>
                                      <p:cBhvr>
                                        <p:cTn id="87" dur="1" fill="hold">
                                          <p:stCondLst>
                                            <p:cond delay="0"/>
                                          </p:stCondLst>
                                        </p:cTn>
                                        <p:tgtEl>
                                          <p:spTgt spid="81"/>
                                        </p:tgtEl>
                                        <p:attrNameLst>
                                          <p:attrName>style.visibility</p:attrName>
                                        </p:attrNameLst>
                                      </p:cBhvr>
                                      <p:to>
                                        <p:strVal val="visible"/>
                                      </p:to>
                                    </p:set>
                                  </p:childTnLst>
                                </p:cTn>
                              </p:par>
                              <p:par>
                                <p:cTn id="88" presetID="26" presetClass="emph" presetSubtype="0" repeatCount="indefinite" fill="hold" grpId="1" nodeType="withEffect">
                                  <p:stCondLst>
                                    <p:cond delay="0"/>
                                  </p:stCondLst>
                                  <p:endCondLst>
                                    <p:cond evt="onNext" delay="0">
                                      <p:tgtEl>
                                        <p:sldTgt/>
                                      </p:tgtEl>
                                    </p:cond>
                                  </p:endCondLst>
                                  <p:childTnLst>
                                    <p:animEffect transition="out" filter="fade">
                                      <p:cBhvr>
                                        <p:cTn id="89" dur="500" tmFilter="0, 0; .2, .5; .8, .5; 1, 0"/>
                                        <p:tgtEl>
                                          <p:spTgt spid="81"/>
                                        </p:tgtEl>
                                      </p:cBhvr>
                                    </p:animEffect>
                                    <p:animScale>
                                      <p:cBhvr>
                                        <p:cTn id="90" dur="250" autoRev="1" fill="hold"/>
                                        <p:tgtEl>
                                          <p:spTgt spid="81"/>
                                        </p:tgtEl>
                                      </p:cBhvr>
                                      <p:by x="105000" y="105000"/>
                                    </p:animScale>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5"/>
                                        </p:tgtEl>
                                        <p:attrNameLst>
                                          <p:attrName>style.visibility</p:attrName>
                                        </p:attrNameLst>
                                      </p:cBhvr>
                                      <p:to>
                                        <p:strVal val="visible"/>
                                      </p:to>
                                    </p:set>
                                  </p:childTnLst>
                                </p:cTn>
                              </p:par>
                              <p:par>
                                <p:cTn id="95" presetID="1" presetClass="exit" presetSubtype="0" fill="hold" grpId="2" nodeType="withEffect">
                                  <p:stCondLst>
                                    <p:cond delay="0"/>
                                  </p:stCondLst>
                                  <p:childTnLst>
                                    <p:set>
                                      <p:cBhvr>
                                        <p:cTn id="96" dur="1" fill="hold">
                                          <p:stCondLst>
                                            <p:cond delay="0"/>
                                          </p:stCondLst>
                                        </p:cTn>
                                        <p:tgtEl>
                                          <p:spTgt spid="80"/>
                                        </p:tgtEl>
                                        <p:attrNameLst>
                                          <p:attrName>style.visibility</p:attrName>
                                        </p:attrNameLst>
                                      </p:cBhvr>
                                      <p:to>
                                        <p:strVal val="hidden"/>
                                      </p:to>
                                    </p:set>
                                  </p:childTnLst>
                                </p:cTn>
                              </p:par>
                              <p:par>
                                <p:cTn id="97" presetID="1" presetClass="exit" presetSubtype="0" fill="hold" grpId="2" nodeType="withEffect">
                                  <p:stCondLst>
                                    <p:cond delay="0"/>
                                  </p:stCondLst>
                                  <p:childTnLst>
                                    <p:set>
                                      <p:cBhvr>
                                        <p:cTn id="98" dur="1" fill="hold">
                                          <p:stCondLst>
                                            <p:cond delay="0"/>
                                          </p:stCondLst>
                                        </p:cTn>
                                        <p:tgtEl>
                                          <p:spTgt spid="81"/>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82"/>
                                        </p:tgtEl>
                                        <p:attrNameLst>
                                          <p:attrName>style.visibility</p:attrName>
                                        </p:attrNameLst>
                                      </p:cBhvr>
                                      <p:to>
                                        <p:strVal val="visible"/>
                                      </p:to>
                                    </p:set>
                                  </p:childTnLst>
                                </p:cTn>
                              </p:par>
                              <p:par>
                                <p:cTn id="101" presetID="26" presetClass="emph" presetSubtype="0" repeatCount="indefinite" fill="hold" grpId="1" nodeType="withEffect">
                                  <p:stCondLst>
                                    <p:cond delay="0"/>
                                  </p:stCondLst>
                                  <p:endCondLst>
                                    <p:cond evt="onNext" delay="0">
                                      <p:tgtEl>
                                        <p:sldTgt/>
                                      </p:tgtEl>
                                    </p:cond>
                                  </p:endCondLst>
                                  <p:childTnLst>
                                    <p:animEffect transition="out" filter="fade">
                                      <p:cBhvr>
                                        <p:cTn id="102" dur="500" tmFilter="0, 0; .2, .5; .8, .5; 1, 0"/>
                                        <p:tgtEl>
                                          <p:spTgt spid="82"/>
                                        </p:tgtEl>
                                      </p:cBhvr>
                                    </p:animEffect>
                                    <p:animScale>
                                      <p:cBhvr>
                                        <p:cTn id="103" dur="250" autoRev="1" fill="hold"/>
                                        <p:tgtEl>
                                          <p:spTgt spid="82"/>
                                        </p:tgtEl>
                                      </p:cBhvr>
                                      <p:by x="105000" y="105000"/>
                                    </p:animScale>
                                  </p:childTnLst>
                                </p:cTn>
                              </p:par>
                              <p:par>
                                <p:cTn id="104" presetID="1" presetClass="entr" presetSubtype="0" fill="hold" grpId="0" nodeType="withEffect">
                                  <p:stCondLst>
                                    <p:cond delay="0"/>
                                  </p:stCondLst>
                                  <p:childTnLst>
                                    <p:set>
                                      <p:cBhvr>
                                        <p:cTn id="105" dur="1" fill="hold">
                                          <p:stCondLst>
                                            <p:cond delay="0"/>
                                          </p:stCondLst>
                                        </p:cTn>
                                        <p:tgtEl>
                                          <p:spTgt spid="83"/>
                                        </p:tgtEl>
                                        <p:attrNameLst>
                                          <p:attrName>style.visibility</p:attrName>
                                        </p:attrNameLst>
                                      </p:cBhvr>
                                      <p:to>
                                        <p:strVal val="visible"/>
                                      </p:to>
                                    </p:set>
                                  </p:childTnLst>
                                </p:cTn>
                              </p:par>
                              <p:par>
                                <p:cTn id="106" presetID="26" presetClass="emph" presetSubtype="0" repeatCount="indefinite" fill="hold" grpId="1" nodeType="withEffect">
                                  <p:stCondLst>
                                    <p:cond delay="0"/>
                                  </p:stCondLst>
                                  <p:endCondLst>
                                    <p:cond evt="onNext" delay="0">
                                      <p:tgtEl>
                                        <p:sldTgt/>
                                      </p:tgtEl>
                                    </p:cond>
                                  </p:endCondLst>
                                  <p:childTnLst>
                                    <p:animEffect transition="out" filter="fade">
                                      <p:cBhvr>
                                        <p:cTn id="107" dur="500" tmFilter="0, 0; .2, .5; .8, .5; 1, 0"/>
                                        <p:tgtEl>
                                          <p:spTgt spid="83"/>
                                        </p:tgtEl>
                                      </p:cBhvr>
                                    </p:animEffect>
                                    <p:animScale>
                                      <p:cBhvr>
                                        <p:cTn id="108" dur="250" autoRev="1" fill="hold"/>
                                        <p:tgtEl>
                                          <p:spTgt spid="83"/>
                                        </p:tgtEl>
                                      </p:cBhvr>
                                      <p:by x="105000" y="105000"/>
                                    </p:animScale>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39"/>
                                        </p:tgtEl>
                                        <p:attrNameLst>
                                          <p:attrName>style.visibility</p:attrName>
                                        </p:attrNameLst>
                                      </p:cBhvr>
                                      <p:to>
                                        <p:strVal val="visible"/>
                                      </p:to>
                                    </p:set>
                                  </p:childTnLst>
                                </p:cTn>
                              </p:par>
                              <p:par>
                                <p:cTn id="113" presetID="1" presetClass="exit" presetSubtype="0" fill="hold" grpId="2" nodeType="withEffect">
                                  <p:stCondLst>
                                    <p:cond delay="0"/>
                                  </p:stCondLst>
                                  <p:childTnLst>
                                    <p:set>
                                      <p:cBhvr>
                                        <p:cTn id="114" dur="1" fill="hold">
                                          <p:stCondLst>
                                            <p:cond delay="0"/>
                                          </p:stCondLst>
                                        </p:cTn>
                                        <p:tgtEl>
                                          <p:spTgt spid="82"/>
                                        </p:tgtEl>
                                        <p:attrNameLst>
                                          <p:attrName>style.visibility</p:attrName>
                                        </p:attrNameLst>
                                      </p:cBhvr>
                                      <p:to>
                                        <p:strVal val="hidden"/>
                                      </p:to>
                                    </p:set>
                                  </p:childTnLst>
                                </p:cTn>
                              </p:par>
                              <p:par>
                                <p:cTn id="115" presetID="1" presetClass="exit" presetSubtype="0" fill="hold" grpId="2" nodeType="withEffect">
                                  <p:stCondLst>
                                    <p:cond delay="0"/>
                                  </p:stCondLst>
                                  <p:childTnLst>
                                    <p:set>
                                      <p:cBhvr>
                                        <p:cTn id="116" dur="1" fill="hold">
                                          <p:stCondLst>
                                            <p:cond delay="0"/>
                                          </p:stCondLst>
                                        </p:cTn>
                                        <p:tgtEl>
                                          <p:spTgt spid="83"/>
                                        </p:tgtEl>
                                        <p:attrNameLst>
                                          <p:attrName>style.visibility</p:attrName>
                                        </p:attrNameLst>
                                      </p:cBhvr>
                                      <p:to>
                                        <p:strVal val="hidden"/>
                                      </p:to>
                                    </p:set>
                                  </p:childTnLst>
                                </p:cTn>
                              </p:par>
                              <p:par>
                                <p:cTn id="117" presetID="1" presetClass="entr" presetSubtype="0" fill="hold" grpId="0" nodeType="withEffect">
                                  <p:stCondLst>
                                    <p:cond delay="0"/>
                                  </p:stCondLst>
                                  <p:childTnLst>
                                    <p:set>
                                      <p:cBhvr>
                                        <p:cTn id="118" dur="1" fill="hold">
                                          <p:stCondLst>
                                            <p:cond delay="0"/>
                                          </p:stCondLst>
                                        </p:cTn>
                                        <p:tgtEl>
                                          <p:spTgt spid="84"/>
                                        </p:tgtEl>
                                        <p:attrNameLst>
                                          <p:attrName>style.visibility</p:attrName>
                                        </p:attrNameLst>
                                      </p:cBhvr>
                                      <p:to>
                                        <p:strVal val="visible"/>
                                      </p:to>
                                    </p:set>
                                  </p:childTnLst>
                                </p:cTn>
                              </p:par>
                              <p:par>
                                <p:cTn id="119" presetID="26" presetClass="emph" presetSubtype="0" repeatCount="indefinite" fill="hold" grpId="1" nodeType="withEffect">
                                  <p:stCondLst>
                                    <p:cond delay="0"/>
                                  </p:stCondLst>
                                  <p:endCondLst>
                                    <p:cond evt="onNext" delay="0">
                                      <p:tgtEl>
                                        <p:sldTgt/>
                                      </p:tgtEl>
                                    </p:cond>
                                  </p:endCondLst>
                                  <p:childTnLst>
                                    <p:animEffect transition="out" filter="fade">
                                      <p:cBhvr>
                                        <p:cTn id="120" dur="500" tmFilter="0, 0; .2, .5; .8, .5; 1, 0"/>
                                        <p:tgtEl>
                                          <p:spTgt spid="84"/>
                                        </p:tgtEl>
                                      </p:cBhvr>
                                    </p:animEffect>
                                    <p:animScale>
                                      <p:cBhvr>
                                        <p:cTn id="121" dur="250" autoRev="1" fill="hold"/>
                                        <p:tgtEl>
                                          <p:spTgt spid="84"/>
                                        </p:tgtEl>
                                      </p:cBhvr>
                                      <p:by x="105000" y="105000"/>
                                    </p:animScale>
                                  </p:childTnLst>
                                </p:cTn>
                              </p:par>
                              <p:par>
                                <p:cTn id="122" presetID="1" presetClass="entr" presetSubtype="0" fill="hold" grpId="0" nodeType="withEffect">
                                  <p:stCondLst>
                                    <p:cond delay="0"/>
                                  </p:stCondLst>
                                  <p:childTnLst>
                                    <p:set>
                                      <p:cBhvr>
                                        <p:cTn id="123" dur="1" fill="hold">
                                          <p:stCondLst>
                                            <p:cond delay="0"/>
                                          </p:stCondLst>
                                        </p:cTn>
                                        <p:tgtEl>
                                          <p:spTgt spid="85"/>
                                        </p:tgtEl>
                                        <p:attrNameLst>
                                          <p:attrName>style.visibility</p:attrName>
                                        </p:attrNameLst>
                                      </p:cBhvr>
                                      <p:to>
                                        <p:strVal val="visible"/>
                                      </p:to>
                                    </p:set>
                                  </p:childTnLst>
                                </p:cTn>
                              </p:par>
                              <p:par>
                                <p:cTn id="124" presetID="26" presetClass="emph" presetSubtype="0" repeatCount="indefinite" fill="hold" grpId="1" nodeType="withEffect">
                                  <p:stCondLst>
                                    <p:cond delay="0"/>
                                  </p:stCondLst>
                                  <p:endCondLst>
                                    <p:cond evt="onNext" delay="0">
                                      <p:tgtEl>
                                        <p:sldTgt/>
                                      </p:tgtEl>
                                    </p:cond>
                                  </p:endCondLst>
                                  <p:childTnLst>
                                    <p:animEffect transition="out" filter="fade">
                                      <p:cBhvr>
                                        <p:cTn id="125" dur="500" tmFilter="0, 0; .2, .5; .8, .5; 1, 0"/>
                                        <p:tgtEl>
                                          <p:spTgt spid="85"/>
                                        </p:tgtEl>
                                      </p:cBhvr>
                                    </p:animEffect>
                                    <p:animScale>
                                      <p:cBhvr>
                                        <p:cTn id="126" dur="250" autoRev="1" fill="hold"/>
                                        <p:tgtEl>
                                          <p:spTgt spid="85"/>
                                        </p:tgtEl>
                                      </p:cBhvr>
                                      <p:by x="105000" y="105000"/>
                                    </p:animScale>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40"/>
                                        </p:tgtEl>
                                        <p:attrNameLst>
                                          <p:attrName>style.visibility</p:attrName>
                                        </p:attrNameLst>
                                      </p:cBhvr>
                                      <p:to>
                                        <p:strVal val="visible"/>
                                      </p:to>
                                    </p:set>
                                  </p:childTnLst>
                                </p:cTn>
                              </p:par>
                              <p:par>
                                <p:cTn id="131" presetID="1" presetClass="exit" presetSubtype="0" fill="hold" grpId="2" nodeType="withEffect">
                                  <p:stCondLst>
                                    <p:cond delay="0"/>
                                  </p:stCondLst>
                                  <p:childTnLst>
                                    <p:set>
                                      <p:cBhvr>
                                        <p:cTn id="132" dur="1" fill="hold">
                                          <p:stCondLst>
                                            <p:cond delay="0"/>
                                          </p:stCondLst>
                                        </p:cTn>
                                        <p:tgtEl>
                                          <p:spTgt spid="84"/>
                                        </p:tgtEl>
                                        <p:attrNameLst>
                                          <p:attrName>style.visibility</p:attrName>
                                        </p:attrNameLst>
                                      </p:cBhvr>
                                      <p:to>
                                        <p:strVal val="hidden"/>
                                      </p:to>
                                    </p:set>
                                  </p:childTnLst>
                                </p:cTn>
                              </p:par>
                              <p:par>
                                <p:cTn id="133" presetID="1" presetClass="exit" presetSubtype="0" fill="hold" grpId="2" nodeType="withEffect">
                                  <p:stCondLst>
                                    <p:cond delay="0"/>
                                  </p:stCondLst>
                                  <p:childTnLst>
                                    <p:set>
                                      <p:cBhvr>
                                        <p:cTn id="134" dur="1" fill="hold">
                                          <p:stCondLst>
                                            <p:cond delay="0"/>
                                          </p:stCondLst>
                                        </p:cTn>
                                        <p:tgtEl>
                                          <p:spTgt spid="85"/>
                                        </p:tgtEl>
                                        <p:attrNameLst>
                                          <p:attrName>style.visibility</p:attrName>
                                        </p:attrNameLst>
                                      </p:cBhvr>
                                      <p:to>
                                        <p:strVal val="hidden"/>
                                      </p:to>
                                    </p:set>
                                  </p:childTnLst>
                                </p:cTn>
                              </p:par>
                              <p:par>
                                <p:cTn id="135" presetID="1" presetClass="entr" presetSubtype="0" fill="hold" grpId="0" nodeType="withEffect">
                                  <p:stCondLst>
                                    <p:cond delay="0"/>
                                  </p:stCondLst>
                                  <p:childTnLst>
                                    <p:set>
                                      <p:cBhvr>
                                        <p:cTn id="136" dur="1" fill="hold">
                                          <p:stCondLst>
                                            <p:cond delay="0"/>
                                          </p:stCondLst>
                                        </p:cTn>
                                        <p:tgtEl>
                                          <p:spTgt spid="86"/>
                                        </p:tgtEl>
                                        <p:attrNameLst>
                                          <p:attrName>style.visibility</p:attrName>
                                        </p:attrNameLst>
                                      </p:cBhvr>
                                      <p:to>
                                        <p:strVal val="visible"/>
                                      </p:to>
                                    </p:set>
                                  </p:childTnLst>
                                </p:cTn>
                              </p:par>
                              <p:par>
                                <p:cTn id="137" presetID="26" presetClass="emph" presetSubtype="0" repeatCount="indefinite" fill="hold" grpId="1" nodeType="withEffect">
                                  <p:stCondLst>
                                    <p:cond delay="0"/>
                                  </p:stCondLst>
                                  <p:endCondLst>
                                    <p:cond evt="onNext" delay="0">
                                      <p:tgtEl>
                                        <p:sldTgt/>
                                      </p:tgtEl>
                                    </p:cond>
                                  </p:endCondLst>
                                  <p:childTnLst>
                                    <p:animEffect transition="out" filter="fade">
                                      <p:cBhvr>
                                        <p:cTn id="138" dur="500" tmFilter="0, 0; .2, .5; .8, .5; 1, 0"/>
                                        <p:tgtEl>
                                          <p:spTgt spid="86"/>
                                        </p:tgtEl>
                                      </p:cBhvr>
                                    </p:animEffect>
                                    <p:animScale>
                                      <p:cBhvr>
                                        <p:cTn id="139" dur="250" autoRev="1" fill="hold"/>
                                        <p:tgtEl>
                                          <p:spTgt spid="86"/>
                                        </p:tgtEl>
                                      </p:cBhvr>
                                      <p:by x="105000" y="105000"/>
                                    </p:animScale>
                                  </p:childTnLst>
                                </p:cTn>
                              </p:par>
                              <p:par>
                                <p:cTn id="140" presetID="1" presetClass="entr" presetSubtype="0" fill="hold" grpId="0" nodeType="withEffect">
                                  <p:stCondLst>
                                    <p:cond delay="0"/>
                                  </p:stCondLst>
                                  <p:childTnLst>
                                    <p:set>
                                      <p:cBhvr>
                                        <p:cTn id="141" dur="1" fill="hold">
                                          <p:stCondLst>
                                            <p:cond delay="0"/>
                                          </p:stCondLst>
                                        </p:cTn>
                                        <p:tgtEl>
                                          <p:spTgt spid="87"/>
                                        </p:tgtEl>
                                        <p:attrNameLst>
                                          <p:attrName>style.visibility</p:attrName>
                                        </p:attrNameLst>
                                      </p:cBhvr>
                                      <p:to>
                                        <p:strVal val="visible"/>
                                      </p:to>
                                    </p:set>
                                  </p:childTnLst>
                                </p:cTn>
                              </p:par>
                              <p:par>
                                <p:cTn id="142" presetID="26" presetClass="emph" presetSubtype="0" repeatCount="indefinite" fill="hold" grpId="1" nodeType="withEffect">
                                  <p:stCondLst>
                                    <p:cond delay="0"/>
                                  </p:stCondLst>
                                  <p:endCondLst>
                                    <p:cond evt="onNext" delay="0">
                                      <p:tgtEl>
                                        <p:sldTgt/>
                                      </p:tgtEl>
                                    </p:cond>
                                  </p:endCondLst>
                                  <p:childTnLst>
                                    <p:animEffect transition="out" filter="fade">
                                      <p:cBhvr>
                                        <p:cTn id="143" dur="500" tmFilter="0, 0; .2, .5; .8, .5; 1, 0"/>
                                        <p:tgtEl>
                                          <p:spTgt spid="87"/>
                                        </p:tgtEl>
                                      </p:cBhvr>
                                    </p:animEffect>
                                    <p:animScale>
                                      <p:cBhvr>
                                        <p:cTn id="144" dur="250" autoRev="1" fill="hold"/>
                                        <p:tgtEl>
                                          <p:spTgt spid="87"/>
                                        </p:tgtEl>
                                      </p:cBhvr>
                                      <p:by x="105000" y="105000"/>
                                    </p:animScale>
                                  </p:childTnLst>
                                </p:cTn>
                              </p:par>
                            </p:childTnLst>
                          </p:cTn>
                        </p:par>
                      </p:childTnLst>
                    </p:cTn>
                  </p:par>
                  <p:par>
                    <p:cTn id="145" fill="hold">
                      <p:stCondLst>
                        <p:cond delay="indefinite"/>
                      </p:stCondLst>
                      <p:childTnLst>
                        <p:par>
                          <p:cTn id="146" fill="hold">
                            <p:stCondLst>
                              <p:cond delay="0"/>
                            </p:stCondLst>
                            <p:childTnLst>
                              <p:par>
                                <p:cTn id="147" presetID="1" presetClass="exit" presetSubtype="0" fill="hold" grpId="2" nodeType="clickEffect">
                                  <p:stCondLst>
                                    <p:cond delay="0"/>
                                  </p:stCondLst>
                                  <p:childTnLst>
                                    <p:set>
                                      <p:cBhvr>
                                        <p:cTn id="148" dur="1" fill="hold">
                                          <p:stCondLst>
                                            <p:cond delay="0"/>
                                          </p:stCondLst>
                                        </p:cTn>
                                        <p:tgtEl>
                                          <p:spTgt spid="86"/>
                                        </p:tgtEl>
                                        <p:attrNameLst>
                                          <p:attrName>style.visibility</p:attrName>
                                        </p:attrNameLst>
                                      </p:cBhvr>
                                      <p:to>
                                        <p:strVal val="hidden"/>
                                      </p:to>
                                    </p:set>
                                  </p:childTnLst>
                                </p:cTn>
                              </p:par>
                              <p:par>
                                <p:cTn id="149" presetID="1" presetClass="exit" presetSubtype="0" fill="hold" grpId="2" nodeType="withEffect">
                                  <p:stCondLst>
                                    <p:cond delay="0"/>
                                  </p:stCondLst>
                                  <p:childTnLst>
                                    <p:set>
                                      <p:cBhvr>
                                        <p:cTn id="150" dur="1" fill="hold">
                                          <p:stCondLst>
                                            <p:cond delay="0"/>
                                          </p:stCondLst>
                                        </p:cTn>
                                        <p:tgtEl>
                                          <p:spTgt spid="87"/>
                                        </p:tgtEl>
                                        <p:attrNameLst>
                                          <p:attrName>style.visibility</p:attrName>
                                        </p:attrNameLst>
                                      </p:cBhvr>
                                      <p:to>
                                        <p:strVal val="hidden"/>
                                      </p:to>
                                    </p:set>
                                  </p:childTnLst>
                                </p:cTn>
                              </p:par>
                              <p:par>
                                <p:cTn id="151" presetID="1" presetClass="entr" presetSubtype="0" fill="hold" grpId="0" nodeType="withEffect">
                                  <p:stCondLst>
                                    <p:cond delay="0"/>
                                  </p:stCondLst>
                                  <p:childTnLst>
                                    <p:set>
                                      <p:cBhvr>
                                        <p:cTn id="152" dur="1" fill="hold">
                                          <p:stCondLst>
                                            <p:cond delay="0"/>
                                          </p:stCondLst>
                                        </p:cTn>
                                        <p:tgtEl>
                                          <p:spTgt spid="97"/>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62"/>
                                        </p:tgtEl>
                                        <p:attrNameLst>
                                          <p:attrName>style.visibility</p:attrName>
                                        </p:attrNameLst>
                                      </p:cBhvr>
                                      <p:to>
                                        <p:strVal val="visible"/>
                                      </p:to>
                                    </p:set>
                                  </p:childTnLst>
                                </p:cTn>
                              </p:par>
                              <p:par>
                                <p:cTn id="155" presetID="26" presetClass="emph" presetSubtype="0" repeatCount="indefinite" fill="hold" grpId="1" nodeType="withEffect">
                                  <p:stCondLst>
                                    <p:cond delay="0"/>
                                  </p:stCondLst>
                                  <p:endCondLst>
                                    <p:cond evt="onNext" delay="0">
                                      <p:tgtEl>
                                        <p:sldTgt/>
                                      </p:tgtEl>
                                    </p:cond>
                                  </p:endCondLst>
                                  <p:childTnLst>
                                    <p:animEffect transition="out" filter="fade">
                                      <p:cBhvr>
                                        <p:cTn id="156" dur="500" tmFilter="0, 0; .2, .5; .8, .5; 1, 0"/>
                                        <p:tgtEl>
                                          <p:spTgt spid="62"/>
                                        </p:tgtEl>
                                      </p:cBhvr>
                                    </p:animEffect>
                                    <p:animScale>
                                      <p:cBhvr>
                                        <p:cTn id="157" dur="250" autoRev="1" fill="hold"/>
                                        <p:tgtEl>
                                          <p:spTgt spid="6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0" grpId="1" animBg="1"/>
      <p:bldP spid="80" grpId="2" animBg="1"/>
      <p:bldP spid="81" grpId="0" animBg="1"/>
      <p:bldP spid="81" grpId="1" animBg="1"/>
      <p:bldP spid="81" grpId="2" animBg="1"/>
      <p:bldP spid="82" grpId="0" animBg="1"/>
      <p:bldP spid="82" grpId="1" animBg="1"/>
      <p:bldP spid="82" grpId="2" animBg="1"/>
      <p:bldP spid="83" grpId="0" animBg="1"/>
      <p:bldP spid="83" grpId="1" animBg="1"/>
      <p:bldP spid="83" grpId="2" animBg="1"/>
      <p:bldP spid="84" grpId="0" animBg="1"/>
      <p:bldP spid="84" grpId="1" animBg="1"/>
      <p:bldP spid="84" grpId="2" animBg="1"/>
      <p:bldP spid="85" grpId="0" animBg="1"/>
      <p:bldP spid="85" grpId="1" animBg="1"/>
      <p:bldP spid="85" grpId="2" animBg="1"/>
      <p:bldP spid="86" grpId="0" animBg="1"/>
      <p:bldP spid="86" grpId="1" animBg="1"/>
      <p:bldP spid="86" grpId="2" animBg="1"/>
      <p:bldP spid="87" grpId="0" animBg="1"/>
      <p:bldP spid="87" grpId="1" animBg="1"/>
      <p:bldP spid="87" grpId="2" animBg="1"/>
      <p:bldP spid="97" grpId="0"/>
      <p:bldP spid="62" grpId="0" animBg="1"/>
      <p:bldP spid="62" grpId="1" animBg="1"/>
      <p:bldP spid="64" grpId="0" animBg="1"/>
      <p:bldP spid="65" grpId="0" animBg="1"/>
      <p:bldP spid="74" grpId="0" animBg="1"/>
      <p:bldP spid="75" grpId="0" animBg="1"/>
      <p:bldP spid="77" grpId="0"/>
      <p:bldP spid="98" grpId="0"/>
      <p:bldP spid="99" grpId="0"/>
      <p:bldP spid="100" grpId="0"/>
      <p:bldP spid="101" grpId="0"/>
      <p:bldP spid="36" grpId="0" animBg="1"/>
      <p:bldP spid="36" grpId="1" animBg="1"/>
      <p:bldP spid="36" grpId="2" animBg="1"/>
      <p:bldP spid="37" grpId="0" animBg="1"/>
      <p:bldP spid="37" grpId="1" animBg="1"/>
      <p:bldP spid="37" grpId="2" animBg="1"/>
      <p:bldP spid="38" grpId="0" animBg="1"/>
      <p:bldP spid="38" grpId="1" animBg="1"/>
      <p:bldP spid="38" grpId="2" animBg="1"/>
      <p:bldP spid="41" grpId="0" animBg="1"/>
      <p:bldP spid="41" grpId="1" animBg="1"/>
      <p:bldP spid="41" grpId="2"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Non-Preemptive Priority Scheduling</a:t>
            </a:r>
            <a:endParaRPr lang="en-IN" dirty="0"/>
          </a:p>
        </p:txBody>
      </p:sp>
      <p:sp>
        <p:nvSpPr>
          <p:cNvPr id="42" name="Content Placeholder 41"/>
          <p:cNvSpPr>
            <a:spLocks noGrp="1"/>
          </p:cNvSpPr>
          <p:nvPr>
            <p:ph idx="1"/>
          </p:nvPr>
        </p:nvSpPr>
        <p:spPr/>
        <p:txBody>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pPr marL="0" indent="0">
              <a:buNone/>
            </a:pPr>
            <a:endParaRPr lang="en-US" dirty="0"/>
          </a:p>
          <a:p>
            <a:endParaRPr lang="en-IN" dirty="0"/>
          </a:p>
        </p:txBody>
      </p:sp>
      <mc:AlternateContent xmlns:mc="http://schemas.openxmlformats.org/markup-compatibility/2006" xmlns:a14="http://schemas.microsoft.com/office/drawing/2010/main">
        <mc:Choice Requires="a14">
          <p:graphicFrame>
            <p:nvGraphicFramePr>
              <p:cNvPr id="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a16="http://schemas.microsoft.com/office/drawing/2014/main" val="20000"/>
                        </a:ext>
                      </a:extLst>
                    </a:gridCol>
                    <a:gridCol w="1547749">
                      <a:extLst>
                        <a:ext uri="{9D8B030D-6E8A-4147-A177-3AD203B41FA5}">
                          <a16:colId xmlns:a16="http://schemas.microsoft.com/office/drawing/2014/main" val="20001"/>
                        </a:ext>
                      </a:extLst>
                    </a:gridCol>
                    <a:gridCol w="3564248">
                      <a:extLst>
                        <a:ext uri="{9D8B030D-6E8A-4147-A177-3AD203B41FA5}">
                          <a16:colId xmlns:a16="http://schemas.microsoft.com/office/drawing/2014/main" val="20002"/>
                        </a:ext>
                      </a:extLst>
                    </a:gridCol>
                  </a:tblGrid>
                  <a:tr h="301847">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sz="1800" b="1" kern="1200" dirty="0">
                              <a:solidFill>
                                <a:schemeClr val="tx1"/>
                              </a:solidFill>
                              <a:latin typeface="+mn-lt"/>
                              <a:ea typeface="+mn-ea"/>
                              <a:cs typeface="+mn-cs"/>
                            </a:rPr>
                            <a:t>Arrival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1</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2</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IN" sz="1900" b="0" i="1" baseline="0" smtClean="0">
                                        <a:solidFill>
                                          <a:schemeClr val="tx1"/>
                                        </a:solidFill>
                                        <a:latin typeface="Cambria Math" panose="02040503050406030204" pitchFamily="18" charset="0"/>
                                      </a:rPr>
                                      <m:t>3</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58489">
                    <a:tc>
                      <a:txBody>
                        <a:bodyPr/>
                        <a:lstStyle/>
                        <a:p>
                          <a:pPr algn="l"/>
                          <a14:m>
                            <m:oMathPara xmlns:m="http://schemas.openxmlformats.org/officeDocument/2006/math">
                              <m:oMathParaPr>
                                <m:jc m:val="centerGroup"/>
                              </m:oMathParaPr>
                              <m:oMath xmlns:m="http://schemas.openxmlformats.org/officeDocument/2006/math">
                                <m:sSub>
                                  <m:sSubPr>
                                    <m:ctrlPr>
                                      <a:rPr lang="en-IN" sz="1900" i="1" baseline="0" smtClean="0">
                                        <a:solidFill>
                                          <a:schemeClr val="tx1"/>
                                        </a:solidFill>
                                        <a:latin typeface="Cambria Math" panose="02040503050406030204" pitchFamily="18" charset="0"/>
                                      </a:rPr>
                                    </m:ctrlPr>
                                  </m:sSubPr>
                                  <m:e>
                                    <m:r>
                                      <a:rPr lang="en-IN" sz="1900" b="0" i="1" baseline="0" smtClean="0">
                                        <a:solidFill>
                                          <a:schemeClr val="tx1"/>
                                        </a:solidFill>
                                        <a:latin typeface="Cambria Math" panose="02040503050406030204" pitchFamily="18" charset="0"/>
                                      </a:rPr>
                                      <m:t>𝑃</m:t>
                                    </m:r>
                                  </m:e>
                                  <m:sub>
                                    <m:r>
                                      <a:rPr lang="en-US" sz="1900" b="0" i="1" baseline="0" smtClean="0">
                                        <a:solidFill>
                                          <a:schemeClr val="tx1"/>
                                        </a:solidFill>
                                        <a:latin typeface="Cambria Math" panose="02040503050406030204" pitchFamily="18" charset="0"/>
                                      </a:rPr>
                                      <m:t>4</m:t>
                                    </m:r>
                                  </m:sub>
                                </m:sSub>
                              </m:oMath>
                            </m:oMathPara>
                          </a14:m>
                          <a:endParaRPr lang="en-IN" sz="1900" baseline="0" dirty="0">
                            <a:solidFill>
                              <a:schemeClr val="tx1"/>
                            </a:solidFill>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mc:Choice>
        <mc:Fallback xmlns="">
          <p:graphicFrame>
            <p:nvGraphicFramePr>
              <p:cNvPr id="4"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extLst>
                  <p:ext uri="{D42A27DB-BD31-4B8C-83A1-F6EECF244321}">
                    <p14:modId xmlns:p14="http://schemas.microsoft.com/office/powerpoint/2010/main" val="1372737725"/>
                  </p:ext>
                </p:extLst>
              </p:nvPr>
            </p:nvGraphicFramePr>
            <p:xfrm>
              <a:off x="273646" y="832449"/>
              <a:ext cx="6047043" cy="2874036"/>
            </p:xfrm>
            <a:graphic>
              <a:graphicData uri="http://schemas.openxmlformats.org/drawingml/2006/table">
                <a:tbl>
                  <a:tblPr firstRow="1" bandRow="1">
                    <a:tableStyleId>{8EC20E35-A176-4012-BC5E-935CFFF8708E}</a:tableStyleId>
                  </a:tblPr>
                  <a:tblGrid>
                    <a:gridCol w="935046">
                      <a:extLst>
                        <a:ext uri="{9D8B030D-6E8A-4147-A177-3AD203B41FA5}">
                          <a16:colId xmlns="" xmlns:a16="http://schemas.microsoft.com/office/drawing/2014/main" xmlns:a14="http://schemas.microsoft.com/office/drawing/2010/main" val="20000"/>
                        </a:ext>
                      </a:extLst>
                    </a:gridCol>
                    <a:gridCol w="1547749">
                      <a:extLst>
                        <a:ext uri="{9D8B030D-6E8A-4147-A177-3AD203B41FA5}">
                          <a16:colId xmlns="" xmlns:a16="http://schemas.microsoft.com/office/drawing/2014/main" xmlns:a14="http://schemas.microsoft.com/office/drawing/2010/main" val="20001"/>
                        </a:ext>
                      </a:extLst>
                    </a:gridCol>
                    <a:gridCol w="3564248">
                      <a:extLst>
                        <a:ext uri="{9D8B030D-6E8A-4147-A177-3AD203B41FA5}">
                          <a16:colId xmlns="" xmlns:a16="http://schemas.microsoft.com/office/drawing/2014/main" xmlns:a14="http://schemas.microsoft.com/office/drawing/2010/main" val="20002"/>
                        </a:ext>
                      </a:extLst>
                    </a:gridCol>
                  </a:tblGrid>
                  <a:tr h="640080">
                    <a:tc>
                      <a:txBody>
                        <a:bodyPr/>
                        <a:lstStyle/>
                        <a:p>
                          <a:pPr algn="ctr"/>
                          <a:r>
                            <a:rPr lang="en-US" b="1" dirty="0">
                              <a:solidFill>
                                <a:schemeClr val="tx1"/>
                              </a:solidFill>
                            </a:rPr>
                            <a:t>Process</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2"/>
                          <a:stretch>
                            <a:fillRect l="-60630" t="-3810" r="-230709" b="-355238"/>
                          </a:stretch>
                        </a:blipFill>
                      </a:tcPr>
                    </a:tc>
                    <a:tc>
                      <a:txBody>
                        <a:bodyPr/>
                        <a:lstStyle/>
                        <a:p>
                          <a:pPr algn="ctr"/>
                          <a:r>
                            <a:rPr lang="en-US" b="1" dirty="0">
                              <a:solidFill>
                                <a:schemeClr val="tx1"/>
                              </a:solidFill>
                            </a:rPr>
                            <a:t>Time required for completion (∆T) (CPU Burst Time)</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 xmlns:a16="http://schemas.microsoft.com/office/drawing/2014/main" xmlns:a14="http://schemas.microsoft.com/office/drawing/2010/main" val="10001"/>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118478" r="-545455" b="-305435"/>
                          </a:stretch>
                        </a:blipFill>
                      </a:tcPr>
                    </a:tc>
                    <a:tc>
                      <a:txBody>
                        <a:bodyPr/>
                        <a:lstStyle/>
                        <a:p>
                          <a:pPr algn="ctr"/>
                          <a:r>
                            <a:rPr lang="en-IN" sz="200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2"/>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218478" r="-545455" b="-205435"/>
                          </a:stretch>
                        </a:blip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4</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3"/>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318478" r="-545455" b="-105435"/>
                          </a:stretch>
                        </a:blipFill>
                      </a:tcPr>
                    </a:tc>
                    <a:tc>
                      <a:txBody>
                        <a:bodyPr/>
                        <a:lstStyle/>
                        <a:p>
                          <a:pPr algn="ctr"/>
                          <a:r>
                            <a:rPr lang="en-IN" sz="2000" baseline="0" dirty="0">
                              <a:solidFill>
                                <a:schemeClr val="tx1"/>
                              </a:solidFill>
                            </a:rPr>
                            <a:t>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2</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4"/>
                      </a:ext>
                    </a:extLst>
                  </a:tr>
                  <a:tr h="558489">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blipFill rotWithShape="0">
                          <a:blip r:embed="rId2"/>
                          <a:stretch>
                            <a:fillRect t="-418478" r="-545455" b="-5435"/>
                          </a:stretch>
                        </a:blipFill>
                      </a:tcPr>
                    </a:tc>
                    <a:tc>
                      <a:txBody>
                        <a:bodyPr/>
                        <a:lstStyle/>
                        <a:p>
                          <a:pPr algn="ctr"/>
                          <a:r>
                            <a:rPr lang="en-IN" sz="200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ctr"/>
                          <a:r>
                            <a:rPr lang="en-IN" sz="2000" baseline="0" dirty="0">
                              <a:solidFill>
                                <a:schemeClr val="tx1"/>
                              </a:solidFill>
                            </a:rPr>
                            <a:t>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 xmlns:a16="http://schemas.microsoft.com/office/drawing/2014/main" xmlns:a14="http://schemas.microsoft.com/office/drawing/2010/main" val="1000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Finish Time(</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18"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nvGraphicFramePr>
            <p:xfrm>
              <a:off x="6320689" y="829867"/>
              <a:ext cx="1381969" cy="640080"/>
            </p:xfrm>
            <a:graphic>
              <a:graphicData uri="http://schemas.openxmlformats.org/drawingml/2006/table">
                <a:tbl>
                  <a:tblPr firstRow="1" bandRow="1">
                    <a:tableStyleId>{8EC20E35-A176-4012-BC5E-935CFFF8708E}</a:tableStyleId>
                  </a:tblPr>
                  <a:tblGrid>
                    <a:gridCol w="1381969">
                      <a:extLst>
                        <a:ext uri="{9D8B030D-6E8A-4147-A177-3AD203B41FA5}">
                          <a16:colId xmlns="" xmlns:a16="http://schemas.microsoft.com/office/drawing/2014/main"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3"/>
                          <a:stretch>
                            <a:fillRect t="-3774" r="-439" b="-15094"/>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graphicFrame>
        <p:nvGraphicFramePr>
          <p:cNvPr id="2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1478211"/>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graphicFrame>
            <p:nvGraphicFramePr>
              <p:cNvPr id="23"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algn="ctr"/>
                          <a:r>
                            <a:rPr lang="en-US" sz="1800" b="1" kern="1200" dirty="0">
                              <a:solidFill>
                                <a:schemeClr val="tx1"/>
                              </a:solidFill>
                              <a:latin typeface="+mn-lt"/>
                              <a:ea typeface="+mn-ea"/>
                              <a:cs typeface="+mn-cs"/>
                            </a:rPr>
                            <a:t>Turn</a:t>
                          </a:r>
                          <a:r>
                            <a:rPr lang="en-US" sz="1800" b="1" kern="1200" baseline="0" dirty="0">
                              <a:solidFill>
                                <a:schemeClr val="tx1"/>
                              </a:solidFill>
                              <a:latin typeface="+mn-lt"/>
                              <a:ea typeface="+mn-ea"/>
                              <a:cs typeface="+mn-cs"/>
                            </a:rPr>
                            <a:t> Around </a:t>
                          </a:r>
                          <a:r>
                            <a:rPr lang="en-US" sz="1800" b="1" kern="1200" dirty="0">
                              <a:solidFill>
                                <a:schemeClr val="tx1"/>
                              </a:solidFill>
                              <a:latin typeface="+mn-lt"/>
                              <a:ea typeface="+mn-ea"/>
                              <a:cs typeface="+mn-cs"/>
                            </a:rPr>
                            <a:t>Time(TAT=</a:t>
                          </a:r>
                          <a14:m>
                            <m:oMath xmlns:m="http://schemas.openxmlformats.org/officeDocument/2006/math">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𝟏</m:t>
                                  </m:r>
                                </m:sub>
                              </m:sSub>
                              <m:r>
                                <a:rPr lang="en-IN" sz="1800" b="1" i="1" kern="1200" smtClean="0">
                                  <a:solidFill>
                                    <a:schemeClr val="tx1"/>
                                  </a:solidFill>
                                  <a:latin typeface="Cambria Math" panose="02040503050406030204" pitchFamily="18" charset="0"/>
                                  <a:ea typeface="+mn-ea"/>
                                  <a:cs typeface="+mn-cs"/>
                                </a:rPr>
                                <m:t>−</m:t>
                              </m:r>
                              <m:sSub>
                                <m:sSubPr>
                                  <m:ctrlPr>
                                    <a:rPr lang="en-US" sz="1800" b="1" i="1" kern="1200" smtClean="0">
                                      <a:solidFill>
                                        <a:schemeClr val="tx1"/>
                                      </a:solidFill>
                                      <a:latin typeface="Cambria Math" panose="02040503050406030204" pitchFamily="18" charset="0"/>
                                      <a:ea typeface="+mn-ea"/>
                                      <a:cs typeface="+mn-cs"/>
                                    </a:rPr>
                                  </m:ctrlPr>
                                </m:sSubPr>
                                <m:e>
                                  <m:r>
                                    <a:rPr lang="en-IN" sz="1800" b="1" i="1" kern="1200" smtClean="0">
                                      <a:solidFill>
                                        <a:schemeClr val="tx1"/>
                                      </a:solidFill>
                                      <a:latin typeface="Cambria Math" panose="02040503050406030204" pitchFamily="18" charset="0"/>
                                      <a:ea typeface="+mn-ea"/>
                                      <a:cs typeface="+mn-cs"/>
                                    </a:rPr>
                                    <m:t>𝑻</m:t>
                                  </m:r>
                                </m:e>
                                <m:sub>
                                  <m:r>
                                    <a:rPr lang="en-IN" sz="1800" b="1" i="1" kern="1200" smtClean="0">
                                      <a:solidFill>
                                        <a:schemeClr val="tx1"/>
                                      </a:solidFill>
                                      <a:latin typeface="Cambria Math" panose="02040503050406030204" pitchFamily="18" charset="0"/>
                                      <a:ea typeface="+mn-ea"/>
                                      <a:cs typeface="+mn-cs"/>
                                    </a:rPr>
                                    <m:t>𝟎</m:t>
                                  </m:r>
                                </m:sub>
                              </m:sSub>
                            </m:oMath>
                          </a14:m>
                          <a:r>
                            <a:rPr lang="en-US" sz="1800" b="1" kern="1200" dirty="0">
                              <a:solidFill>
                                <a:schemeClr val="tx1"/>
                              </a:solidFill>
                              <a:latin typeface="+mn-lt"/>
                              <a:ea typeface="+mn-ea"/>
                              <a:cs typeface="+mn-cs"/>
                            </a:rPr>
                            <a:t>)</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mc:Choice>
        <mc:Fallback xmlns="">
          <p:graphicFrame>
            <p:nvGraphicFramePr>
              <p:cNvPr id="23" name="Content Placeholder 4">
                <a:extLst>
                  <a:ext uri="{FF2B5EF4-FFF2-40B4-BE49-F238E27FC236}">
                    <a16:creationId xmlns="" xmlns:a16="http://schemas.microsoft.com/office/drawing/2014/main" xmlns:a14="http://schemas.microsoft.com/office/drawing/2010/main" id="{2486BC6F-42B7-4A1D-889E-1B1818D1D5FB}"/>
                  </a:ext>
                </a:extLst>
              </p:cNvPr>
              <p:cNvGraphicFramePr>
                <a:graphicFrameLocks/>
              </p:cNvGraphicFramePr>
              <p:nvPr/>
            </p:nvGraphicFramePr>
            <p:xfrm>
              <a:off x="7706840" y="827284"/>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 xmlns:a16="http://schemas.microsoft.com/office/drawing/2014/main" xmlns:a14="http://schemas.microsoft.com/office/drawing/2010/main" val="20001"/>
                        </a:ext>
                      </a:extLst>
                    </a:gridCol>
                  </a:tblGrid>
                  <a:tr h="640080">
                    <a:tc>
                      <a:txBody>
                        <a:bodyPr/>
                        <a:lstStyle/>
                        <a:p>
                          <a:endParaRPr lang="en-US"/>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blipFill rotWithShape="0">
                          <a:blip r:embed="rId4"/>
                          <a:stretch>
                            <a:fillRect l="-289" t="-3774" r="-289" b="-16038"/>
                          </a:stretch>
                        </a:blipFill>
                      </a:tcPr>
                    </a:tc>
                    <a:extLst>
                      <a:ext uri="{0D108BD9-81ED-4DB2-BD59-A6C34878D82A}">
                        <a16:rowId xmlns="" xmlns:a16="http://schemas.microsoft.com/office/drawing/2014/main" xmlns:a14="http://schemas.microsoft.com/office/drawing/2010/main" val="10001"/>
                      </a:ext>
                    </a:extLst>
                  </a:tr>
                </a:tbl>
              </a:graphicData>
            </a:graphic>
          </p:graphicFrame>
        </mc:Fallback>
      </mc:AlternateContent>
      <p:graphicFrame>
        <p:nvGraphicFramePr>
          <p:cNvPr id="2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6530" y="824702"/>
          <a:ext cx="2103587" cy="640080"/>
        </p:xfrm>
        <a:graphic>
          <a:graphicData uri="http://schemas.openxmlformats.org/drawingml/2006/table">
            <a:tbl>
              <a:tblPr firstRow="1" bandRow="1">
                <a:tableStyleId>{8EC20E35-A176-4012-BC5E-935CFFF8708E}</a:tableStyleId>
              </a:tblPr>
              <a:tblGrid>
                <a:gridCol w="2103587">
                  <a:extLst>
                    <a:ext uri="{9D8B030D-6E8A-4147-A177-3AD203B41FA5}">
                      <a16:colId xmlns:a16="http://schemas.microsoft.com/office/drawing/2014/main" val="20001"/>
                    </a:ext>
                  </a:extLst>
                </a:gridCol>
              </a:tblGrid>
              <a:tr h="30184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effectLst/>
                          <a:latin typeface="+mn-lt"/>
                          <a:ea typeface="+mn-ea"/>
                          <a:cs typeface="+mn-cs"/>
                        </a:rPr>
                        <a:t>Waiting Time</a:t>
                      </a:r>
                      <a:endParaRPr lang="en-IN" sz="1800" b="1" kern="1200" dirty="0">
                        <a:solidFill>
                          <a:schemeClr val="tx1"/>
                        </a:solidFill>
                        <a:effectLst/>
                        <a:latin typeface="+mn-lt"/>
                        <a:ea typeface="+mn-ea"/>
                        <a:cs typeface="+mn-cs"/>
                      </a:endParaRPr>
                    </a:p>
                    <a:p>
                      <a:pPr algn="ctr"/>
                      <a:r>
                        <a:rPr lang="en-US" sz="1800" b="1" kern="1200" dirty="0">
                          <a:solidFill>
                            <a:schemeClr val="tx1"/>
                          </a:solidFill>
                          <a:effectLst/>
                          <a:latin typeface="+mn-lt"/>
                          <a:ea typeface="+mn-ea"/>
                          <a:cs typeface="+mn-cs"/>
                        </a:rPr>
                        <a:t>(TAT-ΔT)</a:t>
                      </a:r>
                      <a:endParaRPr lang="en-US" sz="1800" b="1" kern="1200" dirty="0">
                        <a:solidFill>
                          <a:schemeClr val="tx1"/>
                        </a:solidFill>
                        <a:latin typeface="+mn-lt"/>
                        <a:ea typeface="+mn-ea"/>
                        <a:cs typeface="+mn-cs"/>
                      </a:endParaRP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0001"/>
                  </a:ext>
                </a:extLst>
              </a:tr>
            </a:tbl>
          </a:graphicData>
        </a:graphic>
      </p:graphicFrame>
      <p:graphicFrame>
        <p:nvGraphicFramePr>
          <p:cNvPr id="2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033567"/>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2588923"/>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13</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6320689" y="3159778"/>
          <a:ext cx="1381969" cy="558489"/>
        </p:xfrm>
        <a:graphic>
          <a:graphicData uri="http://schemas.openxmlformats.org/drawingml/2006/table">
            <a:tbl>
              <a:tblPr firstRow="1" bandRow="1">
                <a:tableStyleId>{8EC20E35-A176-4012-BC5E-935CFFF8708E}</a:tableStyleId>
              </a:tblPr>
              <a:tblGrid>
                <a:gridCol w="138196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11</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2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2953" y="14702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4"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2641" y="146766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5"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10368" y="202879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9</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6"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800058" y="2023019"/>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7"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259387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8</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8"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9797475" y="3151813"/>
          <a:ext cx="2084559" cy="558489"/>
        </p:xfrm>
        <a:graphic>
          <a:graphicData uri="http://schemas.openxmlformats.org/drawingml/2006/table">
            <a:tbl>
              <a:tblPr firstRow="1" bandRow="1">
                <a:tableStyleId>{8EC20E35-A176-4012-BC5E-935CFFF8708E}</a:tableStyleId>
              </a:tblPr>
              <a:tblGrid>
                <a:gridCol w="2084559">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5</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39"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7785" y="2599646"/>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10</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40" name="Content Placeholder 4">
            <a:extLst>
              <a:ext uri="{FF2B5EF4-FFF2-40B4-BE49-F238E27FC236}">
                <a16:creationId xmlns:a16="http://schemas.microsoft.com/office/drawing/2014/main" id="{2486BC6F-42B7-4A1D-889E-1B1818D1D5FB}"/>
              </a:ext>
            </a:extLst>
          </p:cNvPr>
          <p:cNvGraphicFramePr>
            <a:graphicFrameLocks/>
          </p:cNvGraphicFramePr>
          <p:nvPr/>
        </p:nvGraphicFramePr>
        <p:xfrm>
          <a:off x="7705202" y="3155002"/>
          <a:ext cx="2081976" cy="558489"/>
        </p:xfrm>
        <a:graphic>
          <a:graphicData uri="http://schemas.openxmlformats.org/drawingml/2006/table">
            <a:tbl>
              <a:tblPr firstRow="1" bandRow="1">
                <a:tableStyleId>{8EC20E35-A176-4012-BC5E-935CFFF8708E}</a:tableStyleId>
              </a:tblPr>
              <a:tblGrid>
                <a:gridCol w="2081976">
                  <a:extLst>
                    <a:ext uri="{9D8B030D-6E8A-4147-A177-3AD203B41FA5}">
                      <a16:colId xmlns:a16="http://schemas.microsoft.com/office/drawing/2014/main" val="20001"/>
                    </a:ext>
                  </a:extLst>
                </a:gridCol>
              </a:tblGrid>
              <a:tr h="558489">
                <a:tc>
                  <a:txBody>
                    <a:bodyPr/>
                    <a:lstStyle/>
                    <a:p>
                      <a:pPr algn="ctr"/>
                      <a:r>
                        <a:rPr lang="en-IN" sz="2000" b="0" baseline="0" dirty="0">
                          <a:solidFill>
                            <a:schemeClr val="tx1"/>
                          </a:solidFill>
                        </a:rPr>
                        <a:t>6</a:t>
                      </a:r>
                    </a:p>
                  </a:txBody>
                  <a:tcPr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88" name="TextBox 87"/>
          <p:cNvSpPr txBox="1"/>
          <p:nvPr/>
        </p:nvSpPr>
        <p:spPr>
          <a:xfrm>
            <a:off x="7740160" y="1488553"/>
            <a:ext cx="2064742" cy="542441"/>
          </a:xfrm>
          <a:prstGeom prst="rect">
            <a:avLst/>
          </a:prstGeom>
          <a:noFill/>
          <a:ln w="57150">
            <a:solidFill>
              <a:srgbClr val="FF0000"/>
            </a:solidFill>
          </a:ln>
        </p:spPr>
        <p:txBody>
          <a:bodyPr wrap="square" rtlCol="0">
            <a:spAutoFit/>
          </a:bodyPr>
          <a:lstStyle/>
          <a:p>
            <a:endParaRPr lang="en-IN" dirty="0"/>
          </a:p>
        </p:txBody>
      </p:sp>
      <p:sp>
        <p:nvSpPr>
          <p:cNvPr id="89" name="TextBox 88"/>
          <p:cNvSpPr txBox="1"/>
          <p:nvPr/>
        </p:nvSpPr>
        <p:spPr>
          <a:xfrm>
            <a:off x="2716093" y="1497088"/>
            <a:ext cx="3590108" cy="542441"/>
          </a:xfrm>
          <a:prstGeom prst="rect">
            <a:avLst/>
          </a:prstGeom>
          <a:noFill/>
          <a:ln w="57150">
            <a:solidFill>
              <a:srgbClr val="FF0000"/>
            </a:solidFill>
          </a:ln>
        </p:spPr>
        <p:txBody>
          <a:bodyPr wrap="square" rtlCol="0">
            <a:spAutoFit/>
          </a:bodyPr>
          <a:lstStyle/>
          <a:p>
            <a:endParaRPr lang="en-IN" dirty="0"/>
          </a:p>
        </p:txBody>
      </p:sp>
      <p:sp>
        <p:nvSpPr>
          <p:cNvPr id="90" name="TextBox 89"/>
          <p:cNvSpPr txBox="1"/>
          <p:nvPr/>
        </p:nvSpPr>
        <p:spPr>
          <a:xfrm>
            <a:off x="7748491" y="2045567"/>
            <a:ext cx="2064742" cy="542441"/>
          </a:xfrm>
          <a:prstGeom prst="rect">
            <a:avLst/>
          </a:prstGeom>
          <a:noFill/>
          <a:ln w="57150">
            <a:solidFill>
              <a:srgbClr val="FF0000"/>
            </a:solidFill>
          </a:ln>
        </p:spPr>
        <p:txBody>
          <a:bodyPr wrap="square" rtlCol="0">
            <a:spAutoFit/>
          </a:bodyPr>
          <a:lstStyle/>
          <a:p>
            <a:endParaRPr lang="en-IN" dirty="0"/>
          </a:p>
        </p:txBody>
      </p:sp>
      <p:sp>
        <p:nvSpPr>
          <p:cNvPr id="91" name="TextBox 90"/>
          <p:cNvSpPr txBox="1"/>
          <p:nvPr/>
        </p:nvSpPr>
        <p:spPr>
          <a:xfrm>
            <a:off x="2768083" y="2000583"/>
            <a:ext cx="3590108" cy="542441"/>
          </a:xfrm>
          <a:prstGeom prst="rect">
            <a:avLst/>
          </a:prstGeom>
          <a:noFill/>
          <a:ln w="57150">
            <a:solidFill>
              <a:srgbClr val="FF0000"/>
            </a:solidFill>
          </a:ln>
        </p:spPr>
        <p:txBody>
          <a:bodyPr wrap="square" rtlCol="0">
            <a:spAutoFit/>
          </a:bodyPr>
          <a:lstStyle/>
          <a:p>
            <a:endParaRPr lang="en-IN" dirty="0"/>
          </a:p>
        </p:txBody>
      </p:sp>
      <p:sp>
        <p:nvSpPr>
          <p:cNvPr id="92" name="TextBox 91"/>
          <p:cNvSpPr txBox="1"/>
          <p:nvPr/>
        </p:nvSpPr>
        <p:spPr>
          <a:xfrm>
            <a:off x="7735846" y="2588008"/>
            <a:ext cx="2064742" cy="542441"/>
          </a:xfrm>
          <a:prstGeom prst="rect">
            <a:avLst/>
          </a:prstGeom>
          <a:noFill/>
          <a:ln w="57150">
            <a:solidFill>
              <a:srgbClr val="FF0000"/>
            </a:solidFill>
          </a:ln>
        </p:spPr>
        <p:txBody>
          <a:bodyPr wrap="square" rtlCol="0">
            <a:spAutoFit/>
          </a:bodyPr>
          <a:lstStyle/>
          <a:p>
            <a:endParaRPr lang="en-IN" dirty="0"/>
          </a:p>
        </p:txBody>
      </p:sp>
      <p:sp>
        <p:nvSpPr>
          <p:cNvPr id="93" name="TextBox 92"/>
          <p:cNvSpPr txBox="1"/>
          <p:nvPr/>
        </p:nvSpPr>
        <p:spPr>
          <a:xfrm>
            <a:off x="2755735" y="2568592"/>
            <a:ext cx="3590108" cy="542441"/>
          </a:xfrm>
          <a:prstGeom prst="rect">
            <a:avLst/>
          </a:prstGeom>
          <a:noFill/>
          <a:ln w="57150">
            <a:solidFill>
              <a:srgbClr val="FF0000"/>
            </a:solidFill>
          </a:ln>
        </p:spPr>
        <p:txBody>
          <a:bodyPr wrap="square" rtlCol="0">
            <a:spAutoFit/>
          </a:bodyPr>
          <a:lstStyle/>
          <a:p>
            <a:endParaRPr lang="en-IN" dirty="0"/>
          </a:p>
        </p:txBody>
      </p:sp>
      <p:sp>
        <p:nvSpPr>
          <p:cNvPr id="94" name="TextBox 93"/>
          <p:cNvSpPr txBox="1"/>
          <p:nvPr/>
        </p:nvSpPr>
        <p:spPr>
          <a:xfrm>
            <a:off x="7735846" y="3136534"/>
            <a:ext cx="2064742" cy="542441"/>
          </a:xfrm>
          <a:prstGeom prst="rect">
            <a:avLst/>
          </a:prstGeom>
          <a:noFill/>
          <a:ln w="57150">
            <a:solidFill>
              <a:srgbClr val="FF0000"/>
            </a:solidFill>
          </a:ln>
        </p:spPr>
        <p:txBody>
          <a:bodyPr wrap="square" rtlCol="0">
            <a:spAutoFit/>
          </a:bodyPr>
          <a:lstStyle/>
          <a:p>
            <a:endParaRPr lang="en-IN" dirty="0"/>
          </a:p>
        </p:txBody>
      </p:sp>
      <p:sp>
        <p:nvSpPr>
          <p:cNvPr id="95" name="TextBox 94"/>
          <p:cNvSpPr txBox="1"/>
          <p:nvPr/>
        </p:nvSpPr>
        <p:spPr>
          <a:xfrm>
            <a:off x="2716093" y="3152905"/>
            <a:ext cx="3590108" cy="542441"/>
          </a:xfrm>
          <a:prstGeom prst="rect">
            <a:avLst/>
          </a:prstGeom>
          <a:noFill/>
          <a:ln w="57150">
            <a:solidFill>
              <a:srgbClr val="FF0000"/>
            </a:solidFill>
          </a:ln>
        </p:spPr>
        <p:txBody>
          <a:bodyPr wrap="square" rtlCol="0">
            <a:spAutoFit/>
          </a:bodyPr>
          <a:lstStyle/>
          <a:p>
            <a:endParaRPr lang="en-IN" dirty="0"/>
          </a:p>
        </p:txBody>
      </p:sp>
      <p:sp>
        <p:nvSpPr>
          <p:cNvPr id="96" name="TextBox 95"/>
          <p:cNvSpPr txBox="1"/>
          <p:nvPr/>
        </p:nvSpPr>
        <p:spPr>
          <a:xfrm>
            <a:off x="367829" y="5494198"/>
            <a:ext cx="9273000" cy="1015663"/>
          </a:xfrm>
          <a:prstGeom prst="rect">
            <a:avLst/>
          </a:prstGeom>
          <a:noFill/>
        </p:spPr>
        <p:txBody>
          <a:bodyPr wrap="square" rtlCol="0">
            <a:spAutoFit/>
          </a:bodyPr>
          <a:lstStyle/>
          <a:p>
            <a:pPr marL="342900" indent="-342900">
              <a:buFont typeface="Wingdings" panose="05000000000000000000" pitchFamily="2" charset="2"/>
              <a:buChar char="Ø"/>
            </a:pPr>
            <a:r>
              <a:rPr lang="en-US" sz="2000" b="1" dirty="0"/>
              <a:t>Average Waiting Time </a:t>
            </a:r>
            <a:r>
              <a:rPr lang="en-US" sz="2000" dirty="0"/>
              <a:t>= Sum of all Process’s Waiting Time/ Total Process</a:t>
            </a:r>
          </a:p>
          <a:p>
            <a:r>
              <a:rPr lang="en-US" sz="2000" dirty="0"/>
              <a:t>                                              = (0+5+8+5)/4 </a:t>
            </a:r>
          </a:p>
          <a:p>
            <a:r>
              <a:rPr lang="en-US" sz="2000" dirty="0"/>
              <a:t>                                              = 4.5 Ms.</a:t>
            </a:r>
          </a:p>
        </p:txBody>
      </p:sp>
      <p:sp>
        <p:nvSpPr>
          <p:cNvPr id="63" name="TextBox 62"/>
          <p:cNvSpPr txBox="1"/>
          <p:nvPr/>
        </p:nvSpPr>
        <p:spPr>
          <a:xfrm>
            <a:off x="9774208" y="1497088"/>
            <a:ext cx="2049246" cy="2222902"/>
          </a:xfrm>
          <a:prstGeom prst="rect">
            <a:avLst/>
          </a:prstGeom>
          <a:noFill/>
          <a:ln w="57150">
            <a:solidFill>
              <a:srgbClr val="FF0000"/>
            </a:solidFill>
          </a:ln>
        </p:spPr>
        <p:txBody>
          <a:bodyPr wrap="square" rtlCol="0">
            <a:spAutoFit/>
          </a:bodyPr>
          <a:lstStyle/>
          <a:p>
            <a:endParaRPr lang="en-IN" dirty="0"/>
          </a:p>
        </p:txBody>
      </p:sp>
      <mc:AlternateContent xmlns:mc="http://schemas.openxmlformats.org/markup-compatibility/2006" xmlns:a14="http://schemas.microsoft.com/office/drawing/2010/main">
        <mc:Choice Requires="a14">
          <p:sp>
            <p:nvSpPr>
              <p:cNvPr id="64" name="Rectangle 63"/>
              <p:cNvSpPr/>
              <p:nvPr/>
            </p:nvSpPr>
            <p:spPr>
              <a:xfrm>
                <a:off x="3915939" y="4243963"/>
                <a:ext cx="792502" cy="63342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3</m:t>
                          </m:r>
                        </m:sub>
                      </m:sSub>
                    </m:oMath>
                  </m:oMathPara>
                </a14:m>
                <a:endParaRPr lang="en-US" dirty="0"/>
              </a:p>
            </p:txBody>
          </p:sp>
        </mc:Choice>
        <mc:Fallback xmlns="">
          <p:sp>
            <p:nvSpPr>
              <p:cNvPr id="64" name="Rectangle 63"/>
              <p:cNvSpPr>
                <a:spLocks noRot="1" noChangeAspect="1" noMove="1" noResize="1" noEditPoints="1" noAdjustHandles="1" noChangeArrowheads="1" noChangeShapeType="1" noTextEdit="1"/>
              </p:cNvSpPr>
              <p:nvPr/>
            </p:nvSpPr>
            <p:spPr>
              <a:xfrm>
                <a:off x="3915939" y="4243963"/>
                <a:ext cx="792502" cy="633425"/>
              </a:xfrm>
              <a:prstGeom prst="rect">
                <a:avLst/>
              </a:prstGeom>
              <a:blipFill rotWithShape="0">
                <a:blip r:embed="rId5"/>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Rectangle 64"/>
              <p:cNvSpPr/>
              <p:nvPr/>
            </p:nvSpPr>
            <p:spPr>
              <a:xfrm>
                <a:off x="3318978" y="4239419"/>
                <a:ext cx="596961" cy="639339"/>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4</m:t>
                          </m:r>
                        </m:sub>
                      </m:sSub>
                    </m:oMath>
                  </m:oMathPara>
                </a14:m>
                <a:endParaRPr lang="en-US" dirty="0"/>
              </a:p>
            </p:txBody>
          </p:sp>
        </mc:Choice>
        <mc:Fallback xmlns="">
          <p:sp>
            <p:nvSpPr>
              <p:cNvPr id="65" name="Rectangle 64"/>
              <p:cNvSpPr>
                <a:spLocks noRot="1" noChangeAspect="1" noMove="1" noResize="1" noEditPoints="1" noAdjustHandles="1" noChangeArrowheads="1" noChangeShapeType="1" noTextEdit="1"/>
              </p:cNvSpPr>
              <p:nvPr/>
            </p:nvSpPr>
            <p:spPr>
              <a:xfrm>
                <a:off x="3318978" y="4239419"/>
                <a:ext cx="596961" cy="639339"/>
              </a:xfrm>
              <a:prstGeom prst="rect">
                <a:avLst/>
              </a:prstGeom>
              <a:blipFill rotWithShape="0">
                <a:blip r:embed="rId6"/>
                <a:stretch>
                  <a:fillRect/>
                </a:stretch>
              </a:blipFill>
              <a:ln w="3810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Rectangle 73"/>
              <p:cNvSpPr/>
              <p:nvPr/>
            </p:nvSpPr>
            <p:spPr>
              <a:xfrm>
                <a:off x="494590" y="4239420"/>
                <a:ext cx="1691564" cy="639338"/>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oMath>
                  </m:oMathPara>
                </a14:m>
                <a:endParaRPr lang="en-US" dirty="0"/>
              </a:p>
            </p:txBody>
          </p:sp>
        </mc:Choice>
        <mc:Fallback xmlns="">
          <p:sp>
            <p:nvSpPr>
              <p:cNvPr id="74" name="Rectangle 73"/>
              <p:cNvSpPr>
                <a:spLocks noRot="1" noChangeAspect="1" noMove="1" noResize="1" noEditPoints="1" noAdjustHandles="1" noChangeArrowheads="1" noChangeShapeType="1" noTextEdit="1"/>
              </p:cNvSpPr>
              <p:nvPr/>
            </p:nvSpPr>
            <p:spPr>
              <a:xfrm>
                <a:off x="494590" y="4239420"/>
                <a:ext cx="1691564" cy="639338"/>
              </a:xfrm>
              <a:prstGeom prst="rect">
                <a:avLst/>
              </a:prstGeom>
              <a:blipFill rotWithShape="0">
                <a:blip r:embed="rId7"/>
                <a:stretch>
                  <a:fillRect/>
                </a:stretch>
              </a:blipFill>
              <a:ln w="38100">
                <a:solidFill>
                  <a:srgbClr val="4B302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Rectangle 74"/>
              <p:cNvSpPr/>
              <p:nvPr/>
            </p:nvSpPr>
            <p:spPr>
              <a:xfrm>
                <a:off x="2194088" y="4239421"/>
                <a:ext cx="1124890" cy="639337"/>
              </a:xfrm>
              <a:prstGeom prst="rect">
                <a:avLst/>
              </a:prstGeom>
              <a:ln w="38100">
                <a:solidFill>
                  <a:srgbClr val="4B302A"/>
                </a:solidFill>
              </a:ln>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IN" i="1" smtClean="0">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2</m:t>
                          </m:r>
                        </m:sub>
                      </m:sSub>
                    </m:oMath>
                  </m:oMathPara>
                </a14:m>
                <a:endParaRPr lang="en-US" dirty="0"/>
              </a:p>
            </p:txBody>
          </p:sp>
        </mc:Choice>
        <mc:Fallback xmlns="">
          <p:sp>
            <p:nvSpPr>
              <p:cNvPr id="75" name="Rectangle 74"/>
              <p:cNvSpPr>
                <a:spLocks noRot="1" noChangeAspect="1" noMove="1" noResize="1" noEditPoints="1" noAdjustHandles="1" noChangeArrowheads="1" noChangeShapeType="1" noTextEdit="1"/>
              </p:cNvSpPr>
              <p:nvPr/>
            </p:nvSpPr>
            <p:spPr>
              <a:xfrm>
                <a:off x="2194088" y="4239421"/>
                <a:ext cx="1124890" cy="639337"/>
              </a:xfrm>
              <a:prstGeom prst="rect">
                <a:avLst/>
              </a:prstGeom>
              <a:blipFill rotWithShape="0">
                <a:blip r:embed="rId8"/>
                <a:stretch>
                  <a:fillRect/>
                </a:stretch>
              </a:blipFill>
              <a:ln w="38100">
                <a:solidFill>
                  <a:srgbClr val="4B302A"/>
                </a:solidFill>
              </a:ln>
            </p:spPr>
            <p:txBody>
              <a:bodyPr/>
              <a:lstStyle/>
              <a:p>
                <a:r>
                  <a:rPr lang="en-US">
                    <a:noFill/>
                  </a:rPr>
                  <a:t> </a:t>
                </a:r>
              </a:p>
            </p:txBody>
          </p:sp>
        </mc:Fallback>
      </mc:AlternateContent>
      <p:cxnSp>
        <p:nvCxnSpPr>
          <p:cNvPr id="76" name="Straight Connector 75"/>
          <p:cNvCxnSpPr/>
          <p:nvPr/>
        </p:nvCxnSpPr>
        <p:spPr>
          <a:xfrm flipH="1">
            <a:off x="503813" y="4207901"/>
            <a:ext cx="5062" cy="655359"/>
          </a:xfrm>
          <a:prstGeom prst="line">
            <a:avLst/>
          </a:prstGeom>
          <a:ln w="38100">
            <a:solidFill>
              <a:srgbClr val="4B302A"/>
            </a:solidFill>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367829" y="4864007"/>
            <a:ext cx="318448" cy="381000"/>
          </a:xfrm>
          <a:prstGeom prst="rect">
            <a:avLst/>
          </a:prstGeom>
          <a:noFill/>
        </p:spPr>
        <p:txBody>
          <a:bodyPr wrap="square" rtlCol="0">
            <a:spAutoFit/>
          </a:bodyPr>
          <a:lstStyle/>
          <a:p>
            <a:r>
              <a:rPr lang="en-US" dirty="0"/>
              <a:t>0</a:t>
            </a:r>
          </a:p>
        </p:txBody>
      </p:sp>
      <p:sp>
        <p:nvSpPr>
          <p:cNvPr id="98" name="TextBox 97"/>
          <p:cNvSpPr txBox="1"/>
          <p:nvPr/>
        </p:nvSpPr>
        <p:spPr>
          <a:xfrm>
            <a:off x="2019960" y="4875675"/>
            <a:ext cx="283418" cy="369332"/>
          </a:xfrm>
          <a:prstGeom prst="rect">
            <a:avLst/>
          </a:prstGeom>
          <a:noFill/>
        </p:spPr>
        <p:txBody>
          <a:bodyPr wrap="square" rtlCol="0">
            <a:spAutoFit/>
          </a:bodyPr>
          <a:lstStyle/>
          <a:p>
            <a:r>
              <a:rPr lang="en-US" dirty="0"/>
              <a:t>6</a:t>
            </a:r>
          </a:p>
        </p:txBody>
      </p:sp>
      <p:sp>
        <p:nvSpPr>
          <p:cNvPr id="99" name="TextBox 98"/>
          <p:cNvSpPr txBox="1"/>
          <p:nvPr/>
        </p:nvSpPr>
        <p:spPr>
          <a:xfrm>
            <a:off x="3081104" y="4869841"/>
            <a:ext cx="437735" cy="369332"/>
          </a:xfrm>
          <a:prstGeom prst="rect">
            <a:avLst/>
          </a:prstGeom>
          <a:noFill/>
        </p:spPr>
        <p:txBody>
          <a:bodyPr wrap="square" rtlCol="0">
            <a:spAutoFit/>
          </a:bodyPr>
          <a:lstStyle/>
          <a:p>
            <a:r>
              <a:rPr lang="en-US" dirty="0"/>
              <a:t>10</a:t>
            </a:r>
          </a:p>
        </p:txBody>
      </p:sp>
      <p:sp>
        <p:nvSpPr>
          <p:cNvPr id="100" name="TextBox 99"/>
          <p:cNvSpPr txBox="1"/>
          <p:nvPr/>
        </p:nvSpPr>
        <p:spPr>
          <a:xfrm>
            <a:off x="3741811" y="4877388"/>
            <a:ext cx="453006" cy="369332"/>
          </a:xfrm>
          <a:prstGeom prst="rect">
            <a:avLst/>
          </a:prstGeom>
          <a:noFill/>
        </p:spPr>
        <p:txBody>
          <a:bodyPr wrap="square" rtlCol="0">
            <a:spAutoFit/>
          </a:bodyPr>
          <a:lstStyle/>
          <a:p>
            <a:r>
              <a:rPr lang="en-US" dirty="0"/>
              <a:t>11</a:t>
            </a:r>
          </a:p>
        </p:txBody>
      </p:sp>
      <p:sp>
        <p:nvSpPr>
          <p:cNvPr id="101" name="TextBox 100"/>
          <p:cNvSpPr txBox="1"/>
          <p:nvPr/>
        </p:nvSpPr>
        <p:spPr>
          <a:xfrm>
            <a:off x="4425851" y="4877388"/>
            <a:ext cx="448784" cy="369332"/>
          </a:xfrm>
          <a:prstGeom prst="rect">
            <a:avLst/>
          </a:prstGeom>
          <a:noFill/>
        </p:spPr>
        <p:txBody>
          <a:bodyPr wrap="square" rtlCol="0">
            <a:spAutoFit/>
          </a:bodyPr>
          <a:lstStyle/>
          <a:p>
            <a:r>
              <a:rPr lang="en-US" dirty="0"/>
              <a:t>13</a:t>
            </a:r>
          </a:p>
        </p:txBody>
      </p:sp>
    </p:spTree>
    <p:extLst>
      <p:ext uri="{BB962C8B-B14F-4D97-AF65-F5344CB8AC3E}">
        <p14:creationId xmlns:p14="http://schemas.microsoft.com/office/powerpoint/2010/main" val="1880193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8"/>
                                        </p:tgtEl>
                                        <p:attrNameLst>
                                          <p:attrName>style.visibility</p:attrName>
                                        </p:attrNameLst>
                                      </p:cBhvr>
                                      <p:to>
                                        <p:strVal val="visible"/>
                                      </p:to>
                                    </p:set>
                                  </p:childTnLst>
                                </p:cTn>
                              </p:par>
                              <p:par>
                                <p:cTn id="13" presetID="26" presetClass="emph" presetSubtype="0" repeatCount="indefinite" fill="hold" grpId="1" nodeType="withEffect">
                                  <p:stCondLst>
                                    <p:cond delay="0"/>
                                  </p:stCondLst>
                                  <p:endCondLst>
                                    <p:cond evt="onNext" delay="0">
                                      <p:tgtEl>
                                        <p:sldTgt/>
                                      </p:tgtEl>
                                    </p:cond>
                                  </p:endCondLst>
                                  <p:childTnLst>
                                    <p:animEffect transition="out" filter="fade">
                                      <p:cBhvr>
                                        <p:cTn id="14" dur="500" tmFilter="0, 0; .2, .5; .8, .5; 1, 0"/>
                                        <p:tgtEl>
                                          <p:spTgt spid="88"/>
                                        </p:tgtEl>
                                      </p:cBhvr>
                                    </p:animEffect>
                                    <p:animScale>
                                      <p:cBhvr>
                                        <p:cTn id="15" dur="250" autoRev="1" fill="hold"/>
                                        <p:tgtEl>
                                          <p:spTgt spid="88"/>
                                        </p:tgtEl>
                                      </p:cBhvr>
                                      <p:by x="105000" y="105000"/>
                                    </p:animScale>
                                  </p:childTnLst>
                                </p:cTn>
                              </p:par>
                              <p:par>
                                <p:cTn id="16" presetID="1" presetClass="entr" presetSubtype="0" fill="hold" grpId="0" nodeType="withEffect">
                                  <p:stCondLst>
                                    <p:cond delay="0"/>
                                  </p:stCondLst>
                                  <p:childTnLst>
                                    <p:set>
                                      <p:cBhvr>
                                        <p:cTn id="17" dur="1" fill="hold">
                                          <p:stCondLst>
                                            <p:cond delay="0"/>
                                          </p:stCondLst>
                                        </p:cTn>
                                        <p:tgtEl>
                                          <p:spTgt spid="89"/>
                                        </p:tgtEl>
                                        <p:attrNameLst>
                                          <p:attrName>style.visibility</p:attrName>
                                        </p:attrNameLst>
                                      </p:cBhvr>
                                      <p:to>
                                        <p:strVal val="visible"/>
                                      </p:to>
                                    </p:set>
                                  </p:childTnLst>
                                </p:cTn>
                              </p:par>
                              <p:par>
                                <p:cTn id="18" presetID="26" presetClass="emph" presetSubtype="0" repeatCount="indefinite" fill="hold" grpId="1" nodeType="withEffect">
                                  <p:stCondLst>
                                    <p:cond delay="0"/>
                                  </p:stCondLst>
                                  <p:endCondLst>
                                    <p:cond evt="onNext" delay="0">
                                      <p:tgtEl>
                                        <p:sldTgt/>
                                      </p:tgtEl>
                                    </p:cond>
                                  </p:endCondLst>
                                  <p:childTnLst>
                                    <p:animEffect transition="out" filter="fade">
                                      <p:cBhvr>
                                        <p:cTn id="19" dur="500" tmFilter="0, 0; .2, .5; .8, .5; 1, 0"/>
                                        <p:tgtEl>
                                          <p:spTgt spid="89"/>
                                        </p:tgtEl>
                                      </p:cBhvr>
                                    </p:animEffect>
                                    <p:animScale>
                                      <p:cBhvr>
                                        <p:cTn id="20" dur="250" autoRev="1" fill="hold"/>
                                        <p:tgtEl>
                                          <p:spTgt spid="89"/>
                                        </p:tgtEl>
                                      </p:cBhvr>
                                      <p:by x="105000" y="105000"/>
                                    </p:animScale>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xit" presetSubtype="0" fill="hold" grpId="2" nodeType="withEffect">
                                  <p:stCondLst>
                                    <p:cond delay="0"/>
                                  </p:stCondLst>
                                  <p:childTnLst>
                                    <p:set>
                                      <p:cBhvr>
                                        <p:cTn id="26" dur="1" fill="hold">
                                          <p:stCondLst>
                                            <p:cond delay="0"/>
                                          </p:stCondLst>
                                        </p:cTn>
                                        <p:tgtEl>
                                          <p:spTgt spid="88"/>
                                        </p:tgtEl>
                                        <p:attrNameLst>
                                          <p:attrName>style.visibility</p:attrName>
                                        </p:attrNameLst>
                                      </p:cBhvr>
                                      <p:to>
                                        <p:strVal val="hidden"/>
                                      </p:to>
                                    </p:set>
                                  </p:childTnLst>
                                </p:cTn>
                              </p:par>
                              <p:par>
                                <p:cTn id="27" presetID="1" presetClass="exit" presetSubtype="0" fill="hold" grpId="2" nodeType="withEffect">
                                  <p:stCondLst>
                                    <p:cond delay="0"/>
                                  </p:stCondLst>
                                  <p:childTnLst>
                                    <p:set>
                                      <p:cBhvr>
                                        <p:cTn id="28" dur="1" fill="hold">
                                          <p:stCondLst>
                                            <p:cond delay="0"/>
                                          </p:stCondLst>
                                        </p:cTn>
                                        <p:tgtEl>
                                          <p:spTgt spid="89"/>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90"/>
                                        </p:tgtEl>
                                        <p:attrNameLst>
                                          <p:attrName>style.visibility</p:attrName>
                                        </p:attrNameLst>
                                      </p:cBhvr>
                                      <p:to>
                                        <p:strVal val="visible"/>
                                      </p:to>
                                    </p:set>
                                  </p:childTnLst>
                                </p:cTn>
                              </p:par>
                              <p:par>
                                <p:cTn id="31" presetID="26" presetClass="emph" presetSubtype="0" repeatCount="indefinite" fill="hold" grpId="1" nodeType="withEffect">
                                  <p:stCondLst>
                                    <p:cond delay="0"/>
                                  </p:stCondLst>
                                  <p:endCondLst>
                                    <p:cond evt="onNext" delay="0">
                                      <p:tgtEl>
                                        <p:sldTgt/>
                                      </p:tgtEl>
                                    </p:cond>
                                  </p:endCondLst>
                                  <p:childTnLst>
                                    <p:animEffect transition="out" filter="fade">
                                      <p:cBhvr>
                                        <p:cTn id="32" dur="500" tmFilter="0, 0; .2, .5; .8, .5; 1, 0"/>
                                        <p:tgtEl>
                                          <p:spTgt spid="90"/>
                                        </p:tgtEl>
                                      </p:cBhvr>
                                    </p:animEffect>
                                    <p:animScale>
                                      <p:cBhvr>
                                        <p:cTn id="33" dur="250" autoRev="1" fill="hold"/>
                                        <p:tgtEl>
                                          <p:spTgt spid="90"/>
                                        </p:tgtEl>
                                      </p:cBhvr>
                                      <p:by x="105000" y="105000"/>
                                    </p:animScale>
                                  </p:childTnLst>
                                </p:cTn>
                              </p:par>
                              <p:par>
                                <p:cTn id="34" presetID="1" presetClass="entr" presetSubtype="0" fill="hold" grpId="0" nodeType="withEffect">
                                  <p:stCondLst>
                                    <p:cond delay="0"/>
                                  </p:stCondLst>
                                  <p:childTnLst>
                                    <p:set>
                                      <p:cBhvr>
                                        <p:cTn id="35" dur="1" fill="hold">
                                          <p:stCondLst>
                                            <p:cond delay="0"/>
                                          </p:stCondLst>
                                        </p:cTn>
                                        <p:tgtEl>
                                          <p:spTgt spid="91"/>
                                        </p:tgtEl>
                                        <p:attrNameLst>
                                          <p:attrName>style.visibility</p:attrName>
                                        </p:attrNameLst>
                                      </p:cBhvr>
                                      <p:to>
                                        <p:strVal val="visible"/>
                                      </p:to>
                                    </p:set>
                                  </p:childTnLst>
                                </p:cTn>
                              </p:par>
                              <p:par>
                                <p:cTn id="36" presetID="26" presetClass="emph" presetSubtype="0" repeatCount="indefinite" fill="hold" grpId="1" nodeType="withEffect">
                                  <p:stCondLst>
                                    <p:cond delay="0"/>
                                  </p:stCondLst>
                                  <p:endCondLst>
                                    <p:cond evt="onNext" delay="0">
                                      <p:tgtEl>
                                        <p:sldTgt/>
                                      </p:tgtEl>
                                    </p:cond>
                                  </p:endCondLst>
                                  <p:childTnLst>
                                    <p:animEffect transition="out" filter="fade">
                                      <p:cBhvr>
                                        <p:cTn id="37" dur="500" tmFilter="0, 0; .2, .5; .8, .5; 1, 0"/>
                                        <p:tgtEl>
                                          <p:spTgt spid="91"/>
                                        </p:tgtEl>
                                      </p:cBhvr>
                                    </p:animEffect>
                                    <p:animScale>
                                      <p:cBhvr>
                                        <p:cTn id="38" dur="250" autoRev="1" fill="hold"/>
                                        <p:tgtEl>
                                          <p:spTgt spid="91"/>
                                        </p:tgtEl>
                                      </p:cBhvr>
                                      <p:by x="105000" y="105000"/>
                                    </p:animScale>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xit" presetSubtype="0" fill="hold" grpId="2" nodeType="withEffect">
                                  <p:stCondLst>
                                    <p:cond delay="0"/>
                                  </p:stCondLst>
                                  <p:childTnLst>
                                    <p:set>
                                      <p:cBhvr>
                                        <p:cTn id="44" dur="1" fill="hold">
                                          <p:stCondLst>
                                            <p:cond delay="0"/>
                                          </p:stCondLst>
                                        </p:cTn>
                                        <p:tgtEl>
                                          <p:spTgt spid="90"/>
                                        </p:tgtEl>
                                        <p:attrNameLst>
                                          <p:attrName>style.visibility</p:attrName>
                                        </p:attrNameLst>
                                      </p:cBhvr>
                                      <p:to>
                                        <p:strVal val="hidden"/>
                                      </p:to>
                                    </p:set>
                                  </p:childTnLst>
                                </p:cTn>
                              </p:par>
                              <p:par>
                                <p:cTn id="45" presetID="1" presetClass="exit" presetSubtype="0" fill="hold" grpId="2" nodeType="withEffect">
                                  <p:stCondLst>
                                    <p:cond delay="0"/>
                                  </p:stCondLst>
                                  <p:childTnLst>
                                    <p:set>
                                      <p:cBhvr>
                                        <p:cTn id="46" dur="1" fill="hold">
                                          <p:stCondLst>
                                            <p:cond delay="0"/>
                                          </p:stCondLst>
                                        </p:cTn>
                                        <p:tgtEl>
                                          <p:spTgt spid="91"/>
                                        </p:tgtEl>
                                        <p:attrNameLst>
                                          <p:attrName>style.visibility</p:attrName>
                                        </p:attrNameLst>
                                      </p:cBhvr>
                                      <p:to>
                                        <p:strVal val="hidden"/>
                                      </p:to>
                                    </p:set>
                                  </p:childTnLst>
                                </p:cTn>
                              </p:par>
                              <p:par>
                                <p:cTn id="47" presetID="1" presetClass="entr" presetSubtype="0" fill="hold" grpId="0" nodeType="withEffect">
                                  <p:stCondLst>
                                    <p:cond delay="0"/>
                                  </p:stCondLst>
                                  <p:childTnLst>
                                    <p:set>
                                      <p:cBhvr>
                                        <p:cTn id="48" dur="1" fill="hold">
                                          <p:stCondLst>
                                            <p:cond delay="0"/>
                                          </p:stCondLst>
                                        </p:cTn>
                                        <p:tgtEl>
                                          <p:spTgt spid="92"/>
                                        </p:tgtEl>
                                        <p:attrNameLst>
                                          <p:attrName>style.visibility</p:attrName>
                                        </p:attrNameLst>
                                      </p:cBhvr>
                                      <p:to>
                                        <p:strVal val="visible"/>
                                      </p:to>
                                    </p:set>
                                  </p:childTnLst>
                                </p:cTn>
                              </p:par>
                              <p:par>
                                <p:cTn id="49" presetID="26" presetClass="emph" presetSubtype="0" repeatCount="indefinite" fill="hold" grpId="1" nodeType="withEffect">
                                  <p:stCondLst>
                                    <p:cond delay="0"/>
                                  </p:stCondLst>
                                  <p:endCondLst>
                                    <p:cond evt="onNext" delay="0">
                                      <p:tgtEl>
                                        <p:sldTgt/>
                                      </p:tgtEl>
                                    </p:cond>
                                  </p:endCondLst>
                                  <p:childTnLst>
                                    <p:animEffect transition="out" filter="fade">
                                      <p:cBhvr>
                                        <p:cTn id="50" dur="500" tmFilter="0, 0; .2, .5; .8, .5; 1, 0"/>
                                        <p:tgtEl>
                                          <p:spTgt spid="92"/>
                                        </p:tgtEl>
                                      </p:cBhvr>
                                    </p:animEffect>
                                    <p:animScale>
                                      <p:cBhvr>
                                        <p:cTn id="51" dur="250" autoRev="1" fill="hold"/>
                                        <p:tgtEl>
                                          <p:spTgt spid="92"/>
                                        </p:tgtEl>
                                      </p:cBhvr>
                                      <p:by x="105000" y="105000"/>
                                    </p:animScale>
                                  </p:childTnLst>
                                </p:cTn>
                              </p:par>
                              <p:par>
                                <p:cTn id="52" presetID="1" presetClass="entr" presetSubtype="0" fill="hold" grpId="0" nodeType="withEffect">
                                  <p:stCondLst>
                                    <p:cond delay="0"/>
                                  </p:stCondLst>
                                  <p:childTnLst>
                                    <p:set>
                                      <p:cBhvr>
                                        <p:cTn id="53" dur="1" fill="hold">
                                          <p:stCondLst>
                                            <p:cond delay="0"/>
                                          </p:stCondLst>
                                        </p:cTn>
                                        <p:tgtEl>
                                          <p:spTgt spid="93"/>
                                        </p:tgtEl>
                                        <p:attrNameLst>
                                          <p:attrName>style.visibility</p:attrName>
                                        </p:attrNameLst>
                                      </p:cBhvr>
                                      <p:to>
                                        <p:strVal val="visible"/>
                                      </p:to>
                                    </p:set>
                                  </p:childTnLst>
                                </p:cTn>
                              </p:par>
                              <p:par>
                                <p:cTn id="54" presetID="26" presetClass="emph" presetSubtype="0" repeatCount="indefinite" fill="hold" grpId="1" nodeType="withEffect">
                                  <p:stCondLst>
                                    <p:cond delay="0"/>
                                  </p:stCondLst>
                                  <p:endCondLst>
                                    <p:cond evt="onNext" delay="0">
                                      <p:tgtEl>
                                        <p:sldTgt/>
                                      </p:tgtEl>
                                    </p:cond>
                                  </p:endCondLst>
                                  <p:childTnLst>
                                    <p:animEffect transition="out" filter="fade">
                                      <p:cBhvr>
                                        <p:cTn id="55" dur="500" tmFilter="0, 0; .2, .5; .8, .5; 1, 0"/>
                                        <p:tgtEl>
                                          <p:spTgt spid="93"/>
                                        </p:tgtEl>
                                      </p:cBhvr>
                                    </p:animEffect>
                                    <p:animScale>
                                      <p:cBhvr>
                                        <p:cTn id="56" dur="250" autoRev="1" fill="hold"/>
                                        <p:tgtEl>
                                          <p:spTgt spid="93"/>
                                        </p:tgtEl>
                                      </p:cBhvr>
                                      <p:by x="105000" y="105000"/>
                                    </p:animScale>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8"/>
                                        </p:tgtEl>
                                        <p:attrNameLst>
                                          <p:attrName>style.visibility</p:attrName>
                                        </p:attrNameLst>
                                      </p:cBhvr>
                                      <p:to>
                                        <p:strVal val="visible"/>
                                      </p:to>
                                    </p:set>
                                  </p:childTnLst>
                                </p:cTn>
                              </p:par>
                              <p:par>
                                <p:cTn id="61" presetID="1" presetClass="exit" presetSubtype="0" fill="hold" grpId="2" nodeType="withEffect">
                                  <p:stCondLst>
                                    <p:cond delay="0"/>
                                  </p:stCondLst>
                                  <p:childTnLst>
                                    <p:set>
                                      <p:cBhvr>
                                        <p:cTn id="62" dur="1" fill="hold">
                                          <p:stCondLst>
                                            <p:cond delay="0"/>
                                          </p:stCondLst>
                                        </p:cTn>
                                        <p:tgtEl>
                                          <p:spTgt spid="92"/>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93"/>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94"/>
                                        </p:tgtEl>
                                        <p:attrNameLst>
                                          <p:attrName>style.visibility</p:attrName>
                                        </p:attrNameLst>
                                      </p:cBhvr>
                                      <p:to>
                                        <p:strVal val="visible"/>
                                      </p:to>
                                    </p:set>
                                  </p:childTnLst>
                                </p:cTn>
                              </p:par>
                              <p:par>
                                <p:cTn id="67" presetID="26" presetClass="emph" presetSubtype="0" repeatCount="indefinite" fill="hold" grpId="1" nodeType="withEffect">
                                  <p:stCondLst>
                                    <p:cond delay="0"/>
                                  </p:stCondLst>
                                  <p:endCondLst>
                                    <p:cond evt="onNext" delay="0">
                                      <p:tgtEl>
                                        <p:sldTgt/>
                                      </p:tgtEl>
                                    </p:cond>
                                  </p:endCondLst>
                                  <p:childTnLst>
                                    <p:animEffect transition="out" filter="fade">
                                      <p:cBhvr>
                                        <p:cTn id="68" dur="500" tmFilter="0, 0; .2, .5; .8, .5; 1, 0"/>
                                        <p:tgtEl>
                                          <p:spTgt spid="94"/>
                                        </p:tgtEl>
                                      </p:cBhvr>
                                    </p:animEffect>
                                    <p:animScale>
                                      <p:cBhvr>
                                        <p:cTn id="69" dur="250" autoRev="1" fill="hold"/>
                                        <p:tgtEl>
                                          <p:spTgt spid="94"/>
                                        </p:tgtEl>
                                      </p:cBhvr>
                                      <p:by x="105000" y="105000"/>
                                    </p:animScale>
                                  </p:childTnLst>
                                </p:cTn>
                              </p:par>
                              <p:par>
                                <p:cTn id="70" presetID="1" presetClass="entr" presetSubtype="0" fill="hold" grpId="0" nodeType="withEffect">
                                  <p:stCondLst>
                                    <p:cond delay="0"/>
                                  </p:stCondLst>
                                  <p:childTnLst>
                                    <p:set>
                                      <p:cBhvr>
                                        <p:cTn id="71" dur="1" fill="hold">
                                          <p:stCondLst>
                                            <p:cond delay="0"/>
                                          </p:stCondLst>
                                        </p:cTn>
                                        <p:tgtEl>
                                          <p:spTgt spid="95"/>
                                        </p:tgtEl>
                                        <p:attrNameLst>
                                          <p:attrName>style.visibility</p:attrName>
                                        </p:attrNameLst>
                                      </p:cBhvr>
                                      <p:to>
                                        <p:strVal val="visible"/>
                                      </p:to>
                                    </p:set>
                                  </p:childTnLst>
                                </p:cTn>
                              </p:par>
                              <p:par>
                                <p:cTn id="72" presetID="26" presetClass="emph" presetSubtype="0" repeatCount="indefinite" fill="hold" grpId="1" nodeType="withEffect">
                                  <p:stCondLst>
                                    <p:cond delay="0"/>
                                  </p:stCondLst>
                                  <p:endCondLst>
                                    <p:cond evt="onNext" delay="0">
                                      <p:tgtEl>
                                        <p:sldTgt/>
                                      </p:tgtEl>
                                    </p:cond>
                                  </p:endCondLst>
                                  <p:childTnLst>
                                    <p:animEffect transition="out" filter="fade">
                                      <p:cBhvr>
                                        <p:cTn id="73" dur="500" tmFilter="0, 0; .2, .5; .8, .5; 1, 0"/>
                                        <p:tgtEl>
                                          <p:spTgt spid="95"/>
                                        </p:tgtEl>
                                      </p:cBhvr>
                                    </p:animEffect>
                                    <p:animScale>
                                      <p:cBhvr>
                                        <p:cTn id="74" dur="250" autoRev="1" fill="hold"/>
                                        <p:tgtEl>
                                          <p:spTgt spid="95"/>
                                        </p:tgtEl>
                                      </p:cBhvr>
                                      <p:by x="105000" y="105000"/>
                                    </p:animScale>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94"/>
                                        </p:tgtEl>
                                        <p:attrNameLst>
                                          <p:attrName>style.visibility</p:attrName>
                                        </p:attrNameLst>
                                      </p:cBhvr>
                                      <p:to>
                                        <p:strVal val="hidden"/>
                                      </p:to>
                                    </p:set>
                                  </p:childTnLst>
                                </p:cTn>
                              </p:par>
                              <p:par>
                                <p:cTn id="79" presetID="1" presetClass="exit" presetSubtype="0" fill="hold" grpId="2" nodeType="withEffect">
                                  <p:stCondLst>
                                    <p:cond delay="0"/>
                                  </p:stCondLst>
                                  <p:childTnLst>
                                    <p:set>
                                      <p:cBhvr>
                                        <p:cTn id="80" dur="1" fill="hold">
                                          <p:stCondLst>
                                            <p:cond delay="0"/>
                                          </p:stCondLst>
                                        </p:cTn>
                                        <p:tgtEl>
                                          <p:spTgt spid="95"/>
                                        </p:tgtEl>
                                        <p:attrNameLst>
                                          <p:attrName>style.visibility</p:attrName>
                                        </p:attrNameLst>
                                      </p:cBhvr>
                                      <p:to>
                                        <p:strVal val="hidden"/>
                                      </p:to>
                                    </p:set>
                                  </p:childTnLst>
                                </p:cTn>
                              </p:par>
                              <p:par>
                                <p:cTn id="81" presetID="1" presetClass="entr" presetSubtype="0" fill="hold" grpId="0" nodeType="withEffect">
                                  <p:stCondLst>
                                    <p:cond delay="0"/>
                                  </p:stCondLst>
                                  <p:childTnLst>
                                    <p:set>
                                      <p:cBhvr>
                                        <p:cTn id="82" dur="1" fill="hold">
                                          <p:stCondLst>
                                            <p:cond delay="0"/>
                                          </p:stCondLst>
                                        </p:cTn>
                                        <p:tgtEl>
                                          <p:spTgt spid="9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3"/>
                                        </p:tgtEl>
                                        <p:attrNameLst>
                                          <p:attrName>style.visibility</p:attrName>
                                        </p:attrNameLst>
                                      </p:cBhvr>
                                      <p:to>
                                        <p:strVal val="visible"/>
                                      </p:to>
                                    </p:set>
                                  </p:childTnLst>
                                </p:cTn>
                              </p:par>
                              <p:par>
                                <p:cTn id="85" presetID="26" presetClass="emph" presetSubtype="0" repeatCount="indefinite" fill="hold" grpId="1" nodeType="withEffect">
                                  <p:stCondLst>
                                    <p:cond delay="0"/>
                                  </p:stCondLst>
                                  <p:endCondLst>
                                    <p:cond evt="onNext" delay="0">
                                      <p:tgtEl>
                                        <p:sldTgt/>
                                      </p:tgtEl>
                                    </p:cond>
                                  </p:endCondLst>
                                  <p:childTnLst>
                                    <p:animEffect transition="out" filter="fade">
                                      <p:cBhvr>
                                        <p:cTn id="86" dur="500" tmFilter="0, 0; .2, .5; .8, .5; 1, 0"/>
                                        <p:tgtEl>
                                          <p:spTgt spid="63"/>
                                        </p:tgtEl>
                                      </p:cBhvr>
                                    </p:animEffect>
                                    <p:animScale>
                                      <p:cBhvr>
                                        <p:cTn id="87" dur="250" autoRev="1" fill="hold"/>
                                        <p:tgtEl>
                                          <p:spTgt spid="6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 grpId="0" animBg="1"/>
      <p:bldP spid="88" grpId="1" animBg="1"/>
      <p:bldP spid="88" grpId="2" animBg="1"/>
      <p:bldP spid="89" grpId="0" animBg="1"/>
      <p:bldP spid="89" grpId="1" animBg="1"/>
      <p:bldP spid="89" grpId="2" animBg="1"/>
      <p:bldP spid="90" grpId="0" animBg="1"/>
      <p:bldP spid="90" grpId="1" animBg="1"/>
      <p:bldP spid="90" grpId="2" animBg="1"/>
      <p:bldP spid="91" grpId="0" animBg="1"/>
      <p:bldP spid="91" grpId="1" animBg="1"/>
      <p:bldP spid="91" grpId="2" animBg="1"/>
      <p:bldP spid="92" grpId="0" animBg="1"/>
      <p:bldP spid="92" grpId="1" animBg="1"/>
      <p:bldP spid="92" grpId="2" animBg="1"/>
      <p:bldP spid="93" grpId="0" animBg="1"/>
      <p:bldP spid="93" grpId="1" animBg="1"/>
      <p:bldP spid="93" grpId="2" animBg="1"/>
      <p:bldP spid="94" grpId="0" animBg="1"/>
      <p:bldP spid="94" grpId="1" animBg="1"/>
      <p:bldP spid="94" grpId="2" animBg="1"/>
      <p:bldP spid="95" grpId="0" animBg="1"/>
      <p:bldP spid="95" grpId="1" animBg="1"/>
      <p:bldP spid="95" grpId="2" animBg="1"/>
      <p:bldP spid="96" grpId="0"/>
      <p:bldP spid="63" grpId="0" animBg="1"/>
      <p:bldP spid="63" grpId="1"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506F-75B1-DE8F-86C5-2C2E16DB1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4F197-3565-9376-D48E-5471FECD240F}"/>
              </a:ext>
            </a:extLst>
          </p:cNvPr>
          <p:cNvSpPr>
            <a:spLocks noGrp="1"/>
          </p:cNvSpPr>
          <p:nvPr>
            <p:ph type="title"/>
          </p:nvPr>
        </p:nvSpPr>
        <p:spPr>
          <a:xfrm>
            <a:off x="0" y="1"/>
            <a:ext cx="12192000" cy="711200"/>
          </a:xfrm>
        </p:spPr>
        <p:txBody>
          <a:bodyPr/>
          <a:lstStyle/>
          <a:p>
            <a:r>
              <a:rPr lang="en-US" dirty="0"/>
              <a:t>Frequently asked Questions in Exam</a:t>
            </a:r>
          </a:p>
        </p:txBody>
      </p:sp>
      <p:sp>
        <p:nvSpPr>
          <p:cNvPr id="3" name="Content Placeholder 2">
            <a:extLst>
              <a:ext uri="{FF2B5EF4-FFF2-40B4-BE49-F238E27FC236}">
                <a16:creationId xmlns:a16="http://schemas.microsoft.com/office/drawing/2014/main" id="{AD690E99-4450-ADCA-10EF-4853AA9AD93C}"/>
              </a:ext>
            </a:extLst>
          </p:cNvPr>
          <p:cNvSpPr>
            <a:spLocks noGrp="1"/>
          </p:cNvSpPr>
          <p:nvPr>
            <p:ph idx="1"/>
          </p:nvPr>
        </p:nvSpPr>
        <p:spPr>
          <a:xfrm>
            <a:off x="131180" y="723479"/>
            <a:ext cx="11929641" cy="5798619"/>
          </a:xfrm>
        </p:spPr>
        <p:txBody>
          <a:bodyPr/>
          <a:lstStyle/>
          <a:p>
            <a:pPr marL="457200" indent="-457200">
              <a:lnSpc>
                <a:spcPct val="100000"/>
              </a:lnSpc>
              <a:buFont typeface="+mj-lt"/>
              <a:buAutoNum type="arabicPeriod"/>
            </a:pPr>
            <a:r>
              <a:rPr lang="en-US" dirty="0"/>
              <a:t>Define Process. State the difference between Process and Program.</a:t>
            </a:r>
          </a:p>
          <a:p>
            <a:pPr marL="457200" indent="-457200">
              <a:lnSpc>
                <a:spcPct val="100000"/>
              </a:lnSpc>
              <a:buFont typeface="+mj-lt"/>
              <a:buAutoNum type="arabicPeriod"/>
            </a:pPr>
            <a:r>
              <a:rPr lang="en-US" dirty="0"/>
              <a:t>Explain Process Life-Cycle with a suitable diagram.</a:t>
            </a:r>
          </a:p>
          <a:p>
            <a:pPr marL="457200" indent="-457200">
              <a:lnSpc>
                <a:spcPct val="100000"/>
              </a:lnSpc>
              <a:buFont typeface="+mj-lt"/>
              <a:buAutoNum type="arabicPeriod"/>
            </a:pPr>
            <a:r>
              <a:rPr lang="en-US" dirty="0"/>
              <a:t>Explain Process States Transitions with a suitable diagram.</a:t>
            </a:r>
          </a:p>
          <a:p>
            <a:pPr marL="457200" indent="-457200">
              <a:lnSpc>
                <a:spcPct val="100000"/>
              </a:lnSpc>
              <a:buFont typeface="+mj-lt"/>
              <a:buAutoNum type="arabicPeriod"/>
            </a:pPr>
            <a:r>
              <a:rPr lang="en-US" dirty="0"/>
              <a:t>Write a short note on PCB (Process Control Block).</a:t>
            </a:r>
          </a:p>
          <a:p>
            <a:pPr marL="457200" indent="-457200">
              <a:lnSpc>
                <a:spcPct val="100000"/>
              </a:lnSpc>
              <a:buFont typeface="+mj-lt"/>
              <a:buAutoNum type="arabicPeriod"/>
            </a:pPr>
            <a:r>
              <a:rPr lang="en-US" dirty="0"/>
              <a:t>Discuss Context Switching with proper example.</a:t>
            </a:r>
          </a:p>
          <a:p>
            <a:pPr marL="457200" indent="-457200">
              <a:lnSpc>
                <a:spcPct val="100000"/>
              </a:lnSpc>
              <a:buFont typeface="+mj-lt"/>
              <a:buAutoNum type="arabicPeriod"/>
            </a:pPr>
            <a:r>
              <a:rPr lang="en-US" dirty="0"/>
              <a:t>What is Thread? State the difference between Thread and Process.</a:t>
            </a:r>
          </a:p>
          <a:p>
            <a:pPr marL="457200" indent="-457200">
              <a:lnSpc>
                <a:spcPct val="100000"/>
              </a:lnSpc>
              <a:buFont typeface="+mj-lt"/>
              <a:buAutoNum type="arabicPeriod"/>
            </a:pPr>
            <a:r>
              <a:rPr lang="en-US" dirty="0"/>
              <a:t>Explain Single VS Multiple Threaded Process.</a:t>
            </a:r>
          </a:p>
          <a:p>
            <a:pPr marL="457200" indent="-457200">
              <a:lnSpc>
                <a:spcPct val="100000"/>
              </a:lnSpc>
              <a:buFont typeface="+mj-lt"/>
              <a:buAutoNum type="arabicPeriod"/>
            </a:pPr>
            <a:r>
              <a:rPr lang="en-US" dirty="0"/>
              <a:t>Explain types of Thread with suitable example.</a:t>
            </a:r>
          </a:p>
          <a:p>
            <a:pPr marL="0" indent="0">
              <a:lnSpc>
                <a:spcPct val="100000"/>
              </a:lnSpc>
              <a:buNone/>
            </a:pPr>
            <a:r>
              <a:rPr lang="en-US" b="1" dirty="0"/>
              <a:t>			OR</a:t>
            </a:r>
          </a:p>
          <a:p>
            <a:pPr marL="0" indent="0">
              <a:lnSpc>
                <a:spcPct val="100000"/>
              </a:lnSpc>
              <a:buNone/>
            </a:pPr>
            <a:r>
              <a:rPr lang="en-US" dirty="0"/>
              <a:t>       Explain User Level Thread and Kernel Level Thread."</a:t>
            </a:r>
          </a:p>
          <a:p>
            <a:pPr marL="457200" indent="-457200">
              <a:lnSpc>
                <a:spcPct val="100000"/>
              </a:lnSpc>
              <a:buFont typeface="+mj-lt"/>
              <a:buAutoNum type="arabicPeriod" startAt="9"/>
            </a:pPr>
            <a:r>
              <a:rPr lang="en-US" dirty="0"/>
              <a:t>Define the following terms: </a:t>
            </a:r>
          </a:p>
          <a:p>
            <a:pPr marL="0" indent="0">
              <a:lnSpc>
                <a:spcPct val="100000"/>
              </a:lnSpc>
              <a:buNone/>
            </a:pPr>
            <a:r>
              <a:rPr lang="en-US" dirty="0"/>
              <a:t>      (</a:t>
            </a:r>
            <a:r>
              <a:rPr lang="en-US" dirty="0" err="1"/>
              <a:t>i</a:t>
            </a:r>
            <a:r>
              <a:rPr lang="en-US" dirty="0"/>
              <a:t>) Scheduling (ii) Scheduler (iii) Scheduling Algorithm</a:t>
            </a:r>
          </a:p>
          <a:p>
            <a:pPr marL="0" indent="0">
              <a:lnSpc>
                <a:spcPct val="100000"/>
              </a:lnSpc>
              <a:buNone/>
            </a:pPr>
            <a:endParaRPr lang="en-US" dirty="0"/>
          </a:p>
          <a:p>
            <a:pPr marL="457200" indent="-457200">
              <a:lnSpc>
                <a:spcPct val="100000"/>
              </a:lnSpc>
              <a:buFont typeface="+mj-lt"/>
              <a:buAutoNum type="arabicPeriod" startAt="4"/>
            </a:pPr>
            <a:endParaRPr lang="en-US" dirty="0"/>
          </a:p>
          <a:p>
            <a:pPr marL="457200" indent="-457200">
              <a:lnSpc>
                <a:spcPct val="100000"/>
              </a:lnSpc>
              <a:buFont typeface="+mj-lt"/>
              <a:buAutoNum type="arabicPeriod" startAt="4"/>
            </a:pPr>
            <a:endParaRPr lang="en-US" dirty="0"/>
          </a:p>
          <a:p>
            <a:pPr marL="457200" indent="-457200">
              <a:lnSpc>
                <a:spcPct val="100000"/>
              </a:lnSpc>
              <a:buFont typeface="+mj-lt"/>
              <a:buAutoNum type="arabicPeriod" startAt="4"/>
            </a:pPr>
            <a:endParaRPr lang="en-US" dirty="0"/>
          </a:p>
        </p:txBody>
      </p:sp>
    </p:spTree>
    <p:extLst>
      <p:ext uri="{BB962C8B-B14F-4D97-AF65-F5344CB8AC3E}">
        <p14:creationId xmlns:p14="http://schemas.microsoft.com/office/powerpoint/2010/main" val="16935690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8A641-E067-2135-1084-2C668A2238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048049-22BF-48DF-4C62-7EEB3D896380}"/>
              </a:ext>
            </a:extLst>
          </p:cNvPr>
          <p:cNvSpPr>
            <a:spLocks noGrp="1"/>
          </p:cNvSpPr>
          <p:nvPr>
            <p:ph type="title"/>
          </p:nvPr>
        </p:nvSpPr>
        <p:spPr>
          <a:xfrm>
            <a:off x="0" y="1"/>
            <a:ext cx="12192000" cy="711200"/>
          </a:xfrm>
        </p:spPr>
        <p:txBody>
          <a:bodyPr/>
          <a:lstStyle/>
          <a:p>
            <a:r>
              <a:rPr lang="en-US" dirty="0"/>
              <a:t>Frequently asked Questions in Exam</a:t>
            </a:r>
          </a:p>
        </p:txBody>
      </p:sp>
      <p:sp>
        <p:nvSpPr>
          <p:cNvPr id="3" name="Content Placeholder 2">
            <a:extLst>
              <a:ext uri="{FF2B5EF4-FFF2-40B4-BE49-F238E27FC236}">
                <a16:creationId xmlns:a16="http://schemas.microsoft.com/office/drawing/2014/main" id="{7FAD7FD6-7F78-4A11-E56B-2B976AD006C6}"/>
              </a:ext>
            </a:extLst>
          </p:cNvPr>
          <p:cNvSpPr>
            <a:spLocks noGrp="1"/>
          </p:cNvSpPr>
          <p:nvPr>
            <p:ph idx="1"/>
          </p:nvPr>
        </p:nvSpPr>
        <p:spPr>
          <a:xfrm>
            <a:off x="131180" y="816789"/>
            <a:ext cx="11929641" cy="5590565"/>
          </a:xfrm>
        </p:spPr>
        <p:txBody>
          <a:bodyPr/>
          <a:lstStyle/>
          <a:p>
            <a:pPr marL="457200" indent="-457200">
              <a:lnSpc>
                <a:spcPct val="100000"/>
              </a:lnSpc>
              <a:buFont typeface="+mj-lt"/>
              <a:buAutoNum type="arabicPeriod" startAt="10"/>
            </a:pPr>
            <a:r>
              <a:rPr lang="en-US" dirty="0"/>
              <a:t>Explain different types of Schedulers in brief.</a:t>
            </a:r>
          </a:p>
          <a:p>
            <a:pPr marL="0" indent="0">
              <a:lnSpc>
                <a:spcPct val="100000"/>
              </a:lnSpc>
              <a:buNone/>
            </a:pPr>
            <a:r>
              <a:rPr lang="en-US" b="1" dirty="0"/>
              <a:t>		OR</a:t>
            </a:r>
          </a:p>
          <a:p>
            <a:pPr marL="0" indent="0">
              <a:lnSpc>
                <a:spcPct val="100000"/>
              </a:lnSpc>
              <a:buNone/>
            </a:pPr>
            <a:r>
              <a:rPr lang="en-US" dirty="0"/>
              <a:t>       Explain Shrot, Medium- and Long-Term Scheduler in brief.</a:t>
            </a:r>
          </a:p>
          <a:p>
            <a:pPr marL="457200" indent="-457200">
              <a:lnSpc>
                <a:spcPct val="100000"/>
              </a:lnSpc>
              <a:buFont typeface="+mj-lt"/>
              <a:buAutoNum type="arabicPeriod" startAt="11"/>
            </a:pPr>
            <a:r>
              <a:rPr lang="en-US" dirty="0"/>
              <a:t>Discuss Scheduling Criteria.</a:t>
            </a:r>
          </a:p>
          <a:p>
            <a:pPr marL="457200" indent="-457200">
              <a:lnSpc>
                <a:spcPct val="100000"/>
              </a:lnSpc>
              <a:buFont typeface="+mj-lt"/>
              <a:buAutoNum type="arabicPeriod" startAt="11"/>
            </a:pPr>
            <a:r>
              <a:rPr lang="en-US" dirty="0"/>
              <a:t>Explain FCFC (First Come, First Served) Scheduling Algorithm with a suitable example.</a:t>
            </a:r>
          </a:p>
          <a:p>
            <a:pPr marL="457200" indent="-457200">
              <a:lnSpc>
                <a:spcPct val="100000"/>
              </a:lnSpc>
              <a:buFont typeface="+mj-lt"/>
              <a:buAutoNum type="arabicPeriod" startAt="11"/>
            </a:pPr>
            <a:r>
              <a:rPr lang="en-US" dirty="0"/>
              <a:t>Explain SJF (Shortest Job First) Scheduling Algorithm with a suitable example.</a:t>
            </a:r>
          </a:p>
          <a:p>
            <a:pPr marL="457200" indent="-457200">
              <a:lnSpc>
                <a:spcPct val="100000"/>
              </a:lnSpc>
              <a:buFont typeface="+mj-lt"/>
              <a:buAutoNum type="arabicPeriod" startAt="11"/>
            </a:pPr>
            <a:r>
              <a:rPr lang="en-US" dirty="0"/>
              <a:t>Explain SRTN (Shortest Remaining Time Next) Scheduling Algorithm with a suitable example.</a:t>
            </a:r>
          </a:p>
          <a:p>
            <a:pPr marL="457200" indent="-457200">
              <a:lnSpc>
                <a:spcPct val="100000"/>
              </a:lnSpc>
              <a:buFont typeface="+mj-lt"/>
              <a:buAutoNum type="arabicPeriod" startAt="11"/>
            </a:pPr>
            <a:r>
              <a:rPr lang="en-US" dirty="0"/>
              <a:t>Explain RR (Round Robin) Scheduling Algorithm with a suitable example.</a:t>
            </a:r>
          </a:p>
          <a:p>
            <a:pPr marL="457200" indent="-457200">
              <a:lnSpc>
                <a:spcPct val="100000"/>
              </a:lnSpc>
              <a:buFont typeface="+mj-lt"/>
              <a:buAutoNum type="arabicPeriod" startAt="11"/>
            </a:pPr>
            <a:r>
              <a:rPr lang="en-US" dirty="0"/>
              <a:t>Explain Preemptive Priority Scheduling Algorithm with a suitable example.</a:t>
            </a:r>
          </a:p>
          <a:p>
            <a:pPr marL="457200" indent="-457200">
              <a:lnSpc>
                <a:spcPct val="100000"/>
              </a:lnSpc>
              <a:buFont typeface="+mj-lt"/>
              <a:buAutoNum type="arabicPeriod" startAt="11"/>
            </a:pPr>
            <a:r>
              <a:rPr lang="en-US" dirty="0"/>
              <a:t>Explain Non-Preemptive Priority Scheduling Algorithm with a suitable example.</a:t>
            </a:r>
          </a:p>
          <a:p>
            <a:pPr marL="0" indent="0">
              <a:lnSpc>
                <a:spcPct val="100000"/>
              </a:lnSpc>
              <a:buNone/>
            </a:pPr>
            <a:endParaRPr lang="en-US" dirty="0"/>
          </a:p>
          <a:p>
            <a:pPr marL="0" indent="0">
              <a:lnSpc>
                <a:spcPct val="100000"/>
              </a:lnSpc>
              <a:buNone/>
            </a:pPr>
            <a:endParaRPr lang="en-US" dirty="0"/>
          </a:p>
          <a:p>
            <a:pPr marL="0" indent="0">
              <a:lnSpc>
                <a:spcPct val="100000"/>
              </a:lnSpc>
              <a:buNone/>
            </a:pPr>
            <a:endParaRPr lang="en-US" dirty="0"/>
          </a:p>
          <a:p>
            <a:pPr marL="457200" indent="-457200">
              <a:lnSpc>
                <a:spcPct val="100000"/>
              </a:lnSpc>
              <a:buFont typeface="+mj-lt"/>
              <a:buAutoNum type="arabicPeriod" startAt="4"/>
            </a:pPr>
            <a:endParaRPr lang="en-US" dirty="0"/>
          </a:p>
          <a:p>
            <a:pPr marL="457200" indent="-457200">
              <a:lnSpc>
                <a:spcPct val="100000"/>
              </a:lnSpc>
              <a:buFont typeface="+mj-lt"/>
              <a:buAutoNum type="arabicPeriod" startAt="4"/>
            </a:pPr>
            <a:endParaRPr lang="en-US" dirty="0"/>
          </a:p>
          <a:p>
            <a:pPr marL="457200" indent="-457200">
              <a:lnSpc>
                <a:spcPct val="100000"/>
              </a:lnSpc>
              <a:buFont typeface="+mj-lt"/>
              <a:buAutoNum type="arabicPeriod" startAt="4"/>
            </a:pPr>
            <a:endParaRPr lang="en-US" dirty="0"/>
          </a:p>
        </p:txBody>
      </p:sp>
    </p:spTree>
    <p:extLst>
      <p:ext uri="{BB962C8B-B14F-4D97-AF65-F5344CB8AC3E}">
        <p14:creationId xmlns:p14="http://schemas.microsoft.com/office/powerpoint/2010/main" val="144023652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47076983-6098-4D75-8E3B-99B088ABB8A4}"/>
              </a:ext>
            </a:extLst>
          </p:cNvPr>
          <p:cNvSpPr>
            <a:spLocks noGrp="1"/>
          </p:cNvSpPr>
          <p:nvPr>
            <p:ph type="body" sz="quarter" idx="11"/>
          </p:nvPr>
        </p:nvSpPr>
        <p:spPr/>
        <p:txBody>
          <a:bodyPr/>
          <a:lstStyle/>
          <a:p>
            <a:pPr>
              <a:spcAft>
                <a:spcPts val="600"/>
              </a:spcAft>
            </a:pPr>
            <a:r>
              <a:rPr lang="en-US" dirty="0"/>
              <a:t>u</a:t>
            </a:r>
            <a:r>
              <a:rPr lang="en-US" dirty="0" smtClean="0"/>
              <a:t>mesh.thoriya@darshan.ac.in</a:t>
            </a:r>
            <a:endParaRPr lang="en-US" dirty="0"/>
          </a:p>
        </p:txBody>
      </p:sp>
      <p:sp>
        <p:nvSpPr>
          <p:cNvPr id="12" name="Text Placeholder 3">
            <a:extLst>
              <a:ext uri="{FF2B5EF4-FFF2-40B4-BE49-F238E27FC236}">
                <a16:creationId xmlns:a16="http://schemas.microsoft.com/office/drawing/2014/main" id="{A05BAC4B-D894-4260-872E-77744EE844B3}"/>
              </a:ext>
            </a:extLst>
          </p:cNvPr>
          <p:cNvSpPr>
            <a:spLocks noGrp="1"/>
          </p:cNvSpPr>
          <p:nvPr>
            <p:ph type="body" sz="quarter" idx="12"/>
          </p:nvPr>
        </p:nvSpPr>
        <p:spPr/>
        <p:txBody>
          <a:bodyPr/>
          <a:lstStyle/>
          <a:p>
            <a:endParaRPr lang="en-US" dirty="0"/>
          </a:p>
          <a:p>
            <a:r>
              <a:rPr lang="en-US" dirty="0" smtClean="0"/>
              <a:t>9714233355</a:t>
            </a:r>
            <a:endParaRPr lang="en-US" dirty="0"/>
          </a:p>
          <a:p>
            <a:endParaRPr lang="en-US" dirty="0"/>
          </a:p>
        </p:txBody>
      </p:sp>
      <p:sp>
        <p:nvSpPr>
          <p:cNvPr id="2" name="Text Placeholder 1">
            <a:extLst>
              <a:ext uri="{FF2B5EF4-FFF2-40B4-BE49-F238E27FC236}">
                <a16:creationId xmlns:a16="http://schemas.microsoft.com/office/drawing/2014/main" id="{6EE20B01-2C98-438F-91A2-5BCFB793FEFB}"/>
              </a:ext>
            </a:extLst>
          </p:cNvPr>
          <p:cNvSpPr>
            <a:spLocks noGrp="1"/>
          </p:cNvSpPr>
          <p:nvPr>
            <p:ph type="body" sz="quarter" idx="13"/>
          </p:nvPr>
        </p:nvSpPr>
        <p:spPr/>
        <p:txBody>
          <a:bodyPr/>
          <a:lstStyle/>
          <a:p>
            <a:pPr>
              <a:spcAft>
                <a:spcPts val="600"/>
              </a:spcAft>
            </a:pPr>
            <a:r>
              <a:rPr lang="en-US" sz="1400" dirty="0"/>
              <a:t>Computer Science &amp; Engineering Department</a:t>
            </a:r>
          </a:p>
        </p:txBody>
      </p:sp>
      <p:sp>
        <p:nvSpPr>
          <p:cNvPr id="6" name="Text Placeholder 5">
            <a:extLst>
              <a:ext uri="{FF2B5EF4-FFF2-40B4-BE49-F238E27FC236}">
                <a16:creationId xmlns:a16="http://schemas.microsoft.com/office/drawing/2014/main" id="{DE283884-0326-C47B-1F6B-60B10599E44D}"/>
              </a:ext>
            </a:extLst>
          </p:cNvPr>
          <p:cNvSpPr>
            <a:spLocks noGrp="1"/>
          </p:cNvSpPr>
          <p:nvPr>
            <p:ph type="body" sz="quarter" idx="14"/>
          </p:nvPr>
        </p:nvSpPr>
        <p:spPr/>
        <p:txBody>
          <a:bodyPr/>
          <a:lstStyle/>
          <a:p>
            <a:pPr>
              <a:spcAft>
                <a:spcPts val="600"/>
              </a:spcAft>
            </a:pPr>
            <a:r>
              <a:rPr lang="en-US" dirty="0">
                <a:gradFill flip="none" rotWithShape="1">
                  <a:gsLst>
                    <a:gs pos="10000">
                      <a:schemeClr val="accent6">
                        <a:lumMod val="50000"/>
                      </a:schemeClr>
                    </a:gs>
                    <a:gs pos="100000">
                      <a:schemeClr val="accent6"/>
                    </a:gs>
                  </a:gsLst>
                  <a:lin ang="0" scaled="1"/>
                  <a:tileRect/>
                </a:gradFill>
              </a:rPr>
              <a:t>Prof. </a:t>
            </a:r>
            <a:r>
              <a:rPr lang="en-US" dirty="0" err="1" smtClean="0">
                <a:gradFill flip="none" rotWithShape="1">
                  <a:gsLst>
                    <a:gs pos="10000">
                      <a:schemeClr val="accent6">
                        <a:lumMod val="50000"/>
                      </a:schemeClr>
                    </a:gs>
                    <a:gs pos="100000">
                      <a:schemeClr val="accent6"/>
                    </a:gs>
                  </a:gsLst>
                  <a:lin ang="0" scaled="1"/>
                  <a:tileRect/>
                </a:gradFill>
              </a:rPr>
              <a:t>Umesh</a:t>
            </a:r>
            <a:r>
              <a:rPr lang="en-US" dirty="0" smtClean="0">
                <a:gradFill flip="none" rotWithShape="1">
                  <a:gsLst>
                    <a:gs pos="10000">
                      <a:schemeClr val="accent6">
                        <a:lumMod val="50000"/>
                      </a:schemeClr>
                    </a:gs>
                    <a:gs pos="100000">
                      <a:schemeClr val="accent6"/>
                    </a:gs>
                  </a:gsLst>
                  <a:lin ang="0" scaled="1"/>
                  <a:tileRect/>
                </a:gradFill>
              </a:rPr>
              <a:t> H. </a:t>
            </a:r>
            <a:r>
              <a:rPr lang="en-US" dirty="0" err="1" smtClean="0">
                <a:gradFill flip="none" rotWithShape="1">
                  <a:gsLst>
                    <a:gs pos="10000">
                      <a:schemeClr val="accent6">
                        <a:lumMod val="50000"/>
                      </a:schemeClr>
                    </a:gs>
                    <a:gs pos="100000">
                      <a:schemeClr val="accent6"/>
                    </a:gs>
                  </a:gsLst>
                  <a:lin ang="0" scaled="1"/>
                  <a:tileRect/>
                </a:gradFill>
              </a:rPr>
              <a:t>Thoriya</a:t>
            </a:r>
            <a:endParaRPr lang="en-US" dirty="0">
              <a:gradFill flip="none" rotWithShape="1">
                <a:gsLst>
                  <a:gs pos="10000">
                    <a:srgbClr val="B71B1C"/>
                  </a:gs>
                  <a:gs pos="95000">
                    <a:srgbClr val="ED524F"/>
                  </a:gs>
                </a:gsLst>
                <a:lin ang="0" scaled="1"/>
                <a:tileRect/>
              </a:gradFill>
            </a:endParaRPr>
          </a:p>
        </p:txBody>
      </p:sp>
      <p:sp>
        <p:nvSpPr>
          <p:cNvPr id="7" name="Text Placeholder 6">
            <a:extLst>
              <a:ext uri="{FF2B5EF4-FFF2-40B4-BE49-F238E27FC236}">
                <a16:creationId xmlns:a16="http://schemas.microsoft.com/office/drawing/2014/main" id="{34F77176-AD0A-BB46-F2E7-9F5B86D3FA4A}"/>
              </a:ext>
            </a:extLst>
          </p:cNvPr>
          <p:cNvSpPr>
            <a:spLocks noGrp="1"/>
          </p:cNvSpPr>
          <p:nvPr>
            <p:ph type="body" sz="quarter" idx="16"/>
          </p:nvPr>
        </p:nvSpPr>
        <p:spPr>
          <a:xfrm>
            <a:off x="2820293" y="20384"/>
            <a:ext cx="4646358" cy="734653"/>
          </a:xfrm>
        </p:spPr>
        <p:txBody>
          <a:bodyPr/>
          <a:lstStyle/>
          <a:p>
            <a:pPr>
              <a:lnSpc>
                <a:spcPct val="100000"/>
              </a:lnSpc>
            </a:pPr>
            <a:r>
              <a:rPr lang="en-US" b="1" dirty="0"/>
              <a:t>Operating</a:t>
            </a:r>
            <a:r>
              <a:rPr lang="en-US" b="1" dirty="0">
                <a:latin typeface="Roboto Condensed Light" panose="02000000000000000000" pitchFamily="2" charset="0"/>
                <a:ea typeface="Roboto Condensed Light" panose="02000000000000000000" pitchFamily="2" charset="0"/>
              </a:rPr>
              <a:t> </a:t>
            </a:r>
            <a:r>
              <a:rPr lang="en-US" b="1" dirty="0"/>
              <a:t>System </a:t>
            </a:r>
            <a:r>
              <a:rPr lang="en-US" b="1" dirty="0">
                <a:latin typeface="Roboto Condensed Light" panose="02000000000000000000" pitchFamily="2" charset="0"/>
                <a:ea typeface="Roboto Condensed Light" panose="02000000000000000000" pitchFamily="2" charset="0"/>
              </a:rPr>
              <a:t>(OS)</a:t>
            </a:r>
          </a:p>
          <a:p>
            <a:pPr>
              <a:lnSpc>
                <a:spcPct val="100000"/>
              </a:lnSpc>
            </a:pPr>
            <a:r>
              <a:rPr lang="en-US">
                <a:latin typeface="Roboto Condensed Light" panose="02000000000000000000" pitchFamily="2" charset="0"/>
                <a:ea typeface="Roboto Condensed Light" panose="02000000000000000000" pitchFamily="2" charset="0"/>
              </a:rPr>
              <a:t>DU # 2304CS205</a:t>
            </a:r>
            <a:endParaRPr lang="en-US" dirty="0">
              <a:latin typeface="Roboto Condensed Light" panose="02000000000000000000" pitchFamily="2" charset="0"/>
              <a:ea typeface="Roboto Condensed Light" panose="02000000000000000000" pitchFamily="2" charset="0"/>
            </a:endParaRPr>
          </a:p>
        </p:txBody>
      </p:sp>
      <p:sp>
        <p:nvSpPr>
          <p:cNvPr id="4" name="Picture Placeholder 3">
            <a:extLst>
              <a:ext uri="{FF2B5EF4-FFF2-40B4-BE49-F238E27FC236}">
                <a16:creationId xmlns:a16="http://schemas.microsoft.com/office/drawing/2014/main" id="{76E6A818-F69B-CD7F-6278-AF751628F046}"/>
              </a:ext>
            </a:extLst>
          </p:cNvPr>
          <p:cNvSpPr>
            <a:spLocks noGrp="1"/>
          </p:cNvSpPr>
          <p:nvPr>
            <p:ph type="pic" sz="quarter" idx="10"/>
          </p:nvPr>
        </p:nvSpPr>
        <p:spPr/>
      </p:sp>
      <p:pic>
        <p:nvPicPr>
          <p:cNvPr id="5" name="Picture Placeholder 23">
            <a:extLst>
              <a:ext uri="{FF2B5EF4-FFF2-40B4-BE49-F238E27FC236}">
                <a16:creationId xmlns:a16="http://schemas.microsoft.com/office/drawing/2014/main" id="{3F3F50B8-ED61-2110-7E0B-7F324C1DDDCE}"/>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74103"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pic>
    </p:spTree>
    <p:extLst>
      <p:ext uri="{BB962C8B-B14F-4D97-AF65-F5344CB8AC3E}">
        <p14:creationId xmlns:p14="http://schemas.microsoft.com/office/powerpoint/2010/main" val="142141349"/>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23811</TotalTime>
  <Words>9030</Words>
  <Application>Microsoft Office PowerPoint</Application>
  <PresentationFormat>Widescreen</PresentationFormat>
  <Paragraphs>3472</Paragraphs>
  <Slides>141</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141</vt:i4>
      </vt:variant>
    </vt:vector>
  </HeadingPairs>
  <TitlesOfParts>
    <vt:vector size="154" baseType="lpstr">
      <vt:lpstr>Wingdings</vt:lpstr>
      <vt:lpstr>Roboto Condensed Light</vt:lpstr>
      <vt:lpstr>Calibri</vt:lpstr>
      <vt:lpstr>Cambria Math</vt:lpstr>
      <vt:lpstr>Arial</vt:lpstr>
      <vt:lpstr>Segoe UI Black</vt:lpstr>
      <vt:lpstr>Wingdings 3</vt:lpstr>
      <vt:lpstr>Shruti</vt:lpstr>
      <vt:lpstr>Wingdings 2</vt:lpstr>
      <vt:lpstr>Roboto Condensed,Bold</vt:lpstr>
      <vt:lpstr>Roboto Condensed</vt:lpstr>
      <vt:lpstr>Times New Roman</vt:lpstr>
      <vt:lpstr>Office Theme</vt:lpstr>
      <vt:lpstr>Unit-2  Process Management</vt:lpstr>
      <vt:lpstr>PowerPoint Presentation</vt:lpstr>
      <vt:lpstr>PowerPoint Presentation</vt:lpstr>
      <vt:lpstr>Process Overview</vt:lpstr>
      <vt:lpstr>Definition of Program &amp; Process</vt:lpstr>
      <vt:lpstr>Definition of Program &amp; Process</vt:lpstr>
      <vt:lpstr>Program VS Process</vt:lpstr>
      <vt:lpstr>Program VS Process</vt:lpstr>
      <vt:lpstr>Process States</vt:lpstr>
      <vt:lpstr>Process Life Cycle</vt:lpstr>
      <vt:lpstr>Process Life Cycle</vt:lpstr>
      <vt:lpstr>Process Life Cycle</vt:lpstr>
      <vt:lpstr>Process Life Cycle</vt:lpstr>
      <vt:lpstr>Process Life Cycle</vt:lpstr>
      <vt:lpstr>Process State Transitions</vt:lpstr>
      <vt:lpstr>Process State Transitions</vt:lpstr>
      <vt:lpstr>Five State Process Model and Transitions</vt:lpstr>
      <vt:lpstr>Process State Transitions Overview</vt:lpstr>
      <vt:lpstr>PowerPoint Presentation</vt:lpstr>
      <vt:lpstr>Process Control Block</vt:lpstr>
      <vt:lpstr>Process Control Block(PCB)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Context Switching</vt:lpstr>
      <vt:lpstr>Context switching</vt:lpstr>
      <vt:lpstr>Threads Concept</vt:lpstr>
      <vt:lpstr>Definition of Thread</vt:lpstr>
      <vt:lpstr>Process VS Thread</vt:lpstr>
      <vt:lpstr>Thread Structure</vt:lpstr>
      <vt:lpstr>Single Threaded Process VS Multiple Threaded Process</vt:lpstr>
      <vt:lpstr>Types of Threads</vt:lpstr>
      <vt:lpstr>Types of Threads</vt:lpstr>
      <vt:lpstr>Types of Threads</vt:lpstr>
      <vt:lpstr>Basic Concepts of CPU Scheduling</vt:lpstr>
      <vt:lpstr>PowerPoint Presentation</vt:lpstr>
      <vt:lpstr>Types of Schedulers</vt:lpstr>
      <vt:lpstr>Types of schedulers</vt:lpstr>
      <vt:lpstr>Types of Schedulers</vt:lpstr>
      <vt:lpstr>Scheduling Criteria</vt:lpstr>
      <vt:lpstr>Scheduling criteria</vt:lpstr>
      <vt:lpstr>Scheduling Criteria</vt:lpstr>
      <vt:lpstr>Scheduling Criteria</vt:lpstr>
      <vt:lpstr>Types of Scheduling</vt:lpstr>
      <vt:lpstr>Types of Scheduling</vt:lpstr>
      <vt:lpstr>Scheduling Algorithm</vt:lpstr>
      <vt:lpstr>Scheduling Algorithm</vt:lpstr>
      <vt:lpstr>First Come, First Served (FCFS)</vt:lpstr>
      <vt:lpstr>First Come, First Served(FCFS)</vt:lpstr>
      <vt:lpstr>First Come, First Served(FCFS)</vt:lpstr>
      <vt:lpstr>First Come, First Served(FCFS)</vt:lpstr>
      <vt:lpstr>PowerPoint Presentation</vt:lpstr>
      <vt:lpstr>First Come, First Served(FCFS)</vt:lpstr>
      <vt:lpstr>First Come, First Served(FCFS)</vt:lpstr>
      <vt:lpstr>First Come, First Served(FCFS)</vt:lpstr>
      <vt:lpstr>First Come, First Served(FCFS)</vt:lpstr>
      <vt:lpstr>PowerPoint Presentation</vt:lpstr>
      <vt:lpstr>First Come, First Served(FCFS)</vt:lpstr>
      <vt:lpstr>First Come, First Served(FCFS)</vt:lpstr>
      <vt:lpstr>First Come, First Served - Exercise</vt:lpstr>
      <vt:lpstr>Shortest Job First (SJF)</vt:lpstr>
      <vt:lpstr>Shortest Job First(SJF)</vt:lpstr>
      <vt:lpstr>Shortest Job First(SJF)</vt:lpstr>
      <vt:lpstr>PowerPoint Presentation</vt:lpstr>
      <vt:lpstr>Shortest Job First(SJF)</vt:lpstr>
      <vt:lpstr>Shortest Job First(SJF)</vt:lpstr>
      <vt:lpstr>Shortest Job First(SJF)</vt:lpstr>
      <vt:lpstr>Shortest Job First(SJF)</vt:lpstr>
      <vt:lpstr>PowerPoint Presentation</vt:lpstr>
      <vt:lpstr>Shortest Job First(SJF)</vt:lpstr>
      <vt:lpstr>Shortest Job First(SJF)</vt:lpstr>
      <vt:lpstr>Shortest Remaining Time Next (SRTN)</vt:lpstr>
      <vt:lpstr>Shortest Remaining Time Next (SRTN)</vt:lpstr>
      <vt:lpstr>Shortest Remaining Time Next (SRTN)</vt:lpstr>
      <vt:lpstr>PowerPoint Presentation</vt:lpstr>
      <vt:lpstr>PowerPoint Presentation</vt:lpstr>
      <vt:lpstr>PowerPoint Presentation</vt:lpstr>
      <vt:lpstr>PowerPoint Presentation</vt:lpstr>
      <vt:lpstr>PowerPoint Presentation</vt:lpstr>
      <vt:lpstr>Shortest Remaining Time Next (SRTN)</vt:lpstr>
      <vt:lpstr>Shortest Remaining Time Next (SRTN)</vt:lpstr>
      <vt:lpstr>Shortest Remaining Time Next (SRTN)</vt:lpstr>
      <vt:lpstr>Shortest Remaining Time Next (SRTN)</vt:lpstr>
      <vt:lpstr>PowerPoint Presentation</vt:lpstr>
      <vt:lpstr>PowerPoint Presentation</vt:lpstr>
      <vt:lpstr>PowerPoint Presentation</vt:lpstr>
      <vt:lpstr>PowerPoint Presentation</vt:lpstr>
      <vt:lpstr>PowerPoint Presentation</vt:lpstr>
      <vt:lpstr>Shortest Remaining Time Next (SRTN)</vt:lpstr>
      <vt:lpstr>Shortest Remaining Time Next (SRTN)</vt:lpstr>
      <vt:lpstr>Round Robin (RR)</vt:lpstr>
      <vt:lpstr>Round Robin (RR)</vt:lpstr>
      <vt:lpstr>Round Robin (RR)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Round Robin (RR)</vt:lpstr>
      <vt:lpstr>Round Robin (RR)</vt:lpstr>
      <vt:lpstr>Round Robin (RR)</vt:lpstr>
      <vt:lpstr>Round Robin (RR)</vt:lpstr>
      <vt:lpstr>PowerPoint Presentation</vt:lpstr>
      <vt:lpstr>PowerPoint Presentation</vt:lpstr>
      <vt:lpstr>PowerPoint Presentation</vt:lpstr>
      <vt:lpstr>PowerPoint Presentation</vt:lpstr>
      <vt:lpstr>PowerPoint Presentation</vt:lpstr>
      <vt:lpstr>Round Robin (RR)</vt:lpstr>
      <vt:lpstr>Round Robin (RR)</vt:lpstr>
      <vt:lpstr>Priority Algorithm</vt:lpstr>
      <vt:lpstr>Preemptive Priority Scheduling</vt:lpstr>
      <vt:lpstr>Preemptive Priority Scheduling</vt:lpstr>
      <vt:lpstr>PowerPoint Presentation</vt:lpstr>
      <vt:lpstr>Preemptive Priority Scheduling</vt:lpstr>
      <vt:lpstr>Preemptive Priority Scheduling</vt:lpstr>
      <vt:lpstr>Preemptive Priority Scheduling</vt:lpstr>
      <vt:lpstr>Preemptive Priority Scheduling</vt:lpstr>
      <vt:lpstr>PowerPoint Presentation</vt:lpstr>
      <vt:lpstr>Preemptive Priority Scheduling</vt:lpstr>
      <vt:lpstr>Preemptive Priority Scheduling</vt:lpstr>
      <vt:lpstr>Non-Preemptive Priority Scheduling</vt:lpstr>
      <vt:lpstr>Non-Preemptive Priority Scheduling</vt:lpstr>
      <vt:lpstr>PowerPoint Presentation</vt:lpstr>
      <vt:lpstr>Non-Preemptive Priority Scheduling</vt:lpstr>
      <vt:lpstr>Non-Preemptive Priority Scheduling</vt:lpstr>
      <vt:lpstr>Non-Preemptive Priority Scheduling</vt:lpstr>
      <vt:lpstr>Non Preemptive Priority Scheduling</vt:lpstr>
      <vt:lpstr>PowerPoint Presentation</vt:lpstr>
      <vt:lpstr>Non-Preemptive Priority Scheduling</vt:lpstr>
      <vt:lpstr>Non-Preemptive Priority Scheduling</vt:lpstr>
      <vt:lpstr>Frequently asked Questions in Exam</vt:lpstr>
      <vt:lpstr>Frequently asked Questions in Exam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1592</cp:revision>
  <dcterms:created xsi:type="dcterms:W3CDTF">2020-05-01T05:09:15Z</dcterms:created>
  <dcterms:modified xsi:type="dcterms:W3CDTF">2026-01-05T02:57:20Z</dcterms:modified>
</cp:coreProperties>
</file>