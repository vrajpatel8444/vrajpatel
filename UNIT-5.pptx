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wdp" ContentType="image/vnd.ms-photo"/>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58"/>
  </p:notesMasterIdLst>
  <p:sldIdLst>
    <p:sldId id="283" r:id="rId2"/>
    <p:sldId id="512" r:id="rId3"/>
    <p:sldId id="352" r:id="rId4"/>
    <p:sldId id="729" r:id="rId5"/>
    <p:sldId id="794" r:id="rId6"/>
    <p:sldId id="785" r:id="rId7"/>
    <p:sldId id="795" r:id="rId8"/>
    <p:sldId id="703" r:id="rId9"/>
    <p:sldId id="786" r:id="rId10"/>
    <p:sldId id="787" r:id="rId11"/>
    <p:sldId id="788" r:id="rId12"/>
    <p:sldId id="705" r:id="rId13"/>
    <p:sldId id="789" r:id="rId14"/>
    <p:sldId id="796" r:id="rId15"/>
    <p:sldId id="809" r:id="rId16"/>
    <p:sldId id="790" r:id="rId17"/>
    <p:sldId id="797" r:id="rId18"/>
    <p:sldId id="798" r:id="rId19"/>
    <p:sldId id="799" r:id="rId20"/>
    <p:sldId id="800" r:id="rId21"/>
    <p:sldId id="801" r:id="rId22"/>
    <p:sldId id="802" r:id="rId23"/>
    <p:sldId id="803" r:id="rId24"/>
    <p:sldId id="804" r:id="rId25"/>
    <p:sldId id="805" r:id="rId26"/>
    <p:sldId id="806" r:id="rId27"/>
    <p:sldId id="807" r:id="rId28"/>
    <p:sldId id="808" r:id="rId29"/>
    <p:sldId id="758" r:id="rId30"/>
    <p:sldId id="791" r:id="rId31"/>
    <p:sldId id="792" r:id="rId32"/>
    <p:sldId id="822" r:id="rId33"/>
    <p:sldId id="823" r:id="rId34"/>
    <p:sldId id="810" r:id="rId35"/>
    <p:sldId id="793" r:id="rId36"/>
    <p:sldId id="818" r:id="rId37"/>
    <p:sldId id="824" r:id="rId38"/>
    <p:sldId id="813" r:id="rId39"/>
    <p:sldId id="819" r:id="rId40"/>
    <p:sldId id="814" r:id="rId41"/>
    <p:sldId id="820" r:id="rId42"/>
    <p:sldId id="816" r:id="rId43"/>
    <p:sldId id="817" r:id="rId44"/>
    <p:sldId id="832" r:id="rId45"/>
    <p:sldId id="833" r:id="rId46"/>
    <p:sldId id="821" r:id="rId47"/>
    <p:sldId id="825" r:id="rId48"/>
    <p:sldId id="826" r:id="rId49"/>
    <p:sldId id="827" r:id="rId50"/>
    <p:sldId id="830" r:id="rId51"/>
    <p:sldId id="828" r:id="rId52"/>
    <p:sldId id="829" r:id="rId53"/>
    <p:sldId id="831" r:id="rId54"/>
    <p:sldId id="697" r:id="rId55"/>
    <p:sldId id="835" r:id="rId56"/>
    <p:sldId id="284" r:id="rId57"/>
  </p:sldIdLst>
  <p:sldSz cx="12192000" cy="6858000"/>
  <p:notesSz cx="6858000" cy="9144000"/>
  <p:embeddedFontLst>
    <p:embeddedFont>
      <p:font typeface="Roboto Condensed Light" panose="02000000000000000000" pitchFamily="2" charset="0"/>
      <p:regular r:id="rId59"/>
      <p:italic r:id="rId60"/>
    </p:embeddedFont>
    <p:embeddedFont>
      <p:font typeface="Wingdings 2" panose="05020102010507070707" pitchFamily="18" charset="2"/>
      <p:regular r:id="rId61"/>
    </p:embeddedFont>
    <p:embeddedFont>
      <p:font typeface="Calibri" panose="020F0502020204030204" pitchFamily="34" charset="0"/>
      <p:regular r:id="rId62"/>
      <p:bold r:id="rId63"/>
      <p:italic r:id="rId64"/>
      <p:boldItalic r:id="rId65"/>
    </p:embeddedFont>
    <p:embeddedFont>
      <p:font typeface="Segoe UI Black" panose="020B0A02040204020203" pitchFamily="34" charset="0"/>
      <p:bold r:id="rId66"/>
      <p:boldItalic r:id="rId67"/>
    </p:embeddedFont>
    <p:embeddedFont>
      <p:font typeface="Roboto Condensed" panose="02000000000000000000" pitchFamily="2" charset="0"/>
      <p:regular r:id="rId68"/>
      <p:bold r:id="rId69"/>
      <p:italic r:id="rId70"/>
      <p:boldItalic r:id="rId71"/>
    </p:embeddedFont>
    <p:embeddedFont>
      <p:font typeface="Wingdings 3" panose="05040102010807070707" pitchFamily="18" charset="2"/>
      <p:regular r:id="rId7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modifyVerifier cryptProviderType="rsaAES" cryptAlgorithmClass="hash" cryptAlgorithmType="typeAny" cryptAlgorithmSid="14" spinCount="100000" saltData="szuZLe35W5vPfpBDnwzvUw==" hashData="/IvIHvk/OxNpEIIZq0eOjVPv3amWpfgQE5P5Roag978RoAyYaUnQ9R+34m75QzCyyWarxWMZ0eZuO190TXdsLA=="/>
  <p:extLst>
    <p:ext uri="{521415D9-36F7-43E2-AB2F-B90AF26B5E84}">
      <p14:sectionLst xmlns:p14="http://schemas.microsoft.com/office/powerpoint/2010/main">
        <p14:section name="Default Section" id="{1390711D-F853-48E3-A520-8D024CB230CB}">
          <p14:sldIdLst>
            <p14:sldId id="283"/>
            <p14:sldId id="512"/>
            <p14:sldId id="352"/>
            <p14:sldId id="729"/>
            <p14:sldId id="794"/>
            <p14:sldId id="785"/>
            <p14:sldId id="795"/>
            <p14:sldId id="703"/>
            <p14:sldId id="786"/>
            <p14:sldId id="787"/>
            <p14:sldId id="788"/>
            <p14:sldId id="705"/>
            <p14:sldId id="789"/>
            <p14:sldId id="796"/>
            <p14:sldId id="809"/>
            <p14:sldId id="790"/>
            <p14:sldId id="797"/>
            <p14:sldId id="798"/>
            <p14:sldId id="799"/>
            <p14:sldId id="800"/>
            <p14:sldId id="801"/>
            <p14:sldId id="802"/>
            <p14:sldId id="803"/>
            <p14:sldId id="804"/>
            <p14:sldId id="805"/>
            <p14:sldId id="806"/>
            <p14:sldId id="807"/>
            <p14:sldId id="808"/>
            <p14:sldId id="758"/>
            <p14:sldId id="791"/>
            <p14:sldId id="792"/>
            <p14:sldId id="822"/>
            <p14:sldId id="823"/>
            <p14:sldId id="810"/>
            <p14:sldId id="793"/>
            <p14:sldId id="818"/>
            <p14:sldId id="824"/>
            <p14:sldId id="813"/>
            <p14:sldId id="819"/>
            <p14:sldId id="814"/>
            <p14:sldId id="820"/>
            <p14:sldId id="816"/>
            <p14:sldId id="817"/>
            <p14:sldId id="832"/>
            <p14:sldId id="833"/>
            <p14:sldId id="821"/>
            <p14:sldId id="825"/>
            <p14:sldId id="826"/>
            <p14:sldId id="827"/>
            <p14:sldId id="830"/>
            <p14:sldId id="828"/>
            <p14:sldId id="829"/>
            <p14:sldId id="831"/>
            <p14:sldId id="697"/>
            <p14:sldId id="835"/>
            <p14:sldId id="284"/>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99"/>
    <a:srgbClr val="B71B1C"/>
    <a:srgbClr val="C62827"/>
    <a:srgbClr val="301B92"/>
    <a:srgbClr val="673BB7"/>
    <a:srgbClr val="607D8B"/>
    <a:srgbClr val="ED524F"/>
    <a:srgbClr val="F54337"/>
    <a:srgbClr val="D81A60"/>
    <a:srgbClr val="890E4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861" autoAdjust="0"/>
    <p:restoredTop sz="94660"/>
  </p:normalViewPr>
  <p:slideViewPr>
    <p:cSldViewPr snapToGrid="0">
      <p:cViewPr varScale="1">
        <p:scale>
          <a:sx n="83" d="100"/>
          <a:sy n="83" d="100"/>
        </p:scale>
        <p:origin x="437" y="72"/>
      </p:cViewPr>
      <p:guideLst/>
    </p:cSldViewPr>
  </p:slideViewPr>
  <p:notesTextViewPr>
    <p:cViewPr>
      <p:scale>
        <a:sx n="1" d="1"/>
        <a:sy n="1" d="1"/>
      </p:scale>
      <p:origin x="0" y="0"/>
    </p:cViewPr>
  </p:notesTextViewPr>
  <p:notesViewPr>
    <p:cSldViewPr snapToGrid="0">
      <p:cViewPr varScale="1">
        <p:scale>
          <a:sx n="65" d="100"/>
          <a:sy n="65" d="100"/>
        </p:scale>
        <p:origin x="2299" y="38"/>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5.fntdata"/><Relationship Id="rId68" Type="http://schemas.openxmlformats.org/officeDocument/2006/relationships/font" Target="fonts/font10.fntdata"/><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66" Type="http://schemas.openxmlformats.org/officeDocument/2006/relationships/font" Target="fonts/font8.fntdata"/><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font" Target="fonts/font3.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font" Target="fonts/font6.fntdata"/><Relationship Id="rId69" Type="http://schemas.openxmlformats.org/officeDocument/2006/relationships/font" Target="fonts/font11.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14.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1.fntdata"/><Relationship Id="rId67" Type="http://schemas.openxmlformats.org/officeDocument/2006/relationships/font" Target="fonts/font9.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4.fntdata"/><Relationship Id="rId70" Type="http://schemas.openxmlformats.org/officeDocument/2006/relationships/font" Target="fonts/font12.fntdata"/><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2.fntdata"/><Relationship Id="rId65" Type="http://schemas.openxmlformats.org/officeDocument/2006/relationships/font" Target="fonts/font7.fntdata"/><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font" Target="fonts/font1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48E3F3-8B31-41D2-AA9B-9796555DB866}" type="datetimeFigureOut">
              <a:rPr lang="en-US" smtClean="0"/>
              <a:t>4/1/2026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79BDEF-6165-4E72-B1A6-6E8034CEC248}" type="slidenum">
              <a:rPr lang="en-US" smtClean="0"/>
              <a:t>‹#›</a:t>
            </a:fld>
            <a:endParaRPr lang="en-US"/>
          </a:p>
        </p:txBody>
      </p:sp>
    </p:spTree>
    <p:extLst>
      <p:ext uri="{BB962C8B-B14F-4D97-AF65-F5344CB8AC3E}">
        <p14:creationId xmlns:p14="http://schemas.microsoft.com/office/powerpoint/2010/main" val="1766013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9.jpeg"/><Relationship Id="rId5" Type="http://schemas.openxmlformats.org/officeDocument/2006/relationships/image" Target="../media/image4.png"/><Relationship Id="rId10" Type="http://schemas.openxmlformats.org/officeDocument/2006/relationships/image" Target="../media/image8.png"/><Relationship Id="rId4" Type="http://schemas.openxmlformats.org/officeDocument/2006/relationships/image" Target="../media/image3.png"/><Relationship Id="rId9" Type="http://schemas.microsoft.com/office/2007/relationships/hdphoto" Target="../media/hdphoto1.wdp"/></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11.png"/><Relationship Id="rId4" Type="http://schemas.microsoft.com/office/2007/relationships/hdphoto" Target="../media/hdphoto2.wdp"/></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5.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1.png"/><Relationship Id="rId7" Type="http://schemas.openxmlformats.org/officeDocument/2006/relationships/image" Target="../media/image7.png"/><Relationship Id="rId2" Type="http://schemas.openxmlformats.org/officeDocument/2006/relationships/image" Target="../media/image13.jpe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11.png"/><Relationship Id="rId4" Type="http://schemas.openxmlformats.org/officeDocument/2006/relationships/image" Target="../media/image2.png"/><Relationship Id="rId9" Type="http://schemas.openxmlformats.org/officeDocument/2006/relationships/image" Target="../media/image9.jpeg"/></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7.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14.png"/><Relationship Id="rId5" Type="http://schemas.openxmlformats.org/officeDocument/2006/relationships/image" Target="../media/image5.png"/><Relationship Id="rId10" Type="http://schemas.openxmlformats.org/officeDocument/2006/relationships/image" Target="../media/image15.png"/><Relationship Id="rId4" Type="http://schemas.openxmlformats.org/officeDocument/2006/relationships/image" Target="../media/image4.png"/><Relationship Id="rId9" Type="http://schemas.openxmlformats.org/officeDocument/2006/relationships/image" Target="../media/image9.jpeg"/></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9.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20.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9.jpeg"/><Relationship Id="rId5" Type="http://schemas.openxmlformats.org/officeDocument/2006/relationships/image" Target="../media/image4.png"/><Relationship Id="rId10" Type="http://schemas.openxmlformats.org/officeDocument/2006/relationships/image" Target="../media/image16.jpeg"/><Relationship Id="rId4" Type="http://schemas.openxmlformats.org/officeDocument/2006/relationships/image" Target="../media/image3.png"/><Relationship Id="rId9" Type="http://schemas.microsoft.com/office/2007/relationships/hdphoto" Target="../media/hdphoto1.wdp"/></Relationships>
</file>

<file path=ppt/slideLayouts/_rels/slideLayout2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2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7.png"/><Relationship Id="rId7" Type="http://schemas.microsoft.com/office/2007/relationships/hdphoto" Target="../media/hdphoto3.wdp"/><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18.png"/><Relationship Id="rId5" Type="http://schemas.openxmlformats.org/officeDocument/2006/relationships/image" Target="../media/image5.png"/><Relationship Id="rId10" Type="http://schemas.openxmlformats.org/officeDocument/2006/relationships/image" Target="../media/image19.png"/><Relationship Id="rId4" Type="http://schemas.openxmlformats.org/officeDocument/2006/relationships/image" Target="../media/image4.png"/><Relationship Id="rId9" Type="http://schemas.openxmlformats.org/officeDocument/2006/relationships/image" Target="../media/image9.jpe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Default Colo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0">
                <a:srgbClr val="1D3064"/>
              </a:gs>
              <a:gs pos="50000">
                <a:srgbClr val="1D3064"/>
              </a:gs>
              <a:gs pos="100000">
                <a:schemeClr val="tx2"/>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avLst/>
            </a:prstTxWarp>
          </a:bodyPr>
          <a:lstStyle/>
          <a:p>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0">
                      <a:srgbClr val="1D3064"/>
                    </a:gs>
                    <a:gs pos="100000">
                      <a:schemeClr val="tx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a:extLst>
              <a:ext uri="{FF2B5EF4-FFF2-40B4-BE49-F238E27FC236}">
                <a16:creationId xmlns:a16="http://schemas.microsoft.com/office/drawing/2014/main" id="{E0042908-6588-4C7A-9615-8D5899E8A9FA}"/>
              </a:ext>
            </a:extLst>
          </p:cNvPr>
          <p:cNvPicPr>
            <a:picLocks noChangeAspect="1"/>
          </p:cNvPicPr>
          <p:nvPr userDrawn="1"/>
        </p:nvPicPr>
        <p:blipFill rotWithShape="1">
          <a:blip r:embed="rId10">
            <a:extLst>
              <a:ext uri="{28A0092B-C50C-407E-A947-70E740481C1C}">
                <a14:useLocalDpi xmlns:a14="http://schemas.microsoft.com/office/drawing/2010/main" val="0"/>
              </a:ext>
            </a:extLst>
          </a:blip>
          <a:srcRect l="144383" t="-16142" r="-144383" b="22103"/>
          <a:stretch/>
        </p:blipFill>
        <p:spPr>
          <a:xfrm>
            <a:off x="1834747" y="3985791"/>
            <a:ext cx="3075940" cy="2892592"/>
          </a:xfrm>
          <a:prstGeom prst="rect">
            <a:avLst/>
          </a:prstGeom>
        </p:spPr>
      </p:pic>
      <p:pic>
        <p:nvPicPr>
          <p:cNvPr id="36" name="Picture 35" descr="User icon Royalty Free Vector Image - VectorStock">
            <a:extLst>
              <a:ext uri="{FF2B5EF4-FFF2-40B4-BE49-F238E27FC236}">
                <a16:creationId xmlns:a16="http://schemas.microsoft.com/office/drawing/2014/main" id="{3C805A05-DDF6-4BA6-8EDB-D97128A43BFF}"/>
              </a:ext>
            </a:extLst>
          </p:cNvPr>
          <p:cNvPicPr>
            <a:picLocks noChangeAspect="1" noChangeArrowheads="1"/>
          </p:cNvPicPr>
          <p:nvPr userDrawn="1"/>
        </p:nvPicPr>
        <p:blipFill>
          <a:blip r:embed="rId11"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7" name="Picture Placeholder 36">
            <a:extLst>
              <a:ext uri="{FF2B5EF4-FFF2-40B4-BE49-F238E27FC236}">
                <a16:creationId xmlns:a16="http://schemas.microsoft.com/office/drawing/2014/main" id="{C4AACC20-C1A0-45ED-8640-28D84A9F84E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5705932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 Logo on TR">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t>
            </a:r>
            <a:r>
              <a:rPr lang="en-US" dirty="0" err="1" smtClean="0">
                <a:solidFill>
                  <a:schemeClr val="tx1">
                    <a:lumMod val="90000"/>
                    <a:lumOff val="10000"/>
                  </a:schemeClr>
                </a:solidFill>
                <a:latin typeface="Roboto Condensed Light" panose="02000000000000000000" pitchFamily="2" charset="0"/>
                <a:ea typeface="Roboto Condensed Light" panose="02000000000000000000" pitchFamily="2" charset="0"/>
              </a:rPr>
              <a:t>Umesh</a:t>
            </a:r>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 H </a:t>
            </a:r>
            <a:r>
              <a:rPr lang="en-US" dirty="0" err="1" smtClean="0">
                <a:solidFill>
                  <a:schemeClr val="tx1">
                    <a:lumMod val="90000"/>
                    <a:lumOff val="10000"/>
                  </a:schemeClr>
                </a:solidFill>
                <a:latin typeface="Roboto Condensed Light" panose="02000000000000000000" pitchFamily="2" charset="0"/>
                <a:ea typeface="Roboto Condensed Light" panose="02000000000000000000" pitchFamily="2" charset="0"/>
              </a:rPr>
              <a:t>Thoriya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#2304CS205 (OS)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a:t>
            </a:r>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5 </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a:t>
            </a:r>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I/O and File Management</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131180" y="6604000"/>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8FD38B6F-D549-4D28-B5DA-3AF636652084}"/>
              </a:ext>
            </a:extLst>
          </p:cNvPr>
          <p:cNvGrpSpPr/>
          <p:nvPr userDrawn="1"/>
        </p:nvGrpSpPr>
        <p:grpSpPr>
          <a:xfrm>
            <a:off x="10285419" y="983643"/>
            <a:ext cx="1649043" cy="501287"/>
            <a:chOff x="10721798" y="852808"/>
            <a:chExt cx="1339023" cy="407045"/>
          </a:xfrm>
        </p:grpSpPr>
        <p:pic>
          <p:nvPicPr>
            <p:cNvPr id="15" name="Picture 14">
              <a:extLst>
                <a:ext uri="{FF2B5EF4-FFF2-40B4-BE49-F238E27FC236}">
                  <a16:creationId xmlns:a16="http://schemas.microsoft.com/office/drawing/2014/main" id="{538C9597-8AB6-41B2-8903-FB3D0B47ADD5}"/>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1" name="Rectangle 20">
              <a:extLst>
                <a:ext uri="{FF2B5EF4-FFF2-40B4-BE49-F238E27FC236}">
                  <a16:creationId xmlns:a16="http://schemas.microsoft.com/office/drawing/2014/main" id="{0CB3A116-446D-49CC-96A6-7C8DB2B53F5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4666333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 Logo on BR">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8FD38B6F-D549-4D28-B5DA-3AF636652084}"/>
              </a:ext>
            </a:extLst>
          </p:cNvPr>
          <p:cNvGrpSpPr/>
          <p:nvPr userDrawn="1"/>
        </p:nvGrpSpPr>
        <p:grpSpPr>
          <a:xfrm>
            <a:off x="10357991" y="5976558"/>
            <a:ext cx="1649043" cy="501287"/>
            <a:chOff x="10721798" y="852808"/>
            <a:chExt cx="1339023" cy="407045"/>
          </a:xfrm>
        </p:grpSpPr>
        <p:pic>
          <p:nvPicPr>
            <p:cNvPr id="15" name="Picture 14">
              <a:extLst>
                <a:ext uri="{FF2B5EF4-FFF2-40B4-BE49-F238E27FC236}">
                  <a16:creationId xmlns:a16="http://schemas.microsoft.com/office/drawing/2014/main" id="{538C9597-8AB6-41B2-8903-FB3D0B47ADD5}"/>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1" name="Rectangle 20">
              <a:extLst>
                <a:ext uri="{FF2B5EF4-FFF2-40B4-BE49-F238E27FC236}">
                  <a16:creationId xmlns:a16="http://schemas.microsoft.com/office/drawing/2014/main" id="{0CB3A116-446D-49CC-96A6-7C8DB2B53F5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Prof. </a:t>
            </a:r>
            <a:r>
              <a:rPr lang="en-US" dirty="0" err="1" smtClean="0">
                <a:solidFill>
                  <a:schemeClr val="tx1">
                    <a:lumMod val="90000"/>
                    <a:lumOff val="10000"/>
                  </a:schemeClr>
                </a:solidFill>
                <a:latin typeface="Roboto Condensed Light" panose="02000000000000000000" pitchFamily="2" charset="0"/>
                <a:ea typeface="Roboto Condensed Light" panose="02000000000000000000" pitchFamily="2" charset="0"/>
              </a:rPr>
              <a:t>Umesh</a:t>
            </a:r>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 H </a:t>
            </a:r>
            <a:r>
              <a:rPr lang="en-US" dirty="0" err="1" smtClean="0">
                <a:solidFill>
                  <a:schemeClr val="tx1">
                    <a:lumMod val="90000"/>
                    <a:lumOff val="10000"/>
                  </a:schemeClr>
                </a:solidFill>
                <a:latin typeface="Roboto Condensed Light" panose="02000000000000000000" pitchFamily="2" charset="0"/>
                <a:ea typeface="Roboto Condensed Light" panose="02000000000000000000" pitchFamily="2" charset="0"/>
              </a:rPr>
              <a:t>Thoriya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543711"/>
            <a:ext cx="4498910" cy="403929"/>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#2304CS205 (OS)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5 – </a:t>
            </a:r>
            <a:r>
              <a:rPr lang="en-US" sz="1200" dirty="0"/>
              <a:t>I/O and File Management</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27612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 Logo on BL">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Prof. </a:t>
            </a:r>
            <a:r>
              <a:rPr lang="en-US" dirty="0" err="1" smtClean="0">
                <a:solidFill>
                  <a:schemeClr val="tx1">
                    <a:lumMod val="90000"/>
                    <a:lumOff val="10000"/>
                  </a:schemeClr>
                </a:solidFill>
                <a:latin typeface="Roboto Condensed Light" panose="02000000000000000000" pitchFamily="2" charset="0"/>
                <a:ea typeface="Roboto Condensed Light" panose="02000000000000000000" pitchFamily="2" charset="0"/>
              </a:rPr>
              <a:t>Umesh</a:t>
            </a:r>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 H </a:t>
            </a:r>
            <a:r>
              <a:rPr lang="en-US" dirty="0" err="1" smtClean="0">
                <a:solidFill>
                  <a:schemeClr val="tx1">
                    <a:lumMod val="90000"/>
                    <a:lumOff val="10000"/>
                  </a:schemeClr>
                </a:solidFill>
                <a:latin typeface="Roboto Condensed Light" panose="02000000000000000000" pitchFamily="2" charset="0"/>
                <a:ea typeface="Roboto Condensed Light" panose="02000000000000000000" pitchFamily="2" charset="0"/>
              </a:rPr>
              <a:t>Thoriya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2304CS205 (OS)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5 – I/O and File Management</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1189703" y="6604000"/>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8FD38B6F-D549-4D28-B5DA-3AF636652084}"/>
              </a:ext>
            </a:extLst>
          </p:cNvPr>
          <p:cNvGrpSpPr/>
          <p:nvPr userDrawn="1"/>
        </p:nvGrpSpPr>
        <p:grpSpPr>
          <a:xfrm>
            <a:off x="227019" y="5869049"/>
            <a:ext cx="1649043" cy="501287"/>
            <a:chOff x="10721798" y="852808"/>
            <a:chExt cx="1339023" cy="407045"/>
          </a:xfrm>
        </p:grpSpPr>
        <p:pic>
          <p:nvPicPr>
            <p:cNvPr id="15" name="Picture 14">
              <a:extLst>
                <a:ext uri="{FF2B5EF4-FFF2-40B4-BE49-F238E27FC236}">
                  <a16:creationId xmlns:a16="http://schemas.microsoft.com/office/drawing/2014/main" id="{538C9597-8AB6-41B2-8903-FB3D0B47ADD5}"/>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1" name="Rectangle 20">
              <a:extLst>
                <a:ext uri="{FF2B5EF4-FFF2-40B4-BE49-F238E27FC236}">
                  <a16:creationId xmlns:a16="http://schemas.microsoft.com/office/drawing/2014/main" id="{0CB3A116-446D-49CC-96A6-7C8DB2B53F5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468628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7171932-FFF4-4D27-9425-8CB5D27A92F2}"/>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r="11581" b="21180"/>
          <a:stretch/>
        </p:blipFill>
        <p:spPr>
          <a:xfrm rot="16200000">
            <a:off x="9807099" y="606901"/>
            <a:ext cx="2991808" cy="1778000"/>
          </a:xfrm>
          <a:prstGeom prst="rect">
            <a:avLst/>
          </a:prstGeom>
        </p:spPr>
      </p:pic>
      <p:pic>
        <p:nvPicPr>
          <p:cNvPr id="12" name="Picture 11">
            <a:extLst>
              <a:ext uri="{FF2B5EF4-FFF2-40B4-BE49-F238E27FC236}">
                <a16:creationId xmlns:a16="http://schemas.microsoft.com/office/drawing/2014/main" id="{1639DF2A-5426-428D-B32D-78E9191D8A0C}"/>
              </a:ext>
            </a:extLst>
          </p:cNvPr>
          <p:cNvPicPr>
            <a:picLocks noChangeAspect="1"/>
          </p:cNvPicPr>
          <p:nvPr userDrawn="1"/>
        </p:nvPicPr>
        <p:blipFill rotWithShape="1">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l="79646" t="18062" r="2731" b="17724"/>
          <a:stretch/>
        </p:blipFill>
        <p:spPr>
          <a:xfrm>
            <a:off x="0" y="401568"/>
            <a:ext cx="543946" cy="772151"/>
          </a:xfrm>
          <a:prstGeom prst="rect">
            <a:avLst/>
          </a:prstGeom>
        </p:spPr>
      </p:pic>
      <p:sp>
        <p:nvSpPr>
          <p:cNvPr id="2" name="Title 1">
            <a:extLst>
              <a:ext uri="{FF2B5EF4-FFF2-40B4-BE49-F238E27FC236}">
                <a16:creationId xmlns:a16="http://schemas.microsoft.com/office/drawing/2014/main" id="{6B8C6168-C8A4-4660-9D38-045657B80D09}"/>
              </a:ext>
            </a:extLst>
          </p:cNvPr>
          <p:cNvSpPr>
            <a:spLocks noGrp="1"/>
          </p:cNvSpPr>
          <p:nvPr>
            <p:ph type="title" hasCustomPrompt="1"/>
          </p:nvPr>
        </p:nvSpPr>
        <p:spPr>
          <a:xfrm>
            <a:off x="831850" y="1709738"/>
            <a:ext cx="10515600" cy="2852737"/>
          </a:xfrm>
        </p:spPr>
        <p:txBody>
          <a:bodyPr anchor="b">
            <a:normAutofit/>
          </a:bodyPr>
          <a:lstStyle>
            <a:lvl1pPr>
              <a:defRPr lang="en-US" sz="6000" b="1" kern="1200" dirty="0">
                <a:gradFill flip="none" rotWithShape="1">
                  <a:gsLst>
                    <a:gs pos="0">
                      <a:srgbClr val="1D3064"/>
                    </a:gs>
                    <a:gs pos="100000">
                      <a:schemeClr val="tx2"/>
                    </a:gs>
                  </a:gsLst>
                  <a:lin ang="0" scaled="1"/>
                  <a:tileRect/>
                </a:gradFill>
                <a:effectLst/>
                <a:latin typeface="+mn-lt"/>
                <a:ea typeface="+mn-ea"/>
                <a:cs typeface="+mn-cs"/>
              </a:defRPr>
            </a:lvl1pPr>
          </a:lstStyle>
          <a:p>
            <a:r>
              <a:rPr lang="en-US" dirty="0"/>
              <a:t>Write here Section Title</a:t>
            </a:r>
          </a:p>
        </p:txBody>
      </p:sp>
      <p:sp>
        <p:nvSpPr>
          <p:cNvPr id="3" name="Text Placeholder 2">
            <a:extLst>
              <a:ext uri="{FF2B5EF4-FFF2-40B4-BE49-F238E27FC236}">
                <a16:creationId xmlns:a16="http://schemas.microsoft.com/office/drawing/2014/main" id="{566C89DA-344D-4448-822C-2826084EF127}"/>
              </a:ext>
            </a:extLst>
          </p:cNvPr>
          <p:cNvSpPr>
            <a:spLocks noGrp="1"/>
          </p:cNvSpPr>
          <p:nvPr>
            <p:ph type="body" idx="1" hasCustomPrompt="1"/>
          </p:nvPr>
        </p:nvSpPr>
        <p:spPr>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Write here Section Subtitle</a:t>
            </a:r>
          </a:p>
        </p:txBody>
      </p:sp>
      <p:sp>
        <p:nvSpPr>
          <p:cNvPr id="10"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grpSp>
        <p:nvGrpSpPr>
          <p:cNvPr id="15" name="Group 14">
            <a:extLst>
              <a:ext uri="{FF2B5EF4-FFF2-40B4-BE49-F238E27FC236}">
                <a16:creationId xmlns:a16="http://schemas.microsoft.com/office/drawing/2014/main" id="{AE04132C-088A-4457-A3C3-1DC6427585FC}"/>
              </a:ext>
            </a:extLst>
          </p:cNvPr>
          <p:cNvGrpSpPr/>
          <p:nvPr userDrawn="1"/>
        </p:nvGrpSpPr>
        <p:grpSpPr>
          <a:xfrm>
            <a:off x="10677938" y="6350844"/>
            <a:ext cx="1339023" cy="407045"/>
            <a:chOff x="10721798" y="852808"/>
            <a:chExt cx="1339023" cy="407045"/>
          </a:xfrm>
        </p:grpSpPr>
        <p:pic>
          <p:nvPicPr>
            <p:cNvPr id="16" name="Picture 15">
              <a:extLst>
                <a:ext uri="{FF2B5EF4-FFF2-40B4-BE49-F238E27FC236}">
                  <a16:creationId xmlns:a16="http://schemas.microsoft.com/office/drawing/2014/main" id="{B49C31A0-0173-45C3-B715-F73A797EA642}"/>
                </a:ext>
              </a:extLst>
            </p:cNvPr>
            <p:cNvPicPr>
              <a:picLocks noChangeAspect="1"/>
            </p:cNvPicPr>
            <p:nvPr userDrawn="1"/>
          </p:nvPicPr>
          <p:blipFill>
            <a:blip r:embed="rId5" cstate="hq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7" name="Rectangle 16">
              <a:extLst>
                <a:ext uri="{FF2B5EF4-FFF2-40B4-BE49-F238E27FC236}">
                  <a16:creationId xmlns:a16="http://schemas.microsoft.com/office/drawing/2014/main" id="{26EB3A16-1B2C-44F3-A559-3929B9A2E162}"/>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0016929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ck - Logo on T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Hemang R. Chath</a:t>
            </a:r>
          </a:p>
        </p:txBody>
      </p:sp>
      <p:sp>
        <p:nvSpPr>
          <p:cNvPr id="17" name="Footer Placeholder 2">
            <a:extLst>
              <a:ext uri="{FF2B5EF4-FFF2-40B4-BE49-F238E27FC236}">
                <a16:creationId xmlns:a16="http://schemas.microsoft.com/office/drawing/2014/main" id="{59055D82-7978-44A5-82D1-0A4E00B382BF}"/>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#2304CS205 (OS)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2 – Process Management</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FE191CF5-3D57-422B-B2EB-FF235E30DB22}"/>
              </a:ext>
            </a:extLst>
          </p:cNvPr>
          <p:cNvGrpSpPr/>
          <p:nvPr userDrawn="1"/>
        </p:nvGrpSpPr>
        <p:grpSpPr>
          <a:xfrm>
            <a:off x="9576895" y="99192"/>
            <a:ext cx="2554143" cy="587454"/>
            <a:chOff x="131177" y="5775962"/>
            <a:chExt cx="2530239" cy="581956"/>
          </a:xfrm>
        </p:grpSpPr>
        <p:pic>
          <p:nvPicPr>
            <p:cNvPr id="12" name="Picture 11">
              <a:extLst>
                <a:ext uri="{FF2B5EF4-FFF2-40B4-BE49-F238E27FC236}">
                  <a16:creationId xmlns:a16="http://schemas.microsoft.com/office/drawing/2014/main" id="{C9B183D5-5DE8-48E7-85E7-60CE9D0FD2D8}"/>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13" name="Rectangle 12">
              <a:extLst>
                <a:ext uri="{FF2B5EF4-FFF2-40B4-BE49-F238E27FC236}">
                  <a16:creationId xmlns:a16="http://schemas.microsoft.com/office/drawing/2014/main" id="{62445F4B-50F2-4CA0-A5C5-6D690A29F3F2}"/>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9719725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ck - Logo on B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Jay R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Dhamsaniya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a16="http://schemas.microsoft.com/office/drawing/2014/main" id="{59055D82-7978-44A5-82D1-0A4E00B382BF}"/>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#3130006 (PS)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1 – Basic Probability</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913602D2-CAF0-4790-95E8-87990761ED0C}"/>
              </a:ext>
            </a:extLst>
          </p:cNvPr>
          <p:cNvGrpSpPr/>
          <p:nvPr userDrawn="1"/>
        </p:nvGrpSpPr>
        <p:grpSpPr>
          <a:xfrm>
            <a:off x="9576895" y="5890392"/>
            <a:ext cx="2554143" cy="587454"/>
            <a:chOff x="131177" y="5775962"/>
            <a:chExt cx="2530239" cy="581956"/>
          </a:xfrm>
        </p:grpSpPr>
        <p:pic>
          <p:nvPicPr>
            <p:cNvPr id="12" name="Picture 11">
              <a:extLst>
                <a:ext uri="{FF2B5EF4-FFF2-40B4-BE49-F238E27FC236}">
                  <a16:creationId xmlns:a16="http://schemas.microsoft.com/office/drawing/2014/main" id="{A378A2C8-EF9C-479C-ACF0-D9819B46DF5C}"/>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13" name="Rectangle 12">
              <a:extLst>
                <a:ext uri="{FF2B5EF4-FFF2-40B4-BE49-F238E27FC236}">
                  <a16:creationId xmlns:a16="http://schemas.microsoft.com/office/drawing/2014/main" id="{61DE4F58-7D48-453D-89E1-B25767150977}"/>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2062478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ck - Logo on BL">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Jay R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Dhamsaniya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a16="http://schemas.microsoft.com/office/drawing/2014/main" id="{59055D82-7978-44A5-82D1-0A4E00B382BF}"/>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#3130006 (PS)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1 – Basic Probability</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15C60ED7-12D4-496E-AF73-0995BE8C12FD}"/>
              </a:ext>
            </a:extLst>
          </p:cNvPr>
          <p:cNvGrpSpPr/>
          <p:nvPr userDrawn="1"/>
        </p:nvGrpSpPr>
        <p:grpSpPr>
          <a:xfrm>
            <a:off x="128095" y="5890392"/>
            <a:ext cx="2554143" cy="587454"/>
            <a:chOff x="131177" y="5775962"/>
            <a:chExt cx="2530239" cy="581956"/>
          </a:xfrm>
        </p:grpSpPr>
        <p:pic>
          <p:nvPicPr>
            <p:cNvPr id="12" name="Picture 11">
              <a:extLst>
                <a:ext uri="{FF2B5EF4-FFF2-40B4-BE49-F238E27FC236}">
                  <a16:creationId xmlns:a16="http://schemas.microsoft.com/office/drawing/2014/main" id="{30CB04CE-0025-4B1F-B962-A759D179D842}"/>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13" name="Rectangle 12">
              <a:extLst>
                <a:ext uri="{FF2B5EF4-FFF2-40B4-BE49-F238E27FC236}">
                  <a16:creationId xmlns:a16="http://schemas.microsoft.com/office/drawing/2014/main" id="{43F480CB-A4AF-424E-90DB-5B677403441A}"/>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2433145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lete Blanc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23116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Complete Blanck">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D71C1D1-D056-4C60-9F03-E6291617B71F}"/>
              </a:ext>
            </a:extLst>
          </p:cNvPr>
          <p:cNvSpPr txBox="1"/>
          <p:nvPr userDrawn="1"/>
        </p:nvSpPr>
        <p:spPr>
          <a:xfrm>
            <a:off x="375920" y="457200"/>
            <a:ext cx="4185761" cy="523220"/>
          </a:xfrm>
          <a:prstGeom prst="rect">
            <a:avLst/>
          </a:prstGeom>
          <a:noFill/>
        </p:spPr>
        <p:txBody>
          <a:bodyPr wrap="none" rtlCol="0">
            <a:spAutoFit/>
          </a:bodyPr>
          <a:lstStyle/>
          <a:p>
            <a:r>
              <a:rPr lang="en-US" sz="2800" dirty="0">
                <a:solidFill>
                  <a:srgbClr val="FF0000"/>
                </a:solidFill>
              </a:rPr>
              <a:t>How to Crop Circular Photo?</a:t>
            </a:r>
          </a:p>
        </p:txBody>
      </p:sp>
      <p:sp>
        <p:nvSpPr>
          <p:cNvPr id="11" name="Picture Placeholder 10">
            <a:extLst>
              <a:ext uri="{FF2B5EF4-FFF2-40B4-BE49-F238E27FC236}">
                <a16:creationId xmlns:a16="http://schemas.microsoft.com/office/drawing/2014/main" id="{E0451329-7800-417A-9D19-D93464C6306C}"/>
              </a:ext>
            </a:extLst>
          </p:cNvPr>
          <p:cNvSpPr>
            <a:spLocks noGrp="1"/>
          </p:cNvSpPr>
          <p:nvPr>
            <p:ph type="pic" sz="quarter" idx="10"/>
          </p:nvPr>
        </p:nvSpPr>
        <p:spPr>
          <a:xfrm>
            <a:off x="4013200" y="1808163"/>
            <a:ext cx="3890962" cy="3890962"/>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p:spPr>
        <p:txBody>
          <a:bodyPr wrap="square">
            <a:noAutofit/>
          </a:bodyPr>
          <a:lstStyle/>
          <a:p>
            <a:endParaRPr lang="en-US"/>
          </a:p>
        </p:txBody>
      </p:sp>
    </p:spTree>
    <p:extLst>
      <p:ext uri="{BB962C8B-B14F-4D97-AF65-F5344CB8AC3E}">
        <p14:creationId xmlns:p14="http://schemas.microsoft.com/office/powerpoint/2010/main" val="40033120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Slide - Teal">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4">
                        <a:lumMod val="50000"/>
                      </a:schemeClr>
                    </a:gs>
                    <a:gs pos="100000">
                      <a:srgbClr val="009788"/>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descr="User icon Royalty Free Vector Image - VectorStock">
            <a:extLst>
              <a:ext uri="{FF2B5EF4-FFF2-40B4-BE49-F238E27FC236}">
                <a16:creationId xmlns:a16="http://schemas.microsoft.com/office/drawing/2014/main" id="{4A8E0F54-DC01-449D-B951-DC7CBAFD9546}"/>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21" name="Picture Placeholder 20">
            <a:extLst>
              <a:ext uri="{FF2B5EF4-FFF2-40B4-BE49-F238E27FC236}">
                <a16:creationId xmlns:a16="http://schemas.microsoft.com/office/drawing/2014/main" id="{65D60AFC-04BC-4FCA-A89D-6FCD04B6DC35}"/>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7088808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 Cya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2">
                        <a:lumMod val="50000"/>
                      </a:schemeClr>
                    </a:gs>
                    <a:gs pos="100000">
                      <a:schemeClr val="accent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0" name="Picture 29" descr="User icon Royalty Free Vector Image - VectorStock">
            <a:extLst>
              <a:ext uri="{FF2B5EF4-FFF2-40B4-BE49-F238E27FC236}">
                <a16:creationId xmlns:a16="http://schemas.microsoft.com/office/drawing/2014/main" id="{5F55812D-505A-4B1A-9EB5-16DCD08F2B82}"/>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4" name="Picture Placeholder 33">
            <a:extLst>
              <a:ext uri="{FF2B5EF4-FFF2-40B4-BE49-F238E27FC236}">
                <a16:creationId xmlns:a16="http://schemas.microsoft.com/office/drawing/2014/main" id="{0974588E-8956-4BF5-BF58-B7E42070A56A}"/>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7645704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 Light Gree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3">
                        <a:lumMod val="50000"/>
                      </a:schemeClr>
                    </a:gs>
                    <a:gs pos="100000">
                      <a:schemeClr val="accent3"/>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6570A8-081D-45CE-A0DD-F78F5EDB0F9B}"/>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0B000B32-CB56-440D-9FAE-7DE703A93A02}"/>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7850339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lide - Ambe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5">
                        <a:lumMod val="75000"/>
                      </a:schemeClr>
                    </a:gs>
                    <a:gs pos="100000">
                      <a:schemeClr val="accent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00C9ED70-1CC8-4EF2-BE10-AAFE24AAC5D7}"/>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7FD1CDD6-829C-4C5B-BFB7-74153A66FF24}"/>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6158597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 Maroon">
    <p:spTree>
      <p:nvGrpSpPr>
        <p:cNvPr id="1" name=""/>
        <p:cNvGrpSpPr/>
        <p:nvPr/>
      </p:nvGrpSpPr>
      <p:grpSpPr>
        <a:xfrm>
          <a:off x="0" y="0"/>
          <a:ext cx="0" cy="0"/>
          <a:chOff x="0" y="0"/>
          <a:chExt cx="0" cy="0"/>
        </a:xfrm>
      </p:grpSpPr>
      <p:pic>
        <p:nvPicPr>
          <p:cNvPr id="34" name="Picture 4" descr="https://cdn5.vectorstock.com/i/1000x1000/21/59/dbms-database-management-system-computer-data-vector-8212159.jpg"/>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l="6294" t="9689" r="5315" b="18089"/>
          <a:stretch/>
        </p:blipFill>
        <p:spPr bwMode="auto">
          <a:xfrm>
            <a:off x="8407803" y="2089594"/>
            <a:ext cx="2880000" cy="2678811"/>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4"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6">
                        <a:lumMod val="50000"/>
                      </a:schemeClr>
                    </a:gs>
                    <a:gs pos="100000">
                      <a:schemeClr val="accent6"/>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80BF4AFD-B365-46D4-AAC5-485DFA5A7D42}"/>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2BC70C35-8BA7-4D49-9AF7-DC36FAB8FDA3}"/>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5" name="Picture 4" descr="https://cdn5.vectorstock.com/i/1000x1000/21/59/dbms-database-management-system-computer-data-vector-8212159.jpg"/>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l="6294" t="9689" r="5315" b="18089"/>
          <a:stretch/>
        </p:blipFill>
        <p:spPr bwMode="auto">
          <a:xfrm>
            <a:off x="8453395" y="1794986"/>
            <a:ext cx="2880000" cy="2678811"/>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30">
            <a:extLst>
              <a:ext uri="{FF2B5EF4-FFF2-40B4-BE49-F238E27FC236}">
                <a16:creationId xmlns:a16="http://schemas.microsoft.com/office/drawing/2014/main" id="{E75253BA-841C-4898-BAAF-3A16D7F9433E}"/>
              </a:ext>
            </a:extLst>
          </p:cNvPr>
          <p:cNvPicPr>
            <a:picLocks noChangeAspect="1"/>
          </p:cNvPicPr>
          <p:nvPr userDrawn="1"/>
        </p:nvPicPr>
        <p:blipFill>
          <a:blip r:embed="rId10" cstate="hq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27316259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lide - Blue Gray">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273238"/>
                    </a:gs>
                    <a:gs pos="100000">
                      <a:srgbClr val="607D8B"/>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B45C91-0DA6-4973-9AEA-FF1388508ACC}"/>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F70CF6D9-DDB4-41AA-BB82-F8ED04AD8BC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7518816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Slide - Brow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E2622"/>
                    </a:gs>
                    <a:gs pos="100000">
                      <a:srgbClr val="79554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6">
            <a:extLst>
              <a:ext uri="{28A0092B-C50C-407E-A947-70E740481C1C}">
                <a14:useLocalDpi xmlns:a14="http://schemas.microsoft.com/office/drawing/2010/main" val="0"/>
              </a:ext>
            </a:extLst>
          </a:blip>
          <a:srcRect/>
          <a:stretch/>
        </p:blipFill>
        <p:spPr>
          <a:xfrm>
            <a:off x="8728737" y="307556"/>
            <a:ext cx="270809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7E386D9D-B92A-4F40-9089-A1FD00CD387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A295F85-D43D-42E5-9539-A471116A43B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4" name="Picture 3">
            <a:extLst>
              <a:ext uri="{FF2B5EF4-FFF2-40B4-BE49-F238E27FC236}">
                <a16:creationId xmlns:a16="http://schemas.microsoft.com/office/drawing/2014/main" id="{E5C09A94-F153-8F2D-41CA-BCD1F183E994}"/>
              </a:ext>
            </a:extLst>
          </p:cNvPr>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8542509" y="1539743"/>
            <a:ext cx="3080554" cy="2831620"/>
          </a:xfrm>
          <a:prstGeom prst="rect">
            <a:avLst/>
          </a:prstGeom>
        </p:spPr>
      </p:pic>
    </p:spTree>
    <p:extLst>
      <p:ext uri="{BB962C8B-B14F-4D97-AF65-F5344CB8AC3E}">
        <p14:creationId xmlns:p14="http://schemas.microsoft.com/office/powerpoint/2010/main" val="180652624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lide - Deep Pupl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01B92"/>
                    </a:gs>
                    <a:gs pos="100000">
                      <a:srgbClr val="673BB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BE300026-40E8-4FB1-998A-9CEB5F7A1B8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B3B5E9B-B4F0-4E85-954A-F7CC04BBF24C}"/>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401228099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lide - Blu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0E47A1"/>
                    </a:gs>
                    <a:gs pos="100000">
                      <a:srgbClr val="03A9F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C3A13D11-EC6C-4E81-AD83-7AC73D273FD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5035EF3-F5FB-41C2-A0BE-B3AEF7556ABD}"/>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53280755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lide - Red">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B71B1C"/>
                    </a:gs>
                    <a:gs pos="100000">
                      <a:srgbClr val="ED524F"/>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1" name="Picture 30">
            <a:extLst>
              <a:ext uri="{FF2B5EF4-FFF2-40B4-BE49-F238E27FC236}">
                <a16:creationId xmlns:a16="http://schemas.microsoft.com/office/drawing/2014/main" id="{77B7B864-C091-4493-B14B-F5B61B586EED}"/>
              </a:ext>
            </a:extLst>
          </p:cNvPr>
          <p:cNvPicPr>
            <a:picLocks noChangeAspect="1"/>
          </p:cNvPicPr>
          <p:nvPr userDrawn="1"/>
        </p:nvPicPr>
        <p:blipFill>
          <a:blip r:embed="rId10" cstate="print">
            <a:extLst>
              <a:ext uri="{28A0092B-C50C-407E-A947-70E740481C1C}">
                <a14:useLocalDpi xmlns:a14="http://schemas.microsoft.com/office/drawing/2010/main" val="0"/>
              </a:ext>
            </a:extLst>
          </a:blip>
          <a:srcRect l="24746" t="7575" r="25761" b="18186"/>
          <a:stretch>
            <a:fillRect/>
          </a:stretch>
        </p:blipFill>
        <p:spPr>
          <a:xfrm>
            <a:off x="356499" y="5214354"/>
            <a:ext cx="1354234" cy="1354234"/>
          </a:xfrm>
          <a:custGeom>
            <a:avLst/>
            <a:gdLst>
              <a:gd name="connsiteX0" fmla="*/ 2286000 w 4572000"/>
              <a:gd name="connsiteY0" fmla="*/ 0 h 4572000"/>
              <a:gd name="connsiteX1" fmla="*/ 4572000 w 4572000"/>
              <a:gd name="connsiteY1" fmla="*/ 2286000 h 4572000"/>
              <a:gd name="connsiteX2" fmla="*/ 2286000 w 4572000"/>
              <a:gd name="connsiteY2" fmla="*/ 4572000 h 4572000"/>
              <a:gd name="connsiteX3" fmla="*/ 0 w 4572000"/>
              <a:gd name="connsiteY3" fmla="*/ 2286000 h 4572000"/>
              <a:gd name="connsiteX4" fmla="*/ 2286000 w 4572000"/>
              <a:gd name="connsiteY4" fmla="*/ 0 h 457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0" h="4572000">
                <a:moveTo>
                  <a:pt x="2286000" y="0"/>
                </a:moveTo>
                <a:cubicBezTo>
                  <a:pt x="3548523" y="0"/>
                  <a:pt x="4572000" y="1023477"/>
                  <a:pt x="4572000" y="2286000"/>
                </a:cubicBezTo>
                <a:cubicBezTo>
                  <a:pt x="4572000" y="3548523"/>
                  <a:pt x="3548523" y="4572000"/>
                  <a:pt x="2286000" y="4572000"/>
                </a:cubicBezTo>
                <a:cubicBezTo>
                  <a:pt x="1023477" y="4572000"/>
                  <a:pt x="0" y="3548523"/>
                  <a:pt x="0" y="2286000"/>
                </a:cubicBezTo>
                <a:cubicBezTo>
                  <a:pt x="0" y="1023477"/>
                  <a:pt x="1023477" y="0"/>
                  <a:pt x="2286000" y="0"/>
                </a:cubicBezTo>
                <a:close/>
              </a:path>
            </a:pathLst>
          </a:custGeom>
          <a:noFill/>
          <a:ln w="6350">
            <a:solidFill>
              <a:schemeClr val="bg1">
                <a:lumMod val="65000"/>
              </a:schemeClr>
            </a:solidFill>
          </a:ln>
          <a:effectLst/>
        </p:spPr>
      </p:pic>
      <p:pic>
        <p:nvPicPr>
          <p:cNvPr id="21" name="Picture 20" descr="User icon Royalty Free Vector Image - VectorStock">
            <a:extLst>
              <a:ext uri="{FF2B5EF4-FFF2-40B4-BE49-F238E27FC236}">
                <a16:creationId xmlns:a16="http://schemas.microsoft.com/office/drawing/2014/main" id="{177B86E9-222D-4757-BE64-59540DB794E6}"/>
              </a:ext>
            </a:extLst>
          </p:cNvPr>
          <p:cNvPicPr>
            <a:picLocks noChangeAspect="1" noChangeArrowheads="1"/>
          </p:cNvPicPr>
          <p:nvPr userDrawn="1"/>
        </p:nvPicPr>
        <p:blipFill>
          <a:blip r:embed="rId11"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ABCD18B-D4E0-41E4-8162-7E83CB11DAE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76513194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lide - Pink">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890E4F"/>
                    </a:gs>
                    <a:gs pos="100000">
                      <a:srgbClr val="D81A60"/>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2F1AAAC-C051-4A31-837B-4A9977722A4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ADF34BDA-AFB4-4120-81EF-C0AB56D388CB}"/>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117050250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_Title Slide - Default Colo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60864" cy="338554"/>
          </a:xfrm>
          <a:prstGeom prst="rect">
            <a:avLst/>
          </a:prstGeom>
          <a:noFill/>
        </p:spPr>
        <p:txBody>
          <a:bodyPr wrap="none" rtlCol="0">
            <a:spAutoFit/>
          </a:bodyPr>
          <a:lstStyle/>
          <a:p>
            <a:r>
              <a:rPr lang="en-US" sz="1600" dirty="0"/>
              <a:t>Darshan Institute of Engineering &amp; Technology, Rajkot</a:t>
            </a:r>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solidFill>
            <a:srgbClr val="4B302A"/>
          </a:solidFill>
          <a:ln>
            <a:noFill/>
          </a:ln>
        </p:spPr>
        <p:txBody>
          <a:bodyPr vert="horz" wrap="square" lIns="91440" tIns="45720" rIns="91440" bIns="45720" numCol="1" anchor="t" anchorCtr="0" compatLnSpc="1">
            <a:prstTxWarp prst="textNoShape">
              <a:avLst/>
            </a:prstTxWarp>
          </a:bodyPr>
          <a:lstStyle/>
          <a:p>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5883522" cy="1666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0">
                      <a:srgbClr val="1D3064"/>
                    </a:gs>
                    <a:gs pos="100000">
                      <a:schemeClr val="tx2"/>
                    </a:gs>
                  </a:gsLst>
                  <a:lin ang="0" scaled="1"/>
                  <a:tileRect/>
                </a:gradFill>
                <a:effectLst/>
                <a:latin typeface="+mn-lt"/>
                <a:ea typeface="+mn-ea"/>
                <a:cs typeface="+mn-cs"/>
              </a:defRPr>
            </a:lvl1pPr>
          </a:lstStyle>
          <a:p>
            <a:pPr lvl="0"/>
            <a:endParaRPr lang="en-US" dirty="0"/>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6" cstate="print">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a:extLst>
              <a:ext uri="{FF2B5EF4-FFF2-40B4-BE49-F238E27FC236}">
                <a16:creationId xmlns:a16="http://schemas.microsoft.com/office/drawing/2014/main" id="{E0042908-6588-4C7A-9615-8D5899E8A9FA}"/>
              </a:ext>
            </a:extLst>
          </p:cNvPr>
          <p:cNvPicPr>
            <a:picLocks noChangeAspect="1"/>
          </p:cNvPicPr>
          <p:nvPr userDrawn="1"/>
        </p:nvPicPr>
        <p:blipFill rotWithShape="1">
          <a:blip r:embed="rId8">
            <a:extLst>
              <a:ext uri="{28A0092B-C50C-407E-A947-70E740481C1C}">
                <a14:useLocalDpi xmlns:a14="http://schemas.microsoft.com/office/drawing/2010/main" val="0"/>
              </a:ext>
            </a:extLst>
          </a:blip>
          <a:srcRect l="144383" t="-16142" r="-144383" b="22103"/>
          <a:stretch/>
        </p:blipFill>
        <p:spPr>
          <a:xfrm>
            <a:off x="1834747" y="3985791"/>
            <a:ext cx="3075940" cy="2892592"/>
          </a:xfrm>
          <a:prstGeom prst="rect">
            <a:avLst/>
          </a:prstGeom>
        </p:spPr>
      </p:pic>
      <p:pic>
        <p:nvPicPr>
          <p:cNvPr id="36" name="Picture 35" descr="User icon Royalty Free Vector Image - VectorStock">
            <a:extLst>
              <a:ext uri="{FF2B5EF4-FFF2-40B4-BE49-F238E27FC236}">
                <a16:creationId xmlns:a16="http://schemas.microsoft.com/office/drawing/2014/main" id="{3C805A05-DDF6-4BA6-8EDB-D97128A43BFF}"/>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7" name="Picture Placeholder 36">
            <a:extLst>
              <a:ext uri="{FF2B5EF4-FFF2-40B4-BE49-F238E27FC236}">
                <a16:creationId xmlns:a16="http://schemas.microsoft.com/office/drawing/2014/main" id="{C4AACC20-C1A0-45ED-8640-28D84A9F84E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dirty="0"/>
          </a:p>
        </p:txBody>
      </p:sp>
      <p:sp>
        <p:nvSpPr>
          <p:cNvPr id="30" name="Hexagon 29">
            <a:extLst>
              <a:ext uri="{FF2B5EF4-FFF2-40B4-BE49-F238E27FC236}">
                <a16:creationId xmlns:a16="http://schemas.microsoft.com/office/drawing/2014/main" id="{1BB32699-4C62-4BBF-9A17-90008E297198}"/>
              </a:ext>
            </a:extLst>
          </p:cNvPr>
          <p:cNvSpPr/>
          <p:nvPr userDrawn="1"/>
        </p:nvSpPr>
        <p:spPr>
          <a:xfrm rot="5400000">
            <a:off x="4309292" y="1717040"/>
            <a:ext cx="3461658" cy="2984188"/>
          </a:xfrm>
          <a:prstGeom prst="hexagon">
            <a:avLst/>
          </a:prstGeom>
          <a:solidFill>
            <a:schemeClr val="bg1">
              <a:lumMod val="95000"/>
            </a:schemeClr>
          </a:solidFill>
          <a:ln w="57150">
            <a:solidFill>
              <a:srgbClr val="4B302A"/>
            </a:solidFill>
            <a:prstDash val="lgDash"/>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sp>
        <p:nvSpPr>
          <p:cNvPr id="31" name="Rectangle 30">
            <a:extLst>
              <a:ext uri="{FF2B5EF4-FFF2-40B4-BE49-F238E27FC236}">
                <a16:creationId xmlns:a16="http://schemas.microsoft.com/office/drawing/2014/main" id="{02C58FA9-71EA-487D-8A75-915EC6877722}"/>
              </a:ext>
            </a:extLst>
          </p:cNvPr>
          <p:cNvSpPr/>
          <p:nvPr userDrawn="1"/>
        </p:nvSpPr>
        <p:spPr>
          <a:xfrm>
            <a:off x="0" y="2221532"/>
            <a:ext cx="4402106" cy="1951692"/>
          </a:xfrm>
          <a:prstGeom prst="rect">
            <a:avLst/>
          </a:prstGeom>
          <a:solidFill>
            <a:srgbClr val="4B302A"/>
          </a:soli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sp>
        <p:nvSpPr>
          <p:cNvPr id="33" name="Rectangle 32">
            <a:extLst>
              <a:ext uri="{FF2B5EF4-FFF2-40B4-BE49-F238E27FC236}">
                <a16:creationId xmlns:a16="http://schemas.microsoft.com/office/drawing/2014/main" id="{97A77512-C96D-4B1D-861C-3369397D6121}"/>
              </a:ext>
            </a:extLst>
          </p:cNvPr>
          <p:cNvSpPr/>
          <p:nvPr userDrawn="1"/>
        </p:nvSpPr>
        <p:spPr>
          <a:xfrm flipH="1">
            <a:off x="7678346" y="2221532"/>
            <a:ext cx="4513654" cy="1951692"/>
          </a:xfrm>
          <a:prstGeom prst="rect">
            <a:avLst/>
          </a:prstGeom>
          <a:solidFill>
            <a:srgbClr val="4B302A"/>
          </a:soli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sp>
        <p:nvSpPr>
          <p:cNvPr id="34" name="TextBox 33">
            <a:extLst>
              <a:ext uri="{FF2B5EF4-FFF2-40B4-BE49-F238E27FC236}">
                <a16:creationId xmlns:a16="http://schemas.microsoft.com/office/drawing/2014/main" id="{88342F5D-5C3A-4D09-B74D-32BF20197BBC}"/>
              </a:ext>
            </a:extLst>
          </p:cNvPr>
          <p:cNvSpPr txBox="1"/>
          <p:nvPr userDrawn="1"/>
        </p:nvSpPr>
        <p:spPr>
          <a:xfrm>
            <a:off x="5014038" y="2239638"/>
            <a:ext cx="2052165" cy="1938992"/>
          </a:xfrm>
          <a:prstGeom prst="rect">
            <a:avLst/>
          </a:prstGeom>
          <a:noFill/>
        </p:spPr>
        <p:txBody>
          <a:bodyPr wrap="none" rtlCol="0">
            <a:spAutoFit/>
          </a:bodyPr>
          <a:lstStyle/>
          <a:p>
            <a:pPr algn="ctr"/>
            <a:r>
              <a:rPr lang="en-US" sz="6000" b="1" i="1" dirty="0"/>
              <a:t>Thank</a:t>
            </a:r>
          </a:p>
          <a:p>
            <a:pPr algn="ctr"/>
            <a:r>
              <a:rPr lang="en-US" sz="6000" b="1" i="1" dirty="0"/>
              <a:t>You</a:t>
            </a:r>
          </a:p>
        </p:txBody>
      </p:sp>
      <p:sp>
        <p:nvSpPr>
          <p:cNvPr id="41" name="Freeform 13">
            <a:extLst>
              <a:ext uri="{FF2B5EF4-FFF2-40B4-BE49-F238E27FC236}">
                <a16:creationId xmlns:a16="http://schemas.microsoft.com/office/drawing/2014/main" id="{7DBD9FF3-DB58-439A-9C3F-981DC0699B89}"/>
              </a:ext>
            </a:extLst>
          </p:cNvPr>
          <p:cNvSpPr>
            <a:spLocks/>
          </p:cNvSpPr>
          <p:nvPr userDrawn="1"/>
        </p:nvSpPr>
        <p:spPr bwMode="auto">
          <a:xfrm>
            <a:off x="2736224" y="-2949"/>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solidFill>
            <a:srgbClr val="4B302A"/>
          </a:solidFill>
          <a:ln>
            <a:noFill/>
          </a:ln>
        </p:spPr>
        <p:txBody>
          <a:bodyPr vert="horz" wrap="square" lIns="91440" tIns="45720" rIns="91440" bIns="45720" numCol="1" anchor="t" anchorCtr="0" compatLnSpc="1">
            <a:prstTxWarp prst="textNoShape">
              <a:avLst/>
            </a:prstTxWarp>
          </a:bodyPr>
          <a:lstStyle/>
          <a:p>
            <a:endParaRPr lang="en-US"/>
          </a:p>
        </p:txBody>
      </p:sp>
      <p:sp>
        <p:nvSpPr>
          <p:cNvPr id="42" name="Text Placeholder 2">
            <a:extLst>
              <a:ext uri="{FF2B5EF4-FFF2-40B4-BE49-F238E27FC236}">
                <a16:creationId xmlns:a16="http://schemas.microsoft.com/office/drawing/2014/main" id="{655B1926-C5B6-4865-B639-303A5A9FEE4F}"/>
              </a:ext>
            </a:extLst>
          </p:cNvPr>
          <p:cNvSpPr>
            <a:spLocks noGrp="1"/>
          </p:cNvSpPr>
          <p:nvPr>
            <p:ph type="body" sz="quarter" idx="17" hasCustomPrompt="1"/>
          </p:nvPr>
        </p:nvSpPr>
        <p:spPr>
          <a:xfrm>
            <a:off x="2763466" y="1743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5" name="Picture 34">
            <a:extLst>
              <a:ext uri="{FF2B5EF4-FFF2-40B4-BE49-F238E27FC236}">
                <a16:creationId xmlns:a16="http://schemas.microsoft.com/office/drawing/2014/main" id="{693477C7-FE49-4FB9-9AE0-0169DC1D0A63}"/>
              </a:ext>
            </a:extLst>
          </p:cNvPr>
          <p:cNvPicPr>
            <a:picLocks noChangeAspect="1"/>
          </p:cNvPicPr>
          <p:nvPr userDrawn="1"/>
        </p:nvPicPr>
        <p:blipFill>
          <a:blip r:embed="rId10" cstate="print">
            <a:extLst>
              <a:ext uri="{28A0092B-C50C-407E-A947-70E740481C1C}">
                <a14:useLocalDpi xmlns:a14="http://schemas.microsoft.com/office/drawing/2010/main" val="0"/>
              </a:ext>
            </a:extLst>
          </a:blip>
          <a:srcRect/>
          <a:stretch/>
        </p:blipFill>
        <p:spPr>
          <a:xfrm>
            <a:off x="9326880" y="58321"/>
            <a:ext cx="2801872" cy="1192189"/>
          </a:xfrm>
          <a:prstGeom prst="rect">
            <a:avLst/>
          </a:prstGeom>
        </p:spPr>
      </p:pic>
    </p:spTree>
    <p:extLst>
      <p:ext uri="{BB962C8B-B14F-4D97-AF65-F5344CB8AC3E}">
        <p14:creationId xmlns:p14="http://schemas.microsoft.com/office/powerpoint/2010/main" val="33279072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F5063B-909B-4A7F-B502-7802280439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27DDF1-16E2-4622-B8FD-0148CD5CE0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7EA166-F18A-4D32-AA1F-AE475D4910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D21B45-1703-4330-B544-825BD8F37AF2}" type="datetimeFigureOut">
              <a:rPr lang="en-US" smtClean="0"/>
              <a:t>4/1/2026</a:t>
            </a:fld>
            <a:endParaRPr lang="en-US"/>
          </a:p>
        </p:txBody>
      </p:sp>
      <p:sp>
        <p:nvSpPr>
          <p:cNvPr id="5" name="Footer Placeholder 4">
            <a:extLst>
              <a:ext uri="{FF2B5EF4-FFF2-40B4-BE49-F238E27FC236}">
                <a16:creationId xmlns:a16="http://schemas.microsoft.com/office/drawing/2014/main" id="{205C5379-5B41-4775-9279-F9F7608E66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1A4B342-6FD5-4BB7-B9AE-3C5081C089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41F3C7-36DD-4595-AA08-2525D86280BD}" type="slidenum">
              <a:rPr lang="en-US" smtClean="0"/>
              <a:t>‹#›</a:t>
            </a:fld>
            <a:endParaRPr lang="en-US"/>
          </a:p>
        </p:txBody>
      </p:sp>
    </p:spTree>
    <p:extLst>
      <p:ext uri="{BB962C8B-B14F-4D97-AF65-F5344CB8AC3E}">
        <p14:creationId xmlns:p14="http://schemas.microsoft.com/office/powerpoint/2010/main" val="791954662"/>
      </p:ext>
    </p:extLst>
  </p:cSld>
  <p:clrMap bg1="lt1" tx1="dk1" bg2="lt2" tx2="dk2" accent1="accent1" accent2="accent2" accent3="accent3" accent4="accent4" accent5="accent5" accent6="accent6" hlink="hlink" folHlink="folHlink"/>
  <p:sldLayoutIdLst>
    <p:sldLayoutId id="2147483667" r:id="rId1"/>
    <p:sldLayoutId id="2147483670" r:id="rId2"/>
    <p:sldLayoutId id="2147483687" r:id="rId3"/>
    <p:sldLayoutId id="2147483688" r:id="rId4"/>
    <p:sldLayoutId id="2147483671" r:id="rId5"/>
    <p:sldLayoutId id="2147483672" r:id="rId6"/>
    <p:sldLayoutId id="2147483689" r:id="rId7"/>
    <p:sldLayoutId id="2147483690" r:id="rId8"/>
    <p:sldLayoutId id="2147483673" r:id="rId9"/>
    <p:sldLayoutId id="2147483691" r:id="rId10"/>
    <p:sldLayoutId id="2147483674" r:id="rId11"/>
    <p:sldLayoutId id="2147483676" r:id="rId12"/>
    <p:sldLayoutId id="2147483677" r:id="rId13"/>
    <p:sldLayoutId id="2147483678" r:id="rId14"/>
    <p:sldLayoutId id="2147483679" r:id="rId15"/>
    <p:sldLayoutId id="2147483681" r:id="rId16"/>
    <p:sldLayoutId id="2147483683" r:id="rId17"/>
    <p:sldLayoutId id="2147483682" r:id="rId18"/>
    <p:sldLayoutId id="2147483684" r:id="rId19"/>
    <p:sldLayoutId id="2147483685" r:id="rId20"/>
    <p:sldLayoutId id="2147483686" r:id="rId21"/>
    <p:sldLayoutId id="2147483692" r:id="rId2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slideLayout" Target="../slideLayouts/slideLayout3.xml"/><Relationship Id="rId4" Type="http://schemas.openxmlformats.org/officeDocument/2006/relationships/image" Target="../media/image23.png"/></Relationships>
</file>

<file path=ppt/slides/_rels/slide6.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Layout" Target="../slideLayouts/slideLayout3.xml"/><Relationship Id="rId4" Type="http://schemas.openxmlformats.org/officeDocument/2006/relationships/image" Target="../media/image2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31.jpeg"/><Relationship Id="rId7" Type="http://schemas.openxmlformats.org/officeDocument/2006/relationships/image" Target="../media/image35.png"/><Relationship Id="rId2" Type="http://schemas.openxmlformats.org/officeDocument/2006/relationships/image" Target="../media/image30.png"/><Relationship Id="rId1" Type="http://schemas.openxmlformats.org/officeDocument/2006/relationships/slideLayout" Target="../slideLayouts/slideLayout3.xml"/><Relationship Id="rId6" Type="http://schemas.openxmlformats.org/officeDocument/2006/relationships/image" Target="../media/image34.jpg"/><Relationship Id="rId5" Type="http://schemas.openxmlformats.org/officeDocument/2006/relationships/image" Target="../media/image33.jpg"/><Relationship Id="rId4" Type="http://schemas.openxmlformats.org/officeDocument/2006/relationships/image" Target="../media/image3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37.jpg"/><Relationship Id="rId2" Type="http://schemas.openxmlformats.org/officeDocument/2006/relationships/image" Target="../media/image36.jp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image" Target="../media/image39.gif"/><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image" Target="../media/image41.jpg"/><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0A5353-D4D5-43D7-A039-6CFC6871D64F}"/>
              </a:ext>
            </a:extLst>
          </p:cNvPr>
          <p:cNvSpPr>
            <a:spLocks noGrp="1"/>
          </p:cNvSpPr>
          <p:nvPr>
            <p:ph type="ctrTitle"/>
          </p:nvPr>
        </p:nvSpPr>
        <p:spPr>
          <a:xfrm>
            <a:off x="559489" y="1122364"/>
            <a:ext cx="8024674" cy="2578780"/>
          </a:xfrm>
        </p:spPr>
        <p:txBody>
          <a:bodyPr/>
          <a:lstStyle/>
          <a:p>
            <a:pPr>
              <a:lnSpc>
                <a:spcPct val="100000"/>
              </a:lnSpc>
            </a:pPr>
            <a:r>
              <a:rPr lang="en-US" sz="4800" b="0" dirty="0"/>
              <a:t>Unit-5 </a:t>
            </a:r>
            <a:br>
              <a:rPr lang="en-US" sz="4800" b="0" dirty="0"/>
            </a:br>
            <a:r>
              <a:rPr lang="en-IN" sz="5500" dirty="0"/>
              <a:t>I/O and File Management</a:t>
            </a:r>
            <a:endParaRPr lang="en-US" sz="5500" dirty="0"/>
          </a:p>
        </p:txBody>
      </p:sp>
      <p:sp>
        <p:nvSpPr>
          <p:cNvPr id="3" name="Text Placeholder 2">
            <a:extLst>
              <a:ext uri="{FF2B5EF4-FFF2-40B4-BE49-F238E27FC236}">
                <a16:creationId xmlns:a16="http://schemas.microsoft.com/office/drawing/2014/main" id="{E4D4005A-4647-4086-9144-7BCC7DFEFB1B}"/>
              </a:ext>
            </a:extLst>
          </p:cNvPr>
          <p:cNvSpPr>
            <a:spLocks noGrp="1"/>
          </p:cNvSpPr>
          <p:nvPr>
            <p:ph type="body" sz="quarter" idx="11"/>
          </p:nvPr>
        </p:nvSpPr>
        <p:spPr/>
        <p:txBody>
          <a:bodyPr/>
          <a:lstStyle/>
          <a:p>
            <a:pPr>
              <a:spcAft>
                <a:spcPts val="600"/>
              </a:spcAft>
            </a:pPr>
            <a:r>
              <a:rPr lang="en-US" dirty="0"/>
              <a:t>u</a:t>
            </a:r>
            <a:r>
              <a:rPr lang="en-US" dirty="0" smtClean="0"/>
              <a:t>mesh.thoriya</a:t>
            </a:r>
            <a:r>
              <a:rPr lang="en-US" dirty="0" smtClean="0"/>
              <a:t>@darshan.ac.in</a:t>
            </a:r>
            <a:endParaRPr lang="en-US" dirty="0"/>
          </a:p>
        </p:txBody>
      </p:sp>
      <p:sp>
        <p:nvSpPr>
          <p:cNvPr id="4" name="Text Placeholder 3">
            <a:extLst>
              <a:ext uri="{FF2B5EF4-FFF2-40B4-BE49-F238E27FC236}">
                <a16:creationId xmlns:a16="http://schemas.microsoft.com/office/drawing/2014/main" id="{6F817D43-889A-4049-ACFD-9B3B648B6A91}"/>
              </a:ext>
            </a:extLst>
          </p:cNvPr>
          <p:cNvSpPr>
            <a:spLocks noGrp="1"/>
          </p:cNvSpPr>
          <p:nvPr>
            <p:ph type="body" sz="quarter" idx="12"/>
          </p:nvPr>
        </p:nvSpPr>
        <p:spPr/>
        <p:txBody>
          <a:bodyPr/>
          <a:lstStyle/>
          <a:p>
            <a:endParaRPr lang="en-US" dirty="0"/>
          </a:p>
          <a:p>
            <a:r>
              <a:rPr lang="en-US" dirty="0" smtClean="0"/>
              <a:t>9714233355</a:t>
            </a:r>
            <a:endParaRPr lang="en-US" dirty="0"/>
          </a:p>
          <a:p>
            <a:endParaRPr lang="en-US" dirty="0"/>
          </a:p>
        </p:txBody>
      </p:sp>
      <p:sp>
        <p:nvSpPr>
          <p:cNvPr id="5" name="Text Placeholder 4">
            <a:extLst>
              <a:ext uri="{FF2B5EF4-FFF2-40B4-BE49-F238E27FC236}">
                <a16:creationId xmlns:a16="http://schemas.microsoft.com/office/drawing/2014/main" id="{DA9A7BEC-5E94-41D6-95AB-3D2BFB0D5E9F}"/>
              </a:ext>
            </a:extLst>
          </p:cNvPr>
          <p:cNvSpPr>
            <a:spLocks noGrp="1"/>
          </p:cNvSpPr>
          <p:nvPr>
            <p:ph type="body" sz="quarter" idx="13"/>
          </p:nvPr>
        </p:nvSpPr>
        <p:spPr/>
        <p:txBody>
          <a:bodyPr/>
          <a:lstStyle/>
          <a:p>
            <a:pPr>
              <a:spcAft>
                <a:spcPts val="600"/>
              </a:spcAft>
            </a:pPr>
            <a:r>
              <a:rPr lang="en-US" sz="1400" dirty="0"/>
              <a:t>Computer Science &amp; Engineering Department</a:t>
            </a:r>
          </a:p>
        </p:txBody>
      </p:sp>
      <p:sp>
        <p:nvSpPr>
          <p:cNvPr id="14" name="Text Placeholder 13">
            <a:extLst>
              <a:ext uri="{FF2B5EF4-FFF2-40B4-BE49-F238E27FC236}">
                <a16:creationId xmlns:a16="http://schemas.microsoft.com/office/drawing/2014/main" id="{ABE85B2E-33FC-6B45-7B2E-92B4F7EF494B}"/>
              </a:ext>
            </a:extLst>
          </p:cNvPr>
          <p:cNvSpPr>
            <a:spLocks noGrp="1"/>
          </p:cNvSpPr>
          <p:nvPr>
            <p:ph type="body" sz="quarter" idx="16"/>
          </p:nvPr>
        </p:nvSpPr>
        <p:spPr/>
        <p:txBody>
          <a:bodyPr/>
          <a:lstStyle/>
          <a:p>
            <a:pPr>
              <a:lnSpc>
                <a:spcPct val="100000"/>
              </a:lnSpc>
            </a:pPr>
            <a:r>
              <a:rPr lang="en-US" b="1" dirty="0"/>
              <a:t>Operating</a:t>
            </a:r>
            <a:r>
              <a:rPr lang="en-US" b="1" dirty="0">
                <a:latin typeface="Roboto Condensed Light" panose="02000000000000000000" pitchFamily="2" charset="0"/>
                <a:ea typeface="Roboto Condensed Light" panose="02000000000000000000" pitchFamily="2" charset="0"/>
              </a:rPr>
              <a:t> </a:t>
            </a:r>
            <a:r>
              <a:rPr lang="en-US" b="1" dirty="0"/>
              <a:t>System </a:t>
            </a:r>
            <a:r>
              <a:rPr lang="en-US" b="1" dirty="0">
                <a:latin typeface="Roboto Condensed Light" panose="02000000000000000000" pitchFamily="2" charset="0"/>
                <a:ea typeface="Roboto Condensed Light" panose="02000000000000000000" pitchFamily="2" charset="0"/>
              </a:rPr>
              <a:t>(OS)</a:t>
            </a:r>
          </a:p>
          <a:p>
            <a:pPr>
              <a:lnSpc>
                <a:spcPct val="100000"/>
              </a:lnSpc>
            </a:pPr>
            <a:r>
              <a:rPr lang="en-US" dirty="0">
                <a:latin typeface="Roboto Condensed Light" panose="02000000000000000000" pitchFamily="2" charset="0"/>
                <a:ea typeface="Roboto Condensed Light" panose="02000000000000000000" pitchFamily="2" charset="0"/>
              </a:rPr>
              <a:t>DU # 2304CS205</a:t>
            </a:r>
          </a:p>
        </p:txBody>
      </p:sp>
      <p:sp>
        <p:nvSpPr>
          <p:cNvPr id="11" name="AutoShape 3">
            <a:extLst>
              <a:ext uri="{FF2B5EF4-FFF2-40B4-BE49-F238E27FC236}">
                <a16:creationId xmlns:a16="http://schemas.microsoft.com/office/drawing/2014/main" id="{3D1B70E7-2396-452E-A00A-D1D4AA1E56DF}"/>
              </a:ext>
            </a:extLst>
          </p:cNvPr>
          <p:cNvSpPr>
            <a:spLocks noChangeAspect="1" noChangeArrowheads="1" noTextEdit="1"/>
          </p:cNvSpPr>
          <p:nvPr/>
        </p:nvSpPr>
        <p:spPr bwMode="auto">
          <a:xfrm>
            <a:off x="5573676" y="-3055324"/>
            <a:ext cx="7721600" cy="1457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Text Placeholder 15">
            <a:extLst>
              <a:ext uri="{FF2B5EF4-FFF2-40B4-BE49-F238E27FC236}">
                <a16:creationId xmlns:a16="http://schemas.microsoft.com/office/drawing/2014/main" id="{7C9D2D46-64B7-7EB1-5FBC-8717156BECDC}"/>
              </a:ext>
            </a:extLst>
          </p:cNvPr>
          <p:cNvSpPr>
            <a:spLocks noGrp="1"/>
          </p:cNvSpPr>
          <p:nvPr>
            <p:ph type="body" sz="quarter" idx="14"/>
          </p:nvPr>
        </p:nvSpPr>
        <p:spPr/>
        <p:txBody>
          <a:bodyPr/>
          <a:lstStyle/>
          <a:p>
            <a:pPr>
              <a:spcAft>
                <a:spcPts val="600"/>
              </a:spcAft>
            </a:pPr>
            <a:r>
              <a:rPr lang="en-US" dirty="0">
                <a:gradFill flip="none" rotWithShape="1">
                  <a:gsLst>
                    <a:gs pos="10000">
                      <a:schemeClr val="accent6">
                        <a:lumMod val="50000"/>
                      </a:schemeClr>
                    </a:gs>
                    <a:gs pos="100000">
                      <a:schemeClr val="accent6"/>
                    </a:gs>
                  </a:gsLst>
                  <a:lin ang="0" scaled="1"/>
                  <a:tileRect/>
                </a:gradFill>
              </a:rPr>
              <a:t>Prof. </a:t>
            </a:r>
            <a:r>
              <a:rPr lang="en-US" dirty="0" err="1" smtClean="0">
                <a:gradFill flip="none" rotWithShape="1">
                  <a:gsLst>
                    <a:gs pos="10000">
                      <a:schemeClr val="accent6">
                        <a:lumMod val="50000"/>
                      </a:schemeClr>
                    </a:gs>
                    <a:gs pos="100000">
                      <a:schemeClr val="accent6"/>
                    </a:gs>
                  </a:gsLst>
                  <a:lin ang="0" scaled="1"/>
                  <a:tileRect/>
                </a:gradFill>
              </a:rPr>
              <a:t>Umesh</a:t>
            </a:r>
            <a:r>
              <a:rPr lang="en-US" dirty="0" smtClean="0">
                <a:gradFill flip="none" rotWithShape="1">
                  <a:gsLst>
                    <a:gs pos="10000">
                      <a:schemeClr val="accent6">
                        <a:lumMod val="50000"/>
                      </a:schemeClr>
                    </a:gs>
                    <a:gs pos="100000">
                      <a:schemeClr val="accent6"/>
                    </a:gs>
                  </a:gsLst>
                  <a:lin ang="0" scaled="1"/>
                  <a:tileRect/>
                </a:gradFill>
              </a:rPr>
              <a:t> H </a:t>
            </a:r>
            <a:r>
              <a:rPr lang="en-US" dirty="0" err="1" smtClean="0">
                <a:gradFill flip="none" rotWithShape="1">
                  <a:gsLst>
                    <a:gs pos="10000">
                      <a:schemeClr val="accent6">
                        <a:lumMod val="50000"/>
                      </a:schemeClr>
                    </a:gs>
                    <a:gs pos="100000">
                      <a:schemeClr val="accent6"/>
                    </a:gs>
                  </a:gsLst>
                  <a:lin ang="0" scaled="1"/>
                  <a:tileRect/>
                </a:gradFill>
              </a:rPr>
              <a:t>Thoriya</a:t>
            </a:r>
            <a:endParaRPr lang="en-US" dirty="0">
              <a:gradFill flip="none" rotWithShape="1">
                <a:gsLst>
                  <a:gs pos="10000">
                    <a:srgbClr val="B71B1C"/>
                  </a:gs>
                  <a:gs pos="95000">
                    <a:srgbClr val="ED524F"/>
                  </a:gs>
                </a:gsLst>
                <a:lin ang="0" scaled="1"/>
                <a:tileRect/>
              </a:gradFill>
            </a:endParaRPr>
          </a:p>
        </p:txBody>
      </p:sp>
      <p:sp>
        <p:nvSpPr>
          <p:cNvPr id="7" name="Picture Placeholder 6">
            <a:extLst>
              <a:ext uri="{FF2B5EF4-FFF2-40B4-BE49-F238E27FC236}">
                <a16:creationId xmlns:a16="http://schemas.microsoft.com/office/drawing/2014/main" id="{AE6FCF4A-F975-C0C2-C25F-D81555564EAA}"/>
              </a:ext>
            </a:extLst>
          </p:cNvPr>
          <p:cNvSpPr>
            <a:spLocks noGrp="1"/>
          </p:cNvSpPr>
          <p:nvPr>
            <p:ph type="pic" sz="quarter" idx="10"/>
          </p:nvPr>
        </p:nvSpPr>
        <p:spPr/>
      </p:sp>
      <p:pic>
        <p:nvPicPr>
          <p:cNvPr id="8" name="Picture Placeholder 23">
            <a:extLst>
              <a:ext uri="{FF2B5EF4-FFF2-40B4-BE49-F238E27FC236}">
                <a16:creationId xmlns:a16="http://schemas.microsoft.com/office/drawing/2014/main" id="{3EBBF228-CC66-ED4A-A378-9975D9DE9B2C}"/>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374103"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pic>
      <p:sp>
        <p:nvSpPr>
          <p:cNvPr id="9" name="Rectangle 8">
            <a:extLst>
              <a:ext uri="{FF2B5EF4-FFF2-40B4-BE49-F238E27FC236}">
                <a16:creationId xmlns:a16="http://schemas.microsoft.com/office/drawing/2014/main" id="{6C6655BF-EB8E-4232-65E0-DB27F353750E}"/>
              </a:ext>
            </a:extLst>
          </p:cNvPr>
          <p:cNvSpPr/>
          <p:nvPr/>
        </p:nvSpPr>
        <p:spPr>
          <a:xfrm>
            <a:off x="678112" y="3889663"/>
            <a:ext cx="6385880" cy="646331"/>
          </a:xfrm>
          <a:prstGeom prst="rect">
            <a:avLst/>
          </a:prstGeom>
        </p:spPr>
        <p:txBody>
          <a:bodyPr wrap="square">
            <a:spAutoFit/>
          </a:bodyPr>
          <a:lstStyle/>
          <a:p>
            <a:pPr algn="just"/>
            <a:r>
              <a:rPr lang="en-IN" sz="1600" b="1" i="1" u="none" strike="noStrike" baseline="0" dirty="0">
                <a:latin typeface="Roboto Condensed,Bold"/>
              </a:rPr>
              <a:t>CO</a:t>
            </a:r>
            <a:r>
              <a:rPr lang="en-IN" sz="1600" b="1" i="1" dirty="0">
                <a:latin typeface="Roboto Condensed,Bold"/>
              </a:rPr>
              <a:t>5</a:t>
            </a:r>
            <a:r>
              <a:rPr lang="en-IN" sz="1600" b="1" i="1" u="none" strike="noStrike" baseline="0" dirty="0">
                <a:latin typeface="Roboto Condensed,Bold"/>
              </a:rPr>
              <a:t>:</a:t>
            </a:r>
            <a:r>
              <a:rPr lang="en-IN" sz="1600" b="0" i="1" u="none" strike="noStrike" baseline="0" dirty="0">
                <a:latin typeface="Roboto Condensed,Bold"/>
              </a:rPr>
              <a:t> </a:t>
            </a:r>
            <a:r>
              <a:rPr lang="en-US" sz="1800" b="1" i="1" u="none" strike="noStrike" kern="1200" baseline="0" dirty="0">
                <a:solidFill>
                  <a:schemeClr val="tx1"/>
                </a:solidFill>
                <a:latin typeface="+mn-lt"/>
                <a:ea typeface="+mn-ea"/>
                <a:cs typeface="+mn-cs"/>
              </a:rPr>
              <a:t>At the end of this unit, students will be able to,</a:t>
            </a:r>
          </a:p>
          <a:p>
            <a:pPr algn="just"/>
            <a:r>
              <a:rPr lang="en-US" b="1" dirty="0"/>
              <a:t>        </a:t>
            </a:r>
            <a:r>
              <a:rPr lang="en-IN" b="1" dirty="0"/>
              <a:t>practice</a:t>
            </a:r>
            <a:r>
              <a:rPr lang="en-IN" dirty="0"/>
              <a:t> file management and IO management methods.</a:t>
            </a:r>
            <a:endParaRPr lang="en-IN" sz="1600" b="0" i="1" dirty="0"/>
          </a:p>
        </p:txBody>
      </p:sp>
    </p:spTree>
    <p:extLst>
      <p:ext uri="{BB962C8B-B14F-4D97-AF65-F5344CB8AC3E}">
        <p14:creationId xmlns:p14="http://schemas.microsoft.com/office/powerpoint/2010/main" val="6610019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9EBF344-4A7B-4C4A-AF6D-6441BD040AB3}"/>
              </a:ext>
            </a:extLst>
          </p:cNvPr>
          <p:cNvCxnSpPr>
            <a:cxnSpLocks/>
          </p:cNvCxnSpPr>
          <p:nvPr/>
        </p:nvCxnSpPr>
        <p:spPr>
          <a:xfrm>
            <a:off x="1179243" y="0"/>
            <a:ext cx="0" cy="235034"/>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4BD1E24D-7739-4C4F-8234-2614FB54ADBC}"/>
              </a:ext>
            </a:extLst>
          </p:cNvPr>
          <p:cNvSpPr/>
          <p:nvPr/>
        </p:nvSpPr>
        <p:spPr>
          <a:xfrm>
            <a:off x="954165" y="235034"/>
            <a:ext cx="474562" cy="474562"/>
          </a:xfrm>
          <a:prstGeom prst="ellipse">
            <a:avLst/>
          </a:prstGeom>
          <a:ln>
            <a:solidFill>
              <a:schemeClr val="bg1">
                <a:lumMod val="6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a:sym typeface="Wingdings 2" panose="05020102010507070707" pitchFamily="18" charset="2"/>
              </a:rPr>
              <a:t></a:t>
            </a:r>
            <a:endParaRPr lang="en-US" sz="2800" dirty="0"/>
          </a:p>
        </p:txBody>
      </p:sp>
      <p:sp>
        <p:nvSpPr>
          <p:cNvPr id="7" name="TextBox 6">
            <a:extLst>
              <a:ext uri="{FF2B5EF4-FFF2-40B4-BE49-F238E27FC236}">
                <a16:creationId xmlns:a16="http://schemas.microsoft.com/office/drawing/2014/main" id="{00F422F9-3B3A-4A97-ADB3-F83B13E11C16}"/>
              </a:ext>
            </a:extLst>
          </p:cNvPr>
          <p:cNvSpPr txBox="1"/>
          <p:nvPr/>
        </p:nvSpPr>
        <p:spPr>
          <a:xfrm>
            <a:off x="1527893" y="720132"/>
            <a:ext cx="1175322" cy="400110"/>
          </a:xfrm>
          <a:prstGeom prst="rect">
            <a:avLst/>
          </a:prstGeom>
          <a:noFill/>
        </p:spPr>
        <p:txBody>
          <a:bodyPr wrap="none" rtlCol="0">
            <a:spAutoFit/>
          </a:bodyPr>
          <a:lstStyle/>
          <a:p>
            <a:r>
              <a:rPr lang="en-US" sz="2000" b="1" dirty="0">
                <a:solidFill>
                  <a:schemeClr val="bg1"/>
                </a:solidFill>
              </a:rPr>
              <a:t>Looping</a:t>
            </a:r>
          </a:p>
        </p:txBody>
      </p:sp>
      <p:cxnSp>
        <p:nvCxnSpPr>
          <p:cNvPr id="8" name="Straight Connector 7">
            <a:extLst>
              <a:ext uri="{FF2B5EF4-FFF2-40B4-BE49-F238E27FC236}">
                <a16:creationId xmlns:a16="http://schemas.microsoft.com/office/drawing/2014/main" id="{F34260FD-CAA3-43A0-977C-7E4B57013872}"/>
              </a:ext>
            </a:extLst>
          </p:cNvPr>
          <p:cNvCxnSpPr>
            <a:cxnSpLocks/>
          </p:cNvCxnSpPr>
          <p:nvPr/>
        </p:nvCxnSpPr>
        <p:spPr>
          <a:xfrm flipH="1">
            <a:off x="1179243" y="709589"/>
            <a:ext cx="12203" cy="552326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1DAC9BCC-6D7A-4119-BBFE-F1E0245720C7}"/>
              </a:ext>
            </a:extLst>
          </p:cNvPr>
          <p:cNvSpPr txBox="1"/>
          <p:nvPr/>
        </p:nvSpPr>
        <p:spPr>
          <a:xfrm>
            <a:off x="1458963" y="255843"/>
            <a:ext cx="9956750" cy="5660011"/>
          </a:xfrm>
          <a:prstGeom prst="rect">
            <a:avLst/>
          </a:prstGeom>
          <a:noFill/>
        </p:spPr>
        <p:txBody>
          <a:bodyPr wrap="square" rtlCol="0">
            <a:spAutoFit/>
          </a:bodyPr>
          <a:lstStyle/>
          <a:p>
            <a:r>
              <a:rPr lang="en-US" sz="2400" b="1" dirty="0"/>
              <a:t>Topics </a:t>
            </a:r>
          </a:p>
          <a:p>
            <a:pPr marL="742950" lvl="1" indent="-285750">
              <a:lnSpc>
                <a:spcPct val="130000"/>
              </a:lnSpc>
              <a:buFont typeface="Arial" panose="020B0604020202020204" pitchFamily="34" charset="0"/>
              <a:buChar char="•"/>
            </a:pPr>
            <a:r>
              <a:rPr lang="en-US" sz="2400" dirty="0"/>
              <a:t>I/O Devices</a:t>
            </a:r>
          </a:p>
          <a:p>
            <a:pPr marL="742950" lvl="1" indent="-285750">
              <a:lnSpc>
                <a:spcPct val="130000"/>
              </a:lnSpc>
              <a:buFont typeface="Arial" panose="020B0604020202020204" pitchFamily="34" charset="0"/>
              <a:buChar char="•"/>
            </a:pPr>
            <a:r>
              <a:rPr lang="en-US" sz="2400" dirty="0"/>
              <a:t>I/O Buffering</a:t>
            </a:r>
          </a:p>
          <a:p>
            <a:pPr marL="742950" lvl="1" indent="-285750">
              <a:lnSpc>
                <a:spcPct val="130000"/>
              </a:lnSpc>
              <a:buFont typeface="Arial" panose="020B0604020202020204" pitchFamily="34" charset="0"/>
              <a:buChar char="•"/>
            </a:pPr>
            <a:r>
              <a:rPr lang="en-US" sz="2400" dirty="0"/>
              <a:t>Internal Structure of HDD (Hard Disk Drive)</a:t>
            </a:r>
          </a:p>
          <a:p>
            <a:pPr marL="742950" lvl="1" indent="-285750">
              <a:lnSpc>
                <a:spcPct val="130000"/>
              </a:lnSpc>
              <a:buFont typeface="Arial" panose="020B0604020202020204" pitchFamily="34" charset="0"/>
              <a:buChar char="•"/>
            </a:pPr>
            <a:r>
              <a:rPr lang="en-US" sz="2200" dirty="0"/>
              <a:t>Disk Scheduling Algorithms</a:t>
            </a:r>
          </a:p>
          <a:p>
            <a:pPr marL="742950" lvl="1" indent="-285750">
              <a:lnSpc>
                <a:spcPct val="130000"/>
              </a:lnSpc>
              <a:buFont typeface="Arial" panose="020B0604020202020204" pitchFamily="34" charset="0"/>
              <a:buChar char="•"/>
            </a:pPr>
            <a:r>
              <a:rPr lang="en-US" sz="2400" dirty="0"/>
              <a:t>Basic Concepts of File</a:t>
            </a:r>
          </a:p>
          <a:p>
            <a:pPr marL="742950" lvl="1" indent="-285750">
              <a:lnSpc>
                <a:spcPct val="130000"/>
              </a:lnSpc>
              <a:buFont typeface="Arial" panose="020B0604020202020204" pitchFamily="34" charset="0"/>
              <a:buChar char="•"/>
            </a:pPr>
            <a:r>
              <a:rPr lang="en-US" sz="2400" dirty="0"/>
              <a:t>File Types</a:t>
            </a:r>
          </a:p>
          <a:p>
            <a:pPr marL="742950" lvl="1" indent="-285750">
              <a:lnSpc>
                <a:spcPct val="130000"/>
              </a:lnSpc>
              <a:buFont typeface="Arial" panose="020B0604020202020204" pitchFamily="34" charset="0"/>
              <a:buChar char="•"/>
            </a:pPr>
            <a:r>
              <a:rPr lang="en-US" sz="2400" dirty="0"/>
              <a:t>File Attributes</a:t>
            </a:r>
          </a:p>
          <a:p>
            <a:pPr marL="742950" lvl="1" indent="-285750">
              <a:lnSpc>
                <a:spcPct val="130000"/>
              </a:lnSpc>
              <a:buFont typeface="Arial" panose="020B0604020202020204" pitchFamily="34" charset="0"/>
              <a:buChar char="•"/>
            </a:pPr>
            <a:r>
              <a:rPr lang="en-US" sz="2400" dirty="0"/>
              <a:t>File Operations</a:t>
            </a:r>
          </a:p>
          <a:p>
            <a:pPr marL="742950" lvl="1" indent="-285750">
              <a:lnSpc>
                <a:spcPct val="130000"/>
              </a:lnSpc>
              <a:buFont typeface="Arial" panose="020B0604020202020204" pitchFamily="34" charset="0"/>
              <a:buChar char="•"/>
            </a:pPr>
            <a:r>
              <a:rPr lang="en-US" sz="2400" dirty="0"/>
              <a:t>File Access Methods</a:t>
            </a:r>
          </a:p>
          <a:p>
            <a:pPr marL="742950" lvl="1" indent="-285750">
              <a:lnSpc>
                <a:spcPct val="130000"/>
              </a:lnSpc>
              <a:buFont typeface="Arial" panose="020B0604020202020204" pitchFamily="34" charset="0"/>
              <a:buChar char="•"/>
            </a:pPr>
            <a:r>
              <a:rPr lang="en-US" sz="2400" dirty="0"/>
              <a:t>Directory Structure</a:t>
            </a:r>
          </a:p>
          <a:p>
            <a:pPr lvl="1">
              <a:lnSpc>
                <a:spcPct val="130000"/>
              </a:lnSpc>
            </a:pPr>
            <a:endParaRPr lang="en-IN" sz="2400" dirty="0"/>
          </a:p>
        </p:txBody>
      </p:sp>
    </p:spTree>
    <p:extLst>
      <p:ext uri="{BB962C8B-B14F-4D97-AF65-F5344CB8AC3E}">
        <p14:creationId xmlns:p14="http://schemas.microsoft.com/office/powerpoint/2010/main" val="36856085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p:cTn id="11" dur="500" fill="hold"/>
                                        <p:tgtEl>
                                          <p:spTgt spid="6"/>
                                        </p:tgtEl>
                                        <p:attrNameLst>
                                          <p:attrName>ppt_w</p:attrName>
                                        </p:attrNameLst>
                                      </p:cBhvr>
                                      <p:tavLst>
                                        <p:tav tm="0">
                                          <p:val>
                                            <p:fltVal val="0"/>
                                          </p:val>
                                        </p:tav>
                                        <p:tav tm="100000">
                                          <p:val>
                                            <p:strVal val="#ppt_w"/>
                                          </p:val>
                                        </p:tav>
                                      </p:tavLst>
                                    </p:anim>
                                    <p:anim calcmode="lin" valueType="num">
                                      <p:cBhvr>
                                        <p:cTn id="12" dur="500" fill="hold"/>
                                        <p:tgtEl>
                                          <p:spTgt spid="6"/>
                                        </p:tgtEl>
                                        <p:attrNameLst>
                                          <p:attrName>ppt_h</p:attrName>
                                        </p:attrNameLst>
                                      </p:cBhvr>
                                      <p:tavLst>
                                        <p:tav tm="0">
                                          <p:val>
                                            <p:fltVal val="0"/>
                                          </p:val>
                                        </p:tav>
                                        <p:tav tm="100000">
                                          <p:val>
                                            <p:strVal val="#ppt_h"/>
                                          </p:val>
                                        </p:tav>
                                      </p:tavLst>
                                    </p:anim>
                                    <p:animEffect transition="in" filter="fade">
                                      <p:cBhvr>
                                        <p:cTn id="13" dur="500"/>
                                        <p:tgtEl>
                                          <p:spTgt spid="6"/>
                                        </p:tgtEl>
                                      </p:cBhvr>
                                    </p:animEffect>
                                  </p:childTnLst>
                                </p:cTn>
                              </p:par>
                            </p:childTnLst>
                          </p:cTn>
                        </p:par>
                        <p:par>
                          <p:cTn id="14" fill="hold">
                            <p:stCondLst>
                              <p:cond delay="1000"/>
                            </p:stCondLst>
                            <p:childTnLst>
                              <p:par>
                                <p:cTn id="15" presetID="22" presetClass="entr" presetSubtype="1" fill="hold" nodeType="after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up)">
                                      <p:cBhvr>
                                        <p:cTn id="17" dur="500"/>
                                        <p:tgtEl>
                                          <p:spTgt spid="8"/>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500"/>
                                        <p:tgtEl>
                                          <p:spTgt spid="10"/>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0">
                                            <p:txEl>
                                              <p:pRg st="5" end="5"/>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0">
                                            <p:txEl>
                                              <p:pRg st="6" end="6"/>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0">
                                            <p:txEl>
                                              <p:pRg st="7" end="7"/>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10">
                                            <p:txEl>
                                              <p:pRg st="8" end="8"/>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10">
                                            <p:txEl>
                                              <p:pRg st="9" end="9"/>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10">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792E8-8838-4744-A7DD-92B0ED18307B}"/>
              </a:ext>
            </a:extLst>
          </p:cNvPr>
          <p:cNvSpPr>
            <a:spLocks noGrp="1"/>
          </p:cNvSpPr>
          <p:nvPr>
            <p:ph type="title"/>
          </p:nvPr>
        </p:nvSpPr>
        <p:spPr/>
        <p:txBody>
          <a:bodyPr>
            <a:normAutofit/>
          </a:bodyPr>
          <a:lstStyle/>
          <a:p>
            <a:r>
              <a:rPr lang="en-US" dirty="0">
                <a:gradFill flip="none" rotWithShape="1">
                  <a:gsLst>
                    <a:gs pos="10000">
                      <a:srgbClr val="3E2622"/>
                    </a:gs>
                    <a:gs pos="100000">
                      <a:srgbClr val="795547"/>
                    </a:gs>
                  </a:gsLst>
                  <a:lin ang="0" scaled="1"/>
                  <a:tileRect/>
                </a:gradFill>
              </a:rPr>
              <a:t>I/O Devices</a:t>
            </a:r>
          </a:p>
        </p:txBody>
      </p:sp>
      <p:sp>
        <p:nvSpPr>
          <p:cNvPr id="4" name="Text Placeholder 3"/>
          <p:cNvSpPr>
            <a:spLocks noGrp="1"/>
          </p:cNvSpPr>
          <p:nvPr>
            <p:ph type="body" idx="1"/>
          </p:nvPr>
        </p:nvSpPr>
        <p:spPr/>
        <p:txBody>
          <a:bodyPr/>
          <a:lstStyle/>
          <a:p>
            <a:r>
              <a:rPr lang="en-US" dirty="0"/>
              <a:t>Section - 1</a:t>
            </a:r>
          </a:p>
        </p:txBody>
      </p:sp>
    </p:spTree>
    <p:extLst>
      <p:ext uri="{BB962C8B-B14F-4D97-AF65-F5344CB8AC3E}">
        <p14:creationId xmlns:p14="http://schemas.microsoft.com/office/powerpoint/2010/main" val="20417770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062680-77FC-C39D-438A-0FBF275B6D89}"/>
            </a:ext>
          </a:extLst>
        </p:cNvPr>
        <p:cNvGrpSpPr/>
        <p:nvPr/>
      </p:nvGrpSpPr>
      <p:grpSpPr>
        <a:xfrm>
          <a:off x="0" y="0"/>
          <a:ext cx="0" cy="0"/>
          <a:chOff x="0" y="0"/>
          <a:chExt cx="0" cy="0"/>
        </a:xfrm>
      </p:grpSpPr>
      <p:sp>
        <p:nvSpPr>
          <p:cNvPr id="33" name="Title 1">
            <a:extLst>
              <a:ext uri="{FF2B5EF4-FFF2-40B4-BE49-F238E27FC236}">
                <a16:creationId xmlns:a16="http://schemas.microsoft.com/office/drawing/2014/main" id="{ED3C496C-DC23-DE89-00AB-4E7578362E99}"/>
              </a:ext>
            </a:extLst>
          </p:cNvPr>
          <p:cNvSpPr>
            <a:spLocks noGrp="1"/>
          </p:cNvSpPr>
          <p:nvPr>
            <p:ph type="title"/>
          </p:nvPr>
        </p:nvSpPr>
        <p:spPr>
          <a:xfrm>
            <a:off x="0" y="1"/>
            <a:ext cx="12192000" cy="711200"/>
          </a:xfrm>
        </p:spPr>
        <p:txBody>
          <a:bodyPr/>
          <a:lstStyle/>
          <a:p>
            <a:r>
              <a:rPr lang="en-US" dirty="0"/>
              <a:t>I/O devices</a:t>
            </a:r>
          </a:p>
        </p:txBody>
      </p:sp>
      <p:sp>
        <p:nvSpPr>
          <p:cNvPr id="34" name="Content Placeholder 2">
            <a:extLst>
              <a:ext uri="{FF2B5EF4-FFF2-40B4-BE49-F238E27FC236}">
                <a16:creationId xmlns:a16="http://schemas.microsoft.com/office/drawing/2014/main" id="{5F052F3F-1F79-6D9A-9C9A-2DF782A84BD8}"/>
              </a:ext>
            </a:extLst>
          </p:cNvPr>
          <p:cNvSpPr>
            <a:spLocks noGrp="1"/>
          </p:cNvSpPr>
          <p:nvPr>
            <p:ph idx="1"/>
          </p:nvPr>
        </p:nvSpPr>
        <p:spPr>
          <a:xfrm>
            <a:off x="131180" y="863444"/>
            <a:ext cx="11929641" cy="5742808"/>
          </a:xfrm>
        </p:spPr>
        <p:txBody>
          <a:bodyPr/>
          <a:lstStyle/>
          <a:p>
            <a:r>
              <a:rPr lang="en-US" dirty="0"/>
              <a:t>An </a:t>
            </a:r>
            <a:r>
              <a:rPr lang="en-US" b="1" dirty="0">
                <a:solidFill>
                  <a:schemeClr val="accent6"/>
                </a:solidFill>
              </a:rPr>
              <a:t>Input</a:t>
            </a:r>
            <a:r>
              <a:rPr lang="en-US" b="1" dirty="0"/>
              <a:t>/</a:t>
            </a:r>
            <a:r>
              <a:rPr lang="en-US" b="1" dirty="0">
                <a:solidFill>
                  <a:schemeClr val="accent6"/>
                </a:solidFill>
              </a:rPr>
              <a:t>Output </a:t>
            </a:r>
            <a:r>
              <a:rPr lang="en-US" b="1" dirty="0"/>
              <a:t>(</a:t>
            </a:r>
            <a:r>
              <a:rPr lang="en-US" b="1" dirty="0">
                <a:solidFill>
                  <a:schemeClr val="accent6"/>
                </a:solidFill>
              </a:rPr>
              <a:t>I</a:t>
            </a:r>
            <a:r>
              <a:rPr lang="en-US" b="1" dirty="0"/>
              <a:t>/</a:t>
            </a:r>
            <a:r>
              <a:rPr lang="en-US" b="1" dirty="0">
                <a:solidFill>
                  <a:schemeClr val="accent6"/>
                </a:solidFill>
              </a:rPr>
              <a:t>O</a:t>
            </a:r>
            <a:r>
              <a:rPr lang="en-US" b="1" dirty="0"/>
              <a:t>) </a:t>
            </a:r>
            <a:r>
              <a:rPr lang="en-US" b="1" dirty="0">
                <a:solidFill>
                  <a:schemeClr val="accent6"/>
                </a:solidFill>
              </a:rPr>
              <a:t>device</a:t>
            </a:r>
            <a:r>
              <a:rPr lang="en-US" dirty="0"/>
              <a:t> is any hardware component that enables interaction between a computer and a human operator or another system.</a:t>
            </a:r>
          </a:p>
          <a:p>
            <a:r>
              <a:rPr lang="en-US" b="1" dirty="0">
                <a:solidFill>
                  <a:schemeClr val="accent6"/>
                </a:solidFill>
              </a:rPr>
              <a:t>Device management </a:t>
            </a:r>
            <a:r>
              <a:rPr lang="en-US" dirty="0"/>
              <a:t>in an operating system refers to the </a:t>
            </a:r>
            <a:r>
              <a:rPr lang="en-US" b="1" dirty="0">
                <a:solidFill>
                  <a:schemeClr val="accent6"/>
                </a:solidFill>
              </a:rPr>
              <a:t>process</a:t>
            </a:r>
            <a:r>
              <a:rPr lang="en-US" dirty="0"/>
              <a:t> of </a:t>
            </a:r>
            <a:r>
              <a:rPr lang="en-US" b="1" dirty="0">
                <a:solidFill>
                  <a:schemeClr val="accent6"/>
                </a:solidFill>
              </a:rPr>
              <a:t>controlling</a:t>
            </a:r>
            <a:r>
              <a:rPr lang="en-US" dirty="0"/>
              <a:t> and </a:t>
            </a:r>
            <a:r>
              <a:rPr lang="en-US" b="1" dirty="0">
                <a:solidFill>
                  <a:schemeClr val="accent6"/>
                </a:solidFill>
              </a:rPr>
              <a:t>coordinating</a:t>
            </a:r>
            <a:r>
              <a:rPr lang="en-US" dirty="0"/>
              <a:t> input/output devices to ensure </a:t>
            </a:r>
            <a:r>
              <a:rPr lang="en-US" b="1" dirty="0">
                <a:solidFill>
                  <a:schemeClr val="accent6"/>
                </a:solidFill>
              </a:rPr>
              <a:t>efficient operation</a:t>
            </a:r>
            <a:r>
              <a:rPr lang="en-US" dirty="0"/>
              <a:t>.</a:t>
            </a:r>
          </a:p>
          <a:p>
            <a:r>
              <a:rPr lang="en-US" dirty="0"/>
              <a:t>There are three types of device in operating systems</a:t>
            </a:r>
            <a:r>
              <a:rPr lang="en-US" b="1" dirty="0"/>
              <a:t>:</a:t>
            </a:r>
          </a:p>
          <a:p>
            <a:pPr marL="1001712" lvl="1" indent="-457200">
              <a:lnSpc>
                <a:spcPct val="150000"/>
              </a:lnSpc>
              <a:buFont typeface="+mj-lt"/>
              <a:buAutoNum type="arabicPeriod"/>
            </a:pPr>
            <a:r>
              <a:rPr lang="en-IN" sz="2200" b="1" dirty="0">
                <a:solidFill>
                  <a:schemeClr val="accent6"/>
                </a:solidFill>
              </a:rPr>
              <a:t>Dedicated Device</a:t>
            </a:r>
          </a:p>
          <a:p>
            <a:pPr marL="1001712" lvl="1" indent="-457200">
              <a:lnSpc>
                <a:spcPct val="150000"/>
              </a:lnSpc>
              <a:buFont typeface="+mj-lt"/>
              <a:buAutoNum type="arabicPeriod"/>
            </a:pPr>
            <a:r>
              <a:rPr lang="en-IN" sz="2200" b="1" dirty="0">
                <a:solidFill>
                  <a:schemeClr val="accent6"/>
                </a:solidFill>
              </a:rPr>
              <a:t>Shared Devices</a:t>
            </a:r>
          </a:p>
          <a:p>
            <a:pPr marL="1001712" lvl="1" indent="-457200">
              <a:lnSpc>
                <a:spcPct val="150000"/>
              </a:lnSpc>
              <a:buFont typeface="+mj-lt"/>
              <a:buAutoNum type="arabicPeriod"/>
            </a:pPr>
            <a:r>
              <a:rPr lang="en-IN" sz="2200" b="1" dirty="0">
                <a:solidFill>
                  <a:schemeClr val="accent6"/>
                </a:solidFill>
              </a:rPr>
              <a:t>Virtual Devices</a:t>
            </a:r>
          </a:p>
          <a:p>
            <a:pPr marL="0" indent="0">
              <a:buNone/>
            </a:pPr>
            <a:endParaRPr lang="en-IN" b="1" dirty="0">
              <a:solidFill>
                <a:schemeClr val="accent6"/>
              </a:solidFill>
            </a:endParaRPr>
          </a:p>
          <a:p>
            <a:pPr marL="457200" indent="-457200">
              <a:buFont typeface="+mj-lt"/>
              <a:buAutoNum type="arabicPeriod"/>
            </a:pPr>
            <a:endParaRPr lang="en-IN" b="1" dirty="0">
              <a:solidFill>
                <a:schemeClr val="accent6"/>
              </a:solidFill>
            </a:endParaRPr>
          </a:p>
        </p:txBody>
      </p:sp>
    </p:spTree>
    <p:extLst>
      <p:ext uri="{BB962C8B-B14F-4D97-AF65-F5344CB8AC3E}">
        <p14:creationId xmlns:p14="http://schemas.microsoft.com/office/powerpoint/2010/main" val="2505885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A5B4A6-28AE-BF84-75D1-564316F2A11C}"/>
            </a:ext>
          </a:extLst>
        </p:cNvPr>
        <p:cNvGrpSpPr/>
        <p:nvPr/>
      </p:nvGrpSpPr>
      <p:grpSpPr>
        <a:xfrm>
          <a:off x="0" y="0"/>
          <a:ext cx="0" cy="0"/>
          <a:chOff x="0" y="0"/>
          <a:chExt cx="0" cy="0"/>
        </a:xfrm>
      </p:grpSpPr>
      <p:sp>
        <p:nvSpPr>
          <p:cNvPr id="33" name="Title 1">
            <a:extLst>
              <a:ext uri="{FF2B5EF4-FFF2-40B4-BE49-F238E27FC236}">
                <a16:creationId xmlns:a16="http://schemas.microsoft.com/office/drawing/2014/main" id="{F2A9A2FE-202E-2E84-AAC7-E3A287E7309E}"/>
              </a:ext>
            </a:extLst>
          </p:cNvPr>
          <p:cNvSpPr>
            <a:spLocks noGrp="1"/>
          </p:cNvSpPr>
          <p:nvPr>
            <p:ph type="title"/>
          </p:nvPr>
        </p:nvSpPr>
        <p:spPr>
          <a:xfrm>
            <a:off x="0" y="1"/>
            <a:ext cx="12192000" cy="711200"/>
          </a:xfrm>
        </p:spPr>
        <p:txBody>
          <a:bodyPr/>
          <a:lstStyle/>
          <a:p>
            <a:r>
              <a:rPr lang="en-US" dirty="0"/>
              <a:t>I/O devices (Conti…)</a:t>
            </a:r>
          </a:p>
        </p:txBody>
      </p:sp>
      <p:sp>
        <p:nvSpPr>
          <p:cNvPr id="34" name="Content Placeholder 2">
            <a:extLst>
              <a:ext uri="{FF2B5EF4-FFF2-40B4-BE49-F238E27FC236}">
                <a16:creationId xmlns:a16="http://schemas.microsoft.com/office/drawing/2014/main" id="{56138F74-94CE-9625-6C56-3A7560A431DB}"/>
              </a:ext>
            </a:extLst>
          </p:cNvPr>
          <p:cNvSpPr>
            <a:spLocks noGrp="1"/>
          </p:cNvSpPr>
          <p:nvPr>
            <p:ph idx="1"/>
          </p:nvPr>
        </p:nvSpPr>
        <p:spPr>
          <a:xfrm>
            <a:off x="131180" y="863444"/>
            <a:ext cx="11929641" cy="5639993"/>
          </a:xfrm>
        </p:spPr>
        <p:txBody>
          <a:bodyPr/>
          <a:lstStyle/>
          <a:p>
            <a:pPr marL="457200" indent="-457200">
              <a:buFont typeface="+mj-lt"/>
              <a:buAutoNum type="arabicPeriod"/>
            </a:pPr>
            <a:r>
              <a:rPr lang="en-IN" b="1" dirty="0">
                <a:solidFill>
                  <a:schemeClr val="accent6"/>
                </a:solidFill>
              </a:rPr>
              <a:t>Dedicated Device</a:t>
            </a:r>
          </a:p>
          <a:p>
            <a:pPr lvl="1"/>
            <a:r>
              <a:rPr lang="en-US" sz="2200" dirty="0"/>
              <a:t>These devices are assigned to a </a:t>
            </a:r>
            <a:r>
              <a:rPr lang="en-US" sz="2200" b="1" dirty="0">
                <a:solidFill>
                  <a:schemeClr val="accent6"/>
                </a:solidFill>
              </a:rPr>
              <a:t>single task </a:t>
            </a:r>
            <a:r>
              <a:rPr lang="en-US" sz="2200" dirty="0"/>
              <a:t>at a time..</a:t>
            </a:r>
          </a:p>
          <a:p>
            <a:pPr lvl="1"/>
            <a:r>
              <a:rPr lang="en-US" sz="2200" dirty="0"/>
              <a:t>Sharing them among multiple users </a:t>
            </a:r>
            <a:r>
              <a:rPr lang="en-US" sz="2200" b="1" dirty="0">
                <a:solidFill>
                  <a:schemeClr val="accent6"/>
                </a:solidFill>
              </a:rPr>
              <a:t>simultaneously </a:t>
            </a:r>
            <a:r>
              <a:rPr lang="en-US" sz="2200" dirty="0"/>
              <a:t>can be </a:t>
            </a:r>
            <a:r>
              <a:rPr lang="en-US" sz="2200" b="1" dirty="0">
                <a:solidFill>
                  <a:schemeClr val="accent6"/>
                </a:solidFill>
              </a:rPr>
              <a:t>inconvenient</a:t>
            </a:r>
            <a:r>
              <a:rPr lang="en-US" sz="2200" dirty="0"/>
              <a:t>.</a:t>
            </a:r>
          </a:p>
          <a:p>
            <a:pPr lvl="1"/>
            <a:r>
              <a:rPr lang="en-US" sz="2200" dirty="0"/>
              <a:t>Examples include </a:t>
            </a:r>
            <a:r>
              <a:rPr lang="en-US" sz="2200" b="1" dirty="0">
                <a:solidFill>
                  <a:schemeClr val="accent6"/>
                </a:solidFill>
              </a:rPr>
              <a:t>plotters</a:t>
            </a:r>
            <a:r>
              <a:rPr lang="en-US" sz="2200" dirty="0"/>
              <a:t>, </a:t>
            </a:r>
            <a:r>
              <a:rPr lang="en-US" sz="2200" b="1" dirty="0">
                <a:solidFill>
                  <a:schemeClr val="accent6"/>
                </a:solidFill>
              </a:rPr>
              <a:t>printers</a:t>
            </a:r>
            <a:r>
              <a:rPr lang="en-US" sz="2200" dirty="0"/>
              <a:t>, and </a:t>
            </a:r>
            <a:r>
              <a:rPr lang="en-US" sz="2200" b="1" dirty="0">
                <a:solidFill>
                  <a:schemeClr val="accent6"/>
                </a:solidFill>
              </a:rPr>
              <a:t>tape drives</a:t>
            </a:r>
            <a:r>
              <a:rPr lang="en-US" sz="2200" dirty="0"/>
              <a:t>.</a:t>
            </a:r>
            <a:endParaRPr lang="en-US" sz="2200" b="1" dirty="0">
              <a:solidFill>
                <a:schemeClr val="accent6"/>
              </a:solidFill>
            </a:endParaRPr>
          </a:p>
        </p:txBody>
      </p:sp>
      <p:pic>
        <p:nvPicPr>
          <p:cNvPr id="35" name="Picture 2" descr="What is a plotter - javatpoint">
            <a:extLst>
              <a:ext uri="{FF2B5EF4-FFF2-40B4-BE49-F238E27FC236}">
                <a16:creationId xmlns:a16="http://schemas.microsoft.com/office/drawing/2014/main" id="{40A01B60-1FA3-5EDE-0B84-CE51AE3833F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0292" y="2775780"/>
            <a:ext cx="2711285" cy="1941958"/>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4" descr="Inkjet Computer Printer at Rs 1850 in Bulandshahr | ID: 11591152248">
            <a:extLst>
              <a:ext uri="{FF2B5EF4-FFF2-40B4-BE49-F238E27FC236}">
                <a16:creationId xmlns:a16="http://schemas.microsoft.com/office/drawing/2014/main" id="{792D0708-4786-3EEA-47D2-4BB6812F569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75707" y="2775780"/>
            <a:ext cx="2381060" cy="2169623"/>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6" descr="IBM TS1150 Tape Drive – aka 3592-E08 – Sunstar Company, Inc.">
            <a:extLst>
              <a:ext uri="{FF2B5EF4-FFF2-40B4-BE49-F238E27FC236}">
                <a16:creationId xmlns:a16="http://schemas.microsoft.com/office/drawing/2014/main" id="{88F05339-11F7-C05B-E699-C51581481078}"/>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047737" y="2775780"/>
            <a:ext cx="2551661" cy="20214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578872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4">
                                            <p:txEl>
                                              <p:pRg st="3" end="3"/>
                                            </p:txEl>
                                          </p:spTgt>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nodeType="afterEffect">
                                  <p:stCondLst>
                                    <p:cond delay="0"/>
                                  </p:stCondLst>
                                  <p:childTnLst>
                                    <p:set>
                                      <p:cBhvr>
                                        <p:cTn id="21" dur="1" fill="hold">
                                          <p:stCondLst>
                                            <p:cond delay="0"/>
                                          </p:stCondLst>
                                        </p:cTn>
                                        <p:tgtEl>
                                          <p:spTgt spid="35"/>
                                        </p:tgtEl>
                                        <p:attrNameLst>
                                          <p:attrName>style.visibility</p:attrName>
                                        </p:attrNameLst>
                                      </p:cBhvr>
                                      <p:to>
                                        <p:strVal val="visible"/>
                                      </p:to>
                                    </p:set>
                                  </p:childTnLst>
                                </p:cTn>
                              </p:par>
                            </p:childTnLst>
                          </p:cTn>
                        </p:par>
                        <p:par>
                          <p:cTn id="22" fill="hold">
                            <p:stCondLst>
                              <p:cond delay="0"/>
                            </p:stCondLst>
                            <p:childTnLst>
                              <p:par>
                                <p:cTn id="23" presetID="1" presetClass="entr" presetSubtype="0" fill="hold" nodeType="afterEffect">
                                  <p:stCondLst>
                                    <p:cond delay="0"/>
                                  </p:stCondLst>
                                  <p:childTnLst>
                                    <p:set>
                                      <p:cBhvr>
                                        <p:cTn id="24" dur="1" fill="hold">
                                          <p:stCondLst>
                                            <p:cond delay="0"/>
                                          </p:stCondLst>
                                        </p:cTn>
                                        <p:tgtEl>
                                          <p:spTgt spid="36"/>
                                        </p:tgtEl>
                                        <p:attrNameLst>
                                          <p:attrName>style.visibility</p:attrName>
                                        </p:attrNameLst>
                                      </p:cBhvr>
                                      <p:to>
                                        <p:strVal val="visible"/>
                                      </p:to>
                                    </p:set>
                                  </p:childTnLst>
                                </p:cTn>
                              </p:par>
                            </p:childTnLst>
                          </p:cTn>
                        </p:par>
                        <p:par>
                          <p:cTn id="25" fill="hold">
                            <p:stCondLst>
                              <p:cond delay="0"/>
                            </p:stCondLst>
                            <p:childTnLst>
                              <p:par>
                                <p:cTn id="26" presetID="1" presetClass="entr" presetSubtype="0" fill="hold" nodeType="afterEffect">
                                  <p:stCondLst>
                                    <p:cond delay="0"/>
                                  </p:stCondLst>
                                  <p:childTnLst>
                                    <p:set>
                                      <p:cBhvr>
                                        <p:cTn id="27"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2B010-E867-022D-1553-8650267F5A5E}"/>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A9D1448A-8634-E7CB-A8C2-78E5A4D442DF}"/>
              </a:ext>
            </a:extLst>
          </p:cNvPr>
          <p:cNvSpPr>
            <a:spLocks noGrp="1"/>
          </p:cNvSpPr>
          <p:nvPr>
            <p:ph type="title"/>
          </p:nvPr>
        </p:nvSpPr>
        <p:spPr>
          <a:xfrm>
            <a:off x="0" y="1"/>
            <a:ext cx="12192000" cy="711200"/>
          </a:xfrm>
        </p:spPr>
        <p:txBody>
          <a:bodyPr/>
          <a:lstStyle/>
          <a:p>
            <a:r>
              <a:rPr lang="en-US" dirty="0"/>
              <a:t>I/O devices (Conti…)</a:t>
            </a:r>
          </a:p>
        </p:txBody>
      </p:sp>
      <p:sp>
        <p:nvSpPr>
          <p:cNvPr id="5" name="Content Placeholder 2">
            <a:extLst>
              <a:ext uri="{FF2B5EF4-FFF2-40B4-BE49-F238E27FC236}">
                <a16:creationId xmlns:a16="http://schemas.microsoft.com/office/drawing/2014/main" id="{54C16E3E-2224-282A-026D-03B3760D782F}"/>
              </a:ext>
            </a:extLst>
          </p:cNvPr>
          <p:cNvSpPr>
            <a:spLocks noGrp="1"/>
          </p:cNvSpPr>
          <p:nvPr>
            <p:ph idx="1"/>
          </p:nvPr>
        </p:nvSpPr>
        <p:spPr>
          <a:xfrm>
            <a:off x="131181" y="863444"/>
            <a:ext cx="11923970" cy="5590565"/>
          </a:xfrm>
        </p:spPr>
        <p:txBody>
          <a:bodyPr/>
          <a:lstStyle/>
          <a:p>
            <a:pPr marL="457200" indent="-457200">
              <a:buFont typeface="+mj-lt"/>
              <a:buAutoNum type="arabicPeriod" startAt="2"/>
            </a:pPr>
            <a:r>
              <a:rPr lang="en-IN" b="1" dirty="0">
                <a:solidFill>
                  <a:schemeClr val="accent6"/>
                </a:solidFill>
              </a:rPr>
              <a:t>Shared Devices</a:t>
            </a:r>
          </a:p>
          <a:p>
            <a:pPr lvl="1"/>
            <a:r>
              <a:rPr lang="en-US" sz="2200" dirty="0"/>
              <a:t>These devices can be assigned to </a:t>
            </a:r>
            <a:r>
              <a:rPr lang="en-US" sz="2200" b="1" dirty="0">
                <a:solidFill>
                  <a:schemeClr val="accent6"/>
                </a:solidFill>
              </a:rPr>
              <a:t>multiple processes simultaneously</a:t>
            </a:r>
            <a:r>
              <a:rPr lang="en-US" sz="2200" dirty="0"/>
              <a:t>.</a:t>
            </a:r>
          </a:p>
          <a:p>
            <a:pPr lvl="1"/>
            <a:r>
              <a:rPr lang="en-US" sz="2200" dirty="0"/>
              <a:t>The </a:t>
            </a:r>
            <a:r>
              <a:rPr lang="en-US" sz="2200" b="1" dirty="0">
                <a:solidFill>
                  <a:schemeClr val="accent6"/>
                </a:solidFill>
              </a:rPr>
              <a:t>Device Manager </a:t>
            </a:r>
            <a:r>
              <a:rPr lang="en-US" sz="2200" dirty="0"/>
              <a:t>carefully </a:t>
            </a:r>
            <a:r>
              <a:rPr lang="en-US" sz="2200" b="1" dirty="0">
                <a:solidFill>
                  <a:schemeClr val="accent6"/>
                </a:solidFill>
              </a:rPr>
              <a:t>controls</a:t>
            </a:r>
            <a:r>
              <a:rPr lang="en-US" sz="2200" dirty="0"/>
              <a:t> the access of shared device.</a:t>
            </a:r>
          </a:p>
          <a:p>
            <a:pPr lvl="1"/>
            <a:r>
              <a:rPr lang="en-US" sz="2200" dirty="0"/>
              <a:t>For </a:t>
            </a:r>
            <a:r>
              <a:rPr lang="en-US" sz="2200" b="1" dirty="0">
                <a:solidFill>
                  <a:schemeClr val="accent6"/>
                </a:solidFill>
              </a:rPr>
              <a:t>example,</a:t>
            </a:r>
            <a:r>
              <a:rPr lang="en-US" sz="2200" dirty="0"/>
              <a:t> disk could be shared by multiple processes simultaneously.</a:t>
            </a:r>
          </a:p>
          <a:p>
            <a:pPr marL="457200" lvl="1" indent="0">
              <a:buNone/>
            </a:pPr>
            <a:endParaRPr lang="en-IN" b="1" dirty="0">
              <a:solidFill>
                <a:schemeClr val="accent6"/>
              </a:solidFill>
            </a:endParaRPr>
          </a:p>
          <a:p>
            <a:endParaRPr lang="en-US" sz="2000" dirty="0"/>
          </a:p>
        </p:txBody>
      </p:sp>
      <p:pic>
        <p:nvPicPr>
          <p:cNvPr id="1026" name="Picture 2" descr="Introduction - C Tutorial | Study Glance">
            <a:extLst>
              <a:ext uri="{FF2B5EF4-FFF2-40B4-BE49-F238E27FC236}">
                <a16:creationId xmlns:a16="http://schemas.microsoft.com/office/drawing/2014/main" id="{5F5F1C58-8290-D4E1-5702-F4D23C98F8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52253" y="2735150"/>
            <a:ext cx="4811022" cy="33712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712106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par>
                          <p:cTn id="23" fill="hold">
                            <p:stCondLst>
                              <p:cond delay="500"/>
                            </p:stCondLst>
                            <p:childTnLst>
                              <p:par>
                                <p:cTn id="24" presetID="1" presetClass="entr" presetSubtype="0" fill="hold" nodeType="afterEffect">
                                  <p:stCondLst>
                                    <p:cond delay="0"/>
                                  </p:stCondLst>
                                  <p:childTnLst>
                                    <p:set>
                                      <p:cBhvr>
                                        <p:cTn id="25"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C1A12F-B1F1-4AA9-E3E1-9216AE7B4DBD}"/>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8AC3C223-CF72-A483-6802-051DFF460F91}"/>
              </a:ext>
            </a:extLst>
          </p:cNvPr>
          <p:cNvSpPr>
            <a:spLocks noGrp="1"/>
          </p:cNvSpPr>
          <p:nvPr>
            <p:ph type="title"/>
          </p:nvPr>
        </p:nvSpPr>
        <p:spPr>
          <a:xfrm>
            <a:off x="0" y="1"/>
            <a:ext cx="12192000" cy="711200"/>
          </a:xfrm>
        </p:spPr>
        <p:txBody>
          <a:bodyPr/>
          <a:lstStyle/>
          <a:p>
            <a:r>
              <a:rPr lang="en-US" dirty="0"/>
              <a:t>I/O devices (Conti…)</a:t>
            </a:r>
          </a:p>
        </p:txBody>
      </p:sp>
      <p:sp>
        <p:nvSpPr>
          <p:cNvPr id="5" name="Content Placeholder 2">
            <a:extLst>
              <a:ext uri="{FF2B5EF4-FFF2-40B4-BE49-F238E27FC236}">
                <a16:creationId xmlns:a16="http://schemas.microsoft.com/office/drawing/2014/main" id="{3C7D82AF-718F-D122-26CB-FAAD1177E12C}"/>
              </a:ext>
            </a:extLst>
          </p:cNvPr>
          <p:cNvSpPr>
            <a:spLocks noGrp="1"/>
          </p:cNvSpPr>
          <p:nvPr>
            <p:ph idx="1"/>
          </p:nvPr>
        </p:nvSpPr>
        <p:spPr>
          <a:xfrm>
            <a:off x="131180" y="863444"/>
            <a:ext cx="11877317" cy="5590565"/>
          </a:xfrm>
        </p:spPr>
        <p:txBody>
          <a:bodyPr/>
          <a:lstStyle/>
          <a:p>
            <a:pPr marL="457200" indent="-457200">
              <a:buFont typeface="+mj-lt"/>
              <a:buAutoNum type="arabicPeriod" startAt="3"/>
            </a:pPr>
            <a:r>
              <a:rPr lang="en-IN" b="1" dirty="0">
                <a:solidFill>
                  <a:schemeClr val="accent6"/>
                </a:solidFill>
              </a:rPr>
              <a:t>Virtual Devices</a:t>
            </a:r>
          </a:p>
          <a:p>
            <a:pPr lvl="1"/>
            <a:r>
              <a:rPr lang="en-US" sz="2200" dirty="0"/>
              <a:t>These devices function as a combination of dedicated and shared devices.</a:t>
            </a:r>
          </a:p>
          <a:p>
            <a:pPr lvl="1"/>
            <a:r>
              <a:rPr lang="en-US" sz="2200" dirty="0"/>
              <a:t>A dedicated device can be </a:t>
            </a:r>
            <a:r>
              <a:rPr lang="en-US" sz="2200" b="1" dirty="0">
                <a:solidFill>
                  <a:schemeClr val="accent6"/>
                </a:solidFill>
              </a:rPr>
              <a:t>transformed</a:t>
            </a:r>
            <a:r>
              <a:rPr lang="en-US" sz="2200" dirty="0"/>
              <a:t> into a </a:t>
            </a:r>
            <a:r>
              <a:rPr lang="en-US" sz="2200" b="1" dirty="0">
                <a:solidFill>
                  <a:schemeClr val="accent6"/>
                </a:solidFill>
              </a:rPr>
              <a:t>shared device </a:t>
            </a:r>
            <a:r>
              <a:rPr lang="en-US" sz="2200" dirty="0"/>
              <a:t>using </a:t>
            </a:r>
            <a:r>
              <a:rPr lang="en-US" sz="2200" b="1" dirty="0">
                <a:solidFill>
                  <a:schemeClr val="accent6"/>
                </a:solidFill>
              </a:rPr>
              <a:t>software</a:t>
            </a:r>
            <a:r>
              <a:rPr lang="en-US" sz="2200" dirty="0"/>
              <a:t>.</a:t>
            </a:r>
          </a:p>
          <a:p>
            <a:pPr lvl="1"/>
            <a:r>
              <a:rPr lang="en-US" sz="2200" b="1" dirty="0">
                <a:solidFill>
                  <a:schemeClr val="accent6"/>
                </a:solidFill>
              </a:rPr>
              <a:t>Example</a:t>
            </a:r>
            <a:r>
              <a:rPr lang="en-US" sz="2200" dirty="0"/>
              <a:t>: A printer can be made shareable by using a program that redirects all print requests to a disk before processing them</a:t>
            </a:r>
          </a:p>
        </p:txBody>
      </p:sp>
      <p:pic>
        <p:nvPicPr>
          <p:cNvPr id="3" name="Picture 2">
            <a:extLst>
              <a:ext uri="{FF2B5EF4-FFF2-40B4-BE49-F238E27FC236}">
                <a16:creationId xmlns:a16="http://schemas.microsoft.com/office/drawing/2014/main" id="{E36BBA4C-B97B-A852-D081-BD1DFAC79B72}"/>
              </a:ext>
            </a:extLst>
          </p:cNvPr>
          <p:cNvPicPr>
            <a:picLocks noChangeAspect="1"/>
          </p:cNvPicPr>
          <p:nvPr/>
        </p:nvPicPr>
        <p:blipFill>
          <a:blip r:embed="rId2"/>
          <a:stretch>
            <a:fillRect/>
          </a:stretch>
        </p:blipFill>
        <p:spPr>
          <a:xfrm>
            <a:off x="3177572" y="2874755"/>
            <a:ext cx="3308792" cy="3224567"/>
          </a:xfrm>
          <a:prstGeom prst="rect">
            <a:avLst/>
          </a:prstGeom>
        </p:spPr>
      </p:pic>
    </p:spTree>
    <p:extLst>
      <p:ext uri="{BB962C8B-B14F-4D97-AF65-F5344CB8AC3E}">
        <p14:creationId xmlns:p14="http://schemas.microsoft.com/office/powerpoint/2010/main" val="4153178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9C4184-1124-3CDF-81F2-959BFF304D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06A35E-4C18-C1DB-ED50-C7BB2B57EBCF}"/>
              </a:ext>
            </a:extLst>
          </p:cNvPr>
          <p:cNvSpPr>
            <a:spLocks noGrp="1"/>
          </p:cNvSpPr>
          <p:nvPr>
            <p:ph type="title"/>
          </p:nvPr>
        </p:nvSpPr>
        <p:spPr/>
        <p:txBody>
          <a:bodyPr>
            <a:normAutofit fontScale="90000"/>
          </a:bodyPr>
          <a:lstStyle/>
          <a:p>
            <a:r>
              <a:rPr lang="en-US" dirty="0">
                <a:gradFill flip="none" rotWithShape="1">
                  <a:gsLst>
                    <a:gs pos="10000">
                      <a:srgbClr val="3E2622"/>
                    </a:gs>
                    <a:gs pos="100000">
                      <a:srgbClr val="795547"/>
                    </a:gs>
                  </a:gsLst>
                  <a:lin ang="0" scaled="1"/>
                  <a:tileRect/>
                </a:gradFill>
              </a:rPr>
              <a:t/>
            </a:r>
            <a:br>
              <a:rPr lang="en-US" dirty="0">
                <a:gradFill flip="none" rotWithShape="1">
                  <a:gsLst>
                    <a:gs pos="10000">
                      <a:srgbClr val="3E2622"/>
                    </a:gs>
                    <a:gs pos="100000">
                      <a:srgbClr val="795547"/>
                    </a:gs>
                  </a:gsLst>
                  <a:lin ang="0" scaled="1"/>
                  <a:tileRect/>
                </a:gradFill>
              </a:rPr>
            </a:br>
            <a:r>
              <a:rPr lang="en-US" dirty="0">
                <a:gradFill flip="none" rotWithShape="1">
                  <a:gsLst>
                    <a:gs pos="10000">
                      <a:srgbClr val="3E2622"/>
                    </a:gs>
                    <a:gs pos="100000">
                      <a:srgbClr val="795547"/>
                    </a:gs>
                  </a:gsLst>
                  <a:lin ang="0" scaled="1"/>
                  <a:tileRect/>
                </a:gradFill>
              </a:rPr>
              <a:t/>
            </a:r>
            <a:br>
              <a:rPr lang="en-US" dirty="0">
                <a:gradFill flip="none" rotWithShape="1">
                  <a:gsLst>
                    <a:gs pos="10000">
                      <a:srgbClr val="3E2622"/>
                    </a:gs>
                    <a:gs pos="100000">
                      <a:srgbClr val="795547"/>
                    </a:gs>
                  </a:gsLst>
                  <a:lin ang="0" scaled="1"/>
                  <a:tileRect/>
                </a:gradFill>
              </a:rPr>
            </a:br>
            <a:r>
              <a:rPr lang="en-US" dirty="0">
                <a:gradFill flip="none" rotWithShape="1">
                  <a:gsLst>
                    <a:gs pos="10000">
                      <a:srgbClr val="3E2622"/>
                    </a:gs>
                    <a:gs pos="100000">
                      <a:srgbClr val="795547"/>
                    </a:gs>
                  </a:gsLst>
                  <a:lin ang="0" scaled="1"/>
                  <a:tileRect/>
                </a:gradFill>
              </a:rPr>
              <a:t/>
            </a:r>
            <a:br>
              <a:rPr lang="en-US" dirty="0">
                <a:gradFill flip="none" rotWithShape="1">
                  <a:gsLst>
                    <a:gs pos="10000">
                      <a:srgbClr val="3E2622"/>
                    </a:gs>
                    <a:gs pos="100000">
                      <a:srgbClr val="795547"/>
                    </a:gs>
                  </a:gsLst>
                  <a:lin ang="0" scaled="1"/>
                  <a:tileRect/>
                </a:gradFill>
              </a:rPr>
            </a:br>
            <a:r>
              <a:rPr lang="en-US" dirty="0">
                <a:gradFill flip="none" rotWithShape="1">
                  <a:gsLst>
                    <a:gs pos="10000">
                      <a:srgbClr val="3E2622"/>
                    </a:gs>
                    <a:gs pos="100000">
                      <a:srgbClr val="795547"/>
                    </a:gs>
                  </a:gsLst>
                  <a:lin ang="0" scaled="1"/>
                  <a:tileRect/>
                </a:gradFill>
              </a:rPr>
              <a:t/>
            </a:r>
            <a:br>
              <a:rPr lang="en-US" dirty="0">
                <a:gradFill flip="none" rotWithShape="1">
                  <a:gsLst>
                    <a:gs pos="10000">
                      <a:srgbClr val="3E2622"/>
                    </a:gs>
                    <a:gs pos="100000">
                      <a:srgbClr val="795547"/>
                    </a:gs>
                  </a:gsLst>
                  <a:lin ang="0" scaled="1"/>
                  <a:tileRect/>
                </a:gradFill>
              </a:rPr>
            </a:br>
            <a:r>
              <a:rPr lang="en-US" dirty="0">
                <a:gradFill flip="none" rotWithShape="1">
                  <a:gsLst>
                    <a:gs pos="10000">
                      <a:srgbClr val="3E2622"/>
                    </a:gs>
                    <a:gs pos="100000">
                      <a:srgbClr val="795547"/>
                    </a:gs>
                  </a:gsLst>
                  <a:lin ang="0" scaled="1"/>
                  <a:tileRect/>
                </a:gradFill>
              </a:rPr>
              <a:t/>
            </a:r>
            <a:br>
              <a:rPr lang="en-US" dirty="0">
                <a:gradFill flip="none" rotWithShape="1">
                  <a:gsLst>
                    <a:gs pos="10000">
                      <a:srgbClr val="3E2622"/>
                    </a:gs>
                    <a:gs pos="100000">
                      <a:srgbClr val="795547"/>
                    </a:gs>
                  </a:gsLst>
                  <a:lin ang="0" scaled="1"/>
                  <a:tileRect/>
                </a:gradFill>
              </a:rPr>
            </a:br>
            <a:r>
              <a:rPr lang="en-US" dirty="0">
                <a:gradFill flip="none" rotWithShape="1">
                  <a:gsLst>
                    <a:gs pos="10000">
                      <a:srgbClr val="3E2622"/>
                    </a:gs>
                    <a:gs pos="100000">
                      <a:srgbClr val="795547"/>
                    </a:gs>
                  </a:gsLst>
                  <a:lin ang="0" scaled="1"/>
                  <a:tileRect/>
                </a:gradFill>
              </a:rPr>
              <a:t/>
            </a:r>
            <a:br>
              <a:rPr lang="en-US" dirty="0">
                <a:gradFill flip="none" rotWithShape="1">
                  <a:gsLst>
                    <a:gs pos="10000">
                      <a:srgbClr val="3E2622"/>
                    </a:gs>
                    <a:gs pos="100000">
                      <a:srgbClr val="795547"/>
                    </a:gs>
                  </a:gsLst>
                  <a:lin ang="0" scaled="1"/>
                  <a:tileRect/>
                </a:gradFill>
              </a:rPr>
            </a:br>
            <a:r>
              <a:rPr lang="en-US" dirty="0">
                <a:gradFill flip="none" rotWithShape="1">
                  <a:gsLst>
                    <a:gs pos="10000">
                      <a:srgbClr val="3E2622"/>
                    </a:gs>
                    <a:gs pos="100000">
                      <a:srgbClr val="795547"/>
                    </a:gs>
                  </a:gsLst>
                  <a:lin ang="0" scaled="1"/>
                  <a:tileRect/>
                </a:gradFill>
              </a:rPr>
              <a:t/>
            </a:r>
            <a:br>
              <a:rPr lang="en-US" dirty="0">
                <a:gradFill flip="none" rotWithShape="1">
                  <a:gsLst>
                    <a:gs pos="10000">
                      <a:srgbClr val="3E2622"/>
                    </a:gs>
                    <a:gs pos="100000">
                      <a:srgbClr val="795547"/>
                    </a:gs>
                  </a:gsLst>
                  <a:lin ang="0" scaled="1"/>
                  <a:tileRect/>
                </a:gradFill>
              </a:rPr>
            </a:br>
            <a:r>
              <a:rPr lang="en-US" dirty="0">
                <a:gradFill flip="none" rotWithShape="1">
                  <a:gsLst>
                    <a:gs pos="10000">
                      <a:srgbClr val="3E2622"/>
                    </a:gs>
                    <a:gs pos="100000">
                      <a:srgbClr val="795547"/>
                    </a:gs>
                  </a:gsLst>
                  <a:lin ang="0" scaled="1"/>
                  <a:tileRect/>
                </a:gradFill>
              </a:rPr>
              <a:t/>
            </a:r>
            <a:br>
              <a:rPr lang="en-US" dirty="0">
                <a:gradFill flip="none" rotWithShape="1">
                  <a:gsLst>
                    <a:gs pos="10000">
                      <a:srgbClr val="3E2622"/>
                    </a:gs>
                    <a:gs pos="100000">
                      <a:srgbClr val="795547"/>
                    </a:gs>
                  </a:gsLst>
                  <a:lin ang="0" scaled="1"/>
                  <a:tileRect/>
                </a:gradFill>
              </a:rPr>
            </a:br>
            <a:r>
              <a:rPr lang="en-US" dirty="0">
                <a:gradFill flip="none" rotWithShape="1">
                  <a:gsLst>
                    <a:gs pos="10000">
                      <a:srgbClr val="3E2622"/>
                    </a:gs>
                    <a:gs pos="100000">
                      <a:srgbClr val="795547"/>
                    </a:gs>
                  </a:gsLst>
                  <a:lin ang="0" scaled="1"/>
                  <a:tileRect/>
                </a:gradFill>
              </a:rPr>
              <a:t/>
            </a:r>
            <a:br>
              <a:rPr lang="en-US" dirty="0">
                <a:gradFill flip="none" rotWithShape="1">
                  <a:gsLst>
                    <a:gs pos="10000">
                      <a:srgbClr val="3E2622"/>
                    </a:gs>
                    <a:gs pos="100000">
                      <a:srgbClr val="795547"/>
                    </a:gs>
                  </a:gsLst>
                  <a:lin ang="0" scaled="1"/>
                  <a:tileRect/>
                </a:gradFill>
              </a:rPr>
            </a:br>
            <a:r>
              <a:rPr lang="en-US" dirty="0">
                <a:gradFill flip="none" rotWithShape="1">
                  <a:gsLst>
                    <a:gs pos="10000">
                      <a:srgbClr val="3E2622"/>
                    </a:gs>
                    <a:gs pos="100000">
                      <a:srgbClr val="795547"/>
                    </a:gs>
                  </a:gsLst>
                  <a:lin ang="0" scaled="1"/>
                  <a:tileRect/>
                </a:gradFill>
              </a:rPr>
              <a:t/>
            </a:r>
            <a:br>
              <a:rPr lang="en-US" dirty="0">
                <a:gradFill flip="none" rotWithShape="1">
                  <a:gsLst>
                    <a:gs pos="10000">
                      <a:srgbClr val="3E2622"/>
                    </a:gs>
                    <a:gs pos="100000">
                      <a:srgbClr val="795547"/>
                    </a:gs>
                  </a:gsLst>
                  <a:lin ang="0" scaled="1"/>
                  <a:tileRect/>
                </a:gradFill>
              </a:rPr>
            </a:br>
            <a:r>
              <a:rPr lang="en-US" dirty="0">
                <a:gradFill flip="none" rotWithShape="1">
                  <a:gsLst>
                    <a:gs pos="10000">
                      <a:srgbClr val="3E2622"/>
                    </a:gs>
                    <a:gs pos="100000">
                      <a:srgbClr val="795547"/>
                    </a:gs>
                  </a:gsLst>
                  <a:lin ang="0" scaled="1"/>
                  <a:tileRect/>
                </a:gradFill>
              </a:rPr>
              <a:t/>
            </a:r>
            <a:br>
              <a:rPr lang="en-US" dirty="0">
                <a:gradFill flip="none" rotWithShape="1">
                  <a:gsLst>
                    <a:gs pos="10000">
                      <a:srgbClr val="3E2622"/>
                    </a:gs>
                    <a:gs pos="100000">
                      <a:srgbClr val="795547"/>
                    </a:gs>
                  </a:gsLst>
                  <a:lin ang="0" scaled="1"/>
                  <a:tileRect/>
                </a:gradFill>
              </a:rPr>
            </a:br>
            <a:r>
              <a:rPr lang="en-US" dirty="0">
                <a:gradFill flip="none" rotWithShape="1">
                  <a:gsLst>
                    <a:gs pos="10000">
                      <a:srgbClr val="3E2622"/>
                    </a:gs>
                    <a:gs pos="100000">
                      <a:srgbClr val="795547"/>
                    </a:gs>
                  </a:gsLst>
                  <a:lin ang="0" scaled="1"/>
                  <a:tileRect/>
                </a:gradFill>
              </a:rPr>
              <a:t/>
            </a:r>
            <a:br>
              <a:rPr lang="en-US" dirty="0">
                <a:gradFill flip="none" rotWithShape="1">
                  <a:gsLst>
                    <a:gs pos="10000">
                      <a:srgbClr val="3E2622"/>
                    </a:gs>
                    <a:gs pos="100000">
                      <a:srgbClr val="795547"/>
                    </a:gs>
                  </a:gsLst>
                  <a:lin ang="0" scaled="1"/>
                  <a:tileRect/>
                </a:gradFill>
              </a:rPr>
            </a:br>
            <a:r>
              <a:rPr lang="en-US" dirty="0">
                <a:gradFill flip="none" rotWithShape="1">
                  <a:gsLst>
                    <a:gs pos="10000">
                      <a:srgbClr val="3E2622"/>
                    </a:gs>
                    <a:gs pos="100000">
                      <a:srgbClr val="795547"/>
                    </a:gs>
                  </a:gsLst>
                  <a:lin ang="0" scaled="1"/>
                  <a:tileRect/>
                </a:gradFill>
              </a:rPr>
              <a:t/>
            </a:r>
            <a:br>
              <a:rPr lang="en-US" dirty="0">
                <a:gradFill flip="none" rotWithShape="1">
                  <a:gsLst>
                    <a:gs pos="10000">
                      <a:srgbClr val="3E2622"/>
                    </a:gs>
                    <a:gs pos="100000">
                      <a:srgbClr val="795547"/>
                    </a:gs>
                  </a:gsLst>
                  <a:lin ang="0" scaled="1"/>
                  <a:tileRect/>
                </a:gradFill>
              </a:rPr>
            </a:br>
            <a:r>
              <a:rPr lang="en-US" dirty="0">
                <a:gradFill flip="none" rotWithShape="1">
                  <a:gsLst>
                    <a:gs pos="10000">
                      <a:srgbClr val="3E2622"/>
                    </a:gs>
                    <a:gs pos="100000">
                      <a:srgbClr val="795547"/>
                    </a:gs>
                  </a:gsLst>
                  <a:lin ang="0" scaled="1"/>
                  <a:tileRect/>
                </a:gradFill>
              </a:rPr>
              <a:t/>
            </a:r>
            <a:br>
              <a:rPr lang="en-US" dirty="0">
                <a:gradFill flip="none" rotWithShape="1">
                  <a:gsLst>
                    <a:gs pos="10000">
                      <a:srgbClr val="3E2622"/>
                    </a:gs>
                    <a:gs pos="100000">
                      <a:srgbClr val="795547"/>
                    </a:gs>
                  </a:gsLst>
                  <a:lin ang="0" scaled="1"/>
                  <a:tileRect/>
                </a:gradFill>
              </a:rPr>
            </a:br>
            <a:r>
              <a:rPr lang="en-US" dirty="0">
                <a:gradFill flip="none" rotWithShape="1">
                  <a:gsLst>
                    <a:gs pos="10000">
                      <a:srgbClr val="3E2622"/>
                    </a:gs>
                    <a:gs pos="100000">
                      <a:srgbClr val="795547"/>
                    </a:gs>
                  </a:gsLst>
                  <a:lin ang="0" scaled="1"/>
                  <a:tileRect/>
                </a:gradFill>
              </a:rPr>
              <a:t/>
            </a:r>
            <a:br>
              <a:rPr lang="en-US" dirty="0">
                <a:gradFill flip="none" rotWithShape="1">
                  <a:gsLst>
                    <a:gs pos="10000">
                      <a:srgbClr val="3E2622"/>
                    </a:gs>
                    <a:gs pos="100000">
                      <a:srgbClr val="795547"/>
                    </a:gs>
                  </a:gsLst>
                  <a:lin ang="0" scaled="1"/>
                  <a:tileRect/>
                </a:gradFill>
              </a:rPr>
            </a:br>
            <a:r>
              <a:rPr lang="en-US" dirty="0">
                <a:gradFill flip="none" rotWithShape="1">
                  <a:gsLst>
                    <a:gs pos="10000">
                      <a:srgbClr val="3E2622"/>
                    </a:gs>
                    <a:gs pos="100000">
                      <a:srgbClr val="795547"/>
                    </a:gs>
                  </a:gsLst>
                  <a:lin ang="0" scaled="1"/>
                  <a:tileRect/>
                </a:gradFill>
              </a:rPr>
              <a:t/>
            </a:r>
            <a:br>
              <a:rPr lang="en-US" dirty="0">
                <a:gradFill flip="none" rotWithShape="1">
                  <a:gsLst>
                    <a:gs pos="10000">
                      <a:srgbClr val="3E2622"/>
                    </a:gs>
                    <a:gs pos="100000">
                      <a:srgbClr val="795547"/>
                    </a:gs>
                  </a:gsLst>
                  <a:lin ang="0" scaled="1"/>
                  <a:tileRect/>
                </a:gradFill>
              </a:rPr>
            </a:br>
            <a:r>
              <a:rPr lang="en-US" dirty="0">
                <a:gradFill flip="none" rotWithShape="1">
                  <a:gsLst>
                    <a:gs pos="10000">
                      <a:srgbClr val="3E2622"/>
                    </a:gs>
                    <a:gs pos="100000">
                      <a:srgbClr val="795547"/>
                    </a:gs>
                  </a:gsLst>
                  <a:lin ang="0" scaled="1"/>
                  <a:tileRect/>
                </a:gradFill>
              </a:rPr>
              <a:t/>
            </a:r>
            <a:br>
              <a:rPr lang="en-US" dirty="0">
                <a:gradFill flip="none" rotWithShape="1">
                  <a:gsLst>
                    <a:gs pos="10000">
                      <a:srgbClr val="3E2622"/>
                    </a:gs>
                    <a:gs pos="100000">
                      <a:srgbClr val="795547"/>
                    </a:gs>
                  </a:gsLst>
                  <a:lin ang="0" scaled="1"/>
                  <a:tileRect/>
                </a:gradFill>
              </a:rPr>
            </a:br>
            <a:r>
              <a:rPr lang="en-US" dirty="0">
                <a:gradFill flip="none" rotWithShape="1">
                  <a:gsLst>
                    <a:gs pos="10000">
                      <a:srgbClr val="3E2622"/>
                    </a:gs>
                    <a:gs pos="100000">
                      <a:srgbClr val="795547"/>
                    </a:gs>
                  </a:gsLst>
                  <a:lin ang="0" scaled="1"/>
                  <a:tileRect/>
                </a:gradFill>
              </a:rPr>
              <a:t/>
            </a:r>
            <a:br>
              <a:rPr lang="en-US" dirty="0">
                <a:gradFill flip="none" rotWithShape="1">
                  <a:gsLst>
                    <a:gs pos="10000">
                      <a:srgbClr val="3E2622"/>
                    </a:gs>
                    <a:gs pos="100000">
                      <a:srgbClr val="795547"/>
                    </a:gs>
                  </a:gsLst>
                  <a:lin ang="0" scaled="1"/>
                  <a:tileRect/>
                </a:gradFill>
              </a:rPr>
            </a:br>
            <a:r>
              <a:rPr lang="en-US" dirty="0">
                <a:gradFill flip="none" rotWithShape="1">
                  <a:gsLst>
                    <a:gs pos="10000">
                      <a:srgbClr val="3E2622"/>
                    </a:gs>
                    <a:gs pos="100000">
                      <a:srgbClr val="795547"/>
                    </a:gs>
                  </a:gsLst>
                  <a:lin ang="0" scaled="1"/>
                  <a:tileRect/>
                </a:gradFill>
              </a:rPr>
              <a:t/>
            </a:r>
            <a:br>
              <a:rPr lang="en-US" dirty="0">
                <a:gradFill flip="none" rotWithShape="1">
                  <a:gsLst>
                    <a:gs pos="10000">
                      <a:srgbClr val="3E2622"/>
                    </a:gs>
                    <a:gs pos="100000">
                      <a:srgbClr val="795547"/>
                    </a:gs>
                  </a:gsLst>
                  <a:lin ang="0" scaled="1"/>
                  <a:tileRect/>
                </a:gradFill>
              </a:rPr>
            </a:br>
            <a:r>
              <a:rPr lang="en-US" dirty="0">
                <a:gradFill flip="none" rotWithShape="1">
                  <a:gsLst>
                    <a:gs pos="10000">
                      <a:srgbClr val="3E2622"/>
                    </a:gs>
                    <a:gs pos="100000">
                      <a:srgbClr val="795547"/>
                    </a:gs>
                  </a:gsLst>
                  <a:lin ang="0" scaled="1"/>
                  <a:tileRect/>
                </a:gradFill>
              </a:rPr>
              <a:t/>
            </a:r>
            <a:br>
              <a:rPr lang="en-US" dirty="0">
                <a:gradFill flip="none" rotWithShape="1">
                  <a:gsLst>
                    <a:gs pos="10000">
                      <a:srgbClr val="3E2622"/>
                    </a:gs>
                    <a:gs pos="100000">
                      <a:srgbClr val="795547"/>
                    </a:gs>
                  </a:gsLst>
                  <a:lin ang="0" scaled="1"/>
                  <a:tileRect/>
                </a:gradFill>
              </a:rPr>
            </a:br>
            <a:r>
              <a:rPr lang="en-US" dirty="0">
                <a:gradFill flip="none" rotWithShape="1">
                  <a:gsLst>
                    <a:gs pos="10000">
                      <a:srgbClr val="3E2622"/>
                    </a:gs>
                    <a:gs pos="100000">
                      <a:srgbClr val="795547"/>
                    </a:gs>
                  </a:gsLst>
                  <a:lin ang="0" scaled="1"/>
                  <a:tileRect/>
                </a:gradFill>
              </a:rPr>
              <a:t/>
            </a:r>
            <a:br>
              <a:rPr lang="en-US" dirty="0">
                <a:gradFill flip="none" rotWithShape="1">
                  <a:gsLst>
                    <a:gs pos="10000">
                      <a:srgbClr val="3E2622"/>
                    </a:gs>
                    <a:gs pos="100000">
                      <a:srgbClr val="795547"/>
                    </a:gs>
                  </a:gsLst>
                  <a:lin ang="0" scaled="1"/>
                  <a:tileRect/>
                </a:gradFill>
              </a:rPr>
            </a:br>
            <a:r>
              <a:rPr lang="en-US" dirty="0">
                <a:gradFill flip="none" rotWithShape="1">
                  <a:gsLst>
                    <a:gs pos="10000">
                      <a:srgbClr val="3E2622"/>
                    </a:gs>
                    <a:gs pos="100000">
                      <a:srgbClr val="795547"/>
                    </a:gs>
                  </a:gsLst>
                  <a:lin ang="0" scaled="1"/>
                  <a:tileRect/>
                </a:gradFill>
              </a:rPr>
              <a:t/>
            </a:r>
            <a:br>
              <a:rPr lang="en-US" dirty="0">
                <a:gradFill flip="none" rotWithShape="1">
                  <a:gsLst>
                    <a:gs pos="10000">
                      <a:srgbClr val="3E2622"/>
                    </a:gs>
                    <a:gs pos="100000">
                      <a:srgbClr val="795547"/>
                    </a:gs>
                  </a:gsLst>
                  <a:lin ang="0" scaled="1"/>
                  <a:tileRect/>
                </a:gradFill>
              </a:rPr>
            </a:br>
            <a:r>
              <a:rPr lang="en-US" dirty="0">
                <a:gradFill flip="none" rotWithShape="1">
                  <a:gsLst>
                    <a:gs pos="10000">
                      <a:srgbClr val="3E2622"/>
                    </a:gs>
                    <a:gs pos="100000">
                      <a:srgbClr val="795547"/>
                    </a:gs>
                  </a:gsLst>
                  <a:lin ang="0" scaled="1"/>
                  <a:tileRect/>
                </a:gradFill>
              </a:rPr>
              <a:t/>
            </a:r>
            <a:br>
              <a:rPr lang="en-US" dirty="0">
                <a:gradFill flip="none" rotWithShape="1">
                  <a:gsLst>
                    <a:gs pos="10000">
                      <a:srgbClr val="3E2622"/>
                    </a:gs>
                    <a:gs pos="100000">
                      <a:srgbClr val="795547"/>
                    </a:gs>
                  </a:gsLst>
                  <a:lin ang="0" scaled="1"/>
                  <a:tileRect/>
                </a:gradFill>
              </a:rPr>
            </a:br>
            <a:r>
              <a:rPr lang="en-US" dirty="0">
                <a:gradFill flip="none" rotWithShape="1">
                  <a:gsLst>
                    <a:gs pos="10000">
                      <a:srgbClr val="3E2622"/>
                    </a:gs>
                    <a:gs pos="100000">
                      <a:srgbClr val="795547"/>
                    </a:gs>
                  </a:gsLst>
                  <a:lin ang="0" scaled="1"/>
                  <a:tileRect/>
                </a:gradFill>
              </a:rPr>
              <a:t/>
            </a:r>
            <a:br>
              <a:rPr lang="en-US" dirty="0">
                <a:gradFill flip="none" rotWithShape="1">
                  <a:gsLst>
                    <a:gs pos="10000">
                      <a:srgbClr val="3E2622"/>
                    </a:gs>
                    <a:gs pos="100000">
                      <a:srgbClr val="795547"/>
                    </a:gs>
                  </a:gsLst>
                  <a:lin ang="0" scaled="1"/>
                  <a:tileRect/>
                </a:gradFill>
              </a:rPr>
            </a:br>
            <a:r>
              <a:rPr lang="en-US" dirty="0">
                <a:gradFill flip="none" rotWithShape="1">
                  <a:gsLst>
                    <a:gs pos="10000">
                      <a:srgbClr val="3E2622"/>
                    </a:gs>
                    <a:gs pos="100000">
                      <a:srgbClr val="795547"/>
                    </a:gs>
                  </a:gsLst>
                  <a:lin ang="0" scaled="1"/>
                  <a:tileRect/>
                </a:gradFill>
              </a:rPr>
              <a:t/>
            </a:r>
            <a:br>
              <a:rPr lang="en-US" dirty="0">
                <a:gradFill flip="none" rotWithShape="1">
                  <a:gsLst>
                    <a:gs pos="10000">
                      <a:srgbClr val="3E2622"/>
                    </a:gs>
                    <a:gs pos="100000">
                      <a:srgbClr val="795547"/>
                    </a:gs>
                  </a:gsLst>
                  <a:lin ang="0" scaled="1"/>
                  <a:tileRect/>
                </a:gradFill>
              </a:rPr>
            </a:br>
            <a:r>
              <a:rPr lang="en-US" dirty="0">
                <a:gradFill flip="none" rotWithShape="1">
                  <a:gsLst>
                    <a:gs pos="10000">
                      <a:srgbClr val="3E2622"/>
                    </a:gs>
                    <a:gs pos="100000">
                      <a:srgbClr val="795547"/>
                    </a:gs>
                  </a:gsLst>
                  <a:lin ang="0" scaled="1"/>
                  <a:tileRect/>
                </a:gradFill>
              </a:rPr>
              <a:t/>
            </a:r>
            <a:br>
              <a:rPr lang="en-US" dirty="0">
                <a:gradFill flip="none" rotWithShape="1">
                  <a:gsLst>
                    <a:gs pos="10000">
                      <a:srgbClr val="3E2622"/>
                    </a:gs>
                    <a:gs pos="100000">
                      <a:srgbClr val="795547"/>
                    </a:gs>
                  </a:gsLst>
                  <a:lin ang="0" scaled="1"/>
                  <a:tileRect/>
                </a:gradFill>
              </a:rPr>
            </a:br>
            <a:r>
              <a:rPr lang="en-US" dirty="0">
                <a:gradFill flip="none" rotWithShape="1">
                  <a:gsLst>
                    <a:gs pos="10000">
                      <a:srgbClr val="3E2622"/>
                    </a:gs>
                    <a:gs pos="100000">
                      <a:srgbClr val="795547"/>
                    </a:gs>
                  </a:gsLst>
                  <a:lin ang="0" scaled="1"/>
                  <a:tileRect/>
                </a:gradFill>
              </a:rPr>
              <a:t/>
            </a:r>
            <a:br>
              <a:rPr lang="en-US" dirty="0">
                <a:gradFill flip="none" rotWithShape="1">
                  <a:gsLst>
                    <a:gs pos="10000">
                      <a:srgbClr val="3E2622"/>
                    </a:gs>
                    <a:gs pos="100000">
                      <a:srgbClr val="795547"/>
                    </a:gs>
                  </a:gsLst>
                  <a:lin ang="0" scaled="1"/>
                  <a:tileRect/>
                </a:gradFill>
              </a:rPr>
            </a:br>
            <a:r>
              <a:rPr lang="en-US" dirty="0">
                <a:gradFill flip="none" rotWithShape="1">
                  <a:gsLst>
                    <a:gs pos="10000">
                      <a:srgbClr val="3E2622"/>
                    </a:gs>
                    <a:gs pos="100000">
                      <a:srgbClr val="795547"/>
                    </a:gs>
                  </a:gsLst>
                  <a:lin ang="0" scaled="1"/>
                  <a:tileRect/>
                </a:gradFill>
              </a:rPr>
              <a:t/>
            </a:r>
            <a:br>
              <a:rPr lang="en-US" dirty="0">
                <a:gradFill flip="none" rotWithShape="1">
                  <a:gsLst>
                    <a:gs pos="10000">
                      <a:srgbClr val="3E2622"/>
                    </a:gs>
                    <a:gs pos="100000">
                      <a:srgbClr val="795547"/>
                    </a:gs>
                  </a:gsLst>
                  <a:lin ang="0" scaled="1"/>
                  <a:tileRect/>
                </a:gradFill>
              </a:rPr>
            </a:br>
            <a:r>
              <a:rPr lang="en-US" dirty="0">
                <a:gradFill flip="none" rotWithShape="1">
                  <a:gsLst>
                    <a:gs pos="10000">
                      <a:srgbClr val="3E2622"/>
                    </a:gs>
                    <a:gs pos="100000">
                      <a:srgbClr val="795547"/>
                    </a:gs>
                  </a:gsLst>
                  <a:lin ang="0" scaled="1"/>
                  <a:tileRect/>
                </a:gradFill>
              </a:rPr>
              <a:t/>
            </a:r>
            <a:br>
              <a:rPr lang="en-US" dirty="0">
                <a:gradFill flip="none" rotWithShape="1">
                  <a:gsLst>
                    <a:gs pos="10000">
                      <a:srgbClr val="3E2622"/>
                    </a:gs>
                    <a:gs pos="100000">
                      <a:srgbClr val="795547"/>
                    </a:gs>
                  </a:gsLst>
                  <a:lin ang="0" scaled="1"/>
                  <a:tileRect/>
                </a:gradFill>
              </a:rPr>
            </a:br>
            <a:r>
              <a:rPr lang="en-US" dirty="0">
                <a:gradFill flip="none" rotWithShape="1">
                  <a:gsLst>
                    <a:gs pos="10000">
                      <a:srgbClr val="3E2622"/>
                    </a:gs>
                    <a:gs pos="100000">
                      <a:srgbClr val="795547"/>
                    </a:gs>
                  </a:gsLst>
                  <a:lin ang="0" scaled="1"/>
                  <a:tileRect/>
                </a:gradFill>
              </a:rPr>
              <a:t/>
            </a:r>
            <a:br>
              <a:rPr lang="en-US" dirty="0">
                <a:gradFill flip="none" rotWithShape="1">
                  <a:gsLst>
                    <a:gs pos="10000">
                      <a:srgbClr val="3E2622"/>
                    </a:gs>
                    <a:gs pos="100000">
                      <a:srgbClr val="795547"/>
                    </a:gs>
                  </a:gsLst>
                  <a:lin ang="0" scaled="1"/>
                  <a:tileRect/>
                </a:gradFill>
              </a:rPr>
            </a:br>
            <a:r>
              <a:rPr lang="en-US" dirty="0">
                <a:gradFill flip="none" rotWithShape="1">
                  <a:gsLst>
                    <a:gs pos="10000">
                      <a:srgbClr val="3E2622"/>
                    </a:gs>
                    <a:gs pos="100000">
                      <a:srgbClr val="795547"/>
                    </a:gs>
                  </a:gsLst>
                  <a:lin ang="0" scaled="1"/>
                  <a:tileRect/>
                </a:gradFill>
              </a:rPr>
              <a:t/>
            </a:r>
            <a:br>
              <a:rPr lang="en-US" dirty="0">
                <a:gradFill flip="none" rotWithShape="1">
                  <a:gsLst>
                    <a:gs pos="10000">
                      <a:srgbClr val="3E2622"/>
                    </a:gs>
                    <a:gs pos="100000">
                      <a:srgbClr val="795547"/>
                    </a:gs>
                  </a:gsLst>
                  <a:lin ang="0" scaled="1"/>
                  <a:tileRect/>
                </a:gradFill>
              </a:rPr>
            </a:br>
            <a:r>
              <a:rPr lang="en-US" dirty="0">
                <a:gradFill flip="none" rotWithShape="1">
                  <a:gsLst>
                    <a:gs pos="10000">
                      <a:srgbClr val="3E2622"/>
                    </a:gs>
                    <a:gs pos="100000">
                      <a:srgbClr val="795547"/>
                    </a:gs>
                  </a:gsLst>
                  <a:lin ang="0" scaled="1"/>
                  <a:tileRect/>
                </a:gradFill>
              </a:rPr>
              <a:t/>
            </a:r>
            <a:br>
              <a:rPr lang="en-US" dirty="0">
                <a:gradFill flip="none" rotWithShape="1">
                  <a:gsLst>
                    <a:gs pos="10000">
                      <a:srgbClr val="3E2622"/>
                    </a:gs>
                    <a:gs pos="100000">
                      <a:srgbClr val="795547"/>
                    </a:gs>
                  </a:gsLst>
                  <a:lin ang="0" scaled="1"/>
                  <a:tileRect/>
                </a:gradFill>
              </a:rPr>
            </a:br>
            <a:r>
              <a:rPr lang="en-US" dirty="0">
                <a:gradFill flip="none" rotWithShape="1">
                  <a:gsLst>
                    <a:gs pos="10000">
                      <a:srgbClr val="3E2622"/>
                    </a:gs>
                    <a:gs pos="100000">
                      <a:srgbClr val="795547"/>
                    </a:gs>
                  </a:gsLst>
                  <a:lin ang="0" scaled="1"/>
                  <a:tileRect/>
                </a:gradFill>
              </a:rPr>
              <a:t/>
            </a:r>
            <a:br>
              <a:rPr lang="en-US" dirty="0">
                <a:gradFill flip="none" rotWithShape="1">
                  <a:gsLst>
                    <a:gs pos="10000">
                      <a:srgbClr val="3E2622"/>
                    </a:gs>
                    <a:gs pos="100000">
                      <a:srgbClr val="795547"/>
                    </a:gs>
                  </a:gsLst>
                  <a:lin ang="0" scaled="1"/>
                  <a:tileRect/>
                </a:gradFill>
              </a:rPr>
            </a:br>
            <a:r>
              <a:rPr lang="en-US" dirty="0">
                <a:gradFill flip="none" rotWithShape="1">
                  <a:gsLst>
                    <a:gs pos="10000">
                      <a:srgbClr val="3E2622"/>
                    </a:gs>
                    <a:gs pos="100000">
                      <a:srgbClr val="795547"/>
                    </a:gs>
                  </a:gsLst>
                  <a:lin ang="0" scaled="1"/>
                  <a:tileRect/>
                </a:gradFill>
              </a:rPr>
              <a:t/>
            </a:r>
            <a:br>
              <a:rPr lang="en-US" dirty="0">
                <a:gradFill flip="none" rotWithShape="1">
                  <a:gsLst>
                    <a:gs pos="10000">
                      <a:srgbClr val="3E2622"/>
                    </a:gs>
                    <a:gs pos="100000">
                      <a:srgbClr val="795547"/>
                    </a:gs>
                  </a:gsLst>
                  <a:lin ang="0" scaled="1"/>
                  <a:tileRect/>
                </a:gradFill>
              </a:rPr>
            </a:br>
            <a:r>
              <a:rPr lang="en-US" dirty="0">
                <a:gradFill flip="none" rotWithShape="1">
                  <a:gsLst>
                    <a:gs pos="10000">
                      <a:srgbClr val="3E2622"/>
                    </a:gs>
                    <a:gs pos="100000">
                      <a:srgbClr val="795547"/>
                    </a:gs>
                  </a:gsLst>
                  <a:lin ang="0" scaled="1"/>
                  <a:tileRect/>
                </a:gradFill>
              </a:rPr>
              <a:t/>
            </a:r>
            <a:br>
              <a:rPr lang="en-US" dirty="0">
                <a:gradFill flip="none" rotWithShape="1">
                  <a:gsLst>
                    <a:gs pos="10000">
                      <a:srgbClr val="3E2622"/>
                    </a:gs>
                    <a:gs pos="100000">
                      <a:srgbClr val="795547"/>
                    </a:gs>
                  </a:gsLst>
                  <a:lin ang="0" scaled="1"/>
                  <a:tileRect/>
                </a:gradFill>
              </a:rPr>
            </a:br>
            <a:r>
              <a:rPr lang="en-US" dirty="0">
                <a:gradFill flip="none" rotWithShape="1">
                  <a:gsLst>
                    <a:gs pos="10000">
                      <a:srgbClr val="3E2622"/>
                    </a:gs>
                    <a:gs pos="100000">
                      <a:srgbClr val="795547"/>
                    </a:gs>
                  </a:gsLst>
                  <a:lin ang="0" scaled="1"/>
                  <a:tileRect/>
                </a:gradFill>
              </a:rPr>
              <a:t/>
            </a:r>
            <a:br>
              <a:rPr lang="en-US" dirty="0">
                <a:gradFill flip="none" rotWithShape="1">
                  <a:gsLst>
                    <a:gs pos="10000">
                      <a:srgbClr val="3E2622"/>
                    </a:gs>
                    <a:gs pos="100000">
                      <a:srgbClr val="795547"/>
                    </a:gs>
                  </a:gsLst>
                  <a:lin ang="0" scaled="1"/>
                  <a:tileRect/>
                </a:gradFill>
              </a:rPr>
            </a:br>
            <a:r>
              <a:rPr lang="en-US" dirty="0">
                <a:gradFill flip="none" rotWithShape="1">
                  <a:gsLst>
                    <a:gs pos="10000">
                      <a:srgbClr val="3E2622"/>
                    </a:gs>
                    <a:gs pos="100000">
                      <a:srgbClr val="795547"/>
                    </a:gs>
                  </a:gsLst>
                  <a:lin ang="0" scaled="1"/>
                  <a:tileRect/>
                </a:gradFill>
              </a:rPr>
              <a:t/>
            </a:r>
            <a:br>
              <a:rPr lang="en-US" dirty="0">
                <a:gradFill flip="none" rotWithShape="1">
                  <a:gsLst>
                    <a:gs pos="10000">
                      <a:srgbClr val="3E2622"/>
                    </a:gs>
                    <a:gs pos="100000">
                      <a:srgbClr val="795547"/>
                    </a:gs>
                  </a:gsLst>
                  <a:lin ang="0" scaled="1"/>
                  <a:tileRect/>
                </a:gradFill>
              </a:rPr>
            </a:br>
            <a:r>
              <a:rPr lang="en-US" dirty="0">
                <a:gradFill flip="none" rotWithShape="1">
                  <a:gsLst>
                    <a:gs pos="10000">
                      <a:srgbClr val="3E2622"/>
                    </a:gs>
                    <a:gs pos="100000">
                      <a:srgbClr val="795547"/>
                    </a:gs>
                  </a:gsLst>
                  <a:lin ang="0" scaled="1"/>
                  <a:tileRect/>
                </a:gradFill>
              </a:rPr>
              <a:t/>
            </a:r>
            <a:br>
              <a:rPr lang="en-US" dirty="0">
                <a:gradFill flip="none" rotWithShape="1">
                  <a:gsLst>
                    <a:gs pos="10000">
                      <a:srgbClr val="3E2622"/>
                    </a:gs>
                    <a:gs pos="100000">
                      <a:srgbClr val="795547"/>
                    </a:gs>
                  </a:gsLst>
                  <a:lin ang="0" scaled="1"/>
                  <a:tileRect/>
                </a:gradFill>
              </a:rPr>
            </a:br>
            <a:r>
              <a:rPr lang="en-US" dirty="0">
                <a:gradFill flip="none" rotWithShape="1">
                  <a:gsLst>
                    <a:gs pos="10000">
                      <a:srgbClr val="3E2622"/>
                    </a:gs>
                    <a:gs pos="100000">
                      <a:srgbClr val="795547"/>
                    </a:gs>
                  </a:gsLst>
                  <a:lin ang="0" scaled="1"/>
                  <a:tileRect/>
                </a:gradFill>
              </a:rPr>
              <a:t/>
            </a:r>
            <a:br>
              <a:rPr lang="en-US" dirty="0">
                <a:gradFill flip="none" rotWithShape="1">
                  <a:gsLst>
                    <a:gs pos="10000">
                      <a:srgbClr val="3E2622"/>
                    </a:gs>
                    <a:gs pos="100000">
                      <a:srgbClr val="795547"/>
                    </a:gs>
                  </a:gsLst>
                  <a:lin ang="0" scaled="1"/>
                  <a:tileRect/>
                </a:gradFill>
              </a:rPr>
            </a:br>
            <a:r>
              <a:rPr lang="en-US" dirty="0">
                <a:gradFill flip="none" rotWithShape="1">
                  <a:gsLst>
                    <a:gs pos="10000">
                      <a:srgbClr val="3E2622"/>
                    </a:gs>
                    <a:gs pos="100000">
                      <a:srgbClr val="795547"/>
                    </a:gs>
                  </a:gsLst>
                  <a:lin ang="0" scaled="1"/>
                  <a:tileRect/>
                </a:gradFill>
              </a:rPr>
              <a:t/>
            </a:r>
            <a:br>
              <a:rPr lang="en-US" dirty="0">
                <a:gradFill flip="none" rotWithShape="1">
                  <a:gsLst>
                    <a:gs pos="10000">
                      <a:srgbClr val="3E2622"/>
                    </a:gs>
                    <a:gs pos="100000">
                      <a:srgbClr val="795547"/>
                    </a:gs>
                  </a:gsLst>
                  <a:lin ang="0" scaled="1"/>
                  <a:tileRect/>
                </a:gradFill>
              </a:rPr>
            </a:br>
            <a:r>
              <a:rPr lang="en-US" dirty="0">
                <a:gradFill flip="none" rotWithShape="1">
                  <a:gsLst>
                    <a:gs pos="10000">
                      <a:srgbClr val="3E2622"/>
                    </a:gs>
                    <a:gs pos="100000">
                      <a:srgbClr val="795547"/>
                    </a:gs>
                  </a:gsLst>
                  <a:lin ang="0" scaled="1"/>
                  <a:tileRect/>
                </a:gradFill>
              </a:rPr>
              <a:t/>
            </a:r>
            <a:br>
              <a:rPr lang="en-US" dirty="0">
                <a:gradFill flip="none" rotWithShape="1">
                  <a:gsLst>
                    <a:gs pos="10000">
                      <a:srgbClr val="3E2622"/>
                    </a:gs>
                    <a:gs pos="100000">
                      <a:srgbClr val="795547"/>
                    </a:gs>
                  </a:gsLst>
                  <a:lin ang="0" scaled="1"/>
                  <a:tileRect/>
                </a:gradFill>
              </a:rPr>
            </a:br>
            <a:r>
              <a:rPr lang="en-US" dirty="0">
                <a:gradFill flip="none" rotWithShape="1">
                  <a:gsLst>
                    <a:gs pos="10000">
                      <a:srgbClr val="3E2622"/>
                    </a:gs>
                    <a:gs pos="100000">
                      <a:srgbClr val="795547"/>
                    </a:gs>
                  </a:gsLst>
                  <a:lin ang="0" scaled="1"/>
                  <a:tileRect/>
                </a:gradFill>
              </a:rPr>
              <a:t/>
            </a:r>
            <a:br>
              <a:rPr lang="en-US" dirty="0">
                <a:gradFill flip="none" rotWithShape="1">
                  <a:gsLst>
                    <a:gs pos="10000">
                      <a:srgbClr val="3E2622"/>
                    </a:gs>
                    <a:gs pos="100000">
                      <a:srgbClr val="795547"/>
                    </a:gs>
                  </a:gsLst>
                  <a:lin ang="0" scaled="1"/>
                  <a:tileRect/>
                </a:gradFill>
              </a:rPr>
            </a:br>
            <a:r>
              <a:rPr lang="en-US" dirty="0">
                <a:gradFill flip="none" rotWithShape="1">
                  <a:gsLst>
                    <a:gs pos="10000">
                      <a:srgbClr val="3E2622"/>
                    </a:gs>
                    <a:gs pos="100000">
                      <a:srgbClr val="795547"/>
                    </a:gs>
                  </a:gsLst>
                  <a:lin ang="0" scaled="1"/>
                  <a:tileRect/>
                </a:gradFill>
              </a:rPr>
              <a:t/>
            </a:r>
            <a:br>
              <a:rPr lang="en-US" dirty="0">
                <a:gradFill flip="none" rotWithShape="1">
                  <a:gsLst>
                    <a:gs pos="10000">
                      <a:srgbClr val="3E2622"/>
                    </a:gs>
                    <a:gs pos="100000">
                      <a:srgbClr val="795547"/>
                    </a:gs>
                  </a:gsLst>
                  <a:lin ang="0" scaled="1"/>
                  <a:tileRect/>
                </a:gradFill>
              </a:rPr>
            </a:br>
            <a:r>
              <a:rPr lang="en-US" dirty="0">
                <a:gradFill flip="none" rotWithShape="1">
                  <a:gsLst>
                    <a:gs pos="10000">
                      <a:srgbClr val="3E2622"/>
                    </a:gs>
                    <a:gs pos="100000">
                      <a:srgbClr val="795547"/>
                    </a:gs>
                  </a:gsLst>
                  <a:lin ang="0" scaled="1"/>
                  <a:tileRect/>
                </a:gradFill>
              </a:rPr>
              <a:t/>
            </a:r>
            <a:br>
              <a:rPr lang="en-US" dirty="0">
                <a:gradFill flip="none" rotWithShape="1">
                  <a:gsLst>
                    <a:gs pos="10000">
                      <a:srgbClr val="3E2622"/>
                    </a:gs>
                    <a:gs pos="100000">
                      <a:srgbClr val="795547"/>
                    </a:gs>
                  </a:gsLst>
                  <a:lin ang="0" scaled="1"/>
                  <a:tileRect/>
                </a:gradFill>
              </a:rPr>
            </a:br>
            <a:r>
              <a:rPr lang="en-US" dirty="0">
                <a:gradFill flip="none" rotWithShape="1">
                  <a:gsLst>
                    <a:gs pos="10000">
                      <a:srgbClr val="3E2622"/>
                    </a:gs>
                    <a:gs pos="100000">
                      <a:srgbClr val="795547"/>
                    </a:gs>
                  </a:gsLst>
                  <a:lin ang="0" scaled="1"/>
                  <a:tileRect/>
                </a:gradFill>
              </a:rPr>
              <a:t/>
            </a:r>
            <a:br>
              <a:rPr lang="en-US" dirty="0">
                <a:gradFill flip="none" rotWithShape="1">
                  <a:gsLst>
                    <a:gs pos="10000">
                      <a:srgbClr val="3E2622"/>
                    </a:gs>
                    <a:gs pos="100000">
                      <a:srgbClr val="795547"/>
                    </a:gs>
                  </a:gsLst>
                  <a:lin ang="0" scaled="1"/>
                  <a:tileRect/>
                </a:gradFill>
              </a:rPr>
            </a:br>
            <a:r>
              <a:rPr lang="en-US" dirty="0">
                <a:gradFill flip="none" rotWithShape="1">
                  <a:gsLst>
                    <a:gs pos="10000">
                      <a:srgbClr val="3E2622"/>
                    </a:gs>
                    <a:gs pos="100000">
                      <a:srgbClr val="795547"/>
                    </a:gs>
                  </a:gsLst>
                  <a:lin ang="0" scaled="1"/>
                  <a:tileRect/>
                </a:gradFill>
              </a:rPr>
              <a:t/>
            </a:r>
            <a:br>
              <a:rPr lang="en-US" dirty="0">
                <a:gradFill flip="none" rotWithShape="1">
                  <a:gsLst>
                    <a:gs pos="10000">
                      <a:srgbClr val="3E2622"/>
                    </a:gs>
                    <a:gs pos="100000">
                      <a:srgbClr val="795547"/>
                    </a:gs>
                  </a:gsLst>
                  <a:lin ang="0" scaled="1"/>
                  <a:tileRect/>
                </a:gradFill>
              </a:rPr>
            </a:br>
            <a:r>
              <a:rPr lang="en-US" dirty="0">
                <a:gradFill flip="none" rotWithShape="1">
                  <a:gsLst>
                    <a:gs pos="10000">
                      <a:srgbClr val="3E2622"/>
                    </a:gs>
                    <a:gs pos="100000">
                      <a:srgbClr val="795547"/>
                    </a:gs>
                  </a:gsLst>
                  <a:lin ang="0" scaled="1"/>
                  <a:tileRect/>
                </a:gradFill>
              </a:rPr>
              <a:t/>
            </a:r>
            <a:br>
              <a:rPr lang="en-US" dirty="0">
                <a:gradFill flip="none" rotWithShape="1">
                  <a:gsLst>
                    <a:gs pos="10000">
                      <a:srgbClr val="3E2622"/>
                    </a:gs>
                    <a:gs pos="100000">
                      <a:srgbClr val="795547"/>
                    </a:gs>
                  </a:gsLst>
                  <a:lin ang="0" scaled="1"/>
                  <a:tileRect/>
                </a:gradFill>
              </a:rPr>
            </a:br>
            <a:r>
              <a:rPr lang="en-US" dirty="0">
                <a:gradFill flip="none" rotWithShape="1">
                  <a:gsLst>
                    <a:gs pos="10000">
                      <a:srgbClr val="3E2622"/>
                    </a:gs>
                    <a:gs pos="100000">
                      <a:srgbClr val="795547"/>
                    </a:gs>
                  </a:gsLst>
                  <a:lin ang="0" scaled="1"/>
                  <a:tileRect/>
                </a:gradFill>
              </a:rPr>
              <a:t/>
            </a:r>
            <a:br>
              <a:rPr lang="en-US" dirty="0">
                <a:gradFill flip="none" rotWithShape="1">
                  <a:gsLst>
                    <a:gs pos="10000">
                      <a:srgbClr val="3E2622"/>
                    </a:gs>
                    <a:gs pos="100000">
                      <a:srgbClr val="795547"/>
                    </a:gs>
                  </a:gsLst>
                  <a:lin ang="0" scaled="1"/>
                  <a:tileRect/>
                </a:gradFill>
              </a:rPr>
            </a:br>
            <a:r>
              <a:rPr lang="en-US" dirty="0">
                <a:gradFill flip="none" rotWithShape="1">
                  <a:gsLst>
                    <a:gs pos="10000">
                      <a:srgbClr val="3E2622"/>
                    </a:gs>
                    <a:gs pos="100000">
                      <a:srgbClr val="795547"/>
                    </a:gs>
                  </a:gsLst>
                  <a:lin ang="0" scaled="1"/>
                  <a:tileRect/>
                </a:gradFill>
              </a:rPr>
              <a:t/>
            </a:r>
            <a:br>
              <a:rPr lang="en-US" dirty="0">
                <a:gradFill flip="none" rotWithShape="1">
                  <a:gsLst>
                    <a:gs pos="10000">
                      <a:srgbClr val="3E2622"/>
                    </a:gs>
                    <a:gs pos="100000">
                      <a:srgbClr val="795547"/>
                    </a:gs>
                  </a:gsLst>
                  <a:lin ang="0" scaled="1"/>
                  <a:tileRect/>
                </a:gradFill>
              </a:rPr>
            </a:br>
            <a:r>
              <a:rPr lang="en-US" dirty="0">
                <a:gradFill flip="none" rotWithShape="1">
                  <a:gsLst>
                    <a:gs pos="10000">
                      <a:srgbClr val="3E2622"/>
                    </a:gs>
                    <a:gs pos="100000">
                      <a:srgbClr val="795547"/>
                    </a:gs>
                  </a:gsLst>
                  <a:lin ang="0" scaled="1"/>
                  <a:tileRect/>
                </a:gradFill>
              </a:rPr>
              <a:t/>
            </a:r>
            <a:br>
              <a:rPr lang="en-US" dirty="0">
                <a:gradFill flip="none" rotWithShape="1">
                  <a:gsLst>
                    <a:gs pos="10000">
                      <a:srgbClr val="3E2622"/>
                    </a:gs>
                    <a:gs pos="100000">
                      <a:srgbClr val="795547"/>
                    </a:gs>
                  </a:gsLst>
                  <a:lin ang="0" scaled="1"/>
                  <a:tileRect/>
                </a:gradFill>
              </a:rPr>
            </a:br>
            <a:r>
              <a:rPr lang="en-US" dirty="0">
                <a:gradFill flip="none" rotWithShape="1">
                  <a:gsLst>
                    <a:gs pos="10000">
                      <a:srgbClr val="3E2622"/>
                    </a:gs>
                    <a:gs pos="100000">
                      <a:srgbClr val="795547"/>
                    </a:gs>
                  </a:gsLst>
                  <a:lin ang="0" scaled="1"/>
                  <a:tileRect/>
                </a:gradFill>
              </a:rPr>
              <a:t/>
            </a:r>
            <a:br>
              <a:rPr lang="en-US" dirty="0">
                <a:gradFill flip="none" rotWithShape="1">
                  <a:gsLst>
                    <a:gs pos="10000">
                      <a:srgbClr val="3E2622"/>
                    </a:gs>
                    <a:gs pos="100000">
                      <a:srgbClr val="795547"/>
                    </a:gs>
                  </a:gsLst>
                  <a:lin ang="0" scaled="1"/>
                  <a:tileRect/>
                </a:gradFill>
              </a:rPr>
            </a:br>
            <a:r>
              <a:rPr lang="en-US" dirty="0">
                <a:gradFill flip="none" rotWithShape="1">
                  <a:gsLst>
                    <a:gs pos="10000">
                      <a:srgbClr val="3E2622"/>
                    </a:gs>
                    <a:gs pos="100000">
                      <a:srgbClr val="795547"/>
                    </a:gs>
                  </a:gsLst>
                  <a:lin ang="0" scaled="1"/>
                  <a:tileRect/>
                </a:gradFill>
              </a:rPr>
              <a:t/>
            </a:r>
            <a:br>
              <a:rPr lang="en-US" dirty="0">
                <a:gradFill flip="none" rotWithShape="1">
                  <a:gsLst>
                    <a:gs pos="10000">
                      <a:srgbClr val="3E2622"/>
                    </a:gs>
                    <a:gs pos="100000">
                      <a:srgbClr val="795547"/>
                    </a:gs>
                  </a:gsLst>
                  <a:lin ang="0" scaled="1"/>
                  <a:tileRect/>
                </a:gradFill>
              </a:rPr>
            </a:br>
            <a:r>
              <a:rPr lang="en-US" dirty="0">
                <a:gradFill flip="none" rotWithShape="1">
                  <a:gsLst>
                    <a:gs pos="10000">
                      <a:srgbClr val="3E2622"/>
                    </a:gs>
                    <a:gs pos="100000">
                      <a:srgbClr val="795547"/>
                    </a:gs>
                  </a:gsLst>
                  <a:lin ang="0" scaled="1"/>
                  <a:tileRect/>
                </a:gradFill>
              </a:rPr>
              <a:t/>
            </a:r>
            <a:br>
              <a:rPr lang="en-US" dirty="0">
                <a:gradFill flip="none" rotWithShape="1">
                  <a:gsLst>
                    <a:gs pos="10000">
                      <a:srgbClr val="3E2622"/>
                    </a:gs>
                    <a:gs pos="100000">
                      <a:srgbClr val="795547"/>
                    </a:gs>
                  </a:gsLst>
                  <a:lin ang="0" scaled="1"/>
                  <a:tileRect/>
                </a:gradFill>
              </a:rPr>
            </a:br>
            <a:r>
              <a:rPr lang="en-US" dirty="0">
                <a:gradFill flip="none" rotWithShape="1">
                  <a:gsLst>
                    <a:gs pos="10000">
                      <a:srgbClr val="3E2622"/>
                    </a:gs>
                    <a:gs pos="100000">
                      <a:srgbClr val="795547"/>
                    </a:gs>
                  </a:gsLst>
                  <a:lin ang="0" scaled="1"/>
                  <a:tileRect/>
                </a:gradFill>
              </a:rPr>
              <a:t/>
            </a:r>
            <a:br>
              <a:rPr lang="en-US" dirty="0">
                <a:gradFill flip="none" rotWithShape="1">
                  <a:gsLst>
                    <a:gs pos="10000">
                      <a:srgbClr val="3E2622"/>
                    </a:gs>
                    <a:gs pos="100000">
                      <a:srgbClr val="795547"/>
                    </a:gs>
                  </a:gsLst>
                  <a:lin ang="0" scaled="1"/>
                  <a:tileRect/>
                </a:gradFill>
              </a:rPr>
            </a:br>
            <a:r>
              <a:rPr lang="en-US" dirty="0">
                <a:gradFill flip="none" rotWithShape="1">
                  <a:gsLst>
                    <a:gs pos="10000">
                      <a:srgbClr val="3E2622"/>
                    </a:gs>
                    <a:gs pos="100000">
                      <a:srgbClr val="795547"/>
                    </a:gs>
                  </a:gsLst>
                  <a:lin ang="0" scaled="1"/>
                  <a:tileRect/>
                </a:gradFill>
              </a:rPr>
              <a:t/>
            </a:r>
            <a:br>
              <a:rPr lang="en-US" dirty="0">
                <a:gradFill flip="none" rotWithShape="1">
                  <a:gsLst>
                    <a:gs pos="10000">
                      <a:srgbClr val="3E2622"/>
                    </a:gs>
                    <a:gs pos="100000">
                      <a:srgbClr val="795547"/>
                    </a:gs>
                  </a:gsLst>
                  <a:lin ang="0" scaled="1"/>
                  <a:tileRect/>
                </a:gradFill>
              </a:rPr>
            </a:br>
            <a:r>
              <a:rPr lang="en-US" dirty="0">
                <a:gradFill flip="none" rotWithShape="1">
                  <a:gsLst>
                    <a:gs pos="10000">
                      <a:srgbClr val="3E2622"/>
                    </a:gs>
                    <a:gs pos="100000">
                      <a:srgbClr val="795547"/>
                    </a:gs>
                  </a:gsLst>
                  <a:lin ang="0" scaled="1"/>
                  <a:tileRect/>
                </a:gradFill>
              </a:rPr>
              <a:t>I/O Buffering</a:t>
            </a:r>
          </a:p>
        </p:txBody>
      </p:sp>
      <p:sp>
        <p:nvSpPr>
          <p:cNvPr id="4" name="Text Placeholder 3">
            <a:extLst>
              <a:ext uri="{FF2B5EF4-FFF2-40B4-BE49-F238E27FC236}">
                <a16:creationId xmlns:a16="http://schemas.microsoft.com/office/drawing/2014/main" id="{086CBD58-822B-C51D-AC23-8FC23BBFC17C}"/>
              </a:ext>
            </a:extLst>
          </p:cNvPr>
          <p:cNvSpPr>
            <a:spLocks noGrp="1"/>
          </p:cNvSpPr>
          <p:nvPr>
            <p:ph type="body" idx="1"/>
          </p:nvPr>
        </p:nvSpPr>
        <p:spPr/>
        <p:txBody>
          <a:bodyPr/>
          <a:lstStyle/>
          <a:p>
            <a:r>
              <a:rPr lang="en-US" dirty="0"/>
              <a:t>Section - 2</a:t>
            </a:r>
          </a:p>
        </p:txBody>
      </p:sp>
    </p:spTree>
    <p:extLst>
      <p:ext uri="{BB962C8B-B14F-4D97-AF65-F5344CB8AC3E}">
        <p14:creationId xmlns:p14="http://schemas.microsoft.com/office/powerpoint/2010/main" val="5890877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10E4E0-8495-679F-2B86-2E091F2B9A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FFF76E-A852-C955-B2BC-FED5F52C65CD}"/>
              </a:ext>
            </a:extLst>
          </p:cNvPr>
          <p:cNvSpPr>
            <a:spLocks noGrp="1"/>
          </p:cNvSpPr>
          <p:nvPr>
            <p:ph type="title"/>
          </p:nvPr>
        </p:nvSpPr>
        <p:spPr>
          <a:xfrm>
            <a:off x="0" y="1"/>
            <a:ext cx="12192000" cy="711200"/>
          </a:xfrm>
        </p:spPr>
        <p:txBody>
          <a:bodyPr/>
          <a:lstStyle/>
          <a:p>
            <a:r>
              <a:rPr lang="en-US" sz="3200" dirty="0"/>
              <a:t>Buffering</a:t>
            </a:r>
            <a:endParaRPr lang="en-US" dirty="0"/>
          </a:p>
        </p:txBody>
      </p:sp>
      <p:sp>
        <p:nvSpPr>
          <p:cNvPr id="3" name="Content Placeholder 2">
            <a:extLst>
              <a:ext uri="{FF2B5EF4-FFF2-40B4-BE49-F238E27FC236}">
                <a16:creationId xmlns:a16="http://schemas.microsoft.com/office/drawing/2014/main" id="{50FAA697-2811-15F7-EEE9-7C0597161EAB}"/>
              </a:ext>
            </a:extLst>
          </p:cNvPr>
          <p:cNvSpPr>
            <a:spLocks noGrp="1"/>
          </p:cNvSpPr>
          <p:nvPr>
            <p:ph idx="1"/>
          </p:nvPr>
        </p:nvSpPr>
        <p:spPr>
          <a:xfrm>
            <a:off x="131180" y="863444"/>
            <a:ext cx="12060820" cy="5590565"/>
          </a:xfrm>
        </p:spPr>
        <p:txBody>
          <a:bodyPr/>
          <a:lstStyle/>
          <a:p>
            <a:r>
              <a:rPr lang="en-US" dirty="0"/>
              <a:t>A </a:t>
            </a:r>
            <a:r>
              <a:rPr lang="en-US" b="1" dirty="0">
                <a:solidFill>
                  <a:schemeClr val="accent6"/>
                </a:solidFill>
              </a:rPr>
              <a:t>buffer</a:t>
            </a:r>
            <a:r>
              <a:rPr lang="en-US" dirty="0"/>
              <a:t> is a temporary memory region that </a:t>
            </a:r>
            <a:r>
              <a:rPr lang="en-US" b="1" dirty="0">
                <a:solidFill>
                  <a:schemeClr val="accent6"/>
                </a:solidFill>
              </a:rPr>
              <a:t>stores data </a:t>
            </a:r>
            <a:r>
              <a:rPr lang="en-US" dirty="0"/>
              <a:t>while it is being transferred between:</a:t>
            </a:r>
          </a:p>
          <a:p>
            <a:pPr lvl="1"/>
            <a:r>
              <a:rPr lang="en-US" sz="2200" dirty="0"/>
              <a:t>Two devices (e.g., disk and network interface),</a:t>
            </a:r>
          </a:p>
          <a:p>
            <a:pPr lvl="1"/>
            <a:r>
              <a:rPr lang="en-US" sz="2200" dirty="0"/>
              <a:t>A device and an application, or</a:t>
            </a:r>
          </a:p>
          <a:p>
            <a:pPr lvl="1"/>
            <a:r>
              <a:rPr lang="en-US" sz="2200" dirty="0"/>
              <a:t>Between processes.</a:t>
            </a:r>
            <a:endParaRPr lang="en-US" dirty="0"/>
          </a:p>
          <a:p>
            <a:r>
              <a:rPr lang="en-US" dirty="0"/>
              <a:t>I/O buffering is a technique used to </a:t>
            </a:r>
            <a:r>
              <a:rPr lang="en-US" b="1" dirty="0">
                <a:solidFill>
                  <a:schemeClr val="accent6"/>
                </a:solidFill>
              </a:rPr>
              <a:t>synchronize data transfer speeds </a:t>
            </a:r>
            <a:r>
              <a:rPr lang="en-US" dirty="0"/>
              <a:t>between:</a:t>
            </a:r>
          </a:p>
          <a:p>
            <a:pPr lvl="1"/>
            <a:r>
              <a:rPr lang="en-US" sz="2200" b="1" dirty="0">
                <a:solidFill>
                  <a:schemeClr val="accent6"/>
                </a:solidFill>
              </a:rPr>
              <a:t>Fast components</a:t>
            </a:r>
            <a:r>
              <a:rPr lang="en-US" sz="2200" dirty="0">
                <a:solidFill>
                  <a:schemeClr val="accent6"/>
                </a:solidFill>
              </a:rPr>
              <a:t> </a:t>
            </a:r>
            <a:r>
              <a:rPr lang="en-US" sz="2200" dirty="0"/>
              <a:t>(CPU, RAM) and</a:t>
            </a:r>
          </a:p>
          <a:p>
            <a:pPr lvl="1"/>
            <a:r>
              <a:rPr lang="en-US" sz="2200" b="1" dirty="0">
                <a:solidFill>
                  <a:schemeClr val="accent6"/>
                </a:solidFill>
              </a:rPr>
              <a:t>Slow components</a:t>
            </a:r>
            <a:r>
              <a:rPr lang="en-US" sz="2200" dirty="0">
                <a:solidFill>
                  <a:schemeClr val="accent6"/>
                </a:solidFill>
              </a:rPr>
              <a:t> </a:t>
            </a:r>
            <a:r>
              <a:rPr lang="en-US" sz="2200" dirty="0"/>
              <a:t>(hard disks, printers, network devices).</a:t>
            </a:r>
          </a:p>
          <a:p>
            <a:r>
              <a:rPr lang="en-US" dirty="0"/>
              <a:t>Buffering </a:t>
            </a:r>
            <a:r>
              <a:rPr lang="en-US" b="1" dirty="0">
                <a:solidFill>
                  <a:schemeClr val="accent6"/>
                </a:solidFill>
              </a:rPr>
              <a:t>enhances</a:t>
            </a:r>
            <a:r>
              <a:rPr lang="en-US" dirty="0"/>
              <a:t> data transfer </a:t>
            </a:r>
            <a:r>
              <a:rPr lang="en-US" b="1" dirty="0">
                <a:solidFill>
                  <a:schemeClr val="accent6"/>
                </a:solidFill>
              </a:rPr>
              <a:t>efficiency</a:t>
            </a:r>
            <a:r>
              <a:rPr lang="en-US" dirty="0"/>
              <a:t> by temporarily storing data in a </a:t>
            </a:r>
            <a:r>
              <a:rPr lang="en-US" b="1" dirty="0">
                <a:solidFill>
                  <a:schemeClr val="accent6"/>
                </a:solidFill>
              </a:rPr>
              <a:t>reserved memory area</a:t>
            </a:r>
            <a:r>
              <a:rPr lang="en-US" dirty="0"/>
              <a:t>.</a:t>
            </a:r>
          </a:p>
          <a:p>
            <a:r>
              <a:rPr lang="en-US" dirty="0"/>
              <a:t>This allows the CPU and I/O devices to work at their speeds without having to wait for each other</a:t>
            </a:r>
            <a:r>
              <a:rPr lang="en-US" dirty="0">
                <a:solidFill>
                  <a:schemeClr val="accent6"/>
                </a:solidFill>
              </a:rPr>
              <a:t> </a:t>
            </a:r>
            <a:r>
              <a:rPr lang="en-US" b="1" dirty="0">
                <a:solidFill>
                  <a:schemeClr val="accent6"/>
                </a:solidFill>
              </a:rPr>
              <a:t>improving overall system performance.</a:t>
            </a:r>
          </a:p>
          <a:p>
            <a:endParaRPr lang="en-US" b="1" dirty="0">
              <a:solidFill>
                <a:schemeClr val="accent6"/>
              </a:solidFill>
            </a:endParaRPr>
          </a:p>
        </p:txBody>
      </p:sp>
    </p:spTree>
    <p:extLst>
      <p:ext uri="{BB962C8B-B14F-4D97-AF65-F5344CB8AC3E}">
        <p14:creationId xmlns:p14="http://schemas.microsoft.com/office/powerpoint/2010/main" val="19349474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980F4B-A2B4-9E53-4321-AED656AC82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96A4F4-2D1E-84A7-96A6-156662BEF6EB}"/>
              </a:ext>
            </a:extLst>
          </p:cNvPr>
          <p:cNvSpPr>
            <a:spLocks noGrp="1"/>
          </p:cNvSpPr>
          <p:nvPr>
            <p:ph type="title"/>
          </p:nvPr>
        </p:nvSpPr>
        <p:spPr>
          <a:xfrm>
            <a:off x="0" y="1"/>
            <a:ext cx="12192000" cy="711200"/>
          </a:xfrm>
        </p:spPr>
        <p:txBody>
          <a:bodyPr/>
          <a:lstStyle/>
          <a:p>
            <a:r>
              <a:rPr lang="en-US" sz="3200" dirty="0"/>
              <a:t>Buffering</a:t>
            </a:r>
            <a:endParaRPr lang="en-US" dirty="0"/>
          </a:p>
        </p:txBody>
      </p:sp>
      <p:sp>
        <p:nvSpPr>
          <p:cNvPr id="3" name="Content Placeholder 2">
            <a:extLst>
              <a:ext uri="{FF2B5EF4-FFF2-40B4-BE49-F238E27FC236}">
                <a16:creationId xmlns:a16="http://schemas.microsoft.com/office/drawing/2014/main" id="{6B3E0002-3926-6D8D-3FB4-CD5DC257F140}"/>
              </a:ext>
            </a:extLst>
          </p:cNvPr>
          <p:cNvSpPr>
            <a:spLocks noGrp="1"/>
          </p:cNvSpPr>
          <p:nvPr>
            <p:ph idx="1"/>
          </p:nvPr>
        </p:nvSpPr>
        <p:spPr>
          <a:xfrm>
            <a:off x="131180" y="863444"/>
            <a:ext cx="7389293" cy="5590565"/>
          </a:xfrm>
        </p:spPr>
        <p:txBody>
          <a:bodyPr/>
          <a:lstStyle/>
          <a:p>
            <a:r>
              <a:rPr lang="en-US" dirty="0"/>
              <a:t>A </a:t>
            </a:r>
            <a:r>
              <a:rPr lang="en-US" b="1" dirty="0">
                <a:solidFill>
                  <a:schemeClr val="accent6"/>
                </a:solidFill>
              </a:rPr>
              <a:t>buffer</a:t>
            </a:r>
            <a:r>
              <a:rPr lang="en-US" dirty="0"/>
              <a:t> is a </a:t>
            </a:r>
            <a:r>
              <a:rPr lang="en-US" b="1" dirty="0">
                <a:solidFill>
                  <a:schemeClr val="accent6"/>
                </a:solidFill>
              </a:rPr>
              <a:t>temporary storage area </a:t>
            </a:r>
            <a:r>
              <a:rPr lang="en-US" dirty="0"/>
              <a:t>in</a:t>
            </a:r>
            <a:r>
              <a:rPr lang="en-US" b="1" dirty="0">
                <a:solidFill>
                  <a:schemeClr val="accent6"/>
                </a:solidFill>
              </a:rPr>
              <a:t> main memory </a:t>
            </a:r>
            <a:r>
              <a:rPr lang="en-US" b="1" dirty="0"/>
              <a:t>(</a:t>
            </a:r>
            <a:r>
              <a:rPr lang="en-US" b="1" dirty="0">
                <a:solidFill>
                  <a:schemeClr val="tx2"/>
                </a:solidFill>
              </a:rPr>
              <a:t>RAM</a:t>
            </a:r>
            <a:r>
              <a:rPr lang="en-US" b="1" dirty="0"/>
              <a:t>)</a:t>
            </a:r>
            <a:r>
              <a:rPr lang="en-US" dirty="0"/>
              <a:t> that holds data during I/O operations.</a:t>
            </a:r>
          </a:p>
          <a:p>
            <a:r>
              <a:rPr lang="en-US" b="1" dirty="0"/>
              <a:t>Types of I/O buffering:</a:t>
            </a:r>
          </a:p>
          <a:p>
            <a:pPr lvl="1"/>
            <a:r>
              <a:rPr lang="en-US" sz="2200" b="1" dirty="0">
                <a:solidFill>
                  <a:schemeClr val="tx2"/>
                </a:solidFill>
              </a:rPr>
              <a:t>Block oriented</a:t>
            </a:r>
            <a:r>
              <a:rPr lang="en-US" sz="2200" dirty="0"/>
              <a:t>: Transfer data in </a:t>
            </a:r>
            <a:r>
              <a:rPr lang="en-US" sz="2200" b="1" dirty="0">
                <a:solidFill>
                  <a:schemeClr val="accent6"/>
                </a:solidFill>
              </a:rPr>
              <a:t>fixed-size blocks</a:t>
            </a:r>
            <a:r>
              <a:rPr lang="en-US" sz="2200" dirty="0">
                <a:solidFill>
                  <a:schemeClr val="accent6"/>
                </a:solidFill>
              </a:rPr>
              <a:t> </a:t>
            </a:r>
            <a:r>
              <a:rPr lang="en-US" sz="2200" dirty="0"/>
              <a:t>(e.g., 512B, 4KB). and </a:t>
            </a:r>
            <a:r>
              <a:rPr lang="en-US" sz="2200" b="1" dirty="0">
                <a:solidFill>
                  <a:schemeClr val="accent6"/>
                </a:solidFill>
              </a:rPr>
              <a:t>transfers are made one block at a time</a:t>
            </a:r>
            <a:r>
              <a:rPr lang="en-US" sz="2200" dirty="0"/>
              <a:t>. </a:t>
            </a:r>
          </a:p>
          <a:p>
            <a:pPr lvl="1"/>
            <a:r>
              <a:rPr lang="en-US" sz="2200" b="1" dirty="0">
                <a:solidFill>
                  <a:schemeClr val="accent6"/>
                </a:solidFill>
              </a:rPr>
              <a:t>Hard disks</a:t>
            </a:r>
            <a:r>
              <a:rPr lang="en-US" sz="2200" b="1" dirty="0"/>
              <a:t>,</a:t>
            </a:r>
            <a:r>
              <a:rPr lang="en-US" sz="2200" b="1" dirty="0">
                <a:solidFill>
                  <a:schemeClr val="accent6"/>
                </a:solidFill>
              </a:rPr>
              <a:t> floppy disks and drives </a:t>
            </a:r>
            <a:r>
              <a:rPr lang="en-US" sz="2200" dirty="0"/>
              <a:t>are block oriented devices. </a:t>
            </a:r>
          </a:p>
          <a:p>
            <a:pPr marL="800100" lvl="1" indent="0">
              <a:buNone/>
            </a:pPr>
            <a:endParaRPr lang="en-US" sz="2200" dirty="0"/>
          </a:p>
          <a:p>
            <a:pPr lvl="1"/>
            <a:r>
              <a:rPr lang="en-US" sz="2200" b="1" dirty="0">
                <a:solidFill>
                  <a:schemeClr val="tx2"/>
                </a:solidFill>
              </a:rPr>
              <a:t>Stream oriented</a:t>
            </a:r>
            <a:r>
              <a:rPr lang="en-US" sz="2200" dirty="0"/>
              <a:t>: A stream-oriented device </a:t>
            </a:r>
            <a:r>
              <a:rPr lang="en-IN" sz="2200" dirty="0"/>
              <a:t>Transfer data as a </a:t>
            </a:r>
            <a:r>
              <a:rPr lang="en-IN" sz="2200" b="1" dirty="0">
                <a:solidFill>
                  <a:schemeClr val="accent6"/>
                </a:solidFill>
              </a:rPr>
              <a:t>continuous byte stream</a:t>
            </a:r>
            <a:r>
              <a:rPr lang="en-IN" sz="2200" dirty="0">
                <a:solidFill>
                  <a:schemeClr val="accent6"/>
                </a:solidFill>
              </a:rPr>
              <a:t> </a:t>
            </a:r>
            <a:r>
              <a:rPr lang="en-IN" sz="2200" dirty="0"/>
              <a:t>(no fixed blocks).</a:t>
            </a:r>
            <a:endParaRPr lang="en-US" sz="2200" dirty="0"/>
          </a:p>
          <a:p>
            <a:pPr lvl="1"/>
            <a:r>
              <a:rPr lang="en-US" sz="2200" b="1" dirty="0">
                <a:solidFill>
                  <a:schemeClr val="accent6"/>
                </a:solidFill>
              </a:rPr>
              <a:t>Terminals</a:t>
            </a:r>
            <a:r>
              <a:rPr lang="en-US" sz="2200" b="1" dirty="0"/>
              <a:t>,</a:t>
            </a:r>
            <a:r>
              <a:rPr lang="en-US" sz="2200" b="1" dirty="0">
                <a:solidFill>
                  <a:schemeClr val="accent6"/>
                </a:solidFill>
              </a:rPr>
              <a:t> printers</a:t>
            </a:r>
            <a:r>
              <a:rPr lang="en-US" sz="2200" b="1" dirty="0"/>
              <a:t>,</a:t>
            </a:r>
            <a:r>
              <a:rPr lang="en-US" sz="2200" b="1" dirty="0">
                <a:solidFill>
                  <a:schemeClr val="accent6"/>
                </a:solidFill>
              </a:rPr>
              <a:t> communications ports</a:t>
            </a:r>
            <a:r>
              <a:rPr lang="en-US" sz="2200" b="1" dirty="0"/>
              <a:t>,</a:t>
            </a:r>
            <a:r>
              <a:rPr lang="en-US" sz="2200" b="1" dirty="0">
                <a:solidFill>
                  <a:schemeClr val="accent6"/>
                </a:solidFill>
              </a:rPr>
              <a:t> keyboard</a:t>
            </a:r>
            <a:r>
              <a:rPr lang="en-US" sz="2200" b="1" dirty="0"/>
              <a:t>, </a:t>
            </a:r>
            <a:r>
              <a:rPr lang="en-US" sz="2200" b="1" dirty="0">
                <a:solidFill>
                  <a:schemeClr val="accent6"/>
                </a:solidFill>
              </a:rPr>
              <a:t>mouse </a:t>
            </a:r>
            <a:r>
              <a:rPr lang="en-US" sz="2200" dirty="0"/>
              <a:t>and</a:t>
            </a:r>
            <a:r>
              <a:rPr lang="en-US" sz="2200" b="1" dirty="0">
                <a:solidFill>
                  <a:schemeClr val="accent6"/>
                </a:solidFill>
              </a:rPr>
              <a:t> other pointing devices</a:t>
            </a:r>
            <a:r>
              <a:rPr lang="en-US" sz="2200" dirty="0"/>
              <a:t> that are stream oriented.</a:t>
            </a:r>
          </a:p>
        </p:txBody>
      </p:sp>
      <p:pic>
        <p:nvPicPr>
          <p:cNvPr id="4" name="Picture 2" descr="Buffering in OS - GeeksforGeeks">
            <a:extLst>
              <a:ext uri="{FF2B5EF4-FFF2-40B4-BE49-F238E27FC236}">
                <a16:creationId xmlns:a16="http://schemas.microsoft.com/office/drawing/2014/main" id="{6E4DD838-C144-1F70-8079-483023C7000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045" t="29265" r="5812" b="40694"/>
          <a:stretch/>
        </p:blipFill>
        <p:spPr bwMode="auto">
          <a:xfrm>
            <a:off x="7567609" y="909907"/>
            <a:ext cx="4558192" cy="921656"/>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Blockchain: Secure Data Transfer over a Peer-to-Peer Network">
            <a:extLst>
              <a:ext uri="{FF2B5EF4-FFF2-40B4-BE49-F238E27FC236}">
                <a16:creationId xmlns:a16="http://schemas.microsoft.com/office/drawing/2014/main" id="{9C381610-3466-38A5-1AAE-0545F07D382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549" r="8551"/>
          <a:stretch/>
        </p:blipFill>
        <p:spPr bwMode="auto">
          <a:xfrm>
            <a:off x="7567609" y="1963059"/>
            <a:ext cx="4446075" cy="169566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6" descr="Stream Data Icons - Free SVG &amp; PNG Stream Data Images - Noun Project">
            <a:extLst>
              <a:ext uri="{FF2B5EF4-FFF2-40B4-BE49-F238E27FC236}">
                <a16:creationId xmlns:a16="http://schemas.microsoft.com/office/drawing/2014/main" id="{B353E7DB-3B92-703D-9FF2-E68E25F4EFB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20473" y="3896435"/>
            <a:ext cx="1905000" cy="1905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56441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par>
                          <p:cTn id="13" fill="hold">
                            <p:stCondLst>
                              <p:cond delay="500"/>
                            </p:stCondLst>
                            <p:childTnLst>
                              <p:par>
                                <p:cTn id="14" presetID="1" presetClass="entr" presetSubtype="0" fill="hold" nodeType="afterEffect">
                                  <p:stCondLst>
                                    <p:cond delay="0"/>
                                  </p:stCondLst>
                                  <p:childTnLst>
                                    <p:set>
                                      <p:cBhvr>
                                        <p:cTn id="15" dur="1" fill="hold">
                                          <p:stCondLst>
                                            <p:cond delay="0"/>
                                          </p:stCondLst>
                                        </p:cTn>
                                        <p:tgtEl>
                                          <p:spTgt spid="4"/>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500"/>
                                        <p:tgtEl>
                                          <p:spTgt spid="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fade">
                                      <p:cBhvr>
                                        <p:cTn id="25" dur="500"/>
                                        <p:tgtEl>
                                          <p:spTgt spid="3">
                                            <p:txEl>
                                              <p:pRg st="3" end="3"/>
                                            </p:txEl>
                                          </p:spTgt>
                                        </p:tgtEl>
                                      </p:cBhvr>
                                    </p:animEffect>
                                  </p:childTnLst>
                                </p:cTn>
                              </p:par>
                            </p:childTnLst>
                          </p:cTn>
                        </p:par>
                        <p:par>
                          <p:cTn id="26" fill="hold">
                            <p:stCondLst>
                              <p:cond delay="500"/>
                            </p:stCondLst>
                            <p:childTnLst>
                              <p:par>
                                <p:cTn id="27" presetID="1" presetClass="entr" presetSubtype="0" fill="hold" nodeType="afterEffect">
                                  <p:stCondLst>
                                    <p:cond delay="0"/>
                                  </p:stCondLst>
                                  <p:childTnLst>
                                    <p:set>
                                      <p:cBhvr>
                                        <p:cTn id="28" dur="1" fill="hold">
                                          <p:stCondLst>
                                            <p:cond delay="0"/>
                                          </p:stCondLst>
                                        </p:cTn>
                                        <p:tgtEl>
                                          <p:spTgt spid="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animEffect transition="in" filter="fade">
                                      <p:cBhvr>
                                        <p:cTn id="33" dur="500"/>
                                        <p:tgtEl>
                                          <p:spTgt spid="3">
                                            <p:txEl>
                                              <p:pRg st="5" end="5"/>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3">
                                            <p:txEl>
                                              <p:pRg st="6" end="6"/>
                                            </p:txEl>
                                          </p:spTgt>
                                        </p:tgtEl>
                                        <p:attrNameLst>
                                          <p:attrName>style.visibility</p:attrName>
                                        </p:attrNameLst>
                                      </p:cBhvr>
                                      <p:to>
                                        <p:strVal val="visible"/>
                                      </p:to>
                                    </p:set>
                                    <p:animEffect transition="in" filter="fade">
                                      <p:cBhvr>
                                        <p:cTn id="38" dur="500"/>
                                        <p:tgtEl>
                                          <p:spTgt spid="3">
                                            <p:txEl>
                                              <p:pRg st="6" end="6"/>
                                            </p:txEl>
                                          </p:spTgt>
                                        </p:tgtEl>
                                      </p:cBhvr>
                                    </p:animEffect>
                                  </p:childTnLst>
                                </p:cTn>
                              </p:par>
                            </p:childTnLst>
                          </p:cTn>
                        </p:par>
                        <p:par>
                          <p:cTn id="39" fill="hold">
                            <p:stCondLst>
                              <p:cond delay="500"/>
                            </p:stCondLst>
                            <p:childTnLst>
                              <p:par>
                                <p:cTn id="40" presetID="1" presetClass="entr" presetSubtype="0" fill="hold" nodeType="afterEffect">
                                  <p:stCondLst>
                                    <p:cond delay="0"/>
                                  </p:stCondLst>
                                  <p:childTnLst>
                                    <p:set>
                                      <p:cBhvr>
                                        <p:cTn id="41"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A6F659-0112-FEF1-FB2F-D350886933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83F9A6-C31E-D48C-D459-800FCC0C412E}"/>
              </a:ext>
            </a:extLst>
          </p:cNvPr>
          <p:cNvSpPr>
            <a:spLocks noGrp="1"/>
          </p:cNvSpPr>
          <p:nvPr>
            <p:ph type="title"/>
          </p:nvPr>
        </p:nvSpPr>
        <p:spPr>
          <a:xfrm>
            <a:off x="0" y="1"/>
            <a:ext cx="12192000" cy="711200"/>
          </a:xfrm>
        </p:spPr>
        <p:txBody>
          <a:bodyPr/>
          <a:lstStyle/>
          <a:p>
            <a:r>
              <a:rPr lang="en-US" dirty="0"/>
              <a:t>I/O buffering</a:t>
            </a:r>
          </a:p>
        </p:txBody>
      </p:sp>
      <p:sp>
        <p:nvSpPr>
          <p:cNvPr id="3" name="Content Placeholder 2">
            <a:extLst>
              <a:ext uri="{FF2B5EF4-FFF2-40B4-BE49-F238E27FC236}">
                <a16:creationId xmlns:a16="http://schemas.microsoft.com/office/drawing/2014/main" id="{5BA822E1-ECCF-5AF3-52AB-8311668C7165}"/>
              </a:ext>
            </a:extLst>
          </p:cNvPr>
          <p:cNvSpPr>
            <a:spLocks noGrp="1"/>
          </p:cNvSpPr>
          <p:nvPr>
            <p:ph idx="1"/>
          </p:nvPr>
        </p:nvSpPr>
        <p:spPr>
          <a:xfrm>
            <a:off x="4636706" y="1222401"/>
            <a:ext cx="7403096" cy="809206"/>
          </a:xfrm>
          <a:solidFill>
            <a:schemeClr val="accent6">
              <a:lumMod val="20000"/>
              <a:lumOff val="80000"/>
            </a:schemeClr>
          </a:solidFill>
        </p:spPr>
        <p:txBody>
          <a:bodyPr/>
          <a:lstStyle/>
          <a:p>
            <a:r>
              <a:rPr lang="en-US" b="1" dirty="0">
                <a:solidFill>
                  <a:schemeClr val="tx2"/>
                </a:solidFill>
              </a:rPr>
              <a:t>Without a buffer</a:t>
            </a:r>
            <a:r>
              <a:rPr lang="en-US" dirty="0"/>
              <a:t>, Operating system</a:t>
            </a:r>
            <a:r>
              <a:rPr lang="en-US" b="1" dirty="0">
                <a:solidFill>
                  <a:schemeClr val="accent6"/>
                </a:solidFill>
              </a:rPr>
              <a:t> directly accesses the device when it needs</a:t>
            </a:r>
          </a:p>
        </p:txBody>
      </p:sp>
      <p:grpSp>
        <p:nvGrpSpPr>
          <p:cNvPr id="4" name="Group 3">
            <a:extLst>
              <a:ext uri="{FF2B5EF4-FFF2-40B4-BE49-F238E27FC236}">
                <a16:creationId xmlns:a16="http://schemas.microsoft.com/office/drawing/2014/main" id="{0DB31B00-1347-1215-4968-8B75EDC74D8F}"/>
              </a:ext>
            </a:extLst>
          </p:cNvPr>
          <p:cNvGrpSpPr/>
          <p:nvPr/>
        </p:nvGrpSpPr>
        <p:grpSpPr>
          <a:xfrm>
            <a:off x="346075" y="823204"/>
            <a:ext cx="4011454" cy="1165380"/>
            <a:chOff x="346075" y="823204"/>
            <a:chExt cx="4011454" cy="1165380"/>
          </a:xfrm>
        </p:grpSpPr>
        <p:sp>
          <p:nvSpPr>
            <p:cNvPr id="5" name="Rounded Rectangle 22">
              <a:extLst>
                <a:ext uri="{FF2B5EF4-FFF2-40B4-BE49-F238E27FC236}">
                  <a16:creationId xmlns:a16="http://schemas.microsoft.com/office/drawing/2014/main" id="{B513A588-444D-815D-A391-43E6130CF2BE}"/>
                </a:ext>
              </a:extLst>
            </p:cNvPr>
            <p:cNvSpPr/>
            <p:nvPr/>
          </p:nvSpPr>
          <p:spPr>
            <a:xfrm>
              <a:off x="1784668" y="1174198"/>
              <a:ext cx="900113" cy="785813"/>
            </a:xfrm>
            <a:prstGeom prst="roundRect">
              <a:avLst/>
            </a:prstGeom>
            <a:solidFill>
              <a:schemeClr val="accent6">
                <a:lumMod val="60000"/>
                <a:lumOff val="4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 name="Rounded Rectangle 23">
              <a:extLst>
                <a:ext uri="{FF2B5EF4-FFF2-40B4-BE49-F238E27FC236}">
                  <a16:creationId xmlns:a16="http://schemas.microsoft.com/office/drawing/2014/main" id="{7E43F710-A5DD-B4DF-493B-A02807A23749}"/>
                </a:ext>
              </a:extLst>
            </p:cNvPr>
            <p:cNvSpPr/>
            <p:nvPr/>
          </p:nvSpPr>
          <p:spPr>
            <a:xfrm>
              <a:off x="3313113" y="1174197"/>
              <a:ext cx="900113" cy="785813"/>
            </a:xfrm>
            <a:prstGeom prst="roundRect">
              <a:avLst/>
            </a:prstGeom>
            <a:solidFill>
              <a:schemeClr val="accent6">
                <a:lumMod val="60000"/>
                <a:lumOff val="4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 name="Oval 6">
              <a:extLst>
                <a:ext uri="{FF2B5EF4-FFF2-40B4-BE49-F238E27FC236}">
                  <a16:creationId xmlns:a16="http://schemas.microsoft.com/office/drawing/2014/main" id="{54DAC6DD-300A-2960-77B5-E9E8915E0A90}"/>
                </a:ext>
              </a:extLst>
            </p:cNvPr>
            <p:cNvSpPr/>
            <p:nvPr/>
          </p:nvSpPr>
          <p:spPr>
            <a:xfrm>
              <a:off x="346075" y="1174197"/>
              <a:ext cx="857250" cy="814387"/>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I/O</a:t>
              </a:r>
            </a:p>
            <a:p>
              <a:pPr algn="ctr"/>
              <a:r>
                <a:rPr lang="en-US" sz="1100" dirty="0">
                  <a:solidFill>
                    <a:prstClr val="white"/>
                  </a:solidFill>
                </a:rPr>
                <a:t>Device</a:t>
              </a:r>
              <a:endParaRPr lang="en-US" dirty="0">
                <a:solidFill>
                  <a:prstClr val="white"/>
                </a:solidFill>
              </a:endParaRPr>
            </a:p>
          </p:txBody>
        </p:sp>
        <p:sp>
          <p:nvSpPr>
            <p:cNvPr id="8" name="TextBox 7">
              <a:extLst>
                <a:ext uri="{FF2B5EF4-FFF2-40B4-BE49-F238E27FC236}">
                  <a16:creationId xmlns:a16="http://schemas.microsoft.com/office/drawing/2014/main" id="{D0BE662E-A4B0-5579-F4DC-A653880C5C6C}"/>
                </a:ext>
              </a:extLst>
            </p:cNvPr>
            <p:cNvSpPr txBox="1"/>
            <p:nvPr/>
          </p:nvSpPr>
          <p:spPr>
            <a:xfrm>
              <a:off x="1503204" y="823204"/>
              <a:ext cx="1463040" cy="307777"/>
            </a:xfrm>
            <a:prstGeom prst="rect">
              <a:avLst/>
            </a:prstGeom>
            <a:noFill/>
          </p:spPr>
          <p:txBody>
            <a:bodyPr wrap="square" rtlCol="0">
              <a:spAutoFit/>
            </a:bodyPr>
            <a:lstStyle/>
            <a:p>
              <a:pPr algn="ctr"/>
              <a:r>
                <a:rPr lang="en-US" sz="1400" dirty="0">
                  <a:solidFill>
                    <a:srgbClr val="212121"/>
                  </a:solidFill>
                </a:rPr>
                <a:t>Operating System</a:t>
              </a:r>
            </a:p>
          </p:txBody>
        </p:sp>
        <p:sp>
          <p:nvSpPr>
            <p:cNvPr id="9" name="TextBox 8">
              <a:extLst>
                <a:ext uri="{FF2B5EF4-FFF2-40B4-BE49-F238E27FC236}">
                  <a16:creationId xmlns:a16="http://schemas.microsoft.com/office/drawing/2014/main" id="{F7DC3F48-BDC8-B8A9-C930-C9B8B210A41E}"/>
                </a:ext>
              </a:extLst>
            </p:cNvPr>
            <p:cNvSpPr txBox="1"/>
            <p:nvPr/>
          </p:nvSpPr>
          <p:spPr>
            <a:xfrm>
              <a:off x="3168809" y="823204"/>
              <a:ext cx="1188720" cy="307777"/>
            </a:xfrm>
            <a:prstGeom prst="rect">
              <a:avLst/>
            </a:prstGeom>
            <a:noFill/>
          </p:spPr>
          <p:txBody>
            <a:bodyPr wrap="square" rtlCol="0">
              <a:spAutoFit/>
            </a:bodyPr>
            <a:lstStyle/>
            <a:p>
              <a:pPr algn="ctr"/>
              <a:r>
                <a:rPr lang="en-US" sz="1400" dirty="0">
                  <a:solidFill>
                    <a:srgbClr val="212121"/>
                  </a:solidFill>
                </a:rPr>
                <a:t>User Process</a:t>
              </a:r>
            </a:p>
          </p:txBody>
        </p:sp>
        <p:cxnSp>
          <p:nvCxnSpPr>
            <p:cNvPr id="10" name="Straight Arrow Connector 9">
              <a:extLst>
                <a:ext uri="{FF2B5EF4-FFF2-40B4-BE49-F238E27FC236}">
                  <a16:creationId xmlns:a16="http://schemas.microsoft.com/office/drawing/2014/main" id="{ECBF285D-5C2F-850E-41AE-6EFB2161E1DA}"/>
                </a:ext>
              </a:extLst>
            </p:cNvPr>
            <p:cNvCxnSpPr>
              <a:stCxn id="7" idx="6"/>
              <a:endCxn id="6" idx="1"/>
            </p:cNvCxnSpPr>
            <p:nvPr/>
          </p:nvCxnSpPr>
          <p:spPr>
            <a:xfrm flipV="1">
              <a:off x="1203325" y="1567104"/>
              <a:ext cx="2404872" cy="14287"/>
            </a:xfrm>
            <a:prstGeom prst="straightConnector1">
              <a:avLst/>
            </a:prstGeom>
            <a:ln w="3810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0A766395-CE63-49EE-D33E-7E4F41D6D3E4}"/>
                </a:ext>
              </a:extLst>
            </p:cNvPr>
            <p:cNvSpPr/>
            <p:nvPr/>
          </p:nvSpPr>
          <p:spPr>
            <a:xfrm>
              <a:off x="3598069" y="1476396"/>
              <a:ext cx="330200" cy="181414"/>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2" name="TextBox 11">
              <a:extLst>
                <a:ext uri="{FF2B5EF4-FFF2-40B4-BE49-F238E27FC236}">
                  <a16:creationId xmlns:a16="http://schemas.microsoft.com/office/drawing/2014/main" id="{03F93E28-C404-99B9-70D0-D3BC5D19B580}"/>
                </a:ext>
              </a:extLst>
            </p:cNvPr>
            <p:cNvSpPr txBox="1"/>
            <p:nvPr/>
          </p:nvSpPr>
          <p:spPr>
            <a:xfrm>
              <a:off x="1305401" y="1284407"/>
              <a:ext cx="365760" cy="307777"/>
            </a:xfrm>
            <a:prstGeom prst="rect">
              <a:avLst/>
            </a:prstGeom>
            <a:noFill/>
          </p:spPr>
          <p:txBody>
            <a:bodyPr wrap="square" rtlCol="0">
              <a:spAutoFit/>
            </a:bodyPr>
            <a:lstStyle/>
            <a:p>
              <a:pPr algn="ctr"/>
              <a:r>
                <a:rPr lang="en-US" sz="1400" dirty="0">
                  <a:solidFill>
                    <a:srgbClr val="212121"/>
                  </a:solidFill>
                </a:rPr>
                <a:t>IN</a:t>
              </a:r>
            </a:p>
          </p:txBody>
        </p:sp>
      </p:grpSp>
      <p:sp>
        <p:nvSpPr>
          <p:cNvPr id="13" name="Content Placeholder 2">
            <a:extLst>
              <a:ext uri="{FF2B5EF4-FFF2-40B4-BE49-F238E27FC236}">
                <a16:creationId xmlns:a16="http://schemas.microsoft.com/office/drawing/2014/main" id="{EF3E1CF3-FBB1-8ABC-71FA-C8CFCFCDCE9A}"/>
              </a:ext>
            </a:extLst>
          </p:cNvPr>
          <p:cNvSpPr txBox="1">
            <a:spLocks/>
          </p:cNvSpPr>
          <p:nvPr/>
        </p:nvSpPr>
        <p:spPr>
          <a:xfrm>
            <a:off x="4636706" y="2295692"/>
            <a:ext cx="7403096" cy="809206"/>
          </a:xfrm>
          <a:prstGeom prst="rect">
            <a:avLst/>
          </a:prstGeom>
          <a:solidFill>
            <a:schemeClr val="accent6">
              <a:lumMod val="20000"/>
              <a:lumOff val="80000"/>
            </a:schemeClr>
          </a:solidFill>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B84742"/>
              </a:buClr>
            </a:pPr>
            <a:r>
              <a:rPr lang="en-US" b="1" dirty="0">
                <a:solidFill>
                  <a:srgbClr val="1D6FA9"/>
                </a:solidFill>
              </a:rPr>
              <a:t>Single buffer</a:t>
            </a:r>
            <a:r>
              <a:rPr lang="en-US" dirty="0">
                <a:solidFill>
                  <a:srgbClr val="212121"/>
                </a:solidFill>
              </a:rPr>
              <a:t>, Operating system </a:t>
            </a:r>
            <a:r>
              <a:rPr lang="en-US" b="1" dirty="0">
                <a:solidFill>
                  <a:srgbClr val="B84742"/>
                </a:solidFill>
              </a:rPr>
              <a:t>assigns a buffer in the main memory for an I/O request</a:t>
            </a:r>
          </a:p>
        </p:txBody>
      </p:sp>
      <p:grpSp>
        <p:nvGrpSpPr>
          <p:cNvPr id="14" name="Group 13">
            <a:extLst>
              <a:ext uri="{FF2B5EF4-FFF2-40B4-BE49-F238E27FC236}">
                <a16:creationId xmlns:a16="http://schemas.microsoft.com/office/drawing/2014/main" id="{EFAFB903-CEC3-8D42-6981-38A9233B9BC4}"/>
              </a:ext>
            </a:extLst>
          </p:cNvPr>
          <p:cNvGrpSpPr/>
          <p:nvPr/>
        </p:nvGrpSpPr>
        <p:grpSpPr>
          <a:xfrm>
            <a:off x="346075" y="2027734"/>
            <a:ext cx="4011454" cy="1165380"/>
            <a:chOff x="346075" y="2029148"/>
            <a:chExt cx="4011454" cy="1165380"/>
          </a:xfrm>
        </p:grpSpPr>
        <p:sp>
          <p:nvSpPr>
            <p:cNvPr id="15" name="TextBox 14">
              <a:extLst>
                <a:ext uri="{FF2B5EF4-FFF2-40B4-BE49-F238E27FC236}">
                  <a16:creationId xmlns:a16="http://schemas.microsoft.com/office/drawing/2014/main" id="{AEE04C96-0CE4-E2B7-0E17-AF6442736115}"/>
                </a:ext>
              </a:extLst>
            </p:cNvPr>
            <p:cNvSpPr txBox="1"/>
            <p:nvPr/>
          </p:nvSpPr>
          <p:spPr>
            <a:xfrm>
              <a:off x="1503204" y="2029148"/>
              <a:ext cx="1463040" cy="307777"/>
            </a:xfrm>
            <a:prstGeom prst="rect">
              <a:avLst/>
            </a:prstGeom>
            <a:noFill/>
          </p:spPr>
          <p:txBody>
            <a:bodyPr wrap="square" rtlCol="0">
              <a:spAutoFit/>
            </a:bodyPr>
            <a:lstStyle/>
            <a:p>
              <a:pPr algn="ctr"/>
              <a:r>
                <a:rPr lang="en-US" sz="1400" dirty="0">
                  <a:solidFill>
                    <a:srgbClr val="212121"/>
                  </a:solidFill>
                </a:rPr>
                <a:t>Operating System</a:t>
              </a:r>
            </a:p>
          </p:txBody>
        </p:sp>
        <p:sp>
          <p:nvSpPr>
            <p:cNvPr id="16" name="TextBox 15">
              <a:extLst>
                <a:ext uri="{FF2B5EF4-FFF2-40B4-BE49-F238E27FC236}">
                  <a16:creationId xmlns:a16="http://schemas.microsoft.com/office/drawing/2014/main" id="{B187B29D-EA32-F18D-B8CC-C03D735CBD08}"/>
                </a:ext>
              </a:extLst>
            </p:cNvPr>
            <p:cNvSpPr txBox="1"/>
            <p:nvPr/>
          </p:nvSpPr>
          <p:spPr>
            <a:xfrm>
              <a:off x="3168809" y="2029148"/>
              <a:ext cx="1188720" cy="307777"/>
            </a:xfrm>
            <a:prstGeom prst="rect">
              <a:avLst/>
            </a:prstGeom>
            <a:noFill/>
          </p:spPr>
          <p:txBody>
            <a:bodyPr wrap="square" rtlCol="0">
              <a:spAutoFit/>
            </a:bodyPr>
            <a:lstStyle/>
            <a:p>
              <a:pPr algn="ctr"/>
              <a:r>
                <a:rPr lang="en-US" sz="1400" dirty="0">
                  <a:solidFill>
                    <a:srgbClr val="212121"/>
                  </a:solidFill>
                </a:rPr>
                <a:t>User Process</a:t>
              </a:r>
            </a:p>
          </p:txBody>
        </p:sp>
        <p:sp>
          <p:nvSpPr>
            <p:cNvPr id="17" name="Rounded Rectangle 44">
              <a:extLst>
                <a:ext uri="{FF2B5EF4-FFF2-40B4-BE49-F238E27FC236}">
                  <a16:creationId xmlns:a16="http://schemas.microsoft.com/office/drawing/2014/main" id="{5782FCB0-EB85-8339-4977-44C91FEAA366}"/>
                </a:ext>
              </a:extLst>
            </p:cNvPr>
            <p:cNvSpPr/>
            <p:nvPr/>
          </p:nvSpPr>
          <p:spPr>
            <a:xfrm>
              <a:off x="1784668" y="2380142"/>
              <a:ext cx="900113" cy="785813"/>
            </a:xfrm>
            <a:prstGeom prst="roundRect">
              <a:avLst/>
            </a:prstGeom>
            <a:solidFill>
              <a:schemeClr val="accent6">
                <a:lumMod val="60000"/>
                <a:lumOff val="4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8" name="Rounded Rectangle 45">
              <a:extLst>
                <a:ext uri="{FF2B5EF4-FFF2-40B4-BE49-F238E27FC236}">
                  <a16:creationId xmlns:a16="http://schemas.microsoft.com/office/drawing/2014/main" id="{1DED0BF2-BBFC-1FB5-4092-D2844085853A}"/>
                </a:ext>
              </a:extLst>
            </p:cNvPr>
            <p:cNvSpPr/>
            <p:nvPr/>
          </p:nvSpPr>
          <p:spPr>
            <a:xfrm>
              <a:off x="3313113" y="2380141"/>
              <a:ext cx="900113" cy="785813"/>
            </a:xfrm>
            <a:prstGeom prst="roundRect">
              <a:avLst/>
            </a:prstGeom>
            <a:solidFill>
              <a:schemeClr val="accent6">
                <a:lumMod val="60000"/>
                <a:lumOff val="4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9" name="Oval 18">
              <a:extLst>
                <a:ext uri="{FF2B5EF4-FFF2-40B4-BE49-F238E27FC236}">
                  <a16:creationId xmlns:a16="http://schemas.microsoft.com/office/drawing/2014/main" id="{608AF399-E161-4CA0-87D9-68D12A3A089B}"/>
                </a:ext>
              </a:extLst>
            </p:cNvPr>
            <p:cNvSpPr/>
            <p:nvPr/>
          </p:nvSpPr>
          <p:spPr>
            <a:xfrm>
              <a:off x="346075" y="2380141"/>
              <a:ext cx="857250" cy="814387"/>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I/O</a:t>
              </a:r>
            </a:p>
            <a:p>
              <a:pPr algn="ctr"/>
              <a:r>
                <a:rPr lang="en-US" sz="1100" dirty="0">
                  <a:solidFill>
                    <a:prstClr val="white"/>
                  </a:solidFill>
                </a:rPr>
                <a:t>Device</a:t>
              </a:r>
              <a:endParaRPr lang="en-US" dirty="0">
                <a:solidFill>
                  <a:prstClr val="white"/>
                </a:solidFill>
              </a:endParaRPr>
            </a:p>
          </p:txBody>
        </p:sp>
        <p:cxnSp>
          <p:nvCxnSpPr>
            <p:cNvPr id="20" name="Straight Arrow Connector 19">
              <a:extLst>
                <a:ext uri="{FF2B5EF4-FFF2-40B4-BE49-F238E27FC236}">
                  <a16:creationId xmlns:a16="http://schemas.microsoft.com/office/drawing/2014/main" id="{B8982E53-A68E-F3B1-591D-D969DB66C1E7}"/>
                </a:ext>
              </a:extLst>
            </p:cNvPr>
            <p:cNvCxnSpPr>
              <a:stCxn id="19" idx="6"/>
              <a:endCxn id="18" idx="1"/>
            </p:cNvCxnSpPr>
            <p:nvPr/>
          </p:nvCxnSpPr>
          <p:spPr>
            <a:xfrm flipV="1">
              <a:off x="1203325" y="2773048"/>
              <a:ext cx="877824" cy="14287"/>
            </a:xfrm>
            <a:prstGeom prst="straightConnector1">
              <a:avLst/>
            </a:prstGeom>
            <a:ln w="3810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4BD7FBD0-89C3-44BA-90B2-925139F45D57}"/>
                </a:ext>
              </a:extLst>
            </p:cNvPr>
            <p:cNvSpPr/>
            <p:nvPr/>
          </p:nvSpPr>
          <p:spPr>
            <a:xfrm>
              <a:off x="3598069" y="2682340"/>
              <a:ext cx="330200" cy="181414"/>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2" name="TextBox 21">
              <a:extLst>
                <a:ext uri="{FF2B5EF4-FFF2-40B4-BE49-F238E27FC236}">
                  <a16:creationId xmlns:a16="http://schemas.microsoft.com/office/drawing/2014/main" id="{879E3F12-8DFE-BCAA-7AEB-FE42455A59A9}"/>
                </a:ext>
              </a:extLst>
            </p:cNvPr>
            <p:cNvSpPr txBox="1"/>
            <p:nvPr/>
          </p:nvSpPr>
          <p:spPr>
            <a:xfrm>
              <a:off x="1305401" y="2490351"/>
              <a:ext cx="365760" cy="307777"/>
            </a:xfrm>
            <a:prstGeom prst="rect">
              <a:avLst/>
            </a:prstGeom>
            <a:noFill/>
          </p:spPr>
          <p:txBody>
            <a:bodyPr wrap="square" rtlCol="0">
              <a:spAutoFit/>
            </a:bodyPr>
            <a:lstStyle/>
            <a:p>
              <a:pPr algn="ctr"/>
              <a:r>
                <a:rPr lang="en-US" sz="1400" dirty="0">
                  <a:solidFill>
                    <a:srgbClr val="212121"/>
                  </a:solidFill>
                </a:rPr>
                <a:t>IN</a:t>
              </a:r>
            </a:p>
          </p:txBody>
        </p:sp>
        <p:sp>
          <p:nvSpPr>
            <p:cNvPr id="23" name="Rectangle 22">
              <a:extLst>
                <a:ext uri="{FF2B5EF4-FFF2-40B4-BE49-F238E27FC236}">
                  <a16:creationId xmlns:a16="http://schemas.microsoft.com/office/drawing/2014/main" id="{1309BDA4-411F-ED13-7D4F-325BB3D1236B}"/>
                </a:ext>
              </a:extLst>
            </p:cNvPr>
            <p:cNvSpPr/>
            <p:nvPr/>
          </p:nvSpPr>
          <p:spPr>
            <a:xfrm>
              <a:off x="2075561" y="2682340"/>
              <a:ext cx="330200" cy="181414"/>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cxnSp>
          <p:nvCxnSpPr>
            <p:cNvPr id="24" name="Straight Arrow Connector 23">
              <a:extLst>
                <a:ext uri="{FF2B5EF4-FFF2-40B4-BE49-F238E27FC236}">
                  <a16:creationId xmlns:a16="http://schemas.microsoft.com/office/drawing/2014/main" id="{B8A60C3A-8267-A829-D77F-CA3F2305C89F}"/>
                </a:ext>
              </a:extLst>
            </p:cNvPr>
            <p:cNvCxnSpPr>
              <a:endCxn id="21" idx="1"/>
            </p:cNvCxnSpPr>
            <p:nvPr/>
          </p:nvCxnSpPr>
          <p:spPr>
            <a:xfrm flipV="1">
              <a:off x="2405761" y="2773047"/>
              <a:ext cx="1192308" cy="4554"/>
            </a:xfrm>
            <a:prstGeom prst="straightConnector1">
              <a:avLst/>
            </a:prstGeom>
            <a:ln w="3810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57DD3FC9-8FC0-4152-8C10-ECD7B48430F5}"/>
                </a:ext>
              </a:extLst>
            </p:cNvPr>
            <p:cNvSpPr txBox="1"/>
            <p:nvPr/>
          </p:nvSpPr>
          <p:spPr>
            <a:xfrm>
              <a:off x="2678812" y="2479558"/>
              <a:ext cx="640080" cy="310896"/>
            </a:xfrm>
            <a:prstGeom prst="rect">
              <a:avLst/>
            </a:prstGeom>
            <a:noFill/>
          </p:spPr>
          <p:txBody>
            <a:bodyPr wrap="square" rtlCol="0">
              <a:spAutoFit/>
            </a:bodyPr>
            <a:lstStyle/>
            <a:p>
              <a:pPr algn="ctr"/>
              <a:r>
                <a:rPr lang="en-US" sz="1400" dirty="0">
                  <a:solidFill>
                    <a:srgbClr val="212121"/>
                  </a:solidFill>
                </a:rPr>
                <a:t>MOVE</a:t>
              </a:r>
            </a:p>
          </p:txBody>
        </p:sp>
      </p:grpSp>
      <p:sp>
        <p:nvSpPr>
          <p:cNvPr id="26" name="Content Placeholder 2">
            <a:extLst>
              <a:ext uri="{FF2B5EF4-FFF2-40B4-BE49-F238E27FC236}">
                <a16:creationId xmlns:a16="http://schemas.microsoft.com/office/drawing/2014/main" id="{58D52AE9-E1E5-9D82-C914-B15CA8B63D7D}"/>
              </a:ext>
            </a:extLst>
          </p:cNvPr>
          <p:cNvSpPr txBox="1">
            <a:spLocks/>
          </p:cNvSpPr>
          <p:nvPr/>
        </p:nvSpPr>
        <p:spPr>
          <a:xfrm>
            <a:off x="4636706" y="3335609"/>
            <a:ext cx="7403096" cy="1371600"/>
          </a:xfrm>
          <a:prstGeom prst="rect">
            <a:avLst/>
          </a:prstGeom>
          <a:solidFill>
            <a:schemeClr val="accent6">
              <a:lumMod val="20000"/>
              <a:lumOff val="80000"/>
            </a:schemeClr>
          </a:solidFill>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B84742"/>
              </a:buClr>
            </a:pPr>
            <a:r>
              <a:rPr lang="en-US" b="1" dirty="0">
                <a:solidFill>
                  <a:srgbClr val="1D6FA9"/>
                </a:solidFill>
              </a:rPr>
              <a:t>Double buffer</a:t>
            </a:r>
            <a:r>
              <a:rPr lang="en-US" dirty="0">
                <a:solidFill>
                  <a:srgbClr val="212121"/>
                </a:solidFill>
              </a:rPr>
              <a:t>, Operating system </a:t>
            </a:r>
            <a:r>
              <a:rPr lang="en-US" b="1" dirty="0">
                <a:solidFill>
                  <a:srgbClr val="B84742"/>
                </a:solidFill>
              </a:rPr>
              <a:t>use two system buffers instead of one, </a:t>
            </a:r>
            <a:r>
              <a:rPr lang="en-US" dirty="0">
                <a:solidFill>
                  <a:srgbClr val="212121"/>
                </a:solidFill>
              </a:rPr>
              <a:t>also known as </a:t>
            </a:r>
            <a:r>
              <a:rPr lang="en-US" b="1" dirty="0">
                <a:solidFill>
                  <a:srgbClr val="B84742"/>
                </a:solidFill>
              </a:rPr>
              <a:t>buffer swapping</a:t>
            </a:r>
            <a:r>
              <a:rPr lang="en-US" b="1" dirty="0">
                <a:solidFill>
                  <a:srgbClr val="212121"/>
                </a:solidFill>
              </a:rPr>
              <a:t>. </a:t>
            </a:r>
            <a:r>
              <a:rPr lang="en-US" dirty="0">
                <a:solidFill>
                  <a:srgbClr val="212121"/>
                </a:solidFill>
              </a:rPr>
              <a:t>A </a:t>
            </a:r>
            <a:r>
              <a:rPr lang="en-US" b="1" dirty="0">
                <a:solidFill>
                  <a:srgbClr val="B84742"/>
                </a:solidFill>
              </a:rPr>
              <a:t>process can transfer data to or from one buffer while the operating system empties or fills the other buffer </a:t>
            </a:r>
          </a:p>
        </p:txBody>
      </p:sp>
      <p:grpSp>
        <p:nvGrpSpPr>
          <p:cNvPr id="27" name="Group 26">
            <a:extLst>
              <a:ext uri="{FF2B5EF4-FFF2-40B4-BE49-F238E27FC236}">
                <a16:creationId xmlns:a16="http://schemas.microsoft.com/office/drawing/2014/main" id="{A8EE098D-4D6D-A836-6AE9-3EF49696CB08}"/>
              </a:ext>
            </a:extLst>
          </p:cNvPr>
          <p:cNvGrpSpPr/>
          <p:nvPr/>
        </p:nvGrpSpPr>
        <p:grpSpPr>
          <a:xfrm>
            <a:off x="346075" y="3389001"/>
            <a:ext cx="4011454" cy="1165380"/>
            <a:chOff x="346075" y="3524950"/>
            <a:chExt cx="4011454" cy="1165380"/>
          </a:xfrm>
        </p:grpSpPr>
        <p:sp>
          <p:nvSpPr>
            <p:cNvPr id="28" name="Rounded Rectangle 57">
              <a:extLst>
                <a:ext uri="{FF2B5EF4-FFF2-40B4-BE49-F238E27FC236}">
                  <a16:creationId xmlns:a16="http://schemas.microsoft.com/office/drawing/2014/main" id="{9C607E1E-6FE5-3F52-957C-0089FED1AF03}"/>
                </a:ext>
              </a:extLst>
            </p:cNvPr>
            <p:cNvSpPr/>
            <p:nvPr/>
          </p:nvSpPr>
          <p:spPr>
            <a:xfrm>
              <a:off x="1784668" y="3875944"/>
              <a:ext cx="900113" cy="785813"/>
            </a:xfrm>
            <a:prstGeom prst="roundRect">
              <a:avLst/>
            </a:prstGeom>
            <a:solidFill>
              <a:schemeClr val="accent6">
                <a:lumMod val="60000"/>
                <a:lumOff val="4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9" name="Rounded Rectangle 58">
              <a:extLst>
                <a:ext uri="{FF2B5EF4-FFF2-40B4-BE49-F238E27FC236}">
                  <a16:creationId xmlns:a16="http://schemas.microsoft.com/office/drawing/2014/main" id="{BC6574BA-CA5F-6B0E-047B-FC98EFD2FEEA}"/>
                </a:ext>
              </a:extLst>
            </p:cNvPr>
            <p:cNvSpPr/>
            <p:nvPr/>
          </p:nvSpPr>
          <p:spPr>
            <a:xfrm>
              <a:off x="3313113" y="3875943"/>
              <a:ext cx="900113" cy="785813"/>
            </a:xfrm>
            <a:prstGeom prst="roundRect">
              <a:avLst/>
            </a:prstGeom>
            <a:solidFill>
              <a:schemeClr val="accent6">
                <a:lumMod val="60000"/>
                <a:lumOff val="4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0" name="Oval 29">
              <a:extLst>
                <a:ext uri="{FF2B5EF4-FFF2-40B4-BE49-F238E27FC236}">
                  <a16:creationId xmlns:a16="http://schemas.microsoft.com/office/drawing/2014/main" id="{8B77A149-B8BC-5833-C084-73BD42426A23}"/>
                </a:ext>
              </a:extLst>
            </p:cNvPr>
            <p:cNvSpPr/>
            <p:nvPr/>
          </p:nvSpPr>
          <p:spPr>
            <a:xfrm>
              <a:off x="346075" y="3875943"/>
              <a:ext cx="857250" cy="814387"/>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I/O</a:t>
              </a:r>
            </a:p>
            <a:p>
              <a:pPr algn="ctr"/>
              <a:r>
                <a:rPr lang="en-US" sz="1100" dirty="0">
                  <a:solidFill>
                    <a:prstClr val="white"/>
                  </a:solidFill>
                </a:rPr>
                <a:t>Device</a:t>
              </a:r>
              <a:endParaRPr lang="en-US" dirty="0">
                <a:solidFill>
                  <a:prstClr val="white"/>
                </a:solidFill>
              </a:endParaRPr>
            </a:p>
          </p:txBody>
        </p:sp>
        <p:sp>
          <p:nvSpPr>
            <p:cNvPr id="31" name="TextBox 30">
              <a:extLst>
                <a:ext uri="{FF2B5EF4-FFF2-40B4-BE49-F238E27FC236}">
                  <a16:creationId xmlns:a16="http://schemas.microsoft.com/office/drawing/2014/main" id="{958811D4-408D-1172-E022-04A47F3D85AD}"/>
                </a:ext>
              </a:extLst>
            </p:cNvPr>
            <p:cNvSpPr txBox="1"/>
            <p:nvPr/>
          </p:nvSpPr>
          <p:spPr>
            <a:xfrm>
              <a:off x="1503204" y="3524950"/>
              <a:ext cx="1463040" cy="307777"/>
            </a:xfrm>
            <a:prstGeom prst="rect">
              <a:avLst/>
            </a:prstGeom>
            <a:noFill/>
          </p:spPr>
          <p:txBody>
            <a:bodyPr wrap="square" rtlCol="0">
              <a:spAutoFit/>
            </a:bodyPr>
            <a:lstStyle/>
            <a:p>
              <a:pPr algn="ctr"/>
              <a:r>
                <a:rPr lang="en-US" sz="1400" dirty="0">
                  <a:solidFill>
                    <a:srgbClr val="212121"/>
                  </a:solidFill>
                </a:rPr>
                <a:t>Operating System</a:t>
              </a:r>
            </a:p>
          </p:txBody>
        </p:sp>
        <p:sp>
          <p:nvSpPr>
            <p:cNvPr id="32" name="TextBox 31">
              <a:extLst>
                <a:ext uri="{FF2B5EF4-FFF2-40B4-BE49-F238E27FC236}">
                  <a16:creationId xmlns:a16="http://schemas.microsoft.com/office/drawing/2014/main" id="{403383C0-5D96-CDDA-22E7-088746016970}"/>
                </a:ext>
              </a:extLst>
            </p:cNvPr>
            <p:cNvSpPr txBox="1"/>
            <p:nvPr/>
          </p:nvSpPr>
          <p:spPr>
            <a:xfrm>
              <a:off x="3168809" y="3524950"/>
              <a:ext cx="1188720" cy="307777"/>
            </a:xfrm>
            <a:prstGeom prst="rect">
              <a:avLst/>
            </a:prstGeom>
            <a:noFill/>
          </p:spPr>
          <p:txBody>
            <a:bodyPr wrap="square" rtlCol="0">
              <a:spAutoFit/>
            </a:bodyPr>
            <a:lstStyle/>
            <a:p>
              <a:pPr algn="ctr"/>
              <a:r>
                <a:rPr lang="en-US" sz="1400" dirty="0">
                  <a:solidFill>
                    <a:srgbClr val="212121"/>
                  </a:solidFill>
                </a:rPr>
                <a:t>User Process</a:t>
              </a:r>
            </a:p>
          </p:txBody>
        </p:sp>
        <p:cxnSp>
          <p:nvCxnSpPr>
            <p:cNvPr id="33" name="Straight Arrow Connector 32">
              <a:extLst>
                <a:ext uri="{FF2B5EF4-FFF2-40B4-BE49-F238E27FC236}">
                  <a16:creationId xmlns:a16="http://schemas.microsoft.com/office/drawing/2014/main" id="{050EBF84-3D46-0F1E-49FB-B59A9AA47194}"/>
                </a:ext>
              </a:extLst>
            </p:cNvPr>
            <p:cNvCxnSpPr>
              <a:stCxn id="30" idx="6"/>
            </p:cNvCxnSpPr>
            <p:nvPr/>
          </p:nvCxnSpPr>
          <p:spPr>
            <a:xfrm flipV="1">
              <a:off x="1203325" y="4087435"/>
              <a:ext cx="872236" cy="195702"/>
            </a:xfrm>
            <a:prstGeom prst="straightConnector1">
              <a:avLst/>
            </a:prstGeom>
            <a:ln w="3810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EA409BFC-D140-4C40-F01D-4E75C1462BEF}"/>
                </a:ext>
              </a:extLst>
            </p:cNvPr>
            <p:cNvSpPr/>
            <p:nvPr/>
          </p:nvSpPr>
          <p:spPr>
            <a:xfrm>
              <a:off x="3598069" y="4178142"/>
              <a:ext cx="330200" cy="181414"/>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5" name="TextBox 34">
              <a:extLst>
                <a:ext uri="{FF2B5EF4-FFF2-40B4-BE49-F238E27FC236}">
                  <a16:creationId xmlns:a16="http://schemas.microsoft.com/office/drawing/2014/main" id="{3343A67E-0DEB-5D14-6E45-DFEDD3991B7A}"/>
                </a:ext>
              </a:extLst>
            </p:cNvPr>
            <p:cNvSpPr txBox="1"/>
            <p:nvPr/>
          </p:nvSpPr>
          <p:spPr>
            <a:xfrm>
              <a:off x="1305401" y="3957578"/>
              <a:ext cx="365760" cy="307777"/>
            </a:xfrm>
            <a:prstGeom prst="rect">
              <a:avLst/>
            </a:prstGeom>
            <a:noFill/>
          </p:spPr>
          <p:txBody>
            <a:bodyPr wrap="square" rtlCol="0">
              <a:spAutoFit/>
            </a:bodyPr>
            <a:lstStyle/>
            <a:p>
              <a:pPr algn="ctr"/>
              <a:r>
                <a:rPr lang="en-US" sz="1400" dirty="0">
                  <a:solidFill>
                    <a:srgbClr val="212121"/>
                  </a:solidFill>
                </a:rPr>
                <a:t>IN</a:t>
              </a:r>
            </a:p>
          </p:txBody>
        </p:sp>
        <p:sp>
          <p:nvSpPr>
            <p:cNvPr id="36" name="Rectangle 35">
              <a:extLst>
                <a:ext uri="{FF2B5EF4-FFF2-40B4-BE49-F238E27FC236}">
                  <a16:creationId xmlns:a16="http://schemas.microsoft.com/office/drawing/2014/main" id="{BA39C184-25C3-AD0A-BB43-7EA94D987307}"/>
                </a:ext>
              </a:extLst>
            </p:cNvPr>
            <p:cNvSpPr/>
            <p:nvPr/>
          </p:nvSpPr>
          <p:spPr>
            <a:xfrm>
              <a:off x="2075561" y="3996728"/>
              <a:ext cx="330200" cy="181414"/>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cxnSp>
          <p:nvCxnSpPr>
            <p:cNvPr id="37" name="Straight Arrow Connector 36">
              <a:extLst>
                <a:ext uri="{FF2B5EF4-FFF2-40B4-BE49-F238E27FC236}">
                  <a16:creationId xmlns:a16="http://schemas.microsoft.com/office/drawing/2014/main" id="{FD2A3CFA-FE46-806E-C9ED-DBC79F5794B0}"/>
                </a:ext>
              </a:extLst>
            </p:cNvPr>
            <p:cNvCxnSpPr>
              <a:endCxn id="34" idx="1"/>
            </p:cNvCxnSpPr>
            <p:nvPr/>
          </p:nvCxnSpPr>
          <p:spPr>
            <a:xfrm flipV="1">
              <a:off x="2402793" y="4268849"/>
              <a:ext cx="1195276" cy="202880"/>
            </a:xfrm>
            <a:prstGeom prst="straightConnector1">
              <a:avLst/>
            </a:prstGeom>
            <a:ln w="3810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060201C0-5DC2-30E9-A93C-9D1E537D29D1}"/>
                </a:ext>
              </a:extLst>
            </p:cNvPr>
            <p:cNvSpPr txBox="1"/>
            <p:nvPr/>
          </p:nvSpPr>
          <p:spPr>
            <a:xfrm>
              <a:off x="2678812" y="4064260"/>
              <a:ext cx="640080" cy="310896"/>
            </a:xfrm>
            <a:prstGeom prst="rect">
              <a:avLst/>
            </a:prstGeom>
            <a:noFill/>
          </p:spPr>
          <p:txBody>
            <a:bodyPr wrap="square" rtlCol="0">
              <a:spAutoFit/>
            </a:bodyPr>
            <a:lstStyle/>
            <a:p>
              <a:pPr algn="ctr"/>
              <a:r>
                <a:rPr lang="en-US" sz="1400" dirty="0">
                  <a:solidFill>
                    <a:srgbClr val="212121"/>
                  </a:solidFill>
                </a:rPr>
                <a:t>MOVE</a:t>
              </a:r>
            </a:p>
          </p:txBody>
        </p:sp>
        <p:sp>
          <p:nvSpPr>
            <p:cNvPr id="39" name="Rectangle 38">
              <a:extLst>
                <a:ext uri="{FF2B5EF4-FFF2-40B4-BE49-F238E27FC236}">
                  <a16:creationId xmlns:a16="http://schemas.microsoft.com/office/drawing/2014/main" id="{D18B28A2-C288-8E40-491F-353128900CF0}"/>
                </a:ext>
              </a:extLst>
            </p:cNvPr>
            <p:cNvSpPr/>
            <p:nvPr/>
          </p:nvSpPr>
          <p:spPr>
            <a:xfrm>
              <a:off x="2077442" y="4364170"/>
              <a:ext cx="330200" cy="181414"/>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
        <p:nvSpPr>
          <p:cNvPr id="40" name="Content Placeholder 2">
            <a:extLst>
              <a:ext uri="{FF2B5EF4-FFF2-40B4-BE49-F238E27FC236}">
                <a16:creationId xmlns:a16="http://schemas.microsoft.com/office/drawing/2014/main" id="{F31B75FA-FA13-2760-AC38-8C3B90319277}"/>
              </a:ext>
            </a:extLst>
          </p:cNvPr>
          <p:cNvSpPr txBox="1">
            <a:spLocks/>
          </p:cNvSpPr>
          <p:nvPr/>
        </p:nvSpPr>
        <p:spPr>
          <a:xfrm>
            <a:off x="4636706" y="4868401"/>
            <a:ext cx="7403096" cy="1067099"/>
          </a:xfrm>
          <a:prstGeom prst="rect">
            <a:avLst/>
          </a:prstGeom>
          <a:solidFill>
            <a:schemeClr val="accent6">
              <a:lumMod val="20000"/>
              <a:lumOff val="80000"/>
            </a:schemeClr>
          </a:solidFill>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B84742"/>
              </a:buClr>
            </a:pPr>
            <a:r>
              <a:rPr lang="en-US" b="1" dirty="0">
                <a:solidFill>
                  <a:srgbClr val="1D6FA9"/>
                </a:solidFill>
              </a:rPr>
              <a:t>Circular buffer</a:t>
            </a:r>
            <a:r>
              <a:rPr lang="en-US" dirty="0">
                <a:solidFill>
                  <a:srgbClr val="212121"/>
                </a:solidFill>
              </a:rPr>
              <a:t>, Operating system </a:t>
            </a:r>
            <a:r>
              <a:rPr lang="en-US" b="1" dirty="0">
                <a:solidFill>
                  <a:srgbClr val="B84742"/>
                </a:solidFill>
              </a:rPr>
              <a:t>uses</a:t>
            </a:r>
            <a:r>
              <a:rPr lang="en-US" dirty="0">
                <a:solidFill>
                  <a:srgbClr val="212121"/>
                </a:solidFill>
              </a:rPr>
              <a:t> </a:t>
            </a:r>
            <a:r>
              <a:rPr lang="en-US" b="1" dirty="0">
                <a:solidFill>
                  <a:srgbClr val="B84742"/>
                </a:solidFill>
              </a:rPr>
              <a:t>two or more buffers. Each individual buffer is one unit in a circular buffer. </a:t>
            </a:r>
          </a:p>
        </p:txBody>
      </p:sp>
      <p:grpSp>
        <p:nvGrpSpPr>
          <p:cNvPr id="41" name="Group 40">
            <a:extLst>
              <a:ext uri="{FF2B5EF4-FFF2-40B4-BE49-F238E27FC236}">
                <a16:creationId xmlns:a16="http://schemas.microsoft.com/office/drawing/2014/main" id="{B5F08CA0-B22A-BB6B-5D5A-AD6EFAC4F05E}"/>
              </a:ext>
            </a:extLst>
          </p:cNvPr>
          <p:cNvGrpSpPr/>
          <p:nvPr/>
        </p:nvGrpSpPr>
        <p:grpSpPr>
          <a:xfrm>
            <a:off x="346075" y="4739961"/>
            <a:ext cx="4011454" cy="1193953"/>
            <a:chOff x="346075" y="5268063"/>
            <a:chExt cx="4011454" cy="1193953"/>
          </a:xfrm>
        </p:grpSpPr>
        <p:sp>
          <p:nvSpPr>
            <p:cNvPr id="42" name="Rounded Rectangle 72">
              <a:extLst>
                <a:ext uri="{FF2B5EF4-FFF2-40B4-BE49-F238E27FC236}">
                  <a16:creationId xmlns:a16="http://schemas.microsoft.com/office/drawing/2014/main" id="{00F30789-2DB9-F1B3-4E4F-EABCC9BBEC8D}"/>
                </a:ext>
              </a:extLst>
            </p:cNvPr>
            <p:cNvSpPr/>
            <p:nvPr/>
          </p:nvSpPr>
          <p:spPr>
            <a:xfrm>
              <a:off x="1784668" y="5647630"/>
              <a:ext cx="900113" cy="785813"/>
            </a:xfrm>
            <a:prstGeom prst="roundRect">
              <a:avLst/>
            </a:prstGeom>
            <a:solidFill>
              <a:schemeClr val="accent6">
                <a:lumMod val="60000"/>
                <a:lumOff val="4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43" name="Rounded Rectangle 73">
              <a:extLst>
                <a:ext uri="{FF2B5EF4-FFF2-40B4-BE49-F238E27FC236}">
                  <a16:creationId xmlns:a16="http://schemas.microsoft.com/office/drawing/2014/main" id="{9D8619D5-B032-296B-A280-F63F52AAE7C0}"/>
                </a:ext>
              </a:extLst>
            </p:cNvPr>
            <p:cNvSpPr/>
            <p:nvPr/>
          </p:nvSpPr>
          <p:spPr>
            <a:xfrm>
              <a:off x="3313113" y="5647629"/>
              <a:ext cx="900113" cy="785813"/>
            </a:xfrm>
            <a:prstGeom prst="roundRect">
              <a:avLst/>
            </a:prstGeom>
            <a:solidFill>
              <a:schemeClr val="accent6">
                <a:lumMod val="60000"/>
                <a:lumOff val="4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44" name="Oval 43">
              <a:extLst>
                <a:ext uri="{FF2B5EF4-FFF2-40B4-BE49-F238E27FC236}">
                  <a16:creationId xmlns:a16="http://schemas.microsoft.com/office/drawing/2014/main" id="{9492D349-007D-5128-1395-CD8A5D5EB2A3}"/>
                </a:ext>
              </a:extLst>
            </p:cNvPr>
            <p:cNvSpPr/>
            <p:nvPr/>
          </p:nvSpPr>
          <p:spPr>
            <a:xfrm>
              <a:off x="346075" y="5647629"/>
              <a:ext cx="857250" cy="814387"/>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I/O</a:t>
              </a:r>
            </a:p>
            <a:p>
              <a:pPr algn="ctr"/>
              <a:r>
                <a:rPr lang="en-US" sz="1100" dirty="0">
                  <a:solidFill>
                    <a:prstClr val="white"/>
                  </a:solidFill>
                </a:rPr>
                <a:t>Device</a:t>
              </a:r>
              <a:endParaRPr lang="en-US" dirty="0">
                <a:solidFill>
                  <a:prstClr val="white"/>
                </a:solidFill>
              </a:endParaRPr>
            </a:p>
          </p:txBody>
        </p:sp>
        <p:sp>
          <p:nvSpPr>
            <p:cNvPr id="45" name="TextBox 44">
              <a:extLst>
                <a:ext uri="{FF2B5EF4-FFF2-40B4-BE49-F238E27FC236}">
                  <a16:creationId xmlns:a16="http://schemas.microsoft.com/office/drawing/2014/main" id="{5ABAEE2A-CA3F-54E4-94FA-7D8F23D91ACD}"/>
                </a:ext>
              </a:extLst>
            </p:cNvPr>
            <p:cNvSpPr txBox="1"/>
            <p:nvPr/>
          </p:nvSpPr>
          <p:spPr>
            <a:xfrm>
              <a:off x="1503204" y="5268063"/>
              <a:ext cx="1463040" cy="307777"/>
            </a:xfrm>
            <a:prstGeom prst="rect">
              <a:avLst/>
            </a:prstGeom>
            <a:noFill/>
          </p:spPr>
          <p:txBody>
            <a:bodyPr wrap="square" rtlCol="0">
              <a:spAutoFit/>
            </a:bodyPr>
            <a:lstStyle/>
            <a:p>
              <a:pPr algn="ctr"/>
              <a:r>
                <a:rPr lang="en-US" sz="1400" dirty="0">
                  <a:solidFill>
                    <a:srgbClr val="212121"/>
                  </a:solidFill>
                </a:rPr>
                <a:t>Operating System</a:t>
              </a:r>
            </a:p>
          </p:txBody>
        </p:sp>
        <p:sp>
          <p:nvSpPr>
            <p:cNvPr id="46" name="TextBox 45">
              <a:extLst>
                <a:ext uri="{FF2B5EF4-FFF2-40B4-BE49-F238E27FC236}">
                  <a16:creationId xmlns:a16="http://schemas.microsoft.com/office/drawing/2014/main" id="{F7F704C7-4CB7-1ACE-3CCD-B7B4D7E0682B}"/>
                </a:ext>
              </a:extLst>
            </p:cNvPr>
            <p:cNvSpPr txBox="1"/>
            <p:nvPr/>
          </p:nvSpPr>
          <p:spPr>
            <a:xfrm>
              <a:off x="3168809" y="5268063"/>
              <a:ext cx="1188720" cy="307777"/>
            </a:xfrm>
            <a:prstGeom prst="rect">
              <a:avLst/>
            </a:prstGeom>
            <a:noFill/>
          </p:spPr>
          <p:txBody>
            <a:bodyPr wrap="square" rtlCol="0">
              <a:spAutoFit/>
            </a:bodyPr>
            <a:lstStyle/>
            <a:p>
              <a:pPr algn="ctr"/>
              <a:r>
                <a:rPr lang="en-US" sz="1400" dirty="0">
                  <a:solidFill>
                    <a:srgbClr val="212121"/>
                  </a:solidFill>
                </a:rPr>
                <a:t>User Process</a:t>
              </a:r>
            </a:p>
          </p:txBody>
        </p:sp>
        <p:cxnSp>
          <p:nvCxnSpPr>
            <p:cNvPr id="47" name="Straight Arrow Connector 46">
              <a:extLst>
                <a:ext uri="{FF2B5EF4-FFF2-40B4-BE49-F238E27FC236}">
                  <a16:creationId xmlns:a16="http://schemas.microsoft.com/office/drawing/2014/main" id="{466241EE-9507-C908-311A-9B4326DB3831}"/>
                </a:ext>
              </a:extLst>
            </p:cNvPr>
            <p:cNvCxnSpPr>
              <a:stCxn id="44" idx="6"/>
              <a:endCxn id="56" idx="2"/>
            </p:cNvCxnSpPr>
            <p:nvPr/>
          </p:nvCxnSpPr>
          <p:spPr>
            <a:xfrm flipV="1">
              <a:off x="1203325" y="6047252"/>
              <a:ext cx="524811" cy="7571"/>
            </a:xfrm>
            <a:prstGeom prst="straightConnector1">
              <a:avLst/>
            </a:prstGeom>
            <a:ln w="3810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8" name="Rectangle 47">
              <a:extLst>
                <a:ext uri="{FF2B5EF4-FFF2-40B4-BE49-F238E27FC236}">
                  <a16:creationId xmlns:a16="http://schemas.microsoft.com/office/drawing/2014/main" id="{AF8A0076-D471-E06C-C5FD-510BA1438A66}"/>
                </a:ext>
              </a:extLst>
            </p:cNvPr>
            <p:cNvSpPr/>
            <p:nvPr/>
          </p:nvSpPr>
          <p:spPr>
            <a:xfrm>
              <a:off x="3598069" y="5949828"/>
              <a:ext cx="330200" cy="181414"/>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49" name="TextBox 48">
              <a:extLst>
                <a:ext uri="{FF2B5EF4-FFF2-40B4-BE49-F238E27FC236}">
                  <a16:creationId xmlns:a16="http://schemas.microsoft.com/office/drawing/2014/main" id="{5AB1794E-4230-D276-2A96-F9F54F4A7747}"/>
                </a:ext>
              </a:extLst>
            </p:cNvPr>
            <p:cNvSpPr txBox="1"/>
            <p:nvPr/>
          </p:nvSpPr>
          <p:spPr>
            <a:xfrm>
              <a:off x="1231090" y="5760650"/>
              <a:ext cx="365760" cy="307777"/>
            </a:xfrm>
            <a:prstGeom prst="rect">
              <a:avLst/>
            </a:prstGeom>
            <a:noFill/>
          </p:spPr>
          <p:txBody>
            <a:bodyPr wrap="square" rtlCol="0">
              <a:spAutoFit/>
            </a:bodyPr>
            <a:lstStyle/>
            <a:p>
              <a:pPr algn="ctr"/>
              <a:r>
                <a:rPr lang="en-US" sz="1400" dirty="0">
                  <a:solidFill>
                    <a:srgbClr val="212121"/>
                  </a:solidFill>
                </a:rPr>
                <a:t>IN</a:t>
              </a:r>
            </a:p>
          </p:txBody>
        </p:sp>
        <p:sp>
          <p:nvSpPr>
            <p:cNvPr id="50" name="Rectangle 49">
              <a:extLst>
                <a:ext uri="{FF2B5EF4-FFF2-40B4-BE49-F238E27FC236}">
                  <a16:creationId xmlns:a16="http://schemas.microsoft.com/office/drawing/2014/main" id="{E5ADF60B-3661-928D-E927-7CCDE05C5471}"/>
                </a:ext>
              </a:extLst>
            </p:cNvPr>
            <p:cNvSpPr/>
            <p:nvPr/>
          </p:nvSpPr>
          <p:spPr>
            <a:xfrm>
              <a:off x="2075561" y="5691996"/>
              <a:ext cx="330200" cy="181414"/>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cxnSp>
          <p:nvCxnSpPr>
            <p:cNvPr id="51" name="Straight Arrow Connector 50">
              <a:extLst>
                <a:ext uri="{FF2B5EF4-FFF2-40B4-BE49-F238E27FC236}">
                  <a16:creationId xmlns:a16="http://schemas.microsoft.com/office/drawing/2014/main" id="{BE8F3A22-DFD0-3C90-5FD9-2ACF0B98F3C1}"/>
                </a:ext>
              </a:extLst>
            </p:cNvPr>
            <p:cNvCxnSpPr>
              <a:stCxn id="57" idx="6"/>
              <a:endCxn id="48" idx="1"/>
            </p:cNvCxnSpPr>
            <p:nvPr/>
          </p:nvCxnSpPr>
          <p:spPr>
            <a:xfrm flipV="1">
              <a:off x="2727310" y="6040535"/>
              <a:ext cx="870759" cy="6717"/>
            </a:xfrm>
            <a:prstGeom prst="straightConnector1">
              <a:avLst/>
            </a:prstGeom>
            <a:ln w="3810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ADA7D4B3-0DEC-72C0-9E68-8373EF7F8075}"/>
                </a:ext>
              </a:extLst>
            </p:cNvPr>
            <p:cNvSpPr txBox="1"/>
            <p:nvPr/>
          </p:nvSpPr>
          <p:spPr>
            <a:xfrm>
              <a:off x="2678812" y="5750214"/>
              <a:ext cx="640080" cy="310896"/>
            </a:xfrm>
            <a:prstGeom prst="rect">
              <a:avLst/>
            </a:prstGeom>
            <a:noFill/>
          </p:spPr>
          <p:txBody>
            <a:bodyPr wrap="square" rtlCol="0">
              <a:spAutoFit/>
            </a:bodyPr>
            <a:lstStyle/>
            <a:p>
              <a:pPr algn="ctr"/>
              <a:r>
                <a:rPr lang="en-US" sz="1400" dirty="0">
                  <a:solidFill>
                    <a:srgbClr val="212121"/>
                  </a:solidFill>
                </a:rPr>
                <a:t>MOVE</a:t>
              </a:r>
            </a:p>
          </p:txBody>
        </p:sp>
        <p:sp>
          <p:nvSpPr>
            <p:cNvPr id="53" name="Rectangle 52">
              <a:extLst>
                <a:ext uri="{FF2B5EF4-FFF2-40B4-BE49-F238E27FC236}">
                  <a16:creationId xmlns:a16="http://schemas.microsoft.com/office/drawing/2014/main" id="{52225261-5253-9F7A-0912-092041215BCC}"/>
                </a:ext>
              </a:extLst>
            </p:cNvPr>
            <p:cNvSpPr/>
            <p:nvPr/>
          </p:nvSpPr>
          <p:spPr>
            <a:xfrm>
              <a:off x="2075657" y="6205948"/>
              <a:ext cx="330200" cy="181414"/>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4" name="Rectangle 53">
              <a:extLst>
                <a:ext uri="{FF2B5EF4-FFF2-40B4-BE49-F238E27FC236}">
                  <a16:creationId xmlns:a16="http://schemas.microsoft.com/office/drawing/2014/main" id="{0B6040F9-D0D4-2C86-AEB4-1EB9E262F200}"/>
                </a:ext>
              </a:extLst>
            </p:cNvPr>
            <p:cNvSpPr/>
            <p:nvPr/>
          </p:nvSpPr>
          <p:spPr>
            <a:xfrm>
              <a:off x="2077442" y="5912560"/>
              <a:ext cx="330200" cy="181414"/>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5" name="TextBox 54">
              <a:extLst>
                <a:ext uri="{FF2B5EF4-FFF2-40B4-BE49-F238E27FC236}">
                  <a16:creationId xmlns:a16="http://schemas.microsoft.com/office/drawing/2014/main" id="{3997731D-7F7F-0890-DFDE-8AD56D5F8488}"/>
                </a:ext>
              </a:extLst>
            </p:cNvPr>
            <p:cNvSpPr txBox="1"/>
            <p:nvPr/>
          </p:nvSpPr>
          <p:spPr>
            <a:xfrm>
              <a:off x="2094373" y="6010246"/>
              <a:ext cx="292576" cy="215444"/>
            </a:xfrm>
            <a:prstGeom prst="rect">
              <a:avLst/>
            </a:prstGeom>
            <a:noFill/>
          </p:spPr>
          <p:txBody>
            <a:bodyPr wrap="square" rtlCol="0">
              <a:spAutoFit/>
            </a:bodyPr>
            <a:lstStyle/>
            <a:p>
              <a:pPr algn="ctr"/>
              <a:r>
                <a:rPr lang="en-US" sz="800" dirty="0">
                  <a:solidFill>
                    <a:srgbClr val="212121"/>
                  </a:solidFill>
                </a:rPr>
                <a:t>..</a:t>
              </a:r>
            </a:p>
          </p:txBody>
        </p:sp>
        <p:sp>
          <p:nvSpPr>
            <p:cNvPr id="56" name="Oval 55">
              <a:extLst>
                <a:ext uri="{FF2B5EF4-FFF2-40B4-BE49-F238E27FC236}">
                  <a16:creationId xmlns:a16="http://schemas.microsoft.com/office/drawing/2014/main" id="{D0D35D5C-9EB6-6F72-CADF-05687B81ACAE}"/>
                </a:ext>
              </a:extLst>
            </p:cNvPr>
            <p:cNvSpPr/>
            <p:nvPr/>
          </p:nvSpPr>
          <p:spPr>
            <a:xfrm>
              <a:off x="1728136" y="5843517"/>
              <a:ext cx="113507" cy="407469"/>
            </a:xfrm>
            <a:prstGeom prst="ellipse">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7" name="Oval 56">
              <a:extLst>
                <a:ext uri="{FF2B5EF4-FFF2-40B4-BE49-F238E27FC236}">
                  <a16:creationId xmlns:a16="http://schemas.microsoft.com/office/drawing/2014/main" id="{6EE91292-3CD5-321A-F7FB-0CF9DCA0A7F3}"/>
                </a:ext>
              </a:extLst>
            </p:cNvPr>
            <p:cNvSpPr/>
            <p:nvPr/>
          </p:nvSpPr>
          <p:spPr>
            <a:xfrm>
              <a:off x="2613803" y="5843517"/>
              <a:ext cx="113507" cy="407469"/>
            </a:xfrm>
            <a:prstGeom prst="ellipse">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Tree>
    <p:extLst>
      <p:ext uri="{BB962C8B-B14F-4D97-AF65-F5344CB8AC3E}">
        <p14:creationId xmlns:p14="http://schemas.microsoft.com/office/powerpoint/2010/main" val="2905593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fade">
                                      <p:cBhvr>
                                        <p:cTn id="7" dur="500"/>
                                        <p:tgtEl>
                                          <p:spTgt spid="3">
                                            <p:bg/>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500"/>
                                        <p:tgtEl>
                                          <p:spTgt spid="3">
                                            <p:txEl>
                                              <p:pRg st="0" end="0"/>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par>
                                <p:cTn id="19"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500"/>
                                        <p:tgtEl>
                                          <p:spTgt spid="14"/>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26"/>
                                        </p:tgtEl>
                                        <p:attrNameLst>
                                          <p:attrName>style.visibility</p:attrName>
                                        </p:attrNameLst>
                                      </p:cBhvr>
                                      <p:to>
                                        <p:strVal val="visible"/>
                                      </p:to>
                                    </p:set>
                                    <p:animEffect transition="in" filter="fade">
                                      <p:cBhvr>
                                        <p:cTn id="26" dur="500"/>
                                        <p:tgtEl>
                                          <p:spTgt spid="26"/>
                                        </p:tgtEl>
                                      </p:cBhvr>
                                    </p:animEffect>
                                  </p:childTnLst>
                                </p:cTn>
                              </p:par>
                              <p:par>
                                <p:cTn id="27" presetID="10" presetClass="entr" presetSubtype="0" fill="hold" nodeType="withEffect">
                                  <p:stCondLst>
                                    <p:cond delay="0"/>
                                  </p:stCondLst>
                                  <p:childTnLst>
                                    <p:set>
                                      <p:cBhvr>
                                        <p:cTn id="28" dur="1" fill="hold">
                                          <p:stCondLst>
                                            <p:cond delay="0"/>
                                          </p:stCondLst>
                                        </p:cTn>
                                        <p:tgtEl>
                                          <p:spTgt spid="27"/>
                                        </p:tgtEl>
                                        <p:attrNameLst>
                                          <p:attrName>style.visibility</p:attrName>
                                        </p:attrNameLst>
                                      </p:cBhvr>
                                      <p:to>
                                        <p:strVal val="visible"/>
                                      </p:to>
                                    </p:set>
                                    <p:animEffect transition="in" filter="fade">
                                      <p:cBhvr>
                                        <p:cTn id="29" dur="500"/>
                                        <p:tgtEl>
                                          <p:spTgt spid="27"/>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40"/>
                                        </p:tgtEl>
                                        <p:attrNameLst>
                                          <p:attrName>style.visibility</p:attrName>
                                        </p:attrNameLst>
                                      </p:cBhvr>
                                      <p:to>
                                        <p:strVal val="visible"/>
                                      </p:to>
                                    </p:set>
                                    <p:animEffect transition="in" filter="fade">
                                      <p:cBhvr>
                                        <p:cTn id="34" dur="500"/>
                                        <p:tgtEl>
                                          <p:spTgt spid="40"/>
                                        </p:tgtEl>
                                      </p:cBhvr>
                                    </p:animEffect>
                                  </p:childTnLst>
                                </p:cTn>
                              </p:par>
                              <p:par>
                                <p:cTn id="35" presetID="10" presetClass="entr" presetSubtype="0" fill="hold" nodeType="withEffect">
                                  <p:stCondLst>
                                    <p:cond delay="0"/>
                                  </p:stCondLst>
                                  <p:childTnLst>
                                    <p:set>
                                      <p:cBhvr>
                                        <p:cTn id="36" dur="1" fill="hold">
                                          <p:stCondLst>
                                            <p:cond delay="0"/>
                                          </p:stCondLst>
                                        </p:cTn>
                                        <p:tgtEl>
                                          <p:spTgt spid="41"/>
                                        </p:tgtEl>
                                        <p:attrNameLst>
                                          <p:attrName>style.visibility</p:attrName>
                                        </p:attrNameLst>
                                      </p:cBhvr>
                                      <p:to>
                                        <p:strVal val="visible"/>
                                      </p:to>
                                    </p:set>
                                    <p:animEffect transition="in" filter="fade">
                                      <p:cBhvr>
                                        <p:cTn id="37"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P spid="13" grpId="0" animBg="1"/>
      <p:bldP spid="26" grpId="0" animBg="1"/>
      <p:bldP spid="4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BA2B2B-0D57-19E2-61AD-6A409A6BAE6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15FD753-7F8F-FD55-6FA0-58D50DB8C89D}"/>
              </a:ext>
            </a:extLst>
          </p:cNvPr>
          <p:cNvSpPr>
            <a:spLocks noGrp="1"/>
          </p:cNvSpPr>
          <p:nvPr>
            <p:ph type="title"/>
          </p:nvPr>
        </p:nvSpPr>
        <p:spPr/>
        <p:txBody>
          <a:bodyPr>
            <a:normAutofit fontScale="90000"/>
          </a:bodyPr>
          <a:lstStyle/>
          <a:p>
            <a:r>
              <a:rPr lang="en-US" dirty="0">
                <a:gradFill flip="none" rotWithShape="1">
                  <a:gsLst>
                    <a:gs pos="10000">
                      <a:schemeClr val="accent6">
                        <a:lumMod val="50000"/>
                      </a:schemeClr>
                    </a:gs>
                    <a:gs pos="100000">
                      <a:schemeClr val="accent6"/>
                    </a:gs>
                  </a:gsLst>
                  <a:lin ang="0" scaled="1"/>
                  <a:tileRect/>
                </a:gradFill>
              </a:rPr>
              <a:t/>
            </a:r>
            <a:br>
              <a:rPr lang="en-US" dirty="0">
                <a:gradFill flip="none" rotWithShape="1">
                  <a:gsLst>
                    <a:gs pos="10000">
                      <a:schemeClr val="accent6">
                        <a:lumMod val="50000"/>
                      </a:schemeClr>
                    </a:gs>
                    <a:gs pos="100000">
                      <a:schemeClr val="accent6"/>
                    </a:gs>
                  </a:gsLst>
                  <a:lin ang="0" scaled="1"/>
                  <a:tileRect/>
                </a:gradFill>
              </a:rPr>
            </a:br>
            <a:r>
              <a:rPr lang="en-US" dirty="0">
                <a:gradFill flip="none" rotWithShape="1">
                  <a:gsLst>
                    <a:gs pos="10000">
                      <a:schemeClr val="accent6">
                        <a:lumMod val="50000"/>
                      </a:schemeClr>
                    </a:gs>
                    <a:gs pos="100000">
                      <a:schemeClr val="accent6"/>
                    </a:gs>
                  </a:gsLst>
                  <a:lin ang="0" scaled="1"/>
                  <a:tileRect/>
                </a:gradFill>
              </a:rPr>
              <a:t/>
            </a:r>
            <a:br>
              <a:rPr lang="en-US" dirty="0">
                <a:gradFill flip="none" rotWithShape="1">
                  <a:gsLst>
                    <a:gs pos="10000">
                      <a:schemeClr val="accent6">
                        <a:lumMod val="50000"/>
                      </a:schemeClr>
                    </a:gs>
                    <a:gs pos="100000">
                      <a:schemeClr val="accent6"/>
                    </a:gs>
                  </a:gsLst>
                  <a:lin ang="0" scaled="1"/>
                  <a:tileRect/>
                </a:gradFill>
              </a:rPr>
            </a:br>
            <a:r>
              <a:rPr lang="en-US" dirty="0">
                <a:gradFill flip="none" rotWithShape="1">
                  <a:gsLst>
                    <a:gs pos="10000">
                      <a:schemeClr val="accent6">
                        <a:lumMod val="50000"/>
                      </a:schemeClr>
                    </a:gs>
                    <a:gs pos="100000">
                      <a:schemeClr val="accent6"/>
                    </a:gs>
                  </a:gsLst>
                  <a:lin ang="0" scaled="1"/>
                  <a:tileRect/>
                </a:gradFill>
              </a:rPr>
              <a:t/>
            </a:r>
            <a:br>
              <a:rPr lang="en-US" dirty="0">
                <a:gradFill flip="none" rotWithShape="1">
                  <a:gsLst>
                    <a:gs pos="10000">
                      <a:schemeClr val="accent6">
                        <a:lumMod val="50000"/>
                      </a:schemeClr>
                    </a:gs>
                    <a:gs pos="100000">
                      <a:schemeClr val="accent6"/>
                    </a:gs>
                  </a:gsLst>
                  <a:lin ang="0" scaled="1"/>
                  <a:tileRect/>
                </a:gradFill>
              </a:rPr>
            </a:br>
            <a:r>
              <a:rPr lang="en-US" dirty="0">
                <a:gradFill flip="none" rotWithShape="1">
                  <a:gsLst>
                    <a:gs pos="10000">
                      <a:schemeClr val="accent6">
                        <a:lumMod val="50000"/>
                      </a:schemeClr>
                    </a:gs>
                    <a:gs pos="100000">
                      <a:schemeClr val="accent6"/>
                    </a:gs>
                  </a:gsLst>
                  <a:lin ang="0" scaled="1"/>
                  <a:tileRect/>
                </a:gradFill>
              </a:rPr>
              <a:t/>
            </a:r>
            <a:br>
              <a:rPr lang="en-US" dirty="0">
                <a:gradFill flip="none" rotWithShape="1">
                  <a:gsLst>
                    <a:gs pos="10000">
                      <a:schemeClr val="accent6">
                        <a:lumMod val="50000"/>
                      </a:schemeClr>
                    </a:gs>
                    <a:gs pos="100000">
                      <a:schemeClr val="accent6"/>
                    </a:gs>
                  </a:gsLst>
                  <a:lin ang="0" scaled="1"/>
                  <a:tileRect/>
                </a:gradFill>
              </a:rPr>
            </a:br>
            <a:r>
              <a:rPr lang="en-US" dirty="0">
                <a:gradFill flip="none" rotWithShape="1">
                  <a:gsLst>
                    <a:gs pos="10000">
                      <a:schemeClr val="accent6">
                        <a:lumMod val="50000"/>
                      </a:schemeClr>
                    </a:gs>
                    <a:gs pos="100000">
                      <a:schemeClr val="accent6"/>
                    </a:gs>
                  </a:gsLst>
                  <a:lin ang="0" scaled="1"/>
                  <a:tileRect/>
                </a:gradFill>
              </a:rPr>
              <a:t>Internal Structure of Hard Disk Drive</a:t>
            </a:r>
          </a:p>
        </p:txBody>
      </p:sp>
      <p:sp>
        <p:nvSpPr>
          <p:cNvPr id="5" name="Text Placeholder 4">
            <a:extLst>
              <a:ext uri="{FF2B5EF4-FFF2-40B4-BE49-F238E27FC236}">
                <a16:creationId xmlns:a16="http://schemas.microsoft.com/office/drawing/2014/main" id="{F9B33684-D817-5BA4-4B70-3A87E9090C0D}"/>
              </a:ext>
            </a:extLst>
          </p:cNvPr>
          <p:cNvSpPr>
            <a:spLocks noGrp="1"/>
          </p:cNvSpPr>
          <p:nvPr>
            <p:ph type="body" idx="1"/>
          </p:nvPr>
        </p:nvSpPr>
        <p:spPr/>
        <p:txBody>
          <a:bodyPr/>
          <a:lstStyle/>
          <a:p>
            <a:r>
              <a:rPr lang="en-US" dirty="0"/>
              <a:t>Section – 3</a:t>
            </a:r>
          </a:p>
          <a:p>
            <a:endParaRPr lang="en-US" dirty="0"/>
          </a:p>
        </p:txBody>
      </p:sp>
    </p:spTree>
    <p:extLst>
      <p:ext uri="{BB962C8B-B14F-4D97-AF65-F5344CB8AC3E}">
        <p14:creationId xmlns:p14="http://schemas.microsoft.com/office/powerpoint/2010/main" val="38634714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35BBF0-37EB-5787-D98F-5B169DA4E8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EB1C54-E8E7-4AFC-A86C-7FC51C20D4E3}"/>
              </a:ext>
            </a:extLst>
          </p:cNvPr>
          <p:cNvSpPr>
            <a:spLocks noGrp="1"/>
          </p:cNvSpPr>
          <p:nvPr>
            <p:ph type="title"/>
          </p:nvPr>
        </p:nvSpPr>
        <p:spPr>
          <a:xfrm>
            <a:off x="0" y="1"/>
            <a:ext cx="12192000" cy="711200"/>
          </a:xfrm>
        </p:spPr>
        <p:txBody>
          <a:bodyPr>
            <a:normAutofit/>
          </a:bodyPr>
          <a:lstStyle/>
          <a:p>
            <a:r>
              <a:rPr lang="en-US" dirty="0"/>
              <a:t>Internal structure of HDD</a:t>
            </a:r>
          </a:p>
        </p:txBody>
      </p:sp>
      <p:sp>
        <p:nvSpPr>
          <p:cNvPr id="3" name="Content Placeholder 2">
            <a:extLst>
              <a:ext uri="{FF2B5EF4-FFF2-40B4-BE49-F238E27FC236}">
                <a16:creationId xmlns:a16="http://schemas.microsoft.com/office/drawing/2014/main" id="{49C36396-8D58-D1D7-7C15-DD720AA4DA83}"/>
              </a:ext>
            </a:extLst>
          </p:cNvPr>
          <p:cNvSpPr>
            <a:spLocks noGrp="1"/>
          </p:cNvSpPr>
          <p:nvPr>
            <p:ph idx="1"/>
          </p:nvPr>
        </p:nvSpPr>
        <p:spPr>
          <a:xfrm>
            <a:off x="131180" y="814805"/>
            <a:ext cx="5867400" cy="1013994"/>
          </a:xfrm>
        </p:spPr>
        <p:txBody>
          <a:bodyPr/>
          <a:lstStyle/>
          <a:p>
            <a:r>
              <a:rPr lang="en-US" sz="2200" b="1" dirty="0">
                <a:solidFill>
                  <a:schemeClr val="accent6"/>
                </a:solidFill>
              </a:rPr>
              <a:t>Platter</a:t>
            </a:r>
            <a:r>
              <a:rPr lang="en-US" sz="2200" dirty="0"/>
              <a:t>: A circular, metal or glass disk coated with magnetic material where data is stored.</a:t>
            </a:r>
            <a:endParaRPr lang="en-US" sz="2200" b="1" dirty="0">
              <a:solidFill>
                <a:schemeClr val="accent6"/>
              </a:solidFill>
            </a:endParaRPr>
          </a:p>
        </p:txBody>
      </p:sp>
      <p:pic>
        <p:nvPicPr>
          <p:cNvPr id="2050" name="Picture 2" descr="Operating Systems: Mass-Storage Structure">
            <a:extLst>
              <a:ext uri="{FF2B5EF4-FFF2-40B4-BE49-F238E27FC236}">
                <a16:creationId xmlns:a16="http://schemas.microsoft.com/office/drawing/2014/main" id="{70B7BADD-5F8B-926F-6DEA-475235EB01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93420" y="1245300"/>
            <a:ext cx="5867400" cy="4652138"/>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Rounded Corners 4">
            <a:extLst>
              <a:ext uri="{FF2B5EF4-FFF2-40B4-BE49-F238E27FC236}">
                <a16:creationId xmlns:a16="http://schemas.microsoft.com/office/drawing/2014/main" id="{07A3C2C6-3327-C0B1-19B0-B5CFA8049DBA}"/>
              </a:ext>
            </a:extLst>
          </p:cNvPr>
          <p:cNvSpPr/>
          <p:nvPr/>
        </p:nvSpPr>
        <p:spPr>
          <a:xfrm>
            <a:off x="6138010" y="4872792"/>
            <a:ext cx="826852" cy="272374"/>
          </a:xfrm>
          <a:prstGeom prst="roundRect">
            <a:avLst/>
          </a:prstGeom>
          <a:noFill/>
          <a:ln w="1905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15" name="Rectangle: Rounded Corners 14">
            <a:extLst>
              <a:ext uri="{FF2B5EF4-FFF2-40B4-BE49-F238E27FC236}">
                <a16:creationId xmlns:a16="http://schemas.microsoft.com/office/drawing/2014/main" id="{D44D0C99-AAA7-B070-3CCF-9A459F06BF01}"/>
              </a:ext>
            </a:extLst>
          </p:cNvPr>
          <p:cNvSpPr/>
          <p:nvPr/>
        </p:nvSpPr>
        <p:spPr>
          <a:xfrm>
            <a:off x="6360338" y="3842951"/>
            <a:ext cx="826852" cy="272374"/>
          </a:xfrm>
          <a:prstGeom prst="roundRect">
            <a:avLst/>
          </a:prstGeom>
          <a:noFill/>
          <a:ln w="1905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16" name="Rectangle: Rounded Corners 15">
            <a:extLst>
              <a:ext uri="{FF2B5EF4-FFF2-40B4-BE49-F238E27FC236}">
                <a16:creationId xmlns:a16="http://schemas.microsoft.com/office/drawing/2014/main" id="{3B43B37D-E7BD-B601-0F6D-A27BECD07071}"/>
              </a:ext>
            </a:extLst>
          </p:cNvPr>
          <p:cNvSpPr/>
          <p:nvPr/>
        </p:nvSpPr>
        <p:spPr>
          <a:xfrm>
            <a:off x="6383705" y="1409704"/>
            <a:ext cx="826852" cy="272374"/>
          </a:xfrm>
          <a:prstGeom prst="roundRect">
            <a:avLst/>
          </a:prstGeom>
          <a:noFill/>
          <a:ln w="1905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17" name="Rectangle: Rounded Corners 16">
            <a:extLst>
              <a:ext uri="{FF2B5EF4-FFF2-40B4-BE49-F238E27FC236}">
                <a16:creationId xmlns:a16="http://schemas.microsoft.com/office/drawing/2014/main" id="{5FC13F0D-ED2E-71F5-4B8A-76CD670ADDCA}"/>
              </a:ext>
            </a:extLst>
          </p:cNvPr>
          <p:cNvSpPr/>
          <p:nvPr/>
        </p:nvSpPr>
        <p:spPr>
          <a:xfrm>
            <a:off x="6193420" y="2552226"/>
            <a:ext cx="826852" cy="272374"/>
          </a:xfrm>
          <a:prstGeom prst="roundRect">
            <a:avLst/>
          </a:prstGeom>
          <a:noFill/>
          <a:ln w="1905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18" name="Rectangle: Rounded Corners 17">
            <a:extLst>
              <a:ext uri="{FF2B5EF4-FFF2-40B4-BE49-F238E27FC236}">
                <a16:creationId xmlns:a16="http://schemas.microsoft.com/office/drawing/2014/main" id="{7261968A-7CD8-BB6C-83EE-FDE5DC922845}"/>
              </a:ext>
            </a:extLst>
          </p:cNvPr>
          <p:cNvSpPr/>
          <p:nvPr/>
        </p:nvSpPr>
        <p:spPr>
          <a:xfrm>
            <a:off x="9007812" y="3810855"/>
            <a:ext cx="1070043" cy="445851"/>
          </a:xfrm>
          <a:prstGeom prst="roundRect">
            <a:avLst/>
          </a:prstGeom>
          <a:noFill/>
          <a:ln w="1905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19" name="Content Placeholder 2">
            <a:extLst>
              <a:ext uri="{FF2B5EF4-FFF2-40B4-BE49-F238E27FC236}">
                <a16:creationId xmlns:a16="http://schemas.microsoft.com/office/drawing/2014/main" id="{69B516E8-3AC4-BEF6-D6E4-6AFB0C5A424D}"/>
              </a:ext>
            </a:extLst>
          </p:cNvPr>
          <p:cNvSpPr txBox="1">
            <a:spLocks/>
          </p:cNvSpPr>
          <p:nvPr/>
        </p:nvSpPr>
        <p:spPr>
          <a:xfrm>
            <a:off x="131180" y="1534904"/>
            <a:ext cx="5867400" cy="1013994"/>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200" b="1" dirty="0">
                <a:solidFill>
                  <a:schemeClr val="accent6"/>
                </a:solidFill>
              </a:rPr>
              <a:t>Read/Write Head</a:t>
            </a:r>
            <a:r>
              <a:rPr lang="en-US" sz="2200" dirty="0"/>
              <a:t>: A disk</a:t>
            </a:r>
            <a:r>
              <a:rPr lang="en-US" sz="2200" b="1" dirty="0"/>
              <a:t> </a:t>
            </a:r>
            <a:r>
              <a:rPr lang="en-US" sz="2200" dirty="0"/>
              <a:t>read-and-write head is a small component of a disk drive that hovers above the disk platter.</a:t>
            </a:r>
            <a:endParaRPr lang="en-US" sz="2200" b="1" dirty="0">
              <a:solidFill>
                <a:schemeClr val="accent6"/>
              </a:solidFill>
            </a:endParaRPr>
          </a:p>
        </p:txBody>
      </p:sp>
      <p:sp>
        <p:nvSpPr>
          <p:cNvPr id="20" name="Content Placeholder 2">
            <a:extLst>
              <a:ext uri="{FF2B5EF4-FFF2-40B4-BE49-F238E27FC236}">
                <a16:creationId xmlns:a16="http://schemas.microsoft.com/office/drawing/2014/main" id="{327BA045-F315-65E1-4BB0-D98D99F91E14}"/>
              </a:ext>
            </a:extLst>
          </p:cNvPr>
          <p:cNvSpPr txBox="1">
            <a:spLocks/>
          </p:cNvSpPr>
          <p:nvPr/>
        </p:nvSpPr>
        <p:spPr>
          <a:xfrm>
            <a:off x="131180" y="2557375"/>
            <a:ext cx="5867400" cy="1013994"/>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200" b="1" dirty="0">
                <a:solidFill>
                  <a:schemeClr val="accent6"/>
                </a:solidFill>
              </a:rPr>
              <a:t>Track</a:t>
            </a:r>
            <a:r>
              <a:rPr lang="en-US" sz="2200" dirty="0"/>
              <a:t>: A concentric circular path on a platter where data is stored.</a:t>
            </a:r>
            <a:endParaRPr lang="en-US" sz="2200" b="1" dirty="0">
              <a:solidFill>
                <a:schemeClr val="accent6"/>
              </a:solidFill>
            </a:endParaRPr>
          </a:p>
        </p:txBody>
      </p:sp>
      <p:sp>
        <p:nvSpPr>
          <p:cNvPr id="21" name="Content Placeholder 2">
            <a:extLst>
              <a:ext uri="{FF2B5EF4-FFF2-40B4-BE49-F238E27FC236}">
                <a16:creationId xmlns:a16="http://schemas.microsoft.com/office/drawing/2014/main" id="{5E658084-B822-2EAA-AE35-312855A1437A}"/>
              </a:ext>
            </a:extLst>
          </p:cNvPr>
          <p:cNvSpPr txBox="1">
            <a:spLocks/>
          </p:cNvSpPr>
          <p:nvPr/>
        </p:nvSpPr>
        <p:spPr>
          <a:xfrm>
            <a:off x="131179" y="3281486"/>
            <a:ext cx="5867400" cy="1027617"/>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200" b="1" dirty="0">
                <a:solidFill>
                  <a:schemeClr val="accent6"/>
                </a:solidFill>
              </a:rPr>
              <a:t>Sector</a:t>
            </a:r>
            <a:r>
              <a:rPr lang="en-US" sz="2200" dirty="0"/>
              <a:t>: </a:t>
            </a:r>
            <a:r>
              <a:rPr lang="en-IN" sz="2200" dirty="0"/>
              <a:t>A sector is </a:t>
            </a:r>
            <a:r>
              <a:rPr lang="en-US" sz="2200" dirty="0"/>
              <a:t>a subdivision of a track on a disk platter and typically holds 512 bytes or 4096 bytes (4 KB) of data in modern drives.</a:t>
            </a:r>
            <a:endParaRPr lang="en-US" sz="2200" dirty="0">
              <a:solidFill>
                <a:schemeClr val="accent6"/>
              </a:solidFill>
            </a:endParaRPr>
          </a:p>
        </p:txBody>
      </p:sp>
      <p:sp>
        <p:nvSpPr>
          <p:cNvPr id="22" name="Content Placeholder 2">
            <a:extLst>
              <a:ext uri="{FF2B5EF4-FFF2-40B4-BE49-F238E27FC236}">
                <a16:creationId xmlns:a16="http://schemas.microsoft.com/office/drawing/2014/main" id="{440A7963-CFB6-B8E2-CC0F-9AA8EF9BF9B7}"/>
              </a:ext>
            </a:extLst>
          </p:cNvPr>
          <p:cNvSpPr txBox="1">
            <a:spLocks/>
          </p:cNvSpPr>
          <p:nvPr/>
        </p:nvSpPr>
        <p:spPr>
          <a:xfrm>
            <a:off x="131178" y="4399084"/>
            <a:ext cx="5867400" cy="720099"/>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sz="2200" b="1" dirty="0">
                <a:solidFill>
                  <a:schemeClr val="accent6"/>
                </a:solidFill>
              </a:rPr>
              <a:t>Cylinder</a:t>
            </a:r>
            <a:r>
              <a:rPr lang="en-US" sz="2200" dirty="0"/>
              <a:t>: A vertical stack of tracks across all platters at the same radial position</a:t>
            </a:r>
            <a:endParaRPr lang="en-US" sz="2200" b="1" dirty="0">
              <a:solidFill>
                <a:schemeClr val="accent6"/>
              </a:solidFill>
            </a:endParaRPr>
          </a:p>
        </p:txBody>
      </p:sp>
      <p:sp>
        <p:nvSpPr>
          <p:cNvPr id="31" name="Content Placeholder 2">
            <a:extLst>
              <a:ext uri="{FF2B5EF4-FFF2-40B4-BE49-F238E27FC236}">
                <a16:creationId xmlns:a16="http://schemas.microsoft.com/office/drawing/2014/main" id="{58ADA3E9-B7E6-F41A-DCFA-8D78FBA81FC5}"/>
              </a:ext>
            </a:extLst>
          </p:cNvPr>
          <p:cNvSpPr txBox="1">
            <a:spLocks/>
          </p:cNvSpPr>
          <p:nvPr/>
        </p:nvSpPr>
        <p:spPr>
          <a:xfrm>
            <a:off x="131177" y="5158340"/>
            <a:ext cx="5867400" cy="720099"/>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sz="2200" b="1" dirty="0">
                <a:solidFill>
                  <a:schemeClr val="accent6"/>
                </a:solidFill>
              </a:rPr>
              <a:t>Spindle</a:t>
            </a:r>
            <a:r>
              <a:rPr lang="en-US" sz="2200" dirty="0"/>
              <a:t>: </a:t>
            </a:r>
            <a:r>
              <a:rPr lang="en-US" dirty="0"/>
              <a:t>The central rotating shaft that holds the platters in place.</a:t>
            </a:r>
            <a:endParaRPr lang="en-US" sz="2200" b="1" dirty="0">
              <a:solidFill>
                <a:schemeClr val="accent6"/>
              </a:solidFill>
            </a:endParaRPr>
          </a:p>
        </p:txBody>
      </p:sp>
      <p:sp>
        <p:nvSpPr>
          <p:cNvPr id="33" name="Rectangle: Rounded Corners 32">
            <a:extLst>
              <a:ext uri="{FF2B5EF4-FFF2-40B4-BE49-F238E27FC236}">
                <a16:creationId xmlns:a16="http://schemas.microsoft.com/office/drawing/2014/main" id="{9B38F20E-D6A9-62CF-008F-5F3974C41789}"/>
              </a:ext>
            </a:extLst>
          </p:cNvPr>
          <p:cNvSpPr/>
          <p:nvPr/>
        </p:nvSpPr>
        <p:spPr>
          <a:xfrm>
            <a:off x="8368364" y="1405496"/>
            <a:ext cx="826852" cy="272374"/>
          </a:xfrm>
          <a:prstGeom prst="roundRect">
            <a:avLst/>
          </a:prstGeom>
          <a:noFill/>
          <a:ln w="1905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34" name="Content Placeholder 2">
            <a:extLst>
              <a:ext uri="{FF2B5EF4-FFF2-40B4-BE49-F238E27FC236}">
                <a16:creationId xmlns:a16="http://schemas.microsoft.com/office/drawing/2014/main" id="{4CA69136-0DB8-7FFC-1263-BBB1E9B3D3AA}"/>
              </a:ext>
            </a:extLst>
          </p:cNvPr>
          <p:cNvSpPr txBox="1">
            <a:spLocks/>
          </p:cNvSpPr>
          <p:nvPr/>
        </p:nvSpPr>
        <p:spPr>
          <a:xfrm>
            <a:off x="131176" y="5876731"/>
            <a:ext cx="5867400" cy="720099"/>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sz="2200" b="1" dirty="0">
                <a:solidFill>
                  <a:schemeClr val="accent6"/>
                </a:solidFill>
              </a:rPr>
              <a:t>Actuator Arm</a:t>
            </a:r>
            <a:r>
              <a:rPr lang="en-US" sz="2200" dirty="0"/>
              <a:t>: </a:t>
            </a:r>
            <a:r>
              <a:rPr lang="en-US" dirty="0"/>
              <a:t>A mechanical arm that moves the read-write heads across the platters.</a:t>
            </a:r>
            <a:endParaRPr lang="en-US" sz="2200" b="1" dirty="0">
              <a:solidFill>
                <a:schemeClr val="accent6"/>
              </a:solidFill>
            </a:endParaRPr>
          </a:p>
        </p:txBody>
      </p:sp>
      <p:sp>
        <p:nvSpPr>
          <p:cNvPr id="35" name="Rectangle: Rounded Corners 34">
            <a:extLst>
              <a:ext uri="{FF2B5EF4-FFF2-40B4-BE49-F238E27FC236}">
                <a16:creationId xmlns:a16="http://schemas.microsoft.com/office/drawing/2014/main" id="{D666C3C6-E12C-E1D9-8DBA-004816384D03}"/>
              </a:ext>
            </a:extLst>
          </p:cNvPr>
          <p:cNvSpPr/>
          <p:nvPr/>
        </p:nvSpPr>
        <p:spPr>
          <a:xfrm>
            <a:off x="10813772" y="2242010"/>
            <a:ext cx="1247048" cy="310215"/>
          </a:xfrm>
          <a:prstGeom prst="roundRect">
            <a:avLst/>
          </a:prstGeom>
          <a:noFill/>
          <a:ln w="1905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15704544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fade">
                                      <p:cBhvr>
                                        <p:cTn id="11" dur="500"/>
                                        <p:tgtEl>
                                          <p:spTgt spid="3">
                                            <p:txEl>
                                              <p:pRg st="0" end="0"/>
                                            </p:txEl>
                                          </p:spTgt>
                                        </p:tgtEl>
                                      </p:cBhvr>
                                    </p:animEffect>
                                  </p:childTnLst>
                                </p:cTn>
                              </p:par>
                              <p:par>
                                <p:cTn id="12" presetID="1" presetClass="entr" presetSubtype="0"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childTnLst>
                                  <p:subTnLst>
                                    <p:set>
                                      <p:cBhvr override="childStyle">
                                        <p:cTn dur="1" fill="hold" display="0" masterRel="nextClick" afterEffect="1"/>
                                        <p:tgtEl>
                                          <p:spTgt spid="5"/>
                                        </p:tgtEl>
                                        <p:attrNameLst>
                                          <p:attrName>style.visibility</p:attrName>
                                        </p:attrNameLst>
                                      </p:cBhvr>
                                      <p:to>
                                        <p:strVal val="hidden"/>
                                      </p:to>
                                    </p:set>
                                  </p:sub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9">
                                            <p:txEl>
                                              <p:pRg st="0" end="0"/>
                                            </p:txEl>
                                          </p:spTgt>
                                        </p:tgtEl>
                                        <p:attrNameLst>
                                          <p:attrName>style.visibility</p:attrName>
                                        </p:attrNameLst>
                                      </p:cBhvr>
                                      <p:to>
                                        <p:strVal val="visible"/>
                                      </p:to>
                                    </p:set>
                                    <p:animEffect transition="in" filter="fade">
                                      <p:cBhvr>
                                        <p:cTn id="18" dur="500"/>
                                        <p:tgtEl>
                                          <p:spTgt spid="19">
                                            <p:txEl>
                                              <p:pRg st="0" end="0"/>
                                            </p:txEl>
                                          </p:spTgt>
                                        </p:tgtEl>
                                      </p:cBhvr>
                                    </p:animEffec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subTnLst>
                                    <p:set>
                                      <p:cBhvr override="childStyle">
                                        <p:cTn dur="1" fill="hold" display="0" masterRel="nextClick" afterEffect="1"/>
                                        <p:tgtEl>
                                          <p:spTgt spid="18"/>
                                        </p:tgtEl>
                                        <p:attrNameLst>
                                          <p:attrName>style.visibility</p:attrName>
                                        </p:attrNameLst>
                                      </p:cBhvr>
                                      <p:to>
                                        <p:strVal val="hidden"/>
                                      </p:to>
                                    </p:set>
                                  </p:sub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20">
                                            <p:txEl>
                                              <p:pRg st="0" end="0"/>
                                            </p:txEl>
                                          </p:spTgt>
                                        </p:tgtEl>
                                        <p:attrNameLst>
                                          <p:attrName>style.visibility</p:attrName>
                                        </p:attrNameLst>
                                      </p:cBhvr>
                                      <p:to>
                                        <p:strVal val="visible"/>
                                      </p:to>
                                    </p:set>
                                    <p:animEffect transition="in" filter="fade">
                                      <p:cBhvr>
                                        <p:cTn id="25" dur="500"/>
                                        <p:tgtEl>
                                          <p:spTgt spid="20">
                                            <p:txEl>
                                              <p:pRg st="0" end="0"/>
                                            </p:txEl>
                                          </p:spTgt>
                                        </p:tgtEl>
                                      </p:cBhvr>
                                    </p:animEffect>
                                  </p:childTnLst>
                                </p:cTn>
                              </p:par>
                              <p:par>
                                <p:cTn id="26" presetID="1" presetClass="entr" presetSubtype="0" fill="hold" grpId="0" nodeType="withEffect">
                                  <p:stCondLst>
                                    <p:cond delay="0"/>
                                  </p:stCondLst>
                                  <p:childTnLst>
                                    <p:set>
                                      <p:cBhvr>
                                        <p:cTn id="27" dur="1" fill="hold">
                                          <p:stCondLst>
                                            <p:cond delay="0"/>
                                          </p:stCondLst>
                                        </p:cTn>
                                        <p:tgtEl>
                                          <p:spTgt spid="16"/>
                                        </p:tgtEl>
                                        <p:attrNameLst>
                                          <p:attrName>style.visibility</p:attrName>
                                        </p:attrNameLst>
                                      </p:cBhvr>
                                      <p:to>
                                        <p:strVal val="visible"/>
                                      </p:to>
                                    </p:set>
                                  </p:childTnLst>
                                  <p:subTnLst>
                                    <p:set>
                                      <p:cBhvr override="childStyle">
                                        <p:cTn dur="1" fill="hold" display="0" masterRel="nextClick" afterEffect="1"/>
                                        <p:tgtEl>
                                          <p:spTgt spid="16"/>
                                        </p:tgtEl>
                                        <p:attrNameLst>
                                          <p:attrName>style.visibility</p:attrName>
                                        </p:attrNameLst>
                                      </p:cBhvr>
                                      <p:to>
                                        <p:strVal val="hidden"/>
                                      </p:to>
                                    </p:set>
                                  </p:sub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1">
                                            <p:txEl>
                                              <p:pRg st="0" end="0"/>
                                            </p:txEl>
                                          </p:spTgt>
                                        </p:tgtEl>
                                        <p:attrNameLst>
                                          <p:attrName>style.visibility</p:attrName>
                                        </p:attrNameLst>
                                      </p:cBhvr>
                                      <p:to>
                                        <p:strVal val="visible"/>
                                      </p:to>
                                    </p:set>
                                    <p:animEffect transition="in" filter="fade">
                                      <p:cBhvr>
                                        <p:cTn id="32" dur="500"/>
                                        <p:tgtEl>
                                          <p:spTgt spid="21">
                                            <p:txEl>
                                              <p:pRg st="0" end="0"/>
                                            </p:txEl>
                                          </p:spTgt>
                                        </p:tgtEl>
                                      </p:cBhvr>
                                    </p:animEffect>
                                  </p:childTnLst>
                                </p:cTn>
                              </p:par>
                              <p:par>
                                <p:cTn id="33" presetID="1" presetClass="entr" presetSubtype="0"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childTnLst>
                                  <p:subTnLst>
                                    <p:set>
                                      <p:cBhvr override="childStyle">
                                        <p:cTn dur="1" fill="hold" display="0" masterRel="nextClick" afterEffect="1"/>
                                        <p:tgtEl>
                                          <p:spTgt spid="17"/>
                                        </p:tgtEl>
                                        <p:attrNameLst>
                                          <p:attrName>style.visibility</p:attrName>
                                        </p:attrNameLst>
                                      </p:cBhvr>
                                      <p:to>
                                        <p:strVal val="hidden"/>
                                      </p:to>
                                    </p:set>
                                  </p:sub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22">
                                            <p:txEl>
                                              <p:pRg st="0" end="0"/>
                                            </p:txEl>
                                          </p:spTgt>
                                        </p:tgtEl>
                                        <p:attrNameLst>
                                          <p:attrName>style.visibility</p:attrName>
                                        </p:attrNameLst>
                                      </p:cBhvr>
                                      <p:to>
                                        <p:strVal val="visible"/>
                                      </p:to>
                                    </p:set>
                                    <p:animEffect transition="in" filter="fade">
                                      <p:cBhvr>
                                        <p:cTn id="39" dur="500"/>
                                        <p:tgtEl>
                                          <p:spTgt spid="22">
                                            <p:txEl>
                                              <p:pRg st="0" end="0"/>
                                            </p:txEl>
                                          </p:spTgt>
                                        </p:tgtEl>
                                      </p:cBhvr>
                                    </p:animEffect>
                                  </p:childTnLst>
                                </p:cTn>
                              </p:par>
                              <p:par>
                                <p:cTn id="40" presetID="1" presetClass="entr" presetSubtype="0" fill="hold" grpId="0" nodeType="withEffect">
                                  <p:stCondLst>
                                    <p:cond delay="0"/>
                                  </p:stCondLst>
                                  <p:childTnLst>
                                    <p:set>
                                      <p:cBhvr>
                                        <p:cTn id="41" dur="1" fill="hold">
                                          <p:stCondLst>
                                            <p:cond delay="0"/>
                                          </p:stCondLst>
                                        </p:cTn>
                                        <p:tgtEl>
                                          <p:spTgt spid="15"/>
                                        </p:tgtEl>
                                        <p:attrNameLst>
                                          <p:attrName>style.visibility</p:attrName>
                                        </p:attrNameLst>
                                      </p:cBhvr>
                                      <p:to>
                                        <p:strVal val="visible"/>
                                      </p:to>
                                    </p:set>
                                  </p:childTnLst>
                                  <p:subTnLst>
                                    <p:set>
                                      <p:cBhvr override="childStyle">
                                        <p:cTn dur="1" fill="hold" display="0" masterRel="nextClick" afterEffect="1"/>
                                        <p:tgtEl>
                                          <p:spTgt spid="15"/>
                                        </p:tgtEl>
                                        <p:attrNameLst>
                                          <p:attrName>style.visibility</p:attrName>
                                        </p:attrNameLst>
                                      </p:cBhvr>
                                      <p:to>
                                        <p:strVal val="hidden"/>
                                      </p:to>
                                    </p:set>
                                  </p:sub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31">
                                            <p:txEl>
                                              <p:pRg st="0" end="0"/>
                                            </p:txEl>
                                          </p:spTgt>
                                        </p:tgtEl>
                                        <p:attrNameLst>
                                          <p:attrName>style.visibility</p:attrName>
                                        </p:attrNameLst>
                                      </p:cBhvr>
                                      <p:to>
                                        <p:strVal val="visible"/>
                                      </p:to>
                                    </p:set>
                                    <p:animEffect transition="in" filter="fade">
                                      <p:cBhvr>
                                        <p:cTn id="46" dur="500"/>
                                        <p:tgtEl>
                                          <p:spTgt spid="31">
                                            <p:txEl>
                                              <p:pRg st="0" end="0"/>
                                            </p:txEl>
                                          </p:spTgt>
                                        </p:tgtEl>
                                      </p:cBhvr>
                                    </p:animEffect>
                                  </p:childTnLst>
                                </p:cTn>
                              </p:par>
                              <p:par>
                                <p:cTn id="47" presetID="1" presetClass="entr" presetSubtype="0" fill="hold" grpId="0" nodeType="withEffect">
                                  <p:stCondLst>
                                    <p:cond delay="0"/>
                                  </p:stCondLst>
                                  <p:childTnLst>
                                    <p:set>
                                      <p:cBhvr>
                                        <p:cTn id="48" dur="1" fill="hold">
                                          <p:stCondLst>
                                            <p:cond delay="0"/>
                                          </p:stCondLst>
                                        </p:cTn>
                                        <p:tgtEl>
                                          <p:spTgt spid="33"/>
                                        </p:tgtEl>
                                        <p:attrNameLst>
                                          <p:attrName>style.visibility</p:attrName>
                                        </p:attrNameLst>
                                      </p:cBhvr>
                                      <p:to>
                                        <p:strVal val="visible"/>
                                      </p:to>
                                    </p:set>
                                  </p:childTnLst>
                                  <p:subTnLst>
                                    <p:set>
                                      <p:cBhvr override="childStyle">
                                        <p:cTn dur="1" fill="hold" display="0" masterRel="nextClick" afterEffect="1"/>
                                        <p:tgtEl>
                                          <p:spTgt spid="33"/>
                                        </p:tgtEl>
                                        <p:attrNameLst>
                                          <p:attrName>style.visibility</p:attrName>
                                        </p:attrNameLst>
                                      </p:cBhvr>
                                      <p:to>
                                        <p:strVal val="hidden"/>
                                      </p:to>
                                    </p:set>
                                  </p:sub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34">
                                            <p:txEl>
                                              <p:pRg st="0" end="0"/>
                                            </p:txEl>
                                          </p:spTgt>
                                        </p:tgtEl>
                                        <p:attrNameLst>
                                          <p:attrName>style.visibility</p:attrName>
                                        </p:attrNameLst>
                                      </p:cBhvr>
                                      <p:to>
                                        <p:strVal val="visible"/>
                                      </p:to>
                                    </p:set>
                                    <p:animEffect transition="in" filter="fade">
                                      <p:cBhvr>
                                        <p:cTn id="53" dur="500"/>
                                        <p:tgtEl>
                                          <p:spTgt spid="34">
                                            <p:txEl>
                                              <p:pRg st="0" end="0"/>
                                            </p:txEl>
                                          </p:spTgt>
                                        </p:tgtEl>
                                      </p:cBhvr>
                                    </p:animEffect>
                                  </p:childTnLst>
                                </p:cTn>
                              </p:par>
                              <p:par>
                                <p:cTn id="54" presetID="1" presetClass="entr" presetSubtype="0" fill="hold" grpId="0" nodeType="withEffect">
                                  <p:stCondLst>
                                    <p:cond delay="0"/>
                                  </p:stCondLst>
                                  <p:childTnLst>
                                    <p:set>
                                      <p:cBhvr>
                                        <p:cTn id="55" dur="1" fill="hold">
                                          <p:stCondLst>
                                            <p:cond delay="0"/>
                                          </p:stCondLst>
                                        </p:cTn>
                                        <p:tgtEl>
                                          <p:spTgt spid="35"/>
                                        </p:tgtEl>
                                        <p:attrNameLst>
                                          <p:attrName>style.visibility</p:attrName>
                                        </p:attrNameLst>
                                      </p:cBhvr>
                                      <p:to>
                                        <p:strVal val="visible"/>
                                      </p:to>
                                    </p:set>
                                  </p:childTnLst>
                                  <p:subTnLst>
                                    <p:set>
                                      <p:cBhvr override="childStyle">
                                        <p:cTn dur="1" fill="hold" display="0" masterRel="nextClick" afterEffect="1"/>
                                        <p:tgtEl>
                                          <p:spTgt spid="35"/>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5" grpId="0" animBg="1"/>
      <p:bldP spid="16" grpId="0" animBg="1"/>
      <p:bldP spid="17" grpId="0" animBg="1"/>
      <p:bldP spid="18" grpId="0" animBg="1"/>
      <p:bldP spid="33" grpId="0" animBg="1"/>
      <p:bldP spid="3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BBA104-4AB0-D898-0ED5-ABA35294EC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9BCC10-A5B0-0557-C232-D524F59DB694}"/>
              </a:ext>
            </a:extLst>
          </p:cNvPr>
          <p:cNvSpPr>
            <a:spLocks noGrp="1"/>
          </p:cNvSpPr>
          <p:nvPr>
            <p:ph type="title"/>
          </p:nvPr>
        </p:nvSpPr>
        <p:spPr>
          <a:xfrm>
            <a:off x="0" y="1"/>
            <a:ext cx="12192000" cy="711200"/>
          </a:xfrm>
        </p:spPr>
        <p:txBody>
          <a:bodyPr/>
          <a:lstStyle/>
          <a:p>
            <a:r>
              <a:rPr lang="en-US" sz="3200" dirty="0"/>
              <a:t>Internal structure of HDD (Conti…)</a:t>
            </a:r>
            <a:endParaRPr lang="en-US" dirty="0"/>
          </a:p>
        </p:txBody>
      </p:sp>
      <p:sp>
        <p:nvSpPr>
          <p:cNvPr id="3" name="Content Placeholder 2">
            <a:extLst>
              <a:ext uri="{FF2B5EF4-FFF2-40B4-BE49-F238E27FC236}">
                <a16:creationId xmlns:a16="http://schemas.microsoft.com/office/drawing/2014/main" id="{26136671-E4D8-AAF0-1F57-2B6F8FAA0C56}"/>
              </a:ext>
            </a:extLst>
          </p:cNvPr>
          <p:cNvSpPr>
            <a:spLocks noGrp="1"/>
          </p:cNvSpPr>
          <p:nvPr>
            <p:ph idx="1"/>
          </p:nvPr>
        </p:nvSpPr>
        <p:spPr>
          <a:xfrm>
            <a:off x="131180" y="863444"/>
            <a:ext cx="11931118" cy="5590565"/>
          </a:xfrm>
        </p:spPr>
        <p:txBody>
          <a:bodyPr/>
          <a:lstStyle/>
          <a:p>
            <a:r>
              <a:rPr lang="en-US" dirty="0"/>
              <a:t>When a </a:t>
            </a:r>
            <a:r>
              <a:rPr lang="en-US" b="1" dirty="0">
                <a:solidFill>
                  <a:schemeClr val="accent6"/>
                </a:solidFill>
              </a:rPr>
              <a:t>hard disk drive</a:t>
            </a:r>
            <a:r>
              <a:rPr lang="en-US" b="1" dirty="0"/>
              <a:t> (</a:t>
            </a:r>
            <a:r>
              <a:rPr lang="en-US" b="1" dirty="0">
                <a:solidFill>
                  <a:schemeClr val="tx2"/>
                </a:solidFill>
              </a:rPr>
              <a:t>HDD</a:t>
            </a:r>
            <a:r>
              <a:rPr lang="en-US" b="1" dirty="0"/>
              <a:t>)</a:t>
            </a:r>
            <a:r>
              <a:rPr lang="en-US" dirty="0"/>
              <a:t> operates, the </a:t>
            </a:r>
            <a:r>
              <a:rPr lang="en-US" b="1" dirty="0">
                <a:solidFill>
                  <a:schemeClr val="accent6"/>
                </a:solidFill>
              </a:rPr>
              <a:t>disk platter</a:t>
            </a:r>
            <a:r>
              <a:rPr lang="en-US" dirty="0">
                <a:solidFill>
                  <a:schemeClr val="accent6"/>
                </a:solidFill>
              </a:rPr>
              <a:t> </a:t>
            </a:r>
            <a:r>
              <a:rPr lang="en-US" dirty="0"/>
              <a:t>rotates at a constant speed, to perform a read or write operation.</a:t>
            </a:r>
          </a:p>
          <a:p>
            <a:r>
              <a:rPr lang="en-US" sz="2200" dirty="0"/>
              <a:t>T</a:t>
            </a:r>
            <a:r>
              <a:rPr lang="en-US" dirty="0"/>
              <a:t>he </a:t>
            </a:r>
            <a:r>
              <a:rPr lang="en-US" b="1" dirty="0">
                <a:solidFill>
                  <a:schemeClr val="accent6"/>
                </a:solidFill>
              </a:rPr>
              <a:t>read</a:t>
            </a:r>
            <a:r>
              <a:rPr lang="en-US" b="1" dirty="0"/>
              <a:t>/</a:t>
            </a:r>
            <a:r>
              <a:rPr lang="en-US" b="1" dirty="0">
                <a:solidFill>
                  <a:schemeClr val="accent6"/>
                </a:solidFill>
              </a:rPr>
              <a:t>write head</a:t>
            </a:r>
            <a:r>
              <a:rPr lang="en-US" dirty="0">
                <a:solidFill>
                  <a:schemeClr val="accent6"/>
                </a:solidFill>
              </a:rPr>
              <a:t> </a:t>
            </a:r>
            <a:r>
              <a:rPr lang="en-US" dirty="0"/>
              <a:t>must align with</a:t>
            </a:r>
            <a:r>
              <a:rPr lang="en-US" b="1" dirty="0"/>
              <a:t>:</a:t>
            </a:r>
          </a:p>
          <a:p>
            <a:pPr marL="914400" lvl="1" indent="-457200">
              <a:buFont typeface="+mj-lt"/>
              <a:buAutoNum type="arabicPeriod"/>
            </a:pPr>
            <a:r>
              <a:rPr lang="en-US" sz="2200" dirty="0"/>
              <a:t>The </a:t>
            </a:r>
            <a:r>
              <a:rPr lang="en-US" sz="2200" b="1" dirty="0">
                <a:solidFill>
                  <a:schemeClr val="accent6"/>
                </a:solidFill>
              </a:rPr>
              <a:t>desired track</a:t>
            </a:r>
            <a:r>
              <a:rPr lang="en-US" sz="2200" dirty="0"/>
              <a:t>.</a:t>
            </a:r>
          </a:p>
          <a:p>
            <a:pPr marL="914400" lvl="1" indent="-457200">
              <a:buFont typeface="+mj-lt"/>
              <a:buAutoNum type="arabicPeriod"/>
            </a:pPr>
            <a:r>
              <a:rPr lang="en-US" sz="2200" dirty="0"/>
              <a:t>The </a:t>
            </a:r>
            <a:r>
              <a:rPr lang="en-US" sz="2200" b="1" dirty="0">
                <a:solidFill>
                  <a:schemeClr val="accent6"/>
                </a:solidFill>
              </a:rPr>
              <a:t>beginning of the desired sector</a:t>
            </a:r>
            <a:r>
              <a:rPr lang="en-US" sz="2200" dirty="0"/>
              <a:t>.</a:t>
            </a:r>
          </a:p>
          <a:p>
            <a:r>
              <a:rPr lang="en-IN" b="1" dirty="0"/>
              <a:t>Track Selection Process:</a:t>
            </a:r>
          </a:p>
          <a:p>
            <a:pPr lvl="1"/>
            <a:r>
              <a:rPr lang="en-US" sz="2200" dirty="0"/>
              <a:t>In a </a:t>
            </a:r>
            <a:r>
              <a:rPr lang="en-US" sz="2200" b="1" dirty="0">
                <a:solidFill>
                  <a:schemeClr val="accent6"/>
                </a:solidFill>
              </a:rPr>
              <a:t>movable-head system</a:t>
            </a:r>
            <a:r>
              <a:rPr lang="en-US" sz="2200" dirty="0"/>
              <a:t>, the disk arm physically moves to the target track.</a:t>
            </a:r>
          </a:p>
          <a:p>
            <a:pPr lvl="1"/>
            <a:r>
              <a:rPr lang="en-US" sz="2200" dirty="0"/>
              <a:t>In a </a:t>
            </a:r>
            <a:r>
              <a:rPr lang="en-US" sz="2200" b="1" dirty="0">
                <a:solidFill>
                  <a:schemeClr val="accent6"/>
                </a:solidFill>
              </a:rPr>
              <a:t>fixed-head system</a:t>
            </a:r>
            <a:r>
              <a:rPr lang="en-US" sz="2200" dirty="0"/>
              <a:t>, the appropriate head is electronically activated for the track.</a:t>
            </a:r>
            <a:endParaRPr lang="en-US" sz="2200" dirty="0">
              <a:solidFill>
                <a:schemeClr val="accent6"/>
              </a:solidFill>
            </a:endParaRPr>
          </a:p>
          <a:p>
            <a:r>
              <a:rPr lang="en-IN" b="1" dirty="0"/>
              <a:t>Key Timing Metrics:</a:t>
            </a:r>
          </a:p>
          <a:p>
            <a:pPr lvl="1"/>
            <a:r>
              <a:rPr lang="en-US" sz="2200" b="1" dirty="0">
                <a:solidFill>
                  <a:schemeClr val="accent6"/>
                </a:solidFill>
              </a:rPr>
              <a:t>Seek Time</a:t>
            </a:r>
            <a:r>
              <a:rPr lang="en-US" sz="2200" dirty="0"/>
              <a:t>: The time taken by the read/write head to move to the correct track (cylinder) on the disk platter.</a:t>
            </a:r>
          </a:p>
          <a:p>
            <a:pPr lvl="1"/>
            <a:r>
              <a:rPr lang="en-US" sz="2200" b="1" dirty="0">
                <a:solidFill>
                  <a:schemeClr val="accent6"/>
                </a:solidFill>
              </a:rPr>
              <a:t>Rotational Latency </a:t>
            </a:r>
            <a:r>
              <a:rPr lang="en-US" sz="2200" b="1" dirty="0"/>
              <a:t>(</a:t>
            </a:r>
            <a:r>
              <a:rPr lang="en-US" sz="2200" b="1" dirty="0">
                <a:solidFill>
                  <a:schemeClr val="tx2"/>
                </a:solidFill>
              </a:rPr>
              <a:t>Rotational Delay</a:t>
            </a:r>
            <a:r>
              <a:rPr lang="en-US" sz="2200" b="1" dirty="0"/>
              <a:t>)</a:t>
            </a:r>
            <a:r>
              <a:rPr lang="en-US" sz="2200" dirty="0"/>
              <a:t>: The time taken for the desired sector to rotate under the read/write head after the head is positioned on the correct track.</a:t>
            </a:r>
          </a:p>
          <a:p>
            <a:pPr lvl="1"/>
            <a:r>
              <a:rPr lang="en-US" sz="2200" b="1" dirty="0">
                <a:solidFill>
                  <a:schemeClr val="accent6"/>
                </a:solidFill>
              </a:rPr>
              <a:t>Access Time</a:t>
            </a:r>
            <a:r>
              <a:rPr lang="en-US" sz="2200" dirty="0"/>
              <a:t>: The total time taken to locate and retrieve data, combining:</a:t>
            </a:r>
          </a:p>
          <a:p>
            <a:pPr marL="457200" lvl="1" indent="0">
              <a:buNone/>
            </a:pPr>
            <a:r>
              <a:rPr lang="en-US" sz="2200" dirty="0"/>
              <a:t>     </a:t>
            </a:r>
            <a:r>
              <a:rPr lang="en-US" sz="2000" dirty="0"/>
              <a:t>Seek Time </a:t>
            </a:r>
            <a:r>
              <a:rPr lang="en-US" sz="2000" b="1" dirty="0"/>
              <a:t>+</a:t>
            </a:r>
            <a:r>
              <a:rPr lang="en-US" sz="2000" dirty="0"/>
              <a:t> Rotational Latency</a:t>
            </a:r>
          </a:p>
        </p:txBody>
      </p:sp>
    </p:spTree>
    <p:extLst>
      <p:ext uri="{BB962C8B-B14F-4D97-AF65-F5344CB8AC3E}">
        <p14:creationId xmlns:p14="http://schemas.microsoft.com/office/powerpoint/2010/main" val="774254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fade">
                                      <p:cBhvr>
                                        <p:cTn id="57" dur="500"/>
                                        <p:tgtEl>
                                          <p:spTgt spid="3">
                                            <p:txEl>
                                              <p:pRg st="10" end="10"/>
                                            </p:txEl>
                                          </p:spTgt>
                                        </p:tgtEl>
                                      </p:cBhvr>
                                    </p:animEffect>
                                  </p:childTnLst>
                                </p:cTn>
                              </p:par>
                              <p:par>
                                <p:cTn id="58" presetID="10" presetClass="entr" presetSubtype="0" fill="hold" nodeType="withEffect">
                                  <p:stCondLst>
                                    <p:cond delay="0"/>
                                  </p:stCondLst>
                                  <p:childTnLst>
                                    <p:set>
                                      <p:cBhvr>
                                        <p:cTn id="59" dur="1" fill="hold">
                                          <p:stCondLst>
                                            <p:cond delay="0"/>
                                          </p:stCondLst>
                                        </p:cTn>
                                        <p:tgtEl>
                                          <p:spTgt spid="3">
                                            <p:txEl>
                                              <p:pRg st="11" end="11"/>
                                            </p:txEl>
                                          </p:spTgt>
                                        </p:tgtEl>
                                        <p:attrNameLst>
                                          <p:attrName>style.visibility</p:attrName>
                                        </p:attrNameLst>
                                      </p:cBhvr>
                                      <p:to>
                                        <p:strVal val="visible"/>
                                      </p:to>
                                    </p:set>
                                    <p:animEffect transition="in" filter="fade">
                                      <p:cBhvr>
                                        <p:cTn id="60"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9E3A3-D098-2A12-7676-A3577266AFF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B375F19-A9D3-7103-FD07-07B9BAAD783B}"/>
              </a:ext>
            </a:extLst>
          </p:cNvPr>
          <p:cNvSpPr>
            <a:spLocks noGrp="1"/>
          </p:cNvSpPr>
          <p:nvPr>
            <p:ph type="title"/>
          </p:nvPr>
        </p:nvSpPr>
        <p:spPr/>
        <p:txBody>
          <a:bodyPr>
            <a:normAutofit fontScale="90000"/>
          </a:bodyPr>
          <a:lstStyle/>
          <a:p>
            <a:r>
              <a:rPr lang="en-US" dirty="0">
                <a:gradFill flip="none" rotWithShape="1">
                  <a:gsLst>
                    <a:gs pos="10000">
                      <a:schemeClr val="accent6">
                        <a:lumMod val="50000"/>
                      </a:schemeClr>
                    </a:gs>
                    <a:gs pos="100000">
                      <a:schemeClr val="accent6"/>
                    </a:gs>
                  </a:gsLst>
                  <a:lin ang="0" scaled="1"/>
                  <a:tileRect/>
                </a:gradFill>
              </a:rPr>
              <a:t/>
            </a:r>
            <a:br>
              <a:rPr lang="en-US" dirty="0">
                <a:gradFill flip="none" rotWithShape="1">
                  <a:gsLst>
                    <a:gs pos="10000">
                      <a:schemeClr val="accent6">
                        <a:lumMod val="50000"/>
                      </a:schemeClr>
                    </a:gs>
                    <a:gs pos="100000">
                      <a:schemeClr val="accent6"/>
                    </a:gs>
                  </a:gsLst>
                  <a:lin ang="0" scaled="1"/>
                  <a:tileRect/>
                </a:gradFill>
              </a:rPr>
            </a:br>
            <a:r>
              <a:rPr lang="en-US" dirty="0">
                <a:gradFill flip="none" rotWithShape="1">
                  <a:gsLst>
                    <a:gs pos="10000">
                      <a:schemeClr val="accent6">
                        <a:lumMod val="50000"/>
                      </a:schemeClr>
                    </a:gs>
                    <a:gs pos="100000">
                      <a:schemeClr val="accent6"/>
                    </a:gs>
                  </a:gsLst>
                  <a:lin ang="0" scaled="1"/>
                  <a:tileRect/>
                </a:gradFill>
              </a:rPr>
              <a:t/>
            </a:r>
            <a:br>
              <a:rPr lang="en-US" dirty="0">
                <a:gradFill flip="none" rotWithShape="1">
                  <a:gsLst>
                    <a:gs pos="10000">
                      <a:schemeClr val="accent6">
                        <a:lumMod val="50000"/>
                      </a:schemeClr>
                    </a:gs>
                    <a:gs pos="100000">
                      <a:schemeClr val="accent6"/>
                    </a:gs>
                  </a:gsLst>
                  <a:lin ang="0" scaled="1"/>
                  <a:tileRect/>
                </a:gradFill>
              </a:rPr>
            </a:br>
            <a:r>
              <a:rPr lang="en-US" dirty="0">
                <a:gradFill flip="none" rotWithShape="1">
                  <a:gsLst>
                    <a:gs pos="10000">
                      <a:schemeClr val="accent6">
                        <a:lumMod val="50000"/>
                      </a:schemeClr>
                    </a:gs>
                    <a:gs pos="100000">
                      <a:schemeClr val="accent6"/>
                    </a:gs>
                  </a:gsLst>
                  <a:lin ang="0" scaled="1"/>
                  <a:tileRect/>
                </a:gradFill>
              </a:rPr>
              <a:t/>
            </a:r>
            <a:br>
              <a:rPr lang="en-US" dirty="0">
                <a:gradFill flip="none" rotWithShape="1">
                  <a:gsLst>
                    <a:gs pos="10000">
                      <a:schemeClr val="accent6">
                        <a:lumMod val="50000"/>
                      </a:schemeClr>
                    </a:gs>
                    <a:gs pos="100000">
                      <a:schemeClr val="accent6"/>
                    </a:gs>
                  </a:gsLst>
                  <a:lin ang="0" scaled="1"/>
                  <a:tileRect/>
                </a:gradFill>
              </a:rPr>
            </a:br>
            <a:r>
              <a:rPr lang="en-US" dirty="0">
                <a:gradFill flip="none" rotWithShape="1">
                  <a:gsLst>
                    <a:gs pos="10000">
                      <a:schemeClr val="accent6">
                        <a:lumMod val="50000"/>
                      </a:schemeClr>
                    </a:gs>
                    <a:gs pos="100000">
                      <a:schemeClr val="accent6"/>
                    </a:gs>
                  </a:gsLst>
                  <a:lin ang="0" scaled="1"/>
                  <a:tileRect/>
                </a:gradFill>
              </a:rPr>
              <a:t/>
            </a:r>
            <a:br>
              <a:rPr lang="en-US" dirty="0">
                <a:gradFill flip="none" rotWithShape="1">
                  <a:gsLst>
                    <a:gs pos="10000">
                      <a:schemeClr val="accent6">
                        <a:lumMod val="50000"/>
                      </a:schemeClr>
                    </a:gs>
                    <a:gs pos="100000">
                      <a:schemeClr val="accent6"/>
                    </a:gs>
                  </a:gsLst>
                  <a:lin ang="0" scaled="1"/>
                  <a:tileRect/>
                </a:gradFill>
              </a:rPr>
            </a:br>
            <a:r>
              <a:rPr lang="en-US" dirty="0">
                <a:gradFill flip="none" rotWithShape="1">
                  <a:gsLst>
                    <a:gs pos="10000">
                      <a:schemeClr val="accent6">
                        <a:lumMod val="50000"/>
                      </a:schemeClr>
                    </a:gs>
                    <a:gs pos="100000">
                      <a:schemeClr val="accent6"/>
                    </a:gs>
                  </a:gsLst>
                  <a:lin ang="0" scaled="1"/>
                  <a:tileRect/>
                </a:gradFill>
              </a:rPr>
              <a:t>Disk Scheduling Algorithms</a:t>
            </a:r>
          </a:p>
        </p:txBody>
      </p:sp>
      <p:sp>
        <p:nvSpPr>
          <p:cNvPr id="5" name="Text Placeholder 4">
            <a:extLst>
              <a:ext uri="{FF2B5EF4-FFF2-40B4-BE49-F238E27FC236}">
                <a16:creationId xmlns:a16="http://schemas.microsoft.com/office/drawing/2014/main" id="{C226013E-F2C6-DD58-CECD-A2F2F25F9481}"/>
              </a:ext>
            </a:extLst>
          </p:cNvPr>
          <p:cNvSpPr>
            <a:spLocks noGrp="1"/>
          </p:cNvSpPr>
          <p:nvPr>
            <p:ph type="body" idx="1"/>
          </p:nvPr>
        </p:nvSpPr>
        <p:spPr/>
        <p:txBody>
          <a:bodyPr/>
          <a:lstStyle/>
          <a:p>
            <a:r>
              <a:rPr lang="en-US" dirty="0"/>
              <a:t>Section – 4</a:t>
            </a:r>
          </a:p>
          <a:p>
            <a:endParaRPr lang="en-US" dirty="0"/>
          </a:p>
        </p:txBody>
      </p:sp>
    </p:spTree>
    <p:extLst>
      <p:ext uri="{BB962C8B-B14F-4D97-AF65-F5344CB8AC3E}">
        <p14:creationId xmlns:p14="http://schemas.microsoft.com/office/powerpoint/2010/main" val="8285394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3B6E02-C3A9-25CA-E63C-E38B0F999A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239A60-99D9-9665-EDB4-1FF4046AB400}"/>
              </a:ext>
            </a:extLst>
          </p:cNvPr>
          <p:cNvSpPr>
            <a:spLocks noGrp="1"/>
          </p:cNvSpPr>
          <p:nvPr>
            <p:ph type="title"/>
          </p:nvPr>
        </p:nvSpPr>
        <p:spPr>
          <a:xfrm>
            <a:off x="0" y="1"/>
            <a:ext cx="12192000" cy="711200"/>
          </a:xfrm>
        </p:spPr>
        <p:txBody>
          <a:bodyPr>
            <a:normAutofit/>
          </a:bodyPr>
          <a:lstStyle/>
          <a:p>
            <a:r>
              <a:rPr lang="en-US" dirty="0"/>
              <a:t>Disk Scheduling Algorithm</a:t>
            </a:r>
          </a:p>
        </p:txBody>
      </p:sp>
      <p:sp>
        <p:nvSpPr>
          <p:cNvPr id="3" name="Content Placeholder 2">
            <a:extLst>
              <a:ext uri="{FF2B5EF4-FFF2-40B4-BE49-F238E27FC236}">
                <a16:creationId xmlns:a16="http://schemas.microsoft.com/office/drawing/2014/main" id="{9E8C9E84-AF17-2CA5-BDF5-142D7845D777}"/>
              </a:ext>
            </a:extLst>
          </p:cNvPr>
          <p:cNvSpPr>
            <a:spLocks noGrp="1"/>
          </p:cNvSpPr>
          <p:nvPr>
            <p:ph idx="1"/>
          </p:nvPr>
        </p:nvSpPr>
        <p:spPr>
          <a:xfrm>
            <a:off x="131180" y="863444"/>
            <a:ext cx="11929641" cy="5590565"/>
          </a:xfrm>
        </p:spPr>
        <p:txBody>
          <a:bodyPr/>
          <a:lstStyle/>
          <a:p>
            <a:r>
              <a:rPr lang="en-US" dirty="0"/>
              <a:t>A </a:t>
            </a:r>
            <a:r>
              <a:rPr lang="en-US" b="1" dirty="0">
                <a:solidFill>
                  <a:schemeClr val="accent6"/>
                </a:solidFill>
              </a:rPr>
              <a:t>disk scheduling algorithm</a:t>
            </a:r>
            <a:r>
              <a:rPr lang="en-US" dirty="0">
                <a:solidFill>
                  <a:schemeClr val="accent6"/>
                </a:solidFill>
              </a:rPr>
              <a:t> </a:t>
            </a:r>
            <a:r>
              <a:rPr lang="en-US" dirty="0"/>
              <a:t>is a method used by the operating system to determine the order in which </a:t>
            </a:r>
            <a:r>
              <a:rPr lang="en-US" b="1" dirty="0">
                <a:solidFill>
                  <a:schemeClr val="accent6"/>
                </a:solidFill>
              </a:rPr>
              <a:t>disk I/O requests </a:t>
            </a:r>
            <a:r>
              <a:rPr lang="en-US" dirty="0"/>
              <a:t>are processed. </a:t>
            </a:r>
          </a:p>
          <a:p>
            <a:r>
              <a:rPr lang="en-US" dirty="0"/>
              <a:t>Since disk drives have a mechanical read/write head that moves across cylinders to access data, an efficient scheduling strategy is needed </a:t>
            </a:r>
            <a:r>
              <a:rPr lang="en-US" b="1" dirty="0">
                <a:solidFill>
                  <a:schemeClr val="accent6"/>
                </a:solidFill>
              </a:rPr>
              <a:t>to minimize seek time </a:t>
            </a:r>
            <a:r>
              <a:rPr lang="en-US" dirty="0"/>
              <a:t>and </a:t>
            </a:r>
            <a:r>
              <a:rPr lang="en-US" b="1" dirty="0">
                <a:solidFill>
                  <a:schemeClr val="accent6"/>
                </a:solidFill>
              </a:rPr>
              <a:t>improve overall system performance</a:t>
            </a:r>
            <a:r>
              <a:rPr lang="en-US" dirty="0"/>
              <a:t>.</a:t>
            </a:r>
          </a:p>
          <a:p>
            <a:r>
              <a:rPr lang="en-US" dirty="0"/>
              <a:t>The main</a:t>
            </a:r>
            <a:r>
              <a:rPr lang="en-US" b="1" dirty="0"/>
              <a:t> </a:t>
            </a:r>
            <a:r>
              <a:rPr lang="en-US" b="1" dirty="0">
                <a:solidFill>
                  <a:schemeClr val="accent6"/>
                </a:solidFill>
              </a:rPr>
              <a:t>goal</a:t>
            </a:r>
            <a:r>
              <a:rPr lang="en-US" b="1" dirty="0"/>
              <a:t> </a:t>
            </a:r>
            <a:r>
              <a:rPr lang="en-US" dirty="0"/>
              <a:t>of disk scheduling algorithms in an operating system (OS) is to </a:t>
            </a:r>
            <a:r>
              <a:rPr lang="en-US" b="1" dirty="0">
                <a:solidFill>
                  <a:schemeClr val="accent6"/>
                </a:solidFill>
              </a:rPr>
              <a:t>minimize</a:t>
            </a:r>
            <a:r>
              <a:rPr lang="en-US" dirty="0"/>
              <a:t> the </a:t>
            </a:r>
            <a:r>
              <a:rPr lang="en-US" b="1" dirty="0">
                <a:solidFill>
                  <a:schemeClr val="accent6"/>
                </a:solidFill>
              </a:rPr>
              <a:t>seek time</a:t>
            </a:r>
            <a:r>
              <a:rPr lang="en-US" dirty="0"/>
              <a:t>.</a:t>
            </a:r>
          </a:p>
          <a:p>
            <a:r>
              <a:rPr lang="en-US" dirty="0"/>
              <a:t>The common disk arm scheduling algorithms in OS includes:</a:t>
            </a:r>
          </a:p>
          <a:p>
            <a:pPr marL="914400" lvl="1" indent="-457200">
              <a:lnSpc>
                <a:spcPct val="100000"/>
              </a:lnSpc>
              <a:buFont typeface="+mj-lt"/>
              <a:buAutoNum type="arabicPeriod"/>
            </a:pPr>
            <a:r>
              <a:rPr lang="en-US" sz="2200" b="1" dirty="0"/>
              <a:t>FCSC (First Come First Serve) </a:t>
            </a:r>
          </a:p>
          <a:p>
            <a:pPr marL="914400" lvl="1" indent="-457200">
              <a:lnSpc>
                <a:spcPct val="100000"/>
              </a:lnSpc>
              <a:buFont typeface="+mj-lt"/>
              <a:buAutoNum type="arabicPeriod"/>
            </a:pPr>
            <a:r>
              <a:rPr lang="en-US" sz="2200" b="1" dirty="0"/>
              <a:t>SSTF (Shorted Seek Time First)</a:t>
            </a:r>
          </a:p>
          <a:p>
            <a:pPr marL="914400" lvl="1" indent="-457200">
              <a:lnSpc>
                <a:spcPct val="100000"/>
              </a:lnSpc>
              <a:buFont typeface="+mj-lt"/>
              <a:buAutoNum type="arabicPeriod"/>
            </a:pPr>
            <a:r>
              <a:rPr lang="en-US" sz="2200" b="1" dirty="0"/>
              <a:t>SCAN (Elevator Algorithm)</a:t>
            </a:r>
          </a:p>
          <a:p>
            <a:pPr marL="914400" lvl="1" indent="-457200">
              <a:lnSpc>
                <a:spcPct val="100000"/>
              </a:lnSpc>
              <a:buFont typeface="+mj-lt"/>
              <a:buAutoNum type="arabicPeriod"/>
            </a:pPr>
            <a:r>
              <a:rPr lang="en-US" sz="2200" b="1" dirty="0"/>
              <a:t>C-SCAN (Circular SCAN)</a:t>
            </a:r>
          </a:p>
          <a:p>
            <a:pPr marL="914400" lvl="1" indent="-457200">
              <a:lnSpc>
                <a:spcPct val="100000"/>
              </a:lnSpc>
              <a:buFont typeface="+mj-lt"/>
              <a:buAutoNum type="arabicPeriod"/>
            </a:pPr>
            <a:r>
              <a:rPr lang="en-US" sz="2200" b="1" dirty="0"/>
              <a:t>LOOK </a:t>
            </a:r>
          </a:p>
          <a:p>
            <a:pPr marL="914400" lvl="1" indent="-457200">
              <a:lnSpc>
                <a:spcPct val="100000"/>
              </a:lnSpc>
              <a:buFont typeface="+mj-lt"/>
              <a:buAutoNum type="arabicPeriod"/>
            </a:pPr>
            <a:r>
              <a:rPr lang="en-US" sz="2200" b="1" dirty="0"/>
              <a:t>C-LOOK (Circular LOOK)</a:t>
            </a:r>
          </a:p>
        </p:txBody>
      </p:sp>
    </p:spTree>
    <p:extLst>
      <p:ext uri="{BB962C8B-B14F-4D97-AF65-F5344CB8AC3E}">
        <p14:creationId xmlns:p14="http://schemas.microsoft.com/office/powerpoint/2010/main" val="488537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A980C1-9648-A338-83B4-4F42A755FB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DA3101-817F-5C1C-3DCD-7FA79618046C}"/>
              </a:ext>
            </a:extLst>
          </p:cNvPr>
          <p:cNvSpPr>
            <a:spLocks noGrp="1"/>
          </p:cNvSpPr>
          <p:nvPr>
            <p:ph type="title"/>
          </p:nvPr>
        </p:nvSpPr>
        <p:spPr>
          <a:xfrm>
            <a:off x="0" y="1"/>
            <a:ext cx="12192000" cy="711200"/>
          </a:xfrm>
        </p:spPr>
        <p:txBody>
          <a:bodyPr/>
          <a:lstStyle/>
          <a:p>
            <a:r>
              <a:rPr lang="en-US" dirty="0"/>
              <a:t>Example for Disk Arm Scheduling Algorithm</a:t>
            </a:r>
          </a:p>
        </p:txBody>
      </p:sp>
      <p:sp>
        <p:nvSpPr>
          <p:cNvPr id="3" name="Content Placeholder 2">
            <a:extLst>
              <a:ext uri="{FF2B5EF4-FFF2-40B4-BE49-F238E27FC236}">
                <a16:creationId xmlns:a16="http://schemas.microsoft.com/office/drawing/2014/main" id="{F3DE74DF-349E-C749-6278-523A8225ADA8}"/>
              </a:ext>
            </a:extLst>
          </p:cNvPr>
          <p:cNvSpPr>
            <a:spLocks noGrp="1"/>
          </p:cNvSpPr>
          <p:nvPr>
            <p:ph idx="1"/>
          </p:nvPr>
        </p:nvSpPr>
        <p:spPr>
          <a:xfrm>
            <a:off x="131180" y="863444"/>
            <a:ext cx="11929641" cy="5590565"/>
          </a:xfrm>
        </p:spPr>
        <p:txBody>
          <a:bodyPr/>
          <a:lstStyle/>
          <a:p>
            <a:r>
              <a:rPr lang="en-US" dirty="0"/>
              <a:t>Consider an imaginary disk with </a:t>
            </a:r>
            <a:r>
              <a:rPr lang="en-US" b="1" dirty="0">
                <a:solidFill>
                  <a:schemeClr val="accent6"/>
                </a:solidFill>
              </a:rPr>
              <a:t>51 cylinders</a:t>
            </a:r>
            <a:r>
              <a:rPr lang="en-US" dirty="0">
                <a:solidFill>
                  <a:schemeClr val="accent6"/>
                </a:solidFill>
              </a:rPr>
              <a:t> </a:t>
            </a:r>
            <a:r>
              <a:rPr lang="en-US" dirty="0"/>
              <a:t>(numbered </a:t>
            </a:r>
            <a:r>
              <a:rPr lang="en-US" b="1" dirty="0">
                <a:solidFill>
                  <a:schemeClr val="tx2"/>
                </a:solidFill>
              </a:rPr>
              <a:t>0</a:t>
            </a:r>
            <a:r>
              <a:rPr lang="en-US" dirty="0"/>
              <a:t> to </a:t>
            </a:r>
            <a:r>
              <a:rPr lang="en-US" b="1" dirty="0">
                <a:solidFill>
                  <a:schemeClr val="tx2"/>
                </a:solidFill>
              </a:rPr>
              <a:t>50</a:t>
            </a:r>
            <a:r>
              <a:rPr lang="en-US" dirty="0"/>
              <a:t>).</a:t>
            </a:r>
          </a:p>
          <a:p>
            <a:r>
              <a:rPr lang="en-US" dirty="0"/>
              <a:t>The initial request is to read a block on </a:t>
            </a:r>
            <a:r>
              <a:rPr lang="en-US" b="1" dirty="0">
                <a:solidFill>
                  <a:schemeClr val="accent6"/>
                </a:solidFill>
              </a:rPr>
              <a:t>cylinder 11</a:t>
            </a:r>
            <a:r>
              <a:rPr lang="en-US" dirty="0"/>
              <a:t>. While seeking cylinder 11, additional requests arrive for </a:t>
            </a:r>
            <a:r>
              <a:rPr lang="en-US" b="1" dirty="0">
                <a:solidFill>
                  <a:schemeClr val="accent6"/>
                </a:solidFill>
              </a:rPr>
              <a:t>cylinders</a:t>
            </a:r>
            <a:r>
              <a:rPr lang="en-US" b="1" dirty="0"/>
              <a:t> </a:t>
            </a:r>
            <a:r>
              <a:rPr lang="en-US" b="1" dirty="0">
                <a:solidFill>
                  <a:schemeClr val="tx2"/>
                </a:solidFill>
              </a:rPr>
              <a:t>1</a:t>
            </a:r>
            <a:r>
              <a:rPr lang="en-US" b="1" dirty="0"/>
              <a:t>,</a:t>
            </a:r>
            <a:r>
              <a:rPr lang="en-US" b="1" dirty="0">
                <a:solidFill>
                  <a:schemeClr val="tx2"/>
                </a:solidFill>
              </a:rPr>
              <a:t> 36</a:t>
            </a:r>
            <a:r>
              <a:rPr lang="en-US" b="1" dirty="0"/>
              <a:t>,</a:t>
            </a:r>
            <a:r>
              <a:rPr lang="en-US" b="1" dirty="0">
                <a:solidFill>
                  <a:schemeClr val="tx2"/>
                </a:solidFill>
              </a:rPr>
              <a:t> 16</a:t>
            </a:r>
            <a:r>
              <a:rPr lang="en-US" b="1" dirty="0"/>
              <a:t>,</a:t>
            </a:r>
            <a:r>
              <a:rPr lang="en-US" b="1" dirty="0">
                <a:solidFill>
                  <a:schemeClr val="tx2"/>
                </a:solidFill>
              </a:rPr>
              <a:t> 34</a:t>
            </a:r>
            <a:r>
              <a:rPr lang="en-US" b="1" dirty="0"/>
              <a:t>,</a:t>
            </a:r>
            <a:r>
              <a:rPr lang="en-US" b="1" dirty="0">
                <a:solidFill>
                  <a:schemeClr val="tx2"/>
                </a:solidFill>
              </a:rPr>
              <a:t> 9</a:t>
            </a:r>
            <a:r>
              <a:rPr lang="en-US" b="1" dirty="0"/>
              <a:t>,</a:t>
            </a:r>
            <a:r>
              <a:rPr lang="en-US" b="1" dirty="0">
                <a:solidFill>
                  <a:schemeClr val="tx2"/>
                </a:solidFill>
              </a:rPr>
              <a:t> </a:t>
            </a:r>
            <a:r>
              <a:rPr lang="en-US" b="1" dirty="0"/>
              <a:t>and</a:t>
            </a:r>
            <a:r>
              <a:rPr lang="en-US" b="1" dirty="0">
                <a:solidFill>
                  <a:schemeClr val="tx2"/>
                </a:solidFill>
              </a:rPr>
              <a:t> 12</a:t>
            </a:r>
            <a:r>
              <a:rPr lang="en-US" dirty="0"/>
              <a:t>, in that order.</a:t>
            </a:r>
          </a:p>
          <a:p>
            <a:r>
              <a:rPr lang="en-US" dirty="0"/>
              <a:t>The disk head starts from its current position and must process all requests.</a:t>
            </a:r>
          </a:p>
          <a:p>
            <a:r>
              <a:rPr lang="en-US" dirty="0"/>
              <a:t>Calculate the </a:t>
            </a:r>
            <a:r>
              <a:rPr lang="en-US" b="1" dirty="0">
                <a:solidFill>
                  <a:schemeClr val="accent6"/>
                </a:solidFill>
              </a:rPr>
              <a:t>total distance </a:t>
            </a:r>
            <a:r>
              <a:rPr lang="en-US" dirty="0"/>
              <a:t>(in cylinders) that the disk arm moves to serve all pending requests using the following disk scheduling algorithms:</a:t>
            </a:r>
          </a:p>
          <a:p>
            <a:pPr lvl="1">
              <a:lnSpc>
                <a:spcPct val="100000"/>
              </a:lnSpc>
            </a:pPr>
            <a:r>
              <a:rPr lang="en-US" sz="2200" b="1" dirty="0"/>
              <a:t>First-Come, First-Served </a:t>
            </a:r>
            <a:endParaRPr lang="en-US" sz="2200" dirty="0"/>
          </a:p>
          <a:p>
            <a:pPr lvl="1">
              <a:lnSpc>
                <a:spcPct val="100000"/>
              </a:lnSpc>
            </a:pPr>
            <a:r>
              <a:rPr lang="en-US" sz="2200" b="1" dirty="0"/>
              <a:t>Shortest Seek Time First </a:t>
            </a:r>
            <a:endParaRPr lang="en-US" sz="2200" dirty="0"/>
          </a:p>
          <a:p>
            <a:pPr lvl="1">
              <a:lnSpc>
                <a:spcPct val="100000"/>
              </a:lnSpc>
            </a:pPr>
            <a:r>
              <a:rPr lang="en-US" sz="2200" b="1" dirty="0"/>
              <a:t>SCAN</a:t>
            </a:r>
            <a:endParaRPr lang="en-US" sz="2200" dirty="0"/>
          </a:p>
          <a:p>
            <a:pPr lvl="1">
              <a:lnSpc>
                <a:spcPct val="100000"/>
              </a:lnSpc>
            </a:pPr>
            <a:r>
              <a:rPr lang="en-US" sz="2200" b="1" dirty="0"/>
              <a:t>C-SCAN</a:t>
            </a:r>
            <a:endParaRPr lang="en-US" sz="2200" dirty="0"/>
          </a:p>
          <a:p>
            <a:pPr lvl="1">
              <a:lnSpc>
                <a:spcPct val="100000"/>
              </a:lnSpc>
            </a:pPr>
            <a:r>
              <a:rPr lang="en-US" sz="2200" b="1" dirty="0"/>
              <a:t>LOOK</a:t>
            </a:r>
            <a:endParaRPr lang="en-US" sz="2200" dirty="0"/>
          </a:p>
          <a:p>
            <a:pPr lvl="1">
              <a:lnSpc>
                <a:spcPct val="100000"/>
              </a:lnSpc>
            </a:pPr>
            <a:r>
              <a:rPr lang="en-US" sz="2200" b="1" dirty="0"/>
              <a:t>C-LOOK</a:t>
            </a:r>
            <a:endParaRPr lang="en-US" sz="2200" dirty="0"/>
          </a:p>
        </p:txBody>
      </p:sp>
    </p:spTree>
    <p:extLst>
      <p:ext uri="{BB962C8B-B14F-4D97-AF65-F5344CB8AC3E}">
        <p14:creationId xmlns:p14="http://schemas.microsoft.com/office/powerpoint/2010/main" val="8627853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fade">
                                      <p:cBhvr>
                                        <p:cTn id="19" dur="500"/>
                                        <p:tgtEl>
                                          <p:spTgt spid="3">
                                            <p:txEl>
                                              <p:pRg st="3" end="3"/>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fade">
                                      <p:cBhvr>
                                        <p:cTn id="24" dur="500"/>
                                        <p:tgtEl>
                                          <p:spTgt spid="3">
                                            <p:txEl>
                                              <p:pRg st="4" end="4"/>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Effect transition="in" filter="fade">
                                      <p:cBhvr>
                                        <p:cTn id="29" dur="500"/>
                                        <p:tgtEl>
                                          <p:spTgt spid="3">
                                            <p:txEl>
                                              <p:pRg st="5" end="5"/>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3">
                                            <p:txEl>
                                              <p:pRg st="6" end="6"/>
                                            </p:txEl>
                                          </p:spTgt>
                                        </p:tgtEl>
                                        <p:attrNameLst>
                                          <p:attrName>style.visibility</p:attrName>
                                        </p:attrNameLst>
                                      </p:cBhvr>
                                      <p:to>
                                        <p:strVal val="visible"/>
                                      </p:to>
                                    </p:set>
                                    <p:animEffect transition="in" filter="fade">
                                      <p:cBhvr>
                                        <p:cTn id="34" dur="500"/>
                                        <p:tgtEl>
                                          <p:spTgt spid="3">
                                            <p:txEl>
                                              <p:pRg st="6" end="6"/>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animEffect transition="in" filter="fade">
                                      <p:cBhvr>
                                        <p:cTn id="39" dur="500"/>
                                        <p:tgtEl>
                                          <p:spTgt spid="3">
                                            <p:txEl>
                                              <p:pRg st="7" end="7"/>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3">
                                            <p:txEl>
                                              <p:pRg st="8" end="8"/>
                                            </p:txEl>
                                          </p:spTgt>
                                        </p:tgtEl>
                                        <p:attrNameLst>
                                          <p:attrName>style.visibility</p:attrName>
                                        </p:attrNameLst>
                                      </p:cBhvr>
                                      <p:to>
                                        <p:strVal val="visible"/>
                                      </p:to>
                                    </p:set>
                                    <p:animEffect transition="in" filter="fade">
                                      <p:cBhvr>
                                        <p:cTn id="44" dur="500"/>
                                        <p:tgtEl>
                                          <p:spTgt spid="3">
                                            <p:txEl>
                                              <p:pRg st="8" end="8"/>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3">
                                            <p:txEl>
                                              <p:pRg st="9" end="9"/>
                                            </p:txEl>
                                          </p:spTgt>
                                        </p:tgtEl>
                                        <p:attrNameLst>
                                          <p:attrName>style.visibility</p:attrName>
                                        </p:attrNameLst>
                                      </p:cBhvr>
                                      <p:to>
                                        <p:strVal val="visible"/>
                                      </p:to>
                                    </p:set>
                                    <p:animEffect transition="in" filter="fade">
                                      <p:cBhvr>
                                        <p:cTn id="49"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338795-AD15-E231-DC02-2D0A621F89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E546D0-8FDA-8C07-95DC-D32FFAFAD751}"/>
              </a:ext>
            </a:extLst>
          </p:cNvPr>
          <p:cNvSpPr>
            <a:spLocks noGrp="1"/>
          </p:cNvSpPr>
          <p:nvPr>
            <p:ph type="title"/>
          </p:nvPr>
        </p:nvSpPr>
        <p:spPr>
          <a:xfrm>
            <a:off x="0" y="1"/>
            <a:ext cx="12192000" cy="711200"/>
          </a:xfrm>
        </p:spPr>
        <p:txBody>
          <a:bodyPr/>
          <a:lstStyle/>
          <a:p>
            <a:r>
              <a:rPr lang="en-US" dirty="0"/>
              <a:t>FCSC (First Come First Serve)</a:t>
            </a:r>
          </a:p>
        </p:txBody>
      </p:sp>
      <p:sp>
        <p:nvSpPr>
          <p:cNvPr id="3" name="Content Placeholder 2">
            <a:extLst>
              <a:ext uri="{FF2B5EF4-FFF2-40B4-BE49-F238E27FC236}">
                <a16:creationId xmlns:a16="http://schemas.microsoft.com/office/drawing/2014/main" id="{3BC5C1C8-72F7-BC8B-2FD9-FF480B963742}"/>
              </a:ext>
            </a:extLst>
          </p:cNvPr>
          <p:cNvSpPr>
            <a:spLocks noGrp="1"/>
          </p:cNvSpPr>
          <p:nvPr>
            <p:ph idx="1"/>
          </p:nvPr>
        </p:nvSpPr>
        <p:spPr>
          <a:xfrm>
            <a:off x="131180" y="863444"/>
            <a:ext cx="11929641" cy="5590565"/>
          </a:xfrm>
        </p:spPr>
        <p:txBody>
          <a:bodyPr/>
          <a:lstStyle/>
          <a:p>
            <a:r>
              <a:rPr lang="en-US" dirty="0"/>
              <a:t>Here </a:t>
            </a:r>
            <a:r>
              <a:rPr lang="en-US" b="1" dirty="0">
                <a:solidFill>
                  <a:schemeClr val="accent6"/>
                </a:solidFill>
              </a:rPr>
              <a:t>requests are served in the order of their arrival</a:t>
            </a:r>
            <a:r>
              <a:rPr lang="en-US" dirty="0"/>
              <a:t>.</a:t>
            </a:r>
          </a:p>
          <a:p>
            <a:endParaRPr lang="en-US" dirty="0"/>
          </a:p>
          <a:p>
            <a:endParaRPr lang="en-US" dirty="0"/>
          </a:p>
          <a:p>
            <a:endParaRPr lang="en-US" dirty="0"/>
          </a:p>
          <a:p>
            <a:endParaRPr lang="en-US" dirty="0"/>
          </a:p>
          <a:p>
            <a:endParaRPr lang="en-US" dirty="0"/>
          </a:p>
          <a:p>
            <a:pPr marL="0" indent="0">
              <a:buNone/>
            </a:pPr>
            <a:endParaRPr lang="en-US" dirty="0"/>
          </a:p>
          <a:p>
            <a:endParaRPr lang="en-US" dirty="0"/>
          </a:p>
          <a:p>
            <a:endParaRPr lang="en-US" dirty="0"/>
          </a:p>
          <a:p>
            <a:r>
              <a:rPr lang="en-US" dirty="0"/>
              <a:t>Disk movement will be 11, 1, 36, 16, 34, 9 and 12.</a:t>
            </a:r>
          </a:p>
          <a:p>
            <a:r>
              <a:rPr lang="en-US" dirty="0"/>
              <a:t>Total cylinder movement: (11-1) + (36-1) + (36-16) + (34-16) + (34-9) + (12-9) = </a:t>
            </a:r>
            <a:r>
              <a:rPr lang="en-US" b="1" dirty="0">
                <a:solidFill>
                  <a:schemeClr val="accent6"/>
                </a:solidFill>
              </a:rPr>
              <a:t>111</a:t>
            </a:r>
          </a:p>
        </p:txBody>
      </p:sp>
      <p:graphicFrame>
        <p:nvGraphicFramePr>
          <p:cNvPr id="4" name="Table 3">
            <a:extLst>
              <a:ext uri="{FF2B5EF4-FFF2-40B4-BE49-F238E27FC236}">
                <a16:creationId xmlns:a16="http://schemas.microsoft.com/office/drawing/2014/main" id="{6E21479A-E5A6-8C73-B4E0-AB8842BA7667}"/>
              </a:ext>
            </a:extLst>
          </p:cNvPr>
          <p:cNvGraphicFramePr>
            <a:graphicFrameLocks noGrp="1"/>
          </p:cNvGraphicFramePr>
          <p:nvPr/>
        </p:nvGraphicFramePr>
        <p:xfrm>
          <a:off x="609597" y="1833880"/>
          <a:ext cx="7010402" cy="2966720"/>
        </p:xfrm>
        <a:graphic>
          <a:graphicData uri="http://schemas.openxmlformats.org/drawingml/2006/table">
            <a:tbl>
              <a:tblPr firstRow="1" bandRow="1">
                <a:tableStyleId>{5940675A-B579-460E-94D1-54222C63F5DA}</a:tableStyleId>
              </a:tblPr>
              <a:tblGrid>
                <a:gridCol w="457203">
                  <a:extLst>
                    <a:ext uri="{9D8B030D-6E8A-4147-A177-3AD203B41FA5}">
                      <a16:colId xmlns:a16="http://schemas.microsoft.com/office/drawing/2014/main" val="20000"/>
                    </a:ext>
                  </a:extLst>
                </a:gridCol>
                <a:gridCol w="990600">
                  <a:extLst>
                    <a:ext uri="{9D8B030D-6E8A-4147-A177-3AD203B41FA5}">
                      <a16:colId xmlns:a16="http://schemas.microsoft.com/office/drawing/2014/main" val="20001"/>
                    </a:ext>
                  </a:extLst>
                </a:gridCol>
                <a:gridCol w="838200">
                  <a:extLst>
                    <a:ext uri="{9D8B030D-6E8A-4147-A177-3AD203B41FA5}">
                      <a16:colId xmlns:a16="http://schemas.microsoft.com/office/drawing/2014/main" val="20002"/>
                    </a:ext>
                  </a:extLst>
                </a:gridCol>
                <a:gridCol w="762000">
                  <a:extLst>
                    <a:ext uri="{9D8B030D-6E8A-4147-A177-3AD203B41FA5}">
                      <a16:colId xmlns:a16="http://schemas.microsoft.com/office/drawing/2014/main" val="20003"/>
                    </a:ext>
                  </a:extLst>
                </a:gridCol>
                <a:gridCol w="1959427">
                  <a:extLst>
                    <a:ext uri="{9D8B030D-6E8A-4147-A177-3AD203B41FA5}">
                      <a16:colId xmlns:a16="http://schemas.microsoft.com/office/drawing/2014/main" val="20004"/>
                    </a:ext>
                  </a:extLst>
                </a:gridCol>
                <a:gridCol w="555173">
                  <a:extLst>
                    <a:ext uri="{9D8B030D-6E8A-4147-A177-3AD203B41FA5}">
                      <a16:colId xmlns:a16="http://schemas.microsoft.com/office/drawing/2014/main" val="20005"/>
                    </a:ext>
                  </a:extLst>
                </a:gridCol>
                <a:gridCol w="1447799">
                  <a:extLst>
                    <a:ext uri="{9D8B030D-6E8A-4147-A177-3AD203B41FA5}">
                      <a16:colId xmlns:a16="http://schemas.microsoft.com/office/drawing/2014/main" val="20006"/>
                    </a:ext>
                  </a:extLst>
                </a:gridCol>
              </a:tblGrid>
              <a:tr h="2966720">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10000"/>
                  </a:ext>
                </a:extLst>
              </a:tr>
            </a:tbl>
          </a:graphicData>
        </a:graphic>
      </p:graphicFrame>
      <p:sp>
        <p:nvSpPr>
          <p:cNvPr id="5" name="TextBox 4">
            <a:extLst>
              <a:ext uri="{FF2B5EF4-FFF2-40B4-BE49-F238E27FC236}">
                <a16:creationId xmlns:a16="http://schemas.microsoft.com/office/drawing/2014/main" id="{0061138E-FE7A-5DBA-765E-2BA88820A3EA}"/>
              </a:ext>
            </a:extLst>
          </p:cNvPr>
          <p:cNvSpPr txBox="1"/>
          <p:nvPr/>
        </p:nvSpPr>
        <p:spPr>
          <a:xfrm>
            <a:off x="547435" y="1433770"/>
            <a:ext cx="304800" cy="400110"/>
          </a:xfrm>
          <a:prstGeom prst="rect">
            <a:avLst/>
          </a:prstGeom>
          <a:noFill/>
        </p:spPr>
        <p:txBody>
          <a:bodyPr wrap="square" rtlCol="0">
            <a:spAutoFit/>
          </a:bodyPr>
          <a:lstStyle/>
          <a:p>
            <a:pPr algn="ctr"/>
            <a:r>
              <a:rPr lang="en-US" sz="2000" dirty="0">
                <a:solidFill>
                  <a:srgbClr val="212121"/>
                </a:solidFill>
              </a:rPr>
              <a:t>0</a:t>
            </a:r>
            <a:endParaRPr lang="en-IN" dirty="0">
              <a:solidFill>
                <a:srgbClr val="212121"/>
              </a:solidFill>
            </a:endParaRPr>
          </a:p>
        </p:txBody>
      </p:sp>
      <p:sp>
        <p:nvSpPr>
          <p:cNvPr id="6" name="TextBox 5">
            <a:extLst>
              <a:ext uri="{FF2B5EF4-FFF2-40B4-BE49-F238E27FC236}">
                <a16:creationId xmlns:a16="http://schemas.microsoft.com/office/drawing/2014/main" id="{D8028C80-04F0-E884-72CE-7E87BB762B30}"/>
              </a:ext>
            </a:extLst>
          </p:cNvPr>
          <p:cNvSpPr txBox="1"/>
          <p:nvPr/>
        </p:nvSpPr>
        <p:spPr>
          <a:xfrm>
            <a:off x="914400" y="1447800"/>
            <a:ext cx="304800" cy="400110"/>
          </a:xfrm>
          <a:prstGeom prst="rect">
            <a:avLst/>
          </a:prstGeom>
          <a:noFill/>
        </p:spPr>
        <p:txBody>
          <a:bodyPr wrap="square" rtlCol="0">
            <a:spAutoFit/>
          </a:bodyPr>
          <a:lstStyle/>
          <a:p>
            <a:pPr algn="ctr"/>
            <a:r>
              <a:rPr lang="en-US" sz="2000" dirty="0">
                <a:solidFill>
                  <a:srgbClr val="212121"/>
                </a:solidFill>
              </a:rPr>
              <a:t>1</a:t>
            </a:r>
            <a:endParaRPr lang="en-IN" dirty="0">
              <a:solidFill>
                <a:srgbClr val="212121"/>
              </a:solidFill>
            </a:endParaRPr>
          </a:p>
        </p:txBody>
      </p:sp>
      <p:sp>
        <p:nvSpPr>
          <p:cNvPr id="7" name="TextBox 6">
            <a:extLst>
              <a:ext uri="{FF2B5EF4-FFF2-40B4-BE49-F238E27FC236}">
                <a16:creationId xmlns:a16="http://schemas.microsoft.com/office/drawing/2014/main" id="{FB8A245F-D644-6618-3B08-E3BFE65156D7}"/>
              </a:ext>
            </a:extLst>
          </p:cNvPr>
          <p:cNvSpPr txBox="1"/>
          <p:nvPr/>
        </p:nvSpPr>
        <p:spPr>
          <a:xfrm>
            <a:off x="1905000" y="1439315"/>
            <a:ext cx="304800" cy="400110"/>
          </a:xfrm>
          <a:prstGeom prst="rect">
            <a:avLst/>
          </a:prstGeom>
          <a:noFill/>
        </p:spPr>
        <p:txBody>
          <a:bodyPr wrap="square" rtlCol="0">
            <a:spAutoFit/>
          </a:bodyPr>
          <a:lstStyle/>
          <a:p>
            <a:pPr algn="ctr"/>
            <a:r>
              <a:rPr lang="en-US" sz="2000" dirty="0">
                <a:solidFill>
                  <a:srgbClr val="212121"/>
                </a:solidFill>
              </a:rPr>
              <a:t>9</a:t>
            </a:r>
            <a:endParaRPr lang="en-IN" dirty="0">
              <a:solidFill>
                <a:srgbClr val="212121"/>
              </a:solidFill>
            </a:endParaRPr>
          </a:p>
        </p:txBody>
      </p:sp>
      <p:sp>
        <p:nvSpPr>
          <p:cNvPr id="8" name="TextBox 7">
            <a:extLst>
              <a:ext uri="{FF2B5EF4-FFF2-40B4-BE49-F238E27FC236}">
                <a16:creationId xmlns:a16="http://schemas.microsoft.com/office/drawing/2014/main" id="{66D05020-3233-51A7-3423-79572C031305}"/>
              </a:ext>
            </a:extLst>
          </p:cNvPr>
          <p:cNvSpPr txBox="1"/>
          <p:nvPr/>
        </p:nvSpPr>
        <p:spPr>
          <a:xfrm>
            <a:off x="2670372" y="1433770"/>
            <a:ext cx="468503" cy="400110"/>
          </a:xfrm>
          <a:prstGeom prst="rect">
            <a:avLst/>
          </a:prstGeom>
          <a:noFill/>
        </p:spPr>
        <p:txBody>
          <a:bodyPr wrap="square" rtlCol="0">
            <a:spAutoFit/>
          </a:bodyPr>
          <a:lstStyle/>
          <a:p>
            <a:pPr algn="ctr"/>
            <a:r>
              <a:rPr lang="en-US" sz="2000" dirty="0">
                <a:solidFill>
                  <a:srgbClr val="212121"/>
                </a:solidFill>
              </a:rPr>
              <a:t>12</a:t>
            </a:r>
            <a:endParaRPr lang="en-IN" dirty="0">
              <a:solidFill>
                <a:srgbClr val="212121"/>
              </a:solidFill>
            </a:endParaRPr>
          </a:p>
        </p:txBody>
      </p:sp>
      <p:sp>
        <p:nvSpPr>
          <p:cNvPr id="9" name="TextBox 8">
            <a:extLst>
              <a:ext uri="{FF2B5EF4-FFF2-40B4-BE49-F238E27FC236}">
                <a16:creationId xmlns:a16="http://schemas.microsoft.com/office/drawing/2014/main" id="{C0E42118-5034-7162-9C86-6FE65A1FC758}"/>
              </a:ext>
            </a:extLst>
          </p:cNvPr>
          <p:cNvSpPr txBox="1"/>
          <p:nvPr/>
        </p:nvSpPr>
        <p:spPr>
          <a:xfrm>
            <a:off x="3412955" y="1433770"/>
            <a:ext cx="502687" cy="400110"/>
          </a:xfrm>
          <a:prstGeom prst="rect">
            <a:avLst/>
          </a:prstGeom>
          <a:noFill/>
        </p:spPr>
        <p:txBody>
          <a:bodyPr wrap="square" rtlCol="0">
            <a:spAutoFit/>
          </a:bodyPr>
          <a:lstStyle/>
          <a:p>
            <a:pPr algn="ctr"/>
            <a:r>
              <a:rPr lang="en-US" sz="2000" dirty="0">
                <a:solidFill>
                  <a:srgbClr val="212121"/>
                </a:solidFill>
              </a:rPr>
              <a:t>16</a:t>
            </a:r>
            <a:endParaRPr lang="en-IN" dirty="0">
              <a:solidFill>
                <a:srgbClr val="212121"/>
              </a:solidFill>
            </a:endParaRPr>
          </a:p>
        </p:txBody>
      </p:sp>
      <p:sp>
        <p:nvSpPr>
          <p:cNvPr id="10" name="TextBox 9">
            <a:extLst>
              <a:ext uri="{FF2B5EF4-FFF2-40B4-BE49-F238E27FC236}">
                <a16:creationId xmlns:a16="http://schemas.microsoft.com/office/drawing/2014/main" id="{948FBEFE-FAAD-2181-6A13-1D233A23F7B8}"/>
              </a:ext>
            </a:extLst>
          </p:cNvPr>
          <p:cNvSpPr txBox="1"/>
          <p:nvPr/>
        </p:nvSpPr>
        <p:spPr>
          <a:xfrm>
            <a:off x="5378116" y="1447800"/>
            <a:ext cx="485273" cy="400110"/>
          </a:xfrm>
          <a:prstGeom prst="rect">
            <a:avLst/>
          </a:prstGeom>
          <a:noFill/>
        </p:spPr>
        <p:txBody>
          <a:bodyPr wrap="square" rtlCol="0">
            <a:spAutoFit/>
          </a:bodyPr>
          <a:lstStyle/>
          <a:p>
            <a:pPr algn="ctr"/>
            <a:r>
              <a:rPr lang="en-US" sz="2000" dirty="0">
                <a:solidFill>
                  <a:srgbClr val="212121"/>
                </a:solidFill>
              </a:rPr>
              <a:t>34</a:t>
            </a:r>
            <a:endParaRPr lang="en-IN" dirty="0">
              <a:solidFill>
                <a:srgbClr val="212121"/>
              </a:solidFill>
            </a:endParaRPr>
          </a:p>
        </p:txBody>
      </p:sp>
      <p:sp>
        <p:nvSpPr>
          <p:cNvPr id="11" name="TextBox 10">
            <a:extLst>
              <a:ext uri="{FF2B5EF4-FFF2-40B4-BE49-F238E27FC236}">
                <a16:creationId xmlns:a16="http://schemas.microsoft.com/office/drawing/2014/main" id="{1AB8C730-1438-3CA5-3F6D-99D3B53C0632}"/>
              </a:ext>
            </a:extLst>
          </p:cNvPr>
          <p:cNvSpPr txBox="1"/>
          <p:nvPr/>
        </p:nvSpPr>
        <p:spPr>
          <a:xfrm>
            <a:off x="5964654" y="1440785"/>
            <a:ext cx="448178" cy="400110"/>
          </a:xfrm>
          <a:prstGeom prst="rect">
            <a:avLst/>
          </a:prstGeom>
          <a:noFill/>
        </p:spPr>
        <p:txBody>
          <a:bodyPr wrap="square" rtlCol="0">
            <a:spAutoFit/>
          </a:bodyPr>
          <a:lstStyle/>
          <a:p>
            <a:pPr algn="ctr"/>
            <a:r>
              <a:rPr lang="en-US" sz="2000" dirty="0">
                <a:solidFill>
                  <a:srgbClr val="212121"/>
                </a:solidFill>
              </a:rPr>
              <a:t>36</a:t>
            </a:r>
            <a:endParaRPr lang="en-IN" dirty="0">
              <a:solidFill>
                <a:srgbClr val="212121"/>
              </a:solidFill>
            </a:endParaRPr>
          </a:p>
        </p:txBody>
      </p:sp>
      <p:sp>
        <p:nvSpPr>
          <p:cNvPr id="12" name="TextBox 11">
            <a:extLst>
              <a:ext uri="{FF2B5EF4-FFF2-40B4-BE49-F238E27FC236}">
                <a16:creationId xmlns:a16="http://schemas.microsoft.com/office/drawing/2014/main" id="{EB15AEC5-5A51-8F24-5CBC-E0A5EC5528FC}"/>
              </a:ext>
            </a:extLst>
          </p:cNvPr>
          <p:cNvSpPr txBox="1"/>
          <p:nvPr/>
        </p:nvSpPr>
        <p:spPr>
          <a:xfrm>
            <a:off x="7325863" y="1440785"/>
            <a:ext cx="568216" cy="400110"/>
          </a:xfrm>
          <a:prstGeom prst="rect">
            <a:avLst/>
          </a:prstGeom>
          <a:noFill/>
        </p:spPr>
        <p:txBody>
          <a:bodyPr wrap="square" rtlCol="0">
            <a:spAutoFit/>
          </a:bodyPr>
          <a:lstStyle/>
          <a:p>
            <a:pPr algn="ctr"/>
            <a:r>
              <a:rPr lang="en-US" sz="2000" dirty="0">
                <a:solidFill>
                  <a:srgbClr val="212121"/>
                </a:solidFill>
              </a:rPr>
              <a:t>50</a:t>
            </a:r>
            <a:endParaRPr lang="en-IN" dirty="0">
              <a:solidFill>
                <a:srgbClr val="212121"/>
              </a:solidFill>
            </a:endParaRPr>
          </a:p>
        </p:txBody>
      </p:sp>
      <p:cxnSp>
        <p:nvCxnSpPr>
          <p:cNvPr id="13" name="Straight Connector 12">
            <a:extLst>
              <a:ext uri="{FF2B5EF4-FFF2-40B4-BE49-F238E27FC236}">
                <a16:creationId xmlns:a16="http://schemas.microsoft.com/office/drawing/2014/main" id="{52F3E2C4-3FAB-1A23-8096-AF70CDEFC7CA}"/>
              </a:ext>
            </a:extLst>
          </p:cNvPr>
          <p:cNvCxnSpPr/>
          <p:nvPr/>
        </p:nvCxnSpPr>
        <p:spPr>
          <a:xfrm flipV="1">
            <a:off x="1066800" y="2197768"/>
            <a:ext cx="1403684" cy="393032"/>
          </a:xfrm>
          <a:prstGeom prst="line">
            <a:avLst/>
          </a:prstGeom>
        </p:spPr>
        <p:style>
          <a:lnRef idx="3">
            <a:schemeClr val="dk1"/>
          </a:lnRef>
          <a:fillRef idx="0">
            <a:schemeClr val="dk1"/>
          </a:fillRef>
          <a:effectRef idx="2">
            <a:schemeClr val="dk1"/>
          </a:effectRef>
          <a:fontRef idx="minor">
            <a:schemeClr val="tx1"/>
          </a:fontRef>
        </p:style>
      </p:cxnSp>
      <p:cxnSp>
        <p:nvCxnSpPr>
          <p:cNvPr id="14" name="Straight Connector 13">
            <a:extLst>
              <a:ext uri="{FF2B5EF4-FFF2-40B4-BE49-F238E27FC236}">
                <a16:creationId xmlns:a16="http://schemas.microsoft.com/office/drawing/2014/main" id="{BEE1EFE7-FA73-4478-9B30-760F7D7C704C}"/>
              </a:ext>
            </a:extLst>
          </p:cNvPr>
          <p:cNvCxnSpPr/>
          <p:nvPr/>
        </p:nvCxnSpPr>
        <p:spPr>
          <a:xfrm>
            <a:off x="1066800" y="2590800"/>
            <a:ext cx="5105400" cy="381000"/>
          </a:xfrm>
          <a:prstGeom prst="line">
            <a:avLst/>
          </a:prstGeom>
        </p:spPr>
        <p:style>
          <a:lnRef idx="3">
            <a:schemeClr val="dk1"/>
          </a:lnRef>
          <a:fillRef idx="0">
            <a:schemeClr val="dk1"/>
          </a:fillRef>
          <a:effectRef idx="2">
            <a:schemeClr val="dk1"/>
          </a:effectRef>
          <a:fontRef idx="minor">
            <a:schemeClr val="tx1"/>
          </a:fontRef>
        </p:style>
      </p:cxnSp>
      <p:cxnSp>
        <p:nvCxnSpPr>
          <p:cNvPr id="15" name="Straight Connector 14">
            <a:extLst>
              <a:ext uri="{FF2B5EF4-FFF2-40B4-BE49-F238E27FC236}">
                <a16:creationId xmlns:a16="http://schemas.microsoft.com/office/drawing/2014/main" id="{F7BBE68C-1CAA-E007-6694-40969E600177}"/>
              </a:ext>
            </a:extLst>
          </p:cNvPr>
          <p:cNvCxnSpPr/>
          <p:nvPr/>
        </p:nvCxnSpPr>
        <p:spPr>
          <a:xfrm flipV="1">
            <a:off x="3664298" y="2971800"/>
            <a:ext cx="2507902" cy="345440"/>
          </a:xfrm>
          <a:prstGeom prst="line">
            <a:avLst/>
          </a:prstGeom>
        </p:spPr>
        <p:style>
          <a:lnRef idx="3">
            <a:schemeClr val="dk1"/>
          </a:lnRef>
          <a:fillRef idx="0">
            <a:schemeClr val="dk1"/>
          </a:fillRef>
          <a:effectRef idx="2">
            <a:schemeClr val="dk1"/>
          </a:effectRef>
          <a:fontRef idx="minor">
            <a:schemeClr val="tx1"/>
          </a:fontRef>
        </p:style>
      </p:cxnSp>
      <p:cxnSp>
        <p:nvCxnSpPr>
          <p:cNvPr id="16" name="Straight Connector 15">
            <a:extLst>
              <a:ext uri="{FF2B5EF4-FFF2-40B4-BE49-F238E27FC236}">
                <a16:creationId xmlns:a16="http://schemas.microsoft.com/office/drawing/2014/main" id="{8729FC5D-E49B-22E6-D11C-0664EA2F88B3}"/>
              </a:ext>
            </a:extLst>
          </p:cNvPr>
          <p:cNvCxnSpPr/>
          <p:nvPr/>
        </p:nvCxnSpPr>
        <p:spPr>
          <a:xfrm>
            <a:off x="3664298" y="3317240"/>
            <a:ext cx="1956454" cy="381000"/>
          </a:xfrm>
          <a:prstGeom prst="line">
            <a:avLst/>
          </a:prstGeom>
        </p:spPr>
        <p:style>
          <a:lnRef idx="3">
            <a:schemeClr val="dk1"/>
          </a:lnRef>
          <a:fillRef idx="0">
            <a:schemeClr val="dk1"/>
          </a:fillRef>
          <a:effectRef idx="2">
            <a:schemeClr val="dk1"/>
          </a:effectRef>
          <a:fontRef idx="minor">
            <a:schemeClr val="tx1"/>
          </a:fontRef>
        </p:style>
      </p:cxnSp>
      <p:cxnSp>
        <p:nvCxnSpPr>
          <p:cNvPr id="17" name="Straight Connector 16">
            <a:extLst>
              <a:ext uri="{FF2B5EF4-FFF2-40B4-BE49-F238E27FC236}">
                <a16:creationId xmlns:a16="http://schemas.microsoft.com/office/drawing/2014/main" id="{D1D73392-939C-E6FD-A70F-38FEA3392D66}"/>
              </a:ext>
            </a:extLst>
          </p:cNvPr>
          <p:cNvCxnSpPr/>
          <p:nvPr/>
        </p:nvCxnSpPr>
        <p:spPr>
          <a:xfrm flipV="1">
            <a:off x="2057400" y="3724105"/>
            <a:ext cx="3562691" cy="319575"/>
          </a:xfrm>
          <a:prstGeom prst="line">
            <a:avLst/>
          </a:prstGeom>
        </p:spPr>
        <p:style>
          <a:lnRef idx="3">
            <a:schemeClr val="dk1"/>
          </a:lnRef>
          <a:fillRef idx="0">
            <a:schemeClr val="dk1"/>
          </a:fillRef>
          <a:effectRef idx="2">
            <a:schemeClr val="dk1"/>
          </a:effectRef>
          <a:fontRef idx="minor">
            <a:schemeClr val="tx1"/>
          </a:fontRef>
        </p:style>
      </p:cxnSp>
      <p:cxnSp>
        <p:nvCxnSpPr>
          <p:cNvPr id="18" name="Straight Connector 17">
            <a:extLst>
              <a:ext uri="{FF2B5EF4-FFF2-40B4-BE49-F238E27FC236}">
                <a16:creationId xmlns:a16="http://schemas.microsoft.com/office/drawing/2014/main" id="{532679B5-E2D5-0E0A-5FD4-0561484134E0}"/>
              </a:ext>
            </a:extLst>
          </p:cNvPr>
          <p:cNvCxnSpPr/>
          <p:nvPr/>
        </p:nvCxnSpPr>
        <p:spPr>
          <a:xfrm>
            <a:off x="2057400" y="4050632"/>
            <a:ext cx="847223" cy="379128"/>
          </a:xfrm>
          <a:prstGeom prst="line">
            <a:avLst/>
          </a:prstGeom>
        </p:spPr>
        <p:style>
          <a:lnRef idx="3">
            <a:schemeClr val="dk1"/>
          </a:lnRef>
          <a:fillRef idx="0">
            <a:schemeClr val="dk1"/>
          </a:fillRef>
          <a:effectRef idx="2">
            <a:schemeClr val="dk1"/>
          </a:effectRef>
          <a:fontRef idx="minor">
            <a:schemeClr val="tx1"/>
          </a:fontRef>
        </p:style>
      </p:cxnSp>
      <p:sp>
        <p:nvSpPr>
          <p:cNvPr id="19" name="TextBox 18">
            <a:extLst>
              <a:ext uri="{FF2B5EF4-FFF2-40B4-BE49-F238E27FC236}">
                <a16:creationId xmlns:a16="http://schemas.microsoft.com/office/drawing/2014/main" id="{E150FD20-86C2-B893-EDCA-C9CC090D1908}"/>
              </a:ext>
            </a:extLst>
          </p:cNvPr>
          <p:cNvSpPr txBox="1"/>
          <p:nvPr/>
        </p:nvSpPr>
        <p:spPr>
          <a:xfrm>
            <a:off x="2265672" y="1826802"/>
            <a:ext cx="468503" cy="400110"/>
          </a:xfrm>
          <a:prstGeom prst="rect">
            <a:avLst/>
          </a:prstGeom>
          <a:noFill/>
        </p:spPr>
        <p:txBody>
          <a:bodyPr wrap="square" rtlCol="0">
            <a:spAutoFit/>
          </a:bodyPr>
          <a:lstStyle/>
          <a:p>
            <a:pPr algn="ctr"/>
            <a:r>
              <a:rPr lang="en-US" sz="2000" dirty="0">
                <a:solidFill>
                  <a:srgbClr val="212121"/>
                </a:solidFill>
              </a:rPr>
              <a:t>11</a:t>
            </a:r>
            <a:endParaRPr lang="en-IN" dirty="0">
              <a:solidFill>
                <a:srgbClr val="212121"/>
              </a:solidFill>
            </a:endParaRPr>
          </a:p>
        </p:txBody>
      </p:sp>
      <p:sp>
        <p:nvSpPr>
          <p:cNvPr id="20" name="TextBox 19">
            <a:extLst>
              <a:ext uri="{FF2B5EF4-FFF2-40B4-BE49-F238E27FC236}">
                <a16:creationId xmlns:a16="http://schemas.microsoft.com/office/drawing/2014/main" id="{63D0C11C-D9E1-8DA9-6FC8-5265D1E6CA17}"/>
              </a:ext>
            </a:extLst>
          </p:cNvPr>
          <p:cNvSpPr txBox="1"/>
          <p:nvPr/>
        </p:nvSpPr>
        <p:spPr>
          <a:xfrm>
            <a:off x="762000" y="2362200"/>
            <a:ext cx="304800" cy="400110"/>
          </a:xfrm>
          <a:prstGeom prst="rect">
            <a:avLst/>
          </a:prstGeom>
          <a:noFill/>
        </p:spPr>
        <p:txBody>
          <a:bodyPr wrap="square" rtlCol="0">
            <a:spAutoFit/>
          </a:bodyPr>
          <a:lstStyle/>
          <a:p>
            <a:pPr algn="ctr"/>
            <a:r>
              <a:rPr lang="en-US" sz="2000" dirty="0">
                <a:solidFill>
                  <a:srgbClr val="212121"/>
                </a:solidFill>
              </a:rPr>
              <a:t>1</a:t>
            </a:r>
            <a:endParaRPr lang="en-IN" dirty="0">
              <a:solidFill>
                <a:srgbClr val="212121"/>
              </a:solidFill>
            </a:endParaRPr>
          </a:p>
        </p:txBody>
      </p:sp>
      <p:sp>
        <p:nvSpPr>
          <p:cNvPr id="21" name="TextBox 20">
            <a:extLst>
              <a:ext uri="{FF2B5EF4-FFF2-40B4-BE49-F238E27FC236}">
                <a16:creationId xmlns:a16="http://schemas.microsoft.com/office/drawing/2014/main" id="{976F50B1-6E94-884E-0ACE-F15574B81857}"/>
              </a:ext>
            </a:extLst>
          </p:cNvPr>
          <p:cNvSpPr txBox="1"/>
          <p:nvPr/>
        </p:nvSpPr>
        <p:spPr>
          <a:xfrm>
            <a:off x="5625660" y="3475425"/>
            <a:ext cx="485273" cy="400110"/>
          </a:xfrm>
          <a:prstGeom prst="rect">
            <a:avLst/>
          </a:prstGeom>
          <a:noFill/>
        </p:spPr>
        <p:txBody>
          <a:bodyPr wrap="square" rtlCol="0">
            <a:spAutoFit/>
          </a:bodyPr>
          <a:lstStyle/>
          <a:p>
            <a:pPr algn="ctr"/>
            <a:r>
              <a:rPr lang="en-US" sz="2000" dirty="0">
                <a:solidFill>
                  <a:srgbClr val="212121"/>
                </a:solidFill>
              </a:rPr>
              <a:t>34</a:t>
            </a:r>
            <a:endParaRPr lang="en-IN" dirty="0">
              <a:solidFill>
                <a:srgbClr val="212121"/>
              </a:solidFill>
            </a:endParaRPr>
          </a:p>
        </p:txBody>
      </p:sp>
      <p:sp>
        <p:nvSpPr>
          <p:cNvPr id="22" name="TextBox 21">
            <a:extLst>
              <a:ext uri="{FF2B5EF4-FFF2-40B4-BE49-F238E27FC236}">
                <a16:creationId xmlns:a16="http://schemas.microsoft.com/office/drawing/2014/main" id="{70318DB8-0F02-FFA3-75CE-615C4C3508D4}"/>
              </a:ext>
            </a:extLst>
          </p:cNvPr>
          <p:cNvSpPr txBox="1"/>
          <p:nvPr/>
        </p:nvSpPr>
        <p:spPr>
          <a:xfrm>
            <a:off x="6180668" y="2743200"/>
            <a:ext cx="448178" cy="400110"/>
          </a:xfrm>
          <a:prstGeom prst="rect">
            <a:avLst/>
          </a:prstGeom>
          <a:noFill/>
        </p:spPr>
        <p:txBody>
          <a:bodyPr wrap="square" rtlCol="0">
            <a:spAutoFit/>
          </a:bodyPr>
          <a:lstStyle/>
          <a:p>
            <a:pPr algn="ctr"/>
            <a:r>
              <a:rPr lang="en-US" sz="2000" dirty="0">
                <a:solidFill>
                  <a:srgbClr val="212121"/>
                </a:solidFill>
              </a:rPr>
              <a:t>36</a:t>
            </a:r>
            <a:endParaRPr lang="en-IN" dirty="0">
              <a:solidFill>
                <a:srgbClr val="212121"/>
              </a:solidFill>
            </a:endParaRPr>
          </a:p>
        </p:txBody>
      </p:sp>
      <p:sp>
        <p:nvSpPr>
          <p:cNvPr id="23" name="TextBox 22">
            <a:extLst>
              <a:ext uri="{FF2B5EF4-FFF2-40B4-BE49-F238E27FC236}">
                <a16:creationId xmlns:a16="http://schemas.microsoft.com/office/drawing/2014/main" id="{A7EB3ABF-992E-37DB-2CE6-D5609F8CA35B}"/>
              </a:ext>
            </a:extLst>
          </p:cNvPr>
          <p:cNvSpPr txBox="1"/>
          <p:nvPr/>
        </p:nvSpPr>
        <p:spPr>
          <a:xfrm>
            <a:off x="1747342" y="3840816"/>
            <a:ext cx="304800" cy="400110"/>
          </a:xfrm>
          <a:prstGeom prst="rect">
            <a:avLst/>
          </a:prstGeom>
          <a:noFill/>
        </p:spPr>
        <p:txBody>
          <a:bodyPr wrap="square" rtlCol="0">
            <a:spAutoFit/>
          </a:bodyPr>
          <a:lstStyle/>
          <a:p>
            <a:pPr algn="ctr"/>
            <a:r>
              <a:rPr lang="en-US" sz="2000" dirty="0">
                <a:solidFill>
                  <a:srgbClr val="212121"/>
                </a:solidFill>
              </a:rPr>
              <a:t>9</a:t>
            </a:r>
            <a:endParaRPr lang="en-IN" dirty="0">
              <a:solidFill>
                <a:srgbClr val="212121"/>
              </a:solidFill>
            </a:endParaRPr>
          </a:p>
        </p:txBody>
      </p:sp>
      <p:sp>
        <p:nvSpPr>
          <p:cNvPr id="24" name="TextBox 23">
            <a:extLst>
              <a:ext uri="{FF2B5EF4-FFF2-40B4-BE49-F238E27FC236}">
                <a16:creationId xmlns:a16="http://schemas.microsoft.com/office/drawing/2014/main" id="{38B10915-56DB-B80B-5530-493FECDD5C3B}"/>
              </a:ext>
            </a:extLst>
          </p:cNvPr>
          <p:cNvSpPr txBox="1"/>
          <p:nvPr/>
        </p:nvSpPr>
        <p:spPr>
          <a:xfrm>
            <a:off x="2901634" y="4223256"/>
            <a:ext cx="468503" cy="400110"/>
          </a:xfrm>
          <a:prstGeom prst="rect">
            <a:avLst/>
          </a:prstGeom>
          <a:noFill/>
        </p:spPr>
        <p:txBody>
          <a:bodyPr wrap="square" rtlCol="0">
            <a:spAutoFit/>
          </a:bodyPr>
          <a:lstStyle/>
          <a:p>
            <a:pPr algn="ctr"/>
            <a:r>
              <a:rPr lang="en-US" sz="2000" dirty="0">
                <a:solidFill>
                  <a:srgbClr val="212121"/>
                </a:solidFill>
              </a:rPr>
              <a:t>12</a:t>
            </a:r>
            <a:endParaRPr lang="en-IN" dirty="0">
              <a:solidFill>
                <a:srgbClr val="212121"/>
              </a:solidFill>
            </a:endParaRPr>
          </a:p>
        </p:txBody>
      </p:sp>
      <p:sp>
        <p:nvSpPr>
          <p:cNvPr id="25" name="TextBox 24">
            <a:extLst>
              <a:ext uri="{FF2B5EF4-FFF2-40B4-BE49-F238E27FC236}">
                <a16:creationId xmlns:a16="http://schemas.microsoft.com/office/drawing/2014/main" id="{FFA99490-99AC-03AD-060F-C909FA4CE714}"/>
              </a:ext>
            </a:extLst>
          </p:cNvPr>
          <p:cNvSpPr txBox="1"/>
          <p:nvPr/>
        </p:nvSpPr>
        <p:spPr>
          <a:xfrm>
            <a:off x="3139685" y="3099545"/>
            <a:ext cx="502687" cy="400110"/>
          </a:xfrm>
          <a:prstGeom prst="rect">
            <a:avLst/>
          </a:prstGeom>
          <a:noFill/>
        </p:spPr>
        <p:txBody>
          <a:bodyPr wrap="square" rtlCol="0">
            <a:spAutoFit/>
          </a:bodyPr>
          <a:lstStyle/>
          <a:p>
            <a:pPr algn="ctr"/>
            <a:r>
              <a:rPr lang="en-US" sz="2000" dirty="0">
                <a:solidFill>
                  <a:srgbClr val="212121"/>
                </a:solidFill>
              </a:rPr>
              <a:t>16</a:t>
            </a:r>
            <a:endParaRPr lang="en-IN" dirty="0">
              <a:solidFill>
                <a:srgbClr val="212121"/>
              </a:solidFill>
            </a:endParaRPr>
          </a:p>
        </p:txBody>
      </p:sp>
      <p:sp>
        <p:nvSpPr>
          <p:cNvPr id="26" name="TextBox 25">
            <a:extLst>
              <a:ext uri="{FF2B5EF4-FFF2-40B4-BE49-F238E27FC236}">
                <a16:creationId xmlns:a16="http://schemas.microsoft.com/office/drawing/2014/main" id="{B6ED3469-26DD-29DB-E559-0545326E19B2}"/>
              </a:ext>
            </a:extLst>
          </p:cNvPr>
          <p:cNvSpPr txBox="1"/>
          <p:nvPr/>
        </p:nvSpPr>
        <p:spPr>
          <a:xfrm>
            <a:off x="8175138" y="1847910"/>
            <a:ext cx="548983" cy="2123658"/>
          </a:xfrm>
          <a:prstGeom prst="rect">
            <a:avLst/>
          </a:prstGeom>
          <a:ln w="28575">
            <a:solidFill>
              <a:schemeClr val="accent1"/>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en-IN" sz="2200" b="1" dirty="0">
                <a:solidFill>
                  <a:srgbClr val="212121"/>
                </a:solidFill>
              </a:rPr>
              <a:t>1, 36, 16, 34, 9, 12</a:t>
            </a:r>
            <a:endParaRPr lang="en-US" sz="2200" b="1" dirty="0">
              <a:solidFill>
                <a:srgbClr val="212121"/>
              </a:solidFill>
            </a:endParaRPr>
          </a:p>
        </p:txBody>
      </p:sp>
    </p:spTree>
    <p:extLst>
      <p:ext uri="{BB962C8B-B14F-4D97-AF65-F5344CB8AC3E}">
        <p14:creationId xmlns:p14="http://schemas.microsoft.com/office/powerpoint/2010/main" val="2409783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6"/>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4"/>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5"/>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6"/>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9"/>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11"/>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19"/>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13"/>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20"/>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nodeType="clickEffect">
                                  <p:stCondLst>
                                    <p:cond delay="0"/>
                                  </p:stCondLst>
                                  <p:childTnLst>
                                    <p:set>
                                      <p:cBhvr>
                                        <p:cTn id="47" dur="1" fill="hold">
                                          <p:stCondLst>
                                            <p:cond delay="0"/>
                                          </p:stCondLst>
                                        </p:cTn>
                                        <p:tgtEl>
                                          <p:spTgt spid="14"/>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22"/>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nodeType="clickEffect">
                                  <p:stCondLst>
                                    <p:cond delay="0"/>
                                  </p:stCondLst>
                                  <p:childTnLst>
                                    <p:set>
                                      <p:cBhvr>
                                        <p:cTn id="55" dur="1" fill="hold">
                                          <p:stCondLst>
                                            <p:cond delay="0"/>
                                          </p:stCondLst>
                                        </p:cTn>
                                        <p:tgtEl>
                                          <p:spTgt spid="15"/>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25"/>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clickEffect">
                                  <p:stCondLst>
                                    <p:cond delay="0"/>
                                  </p:stCondLst>
                                  <p:childTnLst>
                                    <p:set>
                                      <p:cBhvr>
                                        <p:cTn id="63" dur="1" fill="hold">
                                          <p:stCondLst>
                                            <p:cond delay="0"/>
                                          </p:stCondLst>
                                        </p:cTn>
                                        <p:tgtEl>
                                          <p:spTgt spid="16"/>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21"/>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nodeType="clickEffect">
                                  <p:stCondLst>
                                    <p:cond delay="0"/>
                                  </p:stCondLst>
                                  <p:childTnLst>
                                    <p:set>
                                      <p:cBhvr>
                                        <p:cTn id="71" dur="1" fill="hold">
                                          <p:stCondLst>
                                            <p:cond delay="0"/>
                                          </p:stCondLst>
                                        </p:cTn>
                                        <p:tgtEl>
                                          <p:spTgt spid="17"/>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grpId="0" nodeType="clickEffect">
                                  <p:stCondLst>
                                    <p:cond delay="0"/>
                                  </p:stCondLst>
                                  <p:childTnLst>
                                    <p:set>
                                      <p:cBhvr>
                                        <p:cTn id="75" dur="1" fill="hold">
                                          <p:stCondLst>
                                            <p:cond delay="0"/>
                                          </p:stCondLst>
                                        </p:cTn>
                                        <p:tgtEl>
                                          <p:spTgt spid="23"/>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nodeType="clickEffect">
                                  <p:stCondLst>
                                    <p:cond delay="0"/>
                                  </p:stCondLst>
                                  <p:childTnLst>
                                    <p:set>
                                      <p:cBhvr>
                                        <p:cTn id="79" dur="1" fill="hold">
                                          <p:stCondLst>
                                            <p:cond delay="0"/>
                                          </p:stCondLst>
                                        </p:cTn>
                                        <p:tgtEl>
                                          <p:spTgt spid="18"/>
                                        </p:tgtEl>
                                        <p:attrNameLst>
                                          <p:attrName>style.visibility</p:attrName>
                                        </p:attrNameLst>
                                      </p:cBhvr>
                                      <p:to>
                                        <p:strVal val="visible"/>
                                      </p:to>
                                    </p:se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grpId="0" nodeType="clickEffect">
                                  <p:stCondLst>
                                    <p:cond delay="0"/>
                                  </p:stCondLst>
                                  <p:childTnLst>
                                    <p:set>
                                      <p:cBhvr>
                                        <p:cTn id="83" dur="1" fill="hold">
                                          <p:stCondLst>
                                            <p:cond delay="0"/>
                                          </p:stCondLst>
                                        </p:cTn>
                                        <p:tgtEl>
                                          <p:spTgt spid="24"/>
                                        </p:tgtEl>
                                        <p:attrNameLst>
                                          <p:attrName>style.visibility</p:attrName>
                                        </p:attrNameLst>
                                      </p:cBhvr>
                                      <p:to>
                                        <p:strVal val="visible"/>
                                      </p:to>
                                    </p:set>
                                  </p:childTnLst>
                                </p:cTn>
                              </p:par>
                            </p:childTnLst>
                          </p:cTn>
                        </p:par>
                      </p:childTnLst>
                    </p:cTn>
                  </p:par>
                  <p:par>
                    <p:cTn id="84" fill="hold">
                      <p:stCondLst>
                        <p:cond delay="indefinite"/>
                      </p:stCondLst>
                      <p:childTnLst>
                        <p:par>
                          <p:cTn id="85" fill="hold">
                            <p:stCondLst>
                              <p:cond delay="0"/>
                            </p:stCondLst>
                            <p:childTnLst>
                              <p:par>
                                <p:cTn id="86" presetID="10" presetClass="entr" presetSubtype="0" fill="hold" nodeType="clickEffect">
                                  <p:stCondLst>
                                    <p:cond delay="0"/>
                                  </p:stCondLst>
                                  <p:childTnLst>
                                    <p:set>
                                      <p:cBhvr>
                                        <p:cTn id="87" dur="1" fill="hold">
                                          <p:stCondLst>
                                            <p:cond delay="0"/>
                                          </p:stCondLst>
                                        </p:cTn>
                                        <p:tgtEl>
                                          <p:spTgt spid="3">
                                            <p:txEl>
                                              <p:pRg st="9" end="9"/>
                                            </p:txEl>
                                          </p:spTgt>
                                        </p:tgtEl>
                                        <p:attrNameLst>
                                          <p:attrName>style.visibility</p:attrName>
                                        </p:attrNameLst>
                                      </p:cBhvr>
                                      <p:to>
                                        <p:strVal val="visible"/>
                                      </p:to>
                                    </p:set>
                                    <p:animEffect transition="in" filter="fade">
                                      <p:cBhvr>
                                        <p:cTn id="88" dur="500"/>
                                        <p:tgtEl>
                                          <p:spTgt spid="3">
                                            <p:txEl>
                                              <p:pRg st="9" end="9"/>
                                            </p:txEl>
                                          </p:spTgt>
                                        </p:tgtEl>
                                      </p:cBhvr>
                                    </p:animEffect>
                                  </p:childTnLst>
                                </p:cTn>
                              </p:par>
                            </p:childTnLst>
                          </p:cTn>
                        </p:par>
                      </p:childTnLst>
                    </p:cTn>
                  </p:par>
                  <p:par>
                    <p:cTn id="89" fill="hold">
                      <p:stCondLst>
                        <p:cond delay="indefinite"/>
                      </p:stCondLst>
                      <p:childTnLst>
                        <p:par>
                          <p:cTn id="90" fill="hold">
                            <p:stCondLst>
                              <p:cond delay="0"/>
                            </p:stCondLst>
                            <p:childTnLst>
                              <p:par>
                                <p:cTn id="91" presetID="10" presetClass="entr" presetSubtype="0" fill="hold" nodeType="clickEffect">
                                  <p:stCondLst>
                                    <p:cond delay="0"/>
                                  </p:stCondLst>
                                  <p:childTnLst>
                                    <p:set>
                                      <p:cBhvr>
                                        <p:cTn id="92" dur="1" fill="hold">
                                          <p:stCondLst>
                                            <p:cond delay="0"/>
                                          </p:stCondLst>
                                        </p:cTn>
                                        <p:tgtEl>
                                          <p:spTgt spid="3">
                                            <p:txEl>
                                              <p:pRg st="10" end="10"/>
                                            </p:txEl>
                                          </p:spTgt>
                                        </p:tgtEl>
                                        <p:attrNameLst>
                                          <p:attrName>style.visibility</p:attrName>
                                        </p:attrNameLst>
                                      </p:cBhvr>
                                      <p:to>
                                        <p:strVal val="visible"/>
                                      </p:to>
                                    </p:set>
                                    <p:animEffect transition="in" filter="fade">
                                      <p:cBhvr>
                                        <p:cTn id="93"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p:bldP spid="12" grpId="0"/>
      <p:bldP spid="19" grpId="0"/>
      <p:bldP spid="20" grpId="0"/>
      <p:bldP spid="21" grpId="0"/>
      <p:bldP spid="22" grpId="0"/>
      <p:bldP spid="23" grpId="0"/>
      <p:bldP spid="24" grpId="0"/>
      <p:bldP spid="25" grpId="0"/>
      <p:bldP spid="26"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85F167-73DC-C6D3-E814-9D5623AD66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B5FEF3-7D9E-CC01-ABC2-4A115771CEA3}"/>
              </a:ext>
            </a:extLst>
          </p:cNvPr>
          <p:cNvSpPr>
            <a:spLocks noGrp="1"/>
          </p:cNvSpPr>
          <p:nvPr>
            <p:ph type="title"/>
          </p:nvPr>
        </p:nvSpPr>
        <p:spPr>
          <a:xfrm>
            <a:off x="0" y="1"/>
            <a:ext cx="12192000" cy="711200"/>
          </a:xfrm>
        </p:spPr>
        <p:txBody>
          <a:bodyPr/>
          <a:lstStyle/>
          <a:p>
            <a:r>
              <a:rPr lang="en-US" dirty="0"/>
              <a:t>SSTF (Shortest Seek Time First)</a:t>
            </a:r>
          </a:p>
        </p:txBody>
      </p:sp>
      <p:sp>
        <p:nvSpPr>
          <p:cNvPr id="3" name="Content Placeholder 2">
            <a:extLst>
              <a:ext uri="{FF2B5EF4-FFF2-40B4-BE49-F238E27FC236}">
                <a16:creationId xmlns:a16="http://schemas.microsoft.com/office/drawing/2014/main" id="{CED8A4BD-9BA0-A007-98F9-161BFE39E4BE}"/>
              </a:ext>
            </a:extLst>
          </p:cNvPr>
          <p:cNvSpPr>
            <a:spLocks noGrp="1"/>
          </p:cNvSpPr>
          <p:nvPr>
            <p:ph idx="1"/>
          </p:nvPr>
        </p:nvSpPr>
        <p:spPr>
          <a:xfrm>
            <a:off x="131180" y="863444"/>
            <a:ext cx="11929641" cy="5590565"/>
          </a:xfrm>
        </p:spPr>
        <p:txBody>
          <a:bodyPr/>
          <a:lstStyle/>
          <a:p>
            <a:r>
              <a:rPr lang="en-US" dirty="0"/>
              <a:t>We can minimize the disk movement by serving the </a:t>
            </a:r>
            <a:r>
              <a:rPr lang="en-US" b="1" dirty="0">
                <a:solidFill>
                  <a:schemeClr val="accent6"/>
                </a:solidFill>
              </a:rPr>
              <a:t>request closest to the current position of the head</a:t>
            </a:r>
            <a:r>
              <a:rPr lang="en-US" dirty="0"/>
              <a:t>.</a:t>
            </a:r>
          </a:p>
          <a:p>
            <a:endParaRPr lang="en-US" dirty="0"/>
          </a:p>
          <a:p>
            <a:endParaRPr lang="en-US" dirty="0"/>
          </a:p>
          <a:p>
            <a:endParaRPr lang="en-US" dirty="0"/>
          </a:p>
          <a:p>
            <a:endParaRPr lang="en-US" dirty="0"/>
          </a:p>
          <a:p>
            <a:endParaRPr lang="en-US" dirty="0"/>
          </a:p>
          <a:p>
            <a:endParaRPr lang="en-US" dirty="0"/>
          </a:p>
          <a:p>
            <a:endParaRPr lang="en-US" dirty="0"/>
          </a:p>
          <a:p>
            <a:pPr>
              <a:lnSpc>
                <a:spcPct val="100000"/>
              </a:lnSpc>
            </a:pPr>
            <a:endParaRPr lang="en-US" sz="1000" dirty="0"/>
          </a:p>
          <a:p>
            <a:r>
              <a:rPr lang="en-US" dirty="0"/>
              <a:t>Disk movement will be 11, 12, 9, 16, 1, 34 and 36.</a:t>
            </a:r>
          </a:p>
          <a:p>
            <a:r>
              <a:rPr lang="en-US" dirty="0"/>
              <a:t>Total cylinder movement: (12-11) + (12-9) + (16-9) + (16-1) + (34-1) + (36-34) =</a:t>
            </a:r>
            <a:r>
              <a:rPr lang="en-US" dirty="0">
                <a:solidFill>
                  <a:schemeClr val="accent6"/>
                </a:solidFill>
              </a:rPr>
              <a:t> </a:t>
            </a:r>
            <a:r>
              <a:rPr lang="en-US" b="1" dirty="0">
                <a:solidFill>
                  <a:schemeClr val="accent6"/>
                </a:solidFill>
              </a:rPr>
              <a:t>61</a:t>
            </a:r>
          </a:p>
        </p:txBody>
      </p:sp>
      <p:sp>
        <p:nvSpPr>
          <p:cNvPr id="4" name="TextBox 3">
            <a:extLst>
              <a:ext uri="{FF2B5EF4-FFF2-40B4-BE49-F238E27FC236}">
                <a16:creationId xmlns:a16="http://schemas.microsoft.com/office/drawing/2014/main" id="{F712E6DB-41E0-264A-F52B-8CD903598EAE}"/>
              </a:ext>
            </a:extLst>
          </p:cNvPr>
          <p:cNvSpPr txBox="1"/>
          <p:nvPr/>
        </p:nvSpPr>
        <p:spPr>
          <a:xfrm>
            <a:off x="8212822" y="1855654"/>
            <a:ext cx="544922" cy="2123658"/>
          </a:xfrm>
          <a:prstGeom prst="rect">
            <a:avLst/>
          </a:prstGeom>
          <a:ln w="28575">
            <a:solidFill>
              <a:schemeClr val="accent1"/>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en-IN" sz="2200" b="1" dirty="0">
                <a:solidFill>
                  <a:srgbClr val="212121"/>
                </a:solidFill>
              </a:rPr>
              <a:t>1, 36, 16, 34, 9, 12</a:t>
            </a:r>
            <a:endParaRPr lang="en-US" sz="2200" b="1" dirty="0">
              <a:solidFill>
                <a:srgbClr val="212121"/>
              </a:solidFill>
            </a:endParaRPr>
          </a:p>
        </p:txBody>
      </p:sp>
      <p:graphicFrame>
        <p:nvGraphicFramePr>
          <p:cNvPr id="5" name="Table 4">
            <a:extLst>
              <a:ext uri="{FF2B5EF4-FFF2-40B4-BE49-F238E27FC236}">
                <a16:creationId xmlns:a16="http://schemas.microsoft.com/office/drawing/2014/main" id="{E8EECE1D-29C8-ED7E-B3D1-68B7F9DDFDFF}"/>
              </a:ext>
            </a:extLst>
          </p:cNvPr>
          <p:cNvGraphicFramePr>
            <a:graphicFrameLocks noGrp="1"/>
          </p:cNvGraphicFramePr>
          <p:nvPr/>
        </p:nvGraphicFramePr>
        <p:xfrm>
          <a:off x="609597" y="1855654"/>
          <a:ext cx="7010402" cy="2966720"/>
        </p:xfrm>
        <a:graphic>
          <a:graphicData uri="http://schemas.openxmlformats.org/drawingml/2006/table">
            <a:tbl>
              <a:tblPr firstRow="1" bandRow="1">
                <a:tableStyleId>{5940675A-B579-460E-94D1-54222C63F5DA}</a:tableStyleId>
              </a:tblPr>
              <a:tblGrid>
                <a:gridCol w="457203">
                  <a:extLst>
                    <a:ext uri="{9D8B030D-6E8A-4147-A177-3AD203B41FA5}">
                      <a16:colId xmlns:a16="http://schemas.microsoft.com/office/drawing/2014/main" val="20000"/>
                    </a:ext>
                  </a:extLst>
                </a:gridCol>
                <a:gridCol w="990600">
                  <a:extLst>
                    <a:ext uri="{9D8B030D-6E8A-4147-A177-3AD203B41FA5}">
                      <a16:colId xmlns:a16="http://schemas.microsoft.com/office/drawing/2014/main" val="20001"/>
                    </a:ext>
                  </a:extLst>
                </a:gridCol>
                <a:gridCol w="838200">
                  <a:extLst>
                    <a:ext uri="{9D8B030D-6E8A-4147-A177-3AD203B41FA5}">
                      <a16:colId xmlns:a16="http://schemas.microsoft.com/office/drawing/2014/main" val="20002"/>
                    </a:ext>
                  </a:extLst>
                </a:gridCol>
                <a:gridCol w="762000">
                  <a:extLst>
                    <a:ext uri="{9D8B030D-6E8A-4147-A177-3AD203B41FA5}">
                      <a16:colId xmlns:a16="http://schemas.microsoft.com/office/drawing/2014/main" val="20003"/>
                    </a:ext>
                  </a:extLst>
                </a:gridCol>
                <a:gridCol w="1959427">
                  <a:extLst>
                    <a:ext uri="{9D8B030D-6E8A-4147-A177-3AD203B41FA5}">
                      <a16:colId xmlns:a16="http://schemas.microsoft.com/office/drawing/2014/main" val="20004"/>
                    </a:ext>
                  </a:extLst>
                </a:gridCol>
                <a:gridCol w="555173">
                  <a:extLst>
                    <a:ext uri="{9D8B030D-6E8A-4147-A177-3AD203B41FA5}">
                      <a16:colId xmlns:a16="http://schemas.microsoft.com/office/drawing/2014/main" val="20005"/>
                    </a:ext>
                  </a:extLst>
                </a:gridCol>
                <a:gridCol w="1447799">
                  <a:extLst>
                    <a:ext uri="{9D8B030D-6E8A-4147-A177-3AD203B41FA5}">
                      <a16:colId xmlns:a16="http://schemas.microsoft.com/office/drawing/2014/main" val="20006"/>
                    </a:ext>
                  </a:extLst>
                </a:gridCol>
              </a:tblGrid>
              <a:tr h="2966720">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10000"/>
                  </a:ext>
                </a:extLst>
              </a:tr>
            </a:tbl>
          </a:graphicData>
        </a:graphic>
      </p:graphicFrame>
      <p:sp>
        <p:nvSpPr>
          <p:cNvPr id="6" name="TextBox 5">
            <a:extLst>
              <a:ext uri="{FF2B5EF4-FFF2-40B4-BE49-F238E27FC236}">
                <a16:creationId xmlns:a16="http://schemas.microsoft.com/office/drawing/2014/main" id="{CC8A5322-43A2-5DE4-C918-D11E24BBCE1B}"/>
              </a:ext>
            </a:extLst>
          </p:cNvPr>
          <p:cNvSpPr txBox="1"/>
          <p:nvPr/>
        </p:nvSpPr>
        <p:spPr>
          <a:xfrm>
            <a:off x="547435" y="1455544"/>
            <a:ext cx="304800" cy="400110"/>
          </a:xfrm>
          <a:prstGeom prst="rect">
            <a:avLst/>
          </a:prstGeom>
          <a:noFill/>
        </p:spPr>
        <p:txBody>
          <a:bodyPr wrap="square" rtlCol="0">
            <a:spAutoFit/>
          </a:bodyPr>
          <a:lstStyle/>
          <a:p>
            <a:pPr algn="ctr"/>
            <a:r>
              <a:rPr lang="en-US" sz="2000" dirty="0">
                <a:solidFill>
                  <a:srgbClr val="212121"/>
                </a:solidFill>
              </a:rPr>
              <a:t>0</a:t>
            </a:r>
            <a:endParaRPr lang="en-IN" dirty="0">
              <a:solidFill>
                <a:srgbClr val="212121"/>
              </a:solidFill>
            </a:endParaRPr>
          </a:p>
        </p:txBody>
      </p:sp>
      <p:sp>
        <p:nvSpPr>
          <p:cNvPr id="7" name="TextBox 6">
            <a:extLst>
              <a:ext uri="{FF2B5EF4-FFF2-40B4-BE49-F238E27FC236}">
                <a16:creationId xmlns:a16="http://schemas.microsoft.com/office/drawing/2014/main" id="{2EE9BDF0-0D7F-162C-25E6-668362E4A690}"/>
              </a:ext>
            </a:extLst>
          </p:cNvPr>
          <p:cNvSpPr txBox="1"/>
          <p:nvPr/>
        </p:nvSpPr>
        <p:spPr>
          <a:xfrm>
            <a:off x="914400" y="1469574"/>
            <a:ext cx="304800" cy="400110"/>
          </a:xfrm>
          <a:prstGeom prst="rect">
            <a:avLst/>
          </a:prstGeom>
          <a:noFill/>
        </p:spPr>
        <p:txBody>
          <a:bodyPr wrap="square" rtlCol="0">
            <a:spAutoFit/>
          </a:bodyPr>
          <a:lstStyle/>
          <a:p>
            <a:pPr algn="ctr"/>
            <a:r>
              <a:rPr lang="en-US" sz="2000" dirty="0">
                <a:solidFill>
                  <a:srgbClr val="212121"/>
                </a:solidFill>
              </a:rPr>
              <a:t>1</a:t>
            </a:r>
            <a:endParaRPr lang="en-IN" dirty="0">
              <a:solidFill>
                <a:srgbClr val="212121"/>
              </a:solidFill>
            </a:endParaRPr>
          </a:p>
        </p:txBody>
      </p:sp>
      <p:sp>
        <p:nvSpPr>
          <p:cNvPr id="8" name="TextBox 7">
            <a:extLst>
              <a:ext uri="{FF2B5EF4-FFF2-40B4-BE49-F238E27FC236}">
                <a16:creationId xmlns:a16="http://schemas.microsoft.com/office/drawing/2014/main" id="{465890B1-E490-3780-FD60-0E1F8FA298FA}"/>
              </a:ext>
            </a:extLst>
          </p:cNvPr>
          <p:cNvSpPr txBox="1"/>
          <p:nvPr/>
        </p:nvSpPr>
        <p:spPr>
          <a:xfrm>
            <a:off x="1905000" y="1461089"/>
            <a:ext cx="304800" cy="400110"/>
          </a:xfrm>
          <a:prstGeom prst="rect">
            <a:avLst/>
          </a:prstGeom>
          <a:noFill/>
        </p:spPr>
        <p:txBody>
          <a:bodyPr wrap="square" rtlCol="0">
            <a:spAutoFit/>
          </a:bodyPr>
          <a:lstStyle/>
          <a:p>
            <a:pPr algn="ctr"/>
            <a:r>
              <a:rPr lang="en-US" sz="2000" dirty="0">
                <a:solidFill>
                  <a:srgbClr val="212121"/>
                </a:solidFill>
              </a:rPr>
              <a:t>9</a:t>
            </a:r>
            <a:endParaRPr lang="en-IN" dirty="0">
              <a:solidFill>
                <a:srgbClr val="212121"/>
              </a:solidFill>
            </a:endParaRPr>
          </a:p>
        </p:txBody>
      </p:sp>
      <p:sp>
        <p:nvSpPr>
          <p:cNvPr id="9" name="TextBox 8">
            <a:extLst>
              <a:ext uri="{FF2B5EF4-FFF2-40B4-BE49-F238E27FC236}">
                <a16:creationId xmlns:a16="http://schemas.microsoft.com/office/drawing/2014/main" id="{7CF2D45E-7643-415E-8412-39AFC10A65E9}"/>
              </a:ext>
            </a:extLst>
          </p:cNvPr>
          <p:cNvSpPr txBox="1"/>
          <p:nvPr/>
        </p:nvSpPr>
        <p:spPr>
          <a:xfrm>
            <a:off x="2670372" y="1455544"/>
            <a:ext cx="468503" cy="400110"/>
          </a:xfrm>
          <a:prstGeom prst="rect">
            <a:avLst/>
          </a:prstGeom>
          <a:noFill/>
        </p:spPr>
        <p:txBody>
          <a:bodyPr wrap="square" rtlCol="0">
            <a:spAutoFit/>
          </a:bodyPr>
          <a:lstStyle/>
          <a:p>
            <a:pPr algn="ctr"/>
            <a:r>
              <a:rPr lang="en-US" sz="2000" dirty="0">
                <a:solidFill>
                  <a:srgbClr val="212121"/>
                </a:solidFill>
              </a:rPr>
              <a:t>12</a:t>
            </a:r>
            <a:endParaRPr lang="en-IN" dirty="0">
              <a:solidFill>
                <a:srgbClr val="212121"/>
              </a:solidFill>
            </a:endParaRPr>
          </a:p>
        </p:txBody>
      </p:sp>
      <p:sp>
        <p:nvSpPr>
          <p:cNvPr id="10" name="TextBox 9">
            <a:extLst>
              <a:ext uri="{FF2B5EF4-FFF2-40B4-BE49-F238E27FC236}">
                <a16:creationId xmlns:a16="http://schemas.microsoft.com/office/drawing/2014/main" id="{FFEBD990-3776-CDD6-D800-BA42587007E4}"/>
              </a:ext>
            </a:extLst>
          </p:cNvPr>
          <p:cNvSpPr txBox="1"/>
          <p:nvPr/>
        </p:nvSpPr>
        <p:spPr>
          <a:xfrm>
            <a:off x="3412955" y="1455544"/>
            <a:ext cx="502687" cy="400110"/>
          </a:xfrm>
          <a:prstGeom prst="rect">
            <a:avLst/>
          </a:prstGeom>
          <a:noFill/>
        </p:spPr>
        <p:txBody>
          <a:bodyPr wrap="square" rtlCol="0">
            <a:spAutoFit/>
          </a:bodyPr>
          <a:lstStyle/>
          <a:p>
            <a:pPr algn="ctr"/>
            <a:r>
              <a:rPr lang="en-US" sz="2000" dirty="0">
                <a:solidFill>
                  <a:srgbClr val="212121"/>
                </a:solidFill>
              </a:rPr>
              <a:t>16</a:t>
            </a:r>
            <a:endParaRPr lang="en-IN" dirty="0">
              <a:solidFill>
                <a:srgbClr val="212121"/>
              </a:solidFill>
            </a:endParaRPr>
          </a:p>
        </p:txBody>
      </p:sp>
      <p:sp>
        <p:nvSpPr>
          <p:cNvPr id="11" name="TextBox 10">
            <a:extLst>
              <a:ext uri="{FF2B5EF4-FFF2-40B4-BE49-F238E27FC236}">
                <a16:creationId xmlns:a16="http://schemas.microsoft.com/office/drawing/2014/main" id="{54F03432-EA22-369B-8163-01A025588F1B}"/>
              </a:ext>
            </a:extLst>
          </p:cNvPr>
          <p:cNvSpPr txBox="1"/>
          <p:nvPr/>
        </p:nvSpPr>
        <p:spPr>
          <a:xfrm>
            <a:off x="5378116" y="1469574"/>
            <a:ext cx="485273" cy="400110"/>
          </a:xfrm>
          <a:prstGeom prst="rect">
            <a:avLst/>
          </a:prstGeom>
          <a:noFill/>
        </p:spPr>
        <p:txBody>
          <a:bodyPr wrap="square" rtlCol="0">
            <a:spAutoFit/>
          </a:bodyPr>
          <a:lstStyle/>
          <a:p>
            <a:pPr algn="ctr"/>
            <a:r>
              <a:rPr lang="en-US" sz="2000" dirty="0">
                <a:solidFill>
                  <a:srgbClr val="212121"/>
                </a:solidFill>
              </a:rPr>
              <a:t>34</a:t>
            </a:r>
            <a:endParaRPr lang="en-IN" dirty="0">
              <a:solidFill>
                <a:srgbClr val="212121"/>
              </a:solidFill>
            </a:endParaRPr>
          </a:p>
        </p:txBody>
      </p:sp>
      <p:sp>
        <p:nvSpPr>
          <p:cNvPr id="12" name="TextBox 11">
            <a:extLst>
              <a:ext uri="{FF2B5EF4-FFF2-40B4-BE49-F238E27FC236}">
                <a16:creationId xmlns:a16="http://schemas.microsoft.com/office/drawing/2014/main" id="{427F9A0B-BA79-87AB-D765-F4C815F96176}"/>
              </a:ext>
            </a:extLst>
          </p:cNvPr>
          <p:cNvSpPr txBox="1"/>
          <p:nvPr/>
        </p:nvSpPr>
        <p:spPr>
          <a:xfrm>
            <a:off x="5964654" y="1462559"/>
            <a:ext cx="448178" cy="400110"/>
          </a:xfrm>
          <a:prstGeom prst="rect">
            <a:avLst/>
          </a:prstGeom>
          <a:noFill/>
        </p:spPr>
        <p:txBody>
          <a:bodyPr wrap="square" rtlCol="0">
            <a:spAutoFit/>
          </a:bodyPr>
          <a:lstStyle/>
          <a:p>
            <a:pPr algn="ctr"/>
            <a:r>
              <a:rPr lang="en-US" sz="2000" dirty="0">
                <a:solidFill>
                  <a:srgbClr val="212121"/>
                </a:solidFill>
              </a:rPr>
              <a:t>36</a:t>
            </a:r>
            <a:endParaRPr lang="en-IN" dirty="0">
              <a:solidFill>
                <a:srgbClr val="212121"/>
              </a:solidFill>
            </a:endParaRPr>
          </a:p>
        </p:txBody>
      </p:sp>
      <p:sp>
        <p:nvSpPr>
          <p:cNvPr id="13" name="TextBox 12">
            <a:extLst>
              <a:ext uri="{FF2B5EF4-FFF2-40B4-BE49-F238E27FC236}">
                <a16:creationId xmlns:a16="http://schemas.microsoft.com/office/drawing/2014/main" id="{6DBEE5C4-E0AD-6679-64EA-9BB5BE70D6B3}"/>
              </a:ext>
            </a:extLst>
          </p:cNvPr>
          <p:cNvSpPr txBox="1"/>
          <p:nvPr/>
        </p:nvSpPr>
        <p:spPr>
          <a:xfrm>
            <a:off x="7325863" y="1462559"/>
            <a:ext cx="568216" cy="400110"/>
          </a:xfrm>
          <a:prstGeom prst="rect">
            <a:avLst/>
          </a:prstGeom>
          <a:noFill/>
        </p:spPr>
        <p:txBody>
          <a:bodyPr wrap="square" rtlCol="0">
            <a:spAutoFit/>
          </a:bodyPr>
          <a:lstStyle/>
          <a:p>
            <a:pPr algn="ctr"/>
            <a:r>
              <a:rPr lang="en-US" sz="2000" dirty="0">
                <a:solidFill>
                  <a:srgbClr val="212121"/>
                </a:solidFill>
              </a:rPr>
              <a:t>50</a:t>
            </a:r>
            <a:endParaRPr lang="en-IN" dirty="0">
              <a:solidFill>
                <a:srgbClr val="212121"/>
              </a:solidFill>
            </a:endParaRPr>
          </a:p>
        </p:txBody>
      </p:sp>
      <p:cxnSp>
        <p:nvCxnSpPr>
          <p:cNvPr id="14" name="Straight Connector 13">
            <a:extLst>
              <a:ext uri="{FF2B5EF4-FFF2-40B4-BE49-F238E27FC236}">
                <a16:creationId xmlns:a16="http://schemas.microsoft.com/office/drawing/2014/main" id="{55EB4E5D-C001-5DAB-3898-922155D0C6B8}"/>
              </a:ext>
            </a:extLst>
          </p:cNvPr>
          <p:cNvCxnSpPr/>
          <p:nvPr/>
        </p:nvCxnSpPr>
        <p:spPr>
          <a:xfrm flipH="1" flipV="1">
            <a:off x="2470484" y="2219542"/>
            <a:ext cx="431150" cy="388584"/>
          </a:xfrm>
          <a:prstGeom prst="line">
            <a:avLst/>
          </a:prstGeom>
        </p:spPr>
        <p:style>
          <a:lnRef idx="3">
            <a:schemeClr val="dk1"/>
          </a:lnRef>
          <a:fillRef idx="0">
            <a:schemeClr val="dk1"/>
          </a:fillRef>
          <a:effectRef idx="2">
            <a:schemeClr val="dk1"/>
          </a:effectRef>
          <a:fontRef idx="minor">
            <a:schemeClr val="tx1"/>
          </a:fontRef>
        </p:style>
      </p:cxnSp>
      <p:cxnSp>
        <p:nvCxnSpPr>
          <p:cNvPr id="15" name="Straight Connector 14">
            <a:extLst>
              <a:ext uri="{FF2B5EF4-FFF2-40B4-BE49-F238E27FC236}">
                <a16:creationId xmlns:a16="http://schemas.microsoft.com/office/drawing/2014/main" id="{0B54A00D-2678-C790-BE7F-476EC0D87BAD}"/>
              </a:ext>
            </a:extLst>
          </p:cNvPr>
          <p:cNvCxnSpPr/>
          <p:nvPr/>
        </p:nvCxnSpPr>
        <p:spPr>
          <a:xfrm>
            <a:off x="2046872" y="2959897"/>
            <a:ext cx="1610728" cy="369369"/>
          </a:xfrm>
          <a:prstGeom prst="line">
            <a:avLst/>
          </a:prstGeom>
        </p:spPr>
        <p:style>
          <a:lnRef idx="3">
            <a:schemeClr val="dk1"/>
          </a:lnRef>
          <a:fillRef idx="0">
            <a:schemeClr val="dk1"/>
          </a:fillRef>
          <a:effectRef idx="2">
            <a:schemeClr val="dk1"/>
          </a:effectRef>
          <a:fontRef idx="minor">
            <a:schemeClr val="tx1"/>
          </a:fontRef>
        </p:style>
      </p:cxnSp>
      <p:cxnSp>
        <p:nvCxnSpPr>
          <p:cNvPr id="16" name="Straight Connector 15">
            <a:extLst>
              <a:ext uri="{FF2B5EF4-FFF2-40B4-BE49-F238E27FC236}">
                <a16:creationId xmlns:a16="http://schemas.microsoft.com/office/drawing/2014/main" id="{01F205ED-0462-794C-6A40-EE3D941CD468}"/>
              </a:ext>
            </a:extLst>
          </p:cNvPr>
          <p:cNvCxnSpPr/>
          <p:nvPr/>
        </p:nvCxnSpPr>
        <p:spPr>
          <a:xfrm>
            <a:off x="5620752" y="4087313"/>
            <a:ext cx="559916" cy="355171"/>
          </a:xfrm>
          <a:prstGeom prst="line">
            <a:avLst/>
          </a:prstGeom>
        </p:spPr>
        <p:style>
          <a:lnRef idx="3">
            <a:schemeClr val="dk1"/>
          </a:lnRef>
          <a:fillRef idx="0">
            <a:schemeClr val="dk1"/>
          </a:fillRef>
          <a:effectRef idx="2">
            <a:schemeClr val="dk1"/>
          </a:effectRef>
          <a:fontRef idx="minor">
            <a:schemeClr val="tx1"/>
          </a:fontRef>
        </p:style>
      </p:cxnSp>
      <p:cxnSp>
        <p:nvCxnSpPr>
          <p:cNvPr id="17" name="Straight Connector 16">
            <a:extLst>
              <a:ext uri="{FF2B5EF4-FFF2-40B4-BE49-F238E27FC236}">
                <a16:creationId xmlns:a16="http://schemas.microsoft.com/office/drawing/2014/main" id="{CBB56CC6-B738-AE4E-2E9E-2D1DBB04010F}"/>
              </a:ext>
            </a:extLst>
          </p:cNvPr>
          <p:cNvCxnSpPr>
            <a:stCxn id="21" idx="3"/>
          </p:cNvCxnSpPr>
          <p:nvPr/>
        </p:nvCxnSpPr>
        <p:spPr>
          <a:xfrm>
            <a:off x="1078132" y="3697254"/>
            <a:ext cx="4542620" cy="382981"/>
          </a:xfrm>
          <a:prstGeom prst="line">
            <a:avLst/>
          </a:prstGeom>
        </p:spPr>
        <p:style>
          <a:lnRef idx="3">
            <a:schemeClr val="dk1"/>
          </a:lnRef>
          <a:fillRef idx="0">
            <a:schemeClr val="dk1"/>
          </a:fillRef>
          <a:effectRef idx="2">
            <a:schemeClr val="dk1"/>
          </a:effectRef>
          <a:fontRef idx="minor">
            <a:schemeClr val="tx1"/>
          </a:fontRef>
        </p:style>
      </p:cxnSp>
      <p:cxnSp>
        <p:nvCxnSpPr>
          <p:cNvPr id="18" name="Straight Connector 17">
            <a:extLst>
              <a:ext uri="{FF2B5EF4-FFF2-40B4-BE49-F238E27FC236}">
                <a16:creationId xmlns:a16="http://schemas.microsoft.com/office/drawing/2014/main" id="{7671FBEA-A3E8-0F8A-F7ED-5F064BD9E196}"/>
              </a:ext>
            </a:extLst>
          </p:cNvPr>
          <p:cNvCxnSpPr/>
          <p:nvPr/>
        </p:nvCxnSpPr>
        <p:spPr>
          <a:xfrm flipV="1">
            <a:off x="1073526" y="3338551"/>
            <a:ext cx="2607561" cy="348589"/>
          </a:xfrm>
          <a:prstGeom prst="line">
            <a:avLst/>
          </a:prstGeom>
        </p:spPr>
        <p:style>
          <a:lnRef idx="3">
            <a:schemeClr val="dk1"/>
          </a:lnRef>
          <a:fillRef idx="0">
            <a:schemeClr val="dk1"/>
          </a:fillRef>
          <a:effectRef idx="2">
            <a:schemeClr val="dk1"/>
          </a:effectRef>
          <a:fontRef idx="minor">
            <a:schemeClr val="tx1"/>
          </a:fontRef>
        </p:style>
      </p:cxnSp>
      <p:cxnSp>
        <p:nvCxnSpPr>
          <p:cNvPr id="19" name="Straight Connector 18">
            <a:extLst>
              <a:ext uri="{FF2B5EF4-FFF2-40B4-BE49-F238E27FC236}">
                <a16:creationId xmlns:a16="http://schemas.microsoft.com/office/drawing/2014/main" id="{8CEDFEFE-DC20-5395-0681-29B2F77B48B6}"/>
              </a:ext>
            </a:extLst>
          </p:cNvPr>
          <p:cNvCxnSpPr/>
          <p:nvPr/>
        </p:nvCxnSpPr>
        <p:spPr>
          <a:xfrm flipV="1">
            <a:off x="2046872" y="2615204"/>
            <a:ext cx="854762" cy="331761"/>
          </a:xfrm>
          <a:prstGeom prst="line">
            <a:avLst/>
          </a:prstGeom>
        </p:spPr>
        <p:style>
          <a:lnRef idx="3">
            <a:schemeClr val="dk1"/>
          </a:lnRef>
          <a:fillRef idx="0">
            <a:schemeClr val="dk1"/>
          </a:fillRef>
          <a:effectRef idx="2">
            <a:schemeClr val="dk1"/>
          </a:effectRef>
          <a:fontRef idx="minor">
            <a:schemeClr val="tx1"/>
          </a:fontRef>
        </p:style>
      </p:cxnSp>
      <p:sp>
        <p:nvSpPr>
          <p:cNvPr id="20" name="TextBox 19">
            <a:extLst>
              <a:ext uri="{FF2B5EF4-FFF2-40B4-BE49-F238E27FC236}">
                <a16:creationId xmlns:a16="http://schemas.microsoft.com/office/drawing/2014/main" id="{573B07B5-14D1-D69E-A274-6CD162DAAEB6}"/>
              </a:ext>
            </a:extLst>
          </p:cNvPr>
          <p:cNvSpPr txBox="1"/>
          <p:nvPr/>
        </p:nvSpPr>
        <p:spPr>
          <a:xfrm>
            <a:off x="2265672" y="1848576"/>
            <a:ext cx="468503" cy="400110"/>
          </a:xfrm>
          <a:prstGeom prst="rect">
            <a:avLst/>
          </a:prstGeom>
          <a:noFill/>
        </p:spPr>
        <p:txBody>
          <a:bodyPr wrap="square" rtlCol="0">
            <a:spAutoFit/>
          </a:bodyPr>
          <a:lstStyle/>
          <a:p>
            <a:pPr algn="ctr"/>
            <a:r>
              <a:rPr lang="en-US" sz="2000" dirty="0">
                <a:solidFill>
                  <a:srgbClr val="212121"/>
                </a:solidFill>
              </a:rPr>
              <a:t>11</a:t>
            </a:r>
            <a:endParaRPr lang="en-IN" dirty="0">
              <a:solidFill>
                <a:srgbClr val="212121"/>
              </a:solidFill>
            </a:endParaRPr>
          </a:p>
        </p:txBody>
      </p:sp>
      <p:sp>
        <p:nvSpPr>
          <p:cNvPr id="21" name="TextBox 20">
            <a:extLst>
              <a:ext uri="{FF2B5EF4-FFF2-40B4-BE49-F238E27FC236}">
                <a16:creationId xmlns:a16="http://schemas.microsoft.com/office/drawing/2014/main" id="{015B57E6-9D4F-D36B-A57C-2A61F2E1B1EB}"/>
              </a:ext>
            </a:extLst>
          </p:cNvPr>
          <p:cNvSpPr txBox="1"/>
          <p:nvPr/>
        </p:nvSpPr>
        <p:spPr>
          <a:xfrm>
            <a:off x="773332" y="3497199"/>
            <a:ext cx="304800" cy="400110"/>
          </a:xfrm>
          <a:prstGeom prst="rect">
            <a:avLst/>
          </a:prstGeom>
          <a:noFill/>
        </p:spPr>
        <p:txBody>
          <a:bodyPr wrap="square" rtlCol="0">
            <a:spAutoFit/>
          </a:bodyPr>
          <a:lstStyle/>
          <a:p>
            <a:pPr algn="ctr"/>
            <a:r>
              <a:rPr lang="en-US" sz="2000" dirty="0">
                <a:solidFill>
                  <a:srgbClr val="212121"/>
                </a:solidFill>
              </a:rPr>
              <a:t>1</a:t>
            </a:r>
            <a:endParaRPr lang="en-IN" dirty="0">
              <a:solidFill>
                <a:srgbClr val="212121"/>
              </a:solidFill>
            </a:endParaRPr>
          </a:p>
        </p:txBody>
      </p:sp>
      <p:sp>
        <p:nvSpPr>
          <p:cNvPr id="22" name="TextBox 21">
            <a:extLst>
              <a:ext uri="{FF2B5EF4-FFF2-40B4-BE49-F238E27FC236}">
                <a16:creationId xmlns:a16="http://schemas.microsoft.com/office/drawing/2014/main" id="{781CF289-A99E-8404-3F2D-C0FA1B867B94}"/>
              </a:ext>
            </a:extLst>
          </p:cNvPr>
          <p:cNvSpPr txBox="1"/>
          <p:nvPr/>
        </p:nvSpPr>
        <p:spPr>
          <a:xfrm>
            <a:off x="5582591" y="3755574"/>
            <a:ext cx="485273" cy="400110"/>
          </a:xfrm>
          <a:prstGeom prst="rect">
            <a:avLst/>
          </a:prstGeom>
          <a:noFill/>
        </p:spPr>
        <p:txBody>
          <a:bodyPr wrap="square" rtlCol="0">
            <a:spAutoFit/>
          </a:bodyPr>
          <a:lstStyle/>
          <a:p>
            <a:pPr algn="ctr"/>
            <a:r>
              <a:rPr lang="en-US" sz="2000" dirty="0">
                <a:solidFill>
                  <a:srgbClr val="212121"/>
                </a:solidFill>
              </a:rPr>
              <a:t>34</a:t>
            </a:r>
            <a:endParaRPr lang="en-IN" dirty="0">
              <a:solidFill>
                <a:srgbClr val="212121"/>
              </a:solidFill>
            </a:endParaRPr>
          </a:p>
        </p:txBody>
      </p:sp>
      <p:sp>
        <p:nvSpPr>
          <p:cNvPr id="23" name="TextBox 22">
            <a:extLst>
              <a:ext uri="{FF2B5EF4-FFF2-40B4-BE49-F238E27FC236}">
                <a16:creationId xmlns:a16="http://schemas.microsoft.com/office/drawing/2014/main" id="{2BE90D9B-9969-952F-AA9B-6AB33C8C40CD}"/>
              </a:ext>
            </a:extLst>
          </p:cNvPr>
          <p:cNvSpPr txBox="1"/>
          <p:nvPr/>
        </p:nvSpPr>
        <p:spPr>
          <a:xfrm>
            <a:off x="6180668" y="4228014"/>
            <a:ext cx="448178" cy="400110"/>
          </a:xfrm>
          <a:prstGeom prst="rect">
            <a:avLst/>
          </a:prstGeom>
          <a:noFill/>
        </p:spPr>
        <p:txBody>
          <a:bodyPr wrap="square" rtlCol="0">
            <a:spAutoFit/>
          </a:bodyPr>
          <a:lstStyle/>
          <a:p>
            <a:pPr algn="ctr"/>
            <a:r>
              <a:rPr lang="en-US" sz="2000" dirty="0">
                <a:solidFill>
                  <a:srgbClr val="212121"/>
                </a:solidFill>
              </a:rPr>
              <a:t>36</a:t>
            </a:r>
            <a:endParaRPr lang="en-IN" dirty="0">
              <a:solidFill>
                <a:srgbClr val="212121"/>
              </a:solidFill>
            </a:endParaRPr>
          </a:p>
        </p:txBody>
      </p:sp>
      <p:sp>
        <p:nvSpPr>
          <p:cNvPr id="24" name="TextBox 23">
            <a:extLst>
              <a:ext uri="{FF2B5EF4-FFF2-40B4-BE49-F238E27FC236}">
                <a16:creationId xmlns:a16="http://schemas.microsoft.com/office/drawing/2014/main" id="{5F58D370-FBDE-A633-B051-27BF99C76B14}"/>
              </a:ext>
            </a:extLst>
          </p:cNvPr>
          <p:cNvSpPr txBox="1"/>
          <p:nvPr/>
        </p:nvSpPr>
        <p:spPr>
          <a:xfrm>
            <a:off x="1747342" y="2745864"/>
            <a:ext cx="304800" cy="400110"/>
          </a:xfrm>
          <a:prstGeom prst="rect">
            <a:avLst/>
          </a:prstGeom>
          <a:noFill/>
        </p:spPr>
        <p:txBody>
          <a:bodyPr wrap="square" rtlCol="0">
            <a:spAutoFit/>
          </a:bodyPr>
          <a:lstStyle/>
          <a:p>
            <a:pPr algn="ctr"/>
            <a:r>
              <a:rPr lang="en-US" sz="2000" dirty="0">
                <a:solidFill>
                  <a:srgbClr val="212121"/>
                </a:solidFill>
              </a:rPr>
              <a:t>9</a:t>
            </a:r>
            <a:endParaRPr lang="en-IN" dirty="0">
              <a:solidFill>
                <a:srgbClr val="212121"/>
              </a:solidFill>
            </a:endParaRPr>
          </a:p>
        </p:txBody>
      </p:sp>
      <p:sp>
        <p:nvSpPr>
          <p:cNvPr id="25" name="TextBox 24">
            <a:extLst>
              <a:ext uri="{FF2B5EF4-FFF2-40B4-BE49-F238E27FC236}">
                <a16:creationId xmlns:a16="http://schemas.microsoft.com/office/drawing/2014/main" id="{149FB838-D96B-2F4F-225B-ADAE5141D732}"/>
              </a:ext>
            </a:extLst>
          </p:cNvPr>
          <p:cNvSpPr txBox="1"/>
          <p:nvPr/>
        </p:nvSpPr>
        <p:spPr>
          <a:xfrm>
            <a:off x="2901634" y="2402365"/>
            <a:ext cx="468503" cy="400110"/>
          </a:xfrm>
          <a:prstGeom prst="rect">
            <a:avLst/>
          </a:prstGeom>
          <a:noFill/>
        </p:spPr>
        <p:txBody>
          <a:bodyPr wrap="square" rtlCol="0">
            <a:spAutoFit/>
          </a:bodyPr>
          <a:lstStyle/>
          <a:p>
            <a:pPr algn="ctr"/>
            <a:r>
              <a:rPr lang="en-US" sz="2000" dirty="0">
                <a:solidFill>
                  <a:srgbClr val="212121"/>
                </a:solidFill>
              </a:rPr>
              <a:t>12</a:t>
            </a:r>
            <a:endParaRPr lang="en-IN" dirty="0">
              <a:solidFill>
                <a:srgbClr val="212121"/>
              </a:solidFill>
            </a:endParaRPr>
          </a:p>
        </p:txBody>
      </p:sp>
      <p:sp>
        <p:nvSpPr>
          <p:cNvPr id="26" name="TextBox 25">
            <a:extLst>
              <a:ext uri="{FF2B5EF4-FFF2-40B4-BE49-F238E27FC236}">
                <a16:creationId xmlns:a16="http://schemas.microsoft.com/office/drawing/2014/main" id="{E0389694-BB1E-3E81-DDED-49992BA95778}"/>
              </a:ext>
            </a:extLst>
          </p:cNvPr>
          <p:cNvSpPr txBox="1"/>
          <p:nvPr/>
        </p:nvSpPr>
        <p:spPr>
          <a:xfrm>
            <a:off x="3657600" y="3097089"/>
            <a:ext cx="502687" cy="400110"/>
          </a:xfrm>
          <a:prstGeom prst="rect">
            <a:avLst/>
          </a:prstGeom>
          <a:noFill/>
        </p:spPr>
        <p:txBody>
          <a:bodyPr wrap="square" rtlCol="0">
            <a:spAutoFit/>
          </a:bodyPr>
          <a:lstStyle/>
          <a:p>
            <a:pPr algn="ctr"/>
            <a:r>
              <a:rPr lang="en-US" sz="2000" dirty="0">
                <a:solidFill>
                  <a:srgbClr val="212121"/>
                </a:solidFill>
              </a:rPr>
              <a:t>16</a:t>
            </a:r>
            <a:endParaRPr lang="en-IN" dirty="0">
              <a:solidFill>
                <a:srgbClr val="212121"/>
              </a:solidFill>
            </a:endParaRPr>
          </a:p>
        </p:txBody>
      </p:sp>
    </p:spTree>
    <p:extLst>
      <p:ext uri="{BB962C8B-B14F-4D97-AF65-F5344CB8AC3E}">
        <p14:creationId xmlns:p14="http://schemas.microsoft.com/office/powerpoint/2010/main" val="2454097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5"/>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13"/>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20"/>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14"/>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25"/>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nodeType="clickEffect">
                                  <p:stCondLst>
                                    <p:cond delay="0"/>
                                  </p:stCondLst>
                                  <p:childTnLst>
                                    <p:set>
                                      <p:cBhvr>
                                        <p:cTn id="47" dur="1" fill="hold">
                                          <p:stCondLst>
                                            <p:cond delay="0"/>
                                          </p:stCondLst>
                                        </p:cTn>
                                        <p:tgtEl>
                                          <p:spTgt spid="19"/>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24"/>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nodeType="clickEffect">
                                  <p:stCondLst>
                                    <p:cond delay="0"/>
                                  </p:stCondLst>
                                  <p:childTnLst>
                                    <p:set>
                                      <p:cBhvr>
                                        <p:cTn id="55" dur="1" fill="hold">
                                          <p:stCondLst>
                                            <p:cond delay="0"/>
                                          </p:stCondLst>
                                        </p:cTn>
                                        <p:tgtEl>
                                          <p:spTgt spid="15"/>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26"/>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clickEffect">
                                  <p:stCondLst>
                                    <p:cond delay="0"/>
                                  </p:stCondLst>
                                  <p:childTnLst>
                                    <p:set>
                                      <p:cBhvr>
                                        <p:cTn id="63" dur="1" fill="hold">
                                          <p:stCondLst>
                                            <p:cond delay="0"/>
                                          </p:stCondLst>
                                        </p:cTn>
                                        <p:tgtEl>
                                          <p:spTgt spid="18"/>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21"/>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nodeType="clickEffect">
                                  <p:stCondLst>
                                    <p:cond delay="0"/>
                                  </p:stCondLst>
                                  <p:childTnLst>
                                    <p:set>
                                      <p:cBhvr>
                                        <p:cTn id="71" dur="1" fill="hold">
                                          <p:stCondLst>
                                            <p:cond delay="0"/>
                                          </p:stCondLst>
                                        </p:cTn>
                                        <p:tgtEl>
                                          <p:spTgt spid="17"/>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grpId="0" nodeType="clickEffect">
                                  <p:stCondLst>
                                    <p:cond delay="0"/>
                                  </p:stCondLst>
                                  <p:childTnLst>
                                    <p:set>
                                      <p:cBhvr>
                                        <p:cTn id="75" dur="1" fill="hold">
                                          <p:stCondLst>
                                            <p:cond delay="0"/>
                                          </p:stCondLst>
                                        </p:cTn>
                                        <p:tgtEl>
                                          <p:spTgt spid="22"/>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nodeType="clickEffect">
                                  <p:stCondLst>
                                    <p:cond delay="0"/>
                                  </p:stCondLst>
                                  <p:childTnLst>
                                    <p:set>
                                      <p:cBhvr>
                                        <p:cTn id="79" dur="1" fill="hold">
                                          <p:stCondLst>
                                            <p:cond delay="0"/>
                                          </p:stCondLst>
                                        </p:cTn>
                                        <p:tgtEl>
                                          <p:spTgt spid="16"/>
                                        </p:tgtEl>
                                        <p:attrNameLst>
                                          <p:attrName>style.visibility</p:attrName>
                                        </p:attrNameLst>
                                      </p:cBhvr>
                                      <p:to>
                                        <p:strVal val="visible"/>
                                      </p:to>
                                    </p:se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grpId="0" nodeType="clickEffect">
                                  <p:stCondLst>
                                    <p:cond delay="0"/>
                                  </p:stCondLst>
                                  <p:childTnLst>
                                    <p:set>
                                      <p:cBhvr>
                                        <p:cTn id="83" dur="1" fill="hold">
                                          <p:stCondLst>
                                            <p:cond delay="0"/>
                                          </p:stCondLst>
                                        </p:cTn>
                                        <p:tgtEl>
                                          <p:spTgt spid="23"/>
                                        </p:tgtEl>
                                        <p:attrNameLst>
                                          <p:attrName>style.visibility</p:attrName>
                                        </p:attrNameLst>
                                      </p:cBhvr>
                                      <p:to>
                                        <p:strVal val="visible"/>
                                      </p:to>
                                    </p:set>
                                  </p:childTnLst>
                                </p:cTn>
                              </p:par>
                            </p:childTnLst>
                          </p:cTn>
                        </p:par>
                      </p:childTnLst>
                    </p:cTn>
                  </p:par>
                  <p:par>
                    <p:cTn id="84" fill="hold">
                      <p:stCondLst>
                        <p:cond delay="indefinite"/>
                      </p:stCondLst>
                      <p:childTnLst>
                        <p:par>
                          <p:cTn id="85" fill="hold">
                            <p:stCondLst>
                              <p:cond delay="0"/>
                            </p:stCondLst>
                            <p:childTnLst>
                              <p:par>
                                <p:cTn id="86" presetID="10" presetClass="entr" presetSubtype="0" fill="hold" nodeType="clickEffect">
                                  <p:stCondLst>
                                    <p:cond delay="0"/>
                                  </p:stCondLst>
                                  <p:childTnLst>
                                    <p:set>
                                      <p:cBhvr>
                                        <p:cTn id="87" dur="1" fill="hold">
                                          <p:stCondLst>
                                            <p:cond delay="0"/>
                                          </p:stCondLst>
                                        </p:cTn>
                                        <p:tgtEl>
                                          <p:spTgt spid="3">
                                            <p:txEl>
                                              <p:pRg st="9" end="9"/>
                                            </p:txEl>
                                          </p:spTgt>
                                        </p:tgtEl>
                                        <p:attrNameLst>
                                          <p:attrName>style.visibility</p:attrName>
                                        </p:attrNameLst>
                                      </p:cBhvr>
                                      <p:to>
                                        <p:strVal val="visible"/>
                                      </p:to>
                                    </p:set>
                                    <p:animEffect transition="in" filter="fade">
                                      <p:cBhvr>
                                        <p:cTn id="88" dur="500"/>
                                        <p:tgtEl>
                                          <p:spTgt spid="3">
                                            <p:txEl>
                                              <p:pRg st="9" end="9"/>
                                            </p:txEl>
                                          </p:spTgt>
                                        </p:tgtEl>
                                      </p:cBhvr>
                                    </p:animEffect>
                                  </p:childTnLst>
                                </p:cTn>
                              </p:par>
                            </p:childTnLst>
                          </p:cTn>
                        </p:par>
                      </p:childTnLst>
                    </p:cTn>
                  </p:par>
                  <p:par>
                    <p:cTn id="89" fill="hold">
                      <p:stCondLst>
                        <p:cond delay="indefinite"/>
                      </p:stCondLst>
                      <p:childTnLst>
                        <p:par>
                          <p:cTn id="90" fill="hold">
                            <p:stCondLst>
                              <p:cond delay="0"/>
                            </p:stCondLst>
                            <p:childTnLst>
                              <p:par>
                                <p:cTn id="91" presetID="10" presetClass="entr" presetSubtype="0" fill="hold" nodeType="clickEffect">
                                  <p:stCondLst>
                                    <p:cond delay="0"/>
                                  </p:stCondLst>
                                  <p:childTnLst>
                                    <p:set>
                                      <p:cBhvr>
                                        <p:cTn id="92" dur="1" fill="hold">
                                          <p:stCondLst>
                                            <p:cond delay="0"/>
                                          </p:stCondLst>
                                        </p:cTn>
                                        <p:tgtEl>
                                          <p:spTgt spid="3">
                                            <p:txEl>
                                              <p:pRg st="10" end="10"/>
                                            </p:txEl>
                                          </p:spTgt>
                                        </p:tgtEl>
                                        <p:attrNameLst>
                                          <p:attrName>style.visibility</p:attrName>
                                        </p:attrNameLst>
                                      </p:cBhvr>
                                      <p:to>
                                        <p:strVal val="visible"/>
                                      </p:to>
                                    </p:set>
                                    <p:animEffect transition="in" filter="fade">
                                      <p:cBhvr>
                                        <p:cTn id="93"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p:bldP spid="7" grpId="0"/>
      <p:bldP spid="8" grpId="0"/>
      <p:bldP spid="9" grpId="0"/>
      <p:bldP spid="10" grpId="0"/>
      <p:bldP spid="11" grpId="0"/>
      <p:bldP spid="12" grpId="0"/>
      <p:bldP spid="13" grpId="0"/>
      <p:bldP spid="20" grpId="0"/>
      <p:bldP spid="21" grpId="0"/>
      <p:bldP spid="22" grpId="0"/>
      <p:bldP spid="23" grpId="0"/>
      <p:bldP spid="24" grpId="0"/>
      <p:bldP spid="25" grpId="0"/>
      <p:bldP spid="2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518DD7-4BCE-F3DA-DA29-A018167DDE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40BEDB-E900-FB81-2798-965176182D4B}"/>
              </a:ext>
            </a:extLst>
          </p:cNvPr>
          <p:cNvSpPr>
            <a:spLocks noGrp="1"/>
          </p:cNvSpPr>
          <p:nvPr>
            <p:ph type="title"/>
          </p:nvPr>
        </p:nvSpPr>
        <p:spPr>
          <a:xfrm>
            <a:off x="0" y="1"/>
            <a:ext cx="12192000" cy="711200"/>
          </a:xfrm>
        </p:spPr>
        <p:txBody>
          <a:bodyPr/>
          <a:lstStyle/>
          <a:p>
            <a:r>
              <a:rPr lang="en-US" dirty="0"/>
              <a:t>LOOK</a:t>
            </a:r>
          </a:p>
        </p:txBody>
      </p:sp>
      <p:sp>
        <p:nvSpPr>
          <p:cNvPr id="3" name="Content Placeholder 2">
            <a:extLst>
              <a:ext uri="{FF2B5EF4-FFF2-40B4-BE49-F238E27FC236}">
                <a16:creationId xmlns:a16="http://schemas.microsoft.com/office/drawing/2014/main" id="{4017D532-3AB8-B719-4E33-497A58B7070F}"/>
              </a:ext>
            </a:extLst>
          </p:cNvPr>
          <p:cNvSpPr>
            <a:spLocks noGrp="1"/>
          </p:cNvSpPr>
          <p:nvPr>
            <p:ph idx="1"/>
          </p:nvPr>
        </p:nvSpPr>
        <p:spPr>
          <a:xfrm>
            <a:off x="131180" y="863444"/>
            <a:ext cx="11929641" cy="5590565"/>
          </a:xfrm>
        </p:spPr>
        <p:txBody>
          <a:bodyPr/>
          <a:lstStyle/>
          <a:p>
            <a:r>
              <a:rPr lang="en-US" dirty="0"/>
              <a:t>The </a:t>
            </a:r>
            <a:r>
              <a:rPr lang="en-US" b="1" dirty="0">
                <a:solidFill>
                  <a:schemeClr val="accent6"/>
                </a:solidFill>
              </a:rPr>
              <a:t>LOOK algorithm</a:t>
            </a:r>
            <a:r>
              <a:rPr lang="en-US" dirty="0">
                <a:solidFill>
                  <a:schemeClr val="accent6"/>
                </a:solidFill>
              </a:rPr>
              <a:t> </a:t>
            </a:r>
            <a:r>
              <a:rPr lang="en-US" dirty="0"/>
              <a:t>processes disk requests by continuing in the </a:t>
            </a:r>
            <a:r>
              <a:rPr lang="en-US" b="1" dirty="0">
                <a:solidFill>
                  <a:schemeClr val="accent6"/>
                </a:solidFill>
              </a:rPr>
              <a:t>current direction </a:t>
            </a:r>
            <a:r>
              <a:rPr lang="en-US" dirty="0"/>
              <a:t>until there are no more pending requests in that direction. </a:t>
            </a:r>
          </a:p>
          <a:p>
            <a:r>
              <a:rPr lang="en-US" dirty="0"/>
              <a:t>Once all requests in the current direction are served, the algorithm </a:t>
            </a:r>
            <a:r>
              <a:rPr lang="en-US" b="1" dirty="0">
                <a:solidFill>
                  <a:schemeClr val="accent6"/>
                </a:solidFill>
              </a:rPr>
              <a:t>switches</a:t>
            </a:r>
            <a:r>
              <a:rPr lang="en-US" dirty="0"/>
              <a:t> </a:t>
            </a:r>
            <a:r>
              <a:rPr lang="en-US" b="1" dirty="0">
                <a:solidFill>
                  <a:schemeClr val="accent6"/>
                </a:solidFill>
              </a:rPr>
              <a:t>direction</a:t>
            </a:r>
            <a:r>
              <a:rPr lang="en-US" dirty="0"/>
              <a:t> to handle any remaining requests.</a:t>
            </a:r>
          </a:p>
          <a:p>
            <a:r>
              <a:rPr lang="en-US" dirty="0"/>
              <a:t>Initially, the disk arm moves </a:t>
            </a:r>
            <a:r>
              <a:rPr lang="en-US" b="1" dirty="0">
                <a:solidFill>
                  <a:schemeClr val="accent6"/>
                </a:solidFill>
              </a:rPr>
              <a:t>upward</a:t>
            </a:r>
            <a:r>
              <a:rPr lang="en-US" dirty="0"/>
              <a:t> to serve requests.</a:t>
            </a:r>
          </a:p>
          <a:p>
            <a:r>
              <a:rPr lang="en-US" dirty="0"/>
              <a:t>After reaching the highest pending request, it </a:t>
            </a:r>
            <a:r>
              <a:rPr lang="en-US" b="1" dirty="0">
                <a:solidFill>
                  <a:schemeClr val="accent6"/>
                </a:solidFill>
              </a:rPr>
              <a:t>reverses direction</a:t>
            </a:r>
            <a:r>
              <a:rPr lang="en-US" dirty="0">
                <a:solidFill>
                  <a:schemeClr val="accent6"/>
                </a:solidFill>
              </a:rPr>
              <a:t> </a:t>
            </a:r>
            <a:r>
              <a:rPr lang="en-US" dirty="0"/>
              <a:t>to serve requests in the opposite direction.</a:t>
            </a:r>
          </a:p>
          <a:p>
            <a:r>
              <a:rPr lang="en-US" dirty="0"/>
              <a:t>The algorithm maintains a </a:t>
            </a:r>
            <a:r>
              <a:rPr lang="en-US" b="1" dirty="0">
                <a:solidFill>
                  <a:schemeClr val="accent6"/>
                </a:solidFill>
              </a:rPr>
              <a:t>direction bit</a:t>
            </a:r>
            <a:r>
              <a:rPr lang="en-US" dirty="0"/>
              <a:t>, which indicates whether the current movement is </a:t>
            </a:r>
            <a:r>
              <a:rPr lang="en-US" b="1" dirty="0">
                <a:solidFill>
                  <a:schemeClr val="accent6"/>
                </a:solidFill>
              </a:rPr>
              <a:t>UP</a:t>
            </a:r>
            <a:r>
              <a:rPr lang="en-US" dirty="0"/>
              <a:t> or </a:t>
            </a:r>
            <a:r>
              <a:rPr lang="en-US" b="1" dirty="0">
                <a:solidFill>
                  <a:schemeClr val="accent6"/>
                </a:solidFill>
              </a:rPr>
              <a:t>DOWN</a:t>
            </a:r>
            <a:r>
              <a:rPr lang="en-US" dirty="0"/>
              <a:t>.</a:t>
            </a:r>
          </a:p>
          <a:p>
            <a:endParaRPr lang="en-US" dirty="0"/>
          </a:p>
        </p:txBody>
      </p:sp>
    </p:spTree>
    <p:extLst>
      <p:ext uri="{BB962C8B-B14F-4D97-AF65-F5344CB8AC3E}">
        <p14:creationId xmlns:p14="http://schemas.microsoft.com/office/powerpoint/2010/main" val="3015656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BEB2FF-3BBD-6748-16EC-F4E9941B98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F27DCC-F7E3-7C01-B0F8-266FD56D91B9}"/>
              </a:ext>
            </a:extLst>
          </p:cNvPr>
          <p:cNvSpPr>
            <a:spLocks noGrp="1"/>
          </p:cNvSpPr>
          <p:nvPr>
            <p:ph type="title"/>
          </p:nvPr>
        </p:nvSpPr>
        <p:spPr>
          <a:xfrm>
            <a:off x="0" y="1"/>
            <a:ext cx="12192000" cy="711200"/>
          </a:xfrm>
        </p:spPr>
        <p:txBody>
          <a:bodyPr/>
          <a:lstStyle/>
          <a:p>
            <a:r>
              <a:rPr lang="en-US" dirty="0"/>
              <a:t>LOOK</a:t>
            </a:r>
          </a:p>
        </p:txBody>
      </p:sp>
      <p:sp>
        <p:nvSpPr>
          <p:cNvPr id="3" name="Content Placeholder 2">
            <a:extLst>
              <a:ext uri="{FF2B5EF4-FFF2-40B4-BE49-F238E27FC236}">
                <a16:creationId xmlns:a16="http://schemas.microsoft.com/office/drawing/2014/main" id="{BE8FE528-0850-3091-468E-928F71B04FF2}"/>
              </a:ext>
            </a:extLst>
          </p:cNvPr>
          <p:cNvSpPr>
            <a:spLocks noGrp="1"/>
          </p:cNvSpPr>
          <p:nvPr>
            <p:ph idx="1"/>
          </p:nvPr>
        </p:nvSpPr>
        <p:spPr>
          <a:xfrm>
            <a:off x="131180" y="863444"/>
            <a:ext cx="11929641" cy="5590565"/>
          </a:xfrm>
        </p:spPr>
        <p:txBody>
          <a:bodyPr/>
          <a:lstStyle/>
          <a:p>
            <a:r>
              <a:rPr lang="en-US" dirty="0"/>
              <a:t>Here first it moves in </a:t>
            </a:r>
            <a:r>
              <a:rPr lang="en-US" b="1" dirty="0">
                <a:solidFill>
                  <a:schemeClr val="accent6"/>
                </a:solidFill>
              </a:rPr>
              <a:t>up </a:t>
            </a:r>
            <a:r>
              <a:rPr lang="en-US" dirty="0"/>
              <a:t>direction</a:t>
            </a:r>
            <a:r>
              <a:rPr lang="en-US" b="1" dirty="0">
                <a:solidFill>
                  <a:schemeClr val="accent6"/>
                </a:solidFill>
              </a:rPr>
              <a:t> </a:t>
            </a:r>
            <a:r>
              <a:rPr lang="en-US" dirty="0"/>
              <a:t>then goes in </a:t>
            </a:r>
            <a:r>
              <a:rPr lang="en-US" b="1" dirty="0">
                <a:solidFill>
                  <a:schemeClr val="accent6"/>
                </a:solidFill>
              </a:rPr>
              <a:t>down</a:t>
            </a:r>
            <a:r>
              <a:rPr lang="en-US" dirty="0"/>
              <a:t> direction</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Disk movement will be 11, 12, 16, 34, 36, 9 and 1.</a:t>
            </a:r>
          </a:p>
          <a:p>
            <a:r>
              <a:rPr lang="en-US" dirty="0"/>
              <a:t>Total cylinder movement: (12-11) + (16-12) + (34-16) + (36-34) + (36-9) + (9-1) = </a:t>
            </a:r>
            <a:r>
              <a:rPr lang="en-US" b="1" dirty="0">
                <a:solidFill>
                  <a:schemeClr val="accent6"/>
                </a:solidFill>
              </a:rPr>
              <a:t>60</a:t>
            </a:r>
          </a:p>
        </p:txBody>
      </p:sp>
      <p:sp>
        <p:nvSpPr>
          <p:cNvPr id="4" name="TextBox 3">
            <a:extLst>
              <a:ext uri="{FF2B5EF4-FFF2-40B4-BE49-F238E27FC236}">
                <a16:creationId xmlns:a16="http://schemas.microsoft.com/office/drawing/2014/main" id="{A16D2C30-0F75-7AA6-972E-3CF3728DAB1C}"/>
              </a:ext>
            </a:extLst>
          </p:cNvPr>
          <p:cNvSpPr txBox="1"/>
          <p:nvPr/>
        </p:nvSpPr>
        <p:spPr>
          <a:xfrm>
            <a:off x="8212822" y="1855654"/>
            <a:ext cx="542072" cy="2123658"/>
          </a:xfrm>
          <a:prstGeom prst="rect">
            <a:avLst/>
          </a:prstGeom>
          <a:ln w="28575">
            <a:solidFill>
              <a:schemeClr val="accent1"/>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en-IN" sz="2200" b="1" dirty="0">
                <a:solidFill>
                  <a:schemeClr val="tx1"/>
                </a:solidFill>
              </a:rPr>
              <a:t>1, 36, 16, 34, 9, 12</a:t>
            </a:r>
            <a:endParaRPr lang="en-US" sz="2200" b="1" dirty="0">
              <a:solidFill>
                <a:schemeClr val="tx1"/>
              </a:solidFill>
            </a:endParaRPr>
          </a:p>
        </p:txBody>
      </p:sp>
      <p:graphicFrame>
        <p:nvGraphicFramePr>
          <p:cNvPr id="5" name="Table 4">
            <a:extLst>
              <a:ext uri="{FF2B5EF4-FFF2-40B4-BE49-F238E27FC236}">
                <a16:creationId xmlns:a16="http://schemas.microsoft.com/office/drawing/2014/main" id="{F7CD0DD6-90C3-1348-EF9C-F2B6EDB63A81}"/>
              </a:ext>
            </a:extLst>
          </p:cNvPr>
          <p:cNvGraphicFramePr>
            <a:graphicFrameLocks noGrp="1"/>
          </p:cNvGraphicFramePr>
          <p:nvPr/>
        </p:nvGraphicFramePr>
        <p:xfrm>
          <a:off x="609597" y="1833880"/>
          <a:ext cx="7010402" cy="2966720"/>
        </p:xfrm>
        <a:graphic>
          <a:graphicData uri="http://schemas.openxmlformats.org/drawingml/2006/table">
            <a:tbl>
              <a:tblPr firstRow="1" bandRow="1">
                <a:tableStyleId>{5940675A-B579-460E-94D1-54222C63F5DA}</a:tableStyleId>
              </a:tblPr>
              <a:tblGrid>
                <a:gridCol w="457203">
                  <a:extLst>
                    <a:ext uri="{9D8B030D-6E8A-4147-A177-3AD203B41FA5}">
                      <a16:colId xmlns:a16="http://schemas.microsoft.com/office/drawing/2014/main" val="20000"/>
                    </a:ext>
                  </a:extLst>
                </a:gridCol>
                <a:gridCol w="990600">
                  <a:extLst>
                    <a:ext uri="{9D8B030D-6E8A-4147-A177-3AD203B41FA5}">
                      <a16:colId xmlns:a16="http://schemas.microsoft.com/office/drawing/2014/main" val="20001"/>
                    </a:ext>
                  </a:extLst>
                </a:gridCol>
                <a:gridCol w="838200">
                  <a:extLst>
                    <a:ext uri="{9D8B030D-6E8A-4147-A177-3AD203B41FA5}">
                      <a16:colId xmlns:a16="http://schemas.microsoft.com/office/drawing/2014/main" val="20002"/>
                    </a:ext>
                  </a:extLst>
                </a:gridCol>
                <a:gridCol w="762000">
                  <a:extLst>
                    <a:ext uri="{9D8B030D-6E8A-4147-A177-3AD203B41FA5}">
                      <a16:colId xmlns:a16="http://schemas.microsoft.com/office/drawing/2014/main" val="20003"/>
                    </a:ext>
                  </a:extLst>
                </a:gridCol>
                <a:gridCol w="1959427">
                  <a:extLst>
                    <a:ext uri="{9D8B030D-6E8A-4147-A177-3AD203B41FA5}">
                      <a16:colId xmlns:a16="http://schemas.microsoft.com/office/drawing/2014/main" val="20004"/>
                    </a:ext>
                  </a:extLst>
                </a:gridCol>
                <a:gridCol w="555173">
                  <a:extLst>
                    <a:ext uri="{9D8B030D-6E8A-4147-A177-3AD203B41FA5}">
                      <a16:colId xmlns:a16="http://schemas.microsoft.com/office/drawing/2014/main" val="20005"/>
                    </a:ext>
                  </a:extLst>
                </a:gridCol>
                <a:gridCol w="1447799">
                  <a:extLst>
                    <a:ext uri="{9D8B030D-6E8A-4147-A177-3AD203B41FA5}">
                      <a16:colId xmlns:a16="http://schemas.microsoft.com/office/drawing/2014/main" val="20006"/>
                    </a:ext>
                  </a:extLst>
                </a:gridCol>
              </a:tblGrid>
              <a:tr h="2966720">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10000"/>
                  </a:ext>
                </a:extLst>
              </a:tr>
            </a:tbl>
          </a:graphicData>
        </a:graphic>
      </p:graphicFrame>
      <p:sp>
        <p:nvSpPr>
          <p:cNvPr id="6" name="TextBox 5">
            <a:extLst>
              <a:ext uri="{FF2B5EF4-FFF2-40B4-BE49-F238E27FC236}">
                <a16:creationId xmlns:a16="http://schemas.microsoft.com/office/drawing/2014/main" id="{5A8DF667-FAD6-5A67-8314-84C29C813EC8}"/>
              </a:ext>
            </a:extLst>
          </p:cNvPr>
          <p:cNvSpPr txBox="1"/>
          <p:nvPr/>
        </p:nvSpPr>
        <p:spPr>
          <a:xfrm>
            <a:off x="547435" y="1433770"/>
            <a:ext cx="304800" cy="400110"/>
          </a:xfrm>
          <a:prstGeom prst="rect">
            <a:avLst/>
          </a:prstGeom>
          <a:noFill/>
        </p:spPr>
        <p:txBody>
          <a:bodyPr wrap="square" rtlCol="0">
            <a:spAutoFit/>
          </a:bodyPr>
          <a:lstStyle/>
          <a:p>
            <a:pPr algn="ctr"/>
            <a:r>
              <a:rPr lang="en-US" sz="2000" dirty="0">
                <a:solidFill>
                  <a:srgbClr val="212121"/>
                </a:solidFill>
              </a:rPr>
              <a:t>0</a:t>
            </a:r>
            <a:endParaRPr lang="en-IN" dirty="0">
              <a:solidFill>
                <a:srgbClr val="212121"/>
              </a:solidFill>
            </a:endParaRPr>
          </a:p>
        </p:txBody>
      </p:sp>
      <p:sp>
        <p:nvSpPr>
          <p:cNvPr id="7" name="TextBox 6">
            <a:extLst>
              <a:ext uri="{FF2B5EF4-FFF2-40B4-BE49-F238E27FC236}">
                <a16:creationId xmlns:a16="http://schemas.microsoft.com/office/drawing/2014/main" id="{A857B78D-80BF-A730-FB8F-C91E42B29D50}"/>
              </a:ext>
            </a:extLst>
          </p:cNvPr>
          <p:cNvSpPr txBox="1"/>
          <p:nvPr/>
        </p:nvSpPr>
        <p:spPr>
          <a:xfrm>
            <a:off x="914400" y="1447800"/>
            <a:ext cx="304800" cy="400110"/>
          </a:xfrm>
          <a:prstGeom prst="rect">
            <a:avLst/>
          </a:prstGeom>
          <a:noFill/>
        </p:spPr>
        <p:txBody>
          <a:bodyPr wrap="square" rtlCol="0">
            <a:spAutoFit/>
          </a:bodyPr>
          <a:lstStyle/>
          <a:p>
            <a:pPr algn="ctr"/>
            <a:r>
              <a:rPr lang="en-US" sz="2000" dirty="0">
                <a:solidFill>
                  <a:srgbClr val="212121"/>
                </a:solidFill>
              </a:rPr>
              <a:t>1</a:t>
            </a:r>
            <a:endParaRPr lang="en-IN" dirty="0">
              <a:solidFill>
                <a:srgbClr val="212121"/>
              </a:solidFill>
            </a:endParaRPr>
          </a:p>
        </p:txBody>
      </p:sp>
      <p:sp>
        <p:nvSpPr>
          <p:cNvPr id="8" name="TextBox 7">
            <a:extLst>
              <a:ext uri="{FF2B5EF4-FFF2-40B4-BE49-F238E27FC236}">
                <a16:creationId xmlns:a16="http://schemas.microsoft.com/office/drawing/2014/main" id="{E9D29028-E82C-8760-8585-E4B639F7FC1D}"/>
              </a:ext>
            </a:extLst>
          </p:cNvPr>
          <p:cNvSpPr txBox="1"/>
          <p:nvPr/>
        </p:nvSpPr>
        <p:spPr>
          <a:xfrm>
            <a:off x="1905000" y="1439315"/>
            <a:ext cx="304800" cy="400110"/>
          </a:xfrm>
          <a:prstGeom prst="rect">
            <a:avLst/>
          </a:prstGeom>
          <a:noFill/>
        </p:spPr>
        <p:txBody>
          <a:bodyPr wrap="square" rtlCol="0">
            <a:spAutoFit/>
          </a:bodyPr>
          <a:lstStyle/>
          <a:p>
            <a:pPr algn="ctr"/>
            <a:r>
              <a:rPr lang="en-US" sz="2000" dirty="0">
                <a:solidFill>
                  <a:srgbClr val="212121"/>
                </a:solidFill>
              </a:rPr>
              <a:t>9</a:t>
            </a:r>
            <a:endParaRPr lang="en-IN" dirty="0">
              <a:solidFill>
                <a:srgbClr val="212121"/>
              </a:solidFill>
            </a:endParaRPr>
          </a:p>
        </p:txBody>
      </p:sp>
      <p:sp>
        <p:nvSpPr>
          <p:cNvPr id="9" name="TextBox 8">
            <a:extLst>
              <a:ext uri="{FF2B5EF4-FFF2-40B4-BE49-F238E27FC236}">
                <a16:creationId xmlns:a16="http://schemas.microsoft.com/office/drawing/2014/main" id="{BF57BE90-AAF6-DE41-78C1-4DAC76A38FFA}"/>
              </a:ext>
            </a:extLst>
          </p:cNvPr>
          <p:cNvSpPr txBox="1"/>
          <p:nvPr/>
        </p:nvSpPr>
        <p:spPr>
          <a:xfrm>
            <a:off x="2670372" y="1433770"/>
            <a:ext cx="468503" cy="400110"/>
          </a:xfrm>
          <a:prstGeom prst="rect">
            <a:avLst/>
          </a:prstGeom>
          <a:noFill/>
        </p:spPr>
        <p:txBody>
          <a:bodyPr wrap="square" rtlCol="0">
            <a:spAutoFit/>
          </a:bodyPr>
          <a:lstStyle/>
          <a:p>
            <a:pPr algn="ctr"/>
            <a:r>
              <a:rPr lang="en-US" sz="2000" dirty="0">
                <a:solidFill>
                  <a:srgbClr val="212121"/>
                </a:solidFill>
              </a:rPr>
              <a:t>12</a:t>
            </a:r>
            <a:endParaRPr lang="en-IN" dirty="0">
              <a:solidFill>
                <a:srgbClr val="212121"/>
              </a:solidFill>
            </a:endParaRPr>
          </a:p>
        </p:txBody>
      </p:sp>
      <p:sp>
        <p:nvSpPr>
          <p:cNvPr id="10" name="TextBox 9">
            <a:extLst>
              <a:ext uri="{FF2B5EF4-FFF2-40B4-BE49-F238E27FC236}">
                <a16:creationId xmlns:a16="http://schemas.microsoft.com/office/drawing/2014/main" id="{25E66261-D130-6D48-02D8-9F9E9D7955ED}"/>
              </a:ext>
            </a:extLst>
          </p:cNvPr>
          <p:cNvSpPr txBox="1"/>
          <p:nvPr/>
        </p:nvSpPr>
        <p:spPr>
          <a:xfrm>
            <a:off x="3412955" y="1433770"/>
            <a:ext cx="502687" cy="400110"/>
          </a:xfrm>
          <a:prstGeom prst="rect">
            <a:avLst/>
          </a:prstGeom>
          <a:noFill/>
        </p:spPr>
        <p:txBody>
          <a:bodyPr wrap="square" rtlCol="0">
            <a:spAutoFit/>
          </a:bodyPr>
          <a:lstStyle/>
          <a:p>
            <a:pPr algn="ctr"/>
            <a:r>
              <a:rPr lang="en-US" sz="2000" dirty="0">
                <a:solidFill>
                  <a:srgbClr val="212121"/>
                </a:solidFill>
              </a:rPr>
              <a:t>16</a:t>
            </a:r>
            <a:endParaRPr lang="en-IN" dirty="0">
              <a:solidFill>
                <a:srgbClr val="212121"/>
              </a:solidFill>
            </a:endParaRPr>
          </a:p>
        </p:txBody>
      </p:sp>
      <p:sp>
        <p:nvSpPr>
          <p:cNvPr id="11" name="TextBox 10">
            <a:extLst>
              <a:ext uri="{FF2B5EF4-FFF2-40B4-BE49-F238E27FC236}">
                <a16:creationId xmlns:a16="http://schemas.microsoft.com/office/drawing/2014/main" id="{5E9955BF-39D2-6C14-6D2B-46091BE00A29}"/>
              </a:ext>
            </a:extLst>
          </p:cNvPr>
          <p:cNvSpPr txBox="1"/>
          <p:nvPr/>
        </p:nvSpPr>
        <p:spPr>
          <a:xfrm>
            <a:off x="5378116" y="1447800"/>
            <a:ext cx="485273" cy="400110"/>
          </a:xfrm>
          <a:prstGeom prst="rect">
            <a:avLst/>
          </a:prstGeom>
          <a:noFill/>
        </p:spPr>
        <p:txBody>
          <a:bodyPr wrap="square" rtlCol="0">
            <a:spAutoFit/>
          </a:bodyPr>
          <a:lstStyle/>
          <a:p>
            <a:pPr algn="ctr"/>
            <a:r>
              <a:rPr lang="en-US" sz="2000" dirty="0">
                <a:solidFill>
                  <a:srgbClr val="212121"/>
                </a:solidFill>
              </a:rPr>
              <a:t>34</a:t>
            </a:r>
            <a:endParaRPr lang="en-IN" dirty="0">
              <a:solidFill>
                <a:srgbClr val="212121"/>
              </a:solidFill>
            </a:endParaRPr>
          </a:p>
        </p:txBody>
      </p:sp>
      <p:sp>
        <p:nvSpPr>
          <p:cNvPr id="12" name="TextBox 11">
            <a:extLst>
              <a:ext uri="{FF2B5EF4-FFF2-40B4-BE49-F238E27FC236}">
                <a16:creationId xmlns:a16="http://schemas.microsoft.com/office/drawing/2014/main" id="{3CACE36A-8A51-57F0-D587-FA479D35FBE7}"/>
              </a:ext>
            </a:extLst>
          </p:cNvPr>
          <p:cNvSpPr txBox="1"/>
          <p:nvPr/>
        </p:nvSpPr>
        <p:spPr>
          <a:xfrm>
            <a:off x="5964654" y="1440785"/>
            <a:ext cx="448178" cy="400110"/>
          </a:xfrm>
          <a:prstGeom prst="rect">
            <a:avLst/>
          </a:prstGeom>
          <a:noFill/>
        </p:spPr>
        <p:txBody>
          <a:bodyPr wrap="square" rtlCol="0">
            <a:spAutoFit/>
          </a:bodyPr>
          <a:lstStyle/>
          <a:p>
            <a:pPr algn="ctr"/>
            <a:r>
              <a:rPr lang="en-US" sz="2000" dirty="0">
                <a:solidFill>
                  <a:srgbClr val="212121"/>
                </a:solidFill>
              </a:rPr>
              <a:t>36</a:t>
            </a:r>
            <a:endParaRPr lang="en-IN" dirty="0">
              <a:solidFill>
                <a:srgbClr val="212121"/>
              </a:solidFill>
            </a:endParaRPr>
          </a:p>
        </p:txBody>
      </p:sp>
      <p:sp>
        <p:nvSpPr>
          <p:cNvPr id="13" name="TextBox 12">
            <a:extLst>
              <a:ext uri="{FF2B5EF4-FFF2-40B4-BE49-F238E27FC236}">
                <a16:creationId xmlns:a16="http://schemas.microsoft.com/office/drawing/2014/main" id="{47865CEF-F9D4-53EA-C3F4-34088A507E1C}"/>
              </a:ext>
            </a:extLst>
          </p:cNvPr>
          <p:cNvSpPr txBox="1"/>
          <p:nvPr/>
        </p:nvSpPr>
        <p:spPr>
          <a:xfrm>
            <a:off x="7317776" y="1449951"/>
            <a:ext cx="568216" cy="400110"/>
          </a:xfrm>
          <a:prstGeom prst="rect">
            <a:avLst/>
          </a:prstGeom>
          <a:noFill/>
        </p:spPr>
        <p:txBody>
          <a:bodyPr wrap="square" rtlCol="0">
            <a:spAutoFit/>
          </a:bodyPr>
          <a:lstStyle/>
          <a:p>
            <a:pPr algn="ctr"/>
            <a:r>
              <a:rPr lang="en-US" sz="2000" dirty="0">
                <a:solidFill>
                  <a:srgbClr val="212121"/>
                </a:solidFill>
              </a:rPr>
              <a:t>50</a:t>
            </a:r>
            <a:endParaRPr lang="en-IN" dirty="0">
              <a:solidFill>
                <a:srgbClr val="212121"/>
              </a:solidFill>
            </a:endParaRPr>
          </a:p>
        </p:txBody>
      </p:sp>
      <p:cxnSp>
        <p:nvCxnSpPr>
          <p:cNvPr id="14" name="Straight Connector 13">
            <a:extLst>
              <a:ext uri="{FF2B5EF4-FFF2-40B4-BE49-F238E27FC236}">
                <a16:creationId xmlns:a16="http://schemas.microsoft.com/office/drawing/2014/main" id="{5812D8F2-C9A9-1A11-13C5-B0AA5329CEA5}"/>
              </a:ext>
            </a:extLst>
          </p:cNvPr>
          <p:cNvCxnSpPr/>
          <p:nvPr/>
        </p:nvCxnSpPr>
        <p:spPr>
          <a:xfrm flipH="1" flipV="1">
            <a:off x="2470484" y="2197768"/>
            <a:ext cx="431150" cy="393032"/>
          </a:xfrm>
          <a:prstGeom prst="line">
            <a:avLst/>
          </a:prstGeom>
        </p:spPr>
        <p:style>
          <a:lnRef idx="3">
            <a:schemeClr val="dk1"/>
          </a:lnRef>
          <a:fillRef idx="0">
            <a:schemeClr val="dk1"/>
          </a:fillRef>
          <a:effectRef idx="2">
            <a:schemeClr val="dk1"/>
          </a:effectRef>
          <a:fontRef idx="minor">
            <a:schemeClr val="tx1"/>
          </a:fontRef>
        </p:style>
      </p:cxnSp>
      <p:cxnSp>
        <p:nvCxnSpPr>
          <p:cNvPr id="15" name="Straight Connector 14">
            <a:extLst>
              <a:ext uri="{FF2B5EF4-FFF2-40B4-BE49-F238E27FC236}">
                <a16:creationId xmlns:a16="http://schemas.microsoft.com/office/drawing/2014/main" id="{0361B1EB-9065-CD81-AB53-C8A4AD3DCFD7}"/>
              </a:ext>
            </a:extLst>
          </p:cNvPr>
          <p:cNvCxnSpPr/>
          <p:nvPr/>
        </p:nvCxnSpPr>
        <p:spPr>
          <a:xfrm>
            <a:off x="3664298" y="2941362"/>
            <a:ext cx="1947718" cy="377208"/>
          </a:xfrm>
          <a:prstGeom prst="line">
            <a:avLst/>
          </a:prstGeom>
        </p:spPr>
        <p:style>
          <a:lnRef idx="3">
            <a:schemeClr val="dk1"/>
          </a:lnRef>
          <a:fillRef idx="0">
            <a:schemeClr val="dk1"/>
          </a:fillRef>
          <a:effectRef idx="2">
            <a:schemeClr val="dk1"/>
          </a:effectRef>
          <a:fontRef idx="minor">
            <a:schemeClr val="tx1"/>
          </a:fontRef>
        </p:style>
      </p:cxnSp>
      <p:cxnSp>
        <p:nvCxnSpPr>
          <p:cNvPr id="16" name="Straight Connector 15">
            <a:extLst>
              <a:ext uri="{FF2B5EF4-FFF2-40B4-BE49-F238E27FC236}">
                <a16:creationId xmlns:a16="http://schemas.microsoft.com/office/drawing/2014/main" id="{1395590A-B4FB-98A4-E63E-0CACF581BF6A}"/>
              </a:ext>
            </a:extLst>
          </p:cNvPr>
          <p:cNvCxnSpPr/>
          <p:nvPr/>
        </p:nvCxnSpPr>
        <p:spPr>
          <a:xfrm flipH="1" flipV="1">
            <a:off x="5612016" y="3329378"/>
            <a:ext cx="568652" cy="389712"/>
          </a:xfrm>
          <a:prstGeom prst="line">
            <a:avLst/>
          </a:prstGeom>
        </p:spPr>
        <p:style>
          <a:lnRef idx="3">
            <a:schemeClr val="dk1"/>
          </a:lnRef>
          <a:fillRef idx="0">
            <a:schemeClr val="dk1"/>
          </a:fillRef>
          <a:effectRef idx="2">
            <a:schemeClr val="dk1"/>
          </a:effectRef>
          <a:fontRef idx="minor">
            <a:schemeClr val="tx1"/>
          </a:fontRef>
        </p:style>
      </p:cxnSp>
      <p:cxnSp>
        <p:nvCxnSpPr>
          <p:cNvPr id="17" name="Straight Connector 16">
            <a:extLst>
              <a:ext uri="{FF2B5EF4-FFF2-40B4-BE49-F238E27FC236}">
                <a16:creationId xmlns:a16="http://schemas.microsoft.com/office/drawing/2014/main" id="{3BDF5E3A-5F5E-5D1E-B509-1891F3FEA30A}"/>
              </a:ext>
            </a:extLst>
          </p:cNvPr>
          <p:cNvCxnSpPr/>
          <p:nvPr/>
        </p:nvCxnSpPr>
        <p:spPr>
          <a:xfrm flipV="1">
            <a:off x="2057400" y="3717815"/>
            <a:ext cx="4131343" cy="332818"/>
          </a:xfrm>
          <a:prstGeom prst="line">
            <a:avLst/>
          </a:prstGeom>
        </p:spPr>
        <p:style>
          <a:lnRef idx="3">
            <a:schemeClr val="dk1"/>
          </a:lnRef>
          <a:fillRef idx="0">
            <a:schemeClr val="dk1"/>
          </a:fillRef>
          <a:effectRef idx="2">
            <a:schemeClr val="dk1"/>
          </a:effectRef>
          <a:fontRef idx="minor">
            <a:schemeClr val="tx1"/>
          </a:fontRef>
        </p:style>
      </p:cxnSp>
      <p:cxnSp>
        <p:nvCxnSpPr>
          <p:cNvPr id="18" name="Straight Connector 17">
            <a:extLst>
              <a:ext uri="{FF2B5EF4-FFF2-40B4-BE49-F238E27FC236}">
                <a16:creationId xmlns:a16="http://schemas.microsoft.com/office/drawing/2014/main" id="{279782E7-5149-1E59-1B2B-CE1E701574DB}"/>
              </a:ext>
            </a:extLst>
          </p:cNvPr>
          <p:cNvCxnSpPr/>
          <p:nvPr/>
        </p:nvCxnSpPr>
        <p:spPr>
          <a:xfrm flipH="1">
            <a:off x="1066800" y="4050632"/>
            <a:ext cx="990600" cy="360433"/>
          </a:xfrm>
          <a:prstGeom prst="line">
            <a:avLst/>
          </a:prstGeom>
        </p:spPr>
        <p:style>
          <a:lnRef idx="3">
            <a:schemeClr val="dk1"/>
          </a:lnRef>
          <a:fillRef idx="0">
            <a:schemeClr val="dk1"/>
          </a:fillRef>
          <a:effectRef idx="2">
            <a:schemeClr val="dk1"/>
          </a:effectRef>
          <a:fontRef idx="minor">
            <a:schemeClr val="tx1"/>
          </a:fontRef>
        </p:style>
      </p:cxnSp>
      <p:sp>
        <p:nvSpPr>
          <p:cNvPr id="19" name="TextBox 18">
            <a:extLst>
              <a:ext uri="{FF2B5EF4-FFF2-40B4-BE49-F238E27FC236}">
                <a16:creationId xmlns:a16="http://schemas.microsoft.com/office/drawing/2014/main" id="{B16BE9B6-3E48-D10D-DB5C-5DB68E292254}"/>
              </a:ext>
            </a:extLst>
          </p:cNvPr>
          <p:cNvSpPr txBox="1"/>
          <p:nvPr/>
        </p:nvSpPr>
        <p:spPr>
          <a:xfrm>
            <a:off x="2265672" y="1826802"/>
            <a:ext cx="468503" cy="400110"/>
          </a:xfrm>
          <a:prstGeom prst="rect">
            <a:avLst/>
          </a:prstGeom>
          <a:noFill/>
        </p:spPr>
        <p:txBody>
          <a:bodyPr wrap="square" rtlCol="0">
            <a:spAutoFit/>
          </a:bodyPr>
          <a:lstStyle/>
          <a:p>
            <a:pPr algn="ctr"/>
            <a:r>
              <a:rPr lang="en-US" sz="2000" dirty="0">
                <a:solidFill>
                  <a:srgbClr val="212121"/>
                </a:solidFill>
              </a:rPr>
              <a:t>11</a:t>
            </a:r>
            <a:endParaRPr lang="en-IN" dirty="0">
              <a:solidFill>
                <a:srgbClr val="212121"/>
              </a:solidFill>
            </a:endParaRPr>
          </a:p>
        </p:txBody>
      </p:sp>
      <p:sp>
        <p:nvSpPr>
          <p:cNvPr id="20" name="TextBox 19">
            <a:extLst>
              <a:ext uri="{FF2B5EF4-FFF2-40B4-BE49-F238E27FC236}">
                <a16:creationId xmlns:a16="http://schemas.microsoft.com/office/drawing/2014/main" id="{5EF9B115-BDEA-CD82-F1DD-DF5F64C2CE88}"/>
              </a:ext>
            </a:extLst>
          </p:cNvPr>
          <p:cNvSpPr txBox="1"/>
          <p:nvPr/>
        </p:nvSpPr>
        <p:spPr>
          <a:xfrm>
            <a:off x="762000" y="4211010"/>
            <a:ext cx="304800" cy="400110"/>
          </a:xfrm>
          <a:prstGeom prst="rect">
            <a:avLst/>
          </a:prstGeom>
          <a:noFill/>
        </p:spPr>
        <p:txBody>
          <a:bodyPr wrap="square" rtlCol="0">
            <a:spAutoFit/>
          </a:bodyPr>
          <a:lstStyle/>
          <a:p>
            <a:pPr algn="ctr"/>
            <a:r>
              <a:rPr lang="en-US" sz="2000" dirty="0">
                <a:solidFill>
                  <a:srgbClr val="212121"/>
                </a:solidFill>
              </a:rPr>
              <a:t>1</a:t>
            </a:r>
            <a:endParaRPr lang="en-IN" dirty="0">
              <a:solidFill>
                <a:srgbClr val="212121"/>
              </a:solidFill>
            </a:endParaRPr>
          </a:p>
        </p:txBody>
      </p:sp>
      <p:sp>
        <p:nvSpPr>
          <p:cNvPr id="21" name="TextBox 20">
            <a:extLst>
              <a:ext uri="{FF2B5EF4-FFF2-40B4-BE49-F238E27FC236}">
                <a16:creationId xmlns:a16="http://schemas.microsoft.com/office/drawing/2014/main" id="{7CF84FFE-E5C4-ED9A-B65B-6053FDE2E19B}"/>
              </a:ext>
            </a:extLst>
          </p:cNvPr>
          <p:cNvSpPr txBox="1"/>
          <p:nvPr/>
        </p:nvSpPr>
        <p:spPr>
          <a:xfrm>
            <a:off x="5574669" y="2967910"/>
            <a:ext cx="485273" cy="400110"/>
          </a:xfrm>
          <a:prstGeom prst="rect">
            <a:avLst/>
          </a:prstGeom>
          <a:noFill/>
        </p:spPr>
        <p:txBody>
          <a:bodyPr wrap="square" rtlCol="0">
            <a:spAutoFit/>
          </a:bodyPr>
          <a:lstStyle/>
          <a:p>
            <a:pPr algn="ctr"/>
            <a:r>
              <a:rPr lang="en-US" sz="2000" dirty="0">
                <a:solidFill>
                  <a:srgbClr val="212121"/>
                </a:solidFill>
              </a:rPr>
              <a:t>34</a:t>
            </a:r>
            <a:endParaRPr lang="en-IN" dirty="0">
              <a:solidFill>
                <a:srgbClr val="212121"/>
              </a:solidFill>
            </a:endParaRPr>
          </a:p>
        </p:txBody>
      </p:sp>
      <p:sp>
        <p:nvSpPr>
          <p:cNvPr id="22" name="TextBox 21">
            <a:extLst>
              <a:ext uri="{FF2B5EF4-FFF2-40B4-BE49-F238E27FC236}">
                <a16:creationId xmlns:a16="http://schemas.microsoft.com/office/drawing/2014/main" id="{75E7A803-D3B2-DD9D-E8BF-48472B29A69F}"/>
              </a:ext>
            </a:extLst>
          </p:cNvPr>
          <p:cNvSpPr txBox="1"/>
          <p:nvPr/>
        </p:nvSpPr>
        <p:spPr>
          <a:xfrm>
            <a:off x="6179218" y="3487705"/>
            <a:ext cx="448178" cy="400110"/>
          </a:xfrm>
          <a:prstGeom prst="rect">
            <a:avLst/>
          </a:prstGeom>
          <a:noFill/>
        </p:spPr>
        <p:txBody>
          <a:bodyPr wrap="square" rtlCol="0">
            <a:spAutoFit/>
          </a:bodyPr>
          <a:lstStyle/>
          <a:p>
            <a:pPr algn="ctr"/>
            <a:r>
              <a:rPr lang="en-US" sz="2000" dirty="0">
                <a:solidFill>
                  <a:srgbClr val="212121"/>
                </a:solidFill>
              </a:rPr>
              <a:t>36</a:t>
            </a:r>
            <a:endParaRPr lang="en-IN" dirty="0">
              <a:solidFill>
                <a:srgbClr val="212121"/>
              </a:solidFill>
            </a:endParaRPr>
          </a:p>
        </p:txBody>
      </p:sp>
      <p:sp>
        <p:nvSpPr>
          <p:cNvPr id="23" name="TextBox 22">
            <a:extLst>
              <a:ext uri="{FF2B5EF4-FFF2-40B4-BE49-F238E27FC236}">
                <a16:creationId xmlns:a16="http://schemas.microsoft.com/office/drawing/2014/main" id="{BA3BBA32-7433-B401-BEB4-27057EEE2A8A}"/>
              </a:ext>
            </a:extLst>
          </p:cNvPr>
          <p:cNvSpPr txBox="1"/>
          <p:nvPr/>
        </p:nvSpPr>
        <p:spPr>
          <a:xfrm>
            <a:off x="1824289" y="3726722"/>
            <a:ext cx="304800" cy="400110"/>
          </a:xfrm>
          <a:prstGeom prst="rect">
            <a:avLst/>
          </a:prstGeom>
          <a:noFill/>
        </p:spPr>
        <p:txBody>
          <a:bodyPr wrap="square" rtlCol="0">
            <a:spAutoFit/>
          </a:bodyPr>
          <a:lstStyle/>
          <a:p>
            <a:pPr algn="ctr"/>
            <a:r>
              <a:rPr lang="en-US" sz="2000" dirty="0">
                <a:solidFill>
                  <a:srgbClr val="212121"/>
                </a:solidFill>
              </a:rPr>
              <a:t>9</a:t>
            </a:r>
            <a:endParaRPr lang="en-IN" dirty="0">
              <a:solidFill>
                <a:srgbClr val="212121"/>
              </a:solidFill>
            </a:endParaRPr>
          </a:p>
        </p:txBody>
      </p:sp>
      <p:sp>
        <p:nvSpPr>
          <p:cNvPr id="24" name="TextBox 23">
            <a:extLst>
              <a:ext uri="{FF2B5EF4-FFF2-40B4-BE49-F238E27FC236}">
                <a16:creationId xmlns:a16="http://schemas.microsoft.com/office/drawing/2014/main" id="{A5BDB3FC-F5C8-0FD8-BE87-E842D6DA0CE3}"/>
              </a:ext>
            </a:extLst>
          </p:cNvPr>
          <p:cNvSpPr txBox="1"/>
          <p:nvPr/>
        </p:nvSpPr>
        <p:spPr>
          <a:xfrm>
            <a:off x="2855721" y="2238314"/>
            <a:ext cx="468503" cy="400110"/>
          </a:xfrm>
          <a:prstGeom prst="rect">
            <a:avLst/>
          </a:prstGeom>
          <a:noFill/>
        </p:spPr>
        <p:txBody>
          <a:bodyPr wrap="square" rtlCol="0">
            <a:spAutoFit/>
          </a:bodyPr>
          <a:lstStyle/>
          <a:p>
            <a:pPr algn="ctr"/>
            <a:r>
              <a:rPr lang="en-US" sz="2000" dirty="0">
                <a:solidFill>
                  <a:srgbClr val="212121"/>
                </a:solidFill>
              </a:rPr>
              <a:t>12</a:t>
            </a:r>
            <a:endParaRPr lang="en-IN" dirty="0">
              <a:solidFill>
                <a:srgbClr val="212121"/>
              </a:solidFill>
            </a:endParaRPr>
          </a:p>
        </p:txBody>
      </p:sp>
      <p:sp>
        <p:nvSpPr>
          <p:cNvPr id="25" name="TextBox 24">
            <a:extLst>
              <a:ext uri="{FF2B5EF4-FFF2-40B4-BE49-F238E27FC236}">
                <a16:creationId xmlns:a16="http://schemas.microsoft.com/office/drawing/2014/main" id="{E2807761-90ED-3588-8BFE-E2608AE905F9}"/>
              </a:ext>
            </a:extLst>
          </p:cNvPr>
          <p:cNvSpPr txBox="1"/>
          <p:nvPr/>
        </p:nvSpPr>
        <p:spPr>
          <a:xfrm>
            <a:off x="3599075" y="2580947"/>
            <a:ext cx="502687" cy="400110"/>
          </a:xfrm>
          <a:prstGeom prst="rect">
            <a:avLst/>
          </a:prstGeom>
          <a:noFill/>
        </p:spPr>
        <p:txBody>
          <a:bodyPr wrap="square" rtlCol="0">
            <a:spAutoFit/>
          </a:bodyPr>
          <a:lstStyle/>
          <a:p>
            <a:pPr algn="ctr"/>
            <a:r>
              <a:rPr lang="en-US" sz="2000" dirty="0">
                <a:solidFill>
                  <a:srgbClr val="212121"/>
                </a:solidFill>
              </a:rPr>
              <a:t>16</a:t>
            </a:r>
            <a:endParaRPr lang="en-IN" dirty="0">
              <a:solidFill>
                <a:srgbClr val="212121"/>
              </a:solidFill>
            </a:endParaRPr>
          </a:p>
        </p:txBody>
      </p:sp>
      <p:cxnSp>
        <p:nvCxnSpPr>
          <p:cNvPr id="26" name="Straight Connector 25">
            <a:extLst>
              <a:ext uri="{FF2B5EF4-FFF2-40B4-BE49-F238E27FC236}">
                <a16:creationId xmlns:a16="http://schemas.microsoft.com/office/drawing/2014/main" id="{29124F73-938C-0EFE-908A-C25DB08930B0}"/>
              </a:ext>
            </a:extLst>
          </p:cNvPr>
          <p:cNvCxnSpPr/>
          <p:nvPr/>
        </p:nvCxnSpPr>
        <p:spPr>
          <a:xfrm>
            <a:off x="2901634" y="2590800"/>
            <a:ext cx="762664" cy="350560"/>
          </a:xfrm>
          <a:prstGeom prst="line">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711042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5"/>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13"/>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12"/>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9"/>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8"/>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7"/>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6"/>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19"/>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14"/>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24"/>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nodeType="clickEffect">
                                  <p:stCondLst>
                                    <p:cond delay="0"/>
                                  </p:stCondLst>
                                  <p:childTnLst>
                                    <p:set>
                                      <p:cBhvr>
                                        <p:cTn id="47" dur="1" fill="hold">
                                          <p:stCondLst>
                                            <p:cond delay="0"/>
                                          </p:stCondLst>
                                        </p:cTn>
                                        <p:tgtEl>
                                          <p:spTgt spid="26"/>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25"/>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nodeType="clickEffect">
                                  <p:stCondLst>
                                    <p:cond delay="0"/>
                                  </p:stCondLst>
                                  <p:childTnLst>
                                    <p:set>
                                      <p:cBhvr>
                                        <p:cTn id="55" dur="1" fill="hold">
                                          <p:stCondLst>
                                            <p:cond delay="0"/>
                                          </p:stCondLst>
                                        </p:cTn>
                                        <p:tgtEl>
                                          <p:spTgt spid="15"/>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21"/>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clickEffect">
                                  <p:stCondLst>
                                    <p:cond delay="0"/>
                                  </p:stCondLst>
                                  <p:childTnLst>
                                    <p:set>
                                      <p:cBhvr>
                                        <p:cTn id="63" dur="1" fill="hold">
                                          <p:stCondLst>
                                            <p:cond delay="0"/>
                                          </p:stCondLst>
                                        </p:cTn>
                                        <p:tgtEl>
                                          <p:spTgt spid="16"/>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22"/>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nodeType="clickEffect">
                                  <p:stCondLst>
                                    <p:cond delay="0"/>
                                  </p:stCondLst>
                                  <p:childTnLst>
                                    <p:set>
                                      <p:cBhvr>
                                        <p:cTn id="71" dur="1" fill="hold">
                                          <p:stCondLst>
                                            <p:cond delay="0"/>
                                          </p:stCondLst>
                                        </p:cTn>
                                        <p:tgtEl>
                                          <p:spTgt spid="17"/>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grpId="0" nodeType="clickEffect">
                                  <p:stCondLst>
                                    <p:cond delay="0"/>
                                  </p:stCondLst>
                                  <p:childTnLst>
                                    <p:set>
                                      <p:cBhvr>
                                        <p:cTn id="75" dur="1" fill="hold">
                                          <p:stCondLst>
                                            <p:cond delay="0"/>
                                          </p:stCondLst>
                                        </p:cTn>
                                        <p:tgtEl>
                                          <p:spTgt spid="23"/>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nodeType="clickEffect">
                                  <p:stCondLst>
                                    <p:cond delay="0"/>
                                  </p:stCondLst>
                                  <p:childTnLst>
                                    <p:set>
                                      <p:cBhvr>
                                        <p:cTn id="79" dur="1" fill="hold">
                                          <p:stCondLst>
                                            <p:cond delay="0"/>
                                          </p:stCondLst>
                                        </p:cTn>
                                        <p:tgtEl>
                                          <p:spTgt spid="18"/>
                                        </p:tgtEl>
                                        <p:attrNameLst>
                                          <p:attrName>style.visibility</p:attrName>
                                        </p:attrNameLst>
                                      </p:cBhvr>
                                      <p:to>
                                        <p:strVal val="visible"/>
                                      </p:to>
                                    </p:se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grpId="0" nodeType="clickEffect">
                                  <p:stCondLst>
                                    <p:cond delay="0"/>
                                  </p:stCondLst>
                                  <p:childTnLst>
                                    <p:set>
                                      <p:cBhvr>
                                        <p:cTn id="83" dur="1" fill="hold">
                                          <p:stCondLst>
                                            <p:cond delay="0"/>
                                          </p:stCondLst>
                                        </p:cTn>
                                        <p:tgtEl>
                                          <p:spTgt spid="20"/>
                                        </p:tgtEl>
                                        <p:attrNameLst>
                                          <p:attrName>style.visibility</p:attrName>
                                        </p:attrNameLst>
                                      </p:cBhvr>
                                      <p:to>
                                        <p:strVal val="visible"/>
                                      </p:to>
                                    </p:set>
                                  </p:childTnLst>
                                </p:cTn>
                              </p:par>
                            </p:childTnLst>
                          </p:cTn>
                        </p:par>
                      </p:childTnLst>
                    </p:cTn>
                  </p:par>
                  <p:par>
                    <p:cTn id="84" fill="hold">
                      <p:stCondLst>
                        <p:cond delay="indefinite"/>
                      </p:stCondLst>
                      <p:childTnLst>
                        <p:par>
                          <p:cTn id="85" fill="hold">
                            <p:stCondLst>
                              <p:cond delay="0"/>
                            </p:stCondLst>
                            <p:childTnLst>
                              <p:par>
                                <p:cTn id="86" presetID="10" presetClass="entr" presetSubtype="0" fill="hold" nodeType="clickEffect">
                                  <p:stCondLst>
                                    <p:cond delay="0"/>
                                  </p:stCondLst>
                                  <p:childTnLst>
                                    <p:set>
                                      <p:cBhvr>
                                        <p:cTn id="87" dur="1" fill="hold">
                                          <p:stCondLst>
                                            <p:cond delay="0"/>
                                          </p:stCondLst>
                                        </p:cTn>
                                        <p:tgtEl>
                                          <p:spTgt spid="3">
                                            <p:txEl>
                                              <p:pRg st="9" end="9"/>
                                            </p:txEl>
                                          </p:spTgt>
                                        </p:tgtEl>
                                        <p:attrNameLst>
                                          <p:attrName>style.visibility</p:attrName>
                                        </p:attrNameLst>
                                      </p:cBhvr>
                                      <p:to>
                                        <p:strVal val="visible"/>
                                      </p:to>
                                    </p:set>
                                    <p:animEffect transition="in" filter="fade">
                                      <p:cBhvr>
                                        <p:cTn id="88" dur="500"/>
                                        <p:tgtEl>
                                          <p:spTgt spid="3">
                                            <p:txEl>
                                              <p:pRg st="9" end="9"/>
                                            </p:txEl>
                                          </p:spTgt>
                                        </p:tgtEl>
                                      </p:cBhvr>
                                    </p:animEffect>
                                  </p:childTnLst>
                                </p:cTn>
                              </p:par>
                            </p:childTnLst>
                          </p:cTn>
                        </p:par>
                      </p:childTnLst>
                    </p:cTn>
                  </p:par>
                  <p:par>
                    <p:cTn id="89" fill="hold">
                      <p:stCondLst>
                        <p:cond delay="indefinite"/>
                      </p:stCondLst>
                      <p:childTnLst>
                        <p:par>
                          <p:cTn id="90" fill="hold">
                            <p:stCondLst>
                              <p:cond delay="0"/>
                            </p:stCondLst>
                            <p:childTnLst>
                              <p:par>
                                <p:cTn id="91" presetID="10" presetClass="entr" presetSubtype="0" fill="hold" nodeType="clickEffect">
                                  <p:stCondLst>
                                    <p:cond delay="0"/>
                                  </p:stCondLst>
                                  <p:childTnLst>
                                    <p:set>
                                      <p:cBhvr>
                                        <p:cTn id="92" dur="1" fill="hold">
                                          <p:stCondLst>
                                            <p:cond delay="0"/>
                                          </p:stCondLst>
                                        </p:cTn>
                                        <p:tgtEl>
                                          <p:spTgt spid="3">
                                            <p:txEl>
                                              <p:pRg st="10" end="10"/>
                                            </p:txEl>
                                          </p:spTgt>
                                        </p:tgtEl>
                                        <p:attrNameLst>
                                          <p:attrName>style.visibility</p:attrName>
                                        </p:attrNameLst>
                                      </p:cBhvr>
                                      <p:to>
                                        <p:strVal val="visible"/>
                                      </p:to>
                                    </p:set>
                                    <p:animEffect transition="in" filter="fade">
                                      <p:cBhvr>
                                        <p:cTn id="93"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p:bldP spid="7" grpId="0"/>
      <p:bldP spid="8" grpId="0"/>
      <p:bldP spid="9" grpId="0"/>
      <p:bldP spid="10" grpId="0"/>
      <p:bldP spid="11" grpId="0"/>
      <p:bldP spid="12" grpId="0"/>
      <p:bldP spid="13" grpId="0"/>
      <p:bldP spid="19" grpId="0"/>
      <p:bldP spid="20" grpId="0"/>
      <p:bldP spid="21" grpId="0"/>
      <p:bldP spid="22" grpId="0"/>
      <p:bldP spid="23" grpId="0"/>
      <p:bldP spid="24" grpId="0"/>
      <p:bldP spid="2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3125C3-885D-AD63-53F4-3DCD515817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1C3541-2360-5C40-3CDC-F1E0810BF90A}"/>
              </a:ext>
            </a:extLst>
          </p:cNvPr>
          <p:cNvSpPr>
            <a:spLocks noGrp="1"/>
          </p:cNvSpPr>
          <p:nvPr>
            <p:ph type="title"/>
          </p:nvPr>
        </p:nvSpPr>
        <p:spPr>
          <a:xfrm>
            <a:off x="0" y="1"/>
            <a:ext cx="12192000" cy="711200"/>
          </a:xfrm>
        </p:spPr>
        <p:txBody>
          <a:bodyPr/>
          <a:lstStyle/>
          <a:p>
            <a:r>
              <a:rPr lang="en-US" dirty="0"/>
              <a:t>C-LOOK</a:t>
            </a:r>
          </a:p>
        </p:txBody>
      </p:sp>
      <p:sp>
        <p:nvSpPr>
          <p:cNvPr id="3" name="Content Placeholder 2">
            <a:extLst>
              <a:ext uri="{FF2B5EF4-FFF2-40B4-BE49-F238E27FC236}">
                <a16:creationId xmlns:a16="http://schemas.microsoft.com/office/drawing/2014/main" id="{74D120A8-3443-95CF-28A8-E051D97D2FC4}"/>
              </a:ext>
            </a:extLst>
          </p:cNvPr>
          <p:cNvSpPr>
            <a:spLocks noGrp="1"/>
          </p:cNvSpPr>
          <p:nvPr>
            <p:ph idx="1"/>
          </p:nvPr>
        </p:nvSpPr>
        <p:spPr>
          <a:xfrm>
            <a:off x="131180" y="863444"/>
            <a:ext cx="11929641" cy="5590565"/>
          </a:xfrm>
        </p:spPr>
        <p:txBody>
          <a:bodyPr/>
          <a:lstStyle/>
          <a:p>
            <a:r>
              <a:rPr lang="en-US" dirty="0"/>
              <a:t>The</a:t>
            </a:r>
            <a:r>
              <a:rPr lang="en-US" dirty="0">
                <a:solidFill>
                  <a:schemeClr val="accent6"/>
                </a:solidFill>
              </a:rPr>
              <a:t> </a:t>
            </a:r>
            <a:r>
              <a:rPr lang="en-US" b="1" dirty="0">
                <a:solidFill>
                  <a:schemeClr val="accent6"/>
                </a:solidFill>
              </a:rPr>
              <a:t>C-LOOK </a:t>
            </a:r>
            <a:r>
              <a:rPr lang="en-US" b="1" dirty="0"/>
              <a:t>(</a:t>
            </a:r>
            <a:r>
              <a:rPr lang="en-US" dirty="0"/>
              <a:t>Circular LOOK</a:t>
            </a:r>
            <a:r>
              <a:rPr lang="en-US" b="1" dirty="0"/>
              <a:t>) </a:t>
            </a:r>
            <a:r>
              <a:rPr lang="en-US" b="1" dirty="0">
                <a:solidFill>
                  <a:schemeClr val="accent6"/>
                </a:solidFill>
              </a:rPr>
              <a:t>algorithm</a:t>
            </a:r>
            <a:r>
              <a:rPr lang="en-US" dirty="0">
                <a:solidFill>
                  <a:schemeClr val="accent6"/>
                </a:solidFill>
              </a:rPr>
              <a:t> </a:t>
            </a:r>
            <a:r>
              <a:rPr lang="en-US" dirty="0"/>
              <a:t>processes disk requests by moving in one direction until all pending requests in that direction are served. </a:t>
            </a:r>
          </a:p>
          <a:p>
            <a:r>
              <a:rPr lang="en-US" dirty="0"/>
              <a:t>Instead of reversing direction, the disk arm jumps directly to the </a:t>
            </a:r>
            <a:r>
              <a:rPr lang="en-US" b="1" dirty="0">
                <a:solidFill>
                  <a:schemeClr val="accent6"/>
                </a:solidFill>
              </a:rPr>
              <a:t>lowest-numbered pending request</a:t>
            </a:r>
            <a:r>
              <a:rPr lang="en-US" dirty="0"/>
              <a:t> and continues moving </a:t>
            </a:r>
            <a:r>
              <a:rPr lang="en-US" b="1" dirty="0">
                <a:solidFill>
                  <a:schemeClr val="accent6"/>
                </a:solidFill>
              </a:rPr>
              <a:t>upward</a:t>
            </a:r>
            <a:r>
              <a:rPr lang="en-US" dirty="0"/>
              <a:t> again.</a:t>
            </a:r>
          </a:p>
        </p:txBody>
      </p:sp>
    </p:spTree>
    <p:extLst>
      <p:ext uri="{BB962C8B-B14F-4D97-AF65-F5344CB8AC3E}">
        <p14:creationId xmlns:p14="http://schemas.microsoft.com/office/powerpoint/2010/main" val="11568260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5463E5-188A-D749-6098-9F75D9C224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F8CF3E-A07A-8C06-E321-C6E8F2115B4E}"/>
              </a:ext>
            </a:extLst>
          </p:cNvPr>
          <p:cNvSpPr>
            <a:spLocks noGrp="1"/>
          </p:cNvSpPr>
          <p:nvPr>
            <p:ph type="title"/>
          </p:nvPr>
        </p:nvSpPr>
        <p:spPr>
          <a:xfrm>
            <a:off x="0" y="1"/>
            <a:ext cx="12192000" cy="711200"/>
          </a:xfrm>
        </p:spPr>
        <p:txBody>
          <a:bodyPr/>
          <a:lstStyle/>
          <a:p>
            <a:r>
              <a:rPr lang="en-US" dirty="0"/>
              <a:t>C-LOOK</a:t>
            </a:r>
          </a:p>
        </p:txBody>
      </p:sp>
      <p:sp>
        <p:nvSpPr>
          <p:cNvPr id="3" name="Content Placeholder 2">
            <a:extLst>
              <a:ext uri="{FF2B5EF4-FFF2-40B4-BE49-F238E27FC236}">
                <a16:creationId xmlns:a16="http://schemas.microsoft.com/office/drawing/2014/main" id="{BE90B3B5-6FBB-E02E-EA7C-6E0B6F018765}"/>
              </a:ext>
            </a:extLst>
          </p:cNvPr>
          <p:cNvSpPr>
            <a:spLocks noGrp="1"/>
          </p:cNvSpPr>
          <p:nvPr>
            <p:ph idx="1"/>
          </p:nvPr>
        </p:nvSpPr>
        <p:spPr>
          <a:xfrm>
            <a:off x="131180" y="863444"/>
            <a:ext cx="11929641" cy="5590565"/>
          </a:xfrm>
        </p:spPr>
        <p:txBody>
          <a:bodyPr/>
          <a:lstStyle/>
          <a:p>
            <a:r>
              <a:rPr lang="en-US" dirty="0"/>
              <a:t>Here first it moves in </a:t>
            </a:r>
            <a:r>
              <a:rPr lang="en-US" b="1" dirty="0">
                <a:solidFill>
                  <a:schemeClr val="accent6"/>
                </a:solidFill>
              </a:rPr>
              <a:t>up</a:t>
            </a:r>
            <a:r>
              <a:rPr lang="en-US" dirty="0"/>
              <a:t> direction then goes in </a:t>
            </a:r>
            <a:r>
              <a:rPr lang="en-US" b="1" dirty="0">
                <a:solidFill>
                  <a:schemeClr val="accent6"/>
                </a:solidFill>
              </a:rPr>
              <a:t>down</a:t>
            </a:r>
            <a:r>
              <a:rPr lang="en-US" dirty="0"/>
              <a:t> direction</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Disk movement will be 11, 12, 16, 34, 36, 1 and 9.</a:t>
            </a:r>
          </a:p>
          <a:p>
            <a:r>
              <a:rPr lang="en-US" dirty="0"/>
              <a:t>Total cylinder movement: (12-11) + (16-12) + (34-16) + (36-34) +(36-1)+(9-1) = </a:t>
            </a:r>
            <a:r>
              <a:rPr lang="en-US" b="1" dirty="0">
                <a:solidFill>
                  <a:schemeClr val="accent6"/>
                </a:solidFill>
              </a:rPr>
              <a:t>68</a:t>
            </a:r>
          </a:p>
        </p:txBody>
      </p:sp>
      <p:sp>
        <p:nvSpPr>
          <p:cNvPr id="4" name="TextBox 3">
            <a:extLst>
              <a:ext uri="{FF2B5EF4-FFF2-40B4-BE49-F238E27FC236}">
                <a16:creationId xmlns:a16="http://schemas.microsoft.com/office/drawing/2014/main" id="{CC72E515-104E-6B23-06EF-8060E7B963C6}"/>
              </a:ext>
            </a:extLst>
          </p:cNvPr>
          <p:cNvSpPr txBox="1"/>
          <p:nvPr/>
        </p:nvSpPr>
        <p:spPr>
          <a:xfrm>
            <a:off x="8212821" y="1855654"/>
            <a:ext cx="560083" cy="2123658"/>
          </a:xfrm>
          <a:prstGeom prst="rect">
            <a:avLst/>
          </a:prstGeom>
          <a:ln w="28575">
            <a:solidFill>
              <a:schemeClr val="accent1"/>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en-IN" sz="2200" b="1" dirty="0">
                <a:solidFill>
                  <a:srgbClr val="212121"/>
                </a:solidFill>
              </a:rPr>
              <a:t>1, 36, 16, 34, 9, 12</a:t>
            </a:r>
            <a:endParaRPr lang="en-US" sz="2200" b="1" dirty="0">
              <a:solidFill>
                <a:srgbClr val="212121"/>
              </a:solidFill>
            </a:endParaRPr>
          </a:p>
        </p:txBody>
      </p:sp>
      <p:graphicFrame>
        <p:nvGraphicFramePr>
          <p:cNvPr id="5" name="Table 4">
            <a:extLst>
              <a:ext uri="{FF2B5EF4-FFF2-40B4-BE49-F238E27FC236}">
                <a16:creationId xmlns:a16="http://schemas.microsoft.com/office/drawing/2014/main" id="{38874346-D144-287A-49AA-E46958341E96}"/>
              </a:ext>
            </a:extLst>
          </p:cNvPr>
          <p:cNvGraphicFramePr>
            <a:graphicFrameLocks noGrp="1"/>
          </p:cNvGraphicFramePr>
          <p:nvPr/>
        </p:nvGraphicFramePr>
        <p:xfrm>
          <a:off x="609597" y="1833880"/>
          <a:ext cx="7010402" cy="2966720"/>
        </p:xfrm>
        <a:graphic>
          <a:graphicData uri="http://schemas.openxmlformats.org/drawingml/2006/table">
            <a:tbl>
              <a:tblPr firstRow="1" bandRow="1">
                <a:tableStyleId>{5940675A-B579-460E-94D1-54222C63F5DA}</a:tableStyleId>
              </a:tblPr>
              <a:tblGrid>
                <a:gridCol w="457203">
                  <a:extLst>
                    <a:ext uri="{9D8B030D-6E8A-4147-A177-3AD203B41FA5}">
                      <a16:colId xmlns:a16="http://schemas.microsoft.com/office/drawing/2014/main" val="20000"/>
                    </a:ext>
                  </a:extLst>
                </a:gridCol>
                <a:gridCol w="990600">
                  <a:extLst>
                    <a:ext uri="{9D8B030D-6E8A-4147-A177-3AD203B41FA5}">
                      <a16:colId xmlns:a16="http://schemas.microsoft.com/office/drawing/2014/main" val="20001"/>
                    </a:ext>
                  </a:extLst>
                </a:gridCol>
                <a:gridCol w="838200">
                  <a:extLst>
                    <a:ext uri="{9D8B030D-6E8A-4147-A177-3AD203B41FA5}">
                      <a16:colId xmlns:a16="http://schemas.microsoft.com/office/drawing/2014/main" val="20002"/>
                    </a:ext>
                  </a:extLst>
                </a:gridCol>
                <a:gridCol w="762000">
                  <a:extLst>
                    <a:ext uri="{9D8B030D-6E8A-4147-A177-3AD203B41FA5}">
                      <a16:colId xmlns:a16="http://schemas.microsoft.com/office/drawing/2014/main" val="20003"/>
                    </a:ext>
                  </a:extLst>
                </a:gridCol>
                <a:gridCol w="1959427">
                  <a:extLst>
                    <a:ext uri="{9D8B030D-6E8A-4147-A177-3AD203B41FA5}">
                      <a16:colId xmlns:a16="http://schemas.microsoft.com/office/drawing/2014/main" val="20004"/>
                    </a:ext>
                  </a:extLst>
                </a:gridCol>
                <a:gridCol w="555173">
                  <a:extLst>
                    <a:ext uri="{9D8B030D-6E8A-4147-A177-3AD203B41FA5}">
                      <a16:colId xmlns:a16="http://schemas.microsoft.com/office/drawing/2014/main" val="20005"/>
                    </a:ext>
                  </a:extLst>
                </a:gridCol>
                <a:gridCol w="1447799">
                  <a:extLst>
                    <a:ext uri="{9D8B030D-6E8A-4147-A177-3AD203B41FA5}">
                      <a16:colId xmlns:a16="http://schemas.microsoft.com/office/drawing/2014/main" val="20006"/>
                    </a:ext>
                  </a:extLst>
                </a:gridCol>
              </a:tblGrid>
              <a:tr h="2966720">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10000"/>
                  </a:ext>
                </a:extLst>
              </a:tr>
            </a:tbl>
          </a:graphicData>
        </a:graphic>
      </p:graphicFrame>
      <p:sp>
        <p:nvSpPr>
          <p:cNvPr id="6" name="TextBox 5">
            <a:extLst>
              <a:ext uri="{FF2B5EF4-FFF2-40B4-BE49-F238E27FC236}">
                <a16:creationId xmlns:a16="http://schemas.microsoft.com/office/drawing/2014/main" id="{57799AD8-07AD-C796-1212-692E09733003}"/>
              </a:ext>
            </a:extLst>
          </p:cNvPr>
          <p:cNvSpPr txBox="1"/>
          <p:nvPr/>
        </p:nvSpPr>
        <p:spPr>
          <a:xfrm>
            <a:off x="547435" y="1433770"/>
            <a:ext cx="304800" cy="400110"/>
          </a:xfrm>
          <a:prstGeom prst="rect">
            <a:avLst/>
          </a:prstGeom>
          <a:noFill/>
        </p:spPr>
        <p:txBody>
          <a:bodyPr wrap="square" rtlCol="0">
            <a:spAutoFit/>
          </a:bodyPr>
          <a:lstStyle/>
          <a:p>
            <a:pPr algn="ctr"/>
            <a:r>
              <a:rPr lang="en-US" sz="2000" dirty="0">
                <a:solidFill>
                  <a:srgbClr val="212121"/>
                </a:solidFill>
              </a:rPr>
              <a:t>0</a:t>
            </a:r>
            <a:endParaRPr lang="en-IN" dirty="0">
              <a:solidFill>
                <a:srgbClr val="212121"/>
              </a:solidFill>
            </a:endParaRPr>
          </a:p>
        </p:txBody>
      </p:sp>
      <p:sp>
        <p:nvSpPr>
          <p:cNvPr id="7" name="TextBox 6">
            <a:extLst>
              <a:ext uri="{FF2B5EF4-FFF2-40B4-BE49-F238E27FC236}">
                <a16:creationId xmlns:a16="http://schemas.microsoft.com/office/drawing/2014/main" id="{8DBEFB3C-D5E6-9F6E-306B-F869056EED9A}"/>
              </a:ext>
            </a:extLst>
          </p:cNvPr>
          <p:cNvSpPr txBox="1"/>
          <p:nvPr/>
        </p:nvSpPr>
        <p:spPr>
          <a:xfrm>
            <a:off x="914400" y="1447800"/>
            <a:ext cx="304800" cy="400110"/>
          </a:xfrm>
          <a:prstGeom prst="rect">
            <a:avLst/>
          </a:prstGeom>
          <a:noFill/>
        </p:spPr>
        <p:txBody>
          <a:bodyPr wrap="square" rtlCol="0">
            <a:spAutoFit/>
          </a:bodyPr>
          <a:lstStyle/>
          <a:p>
            <a:pPr algn="ctr"/>
            <a:r>
              <a:rPr lang="en-US" sz="2000" dirty="0">
                <a:solidFill>
                  <a:srgbClr val="212121"/>
                </a:solidFill>
              </a:rPr>
              <a:t>1</a:t>
            </a:r>
            <a:endParaRPr lang="en-IN" dirty="0">
              <a:solidFill>
                <a:srgbClr val="212121"/>
              </a:solidFill>
            </a:endParaRPr>
          </a:p>
        </p:txBody>
      </p:sp>
      <p:sp>
        <p:nvSpPr>
          <p:cNvPr id="8" name="TextBox 7">
            <a:extLst>
              <a:ext uri="{FF2B5EF4-FFF2-40B4-BE49-F238E27FC236}">
                <a16:creationId xmlns:a16="http://schemas.microsoft.com/office/drawing/2014/main" id="{FB7FFEF8-FA20-C025-3FC7-A9D9B98B0107}"/>
              </a:ext>
            </a:extLst>
          </p:cNvPr>
          <p:cNvSpPr txBox="1"/>
          <p:nvPr/>
        </p:nvSpPr>
        <p:spPr>
          <a:xfrm>
            <a:off x="1905000" y="1439315"/>
            <a:ext cx="304800" cy="400110"/>
          </a:xfrm>
          <a:prstGeom prst="rect">
            <a:avLst/>
          </a:prstGeom>
          <a:noFill/>
        </p:spPr>
        <p:txBody>
          <a:bodyPr wrap="square" rtlCol="0">
            <a:spAutoFit/>
          </a:bodyPr>
          <a:lstStyle/>
          <a:p>
            <a:pPr algn="ctr"/>
            <a:r>
              <a:rPr lang="en-US" sz="2000" dirty="0">
                <a:solidFill>
                  <a:srgbClr val="212121"/>
                </a:solidFill>
              </a:rPr>
              <a:t>9</a:t>
            </a:r>
            <a:endParaRPr lang="en-IN" dirty="0">
              <a:solidFill>
                <a:srgbClr val="212121"/>
              </a:solidFill>
            </a:endParaRPr>
          </a:p>
        </p:txBody>
      </p:sp>
      <p:sp>
        <p:nvSpPr>
          <p:cNvPr id="9" name="TextBox 8">
            <a:extLst>
              <a:ext uri="{FF2B5EF4-FFF2-40B4-BE49-F238E27FC236}">
                <a16:creationId xmlns:a16="http://schemas.microsoft.com/office/drawing/2014/main" id="{1746A81B-832C-22D5-5A19-A549791E61B0}"/>
              </a:ext>
            </a:extLst>
          </p:cNvPr>
          <p:cNvSpPr txBox="1"/>
          <p:nvPr/>
        </p:nvSpPr>
        <p:spPr>
          <a:xfrm>
            <a:off x="2670372" y="1433770"/>
            <a:ext cx="468503" cy="400110"/>
          </a:xfrm>
          <a:prstGeom prst="rect">
            <a:avLst/>
          </a:prstGeom>
          <a:noFill/>
        </p:spPr>
        <p:txBody>
          <a:bodyPr wrap="square" rtlCol="0">
            <a:spAutoFit/>
          </a:bodyPr>
          <a:lstStyle/>
          <a:p>
            <a:pPr algn="ctr"/>
            <a:r>
              <a:rPr lang="en-US" sz="2000" dirty="0">
                <a:solidFill>
                  <a:srgbClr val="212121"/>
                </a:solidFill>
              </a:rPr>
              <a:t>12</a:t>
            </a:r>
            <a:endParaRPr lang="en-IN" dirty="0">
              <a:solidFill>
                <a:srgbClr val="212121"/>
              </a:solidFill>
            </a:endParaRPr>
          </a:p>
        </p:txBody>
      </p:sp>
      <p:sp>
        <p:nvSpPr>
          <p:cNvPr id="10" name="TextBox 9">
            <a:extLst>
              <a:ext uri="{FF2B5EF4-FFF2-40B4-BE49-F238E27FC236}">
                <a16:creationId xmlns:a16="http://schemas.microsoft.com/office/drawing/2014/main" id="{4937153F-3A12-5EB7-7CCA-48DD33467945}"/>
              </a:ext>
            </a:extLst>
          </p:cNvPr>
          <p:cNvSpPr txBox="1"/>
          <p:nvPr/>
        </p:nvSpPr>
        <p:spPr>
          <a:xfrm>
            <a:off x="3412955" y="1433770"/>
            <a:ext cx="502687" cy="400110"/>
          </a:xfrm>
          <a:prstGeom prst="rect">
            <a:avLst/>
          </a:prstGeom>
          <a:noFill/>
        </p:spPr>
        <p:txBody>
          <a:bodyPr wrap="square" rtlCol="0">
            <a:spAutoFit/>
          </a:bodyPr>
          <a:lstStyle/>
          <a:p>
            <a:pPr algn="ctr"/>
            <a:r>
              <a:rPr lang="en-US" sz="2000" dirty="0">
                <a:solidFill>
                  <a:srgbClr val="212121"/>
                </a:solidFill>
              </a:rPr>
              <a:t>16</a:t>
            </a:r>
            <a:endParaRPr lang="en-IN" dirty="0">
              <a:solidFill>
                <a:srgbClr val="212121"/>
              </a:solidFill>
            </a:endParaRPr>
          </a:p>
        </p:txBody>
      </p:sp>
      <p:sp>
        <p:nvSpPr>
          <p:cNvPr id="11" name="TextBox 10">
            <a:extLst>
              <a:ext uri="{FF2B5EF4-FFF2-40B4-BE49-F238E27FC236}">
                <a16:creationId xmlns:a16="http://schemas.microsoft.com/office/drawing/2014/main" id="{F77016F5-9CE7-1559-4615-0BA70C626547}"/>
              </a:ext>
            </a:extLst>
          </p:cNvPr>
          <p:cNvSpPr txBox="1"/>
          <p:nvPr/>
        </p:nvSpPr>
        <p:spPr>
          <a:xfrm>
            <a:off x="5378116" y="1447800"/>
            <a:ext cx="485273" cy="400110"/>
          </a:xfrm>
          <a:prstGeom prst="rect">
            <a:avLst/>
          </a:prstGeom>
          <a:noFill/>
        </p:spPr>
        <p:txBody>
          <a:bodyPr wrap="square" rtlCol="0">
            <a:spAutoFit/>
          </a:bodyPr>
          <a:lstStyle/>
          <a:p>
            <a:pPr algn="ctr"/>
            <a:r>
              <a:rPr lang="en-US" sz="2000" dirty="0">
                <a:solidFill>
                  <a:srgbClr val="212121"/>
                </a:solidFill>
              </a:rPr>
              <a:t>34</a:t>
            </a:r>
            <a:endParaRPr lang="en-IN" dirty="0">
              <a:solidFill>
                <a:srgbClr val="212121"/>
              </a:solidFill>
            </a:endParaRPr>
          </a:p>
        </p:txBody>
      </p:sp>
      <p:sp>
        <p:nvSpPr>
          <p:cNvPr id="12" name="TextBox 11">
            <a:extLst>
              <a:ext uri="{FF2B5EF4-FFF2-40B4-BE49-F238E27FC236}">
                <a16:creationId xmlns:a16="http://schemas.microsoft.com/office/drawing/2014/main" id="{F6FB2330-91E6-2E9A-E344-DCBB76437ADB}"/>
              </a:ext>
            </a:extLst>
          </p:cNvPr>
          <p:cNvSpPr txBox="1"/>
          <p:nvPr/>
        </p:nvSpPr>
        <p:spPr>
          <a:xfrm>
            <a:off x="5964654" y="1440785"/>
            <a:ext cx="448178" cy="400110"/>
          </a:xfrm>
          <a:prstGeom prst="rect">
            <a:avLst/>
          </a:prstGeom>
          <a:noFill/>
        </p:spPr>
        <p:txBody>
          <a:bodyPr wrap="square" rtlCol="0">
            <a:spAutoFit/>
          </a:bodyPr>
          <a:lstStyle/>
          <a:p>
            <a:pPr algn="ctr"/>
            <a:r>
              <a:rPr lang="en-US" sz="2000" dirty="0">
                <a:solidFill>
                  <a:srgbClr val="212121"/>
                </a:solidFill>
              </a:rPr>
              <a:t>36</a:t>
            </a:r>
            <a:endParaRPr lang="en-IN" dirty="0">
              <a:solidFill>
                <a:srgbClr val="212121"/>
              </a:solidFill>
            </a:endParaRPr>
          </a:p>
        </p:txBody>
      </p:sp>
      <p:sp>
        <p:nvSpPr>
          <p:cNvPr id="13" name="TextBox 12">
            <a:extLst>
              <a:ext uri="{FF2B5EF4-FFF2-40B4-BE49-F238E27FC236}">
                <a16:creationId xmlns:a16="http://schemas.microsoft.com/office/drawing/2014/main" id="{2DFCD61D-1DBF-07AD-E0AD-D2DB9536CE4B}"/>
              </a:ext>
            </a:extLst>
          </p:cNvPr>
          <p:cNvSpPr txBox="1"/>
          <p:nvPr/>
        </p:nvSpPr>
        <p:spPr>
          <a:xfrm>
            <a:off x="7325863" y="1440785"/>
            <a:ext cx="568216" cy="400110"/>
          </a:xfrm>
          <a:prstGeom prst="rect">
            <a:avLst/>
          </a:prstGeom>
          <a:noFill/>
        </p:spPr>
        <p:txBody>
          <a:bodyPr wrap="square" rtlCol="0">
            <a:spAutoFit/>
          </a:bodyPr>
          <a:lstStyle/>
          <a:p>
            <a:pPr algn="ctr"/>
            <a:r>
              <a:rPr lang="en-US" sz="2000" dirty="0">
                <a:solidFill>
                  <a:srgbClr val="212121"/>
                </a:solidFill>
              </a:rPr>
              <a:t>50</a:t>
            </a:r>
            <a:endParaRPr lang="en-IN" dirty="0">
              <a:solidFill>
                <a:srgbClr val="212121"/>
              </a:solidFill>
            </a:endParaRPr>
          </a:p>
        </p:txBody>
      </p:sp>
      <p:cxnSp>
        <p:nvCxnSpPr>
          <p:cNvPr id="14" name="Straight Connector 13">
            <a:extLst>
              <a:ext uri="{FF2B5EF4-FFF2-40B4-BE49-F238E27FC236}">
                <a16:creationId xmlns:a16="http://schemas.microsoft.com/office/drawing/2014/main" id="{94A4275E-B682-92BB-0C4F-AD5E7F760310}"/>
              </a:ext>
            </a:extLst>
          </p:cNvPr>
          <p:cNvCxnSpPr/>
          <p:nvPr/>
        </p:nvCxnSpPr>
        <p:spPr>
          <a:xfrm flipH="1" flipV="1">
            <a:off x="2470484" y="2197768"/>
            <a:ext cx="431150" cy="393032"/>
          </a:xfrm>
          <a:prstGeom prst="line">
            <a:avLst/>
          </a:prstGeom>
        </p:spPr>
        <p:style>
          <a:lnRef idx="3">
            <a:schemeClr val="dk1"/>
          </a:lnRef>
          <a:fillRef idx="0">
            <a:schemeClr val="dk1"/>
          </a:fillRef>
          <a:effectRef idx="2">
            <a:schemeClr val="dk1"/>
          </a:effectRef>
          <a:fontRef idx="minor">
            <a:schemeClr val="tx1"/>
          </a:fontRef>
        </p:style>
      </p:cxnSp>
      <p:cxnSp>
        <p:nvCxnSpPr>
          <p:cNvPr id="15" name="Straight Connector 14">
            <a:extLst>
              <a:ext uri="{FF2B5EF4-FFF2-40B4-BE49-F238E27FC236}">
                <a16:creationId xmlns:a16="http://schemas.microsoft.com/office/drawing/2014/main" id="{365C1E74-6EB5-5BC7-84DA-582D25532861}"/>
              </a:ext>
            </a:extLst>
          </p:cNvPr>
          <p:cNvCxnSpPr/>
          <p:nvPr/>
        </p:nvCxnSpPr>
        <p:spPr>
          <a:xfrm>
            <a:off x="3664298" y="2941362"/>
            <a:ext cx="1947718" cy="377208"/>
          </a:xfrm>
          <a:prstGeom prst="line">
            <a:avLst/>
          </a:prstGeom>
        </p:spPr>
        <p:style>
          <a:lnRef idx="3">
            <a:schemeClr val="dk1"/>
          </a:lnRef>
          <a:fillRef idx="0">
            <a:schemeClr val="dk1"/>
          </a:fillRef>
          <a:effectRef idx="2">
            <a:schemeClr val="dk1"/>
          </a:effectRef>
          <a:fontRef idx="minor">
            <a:schemeClr val="tx1"/>
          </a:fontRef>
        </p:style>
      </p:cxnSp>
      <p:cxnSp>
        <p:nvCxnSpPr>
          <p:cNvPr id="16" name="Straight Connector 15">
            <a:extLst>
              <a:ext uri="{FF2B5EF4-FFF2-40B4-BE49-F238E27FC236}">
                <a16:creationId xmlns:a16="http://schemas.microsoft.com/office/drawing/2014/main" id="{431A43EA-DEF8-0FF4-1B3B-A89D330ED941}"/>
              </a:ext>
            </a:extLst>
          </p:cNvPr>
          <p:cNvCxnSpPr/>
          <p:nvPr/>
        </p:nvCxnSpPr>
        <p:spPr>
          <a:xfrm flipH="1" flipV="1">
            <a:off x="5612016" y="3329378"/>
            <a:ext cx="568652" cy="389712"/>
          </a:xfrm>
          <a:prstGeom prst="line">
            <a:avLst/>
          </a:prstGeom>
        </p:spPr>
        <p:style>
          <a:lnRef idx="3">
            <a:schemeClr val="dk1"/>
          </a:lnRef>
          <a:fillRef idx="0">
            <a:schemeClr val="dk1"/>
          </a:fillRef>
          <a:effectRef idx="2">
            <a:schemeClr val="dk1"/>
          </a:effectRef>
          <a:fontRef idx="minor">
            <a:schemeClr val="tx1"/>
          </a:fontRef>
        </p:style>
      </p:cxnSp>
      <p:cxnSp>
        <p:nvCxnSpPr>
          <p:cNvPr id="17" name="Straight Connector 16">
            <a:extLst>
              <a:ext uri="{FF2B5EF4-FFF2-40B4-BE49-F238E27FC236}">
                <a16:creationId xmlns:a16="http://schemas.microsoft.com/office/drawing/2014/main" id="{9BE51C4B-05A7-4FF9-A696-4ADCB7E653FA}"/>
              </a:ext>
            </a:extLst>
          </p:cNvPr>
          <p:cNvCxnSpPr/>
          <p:nvPr/>
        </p:nvCxnSpPr>
        <p:spPr>
          <a:xfrm flipV="1">
            <a:off x="1066800" y="3717815"/>
            <a:ext cx="5121943" cy="332817"/>
          </a:xfrm>
          <a:prstGeom prst="line">
            <a:avLst/>
          </a:prstGeom>
        </p:spPr>
        <p:style>
          <a:lnRef idx="3">
            <a:schemeClr val="dk1"/>
          </a:lnRef>
          <a:fillRef idx="0">
            <a:schemeClr val="dk1"/>
          </a:fillRef>
          <a:effectRef idx="2">
            <a:schemeClr val="dk1"/>
          </a:effectRef>
          <a:fontRef idx="minor">
            <a:schemeClr val="tx1"/>
          </a:fontRef>
        </p:style>
      </p:cxnSp>
      <p:cxnSp>
        <p:nvCxnSpPr>
          <p:cNvPr id="18" name="Straight Connector 17">
            <a:extLst>
              <a:ext uri="{FF2B5EF4-FFF2-40B4-BE49-F238E27FC236}">
                <a16:creationId xmlns:a16="http://schemas.microsoft.com/office/drawing/2014/main" id="{C47C3419-149C-5E36-C6B1-652A03096C84}"/>
              </a:ext>
            </a:extLst>
          </p:cNvPr>
          <p:cNvCxnSpPr/>
          <p:nvPr/>
        </p:nvCxnSpPr>
        <p:spPr>
          <a:xfrm flipH="1" flipV="1">
            <a:off x="1066801" y="4050632"/>
            <a:ext cx="990599" cy="349795"/>
          </a:xfrm>
          <a:prstGeom prst="line">
            <a:avLst/>
          </a:prstGeom>
        </p:spPr>
        <p:style>
          <a:lnRef idx="3">
            <a:schemeClr val="dk1"/>
          </a:lnRef>
          <a:fillRef idx="0">
            <a:schemeClr val="dk1"/>
          </a:fillRef>
          <a:effectRef idx="2">
            <a:schemeClr val="dk1"/>
          </a:effectRef>
          <a:fontRef idx="minor">
            <a:schemeClr val="tx1"/>
          </a:fontRef>
        </p:style>
      </p:cxnSp>
      <p:sp>
        <p:nvSpPr>
          <p:cNvPr id="19" name="TextBox 18">
            <a:extLst>
              <a:ext uri="{FF2B5EF4-FFF2-40B4-BE49-F238E27FC236}">
                <a16:creationId xmlns:a16="http://schemas.microsoft.com/office/drawing/2014/main" id="{ACAB4FF3-1DBE-F1A9-C1E7-19E358EF9E57}"/>
              </a:ext>
            </a:extLst>
          </p:cNvPr>
          <p:cNvSpPr txBox="1"/>
          <p:nvPr/>
        </p:nvSpPr>
        <p:spPr>
          <a:xfrm>
            <a:off x="2265672" y="1826802"/>
            <a:ext cx="468503" cy="400110"/>
          </a:xfrm>
          <a:prstGeom prst="rect">
            <a:avLst/>
          </a:prstGeom>
          <a:noFill/>
        </p:spPr>
        <p:txBody>
          <a:bodyPr wrap="square" rtlCol="0">
            <a:spAutoFit/>
          </a:bodyPr>
          <a:lstStyle/>
          <a:p>
            <a:pPr algn="ctr"/>
            <a:r>
              <a:rPr lang="en-US" sz="2000" dirty="0">
                <a:solidFill>
                  <a:srgbClr val="212121"/>
                </a:solidFill>
              </a:rPr>
              <a:t>11</a:t>
            </a:r>
            <a:endParaRPr lang="en-IN" dirty="0">
              <a:solidFill>
                <a:srgbClr val="212121"/>
              </a:solidFill>
            </a:endParaRPr>
          </a:p>
        </p:txBody>
      </p:sp>
      <p:sp>
        <p:nvSpPr>
          <p:cNvPr id="20" name="TextBox 19">
            <a:extLst>
              <a:ext uri="{FF2B5EF4-FFF2-40B4-BE49-F238E27FC236}">
                <a16:creationId xmlns:a16="http://schemas.microsoft.com/office/drawing/2014/main" id="{6F8B1B3A-435F-B355-C86E-15D4215F6A9F}"/>
              </a:ext>
            </a:extLst>
          </p:cNvPr>
          <p:cNvSpPr txBox="1"/>
          <p:nvPr/>
        </p:nvSpPr>
        <p:spPr>
          <a:xfrm>
            <a:off x="765811" y="3852329"/>
            <a:ext cx="304800" cy="400110"/>
          </a:xfrm>
          <a:prstGeom prst="rect">
            <a:avLst/>
          </a:prstGeom>
          <a:noFill/>
        </p:spPr>
        <p:txBody>
          <a:bodyPr wrap="square" rtlCol="0">
            <a:spAutoFit/>
          </a:bodyPr>
          <a:lstStyle/>
          <a:p>
            <a:pPr algn="ctr"/>
            <a:r>
              <a:rPr lang="en-US" sz="2000" dirty="0">
                <a:solidFill>
                  <a:srgbClr val="212121"/>
                </a:solidFill>
              </a:rPr>
              <a:t>1</a:t>
            </a:r>
            <a:endParaRPr lang="en-IN" dirty="0">
              <a:solidFill>
                <a:srgbClr val="212121"/>
              </a:solidFill>
            </a:endParaRPr>
          </a:p>
        </p:txBody>
      </p:sp>
      <p:sp>
        <p:nvSpPr>
          <p:cNvPr id="21" name="TextBox 20">
            <a:extLst>
              <a:ext uri="{FF2B5EF4-FFF2-40B4-BE49-F238E27FC236}">
                <a16:creationId xmlns:a16="http://schemas.microsoft.com/office/drawing/2014/main" id="{E3750470-02DB-F9C2-B3C9-47D2BAB9230D}"/>
              </a:ext>
            </a:extLst>
          </p:cNvPr>
          <p:cNvSpPr txBox="1"/>
          <p:nvPr/>
        </p:nvSpPr>
        <p:spPr>
          <a:xfrm>
            <a:off x="5574669" y="2967910"/>
            <a:ext cx="485273" cy="400110"/>
          </a:xfrm>
          <a:prstGeom prst="rect">
            <a:avLst/>
          </a:prstGeom>
          <a:noFill/>
        </p:spPr>
        <p:txBody>
          <a:bodyPr wrap="square" rtlCol="0">
            <a:spAutoFit/>
          </a:bodyPr>
          <a:lstStyle/>
          <a:p>
            <a:pPr algn="ctr"/>
            <a:r>
              <a:rPr lang="en-US" sz="2000" dirty="0">
                <a:solidFill>
                  <a:srgbClr val="212121"/>
                </a:solidFill>
              </a:rPr>
              <a:t>34</a:t>
            </a:r>
            <a:endParaRPr lang="en-IN" dirty="0">
              <a:solidFill>
                <a:srgbClr val="212121"/>
              </a:solidFill>
            </a:endParaRPr>
          </a:p>
        </p:txBody>
      </p:sp>
      <p:sp>
        <p:nvSpPr>
          <p:cNvPr id="22" name="TextBox 21">
            <a:extLst>
              <a:ext uri="{FF2B5EF4-FFF2-40B4-BE49-F238E27FC236}">
                <a16:creationId xmlns:a16="http://schemas.microsoft.com/office/drawing/2014/main" id="{FDD5A46F-F2B1-2B12-0D6E-F460FFDF0ED4}"/>
              </a:ext>
            </a:extLst>
          </p:cNvPr>
          <p:cNvSpPr txBox="1"/>
          <p:nvPr/>
        </p:nvSpPr>
        <p:spPr>
          <a:xfrm>
            <a:off x="6179218" y="3487705"/>
            <a:ext cx="448178" cy="400110"/>
          </a:xfrm>
          <a:prstGeom prst="rect">
            <a:avLst/>
          </a:prstGeom>
          <a:noFill/>
        </p:spPr>
        <p:txBody>
          <a:bodyPr wrap="square" rtlCol="0">
            <a:spAutoFit/>
          </a:bodyPr>
          <a:lstStyle/>
          <a:p>
            <a:pPr algn="ctr"/>
            <a:r>
              <a:rPr lang="en-US" sz="2000" dirty="0">
                <a:solidFill>
                  <a:srgbClr val="212121"/>
                </a:solidFill>
              </a:rPr>
              <a:t>36</a:t>
            </a:r>
            <a:endParaRPr lang="en-IN" dirty="0">
              <a:solidFill>
                <a:srgbClr val="212121"/>
              </a:solidFill>
            </a:endParaRPr>
          </a:p>
        </p:txBody>
      </p:sp>
      <p:sp>
        <p:nvSpPr>
          <p:cNvPr id="23" name="TextBox 22">
            <a:extLst>
              <a:ext uri="{FF2B5EF4-FFF2-40B4-BE49-F238E27FC236}">
                <a16:creationId xmlns:a16="http://schemas.microsoft.com/office/drawing/2014/main" id="{9AEEB7D4-AB8D-0895-C24D-E587EDA15276}"/>
              </a:ext>
            </a:extLst>
          </p:cNvPr>
          <p:cNvSpPr txBox="1"/>
          <p:nvPr/>
        </p:nvSpPr>
        <p:spPr>
          <a:xfrm>
            <a:off x="2057400" y="4225529"/>
            <a:ext cx="304800" cy="400110"/>
          </a:xfrm>
          <a:prstGeom prst="rect">
            <a:avLst/>
          </a:prstGeom>
          <a:noFill/>
        </p:spPr>
        <p:txBody>
          <a:bodyPr wrap="square" rtlCol="0">
            <a:spAutoFit/>
          </a:bodyPr>
          <a:lstStyle/>
          <a:p>
            <a:pPr algn="ctr"/>
            <a:r>
              <a:rPr lang="en-US" sz="2000" dirty="0">
                <a:solidFill>
                  <a:srgbClr val="212121"/>
                </a:solidFill>
              </a:rPr>
              <a:t>9</a:t>
            </a:r>
            <a:endParaRPr lang="en-IN" dirty="0">
              <a:solidFill>
                <a:srgbClr val="212121"/>
              </a:solidFill>
            </a:endParaRPr>
          </a:p>
        </p:txBody>
      </p:sp>
      <p:sp>
        <p:nvSpPr>
          <p:cNvPr id="24" name="TextBox 23">
            <a:extLst>
              <a:ext uri="{FF2B5EF4-FFF2-40B4-BE49-F238E27FC236}">
                <a16:creationId xmlns:a16="http://schemas.microsoft.com/office/drawing/2014/main" id="{22347BAB-B7EF-6764-3DD1-7258FF086A1B}"/>
              </a:ext>
            </a:extLst>
          </p:cNvPr>
          <p:cNvSpPr txBox="1"/>
          <p:nvPr/>
        </p:nvSpPr>
        <p:spPr>
          <a:xfrm>
            <a:off x="2855721" y="2238314"/>
            <a:ext cx="468503" cy="400110"/>
          </a:xfrm>
          <a:prstGeom prst="rect">
            <a:avLst/>
          </a:prstGeom>
          <a:noFill/>
        </p:spPr>
        <p:txBody>
          <a:bodyPr wrap="square" rtlCol="0">
            <a:spAutoFit/>
          </a:bodyPr>
          <a:lstStyle/>
          <a:p>
            <a:pPr algn="ctr"/>
            <a:r>
              <a:rPr lang="en-US" sz="2000" dirty="0">
                <a:solidFill>
                  <a:srgbClr val="212121"/>
                </a:solidFill>
              </a:rPr>
              <a:t>12</a:t>
            </a:r>
            <a:endParaRPr lang="en-IN" dirty="0">
              <a:solidFill>
                <a:srgbClr val="212121"/>
              </a:solidFill>
            </a:endParaRPr>
          </a:p>
        </p:txBody>
      </p:sp>
      <p:sp>
        <p:nvSpPr>
          <p:cNvPr id="25" name="TextBox 24">
            <a:extLst>
              <a:ext uri="{FF2B5EF4-FFF2-40B4-BE49-F238E27FC236}">
                <a16:creationId xmlns:a16="http://schemas.microsoft.com/office/drawing/2014/main" id="{26D95F03-BEAB-CA64-3148-10A263F4462B}"/>
              </a:ext>
            </a:extLst>
          </p:cNvPr>
          <p:cNvSpPr txBox="1"/>
          <p:nvPr/>
        </p:nvSpPr>
        <p:spPr>
          <a:xfrm>
            <a:off x="3599075" y="2580947"/>
            <a:ext cx="502687" cy="400110"/>
          </a:xfrm>
          <a:prstGeom prst="rect">
            <a:avLst/>
          </a:prstGeom>
          <a:noFill/>
        </p:spPr>
        <p:txBody>
          <a:bodyPr wrap="square" rtlCol="0">
            <a:spAutoFit/>
          </a:bodyPr>
          <a:lstStyle/>
          <a:p>
            <a:pPr algn="ctr"/>
            <a:r>
              <a:rPr lang="en-US" sz="2000" dirty="0">
                <a:solidFill>
                  <a:srgbClr val="212121"/>
                </a:solidFill>
              </a:rPr>
              <a:t>16</a:t>
            </a:r>
            <a:endParaRPr lang="en-IN" dirty="0">
              <a:solidFill>
                <a:srgbClr val="212121"/>
              </a:solidFill>
            </a:endParaRPr>
          </a:p>
        </p:txBody>
      </p:sp>
      <p:cxnSp>
        <p:nvCxnSpPr>
          <p:cNvPr id="26" name="Straight Connector 25">
            <a:extLst>
              <a:ext uri="{FF2B5EF4-FFF2-40B4-BE49-F238E27FC236}">
                <a16:creationId xmlns:a16="http://schemas.microsoft.com/office/drawing/2014/main" id="{46CB73B0-4B5E-CD3F-4882-E05D449D1AE3}"/>
              </a:ext>
            </a:extLst>
          </p:cNvPr>
          <p:cNvCxnSpPr/>
          <p:nvPr/>
        </p:nvCxnSpPr>
        <p:spPr>
          <a:xfrm>
            <a:off x="2901634" y="2590800"/>
            <a:ext cx="762664" cy="350560"/>
          </a:xfrm>
          <a:prstGeom prst="line">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38523784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5"/>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13"/>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19"/>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14"/>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24"/>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nodeType="clickEffect">
                                  <p:stCondLst>
                                    <p:cond delay="0"/>
                                  </p:stCondLst>
                                  <p:childTnLst>
                                    <p:set>
                                      <p:cBhvr>
                                        <p:cTn id="47" dur="1" fill="hold">
                                          <p:stCondLst>
                                            <p:cond delay="0"/>
                                          </p:stCondLst>
                                        </p:cTn>
                                        <p:tgtEl>
                                          <p:spTgt spid="26"/>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25"/>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nodeType="clickEffect">
                                  <p:stCondLst>
                                    <p:cond delay="0"/>
                                  </p:stCondLst>
                                  <p:childTnLst>
                                    <p:set>
                                      <p:cBhvr>
                                        <p:cTn id="55" dur="1" fill="hold">
                                          <p:stCondLst>
                                            <p:cond delay="0"/>
                                          </p:stCondLst>
                                        </p:cTn>
                                        <p:tgtEl>
                                          <p:spTgt spid="15"/>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21"/>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clickEffect">
                                  <p:stCondLst>
                                    <p:cond delay="0"/>
                                  </p:stCondLst>
                                  <p:childTnLst>
                                    <p:set>
                                      <p:cBhvr>
                                        <p:cTn id="63" dur="1" fill="hold">
                                          <p:stCondLst>
                                            <p:cond delay="0"/>
                                          </p:stCondLst>
                                        </p:cTn>
                                        <p:tgtEl>
                                          <p:spTgt spid="16"/>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22"/>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nodeType="clickEffect">
                                  <p:stCondLst>
                                    <p:cond delay="0"/>
                                  </p:stCondLst>
                                  <p:childTnLst>
                                    <p:set>
                                      <p:cBhvr>
                                        <p:cTn id="71" dur="1" fill="hold">
                                          <p:stCondLst>
                                            <p:cond delay="0"/>
                                          </p:stCondLst>
                                        </p:cTn>
                                        <p:tgtEl>
                                          <p:spTgt spid="17"/>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grpId="0" nodeType="clickEffect">
                                  <p:stCondLst>
                                    <p:cond delay="0"/>
                                  </p:stCondLst>
                                  <p:childTnLst>
                                    <p:set>
                                      <p:cBhvr>
                                        <p:cTn id="75" dur="1" fill="hold">
                                          <p:stCondLst>
                                            <p:cond delay="0"/>
                                          </p:stCondLst>
                                        </p:cTn>
                                        <p:tgtEl>
                                          <p:spTgt spid="20"/>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nodeType="clickEffect">
                                  <p:stCondLst>
                                    <p:cond delay="0"/>
                                  </p:stCondLst>
                                  <p:childTnLst>
                                    <p:set>
                                      <p:cBhvr>
                                        <p:cTn id="79" dur="1" fill="hold">
                                          <p:stCondLst>
                                            <p:cond delay="0"/>
                                          </p:stCondLst>
                                        </p:cTn>
                                        <p:tgtEl>
                                          <p:spTgt spid="18"/>
                                        </p:tgtEl>
                                        <p:attrNameLst>
                                          <p:attrName>style.visibility</p:attrName>
                                        </p:attrNameLst>
                                      </p:cBhvr>
                                      <p:to>
                                        <p:strVal val="visible"/>
                                      </p:to>
                                    </p:se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grpId="0" nodeType="clickEffect">
                                  <p:stCondLst>
                                    <p:cond delay="0"/>
                                  </p:stCondLst>
                                  <p:childTnLst>
                                    <p:set>
                                      <p:cBhvr>
                                        <p:cTn id="83" dur="1" fill="hold">
                                          <p:stCondLst>
                                            <p:cond delay="0"/>
                                          </p:stCondLst>
                                        </p:cTn>
                                        <p:tgtEl>
                                          <p:spTgt spid="23"/>
                                        </p:tgtEl>
                                        <p:attrNameLst>
                                          <p:attrName>style.visibility</p:attrName>
                                        </p:attrNameLst>
                                      </p:cBhvr>
                                      <p:to>
                                        <p:strVal val="visible"/>
                                      </p:to>
                                    </p:set>
                                  </p:childTnLst>
                                </p:cTn>
                              </p:par>
                            </p:childTnLst>
                          </p:cTn>
                        </p:par>
                      </p:childTnLst>
                    </p:cTn>
                  </p:par>
                  <p:par>
                    <p:cTn id="84" fill="hold">
                      <p:stCondLst>
                        <p:cond delay="indefinite"/>
                      </p:stCondLst>
                      <p:childTnLst>
                        <p:par>
                          <p:cTn id="85" fill="hold">
                            <p:stCondLst>
                              <p:cond delay="0"/>
                            </p:stCondLst>
                            <p:childTnLst>
                              <p:par>
                                <p:cTn id="86" presetID="10" presetClass="entr" presetSubtype="0" fill="hold" nodeType="clickEffect">
                                  <p:stCondLst>
                                    <p:cond delay="0"/>
                                  </p:stCondLst>
                                  <p:childTnLst>
                                    <p:set>
                                      <p:cBhvr>
                                        <p:cTn id="87" dur="1" fill="hold">
                                          <p:stCondLst>
                                            <p:cond delay="0"/>
                                          </p:stCondLst>
                                        </p:cTn>
                                        <p:tgtEl>
                                          <p:spTgt spid="3">
                                            <p:txEl>
                                              <p:pRg st="9" end="9"/>
                                            </p:txEl>
                                          </p:spTgt>
                                        </p:tgtEl>
                                        <p:attrNameLst>
                                          <p:attrName>style.visibility</p:attrName>
                                        </p:attrNameLst>
                                      </p:cBhvr>
                                      <p:to>
                                        <p:strVal val="visible"/>
                                      </p:to>
                                    </p:set>
                                    <p:animEffect transition="in" filter="fade">
                                      <p:cBhvr>
                                        <p:cTn id="88" dur="500"/>
                                        <p:tgtEl>
                                          <p:spTgt spid="3">
                                            <p:txEl>
                                              <p:pRg st="9" end="9"/>
                                            </p:txEl>
                                          </p:spTgt>
                                        </p:tgtEl>
                                      </p:cBhvr>
                                    </p:animEffect>
                                  </p:childTnLst>
                                </p:cTn>
                              </p:par>
                            </p:childTnLst>
                          </p:cTn>
                        </p:par>
                      </p:childTnLst>
                    </p:cTn>
                  </p:par>
                  <p:par>
                    <p:cTn id="89" fill="hold">
                      <p:stCondLst>
                        <p:cond delay="indefinite"/>
                      </p:stCondLst>
                      <p:childTnLst>
                        <p:par>
                          <p:cTn id="90" fill="hold">
                            <p:stCondLst>
                              <p:cond delay="0"/>
                            </p:stCondLst>
                            <p:childTnLst>
                              <p:par>
                                <p:cTn id="91" presetID="10" presetClass="entr" presetSubtype="0" fill="hold" nodeType="clickEffect">
                                  <p:stCondLst>
                                    <p:cond delay="0"/>
                                  </p:stCondLst>
                                  <p:childTnLst>
                                    <p:set>
                                      <p:cBhvr>
                                        <p:cTn id="92" dur="1" fill="hold">
                                          <p:stCondLst>
                                            <p:cond delay="0"/>
                                          </p:stCondLst>
                                        </p:cTn>
                                        <p:tgtEl>
                                          <p:spTgt spid="3">
                                            <p:txEl>
                                              <p:pRg st="10" end="10"/>
                                            </p:txEl>
                                          </p:spTgt>
                                        </p:tgtEl>
                                        <p:attrNameLst>
                                          <p:attrName>style.visibility</p:attrName>
                                        </p:attrNameLst>
                                      </p:cBhvr>
                                      <p:to>
                                        <p:strVal val="visible"/>
                                      </p:to>
                                    </p:set>
                                    <p:animEffect transition="in" filter="fade">
                                      <p:cBhvr>
                                        <p:cTn id="93"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p:bldP spid="7" grpId="0"/>
      <p:bldP spid="8" grpId="0"/>
      <p:bldP spid="9" grpId="0"/>
      <p:bldP spid="10" grpId="0"/>
      <p:bldP spid="11" grpId="0"/>
      <p:bldP spid="12" grpId="0"/>
      <p:bldP spid="13" grpId="0"/>
      <p:bldP spid="19" grpId="0"/>
      <p:bldP spid="20" grpId="0"/>
      <p:bldP spid="21" grpId="0"/>
      <p:bldP spid="22" grpId="0"/>
      <p:bldP spid="23" grpId="0"/>
      <p:bldP spid="24" grpId="0"/>
      <p:bldP spid="2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2AC48-0D16-4637-3D64-FAE664D6B4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D1E79B-1C8C-C903-D3FE-2E68A066BE0D}"/>
              </a:ext>
            </a:extLst>
          </p:cNvPr>
          <p:cNvSpPr>
            <a:spLocks noGrp="1"/>
          </p:cNvSpPr>
          <p:nvPr>
            <p:ph type="title"/>
          </p:nvPr>
        </p:nvSpPr>
        <p:spPr>
          <a:xfrm>
            <a:off x="0" y="1"/>
            <a:ext cx="12192000" cy="711200"/>
          </a:xfrm>
        </p:spPr>
        <p:txBody>
          <a:bodyPr/>
          <a:lstStyle/>
          <a:p>
            <a:r>
              <a:rPr lang="en-US" dirty="0"/>
              <a:t>SCAN</a:t>
            </a:r>
          </a:p>
        </p:txBody>
      </p:sp>
      <p:sp>
        <p:nvSpPr>
          <p:cNvPr id="3" name="Content Placeholder 2">
            <a:extLst>
              <a:ext uri="{FF2B5EF4-FFF2-40B4-BE49-F238E27FC236}">
                <a16:creationId xmlns:a16="http://schemas.microsoft.com/office/drawing/2014/main" id="{658A005F-92A2-8B7E-8C79-69394C4D2C98}"/>
              </a:ext>
            </a:extLst>
          </p:cNvPr>
          <p:cNvSpPr>
            <a:spLocks noGrp="1"/>
          </p:cNvSpPr>
          <p:nvPr>
            <p:ph idx="1"/>
          </p:nvPr>
        </p:nvSpPr>
        <p:spPr>
          <a:xfrm>
            <a:off x="131180" y="863444"/>
            <a:ext cx="11929641" cy="5590565"/>
          </a:xfrm>
        </p:spPr>
        <p:txBody>
          <a:bodyPr/>
          <a:lstStyle/>
          <a:p>
            <a:r>
              <a:rPr lang="en-US" dirty="0"/>
              <a:t>The </a:t>
            </a:r>
            <a:r>
              <a:rPr lang="en-US" b="1" dirty="0">
                <a:solidFill>
                  <a:schemeClr val="accent6"/>
                </a:solidFill>
              </a:rPr>
              <a:t>SCAN algorithm</a:t>
            </a:r>
            <a:r>
              <a:rPr lang="en-US" dirty="0"/>
              <a:t>, also known as the </a:t>
            </a:r>
            <a:r>
              <a:rPr lang="en-US" b="1" dirty="0">
                <a:solidFill>
                  <a:schemeClr val="accent6"/>
                </a:solidFill>
              </a:rPr>
              <a:t>Elevator Algorithm</a:t>
            </a:r>
            <a:r>
              <a:rPr lang="en-US" dirty="0"/>
              <a:t>, processes disk requests by moving in one direction until it reaches the last request in that direction. Once it reaches the </a:t>
            </a:r>
            <a:r>
              <a:rPr lang="en-US" b="1" dirty="0">
                <a:solidFill>
                  <a:schemeClr val="accent6"/>
                </a:solidFill>
              </a:rPr>
              <a:t>end</a:t>
            </a:r>
            <a:r>
              <a:rPr lang="en-US" dirty="0"/>
              <a:t>, it reverses direction and serves the remaining requests on the way back.</a:t>
            </a:r>
          </a:p>
          <a:p>
            <a:r>
              <a:rPr lang="en-US" dirty="0"/>
              <a:t>The disk arm starts by moving </a:t>
            </a:r>
            <a:r>
              <a:rPr lang="en-US" b="1" dirty="0">
                <a:solidFill>
                  <a:schemeClr val="accent6"/>
                </a:solidFill>
              </a:rPr>
              <a:t>upward</a:t>
            </a:r>
            <a:r>
              <a:rPr lang="en-US" dirty="0"/>
              <a:t>, serving all pending requests along the way.</a:t>
            </a:r>
          </a:p>
          <a:p>
            <a:r>
              <a:rPr lang="en-US" dirty="0"/>
              <a:t>Upon reaching the highest request, it </a:t>
            </a:r>
            <a:r>
              <a:rPr lang="en-US" b="1" dirty="0">
                <a:solidFill>
                  <a:schemeClr val="accent6"/>
                </a:solidFill>
              </a:rPr>
              <a:t>reverses direction</a:t>
            </a:r>
            <a:r>
              <a:rPr lang="en-US" dirty="0">
                <a:solidFill>
                  <a:schemeClr val="accent6"/>
                </a:solidFill>
              </a:rPr>
              <a:t> </a:t>
            </a:r>
            <a:r>
              <a:rPr lang="en-US" dirty="0"/>
              <a:t>and moves </a:t>
            </a:r>
            <a:r>
              <a:rPr lang="en-US" b="1" dirty="0">
                <a:solidFill>
                  <a:schemeClr val="accent6"/>
                </a:solidFill>
              </a:rPr>
              <a:t>downward</a:t>
            </a:r>
            <a:r>
              <a:rPr lang="en-US" dirty="0"/>
              <a:t>, serving the remaining requests.</a:t>
            </a:r>
          </a:p>
          <a:p>
            <a:r>
              <a:rPr lang="en-US" dirty="0"/>
              <a:t>This back-and-forth movement continues, similar to an elevator operation.</a:t>
            </a:r>
          </a:p>
          <a:p>
            <a:endParaRPr lang="en-US" dirty="0"/>
          </a:p>
        </p:txBody>
      </p:sp>
    </p:spTree>
    <p:extLst>
      <p:ext uri="{BB962C8B-B14F-4D97-AF65-F5344CB8AC3E}">
        <p14:creationId xmlns:p14="http://schemas.microsoft.com/office/powerpoint/2010/main" val="2295520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FCA4B-93D1-F19D-E199-EB2B7BB17BDC}"/>
            </a:ext>
          </a:extLst>
        </p:cNvPr>
        <p:cNvGrpSpPr/>
        <p:nvPr/>
      </p:nvGrpSpPr>
      <p:grpSpPr>
        <a:xfrm>
          <a:off x="0" y="0"/>
          <a:ext cx="0" cy="0"/>
          <a:chOff x="0" y="0"/>
          <a:chExt cx="0" cy="0"/>
        </a:xfrm>
      </p:grpSpPr>
      <p:sp>
        <p:nvSpPr>
          <p:cNvPr id="52" name="Title 1">
            <a:extLst>
              <a:ext uri="{FF2B5EF4-FFF2-40B4-BE49-F238E27FC236}">
                <a16:creationId xmlns:a16="http://schemas.microsoft.com/office/drawing/2014/main" id="{C4DA6ECF-3E5A-6716-75ED-0D84F6474235}"/>
              </a:ext>
            </a:extLst>
          </p:cNvPr>
          <p:cNvSpPr>
            <a:spLocks noGrp="1"/>
          </p:cNvSpPr>
          <p:nvPr>
            <p:ph type="title"/>
          </p:nvPr>
        </p:nvSpPr>
        <p:spPr>
          <a:xfrm>
            <a:off x="0" y="1"/>
            <a:ext cx="12192000" cy="711200"/>
          </a:xfrm>
        </p:spPr>
        <p:txBody>
          <a:bodyPr/>
          <a:lstStyle/>
          <a:p>
            <a:r>
              <a:rPr lang="en-US" dirty="0"/>
              <a:t>SCAN</a:t>
            </a:r>
          </a:p>
        </p:txBody>
      </p:sp>
      <p:sp>
        <p:nvSpPr>
          <p:cNvPr id="53" name="Content Placeholder 2">
            <a:extLst>
              <a:ext uri="{FF2B5EF4-FFF2-40B4-BE49-F238E27FC236}">
                <a16:creationId xmlns:a16="http://schemas.microsoft.com/office/drawing/2014/main" id="{1F7C5F2C-9381-E6EF-901A-E1F5F1FEF79E}"/>
              </a:ext>
            </a:extLst>
          </p:cNvPr>
          <p:cNvSpPr>
            <a:spLocks noGrp="1"/>
          </p:cNvSpPr>
          <p:nvPr>
            <p:ph idx="1"/>
          </p:nvPr>
        </p:nvSpPr>
        <p:spPr>
          <a:xfrm>
            <a:off x="131180" y="863444"/>
            <a:ext cx="11929641" cy="5590565"/>
          </a:xfrm>
        </p:spPr>
        <p:txBody>
          <a:bodyPr/>
          <a:lstStyle/>
          <a:p>
            <a:r>
              <a:rPr lang="en-US" dirty="0"/>
              <a:t>Here first it moves in </a:t>
            </a:r>
            <a:r>
              <a:rPr lang="en-US" b="1" dirty="0">
                <a:solidFill>
                  <a:schemeClr val="accent6"/>
                </a:solidFill>
              </a:rPr>
              <a:t>up</a:t>
            </a:r>
            <a:r>
              <a:rPr lang="en-US" dirty="0"/>
              <a:t> direction then goes in </a:t>
            </a:r>
            <a:r>
              <a:rPr lang="en-US" b="1" dirty="0">
                <a:solidFill>
                  <a:schemeClr val="accent6"/>
                </a:solidFill>
              </a:rPr>
              <a:t>down</a:t>
            </a:r>
            <a:r>
              <a:rPr lang="en-US" dirty="0"/>
              <a:t> direction</a:t>
            </a:r>
          </a:p>
          <a:p>
            <a:endParaRPr lang="en-US" dirty="0"/>
          </a:p>
          <a:p>
            <a:endParaRPr lang="en-US" dirty="0"/>
          </a:p>
          <a:p>
            <a:endParaRPr lang="en-US" dirty="0"/>
          </a:p>
          <a:p>
            <a:endParaRPr lang="en-US" dirty="0"/>
          </a:p>
          <a:p>
            <a:endParaRPr lang="en-US" dirty="0"/>
          </a:p>
          <a:p>
            <a:endParaRPr lang="en-US" dirty="0"/>
          </a:p>
          <a:p>
            <a:pPr marL="0" indent="0">
              <a:buNone/>
            </a:pPr>
            <a:endParaRPr lang="en-US" dirty="0"/>
          </a:p>
          <a:p>
            <a:endParaRPr lang="en-US" dirty="0"/>
          </a:p>
          <a:p>
            <a:r>
              <a:rPr lang="en-US" dirty="0"/>
              <a:t>Disk movement will be 11, 12, 16, 34, 36, 50, 9 and 1.</a:t>
            </a:r>
          </a:p>
          <a:p>
            <a:r>
              <a:rPr lang="en-US" dirty="0"/>
              <a:t>Total cylinder movement: (12-11) + (16-12) + (34-16) +(36-34) +(50-36) + (50-9) + (9-1) = </a:t>
            </a:r>
            <a:r>
              <a:rPr lang="en-US" b="1" dirty="0">
                <a:solidFill>
                  <a:schemeClr val="accent6"/>
                </a:solidFill>
              </a:rPr>
              <a:t>88</a:t>
            </a:r>
          </a:p>
        </p:txBody>
      </p:sp>
      <p:sp>
        <p:nvSpPr>
          <p:cNvPr id="54" name="TextBox 53">
            <a:extLst>
              <a:ext uri="{FF2B5EF4-FFF2-40B4-BE49-F238E27FC236}">
                <a16:creationId xmlns:a16="http://schemas.microsoft.com/office/drawing/2014/main" id="{92E4DE20-FEDD-1DCF-E837-1EFA03A8674D}"/>
              </a:ext>
            </a:extLst>
          </p:cNvPr>
          <p:cNvSpPr txBox="1"/>
          <p:nvPr/>
        </p:nvSpPr>
        <p:spPr>
          <a:xfrm>
            <a:off x="8212821" y="1855654"/>
            <a:ext cx="551799" cy="2123658"/>
          </a:xfrm>
          <a:prstGeom prst="rect">
            <a:avLst/>
          </a:prstGeom>
          <a:ln w="28575">
            <a:solidFill>
              <a:schemeClr val="accent1"/>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en-IN" sz="2200" b="1" dirty="0">
                <a:solidFill>
                  <a:srgbClr val="212121"/>
                </a:solidFill>
              </a:rPr>
              <a:t>1, 36, 16, 34, 9, 12</a:t>
            </a:r>
            <a:endParaRPr lang="en-US" sz="2200" b="1" dirty="0">
              <a:solidFill>
                <a:srgbClr val="212121"/>
              </a:solidFill>
            </a:endParaRPr>
          </a:p>
        </p:txBody>
      </p:sp>
      <p:graphicFrame>
        <p:nvGraphicFramePr>
          <p:cNvPr id="55" name="Table 54">
            <a:extLst>
              <a:ext uri="{FF2B5EF4-FFF2-40B4-BE49-F238E27FC236}">
                <a16:creationId xmlns:a16="http://schemas.microsoft.com/office/drawing/2014/main" id="{54CA76FF-6E7C-82D0-317B-BFAB6877E5D9}"/>
              </a:ext>
            </a:extLst>
          </p:cNvPr>
          <p:cNvGraphicFramePr>
            <a:graphicFrameLocks noGrp="1"/>
          </p:cNvGraphicFramePr>
          <p:nvPr/>
        </p:nvGraphicFramePr>
        <p:xfrm>
          <a:off x="609597" y="1833880"/>
          <a:ext cx="7010402" cy="2966720"/>
        </p:xfrm>
        <a:graphic>
          <a:graphicData uri="http://schemas.openxmlformats.org/drawingml/2006/table">
            <a:tbl>
              <a:tblPr firstRow="1" bandRow="1">
                <a:tableStyleId>{5940675A-B579-460E-94D1-54222C63F5DA}</a:tableStyleId>
              </a:tblPr>
              <a:tblGrid>
                <a:gridCol w="457203">
                  <a:extLst>
                    <a:ext uri="{9D8B030D-6E8A-4147-A177-3AD203B41FA5}">
                      <a16:colId xmlns:a16="http://schemas.microsoft.com/office/drawing/2014/main" val="20000"/>
                    </a:ext>
                  </a:extLst>
                </a:gridCol>
                <a:gridCol w="990600">
                  <a:extLst>
                    <a:ext uri="{9D8B030D-6E8A-4147-A177-3AD203B41FA5}">
                      <a16:colId xmlns:a16="http://schemas.microsoft.com/office/drawing/2014/main" val="20001"/>
                    </a:ext>
                  </a:extLst>
                </a:gridCol>
                <a:gridCol w="838200">
                  <a:extLst>
                    <a:ext uri="{9D8B030D-6E8A-4147-A177-3AD203B41FA5}">
                      <a16:colId xmlns:a16="http://schemas.microsoft.com/office/drawing/2014/main" val="20002"/>
                    </a:ext>
                  </a:extLst>
                </a:gridCol>
                <a:gridCol w="762000">
                  <a:extLst>
                    <a:ext uri="{9D8B030D-6E8A-4147-A177-3AD203B41FA5}">
                      <a16:colId xmlns:a16="http://schemas.microsoft.com/office/drawing/2014/main" val="20003"/>
                    </a:ext>
                  </a:extLst>
                </a:gridCol>
                <a:gridCol w="1959427">
                  <a:extLst>
                    <a:ext uri="{9D8B030D-6E8A-4147-A177-3AD203B41FA5}">
                      <a16:colId xmlns:a16="http://schemas.microsoft.com/office/drawing/2014/main" val="20004"/>
                    </a:ext>
                  </a:extLst>
                </a:gridCol>
                <a:gridCol w="555173">
                  <a:extLst>
                    <a:ext uri="{9D8B030D-6E8A-4147-A177-3AD203B41FA5}">
                      <a16:colId xmlns:a16="http://schemas.microsoft.com/office/drawing/2014/main" val="20005"/>
                    </a:ext>
                  </a:extLst>
                </a:gridCol>
                <a:gridCol w="1447799">
                  <a:extLst>
                    <a:ext uri="{9D8B030D-6E8A-4147-A177-3AD203B41FA5}">
                      <a16:colId xmlns:a16="http://schemas.microsoft.com/office/drawing/2014/main" val="20006"/>
                    </a:ext>
                  </a:extLst>
                </a:gridCol>
              </a:tblGrid>
              <a:tr h="2966720">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10000"/>
                  </a:ext>
                </a:extLst>
              </a:tr>
            </a:tbl>
          </a:graphicData>
        </a:graphic>
      </p:graphicFrame>
      <p:sp>
        <p:nvSpPr>
          <p:cNvPr id="56" name="TextBox 55">
            <a:extLst>
              <a:ext uri="{FF2B5EF4-FFF2-40B4-BE49-F238E27FC236}">
                <a16:creationId xmlns:a16="http://schemas.microsoft.com/office/drawing/2014/main" id="{2C8CDE9E-4993-C13C-1782-988CDDA25D26}"/>
              </a:ext>
            </a:extLst>
          </p:cNvPr>
          <p:cNvSpPr txBox="1"/>
          <p:nvPr/>
        </p:nvSpPr>
        <p:spPr>
          <a:xfrm>
            <a:off x="547435" y="1433770"/>
            <a:ext cx="304800" cy="400110"/>
          </a:xfrm>
          <a:prstGeom prst="rect">
            <a:avLst/>
          </a:prstGeom>
          <a:noFill/>
        </p:spPr>
        <p:txBody>
          <a:bodyPr wrap="square" rtlCol="0">
            <a:spAutoFit/>
          </a:bodyPr>
          <a:lstStyle/>
          <a:p>
            <a:pPr algn="ctr"/>
            <a:r>
              <a:rPr lang="en-US" sz="2000" dirty="0">
                <a:solidFill>
                  <a:srgbClr val="212121"/>
                </a:solidFill>
              </a:rPr>
              <a:t>0</a:t>
            </a:r>
            <a:endParaRPr lang="en-IN" dirty="0">
              <a:solidFill>
                <a:srgbClr val="212121"/>
              </a:solidFill>
            </a:endParaRPr>
          </a:p>
        </p:txBody>
      </p:sp>
      <p:sp>
        <p:nvSpPr>
          <p:cNvPr id="57" name="TextBox 56">
            <a:extLst>
              <a:ext uri="{FF2B5EF4-FFF2-40B4-BE49-F238E27FC236}">
                <a16:creationId xmlns:a16="http://schemas.microsoft.com/office/drawing/2014/main" id="{0F946DBE-BF3D-CB53-7026-C0B8B794D681}"/>
              </a:ext>
            </a:extLst>
          </p:cNvPr>
          <p:cNvSpPr txBox="1"/>
          <p:nvPr/>
        </p:nvSpPr>
        <p:spPr>
          <a:xfrm>
            <a:off x="914400" y="1447800"/>
            <a:ext cx="304800" cy="400110"/>
          </a:xfrm>
          <a:prstGeom prst="rect">
            <a:avLst/>
          </a:prstGeom>
          <a:noFill/>
        </p:spPr>
        <p:txBody>
          <a:bodyPr wrap="square" rtlCol="0">
            <a:spAutoFit/>
          </a:bodyPr>
          <a:lstStyle/>
          <a:p>
            <a:pPr algn="ctr"/>
            <a:r>
              <a:rPr lang="en-US" sz="2000" dirty="0">
                <a:solidFill>
                  <a:srgbClr val="212121"/>
                </a:solidFill>
              </a:rPr>
              <a:t>1</a:t>
            </a:r>
            <a:endParaRPr lang="en-IN" dirty="0">
              <a:solidFill>
                <a:srgbClr val="212121"/>
              </a:solidFill>
            </a:endParaRPr>
          </a:p>
        </p:txBody>
      </p:sp>
      <p:sp>
        <p:nvSpPr>
          <p:cNvPr id="58" name="TextBox 57">
            <a:extLst>
              <a:ext uri="{FF2B5EF4-FFF2-40B4-BE49-F238E27FC236}">
                <a16:creationId xmlns:a16="http://schemas.microsoft.com/office/drawing/2014/main" id="{71F45A60-8998-532C-D485-8E62609013D9}"/>
              </a:ext>
            </a:extLst>
          </p:cNvPr>
          <p:cNvSpPr txBox="1"/>
          <p:nvPr/>
        </p:nvSpPr>
        <p:spPr>
          <a:xfrm>
            <a:off x="1905000" y="1439315"/>
            <a:ext cx="304800" cy="400110"/>
          </a:xfrm>
          <a:prstGeom prst="rect">
            <a:avLst/>
          </a:prstGeom>
          <a:noFill/>
        </p:spPr>
        <p:txBody>
          <a:bodyPr wrap="square" rtlCol="0">
            <a:spAutoFit/>
          </a:bodyPr>
          <a:lstStyle/>
          <a:p>
            <a:pPr algn="ctr"/>
            <a:r>
              <a:rPr lang="en-US" sz="2000" dirty="0">
                <a:solidFill>
                  <a:srgbClr val="212121"/>
                </a:solidFill>
              </a:rPr>
              <a:t>9</a:t>
            </a:r>
            <a:endParaRPr lang="en-IN" dirty="0">
              <a:solidFill>
                <a:srgbClr val="212121"/>
              </a:solidFill>
            </a:endParaRPr>
          </a:p>
        </p:txBody>
      </p:sp>
      <p:sp>
        <p:nvSpPr>
          <p:cNvPr id="59" name="TextBox 58">
            <a:extLst>
              <a:ext uri="{FF2B5EF4-FFF2-40B4-BE49-F238E27FC236}">
                <a16:creationId xmlns:a16="http://schemas.microsoft.com/office/drawing/2014/main" id="{AEC8EB6D-1F37-FEE8-D7C6-6C63412C9522}"/>
              </a:ext>
            </a:extLst>
          </p:cNvPr>
          <p:cNvSpPr txBox="1"/>
          <p:nvPr/>
        </p:nvSpPr>
        <p:spPr>
          <a:xfrm>
            <a:off x="2670372" y="1433770"/>
            <a:ext cx="468503" cy="400110"/>
          </a:xfrm>
          <a:prstGeom prst="rect">
            <a:avLst/>
          </a:prstGeom>
          <a:noFill/>
        </p:spPr>
        <p:txBody>
          <a:bodyPr wrap="square" rtlCol="0">
            <a:spAutoFit/>
          </a:bodyPr>
          <a:lstStyle/>
          <a:p>
            <a:pPr algn="ctr"/>
            <a:r>
              <a:rPr lang="en-US" sz="2000" dirty="0">
                <a:solidFill>
                  <a:srgbClr val="212121"/>
                </a:solidFill>
              </a:rPr>
              <a:t>12</a:t>
            </a:r>
            <a:endParaRPr lang="en-IN" dirty="0">
              <a:solidFill>
                <a:srgbClr val="212121"/>
              </a:solidFill>
            </a:endParaRPr>
          </a:p>
        </p:txBody>
      </p:sp>
      <p:sp>
        <p:nvSpPr>
          <p:cNvPr id="60" name="TextBox 59">
            <a:extLst>
              <a:ext uri="{FF2B5EF4-FFF2-40B4-BE49-F238E27FC236}">
                <a16:creationId xmlns:a16="http://schemas.microsoft.com/office/drawing/2014/main" id="{E57B31F0-9A5B-2B58-E660-F91D2B58FB37}"/>
              </a:ext>
            </a:extLst>
          </p:cNvPr>
          <p:cNvSpPr txBox="1"/>
          <p:nvPr/>
        </p:nvSpPr>
        <p:spPr>
          <a:xfrm>
            <a:off x="3412955" y="1433770"/>
            <a:ext cx="502687" cy="400110"/>
          </a:xfrm>
          <a:prstGeom prst="rect">
            <a:avLst/>
          </a:prstGeom>
          <a:noFill/>
        </p:spPr>
        <p:txBody>
          <a:bodyPr wrap="square" rtlCol="0">
            <a:spAutoFit/>
          </a:bodyPr>
          <a:lstStyle/>
          <a:p>
            <a:pPr algn="ctr"/>
            <a:r>
              <a:rPr lang="en-US" sz="2000" dirty="0">
                <a:solidFill>
                  <a:srgbClr val="212121"/>
                </a:solidFill>
              </a:rPr>
              <a:t>16</a:t>
            </a:r>
            <a:endParaRPr lang="en-IN" dirty="0">
              <a:solidFill>
                <a:srgbClr val="212121"/>
              </a:solidFill>
            </a:endParaRPr>
          </a:p>
        </p:txBody>
      </p:sp>
      <p:sp>
        <p:nvSpPr>
          <p:cNvPr id="61" name="TextBox 60">
            <a:extLst>
              <a:ext uri="{FF2B5EF4-FFF2-40B4-BE49-F238E27FC236}">
                <a16:creationId xmlns:a16="http://schemas.microsoft.com/office/drawing/2014/main" id="{C9648E42-D0F0-78A8-5B41-1FDF59FC0DC6}"/>
              </a:ext>
            </a:extLst>
          </p:cNvPr>
          <p:cNvSpPr txBox="1"/>
          <p:nvPr/>
        </p:nvSpPr>
        <p:spPr>
          <a:xfrm>
            <a:off x="5378116" y="1447800"/>
            <a:ext cx="485273" cy="400110"/>
          </a:xfrm>
          <a:prstGeom prst="rect">
            <a:avLst/>
          </a:prstGeom>
          <a:noFill/>
        </p:spPr>
        <p:txBody>
          <a:bodyPr wrap="square" rtlCol="0">
            <a:spAutoFit/>
          </a:bodyPr>
          <a:lstStyle/>
          <a:p>
            <a:pPr algn="ctr"/>
            <a:r>
              <a:rPr lang="en-US" sz="2000" dirty="0">
                <a:solidFill>
                  <a:srgbClr val="212121"/>
                </a:solidFill>
              </a:rPr>
              <a:t>34</a:t>
            </a:r>
            <a:endParaRPr lang="en-IN" dirty="0">
              <a:solidFill>
                <a:srgbClr val="212121"/>
              </a:solidFill>
            </a:endParaRPr>
          </a:p>
        </p:txBody>
      </p:sp>
      <p:sp>
        <p:nvSpPr>
          <p:cNvPr id="62" name="TextBox 61">
            <a:extLst>
              <a:ext uri="{FF2B5EF4-FFF2-40B4-BE49-F238E27FC236}">
                <a16:creationId xmlns:a16="http://schemas.microsoft.com/office/drawing/2014/main" id="{49939579-B620-DF98-B70C-ABF3F01D6837}"/>
              </a:ext>
            </a:extLst>
          </p:cNvPr>
          <p:cNvSpPr txBox="1"/>
          <p:nvPr/>
        </p:nvSpPr>
        <p:spPr>
          <a:xfrm>
            <a:off x="5964654" y="1440785"/>
            <a:ext cx="448178" cy="400110"/>
          </a:xfrm>
          <a:prstGeom prst="rect">
            <a:avLst/>
          </a:prstGeom>
          <a:noFill/>
        </p:spPr>
        <p:txBody>
          <a:bodyPr wrap="square" rtlCol="0">
            <a:spAutoFit/>
          </a:bodyPr>
          <a:lstStyle/>
          <a:p>
            <a:pPr algn="ctr"/>
            <a:r>
              <a:rPr lang="en-US" sz="2000" dirty="0">
                <a:solidFill>
                  <a:srgbClr val="212121"/>
                </a:solidFill>
              </a:rPr>
              <a:t>36</a:t>
            </a:r>
            <a:endParaRPr lang="en-IN" dirty="0">
              <a:solidFill>
                <a:srgbClr val="212121"/>
              </a:solidFill>
            </a:endParaRPr>
          </a:p>
        </p:txBody>
      </p:sp>
      <p:sp>
        <p:nvSpPr>
          <p:cNvPr id="63" name="TextBox 62">
            <a:extLst>
              <a:ext uri="{FF2B5EF4-FFF2-40B4-BE49-F238E27FC236}">
                <a16:creationId xmlns:a16="http://schemas.microsoft.com/office/drawing/2014/main" id="{ED08EC5D-AB7E-6D5D-4E35-38EB1B4D4420}"/>
              </a:ext>
            </a:extLst>
          </p:cNvPr>
          <p:cNvSpPr txBox="1"/>
          <p:nvPr/>
        </p:nvSpPr>
        <p:spPr>
          <a:xfrm>
            <a:off x="7325863" y="1440785"/>
            <a:ext cx="568216" cy="400110"/>
          </a:xfrm>
          <a:prstGeom prst="rect">
            <a:avLst/>
          </a:prstGeom>
          <a:noFill/>
        </p:spPr>
        <p:txBody>
          <a:bodyPr wrap="square" rtlCol="0">
            <a:spAutoFit/>
          </a:bodyPr>
          <a:lstStyle/>
          <a:p>
            <a:pPr algn="ctr"/>
            <a:r>
              <a:rPr lang="en-US" sz="2000" dirty="0">
                <a:solidFill>
                  <a:srgbClr val="212121"/>
                </a:solidFill>
              </a:rPr>
              <a:t>50</a:t>
            </a:r>
            <a:endParaRPr lang="en-IN" dirty="0">
              <a:solidFill>
                <a:srgbClr val="212121"/>
              </a:solidFill>
            </a:endParaRPr>
          </a:p>
        </p:txBody>
      </p:sp>
      <p:cxnSp>
        <p:nvCxnSpPr>
          <p:cNvPr id="64" name="Straight Connector 63">
            <a:extLst>
              <a:ext uri="{FF2B5EF4-FFF2-40B4-BE49-F238E27FC236}">
                <a16:creationId xmlns:a16="http://schemas.microsoft.com/office/drawing/2014/main" id="{43EDA743-29F2-6A40-2ABB-5F576B2DE622}"/>
              </a:ext>
            </a:extLst>
          </p:cNvPr>
          <p:cNvCxnSpPr/>
          <p:nvPr/>
        </p:nvCxnSpPr>
        <p:spPr>
          <a:xfrm flipH="1" flipV="1">
            <a:off x="2470484" y="2197768"/>
            <a:ext cx="431150" cy="393032"/>
          </a:xfrm>
          <a:prstGeom prst="line">
            <a:avLst/>
          </a:prstGeom>
        </p:spPr>
        <p:style>
          <a:lnRef idx="3">
            <a:schemeClr val="dk1"/>
          </a:lnRef>
          <a:fillRef idx="0">
            <a:schemeClr val="dk1"/>
          </a:fillRef>
          <a:effectRef idx="2">
            <a:schemeClr val="dk1"/>
          </a:effectRef>
          <a:fontRef idx="minor">
            <a:schemeClr val="tx1"/>
          </a:fontRef>
        </p:style>
      </p:cxnSp>
      <p:cxnSp>
        <p:nvCxnSpPr>
          <p:cNvPr id="65" name="Straight Connector 64">
            <a:extLst>
              <a:ext uri="{FF2B5EF4-FFF2-40B4-BE49-F238E27FC236}">
                <a16:creationId xmlns:a16="http://schemas.microsoft.com/office/drawing/2014/main" id="{F93EDD51-89B6-CC50-BD6A-C2833AE18CCB}"/>
              </a:ext>
            </a:extLst>
          </p:cNvPr>
          <p:cNvCxnSpPr/>
          <p:nvPr/>
        </p:nvCxnSpPr>
        <p:spPr>
          <a:xfrm>
            <a:off x="3664298" y="2941362"/>
            <a:ext cx="1947718" cy="377208"/>
          </a:xfrm>
          <a:prstGeom prst="line">
            <a:avLst/>
          </a:prstGeom>
        </p:spPr>
        <p:style>
          <a:lnRef idx="3">
            <a:schemeClr val="dk1"/>
          </a:lnRef>
          <a:fillRef idx="0">
            <a:schemeClr val="dk1"/>
          </a:fillRef>
          <a:effectRef idx="2">
            <a:schemeClr val="dk1"/>
          </a:effectRef>
          <a:fontRef idx="minor">
            <a:schemeClr val="tx1"/>
          </a:fontRef>
        </p:style>
      </p:cxnSp>
      <p:cxnSp>
        <p:nvCxnSpPr>
          <p:cNvPr id="66" name="Straight Connector 65">
            <a:extLst>
              <a:ext uri="{FF2B5EF4-FFF2-40B4-BE49-F238E27FC236}">
                <a16:creationId xmlns:a16="http://schemas.microsoft.com/office/drawing/2014/main" id="{B7B4E0A3-5E46-1672-1D89-10C3F769474F}"/>
              </a:ext>
            </a:extLst>
          </p:cNvPr>
          <p:cNvCxnSpPr/>
          <p:nvPr/>
        </p:nvCxnSpPr>
        <p:spPr>
          <a:xfrm flipH="1" flipV="1">
            <a:off x="5612016" y="3329378"/>
            <a:ext cx="568652" cy="389712"/>
          </a:xfrm>
          <a:prstGeom prst="line">
            <a:avLst/>
          </a:prstGeom>
        </p:spPr>
        <p:style>
          <a:lnRef idx="3">
            <a:schemeClr val="dk1"/>
          </a:lnRef>
          <a:fillRef idx="0">
            <a:schemeClr val="dk1"/>
          </a:fillRef>
          <a:effectRef idx="2">
            <a:schemeClr val="dk1"/>
          </a:effectRef>
          <a:fontRef idx="minor">
            <a:schemeClr val="tx1"/>
          </a:fontRef>
        </p:style>
      </p:cxnSp>
      <p:cxnSp>
        <p:nvCxnSpPr>
          <p:cNvPr id="67" name="Straight Connector 66">
            <a:extLst>
              <a:ext uri="{FF2B5EF4-FFF2-40B4-BE49-F238E27FC236}">
                <a16:creationId xmlns:a16="http://schemas.microsoft.com/office/drawing/2014/main" id="{34CE10A7-893C-4606-EA1A-8F69C328475E}"/>
              </a:ext>
            </a:extLst>
          </p:cNvPr>
          <p:cNvCxnSpPr/>
          <p:nvPr/>
        </p:nvCxnSpPr>
        <p:spPr>
          <a:xfrm flipV="1">
            <a:off x="2057402" y="4038600"/>
            <a:ext cx="5562598" cy="397168"/>
          </a:xfrm>
          <a:prstGeom prst="line">
            <a:avLst/>
          </a:prstGeom>
        </p:spPr>
        <p:style>
          <a:lnRef idx="3">
            <a:schemeClr val="dk1"/>
          </a:lnRef>
          <a:fillRef idx="0">
            <a:schemeClr val="dk1"/>
          </a:fillRef>
          <a:effectRef idx="2">
            <a:schemeClr val="dk1"/>
          </a:effectRef>
          <a:fontRef idx="minor">
            <a:schemeClr val="tx1"/>
          </a:fontRef>
        </p:style>
      </p:cxnSp>
      <p:cxnSp>
        <p:nvCxnSpPr>
          <p:cNvPr id="68" name="Straight Connector 67">
            <a:extLst>
              <a:ext uri="{FF2B5EF4-FFF2-40B4-BE49-F238E27FC236}">
                <a16:creationId xmlns:a16="http://schemas.microsoft.com/office/drawing/2014/main" id="{20EDAA35-7D86-D772-C52A-A94B9C2DE763}"/>
              </a:ext>
            </a:extLst>
          </p:cNvPr>
          <p:cNvCxnSpPr/>
          <p:nvPr/>
        </p:nvCxnSpPr>
        <p:spPr>
          <a:xfrm flipH="1">
            <a:off x="1066800" y="4435768"/>
            <a:ext cx="990602" cy="341972"/>
          </a:xfrm>
          <a:prstGeom prst="line">
            <a:avLst/>
          </a:prstGeom>
        </p:spPr>
        <p:style>
          <a:lnRef idx="3">
            <a:schemeClr val="dk1"/>
          </a:lnRef>
          <a:fillRef idx="0">
            <a:schemeClr val="dk1"/>
          </a:fillRef>
          <a:effectRef idx="2">
            <a:schemeClr val="dk1"/>
          </a:effectRef>
          <a:fontRef idx="minor">
            <a:schemeClr val="tx1"/>
          </a:fontRef>
        </p:style>
      </p:cxnSp>
      <p:sp>
        <p:nvSpPr>
          <p:cNvPr id="69" name="TextBox 68">
            <a:extLst>
              <a:ext uri="{FF2B5EF4-FFF2-40B4-BE49-F238E27FC236}">
                <a16:creationId xmlns:a16="http://schemas.microsoft.com/office/drawing/2014/main" id="{6C2F67B5-2F31-09BE-BE0B-B5D28016076C}"/>
              </a:ext>
            </a:extLst>
          </p:cNvPr>
          <p:cNvSpPr txBox="1"/>
          <p:nvPr/>
        </p:nvSpPr>
        <p:spPr>
          <a:xfrm>
            <a:off x="2265672" y="1826802"/>
            <a:ext cx="468503" cy="400110"/>
          </a:xfrm>
          <a:prstGeom prst="rect">
            <a:avLst/>
          </a:prstGeom>
          <a:noFill/>
        </p:spPr>
        <p:txBody>
          <a:bodyPr wrap="square" rtlCol="0">
            <a:spAutoFit/>
          </a:bodyPr>
          <a:lstStyle/>
          <a:p>
            <a:pPr algn="ctr"/>
            <a:r>
              <a:rPr lang="en-US" sz="2000" dirty="0">
                <a:solidFill>
                  <a:srgbClr val="212121"/>
                </a:solidFill>
              </a:rPr>
              <a:t>11</a:t>
            </a:r>
            <a:endParaRPr lang="en-IN" dirty="0">
              <a:solidFill>
                <a:srgbClr val="212121"/>
              </a:solidFill>
            </a:endParaRPr>
          </a:p>
        </p:txBody>
      </p:sp>
      <p:sp>
        <p:nvSpPr>
          <p:cNvPr id="70" name="TextBox 69">
            <a:extLst>
              <a:ext uri="{FF2B5EF4-FFF2-40B4-BE49-F238E27FC236}">
                <a16:creationId xmlns:a16="http://schemas.microsoft.com/office/drawing/2014/main" id="{5BABEE36-EDAE-9BF4-9783-BEEE01BA3A21}"/>
              </a:ext>
            </a:extLst>
          </p:cNvPr>
          <p:cNvSpPr txBox="1"/>
          <p:nvPr/>
        </p:nvSpPr>
        <p:spPr>
          <a:xfrm>
            <a:off x="765811" y="4476690"/>
            <a:ext cx="304800" cy="400110"/>
          </a:xfrm>
          <a:prstGeom prst="rect">
            <a:avLst/>
          </a:prstGeom>
          <a:noFill/>
        </p:spPr>
        <p:txBody>
          <a:bodyPr wrap="square" rtlCol="0">
            <a:spAutoFit/>
          </a:bodyPr>
          <a:lstStyle/>
          <a:p>
            <a:pPr algn="ctr"/>
            <a:r>
              <a:rPr lang="en-US" sz="2000" dirty="0">
                <a:solidFill>
                  <a:srgbClr val="212121"/>
                </a:solidFill>
              </a:rPr>
              <a:t>1</a:t>
            </a:r>
            <a:endParaRPr lang="en-IN" dirty="0">
              <a:solidFill>
                <a:srgbClr val="212121"/>
              </a:solidFill>
            </a:endParaRPr>
          </a:p>
        </p:txBody>
      </p:sp>
      <p:sp>
        <p:nvSpPr>
          <p:cNvPr id="71" name="TextBox 70">
            <a:extLst>
              <a:ext uri="{FF2B5EF4-FFF2-40B4-BE49-F238E27FC236}">
                <a16:creationId xmlns:a16="http://schemas.microsoft.com/office/drawing/2014/main" id="{C0E7576D-07D6-ED78-253A-E04B5794822F}"/>
              </a:ext>
            </a:extLst>
          </p:cNvPr>
          <p:cNvSpPr txBox="1"/>
          <p:nvPr/>
        </p:nvSpPr>
        <p:spPr>
          <a:xfrm>
            <a:off x="5574669" y="2967910"/>
            <a:ext cx="485273" cy="400110"/>
          </a:xfrm>
          <a:prstGeom prst="rect">
            <a:avLst/>
          </a:prstGeom>
          <a:noFill/>
        </p:spPr>
        <p:txBody>
          <a:bodyPr wrap="square" rtlCol="0">
            <a:spAutoFit/>
          </a:bodyPr>
          <a:lstStyle/>
          <a:p>
            <a:pPr algn="ctr"/>
            <a:r>
              <a:rPr lang="en-US" sz="2000" dirty="0">
                <a:solidFill>
                  <a:srgbClr val="212121"/>
                </a:solidFill>
              </a:rPr>
              <a:t>34</a:t>
            </a:r>
            <a:endParaRPr lang="en-IN" dirty="0">
              <a:solidFill>
                <a:srgbClr val="212121"/>
              </a:solidFill>
            </a:endParaRPr>
          </a:p>
        </p:txBody>
      </p:sp>
      <p:sp>
        <p:nvSpPr>
          <p:cNvPr id="72" name="TextBox 71">
            <a:extLst>
              <a:ext uri="{FF2B5EF4-FFF2-40B4-BE49-F238E27FC236}">
                <a16:creationId xmlns:a16="http://schemas.microsoft.com/office/drawing/2014/main" id="{CC38B7A1-002E-BAD1-71A6-2C075BC39A1E}"/>
              </a:ext>
            </a:extLst>
          </p:cNvPr>
          <p:cNvSpPr txBox="1"/>
          <p:nvPr/>
        </p:nvSpPr>
        <p:spPr>
          <a:xfrm>
            <a:off x="6150400" y="3408452"/>
            <a:ext cx="448178" cy="400110"/>
          </a:xfrm>
          <a:prstGeom prst="rect">
            <a:avLst/>
          </a:prstGeom>
          <a:noFill/>
        </p:spPr>
        <p:txBody>
          <a:bodyPr wrap="square" rtlCol="0">
            <a:spAutoFit/>
          </a:bodyPr>
          <a:lstStyle/>
          <a:p>
            <a:pPr algn="ctr"/>
            <a:r>
              <a:rPr lang="en-US" sz="2000" dirty="0">
                <a:solidFill>
                  <a:srgbClr val="212121"/>
                </a:solidFill>
              </a:rPr>
              <a:t>36</a:t>
            </a:r>
            <a:endParaRPr lang="en-IN" dirty="0">
              <a:solidFill>
                <a:srgbClr val="212121"/>
              </a:solidFill>
            </a:endParaRPr>
          </a:p>
        </p:txBody>
      </p:sp>
      <p:sp>
        <p:nvSpPr>
          <p:cNvPr id="73" name="TextBox 72">
            <a:extLst>
              <a:ext uri="{FF2B5EF4-FFF2-40B4-BE49-F238E27FC236}">
                <a16:creationId xmlns:a16="http://schemas.microsoft.com/office/drawing/2014/main" id="{DA9B0934-25A4-7C7C-E932-C988437F3849}"/>
              </a:ext>
            </a:extLst>
          </p:cNvPr>
          <p:cNvSpPr txBox="1"/>
          <p:nvPr/>
        </p:nvSpPr>
        <p:spPr>
          <a:xfrm>
            <a:off x="1794511" y="4095690"/>
            <a:ext cx="304800" cy="400110"/>
          </a:xfrm>
          <a:prstGeom prst="rect">
            <a:avLst/>
          </a:prstGeom>
          <a:noFill/>
        </p:spPr>
        <p:txBody>
          <a:bodyPr wrap="square" rtlCol="0">
            <a:spAutoFit/>
          </a:bodyPr>
          <a:lstStyle/>
          <a:p>
            <a:pPr algn="ctr"/>
            <a:r>
              <a:rPr lang="en-US" sz="2000" dirty="0">
                <a:solidFill>
                  <a:srgbClr val="212121"/>
                </a:solidFill>
              </a:rPr>
              <a:t>9</a:t>
            </a:r>
            <a:endParaRPr lang="en-IN" dirty="0">
              <a:solidFill>
                <a:srgbClr val="212121"/>
              </a:solidFill>
            </a:endParaRPr>
          </a:p>
        </p:txBody>
      </p:sp>
      <p:sp>
        <p:nvSpPr>
          <p:cNvPr id="74" name="TextBox 73">
            <a:extLst>
              <a:ext uri="{FF2B5EF4-FFF2-40B4-BE49-F238E27FC236}">
                <a16:creationId xmlns:a16="http://schemas.microsoft.com/office/drawing/2014/main" id="{3579011F-437C-CA31-3CA4-26680C6B3F0A}"/>
              </a:ext>
            </a:extLst>
          </p:cNvPr>
          <p:cNvSpPr txBox="1"/>
          <p:nvPr/>
        </p:nvSpPr>
        <p:spPr>
          <a:xfrm>
            <a:off x="2855721" y="2238314"/>
            <a:ext cx="468503" cy="400110"/>
          </a:xfrm>
          <a:prstGeom prst="rect">
            <a:avLst/>
          </a:prstGeom>
          <a:noFill/>
        </p:spPr>
        <p:txBody>
          <a:bodyPr wrap="square" rtlCol="0">
            <a:spAutoFit/>
          </a:bodyPr>
          <a:lstStyle/>
          <a:p>
            <a:pPr algn="ctr"/>
            <a:r>
              <a:rPr lang="en-US" sz="2000" dirty="0">
                <a:solidFill>
                  <a:srgbClr val="212121"/>
                </a:solidFill>
              </a:rPr>
              <a:t>12</a:t>
            </a:r>
            <a:endParaRPr lang="en-IN" dirty="0">
              <a:solidFill>
                <a:srgbClr val="212121"/>
              </a:solidFill>
            </a:endParaRPr>
          </a:p>
        </p:txBody>
      </p:sp>
      <p:sp>
        <p:nvSpPr>
          <p:cNvPr id="75" name="TextBox 74">
            <a:extLst>
              <a:ext uri="{FF2B5EF4-FFF2-40B4-BE49-F238E27FC236}">
                <a16:creationId xmlns:a16="http://schemas.microsoft.com/office/drawing/2014/main" id="{F3A82036-A47B-B892-612A-B834159186EC}"/>
              </a:ext>
            </a:extLst>
          </p:cNvPr>
          <p:cNvSpPr txBox="1"/>
          <p:nvPr/>
        </p:nvSpPr>
        <p:spPr>
          <a:xfrm>
            <a:off x="3599075" y="2580947"/>
            <a:ext cx="502687" cy="400110"/>
          </a:xfrm>
          <a:prstGeom prst="rect">
            <a:avLst/>
          </a:prstGeom>
          <a:noFill/>
        </p:spPr>
        <p:txBody>
          <a:bodyPr wrap="square" rtlCol="0">
            <a:spAutoFit/>
          </a:bodyPr>
          <a:lstStyle/>
          <a:p>
            <a:pPr algn="ctr"/>
            <a:r>
              <a:rPr lang="en-US" sz="2000" dirty="0">
                <a:solidFill>
                  <a:srgbClr val="212121"/>
                </a:solidFill>
              </a:rPr>
              <a:t>16</a:t>
            </a:r>
            <a:endParaRPr lang="en-IN" dirty="0">
              <a:solidFill>
                <a:srgbClr val="212121"/>
              </a:solidFill>
            </a:endParaRPr>
          </a:p>
        </p:txBody>
      </p:sp>
      <p:cxnSp>
        <p:nvCxnSpPr>
          <p:cNvPr id="76" name="Straight Connector 75">
            <a:extLst>
              <a:ext uri="{FF2B5EF4-FFF2-40B4-BE49-F238E27FC236}">
                <a16:creationId xmlns:a16="http://schemas.microsoft.com/office/drawing/2014/main" id="{1C7C0487-25E6-1C6B-9280-A28C5F3689D3}"/>
              </a:ext>
            </a:extLst>
          </p:cNvPr>
          <p:cNvCxnSpPr/>
          <p:nvPr/>
        </p:nvCxnSpPr>
        <p:spPr>
          <a:xfrm>
            <a:off x="2901634" y="2590800"/>
            <a:ext cx="762664" cy="350560"/>
          </a:xfrm>
          <a:prstGeom prst="line">
            <a:avLst/>
          </a:prstGeom>
        </p:spPr>
        <p:style>
          <a:lnRef idx="3">
            <a:schemeClr val="dk1"/>
          </a:lnRef>
          <a:fillRef idx="0">
            <a:schemeClr val="dk1"/>
          </a:fillRef>
          <a:effectRef idx="2">
            <a:schemeClr val="dk1"/>
          </a:effectRef>
          <a:fontRef idx="minor">
            <a:schemeClr val="tx1"/>
          </a:fontRef>
        </p:style>
      </p:cxnSp>
      <p:cxnSp>
        <p:nvCxnSpPr>
          <p:cNvPr id="77" name="Straight Connector 76">
            <a:extLst>
              <a:ext uri="{FF2B5EF4-FFF2-40B4-BE49-F238E27FC236}">
                <a16:creationId xmlns:a16="http://schemas.microsoft.com/office/drawing/2014/main" id="{BD27F9AE-4FF1-0AC5-5854-669158AA526D}"/>
              </a:ext>
            </a:extLst>
          </p:cNvPr>
          <p:cNvCxnSpPr/>
          <p:nvPr/>
        </p:nvCxnSpPr>
        <p:spPr>
          <a:xfrm flipH="1" flipV="1">
            <a:off x="6180668" y="3719090"/>
            <a:ext cx="1429303" cy="312496"/>
          </a:xfrm>
          <a:prstGeom prst="line">
            <a:avLst/>
          </a:prstGeom>
        </p:spPr>
        <p:style>
          <a:lnRef idx="3">
            <a:schemeClr val="dk1"/>
          </a:lnRef>
          <a:fillRef idx="0">
            <a:schemeClr val="dk1"/>
          </a:fillRef>
          <a:effectRef idx="2">
            <a:schemeClr val="dk1"/>
          </a:effectRef>
          <a:fontRef idx="minor">
            <a:schemeClr val="tx1"/>
          </a:fontRef>
        </p:style>
      </p:cxnSp>
      <p:sp>
        <p:nvSpPr>
          <p:cNvPr id="78" name="TextBox 77">
            <a:extLst>
              <a:ext uri="{FF2B5EF4-FFF2-40B4-BE49-F238E27FC236}">
                <a16:creationId xmlns:a16="http://schemas.microsoft.com/office/drawing/2014/main" id="{96B8D3D0-A8E1-FEB6-D392-DAE5CE9F2A6F}"/>
              </a:ext>
            </a:extLst>
          </p:cNvPr>
          <p:cNvSpPr txBox="1"/>
          <p:nvPr/>
        </p:nvSpPr>
        <p:spPr>
          <a:xfrm>
            <a:off x="7181271" y="4044661"/>
            <a:ext cx="509069" cy="400110"/>
          </a:xfrm>
          <a:prstGeom prst="rect">
            <a:avLst/>
          </a:prstGeom>
          <a:noFill/>
        </p:spPr>
        <p:txBody>
          <a:bodyPr wrap="square" rtlCol="0">
            <a:spAutoFit/>
          </a:bodyPr>
          <a:lstStyle/>
          <a:p>
            <a:pPr algn="ctr"/>
            <a:r>
              <a:rPr lang="en-US" sz="2000" dirty="0">
                <a:solidFill>
                  <a:srgbClr val="212121"/>
                </a:solidFill>
              </a:rPr>
              <a:t>50</a:t>
            </a:r>
            <a:endParaRPr lang="en-IN" dirty="0">
              <a:solidFill>
                <a:srgbClr val="212121"/>
              </a:solidFill>
            </a:endParaRPr>
          </a:p>
        </p:txBody>
      </p:sp>
    </p:spTree>
    <p:extLst>
      <p:ext uri="{BB962C8B-B14F-4D97-AF65-F5344CB8AC3E}">
        <p14:creationId xmlns:p14="http://schemas.microsoft.com/office/powerpoint/2010/main" val="1421623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3">
                                            <p:txEl>
                                              <p:pRg st="0" end="0"/>
                                            </p:txEl>
                                          </p:spTgt>
                                        </p:tgtEl>
                                        <p:attrNameLst>
                                          <p:attrName>style.visibility</p:attrName>
                                        </p:attrNameLst>
                                      </p:cBhvr>
                                      <p:to>
                                        <p:strVal val="visible"/>
                                      </p:to>
                                    </p:set>
                                    <p:animEffect transition="in" filter="fade">
                                      <p:cBhvr>
                                        <p:cTn id="7" dur="500"/>
                                        <p:tgtEl>
                                          <p:spTgt spid="5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4"/>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55"/>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56"/>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57"/>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58"/>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59"/>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60"/>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61"/>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62"/>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63"/>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69"/>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64"/>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74"/>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nodeType="clickEffect">
                                  <p:stCondLst>
                                    <p:cond delay="0"/>
                                  </p:stCondLst>
                                  <p:childTnLst>
                                    <p:set>
                                      <p:cBhvr>
                                        <p:cTn id="47" dur="1" fill="hold">
                                          <p:stCondLst>
                                            <p:cond delay="0"/>
                                          </p:stCondLst>
                                        </p:cTn>
                                        <p:tgtEl>
                                          <p:spTgt spid="76"/>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75"/>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nodeType="clickEffect">
                                  <p:stCondLst>
                                    <p:cond delay="0"/>
                                  </p:stCondLst>
                                  <p:childTnLst>
                                    <p:set>
                                      <p:cBhvr>
                                        <p:cTn id="55" dur="1" fill="hold">
                                          <p:stCondLst>
                                            <p:cond delay="0"/>
                                          </p:stCondLst>
                                        </p:cTn>
                                        <p:tgtEl>
                                          <p:spTgt spid="65"/>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71"/>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clickEffect">
                                  <p:stCondLst>
                                    <p:cond delay="0"/>
                                  </p:stCondLst>
                                  <p:childTnLst>
                                    <p:set>
                                      <p:cBhvr>
                                        <p:cTn id="63" dur="1" fill="hold">
                                          <p:stCondLst>
                                            <p:cond delay="0"/>
                                          </p:stCondLst>
                                        </p:cTn>
                                        <p:tgtEl>
                                          <p:spTgt spid="66"/>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72"/>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nodeType="clickEffect">
                                  <p:stCondLst>
                                    <p:cond delay="0"/>
                                  </p:stCondLst>
                                  <p:childTnLst>
                                    <p:set>
                                      <p:cBhvr>
                                        <p:cTn id="71" dur="1" fill="hold">
                                          <p:stCondLst>
                                            <p:cond delay="0"/>
                                          </p:stCondLst>
                                        </p:cTn>
                                        <p:tgtEl>
                                          <p:spTgt spid="77"/>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grpId="0" nodeType="clickEffect">
                                  <p:stCondLst>
                                    <p:cond delay="0"/>
                                  </p:stCondLst>
                                  <p:childTnLst>
                                    <p:set>
                                      <p:cBhvr>
                                        <p:cTn id="75" dur="1" fill="hold">
                                          <p:stCondLst>
                                            <p:cond delay="0"/>
                                          </p:stCondLst>
                                        </p:cTn>
                                        <p:tgtEl>
                                          <p:spTgt spid="78"/>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nodeType="clickEffect">
                                  <p:stCondLst>
                                    <p:cond delay="0"/>
                                  </p:stCondLst>
                                  <p:childTnLst>
                                    <p:set>
                                      <p:cBhvr>
                                        <p:cTn id="79" dur="1" fill="hold">
                                          <p:stCondLst>
                                            <p:cond delay="0"/>
                                          </p:stCondLst>
                                        </p:cTn>
                                        <p:tgtEl>
                                          <p:spTgt spid="67"/>
                                        </p:tgtEl>
                                        <p:attrNameLst>
                                          <p:attrName>style.visibility</p:attrName>
                                        </p:attrNameLst>
                                      </p:cBhvr>
                                      <p:to>
                                        <p:strVal val="visible"/>
                                      </p:to>
                                    </p:se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grpId="0" nodeType="clickEffect">
                                  <p:stCondLst>
                                    <p:cond delay="0"/>
                                  </p:stCondLst>
                                  <p:childTnLst>
                                    <p:set>
                                      <p:cBhvr>
                                        <p:cTn id="83" dur="1" fill="hold">
                                          <p:stCondLst>
                                            <p:cond delay="0"/>
                                          </p:stCondLst>
                                        </p:cTn>
                                        <p:tgtEl>
                                          <p:spTgt spid="73"/>
                                        </p:tgtEl>
                                        <p:attrNameLst>
                                          <p:attrName>style.visibility</p:attrName>
                                        </p:attrNameLst>
                                      </p:cBhvr>
                                      <p:to>
                                        <p:strVal val="visible"/>
                                      </p:to>
                                    </p:set>
                                  </p:childTnLst>
                                </p:cTn>
                              </p:par>
                            </p:childTnLst>
                          </p:cTn>
                        </p:par>
                      </p:childTnLst>
                    </p:cTn>
                  </p:par>
                  <p:par>
                    <p:cTn id="84" fill="hold">
                      <p:stCondLst>
                        <p:cond delay="indefinite"/>
                      </p:stCondLst>
                      <p:childTnLst>
                        <p:par>
                          <p:cTn id="85" fill="hold">
                            <p:stCondLst>
                              <p:cond delay="0"/>
                            </p:stCondLst>
                            <p:childTnLst>
                              <p:par>
                                <p:cTn id="86" presetID="1" presetClass="entr" presetSubtype="0" fill="hold" nodeType="clickEffect">
                                  <p:stCondLst>
                                    <p:cond delay="0"/>
                                  </p:stCondLst>
                                  <p:childTnLst>
                                    <p:set>
                                      <p:cBhvr>
                                        <p:cTn id="87" dur="1" fill="hold">
                                          <p:stCondLst>
                                            <p:cond delay="0"/>
                                          </p:stCondLst>
                                        </p:cTn>
                                        <p:tgtEl>
                                          <p:spTgt spid="68"/>
                                        </p:tgtEl>
                                        <p:attrNameLst>
                                          <p:attrName>style.visibility</p:attrName>
                                        </p:attrNameLst>
                                      </p:cBhvr>
                                      <p:to>
                                        <p:strVal val="visible"/>
                                      </p:to>
                                    </p:set>
                                  </p:childTnLst>
                                </p:cTn>
                              </p:par>
                            </p:childTnLst>
                          </p:cTn>
                        </p:par>
                      </p:childTnLst>
                    </p:cTn>
                  </p:par>
                  <p:par>
                    <p:cTn id="88" fill="hold">
                      <p:stCondLst>
                        <p:cond delay="indefinite"/>
                      </p:stCondLst>
                      <p:childTnLst>
                        <p:par>
                          <p:cTn id="89" fill="hold">
                            <p:stCondLst>
                              <p:cond delay="0"/>
                            </p:stCondLst>
                            <p:childTnLst>
                              <p:par>
                                <p:cTn id="90" presetID="1" presetClass="entr" presetSubtype="0" fill="hold" grpId="0" nodeType="clickEffect">
                                  <p:stCondLst>
                                    <p:cond delay="0"/>
                                  </p:stCondLst>
                                  <p:childTnLst>
                                    <p:set>
                                      <p:cBhvr>
                                        <p:cTn id="91" dur="1" fill="hold">
                                          <p:stCondLst>
                                            <p:cond delay="0"/>
                                          </p:stCondLst>
                                        </p:cTn>
                                        <p:tgtEl>
                                          <p:spTgt spid="70"/>
                                        </p:tgtEl>
                                        <p:attrNameLst>
                                          <p:attrName>style.visibility</p:attrName>
                                        </p:attrNameLst>
                                      </p:cBhvr>
                                      <p:to>
                                        <p:strVal val="visible"/>
                                      </p:to>
                                    </p:set>
                                  </p:childTnLst>
                                </p:cTn>
                              </p:par>
                            </p:childTnLst>
                          </p:cTn>
                        </p:par>
                      </p:childTnLst>
                    </p:cTn>
                  </p:par>
                  <p:par>
                    <p:cTn id="92" fill="hold">
                      <p:stCondLst>
                        <p:cond delay="indefinite"/>
                      </p:stCondLst>
                      <p:childTnLst>
                        <p:par>
                          <p:cTn id="93" fill="hold">
                            <p:stCondLst>
                              <p:cond delay="0"/>
                            </p:stCondLst>
                            <p:childTnLst>
                              <p:par>
                                <p:cTn id="94" presetID="10" presetClass="entr" presetSubtype="0" fill="hold" nodeType="clickEffect">
                                  <p:stCondLst>
                                    <p:cond delay="0"/>
                                  </p:stCondLst>
                                  <p:childTnLst>
                                    <p:set>
                                      <p:cBhvr>
                                        <p:cTn id="95" dur="1" fill="hold">
                                          <p:stCondLst>
                                            <p:cond delay="0"/>
                                          </p:stCondLst>
                                        </p:cTn>
                                        <p:tgtEl>
                                          <p:spTgt spid="53">
                                            <p:txEl>
                                              <p:pRg st="9" end="9"/>
                                            </p:txEl>
                                          </p:spTgt>
                                        </p:tgtEl>
                                        <p:attrNameLst>
                                          <p:attrName>style.visibility</p:attrName>
                                        </p:attrNameLst>
                                      </p:cBhvr>
                                      <p:to>
                                        <p:strVal val="visible"/>
                                      </p:to>
                                    </p:set>
                                    <p:animEffect transition="in" filter="fade">
                                      <p:cBhvr>
                                        <p:cTn id="96" dur="500"/>
                                        <p:tgtEl>
                                          <p:spTgt spid="53">
                                            <p:txEl>
                                              <p:pRg st="9" end="9"/>
                                            </p:txEl>
                                          </p:spTgt>
                                        </p:tgtEl>
                                      </p:cBhvr>
                                    </p:animEffect>
                                  </p:childTnLst>
                                </p:cTn>
                              </p:par>
                            </p:childTnLst>
                          </p:cTn>
                        </p:par>
                      </p:childTnLst>
                    </p:cTn>
                  </p:par>
                  <p:par>
                    <p:cTn id="97" fill="hold">
                      <p:stCondLst>
                        <p:cond delay="indefinite"/>
                      </p:stCondLst>
                      <p:childTnLst>
                        <p:par>
                          <p:cTn id="98" fill="hold">
                            <p:stCondLst>
                              <p:cond delay="0"/>
                            </p:stCondLst>
                            <p:childTnLst>
                              <p:par>
                                <p:cTn id="99" presetID="10" presetClass="entr" presetSubtype="0" fill="hold" nodeType="clickEffect">
                                  <p:stCondLst>
                                    <p:cond delay="0"/>
                                  </p:stCondLst>
                                  <p:childTnLst>
                                    <p:set>
                                      <p:cBhvr>
                                        <p:cTn id="100" dur="1" fill="hold">
                                          <p:stCondLst>
                                            <p:cond delay="0"/>
                                          </p:stCondLst>
                                        </p:cTn>
                                        <p:tgtEl>
                                          <p:spTgt spid="53">
                                            <p:txEl>
                                              <p:pRg st="10" end="10"/>
                                            </p:txEl>
                                          </p:spTgt>
                                        </p:tgtEl>
                                        <p:attrNameLst>
                                          <p:attrName>style.visibility</p:attrName>
                                        </p:attrNameLst>
                                      </p:cBhvr>
                                      <p:to>
                                        <p:strVal val="visible"/>
                                      </p:to>
                                    </p:set>
                                    <p:animEffect transition="in" filter="fade">
                                      <p:cBhvr>
                                        <p:cTn id="101" dur="500"/>
                                        <p:tgtEl>
                                          <p:spTgt spid="5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animBg="1"/>
      <p:bldP spid="56" grpId="0"/>
      <p:bldP spid="57" grpId="0"/>
      <p:bldP spid="58" grpId="0"/>
      <p:bldP spid="59" grpId="0"/>
      <p:bldP spid="60" grpId="0"/>
      <p:bldP spid="61" grpId="0"/>
      <p:bldP spid="62" grpId="0"/>
      <p:bldP spid="63" grpId="0"/>
      <p:bldP spid="69" grpId="0"/>
      <p:bldP spid="70" grpId="0"/>
      <p:bldP spid="71" grpId="0"/>
      <p:bldP spid="72" grpId="0"/>
      <p:bldP spid="73" grpId="0"/>
      <p:bldP spid="74" grpId="0"/>
      <p:bldP spid="75" grpId="0"/>
      <p:bldP spid="78"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463E27-37C0-41E4-B7D5-A80ADAED02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B2E707-590F-4072-4175-1F40D895BB74}"/>
              </a:ext>
            </a:extLst>
          </p:cNvPr>
          <p:cNvSpPr>
            <a:spLocks noGrp="1"/>
          </p:cNvSpPr>
          <p:nvPr>
            <p:ph type="title"/>
          </p:nvPr>
        </p:nvSpPr>
        <p:spPr>
          <a:xfrm>
            <a:off x="0" y="1"/>
            <a:ext cx="12192000" cy="711200"/>
          </a:xfrm>
        </p:spPr>
        <p:txBody>
          <a:bodyPr/>
          <a:lstStyle/>
          <a:p>
            <a:r>
              <a:rPr lang="en-US" dirty="0"/>
              <a:t>C-SCAN</a:t>
            </a:r>
          </a:p>
        </p:txBody>
      </p:sp>
      <p:sp>
        <p:nvSpPr>
          <p:cNvPr id="3" name="Content Placeholder 2">
            <a:extLst>
              <a:ext uri="{FF2B5EF4-FFF2-40B4-BE49-F238E27FC236}">
                <a16:creationId xmlns:a16="http://schemas.microsoft.com/office/drawing/2014/main" id="{D1B79A8B-FBFF-EF20-3373-E5DFB5F6EBBA}"/>
              </a:ext>
            </a:extLst>
          </p:cNvPr>
          <p:cNvSpPr>
            <a:spLocks noGrp="1"/>
          </p:cNvSpPr>
          <p:nvPr>
            <p:ph idx="1"/>
          </p:nvPr>
        </p:nvSpPr>
        <p:spPr>
          <a:xfrm>
            <a:off x="131180" y="863444"/>
            <a:ext cx="11929641" cy="5590565"/>
          </a:xfrm>
        </p:spPr>
        <p:txBody>
          <a:bodyPr/>
          <a:lstStyle/>
          <a:p>
            <a:r>
              <a:rPr lang="en-US" dirty="0"/>
              <a:t>The </a:t>
            </a:r>
            <a:r>
              <a:rPr lang="en-US" b="1" dirty="0">
                <a:solidFill>
                  <a:schemeClr val="accent6"/>
                </a:solidFill>
              </a:rPr>
              <a:t>C-SCAN</a:t>
            </a:r>
            <a:r>
              <a:rPr lang="en-US" b="1" dirty="0"/>
              <a:t> (</a:t>
            </a:r>
            <a:r>
              <a:rPr lang="en-US" dirty="0"/>
              <a:t>Circular SCAN</a:t>
            </a:r>
            <a:r>
              <a:rPr lang="en-US" b="1" dirty="0"/>
              <a:t>) </a:t>
            </a:r>
            <a:r>
              <a:rPr lang="en-US" b="1" dirty="0">
                <a:solidFill>
                  <a:schemeClr val="accent6"/>
                </a:solidFill>
              </a:rPr>
              <a:t>algorithm</a:t>
            </a:r>
            <a:r>
              <a:rPr lang="en-US" dirty="0"/>
              <a:t> processes disk requests by moving </a:t>
            </a:r>
            <a:r>
              <a:rPr lang="en-US" b="1" dirty="0">
                <a:solidFill>
                  <a:schemeClr val="accent6"/>
                </a:solidFill>
              </a:rPr>
              <a:t>upward</a:t>
            </a:r>
            <a:r>
              <a:rPr lang="en-US" dirty="0"/>
              <a:t> from the current position, serving all requests along the way until it reaches the highest request.</a:t>
            </a:r>
          </a:p>
          <a:p>
            <a:r>
              <a:rPr lang="en-US" dirty="0"/>
              <a:t>Once the arm reaches the highest request, it </a:t>
            </a:r>
            <a:r>
              <a:rPr lang="en-US" b="1" dirty="0">
                <a:solidFill>
                  <a:schemeClr val="accent6"/>
                </a:solidFill>
              </a:rPr>
              <a:t>jumps</a:t>
            </a:r>
            <a:r>
              <a:rPr lang="en-US" dirty="0"/>
              <a:t> directly to the </a:t>
            </a:r>
            <a:r>
              <a:rPr lang="en-US" b="1" dirty="0">
                <a:solidFill>
                  <a:schemeClr val="accent6"/>
                </a:solidFill>
              </a:rPr>
              <a:t>lowest cylinder </a:t>
            </a:r>
            <a:r>
              <a:rPr lang="en-US" dirty="0"/>
              <a:t>with pending requests </a:t>
            </a:r>
            <a:r>
              <a:rPr lang="en-US" b="1" dirty="0">
                <a:solidFill>
                  <a:schemeClr val="accent6"/>
                </a:solidFill>
              </a:rPr>
              <a:t>without serving any requests while moving down</a:t>
            </a:r>
            <a:r>
              <a:rPr lang="en-US" dirty="0"/>
              <a:t>.</a:t>
            </a:r>
          </a:p>
          <a:p>
            <a:r>
              <a:rPr lang="en-US" dirty="0"/>
              <a:t>From there, it continues moving </a:t>
            </a:r>
            <a:r>
              <a:rPr lang="en-US" b="1" dirty="0">
                <a:solidFill>
                  <a:schemeClr val="accent6"/>
                </a:solidFill>
              </a:rPr>
              <a:t>upward</a:t>
            </a:r>
            <a:r>
              <a:rPr lang="en-US" dirty="0"/>
              <a:t> again, following the same pattern.</a:t>
            </a:r>
          </a:p>
        </p:txBody>
      </p:sp>
    </p:spTree>
    <p:extLst>
      <p:ext uri="{BB962C8B-B14F-4D97-AF65-F5344CB8AC3E}">
        <p14:creationId xmlns:p14="http://schemas.microsoft.com/office/powerpoint/2010/main" val="860752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7E3C7C-CC92-FCFB-E9D1-30FCDAE229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7EE623-9402-C0E9-3EDC-BFD4B3091E52}"/>
              </a:ext>
            </a:extLst>
          </p:cNvPr>
          <p:cNvSpPr>
            <a:spLocks noGrp="1"/>
          </p:cNvSpPr>
          <p:nvPr>
            <p:ph type="title"/>
          </p:nvPr>
        </p:nvSpPr>
        <p:spPr>
          <a:xfrm>
            <a:off x="0" y="1"/>
            <a:ext cx="12192000" cy="711200"/>
          </a:xfrm>
        </p:spPr>
        <p:txBody>
          <a:bodyPr/>
          <a:lstStyle/>
          <a:p>
            <a:r>
              <a:rPr lang="en-US" dirty="0"/>
              <a:t>C-SCAN</a:t>
            </a:r>
          </a:p>
        </p:txBody>
      </p:sp>
      <p:sp>
        <p:nvSpPr>
          <p:cNvPr id="3" name="Content Placeholder 2">
            <a:extLst>
              <a:ext uri="{FF2B5EF4-FFF2-40B4-BE49-F238E27FC236}">
                <a16:creationId xmlns:a16="http://schemas.microsoft.com/office/drawing/2014/main" id="{401E6B02-F28B-70A1-714E-CC8F1335DC4B}"/>
              </a:ext>
            </a:extLst>
          </p:cNvPr>
          <p:cNvSpPr>
            <a:spLocks noGrp="1"/>
          </p:cNvSpPr>
          <p:nvPr>
            <p:ph idx="1"/>
          </p:nvPr>
        </p:nvSpPr>
        <p:spPr>
          <a:xfrm>
            <a:off x="131180" y="863444"/>
            <a:ext cx="11929641" cy="5590565"/>
          </a:xfrm>
        </p:spPr>
        <p:txBody>
          <a:bodyPr/>
          <a:lstStyle/>
          <a:p>
            <a:r>
              <a:rPr lang="en-US" dirty="0"/>
              <a:t>Here first it moves in </a:t>
            </a:r>
            <a:r>
              <a:rPr lang="en-US" b="1" dirty="0">
                <a:solidFill>
                  <a:schemeClr val="accent6"/>
                </a:solidFill>
              </a:rPr>
              <a:t>up</a:t>
            </a:r>
            <a:r>
              <a:rPr lang="en-US" dirty="0"/>
              <a:t> direction then goes in </a:t>
            </a:r>
            <a:r>
              <a:rPr lang="en-US" b="1" dirty="0">
                <a:solidFill>
                  <a:schemeClr val="accent6"/>
                </a:solidFill>
              </a:rPr>
              <a:t>down</a:t>
            </a:r>
            <a:r>
              <a:rPr lang="en-US" dirty="0"/>
              <a:t> direction</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Disk movement will be 11, 12, 16, 34, 36, 50, 0, 1 and 9.</a:t>
            </a:r>
          </a:p>
          <a:p>
            <a:r>
              <a:rPr lang="en-US" dirty="0"/>
              <a:t>Total cylinder movement: (12-11) + (16-12) + (34-16) +(36-34) +(50-36) + (50-0) + (1-0)+ (9-1) = </a:t>
            </a:r>
            <a:r>
              <a:rPr lang="en-US" b="1" dirty="0">
                <a:solidFill>
                  <a:schemeClr val="accent6"/>
                </a:solidFill>
              </a:rPr>
              <a:t>98</a:t>
            </a:r>
          </a:p>
        </p:txBody>
      </p:sp>
      <p:sp>
        <p:nvSpPr>
          <p:cNvPr id="4" name="TextBox 3">
            <a:extLst>
              <a:ext uri="{FF2B5EF4-FFF2-40B4-BE49-F238E27FC236}">
                <a16:creationId xmlns:a16="http://schemas.microsoft.com/office/drawing/2014/main" id="{6A10A061-F73E-5A25-710B-EAF8B0C55B3E}"/>
              </a:ext>
            </a:extLst>
          </p:cNvPr>
          <p:cNvSpPr txBox="1"/>
          <p:nvPr/>
        </p:nvSpPr>
        <p:spPr>
          <a:xfrm>
            <a:off x="8212822" y="1609990"/>
            <a:ext cx="580982" cy="2123658"/>
          </a:xfrm>
          <a:prstGeom prst="rect">
            <a:avLst/>
          </a:prstGeom>
          <a:ln w="28575">
            <a:solidFill>
              <a:schemeClr val="accent1"/>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en-IN" sz="2200" b="1" dirty="0">
                <a:solidFill>
                  <a:srgbClr val="212121"/>
                </a:solidFill>
              </a:rPr>
              <a:t>1, 36, 16, 34, 9, 12</a:t>
            </a:r>
            <a:endParaRPr lang="en-US" sz="2200" b="1" dirty="0">
              <a:solidFill>
                <a:srgbClr val="212121"/>
              </a:solidFill>
            </a:endParaRPr>
          </a:p>
        </p:txBody>
      </p:sp>
      <p:graphicFrame>
        <p:nvGraphicFramePr>
          <p:cNvPr id="5" name="Table 4">
            <a:extLst>
              <a:ext uri="{FF2B5EF4-FFF2-40B4-BE49-F238E27FC236}">
                <a16:creationId xmlns:a16="http://schemas.microsoft.com/office/drawing/2014/main" id="{CC7B89A9-1660-D874-C4F4-E4EFA33C4C93}"/>
              </a:ext>
            </a:extLst>
          </p:cNvPr>
          <p:cNvGraphicFramePr>
            <a:graphicFrameLocks noGrp="1"/>
          </p:cNvGraphicFramePr>
          <p:nvPr/>
        </p:nvGraphicFramePr>
        <p:xfrm>
          <a:off x="609597" y="1535150"/>
          <a:ext cx="7010402" cy="3347720"/>
        </p:xfrm>
        <a:graphic>
          <a:graphicData uri="http://schemas.openxmlformats.org/drawingml/2006/table">
            <a:tbl>
              <a:tblPr firstRow="1" bandRow="1">
                <a:tableStyleId>{5940675A-B579-460E-94D1-54222C63F5DA}</a:tableStyleId>
              </a:tblPr>
              <a:tblGrid>
                <a:gridCol w="457203">
                  <a:extLst>
                    <a:ext uri="{9D8B030D-6E8A-4147-A177-3AD203B41FA5}">
                      <a16:colId xmlns:a16="http://schemas.microsoft.com/office/drawing/2014/main" val="20000"/>
                    </a:ext>
                  </a:extLst>
                </a:gridCol>
                <a:gridCol w="990600">
                  <a:extLst>
                    <a:ext uri="{9D8B030D-6E8A-4147-A177-3AD203B41FA5}">
                      <a16:colId xmlns:a16="http://schemas.microsoft.com/office/drawing/2014/main" val="20001"/>
                    </a:ext>
                  </a:extLst>
                </a:gridCol>
                <a:gridCol w="838200">
                  <a:extLst>
                    <a:ext uri="{9D8B030D-6E8A-4147-A177-3AD203B41FA5}">
                      <a16:colId xmlns:a16="http://schemas.microsoft.com/office/drawing/2014/main" val="20002"/>
                    </a:ext>
                  </a:extLst>
                </a:gridCol>
                <a:gridCol w="762000">
                  <a:extLst>
                    <a:ext uri="{9D8B030D-6E8A-4147-A177-3AD203B41FA5}">
                      <a16:colId xmlns:a16="http://schemas.microsoft.com/office/drawing/2014/main" val="20003"/>
                    </a:ext>
                  </a:extLst>
                </a:gridCol>
                <a:gridCol w="1959427">
                  <a:extLst>
                    <a:ext uri="{9D8B030D-6E8A-4147-A177-3AD203B41FA5}">
                      <a16:colId xmlns:a16="http://schemas.microsoft.com/office/drawing/2014/main" val="20004"/>
                    </a:ext>
                  </a:extLst>
                </a:gridCol>
                <a:gridCol w="555173">
                  <a:extLst>
                    <a:ext uri="{9D8B030D-6E8A-4147-A177-3AD203B41FA5}">
                      <a16:colId xmlns:a16="http://schemas.microsoft.com/office/drawing/2014/main" val="20005"/>
                    </a:ext>
                  </a:extLst>
                </a:gridCol>
                <a:gridCol w="1447799">
                  <a:extLst>
                    <a:ext uri="{9D8B030D-6E8A-4147-A177-3AD203B41FA5}">
                      <a16:colId xmlns:a16="http://schemas.microsoft.com/office/drawing/2014/main" val="20006"/>
                    </a:ext>
                  </a:extLst>
                </a:gridCol>
              </a:tblGrid>
              <a:tr h="3347720">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10000"/>
                  </a:ext>
                </a:extLst>
              </a:tr>
            </a:tbl>
          </a:graphicData>
        </a:graphic>
      </p:graphicFrame>
      <p:sp>
        <p:nvSpPr>
          <p:cNvPr id="6" name="TextBox 5">
            <a:extLst>
              <a:ext uri="{FF2B5EF4-FFF2-40B4-BE49-F238E27FC236}">
                <a16:creationId xmlns:a16="http://schemas.microsoft.com/office/drawing/2014/main" id="{16440E04-B40B-2C6C-C009-BA45B3231F6C}"/>
              </a:ext>
            </a:extLst>
          </p:cNvPr>
          <p:cNvSpPr txBox="1"/>
          <p:nvPr/>
        </p:nvSpPr>
        <p:spPr>
          <a:xfrm>
            <a:off x="547435" y="1135040"/>
            <a:ext cx="304800" cy="400110"/>
          </a:xfrm>
          <a:prstGeom prst="rect">
            <a:avLst/>
          </a:prstGeom>
          <a:noFill/>
        </p:spPr>
        <p:txBody>
          <a:bodyPr wrap="square" rtlCol="0">
            <a:spAutoFit/>
          </a:bodyPr>
          <a:lstStyle/>
          <a:p>
            <a:pPr algn="ctr"/>
            <a:r>
              <a:rPr lang="en-US" sz="2000" dirty="0">
                <a:solidFill>
                  <a:srgbClr val="212121"/>
                </a:solidFill>
              </a:rPr>
              <a:t>0</a:t>
            </a:r>
            <a:endParaRPr lang="en-IN" dirty="0">
              <a:solidFill>
                <a:srgbClr val="212121"/>
              </a:solidFill>
            </a:endParaRPr>
          </a:p>
        </p:txBody>
      </p:sp>
      <p:sp>
        <p:nvSpPr>
          <p:cNvPr id="7" name="TextBox 6">
            <a:extLst>
              <a:ext uri="{FF2B5EF4-FFF2-40B4-BE49-F238E27FC236}">
                <a16:creationId xmlns:a16="http://schemas.microsoft.com/office/drawing/2014/main" id="{B6FBAC02-E79E-4FD3-967E-9B4AEFB096FF}"/>
              </a:ext>
            </a:extLst>
          </p:cNvPr>
          <p:cNvSpPr txBox="1"/>
          <p:nvPr/>
        </p:nvSpPr>
        <p:spPr>
          <a:xfrm>
            <a:off x="914400" y="1149070"/>
            <a:ext cx="304800" cy="400110"/>
          </a:xfrm>
          <a:prstGeom prst="rect">
            <a:avLst/>
          </a:prstGeom>
          <a:noFill/>
        </p:spPr>
        <p:txBody>
          <a:bodyPr wrap="square" rtlCol="0">
            <a:spAutoFit/>
          </a:bodyPr>
          <a:lstStyle/>
          <a:p>
            <a:pPr algn="ctr"/>
            <a:r>
              <a:rPr lang="en-US" sz="2000" dirty="0">
                <a:solidFill>
                  <a:srgbClr val="212121"/>
                </a:solidFill>
              </a:rPr>
              <a:t>1</a:t>
            </a:r>
            <a:endParaRPr lang="en-IN" dirty="0">
              <a:solidFill>
                <a:srgbClr val="212121"/>
              </a:solidFill>
            </a:endParaRPr>
          </a:p>
        </p:txBody>
      </p:sp>
      <p:sp>
        <p:nvSpPr>
          <p:cNvPr id="8" name="TextBox 7">
            <a:extLst>
              <a:ext uri="{FF2B5EF4-FFF2-40B4-BE49-F238E27FC236}">
                <a16:creationId xmlns:a16="http://schemas.microsoft.com/office/drawing/2014/main" id="{707A19E1-39F2-AC30-FC70-98E785558E26}"/>
              </a:ext>
            </a:extLst>
          </p:cNvPr>
          <p:cNvSpPr txBox="1"/>
          <p:nvPr/>
        </p:nvSpPr>
        <p:spPr>
          <a:xfrm>
            <a:off x="1905000" y="1140585"/>
            <a:ext cx="304800" cy="400110"/>
          </a:xfrm>
          <a:prstGeom prst="rect">
            <a:avLst/>
          </a:prstGeom>
          <a:noFill/>
        </p:spPr>
        <p:txBody>
          <a:bodyPr wrap="square" rtlCol="0">
            <a:spAutoFit/>
          </a:bodyPr>
          <a:lstStyle/>
          <a:p>
            <a:pPr algn="ctr"/>
            <a:r>
              <a:rPr lang="en-US" sz="2000" dirty="0">
                <a:solidFill>
                  <a:srgbClr val="212121"/>
                </a:solidFill>
              </a:rPr>
              <a:t>9</a:t>
            </a:r>
            <a:endParaRPr lang="en-IN" dirty="0">
              <a:solidFill>
                <a:srgbClr val="212121"/>
              </a:solidFill>
            </a:endParaRPr>
          </a:p>
        </p:txBody>
      </p:sp>
      <p:sp>
        <p:nvSpPr>
          <p:cNvPr id="9" name="TextBox 8">
            <a:extLst>
              <a:ext uri="{FF2B5EF4-FFF2-40B4-BE49-F238E27FC236}">
                <a16:creationId xmlns:a16="http://schemas.microsoft.com/office/drawing/2014/main" id="{96EB0E09-8E96-B228-B331-DC15BDB929D6}"/>
              </a:ext>
            </a:extLst>
          </p:cNvPr>
          <p:cNvSpPr txBox="1"/>
          <p:nvPr/>
        </p:nvSpPr>
        <p:spPr>
          <a:xfrm>
            <a:off x="2670372" y="1135040"/>
            <a:ext cx="468503" cy="400110"/>
          </a:xfrm>
          <a:prstGeom prst="rect">
            <a:avLst/>
          </a:prstGeom>
          <a:noFill/>
        </p:spPr>
        <p:txBody>
          <a:bodyPr wrap="square" rtlCol="0">
            <a:spAutoFit/>
          </a:bodyPr>
          <a:lstStyle/>
          <a:p>
            <a:pPr algn="ctr"/>
            <a:r>
              <a:rPr lang="en-US" sz="2000" dirty="0">
                <a:solidFill>
                  <a:srgbClr val="212121"/>
                </a:solidFill>
              </a:rPr>
              <a:t>12</a:t>
            </a:r>
            <a:endParaRPr lang="en-IN" dirty="0">
              <a:solidFill>
                <a:srgbClr val="212121"/>
              </a:solidFill>
            </a:endParaRPr>
          </a:p>
        </p:txBody>
      </p:sp>
      <p:sp>
        <p:nvSpPr>
          <p:cNvPr id="10" name="TextBox 9">
            <a:extLst>
              <a:ext uri="{FF2B5EF4-FFF2-40B4-BE49-F238E27FC236}">
                <a16:creationId xmlns:a16="http://schemas.microsoft.com/office/drawing/2014/main" id="{E08F6170-162E-9AF5-3904-8EEFF8E0FA2F}"/>
              </a:ext>
            </a:extLst>
          </p:cNvPr>
          <p:cNvSpPr txBox="1"/>
          <p:nvPr/>
        </p:nvSpPr>
        <p:spPr>
          <a:xfrm>
            <a:off x="3412955" y="1135040"/>
            <a:ext cx="502687" cy="400110"/>
          </a:xfrm>
          <a:prstGeom prst="rect">
            <a:avLst/>
          </a:prstGeom>
          <a:noFill/>
        </p:spPr>
        <p:txBody>
          <a:bodyPr wrap="square" rtlCol="0">
            <a:spAutoFit/>
          </a:bodyPr>
          <a:lstStyle/>
          <a:p>
            <a:pPr algn="ctr"/>
            <a:r>
              <a:rPr lang="en-US" sz="2000" dirty="0">
                <a:solidFill>
                  <a:srgbClr val="212121"/>
                </a:solidFill>
              </a:rPr>
              <a:t>16</a:t>
            </a:r>
            <a:endParaRPr lang="en-IN" dirty="0">
              <a:solidFill>
                <a:srgbClr val="212121"/>
              </a:solidFill>
            </a:endParaRPr>
          </a:p>
        </p:txBody>
      </p:sp>
      <p:sp>
        <p:nvSpPr>
          <p:cNvPr id="11" name="TextBox 10">
            <a:extLst>
              <a:ext uri="{FF2B5EF4-FFF2-40B4-BE49-F238E27FC236}">
                <a16:creationId xmlns:a16="http://schemas.microsoft.com/office/drawing/2014/main" id="{CC3E40E7-6035-8D1B-37BD-F9EB753A2D4B}"/>
              </a:ext>
            </a:extLst>
          </p:cNvPr>
          <p:cNvSpPr txBox="1"/>
          <p:nvPr/>
        </p:nvSpPr>
        <p:spPr>
          <a:xfrm>
            <a:off x="5378116" y="1149070"/>
            <a:ext cx="485273" cy="400110"/>
          </a:xfrm>
          <a:prstGeom prst="rect">
            <a:avLst/>
          </a:prstGeom>
          <a:noFill/>
        </p:spPr>
        <p:txBody>
          <a:bodyPr wrap="square" rtlCol="0">
            <a:spAutoFit/>
          </a:bodyPr>
          <a:lstStyle/>
          <a:p>
            <a:pPr algn="ctr"/>
            <a:r>
              <a:rPr lang="en-US" sz="2000" dirty="0">
                <a:solidFill>
                  <a:srgbClr val="212121"/>
                </a:solidFill>
              </a:rPr>
              <a:t>34</a:t>
            </a:r>
            <a:endParaRPr lang="en-IN" dirty="0">
              <a:solidFill>
                <a:srgbClr val="212121"/>
              </a:solidFill>
            </a:endParaRPr>
          </a:p>
        </p:txBody>
      </p:sp>
      <p:sp>
        <p:nvSpPr>
          <p:cNvPr id="12" name="TextBox 11">
            <a:extLst>
              <a:ext uri="{FF2B5EF4-FFF2-40B4-BE49-F238E27FC236}">
                <a16:creationId xmlns:a16="http://schemas.microsoft.com/office/drawing/2014/main" id="{4808B779-A5C1-8F0C-0828-9ED1207423BC}"/>
              </a:ext>
            </a:extLst>
          </p:cNvPr>
          <p:cNvSpPr txBox="1"/>
          <p:nvPr/>
        </p:nvSpPr>
        <p:spPr>
          <a:xfrm>
            <a:off x="5964654" y="1142055"/>
            <a:ext cx="448178" cy="400110"/>
          </a:xfrm>
          <a:prstGeom prst="rect">
            <a:avLst/>
          </a:prstGeom>
          <a:noFill/>
        </p:spPr>
        <p:txBody>
          <a:bodyPr wrap="square" rtlCol="0">
            <a:spAutoFit/>
          </a:bodyPr>
          <a:lstStyle/>
          <a:p>
            <a:pPr algn="ctr"/>
            <a:r>
              <a:rPr lang="en-US" sz="2000" dirty="0">
                <a:solidFill>
                  <a:srgbClr val="212121"/>
                </a:solidFill>
              </a:rPr>
              <a:t>36</a:t>
            </a:r>
            <a:endParaRPr lang="en-IN" dirty="0">
              <a:solidFill>
                <a:srgbClr val="212121"/>
              </a:solidFill>
            </a:endParaRPr>
          </a:p>
        </p:txBody>
      </p:sp>
      <p:sp>
        <p:nvSpPr>
          <p:cNvPr id="13" name="TextBox 12">
            <a:extLst>
              <a:ext uri="{FF2B5EF4-FFF2-40B4-BE49-F238E27FC236}">
                <a16:creationId xmlns:a16="http://schemas.microsoft.com/office/drawing/2014/main" id="{A7FC6FAE-FCA7-E940-DDD6-6C5A75B0B36E}"/>
              </a:ext>
            </a:extLst>
          </p:cNvPr>
          <p:cNvSpPr txBox="1"/>
          <p:nvPr/>
        </p:nvSpPr>
        <p:spPr>
          <a:xfrm>
            <a:off x="7325863" y="1142055"/>
            <a:ext cx="568216" cy="400110"/>
          </a:xfrm>
          <a:prstGeom prst="rect">
            <a:avLst/>
          </a:prstGeom>
          <a:noFill/>
        </p:spPr>
        <p:txBody>
          <a:bodyPr wrap="square" rtlCol="0">
            <a:spAutoFit/>
          </a:bodyPr>
          <a:lstStyle/>
          <a:p>
            <a:pPr algn="ctr"/>
            <a:r>
              <a:rPr lang="en-US" sz="2000" dirty="0">
                <a:solidFill>
                  <a:srgbClr val="212121"/>
                </a:solidFill>
              </a:rPr>
              <a:t>50</a:t>
            </a:r>
            <a:endParaRPr lang="en-IN" dirty="0">
              <a:solidFill>
                <a:srgbClr val="212121"/>
              </a:solidFill>
            </a:endParaRPr>
          </a:p>
        </p:txBody>
      </p:sp>
      <p:cxnSp>
        <p:nvCxnSpPr>
          <p:cNvPr id="14" name="Straight Connector 13">
            <a:extLst>
              <a:ext uri="{FF2B5EF4-FFF2-40B4-BE49-F238E27FC236}">
                <a16:creationId xmlns:a16="http://schemas.microsoft.com/office/drawing/2014/main" id="{FD0E8DB0-E4E9-A14E-DAAF-8E5F85D8D833}"/>
              </a:ext>
            </a:extLst>
          </p:cNvPr>
          <p:cNvCxnSpPr/>
          <p:nvPr/>
        </p:nvCxnSpPr>
        <p:spPr>
          <a:xfrm flipH="1" flipV="1">
            <a:off x="2470484" y="1899038"/>
            <a:ext cx="431150" cy="393032"/>
          </a:xfrm>
          <a:prstGeom prst="line">
            <a:avLst/>
          </a:prstGeom>
        </p:spPr>
        <p:style>
          <a:lnRef idx="3">
            <a:schemeClr val="dk1"/>
          </a:lnRef>
          <a:fillRef idx="0">
            <a:schemeClr val="dk1"/>
          </a:fillRef>
          <a:effectRef idx="2">
            <a:schemeClr val="dk1"/>
          </a:effectRef>
          <a:fontRef idx="minor">
            <a:schemeClr val="tx1"/>
          </a:fontRef>
        </p:style>
      </p:cxnSp>
      <p:cxnSp>
        <p:nvCxnSpPr>
          <p:cNvPr id="15" name="Straight Connector 14">
            <a:extLst>
              <a:ext uri="{FF2B5EF4-FFF2-40B4-BE49-F238E27FC236}">
                <a16:creationId xmlns:a16="http://schemas.microsoft.com/office/drawing/2014/main" id="{2AEDBC64-9A18-AF78-EE81-C69D0A5DB906}"/>
              </a:ext>
            </a:extLst>
          </p:cNvPr>
          <p:cNvCxnSpPr/>
          <p:nvPr/>
        </p:nvCxnSpPr>
        <p:spPr>
          <a:xfrm>
            <a:off x="3664298" y="2642632"/>
            <a:ext cx="1947718" cy="377208"/>
          </a:xfrm>
          <a:prstGeom prst="line">
            <a:avLst/>
          </a:prstGeom>
        </p:spPr>
        <p:style>
          <a:lnRef idx="3">
            <a:schemeClr val="dk1"/>
          </a:lnRef>
          <a:fillRef idx="0">
            <a:schemeClr val="dk1"/>
          </a:fillRef>
          <a:effectRef idx="2">
            <a:schemeClr val="dk1"/>
          </a:effectRef>
          <a:fontRef idx="minor">
            <a:schemeClr val="tx1"/>
          </a:fontRef>
        </p:style>
      </p:cxnSp>
      <p:cxnSp>
        <p:nvCxnSpPr>
          <p:cNvPr id="16" name="Straight Connector 15">
            <a:extLst>
              <a:ext uri="{FF2B5EF4-FFF2-40B4-BE49-F238E27FC236}">
                <a16:creationId xmlns:a16="http://schemas.microsoft.com/office/drawing/2014/main" id="{02734040-A4E8-A057-5FC9-6081629B069A}"/>
              </a:ext>
            </a:extLst>
          </p:cNvPr>
          <p:cNvCxnSpPr/>
          <p:nvPr/>
        </p:nvCxnSpPr>
        <p:spPr>
          <a:xfrm flipH="1" flipV="1">
            <a:off x="5612016" y="3030648"/>
            <a:ext cx="568652" cy="389712"/>
          </a:xfrm>
          <a:prstGeom prst="line">
            <a:avLst/>
          </a:prstGeom>
        </p:spPr>
        <p:style>
          <a:lnRef idx="3">
            <a:schemeClr val="dk1"/>
          </a:lnRef>
          <a:fillRef idx="0">
            <a:schemeClr val="dk1"/>
          </a:fillRef>
          <a:effectRef idx="2">
            <a:schemeClr val="dk1"/>
          </a:effectRef>
          <a:fontRef idx="minor">
            <a:schemeClr val="tx1"/>
          </a:fontRef>
        </p:style>
      </p:cxnSp>
      <p:cxnSp>
        <p:nvCxnSpPr>
          <p:cNvPr id="17" name="Straight Connector 16">
            <a:extLst>
              <a:ext uri="{FF2B5EF4-FFF2-40B4-BE49-F238E27FC236}">
                <a16:creationId xmlns:a16="http://schemas.microsoft.com/office/drawing/2014/main" id="{F944D6BD-DC33-F5AC-2240-AFC110DDB575}"/>
              </a:ext>
            </a:extLst>
          </p:cNvPr>
          <p:cNvCxnSpPr/>
          <p:nvPr/>
        </p:nvCxnSpPr>
        <p:spPr>
          <a:xfrm flipV="1">
            <a:off x="609600" y="3739870"/>
            <a:ext cx="7010400" cy="438090"/>
          </a:xfrm>
          <a:prstGeom prst="line">
            <a:avLst/>
          </a:prstGeom>
        </p:spPr>
        <p:style>
          <a:lnRef idx="3">
            <a:schemeClr val="dk1"/>
          </a:lnRef>
          <a:fillRef idx="0">
            <a:schemeClr val="dk1"/>
          </a:fillRef>
          <a:effectRef idx="2">
            <a:schemeClr val="dk1"/>
          </a:effectRef>
          <a:fontRef idx="minor">
            <a:schemeClr val="tx1"/>
          </a:fontRef>
        </p:style>
      </p:cxnSp>
      <p:cxnSp>
        <p:nvCxnSpPr>
          <p:cNvPr id="18" name="Straight Connector 17">
            <a:extLst>
              <a:ext uri="{FF2B5EF4-FFF2-40B4-BE49-F238E27FC236}">
                <a16:creationId xmlns:a16="http://schemas.microsoft.com/office/drawing/2014/main" id="{B007A705-E2AC-0541-9334-EBB8D778017F}"/>
              </a:ext>
            </a:extLst>
          </p:cNvPr>
          <p:cNvCxnSpPr/>
          <p:nvPr/>
        </p:nvCxnSpPr>
        <p:spPr>
          <a:xfrm flipH="1" flipV="1">
            <a:off x="609601" y="4197070"/>
            <a:ext cx="461010" cy="290770"/>
          </a:xfrm>
          <a:prstGeom prst="line">
            <a:avLst/>
          </a:prstGeom>
        </p:spPr>
        <p:style>
          <a:lnRef idx="3">
            <a:schemeClr val="dk1"/>
          </a:lnRef>
          <a:fillRef idx="0">
            <a:schemeClr val="dk1"/>
          </a:fillRef>
          <a:effectRef idx="2">
            <a:schemeClr val="dk1"/>
          </a:effectRef>
          <a:fontRef idx="minor">
            <a:schemeClr val="tx1"/>
          </a:fontRef>
        </p:style>
      </p:cxnSp>
      <p:sp>
        <p:nvSpPr>
          <p:cNvPr id="19" name="TextBox 18">
            <a:extLst>
              <a:ext uri="{FF2B5EF4-FFF2-40B4-BE49-F238E27FC236}">
                <a16:creationId xmlns:a16="http://schemas.microsoft.com/office/drawing/2014/main" id="{D25A00E3-D6DB-8F5C-AC13-6E13BD240D03}"/>
              </a:ext>
            </a:extLst>
          </p:cNvPr>
          <p:cNvSpPr txBox="1"/>
          <p:nvPr/>
        </p:nvSpPr>
        <p:spPr>
          <a:xfrm>
            <a:off x="2265672" y="1528072"/>
            <a:ext cx="468503" cy="400110"/>
          </a:xfrm>
          <a:prstGeom prst="rect">
            <a:avLst/>
          </a:prstGeom>
          <a:noFill/>
        </p:spPr>
        <p:txBody>
          <a:bodyPr wrap="square" rtlCol="0">
            <a:spAutoFit/>
          </a:bodyPr>
          <a:lstStyle/>
          <a:p>
            <a:pPr algn="ctr"/>
            <a:r>
              <a:rPr lang="en-US" sz="2000" dirty="0">
                <a:solidFill>
                  <a:srgbClr val="212121"/>
                </a:solidFill>
              </a:rPr>
              <a:t>11</a:t>
            </a:r>
            <a:endParaRPr lang="en-IN" dirty="0">
              <a:solidFill>
                <a:srgbClr val="212121"/>
              </a:solidFill>
            </a:endParaRPr>
          </a:p>
        </p:txBody>
      </p:sp>
      <p:sp>
        <p:nvSpPr>
          <p:cNvPr id="20" name="TextBox 19">
            <a:extLst>
              <a:ext uri="{FF2B5EF4-FFF2-40B4-BE49-F238E27FC236}">
                <a16:creationId xmlns:a16="http://schemas.microsoft.com/office/drawing/2014/main" id="{AF9B5EF7-4955-95DD-62ED-0351BD19006A}"/>
              </a:ext>
            </a:extLst>
          </p:cNvPr>
          <p:cNvSpPr txBox="1"/>
          <p:nvPr/>
        </p:nvSpPr>
        <p:spPr>
          <a:xfrm>
            <a:off x="1066800" y="4170945"/>
            <a:ext cx="304800" cy="400110"/>
          </a:xfrm>
          <a:prstGeom prst="rect">
            <a:avLst/>
          </a:prstGeom>
          <a:noFill/>
        </p:spPr>
        <p:txBody>
          <a:bodyPr wrap="square" rtlCol="0">
            <a:spAutoFit/>
          </a:bodyPr>
          <a:lstStyle/>
          <a:p>
            <a:pPr algn="ctr"/>
            <a:r>
              <a:rPr lang="en-US" sz="2000" dirty="0">
                <a:solidFill>
                  <a:srgbClr val="212121"/>
                </a:solidFill>
              </a:rPr>
              <a:t>1</a:t>
            </a:r>
            <a:endParaRPr lang="en-IN" dirty="0">
              <a:solidFill>
                <a:srgbClr val="212121"/>
              </a:solidFill>
            </a:endParaRPr>
          </a:p>
        </p:txBody>
      </p:sp>
      <p:sp>
        <p:nvSpPr>
          <p:cNvPr id="21" name="TextBox 20">
            <a:extLst>
              <a:ext uri="{FF2B5EF4-FFF2-40B4-BE49-F238E27FC236}">
                <a16:creationId xmlns:a16="http://schemas.microsoft.com/office/drawing/2014/main" id="{ECC82372-9EF8-993E-A856-CE74666E4BB1}"/>
              </a:ext>
            </a:extLst>
          </p:cNvPr>
          <p:cNvSpPr txBox="1"/>
          <p:nvPr/>
        </p:nvSpPr>
        <p:spPr>
          <a:xfrm>
            <a:off x="5574669" y="2669180"/>
            <a:ext cx="485273" cy="400110"/>
          </a:xfrm>
          <a:prstGeom prst="rect">
            <a:avLst/>
          </a:prstGeom>
          <a:noFill/>
        </p:spPr>
        <p:txBody>
          <a:bodyPr wrap="square" rtlCol="0">
            <a:spAutoFit/>
          </a:bodyPr>
          <a:lstStyle/>
          <a:p>
            <a:pPr algn="ctr"/>
            <a:r>
              <a:rPr lang="en-US" sz="2000" dirty="0">
                <a:solidFill>
                  <a:srgbClr val="212121"/>
                </a:solidFill>
              </a:rPr>
              <a:t>34</a:t>
            </a:r>
            <a:endParaRPr lang="en-IN" dirty="0">
              <a:solidFill>
                <a:srgbClr val="212121"/>
              </a:solidFill>
            </a:endParaRPr>
          </a:p>
        </p:txBody>
      </p:sp>
      <p:sp>
        <p:nvSpPr>
          <p:cNvPr id="22" name="TextBox 21">
            <a:extLst>
              <a:ext uri="{FF2B5EF4-FFF2-40B4-BE49-F238E27FC236}">
                <a16:creationId xmlns:a16="http://schemas.microsoft.com/office/drawing/2014/main" id="{FD774911-D7EF-6764-E87A-671414BB9563}"/>
              </a:ext>
            </a:extLst>
          </p:cNvPr>
          <p:cNvSpPr txBox="1"/>
          <p:nvPr/>
        </p:nvSpPr>
        <p:spPr>
          <a:xfrm>
            <a:off x="6150400" y="3109722"/>
            <a:ext cx="448178" cy="400110"/>
          </a:xfrm>
          <a:prstGeom prst="rect">
            <a:avLst/>
          </a:prstGeom>
          <a:noFill/>
        </p:spPr>
        <p:txBody>
          <a:bodyPr wrap="square" rtlCol="0">
            <a:spAutoFit/>
          </a:bodyPr>
          <a:lstStyle/>
          <a:p>
            <a:pPr algn="ctr"/>
            <a:r>
              <a:rPr lang="en-US" sz="2000" dirty="0">
                <a:solidFill>
                  <a:srgbClr val="212121"/>
                </a:solidFill>
              </a:rPr>
              <a:t>36</a:t>
            </a:r>
            <a:endParaRPr lang="en-IN" dirty="0">
              <a:solidFill>
                <a:srgbClr val="212121"/>
              </a:solidFill>
            </a:endParaRPr>
          </a:p>
        </p:txBody>
      </p:sp>
      <p:sp>
        <p:nvSpPr>
          <p:cNvPr id="23" name="TextBox 22">
            <a:extLst>
              <a:ext uri="{FF2B5EF4-FFF2-40B4-BE49-F238E27FC236}">
                <a16:creationId xmlns:a16="http://schemas.microsoft.com/office/drawing/2014/main" id="{139C025B-64BF-0B74-812F-35C048B42246}"/>
              </a:ext>
            </a:extLst>
          </p:cNvPr>
          <p:cNvSpPr txBox="1"/>
          <p:nvPr/>
        </p:nvSpPr>
        <p:spPr>
          <a:xfrm>
            <a:off x="2057400" y="4564040"/>
            <a:ext cx="304800" cy="400110"/>
          </a:xfrm>
          <a:prstGeom prst="rect">
            <a:avLst/>
          </a:prstGeom>
          <a:noFill/>
        </p:spPr>
        <p:txBody>
          <a:bodyPr wrap="square" rtlCol="0">
            <a:spAutoFit/>
          </a:bodyPr>
          <a:lstStyle/>
          <a:p>
            <a:pPr algn="ctr"/>
            <a:r>
              <a:rPr lang="en-US" sz="2000" dirty="0">
                <a:solidFill>
                  <a:srgbClr val="212121"/>
                </a:solidFill>
              </a:rPr>
              <a:t>9</a:t>
            </a:r>
            <a:endParaRPr lang="en-IN" dirty="0">
              <a:solidFill>
                <a:srgbClr val="212121"/>
              </a:solidFill>
            </a:endParaRPr>
          </a:p>
        </p:txBody>
      </p:sp>
      <p:sp>
        <p:nvSpPr>
          <p:cNvPr id="24" name="TextBox 23">
            <a:extLst>
              <a:ext uri="{FF2B5EF4-FFF2-40B4-BE49-F238E27FC236}">
                <a16:creationId xmlns:a16="http://schemas.microsoft.com/office/drawing/2014/main" id="{5B62D1CE-7FA8-FBE3-7BCF-ECEB79C963DD}"/>
              </a:ext>
            </a:extLst>
          </p:cNvPr>
          <p:cNvSpPr txBox="1"/>
          <p:nvPr/>
        </p:nvSpPr>
        <p:spPr>
          <a:xfrm>
            <a:off x="2855721" y="1939584"/>
            <a:ext cx="468503" cy="400110"/>
          </a:xfrm>
          <a:prstGeom prst="rect">
            <a:avLst/>
          </a:prstGeom>
          <a:noFill/>
        </p:spPr>
        <p:txBody>
          <a:bodyPr wrap="square" rtlCol="0">
            <a:spAutoFit/>
          </a:bodyPr>
          <a:lstStyle/>
          <a:p>
            <a:pPr algn="ctr"/>
            <a:r>
              <a:rPr lang="en-US" sz="2000" dirty="0">
                <a:solidFill>
                  <a:srgbClr val="212121"/>
                </a:solidFill>
              </a:rPr>
              <a:t>12</a:t>
            </a:r>
            <a:endParaRPr lang="en-IN" dirty="0">
              <a:solidFill>
                <a:srgbClr val="212121"/>
              </a:solidFill>
            </a:endParaRPr>
          </a:p>
        </p:txBody>
      </p:sp>
      <p:sp>
        <p:nvSpPr>
          <p:cNvPr id="25" name="TextBox 24">
            <a:extLst>
              <a:ext uri="{FF2B5EF4-FFF2-40B4-BE49-F238E27FC236}">
                <a16:creationId xmlns:a16="http://schemas.microsoft.com/office/drawing/2014/main" id="{478069AE-8B3D-677B-D915-7F89D530258B}"/>
              </a:ext>
            </a:extLst>
          </p:cNvPr>
          <p:cNvSpPr txBox="1"/>
          <p:nvPr/>
        </p:nvSpPr>
        <p:spPr>
          <a:xfrm>
            <a:off x="3599075" y="2282217"/>
            <a:ext cx="502687" cy="400110"/>
          </a:xfrm>
          <a:prstGeom prst="rect">
            <a:avLst/>
          </a:prstGeom>
          <a:noFill/>
        </p:spPr>
        <p:txBody>
          <a:bodyPr wrap="square" rtlCol="0">
            <a:spAutoFit/>
          </a:bodyPr>
          <a:lstStyle/>
          <a:p>
            <a:pPr algn="ctr"/>
            <a:r>
              <a:rPr lang="en-US" sz="2000" dirty="0">
                <a:solidFill>
                  <a:srgbClr val="212121"/>
                </a:solidFill>
              </a:rPr>
              <a:t>16</a:t>
            </a:r>
            <a:endParaRPr lang="en-IN" dirty="0">
              <a:solidFill>
                <a:srgbClr val="212121"/>
              </a:solidFill>
            </a:endParaRPr>
          </a:p>
        </p:txBody>
      </p:sp>
      <p:cxnSp>
        <p:nvCxnSpPr>
          <p:cNvPr id="26" name="Straight Connector 25">
            <a:extLst>
              <a:ext uri="{FF2B5EF4-FFF2-40B4-BE49-F238E27FC236}">
                <a16:creationId xmlns:a16="http://schemas.microsoft.com/office/drawing/2014/main" id="{7A4EA15D-F6FA-A309-F434-E5B17C1FD268}"/>
              </a:ext>
            </a:extLst>
          </p:cNvPr>
          <p:cNvCxnSpPr/>
          <p:nvPr/>
        </p:nvCxnSpPr>
        <p:spPr>
          <a:xfrm>
            <a:off x="2901634" y="2292070"/>
            <a:ext cx="762664" cy="350560"/>
          </a:xfrm>
          <a:prstGeom prst="line">
            <a:avLst/>
          </a:prstGeom>
        </p:spPr>
        <p:style>
          <a:lnRef idx="3">
            <a:schemeClr val="dk1"/>
          </a:lnRef>
          <a:fillRef idx="0">
            <a:schemeClr val="dk1"/>
          </a:fillRef>
          <a:effectRef idx="2">
            <a:schemeClr val="dk1"/>
          </a:effectRef>
          <a:fontRef idx="minor">
            <a:schemeClr val="tx1"/>
          </a:fontRef>
        </p:style>
      </p:cxnSp>
      <p:cxnSp>
        <p:nvCxnSpPr>
          <p:cNvPr id="27" name="Straight Connector 26">
            <a:extLst>
              <a:ext uri="{FF2B5EF4-FFF2-40B4-BE49-F238E27FC236}">
                <a16:creationId xmlns:a16="http://schemas.microsoft.com/office/drawing/2014/main" id="{0ECE1F5E-BAC9-62D9-BB5C-7CBC7E8AFE5A}"/>
              </a:ext>
            </a:extLst>
          </p:cNvPr>
          <p:cNvCxnSpPr/>
          <p:nvPr/>
        </p:nvCxnSpPr>
        <p:spPr>
          <a:xfrm flipH="1" flipV="1">
            <a:off x="6180668" y="3420360"/>
            <a:ext cx="1429303" cy="312496"/>
          </a:xfrm>
          <a:prstGeom prst="line">
            <a:avLst/>
          </a:prstGeom>
        </p:spPr>
        <p:style>
          <a:lnRef idx="3">
            <a:schemeClr val="dk1"/>
          </a:lnRef>
          <a:fillRef idx="0">
            <a:schemeClr val="dk1"/>
          </a:fillRef>
          <a:effectRef idx="2">
            <a:schemeClr val="dk1"/>
          </a:effectRef>
          <a:fontRef idx="minor">
            <a:schemeClr val="tx1"/>
          </a:fontRef>
        </p:style>
      </p:cxnSp>
      <p:sp>
        <p:nvSpPr>
          <p:cNvPr id="28" name="TextBox 27">
            <a:extLst>
              <a:ext uri="{FF2B5EF4-FFF2-40B4-BE49-F238E27FC236}">
                <a16:creationId xmlns:a16="http://schemas.microsoft.com/office/drawing/2014/main" id="{453307EA-E83C-F59D-B09A-3E7CF11A2612}"/>
              </a:ext>
            </a:extLst>
          </p:cNvPr>
          <p:cNvSpPr txBox="1"/>
          <p:nvPr/>
        </p:nvSpPr>
        <p:spPr>
          <a:xfrm>
            <a:off x="7179857" y="3794987"/>
            <a:ext cx="509069" cy="400110"/>
          </a:xfrm>
          <a:prstGeom prst="rect">
            <a:avLst/>
          </a:prstGeom>
          <a:noFill/>
        </p:spPr>
        <p:txBody>
          <a:bodyPr wrap="square" rtlCol="0">
            <a:spAutoFit/>
          </a:bodyPr>
          <a:lstStyle/>
          <a:p>
            <a:pPr algn="ctr"/>
            <a:r>
              <a:rPr lang="en-US" sz="2000" dirty="0">
                <a:solidFill>
                  <a:srgbClr val="212121"/>
                </a:solidFill>
              </a:rPr>
              <a:t>50</a:t>
            </a:r>
            <a:endParaRPr lang="en-IN" dirty="0">
              <a:solidFill>
                <a:srgbClr val="212121"/>
              </a:solidFill>
            </a:endParaRPr>
          </a:p>
        </p:txBody>
      </p:sp>
      <p:cxnSp>
        <p:nvCxnSpPr>
          <p:cNvPr id="29" name="Straight Connector 28">
            <a:extLst>
              <a:ext uri="{FF2B5EF4-FFF2-40B4-BE49-F238E27FC236}">
                <a16:creationId xmlns:a16="http://schemas.microsoft.com/office/drawing/2014/main" id="{9626A7E7-33B1-0468-9943-601A125AE4F0}"/>
              </a:ext>
            </a:extLst>
          </p:cNvPr>
          <p:cNvCxnSpPr/>
          <p:nvPr/>
        </p:nvCxnSpPr>
        <p:spPr>
          <a:xfrm flipH="1" flipV="1">
            <a:off x="1066800" y="4490400"/>
            <a:ext cx="990600" cy="378440"/>
          </a:xfrm>
          <a:prstGeom prst="line">
            <a:avLst/>
          </a:prstGeom>
        </p:spPr>
        <p:style>
          <a:lnRef idx="3">
            <a:schemeClr val="dk1"/>
          </a:lnRef>
          <a:fillRef idx="0">
            <a:schemeClr val="dk1"/>
          </a:fillRef>
          <a:effectRef idx="2">
            <a:schemeClr val="dk1"/>
          </a:effectRef>
          <a:fontRef idx="minor">
            <a:schemeClr val="tx1"/>
          </a:fontRef>
        </p:style>
      </p:cxnSp>
      <p:sp>
        <p:nvSpPr>
          <p:cNvPr id="30" name="TextBox 29">
            <a:extLst>
              <a:ext uri="{FF2B5EF4-FFF2-40B4-BE49-F238E27FC236}">
                <a16:creationId xmlns:a16="http://schemas.microsoft.com/office/drawing/2014/main" id="{5E10018E-783D-E885-AF07-B100E4893419}"/>
              </a:ext>
            </a:extLst>
          </p:cNvPr>
          <p:cNvSpPr txBox="1"/>
          <p:nvPr/>
        </p:nvSpPr>
        <p:spPr>
          <a:xfrm>
            <a:off x="563355" y="3777850"/>
            <a:ext cx="304800" cy="400110"/>
          </a:xfrm>
          <a:prstGeom prst="rect">
            <a:avLst/>
          </a:prstGeom>
          <a:noFill/>
        </p:spPr>
        <p:txBody>
          <a:bodyPr wrap="square" rtlCol="0">
            <a:spAutoFit/>
          </a:bodyPr>
          <a:lstStyle/>
          <a:p>
            <a:pPr algn="ctr"/>
            <a:r>
              <a:rPr lang="en-US" sz="2000" dirty="0">
                <a:solidFill>
                  <a:srgbClr val="212121"/>
                </a:solidFill>
              </a:rPr>
              <a:t>0</a:t>
            </a:r>
            <a:endParaRPr lang="en-IN" dirty="0">
              <a:solidFill>
                <a:srgbClr val="212121"/>
              </a:solidFill>
            </a:endParaRPr>
          </a:p>
        </p:txBody>
      </p:sp>
    </p:spTree>
    <p:extLst>
      <p:ext uri="{BB962C8B-B14F-4D97-AF65-F5344CB8AC3E}">
        <p14:creationId xmlns:p14="http://schemas.microsoft.com/office/powerpoint/2010/main" val="2560395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5"/>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13"/>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19"/>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14"/>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24"/>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nodeType="clickEffect">
                                  <p:stCondLst>
                                    <p:cond delay="0"/>
                                  </p:stCondLst>
                                  <p:childTnLst>
                                    <p:set>
                                      <p:cBhvr>
                                        <p:cTn id="47" dur="1" fill="hold">
                                          <p:stCondLst>
                                            <p:cond delay="0"/>
                                          </p:stCondLst>
                                        </p:cTn>
                                        <p:tgtEl>
                                          <p:spTgt spid="26"/>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25"/>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nodeType="clickEffect">
                                  <p:stCondLst>
                                    <p:cond delay="0"/>
                                  </p:stCondLst>
                                  <p:childTnLst>
                                    <p:set>
                                      <p:cBhvr>
                                        <p:cTn id="55" dur="1" fill="hold">
                                          <p:stCondLst>
                                            <p:cond delay="0"/>
                                          </p:stCondLst>
                                        </p:cTn>
                                        <p:tgtEl>
                                          <p:spTgt spid="15"/>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21"/>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clickEffect">
                                  <p:stCondLst>
                                    <p:cond delay="0"/>
                                  </p:stCondLst>
                                  <p:childTnLst>
                                    <p:set>
                                      <p:cBhvr>
                                        <p:cTn id="63" dur="1" fill="hold">
                                          <p:stCondLst>
                                            <p:cond delay="0"/>
                                          </p:stCondLst>
                                        </p:cTn>
                                        <p:tgtEl>
                                          <p:spTgt spid="16"/>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22"/>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nodeType="clickEffect">
                                  <p:stCondLst>
                                    <p:cond delay="0"/>
                                  </p:stCondLst>
                                  <p:childTnLst>
                                    <p:set>
                                      <p:cBhvr>
                                        <p:cTn id="71" dur="1" fill="hold">
                                          <p:stCondLst>
                                            <p:cond delay="0"/>
                                          </p:stCondLst>
                                        </p:cTn>
                                        <p:tgtEl>
                                          <p:spTgt spid="27"/>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grpId="0" nodeType="clickEffect">
                                  <p:stCondLst>
                                    <p:cond delay="0"/>
                                  </p:stCondLst>
                                  <p:childTnLst>
                                    <p:set>
                                      <p:cBhvr>
                                        <p:cTn id="75" dur="1" fill="hold">
                                          <p:stCondLst>
                                            <p:cond delay="0"/>
                                          </p:stCondLst>
                                        </p:cTn>
                                        <p:tgtEl>
                                          <p:spTgt spid="28"/>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nodeType="clickEffect">
                                  <p:stCondLst>
                                    <p:cond delay="0"/>
                                  </p:stCondLst>
                                  <p:childTnLst>
                                    <p:set>
                                      <p:cBhvr>
                                        <p:cTn id="79" dur="1" fill="hold">
                                          <p:stCondLst>
                                            <p:cond delay="0"/>
                                          </p:stCondLst>
                                        </p:cTn>
                                        <p:tgtEl>
                                          <p:spTgt spid="17"/>
                                        </p:tgtEl>
                                        <p:attrNameLst>
                                          <p:attrName>style.visibility</p:attrName>
                                        </p:attrNameLst>
                                      </p:cBhvr>
                                      <p:to>
                                        <p:strVal val="visible"/>
                                      </p:to>
                                    </p:se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grpId="0" nodeType="clickEffect">
                                  <p:stCondLst>
                                    <p:cond delay="0"/>
                                  </p:stCondLst>
                                  <p:childTnLst>
                                    <p:set>
                                      <p:cBhvr>
                                        <p:cTn id="83" dur="1" fill="hold">
                                          <p:stCondLst>
                                            <p:cond delay="0"/>
                                          </p:stCondLst>
                                        </p:cTn>
                                        <p:tgtEl>
                                          <p:spTgt spid="30"/>
                                        </p:tgtEl>
                                        <p:attrNameLst>
                                          <p:attrName>style.visibility</p:attrName>
                                        </p:attrNameLst>
                                      </p:cBhvr>
                                      <p:to>
                                        <p:strVal val="visible"/>
                                      </p:to>
                                    </p:set>
                                  </p:childTnLst>
                                </p:cTn>
                              </p:par>
                            </p:childTnLst>
                          </p:cTn>
                        </p:par>
                      </p:childTnLst>
                    </p:cTn>
                  </p:par>
                  <p:par>
                    <p:cTn id="84" fill="hold">
                      <p:stCondLst>
                        <p:cond delay="indefinite"/>
                      </p:stCondLst>
                      <p:childTnLst>
                        <p:par>
                          <p:cTn id="85" fill="hold">
                            <p:stCondLst>
                              <p:cond delay="0"/>
                            </p:stCondLst>
                            <p:childTnLst>
                              <p:par>
                                <p:cTn id="86" presetID="1" presetClass="entr" presetSubtype="0" fill="hold" nodeType="clickEffect">
                                  <p:stCondLst>
                                    <p:cond delay="0"/>
                                  </p:stCondLst>
                                  <p:childTnLst>
                                    <p:set>
                                      <p:cBhvr>
                                        <p:cTn id="87" dur="1" fill="hold">
                                          <p:stCondLst>
                                            <p:cond delay="0"/>
                                          </p:stCondLst>
                                        </p:cTn>
                                        <p:tgtEl>
                                          <p:spTgt spid="18"/>
                                        </p:tgtEl>
                                        <p:attrNameLst>
                                          <p:attrName>style.visibility</p:attrName>
                                        </p:attrNameLst>
                                      </p:cBhvr>
                                      <p:to>
                                        <p:strVal val="visible"/>
                                      </p:to>
                                    </p:set>
                                  </p:childTnLst>
                                </p:cTn>
                              </p:par>
                            </p:childTnLst>
                          </p:cTn>
                        </p:par>
                      </p:childTnLst>
                    </p:cTn>
                  </p:par>
                  <p:par>
                    <p:cTn id="88" fill="hold">
                      <p:stCondLst>
                        <p:cond delay="indefinite"/>
                      </p:stCondLst>
                      <p:childTnLst>
                        <p:par>
                          <p:cTn id="89" fill="hold">
                            <p:stCondLst>
                              <p:cond delay="0"/>
                            </p:stCondLst>
                            <p:childTnLst>
                              <p:par>
                                <p:cTn id="90" presetID="1" presetClass="entr" presetSubtype="0" fill="hold" grpId="0" nodeType="clickEffect">
                                  <p:stCondLst>
                                    <p:cond delay="0"/>
                                  </p:stCondLst>
                                  <p:childTnLst>
                                    <p:set>
                                      <p:cBhvr>
                                        <p:cTn id="91" dur="1" fill="hold">
                                          <p:stCondLst>
                                            <p:cond delay="0"/>
                                          </p:stCondLst>
                                        </p:cTn>
                                        <p:tgtEl>
                                          <p:spTgt spid="20"/>
                                        </p:tgtEl>
                                        <p:attrNameLst>
                                          <p:attrName>style.visibility</p:attrName>
                                        </p:attrNameLst>
                                      </p:cBhvr>
                                      <p:to>
                                        <p:strVal val="visible"/>
                                      </p:to>
                                    </p:set>
                                  </p:childTnLst>
                                </p:cTn>
                              </p:par>
                            </p:childTnLst>
                          </p:cTn>
                        </p:par>
                      </p:childTnLst>
                    </p:cTn>
                  </p:par>
                  <p:par>
                    <p:cTn id="92" fill="hold">
                      <p:stCondLst>
                        <p:cond delay="indefinite"/>
                      </p:stCondLst>
                      <p:childTnLst>
                        <p:par>
                          <p:cTn id="93" fill="hold">
                            <p:stCondLst>
                              <p:cond delay="0"/>
                            </p:stCondLst>
                            <p:childTnLst>
                              <p:par>
                                <p:cTn id="94" presetID="1" presetClass="entr" presetSubtype="0" fill="hold" nodeType="clickEffect">
                                  <p:stCondLst>
                                    <p:cond delay="0"/>
                                  </p:stCondLst>
                                  <p:childTnLst>
                                    <p:set>
                                      <p:cBhvr>
                                        <p:cTn id="95" dur="1" fill="hold">
                                          <p:stCondLst>
                                            <p:cond delay="0"/>
                                          </p:stCondLst>
                                        </p:cTn>
                                        <p:tgtEl>
                                          <p:spTgt spid="29"/>
                                        </p:tgtEl>
                                        <p:attrNameLst>
                                          <p:attrName>style.visibility</p:attrName>
                                        </p:attrNameLst>
                                      </p:cBhvr>
                                      <p:to>
                                        <p:strVal val="visible"/>
                                      </p:to>
                                    </p:set>
                                  </p:childTnLst>
                                </p:cTn>
                              </p:par>
                            </p:childTnLst>
                          </p:cTn>
                        </p:par>
                      </p:childTnLst>
                    </p:cTn>
                  </p:par>
                  <p:par>
                    <p:cTn id="96" fill="hold">
                      <p:stCondLst>
                        <p:cond delay="indefinite"/>
                      </p:stCondLst>
                      <p:childTnLst>
                        <p:par>
                          <p:cTn id="97" fill="hold">
                            <p:stCondLst>
                              <p:cond delay="0"/>
                            </p:stCondLst>
                            <p:childTnLst>
                              <p:par>
                                <p:cTn id="98" presetID="1" presetClass="entr" presetSubtype="0" fill="hold" grpId="0" nodeType="clickEffect">
                                  <p:stCondLst>
                                    <p:cond delay="0"/>
                                  </p:stCondLst>
                                  <p:childTnLst>
                                    <p:set>
                                      <p:cBhvr>
                                        <p:cTn id="99" dur="1" fill="hold">
                                          <p:stCondLst>
                                            <p:cond delay="0"/>
                                          </p:stCondLst>
                                        </p:cTn>
                                        <p:tgtEl>
                                          <p:spTgt spid="23"/>
                                        </p:tgtEl>
                                        <p:attrNameLst>
                                          <p:attrName>style.visibility</p:attrName>
                                        </p:attrNameLst>
                                      </p:cBhvr>
                                      <p:to>
                                        <p:strVal val="visible"/>
                                      </p:to>
                                    </p:set>
                                  </p:childTnLst>
                                </p:cTn>
                              </p:par>
                            </p:childTnLst>
                          </p:cTn>
                        </p:par>
                      </p:childTnLst>
                    </p:cTn>
                  </p:par>
                  <p:par>
                    <p:cTn id="100" fill="hold">
                      <p:stCondLst>
                        <p:cond delay="indefinite"/>
                      </p:stCondLst>
                      <p:childTnLst>
                        <p:par>
                          <p:cTn id="101" fill="hold">
                            <p:stCondLst>
                              <p:cond delay="0"/>
                            </p:stCondLst>
                            <p:childTnLst>
                              <p:par>
                                <p:cTn id="102" presetID="10" presetClass="entr" presetSubtype="0" fill="hold" nodeType="clickEffect">
                                  <p:stCondLst>
                                    <p:cond delay="0"/>
                                  </p:stCondLst>
                                  <p:childTnLst>
                                    <p:set>
                                      <p:cBhvr>
                                        <p:cTn id="103" dur="1" fill="hold">
                                          <p:stCondLst>
                                            <p:cond delay="0"/>
                                          </p:stCondLst>
                                        </p:cTn>
                                        <p:tgtEl>
                                          <p:spTgt spid="3">
                                            <p:txEl>
                                              <p:pRg st="9" end="9"/>
                                            </p:txEl>
                                          </p:spTgt>
                                        </p:tgtEl>
                                        <p:attrNameLst>
                                          <p:attrName>style.visibility</p:attrName>
                                        </p:attrNameLst>
                                      </p:cBhvr>
                                      <p:to>
                                        <p:strVal val="visible"/>
                                      </p:to>
                                    </p:set>
                                    <p:animEffect transition="in" filter="fade">
                                      <p:cBhvr>
                                        <p:cTn id="104" dur="500"/>
                                        <p:tgtEl>
                                          <p:spTgt spid="3">
                                            <p:txEl>
                                              <p:pRg st="9" end="9"/>
                                            </p:txEl>
                                          </p:spTgt>
                                        </p:tgtEl>
                                      </p:cBhvr>
                                    </p:animEffect>
                                  </p:childTnLst>
                                </p:cTn>
                              </p:par>
                            </p:childTnLst>
                          </p:cTn>
                        </p:par>
                      </p:childTnLst>
                    </p:cTn>
                  </p:par>
                  <p:par>
                    <p:cTn id="105" fill="hold">
                      <p:stCondLst>
                        <p:cond delay="indefinite"/>
                      </p:stCondLst>
                      <p:childTnLst>
                        <p:par>
                          <p:cTn id="106" fill="hold">
                            <p:stCondLst>
                              <p:cond delay="0"/>
                            </p:stCondLst>
                            <p:childTnLst>
                              <p:par>
                                <p:cTn id="107" presetID="10" presetClass="entr" presetSubtype="0" fill="hold" nodeType="clickEffect">
                                  <p:stCondLst>
                                    <p:cond delay="0"/>
                                  </p:stCondLst>
                                  <p:childTnLst>
                                    <p:set>
                                      <p:cBhvr>
                                        <p:cTn id="108" dur="1" fill="hold">
                                          <p:stCondLst>
                                            <p:cond delay="0"/>
                                          </p:stCondLst>
                                        </p:cTn>
                                        <p:tgtEl>
                                          <p:spTgt spid="3">
                                            <p:txEl>
                                              <p:pRg st="10" end="10"/>
                                            </p:txEl>
                                          </p:spTgt>
                                        </p:tgtEl>
                                        <p:attrNameLst>
                                          <p:attrName>style.visibility</p:attrName>
                                        </p:attrNameLst>
                                      </p:cBhvr>
                                      <p:to>
                                        <p:strVal val="visible"/>
                                      </p:to>
                                    </p:set>
                                    <p:animEffect transition="in" filter="fade">
                                      <p:cBhvr>
                                        <p:cTn id="109"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p:bldP spid="7" grpId="0"/>
      <p:bldP spid="8" grpId="0"/>
      <p:bldP spid="9" grpId="0"/>
      <p:bldP spid="10" grpId="0"/>
      <p:bldP spid="11" grpId="0"/>
      <p:bldP spid="12" grpId="0"/>
      <p:bldP spid="13" grpId="0"/>
      <p:bldP spid="19" grpId="0"/>
      <p:bldP spid="20" grpId="0"/>
      <p:bldP spid="21" grpId="0"/>
      <p:bldP spid="22" grpId="0"/>
      <p:bldP spid="23" grpId="0"/>
      <p:bldP spid="24" grpId="0"/>
      <p:bldP spid="25" grpId="0"/>
      <p:bldP spid="28" grpId="0"/>
      <p:bldP spid="30"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30C3D9C-3031-D309-752E-6FA3322BA1D3}"/>
              </a:ext>
            </a:extLst>
          </p:cNvPr>
          <p:cNvSpPr>
            <a:spLocks noGrp="1"/>
          </p:cNvSpPr>
          <p:nvPr>
            <p:ph type="title"/>
          </p:nvPr>
        </p:nvSpPr>
        <p:spPr>
          <a:xfrm>
            <a:off x="0" y="1"/>
            <a:ext cx="12192000" cy="711200"/>
          </a:xfrm>
        </p:spPr>
        <p:txBody>
          <a:bodyPr/>
          <a:lstStyle/>
          <a:p>
            <a:r>
              <a:rPr lang="en-US" dirty="0"/>
              <a:t>Exercise</a:t>
            </a:r>
          </a:p>
        </p:txBody>
      </p:sp>
      <p:sp>
        <p:nvSpPr>
          <p:cNvPr id="5" name="Content Placeholder 2">
            <a:extLst>
              <a:ext uri="{FF2B5EF4-FFF2-40B4-BE49-F238E27FC236}">
                <a16:creationId xmlns:a16="http://schemas.microsoft.com/office/drawing/2014/main" id="{C25C3523-862B-D4EF-1D2B-C1C1048D4047}"/>
              </a:ext>
            </a:extLst>
          </p:cNvPr>
          <p:cNvSpPr>
            <a:spLocks noGrp="1"/>
          </p:cNvSpPr>
          <p:nvPr>
            <p:ph idx="1"/>
          </p:nvPr>
        </p:nvSpPr>
        <p:spPr>
          <a:xfrm>
            <a:off x="131180" y="863444"/>
            <a:ext cx="11929641" cy="5590565"/>
          </a:xfrm>
        </p:spPr>
        <p:txBody>
          <a:bodyPr/>
          <a:lstStyle/>
          <a:p>
            <a:r>
              <a:rPr lang="en-US" dirty="0"/>
              <a:t>A disk drive has </a:t>
            </a:r>
            <a:r>
              <a:rPr lang="en-US" b="1" dirty="0">
                <a:solidFill>
                  <a:schemeClr val="accent6"/>
                </a:solidFill>
              </a:rPr>
              <a:t>200 cylinders</a:t>
            </a:r>
            <a:r>
              <a:rPr lang="en-US" dirty="0">
                <a:solidFill>
                  <a:schemeClr val="accent6"/>
                </a:solidFill>
              </a:rPr>
              <a:t> </a:t>
            </a:r>
            <a:r>
              <a:rPr lang="en-US" dirty="0"/>
              <a:t>(numbered </a:t>
            </a:r>
            <a:r>
              <a:rPr lang="en-US" b="1" dirty="0">
                <a:solidFill>
                  <a:schemeClr val="accent6"/>
                </a:solidFill>
              </a:rPr>
              <a:t>0</a:t>
            </a:r>
            <a:r>
              <a:rPr lang="en-US" b="1" dirty="0"/>
              <a:t> to </a:t>
            </a:r>
            <a:r>
              <a:rPr lang="en-US" b="1" dirty="0">
                <a:solidFill>
                  <a:schemeClr val="accent6"/>
                </a:solidFill>
              </a:rPr>
              <a:t>199</a:t>
            </a:r>
            <a:r>
              <a:rPr lang="en-US" dirty="0"/>
              <a:t>).</a:t>
            </a:r>
          </a:p>
          <a:p>
            <a:r>
              <a:rPr lang="en-US" b="1" dirty="0">
                <a:solidFill>
                  <a:schemeClr val="accent6"/>
                </a:solidFill>
              </a:rPr>
              <a:t>Request queue</a:t>
            </a:r>
            <a:r>
              <a:rPr lang="en-US" dirty="0"/>
              <a:t>: (82, 170, 43, 140, 24, 16, 190)</a:t>
            </a:r>
          </a:p>
          <a:p>
            <a:r>
              <a:rPr lang="en-US" dirty="0"/>
              <a:t>Current head position: </a:t>
            </a:r>
            <a:r>
              <a:rPr lang="en-US" b="1" dirty="0">
                <a:solidFill>
                  <a:schemeClr val="accent6"/>
                </a:solidFill>
              </a:rPr>
              <a:t>50</a:t>
            </a:r>
            <a:endParaRPr lang="en-US" dirty="0">
              <a:solidFill>
                <a:schemeClr val="accent6"/>
              </a:solidFill>
            </a:endParaRPr>
          </a:p>
          <a:p>
            <a:r>
              <a:rPr lang="en-US" dirty="0"/>
              <a:t>Starting from the current head position, what is the total distance (in cylinders) that the disk arm moves to satisfy all the pending requests, for each of the following disk scheduling Algorithms?</a:t>
            </a:r>
          </a:p>
          <a:p>
            <a:pPr lvl="1">
              <a:lnSpc>
                <a:spcPct val="150000"/>
              </a:lnSpc>
              <a:spcBef>
                <a:spcPts val="200"/>
              </a:spcBef>
            </a:pPr>
            <a:r>
              <a:rPr lang="en-GB" sz="2200" dirty="0"/>
              <a:t>FCFS</a:t>
            </a:r>
          </a:p>
          <a:p>
            <a:pPr lvl="1">
              <a:lnSpc>
                <a:spcPct val="150000"/>
              </a:lnSpc>
              <a:spcBef>
                <a:spcPts val="200"/>
              </a:spcBef>
            </a:pPr>
            <a:r>
              <a:rPr lang="en-GB" sz="2200" dirty="0"/>
              <a:t>SSTF</a:t>
            </a:r>
          </a:p>
          <a:p>
            <a:pPr lvl="1">
              <a:lnSpc>
                <a:spcPct val="150000"/>
              </a:lnSpc>
              <a:spcBef>
                <a:spcPts val="200"/>
              </a:spcBef>
            </a:pPr>
            <a:r>
              <a:rPr lang="en-GB" sz="2200" dirty="0"/>
              <a:t>SCAN</a:t>
            </a:r>
          </a:p>
          <a:p>
            <a:pPr lvl="1">
              <a:lnSpc>
                <a:spcPct val="150000"/>
              </a:lnSpc>
              <a:spcBef>
                <a:spcPts val="200"/>
              </a:spcBef>
            </a:pPr>
            <a:r>
              <a:rPr lang="en-GB" sz="2200" dirty="0"/>
              <a:t>C-SCAN</a:t>
            </a:r>
          </a:p>
          <a:p>
            <a:pPr lvl="1">
              <a:lnSpc>
                <a:spcPct val="150000"/>
              </a:lnSpc>
              <a:spcBef>
                <a:spcPts val="200"/>
              </a:spcBef>
            </a:pPr>
            <a:r>
              <a:rPr lang="en-GB" sz="2200" dirty="0"/>
              <a:t>LOOK</a:t>
            </a:r>
          </a:p>
          <a:p>
            <a:pPr lvl="1">
              <a:lnSpc>
                <a:spcPct val="150000"/>
              </a:lnSpc>
              <a:spcBef>
                <a:spcPts val="200"/>
              </a:spcBef>
            </a:pPr>
            <a:r>
              <a:rPr lang="en-GB" sz="2200" dirty="0"/>
              <a:t>C-LOOK</a:t>
            </a:r>
          </a:p>
        </p:txBody>
      </p:sp>
      <p:sp>
        <p:nvSpPr>
          <p:cNvPr id="6" name="Content Placeholder 2">
            <a:extLst>
              <a:ext uri="{FF2B5EF4-FFF2-40B4-BE49-F238E27FC236}">
                <a16:creationId xmlns:a16="http://schemas.microsoft.com/office/drawing/2014/main" id="{8E819D2A-CC8F-FA11-5DF0-175C81503865}"/>
              </a:ext>
            </a:extLst>
          </p:cNvPr>
          <p:cNvSpPr txBox="1">
            <a:spLocks/>
          </p:cNvSpPr>
          <p:nvPr/>
        </p:nvSpPr>
        <p:spPr>
          <a:xfrm>
            <a:off x="1721795" y="3244650"/>
            <a:ext cx="2422187" cy="3478334"/>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ct val="150000"/>
              </a:lnSpc>
              <a:spcBef>
                <a:spcPts val="200"/>
              </a:spcBef>
              <a:buFont typeface="Wingdings" panose="05000000000000000000" pitchFamily="2" charset="2"/>
              <a:buChar char="ü"/>
            </a:pPr>
            <a:r>
              <a:rPr lang="en-GB" sz="2200" dirty="0"/>
              <a:t>Answer: </a:t>
            </a:r>
            <a:r>
              <a:rPr lang="en-GB" sz="2200" b="1" dirty="0">
                <a:solidFill>
                  <a:schemeClr val="accent6"/>
                </a:solidFill>
              </a:rPr>
              <a:t>642</a:t>
            </a:r>
            <a:r>
              <a:rPr lang="en-GB" sz="2200" dirty="0"/>
              <a:t> </a:t>
            </a:r>
          </a:p>
          <a:p>
            <a:pPr lvl="1">
              <a:lnSpc>
                <a:spcPct val="150000"/>
              </a:lnSpc>
              <a:spcBef>
                <a:spcPts val="200"/>
              </a:spcBef>
              <a:buFont typeface="Wingdings" panose="05000000000000000000" pitchFamily="2" charset="2"/>
              <a:buChar char="ü"/>
            </a:pPr>
            <a:r>
              <a:rPr lang="en-GB" sz="2200" dirty="0"/>
              <a:t>Answer: </a:t>
            </a:r>
            <a:r>
              <a:rPr lang="en-GB" sz="2200" b="1" dirty="0">
                <a:solidFill>
                  <a:schemeClr val="accent6"/>
                </a:solidFill>
              </a:rPr>
              <a:t>208</a:t>
            </a:r>
          </a:p>
          <a:p>
            <a:pPr lvl="1">
              <a:lnSpc>
                <a:spcPct val="150000"/>
              </a:lnSpc>
              <a:spcBef>
                <a:spcPts val="200"/>
              </a:spcBef>
              <a:buFont typeface="Wingdings" panose="05000000000000000000" pitchFamily="2" charset="2"/>
              <a:buChar char="ü"/>
            </a:pPr>
            <a:r>
              <a:rPr lang="en-GB" sz="2200" dirty="0"/>
              <a:t>Answer: </a:t>
            </a:r>
            <a:r>
              <a:rPr lang="en-GB" sz="2200" b="1" dirty="0">
                <a:solidFill>
                  <a:schemeClr val="accent6"/>
                </a:solidFill>
              </a:rPr>
              <a:t>332</a:t>
            </a:r>
          </a:p>
          <a:p>
            <a:pPr lvl="1">
              <a:lnSpc>
                <a:spcPct val="150000"/>
              </a:lnSpc>
              <a:spcBef>
                <a:spcPts val="200"/>
              </a:spcBef>
              <a:buFont typeface="Wingdings" panose="05000000000000000000" pitchFamily="2" charset="2"/>
              <a:buChar char="ü"/>
            </a:pPr>
            <a:r>
              <a:rPr lang="en-GB" sz="2200" dirty="0"/>
              <a:t>Answer: </a:t>
            </a:r>
            <a:r>
              <a:rPr lang="en-GB" sz="2200" b="1" dirty="0">
                <a:solidFill>
                  <a:schemeClr val="accent6"/>
                </a:solidFill>
              </a:rPr>
              <a:t>391</a:t>
            </a:r>
          </a:p>
          <a:p>
            <a:pPr lvl="1">
              <a:lnSpc>
                <a:spcPct val="150000"/>
              </a:lnSpc>
              <a:spcBef>
                <a:spcPts val="200"/>
              </a:spcBef>
              <a:buFont typeface="Wingdings" panose="05000000000000000000" pitchFamily="2" charset="2"/>
              <a:buChar char="ü"/>
            </a:pPr>
            <a:r>
              <a:rPr lang="en-GB" sz="2200" dirty="0"/>
              <a:t>Answer: </a:t>
            </a:r>
            <a:r>
              <a:rPr lang="en-GB" sz="2200" b="1" dirty="0">
                <a:solidFill>
                  <a:schemeClr val="accent6"/>
                </a:solidFill>
              </a:rPr>
              <a:t>314</a:t>
            </a:r>
          </a:p>
          <a:p>
            <a:pPr lvl="1">
              <a:lnSpc>
                <a:spcPct val="150000"/>
              </a:lnSpc>
              <a:spcBef>
                <a:spcPts val="200"/>
              </a:spcBef>
              <a:buFont typeface="Wingdings" panose="05000000000000000000" pitchFamily="2" charset="2"/>
              <a:buChar char="ü"/>
            </a:pPr>
            <a:r>
              <a:rPr lang="en-GB" sz="2200" dirty="0"/>
              <a:t>Answer: </a:t>
            </a:r>
            <a:r>
              <a:rPr lang="en-GB" sz="2200" b="1" dirty="0">
                <a:solidFill>
                  <a:schemeClr val="accent6"/>
                </a:solidFill>
              </a:rPr>
              <a:t>341</a:t>
            </a:r>
          </a:p>
        </p:txBody>
      </p:sp>
    </p:spTree>
    <p:extLst>
      <p:ext uri="{BB962C8B-B14F-4D97-AF65-F5344CB8AC3E}">
        <p14:creationId xmlns:p14="http://schemas.microsoft.com/office/powerpoint/2010/main" val="15774971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fade">
                                      <p:cBhvr>
                                        <p:cTn id="27" dur="5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
                                            <p:txEl>
                                              <p:pRg st="5" end="5"/>
                                            </p:txEl>
                                          </p:spTgt>
                                        </p:tgtEl>
                                        <p:attrNameLst>
                                          <p:attrName>style.visibility</p:attrName>
                                        </p:attrNameLst>
                                      </p:cBhvr>
                                      <p:to>
                                        <p:strVal val="visible"/>
                                      </p:to>
                                    </p:set>
                                    <p:animEffect transition="in" filter="fade">
                                      <p:cBhvr>
                                        <p:cTn id="32" dur="500"/>
                                        <p:tgtEl>
                                          <p:spTgt spid="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5">
                                            <p:txEl>
                                              <p:pRg st="6" end="6"/>
                                            </p:txEl>
                                          </p:spTgt>
                                        </p:tgtEl>
                                        <p:attrNameLst>
                                          <p:attrName>style.visibility</p:attrName>
                                        </p:attrNameLst>
                                      </p:cBhvr>
                                      <p:to>
                                        <p:strVal val="visible"/>
                                      </p:to>
                                    </p:set>
                                    <p:animEffect transition="in" filter="fade">
                                      <p:cBhvr>
                                        <p:cTn id="37" dur="500"/>
                                        <p:tgtEl>
                                          <p:spTgt spid="5">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5">
                                            <p:txEl>
                                              <p:pRg st="7" end="7"/>
                                            </p:txEl>
                                          </p:spTgt>
                                        </p:tgtEl>
                                        <p:attrNameLst>
                                          <p:attrName>style.visibility</p:attrName>
                                        </p:attrNameLst>
                                      </p:cBhvr>
                                      <p:to>
                                        <p:strVal val="visible"/>
                                      </p:to>
                                    </p:set>
                                    <p:animEffect transition="in" filter="fade">
                                      <p:cBhvr>
                                        <p:cTn id="42" dur="500"/>
                                        <p:tgtEl>
                                          <p:spTgt spid="5">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5">
                                            <p:txEl>
                                              <p:pRg st="8" end="8"/>
                                            </p:txEl>
                                          </p:spTgt>
                                        </p:tgtEl>
                                        <p:attrNameLst>
                                          <p:attrName>style.visibility</p:attrName>
                                        </p:attrNameLst>
                                      </p:cBhvr>
                                      <p:to>
                                        <p:strVal val="visible"/>
                                      </p:to>
                                    </p:set>
                                    <p:animEffect transition="in" filter="fade">
                                      <p:cBhvr>
                                        <p:cTn id="47" dur="500"/>
                                        <p:tgtEl>
                                          <p:spTgt spid="5">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5">
                                            <p:txEl>
                                              <p:pRg st="9" end="9"/>
                                            </p:txEl>
                                          </p:spTgt>
                                        </p:tgtEl>
                                        <p:attrNameLst>
                                          <p:attrName>style.visibility</p:attrName>
                                        </p:attrNameLst>
                                      </p:cBhvr>
                                      <p:to>
                                        <p:strVal val="visible"/>
                                      </p:to>
                                    </p:set>
                                    <p:animEffect transition="in" filter="fade">
                                      <p:cBhvr>
                                        <p:cTn id="52" dur="500"/>
                                        <p:tgtEl>
                                          <p:spTgt spid="5">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6">
                                            <p:txEl>
                                              <p:pRg st="0" end="0"/>
                                            </p:txEl>
                                          </p:spTgt>
                                        </p:tgtEl>
                                        <p:attrNameLst>
                                          <p:attrName>style.visibility</p:attrName>
                                        </p:attrNameLst>
                                      </p:cBhvr>
                                      <p:to>
                                        <p:strVal val="visible"/>
                                      </p:to>
                                    </p:set>
                                    <p:animEffect transition="in" filter="fade">
                                      <p:cBhvr>
                                        <p:cTn id="57" dur="500"/>
                                        <p:tgtEl>
                                          <p:spTgt spid="6">
                                            <p:txEl>
                                              <p:pRg st="0" end="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6">
                                            <p:txEl>
                                              <p:pRg st="1" end="1"/>
                                            </p:txEl>
                                          </p:spTgt>
                                        </p:tgtEl>
                                        <p:attrNameLst>
                                          <p:attrName>style.visibility</p:attrName>
                                        </p:attrNameLst>
                                      </p:cBhvr>
                                      <p:to>
                                        <p:strVal val="visible"/>
                                      </p:to>
                                    </p:set>
                                    <p:animEffect transition="in" filter="fade">
                                      <p:cBhvr>
                                        <p:cTn id="62" dur="500"/>
                                        <p:tgtEl>
                                          <p:spTgt spid="6">
                                            <p:txEl>
                                              <p:pRg st="1" end="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6">
                                            <p:txEl>
                                              <p:pRg st="2" end="2"/>
                                            </p:txEl>
                                          </p:spTgt>
                                        </p:tgtEl>
                                        <p:attrNameLst>
                                          <p:attrName>style.visibility</p:attrName>
                                        </p:attrNameLst>
                                      </p:cBhvr>
                                      <p:to>
                                        <p:strVal val="visible"/>
                                      </p:to>
                                    </p:set>
                                    <p:animEffect transition="in" filter="fade">
                                      <p:cBhvr>
                                        <p:cTn id="67" dur="500"/>
                                        <p:tgtEl>
                                          <p:spTgt spid="6">
                                            <p:txEl>
                                              <p:pRg st="2" end="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6">
                                            <p:txEl>
                                              <p:pRg st="3" end="3"/>
                                            </p:txEl>
                                          </p:spTgt>
                                        </p:tgtEl>
                                        <p:attrNameLst>
                                          <p:attrName>style.visibility</p:attrName>
                                        </p:attrNameLst>
                                      </p:cBhvr>
                                      <p:to>
                                        <p:strVal val="visible"/>
                                      </p:to>
                                    </p:set>
                                    <p:animEffect transition="in" filter="fade">
                                      <p:cBhvr>
                                        <p:cTn id="72" dur="500"/>
                                        <p:tgtEl>
                                          <p:spTgt spid="6">
                                            <p:txEl>
                                              <p:pRg st="3" end="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6">
                                            <p:txEl>
                                              <p:pRg st="4" end="4"/>
                                            </p:txEl>
                                          </p:spTgt>
                                        </p:tgtEl>
                                        <p:attrNameLst>
                                          <p:attrName>style.visibility</p:attrName>
                                        </p:attrNameLst>
                                      </p:cBhvr>
                                      <p:to>
                                        <p:strVal val="visible"/>
                                      </p:to>
                                    </p:set>
                                    <p:animEffect transition="in" filter="fade">
                                      <p:cBhvr>
                                        <p:cTn id="77" dur="500"/>
                                        <p:tgtEl>
                                          <p:spTgt spid="6">
                                            <p:txEl>
                                              <p:pRg st="4" end="4"/>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 presetClass="entr" presetSubtype="0" fill="hold" nodeType="clickEffect">
                                  <p:stCondLst>
                                    <p:cond delay="0"/>
                                  </p:stCondLst>
                                  <p:childTnLst>
                                    <p:set>
                                      <p:cBhvr>
                                        <p:cTn id="81"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4FA4E9-01AA-DD5C-0F7E-0C1F069CF29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FFBB4C5-CE3B-83BE-0028-C3CE8B46BB92}"/>
              </a:ext>
            </a:extLst>
          </p:cNvPr>
          <p:cNvSpPr>
            <a:spLocks noGrp="1"/>
          </p:cNvSpPr>
          <p:nvPr>
            <p:ph type="title"/>
          </p:nvPr>
        </p:nvSpPr>
        <p:spPr/>
        <p:txBody>
          <a:bodyPr>
            <a:normAutofit fontScale="90000"/>
          </a:bodyPr>
          <a:lstStyle/>
          <a:p>
            <a:r>
              <a:rPr lang="en-US" dirty="0">
                <a:gradFill flip="none" rotWithShape="1">
                  <a:gsLst>
                    <a:gs pos="10000">
                      <a:schemeClr val="accent6">
                        <a:lumMod val="50000"/>
                      </a:schemeClr>
                    </a:gs>
                    <a:gs pos="100000">
                      <a:schemeClr val="accent6"/>
                    </a:gs>
                  </a:gsLst>
                  <a:lin ang="0" scaled="1"/>
                  <a:tileRect/>
                </a:gradFill>
              </a:rPr>
              <a:t/>
            </a:r>
            <a:br>
              <a:rPr lang="en-US" dirty="0">
                <a:gradFill flip="none" rotWithShape="1">
                  <a:gsLst>
                    <a:gs pos="10000">
                      <a:schemeClr val="accent6">
                        <a:lumMod val="50000"/>
                      </a:schemeClr>
                    </a:gs>
                    <a:gs pos="100000">
                      <a:schemeClr val="accent6"/>
                    </a:gs>
                  </a:gsLst>
                  <a:lin ang="0" scaled="1"/>
                  <a:tileRect/>
                </a:gradFill>
              </a:rPr>
            </a:br>
            <a:r>
              <a:rPr lang="en-US" dirty="0">
                <a:gradFill flip="none" rotWithShape="1">
                  <a:gsLst>
                    <a:gs pos="10000">
                      <a:schemeClr val="accent6">
                        <a:lumMod val="50000"/>
                      </a:schemeClr>
                    </a:gs>
                    <a:gs pos="100000">
                      <a:schemeClr val="accent6"/>
                    </a:gs>
                  </a:gsLst>
                  <a:lin ang="0" scaled="1"/>
                  <a:tileRect/>
                </a:gradFill>
              </a:rPr>
              <a:t/>
            </a:r>
            <a:br>
              <a:rPr lang="en-US" dirty="0">
                <a:gradFill flip="none" rotWithShape="1">
                  <a:gsLst>
                    <a:gs pos="10000">
                      <a:schemeClr val="accent6">
                        <a:lumMod val="50000"/>
                      </a:schemeClr>
                    </a:gs>
                    <a:gs pos="100000">
                      <a:schemeClr val="accent6"/>
                    </a:gs>
                  </a:gsLst>
                  <a:lin ang="0" scaled="1"/>
                  <a:tileRect/>
                </a:gradFill>
              </a:rPr>
            </a:br>
            <a:r>
              <a:rPr lang="en-US" dirty="0">
                <a:gradFill flip="none" rotWithShape="1">
                  <a:gsLst>
                    <a:gs pos="10000">
                      <a:schemeClr val="accent6">
                        <a:lumMod val="50000"/>
                      </a:schemeClr>
                    </a:gs>
                    <a:gs pos="100000">
                      <a:schemeClr val="accent6"/>
                    </a:gs>
                  </a:gsLst>
                  <a:lin ang="0" scaled="1"/>
                  <a:tileRect/>
                </a:gradFill>
              </a:rPr>
              <a:t/>
            </a:r>
            <a:br>
              <a:rPr lang="en-US" dirty="0">
                <a:gradFill flip="none" rotWithShape="1">
                  <a:gsLst>
                    <a:gs pos="10000">
                      <a:schemeClr val="accent6">
                        <a:lumMod val="50000"/>
                      </a:schemeClr>
                    </a:gs>
                    <a:gs pos="100000">
                      <a:schemeClr val="accent6"/>
                    </a:gs>
                  </a:gsLst>
                  <a:lin ang="0" scaled="1"/>
                  <a:tileRect/>
                </a:gradFill>
              </a:rPr>
            </a:br>
            <a:r>
              <a:rPr lang="en-US" dirty="0">
                <a:gradFill flip="none" rotWithShape="1">
                  <a:gsLst>
                    <a:gs pos="10000">
                      <a:schemeClr val="accent6">
                        <a:lumMod val="50000"/>
                      </a:schemeClr>
                    </a:gs>
                    <a:gs pos="100000">
                      <a:schemeClr val="accent6"/>
                    </a:gs>
                  </a:gsLst>
                  <a:lin ang="0" scaled="1"/>
                  <a:tileRect/>
                </a:gradFill>
              </a:rPr>
              <a:t/>
            </a:r>
            <a:br>
              <a:rPr lang="en-US" dirty="0">
                <a:gradFill flip="none" rotWithShape="1">
                  <a:gsLst>
                    <a:gs pos="10000">
                      <a:schemeClr val="accent6">
                        <a:lumMod val="50000"/>
                      </a:schemeClr>
                    </a:gs>
                    <a:gs pos="100000">
                      <a:schemeClr val="accent6"/>
                    </a:gs>
                  </a:gsLst>
                  <a:lin ang="0" scaled="1"/>
                  <a:tileRect/>
                </a:gradFill>
              </a:rPr>
            </a:br>
            <a:r>
              <a:rPr lang="en-US" dirty="0">
                <a:gradFill flip="none" rotWithShape="1">
                  <a:gsLst>
                    <a:gs pos="10000">
                      <a:schemeClr val="accent6">
                        <a:lumMod val="50000"/>
                      </a:schemeClr>
                    </a:gs>
                    <a:gs pos="100000">
                      <a:schemeClr val="accent6"/>
                    </a:gs>
                  </a:gsLst>
                  <a:lin ang="0" scaled="1"/>
                  <a:tileRect/>
                </a:gradFill>
              </a:rPr>
              <a:t>Basic Concepts of File</a:t>
            </a:r>
          </a:p>
        </p:txBody>
      </p:sp>
      <p:sp>
        <p:nvSpPr>
          <p:cNvPr id="5" name="Text Placeholder 4">
            <a:extLst>
              <a:ext uri="{FF2B5EF4-FFF2-40B4-BE49-F238E27FC236}">
                <a16:creationId xmlns:a16="http://schemas.microsoft.com/office/drawing/2014/main" id="{E79A7C2E-1A85-3584-82A0-6FE18EFA81FF}"/>
              </a:ext>
            </a:extLst>
          </p:cNvPr>
          <p:cNvSpPr>
            <a:spLocks noGrp="1"/>
          </p:cNvSpPr>
          <p:nvPr>
            <p:ph type="body" idx="1"/>
          </p:nvPr>
        </p:nvSpPr>
        <p:spPr/>
        <p:txBody>
          <a:bodyPr/>
          <a:lstStyle/>
          <a:p>
            <a:r>
              <a:rPr lang="en-US" dirty="0"/>
              <a:t>Section – 5</a:t>
            </a:r>
          </a:p>
          <a:p>
            <a:endParaRPr lang="en-US" dirty="0"/>
          </a:p>
        </p:txBody>
      </p:sp>
    </p:spTree>
    <p:extLst>
      <p:ext uri="{BB962C8B-B14F-4D97-AF65-F5344CB8AC3E}">
        <p14:creationId xmlns:p14="http://schemas.microsoft.com/office/powerpoint/2010/main" val="26433901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5BCB0C-91D9-7729-C290-4B8BAF9897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4C67B9-F961-90B6-C898-B586DBD73E11}"/>
              </a:ext>
            </a:extLst>
          </p:cNvPr>
          <p:cNvSpPr>
            <a:spLocks noGrp="1"/>
          </p:cNvSpPr>
          <p:nvPr>
            <p:ph type="title"/>
          </p:nvPr>
        </p:nvSpPr>
        <p:spPr>
          <a:xfrm>
            <a:off x="0" y="1"/>
            <a:ext cx="12192000" cy="711200"/>
          </a:xfrm>
        </p:spPr>
        <p:txBody>
          <a:bodyPr/>
          <a:lstStyle/>
          <a:p>
            <a:r>
              <a:rPr lang="en-IN" dirty="0"/>
              <a:t>File</a:t>
            </a:r>
          </a:p>
        </p:txBody>
      </p:sp>
      <p:sp>
        <p:nvSpPr>
          <p:cNvPr id="3" name="Content Placeholder 2">
            <a:extLst>
              <a:ext uri="{FF2B5EF4-FFF2-40B4-BE49-F238E27FC236}">
                <a16:creationId xmlns:a16="http://schemas.microsoft.com/office/drawing/2014/main" id="{2E449CDB-88FB-6DF5-2112-43D2C3A62A98}"/>
              </a:ext>
            </a:extLst>
          </p:cNvPr>
          <p:cNvSpPr>
            <a:spLocks noGrp="1"/>
          </p:cNvSpPr>
          <p:nvPr>
            <p:ph idx="1"/>
          </p:nvPr>
        </p:nvSpPr>
        <p:spPr>
          <a:xfrm>
            <a:off x="131180" y="863444"/>
            <a:ext cx="11929641" cy="5590565"/>
          </a:xfrm>
        </p:spPr>
        <p:txBody>
          <a:bodyPr/>
          <a:lstStyle/>
          <a:p>
            <a:r>
              <a:rPr lang="en-US" dirty="0"/>
              <a:t>A </a:t>
            </a:r>
            <a:r>
              <a:rPr lang="en-US" b="1" dirty="0">
                <a:solidFill>
                  <a:schemeClr val="accent6"/>
                </a:solidFill>
              </a:rPr>
              <a:t>file</a:t>
            </a:r>
            <a:r>
              <a:rPr lang="en-US" dirty="0"/>
              <a:t> is a </a:t>
            </a:r>
            <a:r>
              <a:rPr lang="en-US" b="1" dirty="0">
                <a:solidFill>
                  <a:schemeClr val="accent6"/>
                </a:solidFill>
              </a:rPr>
              <a:t>named collection of related data </a:t>
            </a:r>
            <a:r>
              <a:rPr lang="en-US" dirty="0"/>
              <a:t>stored </a:t>
            </a:r>
            <a:r>
              <a:rPr lang="en-US" b="1" dirty="0">
                <a:solidFill>
                  <a:schemeClr val="accent6"/>
                </a:solidFill>
              </a:rPr>
              <a:t>permanently</a:t>
            </a:r>
            <a:r>
              <a:rPr lang="en-US" dirty="0"/>
              <a:t> on a secondary storage device (e.g., </a:t>
            </a:r>
            <a:r>
              <a:rPr lang="en-US" b="1" dirty="0">
                <a:solidFill>
                  <a:schemeClr val="tx2"/>
                </a:solidFill>
              </a:rPr>
              <a:t>hard disk</a:t>
            </a:r>
            <a:r>
              <a:rPr lang="en-US" dirty="0"/>
              <a:t>, </a:t>
            </a:r>
            <a:r>
              <a:rPr lang="en-US" b="1" dirty="0">
                <a:solidFill>
                  <a:schemeClr val="tx2"/>
                </a:solidFill>
              </a:rPr>
              <a:t>SSD</a:t>
            </a:r>
            <a:r>
              <a:rPr lang="en-US" dirty="0"/>
              <a:t>, or </a:t>
            </a:r>
            <a:r>
              <a:rPr lang="en-US" b="1" dirty="0">
                <a:solidFill>
                  <a:schemeClr val="tx2"/>
                </a:solidFill>
              </a:rPr>
              <a:t>USB drive</a:t>
            </a:r>
            <a:r>
              <a:rPr lang="en-US" dirty="0"/>
              <a:t>). </a:t>
            </a:r>
          </a:p>
          <a:p>
            <a:r>
              <a:rPr lang="en-US" dirty="0"/>
              <a:t>It serves as a </a:t>
            </a:r>
            <a:r>
              <a:rPr lang="en-US" b="1" dirty="0">
                <a:solidFill>
                  <a:schemeClr val="accent6"/>
                </a:solidFill>
              </a:rPr>
              <a:t>basic unit </a:t>
            </a:r>
            <a:r>
              <a:rPr lang="en-US" dirty="0"/>
              <a:t>for </a:t>
            </a:r>
            <a:r>
              <a:rPr lang="en-US" b="1" dirty="0">
                <a:solidFill>
                  <a:schemeClr val="accent6"/>
                </a:solidFill>
              </a:rPr>
              <a:t>storing</a:t>
            </a:r>
            <a:r>
              <a:rPr lang="en-US" dirty="0"/>
              <a:t> and </a:t>
            </a:r>
            <a:r>
              <a:rPr lang="en-US" b="1" dirty="0">
                <a:solidFill>
                  <a:schemeClr val="accent6"/>
                </a:solidFill>
              </a:rPr>
              <a:t>organizing</a:t>
            </a:r>
            <a:r>
              <a:rPr lang="en-US" dirty="0"/>
              <a:t> various types of information, including:</a:t>
            </a:r>
          </a:p>
          <a:p>
            <a:pPr lvl="1"/>
            <a:r>
              <a:rPr lang="en-US" sz="2200" b="1" dirty="0">
                <a:solidFill>
                  <a:schemeClr val="accent6"/>
                </a:solidFill>
              </a:rPr>
              <a:t>Text</a:t>
            </a:r>
            <a:r>
              <a:rPr lang="en-US" sz="2200" dirty="0"/>
              <a:t> (Documents, Scripts)</a:t>
            </a:r>
          </a:p>
          <a:p>
            <a:pPr lvl="1"/>
            <a:r>
              <a:rPr lang="en-US" sz="2200" b="1" dirty="0">
                <a:solidFill>
                  <a:schemeClr val="accent6"/>
                </a:solidFill>
              </a:rPr>
              <a:t>Media</a:t>
            </a:r>
            <a:r>
              <a:rPr lang="en-US" sz="2200" dirty="0"/>
              <a:t> (Images, Audio, Video)</a:t>
            </a:r>
          </a:p>
          <a:p>
            <a:pPr lvl="1"/>
            <a:r>
              <a:rPr lang="en-US" sz="2200" b="1" dirty="0">
                <a:solidFill>
                  <a:schemeClr val="accent6"/>
                </a:solidFill>
              </a:rPr>
              <a:t>Structured Data </a:t>
            </a:r>
            <a:r>
              <a:rPr lang="en-US" sz="2200" dirty="0"/>
              <a:t>(Database tables, Spreadsheets)</a:t>
            </a:r>
          </a:p>
          <a:p>
            <a:pPr lvl="1"/>
            <a:r>
              <a:rPr lang="en-US" sz="2200" b="1" dirty="0">
                <a:solidFill>
                  <a:schemeClr val="accent6"/>
                </a:solidFill>
              </a:rPr>
              <a:t>Executable Code </a:t>
            </a:r>
            <a:r>
              <a:rPr lang="en-US" sz="2200" dirty="0"/>
              <a:t>(Programs, Machine Code)</a:t>
            </a:r>
          </a:p>
        </p:txBody>
      </p:sp>
      <p:grpSp>
        <p:nvGrpSpPr>
          <p:cNvPr id="4" name="Group 3">
            <a:extLst>
              <a:ext uri="{FF2B5EF4-FFF2-40B4-BE49-F238E27FC236}">
                <a16:creationId xmlns:a16="http://schemas.microsoft.com/office/drawing/2014/main" id="{24E05372-91F6-64FC-1701-4281B7763892}"/>
              </a:ext>
            </a:extLst>
          </p:cNvPr>
          <p:cNvGrpSpPr/>
          <p:nvPr/>
        </p:nvGrpSpPr>
        <p:grpSpPr>
          <a:xfrm>
            <a:off x="228908" y="3909409"/>
            <a:ext cx="11532191" cy="1734357"/>
            <a:chOff x="325463" y="2985729"/>
            <a:chExt cx="11532191" cy="1734357"/>
          </a:xfrm>
        </p:grpSpPr>
        <p:pic>
          <p:nvPicPr>
            <p:cNvPr id="5" name="Picture 4">
              <a:extLst>
                <a:ext uri="{FF2B5EF4-FFF2-40B4-BE49-F238E27FC236}">
                  <a16:creationId xmlns:a16="http://schemas.microsoft.com/office/drawing/2014/main" id="{3C061F32-ED7B-18CC-5684-94877C34FF92}"/>
                </a:ext>
              </a:extLst>
            </p:cNvPr>
            <p:cNvPicPr>
              <a:picLocks noChangeAspect="1"/>
            </p:cNvPicPr>
            <p:nvPr/>
          </p:nvPicPr>
          <p:blipFill>
            <a:blip r:embed="rId2" cstate="print">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4313829" y="3051873"/>
              <a:ext cx="1437429" cy="1437429"/>
            </a:xfrm>
            <a:prstGeom prst="rect">
              <a:avLst/>
            </a:prstGeom>
          </p:spPr>
        </p:pic>
        <p:pic>
          <p:nvPicPr>
            <p:cNvPr id="6" name="Picture 5">
              <a:extLst>
                <a:ext uri="{FF2B5EF4-FFF2-40B4-BE49-F238E27FC236}">
                  <a16:creationId xmlns:a16="http://schemas.microsoft.com/office/drawing/2014/main" id="{0B0E7951-268B-05FC-0946-0885B31CE5C4}"/>
                </a:ext>
              </a:extLst>
            </p:cNvPr>
            <p:cNvPicPr>
              <a:picLocks noChangeAspect="1"/>
            </p:cNvPicPr>
            <p:nvPr/>
          </p:nvPicPr>
          <p:blipFill>
            <a:blip r:embed="rId3" cstate="print">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325463" y="3051873"/>
              <a:ext cx="1531247" cy="1531247"/>
            </a:xfrm>
            <a:prstGeom prst="rect">
              <a:avLst/>
            </a:prstGeom>
          </p:spPr>
        </p:pic>
        <p:pic>
          <p:nvPicPr>
            <p:cNvPr id="7" name="Picture 6">
              <a:extLst>
                <a:ext uri="{FF2B5EF4-FFF2-40B4-BE49-F238E27FC236}">
                  <a16:creationId xmlns:a16="http://schemas.microsoft.com/office/drawing/2014/main" id="{072642E5-D8D6-CD14-4A60-00EF8AA1AAC1}"/>
                </a:ext>
              </a:extLst>
            </p:cNvPr>
            <p:cNvPicPr>
              <a:picLocks noChangeAspect="1"/>
            </p:cNvPicPr>
            <p:nvPr/>
          </p:nvPicPr>
          <p:blipFill>
            <a:blip r:embed="rId4" cstate="print">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2236553" y="3073301"/>
              <a:ext cx="1626495" cy="1526913"/>
            </a:xfrm>
            <a:prstGeom prst="rect">
              <a:avLst/>
            </a:prstGeom>
          </p:spPr>
        </p:pic>
        <p:pic>
          <p:nvPicPr>
            <p:cNvPr id="8" name="Picture 7">
              <a:extLst>
                <a:ext uri="{FF2B5EF4-FFF2-40B4-BE49-F238E27FC236}">
                  <a16:creationId xmlns:a16="http://schemas.microsoft.com/office/drawing/2014/main" id="{2938B591-781D-51F9-223E-435B5432B088}"/>
                </a:ext>
              </a:extLst>
            </p:cNvPr>
            <p:cNvPicPr>
              <a:picLocks noChangeAspect="1"/>
            </p:cNvPicPr>
            <p:nvPr/>
          </p:nvPicPr>
          <p:blipFill>
            <a:blip r:embed="rId5" cstate="print">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6214230" y="3039913"/>
              <a:ext cx="1625991" cy="1625991"/>
            </a:xfrm>
            <a:prstGeom prst="rect">
              <a:avLst/>
            </a:prstGeom>
          </p:spPr>
        </p:pic>
        <p:pic>
          <p:nvPicPr>
            <p:cNvPr id="9" name="Picture 8">
              <a:extLst>
                <a:ext uri="{FF2B5EF4-FFF2-40B4-BE49-F238E27FC236}">
                  <a16:creationId xmlns:a16="http://schemas.microsoft.com/office/drawing/2014/main" id="{6CE70ED7-EF68-7478-B807-DA6FF1FDC9FC}"/>
                </a:ext>
              </a:extLst>
            </p:cNvPr>
            <p:cNvPicPr>
              <a:picLocks noChangeAspect="1"/>
            </p:cNvPicPr>
            <p:nvPr/>
          </p:nvPicPr>
          <p:blipFill>
            <a:blip r:embed="rId6" cstate="print">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8220568" y="2985729"/>
              <a:ext cx="1734357" cy="1734357"/>
            </a:xfrm>
            <a:prstGeom prst="rect">
              <a:avLst/>
            </a:prstGeom>
          </p:spPr>
        </p:pic>
        <p:pic>
          <p:nvPicPr>
            <p:cNvPr id="10" name="Picture 9">
              <a:extLst>
                <a:ext uri="{FF2B5EF4-FFF2-40B4-BE49-F238E27FC236}">
                  <a16:creationId xmlns:a16="http://schemas.microsoft.com/office/drawing/2014/main" id="{9C5F7916-EE17-EC26-F32B-678CD7E3D57D}"/>
                </a:ext>
              </a:extLst>
            </p:cNvPr>
            <p:cNvPicPr>
              <a:picLocks noChangeAspect="1"/>
            </p:cNvPicPr>
            <p:nvPr/>
          </p:nvPicPr>
          <p:blipFill>
            <a:blip r:embed="rId7">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10191403" y="2999653"/>
              <a:ext cx="1666251" cy="1666251"/>
            </a:xfrm>
            <a:prstGeom prst="rect">
              <a:avLst/>
            </a:prstGeom>
          </p:spPr>
        </p:pic>
      </p:grpSp>
    </p:spTree>
    <p:extLst>
      <p:ext uri="{BB962C8B-B14F-4D97-AF65-F5344CB8AC3E}">
        <p14:creationId xmlns:p14="http://schemas.microsoft.com/office/powerpoint/2010/main" val="6965922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par>
                                <p:cTn id="18" presetID="1" presetClass="entr" presetSubtype="0" fill="hold" nodeType="withEffect">
                                  <p:stCondLst>
                                    <p:cond delay="0"/>
                                  </p:stCondLst>
                                  <p:childTnLst>
                                    <p:set>
                                      <p:cBhvr>
                                        <p:cTn id="19" dur="1" fill="hold">
                                          <p:stCondLst>
                                            <p:cond delay="0"/>
                                          </p:stCondLst>
                                        </p:cTn>
                                        <p:tgtEl>
                                          <p:spTgt spid="4"/>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Effect transition="in" filter="fade">
                                      <p:cBhvr>
                                        <p:cTn id="24" dur="500"/>
                                        <p:tgtEl>
                                          <p:spTgt spid="3">
                                            <p:txEl>
                                              <p:pRg st="3" end="3"/>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Effect transition="in" filter="fade">
                                      <p:cBhvr>
                                        <p:cTn id="29" dur="500"/>
                                        <p:tgtEl>
                                          <p:spTgt spid="3">
                                            <p:txEl>
                                              <p:pRg st="4" end="4"/>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3">
                                            <p:txEl>
                                              <p:pRg st="5" end="5"/>
                                            </p:txEl>
                                          </p:spTgt>
                                        </p:tgtEl>
                                        <p:attrNameLst>
                                          <p:attrName>style.visibility</p:attrName>
                                        </p:attrNameLst>
                                      </p:cBhvr>
                                      <p:to>
                                        <p:strVal val="visible"/>
                                      </p:to>
                                    </p:set>
                                    <p:animEffect transition="in" filter="fade">
                                      <p:cBhvr>
                                        <p:cTn id="34"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F350A-649C-A4E2-78AD-72A7A1C02D51}"/>
            </a:ext>
          </a:extLst>
        </p:cNvPr>
        <p:cNvGrpSpPr/>
        <p:nvPr/>
      </p:nvGrpSpPr>
      <p:grpSpPr>
        <a:xfrm>
          <a:off x="0" y="0"/>
          <a:ext cx="0" cy="0"/>
          <a:chOff x="0" y="0"/>
          <a:chExt cx="0" cy="0"/>
        </a:xfrm>
      </p:grpSpPr>
      <p:sp>
        <p:nvSpPr>
          <p:cNvPr id="2" name="Content Placeholder 2">
            <a:extLst>
              <a:ext uri="{FF2B5EF4-FFF2-40B4-BE49-F238E27FC236}">
                <a16:creationId xmlns:a16="http://schemas.microsoft.com/office/drawing/2014/main" id="{463E52EC-6D73-83A4-7DFD-94A4E1714B67}"/>
              </a:ext>
            </a:extLst>
          </p:cNvPr>
          <p:cNvSpPr>
            <a:spLocks noGrp="1"/>
          </p:cNvSpPr>
          <p:nvPr>
            <p:ph idx="1"/>
          </p:nvPr>
        </p:nvSpPr>
        <p:spPr>
          <a:xfrm>
            <a:off x="131180" y="863444"/>
            <a:ext cx="11929641" cy="5590565"/>
          </a:xfrm>
        </p:spPr>
        <p:txBody>
          <a:bodyPr/>
          <a:lstStyle/>
          <a:p>
            <a:r>
              <a:rPr lang="en-US" dirty="0"/>
              <a:t>A file is an </a:t>
            </a:r>
            <a:r>
              <a:rPr lang="en-US" b="1" dirty="0">
                <a:solidFill>
                  <a:schemeClr val="accent6"/>
                </a:solidFill>
              </a:rPr>
              <a:t>independent entity </a:t>
            </a:r>
            <a:r>
              <a:rPr lang="en-US" dirty="0"/>
              <a:t>from processes, users, and machines.</a:t>
            </a:r>
          </a:p>
          <a:p>
            <a:r>
              <a:rPr lang="en-US" dirty="0"/>
              <a:t>The information </a:t>
            </a:r>
            <a:r>
              <a:rPr lang="en-US" b="1" dirty="0">
                <a:solidFill>
                  <a:schemeClr val="accent6"/>
                </a:solidFill>
              </a:rPr>
              <a:t>stored in a file remains as it is </a:t>
            </a:r>
            <a:r>
              <a:rPr lang="en-US" dirty="0"/>
              <a:t>even when:</a:t>
            </a:r>
          </a:p>
          <a:p>
            <a:pPr lvl="1"/>
            <a:r>
              <a:rPr lang="en-US" sz="2200" dirty="0"/>
              <a:t>The process that created the file terminates.</a:t>
            </a:r>
          </a:p>
          <a:p>
            <a:pPr lvl="1"/>
            <a:r>
              <a:rPr lang="en-US" sz="2200" dirty="0"/>
              <a:t>The user who owns the file logs off from the system.</a:t>
            </a:r>
          </a:p>
          <a:p>
            <a:pPr lvl="1"/>
            <a:r>
              <a:rPr lang="en-US" sz="2200" dirty="0"/>
              <a:t>The machine is switched off.</a:t>
            </a:r>
          </a:p>
          <a:p>
            <a:r>
              <a:rPr lang="en-US" dirty="0"/>
              <a:t>A file has a </a:t>
            </a:r>
            <a:r>
              <a:rPr lang="en-US" b="1" dirty="0">
                <a:solidFill>
                  <a:schemeClr val="accent6"/>
                </a:solidFill>
              </a:rPr>
              <a:t>longer lifespan</a:t>
            </a:r>
            <a:r>
              <a:rPr lang="en-US" dirty="0"/>
              <a:t>. Once a program is created and stored on a disk, it remains there until it is explicitly deleted. Its lifespan can extend to months or even years.</a:t>
            </a:r>
          </a:p>
          <a:p>
            <a:endParaRPr lang="en-US" sz="2200" dirty="0"/>
          </a:p>
        </p:txBody>
      </p:sp>
      <p:sp>
        <p:nvSpPr>
          <p:cNvPr id="3" name="Title 1">
            <a:extLst>
              <a:ext uri="{FF2B5EF4-FFF2-40B4-BE49-F238E27FC236}">
                <a16:creationId xmlns:a16="http://schemas.microsoft.com/office/drawing/2014/main" id="{CF89C6C4-9544-DBB1-F066-20C8624080FA}"/>
              </a:ext>
            </a:extLst>
          </p:cNvPr>
          <p:cNvSpPr>
            <a:spLocks noGrp="1"/>
          </p:cNvSpPr>
          <p:nvPr>
            <p:ph type="title"/>
          </p:nvPr>
        </p:nvSpPr>
        <p:spPr>
          <a:xfrm>
            <a:off x="0" y="1"/>
            <a:ext cx="12192000" cy="711200"/>
          </a:xfrm>
        </p:spPr>
        <p:txBody>
          <a:bodyPr/>
          <a:lstStyle/>
          <a:p>
            <a:r>
              <a:rPr lang="en-IN" dirty="0"/>
              <a:t>File (Conti…)</a:t>
            </a:r>
          </a:p>
        </p:txBody>
      </p:sp>
    </p:spTree>
    <p:extLst>
      <p:ext uri="{BB962C8B-B14F-4D97-AF65-F5344CB8AC3E}">
        <p14:creationId xmlns:p14="http://schemas.microsoft.com/office/powerpoint/2010/main" val="19880891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fade">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fade">
                                      <p:cBhvr>
                                        <p:cTn id="27" dur="5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A15562-48A1-73A1-8085-05C15A9986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AB9560-E088-4056-D416-DBBE5AA18D97}"/>
              </a:ext>
            </a:extLst>
          </p:cNvPr>
          <p:cNvSpPr>
            <a:spLocks noGrp="1"/>
          </p:cNvSpPr>
          <p:nvPr>
            <p:ph type="title"/>
          </p:nvPr>
        </p:nvSpPr>
        <p:spPr>
          <a:xfrm>
            <a:off x="0" y="1"/>
            <a:ext cx="12192000" cy="711200"/>
          </a:xfrm>
        </p:spPr>
        <p:txBody>
          <a:bodyPr/>
          <a:lstStyle/>
          <a:p>
            <a:r>
              <a:rPr lang="en-IN" dirty="0"/>
              <a:t>File System / Manager</a:t>
            </a:r>
          </a:p>
        </p:txBody>
      </p:sp>
      <p:sp>
        <p:nvSpPr>
          <p:cNvPr id="3" name="Content Placeholder 2">
            <a:extLst>
              <a:ext uri="{FF2B5EF4-FFF2-40B4-BE49-F238E27FC236}">
                <a16:creationId xmlns:a16="http://schemas.microsoft.com/office/drawing/2014/main" id="{75C5A2E9-8C97-80FD-DE10-D798CF755E6E}"/>
              </a:ext>
            </a:extLst>
          </p:cNvPr>
          <p:cNvSpPr>
            <a:spLocks noGrp="1"/>
          </p:cNvSpPr>
          <p:nvPr>
            <p:ph idx="1"/>
          </p:nvPr>
        </p:nvSpPr>
        <p:spPr>
          <a:xfrm>
            <a:off x="131180" y="863445"/>
            <a:ext cx="11929641" cy="5649046"/>
          </a:xfrm>
        </p:spPr>
        <p:txBody>
          <a:bodyPr/>
          <a:lstStyle/>
          <a:p>
            <a:r>
              <a:rPr lang="en-US" dirty="0"/>
              <a:t>The </a:t>
            </a:r>
            <a:r>
              <a:rPr lang="en-US" b="1" dirty="0">
                <a:solidFill>
                  <a:schemeClr val="accent6"/>
                </a:solidFill>
              </a:rPr>
              <a:t>file manager </a:t>
            </a:r>
            <a:r>
              <a:rPr lang="en-US" dirty="0"/>
              <a:t>is a fundamental component of an operating system that handles all file-related operations.</a:t>
            </a:r>
          </a:p>
          <a:p>
            <a:r>
              <a:rPr lang="en-US" dirty="0"/>
              <a:t>The </a:t>
            </a:r>
            <a:r>
              <a:rPr lang="en-US" b="1" dirty="0">
                <a:solidFill>
                  <a:schemeClr val="accent6"/>
                </a:solidFill>
              </a:rPr>
              <a:t>operating system </a:t>
            </a:r>
            <a:r>
              <a:rPr lang="en-US" dirty="0"/>
              <a:t>is responsible for managing all files on a computer system, including those with </a:t>
            </a:r>
            <a:r>
              <a:rPr lang="en-US" b="1" dirty="0">
                <a:solidFill>
                  <a:schemeClr val="accent6"/>
                </a:solidFill>
              </a:rPr>
              <a:t>different extensions</a:t>
            </a:r>
            <a:r>
              <a:rPr lang="en-US" dirty="0"/>
              <a:t>.</a:t>
            </a:r>
          </a:p>
        </p:txBody>
      </p:sp>
      <p:pic>
        <p:nvPicPr>
          <p:cNvPr id="4" name="Picture 3">
            <a:extLst>
              <a:ext uri="{FF2B5EF4-FFF2-40B4-BE49-F238E27FC236}">
                <a16:creationId xmlns:a16="http://schemas.microsoft.com/office/drawing/2014/main" id="{5A59A5CB-276F-3BC4-7BF3-7DB670B2D3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3177" y="2555392"/>
            <a:ext cx="5171933" cy="3103160"/>
          </a:xfrm>
          <a:prstGeom prst="rect">
            <a:avLst/>
          </a:prstGeom>
        </p:spPr>
      </p:pic>
      <p:pic>
        <p:nvPicPr>
          <p:cNvPr id="5" name="Picture 4">
            <a:extLst>
              <a:ext uri="{FF2B5EF4-FFF2-40B4-BE49-F238E27FC236}">
                <a16:creationId xmlns:a16="http://schemas.microsoft.com/office/drawing/2014/main" id="{B65DA608-8ECD-1C79-46FC-6F446D58261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75257" y="2452751"/>
            <a:ext cx="3316532" cy="3377334"/>
          </a:xfrm>
          <a:prstGeom prst="rect">
            <a:avLst/>
          </a:prstGeom>
        </p:spPr>
      </p:pic>
      <p:graphicFrame>
        <p:nvGraphicFramePr>
          <p:cNvPr id="10" name="Content Placeholder 4">
            <a:extLst>
              <a:ext uri="{FF2B5EF4-FFF2-40B4-BE49-F238E27FC236}">
                <a16:creationId xmlns:a16="http://schemas.microsoft.com/office/drawing/2014/main" id="{B9988EBD-CE30-7407-71FB-E6EC9E6C1065}"/>
              </a:ext>
            </a:extLst>
          </p:cNvPr>
          <p:cNvGraphicFramePr>
            <a:graphicFrameLocks/>
          </p:cNvGraphicFramePr>
          <p:nvPr>
            <p:extLst>
              <p:ext uri="{D42A27DB-BD31-4B8C-83A1-F6EECF244321}">
                <p14:modId xmlns:p14="http://schemas.microsoft.com/office/powerpoint/2010/main" val="3194018209"/>
              </p:ext>
            </p:extLst>
          </p:nvPr>
        </p:nvGraphicFramePr>
        <p:xfrm>
          <a:off x="714614" y="6063378"/>
          <a:ext cx="1100455" cy="396240"/>
        </p:xfrm>
        <a:graphic>
          <a:graphicData uri="http://schemas.openxmlformats.org/drawingml/2006/table">
            <a:tbl>
              <a:tblPr firstRow="1" bandRow="1">
                <a:tableStyleId>{8EC20E35-A176-4012-BC5E-935CFFF8708E}</a:tableStyleId>
              </a:tblPr>
              <a:tblGrid>
                <a:gridCol w="1100455">
                  <a:extLst>
                    <a:ext uri="{9D8B030D-6E8A-4147-A177-3AD203B41FA5}">
                      <a16:colId xmlns:a16="http://schemas.microsoft.com/office/drawing/2014/main" val="20000"/>
                    </a:ext>
                  </a:extLst>
                </a:gridCol>
              </a:tblGrid>
              <a:tr h="285488">
                <a:tc>
                  <a:txBody>
                    <a:bodyPr/>
                    <a:lstStyle/>
                    <a:p>
                      <a:pPr algn="l"/>
                      <a:r>
                        <a:rPr lang="en-US" sz="2000" b="1" dirty="0">
                          <a:solidFill>
                            <a:schemeClr val="bg1"/>
                          </a:solidFill>
                        </a:rPr>
                        <a:t>Exercise</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solidFill>
                  </a:tcPr>
                </a:tc>
                <a:extLst>
                  <a:ext uri="{0D108BD9-81ED-4DB2-BD59-A6C34878D82A}">
                    <a16:rowId xmlns:a16="http://schemas.microsoft.com/office/drawing/2014/main" val="10001"/>
                  </a:ext>
                </a:extLst>
              </a:tr>
            </a:tbl>
          </a:graphicData>
        </a:graphic>
      </p:graphicFrame>
      <p:graphicFrame>
        <p:nvGraphicFramePr>
          <p:cNvPr id="11" name="Content Placeholder 4">
            <a:extLst>
              <a:ext uri="{FF2B5EF4-FFF2-40B4-BE49-F238E27FC236}">
                <a16:creationId xmlns:a16="http://schemas.microsoft.com/office/drawing/2014/main" id="{5D299A7E-77B5-A573-A992-C62FD6C717D5}"/>
              </a:ext>
            </a:extLst>
          </p:cNvPr>
          <p:cNvGraphicFramePr>
            <a:graphicFrameLocks/>
          </p:cNvGraphicFramePr>
          <p:nvPr>
            <p:extLst>
              <p:ext uri="{D42A27DB-BD31-4B8C-83A1-F6EECF244321}">
                <p14:modId xmlns:p14="http://schemas.microsoft.com/office/powerpoint/2010/main" val="2687368100"/>
              </p:ext>
            </p:extLst>
          </p:nvPr>
        </p:nvGraphicFramePr>
        <p:xfrm>
          <a:off x="1813543" y="6044762"/>
          <a:ext cx="5783759" cy="426720"/>
        </p:xfrm>
        <a:graphic>
          <a:graphicData uri="http://schemas.openxmlformats.org/drawingml/2006/table">
            <a:tbl>
              <a:tblPr firstRow="1" bandRow="1">
                <a:tableStyleId>{8EC20E35-A176-4012-BC5E-935CFFF8708E}</a:tableStyleId>
              </a:tblPr>
              <a:tblGrid>
                <a:gridCol w="5783759">
                  <a:extLst>
                    <a:ext uri="{9D8B030D-6E8A-4147-A177-3AD203B41FA5}">
                      <a16:colId xmlns:a16="http://schemas.microsoft.com/office/drawing/2014/main" val="20000"/>
                    </a:ext>
                  </a:extLst>
                </a:gridCol>
              </a:tblGrid>
              <a:tr h="285488">
                <a:tc>
                  <a:txBody>
                    <a:bodyPr/>
                    <a:lstStyle/>
                    <a:p>
                      <a:pPr algn="l"/>
                      <a:r>
                        <a:rPr lang="en-US" sz="2200" b="0" i="0" kern="1200" dirty="0">
                          <a:solidFill>
                            <a:schemeClr val="tx1"/>
                          </a:solidFill>
                          <a:effectLst/>
                          <a:latin typeface="+mn-lt"/>
                          <a:ea typeface="+mn-ea"/>
                          <a:cs typeface="+mn-cs"/>
                        </a:rPr>
                        <a:t>List the full forms of the given file extensions…!!!</a:t>
                      </a:r>
                      <a:endParaRPr lang="en-US" sz="2200" b="0" i="0" kern="1200" dirty="0">
                        <a:solidFill>
                          <a:schemeClr val="tx1"/>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cxnSp>
        <p:nvCxnSpPr>
          <p:cNvPr id="12" name="Straight Connector 11">
            <a:extLst>
              <a:ext uri="{FF2B5EF4-FFF2-40B4-BE49-F238E27FC236}">
                <a16:creationId xmlns:a16="http://schemas.microsoft.com/office/drawing/2014/main" id="{E837975F-3482-92BC-51DB-A215781AAB23}"/>
              </a:ext>
            </a:extLst>
          </p:cNvPr>
          <p:cNvCxnSpPr>
            <a:cxnSpLocks/>
          </p:cNvCxnSpPr>
          <p:nvPr/>
        </p:nvCxnSpPr>
        <p:spPr>
          <a:xfrm>
            <a:off x="704886" y="6441308"/>
            <a:ext cx="659085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882299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wipe(left)">
                                      <p:cBhvr>
                                        <p:cTn id="19" dur="500"/>
                                        <p:tgtEl>
                                          <p:spTgt spid="10"/>
                                        </p:tgtEl>
                                      </p:cBhvr>
                                    </p:animEffect>
                                  </p:childTnLst>
                                </p:cTn>
                              </p:par>
                              <p:par>
                                <p:cTn id="20" presetID="22" presetClass="entr" presetSubtype="8" fill="hold"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wipe(left)">
                                      <p:cBhvr>
                                        <p:cTn id="22" dur="500"/>
                                        <p:tgtEl>
                                          <p:spTgt spid="11"/>
                                        </p:tgtEl>
                                      </p:cBhvr>
                                    </p:animEffect>
                                  </p:childTnLst>
                                </p:cTn>
                              </p:par>
                              <p:par>
                                <p:cTn id="23" presetID="22" presetClass="entr" presetSubtype="8" fill="hold"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left)">
                                      <p:cBhvr>
                                        <p:cTn id="25"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843976-6E76-72B8-04AC-879F7367E3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C84AD5-751B-E66A-CBE9-64B01A7C860E}"/>
              </a:ext>
            </a:extLst>
          </p:cNvPr>
          <p:cNvSpPr>
            <a:spLocks noGrp="1"/>
          </p:cNvSpPr>
          <p:nvPr>
            <p:ph type="title"/>
          </p:nvPr>
        </p:nvSpPr>
        <p:spPr>
          <a:xfrm>
            <a:off x="0" y="1"/>
            <a:ext cx="12192000" cy="711200"/>
          </a:xfrm>
        </p:spPr>
        <p:txBody>
          <a:bodyPr/>
          <a:lstStyle/>
          <a:p>
            <a:r>
              <a:rPr lang="en-IN" dirty="0"/>
              <a:t>File Naming</a:t>
            </a:r>
          </a:p>
        </p:txBody>
      </p:sp>
      <p:sp>
        <p:nvSpPr>
          <p:cNvPr id="3" name="Content Placeholder 2">
            <a:extLst>
              <a:ext uri="{FF2B5EF4-FFF2-40B4-BE49-F238E27FC236}">
                <a16:creationId xmlns:a16="http://schemas.microsoft.com/office/drawing/2014/main" id="{DC0A96DD-38EF-6F27-7076-F80EFF711C6B}"/>
              </a:ext>
            </a:extLst>
          </p:cNvPr>
          <p:cNvSpPr>
            <a:spLocks noGrp="1"/>
          </p:cNvSpPr>
          <p:nvPr>
            <p:ph idx="1"/>
          </p:nvPr>
        </p:nvSpPr>
        <p:spPr>
          <a:xfrm>
            <a:off x="131181" y="814805"/>
            <a:ext cx="7806590" cy="5649046"/>
          </a:xfrm>
        </p:spPr>
        <p:txBody>
          <a:bodyPr/>
          <a:lstStyle/>
          <a:p>
            <a:r>
              <a:rPr lang="en-US" dirty="0"/>
              <a:t>A filename is a </a:t>
            </a:r>
            <a:r>
              <a:rPr lang="en-US" b="1" dirty="0">
                <a:solidFill>
                  <a:schemeClr val="accent6"/>
                </a:solidFill>
              </a:rPr>
              <a:t>unique identifier </a:t>
            </a:r>
            <a:r>
              <a:rPr lang="en-US" dirty="0"/>
              <a:t>assigned to a computer file when it's created and stored in an operating system.</a:t>
            </a:r>
          </a:p>
          <a:p>
            <a:r>
              <a:rPr lang="en-US" dirty="0"/>
              <a:t>The </a:t>
            </a:r>
            <a:r>
              <a:rPr lang="en-US" b="1" dirty="0">
                <a:solidFill>
                  <a:schemeClr val="accent6"/>
                </a:solidFill>
              </a:rPr>
              <a:t>filename</a:t>
            </a:r>
            <a:r>
              <a:rPr lang="en-US" dirty="0"/>
              <a:t> serves as the primary reference for accessing the file in the future, providing a </a:t>
            </a:r>
            <a:r>
              <a:rPr lang="en-US" b="1" dirty="0">
                <a:solidFill>
                  <a:schemeClr val="accent6"/>
                </a:solidFill>
              </a:rPr>
              <a:t>human-readable </a:t>
            </a:r>
            <a:r>
              <a:rPr lang="en-US" dirty="0"/>
              <a:t>way to organize and retrieve files.</a:t>
            </a:r>
          </a:p>
          <a:p>
            <a:r>
              <a:rPr lang="en-US" dirty="0"/>
              <a:t>Most modern operating systems enforce </a:t>
            </a:r>
            <a:r>
              <a:rPr lang="en-US" b="1" dirty="0">
                <a:solidFill>
                  <a:schemeClr val="accent6"/>
                </a:solidFill>
              </a:rPr>
              <a:t>specific naming rules</a:t>
            </a:r>
            <a:r>
              <a:rPr lang="en-US" dirty="0"/>
              <a:t>:</a:t>
            </a:r>
          </a:p>
          <a:p>
            <a:pPr lvl="1"/>
            <a:r>
              <a:rPr lang="en-US" sz="2200" dirty="0"/>
              <a:t>Typically allow </a:t>
            </a:r>
            <a:r>
              <a:rPr lang="en-US" sz="2200" b="1" dirty="0">
                <a:solidFill>
                  <a:schemeClr val="accent6"/>
                </a:solidFill>
              </a:rPr>
              <a:t>1-255</a:t>
            </a:r>
            <a:r>
              <a:rPr lang="en-US" sz="2200" dirty="0"/>
              <a:t> characters.</a:t>
            </a:r>
          </a:p>
          <a:p>
            <a:pPr lvl="1"/>
            <a:r>
              <a:rPr lang="en-US" sz="2200" dirty="0"/>
              <a:t>Permit letters (</a:t>
            </a:r>
            <a:r>
              <a:rPr lang="en-US" sz="2200" b="1" dirty="0">
                <a:solidFill>
                  <a:schemeClr val="accent6"/>
                </a:solidFill>
              </a:rPr>
              <a:t>A-Z</a:t>
            </a:r>
            <a:r>
              <a:rPr lang="en-US" sz="2200" dirty="0"/>
              <a:t>/</a:t>
            </a:r>
            <a:r>
              <a:rPr lang="en-US" sz="2200" b="1" dirty="0">
                <a:solidFill>
                  <a:schemeClr val="accent6"/>
                </a:solidFill>
              </a:rPr>
              <a:t>a-z</a:t>
            </a:r>
            <a:r>
              <a:rPr lang="en-US" sz="2200" dirty="0"/>
              <a:t>), digits (</a:t>
            </a:r>
            <a:r>
              <a:rPr lang="en-US" sz="2200" b="1" dirty="0">
                <a:solidFill>
                  <a:schemeClr val="accent6"/>
                </a:solidFill>
              </a:rPr>
              <a:t>0</a:t>
            </a:r>
            <a:r>
              <a:rPr lang="en-US" sz="2200" dirty="0"/>
              <a:t>-</a:t>
            </a:r>
            <a:r>
              <a:rPr lang="en-US" sz="2200" b="1" dirty="0">
                <a:solidFill>
                  <a:schemeClr val="accent6"/>
                </a:solidFill>
              </a:rPr>
              <a:t>9</a:t>
            </a:r>
            <a:r>
              <a:rPr lang="en-US" sz="2200" dirty="0"/>
              <a:t>), and certain special characters (like </a:t>
            </a:r>
            <a:r>
              <a:rPr lang="en-US" sz="2200" b="1" dirty="0">
                <a:solidFill>
                  <a:schemeClr val="accent6"/>
                </a:solidFill>
              </a:rPr>
              <a:t>underscores</a:t>
            </a:r>
            <a:r>
              <a:rPr lang="en-US" sz="2200" dirty="0"/>
              <a:t> or </a:t>
            </a:r>
            <a:r>
              <a:rPr lang="en-US" sz="2200" b="1" dirty="0">
                <a:solidFill>
                  <a:schemeClr val="accent6"/>
                </a:solidFill>
              </a:rPr>
              <a:t>hyphens</a:t>
            </a:r>
            <a:r>
              <a:rPr lang="en-US" sz="2200" dirty="0"/>
              <a:t>)</a:t>
            </a:r>
          </a:p>
          <a:p>
            <a:pPr lvl="1"/>
            <a:r>
              <a:rPr lang="en-US" sz="2200" b="1" dirty="0">
                <a:solidFill>
                  <a:schemeClr val="accent6"/>
                </a:solidFill>
              </a:rPr>
              <a:t>Examples</a:t>
            </a:r>
            <a:r>
              <a:rPr lang="en-US" sz="2200" dirty="0"/>
              <a:t>: </a:t>
            </a:r>
          </a:p>
          <a:p>
            <a:pPr lvl="2"/>
            <a:r>
              <a:rPr lang="en-US" sz="2000" dirty="0"/>
              <a:t>Report_2023.pdf</a:t>
            </a:r>
          </a:p>
          <a:p>
            <a:pPr lvl="2"/>
            <a:r>
              <a:rPr lang="en-US" sz="2000" dirty="0"/>
              <a:t>Project1_Backup</a:t>
            </a:r>
          </a:p>
          <a:p>
            <a:pPr lvl="2"/>
            <a:r>
              <a:rPr lang="en-US" sz="2000" dirty="0"/>
              <a:t>Chapter-2.docx</a:t>
            </a:r>
          </a:p>
          <a:p>
            <a:r>
              <a:rPr lang="en-US" dirty="0"/>
              <a:t>Some file systems support </a:t>
            </a:r>
            <a:r>
              <a:rPr lang="en-US" b="1" dirty="0">
                <a:solidFill>
                  <a:schemeClr val="accent6"/>
                </a:solidFill>
              </a:rPr>
              <a:t>case-sensitive</a:t>
            </a:r>
            <a:r>
              <a:rPr lang="en-US" dirty="0"/>
              <a:t> filenames, while others do not.</a:t>
            </a:r>
            <a:endParaRPr lang="en-IN" dirty="0"/>
          </a:p>
          <a:p>
            <a:pPr lvl="1"/>
            <a:endParaRPr lang="en-IN" dirty="0"/>
          </a:p>
        </p:txBody>
      </p:sp>
      <p:grpSp>
        <p:nvGrpSpPr>
          <p:cNvPr id="28" name="Group 27">
            <a:extLst>
              <a:ext uri="{FF2B5EF4-FFF2-40B4-BE49-F238E27FC236}">
                <a16:creationId xmlns:a16="http://schemas.microsoft.com/office/drawing/2014/main" id="{16781974-22A1-F82C-1F54-03D44123CA8D}"/>
              </a:ext>
            </a:extLst>
          </p:cNvPr>
          <p:cNvGrpSpPr/>
          <p:nvPr/>
        </p:nvGrpSpPr>
        <p:grpSpPr>
          <a:xfrm>
            <a:off x="7849255" y="1337125"/>
            <a:ext cx="4342745" cy="1965149"/>
            <a:chOff x="577906" y="4243957"/>
            <a:chExt cx="4446176" cy="2138487"/>
          </a:xfrm>
        </p:grpSpPr>
        <p:grpSp>
          <p:nvGrpSpPr>
            <p:cNvPr id="29" name="Group 28">
              <a:extLst>
                <a:ext uri="{FF2B5EF4-FFF2-40B4-BE49-F238E27FC236}">
                  <a16:creationId xmlns:a16="http://schemas.microsoft.com/office/drawing/2014/main" id="{E5380C97-BF7A-0040-4680-A24F327D401E}"/>
                </a:ext>
              </a:extLst>
            </p:cNvPr>
            <p:cNvGrpSpPr/>
            <p:nvPr/>
          </p:nvGrpSpPr>
          <p:grpSpPr>
            <a:xfrm>
              <a:off x="653571" y="4243957"/>
              <a:ext cx="4181902" cy="1698582"/>
              <a:chOff x="2017420" y="4239227"/>
              <a:chExt cx="5507061" cy="2060898"/>
            </a:xfrm>
          </p:grpSpPr>
          <p:grpSp>
            <p:nvGrpSpPr>
              <p:cNvPr id="31" name="Group 30">
                <a:extLst>
                  <a:ext uri="{FF2B5EF4-FFF2-40B4-BE49-F238E27FC236}">
                    <a16:creationId xmlns:a16="http://schemas.microsoft.com/office/drawing/2014/main" id="{54C31439-672A-0CE7-0E03-D43C5409898B}"/>
                  </a:ext>
                </a:extLst>
              </p:cNvPr>
              <p:cNvGrpSpPr/>
              <p:nvPr/>
            </p:nvGrpSpPr>
            <p:grpSpPr>
              <a:xfrm>
                <a:off x="3860038" y="4239227"/>
                <a:ext cx="1829874" cy="2060898"/>
                <a:chOff x="1880315" y="4326228"/>
                <a:chExt cx="1829874" cy="2060898"/>
              </a:xfrm>
            </p:grpSpPr>
            <p:pic>
              <p:nvPicPr>
                <p:cNvPr id="38" name="Picture 37">
                  <a:extLst>
                    <a:ext uri="{FF2B5EF4-FFF2-40B4-BE49-F238E27FC236}">
                      <a16:creationId xmlns:a16="http://schemas.microsoft.com/office/drawing/2014/main" id="{D2894E94-94C3-8327-AD8F-E7E1F2E65186}"/>
                    </a:ext>
                  </a:extLst>
                </p:cNvPr>
                <p:cNvPicPr>
                  <a:picLocks noChangeAspect="1"/>
                </p:cNvPicPr>
                <p:nvPr/>
              </p:nvPicPr>
              <p:blipFill>
                <a:blip r:embed="rId2">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1880315" y="4326228"/>
                  <a:ext cx="1829874" cy="1829874"/>
                </a:xfrm>
                <a:prstGeom prst="rect">
                  <a:avLst/>
                </a:prstGeom>
              </p:spPr>
            </p:pic>
            <p:sp>
              <p:nvSpPr>
                <p:cNvPr id="39" name="TextBox 38">
                  <a:extLst>
                    <a:ext uri="{FF2B5EF4-FFF2-40B4-BE49-F238E27FC236}">
                      <a16:creationId xmlns:a16="http://schemas.microsoft.com/office/drawing/2014/main" id="{B339A481-A4DF-5A4E-BAA6-8F1EB388AD49}"/>
                    </a:ext>
                  </a:extLst>
                </p:cNvPr>
                <p:cNvSpPr txBox="1"/>
                <p:nvPr/>
              </p:nvSpPr>
              <p:spPr>
                <a:xfrm>
                  <a:off x="2250359" y="5939014"/>
                  <a:ext cx="1230470" cy="448112"/>
                </a:xfrm>
                <a:prstGeom prst="rect">
                  <a:avLst/>
                </a:prstGeom>
                <a:noFill/>
              </p:spPr>
              <p:txBody>
                <a:bodyPr wrap="square" rtlCol="0">
                  <a:spAutoFit/>
                </a:bodyPr>
                <a:lstStyle/>
                <a:p>
                  <a:r>
                    <a:rPr lang="en-IN" b="1" dirty="0"/>
                    <a:t>Test1</a:t>
                  </a:r>
                </a:p>
              </p:txBody>
            </p:sp>
          </p:grpSp>
          <p:grpSp>
            <p:nvGrpSpPr>
              <p:cNvPr id="32" name="Group 31">
                <a:extLst>
                  <a:ext uri="{FF2B5EF4-FFF2-40B4-BE49-F238E27FC236}">
                    <a16:creationId xmlns:a16="http://schemas.microsoft.com/office/drawing/2014/main" id="{C0FA6D3A-296D-D5EA-E0C7-6894D7F14E1E}"/>
                  </a:ext>
                </a:extLst>
              </p:cNvPr>
              <p:cNvGrpSpPr/>
              <p:nvPr/>
            </p:nvGrpSpPr>
            <p:grpSpPr>
              <a:xfrm>
                <a:off x="2017420" y="4239227"/>
                <a:ext cx="1829874" cy="2021508"/>
                <a:chOff x="1880315" y="4326228"/>
                <a:chExt cx="1829874" cy="2021508"/>
              </a:xfrm>
            </p:grpSpPr>
            <p:pic>
              <p:nvPicPr>
                <p:cNvPr id="36" name="Picture 35">
                  <a:extLst>
                    <a:ext uri="{FF2B5EF4-FFF2-40B4-BE49-F238E27FC236}">
                      <a16:creationId xmlns:a16="http://schemas.microsoft.com/office/drawing/2014/main" id="{1A3BF999-35C0-0C5D-E240-BF74A4007F26}"/>
                    </a:ext>
                  </a:extLst>
                </p:cNvPr>
                <p:cNvPicPr>
                  <a:picLocks noChangeAspect="1"/>
                </p:cNvPicPr>
                <p:nvPr/>
              </p:nvPicPr>
              <p:blipFill>
                <a:blip r:embed="rId2">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1880315" y="4326228"/>
                  <a:ext cx="1829874" cy="1829874"/>
                </a:xfrm>
                <a:prstGeom prst="rect">
                  <a:avLst/>
                </a:prstGeom>
              </p:spPr>
            </p:pic>
            <p:sp>
              <p:nvSpPr>
                <p:cNvPr id="37" name="TextBox 36">
                  <a:extLst>
                    <a:ext uri="{FF2B5EF4-FFF2-40B4-BE49-F238E27FC236}">
                      <a16:creationId xmlns:a16="http://schemas.microsoft.com/office/drawing/2014/main" id="{9E16A20A-5838-571E-662E-64B32C67D387}"/>
                    </a:ext>
                  </a:extLst>
                </p:cNvPr>
                <p:cNvSpPr txBox="1"/>
                <p:nvPr/>
              </p:nvSpPr>
              <p:spPr>
                <a:xfrm>
                  <a:off x="2190414" y="5899624"/>
                  <a:ext cx="1230470" cy="448112"/>
                </a:xfrm>
                <a:prstGeom prst="rect">
                  <a:avLst/>
                </a:prstGeom>
                <a:noFill/>
              </p:spPr>
              <p:txBody>
                <a:bodyPr wrap="square" rtlCol="0">
                  <a:spAutoFit/>
                </a:bodyPr>
                <a:lstStyle/>
                <a:p>
                  <a:r>
                    <a:rPr lang="en-IN" b="1" dirty="0"/>
                    <a:t>test1</a:t>
                  </a:r>
                </a:p>
              </p:txBody>
            </p:sp>
          </p:grpSp>
          <p:grpSp>
            <p:nvGrpSpPr>
              <p:cNvPr id="33" name="Group 32">
                <a:extLst>
                  <a:ext uri="{FF2B5EF4-FFF2-40B4-BE49-F238E27FC236}">
                    <a16:creationId xmlns:a16="http://schemas.microsoft.com/office/drawing/2014/main" id="{01736F7E-A4E2-5F62-5CBC-59B47F4B8370}"/>
                  </a:ext>
                </a:extLst>
              </p:cNvPr>
              <p:cNvGrpSpPr/>
              <p:nvPr/>
            </p:nvGrpSpPr>
            <p:grpSpPr>
              <a:xfrm>
                <a:off x="5694607" y="4239227"/>
                <a:ext cx="1829874" cy="2060898"/>
                <a:chOff x="1880315" y="4326228"/>
                <a:chExt cx="1829874" cy="2060898"/>
              </a:xfrm>
            </p:grpSpPr>
            <p:pic>
              <p:nvPicPr>
                <p:cNvPr id="34" name="Picture 33">
                  <a:extLst>
                    <a:ext uri="{FF2B5EF4-FFF2-40B4-BE49-F238E27FC236}">
                      <a16:creationId xmlns:a16="http://schemas.microsoft.com/office/drawing/2014/main" id="{13B9AC80-0A5C-C172-041A-6C1D0A81A09A}"/>
                    </a:ext>
                  </a:extLst>
                </p:cNvPr>
                <p:cNvPicPr>
                  <a:picLocks noChangeAspect="1"/>
                </p:cNvPicPr>
                <p:nvPr/>
              </p:nvPicPr>
              <p:blipFill>
                <a:blip r:embed="rId2">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1880315" y="4326228"/>
                  <a:ext cx="1829874" cy="1829874"/>
                </a:xfrm>
                <a:prstGeom prst="rect">
                  <a:avLst/>
                </a:prstGeom>
              </p:spPr>
            </p:pic>
            <p:sp>
              <p:nvSpPr>
                <p:cNvPr id="35" name="TextBox 34">
                  <a:extLst>
                    <a:ext uri="{FF2B5EF4-FFF2-40B4-BE49-F238E27FC236}">
                      <a16:creationId xmlns:a16="http://schemas.microsoft.com/office/drawing/2014/main" id="{2CCE8293-0F10-7B05-F4AC-E2F48D47F365}"/>
                    </a:ext>
                  </a:extLst>
                </p:cNvPr>
                <p:cNvSpPr txBox="1"/>
                <p:nvPr/>
              </p:nvSpPr>
              <p:spPr>
                <a:xfrm>
                  <a:off x="2318355" y="5939014"/>
                  <a:ext cx="1230470" cy="448112"/>
                </a:xfrm>
                <a:prstGeom prst="rect">
                  <a:avLst/>
                </a:prstGeom>
                <a:noFill/>
              </p:spPr>
              <p:txBody>
                <a:bodyPr wrap="square" rtlCol="0">
                  <a:spAutoFit/>
                </a:bodyPr>
                <a:lstStyle/>
                <a:p>
                  <a:r>
                    <a:rPr lang="en-IN" b="1" dirty="0"/>
                    <a:t>TEST1</a:t>
                  </a:r>
                </a:p>
              </p:txBody>
            </p:sp>
          </p:grpSp>
        </p:grpSp>
        <p:sp>
          <p:nvSpPr>
            <p:cNvPr id="30" name="TextBox 29">
              <a:extLst>
                <a:ext uri="{FF2B5EF4-FFF2-40B4-BE49-F238E27FC236}">
                  <a16:creationId xmlns:a16="http://schemas.microsoft.com/office/drawing/2014/main" id="{D494E316-29BC-FD34-43D8-1BAA0CA6DC8B}"/>
                </a:ext>
              </a:extLst>
            </p:cNvPr>
            <p:cNvSpPr txBox="1"/>
            <p:nvPr/>
          </p:nvSpPr>
          <p:spPr>
            <a:xfrm>
              <a:off x="577906" y="5859224"/>
              <a:ext cx="4446176" cy="523220"/>
            </a:xfrm>
            <a:prstGeom prst="rect">
              <a:avLst/>
            </a:prstGeom>
            <a:noFill/>
          </p:spPr>
          <p:txBody>
            <a:bodyPr wrap="square" rtlCol="0">
              <a:spAutoFit/>
            </a:bodyPr>
            <a:lstStyle/>
            <a:p>
              <a:pPr algn="ctr"/>
              <a:r>
                <a:rPr lang="en-US" sz="1400" b="1" dirty="0">
                  <a:solidFill>
                    <a:srgbClr val="FF0000"/>
                  </a:solidFill>
                </a:rPr>
                <a:t>test1, Test1 and TEST1 are  three different files in UNIX(case-sensitive)</a:t>
              </a:r>
              <a:endParaRPr lang="en-IN" sz="1400" b="1" dirty="0">
                <a:solidFill>
                  <a:srgbClr val="FF0000"/>
                </a:solidFill>
              </a:endParaRPr>
            </a:p>
          </p:txBody>
        </p:sp>
      </p:grpSp>
      <p:grpSp>
        <p:nvGrpSpPr>
          <p:cNvPr id="40" name="Group 39">
            <a:extLst>
              <a:ext uri="{FF2B5EF4-FFF2-40B4-BE49-F238E27FC236}">
                <a16:creationId xmlns:a16="http://schemas.microsoft.com/office/drawing/2014/main" id="{B5ED541A-5413-5C92-BCAD-D9723B4721FF}"/>
              </a:ext>
            </a:extLst>
          </p:cNvPr>
          <p:cNvGrpSpPr/>
          <p:nvPr/>
        </p:nvGrpSpPr>
        <p:grpSpPr>
          <a:xfrm>
            <a:off x="7849255" y="3809215"/>
            <a:ext cx="4340481" cy="2016571"/>
            <a:chOff x="4792620" y="4179385"/>
            <a:chExt cx="4400921" cy="2236364"/>
          </a:xfrm>
        </p:grpSpPr>
        <p:sp>
          <p:nvSpPr>
            <p:cNvPr id="41" name="TextBox 40">
              <a:extLst>
                <a:ext uri="{FF2B5EF4-FFF2-40B4-BE49-F238E27FC236}">
                  <a16:creationId xmlns:a16="http://schemas.microsoft.com/office/drawing/2014/main" id="{4019E879-5DD4-FCDC-F98B-3AB2818491AF}"/>
                </a:ext>
              </a:extLst>
            </p:cNvPr>
            <p:cNvSpPr txBox="1"/>
            <p:nvPr/>
          </p:nvSpPr>
          <p:spPr>
            <a:xfrm>
              <a:off x="4792620" y="5835502"/>
              <a:ext cx="4400921" cy="580247"/>
            </a:xfrm>
            <a:prstGeom prst="rect">
              <a:avLst/>
            </a:prstGeom>
            <a:noFill/>
          </p:spPr>
          <p:txBody>
            <a:bodyPr wrap="square" rtlCol="0">
              <a:spAutoFit/>
            </a:bodyPr>
            <a:lstStyle/>
            <a:p>
              <a:pPr algn="ctr"/>
              <a:r>
                <a:rPr lang="en-US" sz="1400" b="1" dirty="0">
                  <a:solidFill>
                    <a:srgbClr val="FF0000"/>
                  </a:solidFill>
                </a:rPr>
                <a:t>test1, Test1 and TEST1 are</a:t>
              </a:r>
              <a:endParaRPr lang="en-IN" sz="1400" b="1" dirty="0">
                <a:solidFill>
                  <a:srgbClr val="FF0000"/>
                </a:solidFill>
              </a:endParaRPr>
            </a:p>
            <a:p>
              <a:pPr algn="ctr"/>
              <a:r>
                <a:rPr lang="en-US" sz="1400" b="1" dirty="0">
                  <a:solidFill>
                    <a:srgbClr val="FF0000"/>
                  </a:solidFill>
                </a:rPr>
                <a:t>same files for windows (is not case-sensitive)</a:t>
              </a:r>
              <a:endParaRPr lang="en-IN" sz="1400" b="1" dirty="0">
                <a:solidFill>
                  <a:srgbClr val="FF0000"/>
                </a:solidFill>
              </a:endParaRPr>
            </a:p>
          </p:txBody>
        </p:sp>
        <p:grpSp>
          <p:nvGrpSpPr>
            <p:cNvPr id="42" name="Group 41">
              <a:extLst>
                <a:ext uri="{FF2B5EF4-FFF2-40B4-BE49-F238E27FC236}">
                  <a16:creationId xmlns:a16="http://schemas.microsoft.com/office/drawing/2014/main" id="{D8F4D1CA-9461-8EA0-2575-2A7B07AE4E34}"/>
                </a:ext>
              </a:extLst>
            </p:cNvPr>
            <p:cNvGrpSpPr/>
            <p:nvPr/>
          </p:nvGrpSpPr>
          <p:grpSpPr>
            <a:xfrm>
              <a:off x="4964078" y="4179385"/>
              <a:ext cx="4181902" cy="1698582"/>
              <a:chOff x="2017420" y="4239227"/>
              <a:chExt cx="5507061" cy="2060898"/>
            </a:xfrm>
          </p:grpSpPr>
          <p:grpSp>
            <p:nvGrpSpPr>
              <p:cNvPr id="43" name="Group 42">
                <a:extLst>
                  <a:ext uri="{FF2B5EF4-FFF2-40B4-BE49-F238E27FC236}">
                    <a16:creationId xmlns:a16="http://schemas.microsoft.com/office/drawing/2014/main" id="{BA7D8F27-2CEE-63CB-ACAB-4C74A2E607DA}"/>
                  </a:ext>
                </a:extLst>
              </p:cNvPr>
              <p:cNvGrpSpPr/>
              <p:nvPr/>
            </p:nvGrpSpPr>
            <p:grpSpPr>
              <a:xfrm>
                <a:off x="3860038" y="4239227"/>
                <a:ext cx="1829874" cy="2060898"/>
                <a:chOff x="1880315" y="4326228"/>
                <a:chExt cx="1829874" cy="2060898"/>
              </a:xfrm>
            </p:grpSpPr>
            <p:pic>
              <p:nvPicPr>
                <p:cNvPr id="50" name="Picture 49">
                  <a:extLst>
                    <a:ext uri="{FF2B5EF4-FFF2-40B4-BE49-F238E27FC236}">
                      <a16:creationId xmlns:a16="http://schemas.microsoft.com/office/drawing/2014/main" id="{4214E76A-70AF-A7D2-4D82-4347C0980E58}"/>
                    </a:ext>
                  </a:extLst>
                </p:cNvPr>
                <p:cNvPicPr>
                  <a:picLocks noChangeAspect="1"/>
                </p:cNvPicPr>
                <p:nvPr/>
              </p:nvPicPr>
              <p:blipFill>
                <a:blip r:embed="rId2">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1880315" y="4326228"/>
                  <a:ext cx="1829874" cy="1829874"/>
                </a:xfrm>
                <a:prstGeom prst="rect">
                  <a:avLst/>
                </a:prstGeom>
              </p:spPr>
            </p:pic>
            <p:sp>
              <p:nvSpPr>
                <p:cNvPr id="51" name="TextBox 50">
                  <a:extLst>
                    <a:ext uri="{FF2B5EF4-FFF2-40B4-BE49-F238E27FC236}">
                      <a16:creationId xmlns:a16="http://schemas.microsoft.com/office/drawing/2014/main" id="{EB4541F6-43A1-109C-A592-CD1BF69AA86B}"/>
                    </a:ext>
                  </a:extLst>
                </p:cNvPr>
                <p:cNvSpPr txBox="1"/>
                <p:nvPr/>
              </p:nvSpPr>
              <p:spPr>
                <a:xfrm>
                  <a:off x="2250359" y="5939014"/>
                  <a:ext cx="1230470" cy="448112"/>
                </a:xfrm>
                <a:prstGeom prst="rect">
                  <a:avLst/>
                </a:prstGeom>
                <a:noFill/>
              </p:spPr>
              <p:txBody>
                <a:bodyPr wrap="square" rtlCol="0">
                  <a:spAutoFit/>
                </a:bodyPr>
                <a:lstStyle/>
                <a:p>
                  <a:r>
                    <a:rPr lang="en-IN" b="1" dirty="0"/>
                    <a:t>Test1</a:t>
                  </a:r>
                </a:p>
              </p:txBody>
            </p:sp>
          </p:grpSp>
          <p:grpSp>
            <p:nvGrpSpPr>
              <p:cNvPr id="44" name="Group 43">
                <a:extLst>
                  <a:ext uri="{FF2B5EF4-FFF2-40B4-BE49-F238E27FC236}">
                    <a16:creationId xmlns:a16="http://schemas.microsoft.com/office/drawing/2014/main" id="{BB7149BB-33A0-27B9-9745-C69A99E9A6FE}"/>
                  </a:ext>
                </a:extLst>
              </p:cNvPr>
              <p:cNvGrpSpPr/>
              <p:nvPr/>
            </p:nvGrpSpPr>
            <p:grpSpPr>
              <a:xfrm>
                <a:off x="2017420" y="4239227"/>
                <a:ext cx="1829874" cy="2021508"/>
                <a:chOff x="1880315" y="4326228"/>
                <a:chExt cx="1829874" cy="2021508"/>
              </a:xfrm>
            </p:grpSpPr>
            <p:pic>
              <p:nvPicPr>
                <p:cNvPr id="48" name="Picture 47">
                  <a:extLst>
                    <a:ext uri="{FF2B5EF4-FFF2-40B4-BE49-F238E27FC236}">
                      <a16:creationId xmlns:a16="http://schemas.microsoft.com/office/drawing/2014/main" id="{2E95B1CE-1B5C-5B07-51E6-EB5B9E08FB77}"/>
                    </a:ext>
                  </a:extLst>
                </p:cNvPr>
                <p:cNvPicPr>
                  <a:picLocks noChangeAspect="1"/>
                </p:cNvPicPr>
                <p:nvPr/>
              </p:nvPicPr>
              <p:blipFill>
                <a:blip r:embed="rId2">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1880315" y="4326228"/>
                  <a:ext cx="1829874" cy="1829874"/>
                </a:xfrm>
                <a:prstGeom prst="rect">
                  <a:avLst/>
                </a:prstGeom>
              </p:spPr>
            </p:pic>
            <p:sp>
              <p:nvSpPr>
                <p:cNvPr id="49" name="TextBox 48">
                  <a:extLst>
                    <a:ext uri="{FF2B5EF4-FFF2-40B4-BE49-F238E27FC236}">
                      <a16:creationId xmlns:a16="http://schemas.microsoft.com/office/drawing/2014/main" id="{C6C6FB49-9269-382B-329F-ABE6891B76C8}"/>
                    </a:ext>
                  </a:extLst>
                </p:cNvPr>
                <p:cNvSpPr txBox="1"/>
                <p:nvPr/>
              </p:nvSpPr>
              <p:spPr>
                <a:xfrm>
                  <a:off x="2190414" y="5899624"/>
                  <a:ext cx="1230470" cy="448112"/>
                </a:xfrm>
                <a:prstGeom prst="rect">
                  <a:avLst/>
                </a:prstGeom>
                <a:noFill/>
              </p:spPr>
              <p:txBody>
                <a:bodyPr wrap="square" rtlCol="0">
                  <a:spAutoFit/>
                </a:bodyPr>
                <a:lstStyle/>
                <a:p>
                  <a:r>
                    <a:rPr lang="en-IN" b="1" dirty="0"/>
                    <a:t>test1</a:t>
                  </a:r>
                </a:p>
              </p:txBody>
            </p:sp>
          </p:grpSp>
          <p:grpSp>
            <p:nvGrpSpPr>
              <p:cNvPr id="45" name="Group 44">
                <a:extLst>
                  <a:ext uri="{FF2B5EF4-FFF2-40B4-BE49-F238E27FC236}">
                    <a16:creationId xmlns:a16="http://schemas.microsoft.com/office/drawing/2014/main" id="{DB53C571-AAA4-2B43-621C-F29615090B34}"/>
                  </a:ext>
                </a:extLst>
              </p:cNvPr>
              <p:cNvGrpSpPr/>
              <p:nvPr/>
            </p:nvGrpSpPr>
            <p:grpSpPr>
              <a:xfrm>
                <a:off x="5694607" y="4239227"/>
                <a:ext cx="1829874" cy="2060898"/>
                <a:chOff x="1880315" y="4326228"/>
                <a:chExt cx="1829874" cy="2060898"/>
              </a:xfrm>
            </p:grpSpPr>
            <p:pic>
              <p:nvPicPr>
                <p:cNvPr id="46" name="Picture 45">
                  <a:extLst>
                    <a:ext uri="{FF2B5EF4-FFF2-40B4-BE49-F238E27FC236}">
                      <a16:creationId xmlns:a16="http://schemas.microsoft.com/office/drawing/2014/main" id="{FDA7A0FC-59E9-8FD9-F9AF-1FC787E36374}"/>
                    </a:ext>
                  </a:extLst>
                </p:cNvPr>
                <p:cNvPicPr>
                  <a:picLocks noChangeAspect="1"/>
                </p:cNvPicPr>
                <p:nvPr/>
              </p:nvPicPr>
              <p:blipFill>
                <a:blip r:embed="rId2">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1880315" y="4326228"/>
                  <a:ext cx="1829874" cy="1829874"/>
                </a:xfrm>
                <a:prstGeom prst="rect">
                  <a:avLst/>
                </a:prstGeom>
              </p:spPr>
            </p:pic>
            <p:sp>
              <p:nvSpPr>
                <p:cNvPr id="47" name="TextBox 46">
                  <a:extLst>
                    <a:ext uri="{FF2B5EF4-FFF2-40B4-BE49-F238E27FC236}">
                      <a16:creationId xmlns:a16="http://schemas.microsoft.com/office/drawing/2014/main" id="{E68D53B3-C34C-DB75-B0A2-38DFBE64D759}"/>
                    </a:ext>
                  </a:extLst>
                </p:cNvPr>
                <p:cNvSpPr txBox="1"/>
                <p:nvPr/>
              </p:nvSpPr>
              <p:spPr>
                <a:xfrm>
                  <a:off x="2318355" y="5939014"/>
                  <a:ext cx="1230470" cy="448112"/>
                </a:xfrm>
                <a:prstGeom prst="rect">
                  <a:avLst/>
                </a:prstGeom>
                <a:noFill/>
              </p:spPr>
              <p:txBody>
                <a:bodyPr wrap="square" rtlCol="0">
                  <a:spAutoFit/>
                </a:bodyPr>
                <a:lstStyle/>
                <a:p>
                  <a:r>
                    <a:rPr lang="en-IN" b="1" dirty="0"/>
                    <a:t>TEST1</a:t>
                  </a:r>
                </a:p>
              </p:txBody>
            </p:sp>
          </p:grpSp>
        </p:grpSp>
      </p:grpSp>
      <p:sp>
        <p:nvSpPr>
          <p:cNvPr id="52" name="Rectangle: Rounded Corners 51">
            <a:extLst>
              <a:ext uri="{FF2B5EF4-FFF2-40B4-BE49-F238E27FC236}">
                <a16:creationId xmlns:a16="http://schemas.microsoft.com/office/drawing/2014/main" id="{520E0A86-1654-936F-B915-24746D977001}"/>
              </a:ext>
            </a:extLst>
          </p:cNvPr>
          <p:cNvSpPr/>
          <p:nvPr/>
        </p:nvSpPr>
        <p:spPr>
          <a:xfrm>
            <a:off x="7947129" y="883587"/>
            <a:ext cx="1357228" cy="315099"/>
          </a:xfrm>
          <a:prstGeom prst="roundRect">
            <a:avLst/>
          </a:prstGeom>
          <a:noFill/>
          <a:ln w="19050">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sz="2200" b="1" dirty="0">
                <a:solidFill>
                  <a:schemeClr val="accent6"/>
                </a:solidFill>
              </a:rPr>
              <a:t>Example</a:t>
            </a:r>
          </a:p>
        </p:txBody>
      </p:sp>
    </p:spTree>
    <p:extLst>
      <p:ext uri="{BB962C8B-B14F-4D97-AF65-F5344CB8AC3E}">
        <p14:creationId xmlns:p14="http://schemas.microsoft.com/office/powerpoint/2010/main" val="621304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5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8"/>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631AC4-6402-5FF8-E6DC-E8F53525F07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DA9D5D2-0D3B-9FDC-E4C2-584610C88F62}"/>
              </a:ext>
            </a:extLst>
          </p:cNvPr>
          <p:cNvSpPr>
            <a:spLocks noGrp="1"/>
          </p:cNvSpPr>
          <p:nvPr>
            <p:ph type="title"/>
          </p:nvPr>
        </p:nvSpPr>
        <p:spPr/>
        <p:txBody>
          <a:bodyPr>
            <a:normAutofit fontScale="90000"/>
          </a:bodyPr>
          <a:lstStyle/>
          <a:p>
            <a:r>
              <a:rPr lang="en-US" dirty="0">
                <a:gradFill flip="none" rotWithShape="1">
                  <a:gsLst>
                    <a:gs pos="10000">
                      <a:schemeClr val="accent6">
                        <a:lumMod val="50000"/>
                      </a:schemeClr>
                    </a:gs>
                    <a:gs pos="100000">
                      <a:schemeClr val="accent6"/>
                    </a:gs>
                  </a:gsLst>
                  <a:lin ang="0" scaled="1"/>
                  <a:tileRect/>
                </a:gradFill>
              </a:rPr>
              <a:t/>
            </a:r>
            <a:br>
              <a:rPr lang="en-US" dirty="0">
                <a:gradFill flip="none" rotWithShape="1">
                  <a:gsLst>
                    <a:gs pos="10000">
                      <a:schemeClr val="accent6">
                        <a:lumMod val="50000"/>
                      </a:schemeClr>
                    </a:gs>
                    <a:gs pos="100000">
                      <a:schemeClr val="accent6"/>
                    </a:gs>
                  </a:gsLst>
                  <a:lin ang="0" scaled="1"/>
                  <a:tileRect/>
                </a:gradFill>
              </a:rPr>
            </a:br>
            <a:r>
              <a:rPr lang="en-US" dirty="0">
                <a:gradFill flip="none" rotWithShape="1">
                  <a:gsLst>
                    <a:gs pos="10000">
                      <a:schemeClr val="accent6">
                        <a:lumMod val="50000"/>
                      </a:schemeClr>
                    </a:gs>
                    <a:gs pos="100000">
                      <a:schemeClr val="accent6"/>
                    </a:gs>
                  </a:gsLst>
                  <a:lin ang="0" scaled="1"/>
                  <a:tileRect/>
                </a:gradFill>
              </a:rPr>
              <a:t/>
            </a:r>
            <a:br>
              <a:rPr lang="en-US" dirty="0">
                <a:gradFill flip="none" rotWithShape="1">
                  <a:gsLst>
                    <a:gs pos="10000">
                      <a:schemeClr val="accent6">
                        <a:lumMod val="50000"/>
                      </a:schemeClr>
                    </a:gs>
                    <a:gs pos="100000">
                      <a:schemeClr val="accent6"/>
                    </a:gs>
                  </a:gsLst>
                  <a:lin ang="0" scaled="1"/>
                  <a:tileRect/>
                </a:gradFill>
              </a:rPr>
            </a:br>
            <a:r>
              <a:rPr lang="en-US" dirty="0">
                <a:gradFill flip="none" rotWithShape="1">
                  <a:gsLst>
                    <a:gs pos="10000">
                      <a:schemeClr val="accent6">
                        <a:lumMod val="50000"/>
                      </a:schemeClr>
                    </a:gs>
                    <a:gs pos="100000">
                      <a:schemeClr val="accent6"/>
                    </a:gs>
                  </a:gsLst>
                  <a:lin ang="0" scaled="1"/>
                  <a:tileRect/>
                </a:gradFill>
              </a:rPr>
              <a:t/>
            </a:r>
            <a:br>
              <a:rPr lang="en-US" dirty="0">
                <a:gradFill flip="none" rotWithShape="1">
                  <a:gsLst>
                    <a:gs pos="10000">
                      <a:schemeClr val="accent6">
                        <a:lumMod val="50000"/>
                      </a:schemeClr>
                    </a:gs>
                    <a:gs pos="100000">
                      <a:schemeClr val="accent6"/>
                    </a:gs>
                  </a:gsLst>
                  <a:lin ang="0" scaled="1"/>
                  <a:tileRect/>
                </a:gradFill>
              </a:rPr>
            </a:br>
            <a:r>
              <a:rPr lang="en-US" dirty="0">
                <a:gradFill flip="none" rotWithShape="1">
                  <a:gsLst>
                    <a:gs pos="10000">
                      <a:schemeClr val="accent6">
                        <a:lumMod val="50000"/>
                      </a:schemeClr>
                    </a:gs>
                    <a:gs pos="100000">
                      <a:schemeClr val="accent6"/>
                    </a:gs>
                  </a:gsLst>
                  <a:lin ang="0" scaled="1"/>
                  <a:tileRect/>
                </a:gradFill>
              </a:rPr>
              <a:t/>
            </a:r>
            <a:br>
              <a:rPr lang="en-US" dirty="0">
                <a:gradFill flip="none" rotWithShape="1">
                  <a:gsLst>
                    <a:gs pos="10000">
                      <a:schemeClr val="accent6">
                        <a:lumMod val="50000"/>
                      </a:schemeClr>
                    </a:gs>
                    <a:gs pos="100000">
                      <a:schemeClr val="accent6"/>
                    </a:gs>
                  </a:gsLst>
                  <a:lin ang="0" scaled="1"/>
                  <a:tileRect/>
                </a:gradFill>
              </a:rPr>
            </a:br>
            <a:r>
              <a:rPr lang="en-US" dirty="0">
                <a:gradFill flip="none" rotWithShape="1">
                  <a:gsLst>
                    <a:gs pos="10000">
                      <a:schemeClr val="accent6">
                        <a:lumMod val="50000"/>
                      </a:schemeClr>
                    </a:gs>
                    <a:gs pos="100000">
                      <a:schemeClr val="accent6"/>
                    </a:gs>
                  </a:gsLst>
                  <a:lin ang="0" scaled="1"/>
                  <a:tileRect/>
                </a:gradFill>
              </a:rPr>
              <a:t>File Types</a:t>
            </a:r>
          </a:p>
        </p:txBody>
      </p:sp>
      <p:sp>
        <p:nvSpPr>
          <p:cNvPr id="5" name="Text Placeholder 4">
            <a:extLst>
              <a:ext uri="{FF2B5EF4-FFF2-40B4-BE49-F238E27FC236}">
                <a16:creationId xmlns:a16="http://schemas.microsoft.com/office/drawing/2014/main" id="{D8BA126C-EA00-801A-7C97-E603635A3365}"/>
              </a:ext>
            </a:extLst>
          </p:cNvPr>
          <p:cNvSpPr>
            <a:spLocks noGrp="1"/>
          </p:cNvSpPr>
          <p:nvPr>
            <p:ph type="body" idx="1"/>
          </p:nvPr>
        </p:nvSpPr>
        <p:spPr/>
        <p:txBody>
          <a:bodyPr/>
          <a:lstStyle/>
          <a:p>
            <a:r>
              <a:rPr lang="en-US" dirty="0"/>
              <a:t>Section – 6</a:t>
            </a:r>
          </a:p>
          <a:p>
            <a:endParaRPr lang="en-US" dirty="0"/>
          </a:p>
        </p:txBody>
      </p:sp>
    </p:spTree>
    <p:extLst>
      <p:ext uri="{BB962C8B-B14F-4D97-AF65-F5344CB8AC3E}">
        <p14:creationId xmlns:p14="http://schemas.microsoft.com/office/powerpoint/2010/main" val="34091805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B76684-A80A-349C-95A8-506461C150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8ED7B3-1E06-CC37-0D07-6D999FC03419}"/>
              </a:ext>
            </a:extLst>
          </p:cNvPr>
          <p:cNvSpPr>
            <a:spLocks noGrp="1"/>
          </p:cNvSpPr>
          <p:nvPr>
            <p:ph type="title"/>
          </p:nvPr>
        </p:nvSpPr>
        <p:spPr>
          <a:xfrm>
            <a:off x="0" y="1"/>
            <a:ext cx="12192000" cy="711200"/>
          </a:xfrm>
        </p:spPr>
        <p:txBody>
          <a:bodyPr/>
          <a:lstStyle/>
          <a:p>
            <a:r>
              <a:rPr lang="en-US" dirty="0"/>
              <a:t>File Types</a:t>
            </a:r>
          </a:p>
        </p:txBody>
      </p:sp>
      <p:sp>
        <p:nvSpPr>
          <p:cNvPr id="3" name="Content Placeholder 2">
            <a:extLst>
              <a:ext uri="{FF2B5EF4-FFF2-40B4-BE49-F238E27FC236}">
                <a16:creationId xmlns:a16="http://schemas.microsoft.com/office/drawing/2014/main" id="{F37630DD-31AF-263A-BBF8-861DE1393A20}"/>
              </a:ext>
            </a:extLst>
          </p:cNvPr>
          <p:cNvSpPr>
            <a:spLocks noGrp="1"/>
          </p:cNvSpPr>
          <p:nvPr>
            <p:ph idx="1"/>
          </p:nvPr>
        </p:nvSpPr>
        <p:spPr>
          <a:xfrm>
            <a:off x="115304" y="853917"/>
            <a:ext cx="11865194" cy="5590565"/>
          </a:xfrm>
        </p:spPr>
        <p:txBody>
          <a:bodyPr/>
          <a:lstStyle/>
          <a:p>
            <a:r>
              <a:rPr lang="en-US" b="1" dirty="0">
                <a:solidFill>
                  <a:schemeClr val="accent6"/>
                </a:solidFill>
              </a:rPr>
              <a:t>Regular Files</a:t>
            </a:r>
            <a:r>
              <a:rPr lang="en-US" dirty="0"/>
              <a:t>: These files store user data and can be of various types, including text, binary, and executable files.</a:t>
            </a:r>
          </a:p>
          <a:p>
            <a:r>
              <a:rPr lang="en-US" b="1" dirty="0">
                <a:solidFill>
                  <a:schemeClr val="accent6"/>
                </a:solidFill>
              </a:rPr>
              <a:t>Directories</a:t>
            </a:r>
            <a:r>
              <a:rPr lang="en-US" dirty="0"/>
              <a:t>: These serve as containers for files and subdirectories, helping to organize and manage the file system efficiently.</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sz="2000" dirty="0"/>
          </a:p>
          <a:p>
            <a:pPr marL="0" indent="0">
              <a:buNone/>
            </a:pPr>
            <a:endParaRPr lang="en-US" sz="100" b="1" dirty="0">
              <a:solidFill>
                <a:schemeClr val="accent6"/>
              </a:solidFill>
            </a:endParaRPr>
          </a:p>
          <a:p>
            <a:r>
              <a:rPr lang="en-US" b="1" dirty="0">
                <a:solidFill>
                  <a:schemeClr val="accent6"/>
                </a:solidFill>
              </a:rPr>
              <a:t>Character Special Files</a:t>
            </a:r>
            <a:r>
              <a:rPr lang="en-US" dirty="0"/>
              <a:t>: These files represent </a:t>
            </a:r>
            <a:r>
              <a:rPr lang="en-US" b="1" dirty="0">
                <a:solidFill>
                  <a:schemeClr val="tx2"/>
                </a:solidFill>
              </a:rPr>
              <a:t>serial I/O devices</a:t>
            </a:r>
            <a:r>
              <a:rPr lang="en-US" dirty="0">
                <a:solidFill>
                  <a:schemeClr val="tx2"/>
                </a:solidFill>
              </a:rPr>
              <a:t> </a:t>
            </a:r>
            <a:r>
              <a:rPr lang="en-US" dirty="0"/>
              <a:t>such as terminals and printers, handling data one character at a time.</a:t>
            </a:r>
          </a:p>
          <a:p>
            <a:r>
              <a:rPr lang="en-US" b="1" dirty="0">
                <a:solidFill>
                  <a:schemeClr val="accent6"/>
                </a:solidFill>
              </a:rPr>
              <a:t>Block Special Files</a:t>
            </a:r>
            <a:r>
              <a:rPr lang="en-US" dirty="0"/>
              <a:t>: These files represent </a:t>
            </a:r>
            <a:r>
              <a:rPr lang="en-US" b="1" dirty="0">
                <a:solidFill>
                  <a:schemeClr val="tx2"/>
                </a:solidFill>
              </a:rPr>
              <a:t>block I/O devices</a:t>
            </a:r>
            <a:r>
              <a:rPr lang="en-US" dirty="0">
                <a:solidFill>
                  <a:schemeClr val="tx2"/>
                </a:solidFill>
              </a:rPr>
              <a:t> </a:t>
            </a:r>
            <a:r>
              <a:rPr lang="en-US" dirty="0"/>
              <a:t>such as disks, processing data in fixed-size blocks for efficient storage and retrieval.</a:t>
            </a:r>
          </a:p>
        </p:txBody>
      </p:sp>
      <p:pic>
        <p:nvPicPr>
          <p:cNvPr id="7" name="Picture 2" descr="File &amp; directory structure | Computer Hindi Notes">
            <a:extLst>
              <a:ext uri="{FF2B5EF4-FFF2-40B4-BE49-F238E27FC236}">
                <a16:creationId xmlns:a16="http://schemas.microsoft.com/office/drawing/2014/main" id="{9EBA83B1-39F0-7E4B-44C4-F7B99D9033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57079" y="2193294"/>
            <a:ext cx="4781643" cy="24714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55180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nodeType="after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7E07B6-F18D-98D0-41A8-B49D86BD937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55A1B40-776B-F7C2-94EB-EA1DCA9C8E19}"/>
              </a:ext>
            </a:extLst>
          </p:cNvPr>
          <p:cNvSpPr>
            <a:spLocks noGrp="1"/>
          </p:cNvSpPr>
          <p:nvPr>
            <p:ph type="title"/>
          </p:nvPr>
        </p:nvSpPr>
        <p:spPr/>
        <p:txBody>
          <a:bodyPr>
            <a:normAutofit fontScale="90000"/>
          </a:bodyPr>
          <a:lstStyle/>
          <a:p>
            <a:r>
              <a:rPr lang="en-US" dirty="0">
                <a:gradFill flip="none" rotWithShape="1">
                  <a:gsLst>
                    <a:gs pos="10000">
                      <a:schemeClr val="accent6">
                        <a:lumMod val="50000"/>
                      </a:schemeClr>
                    </a:gs>
                    <a:gs pos="100000">
                      <a:schemeClr val="accent6"/>
                    </a:gs>
                  </a:gsLst>
                  <a:lin ang="0" scaled="1"/>
                  <a:tileRect/>
                </a:gradFill>
              </a:rPr>
              <a:t/>
            </a:r>
            <a:br>
              <a:rPr lang="en-US" dirty="0">
                <a:gradFill flip="none" rotWithShape="1">
                  <a:gsLst>
                    <a:gs pos="10000">
                      <a:schemeClr val="accent6">
                        <a:lumMod val="50000"/>
                      </a:schemeClr>
                    </a:gs>
                    <a:gs pos="100000">
                      <a:schemeClr val="accent6"/>
                    </a:gs>
                  </a:gsLst>
                  <a:lin ang="0" scaled="1"/>
                  <a:tileRect/>
                </a:gradFill>
              </a:rPr>
            </a:br>
            <a:r>
              <a:rPr lang="en-US" dirty="0">
                <a:gradFill flip="none" rotWithShape="1">
                  <a:gsLst>
                    <a:gs pos="10000">
                      <a:schemeClr val="accent6">
                        <a:lumMod val="50000"/>
                      </a:schemeClr>
                    </a:gs>
                    <a:gs pos="100000">
                      <a:schemeClr val="accent6"/>
                    </a:gs>
                  </a:gsLst>
                  <a:lin ang="0" scaled="1"/>
                  <a:tileRect/>
                </a:gradFill>
              </a:rPr>
              <a:t/>
            </a:r>
            <a:br>
              <a:rPr lang="en-US" dirty="0">
                <a:gradFill flip="none" rotWithShape="1">
                  <a:gsLst>
                    <a:gs pos="10000">
                      <a:schemeClr val="accent6">
                        <a:lumMod val="50000"/>
                      </a:schemeClr>
                    </a:gs>
                    <a:gs pos="100000">
                      <a:schemeClr val="accent6"/>
                    </a:gs>
                  </a:gsLst>
                  <a:lin ang="0" scaled="1"/>
                  <a:tileRect/>
                </a:gradFill>
              </a:rPr>
            </a:br>
            <a:r>
              <a:rPr lang="en-US" dirty="0">
                <a:gradFill flip="none" rotWithShape="1">
                  <a:gsLst>
                    <a:gs pos="10000">
                      <a:schemeClr val="accent6">
                        <a:lumMod val="50000"/>
                      </a:schemeClr>
                    </a:gs>
                    <a:gs pos="100000">
                      <a:schemeClr val="accent6"/>
                    </a:gs>
                  </a:gsLst>
                  <a:lin ang="0" scaled="1"/>
                  <a:tileRect/>
                </a:gradFill>
              </a:rPr>
              <a:t/>
            </a:r>
            <a:br>
              <a:rPr lang="en-US" dirty="0">
                <a:gradFill flip="none" rotWithShape="1">
                  <a:gsLst>
                    <a:gs pos="10000">
                      <a:schemeClr val="accent6">
                        <a:lumMod val="50000"/>
                      </a:schemeClr>
                    </a:gs>
                    <a:gs pos="100000">
                      <a:schemeClr val="accent6"/>
                    </a:gs>
                  </a:gsLst>
                  <a:lin ang="0" scaled="1"/>
                  <a:tileRect/>
                </a:gradFill>
              </a:rPr>
            </a:br>
            <a:r>
              <a:rPr lang="en-US" dirty="0">
                <a:gradFill flip="none" rotWithShape="1">
                  <a:gsLst>
                    <a:gs pos="10000">
                      <a:schemeClr val="accent6">
                        <a:lumMod val="50000"/>
                      </a:schemeClr>
                    </a:gs>
                    <a:gs pos="100000">
                      <a:schemeClr val="accent6"/>
                    </a:gs>
                  </a:gsLst>
                  <a:lin ang="0" scaled="1"/>
                  <a:tileRect/>
                </a:gradFill>
              </a:rPr>
              <a:t/>
            </a:r>
            <a:br>
              <a:rPr lang="en-US" dirty="0">
                <a:gradFill flip="none" rotWithShape="1">
                  <a:gsLst>
                    <a:gs pos="10000">
                      <a:schemeClr val="accent6">
                        <a:lumMod val="50000"/>
                      </a:schemeClr>
                    </a:gs>
                    <a:gs pos="100000">
                      <a:schemeClr val="accent6"/>
                    </a:gs>
                  </a:gsLst>
                  <a:lin ang="0" scaled="1"/>
                  <a:tileRect/>
                </a:gradFill>
              </a:rPr>
            </a:br>
            <a:r>
              <a:rPr lang="en-US" dirty="0">
                <a:gradFill flip="none" rotWithShape="1">
                  <a:gsLst>
                    <a:gs pos="10000">
                      <a:schemeClr val="accent6">
                        <a:lumMod val="50000"/>
                      </a:schemeClr>
                    </a:gs>
                    <a:gs pos="100000">
                      <a:schemeClr val="accent6"/>
                    </a:gs>
                  </a:gsLst>
                  <a:lin ang="0" scaled="1"/>
                  <a:tileRect/>
                </a:gradFill>
              </a:rPr>
              <a:t>File Attributes</a:t>
            </a:r>
          </a:p>
        </p:txBody>
      </p:sp>
      <p:sp>
        <p:nvSpPr>
          <p:cNvPr id="5" name="Text Placeholder 4">
            <a:extLst>
              <a:ext uri="{FF2B5EF4-FFF2-40B4-BE49-F238E27FC236}">
                <a16:creationId xmlns:a16="http://schemas.microsoft.com/office/drawing/2014/main" id="{73600815-6B53-97A0-D5F3-4AC31EE0A534}"/>
              </a:ext>
            </a:extLst>
          </p:cNvPr>
          <p:cNvSpPr>
            <a:spLocks noGrp="1"/>
          </p:cNvSpPr>
          <p:nvPr>
            <p:ph type="body" idx="1"/>
          </p:nvPr>
        </p:nvSpPr>
        <p:spPr/>
        <p:txBody>
          <a:bodyPr/>
          <a:lstStyle/>
          <a:p>
            <a:r>
              <a:rPr lang="en-US" dirty="0"/>
              <a:t>Section – 7</a:t>
            </a:r>
          </a:p>
          <a:p>
            <a:endParaRPr lang="en-US" dirty="0"/>
          </a:p>
        </p:txBody>
      </p:sp>
    </p:spTree>
    <p:extLst>
      <p:ext uri="{BB962C8B-B14F-4D97-AF65-F5344CB8AC3E}">
        <p14:creationId xmlns:p14="http://schemas.microsoft.com/office/powerpoint/2010/main" val="405085985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E023F02-F16D-DBDF-E8E2-5389B49C5AE7}"/>
              </a:ext>
            </a:extLst>
          </p:cNvPr>
          <p:cNvSpPr>
            <a:spLocks noGrp="1"/>
          </p:cNvSpPr>
          <p:nvPr>
            <p:ph type="title"/>
          </p:nvPr>
        </p:nvSpPr>
        <p:spPr>
          <a:xfrm>
            <a:off x="0" y="1"/>
            <a:ext cx="12192000" cy="711200"/>
          </a:xfrm>
        </p:spPr>
        <p:txBody>
          <a:bodyPr/>
          <a:lstStyle/>
          <a:p>
            <a:r>
              <a:rPr lang="en-IN" dirty="0"/>
              <a:t>File Attributes</a:t>
            </a:r>
          </a:p>
        </p:txBody>
      </p:sp>
      <p:sp>
        <p:nvSpPr>
          <p:cNvPr id="5" name="Content Placeholder 2">
            <a:extLst>
              <a:ext uri="{FF2B5EF4-FFF2-40B4-BE49-F238E27FC236}">
                <a16:creationId xmlns:a16="http://schemas.microsoft.com/office/drawing/2014/main" id="{23C1D005-B744-7FEC-5A44-263368B85F07}"/>
              </a:ext>
            </a:extLst>
          </p:cNvPr>
          <p:cNvSpPr>
            <a:spLocks noGrp="1"/>
          </p:cNvSpPr>
          <p:nvPr>
            <p:ph idx="1"/>
          </p:nvPr>
        </p:nvSpPr>
        <p:spPr>
          <a:xfrm>
            <a:off x="131180" y="863444"/>
            <a:ext cx="11929641" cy="5590565"/>
          </a:xfrm>
        </p:spPr>
        <p:txBody>
          <a:bodyPr/>
          <a:lstStyle/>
          <a:p>
            <a:r>
              <a:rPr lang="en-US" dirty="0"/>
              <a:t>A file consists of not just its name and data content, but also associated </a:t>
            </a:r>
            <a:r>
              <a:rPr lang="en-US" b="1" dirty="0">
                <a:solidFill>
                  <a:schemeClr val="accent6"/>
                </a:solidFill>
              </a:rPr>
              <a:t>metadata</a:t>
            </a:r>
            <a:r>
              <a:rPr lang="en-US" dirty="0"/>
              <a:t> known as </a:t>
            </a:r>
            <a:r>
              <a:rPr lang="en-US" b="1" dirty="0">
                <a:solidFill>
                  <a:schemeClr val="accent6"/>
                </a:solidFill>
              </a:rPr>
              <a:t>file attributes</a:t>
            </a:r>
            <a:r>
              <a:rPr lang="en-US" dirty="0"/>
              <a:t>. These attributes help the operating system manage and organize files effectively. </a:t>
            </a:r>
          </a:p>
          <a:p>
            <a:r>
              <a:rPr lang="en-US" dirty="0"/>
              <a:t>The primary file attributes include:</a:t>
            </a:r>
            <a:endParaRPr lang="en-IN" dirty="0"/>
          </a:p>
          <a:p>
            <a:pPr lvl="1"/>
            <a:r>
              <a:rPr lang="en-IN" sz="2200" b="1" dirty="0">
                <a:solidFill>
                  <a:schemeClr val="accent6"/>
                </a:solidFill>
              </a:rPr>
              <a:t>Name:</a:t>
            </a:r>
            <a:r>
              <a:rPr lang="en-IN" sz="2200" dirty="0">
                <a:solidFill>
                  <a:schemeClr val="accent6"/>
                </a:solidFill>
              </a:rPr>
              <a:t> </a:t>
            </a:r>
            <a:r>
              <a:rPr lang="en-US" sz="2200" dirty="0"/>
              <a:t>The human-readable identifier for the file</a:t>
            </a:r>
            <a:r>
              <a:rPr lang="en-IN" sz="2200" dirty="0"/>
              <a:t>.</a:t>
            </a:r>
          </a:p>
          <a:p>
            <a:pPr lvl="1"/>
            <a:r>
              <a:rPr lang="en-IN" sz="2200" b="1" dirty="0">
                <a:solidFill>
                  <a:schemeClr val="accent6"/>
                </a:solidFill>
              </a:rPr>
              <a:t>Type:</a:t>
            </a:r>
            <a:r>
              <a:rPr lang="en-IN" sz="2200" b="1" dirty="0"/>
              <a:t> </a:t>
            </a:r>
            <a:r>
              <a:rPr lang="en-US" sz="2200" dirty="0"/>
              <a:t>Indicates the file format (e.g., .txt, .jpg, .exe).</a:t>
            </a:r>
            <a:endParaRPr lang="en-IN" sz="2200" dirty="0"/>
          </a:p>
          <a:p>
            <a:pPr lvl="1"/>
            <a:r>
              <a:rPr lang="en-IN" sz="2200" b="1" dirty="0">
                <a:solidFill>
                  <a:schemeClr val="accent6"/>
                </a:solidFill>
              </a:rPr>
              <a:t>Location:</a:t>
            </a:r>
            <a:r>
              <a:rPr lang="en-IN" sz="2200" dirty="0"/>
              <a:t> </a:t>
            </a:r>
            <a:r>
              <a:rPr lang="en-US" sz="2200" dirty="0"/>
              <a:t>A pointer to the physical storage location on the device.</a:t>
            </a:r>
            <a:endParaRPr lang="en-IN" sz="2200" dirty="0"/>
          </a:p>
          <a:p>
            <a:pPr lvl="1"/>
            <a:r>
              <a:rPr lang="en-IN" sz="2200" b="1" dirty="0">
                <a:solidFill>
                  <a:schemeClr val="accent6"/>
                </a:solidFill>
              </a:rPr>
              <a:t>Size:</a:t>
            </a:r>
            <a:r>
              <a:rPr lang="en-IN" sz="2200" dirty="0"/>
              <a:t> Current file size in bytes.</a:t>
            </a:r>
          </a:p>
          <a:p>
            <a:pPr lvl="1"/>
            <a:r>
              <a:rPr lang="en-IN" sz="2200" b="1" dirty="0">
                <a:solidFill>
                  <a:schemeClr val="accent6"/>
                </a:solidFill>
              </a:rPr>
              <a:t>Timestamps:</a:t>
            </a:r>
            <a:r>
              <a:rPr lang="en-IN" sz="2200" dirty="0"/>
              <a:t> This data is used for creation time/date, last </a:t>
            </a:r>
          </a:p>
          <a:p>
            <a:pPr marL="457200" lvl="1" indent="0">
              <a:buNone/>
            </a:pPr>
            <a:r>
              <a:rPr lang="en-IN" sz="2200" dirty="0"/>
              <a:t>      modification time, last access time and also used for system</a:t>
            </a:r>
          </a:p>
          <a:p>
            <a:pPr marL="457200" lvl="1" indent="0">
              <a:buNone/>
            </a:pPr>
            <a:r>
              <a:rPr lang="en-IN" sz="2200" dirty="0"/>
              <a:t>      maintenance.</a:t>
            </a:r>
          </a:p>
          <a:p>
            <a:pPr lvl="1"/>
            <a:r>
              <a:rPr lang="en-IN" sz="2200" b="1" dirty="0">
                <a:solidFill>
                  <a:schemeClr val="accent6"/>
                </a:solidFill>
              </a:rPr>
              <a:t>Security:</a:t>
            </a:r>
            <a:r>
              <a:rPr lang="en-IN" sz="2200" dirty="0"/>
              <a:t> This controls and assigns the power of reading, writing, </a:t>
            </a:r>
          </a:p>
          <a:p>
            <a:pPr marL="457200" lvl="1" indent="0">
              <a:buNone/>
            </a:pPr>
            <a:r>
              <a:rPr lang="en-IN" sz="2200" dirty="0"/>
              <a:t>      executing.</a:t>
            </a:r>
          </a:p>
          <a:p>
            <a:pPr lvl="1"/>
            <a:endParaRPr lang="en-IN" b="1" dirty="0">
              <a:solidFill>
                <a:schemeClr val="accent6"/>
              </a:solidFill>
            </a:endParaRPr>
          </a:p>
          <a:p>
            <a:pPr marL="457200" lvl="1" indent="0">
              <a:buNone/>
            </a:pPr>
            <a:endParaRPr lang="en-IN" dirty="0"/>
          </a:p>
          <a:p>
            <a:pPr marL="457200" lvl="1" indent="0">
              <a:buNone/>
            </a:pPr>
            <a:endParaRPr lang="en-US" dirty="0"/>
          </a:p>
          <a:p>
            <a:pPr lvl="1"/>
            <a:endParaRPr lang="en-IN" b="1" dirty="0"/>
          </a:p>
        </p:txBody>
      </p:sp>
      <p:pic>
        <p:nvPicPr>
          <p:cNvPr id="6" name="Picture 5">
            <a:extLst>
              <a:ext uri="{FF2B5EF4-FFF2-40B4-BE49-F238E27FC236}">
                <a16:creationId xmlns:a16="http://schemas.microsoft.com/office/drawing/2014/main" id="{1938F92A-CC8E-BA38-6840-EB224C3378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66575" y="1703953"/>
            <a:ext cx="3458058" cy="4601217"/>
          </a:xfrm>
          <a:prstGeom prst="rect">
            <a:avLst/>
          </a:prstGeom>
        </p:spPr>
      </p:pic>
      <p:sp>
        <p:nvSpPr>
          <p:cNvPr id="7" name="Rectangle 6">
            <a:extLst>
              <a:ext uri="{FF2B5EF4-FFF2-40B4-BE49-F238E27FC236}">
                <a16:creationId xmlns:a16="http://schemas.microsoft.com/office/drawing/2014/main" id="{D763B95E-8976-18BA-5E20-E93F076C320E}"/>
              </a:ext>
            </a:extLst>
          </p:cNvPr>
          <p:cNvSpPr/>
          <p:nvPr/>
        </p:nvSpPr>
        <p:spPr>
          <a:xfrm>
            <a:off x="9271283" y="2386739"/>
            <a:ext cx="2510725" cy="37196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8" name="Rectangle 7">
            <a:extLst>
              <a:ext uri="{FF2B5EF4-FFF2-40B4-BE49-F238E27FC236}">
                <a16:creationId xmlns:a16="http://schemas.microsoft.com/office/drawing/2014/main" id="{7D03C7BD-6207-4274-A719-92FFE3F95565}"/>
              </a:ext>
            </a:extLst>
          </p:cNvPr>
          <p:cNvSpPr/>
          <p:nvPr/>
        </p:nvSpPr>
        <p:spPr>
          <a:xfrm>
            <a:off x="8572567" y="2758699"/>
            <a:ext cx="1397431" cy="37196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9" name="Rectangle 8">
            <a:extLst>
              <a:ext uri="{FF2B5EF4-FFF2-40B4-BE49-F238E27FC236}">
                <a16:creationId xmlns:a16="http://schemas.microsoft.com/office/drawing/2014/main" id="{06C11AF3-95F5-6B24-9EBB-F17ABE582F0F}"/>
              </a:ext>
            </a:extLst>
          </p:cNvPr>
          <p:cNvSpPr/>
          <p:nvPr/>
        </p:nvSpPr>
        <p:spPr>
          <a:xfrm>
            <a:off x="8572567" y="3052212"/>
            <a:ext cx="1397431" cy="37196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10" name="Rectangle 9">
            <a:extLst>
              <a:ext uri="{FF2B5EF4-FFF2-40B4-BE49-F238E27FC236}">
                <a16:creationId xmlns:a16="http://schemas.microsoft.com/office/drawing/2014/main" id="{EDF9B7E9-D9A4-2B20-7C04-C1F700AF0914}"/>
              </a:ext>
            </a:extLst>
          </p:cNvPr>
          <p:cNvSpPr/>
          <p:nvPr/>
        </p:nvSpPr>
        <p:spPr>
          <a:xfrm>
            <a:off x="8572567" y="3360269"/>
            <a:ext cx="2233048" cy="45317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11" name="Rectangle 10">
            <a:extLst>
              <a:ext uri="{FF2B5EF4-FFF2-40B4-BE49-F238E27FC236}">
                <a16:creationId xmlns:a16="http://schemas.microsoft.com/office/drawing/2014/main" id="{453821D4-13FC-BBED-E7B5-39D5434B75D9}"/>
              </a:ext>
            </a:extLst>
          </p:cNvPr>
          <p:cNvSpPr/>
          <p:nvPr/>
        </p:nvSpPr>
        <p:spPr>
          <a:xfrm>
            <a:off x="8618415" y="4121501"/>
            <a:ext cx="2233048" cy="40203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12" name="Rectangle 11">
            <a:extLst>
              <a:ext uri="{FF2B5EF4-FFF2-40B4-BE49-F238E27FC236}">
                <a16:creationId xmlns:a16="http://schemas.microsoft.com/office/drawing/2014/main" id="{AAF16813-971E-8263-2018-822670D648A3}"/>
              </a:ext>
            </a:extLst>
          </p:cNvPr>
          <p:cNvSpPr/>
          <p:nvPr/>
        </p:nvSpPr>
        <p:spPr>
          <a:xfrm>
            <a:off x="8618414" y="4585958"/>
            <a:ext cx="2993113" cy="59028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Tree>
    <p:extLst>
      <p:ext uri="{BB962C8B-B14F-4D97-AF65-F5344CB8AC3E}">
        <p14:creationId xmlns:p14="http://schemas.microsoft.com/office/powerpoint/2010/main" val="13915414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26" presetClass="emph" presetSubtype="0" repeatCount="indefinite" fill="hold" grpId="1" nodeType="withEffect">
                                  <p:stCondLst>
                                    <p:cond delay="0"/>
                                  </p:stCondLst>
                                  <p:endCondLst>
                                    <p:cond evt="onNext" delay="0">
                                      <p:tgtEl>
                                        <p:sldTgt/>
                                      </p:tgtEl>
                                    </p:cond>
                                  </p:endCondLst>
                                  <p:childTnLst>
                                    <p:animEffect transition="out" filter="fade">
                                      <p:cBhvr>
                                        <p:cTn id="20" dur="500" tmFilter="0, 0; .2, .5; .8, .5; 1, 0"/>
                                        <p:tgtEl>
                                          <p:spTgt spid="7"/>
                                        </p:tgtEl>
                                      </p:cBhvr>
                                    </p:animEffect>
                                    <p:animScale>
                                      <p:cBhvr>
                                        <p:cTn id="21" dur="250" autoRev="1" fill="hold"/>
                                        <p:tgtEl>
                                          <p:spTgt spid="7"/>
                                        </p:tgtEl>
                                      </p:cBhvr>
                                      <p:by x="105000" y="105000"/>
                                    </p:animScale>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5">
                                            <p:txEl>
                                              <p:pRg st="3" end="3"/>
                                            </p:txEl>
                                          </p:spTgt>
                                        </p:tgtEl>
                                        <p:attrNameLst>
                                          <p:attrName>style.visibility</p:attrName>
                                        </p:attrNameLst>
                                      </p:cBhvr>
                                      <p:to>
                                        <p:strVal val="visible"/>
                                      </p:to>
                                    </p:set>
                                  </p:childTnLst>
                                </p:cTn>
                              </p:par>
                              <p:par>
                                <p:cTn id="26" presetID="1" presetClass="exit" presetSubtype="0" fill="hold" grpId="2" nodeType="withEffect">
                                  <p:stCondLst>
                                    <p:cond delay="0"/>
                                  </p:stCondLst>
                                  <p:childTnLst>
                                    <p:set>
                                      <p:cBhvr>
                                        <p:cTn id="27" dur="1" fill="hold">
                                          <p:stCondLst>
                                            <p:cond delay="0"/>
                                          </p:stCondLst>
                                        </p:cTn>
                                        <p:tgtEl>
                                          <p:spTgt spid="7"/>
                                        </p:tgtEl>
                                        <p:attrNameLst>
                                          <p:attrName>style.visibility</p:attrName>
                                        </p:attrNameLst>
                                      </p:cBhvr>
                                      <p:to>
                                        <p:strVal val="hidden"/>
                                      </p:to>
                                    </p:set>
                                  </p:childTnLst>
                                </p:cTn>
                              </p:par>
                              <p:par>
                                <p:cTn id="28" presetID="1" presetClass="entr" presetSubtype="0" fill="hold" grpId="0" nodeType="withEffect">
                                  <p:stCondLst>
                                    <p:cond delay="0"/>
                                  </p:stCondLst>
                                  <p:childTnLst>
                                    <p:set>
                                      <p:cBhvr>
                                        <p:cTn id="29" dur="1" fill="hold">
                                          <p:stCondLst>
                                            <p:cond delay="0"/>
                                          </p:stCondLst>
                                        </p:cTn>
                                        <p:tgtEl>
                                          <p:spTgt spid="8"/>
                                        </p:tgtEl>
                                        <p:attrNameLst>
                                          <p:attrName>style.visibility</p:attrName>
                                        </p:attrNameLst>
                                      </p:cBhvr>
                                      <p:to>
                                        <p:strVal val="visible"/>
                                      </p:to>
                                    </p:set>
                                  </p:childTnLst>
                                </p:cTn>
                              </p:par>
                              <p:par>
                                <p:cTn id="30" presetID="26" presetClass="emph" presetSubtype="0" repeatCount="indefinite" fill="hold" grpId="1" nodeType="withEffect">
                                  <p:stCondLst>
                                    <p:cond delay="0"/>
                                  </p:stCondLst>
                                  <p:endCondLst>
                                    <p:cond evt="onNext" delay="0">
                                      <p:tgtEl>
                                        <p:sldTgt/>
                                      </p:tgtEl>
                                    </p:cond>
                                  </p:endCondLst>
                                  <p:childTnLst>
                                    <p:animEffect transition="out" filter="fade">
                                      <p:cBhvr>
                                        <p:cTn id="31" dur="500" tmFilter="0, 0; .2, .5; .8, .5; 1, 0"/>
                                        <p:tgtEl>
                                          <p:spTgt spid="8"/>
                                        </p:tgtEl>
                                      </p:cBhvr>
                                    </p:animEffect>
                                    <p:animScale>
                                      <p:cBhvr>
                                        <p:cTn id="32" dur="250" autoRev="1" fill="hold"/>
                                        <p:tgtEl>
                                          <p:spTgt spid="8"/>
                                        </p:tgtEl>
                                      </p:cBhvr>
                                      <p:by x="105000" y="105000"/>
                                    </p:animScale>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5">
                                            <p:txEl>
                                              <p:pRg st="4" end="4"/>
                                            </p:txEl>
                                          </p:spTgt>
                                        </p:tgtEl>
                                        <p:attrNameLst>
                                          <p:attrName>style.visibility</p:attrName>
                                        </p:attrNameLst>
                                      </p:cBhvr>
                                      <p:to>
                                        <p:strVal val="visible"/>
                                      </p:to>
                                    </p:set>
                                  </p:childTnLst>
                                </p:cTn>
                              </p:par>
                              <p:par>
                                <p:cTn id="37" presetID="1" presetClass="exit" presetSubtype="0" fill="hold" grpId="2" nodeType="withEffect">
                                  <p:stCondLst>
                                    <p:cond delay="0"/>
                                  </p:stCondLst>
                                  <p:childTnLst>
                                    <p:set>
                                      <p:cBhvr>
                                        <p:cTn id="38" dur="1" fill="hold">
                                          <p:stCondLst>
                                            <p:cond delay="0"/>
                                          </p:stCondLst>
                                        </p:cTn>
                                        <p:tgtEl>
                                          <p:spTgt spid="8"/>
                                        </p:tgtEl>
                                        <p:attrNameLst>
                                          <p:attrName>style.visibility</p:attrName>
                                        </p:attrNameLst>
                                      </p:cBhvr>
                                      <p:to>
                                        <p:strVal val="hidden"/>
                                      </p:to>
                                    </p:set>
                                  </p:childTnLst>
                                </p:cTn>
                              </p:par>
                              <p:par>
                                <p:cTn id="39" presetID="1" presetClass="entr" presetSubtype="0" fill="hold" grpId="0" nodeType="withEffect">
                                  <p:stCondLst>
                                    <p:cond delay="0"/>
                                  </p:stCondLst>
                                  <p:childTnLst>
                                    <p:set>
                                      <p:cBhvr>
                                        <p:cTn id="40" dur="1" fill="hold">
                                          <p:stCondLst>
                                            <p:cond delay="0"/>
                                          </p:stCondLst>
                                        </p:cTn>
                                        <p:tgtEl>
                                          <p:spTgt spid="9"/>
                                        </p:tgtEl>
                                        <p:attrNameLst>
                                          <p:attrName>style.visibility</p:attrName>
                                        </p:attrNameLst>
                                      </p:cBhvr>
                                      <p:to>
                                        <p:strVal val="visible"/>
                                      </p:to>
                                    </p:set>
                                  </p:childTnLst>
                                </p:cTn>
                              </p:par>
                              <p:par>
                                <p:cTn id="41" presetID="26" presetClass="emph" presetSubtype="0" repeatCount="indefinite" fill="hold" grpId="1" nodeType="withEffect">
                                  <p:stCondLst>
                                    <p:cond delay="0"/>
                                  </p:stCondLst>
                                  <p:endCondLst>
                                    <p:cond evt="onNext" delay="0">
                                      <p:tgtEl>
                                        <p:sldTgt/>
                                      </p:tgtEl>
                                    </p:cond>
                                  </p:endCondLst>
                                  <p:childTnLst>
                                    <p:animEffect transition="out" filter="fade">
                                      <p:cBhvr>
                                        <p:cTn id="42" dur="500" tmFilter="0, 0; .2, .5; .8, .5; 1, 0"/>
                                        <p:tgtEl>
                                          <p:spTgt spid="9"/>
                                        </p:tgtEl>
                                      </p:cBhvr>
                                    </p:animEffect>
                                    <p:animScale>
                                      <p:cBhvr>
                                        <p:cTn id="43" dur="250" autoRev="1" fill="hold"/>
                                        <p:tgtEl>
                                          <p:spTgt spid="9"/>
                                        </p:tgtEl>
                                      </p:cBhvr>
                                      <p:by x="105000" y="105000"/>
                                    </p:animScale>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nodeType="clickEffect">
                                  <p:stCondLst>
                                    <p:cond delay="0"/>
                                  </p:stCondLst>
                                  <p:childTnLst>
                                    <p:set>
                                      <p:cBhvr>
                                        <p:cTn id="47" dur="1" fill="hold">
                                          <p:stCondLst>
                                            <p:cond delay="0"/>
                                          </p:stCondLst>
                                        </p:cTn>
                                        <p:tgtEl>
                                          <p:spTgt spid="5">
                                            <p:txEl>
                                              <p:pRg st="5" end="5"/>
                                            </p:txEl>
                                          </p:spTgt>
                                        </p:tgtEl>
                                        <p:attrNameLst>
                                          <p:attrName>style.visibility</p:attrName>
                                        </p:attrNameLst>
                                      </p:cBhvr>
                                      <p:to>
                                        <p:strVal val="visible"/>
                                      </p:to>
                                    </p:set>
                                  </p:childTnLst>
                                </p:cTn>
                              </p:par>
                              <p:par>
                                <p:cTn id="48" presetID="1" presetClass="exit" presetSubtype="0" fill="hold" grpId="2" nodeType="withEffect">
                                  <p:stCondLst>
                                    <p:cond delay="0"/>
                                  </p:stCondLst>
                                  <p:childTnLst>
                                    <p:set>
                                      <p:cBhvr>
                                        <p:cTn id="49" dur="1" fill="hold">
                                          <p:stCondLst>
                                            <p:cond delay="0"/>
                                          </p:stCondLst>
                                        </p:cTn>
                                        <p:tgtEl>
                                          <p:spTgt spid="9"/>
                                        </p:tgtEl>
                                        <p:attrNameLst>
                                          <p:attrName>style.visibility</p:attrName>
                                        </p:attrNameLst>
                                      </p:cBhvr>
                                      <p:to>
                                        <p:strVal val="hidden"/>
                                      </p:to>
                                    </p:set>
                                  </p:childTnLst>
                                </p:cTn>
                              </p:par>
                              <p:par>
                                <p:cTn id="50" presetID="1" presetClass="entr" presetSubtype="0" fill="hold" grpId="0" nodeType="withEffect">
                                  <p:stCondLst>
                                    <p:cond delay="0"/>
                                  </p:stCondLst>
                                  <p:childTnLst>
                                    <p:set>
                                      <p:cBhvr>
                                        <p:cTn id="51" dur="1" fill="hold">
                                          <p:stCondLst>
                                            <p:cond delay="0"/>
                                          </p:stCondLst>
                                        </p:cTn>
                                        <p:tgtEl>
                                          <p:spTgt spid="10"/>
                                        </p:tgtEl>
                                        <p:attrNameLst>
                                          <p:attrName>style.visibility</p:attrName>
                                        </p:attrNameLst>
                                      </p:cBhvr>
                                      <p:to>
                                        <p:strVal val="visible"/>
                                      </p:to>
                                    </p:set>
                                  </p:childTnLst>
                                </p:cTn>
                              </p:par>
                              <p:par>
                                <p:cTn id="52" presetID="26" presetClass="emph" presetSubtype="0" repeatCount="indefinite" fill="hold" grpId="1" nodeType="withEffect">
                                  <p:stCondLst>
                                    <p:cond delay="0"/>
                                  </p:stCondLst>
                                  <p:endCondLst>
                                    <p:cond evt="onNext" delay="0">
                                      <p:tgtEl>
                                        <p:sldTgt/>
                                      </p:tgtEl>
                                    </p:cond>
                                  </p:endCondLst>
                                  <p:childTnLst>
                                    <p:animEffect transition="out" filter="fade">
                                      <p:cBhvr>
                                        <p:cTn id="53" dur="500" tmFilter="0, 0; .2, .5; .8, .5; 1, 0"/>
                                        <p:tgtEl>
                                          <p:spTgt spid="10"/>
                                        </p:tgtEl>
                                      </p:cBhvr>
                                    </p:animEffect>
                                    <p:animScale>
                                      <p:cBhvr>
                                        <p:cTn id="54" dur="250" autoRev="1" fill="hold"/>
                                        <p:tgtEl>
                                          <p:spTgt spid="10"/>
                                        </p:tgtEl>
                                      </p:cBhvr>
                                      <p:by x="105000" y="105000"/>
                                    </p:animScale>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5">
                                            <p:txEl>
                                              <p:pRg st="6" end="6"/>
                                            </p:txEl>
                                          </p:spTgt>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5">
                                            <p:txEl>
                                              <p:pRg st="7" end="7"/>
                                            </p:txEl>
                                          </p:spTgt>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5">
                                            <p:txEl>
                                              <p:pRg st="8" end="8"/>
                                            </p:txEl>
                                          </p:spTgt>
                                        </p:tgtEl>
                                        <p:attrNameLst>
                                          <p:attrName>style.visibility</p:attrName>
                                        </p:attrNameLst>
                                      </p:cBhvr>
                                      <p:to>
                                        <p:strVal val="visible"/>
                                      </p:to>
                                    </p:set>
                                  </p:childTnLst>
                                </p:cTn>
                              </p:par>
                              <p:par>
                                <p:cTn id="63" presetID="1" presetClass="exit" presetSubtype="0" fill="hold" grpId="2" nodeType="withEffect">
                                  <p:stCondLst>
                                    <p:cond delay="0"/>
                                  </p:stCondLst>
                                  <p:childTnLst>
                                    <p:set>
                                      <p:cBhvr>
                                        <p:cTn id="64" dur="1" fill="hold">
                                          <p:stCondLst>
                                            <p:cond delay="0"/>
                                          </p:stCondLst>
                                        </p:cTn>
                                        <p:tgtEl>
                                          <p:spTgt spid="10"/>
                                        </p:tgtEl>
                                        <p:attrNameLst>
                                          <p:attrName>style.visibility</p:attrName>
                                        </p:attrNameLst>
                                      </p:cBhvr>
                                      <p:to>
                                        <p:strVal val="hidden"/>
                                      </p:to>
                                    </p:set>
                                  </p:childTnLst>
                                </p:cTn>
                              </p:par>
                              <p:par>
                                <p:cTn id="65" presetID="1" presetClass="entr" presetSubtype="0" fill="hold" grpId="0" nodeType="withEffect">
                                  <p:stCondLst>
                                    <p:cond delay="0"/>
                                  </p:stCondLst>
                                  <p:childTnLst>
                                    <p:set>
                                      <p:cBhvr>
                                        <p:cTn id="66" dur="1" fill="hold">
                                          <p:stCondLst>
                                            <p:cond delay="0"/>
                                          </p:stCondLst>
                                        </p:cTn>
                                        <p:tgtEl>
                                          <p:spTgt spid="11"/>
                                        </p:tgtEl>
                                        <p:attrNameLst>
                                          <p:attrName>style.visibility</p:attrName>
                                        </p:attrNameLst>
                                      </p:cBhvr>
                                      <p:to>
                                        <p:strVal val="visible"/>
                                      </p:to>
                                    </p:set>
                                  </p:childTnLst>
                                </p:cTn>
                              </p:par>
                              <p:par>
                                <p:cTn id="67" presetID="26" presetClass="emph" presetSubtype="0" repeatCount="indefinite" fill="hold" grpId="1" nodeType="withEffect">
                                  <p:stCondLst>
                                    <p:cond delay="0"/>
                                  </p:stCondLst>
                                  <p:endCondLst>
                                    <p:cond evt="onNext" delay="0">
                                      <p:tgtEl>
                                        <p:sldTgt/>
                                      </p:tgtEl>
                                    </p:cond>
                                  </p:endCondLst>
                                  <p:childTnLst>
                                    <p:animEffect transition="out" filter="fade">
                                      <p:cBhvr>
                                        <p:cTn id="68" dur="500" tmFilter="0, 0; .2, .5; .8, .5; 1, 0"/>
                                        <p:tgtEl>
                                          <p:spTgt spid="11"/>
                                        </p:tgtEl>
                                      </p:cBhvr>
                                    </p:animEffect>
                                    <p:animScale>
                                      <p:cBhvr>
                                        <p:cTn id="69" dur="250" autoRev="1" fill="hold"/>
                                        <p:tgtEl>
                                          <p:spTgt spid="11"/>
                                        </p:tgtEl>
                                      </p:cBhvr>
                                      <p:by x="105000" y="105000"/>
                                    </p:animScale>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clickEffect">
                                  <p:stCondLst>
                                    <p:cond delay="0"/>
                                  </p:stCondLst>
                                  <p:childTnLst>
                                    <p:set>
                                      <p:cBhvr>
                                        <p:cTn id="73" dur="1" fill="hold">
                                          <p:stCondLst>
                                            <p:cond delay="0"/>
                                          </p:stCondLst>
                                        </p:cTn>
                                        <p:tgtEl>
                                          <p:spTgt spid="5">
                                            <p:txEl>
                                              <p:pRg st="9" end="9"/>
                                            </p:txEl>
                                          </p:spTgt>
                                        </p:tgtEl>
                                        <p:attrNameLst>
                                          <p:attrName>style.visibility</p:attrName>
                                        </p:attrNameLst>
                                      </p:cBhvr>
                                      <p:to>
                                        <p:strVal val="visible"/>
                                      </p:to>
                                    </p:set>
                                  </p:childTnLst>
                                </p:cTn>
                              </p:par>
                              <p:par>
                                <p:cTn id="74" presetID="1" presetClass="entr" presetSubtype="0" fill="hold" nodeType="withEffect">
                                  <p:stCondLst>
                                    <p:cond delay="0"/>
                                  </p:stCondLst>
                                  <p:childTnLst>
                                    <p:set>
                                      <p:cBhvr>
                                        <p:cTn id="75" dur="1" fill="hold">
                                          <p:stCondLst>
                                            <p:cond delay="0"/>
                                          </p:stCondLst>
                                        </p:cTn>
                                        <p:tgtEl>
                                          <p:spTgt spid="5">
                                            <p:txEl>
                                              <p:pRg st="10" end="10"/>
                                            </p:txEl>
                                          </p:spTgt>
                                        </p:tgtEl>
                                        <p:attrNameLst>
                                          <p:attrName>style.visibility</p:attrName>
                                        </p:attrNameLst>
                                      </p:cBhvr>
                                      <p:to>
                                        <p:strVal val="visible"/>
                                      </p:to>
                                    </p:set>
                                  </p:childTnLst>
                                </p:cTn>
                              </p:par>
                              <p:par>
                                <p:cTn id="76" presetID="1" presetClass="entr" presetSubtype="0" fill="hold" grpId="0" nodeType="withEffect">
                                  <p:stCondLst>
                                    <p:cond delay="0"/>
                                  </p:stCondLst>
                                  <p:childTnLst>
                                    <p:set>
                                      <p:cBhvr>
                                        <p:cTn id="77" dur="1" fill="hold">
                                          <p:stCondLst>
                                            <p:cond delay="0"/>
                                          </p:stCondLst>
                                        </p:cTn>
                                        <p:tgtEl>
                                          <p:spTgt spid="12"/>
                                        </p:tgtEl>
                                        <p:attrNameLst>
                                          <p:attrName>style.visibility</p:attrName>
                                        </p:attrNameLst>
                                      </p:cBhvr>
                                      <p:to>
                                        <p:strVal val="visible"/>
                                      </p:to>
                                    </p:set>
                                  </p:childTnLst>
                                </p:cTn>
                              </p:par>
                              <p:par>
                                <p:cTn id="78" presetID="26" presetClass="emph" presetSubtype="0" repeatCount="indefinite" fill="hold" grpId="1" nodeType="withEffect">
                                  <p:stCondLst>
                                    <p:cond delay="0"/>
                                  </p:stCondLst>
                                  <p:endCondLst>
                                    <p:cond evt="onNext" delay="0">
                                      <p:tgtEl>
                                        <p:sldTgt/>
                                      </p:tgtEl>
                                    </p:cond>
                                  </p:endCondLst>
                                  <p:childTnLst>
                                    <p:animEffect transition="out" filter="fade">
                                      <p:cBhvr>
                                        <p:cTn id="79" dur="500" tmFilter="0, 0; .2, .5; .8, .5; 1, 0"/>
                                        <p:tgtEl>
                                          <p:spTgt spid="12"/>
                                        </p:tgtEl>
                                      </p:cBhvr>
                                    </p:animEffect>
                                    <p:animScale>
                                      <p:cBhvr>
                                        <p:cTn id="80" dur="250" autoRev="1" fill="hold"/>
                                        <p:tgtEl>
                                          <p:spTgt spid="12"/>
                                        </p:tgtEl>
                                      </p:cBhvr>
                                      <p:by x="105000" y="105000"/>
                                    </p:animScale>
                                  </p:childTnLst>
                                </p:cTn>
                              </p:par>
                              <p:par>
                                <p:cTn id="81" presetID="1" presetClass="exit" presetSubtype="0" fill="hold" grpId="2" nodeType="withEffect">
                                  <p:stCondLst>
                                    <p:cond delay="0"/>
                                  </p:stCondLst>
                                  <p:childTnLst>
                                    <p:set>
                                      <p:cBhvr>
                                        <p:cTn id="82" dur="1" fill="hold">
                                          <p:stCondLst>
                                            <p:cond delay="0"/>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7" grpId="2" animBg="1"/>
      <p:bldP spid="8" grpId="0" animBg="1"/>
      <p:bldP spid="8" grpId="1" animBg="1"/>
      <p:bldP spid="8" grpId="2" animBg="1"/>
      <p:bldP spid="9" grpId="0" animBg="1"/>
      <p:bldP spid="9" grpId="1" animBg="1"/>
      <p:bldP spid="9" grpId="2" animBg="1"/>
      <p:bldP spid="10" grpId="0" animBg="1"/>
      <p:bldP spid="10" grpId="1" animBg="1"/>
      <p:bldP spid="10" grpId="2" animBg="1"/>
      <p:bldP spid="11" grpId="0" animBg="1"/>
      <p:bldP spid="11" grpId="1" animBg="1"/>
      <p:bldP spid="11" grpId="2" animBg="1"/>
      <p:bldP spid="12" grpId="0" animBg="1"/>
      <p:bldP spid="12" grpId="1"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7828B2-6281-8F44-26BF-03D6295A19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A0EDD7-7853-A7EB-8C85-624BE6D761F1}"/>
              </a:ext>
            </a:extLst>
          </p:cNvPr>
          <p:cNvSpPr>
            <a:spLocks noGrp="1"/>
          </p:cNvSpPr>
          <p:nvPr>
            <p:ph type="title"/>
          </p:nvPr>
        </p:nvSpPr>
        <p:spPr>
          <a:xfrm>
            <a:off x="0" y="1"/>
            <a:ext cx="12192000" cy="711200"/>
          </a:xfrm>
        </p:spPr>
        <p:txBody>
          <a:bodyPr/>
          <a:lstStyle/>
          <a:p>
            <a:r>
              <a:rPr lang="en-IN" dirty="0"/>
              <a:t>File Attributes (Conti…)</a:t>
            </a:r>
          </a:p>
        </p:txBody>
      </p:sp>
      <p:sp>
        <p:nvSpPr>
          <p:cNvPr id="3" name="Content Placeholder 2">
            <a:extLst>
              <a:ext uri="{FF2B5EF4-FFF2-40B4-BE49-F238E27FC236}">
                <a16:creationId xmlns:a16="http://schemas.microsoft.com/office/drawing/2014/main" id="{B3AE4004-8AE3-E51C-9368-BBFB7F1AA4C2}"/>
              </a:ext>
            </a:extLst>
          </p:cNvPr>
          <p:cNvSpPr>
            <a:spLocks noGrp="1"/>
          </p:cNvSpPr>
          <p:nvPr>
            <p:ph idx="1"/>
          </p:nvPr>
        </p:nvSpPr>
        <p:spPr>
          <a:xfrm>
            <a:off x="131180" y="863444"/>
            <a:ext cx="11929641" cy="5590565"/>
          </a:xfrm>
        </p:spPr>
        <p:txBody>
          <a:bodyPr/>
          <a:lstStyle/>
          <a:p>
            <a:pPr lvl="1"/>
            <a:r>
              <a:rPr lang="en-IN" sz="2200" b="1" dirty="0">
                <a:solidFill>
                  <a:schemeClr val="accent6"/>
                </a:solidFill>
              </a:rPr>
              <a:t>Identifier:</a:t>
            </a:r>
            <a:r>
              <a:rPr lang="en-IN" sz="2200" b="1" dirty="0"/>
              <a:t> </a:t>
            </a:r>
            <a:r>
              <a:rPr lang="en-US" sz="2200" dirty="0"/>
              <a:t>Every file within a file system is identified by a unique tag number, known as a file</a:t>
            </a:r>
            <a:r>
              <a:rPr lang="en-US" sz="2200" b="1" dirty="0"/>
              <a:t> </a:t>
            </a:r>
            <a:r>
              <a:rPr lang="en-US" sz="2200" dirty="0"/>
              <a:t>identifier.</a:t>
            </a:r>
            <a:endParaRPr lang="en-IN" sz="2200" dirty="0"/>
          </a:p>
          <a:p>
            <a:pPr marL="457200" lvl="1" indent="0">
              <a:buNone/>
            </a:pPr>
            <a:endParaRPr lang="en-US" dirty="0"/>
          </a:p>
          <a:p>
            <a:pPr lvl="1"/>
            <a:endParaRPr lang="en-IN" b="1" dirty="0"/>
          </a:p>
        </p:txBody>
      </p:sp>
      <p:pic>
        <p:nvPicPr>
          <p:cNvPr id="7" name="Picture 6">
            <a:extLst>
              <a:ext uri="{FF2B5EF4-FFF2-40B4-BE49-F238E27FC236}">
                <a16:creationId xmlns:a16="http://schemas.microsoft.com/office/drawing/2014/main" id="{23ABA7E9-AB26-AF6B-B774-C61360EC910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50022" y="1563317"/>
            <a:ext cx="6408956" cy="489069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5" name="TextBox 4">
            <a:extLst>
              <a:ext uri="{FF2B5EF4-FFF2-40B4-BE49-F238E27FC236}">
                <a16:creationId xmlns:a16="http://schemas.microsoft.com/office/drawing/2014/main" id="{8958B490-EA6E-54E0-8DD2-28B9FE136F05}"/>
              </a:ext>
            </a:extLst>
          </p:cNvPr>
          <p:cNvSpPr txBox="1"/>
          <p:nvPr/>
        </p:nvSpPr>
        <p:spPr>
          <a:xfrm>
            <a:off x="5561484" y="2426742"/>
            <a:ext cx="534516" cy="2613238"/>
          </a:xfrm>
          <a:prstGeom prst="rect">
            <a:avLst/>
          </a:prstGeom>
          <a:noFill/>
          <a:ln w="38100">
            <a:solidFill>
              <a:srgbClr val="ED524F"/>
            </a:solidFill>
          </a:ln>
        </p:spPr>
        <p:txBody>
          <a:bodyPr wrap="square" rtlCol="0">
            <a:spAutoFit/>
          </a:bodyPr>
          <a:lstStyle/>
          <a:p>
            <a:endParaRPr lang="en-IN" dirty="0"/>
          </a:p>
        </p:txBody>
      </p:sp>
    </p:spTree>
    <p:extLst>
      <p:ext uri="{BB962C8B-B14F-4D97-AF65-F5344CB8AC3E}">
        <p14:creationId xmlns:p14="http://schemas.microsoft.com/office/powerpoint/2010/main" val="17991695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26" presetClass="emph" presetSubtype="0" repeatCount="indefinite" fill="hold" grpId="1" nodeType="withEffect">
                                  <p:stCondLst>
                                    <p:cond delay="0"/>
                                  </p:stCondLst>
                                  <p:endCondLst>
                                    <p:cond evt="onNext" delay="0">
                                      <p:tgtEl>
                                        <p:sldTgt/>
                                      </p:tgtEl>
                                    </p:cond>
                                  </p:endCondLst>
                                  <p:childTnLst>
                                    <p:animEffect transition="out" filter="fade">
                                      <p:cBhvr>
                                        <p:cTn id="14" dur="500" tmFilter="0, 0; .2, .5; .8, .5; 1, 0"/>
                                        <p:tgtEl>
                                          <p:spTgt spid="5"/>
                                        </p:tgtEl>
                                      </p:cBhvr>
                                    </p:animEffect>
                                    <p:animScale>
                                      <p:cBhvr>
                                        <p:cTn id="15" dur="250" autoRev="1" fill="hold"/>
                                        <p:tgtEl>
                                          <p:spTgt spid="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DC8DE-28AA-BCCD-2E63-6DE83029557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85D5BF1-0CD6-8AD9-94C3-CF9EA99C64F5}"/>
              </a:ext>
            </a:extLst>
          </p:cNvPr>
          <p:cNvSpPr>
            <a:spLocks noGrp="1"/>
          </p:cNvSpPr>
          <p:nvPr>
            <p:ph type="title"/>
          </p:nvPr>
        </p:nvSpPr>
        <p:spPr/>
        <p:txBody>
          <a:bodyPr>
            <a:normAutofit fontScale="90000"/>
          </a:bodyPr>
          <a:lstStyle/>
          <a:p>
            <a:r>
              <a:rPr lang="en-US" dirty="0">
                <a:gradFill flip="none" rotWithShape="1">
                  <a:gsLst>
                    <a:gs pos="10000">
                      <a:schemeClr val="accent6">
                        <a:lumMod val="50000"/>
                      </a:schemeClr>
                    </a:gs>
                    <a:gs pos="100000">
                      <a:schemeClr val="accent6"/>
                    </a:gs>
                  </a:gsLst>
                  <a:lin ang="0" scaled="1"/>
                  <a:tileRect/>
                </a:gradFill>
              </a:rPr>
              <a:t/>
            </a:r>
            <a:br>
              <a:rPr lang="en-US" dirty="0">
                <a:gradFill flip="none" rotWithShape="1">
                  <a:gsLst>
                    <a:gs pos="10000">
                      <a:schemeClr val="accent6">
                        <a:lumMod val="50000"/>
                      </a:schemeClr>
                    </a:gs>
                    <a:gs pos="100000">
                      <a:schemeClr val="accent6"/>
                    </a:gs>
                  </a:gsLst>
                  <a:lin ang="0" scaled="1"/>
                  <a:tileRect/>
                </a:gradFill>
              </a:rPr>
            </a:br>
            <a:r>
              <a:rPr lang="en-US" dirty="0">
                <a:gradFill flip="none" rotWithShape="1">
                  <a:gsLst>
                    <a:gs pos="10000">
                      <a:schemeClr val="accent6">
                        <a:lumMod val="50000"/>
                      </a:schemeClr>
                    </a:gs>
                    <a:gs pos="100000">
                      <a:schemeClr val="accent6"/>
                    </a:gs>
                  </a:gsLst>
                  <a:lin ang="0" scaled="1"/>
                  <a:tileRect/>
                </a:gradFill>
              </a:rPr>
              <a:t/>
            </a:r>
            <a:br>
              <a:rPr lang="en-US" dirty="0">
                <a:gradFill flip="none" rotWithShape="1">
                  <a:gsLst>
                    <a:gs pos="10000">
                      <a:schemeClr val="accent6">
                        <a:lumMod val="50000"/>
                      </a:schemeClr>
                    </a:gs>
                    <a:gs pos="100000">
                      <a:schemeClr val="accent6"/>
                    </a:gs>
                  </a:gsLst>
                  <a:lin ang="0" scaled="1"/>
                  <a:tileRect/>
                </a:gradFill>
              </a:rPr>
            </a:br>
            <a:r>
              <a:rPr lang="en-US" dirty="0">
                <a:gradFill flip="none" rotWithShape="1">
                  <a:gsLst>
                    <a:gs pos="10000">
                      <a:schemeClr val="accent6">
                        <a:lumMod val="50000"/>
                      </a:schemeClr>
                    </a:gs>
                    <a:gs pos="100000">
                      <a:schemeClr val="accent6"/>
                    </a:gs>
                  </a:gsLst>
                  <a:lin ang="0" scaled="1"/>
                  <a:tileRect/>
                </a:gradFill>
              </a:rPr>
              <a:t/>
            </a:r>
            <a:br>
              <a:rPr lang="en-US" dirty="0">
                <a:gradFill flip="none" rotWithShape="1">
                  <a:gsLst>
                    <a:gs pos="10000">
                      <a:schemeClr val="accent6">
                        <a:lumMod val="50000"/>
                      </a:schemeClr>
                    </a:gs>
                    <a:gs pos="100000">
                      <a:schemeClr val="accent6"/>
                    </a:gs>
                  </a:gsLst>
                  <a:lin ang="0" scaled="1"/>
                  <a:tileRect/>
                </a:gradFill>
              </a:rPr>
            </a:br>
            <a:r>
              <a:rPr lang="en-US" dirty="0">
                <a:gradFill flip="none" rotWithShape="1">
                  <a:gsLst>
                    <a:gs pos="10000">
                      <a:schemeClr val="accent6">
                        <a:lumMod val="50000"/>
                      </a:schemeClr>
                    </a:gs>
                    <a:gs pos="100000">
                      <a:schemeClr val="accent6"/>
                    </a:gs>
                  </a:gsLst>
                  <a:lin ang="0" scaled="1"/>
                  <a:tileRect/>
                </a:gradFill>
              </a:rPr>
              <a:t/>
            </a:r>
            <a:br>
              <a:rPr lang="en-US" dirty="0">
                <a:gradFill flip="none" rotWithShape="1">
                  <a:gsLst>
                    <a:gs pos="10000">
                      <a:schemeClr val="accent6">
                        <a:lumMod val="50000"/>
                      </a:schemeClr>
                    </a:gs>
                    <a:gs pos="100000">
                      <a:schemeClr val="accent6"/>
                    </a:gs>
                  </a:gsLst>
                  <a:lin ang="0" scaled="1"/>
                  <a:tileRect/>
                </a:gradFill>
              </a:rPr>
            </a:br>
            <a:r>
              <a:rPr lang="en-US" dirty="0">
                <a:gradFill flip="none" rotWithShape="1">
                  <a:gsLst>
                    <a:gs pos="10000">
                      <a:schemeClr val="accent6">
                        <a:lumMod val="50000"/>
                      </a:schemeClr>
                    </a:gs>
                    <a:gs pos="100000">
                      <a:schemeClr val="accent6"/>
                    </a:gs>
                  </a:gsLst>
                  <a:lin ang="0" scaled="1"/>
                  <a:tileRect/>
                </a:gradFill>
              </a:rPr>
              <a:t>File Operations</a:t>
            </a:r>
          </a:p>
        </p:txBody>
      </p:sp>
      <p:sp>
        <p:nvSpPr>
          <p:cNvPr id="5" name="Text Placeholder 4">
            <a:extLst>
              <a:ext uri="{FF2B5EF4-FFF2-40B4-BE49-F238E27FC236}">
                <a16:creationId xmlns:a16="http://schemas.microsoft.com/office/drawing/2014/main" id="{FB04908F-44BC-A9EC-6E72-B48E8A789013}"/>
              </a:ext>
            </a:extLst>
          </p:cNvPr>
          <p:cNvSpPr>
            <a:spLocks noGrp="1"/>
          </p:cNvSpPr>
          <p:nvPr>
            <p:ph type="body" idx="1"/>
          </p:nvPr>
        </p:nvSpPr>
        <p:spPr/>
        <p:txBody>
          <a:bodyPr/>
          <a:lstStyle/>
          <a:p>
            <a:r>
              <a:rPr lang="en-US" dirty="0"/>
              <a:t>Section – 8</a:t>
            </a:r>
          </a:p>
          <a:p>
            <a:endParaRPr lang="en-US" dirty="0"/>
          </a:p>
        </p:txBody>
      </p:sp>
    </p:spTree>
    <p:extLst>
      <p:ext uri="{BB962C8B-B14F-4D97-AF65-F5344CB8AC3E}">
        <p14:creationId xmlns:p14="http://schemas.microsoft.com/office/powerpoint/2010/main" val="173060122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404342-77EF-AC38-F154-1BEEE77AB7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9E2515-E045-854D-AA6E-EDFD22317759}"/>
              </a:ext>
            </a:extLst>
          </p:cNvPr>
          <p:cNvSpPr>
            <a:spLocks noGrp="1"/>
          </p:cNvSpPr>
          <p:nvPr>
            <p:ph type="title"/>
          </p:nvPr>
        </p:nvSpPr>
        <p:spPr>
          <a:xfrm>
            <a:off x="0" y="1"/>
            <a:ext cx="12192000" cy="711200"/>
          </a:xfrm>
        </p:spPr>
        <p:txBody>
          <a:bodyPr/>
          <a:lstStyle/>
          <a:p>
            <a:r>
              <a:rPr lang="en-IN" dirty="0"/>
              <a:t>File Operations</a:t>
            </a:r>
          </a:p>
        </p:txBody>
      </p:sp>
      <p:sp>
        <p:nvSpPr>
          <p:cNvPr id="3" name="Content Placeholder 2">
            <a:extLst>
              <a:ext uri="{FF2B5EF4-FFF2-40B4-BE49-F238E27FC236}">
                <a16:creationId xmlns:a16="http://schemas.microsoft.com/office/drawing/2014/main" id="{E2C67EC7-15A3-2A2C-AB95-A6ADCFC9998F}"/>
              </a:ext>
            </a:extLst>
          </p:cNvPr>
          <p:cNvSpPr>
            <a:spLocks noGrp="1"/>
          </p:cNvSpPr>
          <p:nvPr>
            <p:ph idx="1"/>
          </p:nvPr>
        </p:nvSpPr>
        <p:spPr>
          <a:xfrm>
            <a:off x="131180" y="860066"/>
            <a:ext cx="11929641" cy="5593943"/>
          </a:xfrm>
        </p:spPr>
        <p:txBody>
          <a:bodyPr/>
          <a:lstStyle/>
          <a:p>
            <a:r>
              <a:rPr lang="en-US" b="1" dirty="0">
                <a:solidFill>
                  <a:schemeClr val="accent6"/>
                </a:solidFill>
              </a:rPr>
              <a:t>Create: </a:t>
            </a:r>
            <a:r>
              <a:rPr lang="en-US" dirty="0"/>
              <a:t>Allocates space for a new file and initializes its metadata.</a:t>
            </a:r>
            <a:endParaRPr lang="en-IN" dirty="0"/>
          </a:p>
          <a:p>
            <a:r>
              <a:rPr lang="en-US" b="1" dirty="0">
                <a:solidFill>
                  <a:schemeClr val="accent6"/>
                </a:solidFill>
              </a:rPr>
              <a:t>Delete:</a:t>
            </a:r>
            <a:r>
              <a:rPr lang="en-US" dirty="0"/>
              <a:t> Removes the file from the storage and frees its allocated space. </a:t>
            </a:r>
          </a:p>
          <a:p>
            <a:r>
              <a:rPr lang="en-US" b="1" dirty="0">
                <a:solidFill>
                  <a:schemeClr val="accent6"/>
                </a:solidFill>
              </a:rPr>
              <a:t>Open: </a:t>
            </a:r>
            <a:r>
              <a:rPr lang="en-US" dirty="0"/>
              <a:t>Used to open created file and loads the file’s metadata into memory for access.</a:t>
            </a:r>
            <a:endParaRPr lang="en-IN" b="1" dirty="0"/>
          </a:p>
          <a:p>
            <a:r>
              <a:rPr lang="en-US" b="1" dirty="0">
                <a:solidFill>
                  <a:schemeClr val="accent6"/>
                </a:solidFill>
              </a:rPr>
              <a:t>Close: </a:t>
            </a:r>
            <a:r>
              <a:rPr lang="en-US" dirty="0"/>
              <a:t>Used to close the file and releases the file’s resources and updates metadata if modified.</a:t>
            </a:r>
            <a:endParaRPr lang="en-US" b="1" dirty="0"/>
          </a:p>
          <a:p>
            <a:r>
              <a:rPr lang="en-US" b="1" dirty="0">
                <a:solidFill>
                  <a:schemeClr val="accent6"/>
                </a:solidFill>
              </a:rPr>
              <a:t>Read: </a:t>
            </a:r>
            <a:r>
              <a:rPr lang="en-US" dirty="0"/>
              <a:t>Read (or Retrieves) data from the file at the current position.</a:t>
            </a:r>
            <a:endParaRPr lang="en-US" b="1" dirty="0">
              <a:solidFill>
                <a:schemeClr val="accent6"/>
              </a:solidFill>
            </a:endParaRPr>
          </a:p>
          <a:p>
            <a:r>
              <a:rPr lang="en-US" b="1" dirty="0">
                <a:solidFill>
                  <a:schemeClr val="accent6"/>
                </a:solidFill>
              </a:rPr>
              <a:t>Write: </a:t>
            </a:r>
            <a:r>
              <a:rPr lang="en-US" dirty="0"/>
              <a:t>Write (or Stores) data into the file at the current position.</a:t>
            </a:r>
            <a:endParaRPr lang="en-US" b="1" dirty="0">
              <a:solidFill>
                <a:schemeClr val="accent6"/>
              </a:solidFill>
            </a:endParaRPr>
          </a:p>
          <a:p>
            <a:r>
              <a:rPr lang="en-US" b="1" dirty="0">
                <a:solidFill>
                  <a:schemeClr val="accent6"/>
                </a:solidFill>
              </a:rPr>
              <a:t>Append: </a:t>
            </a:r>
            <a:r>
              <a:rPr lang="en-US" dirty="0"/>
              <a:t>Adds data exclusively to the end of the file.</a:t>
            </a:r>
            <a:endParaRPr lang="en-US" b="1" dirty="0">
              <a:solidFill>
                <a:schemeClr val="accent6"/>
              </a:solidFill>
            </a:endParaRPr>
          </a:p>
          <a:p>
            <a:r>
              <a:rPr lang="en-US" b="1" dirty="0">
                <a:solidFill>
                  <a:schemeClr val="accent6"/>
                </a:solidFill>
              </a:rPr>
              <a:t>Seek: </a:t>
            </a:r>
            <a:r>
              <a:rPr lang="en-US" dirty="0"/>
              <a:t>Moves the file pointer to a specified position for random access.</a:t>
            </a:r>
          </a:p>
          <a:p>
            <a:r>
              <a:rPr lang="en-US" b="1" dirty="0">
                <a:solidFill>
                  <a:schemeClr val="accent6"/>
                </a:solidFill>
              </a:rPr>
              <a:t>Get Attributes:</a:t>
            </a:r>
            <a:r>
              <a:rPr lang="en-US" dirty="0">
                <a:solidFill>
                  <a:schemeClr val="accent6"/>
                </a:solidFill>
              </a:rPr>
              <a:t> </a:t>
            </a:r>
            <a:r>
              <a:rPr lang="en-US" dirty="0"/>
              <a:t>Retrieves metadata (e.g., permissions, size, timestamps) of a file.</a:t>
            </a:r>
          </a:p>
          <a:p>
            <a:r>
              <a:rPr lang="en-US" b="1" dirty="0">
                <a:solidFill>
                  <a:schemeClr val="accent6"/>
                </a:solidFill>
              </a:rPr>
              <a:t>Set Attributes:</a:t>
            </a:r>
            <a:r>
              <a:rPr lang="en-US" dirty="0">
                <a:solidFill>
                  <a:schemeClr val="accent6"/>
                </a:solidFill>
              </a:rPr>
              <a:t> </a:t>
            </a:r>
            <a:r>
              <a:rPr lang="en-US" dirty="0"/>
              <a:t>Modifies file metadata (e.g., permissions, ownership, or timestamps).</a:t>
            </a:r>
          </a:p>
          <a:p>
            <a:r>
              <a:rPr lang="en-US" b="1" dirty="0">
                <a:solidFill>
                  <a:schemeClr val="accent6"/>
                </a:solidFill>
              </a:rPr>
              <a:t>Rename:</a:t>
            </a:r>
            <a:r>
              <a:rPr lang="en-US" dirty="0"/>
              <a:t> Used to change the existing file’s name without altering its content.</a:t>
            </a:r>
          </a:p>
          <a:p>
            <a:endParaRPr lang="en-US" b="1" dirty="0">
              <a:solidFill>
                <a:schemeClr val="accent6"/>
              </a:solidFill>
            </a:endParaRPr>
          </a:p>
          <a:p>
            <a:endParaRPr lang="en-US" b="1" dirty="0">
              <a:solidFill>
                <a:schemeClr val="accent6"/>
              </a:solidFill>
            </a:endParaRPr>
          </a:p>
          <a:p>
            <a:endParaRPr lang="en-IN" dirty="0"/>
          </a:p>
        </p:txBody>
      </p:sp>
    </p:spTree>
    <p:extLst>
      <p:ext uri="{BB962C8B-B14F-4D97-AF65-F5344CB8AC3E}">
        <p14:creationId xmlns:p14="http://schemas.microsoft.com/office/powerpoint/2010/main" val="2625900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39C192-A18F-6541-9A59-6EB9A3905AD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0308CE4-ACFF-EFCB-EBDB-63E6918B5C2B}"/>
              </a:ext>
            </a:extLst>
          </p:cNvPr>
          <p:cNvSpPr>
            <a:spLocks noGrp="1"/>
          </p:cNvSpPr>
          <p:nvPr>
            <p:ph type="title"/>
          </p:nvPr>
        </p:nvSpPr>
        <p:spPr/>
        <p:txBody>
          <a:bodyPr>
            <a:normAutofit fontScale="90000"/>
          </a:bodyPr>
          <a:lstStyle/>
          <a:p>
            <a:r>
              <a:rPr lang="en-US" dirty="0">
                <a:gradFill flip="none" rotWithShape="1">
                  <a:gsLst>
                    <a:gs pos="10000">
                      <a:schemeClr val="accent6">
                        <a:lumMod val="50000"/>
                      </a:schemeClr>
                    </a:gs>
                    <a:gs pos="100000">
                      <a:schemeClr val="accent6"/>
                    </a:gs>
                  </a:gsLst>
                  <a:lin ang="0" scaled="1"/>
                  <a:tileRect/>
                </a:gradFill>
              </a:rPr>
              <a:t/>
            </a:r>
            <a:br>
              <a:rPr lang="en-US" dirty="0">
                <a:gradFill flip="none" rotWithShape="1">
                  <a:gsLst>
                    <a:gs pos="10000">
                      <a:schemeClr val="accent6">
                        <a:lumMod val="50000"/>
                      </a:schemeClr>
                    </a:gs>
                    <a:gs pos="100000">
                      <a:schemeClr val="accent6"/>
                    </a:gs>
                  </a:gsLst>
                  <a:lin ang="0" scaled="1"/>
                  <a:tileRect/>
                </a:gradFill>
              </a:rPr>
            </a:br>
            <a:r>
              <a:rPr lang="en-US" dirty="0">
                <a:gradFill flip="none" rotWithShape="1">
                  <a:gsLst>
                    <a:gs pos="10000">
                      <a:schemeClr val="accent6">
                        <a:lumMod val="50000"/>
                      </a:schemeClr>
                    </a:gs>
                    <a:gs pos="100000">
                      <a:schemeClr val="accent6"/>
                    </a:gs>
                  </a:gsLst>
                  <a:lin ang="0" scaled="1"/>
                  <a:tileRect/>
                </a:gradFill>
              </a:rPr>
              <a:t/>
            </a:r>
            <a:br>
              <a:rPr lang="en-US" dirty="0">
                <a:gradFill flip="none" rotWithShape="1">
                  <a:gsLst>
                    <a:gs pos="10000">
                      <a:schemeClr val="accent6">
                        <a:lumMod val="50000"/>
                      </a:schemeClr>
                    </a:gs>
                    <a:gs pos="100000">
                      <a:schemeClr val="accent6"/>
                    </a:gs>
                  </a:gsLst>
                  <a:lin ang="0" scaled="1"/>
                  <a:tileRect/>
                </a:gradFill>
              </a:rPr>
            </a:br>
            <a:r>
              <a:rPr lang="en-US" dirty="0">
                <a:gradFill flip="none" rotWithShape="1">
                  <a:gsLst>
                    <a:gs pos="10000">
                      <a:schemeClr val="accent6">
                        <a:lumMod val="50000"/>
                      </a:schemeClr>
                    </a:gs>
                    <a:gs pos="100000">
                      <a:schemeClr val="accent6"/>
                    </a:gs>
                  </a:gsLst>
                  <a:lin ang="0" scaled="1"/>
                  <a:tileRect/>
                </a:gradFill>
              </a:rPr>
              <a:t/>
            </a:r>
            <a:br>
              <a:rPr lang="en-US" dirty="0">
                <a:gradFill flip="none" rotWithShape="1">
                  <a:gsLst>
                    <a:gs pos="10000">
                      <a:schemeClr val="accent6">
                        <a:lumMod val="50000"/>
                      </a:schemeClr>
                    </a:gs>
                    <a:gs pos="100000">
                      <a:schemeClr val="accent6"/>
                    </a:gs>
                  </a:gsLst>
                  <a:lin ang="0" scaled="1"/>
                  <a:tileRect/>
                </a:gradFill>
              </a:rPr>
            </a:br>
            <a:r>
              <a:rPr lang="en-US" dirty="0">
                <a:gradFill flip="none" rotWithShape="1">
                  <a:gsLst>
                    <a:gs pos="10000">
                      <a:schemeClr val="accent6">
                        <a:lumMod val="50000"/>
                      </a:schemeClr>
                    </a:gs>
                    <a:gs pos="100000">
                      <a:schemeClr val="accent6"/>
                    </a:gs>
                  </a:gsLst>
                  <a:lin ang="0" scaled="1"/>
                  <a:tileRect/>
                </a:gradFill>
              </a:rPr>
              <a:t/>
            </a:r>
            <a:br>
              <a:rPr lang="en-US" dirty="0">
                <a:gradFill flip="none" rotWithShape="1">
                  <a:gsLst>
                    <a:gs pos="10000">
                      <a:schemeClr val="accent6">
                        <a:lumMod val="50000"/>
                      </a:schemeClr>
                    </a:gs>
                    <a:gs pos="100000">
                      <a:schemeClr val="accent6"/>
                    </a:gs>
                  </a:gsLst>
                  <a:lin ang="0" scaled="1"/>
                  <a:tileRect/>
                </a:gradFill>
              </a:rPr>
            </a:br>
            <a:r>
              <a:rPr lang="en-US" dirty="0">
                <a:gradFill flip="none" rotWithShape="1">
                  <a:gsLst>
                    <a:gs pos="10000">
                      <a:schemeClr val="accent6">
                        <a:lumMod val="50000"/>
                      </a:schemeClr>
                    </a:gs>
                    <a:gs pos="100000">
                      <a:schemeClr val="accent6"/>
                    </a:gs>
                  </a:gsLst>
                  <a:lin ang="0" scaled="1"/>
                  <a:tileRect/>
                </a:gradFill>
              </a:rPr>
              <a:t>File Access Methods</a:t>
            </a:r>
          </a:p>
        </p:txBody>
      </p:sp>
      <p:sp>
        <p:nvSpPr>
          <p:cNvPr id="5" name="Text Placeholder 4">
            <a:extLst>
              <a:ext uri="{FF2B5EF4-FFF2-40B4-BE49-F238E27FC236}">
                <a16:creationId xmlns:a16="http://schemas.microsoft.com/office/drawing/2014/main" id="{3DD0B27C-B8CD-885C-50D8-ABE3A3A103F6}"/>
              </a:ext>
            </a:extLst>
          </p:cNvPr>
          <p:cNvSpPr>
            <a:spLocks noGrp="1"/>
          </p:cNvSpPr>
          <p:nvPr>
            <p:ph type="body" idx="1"/>
          </p:nvPr>
        </p:nvSpPr>
        <p:spPr/>
        <p:txBody>
          <a:bodyPr/>
          <a:lstStyle/>
          <a:p>
            <a:r>
              <a:rPr lang="en-US" dirty="0"/>
              <a:t>Section – 9</a:t>
            </a:r>
          </a:p>
          <a:p>
            <a:endParaRPr lang="en-US" dirty="0"/>
          </a:p>
        </p:txBody>
      </p:sp>
    </p:spTree>
    <p:extLst>
      <p:ext uri="{BB962C8B-B14F-4D97-AF65-F5344CB8AC3E}">
        <p14:creationId xmlns:p14="http://schemas.microsoft.com/office/powerpoint/2010/main" val="229797221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562D01-C697-9F4B-004C-4581F5136B9D}"/>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BD5C7653-293A-A23E-A32E-5306B90E9DF5}"/>
              </a:ext>
            </a:extLst>
          </p:cNvPr>
          <p:cNvSpPr>
            <a:spLocks noGrp="1"/>
          </p:cNvSpPr>
          <p:nvPr>
            <p:ph type="title"/>
          </p:nvPr>
        </p:nvSpPr>
        <p:spPr>
          <a:xfrm>
            <a:off x="0" y="1"/>
            <a:ext cx="12192000" cy="711200"/>
          </a:xfrm>
        </p:spPr>
        <p:txBody>
          <a:bodyPr/>
          <a:lstStyle/>
          <a:p>
            <a:r>
              <a:rPr lang="en-US" dirty="0"/>
              <a:t>File Access</a:t>
            </a:r>
            <a:r>
              <a:rPr lang="en-US" dirty="0">
                <a:gradFill flip="none" rotWithShape="1">
                  <a:gsLst>
                    <a:gs pos="10000">
                      <a:schemeClr val="accent6">
                        <a:lumMod val="50000"/>
                      </a:schemeClr>
                    </a:gs>
                    <a:gs pos="100000">
                      <a:schemeClr val="accent6"/>
                    </a:gs>
                  </a:gsLst>
                  <a:lin ang="0" scaled="1"/>
                  <a:tileRect/>
                </a:gradFill>
              </a:rPr>
              <a:t> </a:t>
            </a:r>
            <a:r>
              <a:rPr lang="en-US" dirty="0"/>
              <a:t>Methods</a:t>
            </a:r>
          </a:p>
        </p:txBody>
      </p:sp>
      <p:sp>
        <p:nvSpPr>
          <p:cNvPr id="11" name="Content Placeholder 2">
            <a:extLst>
              <a:ext uri="{FF2B5EF4-FFF2-40B4-BE49-F238E27FC236}">
                <a16:creationId xmlns:a16="http://schemas.microsoft.com/office/drawing/2014/main" id="{249BCB90-52E5-DDBF-3764-56BD814B0ADE}"/>
              </a:ext>
            </a:extLst>
          </p:cNvPr>
          <p:cNvSpPr>
            <a:spLocks noGrp="1"/>
          </p:cNvSpPr>
          <p:nvPr>
            <p:ph idx="1"/>
          </p:nvPr>
        </p:nvSpPr>
        <p:spPr>
          <a:xfrm>
            <a:off x="131180" y="863445"/>
            <a:ext cx="11929641" cy="5649046"/>
          </a:xfrm>
        </p:spPr>
        <p:txBody>
          <a:bodyPr/>
          <a:lstStyle/>
          <a:p>
            <a:r>
              <a:rPr lang="en-US" dirty="0"/>
              <a:t>File access methods in an operating system are the </a:t>
            </a:r>
            <a:r>
              <a:rPr lang="en-US" b="1" dirty="0">
                <a:solidFill>
                  <a:schemeClr val="accent6"/>
                </a:solidFill>
              </a:rPr>
              <a:t>techniques</a:t>
            </a:r>
            <a:r>
              <a:rPr lang="en-US" dirty="0"/>
              <a:t> and </a:t>
            </a:r>
            <a:r>
              <a:rPr lang="en-US" b="1" dirty="0">
                <a:solidFill>
                  <a:schemeClr val="accent6"/>
                </a:solidFill>
              </a:rPr>
              <a:t>processes used to read from and write to files </a:t>
            </a:r>
            <a:r>
              <a:rPr lang="en-US" dirty="0"/>
              <a:t>stored on a computer’s storage devices. </a:t>
            </a:r>
          </a:p>
          <a:p>
            <a:r>
              <a:rPr lang="en-US" dirty="0"/>
              <a:t>These methods determine how data is organized, retrieved, and modified within a file system. </a:t>
            </a:r>
          </a:p>
          <a:p>
            <a:r>
              <a:rPr lang="en-US" dirty="0"/>
              <a:t>There are three ways to access a file in a computer system:</a:t>
            </a:r>
          </a:p>
          <a:p>
            <a:pPr marL="914400" lvl="1" indent="-457200">
              <a:lnSpc>
                <a:spcPct val="150000"/>
              </a:lnSpc>
              <a:buFont typeface="+mj-lt"/>
              <a:buAutoNum type="arabicPeriod"/>
            </a:pPr>
            <a:r>
              <a:rPr lang="en-US" sz="2200" b="1" dirty="0"/>
              <a:t>Sequential Access</a:t>
            </a:r>
          </a:p>
          <a:p>
            <a:pPr marL="914400" lvl="1" indent="-457200">
              <a:lnSpc>
                <a:spcPct val="150000"/>
              </a:lnSpc>
              <a:buFont typeface="+mj-lt"/>
              <a:buAutoNum type="arabicPeriod"/>
            </a:pPr>
            <a:r>
              <a:rPr lang="en-US" sz="2200" b="1" dirty="0"/>
              <a:t>Direct/ Random Access</a:t>
            </a:r>
          </a:p>
          <a:p>
            <a:pPr marL="914400" lvl="1" indent="-457200">
              <a:lnSpc>
                <a:spcPct val="150000"/>
              </a:lnSpc>
              <a:buFont typeface="+mj-lt"/>
              <a:buAutoNum type="arabicPeriod"/>
            </a:pPr>
            <a:r>
              <a:rPr lang="en-US" sz="2200" b="1" dirty="0"/>
              <a:t>Indexed Access</a:t>
            </a:r>
          </a:p>
          <a:p>
            <a:endParaRPr lang="en-US" dirty="0"/>
          </a:p>
        </p:txBody>
      </p:sp>
    </p:spTree>
    <p:extLst>
      <p:ext uri="{BB962C8B-B14F-4D97-AF65-F5344CB8AC3E}">
        <p14:creationId xmlns:p14="http://schemas.microsoft.com/office/powerpoint/2010/main" val="3583068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fade">
                                      <p:cBhvr>
                                        <p:cTn id="7" dur="500"/>
                                        <p:tgtEl>
                                          <p:spTgt spid="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xEl>
                                              <p:pRg st="1" end="1"/>
                                            </p:txEl>
                                          </p:spTgt>
                                        </p:tgtEl>
                                        <p:attrNameLst>
                                          <p:attrName>style.visibility</p:attrName>
                                        </p:attrNameLst>
                                      </p:cBhvr>
                                      <p:to>
                                        <p:strVal val="visible"/>
                                      </p:to>
                                    </p:set>
                                    <p:animEffect transition="in" filter="fade">
                                      <p:cBhvr>
                                        <p:cTn id="12" dur="500"/>
                                        <p:tgtEl>
                                          <p:spTgt spid="1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xEl>
                                              <p:pRg st="2" end="2"/>
                                            </p:txEl>
                                          </p:spTgt>
                                        </p:tgtEl>
                                        <p:attrNameLst>
                                          <p:attrName>style.visibility</p:attrName>
                                        </p:attrNameLst>
                                      </p:cBhvr>
                                      <p:to>
                                        <p:strVal val="visible"/>
                                      </p:to>
                                    </p:set>
                                    <p:animEffect transition="in" filter="fade">
                                      <p:cBhvr>
                                        <p:cTn id="17" dur="500"/>
                                        <p:tgtEl>
                                          <p:spTgt spid="1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
                                            <p:txEl>
                                              <p:pRg st="3" end="3"/>
                                            </p:txEl>
                                          </p:spTgt>
                                        </p:tgtEl>
                                        <p:attrNameLst>
                                          <p:attrName>style.visibility</p:attrName>
                                        </p:attrNameLst>
                                      </p:cBhvr>
                                      <p:to>
                                        <p:strVal val="visible"/>
                                      </p:to>
                                    </p:set>
                                    <p:animEffect transition="in" filter="fade">
                                      <p:cBhvr>
                                        <p:cTn id="22" dur="500"/>
                                        <p:tgtEl>
                                          <p:spTgt spid="1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1">
                                            <p:txEl>
                                              <p:pRg st="4" end="4"/>
                                            </p:txEl>
                                          </p:spTgt>
                                        </p:tgtEl>
                                        <p:attrNameLst>
                                          <p:attrName>style.visibility</p:attrName>
                                        </p:attrNameLst>
                                      </p:cBhvr>
                                      <p:to>
                                        <p:strVal val="visible"/>
                                      </p:to>
                                    </p:set>
                                    <p:animEffect transition="in" filter="fade">
                                      <p:cBhvr>
                                        <p:cTn id="27" dur="500"/>
                                        <p:tgtEl>
                                          <p:spTgt spid="1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1">
                                            <p:txEl>
                                              <p:pRg st="5" end="5"/>
                                            </p:txEl>
                                          </p:spTgt>
                                        </p:tgtEl>
                                        <p:attrNameLst>
                                          <p:attrName>style.visibility</p:attrName>
                                        </p:attrNameLst>
                                      </p:cBhvr>
                                      <p:to>
                                        <p:strVal val="visible"/>
                                      </p:to>
                                    </p:set>
                                    <p:animEffect transition="in" filter="fade">
                                      <p:cBhvr>
                                        <p:cTn id="32" dur="500"/>
                                        <p:tgtEl>
                                          <p:spTgt spid="1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1121D4-6019-53C6-3C4F-A1FD51CE7A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1A21A9-B2F1-9E1C-C3F6-C2372CBF0F75}"/>
              </a:ext>
            </a:extLst>
          </p:cNvPr>
          <p:cNvSpPr>
            <a:spLocks noGrp="1"/>
          </p:cNvSpPr>
          <p:nvPr>
            <p:ph type="title"/>
          </p:nvPr>
        </p:nvSpPr>
        <p:spPr>
          <a:xfrm>
            <a:off x="0" y="1"/>
            <a:ext cx="12192000" cy="711200"/>
          </a:xfrm>
        </p:spPr>
        <p:txBody>
          <a:bodyPr/>
          <a:lstStyle/>
          <a:p>
            <a:r>
              <a:rPr lang="en-US" dirty="0"/>
              <a:t>File Access</a:t>
            </a:r>
            <a:r>
              <a:rPr lang="en-US" dirty="0">
                <a:gradFill flip="none" rotWithShape="1">
                  <a:gsLst>
                    <a:gs pos="10000">
                      <a:schemeClr val="accent6">
                        <a:lumMod val="50000"/>
                      </a:schemeClr>
                    </a:gs>
                    <a:gs pos="100000">
                      <a:schemeClr val="accent6"/>
                    </a:gs>
                  </a:gsLst>
                  <a:lin ang="0" scaled="1"/>
                  <a:tileRect/>
                </a:gradFill>
              </a:rPr>
              <a:t> </a:t>
            </a:r>
            <a:r>
              <a:rPr lang="en-US" dirty="0"/>
              <a:t>Methods (Conti…)</a:t>
            </a:r>
          </a:p>
        </p:txBody>
      </p:sp>
      <p:sp>
        <p:nvSpPr>
          <p:cNvPr id="3" name="Content Placeholder 2">
            <a:extLst>
              <a:ext uri="{FF2B5EF4-FFF2-40B4-BE49-F238E27FC236}">
                <a16:creationId xmlns:a16="http://schemas.microsoft.com/office/drawing/2014/main" id="{ED383B4D-3B12-5F65-C48F-A205D287E5FF}"/>
              </a:ext>
            </a:extLst>
          </p:cNvPr>
          <p:cNvSpPr>
            <a:spLocks noGrp="1"/>
          </p:cNvSpPr>
          <p:nvPr>
            <p:ph idx="1"/>
          </p:nvPr>
        </p:nvSpPr>
        <p:spPr>
          <a:xfrm>
            <a:off x="131180" y="863445"/>
            <a:ext cx="11929641" cy="5649046"/>
          </a:xfrm>
        </p:spPr>
        <p:txBody>
          <a:bodyPr/>
          <a:lstStyle/>
          <a:p>
            <a:pPr marL="265113" lvl="1" indent="-265113">
              <a:spcBef>
                <a:spcPts val="1000"/>
              </a:spcBef>
              <a:buFont typeface="Wingdings 3" panose="05040102010807070707" pitchFamily="18" charset="2"/>
              <a:buChar char=""/>
            </a:pPr>
            <a:r>
              <a:rPr lang="en-US" sz="2400" b="1" dirty="0">
                <a:solidFill>
                  <a:schemeClr val="accent6"/>
                </a:solidFill>
              </a:rPr>
              <a:t>Sequential Access:</a:t>
            </a:r>
          </a:p>
          <a:p>
            <a:pPr lvl="1"/>
            <a:r>
              <a:rPr lang="en-US" sz="2200" dirty="0"/>
              <a:t>It is the simplest file access method. In this approach, data is processed in a</a:t>
            </a:r>
            <a:r>
              <a:rPr lang="en-US" sz="2200" b="1" dirty="0"/>
              <a:t> linear order</a:t>
            </a:r>
            <a:r>
              <a:rPr lang="en-US" sz="2200" dirty="0"/>
              <a:t>, one record after another, from the beginning to the end of the file.</a:t>
            </a:r>
          </a:p>
          <a:p>
            <a:pPr lvl="1"/>
            <a:r>
              <a:rPr lang="en-US" sz="2200" dirty="0"/>
              <a:t>When we use </a:t>
            </a:r>
            <a:r>
              <a:rPr lang="en-US" sz="2200" b="1" dirty="0"/>
              <a:t>read command</a:t>
            </a:r>
            <a:r>
              <a:rPr lang="en-US" sz="2200" dirty="0"/>
              <a:t>, records are </a:t>
            </a:r>
            <a:r>
              <a:rPr lang="en-US" sz="2200" b="1" dirty="0"/>
              <a:t>read</a:t>
            </a:r>
            <a:r>
              <a:rPr lang="en-US" sz="2200" dirty="0"/>
              <a:t> one after another in </a:t>
            </a:r>
            <a:r>
              <a:rPr lang="en-US" sz="2200" b="1" dirty="0"/>
              <a:t>sequence</a:t>
            </a:r>
            <a:r>
              <a:rPr lang="en-US" sz="2200" dirty="0"/>
              <a:t>.</a:t>
            </a:r>
          </a:p>
          <a:p>
            <a:pPr lvl="1"/>
            <a:r>
              <a:rPr lang="en-US" sz="2200" dirty="0"/>
              <a:t>When we use </a:t>
            </a:r>
            <a:r>
              <a:rPr lang="en-US" sz="2200" b="1" dirty="0"/>
              <a:t>write command</a:t>
            </a:r>
            <a:r>
              <a:rPr lang="en-US" sz="2200" dirty="0"/>
              <a:t>, it will </a:t>
            </a:r>
            <a:r>
              <a:rPr lang="en-US" sz="2200" b="1" dirty="0"/>
              <a:t>allocate memory </a:t>
            </a:r>
            <a:r>
              <a:rPr lang="en-US" sz="2200" dirty="0"/>
              <a:t>and </a:t>
            </a:r>
            <a:r>
              <a:rPr lang="en-US" sz="2200" b="1" dirty="0"/>
              <a:t>moves the pointer </a:t>
            </a:r>
            <a:r>
              <a:rPr lang="en-US" sz="2200" dirty="0"/>
              <a:t>to the </a:t>
            </a:r>
            <a:r>
              <a:rPr lang="en-US" sz="2200" b="1" dirty="0"/>
              <a:t>end of the file</a:t>
            </a:r>
            <a:r>
              <a:rPr lang="en-US" sz="2200" dirty="0"/>
              <a:t>. </a:t>
            </a:r>
            <a:endParaRPr lang="en-US" sz="2400" b="1" dirty="0">
              <a:solidFill>
                <a:schemeClr val="accent6"/>
              </a:solidFill>
            </a:endParaRPr>
          </a:p>
          <a:p>
            <a:pPr lvl="1"/>
            <a:r>
              <a:rPr lang="en-US" sz="2200" dirty="0"/>
              <a:t>To access a specific record, the system must </a:t>
            </a:r>
            <a:r>
              <a:rPr lang="en-US" sz="2200" b="1" dirty="0"/>
              <a:t>traverse</a:t>
            </a:r>
            <a:r>
              <a:rPr lang="en-US" sz="2200" dirty="0"/>
              <a:t> all preceding records.</a:t>
            </a:r>
          </a:p>
          <a:p>
            <a:pPr lvl="1"/>
            <a:r>
              <a:rPr lang="en-US" sz="2200" b="1" dirty="0"/>
              <a:t>Example</a:t>
            </a:r>
            <a:r>
              <a:rPr lang="en-US" sz="2200" dirty="0"/>
              <a:t>: Magnetic tapes (classic sequential access).</a:t>
            </a:r>
          </a:p>
        </p:txBody>
      </p:sp>
      <p:pic>
        <p:nvPicPr>
          <p:cNvPr id="8" name="Picture 7">
            <a:extLst>
              <a:ext uri="{FF2B5EF4-FFF2-40B4-BE49-F238E27FC236}">
                <a16:creationId xmlns:a16="http://schemas.microsoft.com/office/drawing/2014/main" id="{24CAF3D7-9DDB-0641-49FF-D7303D4520A0}"/>
              </a:ext>
            </a:extLst>
          </p:cNvPr>
          <p:cNvPicPr>
            <a:picLocks noChangeAspect="1"/>
          </p:cNvPicPr>
          <p:nvPr/>
        </p:nvPicPr>
        <p:blipFill>
          <a:blip r:embed="rId2"/>
          <a:stretch>
            <a:fillRect/>
          </a:stretch>
        </p:blipFill>
        <p:spPr>
          <a:xfrm>
            <a:off x="2839305" y="3523919"/>
            <a:ext cx="6108051" cy="2891577"/>
          </a:xfrm>
          <a:prstGeom prst="rect">
            <a:avLst/>
          </a:prstGeom>
        </p:spPr>
      </p:pic>
    </p:spTree>
    <p:extLst>
      <p:ext uri="{BB962C8B-B14F-4D97-AF65-F5344CB8AC3E}">
        <p14:creationId xmlns:p14="http://schemas.microsoft.com/office/powerpoint/2010/main" val="1082884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Effect transition="in" filter="fade">
                                      <p:cBhvr>
                                        <p:cTn id="16" dur="500"/>
                                        <p:tgtEl>
                                          <p:spTgt spid="3">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500"/>
                                        <p:tgtEl>
                                          <p:spTgt spid="3">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Effect transition="in" filter="fade">
                                      <p:cBhvr>
                                        <p:cTn id="26" dur="500"/>
                                        <p:tgtEl>
                                          <p:spTgt spid="3">
                                            <p:txEl>
                                              <p:pRg st="4" end="4"/>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Effect transition="in" filter="fade">
                                      <p:cBhvr>
                                        <p:cTn id="31"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3D579-5F2B-A42C-B855-716EDFDA94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B2A54A-5FB5-3ADD-7034-C66BD5658D53}"/>
              </a:ext>
            </a:extLst>
          </p:cNvPr>
          <p:cNvSpPr>
            <a:spLocks noGrp="1"/>
          </p:cNvSpPr>
          <p:nvPr>
            <p:ph type="title"/>
          </p:nvPr>
        </p:nvSpPr>
        <p:spPr>
          <a:xfrm>
            <a:off x="0" y="1"/>
            <a:ext cx="12192000" cy="711200"/>
          </a:xfrm>
          <a:solidFill>
            <a:srgbClr val="C0C0C0">
              <a:alpha val="50000"/>
            </a:srgbClr>
          </a:solidFill>
          <a:ln>
            <a:noFill/>
          </a:ln>
        </p:spPr>
        <p:txBody>
          <a:bodyPr vert="horz" lIns="216000" tIns="108000" rIns="216000" bIns="108000" rtlCol="0" anchor="ctr">
            <a:normAutofit/>
          </a:bodyPr>
          <a:lstStyle/>
          <a:p>
            <a:r>
              <a:rPr lang="en-US" dirty="0"/>
              <a:t>File Access Methods (Conti…)</a:t>
            </a:r>
          </a:p>
        </p:txBody>
      </p:sp>
      <p:sp>
        <p:nvSpPr>
          <p:cNvPr id="3" name="Content Placeholder 2">
            <a:extLst>
              <a:ext uri="{FF2B5EF4-FFF2-40B4-BE49-F238E27FC236}">
                <a16:creationId xmlns:a16="http://schemas.microsoft.com/office/drawing/2014/main" id="{00694742-6F00-B735-696C-218B1FCBB666}"/>
              </a:ext>
            </a:extLst>
          </p:cNvPr>
          <p:cNvSpPr>
            <a:spLocks noGrp="1"/>
          </p:cNvSpPr>
          <p:nvPr>
            <p:ph idx="1"/>
          </p:nvPr>
        </p:nvSpPr>
        <p:spPr>
          <a:xfrm>
            <a:off x="131180" y="863445"/>
            <a:ext cx="11929641" cy="5649046"/>
          </a:xfrm>
        </p:spPr>
        <p:txBody>
          <a:bodyPr/>
          <a:lstStyle/>
          <a:p>
            <a:pPr marL="265113" lvl="1" indent="-265113">
              <a:spcBef>
                <a:spcPts val="1000"/>
              </a:spcBef>
              <a:buFont typeface="Wingdings 3" panose="05040102010807070707" pitchFamily="18" charset="2"/>
              <a:buChar char=""/>
            </a:pPr>
            <a:r>
              <a:rPr lang="en-US" sz="2400" b="1" dirty="0">
                <a:solidFill>
                  <a:schemeClr val="accent6"/>
                </a:solidFill>
              </a:rPr>
              <a:t>Direct/Random Access:</a:t>
            </a:r>
          </a:p>
          <a:p>
            <a:pPr lvl="1"/>
            <a:r>
              <a:rPr lang="en-US" sz="2200" dirty="0"/>
              <a:t>Direct access (also called </a:t>
            </a:r>
            <a:r>
              <a:rPr lang="en-US" sz="2200" b="1" dirty="0"/>
              <a:t>random access</a:t>
            </a:r>
            <a:r>
              <a:rPr lang="en-US" sz="2200" dirty="0"/>
              <a:t>) is a file access method where data can be read or modified </a:t>
            </a:r>
            <a:r>
              <a:rPr lang="en-US" sz="2200" b="1" dirty="0"/>
              <a:t>directly at any position</a:t>
            </a:r>
            <a:r>
              <a:rPr lang="en-US" sz="2200" dirty="0"/>
              <a:t> without traversing preceding records. </a:t>
            </a:r>
          </a:p>
          <a:p>
            <a:pPr lvl="1"/>
            <a:r>
              <a:rPr lang="en-US" sz="2200" dirty="0"/>
              <a:t>Unlike sequential access, it allows instant access to any part of the file.</a:t>
            </a:r>
          </a:p>
          <a:p>
            <a:pPr lvl="1"/>
            <a:r>
              <a:rPr lang="en-US" sz="2200" dirty="0"/>
              <a:t>Thus, we may read block </a:t>
            </a:r>
            <a:r>
              <a:rPr lang="en-US" sz="2200" b="1" dirty="0"/>
              <a:t>14</a:t>
            </a:r>
            <a:r>
              <a:rPr lang="en-US" sz="2200" dirty="0"/>
              <a:t> then block </a:t>
            </a:r>
            <a:r>
              <a:rPr lang="en-US" sz="2200" b="1" dirty="0"/>
              <a:t>59</a:t>
            </a:r>
            <a:r>
              <a:rPr lang="en-US" sz="2200" dirty="0"/>
              <a:t>, and then we can write block </a:t>
            </a:r>
            <a:r>
              <a:rPr lang="en-US" sz="2200" b="1" dirty="0"/>
              <a:t>17</a:t>
            </a:r>
            <a:r>
              <a:rPr lang="en-US" sz="2200" dirty="0"/>
              <a:t>. </a:t>
            </a:r>
          </a:p>
          <a:p>
            <a:pPr lvl="1"/>
            <a:r>
              <a:rPr lang="en-US" sz="2200" dirty="0"/>
              <a:t>There is </a:t>
            </a:r>
            <a:r>
              <a:rPr lang="en-US" sz="2200" b="1" dirty="0"/>
              <a:t>no restriction </a:t>
            </a:r>
            <a:r>
              <a:rPr lang="en-US" sz="2200" dirty="0"/>
              <a:t>on the order of reading and writing for a direct access file. </a:t>
            </a:r>
          </a:p>
          <a:p>
            <a:pPr lvl="1"/>
            <a:r>
              <a:rPr lang="en-US" sz="2200" b="1" dirty="0"/>
              <a:t>Example</a:t>
            </a:r>
            <a:r>
              <a:rPr lang="en-US" sz="2200" dirty="0"/>
              <a:t>: HDDs, SSDs, and RAM</a:t>
            </a:r>
          </a:p>
          <a:p>
            <a:pPr lvl="1"/>
            <a:endParaRPr lang="en-US" sz="2200" dirty="0"/>
          </a:p>
          <a:p>
            <a:pPr marL="457200" lvl="1" indent="0">
              <a:buNone/>
            </a:pPr>
            <a:endParaRPr lang="en-US" sz="2400" b="1" dirty="0">
              <a:solidFill>
                <a:schemeClr val="accent6"/>
              </a:solidFill>
            </a:endParaRPr>
          </a:p>
        </p:txBody>
      </p:sp>
      <p:pic>
        <p:nvPicPr>
          <p:cNvPr id="6" name="Picture 5">
            <a:extLst>
              <a:ext uri="{FF2B5EF4-FFF2-40B4-BE49-F238E27FC236}">
                <a16:creationId xmlns:a16="http://schemas.microsoft.com/office/drawing/2014/main" id="{ADCE966A-F91B-EAAF-C852-532E845D1632}"/>
              </a:ext>
            </a:extLst>
          </p:cNvPr>
          <p:cNvPicPr>
            <a:picLocks noChangeAspect="1"/>
          </p:cNvPicPr>
          <p:nvPr/>
        </p:nvPicPr>
        <p:blipFill>
          <a:blip r:embed="rId2"/>
          <a:stretch>
            <a:fillRect/>
          </a:stretch>
        </p:blipFill>
        <p:spPr>
          <a:xfrm>
            <a:off x="2741593" y="3517493"/>
            <a:ext cx="6038613" cy="2966150"/>
          </a:xfrm>
          <a:prstGeom prst="rect">
            <a:avLst/>
          </a:prstGeom>
        </p:spPr>
      </p:pic>
    </p:spTree>
    <p:extLst>
      <p:ext uri="{BB962C8B-B14F-4D97-AF65-F5344CB8AC3E}">
        <p14:creationId xmlns:p14="http://schemas.microsoft.com/office/powerpoint/2010/main" val="5415869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Effect transition="in" filter="fade">
                                      <p:cBhvr>
                                        <p:cTn id="16" dur="500"/>
                                        <p:tgtEl>
                                          <p:spTgt spid="3">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500"/>
                                        <p:tgtEl>
                                          <p:spTgt spid="3">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Effect transition="in" filter="fade">
                                      <p:cBhvr>
                                        <p:cTn id="26" dur="500"/>
                                        <p:tgtEl>
                                          <p:spTgt spid="3">
                                            <p:txEl>
                                              <p:pRg st="4" end="4"/>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Effect transition="in" filter="fade">
                                      <p:cBhvr>
                                        <p:cTn id="31"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84084A-71F4-7F5E-58E9-2B90FA20D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B61528-BCE7-02EC-8B47-7569D093771F}"/>
              </a:ext>
            </a:extLst>
          </p:cNvPr>
          <p:cNvSpPr>
            <a:spLocks noGrp="1"/>
          </p:cNvSpPr>
          <p:nvPr>
            <p:ph type="title"/>
          </p:nvPr>
        </p:nvSpPr>
        <p:spPr>
          <a:xfrm>
            <a:off x="0" y="1"/>
            <a:ext cx="12192000" cy="711200"/>
          </a:xfrm>
          <a:solidFill>
            <a:srgbClr val="C0C0C0">
              <a:alpha val="50000"/>
            </a:srgbClr>
          </a:solidFill>
          <a:ln>
            <a:noFill/>
          </a:ln>
        </p:spPr>
        <p:txBody>
          <a:bodyPr vert="horz" lIns="216000" tIns="108000" rIns="216000" bIns="108000" rtlCol="0" anchor="ctr">
            <a:normAutofit/>
          </a:bodyPr>
          <a:lstStyle/>
          <a:p>
            <a:r>
              <a:rPr lang="en-US" dirty="0"/>
              <a:t>File Access Methods (Conti…)</a:t>
            </a:r>
          </a:p>
        </p:txBody>
      </p:sp>
      <p:sp>
        <p:nvSpPr>
          <p:cNvPr id="3" name="Content Placeholder 2">
            <a:extLst>
              <a:ext uri="{FF2B5EF4-FFF2-40B4-BE49-F238E27FC236}">
                <a16:creationId xmlns:a16="http://schemas.microsoft.com/office/drawing/2014/main" id="{FC15CA54-9A7A-B91E-165A-4FED755AE97B}"/>
              </a:ext>
            </a:extLst>
          </p:cNvPr>
          <p:cNvSpPr>
            <a:spLocks noGrp="1"/>
          </p:cNvSpPr>
          <p:nvPr>
            <p:ph idx="1"/>
          </p:nvPr>
        </p:nvSpPr>
        <p:spPr>
          <a:xfrm>
            <a:off x="131180" y="863445"/>
            <a:ext cx="11929641" cy="5649046"/>
          </a:xfrm>
        </p:spPr>
        <p:txBody>
          <a:bodyPr/>
          <a:lstStyle/>
          <a:p>
            <a:pPr marL="265113" lvl="1" indent="-265113">
              <a:spcBef>
                <a:spcPts val="1000"/>
              </a:spcBef>
              <a:buFont typeface="Wingdings 3" panose="05040102010807070707" pitchFamily="18" charset="2"/>
              <a:buChar char=""/>
            </a:pPr>
            <a:r>
              <a:rPr lang="en-US" sz="2400" b="1" dirty="0">
                <a:solidFill>
                  <a:schemeClr val="accent6"/>
                </a:solidFill>
              </a:rPr>
              <a:t>Indexed Access:</a:t>
            </a:r>
          </a:p>
          <a:p>
            <a:pPr lvl="1"/>
            <a:r>
              <a:rPr lang="en-US" sz="2200" dirty="0"/>
              <a:t>The indexed access method is a file access technique that combines </a:t>
            </a:r>
            <a:r>
              <a:rPr lang="en-US" sz="2200" b="1" dirty="0"/>
              <a:t>direct (random) access</a:t>
            </a:r>
            <a:r>
              <a:rPr lang="en-US" sz="2200" dirty="0"/>
              <a:t> with an </a:t>
            </a:r>
            <a:r>
              <a:rPr lang="en-US" sz="2200" b="1" dirty="0"/>
              <a:t>index structure</a:t>
            </a:r>
            <a:r>
              <a:rPr lang="en-US" sz="2200" dirty="0"/>
              <a:t> to quickly locate records. </a:t>
            </a:r>
          </a:p>
          <a:p>
            <a:pPr lvl="1"/>
            <a:r>
              <a:rPr lang="en-US" sz="2200" dirty="0"/>
              <a:t>Instead of scanning the entire file (</a:t>
            </a:r>
            <a:r>
              <a:rPr lang="en-US" sz="2200" b="1" dirty="0"/>
              <a:t>sequential</a:t>
            </a:r>
            <a:r>
              <a:rPr lang="en-US" sz="2200" dirty="0"/>
              <a:t>) or calculating offsets (</a:t>
            </a:r>
            <a:r>
              <a:rPr lang="en-US" sz="2200" b="1" dirty="0"/>
              <a:t>direct</a:t>
            </a:r>
            <a:r>
              <a:rPr lang="en-US" sz="2200" dirty="0"/>
              <a:t>), it uses an </a:t>
            </a:r>
            <a:r>
              <a:rPr lang="en-US" sz="2200" b="1" dirty="0"/>
              <a:t>index table</a:t>
            </a:r>
            <a:r>
              <a:rPr lang="en-US" sz="2200" dirty="0"/>
              <a:t> that maps </a:t>
            </a:r>
            <a:r>
              <a:rPr lang="en-US" sz="2200" b="1" dirty="0"/>
              <a:t>keys</a:t>
            </a:r>
            <a:r>
              <a:rPr lang="en-US" sz="2200" dirty="0"/>
              <a:t> to </a:t>
            </a:r>
            <a:r>
              <a:rPr lang="en-IN" sz="2200" b="1" dirty="0"/>
              <a:t>physical storage locations</a:t>
            </a:r>
            <a:r>
              <a:rPr lang="en-IN" sz="2200" dirty="0"/>
              <a:t>.</a:t>
            </a:r>
            <a:endParaRPr lang="en-US" sz="2200" dirty="0"/>
          </a:p>
          <a:p>
            <a:pPr lvl="1"/>
            <a:r>
              <a:rPr lang="en-US" sz="2200" dirty="0"/>
              <a:t>When the user makes a request for specific records it will find that </a:t>
            </a:r>
            <a:r>
              <a:rPr lang="en-US" sz="2200" b="1" dirty="0"/>
              <a:t>index table </a:t>
            </a:r>
            <a:r>
              <a:rPr lang="en-US" sz="2200" dirty="0"/>
              <a:t>first where that specific record is stored.</a:t>
            </a:r>
            <a:endParaRPr lang="en-US" sz="2200" b="1" dirty="0">
              <a:solidFill>
                <a:schemeClr val="accent6"/>
              </a:solidFill>
            </a:endParaRPr>
          </a:p>
        </p:txBody>
      </p:sp>
      <p:graphicFrame>
        <p:nvGraphicFramePr>
          <p:cNvPr id="7" name="Table 6">
            <a:extLst>
              <a:ext uri="{FF2B5EF4-FFF2-40B4-BE49-F238E27FC236}">
                <a16:creationId xmlns:a16="http://schemas.microsoft.com/office/drawing/2014/main" id="{12950F94-E0A3-CA93-5535-5BC73F607B79}"/>
              </a:ext>
            </a:extLst>
          </p:cNvPr>
          <p:cNvGraphicFramePr>
            <a:graphicFrameLocks noGrp="1"/>
          </p:cNvGraphicFramePr>
          <p:nvPr>
            <p:extLst>
              <p:ext uri="{D42A27DB-BD31-4B8C-83A1-F6EECF244321}">
                <p14:modId xmlns:p14="http://schemas.microsoft.com/office/powerpoint/2010/main" val="111865884"/>
              </p:ext>
            </p:extLst>
          </p:nvPr>
        </p:nvGraphicFramePr>
        <p:xfrm>
          <a:off x="2623140" y="4043154"/>
          <a:ext cx="1647676" cy="1356597"/>
        </p:xfrm>
        <a:graphic>
          <a:graphicData uri="http://schemas.openxmlformats.org/drawingml/2006/table">
            <a:tbl>
              <a:tblPr firstRow="1" bandRow="1">
                <a:tableStyleId>{F5AB1C69-6EDB-4FF4-983F-18BD219EF322}</a:tableStyleId>
              </a:tblPr>
              <a:tblGrid>
                <a:gridCol w="1647676">
                  <a:extLst>
                    <a:ext uri="{9D8B030D-6E8A-4147-A177-3AD203B41FA5}">
                      <a16:colId xmlns:a16="http://schemas.microsoft.com/office/drawing/2014/main" val="1768066609"/>
                    </a:ext>
                  </a:extLst>
                </a:gridCol>
              </a:tblGrid>
              <a:tr h="452199">
                <a:tc>
                  <a:txBody>
                    <a:bodyPr/>
                    <a:lstStyle/>
                    <a:p>
                      <a:pPr algn="ctr"/>
                      <a:r>
                        <a:rPr lang="en-IN" sz="2200" b="1" dirty="0"/>
                        <a:t>Index Table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5853782"/>
                  </a:ext>
                </a:extLst>
              </a:tr>
              <a:tr h="452199">
                <a:tc>
                  <a:txBody>
                    <a:bodyPr/>
                    <a:lstStyle/>
                    <a:p>
                      <a:pPr algn="ctr"/>
                      <a:r>
                        <a:rPr lang="en-IN" sz="2200"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11713022"/>
                  </a:ext>
                </a:extLst>
              </a:tr>
              <a:tr h="452199">
                <a:tc>
                  <a:txBody>
                    <a:bodyPr/>
                    <a:lstStyle/>
                    <a:p>
                      <a:pPr algn="ctr"/>
                      <a:r>
                        <a:rPr lang="en-IN" sz="2200" b="1"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86053397"/>
                  </a:ext>
                </a:extLst>
              </a:tr>
            </a:tbl>
          </a:graphicData>
        </a:graphic>
      </p:graphicFrame>
      <p:pic>
        <p:nvPicPr>
          <p:cNvPr id="3074" name="Picture 2" descr="Green database 5 icon - Free green database icons">
            <a:extLst>
              <a:ext uri="{FF2B5EF4-FFF2-40B4-BE49-F238E27FC236}">
                <a16:creationId xmlns:a16="http://schemas.microsoft.com/office/drawing/2014/main" id="{8DDDE6A2-9060-7AA1-A8CC-A9FA399CD8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41116" y="2973749"/>
            <a:ext cx="3569110" cy="3569110"/>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id="{4614D6FF-F0E3-0F1E-6EC4-1A3A65B04998}"/>
              </a:ext>
            </a:extLst>
          </p:cNvPr>
          <p:cNvSpPr/>
          <p:nvPr/>
        </p:nvSpPr>
        <p:spPr>
          <a:xfrm>
            <a:off x="6158629" y="3405129"/>
            <a:ext cx="1934083" cy="56079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200" b="1" dirty="0"/>
              <a:t>Secondary</a:t>
            </a:r>
          </a:p>
          <a:p>
            <a:pPr algn="ctr"/>
            <a:r>
              <a:rPr lang="en-IN" sz="2200" b="1" dirty="0"/>
              <a:t>Storage</a:t>
            </a:r>
          </a:p>
        </p:txBody>
      </p:sp>
      <p:sp>
        <p:nvSpPr>
          <p:cNvPr id="9" name="Oval 8">
            <a:extLst>
              <a:ext uri="{FF2B5EF4-FFF2-40B4-BE49-F238E27FC236}">
                <a16:creationId xmlns:a16="http://schemas.microsoft.com/office/drawing/2014/main" id="{42A1087B-D445-7AA6-0944-4A7ACC55781D}"/>
              </a:ext>
            </a:extLst>
          </p:cNvPr>
          <p:cNvSpPr/>
          <p:nvPr/>
        </p:nvSpPr>
        <p:spPr>
          <a:xfrm>
            <a:off x="5726010" y="4369990"/>
            <a:ext cx="432619" cy="397036"/>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200" b="1" dirty="0"/>
              <a:t>1</a:t>
            </a:r>
          </a:p>
        </p:txBody>
      </p:sp>
      <p:sp>
        <p:nvSpPr>
          <p:cNvPr id="11" name="Oval 10">
            <a:extLst>
              <a:ext uri="{FF2B5EF4-FFF2-40B4-BE49-F238E27FC236}">
                <a16:creationId xmlns:a16="http://schemas.microsoft.com/office/drawing/2014/main" id="{0E550377-705E-4820-8848-68F358FEB819}"/>
              </a:ext>
            </a:extLst>
          </p:cNvPr>
          <p:cNvSpPr/>
          <p:nvPr/>
        </p:nvSpPr>
        <p:spPr>
          <a:xfrm>
            <a:off x="5726009" y="5109028"/>
            <a:ext cx="432619" cy="397036"/>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200" b="1" dirty="0"/>
              <a:t>5</a:t>
            </a:r>
          </a:p>
        </p:txBody>
      </p:sp>
      <p:sp>
        <p:nvSpPr>
          <p:cNvPr id="12" name="Oval 11">
            <a:extLst>
              <a:ext uri="{FF2B5EF4-FFF2-40B4-BE49-F238E27FC236}">
                <a16:creationId xmlns:a16="http://schemas.microsoft.com/office/drawing/2014/main" id="{93054025-BBC1-0971-5F9B-8308CF312728}"/>
              </a:ext>
            </a:extLst>
          </p:cNvPr>
          <p:cNvSpPr/>
          <p:nvPr/>
        </p:nvSpPr>
        <p:spPr>
          <a:xfrm>
            <a:off x="6395387" y="4578340"/>
            <a:ext cx="432619" cy="397036"/>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200" b="1" dirty="0"/>
              <a:t>2</a:t>
            </a:r>
          </a:p>
        </p:txBody>
      </p:sp>
      <p:sp>
        <p:nvSpPr>
          <p:cNvPr id="13" name="Oval 12">
            <a:extLst>
              <a:ext uri="{FF2B5EF4-FFF2-40B4-BE49-F238E27FC236}">
                <a16:creationId xmlns:a16="http://schemas.microsoft.com/office/drawing/2014/main" id="{C12FAF9A-EA7B-3048-81DA-89F21545169F}"/>
              </a:ext>
            </a:extLst>
          </p:cNvPr>
          <p:cNvSpPr/>
          <p:nvPr/>
        </p:nvSpPr>
        <p:spPr>
          <a:xfrm>
            <a:off x="6422418" y="5318475"/>
            <a:ext cx="432619" cy="397036"/>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200" b="1" dirty="0"/>
              <a:t>6</a:t>
            </a:r>
          </a:p>
        </p:txBody>
      </p:sp>
      <p:sp>
        <p:nvSpPr>
          <p:cNvPr id="14" name="Oval 13">
            <a:extLst>
              <a:ext uri="{FF2B5EF4-FFF2-40B4-BE49-F238E27FC236}">
                <a16:creationId xmlns:a16="http://schemas.microsoft.com/office/drawing/2014/main" id="{5BC2E8D5-FD8A-FFDA-9FFB-6930C5CAECBA}"/>
              </a:ext>
            </a:extLst>
          </p:cNvPr>
          <p:cNvSpPr/>
          <p:nvPr/>
        </p:nvSpPr>
        <p:spPr>
          <a:xfrm>
            <a:off x="6422417" y="6035107"/>
            <a:ext cx="432619" cy="397036"/>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200" b="1" dirty="0"/>
              <a:t>9</a:t>
            </a:r>
          </a:p>
        </p:txBody>
      </p:sp>
      <p:sp>
        <p:nvSpPr>
          <p:cNvPr id="15" name="Oval 14">
            <a:extLst>
              <a:ext uri="{FF2B5EF4-FFF2-40B4-BE49-F238E27FC236}">
                <a16:creationId xmlns:a16="http://schemas.microsoft.com/office/drawing/2014/main" id="{EDD6836A-EFE8-E393-9480-DFE735AF9938}"/>
              </a:ext>
            </a:extLst>
          </p:cNvPr>
          <p:cNvSpPr/>
          <p:nvPr/>
        </p:nvSpPr>
        <p:spPr>
          <a:xfrm>
            <a:off x="7264240" y="4607836"/>
            <a:ext cx="432619" cy="397036"/>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200" b="1" dirty="0"/>
              <a:t>3</a:t>
            </a:r>
          </a:p>
        </p:txBody>
      </p:sp>
      <p:sp>
        <p:nvSpPr>
          <p:cNvPr id="16" name="Oval 15">
            <a:extLst>
              <a:ext uri="{FF2B5EF4-FFF2-40B4-BE49-F238E27FC236}">
                <a16:creationId xmlns:a16="http://schemas.microsoft.com/office/drawing/2014/main" id="{DDE9013E-1A23-CBA0-37A5-F1EBD3E904F6}"/>
              </a:ext>
            </a:extLst>
          </p:cNvPr>
          <p:cNvSpPr/>
          <p:nvPr/>
        </p:nvSpPr>
        <p:spPr>
          <a:xfrm>
            <a:off x="7267243" y="5321144"/>
            <a:ext cx="432619" cy="397036"/>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200" b="1" dirty="0"/>
              <a:t>7</a:t>
            </a:r>
          </a:p>
        </p:txBody>
      </p:sp>
      <p:sp>
        <p:nvSpPr>
          <p:cNvPr id="17" name="Oval 16">
            <a:extLst>
              <a:ext uri="{FF2B5EF4-FFF2-40B4-BE49-F238E27FC236}">
                <a16:creationId xmlns:a16="http://schemas.microsoft.com/office/drawing/2014/main" id="{A803CFCB-79A7-92BF-7A69-1E7A4750112B}"/>
              </a:ext>
            </a:extLst>
          </p:cNvPr>
          <p:cNvSpPr/>
          <p:nvPr/>
        </p:nvSpPr>
        <p:spPr>
          <a:xfrm>
            <a:off x="7264239" y="6044284"/>
            <a:ext cx="432619" cy="397036"/>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200" b="1" dirty="0"/>
              <a:t>1</a:t>
            </a:r>
          </a:p>
        </p:txBody>
      </p:sp>
      <p:sp>
        <p:nvSpPr>
          <p:cNvPr id="18" name="Oval 17">
            <a:extLst>
              <a:ext uri="{FF2B5EF4-FFF2-40B4-BE49-F238E27FC236}">
                <a16:creationId xmlns:a16="http://schemas.microsoft.com/office/drawing/2014/main" id="{7F13CC29-8FA5-CDB8-EBC2-5A4093F3092D}"/>
              </a:ext>
            </a:extLst>
          </p:cNvPr>
          <p:cNvSpPr/>
          <p:nvPr/>
        </p:nvSpPr>
        <p:spPr>
          <a:xfrm>
            <a:off x="7987071" y="4433850"/>
            <a:ext cx="432619" cy="397036"/>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200" b="1" dirty="0"/>
              <a:t>4</a:t>
            </a:r>
          </a:p>
        </p:txBody>
      </p:sp>
      <p:sp>
        <p:nvSpPr>
          <p:cNvPr id="19" name="Oval 18">
            <a:extLst>
              <a:ext uri="{FF2B5EF4-FFF2-40B4-BE49-F238E27FC236}">
                <a16:creationId xmlns:a16="http://schemas.microsoft.com/office/drawing/2014/main" id="{D9DCE05E-6234-722F-E34B-B121BF35AE65}"/>
              </a:ext>
            </a:extLst>
          </p:cNvPr>
          <p:cNvSpPr/>
          <p:nvPr/>
        </p:nvSpPr>
        <p:spPr>
          <a:xfrm>
            <a:off x="7987071" y="5169117"/>
            <a:ext cx="432619" cy="397036"/>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200" b="1" dirty="0"/>
              <a:t>8</a:t>
            </a:r>
          </a:p>
        </p:txBody>
      </p:sp>
      <p:cxnSp>
        <p:nvCxnSpPr>
          <p:cNvPr id="24" name="Straight Arrow Connector 23">
            <a:extLst>
              <a:ext uri="{FF2B5EF4-FFF2-40B4-BE49-F238E27FC236}">
                <a16:creationId xmlns:a16="http://schemas.microsoft.com/office/drawing/2014/main" id="{E3673C02-0AE1-E7BB-0974-4753C8EE0D20}"/>
              </a:ext>
            </a:extLst>
          </p:cNvPr>
          <p:cNvCxnSpPr>
            <a:cxnSpLocks/>
          </p:cNvCxnSpPr>
          <p:nvPr/>
        </p:nvCxnSpPr>
        <p:spPr>
          <a:xfrm>
            <a:off x="6156508" y="5367635"/>
            <a:ext cx="329265" cy="149358"/>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26" name="Straight Arrow Connector 25">
            <a:extLst>
              <a:ext uri="{FF2B5EF4-FFF2-40B4-BE49-F238E27FC236}">
                <a16:creationId xmlns:a16="http://schemas.microsoft.com/office/drawing/2014/main" id="{F4746A39-6B5F-AA3D-5A3F-91C571100078}"/>
              </a:ext>
            </a:extLst>
          </p:cNvPr>
          <p:cNvCxnSpPr>
            <a:cxnSpLocks/>
            <a:stCxn id="11" idx="5"/>
            <a:endCxn id="14" idx="1"/>
          </p:cNvCxnSpPr>
          <p:nvPr/>
        </p:nvCxnSpPr>
        <p:spPr>
          <a:xfrm>
            <a:off x="6095272" y="5447919"/>
            <a:ext cx="390501" cy="645333"/>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27" name="Straight Arrow Connector 26">
            <a:extLst>
              <a:ext uri="{FF2B5EF4-FFF2-40B4-BE49-F238E27FC236}">
                <a16:creationId xmlns:a16="http://schemas.microsoft.com/office/drawing/2014/main" id="{35EA9CB8-2366-3D51-AB55-14D1146DD034}"/>
              </a:ext>
            </a:extLst>
          </p:cNvPr>
          <p:cNvCxnSpPr>
            <a:cxnSpLocks/>
            <a:endCxn id="12" idx="3"/>
          </p:cNvCxnSpPr>
          <p:nvPr/>
        </p:nvCxnSpPr>
        <p:spPr>
          <a:xfrm flipV="1">
            <a:off x="6156508" y="4917231"/>
            <a:ext cx="302235" cy="350236"/>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35" name="Straight Arrow Connector 34">
            <a:extLst>
              <a:ext uri="{FF2B5EF4-FFF2-40B4-BE49-F238E27FC236}">
                <a16:creationId xmlns:a16="http://schemas.microsoft.com/office/drawing/2014/main" id="{D2593481-1846-9C13-B7E2-D82F82409F86}"/>
              </a:ext>
            </a:extLst>
          </p:cNvPr>
          <p:cNvCxnSpPr>
            <a:cxnSpLocks/>
            <a:endCxn id="11" idx="2"/>
          </p:cNvCxnSpPr>
          <p:nvPr/>
        </p:nvCxnSpPr>
        <p:spPr>
          <a:xfrm>
            <a:off x="4258784" y="5119647"/>
            <a:ext cx="1467225" cy="187899"/>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37" name="Rectangle 36">
            <a:extLst>
              <a:ext uri="{FF2B5EF4-FFF2-40B4-BE49-F238E27FC236}">
                <a16:creationId xmlns:a16="http://schemas.microsoft.com/office/drawing/2014/main" id="{8D75FE34-623B-23CC-4314-3743D554C7EE}"/>
              </a:ext>
            </a:extLst>
          </p:cNvPr>
          <p:cNvSpPr/>
          <p:nvPr/>
        </p:nvSpPr>
        <p:spPr>
          <a:xfrm>
            <a:off x="6323816" y="4549843"/>
            <a:ext cx="619432" cy="193430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6755381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07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4"/>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6"/>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7"/>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animBg="1"/>
      <p:bldP spid="11" grpId="0" animBg="1"/>
      <p:bldP spid="12" grpId="0" animBg="1"/>
      <p:bldP spid="13" grpId="0" animBg="1"/>
      <p:bldP spid="14" grpId="0" animBg="1"/>
      <p:bldP spid="15" grpId="0" animBg="1"/>
      <p:bldP spid="16" grpId="0" animBg="1"/>
      <p:bldP spid="17" grpId="0" animBg="1"/>
      <p:bldP spid="18" grpId="0" animBg="1"/>
      <p:bldP spid="19" grpId="0" animBg="1"/>
      <p:bldP spid="37"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9DAFF3-4036-2A83-854D-F83EB969122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0A41189-2DEF-3883-4BF2-CAE4B968AB06}"/>
              </a:ext>
            </a:extLst>
          </p:cNvPr>
          <p:cNvSpPr>
            <a:spLocks noGrp="1"/>
          </p:cNvSpPr>
          <p:nvPr>
            <p:ph type="title"/>
          </p:nvPr>
        </p:nvSpPr>
        <p:spPr/>
        <p:txBody>
          <a:bodyPr>
            <a:normAutofit fontScale="90000"/>
          </a:bodyPr>
          <a:lstStyle/>
          <a:p>
            <a:r>
              <a:rPr lang="en-US" dirty="0">
                <a:gradFill flip="none" rotWithShape="1">
                  <a:gsLst>
                    <a:gs pos="10000">
                      <a:schemeClr val="accent6">
                        <a:lumMod val="50000"/>
                      </a:schemeClr>
                    </a:gs>
                    <a:gs pos="100000">
                      <a:schemeClr val="accent6"/>
                    </a:gs>
                  </a:gsLst>
                  <a:lin ang="0" scaled="1"/>
                  <a:tileRect/>
                </a:gradFill>
              </a:rPr>
              <a:t/>
            </a:r>
            <a:br>
              <a:rPr lang="en-US" dirty="0">
                <a:gradFill flip="none" rotWithShape="1">
                  <a:gsLst>
                    <a:gs pos="10000">
                      <a:schemeClr val="accent6">
                        <a:lumMod val="50000"/>
                      </a:schemeClr>
                    </a:gs>
                    <a:gs pos="100000">
                      <a:schemeClr val="accent6"/>
                    </a:gs>
                  </a:gsLst>
                  <a:lin ang="0" scaled="1"/>
                  <a:tileRect/>
                </a:gradFill>
              </a:rPr>
            </a:br>
            <a:r>
              <a:rPr lang="en-US" dirty="0">
                <a:gradFill flip="none" rotWithShape="1">
                  <a:gsLst>
                    <a:gs pos="10000">
                      <a:schemeClr val="accent6">
                        <a:lumMod val="50000"/>
                      </a:schemeClr>
                    </a:gs>
                    <a:gs pos="100000">
                      <a:schemeClr val="accent6"/>
                    </a:gs>
                  </a:gsLst>
                  <a:lin ang="0" scaled="1"/>
                  <a:tileRect/>
                </a:gradFill>
              </a:rPr>
              <a:t/>
            </a:r>
            <a:br>
              <a:rPr lang="en-US" dirty="0">
                <a:gradFill flip="none" rotWithShape="1">
                  <a:gsLst>
                    <a:gs pos="10000">
                      <a:schemeClr val="accent6">
                        <a:lumMod val="50000"/>
                      </a:schemeClr>
                    </a:gs>
                    <a:gs pos="100000">
                      <a:schemeClr val="accent6"/>
                    </a:gs>
                  </a:gsLst>
                  <a:lin ang="0" scaled="1"/>
                  <a:tileRect/>
                </a:gradFill>
              </a:rPr>
            </a:br>
            <a:r>
              <a:rPr lang="en-US" dirty="0">
                <a:gradFill flip="none" rotWithShape="1">
                  <a:gsLst>
                    <a:gs pos="10000">
                      <a:schemeClr val="accent6">
                        <a:lumMod val="50000"/>
                      </a:schemeClr>
                    </a:gs>
                    <a:gs pos="100000">
                      <a:schemeClr val="accent6"/>
                    </a:gs>
                  </a:gsLst>
                  <a:lin ang="0" scaled="1"/>
                  <a:tileRect/>
                </a:gradFill>
              </a:rPr>
              <a:t/>
            </a:r>
            <a:br>
              <a:rPr lang="en-US" dirty="0">
                <a:gradFill flip="none" rotWithShape="1">
                  <a:gsLst>
                    <a:gs pos="10000">
                      <a:schemeClr val="accent6">
                        <a:lumMod val="50000"/>
                      </a:schemeClr>
                    </a:gs>
                    <a:gs pos="100000">
                      <a:schemeClr val="accent6"/>
                    </a:gs>
                  </a:gsLst>
                  <a:lin ang="0" scaled="1"/>
                  <a:tileRect/>
                </a:gradFill>
              </a:rPr>
            </a:br>
            <a:r>
              <a:rPr lang="en-US" dirty="0">
                <a:gradFill flip="none" rotWithShape="1">
                  <a:gsLst>
                    <a:gs pos="10000">
                      <a:schemeClr val="accent6">
                        <a:lumMod val="50000"/>
                      </a:schemeClr>
                    </a:gs>
                    <a:gs pos="100000">
                      <a:schemeClr val="accent6"/>
                    </a:gs>
                  </a:gsLst>
                  <a:lin ang="0" scaled="1"/>
                  <a:tileRect/>
                </a:gradFill>
              </a:rPr>
              <a:t/>
            </a:r>
            <a:br>
              <a:rPr lang="en-US" dirty="0">
                <a:gradFill flip="none" rotWithShape="1">
                  <a:gsLst>
                    <a:gs pos="10000">
                      <a:schemeClr val="accent6">
                        <a:lumMod val="50000"/>
                      </a:schemeClr>
                    </a:gs>
                    <a:gs pos="100000">
                      <a:schemeClr val="accent6"/>
                    </a:gs>
                  </a:gsLst>
                  <a:lin ang="0" scaled="1"/>
                  <a:tileRect/>
                </a:gradFill>
              </a:rPr>
            </a:br>
            <a:r>
              <a:rPr lang="en-US" dirty="0">
                <a:gradFill flip="none" rotWithShape="1">
                  <a:gsLst>
                    <a:gs pos="10000">
                      <a:schemeClr val="accent6">
                        <a:lumMod val="50000"/>
                      </a:schemeClr>
                    </a:gs>
                    <a:gs pos="100000">
                      <a:schemeClr val="accent6"/>
                    </a:gs>
                  </a:gsLst>
                  <a:lin ang="0" scaled="1"/>
                  <a:tileRect/>
                </a:gradFill>
              </a:rPr>
              <a:t>Directory Structure</a:t>
            </a:r>
          </a:p>
        </p:txBody>
      </p:sp>
      <p:sp>
        <p:nvSpPr>
          <p:cNvPr id="5" name="Text Placeholder 4">
            <a:extLst>
              <a:ext uri="{FF2B5EF4-FFF2-40B4-BE49-F238E27FC236}">
                <a16:creationId xmlns:a16="http://schemas.microsoft.com/office/drawing/2014/main" id="{4D4785C6-CE78-2674-CA06-0E436EDEF79C}"/>
              </a:ext>
            </a:extLst>
          </p:cNvPr>
          <p:cNvSpPr>
            <a:spLocks noGrp="1"/>
          </p:cNvSpPr>
          <p:nvPr>
            <p:ph type="body" idx="1"/>
          </p:nvPr>
        </p:nvSpPr>
        <p:spPr/>
        <p:txBody>
          <a:bodyPr/>
          <a:lstStyle/>
          <a:p>
            <a:r>
              <a:rPr lang="en-US" dirty="0"/>
              <a:t>Section – 10</a:t>
            </a:r>
          </a:p>
          <a:p>
            <a:endParaRPr lang="en-US" dirty="0"/>
          </a:p>
        </p:txBody>
      </p:sp>
    </p:spTree>
    <p:extLst>
      <p:ext uri="{BB962C8B-B14F-4D97-AF65-F5344CB8AC3E}">
        <p14:creationId xmlns:p14="http://schemas.microsoft.com/office/powerpoint/2010/main" val="6993802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D10B8-F283-019E-280D-4BF055F19FD9}"/>
            </a:ext>
          </a:extLst>
        </p:cNvPr>
        <p:cNvGrpSpPr/>
        <p:nvPr/>
      </p:nvGrpSpPr>
      <p:grpSpPr>
        <a:xfrm>
          <a:off x="0" y="0"/>
          <a:ext cx="0" cy="0"/>
          <a:chOff x="0" y="0"/>
          <a:chExt cx="0" cy="0"/>
        </a:xfrm>
      </p:grpSpPr>
      <p:sp>
        <p:nvSpPr>
          <p:cNvPr id="2" name="Content Placeholder 2">
            <a:extLst>
              <a:ext uri="{FF2B5EF4-FFF2-40B4-BE49-F238E27FC236}">
                <a16:creationId xmlns:a16="http://schemas.microsoft.com/office/drawing/2014/main" id="{7BF56171-0ADF-CEF7-E37C-B8B7E1CAB24A}"/>
              </a:ext>
            </a:extLst>
          </p:cNvPr>
          <p:cNvSpPr>
            <a:spLocks noGrp="1"/>
          </p:cNvSpPr>
          <p:nvPr>
            <p:ph idx="1"/>
          </p:nvPr>
        </p:nvSpPr>
        <p:spPr>
          <a:xfrm>
            <a:off x="131180" y="860066"/>
            <a:ext cx="11929641" cy="5593943"/>
          </a:xfrm>
        </p:spPr>
        <p:txBody>
          <a:bodyPr/>
          <a:lstStyle/>
          <a:p>
            <a:r>
              <a:rPr lang="en-US" dirty="0"/>
              <a:t>A directory is a </a:t>
            </a:r>
            <a:r>
              <a:rPr lang="en-US" b="1" dirty="0">
                <a:solidFill>
                  <a:schemeClr val="accent6"/>
                </a:solidFill>
              </a:rPr>
              <a:t>container</a:t>
            </a:r>
            <a:r>
              <a:rPr lang="en-US" dirty="0"/>
              <a:t> that holds </a:t>
            </a:r>
            <a:r>
              <a:rPr lang="en-US" b="1" dirty="0">
                <a:solidFill>
                  <a:schemeClr val="accent6"/>
                </a:solidFill>
              </a:rPr>
              <a:t>files</a:t>
            </a:r>
            <a:r>
              <a:rPr lang="en-US" dirty="0"/>
              <a:t> and </a:t>
            </a:r>
            <a:r>
              <a:rPr lang="en-US" b="1" dirty="0">
                <a:solidFill>
                  <a:schemeClr val="accent6"/>
                </a:solidFill>
              </a:rPr>
              <a:t>subdirectories</a:t>
            </a:r>
            <a:r>
              <a:rPr lang="en-US" dirty="0"/>
              <a:t>.</a:t>
            </a:r>
          </a:p>
          <a:p>
            <a:r>
              <a:rPr lang="en-US" dirty="0"/>
              <a:t>In </a:t>
            </a:r>
            <a:r>
              <a:rPr lang="en-US" b="1" dirty="0">
                <a:solidFill>
                  <a:schemeClr val="accent6"/>
                </a:solidFill>
              </a:rPr>
              <a:t>GUI-based systems</a:t>
            </a:r>
            <a:r>
              <a:rPr lang="en-US" dirty="0"/>
              <a:t>, directories are typically represented as </a:t>
            </a:r>
            <a:r>
              <a:rPr lang="en-US" b="1" dirty="0">
                <a:solidFill>
                  <a:schemeClr val="accent6"/>
                </a:solidFill>
              </a:rPr>
              <a:t>folders</a:t>
            </a:r>
            <a:r>
              <a:rPr lang="en-US" dirty="0"/>
              <a:t>.</a:t>
            </a:r>
          </a:p>
          <a:p>
            <a:r>
              <a:rPr lang="en-US" dirty="0"/>
              <a:t>Directories help in organizing and managing files efficiently by </a:t>
            </a:r>
            <a:r>
              <a:rPr lang="en-US" b="1" dirty="0">
                <a:solidFill>
                  <a:schemeClr val="accent6"/>
                </a:solidFill>
              </a:rPr>
              <a:t>grouping</a:t>
            </a:r>
            <a:r>
              <a:rPr lang="en-US" dirty="0"/>
              <a:t> related </a:t>
            </a:r>
            <a:r>
              <a:rPr lang="en-US" b="1" dirty="0">
                <a:solidFill>
                  <a:schemeClr val="accent6"/>
                </a:solidFill>
              </a:rPr>
              <a:t>files</a:t>
            </a:r>
            <a:r>
              <a:rPr lang="en-US" dirty="0"/>
              <a:t> and </a:t>
            </a:r>
            <a:r>
              <a:rPr lang="en-US" b="1" dirty="0">
                <a:solidFill>
                  <a:schemeClr val="accent6"/>
                </a:solidFill>
              </a:rPr>
              <a:t>subdirectories</a:t>
            </a:r>
            <a:r>
              <a:rPr lang="en-US" dirty="0"/>
              <a:t>.</a:t>
            </a:r>
          </a:p>
          <a:p>
            <a:r>
              <a:rPr lang="en-US" b="1" dirty="0">
                <a:solidFill>
                  <a:schemeClr val="accent6"/>
                </a:solidFill>
              </a:rPr>
              <a:t>Types of Directory Structures are as follows:</a:t>
            </a:r>
          </a:p>
          <a:p>
            <a:pPr marL="914400" lvl="1" indent="-457200">
              <a:lnSpc>
                <a:spcPct val="150000"/>
              </a:lnSpc>
              <a:buFont typeface="+mj-lt"/>
              <a:buAutoNum type="arabicPeriod"/>
            </a:pPr>
            <a:r>
              <a:rPr lang="en-US" sz="2200" b="1" dirty="0"/>
              <a:t>Single-Level Directory</a:t>
            </a:r>
          </a:p>
          <a:p>
            <a:pPr marL="914400" lvl="1" indent="-457200">
              <a:lnSpc>
                <a:spcPct val="150000"/>
              </a:lnSpc>
              <a:buFont typeface="+mj-lt"/>
              <a:buAutoNum type="arabicPeriod"/>
            </a:pPr>
            <a:r>
              <a:rPr lang="en-US" sz="2200" b="1" dirty="0"/>
              <a:t>Two-Level Directory</a:t>
            </a:r>
          </a:p>
          <a:p>
            <a:pPr marL="914400" lvl="1" indent="-457200">
              <a:lnSpc>
                <a:spcPct val="150000"/>
              </a:lnSpc>
              <a:buFont typeface="+mj-lt"/>
              <a:buAutoNum type="arabicPeriod"/>
            </a:pPr>
            <a:r>
              <a:rPr lang="en-US" sz="2200" b="1" dirty="0"/>
              <a:t>Tree-Structured Directory</a:t>
            </a:r>
          </a:p>
          <a:p>
            <a:pPr marL="914400" lvl="1" indent="-457200">
              <a:lnSpc>
                <a:spcPct val="150000"/>
              </a:lnSpc>
              <a:buFont typeface="+mj-lt"/>
              <a:buAutoNum type="arabicPeriod"/>
            </a:pPr>
            <a:r>
              <a:rPr lang="en-US" sz="2200" b="1" dirty="0"/>
              <a:t>Acyclic Graph Directory</a:t>
            </a:r>
          </a:p>
          <a:p>
            <a:endParaRPr lang="en-US" dirty="0"/>
          </a:p>
          <a:p>
            <a:endParaRPr lang="en-US" dirty="0"/>
          </a:p>
          <a:p>
            <a:endParaRPr lang="en-US" dirty="0"/>
          </a:p>
          <a:p>
            <a:endParaRPr lang="en-IN" dirty="0"/>
          </a:p>
        </p:txBody>
      </p:sp>
      <p:sp>
        <p:nvSpPr>
          <p:cNvPr id="3" name="Title 1">
            <a:extLst>
              <a:ext uri="{FF2B5EF4-FFF2-40B4-BE49-F238E27FC236}">
                <a16:creationId xmlns:a16="http://schemas.microsoft.com/office/drawing/2014/main" id="{07404FDD-8496-355E-D8A2-DC420CE5CF0B}"/>
              </a:ext>
            </a:extLst>
          </p:cNvPr>
          <p:cNvSpPr>
            <a:spLocks noGrp="1"/>
          </p:cNvSpPr>
          <p:nvPr>
            <p:ph type="title"/>
          </p:nvPr>
        </p:nvSpPr>
        <p:spPr>
          <a:xfrm>
            <a:off x="0" y="1"/>
            <a:ext cx="12192000" cy="711200"/>
          </a:xfrm>
        </p:spPr>
        <p:txBody>
          <a:bodyPr/>
          <a:lstStyle/>
          <a:p>
            <a:r>
              <a:rPr lang="en-US" dirty="0"/>
              <a:t>Directory Structure </a:t>
            </a:r>
          </a:p>
        </p:txBody>
      </p:sp>
    </p:spTree>
    <p:extLst>
      <p:ext uri="{BB962C8B-B14F-4D97-AF65-F5344CB8AC3E}">
        <p14:creationId xmlns:p14="http://schemas.microsoft.com/office/powerpoint/2010/main" val="14717421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5DA017-D68A-07FE-8E45-EDDE26D0F6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5615A1-BAD9-9986-86F2-639D9D9D7ACB}"/>
              </a:ext>
            </a:extLst>
          </p:cNvPr>
          <p:cNvSpPr>
            <a:spLocks noGrp="1"/>
          </p:cNvSpPr>
          <p:nvPr>
            <p:ph type="title"/>
          </p:nvPr>
        </p:nvSpPr>
        <p:spPr>
          <a:xfrm>
            <a:off x="0" y="1"/>
            <a:ext cx="12192000" cy="711200"/>
          </a:xfrm>
        </p:spPr>
        <p:txBody>
          <a:bodyPr/>
          <a:lstStyle/>
          <a:p>
            <a:r>
              <a:rPr lang="en-US" dirty="0"/>
              <a:t>Single-Level Directory</a:t>
            </a:r>
          </a:p>
        </p:txBody>
      </p:sp>
      <p:sp>
        <p:nvSpPr>
          <p:cNvPr id="3" name="Content Placeholder 2">
            <a:extLst>
              <a:ext uri="{FF2B5EF4-FFF2-40B4-BE49-F238E27FC236}">
                <a16:creationId xmlns:a16="http://schemas.microsoft.com/office/drawing/2014/main" id="{574B1BF3-10EB-7BB6-0FFC-EFB821B73551}"/>
              </a:ext>
            </a:extLst>
          </p:cNvPr>
          <p:cNvSpPr>
            <a:spLocks noGrp="1"/>
          </p:cNvSpPr>
          <p:nvPr>
            <p:ph idx="1"/>
          </p:nvPr>
        </p:nvSpPr>
        <p:spPr>
          <a:xfrm>
            <a:off x="131180" y="860066"/>
            <a:ext cx="11929641" cy="5593943"/>
          </a:xfrm>
        </p:spPr>
        <p:txBody>
          <a:bodyPr/>
          <a:lstStyle/>
          <a:p>
            <a:r>
              <a:rPr lang="en-US" dirty="0"/>
              <a:t>The simplest file system organization uses a </a:t>
            </a:r>
            <a:r>
              <a:rPr lang="en-US" b="1" dirty="0">
                <a:solidFill>
                  <a:schemeClr val="accent6"/>
                </a:solidFill>
              </a:rPr>
              <a:t>flat</a:t>
            </a:r>
            <a:r>
              <a:rPr lang="en-US" b="1" dirty="0"/>
              <a:t>, </a:t>
            </a:r>
            <a:r>
              <a:rPr lang="en-US" b="1" dirty="0">
                <a:solidFill>
                  <a:schemeClr val="accent6"/>
                </a:solidFill>
              </a:rPr>
              <a:t>single-directory</a:t>
            </a:r>
            <a:r>
              <a:rPr lang="en-US" dirty="0"/>
              <a:t> approach where all files reside in </a:t>
            </a:r>
            <a:r>
              <a:rPr lang="en-US" b="1" dirty="0">
                <a:solidFill>
                  <a:schemeClr val="accent6"/>
                </a:solidFill>
              </a:rPr>
              <a:t>one directory </a:t>
            </a:r>
            <a:r>
              <a:rPr lang="en-US" dirty="0"/>
              <a:t>with </a:t>
            </a:r>
            <a:r>
              <a:rPr lang="en-US" b="1" dirty="0">
                <a:solidFill>
                  <a:schemeClr val="accent6"/>
                </a:solidFill>
              </a:rPr>
              <a:t>no subfolders</a:t>
            </a:r>
            <a:r>
              <a:rPr lang="en-US" dirty="0"/>
              <a:t>. </a:t>
            </a:r>
          </a:p>
          <a:p>
            <a:r>
              <a:rPr lang="en-US" dirty="0"/>
              <a:t>The figure represents this directory structure, where </a:t>
            </a:r>
            <a:r>
              <a:rPr lang="en-US" b="1" dirty="0">
                <a:solidFill>
                  <a:schemeClr val="accent6"/>
                </a:solidFill>
              </a:rPr>
              <a:t>directories</a:t>
            </a:r>
            <a:r>
              <a:rPr lang="en-US" dirty="0"/>
              <a:t> are shown as </a:t>
            </a:r>
            <a:r>
              <a:rPr lang="en-US" b="1" dirty="0">
                <a:solidFill>
                  <a:schemeClr val="tx2"/>
                </a:solidFill>
              </a:rPr>
              <a:t>rectangles</a:t>
            </a:r>
            <a:r>
              <a:rPr lang="en-US" dirty="0"/>
              <a:t> and </a:t>
            </a:r>
            <a:r>
              <a:rPr lang="en-US" b="1" dirty="0">
                <a:solidFill>
                  <a:schemeClr val="accent6"/>
                </a:solidFill>
              </a:rPr>
              <a:t>files</a:t>
            </a:r>
            <a:r>
              <a:rPr lang="en-US" dirty="0"/>
              <a:t> as </a:t>
            </a:r>
            <a:r>
              <a:rPr lang="en-US" b="1" dirty="0">
                <a:solidFill>
                  <a:schemeClr val="tx2"/>
                </a:solidFill>
              </a:rPr>
              <a:t>circles</a:t>
            </a:r>
            <a:r>
              <a:rPr lang="en-US" dirty="0"/>
              <a:t>.</a:t>
            </a:r>
          </a:p>
          <a:p>
            <a:endParaRPr lang="en-US" dirty="0"/>
          </a:p>
          <a:p>
            <a:endParaRPr lang="en-US" dirty="0"/>
          </a:p>
          <a:p>
            <a:endParaRPr lang="en-US" dirty="0"/>
          </a:p>
          <a:p>
            <a:endParaRPr lang="en-US" dirty="0"/>
          </a:p>
          <a:p>
            <a:endParaRPr lang="en-US" dirty="0"/>
          </a:p>
          <a:p>
            <a:endParaRPr lang="en-US" dirty="0"/>
          </a:p>
          <a:p>
            <a:r>
              <a:rPr lang="en-US" b="1" dirty="0"/>
              <a:t>Advantage:</a:t>
            </a:r>
            <a:r>
              <a:rPr lang="en-US" dirty="0"/>
              <a:t> </a:t>
            </a:r>
            <a:r>
              <a:rPr lang="en-US" b="1" dirty="0">
                <a:solidFill>
                  <a:schemeClr val="accent6"/>
                </a:solidFill>
              </a:rPr>
              <a:t>Implementation</a:t>
            </a:r>
            <a:r>
              <a:rPr lang="en-US" dirty="0"/>
              <a:t> is very </a:t>
            </a:r>
            <a:r>
              <a:rPr lang="en-US" b="1" dirty="0">
                <a:solidFill>
                  <a:schemeClr val="accent6"/>
                </a:solidFill>
              </a:rPr>
              <a:t>easy</a:t>
            </a:r>
            <a:r>
              <a:rPr lang="en-US" dirty="0"/>
              <a:t>.</a:t>
            </a:r>
          </a:p>
          <a:p>
            <a:r>
              <a:rPr lang="en-US" b="1" dirty="0"/>
              <a:t>Disadvantage:</a:t>
            </a:r>
            <a:r>
              <a:rPr lang="en-US" dirty="0"/>
              <a:t> </a:t>
            </a:r>
            <a:r>
              <a:rPr lang="en-US" b="1" dirty="0">
                <a:solidFill>
                  <a:schemeClr val="accent6"/>
                </a:solidFill>
              </a:rPr>
              <a:t>Name collision </a:t>
            </a:r>
            <a:r>
              <a:rPr lang="en-US" dirty="0"/>
              <a:t>occurs because two files can have the same name.</a:t>
            </a:r>
          </a:p>
          <a:p>
            <a:endParaRPr lang="en-US" dirty="0"/>
          </a:p>
          <a:p>
            <a:endParaRPr lang="en-US" dirty="0"/>
          </a:p>
          <a:p>
            <a:endParaRPr lang="en-US" dirty="0"/>
          </a:p>
          <a:p>
            <a:endParaRPr lang="en-US" dirty="0"/>
          </a:p>
          <a:p>
            <a:endParaRPr lang="en-IN" dirty="0"/>
          </a:p>
        </p:txBody>
      </p:sp>
      <p:pic>
        <p:nvPicPr>
          <p:cNvPr id="8194" name="Picture 2" descr="Single Level Directory">
            <a:extLst>
              <a:ext uri="{FF2B5EF4-FFF2-40B4-BE49-F238E27FC236}">
                <a16:creationId xmlns:a16="http://schemas.microsoft.com/office/drawing/2014/main" id="{5EC45847-A6A6-C81A-FEA8-1082928DFC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92651" y="2287210"/>
            <a:ext cx="7736201" cy="27396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39889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19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48D3C1-EDC9-49A7-EABF-3357BEFC98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4906E1-C148-2BF0-0D53-E1E12127A9BC}"/>
              </a:ext>
            </a:extLst>
          </p:cNvPr>
          <p:cNvSpPr>
            <a:spLocks noGrp="1"/>
          </p:cNvSpPr>
          <p:nvPr>
            <p:ph type="title"/>
          </p:nvPr>
        </p:nvSpPr>
        <p:spPr>
          <a:xfrm>
            <a:off x="0" y="1"/>
            <a:ext cx="12192000" cy="711200"/>
          </a:xfrm>
        </p:spPr>
        <p:txBody>
          <a:bodyPr/>
          <a:lstStyle/>
          <a:p>
            <a:r>
              <a:rPr lang="en-US" dirty="0"/>
              <a:t>Two-Level Directory</a:t>
            </a:r>
          </a:p>
        </p:txBody>
      </p:sp>
      <p:sp>
        <p:nvSpPr>
          <p:cNvPr id="3" name="Content Placeholder 2">
            <a:extLst>
              <a:ext uri="{FF2B5EF4-FFF2-40B4-BE49-F238E27FC236}">
                <a16:creationId xmlns:a16="http://schemas.microsoft.com/office/drawing/2014/main" id="{8B0C7632-8188-B57F-AC51-003090F66E51}"/>
              </a:ext>
            </a:extLst>
          </p:cNvPr>
          <p:cNvSpPr>
            <a:spLocks noGrp="1"/>
          </p:cNvSpPr>
          <p:nvPr>
            <p:ph idx="1"/>
          </p:nvPr>
        </p:nvSpPr>
        <p:spPr>
          <a:xfrm>
            <a:off x="131181" y="860066"/>
            <a:ext cx="6412800" cy="5593943"/>
          </a:xfrm>
        </p:spPr>
        <p:txBody>
          <a:bodyPr/>
          <a:lstStyle/>
          <a:p>
            <a:r>
              <a:rPr lang="en-US" dirty="0"/>
              <a:t>In two-level directory systems, we can create a </a:t>
            </a:r>
            <a:r>
              <a:rPr lang="en-US" b="1" dirty="0">
                <a:solidFill>
                  <a:schemeClr val="accent6"/>
                </a:solidFill>
              </a:rPr>
              <a:t>separate directory for each user</a:t>
            </a:r>
            <a:r>
              <a:rPr lang="en-US" dirty="0"/>
              <a:t>. </a:t>
            </a:r>
          </a:p>
          <a:p>
            <a:r>
              <a:rPr lang="en-US" dirty="0"/>
              <a:t>Two levels of directories are used here: </a:t>
            </a:r>
          </a:p>
          <a:p>
            <a:pPr marL="914400" lvl="1" indent="-457200">
              <a:buFont typeface="+mj-lt"/>
              <a:buAutoNum type="arabicPeriod"/>
            </a:pPr>
            <a:r>
              <a:rPr lang="en-US" sz="2200" b="1" dirty="0">
                <a:solidFill>
                  <a:schemeClr val="accent6"/>
                </a:solidFill>
              </a:rPr>
              <a:t>Master File Directory </a:t>
            </a:r>
            <a:r>
              <a:rPr lang="en-US" sz="2200" dirty="0"/>
              <a:t>(</a:t>
            </a:r>
            <a:r>
              <a:rPr lang="en-US" sz="2200" b="1" dirty="0">
                <a:solidFill>
                  <a:schemeClr val="tx2"/>
                </a:solidFill>
              </a:rPr>
              <a:t>MFD</a:t>
            </a:r>
            <a:r>
              <a:rPr lang="en-US" sz="2200" dirty="0"/>
              <a:t>) or </a:t>
            </a:r>
            <a:r>
              <a:rPr lang="en-US" sz="2200" b="1" dirty="0">
                <a:solidFill>
                  <a:schemeClr val="accent6"/>
                </a:solidFill>
              </a:rPr>
              <a:t>Root directory </a:t>
            </a:r>
          </a:p>
          <a:p>
            <a:pPr marL="914400" lvl="1" indent="-457200">
              <a:buFont typeface="+mj-lt"/>
              <a:buAutoNum type="arabicPeriod"/>
            </a:pPr>
            <a:r>
              <a:rPr lang="en-US" sz="2200" b="1" dirty="0">
                <a:solidFill>
                  <a:schemeClr val="accent6"/>
                </a:solidFill>
              </a:rPr>
              <a:t>User File Directories </a:t>
            </a:r>
            <a:r>
              <a:rPr lang="en-US" sz="2200" dirty="0"/>
              <a:t>(</a:t>
            </a:r>
            <a:r>
              <a:rPr lang="en-US" sz="2200" b="1" dirty="0">
                <a:solidFill>
                  <a:schemeClr val="tx2"/>
                </a:solidFill>
              </a:rPr>
              <a:t>UFD</a:t>
            </a:r>
            <a:r>
              <a:rPr lang="en-US" sz="2200" dirty="0"/>
              <a:t>) or </a:t>
            </a:r>
            <a:r>
              <a:rPr lang="en-US" sz="2200" b="1" dirty="0">
                <a:solidFill>
                  <a:schemeClr val="accent6"/>
                </a:solidFill>
              </a:rPr>
              <a:t>User directories</a:t>
            </a:r>
            <a:endParaRPr lang="en-US" dirty="0"/>
          </a:p>
          <a:p>
            <a:pPr marL="0" indent="0">
              <a:buNone/>
            </a:pPr>
            <a:endParaRPr lang="en-US" sz="400" b="1" dirty="0">
              <a:solidFill>
                <a:schemeClr val="accent6"/>
              </a:solidFill>
            </a:endParaRPr>
          </a:p>
          <a:p>
            <a:r>
              <a:rPr lang="en-US" b="1" dirty="0"/>
              <a:t>Advantages: </a:t>
            </a:r>
          </a:p>
          <a:p>
            <a:pPr lvl="1"/>
            <a:r>
              <a:rPr lang="en-US" sz="2200" dirty="0"/>
              <a:t>It avoids </a:t>
            </a:r>
            <a:r>
              <a:rPr lang="en-US" sz="2200" b="1" dirty="0">
                <a:solidFill>
                  <a:schemeClr val="accent6"/>
                </a:solidFill>
              </a:rPr>
              <a:t>file name collisions</a:t>
            </a:r>
            <a:r>
              <a:rPr lang="en-US" sz="2200" dirty="0"/>
              <a:t>.</a:t>
            </a:r>
            <a:endParaRPr lang="en-IN" sz="2200" dirty="0"/>
          </a:p>
          <a:p>
            <a:pPr lvl="1"/>
            <a:r>
              <a:rPr lang="en-US" sz="2200" dirty="0"/>
              <a:t>It can be used in </a:t>
            </a:r>
            <a:r>
              <a:rPr lang="en-US" sz="2200" b="1" dirty="0">
                <a:solidFill>
                  <a:schemeClr val="accent6"/>
                </a:solidFill>
              </a:rPr>
              <a:t>multi-user systems</a:t>
            </a:r>
            <a:r>
              <a:rPr lang="en-US" sz="2200" b="1" dirty="0"/>
              <a:t>.</a:t>
            </a:r>
          </a:p>
          <a:p>
            <a:r>
              <a:rPr lang="en-US" b="1" dirty="0"/>
              <a:t>Disadvantages:</a:t>
            </a:r>
            <a:r>
              <a:rPr lang="en-US" dirty="0"/>
              <a:t> </a:t>
            </a:r>
          </a:p>
          <a:p>
            <a:pPr lvl="1"/>
            <a:r>
              <a:rPr lang="en-US" sz="2200" dirty="0"/>
              <a:t>It is </a:t>
            </a:r>
            <a:r>
              <a:rPr lang="en-US" sz="2200" b="1" dirty="0">
                <a:solidFill>
                  <a:schemeClr val="accent6"/>
                </a:solidFill>
              </a:rPr>
              <a:t>not suitable </a:t>
            </a:r>
            <a:r>
              <a:rPr lang="en-US" sz="2200" dirty="0"/>
              <a:t>for a </a:t>
            </a:r>
            <a:r>
              <a:rPr lang="en-US" sz="2200" b="1" dirty="0">
                <a:solidFill>
                  <a:schemeClr val="accent6"/>
                </a:solidFill>
              </a:rPr>
              <a:t>large number of files </a:t>
            </a:r>
            <a:r>
              <a:rPr lang="en-US" sz="2200" dirty="0"/>
              <a:t>in their personal directory.</a:t>
            </a:r>
          </a:p>
          <a:p>
            <a:pPr lvl="1"/>
            <a:r>
              <a:rPr lang="en-US" sz="2200" dirty="0"/>
              <a:t>User </a:t>
            </a:r>
            <a:r>
              <a:rPr lang="en-US" sz="2200" b="1" dirty="0">
                <a:solidFill>
                  <a:schemeClr val="accent6"/>
                </a:solidFill>
              </a:rPr>
              <a:t>cannot share </a:t>
            </a:r>
            <a:r>
              <a:rPr lang="en-US" sz="2200" dirty="0"/>
              <a:t>the </a:t>
            </a:r>
            <a:r>
              <a:rPr lang="en-US" sz="2200" b="1" dirty="0">
                <a:solidFill>
                  <a:schemeClr val="accent6"/>
                </a:solidFill>
              </a:rPr>
              <a:t>file</a:t>
            </a:r>
            <a:r>
              <a:rPr lang="en-US" sz="2200" dirty="0"/>
              <a:t> with the </a:t>
            </a:r>
            <a:r>
              <a:rPr lang="en-US" sz="2200" b="1" dirty="0">
                <a:solidFill>
                  <a:schemeClr val="accent6"/>
                </a:solidFill>
              </a:rPr>
              <a:t>other users</a:t>
            </a:r>
            <a:r>
              <a:rPr lang="en-US" sz="2200" dirty="0"/>
              <a:t>.</a:t>
            </a:r>
          </a:p>
          <a:p>
            <a:pPr marL="457200" lvl="1" indent="0">
              <a:buNone/>
            </a:pPr>
            <a:r>
              <a:rPr lang="en-US" sz="2200" dirty="0"/>
              <a:t>      </a:t>
            </a:r>
            <a:endParaRPr lang="en-IN" sz="2200" dirty="0"/>
          </a:p>
        </p:txBody>
      </p:sp>
      <p:pic>
        <p:nvPicPr>
          <p:cNvPr id="9218" name="Picture 2" descr="Two Level Directory">
            <a:extLst>
              <a:ext uri="{FF2B5EF4-FFF2-40B4-BE49-F238E27FC236}">
                <a16:creationId xmlns:a16="http://schemas.microsoft.com/office/drawing/2014/main" id="{D1052D95-5BC3-236D-9548-42457661A8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43981" y="1498058"/>
            <a:ext cx="5648020" cy="36867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8669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21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92A2BF-8A9D-87A4-6C2F-956B0D7806A1}"/>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AD540C7A-2B14-CAFC-AA08-D0F24C138313}"/>
              </a:ext>
            </a:extLst>
          </p:cNvPr>
          <p:cNvSpPr>
            <a:spLocks noGrp="1"/>
          </p:cNvSpPr>
          <p:nvPr>
            <p:ph type="title"/>
          </p:nvPr>
        </p:nvSpPr>
        <p:spPr>
          <a:xfrm>
            <a:off x="0" y="1"/>
            <a:ext cx="12192000" cy="711200"/>
          </a:xfrm>
        </p:spPr>
        <p:txBody>
          <a:bodyPr/>
          <a:lstStyle/>
          <a:p>
            <a:r>
              <a:rPr lang="en-US" dirty="0"/>
              <a:t>Tree Structured Directories</a:t>
            </a:r>
          </a:p>
        </p:txBody>
      </p:sp>
      <p:sp>
        <p:nvSpPr>
          <p:cNvPr id="6" name="Content Placeholder 2">
            <a:extLst>
              <a:ext uri="{FF2B5EF4-FFF2-40B4-BE49-F238E27FC236}">
                <a16:creationId xmlns:a16="http://schemas.microsoft.com/office/drawing/2014/main" id="{3A37949A-F9F4-6084-48C6-E9CB8997F757}"/>
              </a:ext>
            </a:extLst>
          </p:cNvPr>
          <p:cNvSpPr>
            <a:spLocks noGrp="1"/>
          </p:cNvSpPr>
          <p:nvPr>
            <p:ph idx="1"/>
          </p:nvPr>
        </p:nvSpPr>
        <p:spPr>
          <a:xfrm>
            <a:off x="131180" y="860066"/>
            <a:ext cx="11929641" cy="5593943"/>
          </a:xfrm>
        </p:spPr>
        <p:txBody>
          <a:bodyPr/>
          <a:lstStyle/>
          <a:p>
            <a:r>
              <a:rPr lang="en-US" dirty="0"/>
              <a:t>Tree directory structure of operating system is most commonly used in our </a:t>
            </a:r>
            <a:r>
              <a:rPr lang="en-US" b="1" dirty="0">
                <a:solidFill>
                  <a:schemeClr val="accent6"/>
                </a:solidFill>
              </a:rPr>
              <a:t>personal computers</a:t>
            </a:r>
            <a:r>
              <a:rPr lang="en-US" dirty="0"/>
              <a:t>. User can create </a:t>
            </a:r>
            <a:r>
              <a:rPr lang="en-US" b="1" dirty="0">
                <a:solidFill>
                  <a:schemeClr val="accent6"/>
                </a:solidFill>
              </a:rPr>
              <a:t>files</a:t>
            </a:r>
            <a:r>
              <a:rPr lang="en-US" dirty="0"/>
              <a:t> and </a:t>
            </a:r>
            <a:r>
              <a:rPr lang="en-US" b="1" dirty="0">
                <a:solidFill>
                  <a:schemeClr val="accent6"/>
                </a:solidFill>
              </a:rPr>
              <a:t>subdirectories too</a:t>
            </a:r>
            <a:r>
              <a:rPr lang="en-US" dirty="0"/>
              <a:t>. </a:t>
            </a:r>
          </a:p>
          <a:p>
            <a:r>
              <a:rPr lang="en-US" dirty="0"/>
              <a:t>In tree directory structure, the </a:t>
            </a:r>
            <a:r>
              <a:rPr lang="en-US" b="1" dirty="0">
                <a:solidFill>
                  <a:schemeClr val="accent6"/>
                </a:solidFill>
              </a:rPr>
              <a:t>root directory </a:t>
            </a:r>
            <a:r>
              <a:rPr lang="en-US" dirty="0"/>
              <a:t>is at the </a:t>
            </a:r>
            <a:r>
              <a:rPr lang="en-US" b="1" dirty="0">
                <a:solidFill>
                  <a:schemeClr val="accent6"/>
                </a:solidFill>
              </a:rPr>
              <a:t>peak</a:t>
            </a:r>
            <a:r>
              <a:rPr lang="en-US" dirty="0"/>
              <a:t>. This root contains all the directories for each user. The users can create </a:t>
            </a:r>
            <a:r>
              <a:rPr lang="en-US" b="1" dirty="0">
                <a:solidFill>
                  <a:schemeClr val="accent6"/>
                </a:solidFill>
              </a:rPr>
              <a:t>subdirectories</a:t>
            </a:r>
            <a:r>
              <a:rPr lang="en-US" dirty="0"/>
              <a:t> and even store </a:t>
            </a:r>
            <a:r>
              <a:rPr lang="en-US" b="1" dirty="0">
                <a:solidFill>
                  <a:schemeClr val="accent6"/>
                </a:solidFill>
              </a:rPr>
              <a:t>files</a:t>
            </a:r>
            <a:r>
              <a:rPr lang="en-US" dirty="0"/>
              <a:t> in their directory.</a:t>
            </a:r>
          </a:p>
          <a:p>
            <a:r>
              <a:rPr lang="en-US" dirty="0"/>
              <a:t>Tree structured directory system </a:t>
            </a:r>
            <a:r>
              <a:rPr lang="en-US" b="1" dirty="0">
                <a:solidFill>
                  <a:schemeClr val="accent6"/>
                </a:solidFill>
              </a:rPr>
              <a:t>overcomes</a:t>
            </a:r>
            <a:r>
              <a:rPr lang="en-US" dirty="0"/>
              <a:t> the </a:t>
            </a:r>
            <a:r>
              <a:rPr lang="en-US" b="1" dirty="0">
                <a:solidFill>
                  <a:schemeClr val="accent6"/>
                </a:solidFill>
              </a:rPr>
              <a:t>drawbacks of two-level directory system</a:t>
            </a:r>
            <a:r>
              <a:rPr lang="en-US" dirty="0"/>
              <a:t>.</a:t>
            </a:r>
          </a:p>
          <a:p>
            <a:pPr marL="0" indent="0">
              <a:buNone/>
            </a:pPr>
            <a:endParaRPr lang="en-US" dirty="0"/>
          </a:p>
          <a:p>
            <a:endParaRPr lang="en-US" dirty="0"/>
          </a:p>
          <a:p>
            <a:pPr marL="0" indent="0">
              <a:buNone/>
            </a:pPr>
            <a:endParaRPr lang="en-US" dirty="0"/>
          </a:p>
          <a:p>
            <a:endParaRPr lang="en-IN" dirty="0"/>
          </a:p>
        </p:txBody>
      </p:sp>
      <p:pic>
        <p:nvPicPr>
          <p:cNvPr id="8" name="Picture 7">
            <a:extLst>
              <a:ext uri="{FF2B5EF4-FFF2-40B4-BE49-F238E27FC236}">
                <a16:creationId xmlns:a16="http://schemas.microsoft.com/office/drawing/2014/main" id="{15B15559-3D87-2C69-D9DE-F43BBBE6178F}"/>
              </a:ext>
            </a:extLst>
          </p:cNvPr>
          <p:cNvPicPr>
            <a:picLocks noChangeAspect="1"/>
          </p:cNvPicPr>
          <p:nvPr/>
        </p:nvPicPr>
        <p:blipFill>
          <a:blip r:embed="rId2"/>
          <a:stretch>
            <a:fillRect/>
          </a:stretch>
        </p:blipFill>
        <p:spPr>
          <a:xfrm>
            <a:off x="2698184" y="3165617"/>
            <a:ext cx="6134531" cy="3408073"/>
          </a:xfrm>
          <a:prstGeom prst="rect">
            <a:avLst/>
          </a:prstGeom>
        </p:spPr>
      </p:pic>
    </p:spTree>
    <p:extLst>
      <p:ext uri="{BB962C8B-B14F-4D97-AF65-F5344CB8AC3E}">
        <p14:creationId xmlns:p14="http://schemas.microsoft.com/office/powerpoint/2010/main" val="15523349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8CE0B4-410C-CAD1-912D-85EEF6B579AF}"/>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49972B72-A154-28C1-358C-87AB94FA8EB8}"/>
              </a:ext>
            </a:extLst>
          </p:cNvPr>
          <p:cNvSpPr>
            <a:spLocks noGrp="1"/>
          </p:cNvSpPr>
          <p:nvPr>
            <p:ph type="title"/>
          </p:nvPr>
        </p:nvSpPr>
        <p:spPr>
          <a:xfrm>
            <a:off x="0" y="1"/>
            <a:ext cx="12192000" cy="711200"/>
          </a:xfrm>
        </p:spPr>
        <p:txBody>
          <a:bodyPr/>
          <a:lstStyle/>
          <a:p>
            <a:r>
              <a:rPr lang="en-US" dirty="0"/>
              <a:t>Tree Structured Directories (Conti…)</a:t>
            </a:r>
          </a:p>
        </p:txBody>
      </p:sp>
      <p:sp>
        <p:nvSpPr>
          <p:cNvPr id="6" name="Content Placeholder 2">
            <a:extLst>
              <a:ext uri="{FF2B5EF4-FFF2-40B4-BE49-F238E27FC236}">
                <a16:creationId xmlns:a16="http://schemas.microsoft.com/office/drawing/2014/main" id="{D02D089E-0F98-2DE8-9864-65B50196EBFD}"/>
              </a:ext>
            </a:extLst>
          </p:cNvPr>
          <p:cNvSpPr>
            <a:spLocks noGrp="1"/>
          </p:cNvSpPr>
          <p:nvPr>
            <p:ph idx="1"/>
          </p:nvPr>
        </p:nvSpPr>
        <p:spPr>
          <a:xfrm>
            <a:off x="131180" y="860066"/>
            <a:ext cx="11929641" cy="5593943"/>
          </a:xfrm>
        </p:spPr>
        <p:txBody>
          <a:bodyPr/>
          <a:lstStyle/>
          <a:p>
            <a:r>
              <a:rPr lang="en-US" b="1" dirty="0"/>
              <a:t>Advantages: </a:t>
            </a:r>
          </a:p>
          <a:p>
            <a:pPr lvl="1" fontAlgn="base"/>
            <a:r>
              <a:rPr lang="en-US" sz="2200"/>
              <a:t>This directory </a:t>
            </a:r>
            <a:r>
              <a:rPr lang="en-US" sz="2200" dirty="0"/>
              <a:t>structure supports </a:t>
            </a:r>
            <a:r>
              <a:rPr lang="en-US" sz="2200" b="1" dirty="0">
                <a:solidFill>
                  <a:schemeClr val="accent6"/>
                </a:solidFill>
              </a:rPr>
              <a:t>subdirectories</a:t>
            </a:r>
            <a:r>
              <a:rPr lang="en-US" sz="2200" dirty="0"/>
              <a:t> </a:t>
            </a:r>
            <a:r>
              <a:rPr lang="en-US" sz="2200" b="1" dirty="0">
                <a:solidFill>
                  <a:schemeClr val="accent6"/>
                </a:solidFill>
              </a:rPr>
              <a:t>within</a:t>
            </a:r>
            <a:r>
              <a:rPr lang="en-US" sz="2200" dirty="0"/>
              <a:t> </a:t>
            </a:r>
            <a:r>
              <a:rPr lang="en-US" sz="2200" b="1" dirty="0">
                <a:solidFill>
                  <a:schemeClr val="accent6"/>
                </a:solidFill>
              </a:rPr>
              <a:t>directories</a:t>
            </a:r>
            <a:r>
              <a:rPr lang="en-US" sz="2200" dirty="0"/>
              <a:t>, enabling </a:t>
            </a:r>
            <a:r>
              <a:rPr lang="en-US" sz="2200" b="1" dirty="0">
                <a:solidFill>
                  <a:schemeClr val="accent6"/>
                </a:solidFill>
              </a:rPr>
              <a:t>logical grouping </a:t>
            </a:r>
            <a:r>
              <a:rPr lang="en-US" sz="2200" dirty="0"/>
              <a:t>of files into </a:t>
            </a:r>
            <a:r>
              <a:rPr lang="en-US" sz="2200" b="1" dirty="0">
                <a:solidFill>
                  <a:schemeClr val="accent6"/>
                </a:solidFill>
              </a:rPr>
              <a:t>hierarchical categories</a:t>
            </a:r>
            <a:r>
              <a:rPr lang="en-US" sz="2200" dirty="0"/>
              <a:t>.</a:t>
            </a:r>
          </a:p>
          <a:p>
            <a:pPr lvl="1" fontAlgn="base"/>
            <a:r>
              <a:rPr lang="en-US" sz="2200" dirty="0"/>
              <a:t>It avoids </a:t>
            </a:r>
            <a:r>
              <a:rPr lang="en-US" sz="2200" b="1" dirty="0">
                <a:solidFill>
                  <a:schemeClr val="accent6"/>
                </a:solidFill>
              </a:rPr>
              <a:t>file name collisions</a:t>
            </a:r>
            <a:r>
              <a:rPr lang="en-US" sz="2200" dirty="0"/>
              <a:t>.</a:t>
            </a:r>
          </a:p>
          <a:p>
            <a:r>
              <a:rPr lang="en-US" b="1" dirty="0"/>
              <a:t>Disadvantages:</a:t>
            </a:r>
            <a:r>
              <a:rPr lang="en-US" dirty="0"/>
              <a:t> </a:t>
            </a:r>
          </a:p>
          <a:p>
            <a:pPr lvl="1"/>
            <a:r>
              <a:rPr lang="en-US" sz="2200" dirty="0"/>
              <a:t>This directory structure </a:t>
            </a:r>
            <a:r>
              <a:rPr lang="en-US" sz="2200" b="1" dirty="0">
                <a:solidFill>
                  <a:schemeClr val="accent6"/>
                </a:solidFill>
              </a:rPr>
              <a:t>does not support File </a:t>
            </a:r>
            <a:r>
              <a:rPr lang="en-US" sz="2200" dirty="0"/>
              <a:t>or </a:t>
            </a:r>
            <a:r>
              <a:rPr lang="en-US" sz="2200" b="1" dirty="0">
                <a:solidFill>
                  <a:schemeClr val="accent6"/>
                </a:solidFill>
              </a:rPr>
              <a:t>directory</a:t>
            </a:r>
            <a:r>
              <a:rPr lang="en-US" sz="2200" dirty="0"/>
              <a:t> </a:t>
            </a:r>
            <a:r>
              <a:rPr lang="en-US" sz="2200" b="1" dirty="0">
                <a:solidFill>
                  <a:schemeClr val="accent6"/>
                </a:solidFill>
              </a:rPr>
              <a:t>sharing</a:t>
            </a:r>
            <a:r>
              <a:rPr lang="en-US" sz="2200" dirty="0"/>
              <a:t> between different users or groups.</a:t>
            </a:r>
          </a:p>
          <a:p>
            <a:pPr lvl="1"/>
            <a:r>
              <a:rPr lang="en-US" sz="2200" dirty="0"/>
              <a:t>As the user has the capability to make subdirectories, if the number of </a:t>
            </a:r>
            <a:r>
              <a:rPr lang="en-US" sz="2200" b="1" dirty="0">
                <a:solidFill>
                  <a:schemeClr val="accent6"/>
                </a:solidFill>
              </a:rPr>
              <a:t>subdirectories increase </a:t>
            </a:r>
            <a:r>
              <a:rPr lang="en-US" sz="2200" dirty="0"/>
              <a:t>the </a:t>
            </a:r>
            <a:r>
              <a:rPr lang="en-US" sz="2200" b="1" dirty="0">
                <a:solidFill>
                  <a:schemeClr val="accent6"/>
                </a:solidFill>
              </a:rPr>
              <a:t>searching</a:t>
            </a:r>
            <a:r>
              <a:rPr lang="en-US" sz="2200" dirty="0"/>
              <a:t> may become </a:t>
            </a:r>
            <a:r>
              <a:rPr lang="en-US" sz="2200" b="1" dirty="0">
                <a:solidFill>
                  <a:schemeClr val="accent6"/>
                </a:solidFill>
              </a:rPr>
              <a:t>complicated</a:t>
            </a:r>
            <a:r>
              <a:rPr lang="en-US" sz="2200" dirty="0"/>
              <a:t>.</a:t>
            </a:r>
          </a:p>
          <a:p>
            <a:pPr lvl="1"/>
            <a:endParaRPr lang="en-US" sz="2200" dirty="0"/>
          </a:p>
          <a:p>
            <a:endParaRPr lang="en-US" dirty="0"/>
          </a:p>
          <a:p>
            <a:pPr marL="0" indent="0">
              <a:buNone/>
            </a:pPr>
            <a:endParaRPr lang="en-US" dirty="0"/>
          </a:p>
          <a:p>
            <a:endParaRPr lang="en-IN" dirty="0"/>
          </a:p>
        </p:txBody>
      </p:sp>
    </p:spTree>
    <p:extLst>
      <p:ext uri="{BB962C8B-B14F-4D97-AF65-F5344CB8AC3E}">
        <p14:creationId xmlns:p14="http://schemas.microsoft.com/office/powerpoint/2010/main" val="2216423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702CA4-0301-2F7C-3B06-BEC0C0E8C2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63192E-5BD5-3AAC-4A28-9C12E711E748}"/>
              </a:ext>
            </a:extLst>
          </p:cNvPr>
          <p:cNvSpPr>
            <a:spLocks noGrp="1"/>
          </p:cNvSpPr>
          <p:nvPr>
            <p:ph type="title"/>
          </p:nvPr>
        </p:nvSpPr>
        <p:spPr>
          <a:xfrm>
            <a:off x="0" y="1"/>
            <a:ext cx="12192000" cy="711200"/>
          </a:xfrm>
        </p:spPr>
        <p:txBody>
          <a:bodyPr/>
          <a:lstStyle/>
          <a:p>
            <a:r>
              <a:rPr lang="en-US" dirty="0"/>
              <a:t>Acyclic Graph Directory</a:t>
            </a:r>
          </a:p>
        </p:txBody>
      </p:sp>
      <p:sp>
        <p:nvSpPr>
          <p:cNvPr id="3" name="Content Placeholder 2">
            <a:extLst>
              <a:ext uri="{FF2B5EF4-FFF2-40B4-BE49-F238E27FC236}">
                <a16:creationId xmlns:a16="http://schemas.microsoft.com/office/drawing/2014/main" id="{BAF4403C-C24B-C153-1C8C-024573D544D1}"/>
              </a:ext>
            </a:extLst>
          </p:cNvPr>
          <p:cNvSpPr>
            <a:spLocks noGrp="1"/>
          </p:cNvSpPr>
          <p:nvPr>
            <p:ph idx="1"/>
          </p:nvPr>
        </p:nvSpPr>
        <p:spPr>
          <a:xfrm>
            <a:off x="131180" y="860066"/>
            <a:ext cx="11929641" cy="5593943"/>
          </a:xfrm>
        </p:spPr>
        <p:txBody>
          <a:bodyPr/>
          <a:lstStyle/>
          <a:p>
            <a:r>
              <a:rPr lang="en-US" dirty="0"/>
              <a:t>As we have seen the above three directory structures, where none of them have the capability to access one file from multiple directories.</a:t>
            </a:r>
          </a:p>
          <a:p>
            <a:r>
              <a:rPr lang="en-US" dirty="0"/>
              <a:t>This problem is solved in </a:t>
            </a:r>
            <a:r>
              <a:rPr lang="en-US" b="1" dirty="0">
                <a:solidFill>
                  <a:schemeClr val="accent6"/>
                </a:solidFill>
              </a:rPr>
              <a:t>acyclic graph directory structure</a:t>
            </a:r>
            <a:r>
              <a:rPr lang="en-US" dirty="0"/>
              <a:t>, where a file in one directory can be accessed from multiple directories using </a:t>
            </a:r>
            <a:r>
              <a:rPr lang="en-US" b="1" dirty="0">
                <a:solidFill>
                  <a:schemeClr val="accent6"/>
                </a:solidFill>
              </a:rPr>
              <a:t>link</a:t>
            </a:r>
            <a:r>
              <a:rPr lang="en-US" dirty="0"/>
              <a:t>, but </a:t>
            </a:r>
            <a:r>
              <a:rPr lang="en-US" b="1" dirty="0">
                <a:solidFill>
                  <a:schemeClr val="accent6"/>
                </a:solidFill>
              </a:rPr>
              <a:t>without cycles </a:t>
            </a:r>
            <a:r>
              <a:rPr lang="en-US" dirty="0"/>
              <a:t>(no infinite loops).</a:t>
            </a:r>
          </a:p>
          <a:p>
            <a:r>
              <a:rPr lang="en-US" dirty="0"/>
              <a:t>In the below figure, this explanation can be nicely observed, where a file is shared between multiple users. If any user makes a change, it would be reflected to both the users.</a:t>
            </a:r>
          </a:p>
          <a:p>
            <a:endParaRPr lang="en-US" dirty="0"/>
          </a:p>
          <a:p>
            <a:endParaRPr lang="en-IN" dirty="0"/>
          </a:p>
        </p:txBody>
      </p:sp>
      <p:pic>
        <p:nvPicPr>
          <p:cNvPr id="11266" name="Picture 2" descr="Acyclic group structure">
            <a:extLst>
              <a:ext uri="{FF2B5EF4-FFF2-40B4-BE49-F238E27FC236}">
                <a16:creationId xmlns:a16="http://schemas.microsoft.com/office/drawing/2014/main" id="{C43B34CE-AAD2-59AA-4DF8-49DF84C365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38818" y="3141366"/>
            <a:ext cx="5953429" cy="34448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92724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2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9C94AB-BAA4-F814-6681-AB6C723276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2EAE1D-EBBE-8F61-313B-9BCFABA90DBC}"/>
              </a:ext>
            </a:extLst>
          </p:cNvPr>
          <p:cNvSpPr>
            <a:spLocks noGrp="1"/>
          </p:cNvSpPr>
          <p:nvPr>
            <p:ph type="title"/>
          </p:nvPr>
        </p:nvSpPr>
        <p:spPr>
          <a:xfrm>
            <a:off x="0" y="1"/>
            <a:ext cx="12192000" cy="711200"/>
          </a:xfrm>
        </p:spPr>
        <p:txBody>
          <a:bodyPr/>
          <a:lstStyle/>
          <a:p>
            <a:r>
              <a:rPr lang="en-US" dirty="0"/>
              <a:t>Acyclic Graph Directory (Conti…)</a:t>
            </a:r>
          </a:p>
        </p:txBody>
      </p:sp>
      <p:sp>
        <p:nvSpPr>
          <p:cNvPr id="6" name="Content Placeholder 2">
            <a:extLst>
              <a:ext uri="{FF2B5EF4-FFF2-40B4-BE49-F238E27FC236}">
                <a16:creationId xmlns:a16="http://schemas.microsoft.com/office/drawing/2014/main" id="{CF41394F-4D88-9613-4E65-7622035F42EA}"/>
              </a:ext>
            </a:extLst>
          </p:cNvPr>
          <p:cNvSpPr>
            <a:spLocks noGrp="1"/>
          </p:cNvSpPr>
          <p:nvPr>
            <p:ph idx="1"/>
          </p:nvPr>
        </p:nvSpPr>
        <p:spPr>
          <a:xfrm>
            <a:off x="131180" y="860066"/>
            <a:ext cx="11929641" cy="5593943"/>
          </a:xfrm>
        </p:spPr>
        <p:txBody>
          <a:bodyPr/>
          <a:lstStyle/>
          <a:p>
            <a:r>
              <a:rPr lang="en-US" b="1" dirty="0"/>
              <a:t>Advantages: </a:t>
            </a:r>
          </a:p>
          <a:p>
            <a:pPr lvl="1" fontAlgn="base"/>
            <a:r>
              <a:rPr lang="en-US" sz="2200" b="1" dirty="0">
                <a:solidFill>
                  <a:schemeClr val="accent6"/>
                </a:solidFill>
              </a:rPr>
              <a:t>Sharing</a:t>
            </a:r>
            <a:r>
              <a:rPr lang="en-US" sz="2200" dirty="0"/>
              <a:t> of files and directories is allowed between multiple users.</a:t>
            </a:r>
          </a:p>
          <a:p>
            <a:pPr lvl="1" fontAlgn="base"/>
            <a:r>
              <a:rPr lang="en-US" sz="2200" b="1" dirty="0">
                <a:solidFill>
                  <a:schemeClr val="accent6"/>
                </a:solidFill>
              </a:rPr>
              <a:t>Flexibility</a:t>
            </a:r>
            <a:r>
              <a:rPr lang="en-US" sz="2200" dirty="0"/>
              <a:t> is </a:t>
            </a:r>
            <a:r>
              <a:rPr lang="en-US" sz="2200" b="1" dirty="0">
                <a:solidFill>
                  <a:schemeClr val="accent6"/>
                </a:solidFill>
              </a:rPr>
              <a:t>increased</a:t>
            </a:r>
            <a:r>
              <a:rPr lang="en-US" sz="2200" dirty="0"/>
              <a:t> as file sharing and editing access is there for multiple users.</a:t>
            </a:r>
          </a:p>
          <a:p>
            <a:r>
              <a:rPr lang="en-US" b="1" dirty="0"/>
              <a:t>Disadvantages:</a:t>
            </a:r>
            <a:r>
              <a:rPr lang="en-US" dirty="0"/>
              <a:t> </a:t>
            </a:r>
          </a:p>
          <a:p>
            <a:pPr lvl="1"/>
            <a:r>
              <a:rPr lang="en-US" sz="2200" dirty="0"/>
              <a:t>Deleting a shared file/directory requires removing </a:t>
            </a:r>
            <a:r>
              <a:rPr lang="en-US" sz="2200" b="1" dirty="0">
                <a:solidFill>
                  <a:schemeClr val="accent6"/>
                </a:solidFill>
              </a:rPr>
              <a:t>all references</a:t>
            </a:r>
            <a:r>
              <a:rPr lang="en-US" sz="2200" dirty="0">
                <a:solidFill>
                  <a:schemeClr val="accent6"/>
                </a:solidFill>
              </a:rPr>
              <a:t> </a:t>
            </a:r>
            <a:r>
              <a:rPr lang="en-US" sz="2200" dirty="0"/>
              <a:t>(hard links) across directories.</a:t>
            </a:r>
          </a:p>
          <a:p>
            <a:pPr lvl="1"/>
            <a:r>
              <a:rPr lang="en-US" sz="2200" dirty="0"/>
              <a:t>A file with multiple paths may be </a:t>
            </a:r>
            <a:r>
              <a:rPr lang="en-US" sz="2200" b="1" dirty="0">
                <a:solidFill>
                  <a:schemeClr val="accent6"/>
                </a:solidFill>
              </a:rPr>
              <a:t>copied multiple times</a:t>
            </a:r>
            <a:r>
              <a:rPr lang="en-US" sz="2200" dirty="0">
                <a:solidFill>
                  <a:schemeClr val="accent6"/>
                </a:solidFill>
              </a:rPr>
              <a:t> </a:t>
            </a:r>
            <a:r>
              <a:rPr lang="en-US" sz="2200" dirty="0"/>
              <a:t>during backups.</a:t>
            </a:r>
          </a:p>
          <a:p>
            <a:pPr lvl="1"/>
            <a:r>
              <a:rPr lang="en-US" sz="2200" dirty="0"/>
              <a:t>It is </a:t>
            </a:r>
            <a:r>
              <a:rPr lang="en-US" sz="2200" b="1" dirty="0">
                <a:solidFill>
                  <a:schemeClr val="accent6"/>
                </a:solidFill>
              </a:rPr>
              <a:t>difficult</a:t>
            </a:r>
            <a:r>
              <a:rPr lang="en-US" sz="2200" dirty="0"/>
              <a:t> to ensure that there are </a:t>
            </a:r>
            <a:r>
              <a:rPr lang="en-US" sz="2200" b="1" dirty="0">
                <a:solidFill>
                  <a:schemeClr val="accent6"/>
                </a:solidFill>
              </a:rPr>
              <a:t>no cycles </a:t>
            </a:r>
            <a:r>
              <a:rPr lang="en-US" sz="2200" dirty="0"/>
              <a:t>in directory structure. </a:t>
            </a:r>
          </a:p>
          <a:p>
            <a:endParaRPr lang="en-US" dirty="0"/>
          </a:p>
          <a:p>
            <a:pPr marL="0" indent="0">
              <a:buNone/>
            </a:pPr>
            <a:endParaRPr lang="en-US" dirty="0"/>
          </a:p>
          <a:p>
            <a:endParaRPr lang="en-IN" dirty="0"/>
          </a:p>
        </p:txBody>
      </p:sp>
    </p:spTree>
    <p:extLst>
      <p:ext uri="{BB962C8B-B14F-4D97-AF65-F5344CB8AC3E}">
        <p14:creationId xmlns:p14="http://schemas.microsoft.com/office/powerpoint/2010/main" val="12242151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BE506F-75B1-DE8F-86C5-2C2E16DB14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D4F197-3565-9376-D48E-5471FECD240F}"/>
              </a:ext>
            </a:extLst>
          </p:cNvPr>
          <p:cNvSpPr>
            <a:spLocks noGrp="1"/>
          </p:cNvSpPr>
          <p:nvPr>
            <p:ph type="title"/>
          </p:nvPr>
        </p:nvSpPr>
        <p:spPr>
          <a:xfrm>
            <a:off x="0" y="1"/>
            <a:ext cx="12192000" cy="711200"/>
          </a:xfrm>
        </p:spPr>
        <p:txBody>
          <a:bodyPr/>
          <a:lstStyle/>
          <a:p>
            <a:r>
              <a:rPr lang="en-US" dirty="0"/>
              <a:t>Frequently asked Questions in Exam</a:t>
            </a:r>
          </a:p>
        </p:txBody>
      </p:sp>
      <p:sp>
        <p:nvSpPr>
          <p:cNvPr id="3" name="Content Placeholder 2">
            <a:extLst>
              <a:ext uri="{FF2B5EF4-FFF2-40B4-BE49-F238E27FC236}">
                <a16:creationId xmlns:a16="http://schemas.microsoft.com/office/drawing/2014/main" id="{AD690E99-4450-ADCA-10EF-4853AA9AD93C}"/>
              </a:ext>
            </a:extLst>
          </p:cNvPr>
          <p:cNvSpPr>
            <a:spLocks noGrp="1"/>
          </p:cNvSpPr>
          <p:nvPr>
            <p:ph idx="1"/>
          </p:nvPr>
        </p:nvSpPr>
        <p:spPr>
          <a:xfrm>
            <a:off x="131180" y="816789"/>
            <a:ext cx="11929641" cy="5590565"/>
          </a:xfrm>
        </p:spPr>
        <p:txBody>
          <a:bodyPr/>
          <a:lstStyle/>
          <a:p>
            <a:pPr marL="457200" indent="-457200">
              <a:buFont typeface="+mj-lt"/>
              <a:buAutoNum type="arabicPeriod"/>
            </a:pPr>
            <a:r>
              <a:rPr lang="en-US" dirty="0"/>
              <a:t>What is I/O device? Explain types of devices in OS.</a:t>
            </a:r>
            <a:endParaRPr lang="en-IN" dirty="0"/>
          </a:p>
          <a:p>
            <a:pPr marL="0" indent="0">
              <a:buNone/>
            </a:pPr>
            <a:r>
              <a:rPr lang="en-US" b="1" dirty="0"/>
              <a:t>                                          OR</a:t>
            </a:r>
            <a:endParaRPr lang="en-IN" dirty="0"/>
          </a:p>
          <a:p>
            <a:pPr marL="0" indent="0">
              <a:buNone/>
            </a:pPr>
            <a:r>
              <a:rPr lang="en-US" dirty="0"/>
              <a:t>       What is I/O device? Explain dedicated, shared and virtual device with suitable example.  </a:t>
            </a:r>
          </a:p>
          <a:p>
            <a:pPr marL="457200" indent="-457200">
              <a:buFont typeface="+mj-lt"/>
              <a:buAutoNum type="arabicPeriod" startAt="2"/>
            </a:pPr>
            <a:r>
              <a:rPr lang="en-US" dirty="0"/>
              <a:t>What is I/O buffering? Explain types of I/O buffering in brief.</a:t>
            </a:r>
          </a:p>
          <a:p>
            <a:pPr marL="457200" indent="-457200">
              <a:buFont typeface="+mj-lt"/>
              <a:buAutoNum type="arabicPeriod" startAt="2"/>
            </a:pPr>
            <a:r>
              <a:rPr lang="en-US" dirty="0"/>
              <a:t>Draw neat and clean diagram of internal structure of Hard Disk Drive.</a:t>
            </a:r>
          </a:p>
          <a:p>
            <a:pPr marL="457200" indent="-457200">
              <a:buFont typeface="+mj-lt"/>
              <a:buAutoNum type="arabicPeriod" startAt="2"/>
            </a:pPr>
            <a:r>
              <a:rPr lang="en-US" dirty="0"/>
              <a:t>Define the following terms:</a:t>
            </a:r>
            <a:endParaRPr lang="en-IN" dirty="0"/>
          </a:p>
          <a:p>
            <a:pPr marL="1343025" lvl="1" indent="-447675">
              <a:buFont typeface="+mj-lt"/>
              <a:buAutoNum type="romanLcPeriod"/>
            </a:pPr>
            <a:r>
              <a:rPr lang="en-US" dirty="0"/>
              <a:t>Seek Time</a:t>
            </a:r>
            <a:endParaRPr lang="en-IN" dirty="0"/>
          </a:p>
          <a:p>
            <a:pPr marL="1343025" lvl="1" indent="-447675">
              <a:buFont typeface="+mj-lt"/>
              <a:buAutoNum type="romanLcPeriod"/>
            </a:pPr>
            <a:r>
              <a:rPr lang="en-US" dirty="0"/>
              <a:t>Rotational Latency</a:t>
            </a:r>
            <a:endParaRPr lang="en-IN" dirty="0"/>
          </a:p>
          <a:p>
            <a:pPr marL="1343025" lvl="1" indent="-447675">
              <a:buFont typeface="+mj-lt"/>
              <a:buAutoNum type="romanLcPeriod"/>
            </a:pPr>
            <a:r>
              <a:rPr lang="en-US" dirty="0"/>
              <a:t>Access Time </a:t>
            </a:r>
          </a:p>
          <a:p>
            <a:pPr marL="457200" indent="-457200">
              <a:buFont typeface="+mj-lt"/>
              <a:buAutoNum type="arabicPeriod" startAt="2"/>
            </a:pPr>
            <a:r>
              <a:rPr lang="en-US" dirty="0"/>
              <a:t>Explain First Come First Serve (FCFS) disk scheduling algorithm with suitable example.</a:t>
            </a:r>
          </a:p>
          <a:p>
            <a:pPr marL="457200" indent="-457200">
              <a:buFont typeface="+mj-lt"/>
              <a:buAutoNum type="arabicPeriod" startAt="2"/>
            </a:pPr>
            <a:r>
              <a:rPr lang="en-US" dirty="0"/>
              <a:t>Explain Shortest Seek Time First (SSTF) disk scheduling algorithm with suitable example.</a:t>
            </a:r>
          </a:p>
          <a:p>
            <a:pPr marL="457200" indent="-457200">
              <a:buFont typeface="+mj-lt"/>
              <a:buAutoNum type="arabicPeriod" startAt="2"/>
            </a:pPr>
            <a:r>
              <a:rPr lang="en-US" dirty="0"/>
              <a:t>Explain SCAN and C-SCAN disk scheduling algorithms with suitable examples.</a:t>
            </a:r>
          </a:p>
          <a:p>
            <a:pPr marL="457200" indent="-457200">
              <a:buFont typeface="+mj-lt"/>
              <a:buAutoNum type="arabicPeriod" startAt="2"/>
            </a:pPr>
            <a:r>
              <a:rPr lang="en-US" dirty="0"/>
              <a:t>Explain LOOK and C-LOOK disk scheduling algorithms with suitable examples.</a:t>
            </a:r>
          </a:p>
          <a:p>
            <a:pPr marL="1343025" lvl="1" indent="-447675">
              <a:buFont typeface="+mj-lt"/>
              <a:buAutoNum type="romanLcPeriod"/>
            </a:pPr>
            <a:endParaRPr lang="en-US" dirty="0"/>
          </a:p>
          <a:p>
            <a:pPr marL="457200" indent="-457200">
              <a:lnSpc>
                <a:spcPct val="100000"/>
              </a:lnSpc>
              <a:buFont typeface="+mj-lt"/>
              <a:buAutoNum type="arabicPeriod" startAt="4"/>
            </a:pPr>
            <a:endParaRPr lang="en-US" dirty="0"/>
          </a:p>
          <a:p>
            <a:pPr marL="457200" indent="-457200">
              <a:lnSpc>
                <a:spcPct val="100000"/>
              </a:lnSpc>
              <a:buFont typeface="+mj-lt"/>
              <a:buAutoNum type="arabicPeriod" startAt="4"/>
            </a:pPr>
            <a:endParaRPr lang="en-US" dirty="0"/>
          </a:p>
          <a:p>
            <a:pPr marL="457200" indent="-457200">
              <a:lnSpc>
                <a:spcPct val="100000"/>
              </a:lnSpc>
              <a:buFont typeface="+mj-lt"/>
              <a:buAutoNum type="arabicPeriod" startAt="4"/>
            </a:pPr>
            <a:endParaRPr lang="en-US" dirty="0"/>
          </a:p>
        </p:txBody>
      </p:sp>
    </p:spTree>
    <p:extLst>
      <p:ext uri="{BB962C8B-B14F-4D97-AF65-F5344CB8AC3E}">
        <p14:creationId xmlns:p14="http://schemas.microsoft.com/office/powerpoint/2010/main" val="169356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fade">
                                      <p:cBhvr>
                                        <p:cTn id="57" dur="500"/>
                                        <p:tgtEl>
                                          <p:spTgt spid="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Effect transition="in" filter="fade">
                                      <p:cBhvr>
                                        <p:cTn id="62" dur="500"/>
                                        <p:tgtEl>
                                          <p:spTgt spid="3">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3">
                                            <p:txEl>
                                              <p:pRg st="12" end="12"/>
                                            </p:txEl>
                                          </p:spTgt>
                                        </p:tgtEl>
                                        <p:attrNameLst>
                                          <p:attrName>style.visibility</p:attrName>
                                        </p:attrNameLst>
                                      </p:cBhvr>
                                      <p:to>
                                        <p:strVal val="visible"/>
                                      </p:to>
                                    </p:set>
                                    <p:animEffect transition="in" filter="fade">
                                      <p:cBhvr>
                                        <p:cTn id="67" dur="5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E54AA7-4E3E-78E7-DB18-716DF9B9C8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1C9977-BF72-90CD-AC0A-DDF702063D5A}"/>
              </a:ext>
            </a:extLst>
          </p:cNvPr>
          <p:cNvSpPr>
            <a:spLocks noGrp="1"/>
          </p:cNvSpPr>
          <p:nvPr>
            <p:ph type="title"/>
          </p:nvPr>
        </p:nvSpPr>
        <p:spPr>
          <a:xfrm>
            <a:off x="0" y="1"/>
            <a:ext cx="12192000" cy="711200"/>
          </a:xfrm>
        </p:spPr>
        <p:txBody>
          <a:bodyPr/>
          <a:lstStyle/>
          <a:p>
            <a:r>
              <a:rPr lang="en-US" dirty="0"/>
              <a:t>Frequently asked Questions in Exam</a:t>
            </a:r>
          </a:p>
        </p:txBody>
      </p:sp>
      <p:sp>
        <p:nvSpPr>
          <p:cNvPr id="3" name="Content Placeholder 2">
            <a:extLst>
              <a:ext uri="{FF2B5EF4-FFF2-40B4-BE49-F238E27FC236}">
                <a16:creationId xmlns:a16="http://schemas.microsoft.com/office/drawing/2014/main" id="{2FE08D28-B33E-F96A-5DD7-98184C66C399}"/>
              </a:ext>
            </a:extLst>
          </p:cNvPr>
          <p:cNvSpPr>
            <a:spLocks noGrp="1"/>
          </p:cNvSpPr>
          <p:nvPr>
            <p:ph idx="1"/>
          </p:nvPr>
        </p:nvSpPr>
        <p:spPr>
          <a:xfrm>
            <a:off x="131180" y="816789"/>
            <a:ext cx="11929641" cy="5590565"/>
          </a:xfrm>
        </p:spPr>
        <p:txBody>
          <a:bodyPr/>
          <a:lstStyle/>
          <a:p>
            <a:pPr marL="457200" indent="-457200">
              <a:buFont typeface="+mj-lt"/>
              <a:buAutoNum type="arabicPeriod" startAt="9"/>
            </a:pPr>
            <a:r>
              <a:rPr lang="en-US" dirty="0"/>
              <a:t>Define the file. Discuss different types of files in brief.</a:t>
            </a:r>
          </a:p>
          <a:p>
            <a:pPr marL="457200" indent="-457200">
              <a:buFont typeface="+mj-lt"/>
              <a:buAutoNum type="arabicPeriod" startAt="9"/>
            </a:pPr>
            <a:r>
              <a:rPr lang="en-US" dirty="0"/>
              <a:t>List operations perform on files and discuss all in brief.</a:t>
            </a:r>
          </a:p>
          <a:p>
            <a:pPr marL="457200" indent="-457200">
              <a:buFont typeface="+mj-lt"/>
              <a:buAutoNum type="arabicPeriod" startAt="9"/>
            </a:pPr>
            <a:r>
              <a:rPr lang="en-US" dirty="0"/>
              <a:t>List attributes of file and explain in brief.</a:t>
            </a:r>
          </a:p>
          <a:p>
            <a:pPr marL="457200" indent="-457200">
              <a:buFont typeface="+mj-lt"/>
              <a:buAutoNum type="arabicPeriod" startAt="9"/>
            </a:pPr>
            <a:r>
              <a:rPr lang="en-US" dirty="0"/>
              <a:t>Define the directory. Write a short note on Directory Structures in OS.</a:t>
            </a:r>
          </a:p>
          <a:p>
            <a:pPr marL="457200" indent="-457200">
              <a:buFont typeface="+mj-lt"/>
              <a:buAutoNum type="arabicPeriod" startAt="9"/>
            </a:pPr>
            <a:r>
              <a:rPr lang="en-US" dirty="0"/>
              <a:t>Describe file access methods with a suitable example.</a:t>
            </a:r>
            <a:endParaRPr lang="en-IN" dirty="0"/>
          </a:p>
          <a:p>
            <a:pPr marL="0" indent="0">
              <a:buNone/>
            </a:pPr>
            <a:r>
              <a:rPr lang="en-US" b="1" dirty="0"/>
              <a:t>                                              OR</a:t>
            </a:r>
            <a:endParaRPr lang="en-IN" dirty="0"/>
          </a:p>
          <a:p>
            <a:pPr marL="0" indent="0">
              <a:buNone/>
            </a:pPr>
            <a:r>
              <a:rPr lang="en-US" dirty="0"/>
              <a:t>      Describe Sequential, Direct and Indexed file access methods with a suitable example.</a:t>
            </a:r>
          </a:p>
        </p:txBody>
      </p:sp>
    </p:spTree>
    <p:extLst>
      <p:ext uri="{BB962C8B-B14F-4D97-AF65-F5344CB8AC3E}">
        <p14:creationId xmlns:p14="http://schemas.microsoft.com/office/powerpoint/2010/main" val="5223043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3">
                                            <p:txEl>
                                              <p:pRg st="6" end="6"/>
                                            </p:txEl>
                                          </p:spTgt>
                                        </p:tgtEl>
                                        <p:attrNameLst>
                                          <p:attrName>style.visibility</p:attrName>
                                        </p:attrNameLst>
                                      </p:cBhvr>
                                      <p:to>
                                        <p:strVal val="visible"/>
                                      </p:to>
                                    </p:set>
                                    <p:animEffect transition="in" filter="fade">
                                      <p:cBhvr>
                                        <p:cTn id="36"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47076983-6098-4D75-8E3B-99B088ABB8A4}"/>
              </a:ext>
            </a:extLst>
          </p:cNvPr>
          <p:cNvSpPr>
            <a:spLocks noGrp="1"/>
          </p:cNvSpPr>
          <p:nvPr>
            <p:ph type="body" sz="quarter" idx="11"/>
          </p:nvPr>
        </p:nvSpPr>
        <p:spPr/>
        <p:txBody>
          <a:bodyPr/>
          <a:lstStyle/>
          <a:p>
            <a:pPr>
              <a:spcAft>
                <a:spcPts val="600"/>
              </a:spcAft>
            </a:pPr>
            <a:r>
              <a:rPr lang="en-US" dirty="0"/>
              <a:t>u</a:t>
            </a:r>
            <a:r>
              <a:rPr lang="en-US" dirty="0" smtClean="0"/>
              <a:t>mesh.thoriya@darshan.ac.in</a:t>
            </a:r>
            <a:endParaRPr lang="en-US" dirty="0"/>
          </a:p>
        </p:txBody>
      </p:sp>
      <p:sp>
        <p:nvSpPr>
          <p:cNvPr id="12" name="Text Placeholder 3">
            <a:extLst>
              <a:ext uri="{FF2B5EF4-FFF2-40B4-BE49-F238E27FC236}">
                <a16:creationId xmlns:a16="http://schemas.microsoft.com/office/drawing/2014/main" id="{A05BAC4B-D894-4260-872E-77744EE844B3}"/>
              </a:ext>
            </a:extLst>
          </p:cNvPr>
          <p:cNvSpPr>
            <a:spLocks noGrp="1"/>
          </p:cNvSpPr>
          <p:nvPr>
            <p:ph type="body" sz="quarter" idx="12"/>
          </p:nvPr>
        </p:nvSpPr>
        <p:spPr/>
        <p:txBody>
          <a:bodyPr/>
          <a:lstStyle/>
          <a:p>
            <a:endParaRPr lang="en-US" dirty="0"/>
          </a:p>
          <a:p>
            <a:r>
              <a:rPr lang="en-US" dirty="0" smtClean="0"/>
              <a:t>9714233355</a:t>
            </a:r>
            <a:endParaRPr lang="en-US" dirty="0"/>
          </a:p>
          <a:p>
            <a:endParaRPr lang="en-US" dirty="0"/>
          </a:p>
        </p:txBody>
      </p:sp>
      <p:sp>
        <p:nvSpPr>
          <p:cNvPr id="2" name="Text Placeholder 1">
            <a:extLst>
              <a:ext uri="{FF2B5EF4-FFF2-40B4-BE49-F238E27FC236}">
                <a16:creationId xmlns:a16="http://schemas.microsoft.com/office/drawing/2014/main" id="{6EE20B01-2C98-438F-91A2-5BCFB793FEFB}"/>
              </a:ext>
            </a:extLst>
          </p:cNvPr>
          <p:cNvSpPr>
            <a:spLocks noGrp="1"/>
          </p:cNvSpPr>
          <p:nvPr>
            <p:ph type="body" sz="quarter" idx="13"/>
          </p:nvPr>
        </p:nvSpPr>
        <p:spPr/>
        <p:txBody>
          <a:bodyPr/>
          <a:lstStyle/>
          <a:p>
            <a:pPr>
              <a:spcAft>
                <a:spcPts val="600"/>
              </a:spcAft>
            </a:pPr>
            <a:r>
              <a:rPr lang="en-US" sz="1400" dirty="0"/>
              <a:t>Computer Science &amp; Engineering Department</a:t>
            </a:r>
          </a:p>
        </p:txBody>
      </p:sp>
      <p:sp>
        <p:nvSpPr>
          <p:cNvPr id="6" name="Text Placeholder 5">
            <a:extLst>
              <a:ext uri="{FF2B5EF4-FFF2-40B4-BE49-F238E27FC236}">
                <a16:creationId xmlns:a16="http://schemas.microsoft.com/office/drawing/2014/main" id="{DE283884-0326-C47B-1F6B-60B10599E44D}"/>
              </a:ext>
            </a:extLst>
          </p:cNvPr>
          <p:cNvSpPr>
            <a:spLocks noGrp="1"/>
          </p:cNvSpPr>
          <p:nvPr>
            <p:ph type="body" sz="quarter" idx="14"/>
          </p:nvPr>
        </p:nvSpPr>
        <p:spPr/>
        <p:txBody>
          <a:bodyPr/>
          <a:lstStyle/>
          <a:p>
            <a:pPr>
              <a:spcAft>
                <a:spcPts val="600"/>
              </a:spcAft>
            </a:pPr>
            <a:r>
              <a:rPr lang="en-US" dirty="0">
                <a:gradFill flip="none" rotWithShape="1">
                  <a:gsLst>
                    <a:gs pos="10000">
                      <a:schemeClr val="accent6">
                        <a:lumMod val="50000"/>
                      </a:schemeClr>
                    </a:gs>
                    <a:gs pos="100000">
                      <a:schemeClr val="accent6"/>
                    </a:gs>
                  </a:gsLst>
                  <a:lin ang="0" scaled="1"/>
                  <a:tileRect/>
                </a:gradFill>
              </a:rPr>
              <a:t>Prof. </a:t>
            </a:r>
            <a:r>
              <a:rPr lang="en-US" dirty="0" err="1" smtClean="0">
                <a:gradFill flip="none" rotWithShape="1">
                  <a:gsLst>
                    <a:gs pos="10000">
                      <a:schemeClr val="accent6">
                        <a:lumMod val="50000"/>
                      </a:schemeClr>
                    </a:gs>
                    <a:gs pos="100000">
                      <a:schemeClr val="accent6"/>
                    </a:gs>
                  </a:gsLst>
                  <a:lin ang="0" scaled="1"/>
                  <a:tileRect/>
                </a:gradFill>
              </a:rPr>
              <a:t>Umesh</a:t>
            </a:r>
            <a:r>
              <a:rPr lang="en-US" dirty="0" smtClean="0">
                <a:gradFill flip="none" rotWithShape="1">
                  <a:gsLst>
                    <a:gs pos="10000">
                      <a:schemeClr val="accent6">
                        <a:lumMod val="50000"/>
                      </a:schemeClr>
                    </a:gs>
                    <a:gs pos="100000">
                      <a:schemeClr val="accent6"/>
                    </a:gs>
                  </a:gsLst>
                  <a:lin ang="0" scaled="1"/>
                  <a:tileRect/>
                </a:gradFill>
              </a:rPr>
              <a:t> H </a:t>
            </a:r>
            <a:r>
              <a:rPr lang="en-US" dirty="0" err="1" smtClean="0">
                <a:gradFill flip="none" rotWithShape="1">
                  <a:gsLst>
                    <a:gs pos="10000">
                      <a:schemeClr val="accent6">
                        <a:lumMod val="50000"/>
                      </a:schemeClr>
                    </a:gs>
                    <a:gs pos="100000">
                      <a:schemeClr val="accent6"/>
                    </a:gs>
                  </a:gsLst>
                  <a:lin ang="0" scaled="1"/>
                  <a:tileRect/>
                </a:gradFill>
              </a:rPr>
              <a:t>Thoriya</a:t>
            </a:r>
            <a:endParaRPr lang="en-US" dirty="0">
              <a:gradFill flip="none" rotWithShape="1">
                <a:gsLst>
                  <a:gs pos="10000">
                    <a:srgbClr val="B71B1C"/>
                  </a:gs>
                  <a:gs pos="95000">
                    <a:srgbClr val="ED524F"/>
                  </a:gs>
                </a:gsLst>
                <a:lin ang="0" scaled="1"/>
                <a:tileRect/>
              </a:gradFill>
            </a:endParaRPr>
          </a:p>
        </p:txBody>
      </p:sp>
      <p:sp>
        <p:nvSpPr>
          <p:cNvPr id="7" name="Text Placeholder 6">
            <a:extLst>
              <a:ext uri="{FF2B5EF4-FFF2-40B4-BE49-F238E27FC236}">
                <a16:creationId xmlns:a16="http://schemas.microsoft.com/office/drawing/2014/main" id="{34F77176-AD0A-BB46-F2E7-9F5B86D3FA4A}"/>
              </a:ext>
            </a:extLst>
          </p:cNvPr>
          <p:cNvSpPr>
            <a:spLocks noGrp="1"/>
          </p:cNvSpPr>
          <p:nvPr>
            <p:ph type="body" sz="quarter" idx="16"/>
          </p:nvPr>
        </p:nvSpPr>
        <p:spPr>
          <a:xfrm>
            <a:off x="2820293" y="20384"/>
            <a:ext cx="4646358" cy="734653"/>
          </a:xfrm>
        </p:spPr>
        <p:txBody>
          <a:bodyPr/>
          <a:lstStyle/>
          <a:p>
            <a:pPr>
              <a:lnSpc>
                <a:spcPct val="100000"/>
              </a:lnSpc>
            </a:pPr>
            <a:r>
              <a:rPr lang="en-US" b="1" dirty="0"/>
              <a:t>Operating</a:t>
            </a:r>
            <a:r>
              <a:rPr lang="en-US" b="1" dirty="0">
                <a:latin typeface="Roboto Condensed Light" panose="02000000000000000000" pitchFamily="2" charset="0"/>
                <a:ea typeface="Roboto Condensed Light" panose="02000000000000000000" pitchFamily="2" charset="0"/>
              </a:rPr>
              <a:t> </a:t>
            </a:r>
            <a:r>
              <a:rPr lang="en-US" b="1" dirty="0"/>
              <a:t>System </a:t>
            </a:r>
            <a:r>
              <a:rPr lang="en-US" b="1" dirty="0">
                <a:latin typeface="Roboto Condensed Light" panose="02000000000000000000" pitchFamily="2" charset="0"/>
                <a:ea typeface="Roboto Condensed Light" panose="02000000000000000000" pitchFamily="2" charset="0"/>
              </a:rPr>
              <a:t>(OS)</a:t>
            </a:r>
          </a:p>
          <a:p>
            <a:pPr>
              <a:lnSpc>
                <a:spcPct val="100000"/>
              </a:lnSpc>
            </a:pPr>
            <a:r>
              <a:rPr lang="en-US" dirty="0">
                <a:latin typeface="Roboto Condensed Light" panose="02000000000000000000" pitchFamily="2" charset="0"/>
                <a:ea typeface="Roboto Condensed Light" panose="02000000000000000000" pitchFamily="2" charset="0"/>
              </a:rPr>
              <a:t>DU # 2304CS205</a:t>
            </a:r>
          </a:p>
        </p:txBody>
      </p:sp>
      <p:sp>
        <p:nvSpPr>
          <p:cNvPr id="4" name="Picture Placeholder 3">
            <a:extLst>
              <a:ext uri="{FF2B5EF4-FFF2-40B4-BE49-F238E27FC236}">
                <a16:creationId xmlns:a16="http://schemas.microsoft.com/office/drawing/2014/main" id="{76E6A818-F69B-CD7F-6278-AF751628F046}"/>
              </a:ext>
            </a:extLst>
          </p:cNvPr>
          <p:cNvSpPr>
            <a:spLocks noGrp="1"/>
          </p:cNvSpPr>
          <p:nvPr>
            <p:ph type="pic" sz="quarter" idx="10"/>
          </p:nvPr>
        </p:nvSpPr>
        <p:spPr/>
      </p:sp>
      <p:pic>
        <p:nvPicPr>
          <p:cNvPr id="5" name="Picture Placeholder 23">
            <a:extLst>
              <a:ext uri="{FF2B5EF4-FFF2-40B4-BE49-F238E27FC236}">
                <a16:creationId xmlns:a16="http://schemas.microsoft.com/office/drawing/2014/main" id="{3F3F50B8-ED61-2110-7E0B-7F324C1DDDCE}"/>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374103"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pic>
    </p:spTree>
    <p:extLst>
      <p:ext uri="{BB962C8B-B14F-4D97-AF65-F5344CB8AC3E}">
        <p14:creationId xmlns:p14="http://schemas.microsoft.com/office/powerpoint/2010/main" val="142141349"/>
      </p:ext>
    </p:extLst>
  </p:cSld>
  <p:clrMapOvr>
    <a:masterClrMapping/>
  </p:clrMapOvr>
</p:sld>
</file>

<file path=ppt/theme/theme1.xml><?xml version="1.0" encoding="utf-8"?>
<a:theme xmlns:a="http://schemas.openxmlformats.org/drawingml/2006/main" name="Office Theme">
  <a:themeElements>
    <a:clrScheme name="Jay">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fontScheme name="Custom 1">
      <a:majorFont>
        <a:latin typeface="Roboto Condensed"/>
        <a:ea typeface=""/>
        <a:cs typeface=""/>
      </a:majorFont>
      <a:minorFont>
        <a:latin typeface="Roboto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43903</TotalTime>
  <Words>3109</Words>
  <Application>Microsoft Office PowerPoint</Application>
  <PresentationFormat>Widescreen</PresentationFormat>
  <Paragraphs>579</Paragraphs>
  <Slides>56</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56</vt:i4>
      </vt:variant>
    </vt:vector>
  </HeadingPairs>
  <TitlesOfParts>
    <vt:vector size="66" baseType="lpstr">
      <vt:lpstr>Roboto Condensed Light</vt:lpstr>
      <vt:lpstr>Wingdings 2</vt:lpstr>
      <vt:lpstr>Roboto Condensed,Bold</vt:lpstr>
      <vt:lpstr>Wingdings</vt:lpstr>
      <vt:lpstr>Calibri</vt:lpstr>
      <vt:lpstr>Segoe UI Black</vt:lpstr>
      <vt:lpstr>Roboto Condensed</vt:lpstr>
      <vt:lpstr>Arial</vt:lpstr>
      <vt:lpstr>Wingdings 3</vt:lpstr>
      <vt:lpstr>Office Theme</vt:lpstr>
      <vt:lpstr>Unit-5  I/O and File Management</vt:lpstr>
      <vt:lpstr>PowerPoint Presentation</vt:lpstr>
      <vt:lpstr>I/O Devices</vt:lpstr>
      <vt:lpstr>I/O devices</vt:lpstr>
      <vt:lpstr>I/O devices (Conti…)</vt:lpstr>
      <vt:lpstr>I/O devices (Conti…)</vt:lpstr>
      <vt:lpstr>I/O devices (Conti…)</vt:lpstr>
      <vt:lpstr>                                                       I/O Buffering</vt:lpstr>
      <vt:lpstr>Buffering</vt:lpstr>
      <vt:lpstr>Buffering</vt:lpstr>
      <vt:lpstr>I/O buffering</vt:lpstr>
      <vt:lpstr>    Internal Structure of Hard Disk Drive</vt:lpstr>
      <vt:lpstr>Internal structure of HDD</vt:lpstr>
      <vt:lpstr>Internal structure of HDD (Conti…)</vt:lpstr>
      <vt:lpstr>    Disk Scheduling Algorithms</vt:lpstr>
      <vt:lpstr>Disk Scheduling Algorithm</vt:lpstr>
      <vt:lpstr>Example for Disk Arm Scheduling Algorithm</vt:lpstr>
      <vt:lpstr>FCSC (First Come First Serve)</vt:lpstr>
      <vt:lpstr>SSTF (Shortest Seek Time First)</vt:lpstr>
      <vt:lpstr>LOOK</vt:lpstr>
      <vt:lpstr>LOOK</vt:lpstr>
      <vt:lpstr>C-LOOK</vt:lpstr>
      <vt:lpstr>C-LOOK</vt:lpstr>
      <vt:lpstr>SCAN</vt:lpstr>
      <vt:lpstr>SCAN</vt:lpstr>
      <vt:lpstr>C-SCAN</vt:lpstr>
      <vt:lpstr>C-SCAN</vt:lpstr>
      <vt:lpstr>Exercise</vt:lpstr>
      <vt:lpstr>    Basic Concepts of File</vt:lpstr>
      <vt:lpstr>File</vt:lpstr>
      <vt:lpstr>File (Conti…)</vt:lpstr>
      <vt:lpstr>File System / Manager</vt:lpstr>
      <vt:lpstr>File Naming</vt:lpstr>
      <vt:lpstr>    File Types</vt:lpstr>
      <vt:lpstr>File Types</vt:lpstr>
      <vt:lpstr>    File Attributes</vt:lpstr>
      <vt:lpstr>File Attributes</vt:lpstr>
      <vt:lpstr>File Attributes (Conti…)</vt:lpstr>
      <vt:lpstr>    File Operations</vt:lpstr>
      <vt:lpstr>File Operations</vt:lpstr>
      <vt:lpstr>    File Access Methods</vt:lpstr>
      <vt:lpstr>File Access Methods</vt:lpstr>
      <vt:lpstr>File Access Methods (Conti…)</vt:lpstr>
      <vt:lpstr>File Access Methods (Conti…)</vt:lpstr>
      <vt:lpstr>File Access Methods (Conti…)</vt:lpstr>
      <vt:lpstr>    Directory Structure</vt:lpstr>
      <vt:lpstr>Directory Structure </vt:lpstr>
      <vt:lpstr>Single-Level Directory</vt:lpstr>
      <vt:lpstr>Two-Level Directory</vt:lpstr>
      <vt:lpstr>Tree Structured Directories</vt:lpstr>
      <vt:lpstr>Tree Structured Directories (Conti…)</vt:lpstr>
      <vt:lpstr>Acyclic Graph Directory</vt:lpstr>
      <vt:lpstr>Acyclic Graph Directory (Conti…)</vt:lpstr>
      <vt:lpstr>Frequently asked Questions in Exam</vt:lpstr>
      <vt:lpstr>Frequently asked Questions in Exam</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DELL</cp:lastModifiedBy>
  <cp:revision>1953</cp:revision>
  <dcterms:created xsi:type="dcterms:W3CDTF">2020-05-01T05:09:15Z</dcterms:created>
  <dcterms:modified xsi:type="dcterms:W3CDTF">2026-04-01T07:15:57Z</dcterms:modified>
</cp:coreProperties>
</file>